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2" r:id="rId30"/>
    <p:sldId id="283" r:id="rId31"/>
    <p:sldId id="284" r:id="rId32"/>
    <p:sldId id="285" r:id="rId33"/>
    <p:sldId id="286" r:id="rId34"/>
    <p:sldId id="287"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90BF1F-2F31-D02C-C9FA-E63FA588F0A3}" v="2" dt="2026-04-12T23:26:50.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7" d="100"/>
          <a:sy n="87" d="100"/>
        </p:scale>
        <p:origin x="70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6a975622-816e-4480-9323-6edcbb1b288f" providerId="ADAL" clId="{99A77B70-6630-4305-B260-DF09FCBD32FD}"/>
    <pc:docChg chg="undo custSel mod modSld">
      <pc:chgData name="Nur Shuhadah BINTE JALIL (TP)" userId="6a975622-816e-4480-9323-6edcbb1b288f" providerId="ADAL" clId="{99A77B70-6630-4305-B260-DF09FCBD32FD}" dt="2026-04-09T02:55:13.365" v="346" actId="14100"/>
      <pc:docMkLst>
        <pc:docMk/>
      </pc:docMkLst>
      <pc:sldChg chg="modSp mod">
        <pc:chgData name="Nur Shuhadah BINTE JALIL (TP)" userId="6a975622-816e-4480-9323-6edcbb1b288f" providerId="ADAL" clId="{99A77B70-6630-4305-B260-DF09FCBD32FD}" dt="2026-04-09T02:52:59.228" v="12" actId="1036"/>
        <pc:sldMkLst>
          <pc:docMk/>
          <pc:sldMk cId="0" sldId="260"/>
        </pc:sldMkLst>
        <pc:spChg chg="mod">
          <ac:chgData name="Nur Shuhadah BINTE JALIL (TP)" userId="6a975622-816e-4480-9323-6edcbb1b288f" providerId="ADAL" clId="{99A77B70-6630-4305-B260-DF09FCBD32FD}" dt="2026-04-09T02:52:56.523" v="11" actId="1035"/>
          <ac:spMkLst>
            <pc:docMk/>
            <pc:sldMk cId="0" sldId="260"/>
            <ac:spMk id="4" creationId="{00000000-0000-0000-0000-000000000000}"/>
          </ac:spMkLst>
        </pc:spChg>
        <pc:spChg chg="mod">
          <ac:chgData name="Nur Shuhadah BINTE JALIL (TP)" userId="6a975622-816e-4480-9323-6edcbb1b288f" providerId="ADAL" clId="{99A77B70-6630-4305-B260-DF09FCBD32FD}" dt="2026-04-09T02:52:59.228" v="12" actId="1036"/>
          <ac:spMkLst>
            <pc:docMk/>
            <pc:sldMk cId="0" sldId="260"/>
            <ac:spMk id="5" creationId="{00000000-0000-0000-0000-000000000000}"/>
          </ac:spMkLst>
        </pc:spChg>
      </pc:sldChg>
      <pc:sldChg chg="modSp mod">
        <pc:chgData name="Nur Shuhadah BINTE JALIL (TP)" userId="6a975622-816e-4480-9323-6edcbb1b288f" providerId="ADAL" clId="{99A77B70-6630-4305-B260-DF09FCBD32FD}" dt="2026-04-09T02:55:13.365" v="346" actId="14100"/>
        <pc:sldMkLst>
          <pc:docMk/>
          <pc:sldMk cId="0" sldId="285"/>
        </pc:sldMkLst>
        <pc:spChg chg="mod">
          <ac:chgData name="Nur Shuhadah BINTE JALIL (TP)" userId="6a975622-816e-4480-9323-6edcbb1b288f" providerId="ADAL" clId="{99A77B70-6630-4305-B260-DF09FCBD32FD}" dt="2026-04-09T02:54:48.558" v="338" actId="1038"/>
          <ac:spMkLst>
            <pc:docMk/>
            <pc:sldMk cId="0" sldId="285"/>
            <ac:spMk id="11" creationId="{00000000-0000-0000-0000-000000000000}"/>
          </ac:spMkLst>
        </pc:spChg>
        <pc:spChg chg="mod">
          <ac:chgData name="Nur Shuhadah BINTE JALIL (TP)" userId="6a975622-816e-4480-9323-6edcbb1b288f" providerId="ADAL" clId="{99A77B70-6630-4305-B260-DF09FCBD32FD}" dt="2026-04-09T02:54:55.630" v="344" actId="1038"/>
          <ac:spMkLst>
            <pc:docMk/>
            <pc:sldMk cId="0" sldId="285"/>
            <ac:spMk id="16" creationId="{00000000-0000-0000-0000-000000000000}"/>
          </ac:spMkLst>
        </pc:spChg>
        <pc:spChg chg="mod">
          <ac:chgData name="Nur Shuhadah BINTE JALIL (TP)" userId="6a975622-816e-4480-9323-6edcbb1b288f" providerId="ADAL" clId="{99A77B70-6630-4305-B260-DF09FCBD32FD}" dt="2026-04-09T02:54:26.540" v="252" actId="1037"/>
          <ac:spMkLst>
            <pc:docMk/>
            <pc:sldMk cId="0" sldId="285"/>
            <ac:spMk id="22" creationId="{00000000-0000-0000-0000-000000000000}"/>
          </ac:spMkLst>
        </pc:spChg>
        <pc:spChg chg="mod">
          <ac:chgData name="Nur Shuhadah BINTE JALIL (TP)" userId="6a975622-816e-4480-9323-6edcbb1b288f" providerId="ADAL" clId="{99A77B70-6630-4305-B260-DF09FCBD32FD}" dt="2026-04-09T02:54:49.288" v="339" actId="1038"/>
          <ac:spMkLst>
            <pc:docMk/>
            <pc:sldMk cId="0" sldId="285"/>
            <ac:spMk id="28" creationId="{00000000-0000-0000-0000-000000000000}"/>
          </ac:spMkLst>
        </pc:spChg>
        <pc:spChg chg="mod">
          <ac:chgData name="Nur Shuhadah BINTE JALIL (TP)" userId="6a975622-816e-4480-9323-6edcbb1b288f" providerId="ADAL" clId="{99A77B70-6630-4305-B260-DF09FCBD32FD}" dt="2026-04-09T02:54:16.025" v="244" actId="1038"/>
          <ac:spMkLst>
            <pc:docMk/>
            <pc:sldMk cId="0" sldId="285"/>
            <ac:spMk id="34" creationId="{00000000-0000-0000-0000-000000000000}"/>
          </ac:spMkLst>
        </pc:spChg>
        <pc:spChg chg="mod">
          <ac:chgData name="Nur Shuhadah BINTE JALIL (TP)" userId="6a975622-816e-4480-9323-6edcbb1b288f" providerId="ADAL" clId="{99A77B70-6630-4305-B260-DF09FCBD32FD}" dt="2026-04-09T02:55:13.365" v="346" actId="14100"/>
          <ac:spMkLst>
            <pc:docMk/>
            <pc:sldMk cId="0" sldId="285"/>
            <ac:spMk id="35" creationId="{00000000-0000-0000-0000-000000000000}"/>
          </ac:spMkLst>
        </pc:spChg>
        <pc:spChg chg="mod">
          <ac:chgData name="Nur Shuhadah BINTE JALIL (TP)" userId="6a975622-816e-4480-9323-6edcbb1b288f" providerId="ADAL" clId="{99A77B70-6630-4305-B260-DF09FCBD32FD}" dt="2026-04-09T02:55:04.560" v="345" actId="14100"/>
          <ac:spMkLst>
            <pc:docMk/>
            <pc:sldMk cId="0" sldId="285"/>
            <ac:spMk id="36" creationId="{00000000-0000-0000-0000-000000000000}"/>
          </ac:spMkLst>
        </pc:spChg>
      </pc:sldChg>
    </pc:docChg>
  </pc:docChgLst>
  <pc:docChgLst>
    <pc:chgData name="Shaun TAN (TP)" userId="320b0313-0f94-4025-ae48-3ce799bef0e9" providerId="ADAL" clId="{383F0773-C1D2-4C0B-A778-5DE677E1CF30}"/>
    <pc:docChg chg="modSld">
      <pc:chgData name="Shaun TAN (TP)" userId="320b0313-0f94-4025-ae48-3ce799bef0e9" providerId="ADAL" clId="{383F0773-C1D2-4C0B-A778-5DE677E1CF30}" dt="2026-04-13T14:13:21.984" v="16" actId="1076"/>
      <pc:docMkLst>
        <pc:docMk/>
      </pc:docMkLst>
      <pc:sldChg chg="modSp mod">
        <pc:chgData name="Shaun TAN (TP)" userId="320b0313-0f94-4025-ae48-3ce799bef0e9" providerId="ADAL" clId="{383F0773-C1D2-4C0B-A778-5DE677E1CF30}" dt="2026-04-13T14:12:00.272" v="4" actId="1076"/>
        <pc:sldMkLst>
          <pc:docMk/>
          <pc:sldMk cId="0" sldId="258"/>
        </pc:sldMkLst>
        <pc:spChg chg="mod">
          <ac:chgData name="Shaun TAN (TP)" userId="320b0313-0f94-4025-ae48-3ce799bef0e9" providerId="ADAL" clId="{383F0773-C1D2-4C0B-A778-5DE677E1CF30}" dt="2026-04-13T14:11:57.448" v="3" actId="1076"/>
          <ac:spMkLst>
            <pc:docMk/>
            <pc:sldMk cId="0" sldId="258"/>
            <ac:spMk id="2" creationId="{00000000-0000-0000-0000-000000000000}"/>
          </ac:spMkLst>
        </pc:spChg>
        <pc:spChg chg="mod">
          <ac:chgData name="Shaun TAN (TP)" userId="320b0313-0f94-4025-ae48-3ce799bef0e9" providerId="ADAL" clId="{383F0773-C1D2-4C0B-A778-5DE677E1CF30}" dt="2026-04-13T14:12:00.272" v="4" actId="1076"/>
          <ac:spMkLst>
            <pc:docMk/>
            <pc:sldMk cId="0" sldId="258"/>
            <ac:spMk id="5" creationId="{00000000-0000-0000-0000-000000000000}"/>
          </ac:spMkLst>
        </pc:spChg>
        <pc:spChg chg="mod">
          <ac:chgData name="Shaun TAN (TP)" userId="320b0313-0f94-4025-ae48-3ce799bef0e9" providerId="ADAL" clId="{383F0773-C1D2-4C0B-A778-5DE677E1CF30}" dt="2026-04-13T14:11:54.346" v="2" actId="1076"/>
          <ac:spMkLst>
            <pc:docMk/>
            <pc:sldMk cId="0" sldId="258"/>
            <ac:spMk id="6" creationId="{00000000-0000-0000-0000-000000000000}"/>
          </ac:spMkLst>
        </pc:spChg>
      </pc:sldChg>
      <pc:sldChg chg="modSp mod">
        <pc:chgData name="Shaun TAN (TP)" userId="320b0313-0f94-4025-ae48-3ce799bef0e9" providerId="ADAL" clId="{383F0773-C1D2-4C0B-A778-5DE677E1CF30}" dt="2026-04-13T14:12:09.592" v="6" actId="1076"/>
        <pc:sldMkLst>
          <pc:docMk/>
          <pc:sldMk cId="0" sldId="260"/>
        </pc:sldMkLst>
        <pc:spChg chg="mod">
          <ac:chgData name="Shaun TAN (TP)" userId="320b0313-0f94-4025-ae48-3ce799bef0e9" providerId="ADAL" clId="{383F0773-C1D2-4C0B-A778-5DE677E1CF30}" dt="2026-04-13T14:12:09.592" v="6" actId="1076"/>
          <ac:spMkLst>
            <pc:docMk/>
            <pc:sldMk cId="0" sldId="260"/>
            <ac:spMk id="4" creationId="{00000000-0000-0000-0000-000000000000}"/>
          </ac:spMkLst>
        </pc:spChg>
        <pc:spChg chg="mod">
          <ac:chgData name="Shaun TAN (TP)" userId="320b0313-0f94-4025-ae48-3ce799bef0e9" providerId="ADAL" clId="{383F0773-C1D2-4C0B-A778-5DE677E1CF30}" dt="2026-04-13T14:12:06.834" v="5" actId="1076"/>
          <ac:spMkLst>
            <pc:docMk/>
            <pc:sldMk cId="0" sldId="260"/>
            <ac:spMk id="5" creationId="{00000000-0000-0000-0000-000000000000}"/>
          </ac:spMkLst>
        </pc:spChg>
      </pc:sldChg>
      <pc:sldChg chg="modSp mod">
        <pc:chgData name="Shaun TAN (TP)" userId="320b0313-0f94-4025-ae48-3ce799bef0e9" providerId="ADAL" clId="{383F0773-C1D2-4C0B-A778-5DE677E1CF30}" dt="2026-04-13T14:12:21.220" v="8" actId="1076"/>
        <pc:sldMkLst>
          <pc:docMk/>
          <pc:sldMk cId="0" sldId="263"/>
        </pc:sldMkLst>
        <pc:spChg chg="mod">
          <ac:chgData name="Shaun TAN (TP)" userId="320b0313-0f94-4025-ae48-3ce799bef0e9" providerId="ADAL" clId="{383F0773-C1D2-4C0B-A778-5DE677E1CF30}" dt="2026-04-13T14:12:21.220" v="8" actId="1076"/>
          <ac:spMkLst>
            <pc:docMk/>
            <pc:sldMk cId="0" sldId="263"/>
            <ac:spMk id="4" creationId="{00000000-0000-0000-0000-000000000000}"/>
          </ac:spMkLst>
        </pc:spChg>
        <pc:spChg chg="mod">
          <ac:chgData name="Shaun TAN (TP)" userId="320b0313-0f94-4025-ae48-3ce799bef0e9" providerId="ADAL" clId="{383F0773-C1D2-4C0B-A778-5DE677E1CF30}" dt="2026-04-13T14:12:18.570" v="7" actId="1076"/>
          <ac:spMkLst>
            <pc:docMk/>
            <pc:sldMk cId="0" sldId="263"/>
            <ac:spMk id="5" creationId="{00000000-0000-0000-0000-000000000000}"/>
          </ac:spMkLst>
        </pc:spChg>
      </pc:sldChg>
      <pc:sldChg chg="modSp mod">
        <pc:chgData name="Shaun TAN (TP)" userId="320b0313-0f94-4025-ae48-3ce799bef0e9" providerId="ADAL" clId="{383F0773-C1D2-4C0B-A778-5DE677E1CF30}" dt="2026-04-13T14:12:33.088" v="10" actId="1076"/>
        <pc:sldMkLst>
          <pc:docMk/>
          <pc:sldMk cId="0" sldId="266"/>
        </pc:sldMkLst>
        <pc:spChg chg="mod">
          <ac:chgData name="Shaun TAN (TP)" userId="320b0313-0f94-4025-ae48-3ce799bef0e9" providerId="ADAL" clId="{383F0773-C1D2-4C0B-A778-5DE677E1CF30}" dt="2026-04-13T14:12:33.088" v="10" actId="1076"/>
          <ac:spMkLst>
            <pc:docMk/>
            <pc:sldMk cId="0" sldId="266"/>
            <ac:spMk id="4" creationId="{00000000-0000-0000-0000-000000000000}"/>
          </ac:spMkLst>
        </pc:spChg>
        <pc:spChg chg="mod">
          <ac:chgData name="Shaun TAN (TP)" userId="320b0313-0f94-4025-ae48-3ce799bef0e9" providerId="ADAL" clId="{383F0773-C1D2-4C0B-A778-5DE677E1CF30}" dt="2026-04-13T14:12:30.474" v="9" actId="1076"/>
          <ac:spMkLst>
            <pc:docMk/>
            <pc:sldMk cId="0" sldId="266"/>
            <ac:spMk id="5" creationId="{00000000-0000-0000-0000-000000000000}"/>
          </ac:spMkLst>
        </pc:spChg>
      </pc:sldChg>
      <pc:sldChg chg="modSp mod">
        <pc:chgData name="Shaun TAN (TP)" userId="320b0313-0f94-4025-ae48-3ce799bef0e9" providerId="ADAL" clId="{383F0773-C1D2-4C0B-A778-5DE677E1CF30}" dt="2026-04-13T14:12:45.785" v="12" actId="1076"/>
        <pc:sldMkLst>
          <pc:docMk/>
          <pc:sldMk cId="0" sldId="271"/>
        </pc:sldMkLst>
        <pc:spChg chg="mod">
          <ac:chgData name="Shaun TAN (TP)" userId="320b0313-0f94-4025-ae48-3ce799bef0e9" providerId="ADAL" clId="{383F0773-C1D2-4C0B-A778-5DE677E1CF30}" dt="2026-04-13T14:12:45.785" v="12" actId="1076"/>
          <ac:spMkLst>
            <pc:docMk/>
            <pc:sldMk cId="0" sldId="271"/>
            <ac:spMk id="4" creationId="{00000000-0000-0000-0000-000000000000}"/>
          </ac:spMkLst>
        </pc:spChg>
        <pc:spChg chg="mod">
          <ac:chgData name="Shaun TAN (TP)" userId="320b0313-0f94-4025-ae48-3ce799bef0e9" providerId="ADAL" clId="{383F0773-C1D2-4C0B-A778-5DE677E1CF30}" dt="2026-04-13T14:12:43.529" v="11" actId="1076"/>
          <ac:spMkLst>
            <pc:docMk/>
            <pc:sldMk cId="0" sldId="271"/>
            <ac:spMk id="5" creationId="{00000000-0000-0000-0000-000000000000}"/>
          </ac:spMkLst>
        </pc:spChg>
      </pc:sldChg>
      <pc:sldChg chg="modSp mod">
        <pc:chgData name="Shaun TAN (TP)" userId="320b0313-0f94-4025-ae48-3ce799bef0e9" providerId="ADAL" clId="{383F0773-C1D2-4C0B-A778-5DE677E1CF30}" dt="2026-04-13T14:12:53.253" v="14" actId="1076"/>
        <pc:sldMkLst>
          <pc:docMk/>
          <pc:sldMk cId="0" sldId="273"/>
        </pc:sldMkLst>
        <pc:spChg chg="mod">
          <ac:chgData name="Shaun TAN (TP)" userId="320b0313-0f94-4025-ae48-3ce799bef0e9" providerId="ADAL" clId="{383F0773-C1D2-4C0B-A778-5DE677E1CF30}" dt="2026-04-13T14:12:53.253" v="14" actId="1076"/>
          <ac:spMkLst>
            <pc:docMk/>
            <pc:sldMk cId="0" sldId="273"/>
            <ac:spMk id="4" creationId="{00000000-0000-0000-0000-000000000000}"/>
          </ac:spMkLst>
        </pc:spChg>
        <pc:spChg chg="mod">
          <ac:chgData name="Shaun TAN (TP)" userId="320b0313-0f94-4025-ae48-3ce799bef0e9" providerId="ADAL" clId="{383F0773-C1D2-4C0B-A778-5DE677E1CF30}" dt="2026-04-13T14:12:51.392" v="13" actId="1076"/>
          <ac:spMkLst>
            <pc:docMk/>
            <pc:sldMk cId="0" sldId="273"/>
            <ac:spMk id="5" creationId="{00000000-0000-0000-0000-000000000000}"/>
          </ac:spMkLst>
        </pc:spChg>
      </pc:sldChg>
      <pc:sldChg chg="modSp mod">
        <pc:chgData name="Shaun TAN (TP)" userId="320b0313-0f94-4025-ae48-3ce799bef0e9" providerId="ADAL" clId="{383F0773-C1D2-4C0B-A778-5DE677E1CF30}" dt="2026-04-13T14:13:21.984" v="16" actId="1076"/>
        <pc:sldMkLst>
          <pc:docMk/>
          <pc:sldMk cId="0" sldId="282"/>
        </pc:sldMkLst>
        <pc:spChg chg="mod">
          <ac:chgData name="Shaun TAN (TP)" userId="320b0313-0f94-4025-ae48-3ce799bef0e9" providerId="ADAL" clId="{383F0773-C1D2-4C0B-A778-5DE677E1CF30}" dt="2026-04-13T14:13:21.984" v="16" actId="1076"/>
          <ac:spMkLst>
            <pc:docMk/>
            <pc:sldMk cId="0" sldId="282"/>
            <ac:spMk id="44" creationId="{00000000-0000-0000-0000-000000000000}"/>
          </ac:spMkLst>
        </pc:spChg>
        <pc:spChg chg="mod">
          <ac:chgData name="Shaun TAN (TP)" userId="320b0313-0f94-4025-ae48-3ce799bef0e9" providerId="ADAL" clId="{383F0773-C1D2-4C0B-A778-5DE677E1CF30}" dt="2026-04-13T14:13:19.516" v="15" actId="1076"/>
          <ac:spMkLst>
            <pc:docMk/>
            <pc:sldMk cId="0" sldId="282"/>
            <ac:spMk id="45" creationId="{00000000-0000-0000-0000-000000000000}"/>
          </ac:spMkLst>
        </pc:spChg>
      </pc:sldChg>
    </pc:docChg>
  </pc:docChgLst>
  <pc:docChgLst>
    <pc:chgData name="Nur Shuhadah BINTE JALIL (TP)" userId="S::nurshuha@tp.edu.sg::6a975622-816e-4480-9323-6edcbb1b288f" providerId="AD" clId="Web-{3690BF1F-2F31-D02C-C9FA-E63FA588F0A3}"/>
    <pc:docChg chg="modSld">
      <pc:chgData name="Nur Shuhadah BINTE JALIL (TP)" userId="S::nurshuha@tp.edu.sg::6a975622-816e-4480-9323-6edcbb1b288f" providerId="AD" clId="Web-{3690BF1F-2F31-D02C-C9FA-E63FA588F0A3}" dt="2026-04-12T23:26:50.454" v="1" actId="14100"/>
      <pc:docMkLst>
        <pc:docMk/>
      </pc:docMkLst>
      <pc:sldChg chg="modSp">
        <pc:chgData name="Nur Shuhadah BINTE JALIL (TP)" userId="S::nurshuha@tp.edu.sg::6a975622-816e-4480-9323-6edcbb1b288f" providerId="AD" clId="Web-{3690BF1F-2F31-D02C-C9FA-E63FA588F0A3}" dt="2026-04-12T23:26:35.236" v="0" actId="1076"/>
        <pc:sldMkLst>
          <pc:docMk/>
          <pc:sldMk cId="0" sldId="272"/>
        </pc:sldMkLst>
        <pc:spChg chg="mod">
          <ac:chgData name="Nur Shuhadah BINTE JALIL (TP)" userId="S::nurshuha@tp.edu.sg::6a975622-816e-4480-9323-6edcbb1b288f" providerId="AD" clId="Web-{3690BF1F-2F31-D02C-C9FA-E63FA588F0A3}" dt="2026-04-12T23:26:35.236" v="0" actId="1076"/>
          <ac:spMkLst>
            <pc:docMk/>
            <pc:sldMk cId="0" sldId="272"/>
            <ac:spMk id="28" creationId="{00000000-0000-0000-0000-000000000000}"/>
          </ac:spMkLst>
        </pc:spChg>
      </pc:sldChg>
      <pc:sldChg chg="modSp">
        <pc:chgData name="Nur Shuhadah BINTE JALIL (TP)" userId="S::nurshuha@tp.edu.sg::6a975622-816e-4480-9323-6edcbb1b288f" providerId="AD" clId="Web-{3690BF1F-2F31-D02C-C9FA-E63FA588F0A3}" dt="2026-04-12T23:26:50.454" v="1" actId="14100"/>
        <pc:sldMkLst>
          <pc:docMk/>
          <pc:sldMk cId="0" sldId="279"/>
        </pc:sldMkLst>
        <pc:spChg chg="mod">
          <ac:chgData name="Nur Shuhadah BINTE JALIL (TP)" userId="S::nurshuha@tp.edu.sg::6a975622-816e-4480-9323-6edcbb1b288f" providerId="AD" clId="Web-{3690BF1F-2F31-D02C-C9FA-E63FA588F0A3}" dt="2026-04-12T23:26:50.454" v="1" actId="14100"/>
          <ac:spMkLst>
            <pc:docMk/>
            <pc:sldMk cId="0" sldId="279"/>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5865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36576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4" name="Shape 2"/>
          <p:cNvSpPr/>
          <p:nvPr/>
        </p:nvSpPr>
        <p:spPr>
          <a:xfrm>
            <a:off x="146304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5" name="Shape 3"/>
          <p:cNvSpPr/>
          <p:nvPr/>
        </p:nvSpPr>
        <p:spPr>
          <a:xfrm>
            <a:off x="256032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6" name="Shape 4"/>
          <p:cNvSpPr/>
          <p:nvPr/>
        </p:nvSpPr>
        <p:spPr>
          <a:xfrm>
            <a:off x="365760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7" name="Shape 5"/>
          <p:cNvSpPr/>
          <p:nvPr/>
        </p:nvSpPr>
        <p:spPr>
          <a:xfrm>
            <a:off x="475488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8" name="Shape 6"/>
          <p:cNvSpPr/>
          <p:nvPr/>
        </p:nvSpPr>
        <p:spPr>
          <a:xfrm>
            <a:off x="585216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9" name="Shape 7"/>
          <p:cNvSpPr/>
          <p:nvPr/>
        </p:nvSpPr>
        <p:spPr>
          <a:xfrm>
            <a:off x="694944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10" name="Shape 8"/>
          <p:cNvSpPr/>
          <p:nvPr/>
        </p:nvSpPr>
        <p:spPr>
          <a:xfrm>
            <a:off x="8046720" y="182880"/>
            <a:ext cx="54864" cy="54864"/>
          </a:xfrm>
          <a:prstGeom prst="line">
            <a:avLst/>
          </a:prstGeom>
          <a:solidFill>
            <a:srgbClr val="00B4D8">
              <a:alpha val="40000"/>
            </a:srgbClr>
          </a:solidFill>
          <a:ln w="12700">
            <a:solidFill>
              <a:srgbClr val="00B4D8">
                <a:alpha val="40000"/>
              </a:srgbClr>
            </a:solidFill>
            <a:prstDash val="solid"/>
          </a:ln>
        </p:spPr>
        <p:txBody>
          <a:bodyPr/>
          <a:lstStyle/>
          <a:p>
            <a:endParaRPr lang="en-SG"/>
          </a:p>
        </p:txBody>
      </p:sp>
      <p:sp>
        <p:nvSpPr>
          <p:cNvPr id="11" name="Text 9"/>
          <p:cNvSpPr/>
          <p:nvPr/>
        </p:nvSpPr>
        <p:spPr>
          <a:xfrm>
            <a:off x="457200" y="640080"/>
            <a:ext cx="8229600" cy="411480"/>
          </a:xfrm>
          <a:prstGeom prst="rect">
            <a:avLst/>
          </a:prstGeom>
          <a:noFill/>
          <a:ln/>
        </p:spPr>
        <p:txBody>
          <a:bodyPr wrap="square" lIns="0" tIns="0" rIns="0" bIns="0" rtlCol="0" anchor="ctr"/>
          <a:lstStyle/>
          <a:p>
            <a:pPr marL="0" indent="0" algn="l">
              <a:buNone/>
            </a:pPr>
            <a:r>
              <a:rPr lang="en-US" sz="1300" b="1" kern="0" spc="600" dirty="0">
                <a:solidFill>
                  <a:srgbClr val="00B4D8"/>
                </a:solidFill>
                <a:latin typeface="Calibri" pitchFamily="34" charset="0"/>
                <a:ea typeface="Calibri" pitchFamily="34" charset="-122"/>
                <a:cs typeface="Calibri" pitchFamily="34" charset="-120"/>
              </a:rPr>
              <a:t>DIGITAL FORENSICS</a:t>
            </a:r>
            <a:endParaRPr lang="en-US" sz="1300" dirty="0"/>
          </a:p>
        </p:txBody>
      </p:sp>
      <p:sp>
        <p:nvSpPr>
          <p:cNvPr id="12" name="Text 10"/>
          <p:cNvSpPr/>
          <p:nvPr/>
        </p:nvSpPr>
        <p:spPr>
          <a:xfrm>
            <a:off x="457200" y="1097280"/>
            <a:ext cx="8229600" cy="914400"/>
          </a:xfrm>
          <a:prstGeom prst="rect">
            <a:avLst/>
          </a:prstGeom>
          <a:noFill/>
          <a:ln/>
        </p:spPr>
        <p:txBody>
          <a:bodyPr wrap="square" lIns="0" tIns="0" rIns="0" bIns="0" rtlCol="0" anchor="ctr"/>
          <a:lstStyle/>
          <a:p>
            <a:pPr marL="0" indent="0" algn="l">
              <a:buNone/>
            </a:pPr>
            <a:r>
              <a:rPr lang="en-US" sz="5200" b="1" dirty="0">
                <a:solidFill>
                  <a:srgbClr val="1A1A2E"/>
                </a:solidFill>
                <a:latin typeface="Calibri" pitchFamily="34" charset="0"/>
                <a:ea typeface="Calibri" pitchFamily="34" charset="-122"/>
                <a:cs typeface="Calibri" pitchFamily="34" charset="-120"/>
              </a:rPr>
              <a:t>Lesson 4</a:t>
            </a:r>
            <a:endParaRPr lang="en-US" sz="5200" dirty="0"/>
          </a:p>
        </p:txBody>
      </p:sp>
      <p:sp>
        <p:nvSpPr>
          <p:cNvPr id="13" name="Text 11"/>
          <p:cNvSpPr/>
          <p:nvPr/>
        </p:nvSpPr>
        <p:spPr>
          <a:xfrm>
            <a:off x="457200" y="2103120"/>
            <a:ext cx="7772400" cy="1097280"/>
          </a:xfrm>
          <a:prstGeom prst="rect">
            <a:avLst/>
          </a:prstGeom>
          <a:noFill/>
          <a:ln/>
        </p:spPr>
        <p:txBody>
          <a:bodyPr wrap="square" lIns="0" tIns="0" rIns="0" bIns="0" rtlCol="0" anchor="ctr"/>
          <a:lstStyle/>
          <a:p>
            <a:pPr marL="0" indent="0" algn="l">
              <a:buNone/>
            </a:pPr>
            <a:r>
              <a:rPr lang="en-US" sz="2200" dirty="0">
                <a:solidFill>
                  <a:srgbClr val="1A1A2E"/>
                </a:solidFill>
                <a:latin typeface="Calibri" pitchFamily="34" charset="0"/>
                <a:ea typeface="Calibri" pitchFamily="34" charset="-122"/>
                <a:cs typeface="Calibri" pitchFamily="34" charset="-120"/>
              </a:rPr>
              <a:t>Investigation Strategy, Forensic</a:t>
            </a:r>
            <a:endParaRPr lang="en-US" sz="2200" dirty="0"/>
          </a:p>
          <a:p>
            <a:pPr marL="0" indent="0" algn="l">
              <a:buNone/>
            </a:pPr>
            <a:r>
              <a:rPr lang="en-US" sz="2200" dirty="0">
                <a:solidFill>
                  <a:srgbClr val="1A1A2E"/>
                </a:solidFill>
                <a:latin typeface="Calibri" pitchFamily="34" charset="0"/>
                <a:ea typeface="Calibri" pitchFamily="34" charset="-122"/>
                <a:cs typeface="Calibri" pitchFamily="34" charset="-120"/>
              </a:rPr>
              <a:t>Analysis Tools &amp; Data Hiding Techniques</a:t>
            </a:r>
            <a:endParaRPr lang="en-US" sz="2200" dirty="0"/>
          </a:p>
        </p:txBody>
      </p:sp>
      <p:sp>
        <p:nvSpPr>
          <p:cNvPr id="14" name="Shape 12"/>
          <p:cNvSpPr/>
          <p:nvPr/>
        </p:nvSpPr>
        <p:spPr>
          <a:xfrm>
            <a:off x="457200" y="3291840"/>
            <a:ext cx="4114800" cy="36576"/>
          </a:xfrm>
          <a:prstGeom prst="rect">
            <a:avLst/>
          </a:prstGeom>
          <a:solidFill>
            <a:srgbClr val="00B4D8"/>
          </a:solidFill>
          <a:ln w="12700">
            <a:solidFill>
              <a:srgbClr val="00B4D8"/>
            </a:solidFill>
            <a:prstDash val="solid"/>
          </a:ln>
        </p:spPr>
        <p:txBody>
          <a:bodyPr/>
          <a:lstStyle/>
          <a:p>
            <a:endParaRPr lang="en-SG"/>
          </a:p>
        </p:txBody>
      </p:sp>
      <p:sp>
        <p:nvSpPr>
          <p:cNvPr id="15" name="Text 13"/>
          <p:cNvSpPr/>
          <p:nvPr/>
        </p:nvSpPr>
        <p:spPr>
          <a:xfrm>
            <a:off x="457200" y="3429000"/>
            <a:ext cx="8229600" cy="320040"/>
          </a:xfrm>
          <a:prstGeom prst="rect">
            <a:avLst/>
          </a:prstGeom>
          <a:noFill/>
          <a:ln/>
        </p:spPr>
        <p:txBody>
          <a:bodyPr wrap="square" lIns="0" tIns="0" rIns="0" bIns="0" rtlCol="0" anchor="ctr"/>
          <a:lstStyle/>
          <a:p>
            <a:pPr marL="0" indent="0">
              <a:buNone/>
            </a:pPr>
            <a:r>
              <a:rPr lang="en-US" sz="1000" i="1" dirty="0">
                <a:solidFill>
                  <a:srgbClr val="475569"/>
                </a:solidFill>
              </a:rPr>
              <a:t>Prerequisites: File System Fundamentals · FAT32 · NTFS Structures</a:t>
            </a:r>
            <a:endParaRPr lang="en-US" sz="1000" dirty="0"/>
          </a:p>
        </p:txBody>
      </p:sp>
      <p:sp>
        <p:nvSpPr>
          <p:cNvPr id="16" name="Shape 14"/>
          <p:cNvSpPr/>
          <p:nvPr/>
        </p:nvSpPr>
        <p:spPr>
          <a:xfrm>
            <a:off x="6583680" y="457200"/>
            <a:ext cx="2286000" cy="4206240"/>
          </a:xfrm>
          <a:prstGeom prst="rect">
            <a:avLst/>
          </a:prstGeom>
          <a:solidFill>
            <a:srgbClr val="FFFFFF"/>
          </a:solidFill>
          <a:ln w="6350">
            <a:solidFill>
              <a:srgbClr val="00B4D8"/>
            </a:solidFill>
            <a:prstDash val="solid"/>
          </a:ln>
        </p:spPr>
        <p:txBody>
          <a:bodyPr/>
          <a:lstStyle/>
          <a:p>
            <a:endParaRPr lang="en-SG"/>
          </a:p>
        </p:txBody>
      </p:sp>
      <p:sp>
        <p:nvSpPr>
          <p:cNvPr id="17" name="Text 15"/>
          <p:cNvSpPr/>
          <p:nvPr/>
        </p:nvSpPr>
        <p:spPr>
          <a:xfrm>
            <a:off x="6629400" y="566928"/>
            <a:ext cx="2194560" cy="320040"/>
          </a:xfrm>
          <a:prstGeom prst="rect">
            <a:avLst/>
          </a:prstGeom>
          <a:noFill/>
          <a:ln/>
        </p:spPr>
        <p:txBody>
          <a:bodyPr wrap="square" lIns="0" tIns="0" rIns="0" bIns="0" rtlCol="0" anchor="ctr"/>
          <a:lstStyle/>
          <a:p>
            <a:pPr marL="0" indent="0">
              <a:buNone/>
            </a:pPr>
            <a:r>
              <a:rPr lang="en-US" sz="750" dirty="0">
                <a:solidFill>
                  <a:srgbClr val="00B4D8"/>
                </a:solidFill>
                <a:latin typeface="Consolas" pitchFamily="34" charset="0"/>
                <a:ea typeface="Consolas" pitchFamily="34" charset="-122"/>
                <a:cs typeface="Consolas" pitchFamily="34" charset="-120"/>
              </a:rPr>
              <a:t>4D 5A 90 00 03 00 00 00</a:t>
            </a:r>
            <a:endParaRPr lang="en-US" sz="750" dirty="0"/>
          </a:p>
        </p:txBody>
      </p:sp>
      <p:sp>
        <p:nvSpPr>
          <p:cNvPr id="18" name="Text 16"/>
          <p:cNvSpPr/>
          <p:nvPr/>
        </p:nvSpPr>
        <p:spPr>
          <a:xfrm>
            <a:off x="6629400" y="905256"/>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04 00 00 00 FF FF 00 00</a:t>
            </a:r>
            <a:endParaRPr lang="en-US" sz="750" dirty="0"/>
          </a:p>
        </p:txBody>
      </p:sp>
      <p:sp>
        <p:nvSpPr>
          <p:cNvPr id="19" name="Text 17"/>
          <p:cNvSpPr/>
          <p:nvPr/>
        </p:nvSpPr>
        <p:spPr>
          <a:xfrm>
            <a:off x="6629400" y="1243584"/>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B8 00 00 00 00 00 00 00</a:t>
            </a:r>
            <a:endParaRPr lang="en-US" sz="750" dirty="0"/>
          </a:p>
        </p:txBody>
      </p:sp>
      <p:sp>
        <p:nvSpPr>
          <p:cNvPr id="20" name="Text 18"/>
          <p:cNvSpPr/>
          <p:nvPr/>
        </p:nvSpPr>
        <p:spPr>
          <a:xfrm>
            <a:off x="6629400" y="1581912"/>
            <a:ext cx="2194560" cy="320040"/>
          </a:xfrm>
          <a:prstGeom prst="rect">
            <a:avLst/>
          </a:prstGeom>
          <a:noFill/>
          <a:ln/>
        </p:spPr>
        <p:txBody>
          <a:bodyPr wrap="square" lIns="0" tIns="0" rIns="0" bIns="0" rtlCol="0" anchor="ctr"/>
          <a:lstStyle/>
          <a:p>
            <a:pPr marL="0" indent="0">
              <a:buNone/>
            </a:pPr>
            <a:r>
              <a:rPr lang="en-US" sz="750" dirty="0">
                <a:solidFill>
                  <a:srgbClr val="00B4D8"/>
                </a:solidFill>
                <a:latin typeface="Consolas" pitchFamily="34" charset="0"/>
                <a:ea typeface="Consolas" pitchFamily="34" charset="-122"/>
                <a:cs typeface="Consolas" pitchFamily="34" charset="-120"/>
              </a:rPr>
              <a:t>40 00 00 00 00 00 00 00</a:t>
            </a:r>
            <a:endParaRPr lang="en-US" sz="750" dirty="0"/>
          </a:p>
        </p:txBody>
      </p:sp>
      <p:sp>
        <p:nvSpPr>
          <p:cNvPr id="21" name="Text 19"/>
          <p:cNvSpPr/>
          <p:nvPr/>
        </p:nvSpPr>
        <p:spPr>
          <a:xfrm>
            <a:off x="6629400" y="1920240"/>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00 00 00 00 00 00 00 00</a:t>
            </a:r>
            <a:endParaRPr lang="en-US" sz="750" dirty="0"/>
          </a:p>
        </p:txBody>
      </p:sp>
      <p:sp>
        <p:nvSpPr>
          <p:cNvPr id="22" name="Text 20"/>
          <p:cNvSpPr/>
          <p:nvPr/>
        </p:nvSpPr>
        <p:spPr>
          <a:xfrm>
            <a:off x="6629400" y="2258568"/>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00 00 00 00 00 00 00 00</a:t>
            </a:r>
            <a:endParaRPr lang="en-US" sz="750" dirty="0"/>
          </a:p>
        </p:txBody>
      </p:sp>
      <p:sp>
        <p:nvSpPr>
          <p:cNvPr id="23" name="Text 21"/>
          <p:cNvSpPr/>
          <p:nvPr/>
        </p:nvSpPr>
        <p:spPr>
          <a:xfrm>
            <a:off x="6629400" y="2596896"/>
            <a:ext cx="2194560" cy="320040"/>
          </a:xfrm>
          <a:prstGeom prst="rect">
            <a:avLst/>
          </a:prstGeom>
          <a:noFill/>
          <a:ln/>
        </p:spPr>
        <p:txBody>
          <a:bodyPr wrap="square" lIns="0" tIns="0" rIns="0" bIns="0" rtlCol="0" anchor="ctr"/>
          <a:lstStyle/>
          <a:p>
            <a:pPr marL="0" indent="0">
              <a:buNone/>
            </a:pPr>
            <a:r>
              <a:rPr lang="en-US" sz="750" dirty="0">
                <a:solidFill>
                  <a:srgbClr val="00B4D8"/>
                </a:solidFill>
                <a:latin typeface="Consolas" pitchFamily="34" charset="0"/>
                <a:ea typeface="Consolas" pitchFamily="34" charset="-122"/>
                <a:cs typeface="Consolas" pitchFamily="34" charset="-120"/>
              </a:rPr>
              <a:t>00 00 00 00 00 00 00 00</a:t>
            </a:r>
            <a:endParaRPr lang="en-US" sz="750" dirty="0"/>
          </a:p>
        </p:txBody>
      </p:sp>
      <p:sp>
        <p:nvSpPr>
          <p:cNvPr id="24" name="Text 22"/>
          <p:cNvSpPr/>
          <p:nvPr/>
        </p:nvSpPr>
        <p:spPr>
          <a:xfrm>
            <a:off x="6629400" y="2935224"/>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E8 00 00 00 0E 1F BA 0E</a:t>
            </a:r>
            <a:endParaRPr lang="en-US" sz="750" dirty="0"/>
          </a:p>
        </p:txBody>
      </p:sp>
      <p:sp>
        <p:nvSpPr>
          <p:cNvPr id="25" name="Text 23"/>
          <p:cNvSpPr/>
          <p:nvPr/>
        </p:nvSpPr>
        <p:spPr>
          <a:xfrm>
            <a:off x="6629400" y="3273552"/>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00 B4 09 CD 21 B8 01 4C</a:t>
            </a:r>
            <a:endParaRPr lang="en-US" sz="750" dirty="0"/>
          </a:p>
        </p:txBody>
      </p:sp>
      <p:sp>
        <p:nvSpPr>
          <p:cNvPr id="26" name="Text 24"/>
          <p:cNvSpPr/>
          <p:nvPr/>
        </p:nvSpPr>
        <p:spPr>
          <a:xfrm>
            <a:off x="6629400" y="3611880"/>
            <a:ext cx="2194560" cy="320040"/>
          </a:xfrm>
          <a:prstGeom prst="rect">
            <a:avLst/>
          </a:prstGeom>
          <a:noFill/>
          <a:ln/>
        </p:spPr>
        <p:txBody>
          <a:bodyPr wrap="square" lIns="0" tIns="0" rIns="0" bIns="0" rtlCol="0" anchor="ctr"/>
          <a:lstStyle/>
          <a:p>
            <a:pPr marL="0" indent="0">
              <a:buNone/>
            </a:pPr>
            <a:r>
              <a:rPr lang="en-US" sz="750" dirty="0">
                <a:solidFill>
                  <a:srgbClr val="00B4D8"/>
                </a:solidFill>
                <a:latin typeface="Consolas" pitchFamily="34" charset="0"/>
                <a:ea typeface="Consolas" pitchFamily="34" charset="-122"/>
                <a:cs typeface="Consolas" pitchFamily="34" charset="-120"/>
              </a:rPr>
              <a:t>CD 21 54 68 69 73 20 70</a:t>
            </a:r>
            <a:endParaRPr lang="en-US" sz="750" dirty="0"/>
          </a:p>
        </p:txBody>
      </p:sp>
      <p:sp>
        <p:nvSpPr>
          <p:cNvPr id="27" name="Text 25"/>
          <p:cNvSpPr/>
          <p:nvPr/>
        </p:nvSpPr>
        <p:spPr>
          <a:xfrm>
            <a:off x="6629400" y="3950208"/>
            <a:ext cx="2194560" cy="320040"/>
          </a:xfrm>
          <a:prstGeom prst="rect">
            <a:avLst/>
          </a:prstGeom>
          <a:noFill/>
          <a:ln/>
        </p:spPr>
        <p:txBody>
          <a:bodyPr wrap="square" lIns="0" tIns="0" rIns="0" bIns="0" rtlCol="0" anchor="ctr"/>
          <a:lstStyle/>
          <a:p>
            <a:pPr marL="0" indent="0">
              <a:buNone/>
            </a:pPr>
            <a:r>
              <a:rPr lang="en-US" sz="750" dirty="0">
                <a:solidFill>
                  <a:srgbClr val="475569"/>
                </a:solidFill>
                <a:latin typeface="Consolas" pitchFamily="34" charset="0"/>
                <a:ea typeface="Consolas" pitchFamily="34" charset="-122"/>
                <a:cs typeface="Consolas" pitchFamily="34" charset="-120"/>
              </a:rPr>
              <a:t>72 6F 67 72 61 6D 20 63</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LESSON OVERVIEW</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What We Will Cover Today</a:t>
            </a:r>
            <a:endParaRPr lang="en-US" sz="2800" dirty="0"/>
          </a:p>
        </p:txBody>
      </p:sp>
      <p:sp>
        <p:nvSpPr>
          <p:cNvPr id="5" name="Shape 3"/>
          <p:cNvSpPr/>
          <p:nvPr/>
        </p:nvSpPr>
        <p:spPr>
          <a:xfrm>
            <a:off x="320040" y="1188720"/>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325880"/>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429768" y="1399032"/>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01</a:t>
            </a:r>
            <a:endParaRPr lang="en-US" sz="1800" dirty="0"/>
          </a:p>
        </p:txBody>
      </p:sp>
      <p:sp>
        <p:nvSpPr>
          <p:cNvPr id="8" name="Shape 6"/>
          <p:cNvSpPr/>
          <p:nvPr/>
        </p:nvSpPr>
        <p:spPr>
          <a:xfrm>
            <a:off x="850392" y="1435608"/>
            <a:ext cx="27432" cy="502920"/>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941832" y="1380744"/>
            <a:ext cx="3474720" cy="292608"/>
          </a:xfrm>
          <a:prstGeom prst="rect">
            <a:avLst/>
          </a:prstGeom>
          <a:noFill/>
          <a:ln/>
        </p:spPr>
        <p:txBody>
          <a:bodyPr wrap="square" lIns="0" tIns="0" rIns="0" bIns="0" rtlCol="0" anchor="b"/>
          <a:lstStyle/>
          <a:p>
            <a:pPr marL="0" indent="0">
              <a:buNone/>
            </a:pPr>
            <a:r>
              <a:rPr lang="en-US" sz="1100" b="1" dirty="0">
                <a:solidFill>
                  <a:srgbClr val="1A1A2E"/>
                </a:solidFill>
              </a:rPr>
              <a:t>Investigation Considerations</a:t>
            </a:r>
            <a:endParaRPr lang="en-US" sz="1100" dirty="0"/>
          </a:p>
        </p:txBody>
      </p:sp>
      <p:sp>
        <p:nvSpPr>
          <p:cNvPr id="10" name="Text 8"/>
          <p:cNvSpPr/>
          <p:nvPr/>
        </p:nvSpPr>
        <p:spPr>
          <a:xfrm>
            <a:off x="941832" y="1691640"/>
            <a:ext cx="3474720" cy="292608"/>
          </a:xfrm>
          <a:prstGeom prst="rect">
            <a:avLst/>
          </a:prstGeom>
          <a:noFill/>
          <a:ln/>
        </p:spPr>
        <p:txBody>
          <a:bodyPr wrap="square" lIns="0" tIns="0" rIns="0" bIns="0" rtlCol="0" anchor="t"/>
          <a:lstStyle/>
          <a:p>
            <a:pPr marL="0" indent="0">
              <a:buNone/>
            </a:pPr>
            <a:r>
              <a:rPr lang="en-US" sz="850" i="1" dirty="0">
                <a:solidFill>
                  <a:srgbClr val="475569"/>
                </a:solidFill>
              </a:rPr>
              <a:t>What factors guide forensic decision-making?</a:t>
            </a:r>
            <a:endParaRPr lang="en-US" sz="850" dirty="0"/>
          </a:p>
        </p:txBody>
      </p:sp>
      <p:sp>
        <p:nvSpPr>
          <p:cNvPr id="11" name="Shape 9"/>
          <p:cNvSpPr/>
          <p:nvPr/>
        </p:nvSpPr>
        <p:spPr>
          <a:xfrm>
            <a:off x="320040" y="2185416"/>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2" name="Text 10"/>
          <p:cNvSpPr/>
          <p:nvPr/>
        </p:nvSpPr>
        <p:spPr>
          <a:xfrm>
            <a:off x="429768" y="2258568"/>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02</a:t>
            </a:r>
            <a:endParaRPr lang="en-US" sz="1800" dirty="0"/>
          </a:p>
        </p:txBody>
      </p:sp>
      <p:sp>
        <p:nvSpPr>
          <p:cNvPr id="13" name="Shape 11"/>
          <p:cNvSpPr/>
          <p:nvPr/>
        </p:nvSpPr>
        <p:spPr>
          <a:xfrm>
            <a:off x="850392" y="2295144"/>
            <a:ext cx="27432" cy="502920"/>
          </a:xfrm>
          <a:prstGeom prst="rect">
            <a:avLst/>
          </a:prstGeom>
          <a:solidFill>
            <a:srgbClr val="00B4D8"/>
          </a:solidFill>
          <a:ln w="12700">
            <a:solidFill>
              <a:srgbClr val="00B4D8"/>
            </a:solidFill>
            <a:prstDash val="solid"/>
          </a:ln>
        </p:spPr>
        <p:txBody>
          <a:bodyPr/>
          <a:lstStyle/>
          <a:p>
            <a:endParaRPr lang="en-SG"/>
          </a:p>
        </p:txBody>
      </p:sp>
      <p:sp>
        <p:nvSpPr>
          <p:cNvPr id="14" name="Text 12"/>
          <p:cNvSpPr/>
          <p:nvPr/>
        </p:nvSpPr>
        <p:spPr>
          <a:xfrm>
            <a:off x="941832" y="2240280"/>
            <a:ext cx="3474720" cy="292608"/>
          </a:xfrm>
          <a:prstGeom prst="rect">
            <a:avLst/>
          </a:prstGeom>
          <a:noFill/>
          <a:ln/>
        </p:spPr>
        <p:txBody>
          <a:bodyPr wrap="square" lIns="0" tIns="0" rIns="0" bIns="0" rtlCol="0" anchor="b"/>
          <a:lstStyle/>
          <a:p>
            <a:pPr marL="0" indent="0">
              <a:buNone/>
            </a:pPr>
            <a:r>
              <a:rPr lang="en-US" sz="1100" b="1" dirty="0">
                <a:solidFill>
                  <a:srgbClr val="1A1A2E"/>
                </a:solidFill>
              </a:rPr>
              <a:t>Best Practice Approach</a:t>
            </a:r>
            <a:endParaRPr lang="en-US" sz="1100" dirty="0"/>
          </a:p>
        </p:txBody>
      </p:sp>
      <p:sp>
        <p:nvSpPr>
          <p:cNvPr id="15" name="Text 13"/>
          <p:cNvSpPr/>
          <p:nvPr/>
        </p:nvSpPr>
        <p:spPr>
          <a:xfrm>
            <a:off x="941832" y="2551176"/>
            <a:ext cx="3474720" cy="292608"/>
          </a:xfrm>
          <a:prstGeom prst="rect">
            <a:avLst/>
          </a:prstGeom>
          <a:noFill/>
          <a:ln/>
        </p:spPr>
        <p:txBody>
          <a:bodyPr wrap="square" lIns="0" tIns="0" rIns="0" bIns="0" rtlCol="0" anchor="t"/>
          <a:lstStyle/>
          <a:p>
            <a:pPr marL="0" indent="0">
              <a:buNone/>
            </a:pPr>
            <a:r>
              <a:rPr lang="en-US" sz="850" i="1" dirty="0">
                <a:solidFill>
                  <a:srgbClr val="475569"/>
                </a:solidFill>
              </a:rPr>
              <a:t>A structured workflow for investigations</a:t>
            </a:r>
            <a:endParaRPr lang="en-US" sz="850" dirty="0"/>
          </a:p>
        </p:txBody>
      </p:sp>
      <p:sp>
        <p:nvSpPr>
          <p:cNvPr id="16" name="Shape 14"/>
          <p:cNvSpPr/>
          <p:nvPr/>
        </p:nvSpPr>
        <p:spPr>
          <a:xfrm>
            <a:off x="320040" y="3044952"/>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7" name="Text 15"/>
          <p:cNvSpPr/>
          <p:nvPr/>
        </p:nvSpPr>
        <p:spPr>
          <a:xfrm>
            <a:off x="429768" y="3118104"/>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03</a:t>
            </a:r>
            <a:endParaRPr lang="en-US" sz="1800" dirty="0"/>
          </a:p>
        </p:txBody>
      </p:sp>
      <p:sp>
        <p:nvSpPr>
          <p:cNvPr id="18" name="Shape 16"/>
          <p:cNvSpPr/>
          <p:nvPr/>
        </p:nvSpPr>
        <p:spPr>
          <a:xfrm>
            <a:off x="850392" y="3154680"/>
            <a:ext cx="27432" cy="502920"/>
          </a:xfrm>
          <a:prstGeom prst="rect">
            <a:avLst/>
          </a:prstGeom>
          <a:solidFill>
            <a:srgbClr val="00B4D8"/>
          </a:solidFill>
          <a:ln w="12700">
            <a:solidFill>
              <a:srgbClr val="00B4D8"/>
            </a:solidFill>
            <a:prstDash val="solid"/>
          </a:ln>
        </p:spPr>
        <p:txBody>
          <a:bodyPr/>
          <a:lstStyle/>
          <a:p>
            <a:endParaRPr lang="en-SG"/>
          </a:p>
        </p:txBody>
      </p:sp>
      <p:sp>
        <p:nvSpPr>
          <p:cNvPr id="19" name="Text 17"/>
          <p:cNvSpPr/>
          <p:nvPr/>
        </p:nvSpPr>
        <p:spPr>
          <a:xfrm>
            <a:off x="941832" y="3099816"/>
            <a:ext cx="3474720" cy="292608"/>
          </a:xfrm>
          <a:prstGeom prst="rect">
            <a:avLst/>
          </a:prstGeom>
          <a:noFill/>
          <a:ln/>
        </p:spPr>
        <p:txBody>
          <a:bodyPr wrap="square" lIns="0" tIns="0" rIns="0" bIns="0" rtlCol="0" anchor="b"/>
          <a:lstStyle/>
          <a:p>
            <a:pPr marL="0" indent="0">
              <a:buNone/>
            </a:pPr>
            <a:r>
              <a:rPr lang="en-US" sz="1100" b="1" dirty="0">
                <a:solidFill>
                  <a:srgbClr val="1A1A2E"/>
                </a:solidFill>
              </a:rPr>
              <a:t>Forensic Toolkit (FTK)</a:t>
            </a:r>
            <a:endParaRPr lang="en-US" sz="1100" dirty="0"/>
          </a:p>
        </p:txBody>
      </p:sp>
      <p:sp>
        <p:nvSpPr>
          <p:cNvPr id="20" name="Text 18"/>
          <p:cNvSpPr/>
          <p:nvPr/>
        </p:nvSpPr>
        <p:spPr>
          <a:xfrm>
            <a:off x="941832" y="3410712"/>
            <a:ext cx="3474720" cy="292608"/>
          </a:xfrm>
          <a:prstGeom prst="rect">
            <a:avLst/>
          </a:prstGeom>
          <a:noFill/>
          <a:ln/>
        </p:spPr>
        <p:txBody>
          <a:bodyPr wrap="square" lIns="0" tIns="0" rIns="0" bIns="0" rtlCol="0" anchor="t"/>
          <a:lstStyle/>
          <a:p>
            <a:pPr marL="0" indent="0">
              <a:buNone/>
            </a:pPr>
            <a:r>
              <a:rPr lang="en-US" sz="850" i="1" dirty="0">
                <a:solidFill>
                  <a:srgbClr val="475569"/>
                </a:solidFill>
              </a:rPr>
              <a:t>Key features and capabilities</a:t>
            </a:r>
            <a:endParaRPr lang="en-US" sz="850" dirty="0"/>
          </a:p>
        </p:txBody>
      </p:sp>
      <p:sp>
        <p:nvSpPr>
          <p:cNvPr id="21" name="Shape 19"/>
          <p:cNvSpPr/>
          <p:nvPr/>
        </p:nvSpPr>
        <p:spPr>
          <a:xfrm>
            <a:off x="320040" y="3904488"/>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2" name="Text 20"/>
          <p:cNvSpPr/>
          <p:nvPr/>
        </p:nvSpPr>
        <p:spPr>
          <a:xfrm>
            <a:off x="429768" y="3977640"/>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04</a:t>
            </a:r>
            <a:endParaRPr lang="en-US" sz="1800" dirty="0"/>
          </a:p>
        </p:txBody>
      </p:sp>
      <p:sp>
        <p:nvSpPr>
          <p:cNvPr id="23" name="Shape 21"/>
          <p:cNvSpPr/>
          <p:nvPr/>
        </p:nvSpPr>
        <p:spPr>
          <a:xfrm>
            <a:off x="850392" y="4014216"/>
            <a:ext cx="27432" cy="502920"/>
          </a:xfrm>
          <a:prstGeom prst="rect">
            <a:avLst/>
          </a:prstGeom>
          <a:solidFill>
            <a:srgbClr val="00B4D8"/>
          </a:solidFill>
          <a:ln w="12700">
            <a:solidFill>
              <a:srgbClr val="00B4D8"/>
            </a:solidFill>
            <a:prstDash val="solid"/>
          </a:ln>
        </p:spPr>
        <p:txBody>
          <a:bodyPr/>
          <a:lstStyle/>
          <a:p>
            <a:endParaRPr lang="en-SG"/>
          </a:p>
        </p:txBody>
      </p:sp>
      <p:sp>
        <p:nvSpPr>
          <p:cNvPr id="24" name="Text 22"/>
          <p:cNvSpPr/>
          <p:nvPr/>
        </p:nvSpPr>
        <p:spPr>
          <a:xfrm>
            <a:off x="941832" y="3959352"/>
            <a:ext cx="3474720" cy="292608"/>
          </a:xfrm>
          <a:prstGeom prst="rect">
            <a:avLst/>
          </a:prstGeom>
          <a:noFill/>
          <a:ln/>
        </p:spPr>
        <p:txBody>
          <a:bodyPr wrap="square" lIns="0" tIns="0" rIns="0" bIns="0" rtlCol="0" anchor="b"/>
          <a:lstStyle/>
          <a:p>
            <a:pPr marL="0" indent="0">
              <a:buNone/>
            </a:pPr>
            <a:r>
              <a:rPr lang="en-US" sz="1100" b="1" dirty="0">
                <a:solidFill>
                  <a:srgbClr val="1A1A2E"/>
                </a:solidFill>
              </a:rPr>
              <a:t>Hex-Level Analysis</a:t>
            </a:r>
            <a:endParaRPr lang="en-US" sz="1100" dirty="0"/>
          </a:p>
        </p:txBody>
      </p:sp>
      <p:sp>
        <p:nvSpPr>
          <p:cNvPr id="25" name="Text 23"/>
          <p:cNvSpPr/>
          <p:nvPr/>
        </p:nvSpPr>
        <p:spPr>
          <a:xfrm>
            <a:off x="941832" y="4270248"/>
            <a:ext cx="3474720" cy="292608"/>
          </a:xfrm>
          <a:prstGeom prst="rect">
            <a:avLst/>
          </a:prstGeom>
          <a:noFill/>
          <a:ln/>
        </p:spPr>
        <p:txBody>
          <a:bodyPr wrap="square" lIns="0" tIns="0" rIns="0" bIns="0" rtlCol="0" anchor="t"/>
          <a:lstStyle/>
          <a:p>
            <a:pPr marL="0" indent="0">
              <a:buNone/>
            </a:pPr>
            <a:r>
              <a:rPr lang="en-US" sz="850" i="1" dirty="0">
                <a:solidFill>
                  <a:srgbClr val="475569"/>
                </a:solidFill>
              </a:rPr>
              <a:t>Why &amp; when to inspect files at hex level</a:t>
            </a:r>
            <a:endParaRPr lang="en-US" sz="850" dirty="0"/>
          </a:p>
        </p:txBody>
      </p:sp>
      <p:sp>
        <p:nvSpPr>
          <p:cNvPr id="26" name="Shape 24"/>
          <p:cNvSpPr/>
          <p:nvPr/>
        </p:nvSpPr>
        <p:spPr>
          <a:xfrm>
            <a:off x="4754880" y="1325880"/>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7" name="Text 25"/>
          <p:cNvSpPr/>
          <p:nvPr/>
        </p:nvSpPr>
        <p:spPr>
          <a:xfrm>
            <a:off x="4864608" y="1399032"/>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05</a:t>
            </a:r>
            <a:endParaRPr lang="en-US" sz="1800" dirty="0"/>
          </a:p>
        </p:txBody>
      </p:sp>
      <p:sp>
        <p:nvSpPr>
          <p:cNvPr id="28" name="Shape 26"/>
          <p:cNvSpPr/>
          <p:nvPr/>
        </p:nvSpPr>
        <p:spPr>
          <a:xfrm>
            <a:off x="5285232" y="1435608"/>
            <a:ext cx="27432" cy="502920"/>
          </a:xfrm>
          <a:prstGeom prst="rect">
            <a:avLst/>
          </a:prstGeom>
          <a:solidFill>
            <a:srgbClr val="00B4D8"/>
          </a:solidFill>
          <a:ln w="12700">
            <a:solidFill>
              <a:srgbClr val="00B4D8"/>
            </a:solidFill>
            <a:prstDash val="solid"/>
          </a:ln>
        </p:spPr>
        <p:txBody>
          <a:bodyPr/>
          <a:lstStyle/>
          <a:p>
            <a:endParaRPr lang="en-SG"/>
          </a:p>
        </p:txBody>
      </p:sp>
      <p:sp>
        <p:nvSpPr>
          <p:cNvPr id="29" name="Text 27"/>
          <p:cNvSpPr/>
          <p:nvPr/>
        </p:nvSpPr>
        <p:spPr>
          <a:xfrm>
            <a:off x="5376672" y="1380744"/>
            <a:ext cx="3474720" cy="292608"/>
          </a:xfrm>
          <a:prstGeom prst="rect">
            <a:avLst/>
          </a:prstGeom>
          <a:noFill/>
          <a:ln/>
        </p:spPr>
        <p:txBody>
          <a:bodyPr wrap="square" lIns="0" tIns="0" rIns="0" bIns="0" rtlCol="0" anchor="b"/>
          <a:lstStyle/>
          <a:p>
            <a:pPr marL="0" indent="0">
              <a:buNone/>
            </a:pPr>
            <a:r>
              <a:rPr lang="en-US" sz="1100" b="1" dirty="0">
                <a:solidFill>
                  <a:srgbClr val="1A1A2E"/>
                </a:solidFill>
              </a:rPr>
              <a:t>Hex Editors</a:t>
            </a:r>
            <a:endParaRPr lang="en-US" sz="1100" dirty="0"/>
          </a:p>
        </p:txBody>
      </p:sp>
      <p:sp>
        <p:nvSpPr>
          <p:cNvPr id="30" name="Text 28"/>
          <p:cNvSpPr/>
          <p:nvPr/>
        </p:nvSpPr>
        <p:spPr>
          <a:xfrm>
            <a:off x="5376672" y="1691640"/>
            <a:ext cx="3474720" cy="292608"/>
          </a:xfrm>
          <a:prstGeom prst="rect">
            <a:avLst/>
          </a:prstGeom>
          <a:noFill/>
          <a:ln/>
        </p:spPr>
        <p:txBody>
          <a:bodyPr wrap="square" lIns="0" tIns="0" rIns="0" bIns="0" rtlCol="0" anchor="t"/>
          <a:lstStyle/>
          <a:p>
            <a:pPr marL="0" indent="0">
              <a:buNone/>
            </a:pPr>
            <a:r>
              <a:rPr lang="en-US" sz="850" i="1" dirty="0">
                <a:solidFill>
                  <a:srgbClr val="475569"/>
                </a:solidFill>
              </a:rPr>
              <a:t>WinHex &amp; HxD overview</a:t>
            </a:r>
            <a:endParaRPr lang="en-US" sz="850" dirty="0"/>
          </a:p>
        </p:txBody>
      </p:sp>
      <p:sp>
        <p:nvSpPr>
          <p:cNvPr id="31" name="Shape 29"/>
          <p:cNvSpPr/>
          <p:nvPr/>
        </p:nvSpPr>
        <p:spPr>
          <a:xfrm>
            <a:off x="4754880" y="2185416"/>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2" name="Text 30"/>
          <p:cNvSpPr/>
          <p:nvPr/>
        </p:nvSpPr>
        <p:spPr>
          <a:xfrm>
            <a:off x="4864608" y="2258568"/>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06</a:t>
            </a:r>
            <a:endParaRPr lang="en-US" sz="1800" dirty="0"/>
          </a:p>
        </p:txBody>
      </p:sp>
      <p:sp>
        <p:nvSpPr>
          <p:cNvPr id="33" name="Shape 31"/>
          <p:cNvSpPr/>
          <p:nvPr/>
        </p:nvSpPr>
        <p:spPr>
          <a:xfrm>
            <a:off x="5285232" y="2295144"/>
            <a:ext cx="27432" cy="502920"/>
          </a:xfrm>
          <a:prstGeom prst="rect">
            <a:avLst/>
          </a:prstGeom>
          <a:solidFill>
            <a:srgbClr val="00B4D8"/>
          </a:solidFill>
          <a:ln w="12700">
            <a:solidFill>
              <a:srgbClr val="00B4D8"/>
            </a:solidFill>
            <a:prstDash val="solid"/>
          </a:ln>
        </p:spPr>
        <p:txBody>
          <a:bodyPr/>
          <a:lstStyle/>
          <a:p>
            <a:endParaRPr lang="en-SG"/>
          </a:p>
        </p:txBody>
      </p:sp>
      <p:sp>
        <p:nvSpPr>
          <p:cNvPr id="34" name="Text 32"/>
          <p:cNvSpPr/>
          <p:nvPr/>
        </p:nvSpPr>
        <p:spPr>
          <a:xfrm>
            <a:off x="5376672" y="2240280"/>
            <a:ext cx="3474720" cy="292608"/>
          </a:xfrm>
          <a:prstGeom prst="rect">
            <a:avLst/>
          </a:prstGeom>
          <a:noFill/>
          <a:ln/>
        </p:spPr>
        <p:txBody>
          <a:bodyPr wrap="square" lIns="0" tIns="0" rIns="0" bIns="0" rtlCol="0" anchor="b"/>
          <a:lstStyle/>
          <a:p>
            <a:pPr marL="0" indent="0">
              <a:buNone/>
            </a:pPr>
            <a:r>
              <a:rPr lang="en-US" sz="1100" b="1" dirty="0">
                <a:solidFill>
                  <a:srgbClr val="1A1A2E"/>
                </a:solidFill>
              </a:rPr>
              <a:t>Known File Filter (KFF)</a:t>
            </a:r>
            <a:endParaRPr lang="en-US" sz="1100" dirty="0"/>
          </a:p>
        </p:txBody>
      </p:sp>
      <p:sp>
        <p:nvSpPr>
          <p:cNvPr id="35" name="Text 33"/>
          <p:cNvSpPr/>
          <p:nvPr/>
        </p:nvSpPr>
        <p:spPr>
          <a:xfrm>
            <a:off x="5376672" y="2551176"/>
            <a:ext cx="3474720" cy="292608"/>
          </a:xfrm>
          <a:prstGeom prst="rect">
            <a:avLst/>
          </a:prstGeom>
          <a:noFill/>
          <a:ln/>
        </p:spPr>
        <p:txBody>
          <a:bodyPr wrap="square" lIns="0" tIns="0" rIns="0" bIns="0" rtlCol="0" anchor="t"/>
          <a:lstStyle/>
          <a:p>
            <a:pPr marL="0" indent="0">
              <a:buNone/>
            </a:pPr>
            <a:r>
              <a:rPr lang="en-US" sz="850" i="1" dirty="0">
                <a:solidFill>
                  <a:srgbClr val="475569"/>
                </a:solidFill>
              </a:rPr>
              <a:t>Definition, use, and forensic significance</a:t>
            </a:r>
            <a:endParaRPr lang="en-US" sz="850" dirty="0"/>
          </a:p>
        </p:txBody>
      </p:sp>
      <p:sp>
        <p:nvSpPr>
          <p:cNvPr id="36" name="Shape 34"/>
          <p:cNvSpPr/>
          <p:nvPr/>
        </p:nvSpPr>
        <p:spPr>
          <a:xfrm>
            <a:off x="4754880" y="3044952"/>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7" name="Text 35"/>
          <p:cNvSpPr/>
          <p:nvPr/>
        </p:nvSpPr>
        <p:spPr>
          <a:xfrm>
            <a:off x="4864608" y="3118104"/>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07</a:t>
            </a:r>
            <a:endParaRPr lang="en-US" sz="1800" dirty="0"/>
          </a:p>
        </p:txBody>
      </p:sp>
      <p:sp>
        <p:nvSpPr>
          <p:cNvPr id="38" name="Shape 36"/>
          <p:cNvSpPr/>
          <p:nvPr/>
        </p:nvSpPr>
        <p:spPr>
          <a:xfrm>
            <a:off x="5285232" y="3154680"/>
            <a:ext cx="27432" cy="502920"/>
          </a:xfrm>
          <a:prstGeom prst="rect">
            <a:avLst/>
          </a:prstGeom>
          <a:solidFill>
            <a:srgbClr val="00B4D8"/>
          </a:solidFill>
          <a:ln w="12700">
            <a:solidFill>
              <a:srgbClr val="00B4D8"/>
            </a:solidFill>
            <a:prstDash val="solid"/>
          </a:ln>
        </p:spPr>
        <p:txBody>
          <a:bodyPr/>
          <a:lstStyle/>
          <a:p>
            <a:endParaRPr lang="en-SG"/>
          </a:p>
        </p:txBody>
      </p:sp>
      <p:sp>
        <p:nvSpPr>
          <p:cNvPr id="39" name="Text 37"/>
          <p:cNvSpPr/>
          <p:nvPr/>
        </p:nvSpPr>
        <p:spPr>
          <a:xfrm>
            <a:off x="5376672" y="3099816"/>
            <a:ext cx="3474720" cy="292608"/>
          </a:xfrm>
          <a:prstGeom prst="rect">
            <a:avLst/>
          </a:prstGeom>
          <a:noFill/>
          <a:ln/>
        </p:spPr>
        <p:txBody>
          <a:bodyPr wrap="square" lIns="0" tIns="0" rIns="0" bIns="0" rtlCol="0" anchor="b"/>
          <a:lstStyle/>
          <a:p>
            <a:pPr marL="0" indent="0">
              <a:buNone/>
            </a:pPr>
            <a:r>
              <a:rPr lang="en-US" sz="1100" b="1" dirty="0">
                <a:solidFill>
                  <a:srgbClr val="1A1A2E"/>
                </a:solidFill>
              </a:rPr>
              <a:t>Data Hiding Techniques</a:t>
            </a:r>
            <a:endParaRPr lang="en-US" sz="1100" dirty="0"/>
          </a:p>
        </p:txBody>
      </p:sp>
      <p:sp>
        <p:nvSpPr>
          <p:cNvPr id="40" name="Text 38"/>
          <p:cNvSpPr/>
          <p:nvPr/>
        </p:nvSpPr>
        <p:spPr>
          <a:xfrm>
            <a:off x="5376672" y="3410712"/>
            <a:ext cx="3474720" cy="292608"/>
          </a:xfrm>
          <a:prstGeom prst="rect">
            <a:avLst/>
          </a:prstGeom>
          <a:noFill/>
          <a:ln/>
        </p:spPr>
        <p:txBody>
          <a:bodyPr wrap="square" lIns="0" tIns="0" rIns="0" bIns="0" rtlCol="0" anchor="t"/>
          <a:lstStyle/>
          <a:p>
            <a:pPr marL="0" indent="0">
              <a:buNone/>
            </a:pPr>
            <a:r>
              <a:rPr lang="en-US" sz="850" i="1" dirty="0">
                <a:solidFill>
                  <a:srgbClr val="475569"/>
                </a:solidFill>
              </a:rPr>
              <a:t>Methods attackers use to conceal evidence</a:t>
            </a:r>
            <a:endParaRPr lang="en-US" sz="850" dirty="0"/>
          </a:p>
        </p:txBody>
      </p:sp>
      <p:sp>
        <p:nvSpPr>
          <p:cNvPr id="41" name="Shape 39"/>
          <p:cNvSpPr/>
          <p:nvPr/>
        </p:nvSpPr>
        <p:spPr>
          <a:xfrm>
            <a:off x="4754880" y="3904488"/>
            <a:ext cx="4206240" cy="74980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42" name="Text 40"/>
          <p:cNvSpPr/>
          <p:nvPr/>
        </p:nvSpPr>
        <p:spPr>
          <a:xfrm>
            <a:off x="4864608" y="3977640"/>
            <a:ext cx="411480" cy="594360"/>
          </a:xfrm>
          <a:prstGeom prst="rect">
            <a:avLst/>
          </a:prstGeom>
          <a:noFill/>
          <a:ln/>
        </p:spPr>
        <p:txBody>
          <a:bodyPr wrap="square" lIns="0" tIns="0" rIns="0" bIns="0" rtlCol="0" anchor="ctr"/>
          <a:lstStyle/>
          <a:p>
            <a:pPr marL="0" indent="0">
              <a:buNone/>
            </a:pPr>
            <a:r>
              <a:rPr lang="en-US" sz="1800" b="1" dirty="0">
                <a:solidFill>
                  <a:srgbClr val="00B4D8"/>
                </a:solidFill>
              </a:rPr>
              <a:t>08</a:t>
            </a:r>
            <a:endParaRPr lang="en-US" sz="1800" dirty="0"/>
          </a:p>
        </p:txBody>
      </p:sp>
      <p:sp>
        <p:nvSpPr>
          <p:cNvPr id="43" name="Shape 41"/>
          <p:cNvSpPr/>
          <p:nvPr/>
        </p:nvSpPr>
        <p:spPr>
          <a:xfrm>
            <a:off x="5285232" y="4014216"/>
            <a:ext cx="27432" cy="502920"/>
          </a:xfrm>
          <a:prstGeom prst="rect">
            <a:avLst/>
          </a:prstGeom>
          <a:solidFill>
            <a:srgbClr val="00B4D8"/>
          </a:solidFill>
          <a:ln w="12700">
            <a:solidFill>
              <a:srgbClr val="00B4D8"/>
            </a:solidFill>
            <a:prstDash val="solid"/>
          </a:ln>
        </p:spPr>
        <p:txBody>
          <a:bodyPr/>
          <a:lstStyle/>
          <a:p>
            <a:endParaRPr lang="en-SG"/>
          </a:p>
        </p:txBody>
      </p:sp>
      <p:sp>
        <p:nvSpPr>
          <p:cNvPr id="44" name="Text 42"/>
          <p:cNvSpPr/>
          <p:nvPr/>
        </p:nvSpPr>
        <p:spPr>
          <a:xfrm>
            <a:off x="5376672" y="3959352"/>
            <a:ext cx="3474720" cy="292608"/>
          </a:xfrm>
          <a:prstGeom prst="rect">
            <a:avLst/>
          </a:prstGeom>
          <a:noFill/>
          <a:ln/>
        </p:spPr>
        <p:txBody>
          <a:bodyPr wrap="square" lIns="0" tIns="0" rIns="0" bIns="0" rtlCol="0" anchor="b"/>
          <a:lstStyle/>
          <a:p>
            <a:pPr marL="0" indent="0">
              <a:buNone/>
            </a:pPr>
            <a:r>
              <a:rPr lang="en-US" sz="1100" b="1" dirty="0">
                <a:solidFill>
                  <a:srgbClr val="1A1A2E"/>
                </a:solidFill>
              </a:rPr>
              <a:t>Steganography &amp; Encryption</a:t>
            </a:r>
            <a:endParaRPr lang="en-US" sz="1100" dirty="0"/>
          </a:p>
        </p:txBody>
      </p:sp>
      <p:sp>
        <p:nvSpPr>
          <p:cNvPr id="45" name="Text 43"/>
          <p:cNvSpPr/>
          <p:nvPr/>
        </p:nvSpPr>
        <p:spPr>
          <a:xfrm>
            <a:off x="5376672" y="4270248"/>
            <a:ext cx="3474720" cy="292608"/>
          </a:xfrm>
          <a:prstGeom prst="rect">
            <a:avLst/>
          </a:prstGeom>
          <a:noFill/>
          <a:ln/>
        </p:spPr>
        <p:txBody>
          <a:bodyPr wrap="square" lIns="0" tIns="0" rIns="0" bIns="0" rtlCol="0" anchor="t"/>
          <a:lstStyle/>
          <a:p>
            <a:pPr marL="0" indent="0">
              <a:buNone/>
            </a:pPr>
            <a:r>
              <a:rPr lang="en-US" sz="850" i="1" dirty="0">
                <a:solidFill>
                  <a:srgbClr val="475569"/>
                </a:solidFill>
              </a:rPr>
              <a:t>Tools and legitimate uses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36422"/>
            <a:ext cx="9144000" cy="5143500"/>
          </a:xfrm>
          <a:prstGeom prst="rect">
            <a:avLst/>
          </a:prstGeom>
          <a:solidFill>
            <a:srgbClr val="FFFFFF"/>
          </a:solidFill>
          <a:ln w="12700">
            <a:solidFill>
              <a:srgbClr val="FFFFFF"/>
            </a:solidFill>
            <a:prstDash val="solid"/>
          </a:ln>
        </p:spPr>
        <p:txBody>
          <a:bodyPr/>
          <a:lstStyle/>
          <a:p>
            <a:endParaRPr lang="en-SG"/>
          </a:p>
        </p:txBody>
      </p:sp>
      <p:sp>
        <p:nvSpPr>
          <p:cNvPr id="3" name="Shape 1"/>
          <p:cNvSpPr/>
          <p:nvPr/>
        </p:nvSpPr>
        <p:spPr>
          <a:xfrm>
            <a:off x="0" y="2194560"/>
            <a:ext cx="9144000" cy="54864"/>
          </a:xfrm>
          <a:prstGeom prst="rect">
            <a:avLst/>
          </a:prstGeom>
          <a:solidFill>
            <a:srgbClr val="00B4D8"/>
          </a:solidFill>
          <a:ln w="12700">
            <a:solidFill>
              <a:srgbClr val="00B4D8"/>
            </a:solidFill>
            <a:prstDash val="solid"/>
          </a:ln>
        </p:spPr>
        <p:txBody>
          <a:bodyPr/>
          <a:lstStyle/>
          <a:p>
            <a:endParaRPr lang="en-SG"/>
          </a:p>
        </p:txBody>
      </p:sp>
      <p:sp>
        <p:nvSpPr>
          <p:cNvPr id="4" name="Text 2"/>
          <p:cNvSpPr/>
          <p:nvPr/>
        </p:nvSpPr>
        <p:spPr>
          <a:xfrm>
            <a:off x="457200" y="1280160"/>
            <a:ext cx="8229600" cy="457200"/>
          </a:xfrm>
          <a:prstGeom prst="rect">
            <a:avLst/>
          </a:prstGeom>
          <a:noFill/>
          <a:ln/>
        </p:spPr>
        <p:txBody>
          <a:bodyPr wrap="square" lIns="0" tIns="0" rIns="0" bIns="0" rtlCol="0" anchor="ctr"/>
          <a:lstStyle/>
          <a:p>
            <a:pPr marL="0" indent="0" algn="ctr">
              <a:buNone/>
            </a:pPr>
            <a:r>
              <a:rPr lang="en-US" sz="1400" b="1" kern="0" spc="800" dirty="0">
                <a:solidFill>
                  <a:srgbClr val="00B4D8"/>
                </a:solidFill>
              </a:rPr>
              <a:t>SECTION 1</a:t>
            </a:r>
            <a:endParaRPr lang="en-US" sz="1400" dirty="0"/>
          </a:p>
        </p:txBody>
      </p:sp>
      <p:sp>
        <p:nvSpPr>
          <p:cNvPr id="5" name="Text 3"/>
          <p:cNvSpPr/>
          <p:nvPr/>
        </p:nvSpPr>
        <p:spPr>
          <a:xfrm>
            <a:off x="625450" y="2216506"/>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Investigation</a:t>
            </a:r>
            <a:endParaRPr lang="en-US" sz="4400" dirty="0"/>
          </a:p>
          <a:p>
            <a:pPr marL="0" indent="0" algn="ctr">
              <a:buNone/>
            </a:pPr>
            <a:r>
              <a:rPr lang="en-US" sz="4400" b="1" dirty="0">
                <a:solidFill>
                  <a:srgbClr val="1A1A2E"/>
                </a:solidFill>
              </a:rPr>
              <a:t>Considerations</a:t>
            </a:r>
            <a:endParaRPr lang="en-US" sz="4400" dirty="0"/>
          </a:p>
        </p:txBody>
      </p:sp>
      <p:sp>
        <p:nvSpPr>
          <p:cNvPr id="6" name="Text 4"/>
          <p:cNvSpPr/>
          <p:nvPr/>
        </p:nvSpPr>
        <p:spPr>
          <a:xfrm>
            <a:off x="735177" y="3507639"/>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Understanding the factors that guide what data investigators should analyse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 · INVESTIGATION CONSIDERATIONS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Factors That Guide Forensic Analysis</a:t>
            </a:r>
            <a:endParaRPr lang="en-US" sz="2800" dirty="0"/>
          </a:p>
        </p:txBody>
      </p:sp>
      <p:sp>
        <p:nvSpPr>
          <p:cNvPr id="5" name="Shape 3"/>
          <p:cNvSpPr/>
          <p:nvPr/>
        </p:nvSpPr>
        <p:spPr>
          <a:xfrm>
            <a:off x="320040" y="1188720"/>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325880"/>
            <a:ext cx="4251960" cy="10058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325880"/>
            <a:ext cx="109728" cy="1005840"/>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521208" y="1380744"/>
            <a:ext cx="3959352" cy="292608"/>
          </a:xfrm>
          <a:prstGeom prst="rect">
            <a:avLst/>
          </a:prstGeom>
          <a:noFill/>
          <a:ln/>
        </p:spPr>
        <p:txBody>
          <a:bodyPr wrap="square" lIns="0" tIns="0" rIns="0" bIns="0" rtlCol="0" anchor="ctr"/>
          <a:lstStyle/>
          <a:p>
            <a:pPr marL="0" indent="0">
              <a:buNone/>
            </a:pPr>
            <a:r>
              <a:rPr lang="en-US" sz="1200" b="1" dirty="0">
                <a:solidFill>
                  <a:srgbClr val="1A1A2E"/>
                </a:solidFill>
              </a:rPr>
              <a:t>🎯  Investigation Objectives</a:t>
            </a:r>
            <a:endParaRPr lang="en-US" sz="1200" dirty="0"/>
          </a:p>
        </p:txBody>
      </p:sp>
      <p:sp>
        <p:nvSpPr>
          <p:cNvPr id="9" name="Text 7"/>
          <p:cNvSpPr/>
          <p:nvPr/>
        </p:nvSpPr>
        <p:spPr>
          <a:xfrm>
            <a:off x="521208" y="1709928"/>
            <a:ext cx="3959352" cy="566928"/>
          </a:xfrm>
          <a:prstGeom prst="rect">
            <a:avLst/>
          </a:prstGeom>
          <a:noFill/>
          <a:ln/>
        </p:spPr>
        <p:txBody>
          <a:bodyPr wrap="square" lIns="0" tIns="0" rIns="0" bIns="0" rtlCol="0" anchor="t"/>
          <a:lstStyle/>
          <a:p>
            <a:pPr marL="0" indent="0">
              <a:buNone/>
            </a:pPr>
            <a:r>
              <a:rPr lang="en-US" sz="950" dirty="0">
                <a:solidFill>
                  <a:srgbClr val="1A1A2E"/>
                </a:solidFill>
              </a:rPr>
              <a:t>What is the goal? Criminal prosecution? Civil litigation? Internal HR matter? Objectives determine which artefacts are relevant and how evidence must be handled.</a:t>
            </a:r>
            <a:endParaRPr lang="en-US" sz="950" dirty="0"/>
          </a:p>
        </p:txBody>
      </p:sp>
      <p:sp>
        <p:nvSpPr>
          <p:cNvPr id="10" name="Shape 8"/>
          <p:cNvSpPr/>
          <p:nvPr/>
        </p:nvSpPr>
        <p:spPr>
          <a:xfrm>
            <a:off x="320040" y="2459736"/>
            <a:ext cx="4251960" cy="10058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1" name="Shape 9"/>
          <p:cNvSpPr/>
          <p:nvPr/>
        </p:nvSpPr>
        <p:spPr>
          <a:xfrm>
            <a:off x="320040" y="2459736"/>
            <a:ext cx="109728" cy="1005840"/>
          </a:xfrm>
          <a:prstGeom prst="rect">
            <a:avLst/>
          </a:prstGeom>
          <a:solidFill>
            <a:srgbClr val="F4A261"/>
          </a:solidFill>
          <a:ln w="12700">
            <a:solidFill>
              <a:srgbClr val="F4A261"/>
            </a:solidFill>
            <a:prstDash val="solid"/>
          </a:ln>
        </p:spPr>
        <p:txBody>
          <a:bodyPr/>
          <a:lstStyle/>
          <a:p>
            <a:endParaRPr lang="en-SG"/>
          </a:p>
        </p:txBody>
      </p:sp>
      <p:sp>
        <p:nvSpPr>
          <p:cNvPr id="12" name="Text 10"/>
          <p:cNvSpPr/>
          <p:nvPr/>
        </p:nvSpPr>
        <p:spPr>
          <a:xfrm>
            <a:off x="521208" y="2514600"/>
            <a:ext cx="3959352" cy="292608"/>
          </a:xfrm>
          <a:prstGeom prst="rect">
            <a:avLst/>
          </a:prstGeom>
          <a:noFill/>
          <a:ln/>
        </p:spPr>
        <p:txBody>
          <a:bodyPr wrap="square" lIns="0" tIns="0" rIns="0" bIns="0" rtlCol="0" anchor="ctr"/>
          <a:lstStyle/>
          <a:p>
            <a:pPr marL="0" indent="0">
              <a:buNone/>
            </a:pPr>
            <a:r>
              <a:rPr lang="en-US" sz="1200" b="1" dirty="0">
                <a:solidFill>
                  <a:srgbClr val="1A1A2E"/>
                </a:solidFill>
              </a:rPr>
              <a:t>📦  Potential Sources of Evidence</a:t>
            </a:r>
            <a:endParaRPr lang="en-US" sz="1200" dirty="0"/>
          </a:p>
        </p:txBody>
      </p:sp>
      <p:sp>
        <p:nvSpPr>
          <p:cNvPr id="13" name="Text 11"/>
          <p:cNvSpPr/>
          <p:nvPr/>
        </p:nvSpPr>
        <p:spPr>
          <a:xfrm>
            <a:off x="521208" y="2843784"/>
            <a:ext cx="3959352" cy="566928"/>
          </a:xfrm>
          <a:prstGeom prst="rect">
            <a:avLst/>
          </a:prstGeom>
          <a:noFill/>
          <a:ln/>
        </p:spPr>
        <p:txBody>
          <a:bodyPr wrap="square" lIns="0" tIns="0" rIns="0" bIns="0" rtlCol="0" anchor="t"/>
          <a:lstStyle/>
          <a:p>
            <a:pPr marL="0" indent="0">
              <a:buNone/>
            </a:pPr>
            <a:r>
              <a:rPr lang="en-US" sz="950" dirty="0">
                <a:solidFill>
                  <a:srgbClr val="1A1A2E"/>
                </a:solidFill>
              </a:rPr>
              <a:t>Identify all storage media, cloud accounts, logs, network captures, and peripheral devices that may hold relevant data.</a:t>
            </a:r>
            <a:endParaRPr lang="en-US" sz="950" dirty="0"/>
          </a:p>
        </p:txBody>
      </p:sp>
      <p:sp>
        <p:nvSpPr>
          <p:cNvPr id="14" name="Shape 12"/>
          <p:cNvSpPr/>
          <p:nvPr/>
        </p:nvSpPr>
        <p:spPr>
          <a:xfrm>
            <a:off x="320040" y="3593592"/>
            <a:ext cx="4251960" cy="10058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5" name="Shape 13"/>
          <p:cNvSpPr/>
          <p:nvPr/>
        </p:nvSpPr>
        <p:spPr>
          <a:xfrm>
            <a:off x="320040" y="3593592"/>
            <a:ext cx="109728" cy="1005840"/>
          </a:xfrm>
          <a:prstGeom prst="rect">
            <a:avLst/>
          </a:prstGeom>
          <a:solidFill>
            <a:srgbClr val="FFD166"/>
          </a:solidFill>
          <a:ln w="12700">
            <a:solidFill>
              <a:srgbClr val="FFD166"/>
            </a:solidFill>
            <a:prstDash val="solid"/>
          </a:ln>
        </p:spPr>
        <p:txBody>
          <a:bodyPr/>
          <a:lstStyle/>
          <a:p>
            <a:endParaRPr lang="en-SG"/>
          </a:p>
        </p:txBody>
      </p:sp>
      <p:sp>
        <p:nvSpPr>
          <p:cNvPr id="16" name="Text 14"/>
          <p:cNvSpPr/>
          <p:nvPr/>
        </p:nvSpPr>
        <p:spPr>
          <a:xfrm>
            <a:off x="521208" y="3648456"/>
            <a:ext cx="3959352" cy="292608"/>
          </a:xfrm>
          <a:prstGeom prst="rect">
            <a:avLst/>
          </a:prstGeom>
          <a:noFill/>
          <a:ln/>
        </p:spPr>
        <p:txBody>
          <a:bodyPr wrap="square" lIns="0" tIns="0" rIns="0" bIns="0" rtlCol="0" anchor="ctr"/>
          <a:lstStyle/>
          <a:p>
            <a:pPr marL="0" indent="0">
              <a:buNone/>
            </a:pPr>
            <a:r>
              <a:rPr lang="en-US" sz="1200" b="1" dirty="0">
                <a:solidFill>
                  <a:srgbClr val="1A1A2E"/>
                </a:solidFill>
              </a:rPr>
              <a:t>⏱️  Time Constraints</a:t>
            </a:r>
            <a:endParaRPr lang="en-US" sz="1200" dirty="0"/>
          </a:p>
        </p:txBody>
      </p:sp>
      <p:sp>
        <p:nvSpPr>
          <p:cNvPr id="17" name="Text 15"/>
          <p:cNvSpPr/>
          <p:nvPr/>
        </p:nvSpPr>
        <p:spPr>
          <a:xfrm>
            <a:off x="521208" y="3977640"/>
            <a:ext cx="3959352" cy="566928"/>
          </a:xfrm>
          <a:prstGeom prst="rect">
            <a:avLst/>
          </a:prstGeom>
          <a:noFill/>
          <a:ln/>
        </p:spPr>
        <p:txBody>
          <a:bodyPr wrap="square" lIns="0" tIns="0" rIns="0" bIns="0" rtlCol="0" anchor="t"/>
          <a:lstStyle/>
          <a:p>
            <a:pPr marL="0" indent="0">
              <a:buNone/>
            </a:pPr>
            <a:r>
              <a:rPr lang="en-US" sz="950" dirty="0">
                <a:solidFill>
                  <a:srgbClr val="1A1A2E"/>
                </a:solidFill>
              </a:rPr>
              <a:t>Live evidence may be volatile and disappear if the system is powered off. Deadlines from legal proceedings may also limit analysis time.</a:t>
            </a:r>
            <a:endParaRPr lang="en-US" sz="950" dirty="0"/>
          </a:p>
        </p:txBody>
      </p:sp>
      <p:sp>
        <p:nvSpPr>
          <p:cNvPr id="18" name="Shape 16"/>
          <p:cNvSpPr/>
          <p:nvPr/>
        </p:nvSpPr>
        <p:spPr>
          <a:xfrm>
            <a:off x="4754880" y="1325880"/>
            <a:ext cx="4251960" cy="10058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Shape 17"/>
          <p:cNvSpPr/>
          <p:nvPr/>
        </p:nvSpPr>
        <p:spPr>
          <a:xfrm>
            <a:off x="4754880" y="1325880"/>
            <a:ext cx="109728" cy="1005840"/>
          </a:xfrm>
          <a:prstGeom prst="rect">
            <a:avLst/>
          </a:prstGeom>
          <a:solidFill>
            <a:srgbClr val="90E0EF"/>
          </a:solidFill>
          <a:ln w="12700">
            <a:solidFill>
              <a:srgbClr val="90E0EF"/>
            </a:solidFill>
            <a:prstDash val="solid"/>
          </a:ln>
        </p:spPr>
        <p:txBody>
          <a:bodyPr/>
          <a:lstStyle/>
          <a:p>
            <a:endParaRPr lang="en-SG"/>
          </a:p>
        </p:txBody>
      </p:sp>
      <p:sp>
        <p:nvSpPr>
          <p:cNvPr id="20" name="Text 18"/>
          <p:cNvSpPr/>
          <p:nvPr/>
        </p:nvSpPr>
        <p:spPr>
          <a:xfrm>
            <a:off x="4956048" y="1380744"/>
            <a:ext cx="3959352" cy="292608"/>
          </a:xfrm>
          <a:prstGeom prst="rect">
            <a:avLst/>
          </a:prstGeom>
          <a:noFill/>
          <a:ln/>
        </p:spPr>
        <p:txBody>
          <a:bodyPr wrap="square" lIns="0" tIns="0" rIns="0" bIns="0" rtlCol="0" anchor="ctr"/>
          <a:lstStyle/>
          <a:p>
            <a:pPr marL="0" indent="0">
              <a:buNone/>
            </a:pPr>
            <a:r>
              <a:rPr lang="en-US" sz="1200" b="1" dirty="0">
                <a:solidFill>
                  <a:srgbClr val="1A1A2E"/>
                </a:solidFill>
              </a:rPr>
              <a:t>⚖️  Legal Considerations</a:t>
            </a:r>
            <a:endParaRPr lang="en-US" sz="1200" dirty="0"/>
          </a:p>
        </p:txBody>
      </p:sp>
      <p:sp>
        <p:nvSpPr>
          <p:cNvPr id="21" name="Text 19"/>
          <p:cNvSpPr/>
          <p:nvPr/>
        </p:nvSpPr>
        <p:spPr>
          <a:xfrm>
            <a:off x="4956048" y="1709928"/>
            <a:ext cx="3959352" cy="566928"/>
          </a:xfrm>
          <a:prstGeom prst="rect">
            <a:avLst/>
          </a:prstGeom>
          <a:noFill/>
          <a:ln/>
        </p:spPr>
        <p:txBody>
          <a:bodyPr wrap="square" lIns="0" tIns="0" rIns="0" bIns="0" rtlCol="0" anchor="t"/>
          <a:lstStyle/>
          <a:p>
            <a:pPr marL="0" indent="0">
              <a:buNone/>
            </a:pPr>
            <a:r>
              <a:rPr lang="en-US" sz="950" dirty="0">
                <a:solidFill>
                  <a:srgbClr val="1A1A2E"/>
                </a:solidFill>
              </a:rPr>
              <a:t>Chain of custody, search warrants, data privacy legislation (e.g. PDPA), and jurisdiction must all be respected before collection begins.</a:t>
            </a:r>
            <a:endParaRPr lang="en-US" sz="950" dirty="0"/>
          </a:p>
        </p:txBody>
      </p:sp>
      <p:sp>
        <p:nvSpPr>
          <p:cNvPr id="22" name="Shape 20"/>
          <p:cNvSpPr/>
          <p:nvPr/>
        </p:nvSpPr>
        <p:spPr>
          <a:xfrm>
            <a:off x="4754880" y="2459736"/>
            <a:ext cx="4251960" cy="10058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3" name="Shape 21"/>
          <p:cNvSpPr/>
          <p:nvPr/>
        </p:nvSpPr>
        <p:spPr>
          <a:xfrm>
            <a:off x="4754880" y="2459736"/>
            <a:ext cx="109728" cy="1005840"/>
          </a:xfrm>
          <a:prstGeom prst="rect">
            <a:avLst/>
          </a:prstGeom>
          <a:solidFill>
            <a:srgbClr val="2EC4B6"/>
          </a:solidFill>
          <a:ln w="12700">
            <a:solidFill>
              <a:srgbClr val="2EC4B6"/>
            </a:solidFill>
            <a:prstDash val="solid"/>
          </a:ln>
        </p:spPr>
        <p:txBody>
          <a:bodyPr/>
          <a:lstStyle/>
          <a:p>
            <a:endParaRPr lang="en-SG"/>
          </a:p>
        </p:txBody>
      </p:sp>
      <p:sp>
        <p:nvSpPr>
          <p:cNvPr id="24" name="Text 22"/>
          <p:cNvSpPr/>
          <p:nvPr/>
        </p:nvSpPr>
        <p:spPr>
          <a:xfrm>
            <a:off x="4956048" y="2514600"/>
            <a:ext cx="3959352" cy="292608"/>
          </a:xfrm>
          <a:prstGeom prst="rect">
            <a:avLst/>
          </a:prstGeom>
          <a:noFill/>
          <a:ln/>
        </p:spPr>
        <p:txBody>
          <a:bodyPr wrap="square" lIns="0" tIns="0" rIns="0" bIns="0" rtlCol="0" anchor="ctr"/>
          <a:lstStyle/>
          <a:p>
            <a:pPr marL="0" indent="0">
              <a:buNone/>
            </a:pPr>
            <a:r>
              <a:rPr lang="en-US" sz="1200" b="1" dirty="0">
                <a:solidFill>
                  <a:srgbClr val="1A1A2E"/>
                </a:solidFill>
              </a:rPr>
              <a:t>🔍  Data Relevance</a:t>
            </a:r>
            <a:endParaRPr lang="en-US" sz="1200" dirty="0"/>
          </a:p>
        </p:txBody>
      </p:sp>
      <p:sp>
        <p:nvSpPr>
          <p:cNvPr id="25" name="Text 23"/>
          <p:cNvSpPr/>
          <p:nvPr/>
        </p:nvSpPr>
        <p:spPr>
          <a:xfrm>
            <a:off x="4956048" y="2843784"/>
            <a:ext cx="3959352" cy="566928"/>
          </a:xfrm>
          <a:prstGeom prst="rect">
            <a:avLst/>
          </a:prstGeom>
          <a:noFill/>
          <a:ln/>
        </p:spPr>
        <p:txBody>
          <a:bodyPr wrap="square" lIns="0" tIns="0" rIns="0" bIns="0" rtlCol="0" anchor="t"/>
          <a:lstStyle/>
          <a:p>
            <a:pPr marL="0" indent="0">
              <a:buNone/>
            </a:pPr>
            <a:r>
              <a:rPr lang="en-US" sz="950" dirty="0">
                <a:solidFill>
                  <a:srgbClr val="1A1A2E"/>
                </a:solidFill>
              </a:rPr>
              <a:t>Not all data is equally important. Prioritise artefacts directly linked to the suspected incident to avoid wasted effort and analysis paralysis.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F4A261"/>
          </a:solidFill>
          <a:ln w="12700">
            <a:solidFill>
              <a:srgbClr val="F4A261"/>
            </a:solidFill>
            <a:prstDash val="solid"/>
          </a:ln>
        </p:spPr>
        <p:txBody>
          <a:bodyPr/>
          <a:lstStyle/>
          <a:p>
            <a:endParaRPr lang="en-SG"/>
          </a:p>
        </p:txBody>
      </p:sp>
      <p:sp>
        <p:nvSpPr>
          <p:cNvPr id="3" name="Text 1"/>
          <p:cNvSpPr/>
          <p:nvPr/>
        </p:nvSpPr>
        <p:spPr>
          <a:xfrm>
            <a:off x="457200" y="1280160"/>
            <a:ext cx="8229600" cy="457200"/>
          </a:xfrm>
          <a:prstGeom prst="rect">
            <a:avLst/>
          </a:prstGeom>
          <a:noFill/>
          <a:ln/>
        </p:spPr>
        <p:txBody>
          <a:bodyPr wrap="square" lIns="0" tIns="0" rIns="0" bIns="0" rtlCol="0" anchor="ctr"/>
          <a:lstStyle/>
          <a:p>
            <a:pPr marL="0" indent="0" algn="ctr">
              <a:buNone/>
            </a:pPr>
            <a:r>
              <a:rPr lang="en-US" sz="1400" b="1" kern="0" spc="800" dirty="0">
                <a:solidFill>
                  <a:srgbClr val="F4A261"/>
                </a:solidFill>
              </a:rPr>
              <a:t>SECTION 2</a:t>
            </a:r>
            <a:endParaRPr lang="en-US" sz="1400" dirty="0"/>
          </a:p>
        </p:txBody>
      </p:sp>
      <p:sp>
        <p:nvSpPr>
          <p:cNvPr id="4" name="Text 2"/>
          <p:cNvSpPr/>
          <p:nvPr/>
        </p:nvSpPr>
        <p:spPr>
          <a:xfrm>
            <a:off x="457200" y="2240280"/>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Best Practice</a:t>
            </a:r>
            <a:endParaRPr lang="en-US" sz="4400" dirty="0"/>
          </a:p>
          <a:p>
            <a:pPr marL="0" indent="0" algn="ctr">
              <a:buNone/>
            </a:pPr>
            <a:r>
              <a:rPr lang="en-US" sz="4400" b="1" dirty="0">
                <a:solidFill>
                  <a:srgbClr val="1A1A2E"/>
                </a:solidFill>
              </a:rPr>
              <a:t>Approach</a:t>
            </a:r>
            <a:endParaRPr lang="en-US" sz="4400" dirty="0"/>
          </a:p>
        </p:txBody>
      </p:sp>
      <p:sp>
        <p:nvSpPr>
          <p:cNvPr id="5" name="Text 3"/>
          <p:cNvSpPr/>
          <p:nvPr/>
        </p:nvSpPr>
        <p:spPr>
          <a:xfrm>
            <a:off x="588873" y="3792931"/>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A structured, repeatable workflow for conducting forensic investigations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2 · BEST PRACTICE APPROACH</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The Forensic Investigation Workflow</a:t>
            </a:r>
            <a:endParaRPr lang="en-US" sz="2800" dirty="0"/>
          </a:p>
        </p:txBody>
      </p:sp>
      <p:sp>
        <p:nvSpPr>
          <p:cNvPr id="5" name="Shape 3"/>
          <p:cNvSpPr/>
          <p:nvPr/>
        </p:nvSpPr>
        <p:spPr>
          <a:xfrm>
            <a:off x="320040" y="1188720"/>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1581912" y="1915668"/>
            <a:ext cx="182880" cy="54864"/>
          </a:xfrm>
          <a:prstGeom prst="rect">
            <a:avLst/>
          </a:prstGeom>
          <a:solidFill>
            <a:srgbClr val="00B4D8"/>
          </a:solidFill>
          <a:ln w="12700">
            <a:solidFill>
              <a:srgbClr val="00B4D8"/>
            </a:solidFill>
            <a:prstDash val="solid"/>
          </a:ln>
        </p:spPr>
        <p:txBody>
          <a:bodyPr/>
          <a:lstStyle/>
          <a:p>
            <a:endParaRPr lang="en-SG"/>
          </a:p>
        </p:txBody>
      </p:sp>
      <p:sp>
        <p:nvSpPr>
          <p:cNvPr id="7" name="Shape 5"/>
          <p:cNvSpPr/>
          <p:nvPr/>
        </p:nvSpPr>
        <p:spPr>
          <a:xfrm>
            <a:off x="1709928" y="1851660"/>
            <a:ext cx="91440" cy="182880"/>
          </a:xfrm>
          <a:prstGeom prst="rect">
            <a:avLst/>
          </a:prstGeom>
          <a:solidFill>
            <a:srgbClr val="00B4D8"/>
          </a:solidFill>
          <a:ln w="12700">
            <a:solidFill>
              <a:srgbClr val="00B4D8"/>
            </a:solidFill>
            <a:prstDash val="solid"/>
          </a:ln>
        </p:spPr>
        <p:txBody>
          <a:bodyPr/>
          <a:lstStyle/>
          <a:p>
            <a:endParaRPr lang="en-SG"/>
          </a:p>
        </p:txBody>
      </p:sp>
      <p:sp>
        <p:nvSpPr>
          <p:cNvPr id="8" name="Shape 6"/>
          <p:cNvSpPr/>
          <p:nvPr/>
        </p:nvSpPr>
        <p:spPr>
          <a:xfrm>
            <a:off x="320040"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9" name="Shape 7"/>
          <p:cNvSpPr/>
          <p:nvPr/>
        </p:nvSpPr>
        <p:spPr>
          <a:xfrm>
            <a:off x="320040" y="1325880"/>
            <a:ext cx="1261872" cy="54864"/>
          </a:xfrm>
          <a:prstGeom prst="rect">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20040" y="1417320"/>
            <a:ext cx="1261872" cy="411480"/>
          </a:xfrm>
          <a:prstGeom prst="rect">
            <a:avLst/>
          </a:prstGeom>
          <a:noFill/>
          <a:ln/>
        </p:spPr>
        <p:txBody>
          <a:bodyPr wrap="square" lIns="0" tIns="0" rIns="0" bIns="0" rtlCol="0" anchor="ctr"/>
          <a:lstStyle/>
          <a:p>
            <a:pPr marL="0" indent="0" algn="ctr">
              <a:buNone/>
            </a:pPr>
            <a:r>
              <a:rPr lang="en-US" sz="2600" b="1" dirty="0">
                <a:solidFill>
                  <a:srgbClr val="00B4D8"/>
                </a:solidFill>
              </a:rPr>
              <a:t>1</a:t>
            </a:r>
            <a:endParaRPr lang="en-US" sz="2600" dirty="0"/>
          </a:p>
        </p:txBody>
      </p:sp>
      <p:sp>
        <p:nvSpPr>
          <p:cNvPr id="11" name="Text 9"/>
          <p:cNvSpPr/>
          <p:nvPr/>
        </p:nvSpPr>
        <p:spPr>
          <a:xfrm>
            <a:off x="320040"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Define Scope</a:t>
            </a:r>
            <a:endParaRPr lang="en-US" sz="1000" dirty="0"/>
          </a:p>
        </p:txBody>
      </p:sp>
      <p:sp>
        <p:nvSpPr>
          <p:cNvPr id="12" name="Text 10"/>
          <p:cNvSpPr/>
          <p:nvPr/>
        </p:nvSpPr>
        <p:spPr>
          <a:xfrm>
            <a:off x="365760"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Identify systems, time range, and nature of the incident</a:t>
            </a:r>
            <a:endParaRPr lang="en-US" sz="800" dirty="0"/>
          </a:p>
        </p:txBody>
      </p:sp>
      <p:sp>
        <p:nvSpPr>
          <p:cNvPr id="13" name="Shape 11"/>
          <p:cNvSpPr/>
          <p:nvPr/>
        </p:nvSpPr>
        <p:spPr>
          <a:xfrm>
            <a:off x="3026664" y="1915668"/>
            <a:ext cx="182880" cy="54864"/>
          </a:xfrm>
          <a:prstGeom prst="rect">
            <a:avLst/>
          </a:prstGeom>
          <a:solidFill>
            <a:srgbClr val="90E0EF"/>
          </a:solidFill>
          <a:ln w="12700">
            <a:solidFill>
              <a:srgbClr val="90E0EF"/>
            </a:solidFill>
            <a:prstDash val="solid"/>
          </a:ln>
        </p:spPr>
        <p:txBody>
          <a:bodyPr/>
          <a:lstStyle/>
          <a:p>
            <a:endParaRPr lang="en-SG"/>
          </a:p>
        </p:txBody>
      </p:sp>
      <p:sp>
        <p:nvSpPr>
          <p:cNvPr id="14" name="Shape 12"/>
          <p:cNvSpPr/>
          <p:nvPr/>
        </p:nvSpPr>
        <p:spPr>
          <a:xfrm>
            <a:off x="3154680" y="1851660"/>
            <a:ext cx="91440" cy="182880"/>
          </a:xfrm>
          <a:prstGeom prst="rect">
            <a:avLst/>
          </a:prstGeom>
          <a:solidFill>
            <a:srgbClr val="90E0EF"/>
          </a:solidFill>
          <a:ln w="12700">
            <a:solidFill>
              <a:srgbClr val="90E0EF"/>
            </a:solidFill>
            <a:prstDash val="solid"/>
          </a:ln>
        </p:spPr>
        <p:txBody>
          <a:bodyPr/>
          <a:lstStyle/>
          <a:p>
            <a:endParaRPr lang="en-SG"/>
          </a:p>
        </p:txBody>
      </p:sp>
      <p:sp>
        <p:nvSpPr>
          <p:cNvPr id="15" name="Shape 13"/>
          <p:cNvSpPr/>
          <p:nvPr/>
        </p:nvSpPr>
        <p:spPr>
          <a:xfrm>
            <a:off x="1764792"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6" name="Shape 14"/>
          <p:cNvSpPr/>
          <p:nvPr/>
        </p:nvSpPr>
        <p:spPr>
          <a:xfrm>
            <a:off x="1764792" y="1325880"/>
            <a:ext cx="1261872" cy="54864"/>
          </a:xfrm>
          <a:prstGeom prst="rect">
            <a:avLst/>
          </a:prstGeom>
          <a:solidFill>
            <a:srgbClr val="90E0EF"/>
          </a:solidFill>
          <a:ln w="12700">
            <a:solidFill>
              <a:srgbClr val="90E0EF"/>
            </a:solidFill>
            <a:prstDash val="solid"/>
          </a:ln>
        </p:spPr>
        <p:txBody>
          <a:bodyPr/>
          <a:lstStyle/>
          <a:p>
            <a:endParaRPr lang="en-SG"/>
          </a:p>
        </p:txBody>
      </p:sp>
      <p:sp>
        <p:nvSpPr>
          <p:cNvPr id="17" name="Text 15"/>
          <p:cNvSpPr/>
          <p:nvPr/>
        </p:nvSpPr>
        <p:spPr>
          <a:xfrm>
            <a:off x="1764792" y="1417320"/>
            <a:ext cx="1261872" cy="411480"/>
          </a:xfrm>
          <a:prstGeom prst="rect">
            <a:avLst/>
          </a:prstGeom>
          <a:noFill/>
          <a:ln/>
        </p:spPr>
        <p:txBody>
          <a:bodyPr wrap="square" lIns="0" tIns="0" rIns="0" bIns="0" rtlCol="0" anchor="ctr"/>
          <a:lstStyle/>
          <a:p>
            <a:pPr marL="0" indent="0" algn="ctr">
              <a:buNone/>
            </a:pPr>
            <a:r>
              <a:rPr lang="en-US" sz="2600" b="1" dirty="0">
                <a:solidFill>
                  <a:srgbClr val="1A1A2E"/>
                </a:solidFill>
              </a:rPr>
              <a:t>2</a:t>
            </a:r>
            <a:endParaRPr lang="en-US" sz="2600" dirty="0"/>
          </a:p>
        </p:txBody>
      </p:sp>
      <p:sp>
        <p:nvSpPr>
          <p:cNvPr id="18" name="Text 16"/>
          <p:cNvSpPr/>
          <p:nvPr/>
        </p:nvSpPr>
        <p:spPr>
          <a:xfrm>
            <a:off x="1764792"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Identify Artefacts</a:t>
            </a:r>
            <a:endParaRPr lang="en-US" sz="1000" dirty="0"/>
          </a:p>
        </p:txBody>
      </p:sp>
      <p:sp>
        <p:nvSpPr>
          <p:cNvPr id="19" name="Text 17"/>
          <p:cNvSpPr/>
          <p:nvPr/>
        </p:nvSpPr>
        <p:spPr>
          <a:xfrm>
            <a:off x="1810512"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Determine which data/logs are required as evidence</a:t>
            </a:r>
            <a:endParaRPr lang="en-US" sz="800" dirty="0"/>
          </a:p>
        </p:txBody>
      </p:sp>
      <p:sp>
        <p:nvSpPr>
          <p:cNvPr id="20" name="Shape 18"/>
          <p:cNvSpPr/>
          <p:nvPr/>
        </p:nvSpPr>
        <p:spPr>
          <a:xfrm>
            <a:off x="4471416" y="1915668"/>
            <a:ext cx="182880" cy="54864"/>
          </a:xfrm>
          <a:prstGeom prst="rect">
            <a:avLst/>
          </a:prstGeom>
          <a:solidFill>
            <a:srgbClr val="2EC4B6"/>
          </a:solidFill>
          <a:ln w="12700">
            <a:solidFill>
              <a:srgbClr val="2EC4B6"/>
            </a:solidFill>
            <a:prstDash val="solid"/>
          </a:ln>
        </p:spPr>
        <p:txBody>
          <a:bodyPr/>
          <a:lstStyle/>
          <a:p>
            <a:endParaRPr lang="en-SG"/>
          </a:p>
        </p:txBody>
      </p:sp>
      <p:sp>
        <p:nvSpPr>
          <p:cNvPr id="21" name="Shape 19"/>
          <p:cNvSpPr/>
          <p:nvPr/>
        </p:nvSpPr>
        <p:spPr>
          <a:xfrm>
            <a:off x="4599432" y="1851660"/>
            <a:ext cx="91440" cy="182880"/>
          </a:xfrm>
          <a:prstGeom prst="rect">
            <a:avLst/>
          </a:prstGeom>
          <a:solidFill>
            <a:srgbClr val="2EC4B6"/>
          </a:solidFill>
          <a:ln w="12700">
            <a:solidFill>
              <a:srgbClr val="2EC4B6"/>
            </a:solidFill>
            <a:prstDash val="solid"/>
          </a:ln>
        </p:spPr>
        <p:txBody>
          <a:bodyPr/>
          <a:lstStyle/>
          <a:p>
            <a:endParaRPr lang="en-SG"/>
          </a:p>
        </p:txBody>
      </p:sp>
      <p:sp>
        <p:nvSpPr>
          <p:cNvPr id="22" name="Shape 20"/>
          <p:cNvSpPr/>
          <p:nvPr/>
        </p:nvSpPr>
        <p:spPr>
          <a:xfrm>
            <a:off x="3209544"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3" name="Shape 21"/>
          <p:cNvSpPr/>
          <p:nvPr/>
        </p:nvSpPr>
        <p:spPr>
          <a:xfrm>
            <a:off x="3209544" y="1325880"/>
            <a:ext cx="1261872" cy="54864"/>
          </a:xfrm>
          <a:prstGeom prst="rect">
            <a:avLst/>
          </a:prstGeom>
          <a:solidFill>
            <a:srgbClr val="2EC4B6"/>
          </a:solidFill>
          <a:ln w="12700">
            <a:solidFill>
              <a:srgbClr val="2EC4B6"/>
            </a:solidFill>
            <a:prstDash val="solid"/>
          </a:ln>
        </p:spPr>
        <p:txBody>
          <a:bodyPr/>
          <a:lstStyle/>
          <a:p>
            <a:endParaRPr lang="en-SG"/>
          </a:p>
        </p:txBody>
      </p:sp>
      <p:sp>
        <p:nvSpPr>
          <p:cNvPr id="24" name="Text 22"/>
          <p:cNvSpPr/>
          <p:nvPr/>
        </p:nvSpPr>
        <p:spPr>
          <a:xfrm>
            <a:off x="3209544" y="1417320"/>
            <a:ext cx="1261872" cy="411480"/>
          </a:xfrm>
          <a:prstGeom prst="rect">
            <a:avLst/>
          </a:prstGeom>
          <a:noFill/>
          <a:ln/>
        </p:spPr>
        <p:txBody>
          <a:bodyPr wrap="square" lIns="0" tIns="0" rIns="0" bIns="0" rtlCol="0" anchor="ctr"/>
          <a:lstStyle/>
          <a:p>
            <a:pPr marL="0" indent="0" algn="ctr">
              <a:buNone/>
            </a:pPr>
            <a:r>
              <a:rPr lang="en-US" sz="2600" b="1" dirty="0">
                <a:solidFill>
                  <a:srgbClr val="2EC4B6"/>
                </a:solidFill>
              </a:rPr>
              <a:t>3</a:t>
            </a:r>
            <a:endParaRPr lang="en-US" sz="2600" dirty="0"/>
          </a:p>
        </p:txBody>
      </p:sp>
      <p:sp>
        <p:nvSpPr>
          <p:cNvPr id="25" name="Text 23"/>
          <p:cNvSpPr/>
          <p:nvPr/>
        </p:nvSpPr>
        <p:spPr>
          <a:xfrm>
            <a:off x="3209544"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Collection Method</a:t>
            </a:r>
            <a:endParaRPr lang="en-US" sz="1000" dirty="0"/>
          </a:p>
        </p:txBody>
      </p:sp>
      <p:sp>
        <p:nvSpPr>
          <p:cNvPr id="26" name="Text 24"/>
          <p:cNvSpPr/>
          <p:nvPr/>
        </p:nvSpPr>
        <p:spPr>
          <a:xfrm>
            <a:off x="3255264"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Choose write-blocked imaging, live capture, or logical extraction</a:t>
            </a:r>
            <a:endParaRPr lang="en-US" sz="800" dirty="0"/>
          </a:p>
        </p:txBody>
      </p:sp>
      <p:sp>
        <p:nvSpPr>
          <p:cNvPr id="27" name="Shape 25"/>
          <p:cNvSpPr/>
          <p:nvPr/>
        </p:nvSpPr>
        <p:spPr>
          <a:xfrm>
            <a:off x="5916168" y="1915668"/>
            <a:ext cx="182880" cy="54864"/>
          </a:xfrm>
          <a:prstGeom prst="rect">
            <a:avLst/>
          </a:prstGeom>
          <a:solidFill>
            <a:srgbClr val="F4A261"/>
          </a:solidFill>
          <a:ln w="12700">
            <a:solidFill>
              <a:srgbClr val="F4A261"/>
            </a:solidFill>
            <a:prstDash val="solid"/>
          </a:ln>
        </p:spPr>
        <p:txBody>
          <a:bodyPr/>
          <a:lstStyle/>
          <a:p>
            <a:endParaRPr lang="en-SG"/>
          </a:p>
        </p:txBody>
      </p:sp>
      <p:sp>
        <p:nvSpPr>
          <p:cNvPr id="28" name="Shape 26"/>
          <p:cNvSpPr/>
          <p:nvPr/>
        </p:nvSpPr>
        <p:spPr>
          <a:xfrm>
            <a:off x="6044184" y="1851660"/>
            <a:ext cx="91440" cy="182880"/>
          </a:xfrm>
          <a:prstGeom prst="rect">
            <a:avLst/>
          </a:prstGeom>
          <a:solidFill>
            <a:srgbClr val="F4A261"/>
          </a:solidFill>
          <a:ln w="12700">
            <a:solidFill>
              <a:srgbClr val="F4A261"/>
            </a:solidFill>
            <a:prstDash val="solid"/>
          </a:ln>
        </p:spPr>
        <p:txBody>
          <a:bodyPr/>
          <a:lstStyle/>
          <a:p>
            <a:endParaRPr lang="en-SG"/>
          </a:p>
        </p:txBody>
      </p:sp>
      <p:sp>
        <p:nvSpPr>
          <p:cNvPr id="29" name="Shape 27"/>
          <p:cNvSpPr/>
          <p:nvPr/>
        </p:nvSpPr>
        <p:spPr>
          <a:xfrm>
            <a:off x="4654296"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0" name="Shape 28"/>
          <p:cNvSpPr/>
          <p:nvPr/>
        </p:nvSpPr>
        <p:spPr>
          <a:xfrm>
            <a:off x="4654296" y="1325880"/>
            <a:ext cx="1261872" cy="54864"/>
          </a:xfrm>
          <a:prstGeom prst="rect">
            <a:avLst/>
          </a:prstGeom>
          <a:solidFill>
            <a:srgbClr val="F4A261"/>
          </a:solidFill>
          <a:ln w="12700">
            <a:solidFill>
              <a:srgbClr val="F4A261"/>
            </a:solidFill>
            <a:prstDash val="solid"/>
          </a:ln>
        </p:spPr>
        <p:txBody>
          <a:bodyPr/>
          <a:lstStyle/>
          <a:p>
            <a:endParaRPr lang="en-SG"/>
          </a:p>
        </p:txBody>
      </p:sp>
      <p:sp>
        <p:nvSpPr>
          <p:cNvPr id="31" name="Text 29"/>
          <p:cNvSpPr/>
          <p:nvPr/>
        </p:nvSpPr>
        <p:spPr>
          <a:xfrm>
            <a:off x="4654296" y="1417320"/>
            <a:ext cx="1261872" cy="411480"/>
          </a:xfrm>
          <a:prstGeom prst="rect">
            <a:avLst/>
          </a:prstGeom>
          <a:noFill/>
          <a:ln/>
        </p:spPr>
        <p:txBody>
          <a:bodyPr wrap="square" lIns="0" tIns="0" rIns="0" bIns="0" rtlCol="0" anchor="ctr"/>
          <a:lstStyle/>
          <a:p>
            <a:pPr marL="0" indent="0" algn="ctr">
              <a:buNone/>
            </a:pPr>
            <a:r>
              <a:rPr lang="en-US" sz="2600" b="1" dirty="0">
                <a:solidFill>
                  <a:srgbClr val="F4A261"/>
                </a:solidFill>
              </a:rPr>
              <a:t>4</a:t>
            </a:r>
            <a:endParaRPr lang="en-US" sz="2600" dirty="0"/>
          </a:p>
        </p:txBody>
      </p:sp>
      <p:sp>
        <p:nvSpPr>
          <p:cNvPr id="32" name="Text 30"/>
          <p:cNvSpPr/>
          <p:nvPr/>
        </p:nvSpPr>
        <p:spPr>
          <a:xfrm>
            <a:off x="4654296"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Select Tools</a:t>
            </a:r>
            <a:endParaRPr lang="en-US" sz="1000" dirty="0"/>
          </a:p>
        </p:txBody>
      </p:sp>
      <p:sp>
        <p:nvSpPr>
          <p:cNvPr id="33" name="Text 31"/>
          <p:cNvSpPr/>
          <p:nvPr/>
        </p:nvSpPr>
        <p:spPr>
          <a:xfrm>
            <a:off x="4700016"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Match forensic tools to the evidence type and file system</a:t>
            </a:r>
            <a:endParaRPr lang="en-US" sz="800" dirty="0"/>
          </a:p>
        </p:txBody>
      </p:sp>
      <p:sp>
        <p:nvSpPr>
          <p:cNvPr id="34" name="Shape 32"/>
          <p:cNvSpPr/>
          <p:nvPr/>
        </p:nvSpPr>
        <p:spPr>
          <a:xfrm>
            <a:off x="7360920" y="1915668"/>
            <a:ext cx="182880" cy="54864"/>
          </a:xfrm>
          <a:prstGeom prst="rect">
            <a:avLst/>
          </a:prstGeom>
          <a:solidFill>
            <a:srgbClr val="FFD166"/>
          </a:solidFill>
          <a:ln w="12700">
            <a:solidFill>
              <a:srgbClr val="FFD166"/>
            </a:solidFill>
            <a:prstDash val="solid"/>
          </a:ln>
        </p:spPr>
        <p:txBody>
          <a:bodyPr/>
          <a:lstStyle/>
          <a:p>
            <a:endParaRPr lang="en-SG"/>
          </a:p>
        </p:txBody>
      </p:sp>
      <p:sp>
        <p:nvSpPr>
          <p:cNvPr id="35" name="Shape 33"/>
          <p:cNvSpPr/>
          <p:nvPr/>
        </p:nvSpPr>
        <p:spPr>
          <a:xfrm>
            <a:off x="7488936" y="1851660"/>
            <a:ext cx="91440" cy="182880"/>
          </a:xfrm>
          <a:prstGeom prst="rect">
            <a:avLst/>
          </a:prstGeom>
          <a:solidFill>
            <a:srgbClr val="FFD166"/>
          </a:solidFill>
          <a:ln w="12700">
            <a:solidFill>
              <a:srgbClr val="FFD166"/>
            </a:solidFill>
            <a:prstDash val="solid"/>
          </a:ln>
        </p:spPr>
        <p:txBody>
          <a:bodyPr/>
          <a:lstStyle/>
          <a:p>
            <a:endParaRPr lang="en-SG"/>
          </a:p>
        </p:txBody>
      </p:sp>
      <p:sp>
        <p:nvSpPr>
          <p:cNvPr id="36" name="Shape 34"/>
          <p:cNvSpPr/>
          <p:nvPr/>
        </p:nvSpPr>
        <p:spPr>
          <a:xfrm>
            <a:off x="6099048"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7" name="Shape 35"/>
          <p:cNvSpPr/>
          <p:nvPr/>
        </p:nvSpPr>
        <p:spPr>
          <a:xfrm>
            <a:off x="6099048" y="1325880"/>
            <a:ext cx="1261872" cy="54864"/>
          </a:xfrm>
          <a:prstGeom prst="rect">
            <a:avLst/>
          </a:prstGeom>
          <a:solidFill>
            <a:srgbClr val="FFD166"/>
          </a:solidFill>
          <a:ln w="12700">
            <a:solidFill>
              <a:srgbClr val="FFD166"/>
            </a:solidFill>
            <a:prstDash val="solid"/>
          </a:ln>
        </p:spPr>
        <p:txBody>
          <a:bodyPr/>
          <a:lstStyle/>
          <a:p>
            <a:endParaRPr lang="en-SG"/>
          </a:p>
        </p:txBody>
      </p:sp>
      <p:sp>
        <p:nvSpPr>
          <p:cNvPr id="38" name="Text 36"/>
          <p:cNvSpPr/>
          <p:nvPr/>
        </p:nvSpPr>
        <p:spPr>
          <a:xfrm>
            <a:off x="6099048" y="1417320"/>
            <a:ext cx="1261872" cy="411480"/>
          </a:xfrm>
          <a:prstGeom prst="rect">
            <a:avLst/>
          </a:prstGeom>
          <a:noFill/>
          <a:ln/>
        </p:spPr>
        <p:txBody>
          <a:bodyPr wrap="square" lIns="0" tIns="0" rIns="0" bIns="0" rtlCol="0" anchor="ctr"/>
          <a:lstStyle/>
          <a:p>
            <a:pPr marL="0" indent="0" algn="ctr">
              <a:buNone/>
            </a:pPr>
            <a:r>
              <a:rPr lang="en-US" sz="2600" b="1" dirty="0">
                <a:solidFill>
                  <a:srgbClr val="FFD166"/>
                </a:solidFill>
              </a:rPr>
              <a:t>5</a:t>
            </a:r>
            <a:endParaRPr lang="en-US" sz="2600" dirty="0"/>
          </a:p>
        </p:txBody>
      </p:sp>
      <p:sp>
        <p:nvSpPr>
          <p:cNvPr id="39" name="Text 37"/>
          <p:cNvSpPr/>
          <p:nvPr/>
        </p:nvSpPr>
        <p:spPr>
          <a:xfrm>
            <a:off x="6099048"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Analyse Data</a:t>
            </a:r>
            <a:endParaRPr lang="en-US" sz="1000" dirty="0"/>
          </a:p>
        </p:txBody>
      </p:sp>
      <p:sp>
        <p:nvSpPr>
          <p:cNvPr id="40" name="Text 38"/>
          <p:cNvSpPr/>
          <p:nvPr/>
        </p:nvSpPr>
        <p:spPr>
          <a:xfrm>
            <a:off x="6144768"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Apply a structured analysis methodology to the acquired data</a:t>
            </a:r>
            <a:endParaRPr lang="en-US" sz="800" dirty="0"/>
          </a:p>
        </p:txBody>
      </p:sp>
      <p:sp>
        <p:nvSpPr>
          <p:cNvPr id="41" name="Shape 39"/>
          <p:cNvSpPr/>
          <p:nvPr/>
        </p:nvSpPr>
        <p:spPr>
          <a:xfrm>
            <a:off x="7543800" y="1325880"/>
            <a:ext cx="1261872" cy="12344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42" name="Shape 40"/>
          <p:cNvSpPr/>
          <p:nvPr/>
        </p:nvSpPr>
        <p:spPr>
          <a:xfrm>
            <a:off x="7543800" y="1325880"/>
            <a:ext cx="1261872" cy="54864"/>
          </a:xfrm>
          <a:prstGeom prst="rect">
            <a:avLst/>
          </a:prstGeom>
          <a:solidFill>
            <a:srgbClr val="E63946"/>
          </a:solidFill>
          <a:ln w="12700">
            <a:solidFill>
              <a:srgbClr val="E63946"/>
            </a:solidFill>
            <a:prstDash val="solid"/>
          </a:ln>
        </p:spPr>
        <p:txBody>
          <a:bodyPr/>
          <a:lstStyle/>
          <a:p>
            <a:endParaRPr lang="en-SG"/>
          </a:p>
        </p:txBody>
      </p:sp>
      <p:sp>
        <p:nvSpPr>
          <p:cNvPr id="43" name="Text 41"/>
          <p:cNvSpPr/>
          <p:nvPr/>
        </p:nvSpPr>
        <p:spPr>
          <a:xfrm>
            <a:off x="7543800" y="1417320"/>
            <a:ext cx="1261872" cy="411480"/>
          </a:xfrm>
          <a:prstGeom prst="rect">
            <a:avLst/>
          </a:prstGeom>
          <a:noFill/>
          <a:ln/>
        </p:spPr>
        <p:txBody>
          <a:bodyPr wrap="square" lIns="0" tIns="0" rIns="0" bIns="0" rtlCol="0" anchor="ctr"/>
          <a:lstStyle/>
          <a:p>
            <a:pPr marL="0" indent="0" algn="ctr">
              <a:buNone/>
            </a:pPr>
            <a:r>
              <a:rPr lang="en-US" sz="2600" b="1" dirty="0">
                <a:solidFill>
                  <a:srgbClr val="E63946"/>
                </a:solidFill>
              </a:rPr>
              <a:t>6</a:t>
            </a:r>
            <a:endParaRPr lang="en-US" sz="2600" dirty="0"/>
          </a:p>
        </p:txBody>
      </p:sp>
      <p:sp>
        <p:nvSpPr>
          <p:cNvPr id="44" name="Text 42"/>
          <p:cNvSpPr/>
          <p:nvPr/>
        </p:nvSpPr>
        <p:spPr>
          <a:xfrm>
            <a:off x="7543800" y="1837944"/>
            <a:ext cx="1261872" cy="320040"/>
          </a:xfrm>
          <a:prstGeom prst="rect">
            <a:avLst/>
          </a:prstGeom>
          <a:noFill/>
          <a:ln/>
        </p:spPr>
        <p:txBody>
          <a:bodyPr wrap="square" lIns="0" tIns="0" rIns="0" bIns="0" rtlCol="0" anchor="ctr"/>
          <a:lstStyle/>
          <a:p>
            <a:pPr marL="0" indent="0" algn="ctr">
              <a:buNone/>
            </a:pPr>
            <a:r>
              <a:rPr lang="en-US" sz="1000" b="1" dirty="0">
                <a:solidFill>
                  <a:srgbClr val="1A1A2E"/>
                </a:solidFill>
              </a:rPr>
              <a:t>Document &amp; Report</a:t>
            </a:r>
            <a:endParaRPr lang="en-US" sz="1000" dirty="0"/>
          </a:p>
        </p:txBody>
      </p:sp>
      <p:sp>
        <p:nvSpPr>
          <p:cNvPr id="45" name="Text 43"/>
          <p:cNvSpPr/>
          <p:nvPr/>
        </p:nvSpPr>
        <p:spPr>
          <a:xfrm>
            <a:off x="7589520" y="2148840"/>
            <a:ext cx="1170432" cy="384048"/>
          </a:xfrm>
          <a:prstGeom prst="rect">
            <a:avLst/>
          </a:prstGeom>
          <a:noFill/>
          <a:ln/>
        </p:spPr>
        <p:txBody>
          <a:bodyPr wrap="square" lIns="0" tIns="0" rIns="0" bIns="0" rtlCol="0" anchor="ctr"/>
          <a:lstStyle/>
          <a:p>
            <a:pPr marL="0" indent="0" algn="ctr">
              <a:buNone/>
            </a:pPr>
            <a:r>
              <a:rPr lang="en-US" sz="800" dirty="0">
                <a:solidFill>
                  <a:srgbClr val="475569"/>
                </a:solidFill>
              </a:rPr>
              <a:t>Record findings with chain of custody and produce formal reports</a:t>
            </a:r>
            <a:endParaRPr lang="en-US" sz="800" dirty="0"/>
          </a:p>
        </p:txBody>
      </p:sp>
      <p:sp>
        <p:nvSpPr>
          <p:cNvPr id="46" name="Text 44"/>
          <p:cNvSpPr/>
          <p:nvPr/>
        </p:nvSpPr>
        <p:spPr>
          <a:xfrm>
            <a:off x="320040" y="4498848"/>
            <a:ext cx="8503920" cy="320040"/>
          </a:xfrm>
          <a:prstGeom prst="rect">
            <a:avLst/>
          </a:prstGeom>
          <a:noFill/>
          <a:ln/>
        </p:spPr>
        <p:txBody>
          <a:bodyPr wrap="square" lIns="0" tIns="0" rIns="0" bIns="0" rtlCol="0" anchor="ctr"/>
          <a:lstStyle/>
          <a:p>
            <a:pPr marL="0" indent="0">
              <a:buNone/>
            </a:pPr>
            <a:r>
              <a:rPr lang="en-US" sz="950" i="1" dirty="0">
                <a:solidFill>
                  <a:srgbClr val="FFD166"/>
                </a:solidFill>
              </a:rPr>
              <a:t>📌  Every step must be documented to maintain the integrity of the chain of custody.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2 · BEST PRACTICE APPROACH</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Scope, Data Collection &amp; Tool Selection</a:t>
            </a:r>
            <a:endParaRPr lang="en-US" sz="2800" dirty="0"/>
          </a:p>
        </p:txBody>
      </p:sp>
      <p:sp>
        <p:nvSpPr>
          <p:cNvPr id="5" name="Shape 3"/>
          <p:cNvSpPr/>
          <p:nvPr/>
        </p:nvSpPr>
        <p:spPr>
          <a:xfrm>
            <a:off x="320040" y="1188720"/>
            <a:ext cx="8503920" cy="36576"/>
          </a:xfrm>
          <a:prstGeom prst="rect">
            <a:avLst/>
          </a:prstGeom>
          <a:solidFill>
            <a:srgbClr val="F4A261"/>
          </a:solidFill>
          <a:ln w="12700">
            <a:solidFill>
              <a:srgbClr val="F4A261"/>
            </a:solidFill>
            <a:prstDash val="solid"/>
          </a:ln>
        </p:spPr>
        <p:txBody>
          <a:bodyPr/>
          <a:lstStyle/>
          <a:p>
            <a:endParaRPr lang="en-SG"/>
          </a:p>
        </p:txBody>
      </p:sp>
      <p:sp>
        <p:nvSpPr>
          <p:cNvPr id="6" name="Shape 4"/>
          <p:cNvSpPr/>
          <p:nvPr/>
        </p:nvSpPr>
        <p:spPr>
          <a:xfrm>
            <a:off x="320040" y="1298448"/>
            <a:ext cx="4114800" cy="14173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457200" y="1371600"/>
            <a:ext cx="3840480" cy="320040"/>
          </a:xfrm>
          <a:prstGeom prst="rect">
            <a:avLst/>
          </a:prstGeom>
          <a:noFill/>
          <a:ln/>
        </p:spPr>
        <p:txBody>
          <a:bodyPr wrap="square" lIns="0" tIns="0" rIns="0" bIns="0" rtlCol="0" anchor="ctr"/>
          <a:lstStyle/>
          <a:p>
            <a:pPr marL="0" indent="0">
              <a:buNone/>
            </a:pPr>
            <a:r>
              <a:rPr lang="en-US" sz="1200" b="1" dirty="0">
                <a:solidFill>
                  <a:srgbClr val="F4A261"/>
                </a:solidFill>
              </a:rPr>
              <a:t>📐  Determining Scope</a:t>
            </a:r>
            <a:endParaRPr lang="en-US" sz="1200" dirty="0"/>
          </a:p>
        </p:txBody>
      </p:sp>
      <p:sp>
        <p:nvSpPr>
          <p:cNvPr id="8" name="Text 6"/>
          <p:cNvSpPr/>
          <p:nvPr/>
        </p:nvSpPr>
        <p:spPr>
          <a:xfrm>
            <a:off x="0" y="0"/>
            <a:ext cx="6858000" cy="0"/>
          </a:xfrm>
          <a:prstGeom prst="rect">
            <a:avLst/>
          </a:prstGeom>
          <a:noFill/>
          <a:ln/>
        </p:spPr>
        <p:txBody>
          <a:bodyPr wrap="square" rtlCol="0" anchor="ctr"/>
          <a:lstStyle/>
          <a:p>
            <a:pPr marL="342900" indent="-342900">
              <a:buSzPct val="100000"/>
              <a:buChar char="•"/>
            </a:pPr>
            <a:r>
              <a:rPr lang="en-US" dirty="0">
                <a:solidFill>
                  <a:srgbClr val="000000"/>
                </a:solidFill>
              </a:rPr>
              <a:t>Define the incident boundaries (who, what, when, where)</a:t>
            </a:r>
            <a:endParaRPr lang="en-US" dirty="0"/>
          </a:p>
          <a:p>
            <a:pPr marL="0" indent="0">
              <a:buNone/>
            </a:pPr>
            <a:endParaRPr lang="en-US" dirty="0"/>
          </a:p>
          <a:p>
            <a:pPr marL="342900" indent="-342900">
              <a:buSzPct val="100000"/>
              <a:buChar char="•"/>
            </a:pPr>
            <a:r>
              <a:rPr lang="en-US" dirty="0">
                <a:solidFill>
                  <a:srgbClr val="000000"/>
                </a:solidFill>
              </a:rPr>
              <a:t>Identify in-scope devices, accounts, and network segments</a:t>
            </a:r>
            <a:endParaRPr lang="en-US" dirty="0"/>
          </a:p>
        </p:txBody>
      </p:sp>
      <p:sp>
        <p:nvSpPr>
          <p:cNvPr id="9" name="Text 7"/>
          <p:cNvSpPr/>
          <p:nvPr/>
        </p:nvSpPr>
        <p:spPr>
          <a:xfrm>
            <a:off x="502920" y="1737360"/>
            <a:ext cx="3749040" cy="274320"/>
          </a:xfrm>
          <a:prstGeom prst="rect">
            <a:avLst/>
          </a:prstGeom>
          <a:noFill/>
          <a:ln/>
        </p:spPr>
        <p:txBody>
          <a:bodyPr wrap="square" lIns="0" tIns="0" rIns="0" bIns="0" rtlCol="0" anchor="ctr"/>
          <a:lstStyle/>
          <a:p>
            <a:pPr marL="0" indent="0">
              <a:buNone/>
            </a:pPr>
            <a:r>
              <a:rPr lang="en-US" sz="950" dirty="0">
                <a:solidFill>
                  <a:srgbClr val="1A1A2E"/>
                </a:solidFill>
              </a:rPr>
              <a:t>• Define the incident boundaries (who, what, when, where)</a:t>
            </a:r>
            <a:endParaRPr lang="en-US" sz="950" dirty="0"/>
          </a:p>
        </p:txBody>
      </p:sp>
      <p:sp>
        <p:nvSpPr>
          <p:cNvPr id="10" name="Text 8"/>
          <p:cNvSpPr/>
          <p:nvPr/>
        </p:nvSpPr>
        <p:spPr>
          <a:xfrm>
            <a:off x="502920" y="2029968"/>
            <a:ext cx="3749040" cy="274320"/>
          </a:xfrm>
          <a:prstGeom prst="rect">
            <a:avLst/>
          </a:prstGeom>
          <a:noFill/>
          <a:ln/>
        </p:spPr>
        <p:txBody>
          <a:bodyPr wrap="square" lIns="0" tIns="0" rIns="0" bIns="0" rtlCol="0" anchor="ctr"/>
          <a:lstStyle/>
          <a:p>
            <a:pPr marL="0" indent="0">
              <a:buNone/>
            </a:pPr>
            <a:r>
              <a:rPr lang="en-US" sz="950" dirty="0">
                <a:solidFill>
                  <a:srgbClr val="1A1A2E"/>
                </a:solidFill>
              </a:rPr>
              <a:t>• Identify in-scope devices, accounts, and network segments</a:t>
            </a:r>
            <a:endParaRPr lang="en-US" sz="950" dirty="0"/>
          </a:p>
        </p:txBody>
      </p:sp>
      <p:sp>
        <p:nvSpPr>
          <p:cNvPr id="11" name="Text 9"/>
          <p:cNvSpPr/>
          <p:nvPr/>
        </p:nvSpPr>
        <p:spPr>
          <a:xfrm>
            <a:off x="502920" y="2322576"/>
            <a:ext cx="3749040" cy="274320"/>
          </a:xfrm>
          <a:prstGeom prst="rect">
            <a:avLst/>
          </a:prstGeom>
          <a:noFill/>
          <a:ln/>
        </p:spPr>
        <p:txBody>
          <a:bodyPr wrap="square" lIns="0" tIns="0" rIns="0" bIns="0" rtlCol="0" anchor="ctr"/>
          <a:lstStyle/>
          <a:p>
            <a:pPr marL="0" indent="0">
              <a:buNone/>
            </a:pPr>
            <a:r>
              <a:rPr lang="en-US" sz="950" dirty="0">
                <a:solidFill>
                  <a:srgbClr val="1A1A2E"/>
                </a:solidFill>
              </a:rPr>
              <a:t>• Agree scope with legal/management before collection</a:t>
            </a:r>
            <a:endParaRPr lang="en-US" sz="950" dirty="0"/>
          </a:p>
        </p:txBody>
      </p:sp>
      <p:sp>
        <p:nvSpPr>
          <p:cNvPr id="12" name="Shape 10"/>
          <p:cNvSpPr/>
          <p:nvPr/>
        </p:nvSpPr>
        <p:spPr>
          <a:xfrm>
            <a:off x="320040" y="2816352"/>
            <a:ext cx="4114800" cy="14630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3" name="Text 11"/>
          <p:cNvSpPr/>
          <p:nvPr/>
        </p:nvSpPr>
        <p:spPr>
          <a:xfrm>
            <a:off x="457200" y="2889504"/>
            <a:ext cx="3840480" cy="320040"/>
          </a:xfrm>
          <a:prstGeom prst="rect">
            <a:avLst/>
          </a:prstGeom>
          <a:noFill/>
          <a:ln/>
        </p:spPr>
        <p:txBody>
          <a:bodyPr wrap="square" lIns="0" tIns="0" rIns="0" bIns="0" rtlCol="0" anchor="ctr"/>
          <a:lstStyle/>
          <a:p>
            <a:pPr marL="0" indent="0">
              <a:buNone/>
            </a:pPr>
            <a:r>
              <a:rPr lang="en-US" sz="1200" b="1" dirty="0">
                <a:solidFill>
                  <a:srgbClr val="FFD166"/>
                </a:solidFill>
              </a:rPr>
              <a:t>🗂️  What Data to Collect</a:t>
            </a:r>
            <a:endParaRPr lang="en-US" sz="1200" dirty="0"/>
          </a:p>
        </p:txBody>
      </p:sp>
      <p:sp>
        <p:nvSpPr>
          <p:cNvPr id="14" name="Text 12"/>
          <p:cNvSpPr/>
          <p:nvPr/>
        </p:nvSpPr>
        <p:spPr>
          <a:xfrm>
            <a:off x="502920" y="3236976"/>
            <a:ext cx="3749040" cy="237744"/>
          </a:xfrm>
          <a:prstGeom prst="rect">
            <a:avLst/>
          </a:prstGeom>
          <a:noFill/>
          <a:ln/>
        </p:spPr>
        <p:txBody>
          <a:bodyPr wrap="square" lIns="0" tIns="0" rIns="0" bIns="0" rtlCol="0" anchor="ctr"/>
          <a:lstStyle/>
          <a:p>
            <a:pPr marL="0" indent="0">
              <a:buNone/>
            </a:pPr>
            <a:r>
              <a:rPr lang="en-US" sz="950" dirty="0">
                <a:solidFill>
                  <a:srgbClr val="1A1A2E"/>
                </a:solidFill>
              </a:rPr>
              <a:t>• Volatile data first: RAM, running processes, network state</a:t>
            </a:r>
            <a:endParaRPr lang="en-US" sz="950" dirty="0"/>
          </a:p>
        </p:txBody>
      </p:sp>
      <p:sp>
        <p:nvSpPr>
          <p:cNvPr id="15" name="Text 13"/>
          <p:cNvSpPr/>
          <p:nvPr/>
        </p:nvSpPr>
        <p:spPr>
          <a:xfrm>
            <a:off x="502920" y="3483864"/>
            <a:ext cx="3749040" cy="237744"/>
          </a:xfrm>
          <a:prstGeom prst="rect">
            <a:avLst/>
          </a:prstGeom>
          <a:noFill/>
          <a:ln/>
        </p:spPr>
        <p:txBody>
          <a:bodyPr wrap="square" lIns="0" tIns="0" rIns="0" bIns="0" rtlCol="0" anchor="ctr"/>
          <a:lstStyle/>
          <a:p>
            <a:pPr marL="0" indent="0">
              <a:buNone/>
            </a:pPr>
            <a:r>
              <a:rPr lang="en-US" sz="950" dirty="0">
                <a:solidFill>
                  <a:srgbClr val="1A1A2E"/>
                </a:solidFill>
              </a:rPr>
              <a:t>• Non-volatile: disk images, logs, email stores</a:t>
            </a:r>
            <a:endParaRPr lang="en-US" sz="950" dirty="0"/>
          </a:p>
        </p:txBody>
      </p:sp>
      <p:sp>
        <p:nvSpPr>
          <p:cNvPr id="16" name="Text 14"/>
          <p:cNvSpPr/>
          <p:nvPr/>
        </p:nvSpPr>
        <p:spPr>
          <a:xfrm>
            <a:off x="502920" y="3730752"/>
            <a:ext cx="3749040" cy="237744"/>
          </a:xfrm>
          <a:prstGeom prst="rect">
            <a:avLst/>
          </a:prstGeom>
          <a:noFill/>
          <a:ln/>
        </p:spPr>
        <p:txBody>
          <a:bodyPr wrap="square" lIns="0" tIns="0" rIns="0" bIns="0" rtlCol="0" anchor="ctr"/>
          <a:lstStyle/>
          <a:p>
            <a:pPr marL="0" indent="0">
              <a:buNone/>
            </a:pPr>
            <a:r>
              <a:rPr lang="en-US" sz="950" dirty="0">
                <a:solidFill>
                  <a:srgbClr val="1A1A2E"/>
                </a:solidFill>
              </a:rPr>
              <a:t>• Cloud artefacts: OneDrive sync logs, webmail headers</a:t>
            </a:r>
            <a:endParaRPr lang="en-US" sz="950" dirty="0"/>
          </a:p>
        </p:txBody>
      </p:sp>
      <p:sp>
        <p:nvSpPr>
          <p:cNvPr id="17" name="Text 15"/>
          <p:cNvSpPr/>
          <p:nvPr/>
        </p:nvSpPr>
        <p:spPr>
          <a:xfrm>
            <a:off x="502920" y="3977640"/>
            <a:ext cx="3749040" cy="237744"/>
          </a:xfrm>
          <a:prstGeom prst="rect">
            <a:avLst/>
          </a:prstGeom>
          <a:noFill/>
          <a:ln/>
        </p:spPr>
        <p:txBody>
          <a:bodyPr wrap="square" lIns="0" tIns="0" rIns="0" bIns="0" rtlCol="0" anchor="ctr"/>
          <a:lstStyle/>
          <a:p>
            <a:pPr marL="0" indent="0">
              <a:buNone/>
            </a:pPr>
            <a:r>
              <a:rPr lang="en-US" sz="950" dirty="0">
                <a:solidFill>
                  <a:srgbClr val="1A1A2E"/>
                </a:solidFill>
              </a:rPr>
              <a:t>• Metadata: file timestamps, EXIF, browser history</a:t>
            </a:r>
            <a:endParaRPr lang="en-US" sz="950" dirty="0"/>
          </a:p>
        </p:txBody>
      </p:sp>
      <p:sp>
        <p:nvSpPr>
          <p:cNvPr id="18" name="Shape 16"/>
          <p:cNvSpPr/>
          <p:nvPr/>
        </p:nvSpPr>
        <p:spPr>
          <a:xfrm>
            <a:off x="4663440" y="1298448"/>
            <a:ext cx="4160520" cy="14173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Text 17"/>
          <p:cNvSpPr/>
          <p:nvPr/>
        </p:nvSpPr>
        <p:spPr>
          <a:xfrm>
            <a:off x="4800600" y="1371600"/>
            <a:ext cx="3840480" cy="320040"/>
          </a:xfrm>
          <a:prstGeom prst="rect">
            <a:avLst/>
          </a:prstGeom>
          <a:noFill/>
          <a:ln/>
        </p:spPr>
        <p:txBody>
          <a:bodyPr wrap="square" lIns="0" tIns="0" rIns="0" bIns="0" rtlCol="0" anchor="ctr"/>
          <a:lstStyle/>
          <a:p>
            <a:pPr marL="0" indent="0">
              <a:buNone/>
            </a:pPr>
            <a:r>
              <a:rPr lang="en-US" sz="1200" b="1" dirty="0">
                <a:solidFill>
                  <a:srgbClr val="00B4D8"/>
                </a:solidFill>
              </a:rPr>
              <a:t>🔧  Collection Methods</a:t>
            </a:r>
            <a:endParaRPr lang="en-US" sz="1200" dirty="0"/>
          </a:p>
        </p:txBody>
      </p:sp>
      <p:sp>
        <p:nvSpPr>
          <p:cNvPr id="20" name="Text 18"/>
          <p:cNvSpPr/>
          <p:nvPr/>
        </p:nvSpPr>
        <p:spPr>
          <a:xfrm>
            <a:off x="4800600" y="1737360"/>
            <a:ext cx="3886200" cy="274320"/>
          </a:xfrm>
          <a:prstGeom prst="rect">
            <a:avLst/>
          </a:prstGeom>
          <a:noFill/>
          <a:ln/>
        </p:spPr>
        <p:txBody>
          <a:bodyPr wrap="square" lIns="0" tIns="0" rIns="0" bIns="0" rtlCol="0" anchor="ctr"/>
          <a:lstStyle/>
          <a:p>
            <a:pPr marL="0" indent="0">
              <a:buNone/>
            </a:pPr>
            <a:r>
              <a:rPr lang="en-US" sz="950" dirty="0">
                <a:solidFill>
                  <a:srgbClr val="1A1A2E"/>
                </a:solidFill>
              </a:rPr>
              <a:t>• Forensic imaging (dd, FTK Imager) — bit-for-bit copy</a:t>
            </a:r>
            <a:endParaRPr lang="en-US" sz="950" dirty="0"/>
          </a:p>
        </p:txBody>
      </p:sp>
      <p:sp>
        <p:nvSpPr>
          <p:cNvPr id="21" name="Text 19"/>
          <p:cNvSpPr/>
          <p:nvPr/>
        </p:nvSpPr>
        <p:spPr>
          <a:xfrm>
            <a:off x="4800600" y="2029968"/>
            <a:ext cx="3886200" cy="274320"/>
          </a:xfrm>
          <a:prstGeom prst="rect">
            <a:avLst/>
          </a:prstGeom>
          <a:noFill/>
          <a:ln/>
        </p:spPr>
        <p:txBody>
          <a:bodyPr wrap="square" lIns="0" tIns="0" rIns="0" bIns="0" rtlCol="0" anchor="ctr"/>
          <a:lstStyle/>
          <a:p>
            <a:pPr marL="0" indent="0">
              <a:buNone/>
            </a:pPr>
            <a:r>
              <a:rPr lang="en-US" sz="950" dirty="0">
                <a:solidFill>
                  <a:srgbClr val="1A1A2E"/>
                </a:solidFill>
              </a:rPr>
              <a:t>• Write blockers prevent modification of source media</a:t>
            </a:r>
            <a:endParaRPr lang="en-US" sz="950" dirty="0"/>
          </a:p>
        </p:txBody>
      </p:sp>
      <p:sp>
        <p:nvSpPr>
          <p:cNvPr id="22" name="Text 20"/>
          <p:cNvSpPr/>
          <p:nvPr/>
        </p:nvSpPr>
        <p:spPr>
          <a:xfrm>
            <a:off x="4800600" y="2322576"/>
            <a:ext cx="3886200" cy="274320"/>
          </a:xfrm>
          <a:prstGeom prst="rect">
            <a:avLst/>
          </a:prstGeom>
          <a:noFill/>
          <a:ln/>
        </p:spPr>
        <p:txBody>
          <a:bodyPr wrap="square" lIns="0" tIns="0" rIns="0" bIns="0" rtlCol="0" anchor="ctr"/>
          <a:lstStyle/>
          <a:p>
            <a:pPr marL="0" indent="0">
              <a:buNone/>
            </a:pPr>
            <a:r>
              <a:rPr lang="en-US" sz="950" dirty="0">
                <a:solidFill>
                  <a:srgbClr val="1A1A2E"/>
                </a:solidFill>
              </a:rPr>
              <a:t>• Hash verification (MD5/SHA256) confirms image integrity</a:t>
            </a:r>
            <a:endParaRPr lang="en-US" sz="950" dirty="0"/>
          </a:p>
        </p:txBody>
      </p:sp>
      <p:sp>
        <p:nvSpPr>
          <p:cNvPr id="23" name="Shape 21"/>
          <p:cNvSpPr/>
          <p:nvPr/>
        </p:nvSpPr>
        <p:spPr>
          <a:xfrm>
            <a:off x="4663440" y="2816352"/>
            <a:ext cx="4160520" cy="146304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4" name="Text 22"/>
          <p:cNvSpPr/>
          <p:nvPr/>
        </p:nvSpPr>
        <p:spPr>
          <a:xfrm>
            <a:off x="4800600" y="2889504"/>
            <a:ext cx="3840480" cy="320040"/>
          </a:xfrm>
          <a:prstGeom prst="rect">
            <a:avLst/>
          </a:prstGeom>
          <a:noFill/>
          <a:ln/>
        </p:spPr>
        <p:txBody>
          <a:bodyPr wrap="square" lIns="0" tIns="0" rIns="0" bIns="0" rtlCol="0" anchor="ctr"/>
          <a:lstStyle/>
          <a:p>
            <a:pPr marL="0" indent="0">
              <a:buNone/>
            </a:pPr>
            <a:r>
              <a:rPr lang="en-US" sz="1200" b="1" dirty="0">
                <a:solidFill>
                  <a:srgbClr val="2EC4B6"/>
                </a:solidFill>
              </a:rPr>
              <a:t>🔍  Selecting Forensic Tools</a:t>
            </a:r>
            <a:endParaRPr lang="en-US" sz="1200" dirty="0"/>
          </a:p>
        </p:txBody>
      </p:sp>
      <p:sp>
        <p:nvSpPr>
          <p:cNvPr id="25" name="Text 23"/>
          <p:cNvSpPr/>
          <p:nvPr/>
        </p:nvSpPr>
        <p:spPr>
          <a:xfrm>
            <a:off x="4800600" y="3236976"/>
            <a:ext cx="3886200" cy="237744"/>
          </a:xfrm>
          <a:prstGeom prst="rect">
            <a:avLst/>
          </a:prstGeom>
          <a:noFill/>
          <a:ln/>
        </p:spPr>
        <p:txBody>
          <a:bodyPr wrap="square" lIns="0" tIns="0" rIns="0" bIns="0" rtlCol="0" anchor="ctr"/>
          <a:lstStyle/>
          <a:p>
            <a:pPr marL="0" indent="0">
              <a:buNone/>
            </a:pPr>
            <a:r>
              <a:rPr lang="en-US" sz="950" dirty="0">
                <a:solidFill>
                  <a:srgbClr val="1A1A2E"/>
                </a:solidFill>
              </a:rPr>
              <a:t>• Match tool capabilities to evidence type (disk, memory, mobile)</a:t>
            </a:r>
            <a:endParaRPr lang="en-US" sz="950" dirty="0"/>
          </a:p>
        </p:txBody>
      </p:sp>
      <p:sp>
        <p:nvSpPr>
          <p:cNvPr id="26" name="Text 24"/>
          <p:cNvSpPr/>
          <p:nvPr/>
        </p:nvSpPr>
        <p:spPr>
          <a:xfrm>
            <a:off x="4800600" y="3483864"/>
            <a:ext cx="3886200" cy="237744"/>
          </a:xfrm>
          <a:prstGeom prst="rect">
            <a:avLst/>
          </a:prstGeom>
          <a:noFill/>
          <a:ln/>
        </p:spPr>
        <p:txBody>
          <a:bodyPr wrap="square" lIns="0" tIns="0" rIns="0" bIns="0" rtlCol="0" anchor="ctr"/>
          <a:lstStyle/>
          <a:p>
            <a:pPr marL="0" indent="0">
              <a:buNone/>
            </a:pPr>
            <a:r>
              <a:rPr lang="en-US" sz="950" dirty="0">
                <a:solidFill>
                  <a:srgbClr val="1A1A2E"/>
                </a:solidFill>
              </a:rPr>
              <a:t>• Prefer court-validated tools (FTK, EnCase, Autopsy)</a:t>
            </a:r>
            <a:endParaRPr lang="en-US" sz="950" dirty="0"/>
          </a:p>
        </p:txBody>
      </p:sp>
      <p:sp>
        <p:nvSpPr>
          <p:cNvPr id="27" name="Text 25"/>
          <p:cNvSpPr/>
          <p:nvPr/>
        </p:nvSpPr>
        <p:spPr>
          <a:xfrm>
            <a:off x="4800600" y="3730752"/>
            <a:ext cx="3886200" cy="237744"/>
          </a:xfrm>
          <a:prstGeom prst="rect">
            <a:avLst/>
          </a:prstGeom>
          <a:noFill/>
          <a:ln/>
        </p:spPr>
        <p:txBody>
          <a:bodyPr wrap="square" lIns="0" tIns="0" rIns="0" bIns="0" rtlCol="0" anchor="ctr"/>
          <a:lstStyle/>
          <a:p>
            <a:pPr marL="0" indent="0">
              <a:buNone/>
            </a:pPr>
            <a:r>
              <a:rPr lang="en-US" sz="950" dirty="0">
                <a:solidFill>
                  <a:srgbClr val="1A1A2E"/>
                </a:solidFill>
              </a:rPr>
              <a:t>• Verify tool output accuracy with known test images</a:t>
            </a:r>
            <a:endParaRPr lang="en-US" sz="950" dirty="0"/>
          </a:p>
        </p:txBody>
      </p:sp>
      <p:sp>
        <p:nvSpPr>
          <p:cNvPr id="28" name="Text 26"/>
          <p:cNvSpPr/>
          <p:nvPr/>
        </p:nvSpPr>
        <p:spPr>
          <a:xfrm>
            <a:off x="4800600" y="3977640"/>
            <a:ext cx="3886200" cy="237744"/>
          </a:xfrm>
          <a:prstGeom prst="rect">
            <a:avLst/>
          </a:prstGeom>
          <a:noFill/>
          <a:ln/>
        </p:spPr>
        <p:txBody>
          <a:bodyPr wrap="square" lIns="0" tIns="0" rIns="0" bIns="0" rtlCol="0" anchor="ctr"/>
          <a:lstStyle/>
          <a:p>
            <a:pPr marL="0" indent="0">
              <a:buNone/>
            </a:pPr>
            <a:r>
              <a:rPr lang="en-US" sz="950" dirty="0">
                <a:solidFill>
                  <a:srgbClr val="1A1A2E"/>
                </a:solidFill>
              </a:rPr>
              <a:t>• Document tool version and configuration used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2EC4B6"/>
          </a:solidFill>
          <a:ln w="12700">
            <a:solidFill>
              <a:srgbClr val="2EC4B6"/>
            </a:solidFill>
            <a:prstDash val="solid"/>
          </a:ln>
        </p:spPr>
        <p:txBody>
          <a:bodyPr/>
          <a:lstStyle/>
          <a:p>
            <a:endParaRPr lang="en-SG"/>
          </a:p>
        </p:txBody>
      </p:sp>
      <p:sp>
        <p:nvSpPr>
          <p:cNvPr id="3" name="Text 1"/>
          <p:cNvSpPr/>
          <p:nvPr/>
        </p:nvSpPr>
        <p:spPr>
          <a:xfrm>
            <a:off x="457200" y="1280160"/>
            <a:ext cx="8229600" cy="457200"/>
          </a:xfrm>
          <a:prstGeom prst="rect">
            <a:avLst/>
          </a:prstGeom>
          <a:noFill/>
          <a:ln/>
        </p:spPr>
        <p:txBody>
          <a:bodyPr wrap="square" lIns="0" tIns="0" rIns="0" bIns="0" rtlCol="0" anchor="ctr"/>
          <a:lstStyle/>
          <a:p>
            <a:pPr marL="0" indent="0" algn="ctr">
              <a:buNone/>
            </a:pPr>
            <a:r>
              <a:rPr lang="en-US" sz="1400" b="1" kern="0" spc="800" dirty="0">
                <a:solidFill>
                  <a:srgbClr val="2EC4B6"/>
                </a:solidFill>
              </a:rPr>
              <a:t>SECTION 3</a:t>
            </a:r>
            <a:endParaRPr lang="en-US" sz="1400" dirty="0"/>
          </a:p>
        </p:txBody>
      </p:sp>
      <p:sp>
        <p:nvSpPr>
          <p:cNvPr id="4" name="Text 2"/>
          <p:cNvSpPr/>
          <p:nvPr/>
        </p:nvSpPr>
        <p:spPr>
          <a:xfrm>
            <a:off x="457200" y="2313432"/>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Forensic Toolkit</a:t>
            </a:r>
            <a:endParaRPr lang="en-US" sz="4400" dirty="0"/>
          </a:p>
          <a:p>
            <a:pPr marL="0" indent="0" algn="ctr">
              <a:buNone/>
            </a:pPr>
            <a:r>
              <a:rPr lang="en-US" sz="4400" b="1" dirty="0">
                <a:solidFill>
                  <a:srgbClr val="1A1A2E"/>
                </a:solidFill>
              </a:rPr>
              <a:t>(FTK)</a:t>
            </a:r>
            <a:endParaRPr lang="en-US" sz="4400" dirty="0"/>
          </a:p>
        </p:txBody>
      </p:sp>
      <p:sp>
        <p:nvSpPr>
          <p:cNvPr id="5" name="Text 3"/>
          <p:cNvSpPr/>
          <p:nvPr/>
        </p:nvSpPr>
        <p:spPr>
          <a:xfrm>
            <a:off x="530352" y="3749040"/>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Industry-standard digital forensics investigation platform by Exterro (formerly AccessData)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3 · FORENSIC TOOLKIT (FTK)</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What is FTK?</a:t>
            </a:r>
            <a:endParaRPr lang="en-US" sz="2800" dirty="0"/>
          </a:p>
        </p:txBody>
      </p:sp>
      <p:sp>
        <p:nvSpPr>
          <p:cNvPr id="5" name="Shape 3"/>
          <p:cNvSpPr/>
          <p:nvPr/>
        </p:nvSpPr>
        <p:spPr>
          <a:xfrm>
            <a:off x="320040" y="1188720"/>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Shape 4"/>
          <p:cNvSpPr/>
          <p:nvPr/>
        </p:nvSpPr>
        <p:spPr>
          <a:xfrm>
            <a:off x="320040" y="1298448"/>
            <a:ext cx="5029200" cy="33832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502920" y="1417320"/>
            <a:ext cx="4663440" cy="320040"/>
          </a:xfrm>
          <a:prstGeom prst="rect">
            <a:avLst/>
          </a:prstGeom>
          <a:noFill/>
          <a:ln/>
        </p:spPr>
        <p:txBody>
          <a:bodyPr wrap="square" lIns="0" tIns="0" rIns="0" bIns="0" rtlCol="0" anchor="ctr"/>
          <a:lstStyle/>
          <a:p>
            <a:pPr marL="0" indent="0">
              <a:buNone/>
            </a:pPr>
            <a:r>
              <a:rPr lang="en-US" sz="1300" b="1" dirty="0">
                <a:solidFill>
                  <a:srgbClr val="2EC4B6"/>
                </a:solidFill>
              </a:rPr>
              <a:t>Overview</a:t>
            </a:r>
            <a:endParaRPr lang="en-US" sz="1300" dirty="0"/>
          </a:p>
        </p:txBody>
      </p:sp>
      <p:sp>
        <p:nvSpPr>
          <p:cNvPr id="8" name="Text 6"/>
          <p:cNvSpPr/>
          <p:nvPr/>
        </p:nvSpPr>
        <p:spPr>
          <a:xfrm>
            <a:off x="502920" y="1792224"/>
            <a:ext cx="4663440" cy="246888"/>
          </a:xfrm>
          <a:prstGeom prst="rect">
            <a:avLst/>
          </a:prstGeom>
          <a:noFill/>
          <a:ln/>
        </p:spPr>
        <p:txBody>
          <a:bodyPr wrap="square" lIns="0" tIns="0" rIns="0" bIns="0" rtlCol="0" anchor="ctr"/>
          <a:lstStyle/>
          <a:p>
            <a:pPr marL="0" indent="0">
              <a:buNone/>
            </a:pPr>
            <a:r>
              <a:rPr lang="en-US" sz="950" dirty="0">
                <a:solidFill>
                  <a:srgbClr val="1A1A2E"/>
                </a:solidFill>
              </a:rPr>
              <a:t>FTK (Forensic Toolkit) is a comprehensive forensic investigation platform developed by Exterro (formerly AccessData).</a:t>
            </a:r>
            <a:endParaRPr lang="en-US" sz="950" dirty="0"/>
          </a:p>
        </p:txBody>
      </p:sp>
      <p:sp>
        <p:nvSpPr>
          <p:cNvPr id="9" name="Text 7"/>
          <p:cNvSpPr/>
          <p:nvPr/>
        </p:nvSpPr>
        <p:spPr>
          <a:xfrm>
            <a:off x="502920" y="2048256"/>
            <a:ext cx="4663440" cy="246888"/>
          </a:xfrm>
          <a:prstGeom prst="rect">
            <a:avLst/>
          </a:prstGeom>
          <a:noFill/>
          <a:ln/>
        </p:spPr>
        <p:txBody>
          <a:bodyPr wrap="square" lIns="0" tIns="0" rIns="0" bIns="0" rtlCol="0" anchor="ctr"/>
          <a:lstStyle/>
          <a:p>
            <a:pPr marL="0" indent="0">
              <a:buNone/>
            </a:pPr>
            <a:endParaRPr lang="en-US" sz="950" dirty="0"/>
          </a:p>
        </p:txBody>
      </p:sp>
      <p:sp>
        <p:nvSpPr>
          <p:cNvPr id="10" name="Text 8"/>
          <p:cNvSpPr/>
          <p:nvPr/>
        </p:nvSpPr>
        <p:spPr>
          <a:xfrm>
            <a:off x="502920" y="2304288"/>
            <a:ext cx="4663440" cy="246888"/>
          </a:xfrm>
          <a:prstGeom prst="rect">
            <a:avLst/>
          </a:prstGeom>
          <a:noFill/>
          <a:ln/>
        </p:spPr>
        <p:txBody>
          <a:bodyPr wrap="square" lIns="0" tIns="0" rIns="0" bIns="0" rtlCol="0" anchor="ctr"/>
          <a:lstStyle/>
          <a:p>
            <a:pPr marL="0" indent="0">
              <a:buNone/>
            </a:pPr>
            <a:r>
              <a:rPr lang="en-US" sz="950" dirty="0">
                <a:solidFill>
                  <a:srgbClr val="1A1A2E"/>
                </a:solidFill>
              </a:rPr>
              <a:t>It provides a centralised environment for acquiring, processing, and analysing digital evidence from a wide variety of sources.</a:t>
            </a:r>
            <a:endParaRPr lang="en-US" sz="950" dirty="0"/>
          </a:p>
        </p:txBody>
      </p:sp>
      <p:sp>
        <p:nvSpPr>
          <p:cNvPr id="11" name="Text 9"/>
          <p:cNvSpPr/>
          <p:nvPr/>
        </p:nvSpPr>
        <p:spPr>
          <a:xfrm>
            <a:off x="502920" y="2560320"/>
            <a:ext cx="4663440" cy="246888"/>
          </a:xfrm>
          <a:prstGeom prst="rect">
            <a:avLst/>
          </a:prstGeom>
          <a:noFill/>
          <a:ln/>
        </p:spPr>
        <p:txBody>
          <a:bodyPr wrap="square" lIns="0" tIns="0" rIns="0" bIns="0" rtlCol="0" anchor="ctr"/>
          <a:lstStyle/>
          <a:p>
            <a:pPr marL="0" indent="0">
              <a:buNone/>
            </a:pPr>
            <a:endParaRPr lang="en-US" sz="950" dirty="0"/>
          </a:p>
        </p:txBody>
      </p:sp>
      <p:sp>
        <p:nvSpPr>
          <p:cNvPr id="12" name="Text 10"/>
          <p:cNvSpPr/>
          <p:nvPr/>
        </p:nvSpPr>
        <p:spPr>
          <a:xfrm>
            <a:off x="502920" y="2816352"/>
            <a:ext cx="4663440" cy="246888"/>
          </a:xfrm>
          <a:prstGeom prst="rect">
            <a:avLst/>
          </a:prstGeom>
          <a:noFill/>
          <a:ln/>
        </p:spPr>
        <p:txBody>
          <a:bodyPr wrap="square" lIns="0" tIns="0" rIns="0" bIns="0" rtlCol="0" anchor="ctr"/>
          <a:lstStyle/>
          <a:p>
            <a:pPr marL="0" indent="0">
              <a:buNone/>
            </a:pPr>
            <a:r>
              <a:rPr lang="en-US" sz="950" dirty="0">
                <a:solidFill>
                  <a:srgbClr val="1A1A2E"/>
                </a:solidFill>
              </a:rPr>
              <a:t>FTK is widely accepted in courts of law as a validated forensic tool, making its output legally defensible.</a:t>
            </a:r>
            <a:endParaRPr lang="en-US" sz="950" dirty="0"/>
          </a:p>
        </p:txBody>
      </p:sp>
      <p:sp>
        <p:nvSpPr>
          <p:cNvPr id="13" name="Text 11"/>
          <p:cNvSpPr/>
          <p:nvPr/>
        </p:nvSpPr>
        <p:spPr>
          <a:xfrm>
            <a:off x="502920" y="3072384"/>
            <a:ext cx="4663440" cy="246888"/>
          </a:xfrm>
          <a:prstGeom prst="rect">
            <a:avLst/>
          </a:prstGeom>
          <a:noFill/>
          <a:ln/>
        </p:spPr>
        <p:txBody>
          <a:bodyPr wrap="square" lIns="0" tIns="0" rIns="0" bIns="0" rtlCol="0" anchor="ctr"/>
          <a:lstStyle/>
          <a:p>
            <a:pPr marL="0" indent="0">
              <a:buNone/>
            </a:pPr>
            <a:endParaRPr lang="en-US" sz="950" dirty="0"/>
          </a:p>
        </p:txBody>
      </p:sp>
      <p:sp>
        <p:nvSpPr>
          <p:cNvPr id="14" name="Text 12"/>
          <p:cNvSpPr/>
          <p:nvPr/>
        </p:nvSpPr>
        <p:spPr>
          <a:xfrm>
            <a:off x="502920" y="3328416"/>
            <a:ext cx="4663440" cy="246888"/>
          </a:xfrm>
          <a:prstGeom prst="rect">
            <a:avLst/>
          </a:prstGeom>
          <a:noFill/>
          <a:ln/>
        </p:spPr>
        <p:txBody>
          <a:bodyPr wrap="square" lIns="0" tIns="0" rIns="0" bIns="0" rtlCol="0" anchor="ctr"/>
          <a:lstStyle/>
          <a:p>
            <a:pPr marL="0" indent="0">
              <a:buNone/>
            </a:pPr>
            <a:r>
              <a:rPr lang="en-US" sz="950" dirty="0">
                <a:solidFill>
                  <a:srgbClr val="1A1A2E"/>
                </a:solidFill>
              </a:rPr>
              <a:t>It processes an entire drive or disk image and indexes all data upfront — allowing fast keyword searches across the full evidence set.</a:t>
            </a:r>
            <a:endParaRPr lang="en-US" sz="950" dirty="0"/>
          </a:p>
        </p:txBody>
      </p:sp>
      <p:sp>
        <p:nvSpPr>
          <p:cNvPr id="15" name="Shape 13"/>
          <p:cNvSpPr/>
          <p:nvPr/>
        </p:nvSpPr>
        <p:spPr>
          <a:xfrm>
            <a:off x="5577840" y="1298448"/>
            <a:ext cx="3246120" cy="73152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6" name="Shape 14"/>
          <p:cNvSpPr/>
          <p:nvPr/>
        </p:nvSpPr>
        <p:spPr>
          <a:xfrm>
            <a:off x="5577840" y="1298448"/>
            <a:ext cx="91440" cy="731520"/>
          </a:xfrm>
          <a:prstGeom prst="rect">
            <a:avLst/>
          </a:prstGeom>
          <a:solidFill>
            <a:srgbClr val="00B4D8"/>
          </a:solidFill>
          <a:ln w="12700">
            <a:solidFill>
              <a:srgbClr val="00B4D8"/>
            </a:solidFill>
            <a:prstDash val="solid"/>
          </a:ln>
        </p:spPr>
        <p:txBody>
          <a:bodyPr/>
          <a:lstStyle/>
          <a:p>
            <a:endParaRPr lang="en-SG"/>
          </a:p>
        </p:txBody>
      </p:sp>
      <p:sp>
        <p:nvSpPr>
          <p:cNvPr id="17" name="Text 15"/>
          <p:cNvSpPr/>
          <p:nvPr/>
        </p:nvSpPr>
        <p:spPr>
          <a:xfrm>
            <a:off x="5742432" y="1371600"/>
            <a:ext cx="2971800" cy="256032"/>
          </a:xfrm>
          <a:prstGeom prst="rect">
            <a:avLst/>
          </a:prstGeom>
          <a:noFill/>
          <a:ln/>
        </p:spPr>
        <p:txBody>
          <a:bodyPr wrap="square" lIns="0" tIns="0" rIns="0" bIns="0" rtlCol="0" anchor="ctr"/>
          <a:lstStyle/>
          <a:p>
            <a:pPr marL="0" indent="0">
              <a:buNone/>
            </a:pPr>
            <a:r>
              <a:rPr lang="en-US" sz="900" dirty="0">
                <a:solidFill>
                  <a:srgbClr val="475569"/>
                </a:solidFill>
              </a:rPr>
              <a:t>Developed by</a:t>
            </a:r>
            <a:endParaRPr lang="en-US" sz="900" dirty="0"/>
          </a:p>
        </p:txBody>
      </p:sp>
      <p:sp>
        <p:nvSpPr>
          <p:cNvPr id="18" name="Text 16"/>
          <p:cNvSpPr/>
          <p:nvPr/>
        </p:nvSpPr>
        <p:spPr>
          <a:xfrm>
            <a:off x="5742432" y="1627632"/>
            <a:ext cx="2971800" cy="292608"/>
          </a:xfrm>
          <a:prstGeom prst="rect">
            <a:avLst/>
          </a:prstGeom>
          <a:noFill/>
          <a:ln/>
        </p:spPr>
        <p:txBody>
          <a:bodyPr wrap="square" lIns="0" tIns="0" rIns="0" bIns="0" rtlCol="0" anchor="ctr"/>
          <a:lstStyle/>
          <a:p>
            <a:pPr marL="0" indent="0">
              <a:buNone/>
            </a:pPr>
            <a:r>
              <a:rPr lang="en-US" sz="1200" b="1" dirty="0">
                <a:solidFill>
                  <a:srgbClr val="1A1A2E"/>
                </a:solidFill>
              </a:rPr>
              <a:t>Exterro (AccessData)</a:t>
            </a:r>
            <a:endParaRPr lang="en-US" sz="1200" dirty="0"/>
          </a:p>
        </p:txBody>
      </p:sp>
      <p:sp>
        <p:nvSpPr>
          <p:cNvPr id="19" name="Shape 17"/>
          <p:cNvSpPr/>
          <p:nvPr/>
        </p:nvSpPr>
        <p:spPr>
          <a:xfrm>
            <a:off x="5577840" y="2148840"/>
            <a:ext cx="3246120" cy="73152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0" name="Shape 18"/>
          <p:cNvSpPr/>
          <p:nvPr/>
        </p:nvSpPr>
        <p:spPr>
          <a:xfrm>
            <a:off x="5577840" y="2148840"/>
            <a:ext cx="91440" cy="731520"/>
          </a:xfrm>
          <a:prstGeom prst="rect">
            <a:avLst/>
          </a:prstGeom>
          <a:solidFill>
            <a:srgbClr val="F4A261"/>
          </a:solidFill>
          <a:ln w="12700">
            <a:solidFill>
              <a:srgbClr val="F4A261"/>
            </a:solidFill>
            <a:prstDash val="solid"/>
          </a:ln>
        </p:spPr>
        <p:txBody>
          <a:bodyPr/>
          <a:lstStyle/>
          <a:p>
            <a:endParaRPr lang="en-SG"/>
          </a:p>
        </p:txBody>
      </p:sp>
      <p:sp>
        <p:nvSpPr>
          <p:cNvPr id="21" name="Text 19"/>
          <p:cNvSpPr/>
          <p:nvPr/>
        </p:nvSpPr>
        <p:spPr>
          <a:xfrm>
            <a:off x="5742432" y="2221992"/>
            <a:ext cx="2971800" cy="256032"/>
          </a:xfrm>
          <a:prstGeom prst="rect">
            <a:avLst/>
          </a:prstGeom>
          <a:noFill/>
          <a:ln/>
        </p:spPr>
        <p:txBody>
          <a:bodyPr wrap="square" lIns="0" tIns="0" rIns="0" bIns="0" rtlCol="0" anchor="ctr"/>
          <a:lstStyle/>
          <a:p>
            <a:pPr marL="0" indent="0">
              <a:buNone/>
            </a:pPr>
            <a:r>
              <a:rPr lang="en-US" sz="900" dirty="0">
                <a:solidFill>
                  <a:srgbClr val="475569"/>
                </a:solidFill>
              </a:rPr>
              <a:t>Evidence Types</a:t>
            </a:r>
            <a:endParaRPr lang="en-US" sz="900" dirty="0"/>
          </a:p>
        </p:txBody>
      </p:sp>
      <p:sp>
        <p:nvSpPr>
          <p:cNvPr id="22" name="Text 20"/>
          <p:cNvSpPr/>
          <p:nvPr/>
        </p:nvSpPr>
        <p:spPr>
          <a:xfrm>
            <a:off x="5742432" y="2478024"/>
            <a:ext cx="2971800" cy="292608"/>
          </a:xfrm>
          <a:prstGeom prst="rect">
            <a:avLst/>
          </a:prstGeom>
          <a:noFill/>
          <a:ln/>
        </p:spPr>
        <p:txBody>
          <a:bodyPr wrap="square" lIns="0" tIns="0" rIns="0" bIns="0" rtlCol="0" anchor="ctr"/>
          <a:lstStyle/>
          <a:p>
            <a:pPr marL="0" indent="0">
              <a:buNone/>
            </a:pPr>
            <a:r>
              <a:rPr lang="en-US" sz="1200" b="1" dirty="0">
                <a:solidFill>
                  <a:srgbClr val="1A1A2E"/>
                </a:solidFill>
              </a:rPr>
              <a:t>Disks, email, mobile, RAM</a:t>
            </a:r>
            <a:endParaRPr lang="en-US" sz="1200" dirty="0"/>
          </a:p>
        </p:txBody>
      </p:sp>
      <p:sp>
        <p:nvSpPr>
          <p:cNvPr id="23" name="Shape 21"/>
          <p:cNvSpPr/>
          <p:nvPr/>
        </p:nvSpPr>
        <p:spPr>
          <a:xfrm>
            <a:off x="5577840" y="2999232"/>
            <a:ext cx="3246120" cy="73152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4" name="Shape 22"/>
          <p:cNvSpPr/>
          <p:nvPr/>
        </p:nvSpPr>
        <p:spPr>
          <a:xfrm>
            <a:off x="5577840" y="2999232"/>
            <a:ext cx="91440" cy="731520"/>
          </a:xfrm>
          <a:prstGeom prst="rect">
            <a:avLst/>
          </a:prstGeom>
          <a:solidFill>
            <a:srgbClr val="2EC4B6"/>
          </a:solidFill>
          <a:ln w="12700">
            <a:solidFill>
              <a:srgbClr val="2EC4B6"/>
            </a:solidFill>
            <a:prstDash val="solid"/>
          </a:ln>
        </p:spPr>
        <p:txBody>
          <a:bodyPr/>
          <a:lstStyle/>
          <a:p>
            <a:endParaRPr lang="en-SG"/>
          </a:p>
        </p:txBody>
      </p:sp>
      <p:sp>
        <p:nvSpPr>
          <p:cNvPr id="25" name="Text 23"/>
          <p:cNvSpPr/>
          <p:nvPr/>
        </p:nvSpPr>
        <p:spPr>
          <a:xfrm>
            <a:off x="5742432" y="3072384"/>
            <a:ext cx="2971800" cy="256032"/>
          </a:xfrm>
          <a:prstGeom prst="rect">
            <a:avLst/>
          </a:prstGeom>
          <a:noFill/>
          <a:ln/>
        </p:spPr>
        <p:txBody>
          <a:bodyPr wrap="square" lIns="0" tIns="0" rIns="0" bIns="0" rtlCol="0" anchor="ctr"/>
          <a:lstStyle/>
          <a:p>
            <a:pPr marL="0" indent="0">
              <a:buNone/>
            </a:pPr>
            <a:r>
              <a:rPr lang="en-US" sz="900" dirty="0">
                <a:solidFill>
                  <a:srgbClr val="475569"/>
                </a:solidFill>
              </a:rPr>
              <a:t>Legal Status</a:t>
            </a:r>
            <a:endParaRPr lang="en-US" sz="900" dirty="0"/>
          </a:p>
        </p:txBody>
      </p:sp>
      <p:sp>
        <p:nvSpPr>
          <p:cNvPr id="26" name="Text 24"/>
          <p:cNvSpPr/>
          <p:nvPr/>
        </p:nvSpPr>
        <p:spPr>
          <a:xfrm>
            <a:off x="5742432" y="3328416"/>
            <a:ext cx="2971800" cy="292608"/>
          </a:xfrm>
          <a:prstGeom prst="rect">
            <a:avLst/>
          </a:prstGeom>
          <a:noFill/>
          <a:ln/>
        </p:spPr>
        <p:txBody>
          <a:bodyPr wrap="square" lIns="0" tIns="0" rIns="0" bIns="0" rtlCol="0" anchor="ctr"/>
          <a:lstStyle/>
          <a:p>
            <a:pPr marL="0" indent="0">
              <a:buNone/>
            </a:pPr>
            <a:r>
              <a:rPr lang="en-US" sz="1200" b="1" dirty="0">
                <a:solidFill>
                  <a:srgbClr val="1A1A2E"/>
                </a:solidFill>
              </a:rPr>
              <a:t>Court-validated tool</a:t>
            </a:r>
            <a:endParaRPr lang="en-US" sz="1200" dirty="0"/>
          </a:p>
        </p:txBody>
      </p:sp>
      <p:sp>
        <p:nvSpPr>
          <p:cNvPr id="27" name="Shape 25"/>
          <p:cNvSpPr/>
          <p:nvPr/>
        </p:nvSpPr>
        <p:spPr>
          <a:xfrm>
            <a:off x="5577840" y="3849624"/>
            <a:ext cx="3246120" cy="73152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8" name="Shape 26"/>
          <p:cNvSpPr/>
          <p:nvPr/>
        </p:nvSpPr>
        <p:spPr>
          <a:xfrm>
            <a:off x="5577840" y="3849624"/>
            <a:ext cx="91440" cy="731520"/>
          </a:xfrm>
          <a:prstGeom prst="rect">
            <a:avLst/>
          </a:prstGeom>
          <a:solidFill>
            <a:srgbClr val="FFD166"/>
          </a:solidFill>
          <a:ln w="12700">
            <a:solidFill>
              <a:srgbClr val="FFD166"/>
            </a:solidFill>
            <a:prstDash val="solid"/>
          </a:ln>
        </p:spPr>
        <p:txBody>
          <a:bodyPr/>
          <a:lstStyle/>
          <a:p>
            <a:endParaRPr lang="en-SG"/>
          </a:p>
        </p:txBody>
      </p:sp>
      <p:sp>
        <p:nvSpPr>
          <p:cNvPr id="29" name="Text 27"/>
          <p:cNvSpPr/>
          <p:nvPr/>
        </p:nvSpPr>
        <p:spPr>
          <a:xfrm>
            <a:off x="5742432" y="3922776"/>
            <a:ext cx="2971800" cy="256032"/>
          </a:xfrm>
          <a:prstGeom prst="rect">
            <a:avLst/>
          </a:prstGeom>
          <a:noFill/>
          <a:ln/>
        </p:spPr>
        <p:txBody>
          <a:bodyPr wrap="square" lIns="0" tIns="0" rIns="0" bIns="0" rtlCol="0" anchor="ctr"/>
          <a:lstStyle/>
          <a:p>
            <a:pPr marL="0" indent="0">
              <a:buNone/>
            </a:pPr>
            <a:r>
              <a:rPr lang="en-US" sz="900" dirty="0">
                <a:solidFill>
                  <a:srgbClr val="475569"/>
                </a:solidFill>
              </a:rPr>
              <a:t>Architecture</a:t>
            </a:r>
            <a:endParaRPr lang="en-US" sz="900" dirty="0"/>
          </a:p>
        </p:txBody>
      </p:sp>
      <p:sp>
        <p:nvSpPr>
          <p:cNvPr id="30" name="Text 28"/>
          <p:cNvSpPr/>
          <p:nvPr/>
        </p:nvSpPr>
        <p:spPr>
          <a:xfrm>
            <a:off x="5742432" y="4178808"/>
            <a:ext cx="2971800" cy="292608"/>
          </a:xfrm>
          <a:prstGeom prst="rect">
            <a:avLst/>
          </a:prstGeom>
          <a:noFill/>
          <a:ln/>
        </p:spPr>
        <p:txBody>
          <a:bodyPr wrap="square" lIns="0" tIns="0" rIns="0" bIns="0" rtlCol="0" anchor="ctr"/>
          <a:lstStyle/>
          <a:p>
            <a:pPr marL="0" indent="0">
              <a:buNone/>
            </a:pPr>
            <a:r>
              <a:rPr lang="en-US" sz="1200" b="1" dirty="0">
                <a:solidFill>
                  <a:srgbClr val="1A1A2E"/>
                </a:solidFill>
              </a:rPr>
              <a:t>Pre-indexes entire image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3 · FORENSIC TOOLKIT (FTK)</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Key Features of FTK</a:t>
            </a:r>
            <a:endParaRPr lang="en-US" sz="2800" dirty="0"/>
          </a:p>
        </p:txBody>
      </p:sp>
      <p:sp>
        <p:nvSpPr>
          <p:cNvPr id="5" name="Shape 3"/>
          <p:cNvSpPr/>
          <p:nvPr/>
        </p:nvSpPr>
        <p:spPr>
          <a:xfrm>
            <a:off x="320040" y="1188720"/>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Shape 4"/>
          <p:cNvSpPr/>
          <p:nvPr/>
        </p:nvSpPr>
        <p:spPr>
          <a:xfrm>
            <a:off x="320040" y="132588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457200" y="141732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8" name="Text 6"/>
          <p:cNvSpPr/>
          <p:nvPr/>
        </p:nvSpPr>
        <p:spPr>
          <a:xfrm>
            <a:off x="457200" y="185623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Multi-File System Support</a:t>
            </a:r>
            <a:endParaRPr lang="en-US" sz="1050" dirty="0"/>
          </a:p>
        </p:txBody>
      </p:sp>
      <p:sp>
        <p:nvSpPr>
          <p:cNvPr id="9" name="Text 7"/>
          <p:cNvSpPr/>
          <p:nvPr/>
        </p:nvSpPr>
        <p:spPr>
          <a:xfrm>
            <a:off x="457200" y="2167128"/>
            <a:ext cx="2423160" cy="621792"/>
          </a:xfrm>
          <a:prstGeom prst="rect">
            <a:avLst/>
          </a:prstGeom>
          <a:noFill/>
          <a:ln/>
        </p:spPr>
        <p:txBody>
          <a:bodyPr wrap="square" lIns="0" tIns="0" rIns="0" bIns="0" rtlCol="0" anchor="ctr"/>
          <a:lstStyle/>
          <a:p>
            <a:pPr marL="0" indent="0">
              <a:buNone/>
            </a:pPr>
            <a:r>
              <a:rPr lang="en-US" sz="850" dirty="0">
                <a:solidFill>
                  <a:srgbClr val="1A1A2E"/>
                </a:solidFill>
              </a:rPr>
              <a:t>Analyses FAT12/16/32, NTFS, exFAT, HFS+, Ext2/3/4 and more — enabling investigation across Windows, macOS, and Linux systems.</a:t>
            </a:r>
            <a:endParaRPr lang="en-US" sz="850" dirty="0"/>
          </a:p>
        </p:txBody>
      </p:sp>
      <p:sp>
        <p:nvSpPr>
          <p:cNvPr id="10" name="Shape 8"/>
          <p:cNvSpPr/>
          <p:nvPr/>
        </p:nvSpPr>
        <p:spPr>
          <a:xfrm>
            <a:off x="3246120" y="132588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1" name="Text 9"/>
          <p:cNvSpPr/>
          <p:nvPr/>
        </p:nvSpPr>
        <p:spPr>
          <a:xfrm>
            <a:off x="3383280" y="141732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2" name="Text 10"/>
          <p:cNvSpPr/>
          <p:nvPr/>
        </p:nvSpPr>
        <p:spPr>
          <a:xfrm>
            <a:off x="3383280" y="185623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Disk Image Compatibility</a:t>
            </a:r>
            <a:endParaRPr lang="en-US" sz="1050" dirty="0"/>
          </a:p>
        </p:txBody>
      </p:sp>
      <p:sp>
        <p:nvSpPr>
          <p:cNvPr id="13" name="Text 11"/>
          <p:cNvSpPr/>
          <p:nvPr/>
        </p:nvSpPr>
        <p:spPr>
          <a:xfrm>
            <a:off x="3383280" y="2167128"/>
            <a:ext cx="2423160" cy="621792"/>
          </a:xfrm>
          <a:prstGeom prst="rect">
            <a:avLst/>
          </a:prstGeom>
          <a:noFill/>
          <a:ln/>
        </p:spPr>
        <p:txBody>
          <a:bodyPr wrap="square" lIns="0" tIns="0" rIns="0" bIns="0" rtlCol="0" anchor="ctr"/>
          <a:lstStyle/>
          <a:p>
            <a:pPr marL="0" indent="0">
              <a:buNone/>
            </a:pPr>
            <a:r>
              <a:rPr lang="en-US" sz="850" dirty="0">
                <a:solidFill>
                  <a:srgbClr val="1A1A2E"/>
                </a:solidFill>
              </a:rPr>
              <a:t>Opens images acquired by FTK Imager, EnCase (E01), raw dd, AFF and other standard forensic formats — no re-acquisition needed.</a:t>
            </a:r>
            <a:endParaRPr lang="en-US" sz="850" dirty="0"/>
          </a:p>
        </p:txBody>
      </p:sp>
      <p:sp>
        <p:nvSpPr>
          <p:cNvPr id="14" name="Shape 12"/>
          <p:cNvSpPr/>
          <p:nvPr/>
        </p:nvSpPr>
        <p:spPr>
          <a:xfrm>
            <a:off x="6172200" y="132588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5" name="Text 13"/>
          <p:cNvSpPr/>
          <p:nvPr/>
        </p:nvSpPr>
        <p:spPr>
          <a:xfrm>
            <a:off x="6309360" y="141732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16" name="Text 14"/>
          <p:cNvSpPr/>
          <p:nvPr/>
        </p:nvSpPr>
        <p:spPr>
          <a:xfrm>
            <a:off x="6309360" y="185623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Wide File Type Support</a:t>
            </a:r>
            <a:endParaRPr lang="en-US" sz="1050" dirty="0"/>
          </a:p>
        </p:txBody>
      </p:sp>
      <p:sp>
        <p:nvSpPr>
          <p:cNvPr id="17" name="Text 15"/>
          <p:cNvSpPr/>
          <p:nvPr/>
        </p:nvSpPr>
        <p:spPr>
          <a:xfrm>
            <a:off x="6309360" y="2167128"/>
            <a:ext cx="2423160" cy="621792"/>
          </a:xfrm>
          <a:prstGeom prst="rect">
            <a:avLst/>
          </a:prstGeom>
          <a:noFill/>
          <a:ln/>
        </p:spPr>
        <p:txBody>
          <a:bodyPr wrap="square" lIns="0" tIns="0" rIns="0" bIns="0" rtlCol="0" anchor="ctr"/>
          <a:lstStyle/>
          <a:p>
            <a:pPr marL="0" indent="0">
              <a:buNone/>
            </a:pPr>
            <a:r>
              <a:rPr lang="en-US" sz="850" dirty="0">
                <a:solidFill>
                  <a:srgbClr val="1A1A2E"/>
                </a:solidFill>
              </a:rPr>
              <a:t>Recognises and renders hundreds of file types: documents, archives, emails (PST/OST), databases, graphics, and executables.</a:t>
            </a:r>
            <a:endParaRPr lang="en-US" sz="850" dirty="0"/>
          </a:p>
        </p:txBody>
      </p:sp>
      <p:sp>
        <p:nvSpPr>
          <p:cNvPr id="18" name="Shape 16"/>
          <p:cNvSpPr/>
          <p:nvPr/>
        </p:nvSpPr>
        <p:spPr>
          <a:xfrm>
            <a:off x="320040" y="301752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Text 17"/>
          <p:cNvSpPr/>
          <p:nvPr/>
        </p:nvSpPr>
        <p:spPr>
          <a:xfrm>
            <a:off x="457200" y="310896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0" name="Text 18"/>
          <p:cNvSpPr/>
          <p:nvPr/>
        </p:nvSpPr>
        <p:spPr>
          <a:xfrm>
            <a:off x="457200" y="354787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Keyword Search</a:t>
            </a:r>
            <a:endParaRPr lang="en-US" sz="1050" dirty="0"/>
          </a:p>
        </p:txBody>
      </p:sp>
      <p:sp>
        <p:nvSpPr>
          <p:cNvPr id="21" name="Text 19"/>
          <p:cNvSpPr/>
          <p:nvPr/>
        </p:nvSpPr>
        <p:spPr>
          <a:xfrm>
            <a:off x="457200" y="3858768"/>
            <a:ext cx="2423160" cy="621792"/>
          </a:xfrm>
          <a:prstGeom prst="rect">
            <a:avLst/>
          </a:prstGeom>
          <a:noFill/>
          <a:ln/>
        </p:spPr>
        <p:txBody>
          <a:bodyPr wrap="square" lIns="0" tIns="0" rIns="0" bIns="0" rtlCol="0" anchor="ctr"/>
          <a:lstStyle/>
          <a:p>
            <a:pPr marL="0" indent="0">
              <a:buNone/>
            </a:pPr>
            <a:r>
              <a:rPr lang="en-US" sz="850" dirty="0">
                <a:solidFill>
                  <a:srgbClr val="1A1A2E"/>
                </a:solidFill>
              </a:rPr>
              <a:t>Full-text indexed search across the entire evidence set. Supports Unicode, RegEx, and fuzzy searching to find relevant content quickly.</a:t>
            </a:r>
            <a:endParaRPr lang="en-US" sz="850" dirty="0"/>
          </a:p>
        </p:txBody>
      </p:sp>
      <p:sp>
        <p:nvSpPr>
          <p:cNvPr id="22" name="Shape 20"/>
          <p:cNvSpPr/>
          <p:nvPr/>
        </p:nvSpPr>
        <p:spPr>
          <a:xfrm>
            <a:off x="3246120" y="301752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3" name="Text 21"/>
          <p:cNvSpPr/>
          <p:nvPr/>
        </p:nvSpPr>
        <p:spPr>
          <a:xfrm>
            <a:off x="3383280" y="310896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4" name="Text 22"/>
          <p:cNvSpPr/>
          <p:nvPr/>
        </p:nvSpPr>
        <p:spPr>
          <a:xfrm>
            <a:off x="3383280" y="354787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Bookmarking</a:t>
            </a:r>
            <a:endParaRPr lang="en-US" sz="1050" dirty="0"/>
          </a:p>
        </p:txBody>
      </p:sp>
      <p:sp>
        <p:nvSpPr>
          <p:cNvPr id="25" name="Text 23"/>
          <p:cNvSpPr/>
          <p:nvPr/>
        </p:nvSpPr>
        <p:spPr>
          <a:xfrm>
            <a:off x="3383280" y="3858768"/>
            <a:ext cx="2423160" cy="621792"/>
          </a:xfrm>
          <a:prstGeom prst="rect">
            <a:avLst/>
          </a:prstGeom>
          <a:noFill/>
          <a:ln/>
        </p:spPr>
        <p:txBody>
          <a:bodyPr wrap="square" lIns="0" tIns="0" rIns="0" bIns="0" rtlCol="0" anchor="ctr"/>
          <a:lstStyle/>
          <a:p>
            <a:pPr marL="0" indent="0">
              <a:buNone/>
            </a:pPr>
            <a:r>
              <a:rPr lang="en-US" sz="850" dirty="0">
                <a:solidFill>
                  <a:srgbClr val="1A1A2E"/>
                </a:solidFill>
              </a:rPr>
              <a:t>Analysts can bookmark and tag key evidence items, annotate findings, and group related artefacts for efficient case management.</a:t>
            </a:r>
            <a:endParaRPr lang="en-US" sz="850" dirty="0"/>
          </a:p>
        </p:txBody>
      </p:sp>
      <p:sp>
        <p:nvSpPr>
          <p:cNvPr id="26" name="Shape 24"/>
          <p:cNvSpPr/>
          <p:nvPr/>
        </p:nvSpPr>
        <p:spPr>
          <a:xfrm>
            <a:off x="6172200" y="3017520"/>
            <a:ext cx="2724912" cy="15544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7" name="Text 25"/>
          <p:cNvSpPr/>
          <p:nvPr/>
        </p:nvSpPr>
        <p:spPr>
          <a:xfrm>
            <a:off x="6309360" y="3108960"/>
            <a:ext cx="411480" cy="411480"/>
          </a:xfrm>
          <a:prstGeom prst="rect">
            <a:avLst/>
          </a:prstGeom>
          <a:noFill/>
          <a:ln/>
        </p:spPr>
        <p:txBody>
          <a:bodyPr wrap="square" lIns="0" tIns="0" rIns="0" bIns="0" rtlCol="0" anchor="ctr"/>
          <a:lstStyle/>
          <a:p>
            <a:pPr marL="0" indent="0">
              <a:buNone/>
            </a:pPr>
            <a:r>
              <a:rPr lang="en-US" sz="1800" dirty="0">
                <a:solidFill>
                  <a:srgbClr val="000000"/>
                </a:solidFill>
              </a:rPr>
              <a:t>📊</a:t>
            </a:r>
            <a:endParaRPr lang="en-US" sz="1800" dirty="0"/>
          </a:p>
        </p:txBody>
      </p:sp>
      <p:sp>
        <p:nvSpPr>
          <p:cNvPr id="28" name="Text 26"/>
          <p:cNvSpPr/>
          <p:nvPr/>
        </p:nvSpPr>
        <p:spPr>
          <a:xfrm>
            <a:off x="6309360" y="3547872"/>
            <a:ext cx="2423160" cy="292608"/>
          </a:xfrm>
          <a:prstGeom prst="rect">
            <a:avLst/>
          </a:prstGeom>
          <a:noFill/>
          <a:ln/>
        </p:spPr>
        <p:txBody>
          <a:bodyPr wrap="square" lIns="0" tIns="0" rIns="0" bIns="0" rtlCol="0" anchor="ctr"/>
          <a:lstStyle/>
          <a:p>
            <a:pPr marL="0" indent="0">
              <a:buNone/>
            </a:pPr>
            <a:r>
              <a:rPr lang="en-US" sz="1050" b="1" dirty="0">
                <a:solidFill>
                  <a:srgbClr val="2EC4B6"/>
                </a:solidFill>
              </a:rPr>
              <a:t>Automated Reporting</a:t>
            </a:r>
            <a:endParaRPr lang="en-US" sz="1050" dirty="0"/>
          </a:p>
        </p:txBody>
      </p:sp>
      <p:sp>
        <p:nvSpPr>
          <p:cNvPr id="29" name="Text 27"/>
          <p:cNvSpPr/>
          <p:nvPr/>
        </p:nvSpPr>
        <p:spPr>
          <a:xfrm>
            <a:off x="6309360" y="3858768"/>
            <a:ext cx="2423160" cy="621792"/>
          </a:xfrm>
          <a:prstGeom prst="rect">
            <a:avLst/>
          </a:prstGeom>
          <a:noFill/>
          <a:ln/>
        </p:spPr>
        <p:txBody>
          <a:bodyPr wrap="square" lIns="0" tIns="0" rIns="0" bIns="0" rtlCol="0" anchor="ctr"/>
          <a:lstStyle/>
          <a:p>
            <a:pPr marL="0" indent="0">
              <a:buNone/>
            </a:pPr>
            <a:r>
              <a:rPr lang="en-US" sz="850" dirty="0">
                <a:solidFill>
                  <a:srgbClr val="1A1A2E"/>
                </a:solidFill>
              </a:rPr>
              <a:t>Generates court-ready HTML and PDF reports with thumbnails, file metadata, hash values, and analyst annotations automatically.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90E0EF"/>
          </a:solidFill>
          <a:ln w="12700">
            <a:solidFill>
              <a:srgbClr val="90E0EF"/>
            </a:solidFill>
            <a:prstDash val="solid"/>
          </a:ln>
        </p:spPr>
        <p:txBody>
          <a:bodyPr/>
          <a:lstStyle/>
          <a:p>
            <a:endParaRPr lang="en-SG"/>
          </a:p>
        </p:txBody>
      </p:sp>
      <p:sp>
        <p:nvSpPr>
          <p:cNvPr id="3" name="Text 1"/>
          <p:cNvSpPr/>
          <p:nvPr/>
        </p:nvSpPr>
        <p:spPr>
          <a:xfrm>
            <a:off x="457200" y="1280160"/>
            <a:ext cx="8229600" cy="457200"/>
          </a:xfrm>
          <a:prstGeom prst="rect">
            <a:avLst/>
          </a:prstGeom>
          <a:noFill/>
          <a:ln/>
        </p:spPr>
        <p:txBody>
          <a:bodyPr wrap="square" lIns="0" tIns="0" rIns="0" bIns="0" rtlCol="0" anchor="ctr"/>
          <a:lstStyle/>
          <a:p>
            <a:pPr marL="0" indent="0" algn="ctr">
              <a:buNone/>
            </a:pPr>
            <a:r>
              <a:rPr lang="en-US" sz="1400" b="1" kern="0" spc="800" dirty="0">
                <a:solidFill>
                  <a:srgbClr val="1A1A2E"/>
                </a:solidFill>
              </a:rPr>
              <a:t>SECTION 4</a:t>
            </a:r>
            <a:endParaRPr lang="en-US" sz="1400" dirty="0"/>
          </a:p>
        </p:txBody>
      </p:sp>
      <p:sp>
        <p:nvSpPr>
          <p:cNvPr id="4" name="Text 2"/>
          <p:cNvSpPr/>
          <p:nvPr/>
        </p:nvSpPr>
        <p:spPr>
          <a:xfrm>
            <a:off x="530352" y="2366467"/>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Hex-Level</a:t>
            </a:r>
            <a:endParaRPr lang="en-US" sz="4400" dirty="0"/>
          </a:p>
          <a:p>
            <a:pPr marL="0" indent="0" algn="ctr">
              <a:buNone/>
            </a:pPr>
            <a:r>
              <a:rPr lang="en-US" sz="4400" b="1" dirty="0">
                <a:solidFill>
                  <a:srgbClr val="1A1A2E"/>
                </a:solidFill>
              </a:rPr>
              <a:t>Analysis</a:t>
            </a:r>
            <a:endParaRPr lang="en-US" sz="4400" dirty="0"/>
          </a:p>
        </p:txBody>
      </p:sp>
      <p:sp>
        <p:nvSpPr>
          <p:cNvPr id="5" name="Text 3"/>
          <p:cNvSpPr/>
          <p:nvPr/>
        </p:nvSpPr>
        <p:spPr>
          <a:xfrm>
            <a:off x="457200" y="4034332"/>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Examining files and storage at the raw hexadecimal level to uncover hidden truths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4 · HEX-LEVEL ANALYSIS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Why Examine Files at the Hexadecimal Level?</a:t>
            </a:r>
            <a:endParaRPr lang="en-US" sz="2800" dirty="0"/>
          </a:p>
        </p:txBody>
      </p:sp>
      <p:sp>
        <p:nvSpPr>
          <p:cNvPr id="5" name="Shape 3"/>
          <p:cNvSpPr/>
          <p:nvPr/>
        </p:nvSpPr>
        <p:spPr>
          <a:xfrm>
            <a:off x="320040" y="1188720"/>
            <a:ext cx="8503920" cy="36576"/>
          </a:xfrm>
          <a:prstGeom prst="rect">
            <a:avLst/>
          </a:prstGeom>
          <a:solidFill>
            <a:srgbClr val="90E0EF"/>
          </a:solidFill>
          <a:ln w="12700">
            <a:solidFill>
              <a:srgbClr val="90E0EF"/>
            </a:solidFill>
            <a:prstDash val="solid"/>
          </a:ln>
        </p:spPr>
        <p:txBody>
          <a:bodyPr/>
          <a:lstStyle/>
          <a:p>
            <a:endParaRPr lang="en-SG"/>
          </a:p>
        </p:txBody>
      </p:sp>
      <p:sp>
        <p:nvSpPr>
          <p:cNvPr id="6" name="Shape 4"/>
          <p:cNvSpPr/>
          <p:nvPr/>
        </p:nvSpPr>
        <p:spPr>
          <a:xfrm>
            <a:off x="320040" y="1298448"/>
            <a:ext cx="5074920" cy="75895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502920" y="1362456"/>
            <a:ext cx="4709160" cy="274320"/>
          </a:xfrm>
          <a:prstGeom prst="rect">
            <a:avLst/>
          </a:prstGeom>
          <a:noFill/>
          <a:ln/>
        </p:spPr>
        <p:txBody>
          <a:bodyPr wrap="square" lIns="0" tIns="0" rIns="0" bIns="0" rtlCol="0" anchor="ctr"/>
          <a:lstStyle/>
          <a:p>
            <a:pPr marL="0" indent="0">
              <a:buNone/>
            </a:pPr>
            <a:r>
              <a:rPr lang="en-US" sz="1100" b="1" dirty="0">
                <a:solidFill>
                  <a:srgbClr val="1A1A2E"/>
                </a:solidFill>
              </a:rPr>
              <a:t>🔬  Verify File Integrity</a:t>
            </a:r>
            <a:endParaRPr lang="en-US" sz="1100" dirty="0"/>
          </a:p>
        </p:txBody>
      </p:sp>
      <p:sp>
        <p:nvSpPr>
          <p:cNvPr id="8" name="Text 6"/>
          <p:cNvSpPr/>
          <p:nvPr/>
        </p:nvSpPr>
        <p:spPr>
          <a:xfrm>
            <a:off x="502920" y="1682496"/>
            <a:ext cx="4709160" cy="329184"/>
          </a:xfrm>
          <a:prstGeom prst="rect">
            <a:avLst/>
          </a:prstGeom>
          <a:noFill/>
          <a:ln/>
        </p:spPr>
        <p:txBody>
          <a:bodyPr wrap="square" lIns="0" tIns="0" rIns="0" bIns="0" rtlCol="0" anchor="ctr"/>
          <a:lstStyle/>
          <a:p>
            <a:pPr marL="0" indent="0">
              <a:buNone/>
            </a:pPr>
            <a:r>
              <a:rPr lang="en-US" sz="900" dirty="0">
                <a:solidFill>
                  <a:srgbClr val="1A1A2E"/>
                </a:solidFill>
              </a:rPr>
              <a:t>Hash values confirm a file has not been altered, but hex inspection reveals what exactly changed — critical for evidence admissibility.</a:t>
            </a:r>
            <a:endParaRPr lang="en-US" sz="900" dirty="0"/>
          </a:p>
        </p:txBody>
      </p:sp>
      <p:sp>
        <p:nvSpPr>
          <p:cNvPr id="9" name="Shape 7"/>
          <p:cNvSpPr/>
          <p:nvPr/>
        </p:nvSpPr>
        <p:spPr>
          <a:xfrm>
            <a:off x="320040" y="2176272"/>
            <a:ext cx="5074920" cy="75895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0" name="Text 8"/>
          <p:cNvSpPr/>
          <p:nvPr/>
        </p:nvSpPr>
        <p:spPr>
          <a:xfrm>
            <a:off x="502920" y="2240280"/>
            <a:ext cx="4709160" cy="274320"/>
          </a:xfrm>
          <a:prstGeom prst="rect">
            <a:avLst/>
          </a:prstGeom>
          <a:noFill/>
          <a:ln/>
        </p:spPr>
        <p:txBody>
          <a:bodyPr wrap="square" lIns="0" tIns="0" rIns="0" bIns="0" rtlCol="0" anchor="ctr"/>
          <a:lstStyle/>
          <a:p>
            <a:pPr marL="0" indent="0">
              <a:buNone/>
            </a:pPr>
            <a:r>
              <a:rPr lang="en-US" sz="1100" b="1" dirty="0">
                <a:solidFill>
                  <a:srgbClr val="1A1A2E"/>
                </a:solidFill>
              </a:rPr>
              <a:t>🎭  Detect Mismatched File Signatures</a:t>
            </a:r>
            <a:endParaRPr lang="en-US" sz="1100" dirty="0"/>
          </a:p>
        </p:txBody>
      </p:sp>
      <p:sp>
        <p:nvSpPr>
          <p:cNvPr id="11" name="Text 9"/>
          <p:cNvSpPr/>
          <p:nvPr/>
        </p:nvSpPr>
        <p:spPr>
          <a:xfrm>
            <a:off x="502920" y="2560320"/>
            <a:ext cx="4709160" cy="329184"/>
          </a:xfrm>
          <a:prstGeom prst="rect">
            <a:avLst/>
          </a:prstGeom>
          <a:noFill/>
          <a:ln/>
        </p:spPr>
        <p:txBody>
          <a:bodyPr wrap="square" lIns="0" tIns="0" rIns="0" bIns="0" rtlCol="0" anchor="ctr"/>
          <a:lstStyle/>
          <a:p>
            <a:pPr marL="0" indent="0">
              <a:buNone/>
            </a:pPr>
            <a:r>
              <a:rPr lang="en-US" sz="900" dirty="0">
                <a:solidFill>
                  <a:srgbClr val="1A1A2E"/>
                </a:solidFill>
              </a:rPr>
              <a:t>File extensions can be renamed to disguise content. Hex analysis reveals the true file type via its magic bytes (file header signature).</a:t>
            </a:r>
            <a:endParaRPr lang="en-US" sz="900" dirty="0"/>
          </a:p>
        </p:txBody>
      </p:sp>
      <p:sp>
        <p:nvSpPr>
          <p:cNvPr id="12" name="Shape 10"/>
          <p:cNvSpPr/>
          <p:nvPr/>
        </p:nvSpPr>
        <p:spPr>
          <a:xfrm>
            <a:off x="320040" y="3054096"/>
            <a:ext cx="5074920" cy="75895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3" name="Text 11"/>
          <p:cNvSpPr/>
          <p:nvPr/>
        </p:nvSpPr>
        <p:spPr>
          <a:xfrm>
            <a:off x="502920" y="3118104"/>
            <a:ext cx="4709160" cy="274320"/>
          </a:xfrm>
          <a:prstGeom prst="rect">
            <a:avLst/>
          </a:prstGeom>
          <a:noFill/>
          <a:ln/>
        </p:spPr>
        <p:txBody>
          <a:bodyPr wrap="square" lIns="0" tIns="0" rIns="0" bIns="0" rtlCol="0" anchor="ctr"/>
          <a:lstStyle/>
          <a:p>
            <a:pPr marL="0" indent="0">
              <a:buNone/>
            </a:pPr>
            <a:r>
              <a:rPr lang="en-US" sz="1100" b="1" dirty="0">
                <a:solidFill>
                  <a:srgbClr val="1A1A2E"/>
                </a:solidFill>
              </a:rPr>
              <a:t>🗑️  Recover Deleted Data</a:t>
            </a:r>
            <a:endParaRPr lang="en-US" sz="1100" dirty="0"/>
          </a:p>
        </p:txBody>
      </p:sp>
      <p:sp>
        <p:nvSpPr>
          <p:cNvPr id="14" name="Text 12"/>
          <p:cNvSpPr/>
          <p:nvPr/>
        </p:nvSpPr>
        <p:spPr>
          <a:xfrm>
            <a:off x="502920" y="3438144"/>
            <a:ext cx="4709160" cy="329184"/>
          </a:xfrm>
          <a:prstGeom prst="rect">
            <a:avLst/>
          </a:prstGeom>
          <a:noFill/>
          <a:ln/>
        </p:spPr>
        <p:txBody>
          <a:bodyPr wrap="square" lIns="0" tIns="0" rIns="0" bIns="0" rtlCol="0" anchor="ctr"/>
          <a:lstStyle/>
          <a:p>
            <a:pPr marL="0" indent="0">
              <a:buNone/>
            </a:pPr>
            <a:r>
              <a:rPr lang="en-US" sz="900" dirty="0">
                <a:solidFill>
                  <a:srgbClr val="1A1A2E"/>
                </a:solidFill>
              </a:rPr>
              <a:t>Deleted files leave raw bytes on disk. Hex editors allow analysts to locate and manually reconstruct file fragments from unallocated space.</a:t>
            </a:r>
            <a:endParaRPr lang="en-US" sz="900" dirty="0"/>
          </a:p>
        </p:txBody>
      </p:sp>
      <p:sp>
        <p:nvSpPr>
          <p:cNvPr id="15" name="Shape 13"/>
          <p:cNvSpPr/>
          <p:nvPr/>
        </p:nvSpPr>
        <p:spPr>
          <a:xfrm>
            <a:off x="320040" y="3931920"/>
            <a:ext cx="5074920" cy="75895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6" name="Text 14"/>
          <p:cNvSpPr/>
          <p:nvPr/>
        </p:nvSpPr>
        <p:spPr>
          <a:xfrm>
            <a:off x="502920" y="3995928"/>
            <a:ext cx="4709160" cy="274320"/>
          </a:xfrm>
          <a:prstGeom prst="rect">
            <a:avLst/>
          </a:prstGeom>
          <a:noFill/>
          <a:ln/>
        </p:spPr>
        <p:txBody>
          <a:bodyPr wrap="square" lIns="0" tIns="0" rIns="0" bIns="0" rtlCol="0" anchor="ctr"/>
          <a:lstStyle/>
          <a:p>
            <a:pPr marL="0" indent="0">
              <a:buNone/>
            </a:pPr>
            <a:r>
              <a:rPr lang="en-US" sz="1100" b="1" dirty="0">
                <a:solidFill>
                  <a:srgbClr val="1A1A2E"/>
                </a:solidFill>
              </a:rPr>
              <a:t>🕵️  Expose Hidden Data</a:t>
            </a:r>
            <a:endParaRPr lang="en-US" sz="1100" dirty="0"/>
          </a:p>
        </p:txBody>
      </p:sp>
      <p:sp>
        <p:nvSpPr>
          <p:cNvPr id="17" name="Text 15"/>
          <p:cNvSpPr/>
          <p:nvPr/>
        </p:nvSpPr>
        <p:spPr>
          <a:xfrm>
            <a:off x="502920" y="4315968"/>
            <a:ext cx="4709160" cy="329184"/>
          </a:xfrm>
          <a:prstGeom prst="rect">
            <a:avLst/>
          </a:prstGeom>
          <a:noFill/>
          <a:ln/>
        </p:spPr>
        <p:txBody>
          <a:bodyPr wrap="square" lIns="0" tIns="0" rIns="0" bIns="0" rtlCol="0" anchor="ctr"/>
          <a:lstStyle/>
          <a:p>
            <a:pPr marL="0" indent="0">
              <a:buNone/>
            </a:pPr>
            <a:r>
              <a:rPr lang="en-US" sz="900" dirty="0">
                <a:solidFill>
                  <a:srgbClr val="1A1A2E"/>
                </a:solidFill>
              </a:rPr>
              <a:t>Steganography and data appended beyond a file's logical size are invisible to normal viewers — hex editors reveal it all.</a:t>
            </a:r>
            <a:endParaRPr lang="en-US" sz="900" dirty="0"/>
          </a:p>
        </p:txBody>
      </p:sp>
      <p:sp>
        <p:nvSpPr>
          <p:cNvPr id="18" name="Shape 16"/>
          <p:cNvSpPr/>
          <p:nvPr/>
        </p:nvSpPr>
        <p:spPr>
          <a:xfrm>
            <a:off x="5669280" y="1298448"/>
            <a:ext cx="3154680" cy="338328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Text 17"/>
          <p:cNvSpPr/>
          <p:nvPr/>
        </p:nvSpPr>
        <p:spPr>
          <a:xfrm>
            <a:off x="5806440" y="1408176"/>
            <a:ext cx="2880360" cy="365760"/>
          </a:xfrm>
          <a:prstGeom prst="rect">
            <a:avLst/>
          </a:prstGeom>
          <a:noFill/>
          <a:ln/>
        </p:spPr>
        <p:txBody>
          <a:bodyPr wrap="square" lIns="0" tIns="0" rIns="0" bIns="0" rtlCol="0" anchor="ctr"/>
          <a:lstStyle/>
          <a:p>
            <a:pPr marL="0" indent="0">
              <a:buNone/>
            </a:pPr>
            <a:r>
              <a:rPr lang="en-US" sz="1100" b="1" dirty="0">
                <a:solidFill>
                  <a:srgbClr val="00B4D8"/>
                </a:solidFill>
              </a:rPr>
              <a:t>When is Hex Analysis Necessary?</a:t>
            </a:r>
            <a:endParaRPr lang="en-US" sz="1100" dirty="0"/>
          </a:p>
        </p:txBody>
      </p:sp>
      <p:sp>
        <p:nvSpPr>
          <p:cNvPr id="20" name="Text 18"/>
          <p:cNvSpPr/>
          <p:nvPr/>
        </p:nvSpPr>
        <p:spPr>
          <a:xfrm>
            <a:off x="5806440" y="1828800"/>
            <a:ext cx="2880360" cy="365760"/>
          </a:xfrm>
          <a:prstGeom prst="rect">
            <a:avLst/>
          </a:prstGeom>
          <a:noFill/>
          <a:ln/>
        </p:spPr>
        <p:txBody>
          <a:bodyPr wrap="square" lIns="0" tIns="0" rIns="0" bIns="0" rtlCol="0" anchor="ctr"/>
          <a:lstStyle/>
          <a:p>
            <a:pPr marL="0" indent="0">
              <a:buNone/>
            </a:pPr>
            <a:r>
              <a:rPr lang="en-US" sz="950" dirty="0">
                <a:solidFill>
                  <a:srgbClr val="1A1A2E"/>
                </a:solidFill>
              </a:rPr>
              <a:t>▶  File does not open normally or appears corrupt</a:t>
            </a:r>
            <a:endParaRPr lang="en-US" sz="950" dirty="0"/>
          </a:p>
        </p:txBody>
      </p:sp>
      <p:sp>
        <p:nvSpPr>
          <p:cNvPr id="21" name="Text 19"/>
          <p:cNvSpPr/>
          <p:nvPr/>
        </p:nvSpPr>
        <p:spPr>
          <a:xfrm>
            <a:off x="5806440" y="2249424"/>
            <a:ext cx="2880360" cy="365760"/>
          </a:xfrm>
          <a:prstGeom prst="rect">
            <a:avLst/>
          </a:prstGeom>
          <a:noFill/>
          <a:ln/>
        </p:spPr>
        <p:txBody>
          <a:bodyPr wrap="square" lIns="0" tIns="0" rIns="0" bIns="0" rtlCol="0" anchor="ctr"/>
          <a:lstStyle/>
          <a:p>
            <a:pPr marL="0" indent="0">
              <a:buNone/>
            </a:pPr>
            <a:r>
              <a:rPr lang="en-US" sz="950" dirty="0">
                <a:solidFill>
                  <a:srgbClr val="475569"/>
                </a:solidFill>
              </a:rPr>
              <a:t>▶  Suspected extension mismatch / renamed file type</a:t>
            </a:r>
            <a:endParaRPr lang="en-US" sz="950" dirty="0"/>
          </a:p>
        </p:txBody>
      </p:sp>
      <p:sp>
        <p:nvSpPr>
          <p:cNvPr id="22" name="Text 20"/>
          <p:cNvSpPr/>
          <p:nvPr/>
        </p:nvSpPr>
        <p:spPr>
          <a:xfrm>
            <a:off x="5806440" y="2670048"/>
            <a:ext cx="2880360" cy="365760"/>
          </a:xfrm>
          <a:prstGeom prst="rect">
            <a:avLst/>
          </a:prstGeom>
          <a:noFill/>
          <a:ln/>
        </p:spPr>
        <p:txBody>
          <a:bodyPr wrap="square" lIns="0" tIns="0" rIns="0" bIns="0" rtlCol="0" anchor="ctr"/>
          <a:lstStyle/>
          <a:p>
            <a:pPr marL="0" indent="0">
              <a:buNone/>
            </a:pPr>
            <a:r>
              <a:rPr lang="en-US" sz="950" dirty="0">
                <a:solidFill>
                  <a:srgbClr val="1A1A2E"/>
                </a:solidFill>
              </a:rPr>
              <a:t>▶  Evidence of data appended after EOF marker</a:t>
            </a:r>
            <a:endParaRPr lang="en-US" sz="950" dirty="0"/>
          </a:p>
        </p:txBody>
      </p:sp>
      <p:sp>
        <p:nvSpPr>
          <p:cNvPr id="23" name="Text 21"/>
          <p:cNvSpPr/>
          <p:nvPr/>
        </p:nvSpPr>
        <p:spPr>
          <a:xfrm>
            <a:off x="5806440" y="3090672"/>
            <a:ext cx="2880360" cy="365760"/>
          </a:xfrm>
          <a:prstGeom prst="rect">
            <a:avLst/>
          </a:prstGeom>
          <a:noFill/>
          <a:ln/>
        </p:spPr>
        <p:txBody>
          <a:bodyPr wrap="square" lIns="0" tIns="0" rIns="0" bIns="0" rtlCol="0" anchor="ctr"/>
          <a:lstStyle/>
          <a:p>
            <a:pPr marL="0" indent="0">
              <a:buNone/>
            </a:pPr>
            <a:r>
              <a:rPr lang="en-US" sz="950" dirty="0">
                <a:solidFill>
                  <a:srgbClr val="475569"/>
                </a:solidFill>
              </a:rPr>
              <a:t>▶  Verifying partition table or boot sector integrity</a:t>
            </a:r>
            <a:endParaRPr lang="en-US" sz="950" dirty="0"/>
          </a:p>
        </p:txBody>
      </p:sp>
      <p:sp>
        <p:nvSpPr>
          <p:cNvPr id="24" name="Text 22"/>
          <p:cNvSpPr/>
          <p:nvPr/>
        </p:nvSpPr>
        <p:spPr>
          <a:xfrm>
            <a:off x="5806440" y="3511296"/>
            <a:ext cx="2880360" cy="365760"/>
          </a:xfrm>
          <a:prstGeom prst="rect">
            <a:avLst/>
          </a:prstGeom>
          <a:noFill/>
          <a:ln/>
        </p:spPr>
        <p:txBody>
          <a:bodyPr wrap="square" lIns="0" tIns="0" rIns="0" bIns="0" rtlCol="0" anchor="ctr"/>
          <a:lstStyle/>
          <a:p>
            <a:pPr marL="0" indent="0">
              <a:buNone/>
            </a:pPr>
            <a:r>
              <a:rPr lang="en-US" sz="950" dirty="0">
                <a:solidFill>
                  <a:srgbClr val="1A1A2E"/>
                </a:solidFill>
              </a:rPr>
              <a:t>▶  Manual file carving from unallocated space</a:t>
            </a:r>
            <a:endParaRPr lang="en-US" sz="950" dirty="0"/>
          </a:p>
        </p:txBody>
      </p:sp>
      <p:sp>
        <p:nvSpPr>
          <p:cNvPr id="25" name="Text 23"/>
          <p:cNvSpPr/>
          <p:nvPr/>
        </p:nvSpPr>
        <p:spPr>
          <a:xfrm>
            <a:off x="5806440" y="3931920"/>
            <a:ext cx="2880360" cy="365760"/>
          </a:xfrm>
          <a:prstGeom prst="rect">
            <a:avLst/>
          </a:prstGeom>
          <a:noFill/>
          <a:ln/>
        </p:spPr>
        <p:txBody>
          <a:bodyPr wrap="square" lIns="0" tIns="0" rIns="0" bIns="0" rtlCol="0" anchor="ctr"/>
          <a:lstStyle/>
          <a:p>
            <a:pPr marL="0" indent="0">
              <a:buNone/>
            </a:pPr>
            <a:r>
              <a:rPr lang="en-US" sz="950" dirty="0">
                <a:solidFill>
                  <a:srgbClr val="475569"/>
                </a:solidFill>
              </a:rPr>
              <a:t>▶  Confirming presence of steganographic content</a:t>
            </a:r>
            <a:endParaRPr lang="en-US" sz="950" dirty="0"/>
          </a:p>
        </p:txBody>
      </p:sp>
      <p:sp>
        <p:nvSpPr>
          <p:cNvPr id="26" name="Text 24"/>
          <p:cNvSpPr/>
          <p:nvPr/>
        </p:nvSpPr>
        <p:spPr>
          <a:xfrm>
            <a:off x="5806440" y="4352544"/>
            <a:ext cx="2880360" cy="365760"/>
          </a:xfrm>
          <a:prstGeom prst="rect">
            <a:avLst/>
          </a:prstGeom>
          <a:noFill/>
          <a:ln/>
        </p:spPr>
        <p:txBody>
          <a:bodyPr wrap="square" lIns="0" tIns="0" rIns="0" bIns="0" rtlCol="0" anchor="ctr"/>
          <a:lstStyle/>
          <a:p>
            <a:pPr marL="0" indent="0">
              <a:buNone/>
            </a:pPr>
            <a:r>
              <a:rPr lang="en-US" sz="950" dirty="0">
                <a:solidFill>
                  <a:srgbClr val="1A1A2E"/>
                </a:solidFill>
              </a:rPr>
              <a:t>▶  Validating file system metadata structures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5 · HEX EDITORS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Popular Hex Editors: WinHex &amp; HxD</a:t>
            </a:r>
            <a:endParaRPr lang="en-US" sz="2800" dirty="0"/>
          </a:p>
        </p:txBody>
      </p:sp>
      <p:sp>
        <p:nvSpPr>
          <p:cNvPr id="5" name="Shape 3"/>
          <p:cNvSpPr/>
          <p:nvPr/>
        </p:nvSpPr>
        <p:spPr>
          <a:xfrm>
            <a:off x="320040" y="1188720"/>
            <a:ext cx="8503920" cy="36576"/>
          </a:xfrm>
          <a:prstGeom prst="rect">
            <a:avLst/>
          </a:prstGeom>
          <a:solidFill>
            <a:srgbClr val="90E0EF"/>
          </a:solidFill>
          <a:ln w="12700">
            <a:solidFill>
              <a:srgbClr val="90E0EF"/>
            </a:solidFill>
            <a:prstDash val="solid"/>
          </a:ln>
        </p:spPr>
        <p:txBody>
          <a:bodyPr/>
          <a:lstStyle/>
          <a:p>
            <a:endParaRPr lang="en-SG"/>
          </a:p>
        </p:txBody>
      </p:sp>
      <p:sp>
        <p:nvSpPr>
          <p:cNvPr id="6" name="Shape 4"/>
          <p:cNvSpPr/>
          <p:nvPr/>
        </p:nvSpPr>
        <p:spPr>
          <a:xfrm>
            <a:off x="320040" y="1298448"/>
            <a:ext cx="4114800" cy="33832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4114800" cy="7315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502920" y="1426464"/>
            <a:ext cx="3749040" cy="365760"/>
          </a:xfrm>
          <a:prstGeom prst="rect">
            <a:avLst/>
          </a:prstGeom>
          <a:noFill/>
          <a:ln/>
        </p:spPr>
        <p:txBody>
          <a:bodyPr wrap="square" lIns="0" tIns="0" rIns="0" bIns="0" rtlCol="0" anchor="ctr"/>
          <a:lstStyle/>
          <a:p>
            <a:pPr marL="0" indent="0">
              <a:buNone/>
            </a:pPr>
            <a:r>
              <a:rPr lang="en-US" sz="1600" b="1" dirty="0">
                <a:solidFill>
                  <a:srgbClr val="00B4D8"/>
                </a:solidFill>
              </a:rPr>
              <a:t>WinHex</a:t>
            </a:r>
            <a:endParaRPr lang="en-US" sz="1600" dirty="0"/>
          </a:p>
        </p:txBody>
      </p:sp>
      <p:sp>
        <p:nvSpPr>
          <p:cNvPr id="9" name="Text 7"/>
          <p:cNvSpPr/>
          <p:nvPr/>
        </p:nvSpPr>
        <p:spPr>
          <a:xfrm>
            <a:off x="502920" y="1810512"/>
            <a:ext cx="3749040" cy="256032"/>
          </a:xfrm>
          <a:prstGeom prst="rect">
            <a:avLst/>
          </a:prstGeom>
          <a:noFill/>
          <a:ln/>
        </p:spPr>
        <p:txBody>
          <a:bodyPr wrap="square" lIns="0" tIns="0" rIns="0" bIns="0" rtlCol="0" anchor="ctr"/>
          <a:lstStyle/>
          <a:p>
            <a:pPr marL="0" indent="0">
              <a:buNone/>
            </a:pPr>
            <a:r>
              <a:rPr lang="en-US" sz="900" i="1" dirty="0">
                <a:solidFill>
                  <a:srgbClr val="475569"/>
                </a:solidFill>
              </a:rPr>
              <a:t>by X-Ways Forensics</a:t>
            </a:r>
            <a:endParaRPr lang="en-US" sz="900" dirty="0"/>
          </a:p>
        </p:txBody>
      </p:sp>
      <p:sp>
        <p:nvSpPr>
          <p:cNvPr id="10" name="Text 8"/>
          <p:cNvSpPr/>
          <p:nvPr/>
        </p:nvSpPr>
        <p:spPr>
          <a:xfrm>
            <a:off x="502920" y="2148840"/>
            <a:ext cx="3749040" cy="310896"/>
          </a:xfrm>
          <a:prstGeom prst="rect">
            <a:avLst/>
          </a:prstGeom>
          <a:noFill/>
          <a:ln/>
        </p:spPr>
        <p:txBody>
          <a:bodyPr wrap="square" lIns="0" tIns="0" rIns="0" bIns="0" rtlCol="0" anchor="ctr"/>
          <a:lstStyle/>
          <a:p>
            <a:pPr marL="0" indent="0">
              <a:buNone/>
            </a:pPr>
            <a:r>
              <a:rPr lang="en-US" sz="950" dirty="0">
                <a:solidFill>
                  <a:srgbClr val="1A1A2E"/>
                </a:solidFill>
              </a:rPr>
              <a:t>• Professional-grade hex editor and disk editor</a:t>
            </a:r>
            <a:endParaRPr lang="en-US" sz="950" dirty="0"/>
          </a:p>
        </p:txBody>
      </p:sp>
      <p:sp>
        <p:nvSpPr>
          <p:cNvPr id="11" name="Text 9"/>
          <p:cNvSpPr/>
          <p:nvPr/>
        </p:nvSpPr>
        <p:spPr>
          <a:xfrm>
            <a:off x="502920" y="2496312"/>
            <a:ext cx="3749040" cy="310896"/>
          </a:xfrm>
          <a:prstGeom prst="rect">
            <a:avLst/>
          </a:prstGeom>
          <a:noFill/>
          <a:ln/>
        </p:spPr>
        <p:txBody>
          <a:bodyPr wrap="square" lIns="0" tIns="0" rIns="0" bIns="0" rtlCol="0" anchor="ctr"/>
          <a:lstStyle/>
          <a:p>
            <a:pPr marL="0" indent="0">
              <a:buNone/>
            </a:pPr>
            <a:r>
              <a:rPr lang="en-US" sz="950" dirty="0">
                <a:solidFill>
                  <a:srgbClr val="1A1A2E"/>
                </a:solidFill>
              </a:rPr>
              <a:t>• Supports raw disk/partition editing and forensic imaging</a:t>
            </a:r>
            <a:endParaRPr lang="en-US" sz="950" dirty="0"/>
          </a:p>
        </p:txBody>
      </p:sp>
      <p:sp>
        <p:nvSpPr>
          <p:cNvPr id="12" name="Text 10"/>
          <p:cNvSpPr/>
          <p:nvPr/>
        </p:nvSpPr>
        <p:spPr>
          <a:xfrm>
            <a:off x="502920" y="2843784"/>
            <a:ext cx="3749040" cy="310896"/>
          </a:xfrm>
          <a:prstGeom prst="rect">
            <a:avLst/>
          </a:prstGeom>
          <a:noFill/>
          <a:ln/>
        </p:spPr>
        <p:txBody>
          <a:bodyPr wrap="square" lIns="0" tIns="0" rIns="0" bIns="0" rtlCol="0" anchor="ctr"/>
          <a:lstStyle/>
          <a:p>
            <a:pPr marL="0" indent="0">
              <a:buNone/>
            </a:pPr>
            <a:r>
              <a:rPr lang="en-US" sz="950" dirty="0">
                <a:solidFill>
                  <a:srgbClr val="1A1A2E"/>
                </a:solidFill>
              </a:rPr>
              <a:t>• Carves files from unallocated space automatically</a:t>
            </a:r>
            <a:endParaRPr lang="en-US" sz="950" dirty="0"/>
          </a:p>
        </p:txBody>
      </p:sp>
      <p:sp>
        <p:nvSpPr>
          <p:cNvPr id="13" name="Text 11"/>
          <p:cNvSpPr/>
          <p:nvPr/>
        </p:nvSpPr>
        <p:spPr>
          <a:xfrm>
            <a:off x="502920" y="3191256"/>
            <a:ext cx="3749040" cy="310896"/>
          </a:xfrm>
          <a:prstGeom prst="rect">
            <a:avLst/>
          </a:prstGeom>
          <a:noFill/>
          <a:ln/>
        </p:spPr>
        <p:txBody>
          <a:bodyPr wrap="square" lIns="0" tIns="0" rIns="0" bIns="0" rtlCol="0" anchor="ctr"/>
          <a:lstStyle/>
          <a:p>
            <a:pPr marL="0" indent="0">
              <a:buNone/>
            </a:pPr>
            <a:r>
              <a:rPr lang="en-US" sz="950" dirty="0">
                <a:solidFill>
                  <a:srgbClr val="1A1A2E"/>
                </a:solidFill>
              </a:rPr>
              <a:t>• Template-based structure analysis (e.g. FAT, NTFS)</a:t>
            </a:r>
            <a:endParaRPr lang="en-US" sz="950" dirty="0"/>
          </a:p>
        </p:txBody>
      </p:sp>
      <p:sp>
        <p:nvSpPr>
          <p:cNvPr id="14" name="Text 12"/>
          <p:cNvSpPr/>
          <p:nvPr/>
        </p:nvSpPr>
        <p:spPr>
          <a:xfrm>
            <a:off x="502920" y="3538728"/>
            <a:ext cx="3749040" cy="310896"/>
          </a:xfrm>
          <a:prstGeom prst="rect">
            <a:avLst/>
          </a:prstGeom>
          <a:noFill/>
          <a:ln/>
        </p:spPr>
        <p:txBody>
          <a:bodyPr wrap="square" lIns="0" tIns="0" rIns="0" bIns="0" rtlCol="0" anchor="ctr"/>
          <a:lstStyle/>
          <a:p>
            <a:pPr marL="0" indent="0">
              <a:buNone/>
            </a:pPr>
            <a:r>
              <a:rPr lang="en-US" sz="950" dirty="0">
                <a:solidFill>
                  <a:srgbClr val="1A1A2E"/>
                </a:solidFill>
              </a:rPr>
              <a:t>• Encryption support and RAM editor included</a:t>
            </a:r>
            <a:endParaRPr lang="en-US" sz="950" dirty="0"/>
          </a:p>
        </p:txBody>
      </p:sp>
      <p:sp>
        <p:nvSpPr>
          <p:cNvPr id="15" name="Text 13"/>
          <p:cNvSpPr/>
          <p:nvPr/>
        </p:nvSpPr>
        <p:spPr>
          <a:xfrm>
            <a:off x="502920" y="3886200"/>
            <a:ext cx="3749040" cy="310896"/>
          </a:xfrm>
          <a:prstGeom prst="rect">
            <a:avLst/>
          </a:prstGeom>
          <a:noFill/>
          <a:ln/>
        </p:spPr>
        <p:txBody>
          <a:bodyPr wrap="square" lIns="0" tIns="0" rIns="0" bIns="0" rtlCol="0" anchor="ctr"/>
          <a:lstStyle/>
          <a:p>
            <a:pPr marL="0" indent="0">
              <a:buNone/>
            </a:pPr>
            <a:r>
              <a:rPr lang="en-US" sz="950" dirty="0">
                <a:solidFill>
                  <a:srgbClr val="1A1A2E"/>
                </a:solidFill>
              </a:rPr>
              <a:t>• Widely used in law enforcement and legal proceedings</a:t>
            </a:r>
            <a:endParaRPr lang="en-US" sz="950" dirty="0"/>
          </a:p>
        </p:txBody>
      </p:sp>
      <p:sp>
        <p:nvSpPr>
          <p:cNvPr id="16" name="Shape 14"/>
          <p:cNvSpPr/>
          <p:nvPr/>
        </p:nvSpPr>
        <p:spPr>
          <a:xfrm>
            <a:off x="4709160" y="1298448"/>
            <a:ext cx="4114800" cy="33832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7" name="Shape 15"/>
          <p:cNvSpPr/>
          <p:nvPr/>
        </p:nvSpPr>
        <p:spPr>
          <a:xfrm>
            <a:off x="4709160" y="1298448"/>
            <a:ext cx="4114800" cy="73152"/>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4892040" y="1426464"/>
            <a:ext cx="3749040" cy="365760"/>
          </a:xfrm>
          <a:prstGeom prst="rect">
            <a:avLst/>
          </a:prstGeom>
          <a:noFill/>
          <a:ln/>
        </p:spPr>
        <p:txBody>
          <a:bodyPr wrap="square" lIns="0" tIns="0" rIns="0" bIns="0" rtlCol="0" anchor="ctr"/>
          <a:lstStyle/>
          <a:p>
            <a:pPr marL="0" indent="0">
              <a:buNone/>
            </a:pPr>
            <a:r>
              <a:rPr lang="en-US" sz="1600" b="1" dirty="0">
                <a:solidFill>
                  <a:srgbClr val="F4A261"/>
                </a:solidFill>
              </a:rPr>
              <a:t>HxD</a:t>
            </a:r>
            <a:endParaRPr lang="en-US" sz="1600" dirty="0"/>
          </a:p>
        </p:txBody>
      </p:sp>
      <p:sp>
        <p:nvSpPr>
          <p:cNvPr id="19" name="Text 17"/>
          <p:cNvSpPr/>
          <p:nvPr/>
        </p:nvSpPr>
        <p:spPr>
          <a:xfrm>
            <a:off x="4892040" y="1810512"/>
            <a:ext cx="3749040" cy="256032"/>
          </a:xfrm>
          <a:prstGeom prst="rect">
            <a:avLst/>
          </a:prstGeom>
          <a:noFill/>
          <a:ln/>
        </p:spPr>
        <p:txBody>
          <a:bodyPr wrap="square" lIns="0" tIns="0" rIns="0" bIns="0" rtlCol="0" anchor="ctr"/>
          <a:lstStyle/>
          <a:p>
            <a:pPr marL="0" indent="0">
              <a:buNone/>
            </a:pPr>
            <a:r>
              <a:rPr lang="en-US" sz="900" i="1" dirty="0">
                <a:solidFill>
                  <a:srgbClr val="475569"/>
                </a:solidFill>
              </a:rPr>
              <a:t>by Maël Hörz  ·  Free, open-source</a:t>
            </a:r>
            <a:endParaRPr lang="en-US" sz="900" dirty="0"/>
          </a:p>
        </p:txBody>
      </p:sp>
      <p:sp>
        <p:nvSpPr>
          <p:cNvPr id="20" name="Text 18"/>
          <p:cNvSpPr/>
          <p:nvPr/>
        </p:nvSpPr>
        <p:spPr>
          <a:xfrm>
            <a:off x="4892040" y="2148840"/>
            <a:ext cx="3749040" cy="310896"/>
          </a:xfrm>
          <a:prstGeom prst="rect">
            <a:avLst/>
          </a:prstGeom>
          <a:noFill/>
          <a:ln/>
        </p:spPr>
        <p:txBody>
          <a:bodyPr wrap="square" lIns="0" tIns="0" rIns="0" bIns="0" rtlCol="0" anchor="ctr"/>
          <a:lstStyle/>
          <a:p>
            <a:pPr marL="0" indent="0">
              <a:buNone/>
            </a:pPr>
            <a:r>
              <a:rPr lang="en-US" sz="950" dirty="0">
                <a:solidFill>
                  <a:srgbClr val="1A1A2E"/>
                </a:solidFill>
              </a:rPr>
              <a:t>• Fast, lightweight hex editor for Windows</a:t>
            </a:r>
            <a:endParaRPr lang="en-US" sz="950" dirty="0"/>
          </a:p>
        </p:txBody>
      </p:sp>
      <p:sp>
        <p:nvSpPr>
          <p:cNvPr id="21" name="Text 19"/>
          <p:cNvSpPr/>
          <p:nvPr/>
        </p:nvSpPr>
        <p:spPr>
          <a:xfrm>
            <a:off x="4892040" y="2496312"/>
            <a:ext cx="3749040" cy="310896"/>
          </a:xfrm>
          <a:prstGeom prst="rect">
            <a:avLst/>
          </a:prstGeom>
          <a:noFill/>
          <a:ln/>
        </p:spPr>
        <p:txBody>
          <a:bodyPr wrap="square" lIns="0" tIns="0" rIns="0" bIns="0" rtlCol="0" anchor="ctr"/>
          <a:lstStyle/>
          <a:p>
            <a:pPr marL="0" indent="0">
              <a:buNone/>
            </a:pPr>
            <a:r>
              <a:rPr lang="en-US" sz="950" dirty="0">
                <a:solidFill>
                  <a:srgbClr val="1A1A2E"/>
                </a:solidFill>
              </a:rPr>
              <a:t>• Can open physical disks and logical partitions directly</a:t>
            </a:r>
            <a:endParaRPr lang="en-US" sz="950" dirty="0"/>
          </a:p>
        </p:txBody>
      </p:sp>
      <p:sp>
        <p:nvSpPr>
          <p:cNvPr id="22" name="Text 20"/>
          <p:cNvSpPr/>
          <p:nvPr/>
        </p:nvSpPr>
        <p:spPr>
          <a:xfrm>
            <a:off x="4892040" y="2843784"/>
            <a:ext cx="3749040" cy="310896"/>
          </a:xfrm>
          <a:prstGeom prst="rect">
            <a:avLst/>
          </a:prstGeom>
          <a:noFill/>
          <a:ln/>
        </p:spPr>
        <p:txBody>
          <a:bodyPr wrap="square" lIns="0" tIns="0" rIns="0" bIns="0" rtlCol="0" anchor="ctr"/>
          <a:lstStyle/>
          <a:p>
            <a:pPr marL="0" indent="0">
              <a:buNone/>
            </a:pPr>
            <a:r>
              <a:rPr lang="en-US" sz="950" dirty="0">
                <a:solidFill>
                  <a:srgbClr val="1A1A2E"/>
                </a:solidFill>
              </a:rPr>
              <a:t>• Search, replace, and compare binary data</a:t>
            </a:r>
            <a:endParaRPr lang="en-US" sz="950" dirty="0"/>
          </a:p>
        </p:txBody>
      </p:sp>
      <p:sp>
        <p:nvSpPr>
          <p:cNvPr id="23" name="Text 21"/>
          <p:cNvSpPr/>
          <p:nvPr/>
        </p:nvSpPr>
        <p:spPr>
          <a:xfrm>
            <a:off x="4892040" y="3191256"/>
            <a:ext cx="3749040" cy="310896"/>
          </a:xfrm>
          <a:prstGeom prst="rect">
            <a:avLst/>
          </a:prstGeom>
          <a:noFill/>
          <a:ln/>
        </p:spPr>
        <p:txBody>
          <a:bodyPr wrap="square" lIns="0" tIns="0" rIns="0" bIns="0" rtlCol="0" anchor="ctr"/>
          <a:lstStyle/>
          <a:p>
            <a:pPr marL="0" indent="0">
              <a:buNone/>
            </a:pPr>
            <a:r>
              <a:rPr lang="en-US" sz="950" dirty="0">
                <a:solidFill>
                  <a:srgbClr val="1A1A2E"/>
                </a:solidFill>
              </a:rPr>
              <a:t>• Supports checksums and hash generation (MD5, SHA-1)</a:t>
            </a:r>
            <a:endParaRPr lang="en-US" sz="950" dirty="0"/>
          </a:p>
        </p:txBody>
      </p:sp>
      <p:sp>
        <p:nvSpPr>
          <p:cNvPr id="24" name="Text 22"/>
          <p:cNvSpPr/>
          <p:nvPr/>
        </p:nvSpPr>
        <p:spPr>
          <a:xfrm>
            <a:off x="4892040" y="3538728"/>
            <a:ext cx="3749040" cy="310896"/>
          </a:xfrm>
          <a:prstGeom prst="rect">
            <a:avLst/>
          </a:prstGeom>
          <a:noFill/>
          <a:ln/>
        </p:spPr>
        <p:txBody>
          <a:bodyPr wrap="square" lIns="0" tIns="0" rIns="0" bIns="0" rtlCol="0" anchor="ctr"/>
          <a:lstStyle/>
          <a:p>
            <a:pPr marL="0" indent="0">
              <a:buNone/>
            </a:pPr>
            <a:r>
              <a:rPr lang="en-US" sz="950" dirty="0">
                <a:solidFill>
                  <a:srgbClr val="1A1A2E"/>
                </a:solidFill>
              </a:rPr>
              <a:t>• Suitable for training and educational use</a:t>
            </a:r>
            <a:endParaRPr lang="en-US" sz="950" dirty="0"/>
          </a:p>
        </p:txBody>
      </p:sp>
      <p:sp>
        <p:nvSpPr>
          <p:cNvPr id="25" name="Text 23"/>
          <p:cNvSpPr/>
          <p:nvPr/>
        </p:nvSpPr>
        <p:spPr>
          <a:xfrm>
            <a:off x="4892040" y="3886200"/>
            <a:ext cx="3749040" cy="310896"/>
          </a:xfrm>
          <a:prstGeom prst="rect">
            <a:avLst/>
          </a:prstGeom>
          <a:noFill/>
          <a:ln/>
        </p:spPr>
        <p:txBody>
          <a:bodyPr wrap="square" lIns="0" tIns="0" rIns="0" bIns="0" rtlCol="0" anchor="ctr"/>
          <a:lstStyle/>
          <a:p>
            <a:pPr marL="0" indent="0">
              <a:buNone/>
            </a:pPr>
            <a:r>
              <a:rPr lang="en-US" sz="950" dirty="0">
                <a:solidFill>
                  <a:srgbClr val="1A1A2E"/>
                </a:solidFill>
              </a:rPr>
              <a:t>• Recommended as a starting point for students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5 · HEX EDITORS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Reading a Hex Editor: Annotated Example</a:t>
            </a:r>
            <a:endParaRPr lang="en-US" sz="2800" dirty="0"/>
          </a:p>
        </p:txBody>
      </p:sp>
      <p:sp>
        <p:nvSpPr>
          <p:cNvPr id="5" name="Shape 3"/>
          <p:cNvSpPr/>
          <p:nvPr/>
        </p:nvSpPr>
        <p:spPr>
          <a:xfrm>
            <a:off x="320040" y="1188720"/>
            <a:ext cx="8503920" cy="36576"/>
          </a:xfrm>
          <a:prstGeom prst="rect">
            <a:avLst/>
          </a:prstGeom>
          <a:solidFill>
            <a:srgbClr val="90E0EF"/>
          </a:solidFill>
          <a:ln w="12700">
            <a:solidFill>
              <a:srgbClr val="90E0EF"/>
            </a:solidFill>
            <a:prstDash val="solid"/>
          </a:ln>
        </p:spPr>
        <p:txBody>
          <a:bodyPr/>
          <a:lstStyle/>
          <a:p>
            <a:endParaRPr lang="en-SG"/>
          </a:p>
        </p:txBody>
      </p:sp>
      <p:sp>
        <p:nvSpPr>
          <p:cNvPr id="6" name="Shape 4"/>
          <p:cNvSpPr/>
          <p:nvPr/>
        </p:nvSpPr>
        <p:spPr>
          <a:xfrm>
            <a:off x="320040" y="1298448"/>
            <a:ext cx="8503920" cy="3246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8503920" cy="292608"/>
          </a:xfrm>
          <a:prstGeom prst="rect">
            <a:avLst/>
          </a:prstGeom>
          <a:solidFill>
            <a:srgbClr val="FFFFFF"/>
          </a:solidFill>
          <a:ln w="12700">
            <a:solidFill>
              <a:srgbClr val="FFFFFF"/>
            </a:solidFill>
            <a:prstDash val="solid"/>
          </a:ln>
        </p:spPr>
        <p:txBody>
          <a:bodyPr/>
          <a:lstStyle/>
          <a:p>
            <a:endParaRPr lang="en-SG"/>
          </a:p>
        </p:txBody>
      </p:sp>
      <p:sp>
        <p:nvSpPr>
          <p:cNvPr id="8" name="Text 6"/>
          <p:cNvSpPr/>
          <p:nvPr/>
        </p:nvSpPr>
        <p:spPr>
          <a:xfrm>
            <a:off x="457200" y="1316736"/>
            <a:ext cx="8321040" cy="256032"/>
          </a:xfrm>
          <a:prstGeom prst="rect">
            <a:avLst/>
          </a:prstGeom>
          <a:noFill/>
          <a:ln/>
        </p:spPr>
        <p:txBody>
          <a:bodyPr wrap="square" lIns="0" tIns="0" rIns="0" bIns="0" rtlCol="0" anchor="ctr"/>
          <a:lstStyle/>
          <a:p>
            <a:pPr marL="0" indent="0">
              <a:buNone/>
            </a:pPr>
            <a:r>
              <a:rPr lang="en-US" sz="850" dirty="0">
                <a:solidFill>
                  <a:srgbClr val="00B4D8"/>
                </a:solidFill>
                <a:latin typeface="Consolas" pitchFamily="34" charset="0"/>
                <a:ea typeface="Consolas" pitchFamily="34" charset="-122"/>
                <a:cs typeface="Consolas" pitchFamily="34" charset="-120"/>
              </a:rPr>
              <a:t>Offset (h)   00 01 02 03 04 05 06 07  08 09 0A 0B 0C 0D 0E 0F   Decoded Text</a:t>
            </a:r>
            <a:endParaRPr lang="en-US" sz="850" dirty="0"/>
          </a:p>
        </p:txBody>
      </p:sp>
      <p:sp>
        <p:nvSpPr>
          <p:cNvPr id="9" name="Shape 7"/>
          <p:cNvSpPr/>
          <p:nvPr/>
        </p:nvSpPr>
        <p:spPr>
          <a:xfrm>
            <a:off x="320040" y="1645920"/>
            <a:ext cx="8503920" cy="329184"/>
          </a:xfrm>
          <a:prstGeom prst="rect">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411480" y="1682496"/>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00000000</a:t>
            </a:r>
            <a:endParaRPr lang="en-US" sz="850" dirty="0"/>
          </a:p>
        </p:txBody>
      </p:sp>
      <p:sp>
        <p:nvSpPr>
          <p:cNvPr id="11" name="Text 9"/>
          <p:cNvSpPr/>
          <p:nvPr/>
        </p:nvSpPr>
        <p:spPr>
          <a:xfrm>
            <a:off x="1325880" y="1682496"/>
            <a:ext cx="4937760" cy="256032"/>
          </a:xfrm>
          <a:prstGeom prst="rect">
            <a:avLst/>
          </a:prstGeom>
          <a:noFill/>
          <a:ln/>
        </p:spPr>
        <p:txBody>
          <a:bodyPr wrap="square" lIns="0" tIns="0" rIns="0" bIns="0" rtlCol="0" anchor="ctr"/>
          <a:lstStyle/>
          <a:p>
            <a:pPr marL="0" indent="0">
              <a:buNone/>
            </a:pPr>
            <a:r>
              <a:rPr lang="en-US" sz="850" dirty="0">
                <a:solidFill>
                  <a:srgbClr val="F4A261"/>
                </a:solidFill>
                <a:latin typeface="Consolas" pitchFamily="34" charset="0"/>
                <a:ea typeface="Consolas" pitchFamily="34" charset="-122"/>
                <a:cs typeface="Consolas" pitchFamily="34" charset="-120"/>
              </a:rPr>
              <a:t>4D 5A 90 00 03 00 00 00  04 00 00 00 FF FF 00 00</a:t>
            </a:r>
            <a:endParaRPr lang="en-US" sz="850" dirty="0"/>
          </a:p>
        </p:txBody>
      </p:sp>
      <p:sp>
        <p:nvSpPr>
          <p:cNvPr id="12" name="Text 10"/>
          <p:cNvSpPr/>
          <p:nvPr/>
        </p:nvSpPr>
        <p:spPr>
          <a:xfrm>
            <a:off x="6355080" y="1682496"/>
            <a:ext cx="2331720" cy="256032"/>
          </a:xfrm>
          <a:prstGeom prst="rect">
            <a:avLst/>
          </a:prstGeom>
          <a:noFill/>
          <a:ln/>
        </p:spPr>
        <p:txBody>
          <a:bodyPr wrap="square" lIns="0" tIns="0" rIns="0" bIns="0" rtlCol="0" anchor="ctr"/>
          <a:lstStyle/>
          <a:p>
            <a:pPr marL="0" indent="0">
              <a:buNone/>
            </a:pPr>
            <a:r>
              <a:rPr lang="en-US" sz="850" dirty="0">
                <a:solidFill>
                  <a:srgbClr val="2EC4B6"/>
                </a:solidFill>
                <a:latin typeface="Consolas" pitchFamily="34" charset="0"/>
                <a:ea typeface="Consolas" pitchFamily="34" charset="-122"/>
                <a:cs typeface="Consolas" pitchFamily="34" charset="-120"/>
              </a:rPr>
              <a:t>MZ......  ........</a:t>
            </a:r>
            <a:endParaRPr lang="en-US" sz="850" dirty="0"/>
          </a:p>
        </p:txBody>
      </p:sp>
      <p:sp>
        <p:nvSpPr>
          <p:cNvPr id="13" name="Shape 11"/>
          <p:cNvSpPr/>
          <p:nvPr/>
        </p:nvSpPr>
        <p:spPr>
          <a:xfrm>
            <a:off x="320040" y="1984248"/>
            <a:ext cx="8503920" cy="329184"/>
          </a:xfrm>
          <a:prstGeom prst="rect">
            <a:avLst/>
          </a:prstGeom>
          <a:solidFill>
            <a:srgbClr val="FFFFFF"/>
          </a:solidFill>
          <a:ln w="12700">
            <a:solidFill>
              <a:srgbClr val="FFFFFF"/>
            </a:solidFill>
            <a:prstDash val="solid"/>
          </a:ln>
        </p:spPr>
        <p:txBody>
          <a:bodyPr/>
          <a:lstStyle/>
          <a:p>
            <a:endParaRPr lang="en-SG"/>
          </a:p>
        </p:txBody>
      </p:sp>
      <p:sp>
        <p:nvSpPr>
          <p:cNvPr id="14" name="Text 12"/>
          <p:cNvSpPr/>
          <p:nvPr/>
        </p:nvSpPr>
        <p:spPr>
          <a:xfrm>
            <a:off x="411480" y="2020824"/>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00000010</a:t>
            </a:r>
            <a:endParaRPr lang="en-US" sz="850" dirty="0"/>
          </a:p>
        </p:txBody>
      </p:sp>
      <p:sp>
        <p:nvSpPr>
          <p:cNvPr id="15" name="Text 13"/>
          <p:cNvSpPr/>
          <p:nvPr/>
        </p:nvSpPr>
        <p:spPr>
          <a:xfrm>
            <a:off x="1325880" y="2020824"/>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B8 00 00 00 00 00 00 00  40 00 00 00 00 00 00 00</a:t>
            </a:r>
            <a:endParaRPr lang="en-US" sz="850" dirty="0"/>
          </a:p>
        </p:txBody>
      </p:sp>
      <p:sp>
        <p:nvSpPr>
          <p:cNvPr id="16" name="Text 14"/>
          <p:cNvSpPr/>
          <p:nvPr/>
        </p:nvSpPr>
        <p:spPr>
          <a:xfrm>
            <a:off x="6355080" y="2020824"/>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  @.......</a:t>
            </a:r>
            <a:endParaRPr lang="en-US" sz="850" dirty="0"/>
          </a:p>
        </p:txBody>
      </p:sp>
      <p:sp>
        <p:nvSpPr>
          <p:cNvPr id="17" name="Shape 15"/>
          <p:cNvSpPr/>
          <p:nvPr/>
        </p:nvSpPr>
        <p:spPr>
          <a:xfrm>
            <a:off x="320040" y="2322576"/>
            <a:ext cx="8503920" cy="329184"/>
          </a:xfrm>
          <a:prstGeom prst="rect">
            <a:avLst/>
          </a:prstGeom>
          <a:solidFill>
            <a:srgbClr val="FFFFFF"/>
          </a:solidFill>
          <a:ln w="12700">
            <a:solidFill>
              <a:srgbClr val="FFFFFF"/>
            </a:solidFill>
            <a:prstDash val="solid"/>
          </a:ln>
        </p:spPr>
        <p:txBody>
          <a:bodyPr/>
          <a:lstStyle/>
          <a:p>
            <a:endParaRPr lang="en-SG"/>
          </a:p>
        </p:txBody>
      </p:sp>
      <p:sp>
        <p:nvSpPr>
          <p:cNvPr id="18" name="Text 16"/>
          <p:cNvSpPr/>
          <p:nvPr/>
        </p:nvSpPr>
        <p:spPr>
          <a:xfrm>
            <a:off x="411480" y="2359152"/>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00000020</a:t>
            </a:r>
            <a:endParaRPr lang="en-US" sz="850" dirty="0"/>
          </a:p>
        </p:txBody>
      </p:sp>
      <p:sp>
        <p:nvSpPr>
          <p:cNvPr id="19" name="Text 17"/>
          <p:cNvSpPr/>
          <p:nvPr/>
        </p:nvSpPr>
        <p:spPr>
          <a:xfrm>
            <a:off x="1325880" y="2359152"/>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00 00 00 00 00 00 00 00  00 00 00 00 00 00 00 00</a:t>
            </a:r>
            <a:endParaRPr lang="en-US" sz="850" dirty="0"/>
          </a:p>
        </p:txBody>
      </p:sp>
      <p:sp>
        <p:nvSpPr>
          <p:cNvPr id="20" name="Text 18"/>
          <p:cNvSpPr/>
          <p:nvPr/>
        </p:nvSpPr>
        <p:spPr>
          <a:xfrm>
            <a:off x="6355080" y="2359152"/>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  ........</a:t>
            </a:r>
            <a:endParaRPr lang="en-US" sz="850" dirty="0"/>
          </a:p>
        </p:txBody>
      </p:sp>
      <p:sp>
        <p:nvSpPr>
          <p:cNvPr id="21" name="Shape 19"/>
          <p:cNvSpPr/>
          <p:nvPr/>
        </p:nvSpPr>
        <p:spPr>
          <a:xfrm>
            <a:off x="320040" y="2660904"/>
            <a:ext cx="8503920" cy="329184"/>
          </a:xfrm>
          <a:prstGeom prst="rect">
            <a:avLst/>
          </a:prstGeom>
          <a:solidFill>
            <a:srgbClr val="FFFFFF"/>
          </a:solidFill>
          <a:ln w="12700">
            <a:solidFill>
              <a:srgbClr val="FFFFFF"/>
            </a:solidFill>
            <a:prstDash val="solid"/>
          </a:ln>
        </p:spPr>
        <p:txBody>
          <a:bodyPr/>
          <a:lstStyle/>
          <a:p>
            <a:endParaRPr lang="en-SG"/>
          </a:p>
        </p:txBody>
      </p:sp>
      <p:sp>
        <p:nvSpPr>
          <p:cNvPr id="22" name="Text 20"/>
          <p:cNvSpPr/>
          <p:nvPr/>
        </p:nvSpPr>
        <p:spPr>
          <a:xfrm>
            <a:off x="411480" y="2697480"/>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00000030</a:t>
            </a:r>
            <a:endParaRPr lang="en-US" sz="850" dirty="0"/>
          </a:p>
        </p:txBody>
      </p:sp>
      <p:sp>
        <p:nvSpPr>
          <p:cNvPr id="23" name="Text 21"/>
          <p:cNvSpPr/>
          <p:nvPr/>
        </p:nvSpPr>
        <p:spPr>
          <a:xfrm>
            <a:off x="1325880" y="2697480"/>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00 00 00 00 00 00 00 00  00 00 00 00 E8 00 00 00</a:t>
            </a:r>
            <a:endParaRPr lang="en-US" sz="850" dirty="0"/>
          </a:p>
        </p:txBody>
      </p:sp>
      <p:sp>
        <p:nvSpPr>
          <p:cNvPr id="24" name="Text 22"/>
          <p:cNvSpPr/>
          <p:nvPr/>
        </p:nvSpPr>
        <p:spPr>
          <a:xfrm>
            <a:off x="6355080" y="2697480"/>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  ........</a:t>
            </a:r>
            <a:endParaRPr lang="en-US" sz="850" dirty="0"/>
          </a:p>
        </p:txBody>
      </p:sp>
      <p:sp>
        <p:nvSpPr>
          <p:cNvPr id="25" name="Shape 23"/>
          <p:cNvSpPr/>
          <p:nvPr/>
        </p:nvSpPr>
        <p:spPr>
          <a:xfrm>
            <a:off x="320040" y="2999232"/>
            <a:ext cx="8503920" cy="329184"/>
          </a:xfrm>
          <a:prstGeom prst="rect">
            <a:avLst/>
          </a:prstGeom>
          <a:solidFill>
            <a:srgbClr val="FFFFFF"/>
          </a:solidFill>
          <a:ln w="12700">
            <a:solidFill>
              <a:srgbClr val="FFFFFF"/>
            </a:solidFill>
            <a:prstDash val="solid"/>
          </a:ln>
        </p:spPr>
        <p:txBody>
          <a:bodyPr/>
          <a:lstStyle/>
          <a:p>
            <a:endParaRPr lang="en-SG"/>
          </a:p>
        </p:txBody>
      </p:sp>
      <p:sp>
        <p:nvSpPr>
          <p:cNvPr id="26" name="Text 24"/>
          <p:cNvSpPr/>
          <p:nvPr/>
        </p:nvSpPr>
        <p:spPr>
          <a:xfrm>
            <a:off x="411480" y="3035808"/>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00000040</a:t>
            </a:r>
            <a:endParaRPr lang="en-US" sz="850" dirty="0"/>
          </a:p>
        </p:txBody>
      </p:sp>
      <p:sp>
        <p:nvSpPr>
          <p:cNvPr id="27" name="Text 25"/>
          <p:cNvSpPr/>
          <p:nvPr/>
        </p:nvSpPr>
        <p:spPr>
          <a:xfrm>
            <a:off x="1325880" y="3035808"/>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0E 1F BA 0E 00 B4 09 CD  21 B8 01 4C CD 21 54 68</a:t>
            </a:r>
            <a:endParaRPr lang="en-US" sz="850" dirty="0"/>
          </a:p>
        </p:txBody>
      </p:sp>
      <p:sp>
        <p:nvSpPr>
          <p:cNvPr id="28" name="Text 26"/>
          <p:cNvSpPr/>
          <p:nvPr/>
        </p:nvSpPr>
        <p:spPr>
          <a:xfrm>
            <a:off x="6355080" y="3035808"/>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  !..L.!Th</a:t>
            </a:r>
            <a:endParaRPr lang="en-US" sz="850" dirty="0"/>
          </a:p>
        </p:txBody>
      </p:sp>
      <p:sp>
        <p:nvSpPr>
          <p:cNvPr id="29" name="Shape 27"/>
          <p:cNvSpPr/>
          <p:nvPr/>
        </p:nvSpPr>
        <p:spPr>
          <a:xfrm>
            <a:off x="320040" y="3337560"/>
            <a:ext cx="8503920" cy="329184"/>
          </a:xfrm>
          <a:prstGeom prst="rect">
            <a:avLst/>
          </a:prstGeom>
          <a:solidFill>
            <a:srgbClr val="FFFFFF"/>
          </a:solidFill>
          <a:ln w="12700">
            <a:solidFill>
              <a:srgbClr val="FFFFFF"/>
            </a:solidFill>
            <a:prstDash val="solid"/>
          </a:ln>
        </p:spPr>
        <p:txBody>
          <a:bodyPr/>
          <a:lstStyle/>
          <a:p>
            <a:endParaRPr lang="en-SG"/>
          </a:p>
        </p:txBody>
      </p:sp>
      <p:sp>
        <p:nvSpPr>
          <p:cNvPr id="30" name="Text 28"/>
          <p:cNvSpPr/>
          <p:nvPr/>
        </p:nvSpPr>
        <p:spPr>
          <a:xfrm>
            <a:off x="411480" y="3374136"/>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00000050</a:t>
            </a:r>
            <a:endParaRPr lang="en-US" sz="850" dirty="0"/>
          </a:p>
        </p:txBody>
      </p:sp>
      <p:sp>
        <p:nvSpPr>
          <p:cNvPr id="31" name="Text 29"/>
          <p:cNvSpPr/>
          <p:nvPr/>
        </p:nvSpPr>
        <p:spPr>
          <a:xfrm>
            <a:off x="1325880" y="3374136"/>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69 73 20 70 72 6F 67 72  61 6D 20 63 61 6E 6E 6F</a:t>
            </a:r>
            <a:endParaRPr lang="en-US" sz="850" dirty="0"/>
          </a:p>
        </p:txBody>
      </p:sp>
      <p:sp>
        <p:nvSpPr>
          <p:cNvPr id="32" name="Text 30"/>
          <p:cNvSpPr/>
          <p:nvPr/>
        </p:nvSpPr>
        <p:spPr>
          <a:xfrm>
            <a:off x="6355080" y="3374136"/>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is progr  am canno</a:t>
            </a:r>
            <a:endParaRPr lang="en-US" sz="850" dirty="0"/>
          </a:p>
        </p:txBody>
      </p:sp>
      <p:sp>
        <p:nvSpPr>
          <p:cNvPr id="33" name="Shape 31"/>
          <p:cNvSpPr/>
          <p:nvPr/>
        </p:nvSpPr>
        <p:spPr>
          <a:xfrm>
            <a:off x="320040" y="3675888"/>
            <a:ext cx="8503920" cy="329184"/>
          </a:xfrm>
          <a:prstGeom prst="rect">
            <a:avLst/>
          </a:prstGeom>
          <a:solidFill>
            <a:srgbClr val="FFFFFF"/>
          </a:solidFill>
          <a:ln w="12700">
            <a:solidFill>
              <a:srgbClr val="FFFFFF"/>
            </a:solidFill>
            <a:prstDash val="solid"/>
          </a:ln>
        </p:spPr>
        <p:txBody>
          <a:bodyPr/>
          <a:lstStyle/>
          <a:p>
            <a:endParaRPr lang="en-SG"/>
          </a:p>
        </p:txBody>
      </p:sp>
      <p:sp>
        <p:nvSpPr>
          <p:cNvPr id="34" name="Text 32"/>
          <p:cNvSpPr/>
          <p:nvPr/>
        </p:nvSpPr>
        <p:spPr>
          <a:xfrm>
            <a:off x="411480" y="3712464"/>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00000060</a:t>
            </a:r>
            <a:endParaRPr lang="en-US" sz="850" dirty="0"/>
          </a:p>
        </p:txBody>
      </p:sp>
      <p:sp>
        <p:nvSpPr>
          <p:cNvPr id="35" name="Text 33"/>
          <p:cNvSpPr/>
          <p:nvPr/>
        </p:nvSpPr>
        <p:spPr>
          <a:xfrm>
            <a:off x="1325880" y="3712464"/>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74 20 62 65 20 72 75 6E  20 69 6E 20 44 4F 53 20</a:t>
            </a:r>
            <a:endParaRPr lang="en-US" sz="850" dirty="0"/>
          </a:p>
        </p:txBody>
      </p:sp>
      <p:sp>
        <p:nvSpPr>
          <p:cNvPr id="36" name="Text 34"/>
          <p:cNvSpPr/>
          <p:nvPr/>
        </p:nvSpPr>
        <p:spPr>
          <a:xfrm>
            <a:off x="6355080" y="3712464"/>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t be run   in DOS </a:t>
            </a:r>
            <a:endParaRPr lang="en-US" sz="850" dirty="0"/>
          </a:p>
        </p:txBody>
      </p:sp>
      <p:sp>
        <p:nvSpPr>
          <p:cNvPr id="37" name="Shape 35"/>
          <p:cNvSpPr/>
          <p:nvPr/>
        </p:nvSpPr>
        <p:spPr>
          <a:xfrm>
            <a:off x="320040" y="4014216"/>
            <a:ext cx="8503920" cy="329184"/>
          </a:xfrm>
          <a:prstGeom prst="rect">
            <a:avLst/>
          </a:prstGeom>
          <a:solidFill>
            <a:srgbClr val="FFFFFF"/>
          </a:solidFill>
          <a:ln w="12700">
            <a:solidFill>
              <a:srgbClr val="FFFFFF"/>
            </a:solidFill>
            <a:prstDash val="solid"/>
          </a:ln>
        </p:spPr>
        <p:txBody>
          <a:bodyPr/>
          <a:lstStyle/>
          <a:p>
            <a:endParaRPr lang="en-SG"/>
          </a:p>
        </p:txBody>
      </p:sp>
      <p:sp>
        <p:nvSpPr>
          <p:cNvPr id="38" name="Text 36"/>
          <p:cNvSpPr/>
          <p:nvPr/>
        </p:nvSpPr>
        <p:spPr>
          <a:xfrm>
            <a:off x="411480" y="4050792"/>
            <a:ext cx="86868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00000070</a:t>
            </a:r>
            <a:endParaRPr lang="en-US" sz="850" dirty="0"/>
          </a:p>
        </p:txBody>
      </p:sp>
      <p:sp>
        <p:nvSpPr>
          <p:cNvPr id="39" name="Text 37"/>
          <p:cNvSpPr/>
          <p:nvPr/>
        </p:nvSpPr>
        <p:spPr>
          <a:xfrm>
            <a:off x="1325880" y="4050792"/>
            <a:ext cx="4937760" cy="256032"/>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6D 6F 64 65 2E 0D 0D 0A  24 00 00 00 00 00 00 00</a:t>
            </a:r>
            <a:endParaRPr lang="en-US" sz="850" dirty="0"/>
          </a:p>
        </p:txBody>
      </p:sp>
      <p:sp>
        <p:nvSpPr>
          <p:cNvPr id="40" name="Text 38"/>
          <p:cNvSpPr/>
          <p:nvPr/>
        </p:nvSpPr>
        <p:spPr>
          <a:xfrm>
            <a:off x="6355080" y="4050792"/>
            <a:ext cx="2331720" cy="256032"/>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mode...  $.......</a:t>
            </a:r>
            <a:endParaRPr lang="en-US" sz="850" dirty="0"/>
          </a:p>
        </p:txBody>
      </p:sp>
      <p:sp>
        <p:nvSpPr>
          <p:cNvPr id="41" name="Text 39"/>
          <p:cNvSpPr/>
          <p:nvPr/>
        </p:nvSpPr>
        <p:spPr>
          <a:xfrm>
            <a:off x="320040" y="4645152"/>
            <a:ext cx="4023360" cy="384048"/>
          </a:xfrm>
          <a:prstGeom prst="rect">
            <a:avLst/>
          </a:prstGeom>
          <a:noFill/>
          <a:ln/>
        </p:spPr>
        <p:txBody>
          <a:bodyPr wrap="square" lIns="0" tIns="0" rIns="0" bIns="0" rtlCol="0" anchor="ctr"/>
          <a:lstStyle/>
          <a:p>
            <a:pPr marL="0" indent="0">
              <a:buNone/>
            </a:pPr>
            <a:r>
              <a:rPr lang="en-US" sz="850" dirty="0">
                <a:solidFill>
                  <a:srgbClr val="F4A261"/>
                </a:solidFill>
              </a:rPr>
              <a:t>① File Signature (Magic Bytes)</a:t>
            </a:r>
            <a:endParaRPr lang="en-US" sz="850" dirty="0"/>
          </a:p>
          <a:p>
            <a:pPr marL="0" indent="0">
              <a:buNone/>
            </a:pPr>
            <a:r>
              <a:rPr lang="en-US" sz="850" dirty="0">
                <a:solidFill>
                  <a:srgbClr val="F4A261"/>
                </a:solidFill>
              </a:rPr>
              <a:t>'4D 5A' = 'MZ' — identifies a Windows PE Executable</a:t>
            </a:r>
            <a:endParaRPr lang="en-US" sz="850" dirty="0"/>
          </a:p>
        </p:txBody>
      </p:sp>
      <p:sp>
        <p:nvSpPr>
          <p:cNvPr id="42" name="Text 40"/>
          <p:cNvSpPr/>
          <p:nvPr/>
        </p:nvSpPr>
        <p:spPr>
          <a:xfrm>
            <a:off x="4480560" y="4645152"/>
            <a:ext cx="4343400" cy="384048"/>
          </a:xfrm>
          <a:prstGeom prst="rect">
            <a:avLst/>
          </a:prstGeom>
          <a:noFill/>
          <a:ln/>
        </p:spPr>
        <p:txBody>
          <a:bodyPr wrap="square" lIns="0" tIns="0" rIns="0" bIns="0" rtlCol="0" anchor="ctr"/>
          <a:lstStyle/>
          <a:p>
            <a:pPr marL="0" indent="0">
              <a:buNone/>
            </a:pPr>
            <a:r>
              <a:rPr lang="en-US" sz="850" dirty="0">
                <a:solidFill>
                  <a:srgbClr val="2EC4B6"/>
                </a:solidFill>
              </a:rPr>
              <a:t>② Decoded ASCII text on the right pane helps analysts understand human-readable content embedded in the file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5 · HEX EDITORS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Common File Signatures (Magic Bytes)</a:t>
            </a:r>
            <a:endParaRPr lang="en-US" sz="2800" dirty="0"/>
          </a:p>
        </p:txBody>
      </p:sp>
      <p:sp>
        <p:nvSpPr>
          <p:cNvPr id="5" name="Shape 3"/>
          <p:cNvSpPr/>
          <p:nvPr/>
        </p:nvSpPr>
        <p:spPr>
          <a:xfrm>
            <a:off x="320040" y="1188720"/>
            <a:ext cx="8503920" cy="36576"/>
          </a:xfrm>
          <a:prstGeom prst="rect">
            <a:avLst/>
          </a:prstGeom>
          <a:solidFill>
            <a:srgbClr val="90E0EF"/>
          </a:solidFill>
          <a:ln w="12700">
            <a:solidFill>
              <a:srgbClr val="90E0EF"/>
            </a:solidFill>
            <a:prstDash val="solid"/>
          </a:ln>
        </p:spPr>
        <p:txBody>
          <a:bodyPr/>
          <a:lstStyle/>
          <a:p>
            <a:endParaRPr lang="en-SG"/>
          </a:p>
        </p:txBody>
      </p:sp>
      <p:sp>
        <p:nvSpPr>
          <p:cNvPr id="6" name="Text 4"/>
          <p:cNvSpPr/>
          <p:nvPr/>
        </p:nvSpPr>
        <p:spPr>
          <a:xfrm>
            <a:off x="320040" y="1234440"/>
            <a:ext cx="8503920" cy="347472"/>
          </a:xfrm>
          <a:prstGeom prst="rect">
            <a:avLst/>
          </a:prstGeom>
          <a:noFill/>
          <a:ln/>
        </p:spPr>
        <p:txBody>
          <a:bodyPr wrap="square" lIns="0" tIns="0" rIns="0" bIns="0" rtlCol="0" anchor="ctr"/>
          <a:lstStyle/>
          <a:p>
            <a:pPr marL="0" indent="0">
              <a:buNone/>
            </a:pPr>
            <a:r>
              <a:rPr lang="en-US" sz="1000" i="1" dirty="0">
                <a:solidFill>
                  <a:srgbClr val="475569"/>
                </a:solidFill>
              </a:rPr>
              <a:t>Every file type has a characteristic byte sequence at its start. Forensic analysts use these to identify true file types regardless of extension.</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664208"/>
          <a:ext cx="8503920" cy="3017520"/>
        </p:xfrm>
        <a:graphic>
          <a:graphicData uri="http://schemas.openxmlformats.org/drawingml/2006/table">
            <a:tbl>
              <a:tblPr/>
              <a:tblGrid>
                <a:gridCol w="21945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77190">
                <a:tc>
                  <a:txBody>
                    <a:bodyPr/>
                    <a:lstStyle/>
                    <a:p>
                      <a:pPr marL="0" indent="0" algn="ctr">
                        <a:buNone/>
                      </a:pPr>
                      <a:r>
                        <a:rPr lang="en-US" sz="950" b="1" dirty="0">
                          <a:solidFill>
                            <a:srgbClr val="FFFFFF"/>
                          </a:solidFill>
                        </a:rPr>
                        <a:t>File Type</a:t>
                      </a:r>
                      <a:endParaRPr lang="en-US" sz="950" dirty="0"/>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00B4D8"/>
                    </a:solidFill>
                  </a:tcPr>
                </a:tc>
                <a:tc>
                  <a:txBody>
                    <a:bodyPr/>
                    <a:lstStyle/>
                    <a:p>
                      <a:pPr marL="0" indent="0" algn="ctr">
                        <a:buNone/>
                      </a:pPr>
                      <a:r>
                        <a:rPr lang="en-US" sz="950" b="1" dirty="0">
                          <a:solidFill>
                            <a:srgbClr val="FFFFFF"/>
                          </a:solidFill>
                        </a:rPr>
                        <a:t>Extension</a:t>
                      </a:r>
                      <a:endParaRPr lang="en-US" sz="950" dirty="0"/>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00B4D8"/>
                    </a:solidFill>
                  </a:tcPr>
                </a:tc>
                <a:tc>
                  <a:txBody>
                    <a:bodyPr/>
                    <a:lstStyle/>
                    <a:p>
                      <a:pPr marL="0" indent="0" algn="ctr">
                        <a:buNone/>
                      </a:pPr>
                      <a:r>
                        <a:rPr lang="en-US" sz="950" b="1" dirty="0">
                          <a:solidFill>
                            <a:srgbClr val="FFFFFF"/>
                          </a:solidFill>
                        </a:rPr>
                        <a:t>Hex Signature (First Bytes)</a:t>
                      </a:r>
                      <a:endParaRPr lang="en-US" sz="950" dirty="0"/>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00B4D8"/>
                    </a:solidFill>
                  </a:tcPr>
                </a:tc>
                <a:tc>
                  <a:txBody>
                    <a:bodyPr/>
                    <a:lstStyle/>
                    <a:p>
                      <a:pPr marL="0" indent="0" algn="ctr">
                        <a:buNone/>
                      </a:pPr>
                      <a:r>
                        <a:rPr lang="en-US" sz="950" b="1" dirty="0">
                          <a:solidFill>
                            <a:srgbClr val="FFFFFF"/>
                          </a:solidFill>
                        </a:rPr>
                        <a:t>ASCII / Notes</a:t>
                      </a:r>
                      <a:endParaRPr lang="en-US" sz="950" dirty="0"/>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Windows PE Executable</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.exe / .dll</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4D 5A</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MZ</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extLst>
                  <a:ext uri="{0D108BD9-81ED-4DB2-BD59-A6C34878D82A}">
                    <a16:rowId xmlns:a16="http://schemas.microsoft.com/office/drawing/2014/main" val="10001"/>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JPEG Image</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.jpg</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FF D8 FF</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ÿØÿ</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extLst>
                  <a:ext uri="{0D108BD9-81ED-4DB2-BD59-A6C34878D82A}">
                    <a16:rowId xmlns:a16="http://schemas.microsoft.com/office/drawing/2014/main" val="10002"/>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PNG Image</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.png</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89 50 4E 47 0D 0A 1A 0A</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.PNG</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extLst>
                  <a:ext uri="{0D108BD9-81ED-4DB2-BD59-A6C34878D82A}">
                    <a16:rowId xmlns:a16="http://schemas.microsoft.com/office/drawing/2014/main" val="10003"/>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PDF Document</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.pdf</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25 50 44 46</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%PDF</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extLst>
                  <a:ext uri="{0D108BD9-81ED-4DB2-BD59-A6C34878D82A}">
                    <a16:rowId xmlns:a16="http://schemas.microsoft.com/office/drawing/2014/main" val="10004"/>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ZIP Archive</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.zip / .docx</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50 4B 03 04</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PK..</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extLst>
                  <a:ext uri="{0D108BD9-81ED-4DB2-BD59-A6C34878D82A}">
                    <a16:rowId xmlns:a16="http://schemas.microsoft.com/office/drawing/2014/main" val="10005"/>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RAR Archive</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.rar</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52 61 72 21 1A 07</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Rar!..</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E2D40"/>
                    </a:solidFill>
                  </a:tcPr>
                </a:tc>
                <a:extLst>
                  <a:ext uri="{0D108BD9-81ED-4DB2-BD59-A6C34878D82A}">
                    <a16:rowId xmlns:a16="http://schemas.microsoft.com/office/drawing/2014/main" val="10006"/>
                  </a:ext>
                </a:extLst>
              </a:tr>
              <a:tr h="377190">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Office Document (OOXML)</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.docx / .xlsx</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00" dirty="0">
                          <a:solidFill>
                            <a:srgbClr val="F4A261"/>
                          </a:solidFill>
                          <a:latin typeface="Consolas" pitchFamily="34" charset="0"/>
                          <a:ea typeface="Consolas" pitchFamily="34" charset="-122"/>
                          <a:cs typeface="Consolas" pitchFamily="34" charset="-120"/>
                        </a:rPr>
                        <a:t>50 4B 03 04</a:t>
                      </a:r>
                      <a:endParaRPr lang="en-US" sz="900" dirty="0">
                        <a:latin typeface="Consolas" charset="0"/>
                        <a:ea typeface="Consolas" charset="0"/>
                        <a:cs typeface="Consolas"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tc>
                  <a:txBody>
                    <a:bodyPr/>
                    <a:lstStyle/>
                    <a:p>
                      <a:pPr marL="0" indent="0">
                        <a:buNone/>
                      </a:pPr>
                      <a:r>
                        <a:rPr lang="en-US" sz="950" dirty="0">
                          <a:solidFill>
                            <a:srgbClr val="E8F4F8"/>
                          </a:solidFill>
                          <a:latin typeface="Calibri" pitchFamily="34" charset="0"/>
                          <a:ea typeface="Calibri" pitchFamily="34" charset="-122"/>
                          <a:cs typeface="Calibri" pitchFamily="34" charset="-120"/>
                        </a:rPr>
                        <a:t>PK.. (ZIP container)</a:t>
                      </a:r>
                      <a:endParaRPr lang="en-US" sz="950" dirty="0">
                        <a:latin typeface="Calibri" charset="0"/>
                        <a:ea typeface="Calibri" charset="0"/>
                        <a:cs typeface="Calibri" charset="0"/>
                      </a:endParaRPr>
                    </a:p>
                  </a:txBody>
                  <a:tcPr marL="50800" marR="50800" marT="50800" marB="50800">
                    <a:lnL w="6350" cap="flat" cmpd="sng" algn="ctr">
                      <a:solidFill>
                        <a:srgbClr val="1E2D40"/>
                      </a:solidFill>
                      <a:prstDash val="solid"/>
                      <a:round/>
                      <a:headEnd type="none" w="med" len="med"/>
                      <a:tailEnd type="none" w="med" len="med"/>
                    </a:lnL>
                    <a:lnR w="6350" cap="flat" cmpd="sng" algn="ctr">
                      <a:solidFill>
                        <a:srgbClr val="1E2D40"/>
                      </a:solidFill>
                      <a:prstDash val="solid"/>
                      <a:round/>
                      <a:headEnd type="none" w="med" len="med"/>
                      <a:tailEnd type="none" w="med" len="med"/>
                    </a:lnR>
                    <a:lnT w="6350" cap="flat" cmpd="sng" algn="ctr">
                      <a:solidFill>
                        <a:srgbClr val="1E2D40"/>
                      </a:solidFill>
                      <a:prstDash val="solid"/>
                      <a:round/>
                      <a:headEnd type="none" w="med" len="med"/>
                      <a:tailEnd type="none" w="med" len="med"/>
                    </a:lnT>
                    <a:lnB w="6350" cap="flat" cmpd="sng" algn="ctr">
                      <a:solidFill>
                        <a:srgbClr val="1E2D40"/>
                      </a:solidFill>
                      <a:prstDash val="solid"/>
                      <a:round/>
                      <a:headEnd type="none" w="med" len="med"/>
                      <a:tailEnd type="none" w="med" len="med"/>
                    </a:lnB>
                    <a:solidFill>
                      <a:srgbClr val="162032"/>
                    </a:solidFill>
                  </a:tcPr>
                </a:tc>
                <a:extLst>
                  <a:ext uri="{0D108BD9-81ED-4DB2-BD59-A6C34878D82A}">
                    <a16:rowId xmlns:a16="http://schemas.microsoft.com/office/drawing/2014/main" val="10007"/>
                  </a:ext>
                </a:extLst>
              </a:tr>
            </a:tbl>
          </a:graphicData>
        </a:graphic>
      </p:graphicFrame>
      <p:sp>
        <p:nvSpPr>
          <p:cNvPr id="8" name="Text 5"/>
          <p:cNvSpPr/>
          <p:nvPr/>
        </p:nvSpPr>
        <p:spPr>
          <a:xfrm>
            <a:off x="320040" y="4663440"/>
            <a:ext cx="8503920" cy="320040"/>
          </a:xfrm>
          <a:prstGeom prst="rect">
            <a:avLst/>
          </a:prstGeom>
          <a:noFill/>
          <a:ln/>
        </p:spPr>
        <p:txBody>
          <a:bodyPr wrap="square" lIns="0" tIns="0" rIns="0" bIns="0" rtlCol="0" anchor="ctr"/>
          <a:lstStyle/>
          <a:p>
            <a:pPr marL="0" indent="0">
              <a:buNone/>
            </a:pPr>
            <a:r>
              <a:rPr lang="en-US" sz="850" i="1" dirty="0">
                <a:solidFill>
                  <a:srgbClr val="FFD166"/>
                </a:solidFill>
              </a:rPr>
              <a:t>⚠️  Extension mismatch — where the file signature does not match the extension — is a key indicator of deliberate file renaming to conceal content.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FFD166"/>
          </a:solidFill>
          <a:ln w="12700">
            <a:solidFill>
              <a:srgbClr val="FFD166"/>
            </a:solidFill>
            <a:prstDash val="solid"/>
          </a:ln>
        </p:spPr>
        <p:txBody>
          <a:bodyPr/>
          <a:lstStyle/>
          <a:p>
            <a:endParaRPr lang="en-SG"/>
          </a:p>
        </p:txBody>
      </p:sp>
      <p:sp>
        <p:nvSpPr>
          <p:cNvPr id="3" name="Text 1"/>
          <p:cNvSpPr/>
          <p:nvPr/>
        </p:nvSpPr>
        <p:spPr>
          <a:xfrm>
            <a:off x="457200" y="1280160"/>
            <a:ext cx="8229600" cy="457200"/>
          </a:xfrm>
          <a:prstGeom prst="rect">
            <a:avLst/>
          </a:prstGeom>
          <a:noFill/>
          <a:ln/>
        </p:spPr>
        <p:txBody>
          <a:bodyPr wrap="square" lIns="0" tIns="0" rIns="0" bIns="0" rtlCol="0" anchor="ctr"/>
          <a:lstStyle/>
          <a:p>
            <a:pPr marL="0" indent="0" algn="ctr">
              <a:buNone/>
            </a:pPr>
            <a:r>
              <a:rPr lang="en-US" sz="1400" b="1" kern="0" spc="800" dirty="0">
                <a:solidFill>
                  <a:srgbClr val="FFD166"/>
                </a:solidFill>
              </a:rPr>
              <a:t>SECTION 6</a:t>
            </a:r>
            <a:endParaRPr lang="en-US" sz="1400" dirty="0"/>
          </a:p>
        </p:txBody>
      </p:sp>
      <p:sp>
        <p:nvSpPr>
          <p:cNvPr id="4" name="Text 2"/>
          <p:cNvSpPr/>
          <p:nvPr/>
        </p:nvSpPr>
        <p:spPr>
          <a:xfrm>
            <a:off x="537667" y="2423160"/>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Known File</a:t>
            </a:r>
            <a:endParaRPr lang="en-US" sz="4400" dirty="0"/>
          </a:p>
          <a:p>
            <a:pPr marL="0" indent="0" algn="ctr">
              <a:buNone/>
            </a:pPr>
            <a:r>
              <a:rPr lang="en-US" sz="4400" b="1" dirty="0">
                <a:solidFill>
                  <a:srgbClr val="1A1A2E"/>
                </a:solidFill>
              </a:rPr>
              <a:t>Filter (KFF)</a:t>
            </a:r>
            <a:endParaRPr lang="en-US" sz="4400" dirty="0"/>
          </a:p>
        </p:txBody>
      </p:sp>
      <p:sp>
        <p:nvSpPr>
          <p:cNvPr id="5" name="Text 3"/>
          <p:cNvSpPr/>
          <p:nvPr/>
        </p:nvSpPr>
        <p:spPr>
          <a:xfrm>
            <a:off x="537667" y="4136745"/>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Using hash libraries to prioritise investigative effort by eliminating known-good files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6 · KNOWN FILE FILTER (KFF)</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Known File Filter: Definition &amp; Purpose</a:t>
            </a:r>
            <a:endParaRPr lang="en-US" sz="2800" dirty="0"/>
          </a:p>
        </p:txBody>
      </p:sp>
      <p:sp>
        <p:nvSpPr>
          <p:cNvPr id="5" name="Shape 3"/>
          <p:cNvSpPr/>
          <p:nvPr/>
        </p:nvSpPr>
        <p:spPr>
          <a:xfrm>
            <a:off x="320040" y="1188720"/>
            <a:ext cx="8503920" cy="36576"/>
          </a:xfrm>
          <a:prstGeom prst="rect">
            <a:avLst/>
          </a:prstGeom>
          <a:solidFill>
            <a:srgbClr val="FFD166"/>
          </a:solidFill>
          <a:ln w="12700">
            <a:solidFill>
              <a:srgbClr val="FFD166"/>
            </a:solidFill>
            <a:prstDash val="solid"/>
          </a:ln>
        </p:spPr>
        <p:txBody>
          <a:bodyPr/>
          <a:lstStyle/>
          <a:p>
            <a:endParaRPr lang="en-SG"/>
          </a:p>
        </p:txBody>
      </p:sp>
      <p:sp>
        <p:nvSpPr>
          <p:cNvPr id="6" name="Shape 4"/>
          <p:cNvSpPr/>
          <p:nvPr/>
        </p:nvSpPr>
        <p:spPr>
          <a:xfrm>
            <a:off x="320040" y="1298448"/>
            <a:ext cx="8503920" cy="804672"/>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804672"/>
          </a:xfrm>
          <a:prstGeom prst="rect">
            <a:avLst/>
          </a:prstGeom>
          <a:solidFill>
            <a:srgbClr val="FFD166"/>
          </a:solidFill>
          <a:ln w="12700">
            <a:solidFill>
              <a:srgbClr val="FFD166"/>
            </a:solidFill>
            <a:prstDash val="solid"/>
          </a:ln>
        </p:spPr>
        <p:txBody>
          <a:bodyPr/>
          <a:lstStyle/>
          <a:p>
            <a:endParaRPr lang="en-SG"/>
          </a:p>
        </p:txBody>
      </p:sp>
      <p:sp>
        <p:nvSpPr>
          <p:cNvPr id="8" name="Text 6"/>
          <p:cNvSpPr/>
          <p:nvPr/>
        </p:nvSpPr>
        <p:spPr>
          <a:xfrm>
            <a:off x="512064" y="1335024"/>
            <a:ext cx="8229600" cy="274320"/>
          </a:xfrm>
          <a:prstGeom prst="rect">
            <a:avLst/>
          </a:prstGeom>
          <a:noFill/>
          <a:ln/>
        </p:spPr>
        <p:txBody>
          <a:bodyPr wrap="square" lIns="0" tIns="0" rIns="0" bIns="0" rtlCol="0" anchor="ctr"/>
          <a:lstStyle/>
          <a:p>
            <a:pPr marL="0" indent="0">
              <a:buNone/>
            </a:pPr>
            <a:r>
              <a:rPr lang="en-US" sz="1100" b="1" dirty="0">
                <a:solidFill>
                  <a:srgbClr val="FFD166"/>
                </a:solidFill>
              </a:rPr>
              <a:t>Definition</a:t>
            </a:r>
            <a:endParaRPr lang="en-US" sz="1100" dirty="0"/>
          </a:p>
        </p:txBody>
      </p:sp>
      <p:sp>
        <p:nvSpPr>
          <p:cNvPr id="9" name="Text 7"/>
          <p:cNvSpPr/>
          <p:nvPr/>
        </p:nvSpPr>
        <p:spPr>
          <a:xfrm>
            <a:off x="512064" y="1627632"/>
            <a:ext cx="8092440" cy="411480"/>
          </a:xfrm>
          <a:prstGeom prst="rect">
            <a:avLst/>
          </a:prstGeom>
          <a:noFill/>
          <a:ln/>
        </p:spPr>
        <p:txBody>
          <a:bodyPr wrap="square" lIns="0" tIns="0" rIns="0" bIns="0" rtlCol="0" anchor="ctr"/>
          <a:lstStyle/>
          <a:p>
            <a:pPr marL="0" indent="0">
              <a:buNone/>
            </a:pPr>
            <a:r>
              <a:rPr lang="en-US" sz="1000" dirty="0">
                <a:solidFill>
                  <a:srgbClr val="1A1A2E"/>
                </a:solidFill>
              </a:rPr>
              <a:t>KFF is a hash-comparison library system that allows forensic software (such as FTK) to automatically classify files by comparing their cryptographic hash values (MD5/SHA-1) against a reference database of known files.</a:t>
            </a:r>
            <a:endParaRPr lang="en-US" sz="1000" dirty="0"/>
          </a:p>
        </p:txBody>
      </p:sp>
      <p:sp>
        <p:nvSpPr>
          <p:cNvPr id="10" name="Shape 8"/>
          <p:cNvSpPr/>
          <p:nvPr/>
        </p:nvSpPr>
        <p:spPr>
          <a:xfrm>
            <a:off x="320040" y="2249424"/>
            <a:ext cx="2724912" cy="245059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1" name="Shape 9"/>
          <p:cNvSpPr/>
          <p:nvPr/>
        </p:nvSpPr>
        <p:spPr>
          <a:xfrm>
            <a:off x="320040" y="2249424"/>
            <a:ext cx="2724912" cy="73152"/>
          </a:xfrm>
          <a:prstGeom prst="rect">
            <a:avLst/>
          </a:prstGeom>
          <a:solidFill>
            <a:srgbClr val="2EC4B6"/>
          </a:solidFill>
          <a:ln w="12700">
            <a:solidFill>
              <a:srgbClr val="2EC4B6"/>
            </a:solidFill>
            <a:prstDash val="solid"/>
          </a:ln>
        </p:spPr>
        <p:txBody>
          <a:bodyPr/>
          <a:lstStyle/>
          <a:p>
            <a:endParaRPr lang="en-SG"/>
          </a:p>
        </p:txBody>
      </p:sp>
      <p:sp>
        <p:nvSpPr>
          <p:cNvPr id="12" name="Text 10"/>
          <p:cNvSpPr/>
          <p:nvPr/>
        </p:nvSpPr>
        <p:spPr>
          <a:xfrm>
            <a:off x="320040" y="2359152"/>
            <a:ext cx="2724912"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320040" y="2834640"/>
            <a:ext cx="2724912" cy="320040"/>
          </a:xfrm>
          <a:prstGeom prst="rect">
            <a:avLst/>
          </a:prstGeom>
          <a:noFill/>
          <a:ln/>
        </p:spPr>
        <p:txBody>
          <a:bodyPr wrap="square" lIns="0" tIns="0" rIns="0" bIns="0" rtlCol="0" anchor="ctr"/>
          <a:lstStyle/>
          <a:p>
            <a:pPr marL="0" indent="0" algn="ctr">
              <a:buNone/>
            </a:pPr>
            <a:r>
              <a:rPr lang="en-US" sz="1200" b="1" dirty="0">
                <a:solidFill>
                  <a:srgbClr val="2EC4B6"/>
                </a:solidFill>
              </a:rPr>
              <a:t>KNOWN GOOD</a:t>
            </a:r>
            <a:endParaRPr lang="en-US" sz="1200" dirty="0"/>
          </a:p>
        </p:txBody>
      </p:sp>
      <p:sp>
        <p:nvSpPr>
          <p:cNvPr id="14" name="Text 12"/>
          <p:cNvSpPr/>
          <p:nvPr/>
        </p:nvSpPr>
        <p:spPr>
          <a:xfrm>
            <a:off x="320040" y="3145536"/>
            <a:ext cx="2724912" cy="237744"/>
          </a:xfrm>
          <a:prstGeom prst="rect">
            <a:avLst/>
          </a:prstGeom>
          <a:noFill/>
          <a:ln/>
        </p:spPr>
        <p:txBody>
          <a:bodyPr wrap="square" lIns="0" tIns="0" rIns="0" bIns="0" rtlCol="0" anchor="ctr"/>
          <a:lstStyle/>
          <a:p>
            <a:pPr marL="0" indent="0" algn="ctr">
              <a:buNone/>
            </a:pPr>
            <a:r>
              <a:rPr lang="en-US" sz="900" i="1" dirty="0">
                <a:solidFill>
                  <a:srgbClr val="475569"/>
                </a:solidFill>
              </a:rPr>
              <a:t>Ignore List</a:t>
            </a:r>
            <a:endParaRPr lang="en-US" sz="900" dirty="0"/>
          </a:p>
        </p:txBody>
      </p:sp>
      <p:sp>
        <p:nvSpPr>
          <p:cNvPr id="15" name="Text 13"/>
          <p:cNvSpPr/>
          <p:nvPr/>
        </p:nvSpPr>
        <p:spPr>
          <a:xfrm>
            <a:off x="429768" y="3410712"/>
            <a:ext cx="2505456" cy="1188720"/>
          </a:xfrm>
          <a:prstGeom prst="rect">
            <a:avLst/>
          </a:prstGeom>
          <a:noFill/>
          <a:ln/>
        </p:spPr>
        <p:txBody>
          <a:bodyPr wrap="square" lIns="0" tIns="0" rIns="0" bIns="0" rtlCol="0" anchor="ctr"/>
          <a:lstStyle/>
          <a:p>
            <a:pPr marL="0" indent="0">
              <a:buNone/>
            </a:pPr>
            <a:r>
              <a:rPr lang="en-US" sz="900" dirty="0">
                <a:solidFill>
                  <a:srgbClr val="1A1A2E"/>
                </a:solidFill>
              </a:rPr>
              <a:t>Files matching OS, application, and library hashes from sources like NSRL (National Software Reference Library). These are safe and can be excluded from analysis to save time.</a:t>
            </a:r>
            <a:endParaRPr lang="en-US" sz="900" dirty="0"/>
          </a:p>
        </p:txBody>
      </p:sp>
      <p:sp>
        <p:nvSpPr>
          <p:cNvPr id="16" name="Shape 14"/>
          <p:cNvSpPr/>
          <p:nvPr/>
        </p:nvSpPr>
        <p:spPr>
          <a:xfrm>
            <a:off x="3200400" y="2249424"/>
            <a:ext cx="2724912" cy="245059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7" name="Shape 15"/>
          <p:cNvSpPr/>
          <p:nvPr/>
        </p:nvSpPr>
        <p:spPr>
          <a:xfrm>
            <a:off x="3200400" y="2249424"/>
            <a:ext cx="2724912" cy="73152"/>
          </a:xfrm>
          <a:prstGeom prst="rect">
            <a:avLst/>
          </a:prstGeom>
          <a:solidFill>
            <a:srgbClr val="E63946"/>
          </a:solidFill>
          <a:ln w="12700">
            <a:solidFill>
              <a:srgbClr val="E63946"/>
            </a:solidFill>
            <a:prstDash val="solid"/>
          </a:ln>
        </p:spPr>
        <p:txBody>
          <a:bodyPr/>
          <a:lstStyle/>
          <a:p>
            <a:endParaRPr lang="en-SG"/>
          </a:p>
        </p:txBody>
      </p:sp>
      <p:sp>
        <p:nvSpPr>
          <p:cNvPr id="18" name="Text 16"/>
          <p:cNvSpPr/>
          <p:nvPr/>
        </p:nvSpPr>
        <p:spPr>
          <a:xfrm>
            <a:off x="3200400" y="2359152"/>
            <a:ext cx="2724912"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9" name="Text 17"/>
          <p:cNvSpPr/>
          <p:nvPr/>
        </p:nvSpPr>
        <p:spPr>
          <a:xfrm>
            <a:off x="3200400" y="2834640"/>
            <a:ext cx="2724912" cy="320040"/>
          </a:xfrm>
          <a:prstGeom prst="rect">
            <a:avLst/>
          </a:prstGeom>
          <a:noFill/>
          <a:ln/>
        </p:spPr>
        <p:txBody>
          <a:bodyPr wrap="square" lIns="0" tIns="0" rIns="0" bIns="0" rtlCol="0" anchor="ctr"/>
          <a:lstStyle/>
          <a:p>
            <a:pPr marL="0" indent="0" algn="ctr">
              <a:buNone/>
            </a:pPr>
            <a:r>
              <a:rPr lang="en-US" sz="1200" b="1" dirty="0">
                <a:solidFill>
                  <a:srgbClr val="E63946"/>
                </a:solidFill>
              </a:rPr>
              <a:t>KNOWN BAD</a:t>
            </a:r>
            <a:endParaRPr lang="en-US" sz="1200" dirty="0"/>
          </a:p>
        </p:txBody>
      </p:sp>
      <p:sp>
        <p:nvSpPr>
          <p:cNvPr id="20" name="Text 18"/>
          <p:cNvSpPr/>
          <p:nvPr/>
        </p:nvSpPr>
        <p:spPr>
          <a:xfrm>
            <a:off x="3200400" y="3145536"/>
            <a:ext cx="2724912" cy="237744"/>
          </a:xfrm>
          <a:prstGeom prst="rect">
            <a:avLst/>
          </a:prstGeom>
          <a:noFill/>
          <a:ln/>
        </p:spPr>
        <p:txBody>
          <a:bodyPr wrap="square" lIns="0" tIns="0" rIns="0" bIns="0" rtlCol="0" anchor="ctr"/>
          <a:lstStyle/>
          <a:p>
            <a:pPr marL="0" indent="0" algn="ctr">
              <a:buNone/>
            </a:pPr>
            <a:r>
              <a:rPr lang="en-US" sz="900" i="1" dirty="0">
                <a:solidFill>
                  <a:srgbClr val="475569"/>
                </a:solidFill>
              </a:rPr>
              <a:t>Alert List</a:t>
            </a:r>
            <a:endParaRPr lang="en-US" sz="900" dirty="0"/>
          </a:p>
        </p:txBody>
      </p:sp>
      <p:sp>
        <p:nvSpPr>
          <p:cNvPr id="21" name="Text 19"/>
          <p:cNvSpPr/>
          <p:nvPr/>
        </p:nvSpPr>
        <p:spPr>
          <a:xfrm>
            <a:off x="3310128" y="3410712"/>
            <a:ext cx="2505456" cy="1188720"/>
          </a:xfrm>
          <a:prstGeom prst="rect">
            <a:avLst/>
          </a:prstGeom>
          <a:noFill/>
          <a:ln/>
        </p:spPr>
        <p:txBody>
          <a:bodyPr wrap="square" lIns="0" tIns="0" rIns="0" bIns="0" rtlCol="0" anchor="ctr"/>
          <a:lstStyle/>
          <a:p>
            <a:pPr marL="0" indent="0">
              <a:buNone/>
            </a:pPr>
            <a:r>
              <a:rPr lang="en-US" sz="900" dirty="0">
                <a:solidFill>
                  <a:srgbClr val="1A1A2E"/>
                </a:solidFill>
              </a:rPr>
              <a:t>Files matching hashes of known malware, CSAM, or other contraband material. FTK flags these immediately — the analyst is alerted to review them as priority evidence.</a:t>
            </a:r>
            <a:endParaRPr lang="en-US" sz="900" dirty="0"/>
          </a:p>
        </p:txBody>
      </p:sp>
      <p:sp>
        <p:nvSpPr>
          <p:cNvPr id="22" name="Shape 20"/>
          <p:cNvSpPr/>
          <p:nvPr/>
        </p:nvSpPr>
        <p:spPr>
          <a:xfrm>
            <a:off x="6080760" y="2249424"/>
            <a:ext cx="2724912" cy="245059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3" name="Shape 21"/>
          <p:cNvSpPr/>
          <p:nvPr/>
        </p:nvSpPr>
        <p:spPr>
          <a:xfrm>
            <a:off x="6080760" y="2249424"/>
            <a:ext cx="2724912" cy="73152"/>
          </a:xfrm>
          <a:prstGeom prst="rect">
            <a:avLst/>
          </a:prstGeom>
          <a:solidFill>
            <a:srgbClr val="F4A261"/>
          </a:solidFill>
          <a:ln w="12700">
            <a:solidFill>
              <a:srgbClr val="F4A261"/>
            </a:solidFill>
            <a:prstDash val="solid"/>
          </a:ln>
        </p:spPr>
        <p:txBody>
          <a:bodyPr/>
          <a:lstStyle/>
          <a:p>
            <a:endParaRPr lang="en-SG"/>
          </a:p>
        </p:txBody>
      </p:sp>
      <p:sp>
        <p:nvSpPr>
          <p:cNvPr id="24" name="Text 22"/>
          <p:cNvSpPr/>
          <p:nvPr/>
        </p:nvSpPr>
        <p:spPr>
          <a:xfrm>
            <a:off x="6080760" y="2359152"/>
            <a:ext cx="2724912"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6080760" y="2834640"/>
            <a:ext cx="2724912" cy="320040"/>
          </a:xfrm>
          <a:prstGeom prst="rect">
            <a:avLst/>
          </a:prstGeom>
          <a:noFill/>
          <a:ln/>
        </p:spPr>
        <p:txBody>
          <a:bodyPr wrap="square" lIns="0" tIns="0" rIns="0" bIns="0" rtlCol="0" anchor="ctr"/>
          <a:lstStyle/>
          <a:p>
            <a:pPr marL="0" indent="0" algn="ctr">
              <a:buNone/>
            </a:pPr>
            <a:r>
              <a:rPr lang="en-US" sz="1200" b="1" dirty="0">
                <a:solidFill>
                  <a:srgbClr val="F4A261"/>
                </a:solidFill>
              </a:rPr>
              <a:t>UNKNOWN</a:t>
            </a:r>
            <a:endParaRPr lang="en-US" sz="1200" dirty="0"/>
          </a:p>
        </p:txBody>
      </p:sp>
      <p:sp>
        <p:nvSpPr>
          <p:cNvPr id="26" name="Text 24"/>
          <p:cNvSpPr/>
          <p:nvPr/>
        </p:nvSpPr>
        <p:spPr>
          <a:xfrm>
            <a:off x="6080760" y="3145536"/>
            <a:ext cx="2724912" cy="237744"/>
          </a:xfrm>
          <a:prstGeom prst="rect">
            <a:avLst/>
          </a:prstGeom>
          <a:noFill/>
          <a:ln/>
        </p:spPr>
        <p:txBody>
          <a:bodyPr wrap="square" lIns="0" tIns="0" rIns="0" bIns="0" rtlCol="0" anchor="ctr"/>
          <a:lstStyle/>
          <a:p>
            <a:pPr marL="0" indent="0" algn="ctr">
              <a:buNone/>
            </a:pPr>
            <a:r>
              <a:rPr lang="en-US" sz="900" i="1" dirty="0">
                <a:solidFill>
                  <a:srgbClr val="475569"/>
                </a:solidFill>
              </a:rPr>
              <a:t>Investigate</a:t>
            </a:r>
            <a:endParaRPr lang="en-US" sz="900" dirty="0"/>
          </a:p>
        </p:txBody>
      </p:sp>
      <p:sp>
        <p:nvSpPr>
          <p:cNvPr id="27" name="Text 25"/>
          <p:cNvSpPr/>
          <p:nvPr/>
        </p:nvSpPr>
        <p:spPr>
          <a:xfrm>
            <a:off x="6190488" y="3410712"/>
            <a:ext cx="2505456" cy="1188720"/>
          </a:xfrm>
          <a:prstGeom prst="rect">
            <a:avLst/>
          </a:prstGeom>
          <a:noFill/>
          <a:ln/>
        </p:spPr>
        <p:txBody>
          <a:bodyPr wrap="square" lIns="0" tIns="0" rIns="0" bIns="0" rtlCol="0" anchor="ctr"/>
          <a:lstStyle/>
          <a:p>
            <a:pPr marL="0" indent="0">
              <a:buNone/>
            </a:pPr>
            <a:r>
              <a:rPr lang="en-US" sz="900" dirty="0">
                <a:solidFill>
                  <a:srgbClr val="1A1A2E"/>
                </a:solidFill>
              </a:rPr>
              <a:t>Files with no hash match in the KFF library. These require manual investigation by the analyst as they cannot be pre-classified automatically.</a:t>
            </a:r>
            <a:endParaRPr lang="en-US" sz="900" dirty="0"/>
          </a:p>
        </p:txBody>
      </p:sp>
      <p:sp>
        <p:nvSpPr>
          <p:cNvPr id="28" name="Text 26"/>
          <p:cNvSpPr/>
          <p:nvPr/>
        </p:nvSpPr>
        <p:spPr>
          <a:xfrm>
            <a:off x="320040" y="4696440"/>
            <a:ext cx="8503920" cy="228600"/>
          </a:xfrm>
          <a:prstGeom prst="rect">
            <a:avLst/>
          </a:prstGeom>
          <a:noFill/>
          <a:ln/>
        </p:spPr>
        <p:txBody>
          <a:bodyPr wrap="square" lIns="0" tIns="0" rIns="0" bIns="0" rtlCol="0" anchor="ctr"/>
          <a:lstStyle/>
          <a:p>
            <a:pPr marL="0" indent="0">
              <a:buNone/>
            </a:pPr>
            <a:r>
              <a:rPr lang="en-US" sz="800" i="1" dirty="0">
                <a:solidFill>
                  <a:srgbClr val="FFD166"/>
                </a:solidFill>
              </a:rPr>
              <a:t>💡  KFF dramatically reduces analysis time on large drives — analysts can skip thousands of known-good OS files and focus only on relevant or suspicious data.</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94560"/>
            <a:ext cx="9144000" cy="54864"/>
          </a:xfrm>
          <a:prstGeom prst="rect">
            <a:avLst/>
          </a:prstGeom>
          <a:solidFill>
            <a:srgbClr val="E63946"/>
          </a:solidFill>
          <a:ln w="12700">
            <a:solidFill>
              <a:srgbClr val="E63946"/>
            </a:solidFill>
            <a:prstDash val="solid"/>
          </a:ln>
        </p:spPr>
        <p:txBody>
          <a:bodyPr/>
          <a:lstStyle/>
          <a:p>
            <a:endParaRPr lang="en-SG"/>
          </a:p>
        </p:txBody>
      </p:sp>
      <p:sp>
        <p:nvSpPr>
          <p:cNvPr id="3" name="Text 1"/>
          <p:cNvSpPr/>
          <p:nvPr/>
        </p:nvSpPr>
        <p:spPr>
          <a:xfrm>
            <a:off x="457200" y="1234440"/>
            <a:ext cx="8229600" cy="457200"/>
          </a:xfrm>
          <a:prstGeom prst="rect">
            <a:avLst/>
          </a:prstGeom>
          <a:noFill/>
          <a:ln/>
        </p:spPr>
        <p:txBody>
          <a:bodyPr wrap="square" lIns="0" tIns="0" rIns="0" bIns="0" rtlCol="0" anchor="ctr"/>
          <a:lstStyle/>
          <a:p>
            <a:pPr marL="0" indent="0" algn="ctr">
              <a:buNone/>
            </a:pPr>
            <a:r>
              <a:rPr lang="en-US" sz="1400" b="1" kern="0" spc="800" dirty="0">
                <a:solidFill>
                  <a:srgbClr val="E63946"/>
                </a:solidFill>
              </a:rPr>
              <a:t>SECTION 7–10</a:t>
            </a:r>
            <a:endParaRPr lang="en-US" sz="1400" dirty="0"/>
          </a:p>
        </p:txBody>
      </p:sp>
      <p:sp>
        <p:nvSpPr>
          <p:cNvPr id="4" name="Text 2"/>
          <p:cNvSpPr/>
          <p:nvPr/>
        </p:nvSpPr>
        <p:spPr>
          <a:xfrm>
            <a:off x="559613" y="2404872"/>
            <a:ext cx="8229600" cy="1371600"/>
          </a:xfrm>
          <a:prstGeom prst="rect">
            <a:avLst/>
          </a:prstGeom>
          <a:noFill/>
          <a:ln/>
        </p:spPr>
        <p:txBody>
          <a:bodyPr wrap="square" lIns="0" tIns="0" rIns="0" bIns="0" rtlCol="0" anchor="ctr"/>
          <a:lstStyle/>
          <a:p>
            <a:pPr marL="0" indent="0" algn="ctr">
              <a:buNone/>
            </a:pPr>
            <a:r>
              <a:rPr lang="en-US" sz="4400" b="1" dirty="0">
                <a:solidFill>
                  <a:srgbClr val="1A1A2E"/>
                </a:solidFill>
              </a:rPr>
              <a:t>Data Hiding</a:t>
            </a:r>
            <a:endParaRPr lang="en-US" sz="4400" dirty="0"/>
          </a:p>
          <a:p>
            <a:pPr marL="0" indent="0" algn="ctr">
              <a:buNone/>
            </a:pPr>
            <a:r>
              <a:rPr lang="en-US" sz="4400" b="1" dirty="0">
                <a:solidFill>
                  <a:srgbClr val="1A1A2E"/>
                </a:solidFill>
              </a:rPr>
              <a:t>Techniques</a:t>
            </a:r>
            <a:endParaRPr lang="en-US" sz="4400" dirty="0"/>
          </a:p>
        </p:txBody>
      </p:sp>
      <p:sp>
        <p:nvSpPr>
          <p:cNvPr id="5" name="Text 3"/>
          <p:cNvSpPr/>
          <p:nvPr/>
        </p:nvSpPr>
        <p:spPr>
          <a:xfrm>
            <a:off x="457200" y="4041648"/>
            <a:ext cx="8229600" cy="457200"/>
          </a:xfrm>
          <a:prstGeom prst="rect">
            <a:avLst/>
          </a:prstGeom>
          <a:noFill/>
          <a:ln/>
        </p:spPr>
        <p:txBody>
          <a:bodyPr wrap="square" lIns="0" tIns="0" rIns="0" bIns="0" rtlCol="0" anchor="ctr"/>
          <a:lstStyle/>
          <a:p>
            <a:pPr marL="0" indent="0" algn="ctr">
              <a:buNone/>
            </a:pPr>
            <a:r>
              <a:rPr lang="en-US" sz="1400" i="1" dirty="0">
                <a:solidFill>
                  <a:srgbClr val="475569"/>
                </a:solidFill>
              </a:rPr>
              <a:t>How attackers conceal evidence — and how forensic analysts detect 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7 · INTRODUCTION TO DATA HIDING</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What is Data Hiding?</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Shape 4"/>
          <p:cNvSpPr/>
          <p:nvPr/>
        </p:nvSpPr>
        <p:spPr>
          <a:xfrm>
            <a:off x="320040" y="1298448"/>
            <a:ext cx="8503920" cy="82296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822960"/>
          </a:xfrm>
          <a:prstGeom prst="rect">
            <a:avLst/>
          </a:prstGeom>
          <a:solidFill>
            <a:srgbClr val="E63946"/>
          </a:solidFill>
          <a:ln w="12700">
            <a:solidFill>
              <a:srgbClr val="E63946"/>
            </a:solidFill>
            <a:prstDash val="solid"/>
          </a:ln>
        </p:spPr>
        <p:txBody>
          <a:bodyPr/>
          <a:lstStyle/>
          <a:p>
            <a:endParaRPr lang="en-SG"/>
          </a:p>
        </p:txBody>
      </p:sp>
      <p:sp>
        <p:nvSpPr>
          <p:cNvPr id="8" name="Text 6"/>
          <p:cNvSpPr/>
          <p:nvPr/>
        </p:nvSpPr>
        <p:spPr>
          <a:xfrm>
            <a:off x="512064" y="1371600"/>
            <a:ext cx="8229600" cy="274320"/>
          </a:xfrm>
          <a:prstGeom prst="rect">
            <a:avLst/>
          </a:prstGeom>
          <a:noFill/>
          <a:ln/>
        </p:spPr>
        <p:txBody>
          <a:bodyPr wrap="square" lIns="0" tIns="0" rIns="0" bIns="0" rtlCol="0" anchor="ctr"/>
          <a:lstStyle/>
          <a:p>
            <a:pPr marL="0" indent="0">
              <a:buNone/>
            </a:pPr>
            <a:r>
              <a:rPr lang="en-US" sz="1100" b="1" dirty="0">
                <a:solidFill>
                  <a:srgbClr val="E63946"/>
                </a:solidFill>
              </a:rPr>
              <a:t>Definition</a:t>
            </a:r>
            <a:endParaRPr lang="en-US" sz="1100" dirty="0"/>
          </a:p>
        </p:txBody>
      </p:sp>
      <p:sp>
        <p:nvSpPr>
          <p:cNvPr id="9" name="Text 7"/>
          <p:cNvSpPr/>
          <p:nvPr/>
        </p:nvSpPr>
        <p:spPr>
          <a:xfrm>
            <a:off x="512064" y="1664208"/>
            <a:ext cx="8092440" cy="384048"/>
          </a:xfrm>
          <a:prstGeom prst="rect">
            <a:avLst/>
          </a:prstGeom>
          <a:noFill/>
          <a:ln/>
        </p:spPr>
        <p:txBody>
          <a:bodyPr wrap="square" lIns="0" tIns="0" rIns="0" bIns="0" rtlCol="0" anchor="ctr"/>
          <a:lstStyle/>
          <a:p>
            <a:pPr marL="0" indent="0">
              <a:buNone/>
            </a:pPr>
            <a:r>
              <a:rPr lang="en-US" sz="1050" dirty="0">
                <a:solidFill>
                  <a:srgbClr val="1A1A2E"/>
                </a:solidFill>
              </a:rPr>
              <a:t>Data hiding refers to the deliberate concealment of information to prevent detection, identification, or recovery during a forensic investigation.</a:t>
            </a:r>
            <a:endParaRPr lang="en-US" sz="1050" dirty="0"/>
          </a:p>
        </p:txBody>
      </p:sp>
      <p:sp>
        <p:nvSpPr>
          <p:cNvPr id="10" name="Text 8"/>
          <p:cNvSpPr/>
          <p:nvPr/>
        </p:nvSpPr>
        <p:spPr>
          <a:xfrm>
            <a:off x="320040" y="2240280"/>
            <a:ext cx="8503920" cy="347472"/>
          </a:xfrm>
          <a:prstGeom prst="rect">
            <a:avLst/>
          </a:prstGeom>
          <a:noFill/>
          <a:ln/>
        </p:spPr>
        <p:txBody>
          <a:bodyPr wrap="square" lIns="0" tIns="0" rIns="0" bIns="0" rtlCol="0" anchor="ctr"/>
          <a:lstStyle/>
          <a:p>
            <a:pPr marL="0" indent="0">
              <a:buNone/>
            </a:pPr>
            <a:r>
              <a:rPr lang="en-US" sz="1300" b="1" dirty="0">
                <a:solidFill>
                  <a:srgbClr val="1A1A2E"/>
                </a:solidFill>
              </a:rPr>
              <a:t>Why do attackers hide data?</a:t>
            </a:r>
            <a:endParaRPr lang="en-US" sz="1300" dirty="0"/>
          </a:p>
        </p:txBody>
      </p:sp>
      <p:sp>
        <p:nvSpPr>
          <p:cNvPr id="11" name="Shape 9"/>
          <p:cNvSpPr/>
          <p:nvPr/>
        </p:nvSpPr>
        <p:spPr>
          <a:xfrm>
            <a:off x="320040" y="2633472"/>
            <a:ext cx="4251960" cy="88696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2" name="Text 10"/>
          <p:cNvSpPr/>
          <p:nvPr/>
        </p:nvSpPr>
        <p:spPr>
          <a:xfrm>
            <a:off x="457200" y="2706624"/>
            <a:ext cx="3977640" cy="274320"/>
          </a:xfrm>
          <a:prstGeom prst="rect">
            <a:avLst/>
          </a:prstGeom>
          <a:noFill/>
          <a:ln/>
        </p:spPr>
        <p:txBody>
          <a:bodyPr wrap="square" lIns="0" tIns="0" rIns="0" bIns="0" rtlCol="0" anchor="ctr"/>
          <a:lstStyle/>
          <a:p>
            <a:pPr marL="0" indent="0">
              <a:buNone/>
            </a:pPr>
            <a:r>
              <a:rPr lang="en-US" sz="1100" b="1" dirty="0">
                <a:solidFill>
                  <a:srgbClr val="F4A261"/>
                </a:solidFill>
              </a:rPr>
              <a:t>🚫  Avoid Detection</a:t>
            </a:r>
            <a:endParaRPr lang="en-US" sz="1100" dirty="0"/>
          </a:p>
        </p:txBody>
      </p:sp>
      <p:sp>
        <p:nvSpPr>
          <p:cNvPr id="13" name="Text 11"/>
          <p:cNvSpPr/>
          <p:nvPr/>
        </p:nvSpPr>
        <p:spPr>
          <a:xfrm>
            <a:off x="457200" y="3035808"/>
            <a:ext cx="3977640" cy="402336"/>
          </a:xfrm>
          <a:prstGeom prst="rect">
            <a:avLst/>
          </a:prstGeom>
          <a:noFill/>
          <a:ln/>
        </p:spPr>
        <p:txBody>
          <a:bodyPr wrap="square" lIns="0" tIns="0" rIns="0" bIns="0" rtlCol="0" anchor="ctr"/>
          <a:lstStyle/>
          <a:p>
            <a:pPr marL="0" indent="0">
              <a:buNone/>
            </a:pPr>
            <a:r>
              <a:rPr lang="en-US" sz="950" dirty="0">
                <a:solidFill>
                  <a:srgbClr val="1A1A2E"/>
                </a:solidFill>
              </a:rPr>
              <a:t>Prevent security tools, analysts, or law enforcement from finding incriminating content.</a:t>
            </a:r>
            <a:endParaRPr lang="en-US" sz="950" dirty="0"/>
          </a:p>
        </p:txBody>
      </p:sp>
      <p:sp>
        <p:nvSpPr>
          <p:cNvPr id="14" name="Shape 12"/>
          <p:cNvSpPr/>
          <p:nvPr/>
        </p:nvSpPr>
        <p:spPr>
          <a:xfrm>
            <a:off x="4754880" y="2633472"/>
            <a:ext cx="4251960" cy="88696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5" name="Text 13"/>
          <p:cNvSpPr/>
          <p:nvPr/>
        </p:nvSpPr>
        <p:spPr>
          <a:xfrm>
            <a:off x="4892040" y="2706624"/>
            <a:ext cx="3977640" cy="274320"/>
          </a:xfrm>
          <a:prstGeom prst="rect">
            <a:avLst/>
          </a:prstGeom>
          <a:noFill/>
          <a:ln/>
        </p:spPr>
        <p:txBody>
          <a:bodyPr wrap="square" lIns="0" tIns="0" rIns="0" bIns="0" rtlCol="0" anchor="ctr"/>
          <a:lstStyle/>
          <a:p>
            <a:pPr marL="0" indent="0">
              <a:buNone/>
            </a:pPr>
            <a:r>
              <a:rPr lang="en-US" sz="1100" b="1" dirty="0">
                <a:solidFill>
                  <a:srgbClr val="F4A261"/>
                </a:solidFill>
              </a:rPr>
              <a:t>🗑️  Destroy Evidence</a:t>
            </a:r>
            <a:endParaRPr lang="en-US" sz="1100" dirty="0"/>
          </a:p>
        </p:txBody>
      </p:sp>
      <p:sp>
        <p:nvSpPr>
          <p:cNvPr id="16" name="Text 14"/>
          <p:cNvSpPr/>
          <p:nvPr/>
        </p:nvSpPr>
        <p:spPr>
          <a:xfrm>
            <a:off x="4892040" y="3035808"/>
            <a:ext cx="3977640" cy="402336"/>
          </a:xfrm>
          <a:prstGeom prst="rect">
            <a:avLst/>
          </a:prstGeom>
          <a:noFill/>
          <a:ln/>
        </p:spPr>
        <p:txBody>
          <a:bodyPr wrap="square" lIns="0" tIns="0" rIns="0" bIns="0" rtlCol="0" anchor="ctr"/>
          <a:lstStyle/>
          <a:p>
            <a:pPr marL="0" indent="0">
              <a:buNone/>
            </a:pPr>
            <a:r>
              <a:rPr lang="en-US" sz="950" dirty="0">
                <a:solidFill>
                  <a:srgbClr val="1A1A2E"/>
                </a:solidFill>
              </a:rPr>
              <a:t>Overwrite, encrypt, or relocate data to frustrate forensic recovery attempts.</a:t>
            </a:r>
            <a:endParaRPr lang="en-US" sz="950" dirty="0"/>
          </a:p>
        </p:txBody>
      </p:sp>
      <p:sp>
        <p:nvSpPr>
          <p:cNvPr id="17" name="Shape 15"/>
          <p:cNvSpPr/>
          <p:nvPr/>
        </p:nvSpPr>
        <p:spPr>
          <a:xfrm>
            <a:off x="320040" y="3639312"/>
            <a:ext cx="4251960" cy="88696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8" name="Text 16"/>
          <p:cNvSpPr/>
          <p:nvPr/>
        </p:nvSpPr>
        <p:spPr>
          <a:xfrm>
            <a:off x="457200" y="3712464"/>
            <a:ext cx="3977640" cy="274320"/>
          </a:xfrm>
          <a:prstGeom prst="rect">
            <a:avLst/>
          </a:prstGeom>
          <a:noFill/>
          <a:ln/>
        </p:spPr>
        <p:txBody>
          <a:bodyPr wrap="square" lIns="0" tIns="0" rIns="0" bIns="0" rtlCol="0" anchor="ctr"/>
          <a:lstStyle/>
          <a:p>
            <a:pPr marL="0" indent="0">
              <a:buNone/>
            </a:pPr>
            <a:r>
              <a:rPr lang="en-US" sz="1100" b="1" dirty="0">
                <a:solidFill>
                  <a:srgbClr val="F4A261"/>
                </a:solidFill>
              </a:rPr>
              <a:t>🕵️  Maintain Persistence</a:t>
            </a:r>
            <a:endParaRPr lang="en-US" sz="1100" dirty="0"/>
          </a:p>
        </p:txBody>
      </p:sp>
      <p:sp>
        <p:nvSpPr>
          <p:cNvPr id="19" name="Text 17"/>
          <p:cNvSpPr/>
          <p:nvPr/>
        </p:nvSpPr>
        <p:spPr>
          <a:xfrm>
            <a:off x="457200" y="4041648"/>
            <a:ext cx="3977640" cy="402336"/>
          </a:xfrm>
          <a:prstGeom prst="rect">
            <a:avLst/>
          </a:prstGeom>
          <a:noFill/>
          <a:ln/>
        </p:spPr>
        <p:txBody>
          <a:bodyPr wrap="square" lIns="0" tIns="0" rIns="0" bIns="0" rtlCol="0" anchor="ctr"/>
          <a:lstStyle/>
          <a:p>
            <a:pPr marL="0" indent="0">
              <a:buNone/>
            </a:pPr>
            <a:r>
              <a:rPr lang="en-US" sz="950" dirty="0">
                <a:solidFill>
                  <a:srgbClr val="1A1A2E"/>
                </a:solidFill>
              </a:rPr>
              <a:t>Hide malware, backdoors, or command-and-control payloads where they are unlikely to be found.</a:t>
            </a:r>
            <a:endParaRPr lang="en-US" sz="950" dirty="0"/>
          </a:p>
        </p:txBody>
      </p:sp>
      <p:sp>
        <p:nvSpPr>
          <p:cNvPr id="20" name="Shape 18"/>
          <p:cNvSpPr/>
          <p:nvPr/>
        </p:nvSpPr>
        <p:spPr>
          <a:xfrm>
            <a:off x="4754880" y="3639312"/>
            <a:ext cx="4251960" cy="88696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1" name="Text 19"/>
          <p:cNvSpPr/>
          <p:nvPr/>
        </p:nvSpPr>
        <p:spPr>
          <a:xfrm>
            <a:off x="4892040" y="3712464"/>
            <a:ext cx="3977640" cy="274320"/>
          </a:xfrm>
          <a:prstGeom prst="rect">
            <a:avLst/>
          </a:prstGeom>
          <a:noFill/>
          <a:ln/>
        </p:spPr>
        <p:txBody>
          <a:bodyPr wrap="square" lIns="0" tIns="0" rIns="0" bIns="0" rtlCol="0" anchor="ctr"/>
          <a:lstStyle/>
          <a:p>
            <a:pPr marL="0" indent="0">
              <a:buNone/>
            </a:pPr>
            <a:r>
              <a:rPr lang="en-US" sz="1100" b="1" dirty="0">
                <a:solidFill>
                  <a:srgbClr val="F4A261"/>
                </a:solidFill>
              </a:rPr>
              <a:t>💰  Protect Stolen Data</a:t>
            </a:r>
            <a:endParaRPr lang="en-US" sz="1100" dirty="0"/>
          </a:p>
        </p:txBody>
      </p:sp>
      <p:sp>
        <p:nvSpPr>
          <p:cNvPr id="22" name="Text 20"/>
          <p:cNvSpPr/>
          <p:nvPr/>
        </p:nvSpPr>
        <p:spPr>
          <a:xfrm>
            <a:off x="4892040" y="4041648"/>
            <a:ext cx="3977640" cy="402336"/>
          </a:xfrm>
          <a:prstGeom prst="rect">
            <a:avLst/>
          </a:prstGeom>
          <a:noFill/>
          <a:ln/>
        </p:spPr>
        <p:txBody>
          <a:bodyPr wrap="square" lIns="0" tIns="0" rIns="0" bIns="0" rtlCol="0" anchor="ctr"/>
          <a:lstStyle/>
          <a:p>
            <a:pPr marL="0" indent="0">
              <a:buNone/>
            </a:pPr>
            <a:r>
              <a:rPr lang="en-US" sz="950" dirty="0">
                <a:solidFill>
                  <a:srgbClr val="1A1A2E"/>
                </a:solidFill>
              </a:rPr>
              <a:t>Conceal exfiltrated intellectual property, credentials, or financial data from investigators.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8 · DATA HIDING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1: Filename &amp; Extension Manipulation</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Shape 4"/>
          <p:cNvSpPr/>
          <p:nvPr/>
        </p:nvSpPr>
        <p:spPr>
          <a:xfrm>
            <a:off x="320040" y="1298448"/>
            <a:ext cx="5029200" cy="333756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Text 5"/>
          <p:cNvSpPr/>
          <p:nvPr/>
        </p:nvSpPr>
        <p:spPr>
          <a:xfrm>
            <a:off x="502920" y="1408176"/>
            <a:ext cx="4663440" cy="320040"/>
          </a:xfrm>
          <a:prstGeom prst="rect">
            <a:avLst/>
          </a:prstGeom>
          <a:noFill/>
          <a:ln/>
        </p:spPr>
        <p:txBody>
          <a:bodyPr wrap="square" lIns="0" tIns="0" rIns="0" bIns="0" rtlCol="0" anchor="ctr"/>
          <a:lstStyle/>
          <a:p>
            <a:pPr marL="0" indent="0">
              <a:buNone/>
            </a:pPr>
            <a:r>
              <a:rPr lang="en-US" sz="1200" b="1" dirty="0">
                <a:solidFill>
                  <a:srgbClr val="F4A261"/>
                </a:solidFill>
              </a:rPr>
              <a:t>How It Works</a:t>
            </a:r>
            <a:endParaRPr lang="en-US" sz="1200" dirty="0"/>
          </a:p>
        </p:txBody>
      </p:sp>
      <p:sp>
        <p:nvSpPr>
          <p:cNvPr id="8" name="Text 6"/>
          <p:cNvSpPr/>
          <p:nvPr/>
        </p:nvSpPr>
        <p:spPr>
          <a:xfrm>
            <a:off x="502920" y="1801368"/>
            <a:ext cx="4663440" cy="457200"/>
          </a:xfrm>
          <a:prstGeom prst="rect">
            <a:avLst/>
          </a:prstGeom>
          <a:noFill/>
          <a:ln/>
        </p:spPr>
        <p:txBody>
          <a:bodyPr wrap="square" lIns="0" tIns="0" rIns="0" bIns="0" rtlCol="0" anchor="ctr"/>
          <a:lstStyle/>
          <a:p>
            <a:pPr marL="0" indent="0">
              <a:buNone/>
            </a:pPr>
            <a:r>
              <a:rPr lang="en-US" sz="950" dirty="0">
                <a:solidFill>
                  <a:srgbClr val="1A1A2E"/>
                </a:solidFill>
              </a:rPr>
              <a:t>• Attackers rename files — e.g. evidence.exe renamed to photo.jpg — to disguise their true type.</a:t>
            </a:r>
            <a:endParaRPr lang="en-US" sz="950" dirty="0"/>
          </a:p>
        </p:txBody>
      </p:sp>
      <p:sp>
        <p:nvSpPr>
          <p:cNvPr id="9" name="Text 7"/>
          <p:cNvSpPr/>
          <p:nvPr/>
        </p:nvSpPr>
        <p:spPr>
          <a:xfrm>
            <a:off x="502920" y="2313432"/>
            <a:ext cx="4663440" cy="457200"/>
          </a:xfrm>
          <a:prstGeom prst="rect">
            <a:avLst/>
          </a:prstGeom>
          <a:noFill/>
          <a:ln/>
        </p:spPr>
        <p:txBody>
          <a:bodyPr wrap="square" lIns="0" tIns="0" rIns="0" bIns="0" rtlCol="0" anchor="ctr"/>
          <a:lstStyle/>
          <a:p>
            <a:pPr marL="0" indent="0">
              <a:buNone/>
            </a:pPr>
            <a:r>
              <a:rPr lang="en-US" sz="950" dirty="0">
                <a:solidFill>
                  <a:srgbClr val="1A1A2E"/>
                </a:solidFill>
              </a:rPr>
              <a:t>• Changing the file extension tricks users and basic tools into misidentifying file type.</a:t>
            </a:r>
            <a:endParaRPr lang="en-US" sz="950" dirty="0"/>
          </a:p>
        </p:txBody>
      </p:sp>
      <p:sp>
        <p:nvSpPr>
          <p:cNvPr id="10" name="Text 8"/>
          <p:cNvSpPr/>
          <p:nvPr/>
        </p:nvSpPr>
        <p:spPr>
          <a:xfrm>
            <a:off x="502920" y="2825496"/>
            <a:ext cx="4663440" cy="457200"/>
          </a:xfrm>
          <a:prstGeom prst="rect">
            <a:avLst/>
          </a:prstGeom>
          <a:noFill/>
          <a:ln/>
        </p:spPr>
        <p:txBody>
          <a:bodyPr wrap="square" lIns="0" tIns="0" rIns="0" bIns="0" rtlCol="0" anchor="ctr"/>
          <a:lstStyle/>
          <a:p>
            <a:pPr marL="0" indent="0">
              <a:buNone/>
            </a:pPr>
            <a:r>
              <a:rPr lang="en-US" sz="950" dirty="0">
                <a:solidFill>
                  <a:srgbClr val="1A1A2E"/>
                </a:solidFill>
              </a:rPr>
              <a:t>• Hidden files (prefix with dot on Linux/macOS; Hidden attribute on Windows) are not shown by default.</a:t>
            </a:r>
            <a:endParaRPr lang="en-US" sz="950" dirty="0"/>
          </a:p>
        </p:txBody>
      </p:sp>
      <p:sp>
        <p:nvSpPr>
          <p:cNvPr id="11" name="Text 9"/>
          <p:cNvSpPr/>
          <p:nvPr/>
        </p:nvSpPr>
        <p:spPr>
          <a:xfrm>
            <a:off x="502920" y="3337560"/>
            <a:ext cx="4663440" cy="457200"/>
          </a:xfrm>
          <a:prstGeom prst="rect">
            <a:avLst/>
          </a:prstGeom>
          <a:noFill/>
          <a:ln/>
        </p:spPr>
        <p:txBody>
          <a:bodyPr wrap="square" lIns="0" tIns="0" rIns="0" bIns="0" rtlCol="0" anchor="ctr"/>
          <a:lstStyle/>
          <a:p>
            <a:pPr marL="0" indent="0">
              <a:buNone/>
            </a:pPr>
            <a:r>
              <a:rPr lang="en-US" sz="950" dirty="0">
                <a:solidFill>
                  <a:srgbClr val="1A1A2E"/>
                </a:solidFill>
              </a:rPr>
              <a:t>• Files may be embedded within other files, such as hiding a ZIP inside a JPEG.</a:t>
            </a:r>
            <a:endParaRPr lang="en-US" sz="950" dirty="0"/>
          </a:p>
        </p:txBody>
      </p:sp>
      <p:sp>
        <p:nvSpPr>
          <p:cNvPr id="12" name="Text 10"/>
          <p:cNvSpPr/>
          <p:nvPr/>
        </p:nvSpPr>
        <p:spPr>
          <a:xfrm>
            <a:off x="502920" y="3849624"/>
            <a:ext cx="4663440" cy="457200"/>
          </a:xfrm>
          <a:prstGeom prst="rect">
            <a:avLst/>
          </a:prstGeom>
          <a:noFill/>
          <a:ln/>
        </p:spPr>
        <p:txBody>
          <a:bodyPr wrap="square" lIns="0" tIns="0" rIns="0" bIns="0" rtlCol="0" anchor="ctr"/>
          <a:lstStyle/>
          <a:p>
            <a:pPr marL="0" indent="0">
              <a:buNone/>
            </a:pPr>
            <a:r>
              <a:rPr lang="en-US" sz="950" dirty="0">
                <a:solidFill>
                  <a:srgbClr val="1A1A2E"/>
                </a:solidFill>
              </a:rPr>
              <a:t>• Misleading folder names (e.g. 'System32 Backup') camouflage suspicious directories.</a:t>
            </a:r>
            <a:endParaRPr lang="en-US" sz="950" dirty="0"/>
          </a:p>
        </p:txBody>
      </p:sp>
      <p:sp>
        <p:nvSpPr>
          <p:cNvPr id="13" name="Shape 11"/>
          <p:cNvSpPr/>
          <p:nvPr/>
        </p:nvSpPr>
        <p:spPr>
          <a:xfrm>
            <a:off x="5577840" y="1298448"/>
            <a:ext cx="3246120" cy="333756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4" name="Text 12"/>
          <p:cNvSpPr/>
          <p:nvPr/>
        </p:nvSpPr>
        <p:spPr>
          <a:xfrm>
            <a:off x="5715000" y="1408176"/>
            <a:ext cx="2971800" cy="320040"/>
          </a:xfrm>
          <a:prstGeom prst="rect">
            <a:avLst/>
          </a:prstGeom>
          <a:noFill/>
          <a:ln/>
        </p:spPr>
        <p:txBody>
          <a:bodyPr wrap="square" lIns="0" tIns="0" rIns="0" bIns="0" rtlCol="0" anchor="ctr"/>
          <a:lstStyle/>
          <a:p>
            <a:pPr marL="0" indent="0">
              <a:buNone/>
            </a:pPr>
            <a:r>
              <a:rPr lang="en-US" sz="1200" b="1" dirty="0">
                <a:solidFill>
                  <a:srgbClr val="00B4D8"/>
                </a:solidFill>
              </a:rPr>
              <a:t>Forensic Detection</a:t>
            </a:r>
            <a:endParaRPr lang="en-US" sz="1200" dirty="0"/>
          </a:p>
        </p:txBody>
      </p:sp>
      <p:sp>
        <p:nvSpPr>
          <p:cNvPr id="15" name="Text 13"/>
          <p:cNvSpPr/>
          <p:nvPr/>
        </p:nvSpPr>
        <p:spPr>
          <a:xfrm>
            <a:off x="5715000" y="1847088"/>
            <a:ext cx="2971800" cy="566928"/>
          </a:xfrm>
          <a:prstGeom prst="rect">
            <a:avLst/>
          </a:prstGeom>
          <a:noFill/>
          <a:ln/>
        </p:spPr>
        <p:txBody>
          <a:bodyPr wrap="square" lIns="0" tIns="0" rIns="0" bIns="0" rtlCol="0" anchor="ctr"/>
          <a:lstStyle/>
          <a:p>
            <a:pPr marL="0" indent="0">
              <a:buNone/>
            </a:pPr>
            <a:r>
              <a:rPr lang="en-US" sz="950" dirty="0">
                <a:solidFill>
                  <a:srgbClr val="1A1A2E"/>
                </a:solidFill>
              </a:rPr>
              <a:t>✔  Compare file headers (magic bytes) against the file extension</a:t>
            </a:r>
            <a:endParaRPr lang="en-US" sz="950" dirty="0"/>
          </a:p>
        </p:txBody>
      </p:sp>
      <p:sp>
        <p:nvSpPr>
          <p:cNvPr id="16" name="Text 14"/>
          <p:cNvSpPr/>
          <p:nvPr/>
        </p:nvSpPr>
        <p:spPr>
          <a:xfrm>
            <a:off x="5715000" y="2487168"/>
            <a:ext cx="2971800" cy="566928"/>
          </a:xfrm>
          <a:prstGeom prst="rect">
            <a:avLst/>
          </a:prstGeom>
          <a:noFill/>
          <a:ln/>
        </p:spPr>
        <p:txBody>
          <a:bodyPr wrap="square" lIns="0" tIns="0" rIns="0" bIns="0" rtlCol="0" anchor="ctr"/>
          <a:lstStyle/>
          <a:p>
            <a:pPr marL="0" indent="0">
              <a:buNone/>
            </a:pPr>
            <a:r>
              <a:rPr lang="en-US" sz="950" dirty="0">
                <a:solidFill>
                  <a:srgbClr val="1A1A2E"/>
                </a:solidFill>
              </a:rPr>
              <a:t>✔  FTK flags extension mismatches automatically</a:t>
            </a:r>
            <a:endParaRPr lang="en-US" sz="950" dirty="0"/>
          </a:p>
        </p:txBody>
      </p:sp>
      <p:sp>
        <p:nvSpPr>
          <p:cNvPr id="17" name="Text 15"/>
          <p:cNvSpPr/>
          <p:nvPr/>
        </p:nvSpPr>
        <p:spPr>
          <a:xfrm>
            <a:off x="5715000" y="3127248"/>
            <a:ext cx="2971800" cy="566928"/>
          </a:xfrm>
          <a:prstGeom prst="rect">
            <a:avLst/>
          </a:prstGeom>
          <a:noFill/>
          <a:ln/>
        </p:spPr>
        <p:txBody>
          <a:bodyPr wrap="square" lIns="0" tIns="0" rIns="0" bIns="0" rtlCol="0" anchor="ctr"/>
          <a:lstStyle/>
          <a:p>
            <a:pPr marL="0" indent="0">
              <a:buNone/>
            </a:pPr>
            <a:r>
              <a:rPr lang="en-US" sz="950" dirty="0">
                <a:solidFill>
                  <a:srgbClr val="1A1A2E"/>
                </a:solidFill>
              </a:rPr>
              <a:t>✔  Use 'show hidden files' and 'show system files' in analysis tools</a:t>
            </a:r>
            <a:endParaRPr lang="en-US" sz="950" dirty="0"/>
          </a:p>
        </p:txBody>
      </p:sp>
      <p:sp>
        <p:nvSpPr>
          <p:cNvPr id="18" name="Text 16"/>
          <p:cNvSpPr/>
          <p:nvPr/>
        </p:nvSpPr>
        <p:spPr>
          <a:xfrm>
            <a:off x="5715000" y="3767328"/>
            <a:ext cx="2971800" cy="566928"/>
          </a:xfrm>
          <a:prstGeom prst="rect">
            <a:avLst/>
          </a:prstGeom>
          <a:noFill/>
          <a:ln/>
        </p:spPr>
        <p:txBody>
          <a:bodyPr wrap="square" lIns="0" tIns="0" rIns="0" bIns="0" rtlCol="0" anchor="ctr"/>
          <a:lstStyle/>
          <a:p>
            <a:pPr marL="0" indent="0">
              <a:buNone/>
            </a:pPr>
            <a:r>
              <a:rPr lang="en-US" sz="950" dirty="0">
                <a:solidFill>
                  <a:srgbClr val="1A1A2E"/>
                </a:solidFill>
              </a:rPr>
              <a:t>✔  Hash comparison against KFF identifies known files even if renamed</a:t>
            </a:r>
            <a:endParaRPr lang="en-US" sz="950" dirty="0"/>
          </a:p>
        </p:txBody>
      </p:sp>
      <p:sp>
        <p:nvSpPr>
          <p:cNvPr id="19" name="Shape 17"/>
          <p:cNvSpPr/>
          <p:nvPr/>
        </p:nvSpPr>
        <p:spPr>
          <a:xfrm>
            <a:off x="5715000" y="3886200"/>
            <a:ext cx="2971800" cy="658368"/>
          </a:xfrm>
          <a:prstGeom prst="rect">
            <a:avLst/>
          </a:prstGeom>
          <a:solidFill>
            <a:srgbClr val="FFFFFF"/>
          </a:solidFill>
          <a:ln w="9525">
            <a:solidFill>
              <a:srgbClr val="E63946"/>
            </a:solidFill>
            <a:prstDash val="solid"/>
          </a:ln>
        </p:spPr>
        <p:txBody>
          <a:bodyPr/>
          <a:lstStyle/>
          <a:p>
            <a:endParaRPr lang="en-SG"/>
          </a:p>
        </p:txBody>
      </p:sp>
      <p:sp>
        <p:nvSpPr>
          <p:cNvPr id="20" name="Text 18"/>
          <p:cNvSpPr/>
          <p:nvPr/>
        </p:nvSpPr>
        <p:spPr>
          <a:xfrm>
            <a:off x="5806440" y="3931920"/>
            <a:ext cx="1371600" cy="256032"/>
          </a:xfrm>
          <a:prstGeom prst="rect">
            <a:avLst/>
          </a:prstGeom>
          <a:noFill/>
          <a:ln/>
        </p:spPr>
        <p:txBody>
          <a:bodyPr wrap="square" lIns="0" tIns="0" rIns="0" bIns="0" rtlCol="0" anchor="ctr"/>
          <a:lstStyle/>
          <a:p>
            <a:pPr marL="0" indent="0">
              <a:buNone/>
            </a:pPr>
            <a:r>
              <a:rPr lang="en-US" sz="900" b="1" dirty="0">
                <a:solidFill>
                  <a:srgbClr val="F4A261"/>
                </a:solidFill>
              </a:rPr>
              <a:t>malware.jpg</a:t>
            </a:r>
            <a:endParaRPr lang="en-US" sz="900" dirty="0"/>
          </a:p>
        </p:txBody>
      </p:sp>
      <p:sp>
        <p:nvSpPr>
          <p:cNvPr id="21" name="Text 19"/>
          <p:cNvSpPr/>
          <p:nvPr/>
        </p:nvSpPr>
        <p:spPr>
          <a:xfrm>
            <a:off x="5806440" y="4206240"/>
            <a:ext cx="1371600" cy="256032"/>
          </a:xfrm>
          <a:prstGeom prst="rect">
            <a:avLst/>
          </a:prstGeom>
          <a:noFill/>
          <a:ln/>
        </p:spPr>
        <p:txBody>
          <a:bodyPr wrap="square" lIns="0" tIns="0" rIns="0" bIns="0" rtlCol="0" anchor="ctr"/>
          <a:lstStyle/>
          <a:p>
            <a:pPr marL="0" indent="0">
              <a:buNone/>
            </a:pPr>
            <a:r>
              <a:rPr lang="en-US" sz="800" dirty="0">
                <a:solidFill>
                  <a:srgbClr val="E63946"/>
                </a:solidFill>
                <a:latin typeface="Consolas" pitchFamily="34" charset="0"/>
                <a:ea typeface="Consolas" pitchFamily="34" charset="-122"/>
                <a:cs typeface="Consolas" pitchFamily="34" charset="-120"/>
              </a:rPr>
              <a:t>4D 5A ...</a:t>
            </a:r>
            <a:endParaRPr lang="en-US" sz="800" dirty="0"/>
          </a:p>
        </p:txBody>
      </p:sp>
      <p:sp>
        <p:nvSpPr>
          <p:cNvPr id="22" name="Text 20"/>
          <p:cNvSpPr/>
          <p:nvPr/>
        </p:nvSpPr>
        <p:spPr>
          <a:xfrm>
            <a:off x="7223760" y="3913632"/>
            <a:ext cx="1371600" cy="566928"/>
          </a:xfrm>
          <a:prstGeom prst="rect">
            <a:avLst/>
          </a:prstGeom>
          <a:noFill/>
          <a:ln/>
        </p:spPr>
        <p:txBody>
          <a:bodyPr wrap="square" lIns="0" tIns="0" rIns="0" bIns="0" rtlCol="0" anchor="ctr"/>
          <a:lstStyle/>
          <a:p>
            <a:pPr marL="0" indent="0">
              <a:buNone/>
            </a:pPr>
            <a:r>
              <a:rPr lang="en-US" sz="750" dirty="0">
                <a:solidFill>
                  <a:srgbClr val="E63946"/>
                </a:solidFill>
              </a:rPr>
              <a:t>Expected: FF D8</a:t>
            </a:r>
            <a:endParaRPr lang="en-US" sz="750" dirty="0"/>
          </a:p>
          <a:p>
            <a:pPr marL="0" indent="0">
              <a:buNone/>
            </a:pPr>
            <a:r>
              <a:rPr lang="en-US" sz="750" dirty="0">
                <a:solidFill>
                  <a:srgbClr val="E63946"/>
                </a:solidFill>
              </a:rPr>
              <a:t>Actual: MZ header!</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8 · DATA HIDING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2: Disk Manipulation</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Shape 4"/>
          <p:cNvSpPr/>
          <p:nvPr/>
        </p:nvSpPr>
        <p:spPr>
          <a:xfrm>
            <a:off x="320040" y="1298448"/>
            <a:ext cx="8503920" cy="106984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1069848"/>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521208" y="1371600"/>
            <a:ext cx="8229600" cy="274320"/>
          </a:xfrm>
          <a:prstGeom prst="rect">
            <a:avLst/>
          </a:prstGeom>
          <a:noFill/>
          <a:ln/>
        </p:spPr>
        <p:txBody>
          <a:bodyPr wrap="square" lIns="0" tIns="0" rIns="0" bIns="0" rtlCol="0" anchor="ctr"/>
          <a:lstStyle/>
          <a:p>
            <a:pPr marL="0" indent="0">
              <a:buNone/>
            </a:pPr>
            <a:r>
              <a:rPr lang="en-US" sz="1200" b="1" dirty="0">
                <a:solidFill>
                  <a:srgbClr val="F4A261"/>
                </a:solidFill>
              </a:rPr>
              <a:t>Hidden Partitions</a:t>
            </a:r>
            <a:endParaRPr lang="en-US" sz="1200" dirty="0"/>
          </a:p>
        </p:txBody>
      </p:sp>
      <p:sp>
        <p:nvSpPr>
          <p:cNvPr id="9" name="Text 7"/>
          <p:cNvSpPr/>
          <p:nvPr/>
        </p:nvSpPr>
        <p:spPr>
          <a:xfrm>
            <a:off x="521208" y="1682496"/>
            <a:ext cx="5394960" cy="594360"/>
          </a:xfrm>
          <a:prstGeom prst="rect">
            <a:avLst/>
          </a:prstGeom>
          <a:noFill/>
          <a:ln/>
        </p:spPr>
        <p:txBody>
          <a:bodyPr wrap="square" lIns="0" tIns="0" rIns="0" bIns="0" rtlCol="0" anchor="ctr"/>
          <a:lstStyle/>
          <a:p>
            <a:pPr marL="0" indent="0">
              <a:buNone/>
            </a:pPr>
            <a:r>
              <a:rPr lang="en-US" sz="900" dirty="0">
                <a:solidFill>
                  <a:srgbClr val="1A1A2E"/>
                </a:solidFill>
              </a:rPr>
              <a:t>Attackers create partitions not listed in the partition table or use type IDs that standard OS tools skip. Data stored here is invisible in Windows Explorer but visible in low-level disk analysis.</a:t>
            </a:r>
            <a:endParaRPr lang="en-US" sz="900" dirty="0"/>
          </a:p>
        </p:txBody>
      </p:sp>
      <p:sp>
        <p:nvSpPr>
          <p:cNvPr id="10" name="Text 8"/>
          <p:cNvSpPr/>
          <p:nvPr/>
        </p:nvSpPr>
        <p:spPr>
          <a:xfrm>
            <a:off x="6035040" y="1408176"/>
            <a:ext cx="2651760" cy="868680"/>
          </a:xfrm>
          <a:prstGeom prst="rect">
            <a:avLst/>
          </a:prstGeom>
          <a:noFill/>
          <a:ln/>
        </p:spPr>
        <p:txBody>
          <a:bodyPr wrap="square" lIns="0" tIns="0" rIns="0" bIns="0" rtlCol="0" anchor="ctr"/>
          <a:lstStyle/>
          <a:p>
            <a:pPr marL="0" indent="0">
              <a:buNone/>
            </a:pPr>
            <a:r>
              <a:rPr lang="en-US" sz="850" i="1" dirty="0">
                <a:solidFill>
                  <a:srgbClr val="00B4D8"/>
                </a:solidFill>
              </a:rPr>
              <a:t>🔍 Analyse raw partition table with WinHex or FTK to identify unaccounted-for disk space.</a:t>
            </a:r>
            <a:endParaRPr lang="en-US" sz="850" dirty="0"/>
          </a:p>
        </p:txBody>
      </p:sp>
      <p:sp>
        <p:nvSpPr>
          <p:cNvPr id="11" name="Shape 9"/>
          <p:cNvSpPr/>
          <p:nvPr/>
        </p:nvSpPr>
        <p:spPr>
          <a:xfrm>
            <a:off x="5989320" y="1389888"/>
            <a:ext cx="27432" cy="868680"/>
          </a:xfrm>
          <a:prstGeom prst="rect">
            <a:avLst/>
          </a:prstGeom>
          <a:solidFill>
            <a:srgbClr val="00B4D8"/>
          </a:solidFill>
          <a:ln w="12700">
            <a:solidFill>
              <a:srgbClr val="00B4D8"/>
            </a:solidFill>
            <a:prstDash val="solid"/>
          </a:ln>
        </p:spPr>
        <p:txBody>
          <a:bodyPr/>
          <a:lstStyle/>
          <a:p>
            <a:endParaRPr lang="en-SG"/>
          </a:p>
        </p:txBody>
      </p:sp>
      <p:sp>
        <p:nvSpPr>
          <p:cNvPr id="12" name="Shape 10"/>
          <p:cNvSpPr/>
          <p:nvPr/>
        </p:nvSpPr>
        <p:spPr>
          <a:xfrm>
            <a:off x="320040" y="2487168"/>
            <a:ext cx="8503920" cy="106984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3" name="Shape 11"/>
          <p:cNvSpPr/>
          <p:nvPr/>
        </p:nvSpPr>
        <p:spPr>
          <a:xfrm>
            <a:off x="320040" y="2487168"/>
            <a:ext cx="109728" cy="1069848"/>
          </a:xfrm>
          <a:prstGeom prst="rect">
            <a:avLst/>
          </a:prstGeom>
          <a:solidFill>
            <a:srgbClr val="E63946"/>
          </a:solidFill>
          <a:ln w="12700">
            <a:solidFill>
              <a:srgbClr val="E63946"/>
            </a:solidFill>
            <a:prstDash val="solid"/>
          </a:ln>
        </p:spPr>
        <p:txBody>
          <a:bodyPr/>
          <a:lstStyle/>
          <a:p>
            <a:endParaRPr lang="en-SG"/>
          </a:p>
        </p:txBody>
      </p:sp>
      <p:sp>
        <p:nvSpPr>
          <p:cNvPr id="14" name="Text 12"/>
          <p:cNvSpPr/>
          <p:nvPr/>
        </p:nvSpPr>
        <p:spPr>
          <a:xfrm>
            <a:off x="521208" y="2560320"/>
            <a:ext cx="8229600" cy="274320"/>
          </a:xfrm>
          <a:prstGeom prst="rect">
            <a:avLst/>
          </a:prstGeom>
          <a:noFill/>
          <a:ln/>
        </p:spPr>
        <p:txBody>
          <a:bodyPr wrap="square" lIns="0" tIns="0" rIns="0" bIns="0" rtlCol="0" anchor="ctr"/>
          <a:lstStyle/>
          <a:p>
            <a:pPr marL="0" indent="0">
              <a:buNone/>
            </a:pPr>
            <a:r>
              <a:rPr lang="en-US" sz="1200" b="1" dirty="0">
                <a:solidFill>
                  <a:srgbClr val="E63946"/>
                </a:solidFill>
              </a:rPr>
              <a:t>Marking Clusters as Bad</a:t>
            </a:r>
            <a:endParaRPr lang="en-US" sz="1200" dirty="0"/>
          </a:p>
        </p:txBody>
      </p:sp>
      <p:sp>
        <p:nvSpPr>
          <p:cNvPr id="15" name="Text 13"/>
          <p:cNvSpPr/>
          <p:nvPr/>
        </p:nvSpPr>
        <p:spPr>
          <a:xfrm>
            <a:off x="521208" y="2871216"/>
            <a:ext cx="5394960" cy="594360"/>
          </a:xfrm>
          <a:prstGeom prst="rect">
            <a:avLst/>
          </a:prstGeom>
          <a:noFill/>
          <a:ln/>
        </p:spPr>
        <p:txBody>
          <a:bodyPr wrap="square" lIns="0" tIns="0" rIns="0" bIns="0" rtlCol="0" anchor="ctr"/>
          <a:lstStyle/>
          <a:p>
            <a:pPr marL="0" indent="0">
              <a:buNone/>
            </a:pPr>
            <a:r>
              <a:rPr lang="en-US" sz="900" dirty="0">
                <a:solidFill>
                  <a:srgbClr val="1A1A2E"/>
                </a:solidFill>
              </a:rPr>
              <a:t>The FAT or NTFS bad cluster list can be manipulated to mark sectors as 'bad', causing the OS to skip them. Attackers store data in these sectors, which are invisible to normal tools.</a:t>
            </a:r>
            <a:endParaRPr lang="en-US" sz="900" dirty="0"/>
          </a:p>
        </p:txBody>
      </p:sp>
      <p:sp>
        <p:nvSpPr>
          <p:cNvPr id="16" name="Text 14"/>
          <p:cNvSpPr/>
          <p:nvPr/>
        </p:nvSpPr>
        <p:spPr>
          <a:xfrm>
            <a:off x="6035040" y="2596896"/>
            <a:ext cx="2651760" cy="868680"/>
          </a:xfrm>
          <a:prstGeom prst="rect">
            <a:avLst/>
          </a:prstGeom>
          <a:noFill/>
          <a:ln/>
        </p:spPr>
        <p:txBody>
          <a:bodyPr wrap="square" lIns="0" tIns="0" rIns="0" bIns="0" rtlCol="0" anchor="ctr"/>
          <a:lstStyle/>
          <a:p>
            <a:pPr marL="0" indent="0">
              <a:buNone/>
            </a:pPr>
            <a:r>
              <a:rPr lang="en-US" sz="850" i="1" dirty="0">
                <a:solidFill>
                  <a:srgbClr val="00B4D8"/>
                </a:solidFill>
              </a:rPr>
              <a:t>🔍 Compare bad cluster map against actual disk surface test. Unexplained bad clusters warrant inspection.</a:t>
            </a:r>
            <a:endParaRPr lang="en-US" sz="850" dirty="0"/>
          </a:p>
        </p:txBody>
      </p:sp>
      <p:sp>
        <p:nvSpPr>
          <p:cNvPr id="17" name="Shape 15"/>
          <p:cNvSpPr/>
          <p:nvPr/>
        </p:nvSpPr>
        <p:spPr>
          <a:xfrm>
            <a:off x="5989320" y="2578608"/>
            <a:ext cx="27432" cy="868680"/>
          </a:xfrm>
          <a:prstGeom prst="rect">
            <a:avLst/>
          </a:prstGeom>
          <a:solidFill>
            <a:srgbClr val="00B4D8"/>
          </a:solidFill>
          <a:ln w="12700">
            <a:solidFill>
              <a:srgbClr val="00B4D8"/>
            </a:solidFill>
            <a:prstDash val="solid"/>
          </a:ln>
        </p:spPr>
        <p:txBody>
          <a:bodyPr/>
          <a:lstStyle/>
          <a:p>
            <a:endParaRPr lang="en-SG"/>
          </a:p>
        </p:txBody>
      </p:sp>
      <p:sp>
        <p:nvSpPr>
          <p:cNvPr id="18" name="Shape 16"/>
          <p:cNvSpPr/>
          <p:nvPr/>
        </p:nvSpPr>
        <p:spPr>
          <a:xfrm>
            <a:off x="320040" y="3675888"/>
            <a:ext cx="8503920" cy="1069848"/>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Shape 17"/>
          <p:cNvSpPr/>
          <p:nvPr/>
        </p:nvSpPr>
        <p:spPr>
          <a:xfrm>
            <a:off x="320040" y="3675888"/>
            <a:ext cx="109728" cy="1069848"/>
          </a:xfrm>
          <a:prstGeom prst="rect">
            <a:avLst/>
          </a:prstGeom>
          <a:solidFill>
            <a:srgbClr val="FFD166"/>
          </a:solidFill>
          <a:ln w="12700">
            <a:solidFill>
              <a:srgbClr val="FFD166"/>
            </a:solidFill>
            <a:prstDash val="solid"/>
          </a:ln>
        </p:spPr>
        <p:txBody>
          <a:bodyPr/>
          <a:lstStyle/>
          <a:p>
            <a:endParaRPr lang="en-SG"/>
          </a:p>
        </p:txBody>
      </p:sp>
      <p:sp>
        <p:nvSpPr>
          <p:cNvPr id="20" name="Text 18"/>
          <p:cNvSpPr/>
          <p:nvPr/>
        </p:nvSpPr>
        <p:spPr>
          <a:xfrm>
            <a:off x="521208" y="3749040"/>
            <a:ext cx="8229600" cy="274320"/>
          </a:xfrm>
          <a:prstGeom prst="rect">
            <a:avLst/>
          </a:prstGeom>
          <a:noFill/>
          <a:ln/>
        </p:spPr>
        <p:txBody>
          <a:bodyPr wrap="square" lIns="0" tIns="0" rIns="0" bIns="0" rtlCol="0" anchor="ctr"/>
          <a:lstStyle/>
          <a:p>
            <a:pPr marL="0" indent="0">
              <a:buNone/>
            </a:pPr>
            <a:r>
              <a:rPr lang="en-US" sz="1200" b="1" dirty="0">
                <a:solidFill>
                  <a:srgbClr val="FFD166"/>
                </a:solidFill>
              </a:rPr>
              <a:t>Host Protected Area (HPA) / DCO</a:t>
            </a:r>
            <a:endParaRPr lang="en-US" sz="1200" dirty="0"/>
          </a:p>
        </p:txBody>
      </p:sp>
      <p:sp>
        <p:nvSpPr>
          <p:cNvPr id="21" name="Text 19"/>
          <p:cNvSpPr/>
          <p:nvPr/>
        </p:nvSpPr>
        <p:spPr>
          <a:xfrm>
            <a:off x="521208" y="4059936"/>
            <a:ext cx="5394960" cy="594360"/>
          </a:xfrm>
          <a:prstGeom prst="rect">
            <a:avLst/>
          </a:prstGeom>
          <a:noFill/>
          <a:ln/>
        </p:spPr>
        <p:txBody>
          <a:bodyPr wrap="square" lIns="0" tIns="0" rIns="0" bIns="0" rtlCol="0" anchor="ctr"/>
          <a:lstStyle/>
          <a:p>
            <a:pPr marL="0" indent="0">
              <a:buNone/>
            </a:pPr>
            <a:r>
              <a:rPr lang="en-US" sz="900" dirty="0">
                <a:solidFill>
                  <a:srgbClr val="1A1A2E"/>
                </a:solidFill>
              </a:rPr>
              <a:t>HPA and Device Configuration Overlay are reserved disk areas invisible to the OS. Malicious code or data can be stored here as the OS will not enumerate or access this region.</a:t>
            </a:r>
            <a:endParaRPr lang="en-US" sz="900" dirty="0"/>
          </a:p>
        </p:txBody>
      </p:sp>
      <p:sp>
        <p:nvSpPr>
          <p:cNvPr id="22" name="Text 20"/>
          <p:cNvSpPr/>
          <p:nvPr/>
        </p:nvSpPr>
        <p:spPr>
          <a:xfrm>
            <a:off x="6035040" y="3785616"/>
            <a:ext cx="2651760" cy="868680"/>
          </a:xfrm>
          <a:prstGeom prst="rect">
            <a:avLst/>
          </a:prstGeom>
          <a:noFill/>
          <a:ln/>
        </p:spPr>
        <p:txBody>
          <a:bodyPr wrap="square" lIns="0" tIns="0" rIns="0" bIns="0" rtlCol="0" anchor="ctr"/>
          <a:lstStyle/>
          <a:p>
            <a:pPr marL="0" indent="0">
              <a:buNone/>
            </a:pPr>
            <a:r>
              <a:rPr lang="en-US" sz="850" i="1" dirty="0">
                <a:solidFill>
                  <a:srgbClr val="00B4D8"/>
                </a:solidFill>
              </a:rPr>
              <a:t>🔍 Use ATA commands (hdparm, FTK Imager) to query true drive capacity vs. reported capacity.</a:t>
            </a:r>
            <a:endParaRPr lang="en-US" sz="850" dirty="0"/>
          </a:p>
        </p:txBody>
      </p:sp>
      <p:sp>
        <p:nvSpPr>
          <p:cNvPr id="23" name="Shape 21"/>
          <p:cNvSpPr/>
          <p:nvPr/>
        </p:nvSpPr>
        <p:spPr>
          <a:xfrm>
            <a:off x="5989320" y="3767328"/>
            <a:ext cx="27432" cy="868680"/>
          </a:xfrm>
          <a:prstGeom prst="rect">
            <a:avLst/>
          </a:prstGeom>
          <a:solidFill>
            <a:srgbClr val="00B4D8"/>
          </a:solidFill>
          <a:ln w="12700">
            <a:solidFill>
              <a:srgbClr val="00B4D8"/>
            </a:solidFill>
            <a:prstDash val="solid"/>
          </a:ln>
        </p:spPr>
        <p:txBody>
          <a:bodyPr/>
          <a:lstStyle/>
          <a:p>
            <a:endParaRPr lang="en-S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8 · DATA HIDING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3: Steganography</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Shape 4"/>
          <p:cNvSpPr/>
          <p:nvPr/>
        </p:nvSpPr>
        <p:spPr>
          <a:xfrm>
            <a:off x="320040" y="1298448"/>
            <a:ext cx="8503920" cy="749808"/>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749808"/>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512064" y="1362456"/>
            <a:ext cx="8229600" cy="256032"/>
          </a:xfrm>
          <a:prstGeom prst="rect">
            <a:avLst/>
          </a:prstGeom>
          <a:noFill/>
          <a:ln/>
        </p:spPr>
        <p:txBody>
          <a:bodyPr wrap="square" lIns="0" tIns="0" rIns="0" bIns="0" rtlCol="0" anchor="ctr"/>
          <a:lstStyle/>
          <a:p>
            <a:pPr marL="0" indent="0">
              <a:buNone/>
            </a:pPr>
            <a:r>
              <a:rPr lang="en-US" sz="1100" b="1" dirty="0">
                <a:solidFill>
                  <a:srgbClr val="00B4D8"/>
                </a:solidFill>
              </a:rPr>
              <a:t>Definition</a:t>
            </a:r>
            <a:endParaRPr lang="en-US" sz="1100" dirty="0"/>
          </a:p>
        </p:txBody>
      </p:sp>
      <p:sp>
        <p:nvSpPr>
          <p:cNvPr id="9" name="Text 7"/>
          <p:cNvSpPr/>
          <p:nvPr/>
        </p:nvSpPr>
        <p:spPr>
          <a:xfrm>
            <a:off x="512064" y="1645920"/>
            <a:ext cx="8092440" cy="347472"/>
          </a:xfrm>
          <a:prstGeom prst="rect">
            <a:avLst/>
          </a:prstGeom>
          <a:noFill/>
          <a:ln/>
        </p:spPr>
        <p:txBody>
          <a:bodyPr wrap="square" lIns="0" tIns="0" rIns="0" bIns="0" rtlCol="0" anchor="ctr"/>
          <a:lstStyle/>
          <a:p>
            <a:pPr marL="0" indent="0">
              <a:buNone/>
            </a:pPr>
            <a:r>
              <a:rPr lang="en-US" sz="950" dirty="0">
                <a:solidFill>
                  <a:srgbClr val="1A1A2E"/>
                </a:solidFill>
              </a:rPr>
              <a:t>Steganography is the practice of concealing information (a message, file, or payload) within another ordinary, non-secret file — such as an image, audio, or video — so that even the existence of the hidden data is not apparent.</a:t>
            </a:r>
            <a:endParaRPr lang="en-US" sz="950" dirty="0"/>
          </a:p>
        </p:txBody>
      </p:sp>
      <p:sp>
        <p:nvSpPr>
          <p:cNvPr id="10" name="Shape 8"/>
          <p:cNvSpPr/>
          <p:nvPr/>
        </p:nvSpPr>
        <p:spPr>
          <a:xfrm>
            <a:off x="320040" y="2139696"/>
            <a:ext cx="4846320" cy="254203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1" name="Text 9"/>
          <p:cNvSpPr/>
          <p:nvPr/>
        </p:nvSpPr>
        <p:spPr>
          <a:xfrm>
            <a:off x="457200" y="2231136"/>
            <a:ext cx="4572000" cy="292608"/>
          </a:xfrm>
          <a:prstGeom prst="rect">
            <a:avLst/>
          </a:prstGeom>
          <a:noFill/>
          <a:ln/>
        </p:spPr>
        <p:txBody>
          <a:bodyPr wrap="square" lIns="0" tIns="0" rIns="0" bIns="0" rtlCol="0" anchor="ctr"/>
          <a:lstStyle/>
          <a:p>
            <a:pPr marL="0" indent="0">
              <a:buNone/>
            </a:pPr>
            <a:r>
              <a:rPr lang="en-US" sz="1100" b="1" dirty="0">
                <a:solidFill>
                  <a:srgbClr val="F4A261"/>
                </a:solidFill>
              </a:rPr>
              <a:t>LSB (Least Significant Bit) Method</a:t>
            </a:r>
            <a:endParaRPr lang="en-US" sz="1100" dirty="0"/>
          </a:p>
        </p:txBody>
      </p:sp>
      <p:sp>
        <p:nvSpPr>
          <p:cNvPr id="12" name="Text 10"/>
          <p:cNvSpPr/>
          <p:nvPr/>
        </p:nvSpPr>
        <p:spPr>
          <a:xfrm>
            <a:off x="457200" y="2560320"/>
            <a:ext cx="4572000" cy="640080"/>
          </a:xfrm>
          <a:prstGeom prst="rect">
            <a:avLst/>
          </a:prstGeom>
          <a:noFill/>
          <a:ln/>
        </p:spPr>
        <p:txBody>
          <a:bodyPr wrap="square" lIns="0" tIns="0" rIns="0" bIns="0" rtlCol="0" anchor="ctr"/>
          <a:lstStyle/>
          <a:p>
            <a:pPr marL="0" indent="0">
              <a:buNone/>
            </a:pPr>
            <a:r>
              <a:rPr lang="en-US" sz="950" dirty="0">
                <a:solidFill>
                  <a:srgbClr val="1A1A2E"/>
                </a:solidFill>
              </a:rPr>
              <a:t>The most common technique. The least significant bit of each pixel's colour channel is replaced with one bit of secret data.</a:t>
            </a:r>
            <a:endParaRPr lang="en-US" sz="950" dirty="0"/>
          </a:p>
          <a:p>
            <a:pPr marL="0" indent="0">
              <a:buNone/>
            </a:pPr>
            <a:r>
              <a:rPr lang="en-US" sz="950" dirty="0">
                <a:solidFill>
                  <a:srgbClr val="1A1A2E"/>
                </a:solidFill>
              </a:rPr>
              <a:t>Changes are imperceptible to the human eye — but the data is detectable by statistical analysis.</a:t>
            </a:r>
            <a:endParaRPr lang="en-US" sz="950" dirty="0"/>
          </a:p>
        </p:txBody>
      </p:sp>
      <p:sp>
        <p:nvSpPr>
          <p:cNvPr id="13" name="Text 11"/>
          <p:cNvSpPr/>
          <p:nvPr/>
        </p:nvSpPr>
        <p:spPr>
          <a:xfrm>
            <a:off x="457200" y="3291840"/>
            <a:ext cx="1005840" cy="274320"/>
          </a:xfrm>
          <a:prstGeom prst="rect">
            <a:avLst/>
          </a:prstGeom>
          <a:noFill/>
          <a:ln/>
        </p:spPr>
        <p:txBody>
          <a:bodyPr wrap="square" lIns="0" tIns="0" rIns="0" bIns="0" rtlCol="0" anchor="ctr"/>
          <a:lstStyle/>
          <a:p>
            <a:pPr marL="0" indent="0">
              <a:buNone/>
            </a:pPr>
            <a:r>
              <a:rPr lang="en-US" sz="850" dirty="0">
                <a:solidFill>
                  <a:srgbClr val="475569"/>
                </a:solidFill>
              </a:rPr>
              <a:t>Pixel 1 (R):</a:t>
            </a:r>
            <a:endParaRPr lang="en-US" sz="850" dirty="0"/>
          </a:p>
        </p:txBody>
      </p:sp>
      <p:sp>
        <p:nvSpPr>
          <p:cNvPr id="14" name="Text 12"/>
          <p:cNvSpPr/>
          <p:nvPr/>
        </p:nvSpPr>
        <p:spPr>
          <a:xfrm>
            <a:off x="1508760" y="3291840"/>
            <a:ext cx="1097280" cy="274320"/>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11001010</a:t>
            </a:r>
            <a:endParaRPr lang="en-US" sz="850" dirty="0"/>
          </a:p>
        </p:txBody>
      </p:sp>
      <p:sp>
        <p:nvSpPr>
          <p:cNvPr id="15" name="Text 13"/>
          <p:cNvSpPr/>
          <p:nvPr/>
        </p:nvSpPr>
        <p:spPr>
          <a:xfrm>
            <a:off x="2651760" y="3291840"/>
            <a:ext cx="274320" cy="274320"/>
          </a:xfrm>
          <a:prstGeom prst="rect">
            <a:avLst/>
          </a:prstGeom>
          <a:noFill/>
          <a:ln/>
        </p:spPr>
        <p:txBody>
          <a:bodyPr wrap="square" lIns="0" tIns="0" rIns="0" bIns="0" rtlCol="0" anchor="ctr"/>
          <a:lstStyle/>
          <a:p>
            <a:pPr marL="0" indent="0" algn="ctr">
              <a:buNone/>
            </a:pPr>
            <a:r>
              <a:rPr lang="en-US" sz="850" dirty="0">
                <a:solidFill>
                  <a:srgbClr val="00B4D8"/>
                </a:solidFill>
              </a:rPr>
              <a:t>→</a:t>
            </a:r>
            <a:endParaRPr lang="en-US" sz="850" dirty="0"/>
          </a:p>
        </p:txBody>
      </p:sp>
      <p:sp>
        <p:nvSpPr>
          <p:cNvPr id="16" name="Text 14"/>
          <p:cNvSpPr/>
          <p:nvPr/>
        </p:nvSpPr>
        <p:spPr>
          <a:xfrm>
            <a:off x="2971800" y="3291840"/>
            <a:ext cx="777240" cy="27432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1100101</a:t>
            </a:r>
            <a:endParaRPr lang="en-US" sz="850" dirty="0"/>
          </a:p>
        </p:txBody>
      </p:sp>
      <p:sp>
        <p:nvSpPr>
          <p:cNvPr id="17" name="Text 15"/>
          <p:cNvSpPr/>
          <p:nvPr/>
        </p:nvSpPr>
        <p:spPr>
          <a:xfrm>
            <a:off x="3749040" y="3291840"/>
            <a:ext cx="22860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1</a:t>
            </a:r>
            <a:endParaRPr lang="en-US" sz="850" dirty="0"/>
          </a:p>
        </p:txBody>
      </p:sp>
      <p:sp>
        <p:nvSpPr>
          <p:cNvPr id="18" name="Text 16"/>
          <p:cNvSpPr/>
          <p:nvPr/>
        </p:nvSpPr>
        <p:spPr>
          <a:xfrm>
            <a:off x="457200" y="3611880"/>
            <a:ext cx="1005840" cy="274320"/>
          </a:xfrm>
          <a:prstGeom prst="rect">
            <a:avLst/>
          </a:prstGeom>
          <a:noFill/>
          <a:ln/>
        </p:spPr>
        <p:txBody>
          <a:bodyPr wrap="square" lIns="0" tIns="0" rIns="0" bIns="0" rtlCol="0" anchor="ctr"/>
          <a:lstStyle/>
          <a:p>
            <a:pPr marL="0" indent="0">
              <a:buNone/>
            </a:pPr>
            <a:r>
              <a:rPr lang="en-US" sz="850" dirty="0">
                <a:solidFill>
                  <a:srgbClr val="475569"/>
                </a:solidFill>
              </a:rPr>
              <a:t>Pixel 1 (G):</a:t>
            </a:r>
            <a:endParaRPr lang="en-US" sz="850" dirty="0"/>
          </a:p>
        </p:txBody>
      </p:sp>
      <p:sp>
        <p:nvSpPr>
          <p:cNvPr id="19" name="Text 17"/>
          <p:cNvSpPr/>
          <p:nvPr/>
        </p:nvSpPr>
        <p:spPr>
          <a:xfrm>
            <a:off x="1508760" y="3611880"/>
            <a:ext cx="1097280" cy="274320"/>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10110100</a:t>
            </a:r>
            <a:endParaRPr lang="en-US" sz="850" dirty="0"/>
          </a:p>
        </p:txBody>
      </p:sp>
      <p:sp>
        <p:nvSpPr>
          <p:cNvPr id="20" name="Text 18"/>
          <p:cNvSpPr/>
          <p:nvPr/>
        </p:nvSpPr>
        <p:spPr>
          <a:xfrm>
            <a:off x="2651760" y="3611880"/>
            <a:ext cx="274320" cy="274320"/>
          </a:xfrm>
          <a:prstGeom prst="rect">
            <a:avLst/>
          </a:prstGeom>
          <a:noFill/>
          <a:ln/>
        </p:spPr>
        <p:txBody>
          <a:bodyPr wrap="square" lIns="0" tIns="0" rIns="0" bIns="0" rtlCol="0" anchor="ctr"/>
          <a:lstStyle/>
          <a:p>
            <a:pPr marL="0" indent="0" algn="ctr">
              <a:buNone/>
            </a:pPr>
            <a:r>
              <a:rPr lang="en-US" sz="850" dirty="0">
                <a:solidFill>
                  <a:srgbClr val="00B4D8"/>
                </a:solidFill>
              </a:rPr>
              <a:t>→</a:t>
            </a:r>
            <a:endParaRPr lang="en-US" sz="850" dirty="0"/>
          </a:p>
        </p:txBody>
      </p:sp>
      <p:sp>
        <p:nvSpPr>
          <p:cNvPr id="21" name="Text 19"/>
          <p:cNvSpPr/>
          <p:nvPr/>
        </p:nvSpPr>
        <p:spPr>
          <a:xfrm>
            <a:off x="2971800" y="3611880"/>
            <a:ext cx="777240" cy="27432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1011010</a:t>
            </a:r>
            <a:endParaRPr lang="en-US" sz="850" dirty="0"/>
          </a:p>
        </p:txBody>
      </p:sp>
      <p:sp>
        <p:nvSpPr>
          <p:cNvPr id="22" name="Text 20"/>
          <p:cNvSpPr/>
          <p:nvPr/>
        </p:nvSpPr>
        <p:spPr>
          <a:xfrm>
            <a:off x="3749040" y="3611880"/>
            <a:ext cx="22860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1</a:t>
            </a:r>
            <a:endParaRPr lang="en-US" sz="850" dirty="0"/>
          </a:p>
        </p:txBody>
      </p:sp>
      <p:sp>
        <p:nvSpPr>
          <p:cNvPr id="23" name="Text 21"/>
          <p:cNvSpPr/>
          <p:nvPr/>
        </p:nvSpPr>
        <p:spPr>
          <a:xfrm>
            <a:off x="457200" y="3931920"/>
            <a:ext cx="1005840" cy="274320"/>
          </a:xfrm>
          <a:prstGeom prst="rect">
            <a:avLst/>
          </a:prstGeom>
          <a:noFill/>
          <a:ln/>
        </p:spPr>
        <p:txBody>
          <a:bodyPr wrap="square" lIns="0" tIns="0" rIns="0" bIns="0" rtlCol="0" anchor="ctr"/>
          <a:lstStyle/>
          <a:p>
            <a:pPr marL="0" indent="0">
              <a:buNone/>
            </a:pPr>
            <a:r>
              <a:rPr lang="en-US" sz="850" dirty="0">
                <a:solidFill>
                  <a:srgbClr val="475569"/>
                </a:solidFill>
              </a:rPr>
              <a:t>Pixel 1 (B):</a:t>
            </a:r>
            <a:endParaRPr lang="en-US" sz="850" dirty="0"/>
          </a:p>
        </p:txBody>
      </p:sp>
      <p:sp>
        <p:nvSpPr>
          <p:cNvPr id="24" name="Text 22"/>
          <p:cNvSpPr/>
          <p:nvPr/>
        </p:nvSpPr>
        <p:spPr>
          <a:xfrm>
            <a:off x="1508760" y="3931920"/>
            <a:ext cx="1097280" cy="274320"/>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01100011</a:t>
            </a:r>
            <a:endParaRPr lang="en-US" sz="850" dirty="0"/>
          </a:p>
        </p:txBody>
      </p:sp>
      <p:sp>
        <p:nvSpPr>
          <p:cNvPr id="25" name="Text 23"/>
          <p:cNvSpPr/>
          <p:nvPr/>
        </p:nvSpPr>
        <p:spPr>
          <a:xfrm>
            <a:off x="2651760" y="3931920"/>
            <a:ext cx="274320" cy="274320"/>
          </a:xfrm>
          <a:prstGeom prst="rect">
            <a:avLst/>
          </a:prstGeom>
          <a:noFill/>
          <a:ln/>
        </p:spPr>
        <p:txBody>
          <a:bodyPr wrap="square" lIns="0" tIns="0" rIns="0" bIns="0" rtlCol="0" anchor="ctr"/>
          <a:lstStyle/>
          <a:p>
            <a:pPr marL="0" indent="0" algn="ctr">
              <a:buNone/>
            </a:pPr>
            <a:r>
              <a:rPr lang="en-US" sz="850" dirty="0">
                <a:solidFill>
                  <a:srgbClr val="00B4D8"/>
                </a:solidFill>
              </a:rPr>
              <a:t>→</a:t>
            </a:r>
            <a:endParaRPr lang="en-US" sz="850" dirty="0"/>
          </a:p>
        </p:txBody>
      </p:sp>
      <p:sp>
        <p:nvSpPr>
          <p:cNvPr id="26" name="Text 24"/>
          <p:cNvSpPr/>
          <p:nvPr/>
        </p:nvSpPr>
        <p:spPr>
          <a:xfrm>
            <a:off x="2971800" y="3931920"/>
            <a:ext cx="777240" cy="27432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0110001</a:t>
            </a:r>
            <a:endParaRPr lang="en-US" sz="850" dirty="0"/>
          </a:p>
        </p:txBody>
      </p:sp>
      <p:sp>
        <p:nvSpPr>
          <p:cNvPr id="27" name="Text 25"/>
          <p:cNvSpPr/>
          <p:nvPr/>
        </p:nvSpPr>
        <p:spPr>
          <a:xfrm>
            <a:off x="3749040" y="3931920"/>
            <a:ext cx="22860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0</a:t>
            </a:r>
            <a:endParaRPr lang="en-US" sz="850" dirty="0"/>
          </a:p>
        </p:txBody>
      </p:sp>
      <p:sp>
        <p:nvSpPr>
          <p:cNvPr id="28" name="Text 26"/>
          <p:cNvSpPr/>
          <p:nvPr/>
        </p:nvSpPr>
        <p:spPr>
          <a:xfrm>
            <a:off x="457200" y="4251960"/>
            <a:ext cx="1005840" cy="274320"/>
          </a:xfrm>
          <a:prstGeom prst="rect">
            <a:avLst/>
          </a:prstGeom>
          <a:noFill/>
          <a:ln/>
        </p:spPr>
        <p:txBody>
          <a:bodyPr wrap="square" lIns="0" tIns="0" rIns="0" bIns="0" rtlCol="0" anchor="ctr"/>
          <a:lstStyle/>
          <a:p>
            <a:pPr marL="0" indent="0">
              <a:buNone/>
            </a:pPr>
            <a:r>
              <a:rPr lang="en-US" sz="850" dirty="0">
                <a:solidFill>
                  <a:srgbClr val="475569"/>
                </a:solidFill>
              </a:rPr>
              <a:t>Pixel 2 (R):</a:t>
            </a:r>
            <a:endParaRPr lang="en-US" sz="850" dirty="0"/>
          </a:p>
        </p:txBody>
      </p:sp>
      <p:sp>
        <p:nvSpPr>
          <p:cNvPr id="29" name="Text 27"/>
          <p:cNvSpPr/>
          <p:nvPr/>
        </p:nvSpPr>
        <p:spPr>
          <a:xfrm>
            <a:off x="1508760" y="4251960"/>
            <a:ext cx="1097280" cy="274320"/>
          </a:xfrm>
          <a:prstGeom prst="rect">
            <a:avLst/>
          </a:prstGeom>
          <a:noFill/>
          <a:ln/>
        </p:spPr>
        <p:txBody>
          <a:bodyPr wrap="square" lIns="0" tIns="0" rIns="0" bIns="0" rtlCol="0" anchor="ctr"/>
          <a:lstStyle/>
          <a:p>
            <a:pPr marL="0" indent="0">
              <a:buNone/>
            </a:pPr>
            <a:r>
              <a:rPr lang="en-US" sz="850" dirty="0">
                <a:solidFill>
                  <a:srgbClr val="475569"/>
                </a:solidFill>
                <a:latin typeface="Consolas" pitchFamily="34" charset="0"/>
                <a:ea typeface="Consolas" pitchFamily="34" charset="-122"/>
                <a:cs typeface="Consolas" pitchFamily="34" charset="-120"/>
              </a:rPr>
              <a:t>11001100</a:t>
            </a:r>
            <a:endParaRPr lang="en-US" sz="850" dirty="0"/>
          </a:p>
        </p:txBody>
      </p:sp>
      <p:sp>
        <p:nvSpPr>
          <p:cNvPr id="30" name="Text 28"/>
          <p:cNvSpPr/>
          <p:nvPr/>
        </p:nvSpPr>
        <p:spPr>
          <a:xfrm>
            <a:off x="2651760" y="4251960"/>
            <a:ext cx="274320" cy="274320"/>
          </a:xfrm>
          <a:prstGeom prst="rect">
            <a:avLst/>
          </a:prstGeom>
          <a:noFill/>
          <a:ln/>
        </p:spPr>
        <p:txBody>
          <a:bodyPr wrap="square" lIns="0" tIns="0" rIns="0" bIns="0" rtlCol="0" anchor="ctr"/>
          <a:lstStyle/>
          <a:p>
            <a:pPr marL="0" indent="0" algn="ctr">
              <a:buNone/>
            </a:pPr>
            <a:r>
              <a:rPr lang="en-US" sz="850" dirty="0">
                <a:solidFill>
                  <a:srgbClr val="00B4D8"/>
                </a:solidFill>
              </a:rPr>
              <a:t>→</a:t>
            </a:r>
            <a:endParaRPr lang="en-US" sz="850" dirty="0"/>
          </a:p>
        </p:txBody>
      </p:sp>
      <p:sp>
        <p:nvSpPr>
          <p:cNvPr id="31" name="Text 29"/>
          <p:cNvSpPr/>
          <p:nvPr/>
        </p:nvSpPr>
        <p:spPr>
          <a:xfrm>
            <a:off x="2971800" y="4251960"/>
            <a:ext cx="777240" cy="274320"/>
          </a:xfrm>
          <a:prstGeom prst="rect">
            <a:avLst/>
          </a:prstGeom>
          <a:noFill/>
          <a:ln/>
        </p:spPr>
        <p:txBody>
          <a:bodyPr wrap="square" lIns="0" tIns="0" rIns="0" bIns="0" rtlCol="0" anchor="ctr"/>
          <a:lstStyle/>
          <a:p>
            <a:pPr marL="0" indent="0">
              <a:buNone/>
            </a:pPr>
            <a:r>
              <a:rPr lang="en-US" sz="850" dirty="0">
                <a:solidFill>
                  <a:srgbClr val="1A1A2E"/>
                </a:solidFill>
                <a:latin typeface="Consolas" pitchFamily="34" charset="0"/>
                <a:ea typeface="Consolas" pitchFamily="34" charset="-122"/>
                <a:cs typeface="Consolas" pitchFamily="34" charset="-120"/>
              </a:rPr>
              <a:t>1100110</a:t>
            </a:r>
            <a:endParaRPr lang="en-US" sz="850" dirty="0"/>
          </a:p>
        </p:txBody>
      </p:sp>
      <p:sp>
        <p:nvSpPr>
          <p:cNvPr id="32" name="Text 30"/>
          <p:cNvSpPr/>
          <p:nvPr/>
        </p:nvSpPr>
        <p:spPr>
          <a:xfrm>
            <a:off x="3749040" y="4251960"/>
            <a:ext cx="228600" cy="274320"/>
          </a:xfrm>
          <a:prstGeom prst="rect">
            <a:avLst/>
          </a:prstGeom>
          <a:noFill/>
          <a:ln/>
        </p:spPr>
        <p:txBody>
          <a:bodyPr wrap="square" lIns="0" tIns="0" rIns="0" bIns="0" rtlCol="0" anchor="ctr"/>
          <a:lstStyle/>
          <a:p>
            <a:pPr marL="0" indent="0">
              <a:buNone/>
            </a:pPr>
            <a:r>
              <a:rPr lang="en-US" sz="850" b="1" dirty="0">
                <a:solidFill>
                  <a:srgbClr val="F4A261"/>
                </a:solidFill>
                <a:latin typeface="Consolas" pitchFamily="34" charset="0"/>
                <a:ea typeface="Consolas" pitchFamily="34" charset="-122"/>
                <a:cs typeface="Consolas" pitchFamily="34" charset="-120"/>
              </a:rPr>
              <a:t>1</a:t>
            </a:r>
            <a:endParaRPr lang="en-US" sz="850" dirty="0"/>
          </a:p>
        </p:txBody>
      </p:sp>
      <p:sp>
        <p:nvSpPr>
          <p:cNvPr id="33" name="Text 31"/>
          <p:cNvSpPr/>
          <p:nvPr/>
        </p:nvSpPr>
        <p:spPr>
          <a:xfrm>
            <a:off x="3749040" y="3291840"/>
            <a:ext cx="1371600" cy="868680"/>
          </a:xfrm>
          <a:prstGeom prst="rect">
            <a:avLst/>
          </a:prstGeom>
          <a:noFill/>
          <a:ln/>
        </p:spPr>
        <p:txBody>
          <a:bodyPr wrap="square" lIns="0" tIns="0" rIns="0" bIns="0" rtlCol="0" anchor="ctr"/>
          <a:lstStyle/>
          <a:p>
            <a:pPr marL="0" indent="0">
              <a:buNone/>
            </a:pPr>
            <a:r>
              <a:rPr lang="en-US" sz="750" i="1" dirty="0">
                <a:solidFill>
                  <a:srgbClr val="F4A261"/>
                </a:solidFill>
              </a:rPr>
              <a:t>← LSB replaced with hidden data bit</a:t>
            </a:r>
            <a:endParaRPr lang="en-US" sz="750" dirty="0"/>
          </a:p>
        </p:txBody>
      </p:sp>
      <p:sp>
        <p:nvSpPr>
          <p:cNvPr id="34" name="Shape 32"/>
          <p:cNvSpPr/>
          <p:nvPr/>
        </p:nvSpPr>
        <p:spPr>
          <a:xfrm>
            <a:off x="5394960" y="2139696"/>
            <a:ext cx="3429000" cy="254203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5" name="Text 33"/>
          <p:cNvSpPr/>
          <p:nvPr/>
        </p:nvSpPr>
        <p:spPr>
          <a:xfrm>
            <a:off x="5532120" y="2231136"/>
            <a:ext cx="3154680" cy="292608"/>
          </a:xfrm>
          <a:prstGeom prst="rect">
            <a:avLst/>
          </a:prstGeom>
          <a:noFill/>
          <a:ln/>
        </p:spPr>
        <p:txBody>
          <a:bodyPr wrap="square" lIns="0" tIns="0" rIns="0" bIns="0" rtlCol="0" anchor="ctr"/>
          <a:lstStyle/>
          <a:p>
            <a:pPr marL="0" indent="0">
              <a:buNone/>
            </a:pPr>
            <a:r>
              <a:rPr lang="en-US" sz="1100" b="1" dirty="0">
                <a:solidFill>
                  <a:srgbClr val="00B4D8"/>
                </a:solidFill>
              </a:rPr>
              <a:t>Forensic Detection</a:t>
            </a:r>
            <a:endParaRPr lang="en-US" sz="1100" dirty="0"/>
          </a:p>
        </p:txBody>
      </p:sp>
      <p:sp>
        <p:nvSpPr>
          <p:cNvPr id="36" name="Text 34"/>
          <p:cNvSpPr/>
          <p:nvPr/>
        </p:nvSpPr>
        <p:spPr>
          <a:xfrm>
            <a:off x="5532120" y="2615184"/>
            <a:ext cx="3154680" cy="384048"/>
          </a:xfrm>
          <a:prstGeom prst="rect">
            <a:avLst/>
          </a:prstGeom>
          <a:noFill/>
          <a:ln/>
        </p:spPr>
        <p:txBody>
          <a:bodyPr wrap="square" lIns="0" tIns="0" rIns="0" bIns="0" rtlCol="0" anchor="ctr"/>
          <a:lstStyle/>
          <a:p>
            <a:pPr marL="0" indent="0">
              <a:buNone/>
            </a:pPr>
            <a:r>
              <a:rPr lang="en-US" sz="900" dirty="0">
                <a:solidFill>
                  <a:srgbClr val="1A1A2E"/>
                </a:solidFill>
              </a:rPr>
              <a:t>• Statistical analysis of pixel or audio sample distributions</a:t>
            </a:r>
            <a:endParaRPr lang="en-US" sz="900" dirty="0"/>
          </a:p>
        </p:txBody>
      </p:sp>
      <p:sp>
        <p:nvSpPr>
          <p:cNvPr id="37" name="Text 35"/>
          <p:cNvSpPr/>
          <p:nvPr/>
        </p:nvSpPr>
        <p:spPr>
          <a:xfrm>
            <a:off x="5532120" y="3054096"/>
            <a:ext cx="3154680" cy="384048"/>
          </a:xfrm>
          <a:prstGeom prst="rect">
            <a:avLst/>
          </a:prstGeom>
          <a:noFill/>
          <a:ln/>
        </p:spPr>
        <p:txBody>
          <a:bodyPr wrap="square" lIns="0" tIns="0" rIns="0" bIns="0" rtlCol="0" anchor="ctr"/>
          <a:lstStyle/>
          <a:p>
            <a:pPr marL="0" indent="0">
              <a:buNone/>
            </a:pPr>
            <a:r>
              <a:rPr lang="en-US" sz="900" dirty="0">
                <a:solidFill>
                  <a:srgbClr val="1A1A2E"/>
                </a:solidFill>
              </a:rPr>
              <a:t>• File size anomalies (carrier file larger than expected)</a:t>
            </a:r>
            <a:endParaRPr lang="en-US" sz="900" dirty="0"/>
          </a:p>
        </p:txBody>
      </p:sp>
      <p:sp>
        <p:nvSpPr>
          <p:cNvPr id="38" name="Text 36"/>
          <p:cNvSpPr/>
          <p:nvPr/>
        </p:nvSpPr>
        <p:spPr>
          <a:xfrm>
            <a:off x="5532120" y="3493008"/>
            <a:ext cx="3154680" cy="384048"/>
          </a:xfrm>
          <a:prstGeom prst="rect">
            <a:avLst/>
          </a:prstGeom>
          <a:noFill/>
          <a:ln/>
        </p:spPr>
        <p:txBody>
          <a:bodyPr wrap="square" lIns="0" tIns="0" rIns="0" bIns="0" rtlCol="0" anchor="ctr"/>
          <a:lstStyle/>
          <a:p>
            <a:pPr marL="0" indent="0">
              <a:buNone/>
            </a:pPr>
            <a:r>
              <a:rPr lang="en-US" sz="900" dirty="0">
                <a:solidFill>
                  <a:srgbClr val="1A1A2E"/>
                </a:solidFill>
              </a:rPr>
              <a:t>• Hash mismatch against known original</a:t>
            </a:r>
            <a:endParaRPr lang="en-US" sz="900" dirty="0"/>
          </a:p>
        </p:txBody>
      </p:sp>
      <p:sp>
        <p:nvSpPr>
          <p:cNvPr id="39" name="Text 37"/>
          <p:cNvSpPr/>
          <p:nvPr/>
        </p:nvSpPr>
        <p:spPr>
          <a:xfrm>
            <a:off x="5532120" y="3931920"/>
            <a:ext cx="3154680" cy="384048"/>
          </a:xfrm>
          <a:prstGeom prst="rect">
            <a:avLst/>
          </a:prstGeom>
          <a:noFill/>
          <a:ln/>
        </p:spPr>
        <p:txBody>
          <a:bodyPr wrap="square" lIns="0" tIns="0" rIns="0" bIns="0" rtlCol="0" anchor="ctr"/>
          <a:lstStyle/>
          <a:p>
            <a:pPr marL="0" indent="0">
              <a:buNone/>
            </a:pPr>
            <a:r>
              <a:rPr lang="en-US" sz="900" dirty="0">
                <a:solidFill>
                  <a:srgbClr val="1A1A2E"/>
                </a:solidFill>
              </a:rPr>
              <a:t>• Dedicated tools: StegDetect, StegSpy, Steganalysis modules in FTK</a:t>
            </a:r>
            <a:endParaRPr lang="en-US" sz="900" dirty="0"/>
          </a:p>
        </p:txBody>
      </p:sp>
      <p:sp>
        <p:nvSpPr>
          <p:cNvPr id="40" name="Text 38"/>
          <p:cNvSpPr/>
          <p:nvPr/>
        </p:nvSpPr>
        <p:spPr>
          <a:xfrm>
            <a:off x="5532120" y="4370832"/>
            <a:ext cx="3154680" cy="384048"/>
          </a:xfrm>
          <a:prstGeom prst="rect">
            <a:avLst/>
          </a:prstGeom>
          <a:noFill/>
          <a:ln/>
        </p:spPr>
        <p:txBody>
          <a:bodyPr wrap="square" lIns="0" tIns="0" rIns="0" bIns="0" rtlCol="0" anchor="ctr"/>
          <a:lstStyle/>
          <a:p>
            <a:pPr marL="0" indent="0">
              <a:buNone/>
            </a:pPr>
            <a:r>
              <a:rPr lang="en-US" sz="900" dirty="0">
                <a:solidFill>
                  <a:srgbClr val="1A1A2E"/>
                </a:solidFill>
              </a:rPr>
              <a:t>• Visual inspection of images for unusual artefacts</a:t>
            </a:r>
            <a:endParaRPr lang="en-US" sz="900" dirty="0"/>
          </a:p>
        </p:txBody>
      </p:sp>
      <p:sp>
        <p:nvSpPr>
          <p:cNvPr id="41" name="Text 39"/>
          <p:cNvSpPr/>
          <p:nvPr/>
        </p:nvSpPr>
        <p:spPr>
          <a:xfrm>
            <a:off x="5394960" y="4709160"/>
            <a:ext cx="3429000" cy="256032"/>
          </a:xfrm>
          <a:prstGeom prst="rect">
            <a:avLst/>
          </a:prstGeom>
          <a:noFill/>
          <a:ln/>
        </p:spPr>
        <p:txBody>
          <a:bodyPr wrap="square" lIns="0" tIns="0" rIns="0" bIns="0" rtlCol="0" anchor="ctr"/>
          <a:lstStyle/>
          <a:p>
            <a:pPr marL="0" indent="0" algn="r">
              <a:buNone/>
            </a:pPr>
            <a:r>
              <a:rPr lang="en-US" sz="850" i="1" dirty="0">
                <a:solidFill>
                  <a:srgbClr val="475569"/>
                </a:solidFill>
              </a:rPr>
              <a:t>S-Tools — Tool Overview on next slide</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8 · DATA HIDING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4: Encryption</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Text 4"/>
          <p:cNvSpPr/>
          <p:nvPr/>
        </p:nvSpPr>
        <p:spPr>
          <a:xfrm>
            <a:off x="320040" y="1225296"/>
            <a:ext cx="8503920" cy="256032"/>
          </a:xfrm>
          <a:prstGeom prst="rect">
            <a:avLst/>
          </a:prstGeom>
          <a:noFill/>
          <a:ln/>
        </p:spPr>
        <p:txBody>
          <a:bodyPr wrap="square" lIns="0" tIns="0" rIns="0" bIns="0" rtlCol="0" anchor="ctr"/>
          <a:lstStyle/>
          <a:p>
            <a:pPr marL="0" indent="0">
              <a:buNone/>
            </a:pPr>
            <a:r>
              <a:rPr lang="en-US" sz="950" i="1" dirty="0">
                <a:solidFill>
                  <a:srgbClr val="475569"/>
                </a:solidFill>
              </a:rPr>
              <a:t>From the Attacker's Perspective</a:t>
            </a:r>
            <a:endParaRPr lang="en-US" sz="950" dirty="0"/>
          </a:p>
        </p:txBody>
      </p:sp>
      <p:sp>
        <p:nvSpPr>
          <p:cNvPr id="7" name="Shape 5"/>
          <p:cNvSpPr/>
          <p:nvPr/>
        </p:nvSpPr>
        <p:spPr>
          <a:xfrm>
            <a:off x="320040" y="1508760"/>
            <a:ext cx="4114800" cy="3246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8" name="Shape 6"/>
          <p:cNvSpPr/>
          <p:nvPr/>
        </p:nvSpPr>
        <p:spPr>
          <a:xfrm>
            <a:off x="320040" y="1508760"/>
            <a:ext cx="4114800" cy="73152"/>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457200" y="1627632"/>
            <a:ext cx="3840480" cy="347472"/>
          </a:xfrm>
          <a:prstGeom prst="rect">
            <a:avLst/>
          </a:prstGeom>
          <a:noFill/>
          <a:ln/>
        </p:spPr>
        <p:txBody>
          <a:bodyPr wrap="square" lIns="0" tIns="0" rIns="0" bIns="0" rtlCol="0" anchor="ctr"/>
          <a:lstStyle/>
          <a:p>
            <a:pPr marL="0" indent="0">
              <a:buNone/>
            </a:pPr>
            <a:r>
              <a:rPr lang="en-US" sz="1100" b="1" dirty="0">
                <a:solidFill>
                  <a:srgbClr val="00B4D8"/>
                </a:solidFill>
              </a:rPr>
              <a:t>🔒  AES — Advanced Encryption Standard</a:t>
            </a:r>
            <a:endParaRPr lang="en-US" sz="1100" dirty="0"/>
          </a:p>
        </p:txBody>
      </p:sp>
      <p:sp>
        <p:nvSpPr>
          <p:cNvPr id="10" name="Text 8"/>
          <p:cNvSpPr/>
          <p:nvPr/>
        </p:nvSpPr>
        <p:spPr>
          <a:xfrm>
            <a:off x="457200" y="2029968"/>
            <a:ext cx="3840480" cy="420624"/>
          </a:xfrm>
          <a:prstGeom prst="rect">
            <a:avLst/>
          </a:prstGeom>
          <a:noFill/>
          <a:ln/>
        </p:spPr>
        <p:txBody>
          <a:bodyPr wrap="square" lIns="0" tIns="0" rIns="0" bIns="0" rtlCol="0" anchor="ctr"/>
          <a:lstStyle/>
          <a:p>
            <a:pPr marL="0" indent="0">
              <a:buNone/>
            </a:pPr>
            <a:r>
              <a:rPr lang="en-US" sz="900" dirty="0">
                <a:solidFill>
                  <a:srgbClr val="1A1A2E"/>
                </a:solidFill>
              </a:rPr>
              <a:t>• Symmetric block cipher — same key encrypts and decrypts</a:t>
            </a:r>
            <a:endParaRPr lang="en-US" sz="900" dirty="0"/>
          </a:p>
        </p:txBody>
      </p:sp>
      <p:sp>
        <p:nvSpPr>
          <p:cNvPr id="11" name="Text 9"/>
          <p:cNvSpPr/>
          <p:nvPr/>
        </p:nvSpPr>
        <p:spPr>
          <a:xfrm>
            <a:off x="457200" y="2505456"/>
            <a:ext cx="3840480" cy="420624"/>
          </a:xfrm>
          <a:prstGeom prst="rect">
            <a:avLst/>
          </a:prstGeom>
          <a:noFill/>
          <a:ln/>
        </p:spPr>
        <p:txBody>
          <a:bodyPr wrap="square" lIns="0" tIns="0" rIns="0" bIns="0" rtlCol="0" anchor="ctr"/>
          <a:lstStyle/>
          <a:p>
            <a:pPr marL="0" indent="0">
              <a:buNone/>
            </a:pPr>
            <a:r>
              <a:rPr lang="en-US" sz="900" dirty="0">
                <a:solidFill>
                  <a:srgbClr val="1A1A2E"/>
                </a:solidFill>
              </a:rPr>
              <a:t>• Key sizes: 128, 192, or 256 bits</a:t>
            </a:r>
            <a:endParaRPr lang="en-US" sz="900" dirty="0"/>
          </a:p>
        </p:txBody>
      </p:sp>
      <p:sp>
        <p:nvSpPr>
          <p:cNvPr id="12" name="Text 10"/>
          <p:cNvSpPr/>
          <p:nvPr/>
        </p:nvSpPr>
        <p:spPr>
          <a:xfrm>
            <a:off x="457200" y="2980944"/>
            <a:ext cx="3840480" cy="420624"/>
          </a:xfrm>
          <a:prstGeom prst="rect">
            <a:avLst/>
          </a:prstGeom>
          <a:noFill/>
          <a:ln/>
        </p:spPr>
        <p:txBody>
          <a:bodyPr wrap="square" lIns="0" tIns="0" rIns="0" bIns="0" rtlCol="0" anchor="ctr"/>
          <a:lstStyle/>
          <a:p>
            <a:pPr marL="0" indent="0">
              <a:buNone/>
            </a:pPr>
            <a:r>
              <a:rPr lang="en-US" sz="900" dirty="0">
                <a:solidFill>
                  <a:srgbClr val="1A1A2E"/>
                </a:solidFill>
              </a:rPr>
              <a:t>• Used in VeraCrypt, BitLocker, 7-Zip, ransomware payloads</a:t>
            </a:r>
            <a:endParaRPr lang="en-US" sz="900" dirty="0"/>
          </a:p>
        </p:txBody>
      </p:sp>
      <p:sp>
        <p:nvSpPr>
          <p:cNvPr id="13" name="Text 11"/>
          <p:cNvSpPr/>
          <p:nvPr/>
        </p:nvSpPr>
        <p:spPr>
          <a:xfrm>
            <a:off x="457200" y="3456432"/>
            <a:ext cx="3840480" cy="420624"/>
          </a:xfrm>
          <a:prstGeom prst="rect">
            <a:avLst/>
          </a:prstGeom>
          <a:noFill/>
          <a:ln/>
        </p:spPr>
        <p:txBody>
          <a:bodyPr wrap="square" lIns="0" tIns="0" rIns="0" bIns="0" rtlCol="0" anchor="ctr"/>
          <a:lstStyle/>
          <a:p>
            <a:pPr marL="0" indent="0">
              <a:buNone/>
            </a:pPr>
            <a:r>
              <a:rPr lang="en-US" sz="900" dirty="0">
                <a:solidFill>
                  <a:srgbClr val="1A1A2E"/>
                </a:solidFill>
              </a:rPr>
              <a:t>• Attacker stores files in AES-encrypted containers — without the key, content is unrecoverable</a:t>
            </a:r>
            <a:endParaRPr lang="en-US" sz="900" dirty="0"/>
          </a:p>
        </p:txBody>
      </p:sp>
      <p:sp>
        <p:nvSpPr>
          <p:cNvPr id="14" name="Text 12"/>
          <p:cNvSpPr/>
          <p:nvPr/>
        </p:nvSpPr>
        <p:spPr>
          <a:xfrm>
            <a:off x="457200" y="3931920"/>
            <a:ext cx="3840480" cy="420624"/>
          </a:xfrm>
          <a:prstGeom prst="rect">
            <a:avLst/>
          </a:prstGeom>
          <a:noFill/>
          <a:ln/>
        </p:spPr>
        <p:txBody>
          <a:bodyPr wrap="square" lIns="0" tIns="0" rIns="0" bIns="0" rtlCol="0" anchor="ctr"/>
          <a:lstStyle/>
          <a:p>
            <a:pPr marL="0" indent="0">
              <a:buNone/>
            </a:pPr>
            <a:r>
              <a:rPr lang="en-US" sz="900" dirty="0">
                <a:solidFill>
                  <a:srgbClr val="1A1A2E"/>
                </a:solidFill>
              </a:rPr>
              <a:t>• Forensic challenge: detecting the container is possible, but decryption requires the key or a brute-force approach</a:t>
            </a:r>
            <a:endParaRPr lang="en-US" sz="900" dirty="0"/>
          </a:p>
        </p:txBody>
      </p:sp>
      <p:sp>
        <p:nvSpPr>
          <p:cNvPr id="15" name="Text 13"/>
          <p:cNvSpPr/>
          <p:nvPr/>
        </p:nvSpPr>
        <p:spPr>
          <a:xfrm>
            <a:off x="457200" y="4407408"/>
            <a:ext cx="3840480" cy="420624"/>
          </a:xfrm>
          <a:prstGeom prst="rect">
            <a:avLst/>
          </a:prstGeom>
          <a:noFill/>
          <a:ln/>
        </p:spPr>
        <p:txBody>
          <a:bodyPr wrap="square" lIns="0" tIns="0" rIns="0" bIns="0" rtlCol="0" anchor="ctr"/>
          <a:lstStyle/>
          <a:p>
            <a:pPr marL="0" indent="0">
              <a:buNone/>
            </a:pPr>
            <a:r>
              <a:rPr lang="en-US" sz="900" dirty="0">
                <a:solidFill>
                  <a:srgbClr val="1A1A2E"/>
                </a:solidFill>
              </a:rPr>
              <a:t>• Look for: .tc, .vc, .7z, .aes file extensions or containers with high entropy</a:t>
            </a:r>
            <a:endParaRPr lang="en-US" sz="900" dirty="0"/>
          </a:p>
        </p:txBody>
      </p:sp>
      <p:sp>
        <p:nvSpPr>
          <p:cNvPr id="16" name="Shape 14"/>
          <p:cNvSpPr/>
          <p:nvPr/>
        </p:nvSpPr>
        <p:spPr>
          <a:xfrm>
            <a:off x="4709160" y="1508760"/>
            <a:ext cx="4114800" cy="3246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7" name="Shape 15"/>
          <p:cNvSpPr/>
          <p:nvPr/>
        </p:nvSpPr>
        <p:spPr>
          <a:xfrm>
            <a:off x="4709160" y="1508760"/>
            <a:ext cx="4114800" cy="73152"/>
          </a:xfrm>
          <a:prstGeom prst="rect">
            <a:avLst/>
          </a:prstGeom>
          <a:solidFill>
            <a:srgbClr val="F4A261"/>
          </a:solidFill>
          <a:ln w="12700">
            <a:solidFill>
              <a:srgbClr val="F4A261"/>
            </a:solidFill>
            <a:prstDash val="solid"/>
          </a:ln>
        </p:spPr>
        <p:txBody>
          <a:bodyPr/>
          <a:lstStyle/>
          <a:p>
            <a:endParaRPr lang="en-SG"/>
          </a:p>
        </p:txBody>
      </p:sp>
      <p:sp>
        <p:nvSpPr>
          <p:cNvPr id="18" name="Text 16"/>
          <p:cNvSpPr/>
          <p:nvPr/>
        </p:nvSpPr>
        <p:spPr>
          <a:xfrm>
            <a:off x="4846320" y="1627632"/>
            <a:ext cx="3840480" cy="347472"/>
          </a:xfrm>
          <a:prstGeom prst="rect">
            <a:avLst/>
          </a:prstGeom>
          <a:noFill/>
          <a:ln/>
        </p:spPr>
        <p:txBody>
          <a:bodyPr wrap="square" lIns="0" tIns="0" rIns="0" bIns="0" rtlCol="0" anchor="ctr"/>
          <a:lstStyle/>
          <a:p>
            <a:pPr marL="0" indent="0">
              <a:buNone/>
            </a:pPr>
            <a:r>
              <a:rPr lang="en-US" sz="1100" b="1" dirty="0">
                <a:solidFill>
                  <a:srgbClr val="F4A261"/>
                </a:solidFill>
              </a:rPr>
              <a:t>🔑  RSA — Rivest-Shamir-Adleman</a:t>
            </a:r>
            <a:endParaRPr lang="en-US" sz="1100" dirty="0"/>
          </a:p>
        </p:txBody>
      </p:sp>
      <p:sp>
        <p:nvSpPr>
          <p:cNvPr id="19" name="Text 17"/>
          <p:cNvSpPr/>
          <p:nvPr/>
        </p:nvSpPr>
        <p:spPr>
          <a:xfrm>
            <a:off x="4846320" y="2029968"/>
            <a:ext cx="3840480" cy="420624"/>
          </a:xfrm>
          <a:prstGeom prst="rect">
            <a:avLst/>
          </a:prstGeom>
          <a:noFill/>
          <a:ln/>
        </p:spPr>
        <p:txBody>
          <a:bodyPr wrap="square" lIns="0" tIns="0" rIns="0" bIns="0" rtlCol="0" anchor="ctr"/>
          <a:lstStyle/>
          <a:p>
            <a:pPr marL="0" indent="0">
              <a:buNone/>
            </a:pPr>
            <a:r>
              <a:rPr lang="en-US" sz="900" dirty="0">
                <a:solidFill>
                  <a:srgbClr val="1A1A2E"/>
                </a:solidFill>
              </a:rPr>
              <a:t>• Asymmetric encryption — public key encrypts, private key decrypts</a:t>
            </a:r>
            <a:endParaRPr lang="en-US" sz="900" dirty="0"/>
          </a:p>
        </p:txBody>
      </p:sp>
      <p:sp>
        <p:nvSpPr>
          <p:cNvPr id="20" name="Text 18"/>
          <p:cNvSpPr/>
          <p:nvPr/>
        </p:nvSpPr>
        <p:spPr>
          <a:xfrm>
            <a:off x="4846320" y="2505456"/>
            <a:ext cx="3840480" cy="420624"/>
          </a:xfrm>
          <a:prstGeom prst="rect">
            <a:avLst/>
          </a:prstGeom>
          <a:noFill/>
          <a:ln/>
        </p:spPr>
        <p:txBody>
          <a:bodyPr wrap="square" lIns="0" tIns="0" rIns="0" bIns="0" rtlCol="0" anchor="ctr"/>
          <a:lstStyle/>
          <a:p>
            <a:pPr marL="0" indent="0">
              <a:buNone/>
            </a:pPr>
            <a:r>
              <a:rPr lang="en-US" sz="900" dirty="0">
                <a:solidFill>
                  <a:srgbClr val="1A1A2E"/>
                </a:solidFill>
              </a:rPr>
              <a:t>• Key sizes: 1024, 2048, 4096 bits</a:t>
            </a:r>
            <a:endParaRPr lang="en-US" sz="900" dirty="0"/>
          </a:p>
        </p:txBody>
      </p:sp>
      <p:sp>
        <p:nvSpPr>
          <p:cNvPr id="21" name="Text 19"/>
          <p:cNvSpPr/>
          <p:nvPr/>
        </p:nvSpPr>
        <p:spPr>
          <a:xfrm>
            <a:off x="4846320" y="2980944"/>
            <a:ext cx="3840480" cy="420624"/>
          </a:xfrm>
          <a:prstGeom prst="rect">
            <a:avLst/>
          </a:prstGeom>
          <a:noFill/>
          <a:ln/>
        </p:spPr>
        <p:txBody>
          <a:bodyPr wrap="square" lIns="0" tIns="0" rIns="0" bIns="0" rtlCol="0" anchor="ctr"/>
          <a:lstStyle/>
          <a:p>
            <a:pPr marL="0" indent="0">
              <a:buNone/>
            </a:pPr>
            <a:r>
              <a:rPr lang="en-US" sz="900" dirty="0">
                <a:solidFill>
                  <a:srgbClr val="1A1A2E"/>
                </a:solidFill>
              </a:rPr>
              <a:t>• Used in ransomware to encrypt the victim's AES key (hybrid encryption)</a:t>
            </a:r>
            <a:endParaRPr lang="en-US" sz="900" dirty="0"/>
          </a:p>
        </p:txBody>
      </p:sp>
      <p:sp>
        <p:nvSpPr>
          <p:cNvPr id="22" name="Text 20"/>
          <p:cNvSpPr/>
          <p:nvPr/>
        </p:nvSpPr>
        <p:spPr>
          <a:xfrm>
            <a:off x="4846320" y="3456432"/>
            <a:ext cx="3840480" cy="420624"/>
          </a:xfrm>
          <a:prstGeom prst="rect">
            <a:avLst/>
          </a:prstGeom>
          <a:noFill/>
          <a:ln/>
        </p:spPr>
        <p:txBody>
          <a:bodyPr wrap="square" lIns="0" tIns="0" rIns="0" bIns="0" rtlCol="0" anchor="ctr"/>
          <a:lstStyle/>
          <a:p>
            <a:pPr marL="0" indent="0">
              <a:buNone/>
            </a:pPr>
            <a:r>
              <a:rPr lang="en-US" sz="900" dirty="0">
                <a:solidFill>
                  <a:srgbClr val="1A1A2E"/>
                </a:solidFill>
              </a:rPr>
              <a:t>• Attacker holds only the private key — victims cannot decrypt without paying ransom</a:t>
            </a:r>
            <a:endParaRPr lang="en-US" sz="900" dirty="0"/>
          </a:p>
        </p:txBody>
      </p:sp>
      <p:sp>
        <p:nvSpPr>
          <p:cNvPr id="23" name="Text 21"/>
          <p:cNvSpPr/>
          <p:nvPr/>
        </p:nvSpPr>
        <p:spPr>
          <a:xfrm>
            <a:off x="4846320" y="3931920"/>
            <a:ext cx="3840480" cy="420624"/>
          </a:xfrm>
          <a:prstGeom prst="rect">
            <a:avLst/>
          </a:prstGeom>
          <a:noFill/>
          <a:ln/>
        </p:spPr>
        <p:txBody>
          <a:bodyPr wrap="square" lIns="0" tIns="0" rIns="0" bIns="0" rtlCol="0" anchor="ctr"/>
          <a:lstStyle/>
          <a:p>
            <a:pPr marL="0" indent="0">
              <a:buNone/>
            </a:pPr>
            <a:r>
              <a:rPr lang="en-US" sz="900" dirty="0">
                <a:solidFill>
                  <a:srgbClr val="1A1A2E"/>
                </a:solidFill>
              </a:rPr>
              <a:t>• RSA alone is slow; in practice it protects the AES session key (hybrid model)</a:t>
            </a:r>
            <a:endParaRPr lang="en-US" sz="900" dirty="0"/>
          </a:p>
        </p:txBody>
      </p:sp>
      <p:sp>
        <p:nvSpPr>
          <p:cNvPr id="24" name="Text 22"/>
          <p:cNvSpPr/>
          <p:nvPr/>
        </p:nvSpPr>
        <p:spPr>
          <a:xfrm>
            <a:off x="4846320" y="4407408"/>
            <a:ext cx="3840480" cy="420624"/>
          </a:xfrm>
          <a:prstGeom prst="rect">
            <a:avLst/>
          </a:prstGeom>
          <a:noFill/>
          <a:ln/>
        </p:spPr>
        <p:txBody>
          <a:bodyPr wrap="square" lIns="0" tIns="0" rIns="0" bIns="0" rtlCol="0" anchor="ctr"/>
          <a:lstStyle/>
          <a:p>
            <a:pPr marL="0" indent="0">
              <a:buNone/>
            </a:pPr>
            <a:r>
              <a:rPr lang="en-US" sz="900" dirty="0">
                <a:solidFill>
                  <a:srgbClr val="1A1A2E"/>
                </a:solidFill>
              </a:rPr>
              <a:t>• Forensic challenge: encrypted files appear as high-entropy data — no readable content</a:t>
            </a:r>
            <a:endParaRPr lang="en-US" sz="900" dirty="0"/>
          </a:p>
        </p:txBody>
      </p:sp>
      <p:sp>
        <p:nvSpPr>
          <p:cNvPr id="25" name="Text 23"/>
          <p:cNvSpPr/>
          <p:nvPr/>
        </p:nvSpPr>
        <p:spPr>
          <a:xfrm>
            <a:off x="320040" y="4800600"/>
            <a:ext cx="8503920" cy="292608"/>
          </a:xfrm>
          <a:prstGeom prst="rect">
            <a:avLst/>
          </a:prstGeom>
          <a:noFill/>
          <a:ln/>
        </p:spPr>
        <p:txBody>
          <a:bodyPr wrap="square" lIns="0" tIns="0" rIns="0" bIns="0" rtlCol="0" anchor="ctr"/>
          <a:lstStyle/>
          <a:p>
            <a:pPr marL="0" indent="0">
              <a:buNone/>
            </a:pPr>
            <a:r>
              <a:rPr lang="en-US" sz="850" i="1" dirty="0">
                <a:solidFill>
                  <a:srgbClr val="FFD166"/>
                </a:solidFill>
              </a:rPr>
              <a:t>⚠️  High file entropy (randomness) is a key indicator of encryption. Forensic tools like FTK can calculate entropy values to flag potentially encrypted files.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9 · STEGANOGRAPHY TOOLS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Steganography Tools: S-Tools &amp; Others</a:t>
            </a:r>
            <a:endParaRPr lang="en-US" sz="2800" dirty="0"/>
          </a:p>
        </p:txBody>
      </p:sp>
      <p:sp>
        <p:nvSpPr>
          <p:cNvPr id="5" name="Shape 3"/>
          <p:cNvSpPr/>
          <p:nvPr/>
        </p:nvSpPr>
        <p:spPr>
          <a:xfrm>
            <a:off x="320040" y="1188720"/>
            <a:ext cx="8503920" cy="36576"/>
          </a:xfrm>
          <a:prstGeom prst="rect">
            <a:avLst/>
          </a:prstGeom>
          <a:solidFill>
            <a:srgbClr val="E63946"/>
          </a:solidFill>
          <a:ln w="12700">
            <a:solidFill>
              <a:srgbClr val="E63946"/>
            </a:solidFill>
            <a:prstDash val="solid"/>
          </a:ln>
        </p:spPr>
        <p:txBody>
          <a:bodyPr/>
          <a:lstStyle/>
          <a:p>
            <a:endParaRPr lang="en-SG"/>
          </a:p>
        </p:txBody>
      </p:sp>
      <p:sp>
        <p:nvSpPr>
          <p:cNvPr id="6" name="Shape 4"/>
          <p:cNvSpPr/>
          <p:nvPr/>
        </p:nvSpPr>
        <p:spPr>
          <a:xfrm>
            <a:off x="320040" y="1298448"/>
            <a:ext cx="4937760" cy="338328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4937760" cy="73152"/>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57200" y="1426464"/>
            <a:ext cx="4663440" cy="347472"/>
          </a:xfrm>
          <a:prstGeom prst="rect">
            <a:avLst/>
          </a:prstGeom>
          <a:noFill/>
          <a:ln/>
        </p:spPr>
        <p:txBody>
          <a:bodyPr wrap="square" lIns="0" tIns="0" rIns="0" bIns="0" rtlCol="0" anchor="ctr"/>
          <a:lstStyle/>
          <a:p>
            <a:pPr marL="0" indent="0">
              <a:buNone/>
            </a:pPr>
            <a:r>
              <a:rPr lang="en-US" sz="1400" b="1" dirty="0">
                <a:solidFill>
                  <a:srgbClr val="F4A261"/>
                </a:solidFill>
              </a:rPr>
              <a:t>S-Tools 4</a:t>
            </a:r>
            <a:endParaRPr lang="en-US" sz="1400" dirty="0"/>
          </a:p>
        </p:txBody>
      </p:sp>
      <p:sp>
        <p:nvSpPr>
          <p:cNvPr id="9" name="Text 7"/>
          <p:cNvSpPr/>
          <p:nvPr/>
        </p:nvSpPr>
        <p:spPr>
          <a:xfrm>
            <a:off x="457200" y="1792224"/>
            <a:ext cx="4663440" cy="228600"/>
          </a:xfrm>
          <a:prstGeom prst="rect">
            <a:avLst/>
          </a:prstGeom>
          <a:noFill/>
          <a:ln/>
        </p:spPr>
        <p:txBody>
          <a:bodyPr wrap="square" lIns="0" tIns="0" rIns="0" bIns="0" rtlCol="0" anchor="ctr"/>
          <a:lstStyle/>
          <a:p>
            <a:pPr marL="0" indent="0">
              <a:buNone/>
            </a:pPr>
            <a:r>
              <a:rPr lang="en-US" sz="900" i="1" dirty="0">
                <a:solidFill>
                  <a:srgbClr val="475569"/>
                </a:solidFill>
              </a:rPr>
              <a:t>by Andy Brown  ·  Classic freeware steganography tool</a:t>
            </a:r>
            <a:endParaRPr lang="en-US" sz="900" dirty="0"/>
          </a:p>
        </p:txBody>
      </p:sp>
      <p:sp>
        <p:nvSpPr>
          <p:cNvPr id="10" name="Text 8"/>
          <p:cNvSpPr/>
          <p:nvPr/>
        </p:nvSpPr>
        <p:spPr>
          <a:xfrm>
            <a:off x="457200" y="2103120"/>
            <a:ext cx="4663440" cy="365760"/>
          </a:xfrm>
          <a:prstGeom prst="rect">
            <a:avLst/>
          </a:prstGeom>
          <a:noFill/>
          <a:ln/>
        </p:spPr>
        <p:txBody>
          <a:bodyPr wrap="square" lIns="0" tIns="0" rIns="0" bIns="0" rtlCol="0" anchor="ctr"/>
          <a:lstStyle/>
          <a:p>
            <a:pPr marL="0" indent="0">
              <a:buNone/>
            </a:pPr>
            <a:r>
              <a:rPr lang="en-US" sz="950" dirty="0">
                <a:solidFill>
                  <a:srgbClr val="1A1A2E"/>
                </a:solidFill>
              </a:rPr>
              <a:t>• Hides files inside BMP, GIF, and WAV carrier files using LSB substitution</a:t>
            </a:r>
            <a:endParaRPr lang="en-US" sz="950" dirty="0"/>
          </a:p>
        </p:txBody>
      </p:sp>
      <p:sp>
        <p:nvSpPr>
          <p:cNvPr id="11" name="Text 9"/>
          <p:cNvSpPr/>
          <p:nvPr/>
        </p:nvSpPr>
        <p:spPr>
          <a:xfrm>
            <a:off x="457200" y="2514600"/>
            <a:ext cx="4663440" cy="365760"/>
          </a:xfrm>
          <a:prstGeom prst="rect">
            <a:avLst/>
          </a:prstGeom>
          <a:noFill/>
          <a:ln/>
        </p:spPr>
        <p:txBody>
          <a:bodyPr wrap="square" lIns="0" tIns="0" rIns="0" bIns="0" rtlCol="0" anchor="ctr"/>
          <a:lstStyle/>
          <a:p>
            <a:pPr marL="0" indent="0">
              <a:buNone/>
            </a:pPr>
            <a:r>
              <a:rPr lang="en-US" sz="950" dirty="0">
                <a:solidFill>
                  <a:srgbClr val="1A1A2E"/>
                </a:solidFill>
              </a:rPr>
              <a:t>• Supports optional passphrase-based encryption of hidden content (IDEA, DES, 3DES, MDC)</a:t>
            </a:r>
            <a:endParaRPr lang="en-US" sz="950" dirty="0"/>
          </a:p>
        </p:txBody>
      </p:sp>
      <p:sp>
        <p:nvSpPr>
          <p:cNvPr id="12" name="Text 10"/>
          <p:cNvSpPr/>
          <p:nvPr/>
        </p:nvSpPr>
        <p:spPr>
          <a:xfrm>
            <a:off x="457200" y="2926080"/>
            <a:ext cx="4663440" cy="365760"/>
          </a:xfrm>
          <a:prstGeom prst="rect">
            <a:avLst/>
          </a:prstGeom>
          <a:noFill/>
          <a:ln/>
        </p:spPr>
        <p:txBody>
          <a:bodyPr wrap="square" lIns="0" tIns="0" rIns="0" bIns="0" rtlCol="0" anchor="ctr"/>
          <a:lstStyle/>
          <a:p>
            <a:pPr marL="0" indent="0">
              <a:buNone/>
            </a:pPr>
            <a:r>
              <a:rPr lang="en-US" sz="950" dirty="0">
                <a:solidFill>
                  <a:srgbClr val="1A1A2E"/>
                </a:solidFill>
              </a:rPr>
              <a:t>• Drag-and-drop interface — easy for non-technical users to use</a:t>
            </a:r>
            <a:endParaRPr lang="en-US" sz="950" dirty="0"/>
          </a:p>
        </p:txBody>
      </p:sp>
      <p:sp>
        <p:nvSpPr>
          <p:cNvPr id="13" name="Text 11"/>
          <p:cNvSpPr/>
          <p:nvPr/>
        </p:nvSpPr>
        <p:spPr>
          <a:xfrm>
            <a:off x="457200" y="3337560"/>
            <a:ext cx="4663440" cy="365760"/>
          </a:xfrm>
          <a:prstGeom prst="rect">
            <a:avLst/>
          </a:prstGeom>
          <a:noFill/>
          <a:ln/>
        </p:spPr>
        <p:txBody>
          <a:bodyPr wrap="square" lIns="0" tIns="0" rIns="0" bIns="0" rtlCol="0" anchor="ctr"/>
          <a:lstStyle/>
          <a:p>
            <a:pPr marL="0" indent="0">
              <a:buNone/>
            </a:pPr>
            <a:r>
              <a:rPr lang="en-US" sz="950" dirty="0">
                <a:solidFill>
                  <a:srgbClr val="1A1A2E"/>
                </a:solidFill>
              </a:rPr>
              <a:t>• Hiding process is reversible: the same tool and passphrase can extract the hidden file</a:t>
            </a:r>
            <a:endParaRPr lang="en-US" sz="950" dirty="0"/>
          </a:p>
        </p:txBody>
      </p:sp>
      <p:sp>
        <p:nvSpPr>
          <p:cNvPr id="14" name="Text 12"/>
          <p:cNvSpPr/>
          <p:nvPr/>
        </p:nvSpPr>
        <p:spPr>
          <a:xfrm>
            <a:off x="457200" y="3749040"/>
            <a:ext cx="4663440" cy="365760"/>
          </a:xfrm>
          <a:prstGeom prst="rect">
            <a:avLst/>
          </a:prstGeom>
          <a:noFill/>
          <a:ln/>
        </p:spPr>
        <p:txBody>
          <a:bodyPr wrap="square" lIns="0" tIns="0" rIns="0" bIns="0" rtlCol="0" anchor="ctr"/>
          <a:lstStyle/>
          <a:p>
            <a:pPr marL="0" indent="0">
              <a:buNone/>
            </a:pPr>
            <a:r>
              <a:rPr lang="en-US" sz="950" dirty="0">
                <a:solidFill>
                  <a:srgbClr val="1A1A2E"/>
                </a:solidFill>
              </a:rPr>
              <a:t>• A classic tool taught in forensics courses to illustrate steganographic principles</a:t>
            </a:r>
            <a:endParaRPr lang="en-US" sz="950" dirty="0"/>
          </a:p>
        </p:txBody>
      </p:sp>
      <p:sp>
        <p:nvSpPr>
          <p:cNvPr id="15" name="Text 13"/>
          <p:cNvSpPr/>
          <p:nvPr/>
        </p:nvSpPr>
        <p:spPr>
          <a:xfrm>
            <a:off x="457200" y="4160520"/>
            <a:ext cx="4663440" cy="365760"/>
          </a:xfrm>
          <a:prstGeom prst="rect">
            <a:avLst/>
          </a:prstGeom>
          <a:noFill/>
          <a:ln/>
        </p:spPr>
        <p:txBody>
          <a:bodyPr wrap="square" lIns="0" tIns="0" rIns="0" bIns="0" rtlCol="0" anchor="ctr"/>
          <a:lstStyle/>
          <a:p>
            <a:pPr marL="0" indent="0">
              <a:buNone/>
            </a:pPr>
            <a:r>
              <a:rPr lang="en-US" sz="950" dirty="0">
                <a:solidFill>
                  <a:srgbClr val="1A1A2E"/>
                </a:solidFill>
              </a:rPr>
              <a:t>• Forensically detected via statistical analysis of modified LSBs in carrier files</a:t>
            </a:r>
            <a:endParaRPr lang="en-US" sz="950" dirty="0"/>
          </a:p>
        </p:txBody>
      </p:sp>
      <p:sp>
        <p:nvSpPr>
          <p:cNvPr id="16" name="Shape 14"/>
          <p:cNvSpPr/>
          <p:nvPr/>
        </p:nvSpPr>
        <p:spPr>
          <a:xfrm>
            <a:off x="5486400" y="1283795"/>
            <a:ext cx="3337560" cy="3698336"/>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7" name="Text 15"/>
          <p:cNvSpPr/>
          <p:nvPr/>
        </p:nvSpPr>
        <p:spPr>
          <a:xfrm>
            <a:off x="5623560" y="1408176"/>
            <a:ext cx="3063240" cy="292608"/>
          </a:xfrm>
          <a:prstGeom prst="rect">
            <a:avLst/>
          </a:prstGeom>
          <a:noFill/>
          <a:ln/>
        </p:spPr>
        <p:txBody>
          <a:bodyPr wrap="square" lIns="0" tIns="0" rIns="0" bIns="0" rtlCol="0" anchor="ctr"/>
          <a:lstStyle/>
          <a:p>
            <a:pPr marL="0" indent="0">
              <a:buNone/>
            </a:pPr>
            <a:r>
              <a:rPr lang="en-US" sz="1100" b="1" dirty="0">
                <a:solidFill>
                  <a:srgbClr val="00B4D8"/>
                </a:solidFill>
              </a:rPr>
              <a:t>Other Notable Tools</a:t>
            </a:r>
            <a:endParaRPr lang="en-US" sz="1100" dirty="0"/>
          </a:p>
        </p:txBody>
      </p:sp>
      <p:sp>
        <p:nvSpPr>
          <p:cNvPr id="18" name="Text 16"/>
          <p:cNvSpPr/>
          <p:nvPr/>
        </p:nvSpPr>
        <p:spPr>
          <a:xfrm>
            <a:off x="5623560" y="1783080"/>
            <a:ext cx="3063240" cy="256032"/>
          </a:xfrm>
          <a:prstGeom prst="rect">
            <a:avLst/>
          </a:prstGeom>
          <a:noFill/>
          <a:ln/>
        </p:spPr>
        <p:txBody>
          <a:bodyPr wrap="square" lIns="0" tIns="0" rIns="0" bIns="0" rtlCol="0" anchor="ctr"/>
          <a:lstStyle/>
          <a:p>
            <a:pPr marL="0" indent="0">
              <a:buNone/>
            </a:pPr>
            <a:r>
              <a:rPr lang="en-US" sz="1000" b="1" dirty="0">
                <a:solidFill>
                  <a:srgbClr val="F4A261"/>
                </a:solidFill>
              </a:rPr>
              <a:t>OpenStego</a:t>
            </a:r>
            <a:endParaRPr lang="en-US" sz="1000" dirty="0"/>
          </a:p>
        </p:txBody>
      </p:sp>
      <p:sp>
        <p:nvSpPr>
          <p:cNvPr id="19" name="Text 17"/>
          <p:cNvSpPr/>
          <p:nvPr/>
        </p:nvSpPr>
        <p:spPr>
          <a:xfrm>
            <a:off x="5623560" y="2057400"/>
            <a:ext cx="3063240" cy="274320"/>
          </a:xfrm>
          <a:prstGeom prst="rect">
            <a:avLst/>
          </a:prstGeom>
          <a:noFill/>
          <a:ln/>
        </p:spPr>
        <p:txBody>
          <a:bodyPr wrap="square" lIns="0" tIns="0" rIns="0" bIns="0" rtlCol="0" anchor="ctr"/>
          <a:lstStyle/>
          <a:p>
            <a:pPr marL="0" indent="0">
              <a:buNone/>
            </a:pPr>
            <a:r>
              <a:rPr lang="en-US" sz="850" dirty="0">
                <a:solidFill>
                  <a:srgbClr val="475569"/>
                </a:solidFill>
              </a:rPr>
              <a:t>Open-source; supports watermarking and data hiding in images</a:t>
            </a:r>
            <a:endParaRPr lang="en-US" sz="850" dirty="0"/>
          </a:p>
        </p:txBody>
      </p:sp>
      <p:sp>
        <p:nvSpPr>
          <p:cNvPr id="20" name="Text 18"/>
          <p:cNvSpPr/>
          <p:nvPr/>
        </p:nvSpPr>
        <p:spPr>
          <a:xfrm>
            <a:off x="5623560" y="2423160"/>
            <a:ext cx="3063240" cy="256032"/>
          </a:xfrm>
          <a:prstGeom prst="rect">
            <a:avLst/>
          </a:prstGeom>
          <a:noFill/>
          <a:ln/>
        </p:spPr>
        <p:txBody>
          <a:bodyPr wrap="square" lIns="0" tIns="0" rIns="0" bIns="0" rtlCol="0" anchor="ctr"/>
          <a:lstStyle/>
          <a:p>
            <a:pPr marL="0" indent="0">
              <a:buNone/>
            </a:pPr>
            <a:r>
              <a:rPr lang="en-US" sz="1000" b="1" dirty="0">
                <a:solidFill>
                  <a:srgbClr val="F4A261"/>
                </a:solidFill>
              </a:rPr>
              <a:t>Steghide</a:t>
            </a:r>
            <a:endParaRPr lang="en-US" sz="1000" dirty="0"/>
          </a:p>
        </p:txBody>
      </p:sp>
      <p:sp>
        <p:nvSpPr>
          <p:cNvPr id="21" name="Text 19"/>
          <p:cNvSpPr/>
          <p:nvPr/>
        </p:nvSpPr>
        <p:spPr>
          <a:xfrm>
            <a:off x="5623560" y="2697480"/>
            <a:ext cx="3063240" cy="274320"/>
          </a:xfrm>
          <a:prstGeom prst="rect">
            <a:avLst/>
          </a:prstGeom>
          <a:noFill/>
          <a:ln/>
        </p:spPr>
        <p:txBody>
          <a:bodyPr wrap="square" lIns="0" tIns="0" rIns="0" bIns="0" rtlCol="0" anchor="ctr"/>
          <a:lstStyle/>
          <a:p>
            <a:pPr marL="0" indent="0">
              <a:buNone/>
            </a:pPr>
            <a:r>
              <a:rPr lang="en-US" sz="850" dirty="0">
                <a:solidFill>
                  <a:srgbClr val="475569"/>
                </a:solidFill>
              </a:rPr>
              <a:t>Command-line; hides data in JPEG/BMP/WAV; supports AES encryption</a:t>
            </a:r>
            <a:endParaRPr lang="en-US" sz="850" dirty="0"/>
          </a:p>
        </p:txBody>
      </p:sp>
      <p:sp>
        <p:nvSpPr>
          <p:cNvPr id="22" name="Text 20"/>
          <p:cNvSpPr/>
          <p:nvPr/>
        </p:nvSpPr>
        <p:spPr>
          <a:xfrm>
            <a:off x="5623560" y="3063240"/>
            <a:ext cx="3063240" cy="256032"/>
          </a:xfrm>
          <a:prstGeom prst="rect">
            <a:avLst/>
          </a:prstGeom>
          <a:noFill/>
          <a:ln/>
        </p:spPr>
        <p:txBody>
          <a:bodyPr wrap="square" lIns="0" tIns="0" rIns="0" bIns="0" rtlCol="0" anchor="ctr"/>
          <a:lstStyle/>
          <a:p>
            <a:pPr marL="0" indent="0">
              <a:buNone/>
            </a:pPr>
            <a:r>
              <a:rPr lang="en-US" sz="1000" b="1" dirty="0">
                <a:solidFill>
                  <a:srgbClr val="F4A261"/>
                </a:solidFill>
              </a:rPr>
              <a:t>SilentEye</a:t>
            </a:r>
            <a:endParaRPr lang="en-US" sz="1000" dirty="0"/>
          </a:p>
        </p:txBody>
      </p:sp>
      <p:sp>
        <p:nvSpPr>
          <p:cNvPr id="23" name="Text 21"/>
          <p:cNvSpPr/>
          <p:nvPr/>
        </p:nvSpPr>
        <p:spPr>
          <a:xfrm>
            <a:off x="5623560" y="3337560"/>
            <a:ext cx="3063240" cy="274320"/>
          </a:xfrm>
          <a:prstGeom prst="rect">
            <a:avLst/>
          </a:prstGeom>
          <a:noFill/>
          <a:ln/>
        </p:spPr>
        <p:txBody>
          <a:bodyPr wrap="square" lIns="0" tIns="0" rIns="0" bIns="0" rtlCol="0" anchor="ctr"/>
          <a:lstStyle/>
          <a:p>
            <a:pPr marL="0" indent="0">
              <a:buNone/>
            </a:pPr>
            <a:r>
              <a:rPr lang="en-US" sz="850" dirty="0">
                <a:solidFill>
                  <a:srgbClr val="475569"/>
                </a:solidFill>
              </a:rPr>
              <a:t>GUI-based; image and audio steganography with encryption support</a:t>
            </a:r>
            <a:endParaRPr lang="en-US" sz="850" dirty="0"/>
          </a:p>
        </p:txBody>
      </p:sp>
      <p:sp>
        <p:nvSpPr>
          <p:cNvPr id="24" name="Text 22"/>
          <p:cNvSpPr/>
          <p:nvPr/>
        </p:nvSpPr>
        <p:spPr>
          <a:xfrm>
            <a:off x="5623560" y="3703320"/>
            <a:ext cx="3063240" cy="256032"/>
          </a:xfrm>
          <a:prstGeom prst="rect">
            <a:avLst/>
          </a:prstGeom>
          <a:noFill/>
          <a:ln/>
        </p:spPr>
        <p:txBody>
          <a:bodyPr wrap="square" lIns="0" tIns="0" rIns="0" bIns="0" rtlCol="0" anchor="ctr"/>
          <a:lstStyle/>
          <a:p>
            <a:pPr marL="0" indent="0">
              <a:buNone/>
            </a:pPr>
            <a:r>
              <a:rPr lang="en-US" sz="1000" b="1" dirty="0">
                <a:solidFill>
                  <a:srgbClr val="F4A261"/>
                </a:solidFill>
              </a:rPr>
              <a:t>InvisibleSecrets</a:t>
            </a:r>
            <a:endParaRPr lang="en-US" sz="1000" dirty="0"/>
          </a:p>
        </p:txBody>
      </p:sp>
      <p:sp>
        <p:nvSpPr>
          <p:cNvPr id="25" name="Text 23"/>
          <p:cNvSpPr/>
          <p:nvPr/>
        </p:nvSpPr>
        <p:spPr>
          <a:xfrm>
            <a:off x="5623560" y="3977640"/>
            <a:ext cx="3063240" cy="274320"/>
          </a:xfrm>
          <a:prstGeom prst="rect">
            <a:avLst/>
          </a:prstGeom>
          <a:noFill/>
          <a:ln/>
        </p:spPr>
        <p:txBody>
          <a:bodyPr wrap="square" lIns="0" tIns="0" rIns="0" bIns="0" rtlCol="0" anchor="ctr"/>
          <a:lstStyle/>
          <a:p>
            <a:pPr marL="0" indent="0">
              <a:buNone/>
            </a:pPr>
            <a:r>
              <a:rPr lang="en-US" sz="850" dirty="0">
                <a:solidFill>
                  <a:srgbClr val="475569"/>
                </a:solidFill>
              </a:rPr>
              <a:t>Hides files in images, audio, HTML; includes file shredder</a:t>
            </a:r>
            <a:endParaRPr lang="en-US" sz="850" dirty="0"/>
          </a:p>
        </p:txBody>
      </p:sp>
      <p:sp>
        <p:nvSpPr>
          <p:cNvPr id="26" name="Text 24"/>
          <p:cNvSpPr/>
          <p:nvPr/>
        </p:nvSpPr>
        <p:spPr>
          <a:xfrm>
            <a:off x="5623560" y="4343400"/>
            <a:ext cx="3063240" cy="256032"/>
          </a:xfrm>
          <a:prstGeom prst="rect">
            <a:avLst/>
          </a:prstGeom>
          <a:noFill/>
          <a:ln/>
        </p:spPr>
        <p:txBody>
          <a:bodyPr wrap="square" lIns="0" tIns="0" rIns="0" bIns="0" rtlCol="0" anchor="ctr"/>
          <a:lstStyle/>
          <a:p>
            <a:pPr marL="0" indent="0">
              <a:buNone/>
            </a:pPr>
            <a:r>
              <a:rPr lang="en-US" sz="1000" b="1" dirty="0">
                <a:solidFill>
                  <a:srgbClr val="F4A261"/>
                </a:solidFill>
              </a:rPr>
              <a:t>StegDetect</a:t>
            </a:r>
            <a:endParaRPr lang="en-US" sz="1000" dirty="0"/>
          </a:p>
        </p:txBody>
      </p:sp>
      <p:sp>
        <p:nvSpPr>
          <p:cNvPr id="27" name="Text 25"/>
          <p:cNvSpPr/>
          <p:nvPr/>
        </p:nvSpPr>
        <p:spPr>
          <a:xfrm>
            <a:off x="5623560" y="4617720"/>
            <a:ext cx="3063240" cy="274320"/>
          </a:xfrm>
          <a:prstGeom prst="rect">
            <a:avLst/>
          </a:prstGeom>
          <a:noFill/>
          <a:ln/>
        </p:spPr>
        <p:txBody>
          <a:bodyPr wrap="square" lIns="0" tIns="0" rIns="0" bIns="0" rtlCol="0" anchor="ctr"/>
          <a:lstStyle/>
          <a:p>
            <a:pPr marL="0" indent="0">
              <a:buNone/>
            </a:pPr>
            <a:r>
              <a:rPr lang="en-US" sz="850" dirty="0">
                <a:solidFill>
                  <a:srgbClr val="475569"/>
                </a:solidFill>
              </a:rPr>
              <a:t>Forensic detection tool — identifies common steganographic signatures</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10 · LEGITIMATE USES OF STEGANOGRAPHY</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Steganography: Not Always Malicious</a:t>
            </a:r>
            <a:endParaRPr lang="en-US" sz="2800" dirty="0"/>
          </a:p>
        </p:txBody>
      </p:sp>
      <p:sp>
        <p:nvSpPr>
          <p:cNvPr id="5" name="Shape 3"/>
          <p:cNvSpPr/>
          <p:nvPr/>
        </p:nvSpPr>
        <p:spPr>
          <a:xfrm>
            <a:off x="320040" y="1188720"/>
            <a:ext cx="8503920" cy="36576"/>
          </a:xfrm>
          <a:prstGeom prst="rect">
            <a:avLst/>
          </a:prstGeom>
          <a:solidFill>
            <a:srgbClr val="2EC4B6"/>
          </a:solidFill>
          <a:ln w="12700">
            <a:solidFill>
              <a:srgbClr val="2EC4B6"/>
            </a:solidFill>
            <a:prstDash val="solid"/>
          </a:ln>
        </p:spPr>
        <p:txBody>
          <a:bodyPr/>
          <a:lstStyle/>
          <a:p>
            <a:endParaRPr lang="en-SG"/>
          </a:p>
        </p:txBody>
      </p:sp>
      <p:sp>
        <p:nvSpPr>
          <p:cNvPr id="6" name="Text 4"/>
          <p:cNvSpPr/>
          <p:nvPr/>
        </p:nvSpPr>
        <p:spPr>
          <a:xfrm>
            <a:off x="320040" y="1243584"/>
            <a:ext cx="8503920" cy="347472"/>
          </a:xfrm>
          <a:prstGeom prst="rect">
            <a:avLst/>
          </a:prstGeom>
          <a:noFill/>
          <a:ln/>
        </p:spPr>
        <p:txBody>
          <a:bodyPr wrap="square" lIns="0" tIns="0" rIns="0" bIns="0" rtlCol="0" anchor="ctr"/>
          <a:lstStyle/>
          <a:p>
            <a:pPr marL="0" indent="0">
              <a:buNone/>
            </a:pPr>
            <a:r>
              <a:rPr lang="en-US" sz="1000" i="1" dirty="0">
                <a:solidFill>
                  <a:srgbClr val="475569"/>
                </a:solidFill>
              </a:rPr>
              <a:t>While steganography is often associated with data hiding in criminal or malicious contexts, it also has a wide range of legitimate and commercially important applications.</a:t>
            </a:r>
            <a:endParaRPr lang="en-US" sz="1000" dirty="0"/>
          </a:p>
        </p:txBody>
      </p:sp>
      <p:sp>
        <p:nvSpPr>
          <p:cNvPr id="7" name="Shape 5"/>
          <p:cNvSpPr/>
          <p:nvPr/>
        </p:nvSpPr>
        <p:spPr>
          <a:xfrm>
            <a:off x="320040" y="1682496"/>
            <a:ext cx="4251960" cy="1426464"/>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8" name="Shape 6"/>
          <p:cNvSpPr/>
          <p:nvPr/>
        </p:nvSpPr>
        <p:spPr>
          <a:xfrm>
            <a:off x="320040" y="1682496"/>
            <a:ext cx="109728" cy="1426464"/>
          </a:xfrm>
          <a:prstGeom prst="rect">
            <a:avLst/>
          </a:prstGeom>
          <a:solidFill>
            <a:srgbClr val="00B4D8"/>
          </a:solidFill>
          <a:ln w="12700">
            <a:solidFill>
              <a:srgbClr val="00B4D8"/>
            </a:solidFill>
            <a:prstDash val="solid"/>
          </a:ln>
        </p:spPr>
        <p:txBody>
          <a:bodyPr/>
          <a:lstStyle/>
          <a:p>
            <a:endParaRPr lang="en-SG"/>
          </a:p>
        </p:txBody>
      </p:sp>
      <p:sp>
        <p:nvSpPr>
          <p:cNvPr id="9" name="Text 7"/>
          <p:cNvSpPr/>
          <p:nvPr/>
        </p:nvSpPr>
        <p:spPr>
          <a:xfrm>
            <a:off x="521208" y="1773936"/>
            <a:ext cx="3931920" cy="292608"/>
          </a:xfrm>
          <a:prstGeom prst="rect">
            <a:avLst/>
          </a:prstGeom>
          <a:noFill/>
          <a:ln/>
        </p:spPr>
        <p:txBody>
          <a:bodyPr wrap="square" lIns="0" tIns="0" rIns="0" bIns="0" rtlCol="0" anchor="ctr"/>
          <a:lstStyle/>
          <a:p>
            <a:pPr marL="0" indent="0">
              <a:buNone/>
            </a:pPr>
            <a:r>
              <a:rPr lang="en-US" sz="1200" b="1" dirty="0">
                <a:solidFill>
                  <a:srgbClr val="00B4D8"/>
                </a:solidFill>
              </a:rPr>
              <a:t>©️  Digital Watermarking</a:t>
            </a:r>
            <a:endParaRPr lang="en-US" sz="1200" dirty="0"/>
          </a:p>
        </p:txBody>
      </p:sp>
      <p:sp>
        <p:nvSpPr>
          <p:cNvPr id="10" name="Text 8"/>
          <p:cNvSpPr/>
          <p:nvPr/>
        </p:nvSpPr>
        <p:spPr>
          <a:xfrm>
            <a:off x="521208" y="2103120"/>
            <a:ext cx="3931920" cy="676656"/>
          </a:xfrm>
          <a:prstGeom prst="rect">
            <a:avLst/>
          </a:prstGeom>
          <a:noFill/>
          <a:ln/>
        </p:spPr>
        <p:txBody>
          <a:bodyPr wrap="square" lIns="0" tIns="0" rIns="0" bIns="0" rtlCol="0" anchor="ctr"/>
          <a:lstStyle/>
          <a:p>
            <a:pPr marL="0" indent="0">
              <a:buNone/>
            </a:pPr>
            <a:r>
              <a:rPr lang="en-US" sz="850" dirty="0">
                <a:solidFill>
                  <a:srgbClr val="1A1A2E"/>
                </a:solidFill>
              </a:rPr>
              <a:t>Publishers, photographers, and media companies embed invisible watermarks into images, audio, and video to prove ownership. Steganographic watermarks survive compression and editing, enabling copyright enforcement.</a:t>
            </a:r>
            <a:endParaRPr lang="en-US" sz="850" dirty="0"/>
          </a:p>
        </p:txBody>
      </p:sp>
      <p:sp>
        <p:nvSpPr>
          <p:cNvPr id="11" name="Text 9"/>
          <p:cNvSpPr/>
          <p:nvPr/>
        </p:nvSpPr>
        <p:spPr>
          <a:xfrm>
            <a:off x="521208" y="2816352"/>
            <a:ext cx="3931920" cy="219456"/>
          </a:xfrm>
          <a:prstGeom prst="rect">
            <a:avLst/>
          </a:prstGeom>
          <a:noFill/>
          <a:ln/>
        </p:spPr>
        <p:txBody>
          <a:bodyPr wrap="square" lIns="0" tIns="0" rIns="0" bIns="0" rtlCol="0" anchor="ctr"/>
          <a:lstStyle/>
          <a:p>
            <a:pPr marL="0" indent="0">
              <a:buNone/>
            </a:pPr>
            <a:r>
              <a:rPr lang="en-US" sz="800" i="1" dirty="0">
                <a:solidFill>
                  <a:srgbClr val="475569"/>
                </a:solidFill>
              </a:rPr>
              <a:t>e.g. Adobe, Getty Images, news agencies</a:t>
            </a:r>
            <a:endParaRPr lang="en-US" sz="800" dirty="0"/>
          </a:p>
        </p:txBody>
      </p:sp>
      <p:sp>
        <p:nvSpPr>
          <p:cNvPr id="12" name="Shape 10"/>
          <p:cNvSpPr/>
          <p:nvPr/>
        </p:nvSpPr>
        <p:spPr>
          <a:xfrm>
            <a:off x="4754880" y="1682496"/>
            <a:ext cx="4251960" cy="1426464"/>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3" name="Shape 11"/>
          <p:cNvSpPr/>
          <p:nvPr/>
        </p:nvSpPr>
        <p:spPr>
          <a:xfrm>
            <a:off x="4754880" y="1682496"/>
            <a:ext cx="109728" cy="1426464"/>
          </a:xfrm>
          <a:prstGeom prst="rect">
            <a:avLst/>
          </a:prstGeom>
          <a:solidFill>
            <a:srgbClr val="2EC4B6"/>
          </a:solidFill>
          <a:ln w="12700">
            <a:solidFill>
              <a:srgbClr val="2EC4B6"/>
            </a:solidFill>
            <a:prstDash val="solid"/>
          </a:ln>
        </p:spPr>
        <p:txBody>
          <a:bodyPr/>
          <a:lstStyle/>
          <a:p>
            <a:endParaRPr lang="en-SG"/>
          </a:p>
        </p:txBody>
      </p:sp>
      <p:sp>
        <p:nvSpPr>
          <p:cNvPr id="14" name="Text 12"/>
          <p:cNvSpPr/>
          <p:nvPr/>
        </p:nvSpPr>
        <p:spPr>
          <a:xfrm>
            <a:off x="4956048" y="1773936"/>
            <a:ext cx="3931920" cy="292608"/>
          </a:xfrm>
          <a:prstGeom prst="rect">
            <a:avLst/>
          </a:prstGeom>
          <a:noFill/>
          <a:ln/>
        </p:spPr>
        <p:txBody>
          <a:bodyPr wrap="square" lIns="0" tIns="0" rIns="0" bIns="0" rtlCol="0" anchor="ctr"/>
          <a:lstStyle/>
          <a:p>
            <a:pPr marL="0" indent="0">
              <a:buNone/>
            </a:pPr>
            <a:r>
              <a:rPr lang="en-US" sz="1200" b="1" dirty="0">
                <a:solidFill>
                  <a:srgbClr val="2EC4B6"/>
                </a:solidFill>
              </a:rPr>
              <a:t>🔐  Secure Communications</a:t>
            </a:r>
            <a:endParaRPr lang="en-US" sz="1200" dirty="0"/>
          </a:p>
        </p:txBody>
      </p:sp>
      <p:sp>
        <p:nvSpPr>
          <p:cNvPr id="15" name="Text 13"/>
          <p:cNvSpPr/>
          <p:nvPr/>
        </p:nvSpPr>
        <p:spPr>
          <a:xfrm>
            <a:off x="4956048" y="2103120"/>
            <a:ext cx="3931920" cy="676656"/>
          </a:xfrm>
          <a:prstGeom prst="rect">
            <a:avLst/>
          </a:prstGeom>
          <a:noFill/>
          <a:ln/>
        </p:spPr>
        <p:txBody>
          <a:bodyPr wrap="square" lIns="0" tIns="0" rIns="0" bIns="0" rtlCol="0" anchor="ctr"/>
          <a:lstStyle/>
          <a:p>
            <a:pPr marL="0" indent="0">
              <a:buNone/>
            </a:pPr>
            <a:r>
              <a:rPr lang="en-US" sz="850" dirty="0">
                <a:solidFill>
                  <a:srgbClr val="1A1A2E"/>
                </a:solidFill>
              </a:rPr>
              <a:t>Intelligence agencies and privacy advocates use steganography to conceal the existence of communication — not just its content. Even if intercepted, a carrier file reveals no obvious message.</a:t>
            </a:r>
            <a:endParaRPr lang="en-US" sz="850" dirty="0"/>
          </a:p>
        </p:txBody>
      </p:sp>
      <p:sp>
        <p:nvSpPr>
          <p:cNvPr id="16" name="Text 14"/>
          <p:cNvSpPr/>
          <p:nvPr/>
        </p:nvSpPr>
        <p:spPr>
          <a:xfrm>
            <a:off x="4956048" y="2816352"/>
            <a:ext cx="3931920" cy="219456"/>
          </a:xfrm>
          <a:prstGeom prst="rect">
            <a:avLst/>
          </a:prstGeom>
          <a:noFill/>
          <a:ln/>
        </p:spPr>
        <p:txBody>
          <a:bodyPr wrap="square" lIns="0" tIns="0" rIns="0" bIns="0" rtlCol="0" anchor="ctr"/>
          <a:lstStyle/>
          <a:p>
            <a:pPr marL="0" indent="0">
              <a:buNone/>
            </a:pPr>
            <a:r>
              <a:rPr lang="en-US" sz="800" i="1" dirty="0">
                <a:solidFill>
                  <a:srgbClr val="475569"/>
                </a:solidFill>
              </a:rPr>
              <a:t>e.g. Journalists in restrictive regimes, whistleblowers</a:t>
            </a:r>
            <a:endParaRPr lang="en-US" sz="800" dirty="0"/>
          </a:p>
        </p:txBody>
      </p:sp>
      <p:sp>
        <p:nvSpPr>
          <p:cNvPr id="17" name="Shape 15"/>
          <p:cNvSpPr/>
          <p:nvPr/>
        </p:nvSpPr>
        <p:spPr>
          <a:xfrm>
            <a:off x="320040" y="3236976"/>
            <a:ext cx="4251960" cy="1426464"/>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8" name="Shape 16"/>
          <p:cNvSpPr/>
          <p:nvPr/>
        </p:nvSpPr>
        <p:spPr>
          <a:xfrm>
            <a:off x="320040" y="3236976"/>
            <a:ext cx="109728" cy="1426464"/>
          </a:xfrm>
          <a:prstGeom prst="rect">
            <a:avLst/>
          </a:prstGeom>
          <a:solidFill>
            <a:srgbClr val="F4A261"/>
          </a:solidFill>
          <a:ln w="12700">
            <a:solidFill>
              <a:srgbClr val="F4A261"/>
            </a:solidFill>
            <a:prstDash val="solid"/>
          </a:ln>
        </p:spPr>
        <p:txBody>
          <a:bodyPr/>
          <a:lstStyle/>
          <a:p>
            <a:endParaRPr lang="en-SG"/>
          </a:p>
        </p:txBody>
      </p:sp>
      <p:sp>
        <p:nvSpPr>
          <p:cNvPr id="19" name="Text 17"/>
          <p:cNvSpPr/>
          <p:nvPr/>
        </p:nvSpPr>
        <p:spPr>
          <a:xfrm>
            <a:off x="521208" y="3328416"/>
            <a:ext cx="3931920" cy="292608"/>
          </a:xfrm>
          <a:prstGeom prst="rect">
            <a:avLst/>
          </a:prstGeom>
          <a:noFill/>
          <a:ln/>
        </p:spPr>
        <p:txBody>
          <a:bodyPr wrap="square" lIns="0" tIns="0" rIns="0" bIns="0" rtlCol="0" anchor="ctr"/>
          <a:lstStyle/>
          <a:p>
            <a:pPr marL="0" indent="0">
              <a:buNone/>
            </a:pPr>
            <a:r>
              <a:rPr lang="en-US" sz="1200" b="1" dirty="0">
                <a:solidFill>
                  <a:srgbClr val="F4A261"/>
                </a:solidFill>
              </a:rPr>
              <a:t>🛡️  Intellectual Property Protection</a:t>
            </a:r>
            <a:endParaRPr lang="en-US" sz="1200" dirty="0"/>
          </a:p>
        </p:txBody>
      </p:sp>
      <p:sp>
        <p:nvSpPr>
          <p:cNvPr id="20" name="Text 18"/>
          <p:cNvSpPr/>
          <p:nvPr/>
        </p:nvSpPr>
        <p:spPr>
          <a:xfrm>
            <a:off x="521208" y="3657600"/>
            <a:ext cx="3931920" cy="676656"/>
          </a:xfrm>
          <a:prstGeom prst="rect">
            <a:avLst/>
          </a:prstGeom>
          <a:noFill/>
          <a:ln/>
        </p:spPr>
        <p:txBody>
          <a:bodyPr wrap="square" lIns="0" tIns="0" rIns="0" bIns="0" rtlCol="0" anchor="ctr"/>
          <a:lstStyle/>
          <a:p>
            <a:pPr marL="0" indent="0">
              <a:buNone/>
            </a:pPr>
            <a:r>
              <a:rPr lang="en-US" sz="850" dirty="0">
                <a:solidFill>
                  <a:srgbClr val="1A1A2E"/>
                </a:solidFill>
              </a:rPr>
              <a:t>Software vendors embed hidden serial numbers or device fingerprints within distributed files to trace leaks back to a specific licensee.</a:t>
            </a:r>
            <a:endParaRPr lang="en-US" sz="850" dirty="0"/>
          </a:p>
        </p:txBody>
      </p:sp>
      <p:sp>
        <p:nvSpPr>
          <p:cNvPr id="21" name="Text 19"/>
          <p:cNvSpPr/>
          <p:nvPr/>
        </p:nvSpPr>
        <p:spPr>
          <a:xfrm>
            <a:off x="521208" y="4370832"/>
            <a:ext cx="3931920" cy="219456"/>
          </a:xfrm>
          <a:prstGeom prst="rect">
            <a:avLst/>
          </a:prstGeom>
          <a:noFill/>
          <a:ln/>
        </p:spPr>
        <p:txBody>
          <a:bodyPr wrap="square" lIns="0" tIns="0" rIns="0" bIns="0" rtlCol="0" anchor="ctr"/>
          <a:lstStyle/>
          <a:p>
            <a:pPr marL="0" indent="0">
              <a:buNone/>
            </a:pPr>
            <a:r>
              <a:rPr lang="en-US" sz="800" i="1" dirty="0">
                <a:solidFill>
                  <a:srgbClr val="475569"/>
                </a:solidFill>
              </a:rPr>
              <a:t>e.g. Software licensing, film industry DRM</a:t>
            </a:r>
            <a:endParaRPr lang="en-US" sz="800" dirty="0"/>
          </a:p>
        </p:txBody>
      </p:sp>
      <p:sp>
        <p:nvSpPr>
          <p:cNvPr id="22" name="Shape 20"/>
          <p:cNvSpPr/>
          <p:nvPr/>
        </p:nvSpPr>
        <p:spPr>
          <a:xfrm>
            <a:off x="4754880" y="3236976"/>
            <a:ext cx="4251960" cy="1426464"/>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3" name="Shape 21"/>
          <p:cNvSpPr/>
          <p:nvPr/>
        </p:nvSpPr>
        <p:spPr>
          <a:xfrm>
            <a:off x="4754880" y="3236976"/>
            <a:ext cx="109728" cy="1426464"/>
          </a:xfrm>
          <a:prstGeom prst="rect">
            <a:avLst/>
          </a:prstGeom>
          <a:solidFill>
            <a:srgbClr val="FFD166"/>
          </a:solidFill>
          <a:ln w="12700">
            <a:solidFill>
              <a:srgbClr val="FFD166"/>
            </a:solidFill>
            <a:prstDash val="solid"/>
          </a:ln>
        </p:spPr>
        <p:txBody>
          <a:bodyPr/>
          <a:lstStyle/>
          <a:p>
            <a:endParaRPr lang="en-SG"/>
          </a:p>
        </p:txBody>
      </p:sp>
      <p:sp>
        <p:nvSpPr>
          <p:cNvPr id="24" name="Text 22"/>
          <p:cNvSpPr/>
          <p:nvPr/>
        </p:nvSpPr>
        <p:spPr>
          <a:xfrm>
            <a:off x="4956048" y="3328416"/>
            <a:ext cx="3931920" cy="292608"/>
          </a:xfrm>
          <a:prstGeom prst="rect">
            <a:avLst/>
          </a:prstGeom>
          <a:noFill/>
          <a:ln/>
        </p:spPr>
        <p:txBody>
          <a:bodyPr wrap="square" lIns="0" tIns="0" rIns="0" bIns="0" rtlCol="0" anchor="ctr"/>
          <a:lstStyle/>
          <a:p>
            <a:pPr marL="0" indent="0">
              <a:buNone/>
            </a:pPr>
            <a:r>
              <a:rPr lang="en-US" sz="1200" b="1" dirty="0">
                <a:solidFill>
                  <a:srgbClr val="FFD166"/>
                </a:solidFill>
              </a:rPr>
              <a:t>🏥  Medical Imaging</a:t>
            </a:r>
            <a:endParaRPr lang="en-US" sz="1200" dirty="0"/>
          </a:p>
        </p:txBody>
      </p:sp>
      <p:sp>
        <p:nvSpPr>
          <p:cNvPr id="25" name="Text 23"/>
          <p:cNvSpPr/>
          <p:nvPr/>
        </p:nvSpPr>
        <p:spPr>
          <a:xfrm>
            <a:off x="4956048" y="3657600"/>
            <a:ext cx="3931920" cy="676656"/>
          </a:xfrm>
          <a:prstGeom prst="rect">
            <a:avLst/>
          </a:prstGeom>
          <a:noFill/>
          <a:ln/>
        </p:spPr>
        <p:txBody>
          <a:bodyPr wrap="square" lIns="0" tIns="0" rIns="0" bIns="0" rtlCol="0" anchor="ctr"/>
          <a:lstStyle/>
          <a:p>
            <a:pPr marL="0" indent="0">
              <a:buNone/>
            </a:pPr>
            <a:r>
              <a:rPr lang="en-US" sz="850" dirty="0">
                <a:solidFill>
                  <a:srgbClr val="1A1A2E"/>
                </a:solidFill>
              </a:rPr>
              <a:t>Patient data (name, DOB, case reference) can be embedded directly into medical images (X-ray, MRI) as metadata via steganography, maintaining data linkage without external databases.</a:t>
            </a:r>
            <a:endParaRPr lang="en-US" sz="850" dirty="0"/>
          </a:p>
        </p:txBody>
      </p:sp>
      <p:sp>
        <p:nvSpPr>
          <p:cNvPr id="26" name="Text 24"/>
          <p:cNvSpPr/>
          <p:nvPr/>
        </p:nvSpPr>
        <p:spPr>
          <a:xfrm>
            <a:off x="4956048" y="4370832"/>
            <a:ext cx="3931920" cy="219456"/>
          </a:xfrm>
          <a:prstGeom prst="rect">
            <a:avLst/>
          </a:prstGeom>
          <a:noFill/>
          <a:ln/>
        </p:spPr>
        <p:txBody>
          <a:bodyPr wrap="square" lIns="0" tIns="0" rIns="0" bIns="0" rtlCol="0" anchor="ctr"/>
          <a:lstStyle/>
          <a:p>
            <a:pPr marL="0" indent="0">
              <a:buNone/>
            </a:pPr>
            <a:r>
              <a:rPr lang="en-US" sz="800" i="1" dirty="0">
                <a:solidFill>
                  <a:srgbClr val="475569"/>
                </a:solidFill>
              </a:rPr>
              <a:t>e.g. Hospital PACS systems, telemedicine</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 cy="45720"/>
          </a:xfrm>
          <a:prstGeom prst="line">
            <a:avLst/>
          </a:prstGeom>
          <a:noFill/>
          <a:ln w="12700">
            <a:solidFill>
              <a:srgbClr val="4A1080">
                <a:alpha val="30000"/>
              </a:srgbClr>
            </a:solidFill>
            <a:prstDash val="solid"/>
          </a:ln>
        </p:spPr>
        <p:txBody>
          <a:bodyPr/>
          <a:lstStyle/>
          <a:p>
            <a:endParaRPr lang="en-SG"/>
          </a:p>
        </p:txBody>
      </p:sp>
      <p:sp>
        <p:nvSpPr>
          <p:cNvPr id="3" name="Shape 1"/>
          <p:cNvSpPr/>
          <p:nvPr/>
        </p:nvSpPr>
        <p:spPr>
          <a:xfrm>
            <a:off x="960120" y="0"/>
            <a:ext cx="45720" cy="45720"/>
          </a:xfrm>
          <a:prstGeom prst="line">
            <a:avLst/>
          </a:prstGeom>
          <a:noFill/>
          <a:ln w="12700">
            <a:solidFill>
              <a:srgbClr val="4A1080">
                <a:alpha val="30000"/>
              </a:srgbClr>
            </a:solidFill>
            <a:prstDash val="solid"/>
          </a:ln>
        </p:spPr>
        <p:txBody>
          <a:bodyPr/>
          <a:lstStyle/>
          <a:p>
            <a:endParaRPr lang="en-SG"/>
          </a:p>
        </p:txBody>
      </p:sp>
      <p:sp>
        <p:nvSpPr>
          <p:cNvPr id="4" name="Shape 2"/>
          <p:cNvSpPr/>
          <p:nvPr/>
        </p:nvSpPr>
        <p:spPr>
          <a:xfrm>
            <a:off x="1920240" y="0"/>
            <a:ext cx="45720" cy="45720"/>
          </a:xfrm>
          <a:prstGeom prst="line">
            <a:avLst/>
          </a:prstGeom>
          <a:noFill/>
          <a:ln w="12700">
            <a:solidFill>
              <a:srgbClr val="4A1080">
                <a:alpha val="30000"/>
              </a:srgbClr>
            </a:solidFill>
            <a:prstDash val="solid"/>
          </a:ln>
        </p:spPr>
        <p:txBody>
          <a:bodyPr/>
          <a:lstStyle/>
          <a:p>
            <a:endParaRPr lang="en-SG"/>
          </a:p>
        </p:txBody>
      </p:sp>
      <p:sp>
        <p:nvSpPr>
          <p:cNvPr id="5" name="Shape 3"/>
          <p:cNvSpPr/>
          <p:nvPr/>
        </p:nvSpPr>
        <p:spPr>
          <a:xfrm>
            <a:off x="2880360" y="0"/>
            <a:ext cx="45720" cy="45720"/>
          </a:xfrm>
          <a:prstGeom prst="line">
            <a:avLst/>
          </a:prstGeom>
          <a:noFill/>
          <a:ln w="12700">
            <a:solidFill>
              <a:srgbClr val="4A1080">
                <a:alpha val="30000"/>
              </a:srgbClr>
            </a:solidFill>
            <a:prstDash val="solid"/>
          </a:ln>
        </p:spPr>
        <p:txBody>
          <a:bodyPr/>
          <a:lstStyle/>
          <a:p>
            <a:endParaRPr lang="en-SG"/>
          </a:p>
        </p:txBody>
      </p:sp>
      <p:sp>
        <p:nvSpPr>
          <p:cNvPr id="6" name="Shape 4"/>
          <p:cNvSpPr/>
          <p:nvPr/>
        </p:nvSpPr>
        <p:spPr>
          <a:xfrm>
            <a:off x="3840480" y="0"/>
            <a:ext cx="45720" cy="45720"/>
          </a:xfrm>
          <a:prstGeom prst="line">
            <a:avLst/>
          </a:prstGeom>
          <a:noFill/>
          <a:ln w="12700">
            <a:solidFill>
              <a:srgbClr val="4A1080">
                <a:alpha val="30000"/>
              </a:srgbClr>
            </a:solidFill>
            <a:prstDash val="solid"/>
          </a:ln>
        </p:spPr>
        <p:txBody>
          <a:bodyPr/>
          <a:lstStyle/>
          <a:p>
            <a:endParaRPr lang="en-SG"/>
          </a:p>
        </p:txBody>
      </p:sp>
      <p:sp>
        <p:nvSpPr>
          <p:cNvPr id="7" name="Shape 5"/>
          <p:cNvSpPr/>
          <p:nvPr/>
        </p:nvSpPr>
        <p:spPr>
          <a:xfrm>
            <a:off x="4800600" y="0"/>
            <a:ext cx="45720" cy="45720"/>
          </a:xfrm>
          <a:prstGeom prst="line">
            <a:avLst/>
          </a:prstGeom>
          <a:noFill/>
          <a:ln w="12700">
            <a:solidFill>
              <a:srgbClr val="4A1080">
                <a:alpha val="30000"/>
              </a:srgbClr>
            </a:solidFill>
            <a:prstDash val="solid"/>
          </a:ln>
        </p:spPr>
        <p:txBody>
          <a:bodyPr/>
          <a:lstStyle/>
          <a:p>
            <a:endParaRPr lang="en-SG"/>
          </a:p>
        </p:txBody>
      </p:sp>
      <p:sp>
        <p:nvSpPr>
          <p:cNvPr id="8" name="Shape 6"/>
          <p:cNvSpPr/>
          <p:nvPr/>
        </p:nvSpPr>
        <p:spPr>
          <a:xfrm>
            <a:off x="5760720" y="0"/>
            <a:ext cx="45720" cy="45720"/>
          </a:xfrm>
          <a:prstGeom prst="line">
            <a:avLst/>
          </a:prstGeom>
          <a:noFill/>
          <a:ln w="12700">
            <a:solidFill>
              <a:srgbClr val="4A1080">
                <a:alpha val="30000"/>
              </a:srgbClr>
            </a:solidFill>
            <a:prstDash val="solid"/>
          </a:ln>
        </p:spPr>
        <p:txBody>
          <a:bodyPr/>
          <a:lstStyle/>
          <a:p>
            <a:endParaRPr lang="en-SG"/>
          </a:p>
        </p:txBody>
      </p:sp>
      <p:sp>
        <p:nvSpPr>
          <p:cNvPr id="9" name="Shape 7"/>
          <p:cNvSpPr/>
          <p:nvPr/>
        </p:nvSpPr>
        <p:spPr>
          <a:xfrm>
            <a:off x="6720840" y="0"/>
            <a:ext cx="45720" cy="45720"/>
          </a:xfrm>
          <a:prstGeom prst="line">
            <a:avLst/>
          </a:prstGeom>
          <a:noFill/>
          <a:ln w="12700">
            <a:solidFill>
              <a:srgbClr val="4A1080">
                <a:alpha val="30000"/>
              </a:srgbClr>
            </a:solidFill>
            <a:prstDash val="solid"/>
          </a:ln>
        </p:spPr>
        <p:txBody>
          <a:bodyPr/>
          <a:lstStyle/>
          <a:p>
            <a:endParaRPr lang="en-SG"/>
          </a:p>
        </p:txBody>
      </p:sp>
      <p:sp>
        <p:nvSpPr>
          <p:cNvPr id="10" name="Shape 8"/>
          <p:cNvSpPr/>
          <p:nvPr/>
        </p:nvSpPr>
        <p:spPr>
          <a:xfrm>
            <a:off x="7680960" y="0"/>
            <a:ext cx="45720" cy="45720"/>
          </a:xfrm>
          <a:prstGeom prst="line">
            <a:avLst/>
          </a:prstGeom>
          <a:noFill/>
          <a:ln w="12700">
            <a:solidFill>
              <a:srgbClr val="4A1080">
                <a:alpha val="30000"/>
              </a:srgbClr>
            </a:solidFill>
            <a:prstDash val="solid"/>
          </a:ln>
        </p:spPr>
        <p:txBody>
          <a:bodyPr/>
          <a:lstStyle/>
          <a:p>
            <a:endParaRPr lang="en-SG"/>
          </a:p>
        </p:txBody>
      </p:sp>
      <p:sp>
        <p:nvSpPr>
          <p:cNvPr id="11" name="Shape 9"/>
          <p:cNvSpPr/>
          <p:nvPr/>
        </p:nvSpPr>
        <p:spPr>
          <a:xfrm>
            <a:off x="8641080" y="0"/>
            <a:ext cx="45720" cy="45720"/>
          </a:xfrm>
          <a:prstGeom prst="line">
            <a:avLst/>
          </a:prstGeom>
          <a:noFill/>
          <a:ln w="12700">
            <a:solidFill>
              <a:srgbClr val="4A1080">
                <a:alpha val="30000"/>
              </a:srgbClr>
            </a:solidFill>
            <a:prstDash val="solid"/>
          </a:ln>
        </p:spPr>
        <p:txBody>
          <a:bodyPr/>
          <a:lstStyle/>
          <a:p>
            <a:endParaRPr lang="en-SG"/>
          </a:p>
        </p:txBody>
      </p:sp>
      <p:sp>
        <p:nvSpPr>
          <p:cNvPr id="12" name="Shape 10"/>
          <p:cNvSpPr/>
          <p:nvPr/>
        </p:nvSpPr>
        <p:spPr>
          <a:xfrm>
            <a:off x="0" y="1325880"/>
            <a:ext cx="45720" cy="45720"/>
          </a:xfrm>
          <a:prstGeom prst="line">
            <a:avLst/>
          </a:prstGeom>
          <a:noFill/>
          <a:ln w="12700">
            <a:solidFill>
              <a:srgbClr val="4A1080">
                <a:alpha val="30000"/>
              </a:srgbClr>
            </a:solidFill>
            <a:prstDash val="solid"/>
          </a:ln>
        </p:spPr>
        <p:txBody>
          <a:bodyPr/>
          <a:lstStyle/>
          <a:p>
            <a:endParaRPr lang="en-SG"/>
          </a:p>
        </p:txBody>
      </p:sp>
      <p:sp>
        <p:nvSpPr>
          <p:cNvPr id="13" name="Shape 11"/>
          <p:cNvSpPr/>
          <p:nvPr/>
        </p:nvSpPr>
        <p:spPr>
          <a:xfrm>
            <a:off x="960120" y="1325880"/>
            <a:ext cx="45720" cy="45720"/>
          </a:xfrm>
          <a:prstGeom prst="line">
            <a:avLst/>
          </a:prstGeom>
          <a:noFill/>
          <a:ln w="12700">
            <a:solidFill>
              <a:srgbClr val="4A1080">
                <a:alpha val="30000"/>
              </a:srgbClr>
            </a:solidFill>
            <a:prstDash val="solid"/>
          </a:ln>
        </p:spPr>
        <p:txBody>
          <a:bodyPr/>
          <a:lstStyle/>
          <a:p>
            <a:endParaRPr lang="en-SG"/>
          </a:p>
        </p:txBody>
      </p:sp>
      <p:sp>
        <p:nvSpPr>
          <p:cNvPr id="14" name="Shape 12"/>
          <p:cNvSpPr/>
          <p:nvPr/>
        </p:nvSpPr>
        <p:spPr>
          <a:xfrm>
            <a:off x="1920240" y="1325880"/>
            <a:ext cx="45720" cy="45720"/>
          </a:xfrm>
          <a:prstGeom prst="line">
            <a:avLst/>
          </a:prstGeom>
          <a:noFill/>
          <a:ln w="12700">
            <a:solidFill>
              <a:srgbClr val="4A1080">
                <a:alpha val="30000"/>
              </a:srgbClr>
            </a:solidFill>
            <a:prstDash val="solid"/>
          </a:ln>
        </p:spPr>
        <p:txBody>
          <a:bodyPr/>
          <a:lstStyle/>
          <a:p>
            <a:endParaRPr lang="en-SG"/>
          </a:p>
        </p:txBody>
      </p:sp>
      <p:sp>
        <p:nvSpPr>
          <p:cNvPr id="15" name="Shape 13"/>
          <p:cNvSpPr/>
          <p:nvPr/>
        </p:nvSpPr>
        <p:spPr>
          <a:xfrm>
            <a:off x="2880360" y="1325880"/>
            <a:ext cx="45720" cy="45720"/>
          </a:xfrm>
          <a:prstGeom prst="line">
            <a:avLst/>
          </a:prstGeom>
          <a:noFill/>
          <a:ln w="12700">
            <a:solidFill>
              <a:srgbClr val="4A1080">
                <a:alpha val="30000"/>
              </a:srgbClr>
            </a:solidFill>
            <a:prstDash val="solid"/>
          </a:ln>
        </p:spPr>
        <p:txBody>
          <a:bodyPr/>
          <a:lstStyle/>
          <a:p>
            <a:endParaRPr lang="en-SG"/>
          </a:p>
        </p:txBody>
      </p:sp>
      <p:sp>
        <p:nvSpPr>
          <p:cNvPr id="16" name="Shape 14"/>
          <p:cNvSpPr/>
          <p:nvPr/>
        </p:nvSpPr>
        <p:spPr>
          <a:xfrm>
            <a:off x="3840480" y="1325880"/>
            <a:ext cx="45720" cy="45720"/>
          </a:xfrm>
          <a:prstGeom prst="line">
            <a:avLst/>
          </a:prstGeom>
          <a:noFill/>
          <a:ln w="12700">
            <a:solidFill>
              <a:srgbClr val="4A1080">
                <a:alpha val="30000"/>
              </a:srgbClr>
            </a:solidFill>
            <a:prstDash val="solid"/>
          </a:ln>
        </p:spPr>
        <p:txBody>
          <a:bodyPr/>
          <a:lstStyle/>
          <a:p>
            <a:endParaRPr lang="en-SG"/>
          </a:p>
        </p:txBody>
      </p:sp>
      <p:sp>
        <p:nvSpPr>
          <p:cNvPr id="17" name="Shape 15"/>
          <p:cNvSpPr/>
          <p:nvPr/>
        </p:nvSpPr>
        <p:spPr>
          <a:xfrm>
            <a:off x="4800600" y="1325880"/>
            <a:ext cx="45720" cy="45720"/>
          </a:xfrm>
          <a:prstGeom prst="line">
            <a:avLst/>
          </a:prstGeom>
          <a:noFill/>
          <a:ln w="12700">
            <a:solidFill>
              <a:srgbClr val="4A1080">
                <a:alpha val="30000"/>
              </a:srgbClr>
            </a:solidFill>
            <a:prstDash val="solid"/>
          </a:ln>
        </p:spPr>
        <p:txBody>
          <a:bodyPr/>
          <a:lstStyle/>
          <a:p>
            <a:endParaRPr lang="en-SG"/>
          </a:p>
        </p:txBody>
      </p:sp>
      <p:sp>
        <p:nvSpPr>
          <p:cNvPr id="18" name="Shape 16"/>
          <p:cNvSpPr/>
          <p:nvPr/>
        </p:nvSpPr>
        <p:spPr>
          <a:xfrm>
            <a:off x="5760720" y="1325880"/>
            <a:ext cx="45720" cy="45720"/>
          </a:xfrm>
          <a:prstGeom prst="line">
            <a:avLst/>
          </a:prstGeom>
          <a:noFill/>
          <a:ln w="12700">
            <a:solidFill>
              <a:srgbClr val="4A1080">
                <a:alpha val="30000"/>
              </a:srgbClr>
            </a:solidFill>
            <a:prstDash val="solid"/>
          </a:ln>
        </p:spPr>
        <p:txBody>
          <a:bodyPr/>
          <a:lstStyle/>
          <a:p>
            <a:endParaRPr lang="en-SG"/>
          </a:p>
        </p:txBody>
      </p:sp>
      <p:sp>
        <p:nvSpPr>
          <p:cNvPr id="19" name="Shape 17"/>
          <p:cNvSpPr/>
          <p:nvPr/>
        </p:nvSpPr>
        <p:spPr>
          <a:xfrm>
            <a:off x="6720840" y="1325880"/>
            <a:ext cx="45720" cy="45720"/>
          </a:xfrm>
          <a:prstGeom prst="line">
            <a:avLst/>
          </a:prstGeom>
          <a:noFill/>
          <a:ln w="12700">
            <a:solidFill>
              <a:srgbClr val="4A1080">
                <a:alpha val="30000"/>
              </a:srgbClr>
            </a:solidFill>
            <a:prstDash val="solid"/>
          </a:ln>
        </p:spPr>
        <p:txBody>
          <a:bodyPr/>
          <a:lstStyle/>
          <a:p>
            <a:endParaRPr lang="en-SG"/>
          </a:p>
        </p:txBody>
      </p:sp>
      <p:sp>
        <p:nvSpPr>
          <p:cNvPr id="20" name="Shape 18"/>
          <p:cNvSpPr/>
          <p:nvPr/>
        </p:nvSpPr>
        <p:spPr>
          <a:xfrm>
            <a:off x="7680960" y="1325880"/>
            <a:ext cx="45720" cy="45720"/>
          </a:xfrm>
          <a:prstGeom prst="line">
            <a:avLst/>
          </a:prstGeom>
          <a:noFill/>
          <a:ln w="12700">
            <a:solidFill>
              <a:srgbClr val="4A1080">
                <a:alpha val="30000"/>
              </a:srgbClr>
            </a:solidFill>
            <a:prstDash val="solid"/>
          </a:ln>
        </p:spPr>
        <p:txBody>
          <a:bodyPr/>
          <a:lstStyle/>
          <a:p>
            <a:endParaRPr lang="en-SG"/>
          </a:p>
        </p:txBody>
      </p:sp>
      <p:sp>
        <p:nvSpPr>
          <p:cNvPr id="21" name="Shape 19"/>
          <p:cNvSpPr/>
          <p:nvPr/>
        </p:nvSpPr>
        <p:spPr>
          <a:xfrm>
            <a:off x="8641080" y="1325880"/>
            <a:ext cx="45720" cy="45720"/>
          </a:xfrm>
          <a:prstGeom prst="line">
            <a:avLst/>
          </a:prstGeom>
          <a:noFill/>
          <a:ln w="12700">
            <a:solidFill>
              <a:srgbClr val="4A1080">
                <a:alpha val="30000"/>
              </a:srgbClr>
            </a:solidFill>
            <a:prstDash val="solid"/>
          </a:ln>
        </p:spPr>
        <p:txBody>
          <a:bodyPr/>
          <a:lstStyle/>
          <a:p>
            <a:endParaRPr lang="en-SG"/>
          </a:p>
        </p:txBody>
      </p:sp>
      <p:sp>
        <p:nvSpPr>
          <p:cNvPr id="22" name="Shape 20"/>
          <p:cNvSpPr/>
          <p:nvPr/>
        </p:nvSpPr>
        <p:spPr>
          <a:xfrm>
            <a:off x="0" y="2651760"/>
            <a:ext cx="45720" cy="45720"/>
          </a:xfrm>
          <a:prstGeom prst="line">
            <a:avLst/>
          </a:prstGeom>
          <a:noFill/>
          <a:ln w="12700">
            <a:solidFill>
              <a:srgbClr val="4A1080">
                <a:alpha val="30000"/>
              </a:srgbClr>
            </a:solidFill>
            <a:prstDash val="solid"/>
          </a:ln>
        </p:spPr>
        <p:txBody>
          <a:bodyPr/>
          <a:lstStyle/>
          <a:p>
            <a:endParaRPr lang="en-SG"/>
          </a:p>
        </p:txBody>
      </p:sp>
      <p:sp>
        <p:nvSpPr>
          <p:cNvPr id="23" name="Shape 21"/>
          <p:cNvSpPr/>
          <p:nvPr/>
        </p:nvSpPr>
        <p:spPr>
          <a:xfrm>
            <a:off x="960120" y="2651760"/>
            <a:ext cx="45720" cy="45720"/>
          </a:xfrm>
          <a:prstGeom prst="line">
            <a:avLst/>
          </a:prstGeom>
          <a:noFill/>
          <a:ln w="12700">
            <a:solidFill>
              <a:srgbClr val="4A1080">
                <a:alpha val="30000"/>
              </a:srgbClr>
            </a:solidFill>
            <a:prstDash val="solid"/>
          </a:ln>
        </p:spPr>
        <p:txBody>
          <a:bodyPr/>
          <a:lstStyle/>
          <a:p>
            <a:endParaRPr lang="en-SG"/>
          </a:p>
        </p:txBody>
      </p:sp>
      <p:sp>
        <p:nvSpPr>
          <p:cNvPr id="24" name="Shape 22"/>
          <p:cNvSpPr/>
          <p:nvPr/>
        </p:nvSpPr>
        <p:spPr>
          <a:xfrm>
            <a:off x="1920240" y="2651760"/>
            <a:ext cx="45720" cy="45720"/>
          </a:xfrm>
          <a:prstGeom prst="line">
            <a:avLst/>
          </a:prstGeom>
          <a:noFill/>
          <a:ln w="12700">
            <a:solidFill>
              <a:srgbClr val="4A1080">
                <a:alpha val="30000"/>
              </a:srgbClr>
            </a:solidFill>
            <a:prstDash val="solid"/>
          </a:ln>
        </p:spPr>
        <p:txBody>
          <a:bodyPr/>
          <a:lstStyle/>
          <a:p>
            <a:endParaRPr lang="en-SG"/>
          </a:p>
        </p:txBody>
      </p:sp>
      <p:sp>
        <p:nvSpPr>
          <p:cNvPr id="25" name="Shape 23"/>
          <p:cNvSpPr/>
          <p:nvPr/>
        </p:nvSpPr>
        <p:spPr>
          <a:xfrm>
            <a:off x="2880360" y="2651760"/>
            <a:ext cx="45720" cy="45720"/>
          </a:xfrm>
          <a:prstGeom prst="line">
            <a:avLst/>
          </a:prstGeom>
          <a:noFill/>
          <a:ln w="12700">
            <a:solidFill>
              <a:srgbClr val="4A1080">
                <a:alpha val="30000"/>
              </a:srgbClr>
            </a:solidFill>
            <a:prstDash val="solid"/>
          </a:ln>
        </p:spPr>
        <p:txBody>
          <a:bodyPr/>
          <a:lstStyle/>
          <a:p>
            <a:endParaRPr lang="en-SG"/>
          </a:p>
        </p:txBody>
      </p:sp>
      <p:sp>
        <p:nvSpPr>
          <p:cNvPr id="26" name="Shape 24"/>
          <p:cNvSpPr/>
          <p:nvPr/>
        </p:nvSpPr>
        <p:spPr>
          <a:xfrm>
            <a:off x="3840480" y="2651760"/>
            <a:ext cx="45720" cy="45720"/>
          </a:xfrm>
          <a:prstGeom prst="line">
            <a:avLst/>
          </a:prstGeom>
          <a:noFill/>
          <a:ln w="12700">
            <a:solidFill>
              <a:srgbClr val="4A1080">
                <a:alpha val="30000"/>
              </a:srgbClr>
            </a:solidFill>
            <a:prstDash val="solid"/>
          </a:ln>
        </p:spPr>
        <p:txBody>
          <a:bodyPr/>
          <a:lstStyle/>
          <a:p>
            <a:endParaRPr lang="en-SG"/>
          </a:p>
        </p:txBody>
      </p:sp>
      <p:sp>
        <p:nvSpPr>
          <p:cNvPr id="27" name="Shape 25"/>
          <p:cNvSpPr/>
          <p:nvPr/>
        </p:nvSpPr>
        <p:spPr>
          <a:xfrm>
            <a:off x="4800600" y="2651760"/>
            <a:ext cx="45720" cy="45720"/>
          </a:xfrm>
          <a:prstGeom prst="line">
            <a:avLst/>
          </a:prstGeom>
          <a:noFill/>
          <a:ln w="12700">
            <a:solidFill>
              <a:srgbClr val="4A1080">
                <a:alpha val="30000"/>
              </a:srgbClr>
            </a:solidFill>
            <a:prstDash val="solid"/>
          </a:ln>
        </p:spPr>
        <p:txBody>
          <a:bodyPr/>
          <a:lstStyle/>
          <a:p>
            <a:endParaRPr lang="en-SG"/>
          </a:p>
        </p:txBody>
      </p:sp>
      <p:sp>
        <p:nvSpPr>
          <p:cNvPr id="28" name="Shape 26"/>
          <p:cNvSpPr/>
          <p:nvPr/>
        </p:nvSpPr>
        <p:spPr>
          <a:xfrm>
            <a:off x="5760720" y="2651760"/>
            <a:ext cx="45720" cy="45720"/>
          </a:xfrm>
          <a:prstGeom prst="line">
            <a:avLst/>
          </a:prstGeom>
          <a:noFill/>
          <a:ln w="12700">
            <a:solidFill>
              <a:srgbClr val="4A1080">
                <a:alpha val="30000"/>
              </a:srgbClr>
            </a:solidFill>
            <a:prstDash val="solid"/>
          </a:ln>
        </p:spPr>
        <p:txBody>
          <a:bodyPr/>
          <a:lstStyle/>
          <a:p>
            <a:endParaRPr lang="en-SG"/>
          </a:p>
        </p:txBody>
      </p:sp>
      <p:sp>
        <p:nvSpPr>
          <p:cNvPr id="29" name="Shape 27"/>
          <p:cNvSpPr/>
          <p:nvPr/>
        </p:nvSpPr>
        <p:spPr>
          <a:xfrm>
            <a:off x="6720840" y="2651760"/>
            <a:ext cx="45720" cy="45720"/>
          </a:xfrm>
          <a:prstGeom prst="line">
            <a:avLst/>
          </a:prstGeom>
          <a:noFill/>
          <a:ln w="12700">
            <a:solidFill>
              <a:srgbClr val="4A1080">
                <a:alpha val="30000"/>
              </a:srgbClr>
            </a:solidFill>
            <a:prstDash val="solid"/>
          </a:ln>
        </p:spPr>
        <p:txBody>
          <a:bodyPr/>
          <a:lstStyle/>
          <a:p>
            <a:endParaRPr lang="en-SG"/>
          </a:p>
        </p:txBody>
      </p:sp>
      <p:sp>
        <p:nvSpPr>
          <p:cNvPr id="30" name="Shape 28"/>
          <p:cNvSpPr/>
          <p:nvPr/>
        </p:nvSpPr>
        <p:spPr>
          <a:xfrm>
            <a:off x="7680960" y="2651760"/>
            <a:ext cx="45720" cy="45720"/>
          </a:xfrm>
          <a:prstGeom prst="line">
            <a:avLst/>
          </a:prstGeom>
          <a:noFill/>
          <a:ln w="12700">
            <a:solidFill>
              <a:srgbClr val="4A1080">
                <a:alpha val="30000"/>
              </a:srgbClr>
            </a:solidFill>
            <a:prstDash val="solid"/>
          </a:ln>
        </p:spPr>
        <p:txBody>
          <a:bodyPr/>
          <a:lstStyle/>
          <a:p>
            <a:endParaRPr lang="en-SG"/>
          </a:p>
        </p:txBody>
      </p:sp>
      <p:sp>
        <p:nvSpPr>
          <p:cNvPr id="31" name="Shape 29"/>
          <p:cNvSpPr/>
          <p:nvPr/>
        </p:nvSpPr>
        <p:spPr>
          <a:xfrm>
            <a:off x="8641080" y="2651760"/>
            <a:ext cx="45720" cy="45720"/>
          </a:xfrm>
          <a:prstGeom prst="line">
            <a:avLst/>
          </a:prstGeom>
          <a:noFill/>
          <a:ln w="12700">
            <a:solidFill>
              <a:srgbClr val="4A1080">
                <a:alpha val="30000"/>
              </a:srgbClr>
            </a:solidFill>
            <a:prstDash val="solid"/>
          </a:ln>
        </p:spPr>
        <p:txBody>
          <a:bodyPr/>
          <a:lstStyle/>
          <a:p>
            <a:endParaRPr lang="en-SG"/>
          </a:p>
        </p:txBody>
      </p:sp>
      <p:sp>
        <p:nvSpPr>
          <p:cNvPr id="32" name="Shape 30"/>
          <p:cNvSpPr/>
          <p:nvPr/>
        </p:nvSpPr>
        <p:spPr>
          <a:xfrm>
            <a:off x="0" y="3977640"/>
            <a:ext cx="45720" cy="45720"/>
          </a:xfrm>
          <a:prstGeom prst="line">
            <a:avLst/>
          </a:prstGeom>
          <a:noFill/>
          <a:ln w="12700">
            <a:solidFill>
              <a:srgbClr val="4A1080">
                <a:alpha val="30000"/>
              </a:srgbClr>
            </a:solidFill>
            <a:prstDash val="solid"/>
          </a:ln>
        </p:spPr>
        <p:txBody>
          <a:bodyPr/>
          <a:lstStyle/>
          <a:p>
            <a:endParaRPr lang="en-SG"/>
          </a:p>
        </p:txBody>
      </p:sp>
      <p:sp>
        <p:nvSpPr>
          <p:cNvPr id="33" name="Shape 31"/>
          <p:cNvSpPr/>
          <p:nvPr/>
        </p:nvSpPr>
        <p:spPr>
          <a:xfrm>
            <a:off x="960120" y="3977640"/>
            <a:ext cx="45720" cy="45720"/>
          </a:xfrm>
          <a:prstGeom prst="line">
            <a:avLst/>
          </a:prstGeom>
          <a:noFill/>
          <a:ln w="12700">
            <a:solidFill>
              <a:srgbClr val="4A1080">
                <a:alpha val="30000"/>
              </a:srgbClr>
            </a:solidFill>
            <a:prstDash val="solid"/>
          </a:ln>
        </p:spPr>
        <p:txBody>
          <a:bodyPr/>
          <a:lstStyle/>
          <a:p>
            <a:endParaRPr lang="en-SG"/>
          </a:p>
        </p:txBody>
      </p:sp>
      <p:sp>
        <p:nvSpPr>
          <p:cNvPr id="34" name="Shape 32"/>
          <p:cNvSpPr/>
          <p:nvPr/>
        </p:nvSpPr>
        <p:spPr>
          <a:xfrm>
            <a:off x="1920240" y="3977640"/>
            <a:ext cx="45720" cy="45720"/>
          </a:xfrm>
          <a:prstGeom prst="line">
            <a:avLst/>
          </a:prstGeom>
          <a:noFill/>
          <a:ln w="12700">
            <a:solidFill>
              <a:srgbClr val="4A1080">
                <a:alpha val="30000"/>
              </a:srgbClr>
            </a:solidFill>
            <a:prstDash val="solid"/>
          </a:ln>
        </p:spPr>
        <p:txBody>
          <a:bodyPr/>
          <a:lstStyle/>
          <a:p>
            <a:endParaRPr lang="en-SG"/>
          </a:p>
        </p:txBody>
      </p:sp>
      <p:sp>
        <p:nvSpPr>
          <p:cNvPr id="35" name="Shape 33"/>
          <p:cNvSpPr/>
          <p:nvPr/>
        </p:nvSpPr>
        <p:spPr>
          <a:xfrm>
            <a:off x="2880360" y="3977640"/>
            <a:ext cx="45720" cy="45720"/>
          </a:xfrm>
          <a:prstGeom prst="line">
            <a:avLst/>
          </a:prstGeom>
          <a:noFill/>
          <a:ln w="12700">
            <a:solidFill>
              <a:srgbClr val="4A1080">
                <a:alpha val="30000"/>
              </a:srgbClr>
            </a:solidFill>
            <a:prstDash val="solid"/>
          </a:ln>
        </p:spPr>
        <p:txBody>
          <a:bodyPr/>
          <a:lstStyle/>
          <a:p>
            <a:endParaRPr lang="en-SG"/>
          </a:p>
        </p:txBody>
      </p:sp>
      <p:sp>
        <p:nvSpPr>
          <p:cNvPr id="36" name="Shape 34"/>
          <p:cNvSpPr/>
          <p:nvPr/>
        </p:nvSpPr>
        <p:spPr>
          <a:xfrm>
            <a:off x="3840480" y="3977640"/>
            <a:ext cx="45720" cy="45720"/>
          </a:xfrm>
          <a:prstGeom prst="line">
            <a:avLst/>
          </a:prstGeom>
          <a:noFill/>
          <a:ln w="12700">
            <a:solidFill>
              <a:srgbClr val="4A1080">
                <a:alpha val="30000"/>
              </a:srgbClr>
            </a:solidFill>
            <a:prstDash val="solid"/>
          </a:ln>
        </p:spPr>
        <p:txBody>
          <a:bodyPr/>
          <a:lstStyle/>
          <a:p>
            <a:endParaRPr lang="en-SG"/>
          </a:p>
        </p:txBody>
      </p:sp>
      <p:sp>
        <p:nvSpPr>
          <p:cNvPr id="37" name="Shape 35"/>
          <p:cNvSpPr/>
          <p:nvPr/>
        </p:nvSpPr>
        <p:spPr>
          <a:xfrm>
            <a:off x="4800600" y="3977640"/>
            <a:ext cx="45720" cy="45720"/>
          </a:xfrm>
          <a:prstGeom prst="line">
            <a:avLst/>
          </a:prstGeom>
          <a:noFill/>
          <a:ln w="12700">
            <a:solidFill>
              <a:srgbClr val="4A1080">
                <a:alpha val="30000"/>
              </a:srgbClr>
            </a:solidFill>
            <a:prstDash val="solid"/>
          </a:ln>
        </p:spPr>
        <p:txBody>
          <a:bodyPr/>
          <a:lstStyle/>
          <a:p>
            <a:endParaRPr lang="en-SG"/>
          </a:p>
        </p:txBody>
      </p:sp>
      <p:sp>
        <p:nvSpPr>
          <p:cNvPr id="38" name="Shape 36"/>
          <p:cNvSpPr/>
          <p:nvPr/>
        </p:nvSpPr>
        <p:spPr>
          <a:xfrm>
            <a:off x="5760720" y="3977640"/>
            <a:ext cx="45720" cy="45720"/>
          </a:xfrm>
          <a:prstGeom prst="line">
            <a:avLst/>
          </a:prstGeom>
          <a:noFill/>
          <a:ln w="12700">
            <a:solidFill>
              <a:srgbClr val="4A1080">
                <a:alpha val="30000"/>
              </a:srgbClr>
            </a:solidFill>
            <a:prstDash val="solid"/>
          </a:ln>
        </p:spPr>
        <p:txBody>
          <a:bodyPr/>
          <a:lstStyle/>
          <a:p>
            <a:endParaRPr lang="en-SG"/>
          </a:p>
        </p:txBody>
      </p:sp>
      <p:sp>
        <p:nvSpPr>
          <p:cNvPr id="39" name="Shape 37"/>
          <p:cNvSpPr/>
          <p:nvPr/>
        </p:nvSpPr>
        <p:spPr>
          <a:xfrm>
            <a:off x="6720840" y="3977640"/>
            <a:ext cx="45720" cy="45720"/>
          </a:xfrm>
          <a:prstGeom prst="line">
            <a:avLst/>
          </a:prstGeom>
          <a:noFill/>
          <a:ln w="12700">
            <a:solidFill>
              <a:srgbClr val="4A1080">
                <a:alpha val="30000"/>
              </a:srgbClr>
            </a:solidFill>
            <a:prstDash val="solid"/>
          </a:ln>
        </p:spPr>
        <p:txBody>
          <a:bodyPr/>
          <a:lstStyle/>
          <a:p>
            <a:endParaRPr lang="en-SG"/>
          </a:p>
        </p:txBody>
      </p:sp>
      <p:sp>
        <p:nvSpPr>
          <p:cNvPr id="40" name="Shape 38"/>
          <p:cNvSpPr/>
          <p:nvPr/>
        </p:nvSpPr>
        <p:spPr>
          <a:xfrm>
            <a:off x="7680960" y="3977640"/>
            <a:ext cx="45720" cy="45720"/>
          </a:xfrm>
          <a:prstGeom prst="line">
            <a:avLst/>
          </a:prstGeom>
          <a:noFill/>
          <a:ln w="12700">
            <a:solidFill>
              <a:srgbClr val="4A1080">
                <a:alpha val="30000"/>
              </a:srgbClr>
            </a:solidFill>
            <a:prstDash val="solid"/>
          </a:ln>
        </p:spPr>
        <p:txBody>
          <a:bodyPr/>
          <a:lstStyle/>
          <a:p>
            <a:endParaRPr lang="en-SG"/>
          </a:p>
        </p:txBody>
      </p:sp>
      <p:sp>
        <p:nvSpPr>
          <p:cNvPr id="41" name="Shape 39"/>
          <p:cNvSpPr/>
          <p:nvPr/>
        </p:nvSpPr>
        <p:spPr>
          <a:xfrm>
            <a:off x="8641080" y="3977640"/>
            <a:ext cx="45720" cy="45720"/>
          </a:xfrm>
          <a:prstGeom prst="line">
            <a:avLst/>
          </a:prstGeom>
          <a:noFill/>
          <a:ln w="12700">
            <a:solidFill>
              <a:srgbClr val="4A1080">
                <a:alpha val="30000"/>
              </a:srgbClr>
            </a:solidFill>
            <a:prstDash val="solid"/>
          </a:ln>
        </p:spPr>
        <p:txBody>
          <a:bodyPr/>
          <a:lstStyle/>
          <a:p>
            <a:endParaRPr lang="en-SG"/>
          </a:p>
        </p:txBody>
      </p:sp>
      <p:sp>
        <p:nvSpPr>
          <p:cNvPr id="42" name="Shape 40"/>
          <p:cNvSpPr/>
          <p:nvPr/>
        </p:nvSpPr>
        <p:spPr>
          <a:xfrm>
            <a:off x="0" y="2240280"/>
            <a:ext cx="9144000" cy="54864"/>
          </a:xfrm>
          <a:prstGeom prst="rect">
            <a:avLst/>
          </a:prstGeom>
          <a:solidFill>
            <a:srgbClr val="A855F7"/>
          </a:solidFill>
          <a:ln w="12700">
            <a:solidFill>
              <a:srgbClr val="A855F7"/>
            </a:solidFill>
            <a:prstDash val="solid"/>
          </a:ln>
        </p:spPr>
        <p:txBody>
          <a:bodyPr/>
          <a:lstStyle/>
          <a:p>
            <a:endParaRPr lang="en-SG"/>
          </a:p>
        </p:txBody>
      </p:sp>
      <p:sp>
        <p:nvSpPr>
          <p:cNvPr id="43" name="Text 41"/>
          <p:cNvSpPr/>
          <p:nvPr/>
        </p:nvSpPr>
        <p:spPr>
          <a:xfrm>
            <a:off x="457200" y="1261872"/>
            <a:ext cx="8229600" cy="438912"/>
          </a:xfrm>
          <a:prstGeom prst="rect">
            <a:avLst/>
          </a:prstGeom>
          <a:noFill/>
          <a:ln/>
        </p:spPr>
        <p:txBody>
          <a:bodyPr wrap="square" lIns="0" tIns="0" rIns="0" bIns="0" rtlCol="0" anchor="ctr"/>
          <a:lstStyle/>
          <a:p>
            <a:pPr marL="0" indent="0" algn="ctr">
              <a:buNone/>
            </a:pPr>
            <a:r>
              <a:rPr lang="en-US" sz="1300" b="1" kern="0" spc="800" dirty="0">
                <a:solidFill>
                  <a:srgbClr val="A855F7"/>
                </a:solidFill>
              </a:rPr>
              <a:t>SECTION 11</a:t>
            </a:r>
            <a:endParaRPr lang="en-US" sz="1300" dirty="0"/>
          </a:p>
        </p:txBody>
      </p:sp>
      <p:sp>
        <p:nvSpPr>
          <p:cNvPr id="44" name="Text 42"/>
          <p:cNvSpPr/>
          <p:nvPr/>
        </p:nvSpPr>
        <p:spPr>
          <a:xfrm>
            <a:off x="523037" y="2439619"/>
            <a:ext cx="8229600" cy="1371600"/>
          </a:xfrm>
          <a:prstGeom prst="rect">
            <a:avLst/>
          </a:prstGeom>
          <a:noFill/>
          <a:ln/>
        </p:spPr>
        <p:txBody>
          <a:bodyPr wrap="square" lIns="0" tIns="0" rIns="0" bIns="0" rtlCol="0" anchor="ctr"/>
          <a:lstStyle/>
          <a:p>
            <a:pPr marL="0" indent="0" algn="ctr">
              <a:buNone/>
            </a:pPr>
            <a:r>
              <a:rPr lang="en-US" sz="4600" b="1" dirty="0">
                <a:solidFill>
                  <a:srgbClr val="1A1A2E"/>
                </a:solidFill>
              </a:rPr>
              <a:t>Password</a:t>
            </a:r>
            <a:endParaRPr lang="en-US" sz="4600" dirty="0"/>
          </a:p>
          <a:p>
            <a:pPr marL="0" indent="0" algn="ctr">
              <a:buNone/>
            </a:pPr>
            <a:r>
              <a:rPr lang="en-US" sz="4600" b="1" dirty="0">
                <a:solidFill>
                  <a:srgbClr val="1A1A2E"/>
                </a:solidFill>
              </a:rPr>
              <a:t>Recovery</a:t>
            </a:r>
            <a:endParaRPr lang="en-US" sz="4600" dirty="0"/>
          </a:p>
        </p:txBody>
      </p:sp>
      <p:sp>
        <p:nvSpPr>
          <p:cNvPr id="45" name="Text 43"/>
          <p:cNvSpPr/>
          <p:nvPr/>
        </p:nvSpPr>
        <p:spPr>
          <a:xfrm>
            <a:off x="685800" y="4025189"/>
            <a:ext cx="8229600" cy="438912"/>
          </a:xfrm>
          <a:prstGeom prst="rect">
            <a:avLst/>
          </a:prstGeom>
          <a:noFill/>
          <a:ln/>
        </p:spPr>
        <p:txBody>
          <a:bodyPr wrap="square" lIns="0" tIns="0" rIns="0" bIns="0" rtlCol="0" anchor="ctr"/>
          <a:lstStyle/>
          <a:p>
            <a:pPr marL="0" indent="0" algn="ctr">
              <a:buNone/>
            </a:pPr>
            <a:r>
              <a:rPr lang="en-US" sz="1350" i="1" dirty="0">
                <a:solidFill>
                  <a:srgbClr val="475569"/>
                </a:solidFill>
              </a:rPr>
              <a:t>Techniques, tools &amp; strategies used to regain access to protected evidence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11 · PASSWORD RECOVERY</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Password Recovery in Digital Investigations</a:t>
            </a:r>
            <a:endParaRPr lang="en-US" sz="2800" dirty="0"/>
          </a:p>
        </p:txBody>
      </p:sp>
      <p:sp>
        <p:nvSpPr>
          <p:cNvPr id="5" name="Shape 3"/>
          <p:cNvSpPr/>
          <p:nvPr/>
        </p:nvSpPr>
        <p:spPr>
          <a:xfrm>
            <a:off x="320040" y="1188720"/>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298448"/>
            <a:ext cx="8503920" cy="777240"/>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777240"/>
          </a:xfrm>
          <a:prstGeom prst="rect">
            <a:avLst/>
          </a:prstGeom>
          <a:solidFill>
            <a:srgbClr val="A855F7"/>
          </a:solidFill>
          <a:ln w="12700">
            <a:solidFill>
              <a:srgbClr val="A855F7"/>
            </a:solidFill>
            <a:prstDash val="solid"/>
          </a:ln>
        </p:spPr>
        <p:txBody>
          <a:bodyPr/>
          <a:lstStyle/>
          <a:p>
            <a:endParaRPr lang="en-SG"/>
          </a:p>
        </p:txBody>
      </p:sp>
      <p:sp>
        <p:nvSpPr>
          <p:cNvPr id="8" name="Text 6"/>
          <p:cNvSpPr/>
          <p:nvPr/>
        </p:nvSpPr>
        <p:spPr>
          <a:xfrm>
            <a:off x="512064" y="1371600"/>
            <a:ext cx="8229600" cy="256032"/>
          </a:xfrm>
          <a:prstGeom prst="rect">
            <a:avLst/>
          </a:prstGeom>
          <a:noFill/>
          <a:ln/>
        </p:spPr>
        <p:txBody>
          <a:bodyPr wrap="square" lIns="0" tIns="0" rIns="0" bIns="0" rtlCol="0" anchor="ctr"/>
          <a:lstStyle/>
          <a:p>
            <a:pPr marL="0" indent="0">
              <a:buNone/>
            </a:pPr>
            <a:r>
              <a:rPr lang="en-US" sz="1100" b="1" dirty="0">
                <a:solidFill>
                  <a:srgbClr val="A855F7"/>
                </a:solidFill>
              </a:rPr>
              <a:t>Definition</a:t>
            </a:r>
            <a:endParaRPr lang="en-US" sz="1100" dirty="0"/>
          </a:p>
        </p:txBody>
      </p:sp>
      <p:sp>
        <p:nvSpPr>
          <p:cNvPr id="9" name="Text 7"/>
          <p:cNvSpPr/>
          <p:nvPr/>
        </p:nvSpPr>
        <p:spPr>
          <a:xfrm>
            <a:off x="512064" y="1645920"/>
            <a:ext cx="8092440" cy="384048"/>
          </a:xfrm>
          <a:prstGeom prst="rect">
            <a:avLst/>
          </a:prstGeom>
          <a:noFill/>
          <a:ln/>
        </p:spPr>
        <p:txBody>
          <a:bodyPr wrap="square" lIns="0" tIns="0" rIns="0" bIns="0" rtlCol="0" anchor="ctr"/>
          <a:lstStyle/>
          <a:p>
            <a:pPr marL="0" indent="0">
              <a:buNone/>
            </a:pPr>
            <a:r>
              <a:rPr lang="en-US" sz="1000" dirty="0">
                <a:solidFill>
                  <a:srgbClr val="1A1A2E"/>
                </a:solidFill>
              </a:rPr>
              <a:t>Password Recovery is the process of regaining access to password-protected files, encrypted volumes, or locked systems during a forensic investigation — enabling analysts to examine otherwise inaccessible evidence.</a:t>
            </a:r>
            <a:endParaRPr lang="en-US" sz="1000" dirty="0"/>
          </a:p>
        </p:txBody>
      </p:sp>
      <p:sp>
        <p:nvSpPr>
          <p:cNvPr id="10" name="Text 8"/>
          <p:cNvSpPr/>
          <p:nvPr/>
        </p:nvSpPr>
        <p:spPr>
          <a:xfrm>
            <a:off x="320040" y="2194560"/>
            <a:ext cx="8503920" cy="320040"/>
          </a:xfrm>
          <a:prstGeom prst="rect">
            <a:avLst/>
          </a:prstGeom>
          <a:noFill/>
          <a:ln/>
        </p:spPr>
        <p:txBody>
          <a:bodyPr wrap="square" lIns="0" tIns="0" rIns="0" bIns="0" rtlCol="0" anchor="ctr"/>
          <a:lstStyle/>
          <a:p>
            <a:pPr marL="0" indent="0">
              <a:buNone/>
            </a:pPr>
            <a:r>
              <a:rPr lang="en-US" sz="1300" b="1" dirty="0">
                <a:solidFill>
                  <a:srgbClr val="1A1A2E"/>
                </a:solidFill>
              </a:rPr>
              <a:t>What Investigators Commonly Encounter</a:t>
            </a:r>
            <a:endParaRPr lang="en-US" sz="1300" dirty="0"/>
          </a:p>
        </p:txBody>
      </p:sp>
      <p:sp>
        <p:nvSpPr>
          <p:cNvPr id="11" name="Shape 9"/>
          <p:cNvSpPr/>
          <p:nvPr/>
        </p:nvSpPr>
        <p:spPr>
          <a:xfrm>
            <a:off x="320040" y="2596896"/>
            <a:ext cx="4251960" cy="89611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2" name="Shape 10"/>
          <p:cNvSpPr/>
          <p:nvPr/>
        </p:nvSpPr>
        <p:spPr>
          <a:xfrm>
            <a:off x="320040" y="2596896"/>
            <a:ext cx="109728" cy="896112"/>
          </a:xfrm>
          <a:prstGeom prst="rect">
            <a:avLst/>
          </a:prstGeom>
          <a:solidFill>
            <a:srgbClr val="A855F7"/>
          </a:solidFill>
          <a:ln w="12700">
            <a:solidFill>
              <a:srgbClr val="A855F7"/>
            </a:solidFill>
            <a:prstDash val="solid"/>
          </a:ln>
        </p:spPr>
        <p:txBody>
          <a:bodyPr/>
          <a:lstStyle/>
          <a:p>
            <a:endParaRPr lang="en-SG"/>
          </a:p>
        </p:txBody>
      </p:sp>
      <p:sp>
        <p:nvSpPr>
          <p:cNvPr id="13" name="Text 11"/>
          <p:cNvSpPr/>
          <p:nvPr/>
        </p:nvSpPr>
        <p:spPr>
          <a:xfrm>
            <a:off x="521208" y="2670048"/>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Password-Protected Files</a:t>
            </a:r>
            <a:endParaRPr lang="en-US" sz="1100" dirty="0"/>
          </a:p>
        </p:txBody>
      </p:sp>
      <p:sp>
        <p:nvSpPr>
          <p:cNvPr id="14" name="Text 12"/>
          <p:cNvSpPr/>
          <p:nvPr/>
        </p:nvSpPr>
        <p:spPr>
          <a:xfrm>
            <a:off x="521208" y="2999232"/>
            <a:ext cx="3950208" cy="429768"/>
          </a:xfrm>
          <a:prstGeom prst="rect">
            <a:avLst/>
          </a:prstGeom>
          <a:noFill/>
          <a:ln/>
        </p:spPr>
        <p:txBody>
          <a:bodyPr wrap="square" lIns="0" tIns="0" rIns="0" bIns="0" rtlCol="0" anchor="ctr"/>
          <a:lstStyle/>
          <a:p>
            <a:pPr marL="0" indent="0">
              <a:buNone/>
            </a:pPr>
            <a:r>
              <a:rPr lang="en-US" sz="900" dirty="0">
                <a:solidFill>
                  <a:srgbClr val="1A1A2E"/>
                </a:solidFill>
              </a:rPr>
              <a:t>Documents (Word, Excel, PDF), archives (ZIP, RAR, 7-Zip), and databases locked with user-defined passwords that must be recovered to access evidence.</a:t>
            </a:r>
            <a:endParaRPr lang="en-US" sz="900" dirty="0"/>
          </a:p>
        </p:txBody>
      </p:sp>
      <p:sp>
        <p:nvSpPr>
          <p:cNvPr id="15" name="Shape 13"/>
          <p:cNvSpPr/>
          <p:nvPr/>
        </p:nvSpPr>
        <p:spPr>
          <a:xfrm>
            <a:off x="4754880" y="2596896"/>
            <a:ext cx="4251960" cy="89611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6" name="Shape 14"/>
          <p:cNvSpPr/>
          <p:nvPr/>
        </p:nvSpPr>
        <p:spPr>
          <a:xfrm>
            <a:off x="4754880" y="2596896"/>
            <a:ext cx="109728" cy="896112"/>
          </a:xfrm>
          <a:prstGeom prst="rect">
            <a:avLst/>
          </a:prstGeom>
          <a:solidFill>
            <a:srgbClr val="A855F7"/>
          </a:solidFill>
          <a:ln w="12700">
            <a:solidFill>
              <a:srgbClr val="A855F7"/>
            </a:solidFill>
            <a:prstDash val="solid"/>
          </a:ln>
        </p:spPr>
        <p:txBody>
          <a:bodyPr/>
          <a:lstStyle/>
          <a:p>
            <a:endParaRPr lang="en-SG"/>
          </a:p>
        </p:txBody>
      </p:sp>
      <p:sp>
        <p:nvSpPr>
          <p:cNvPr id="17" name="Text 15"/>
          <p:cNvSpPr/>
          <p:nvPr/>
        </p:nvSpPr>
        <p:spPr>
          <a:xfrm>
            <a:off x="4956048" y="2670048"/>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Encrypted Disk Volumes</a:t>
            </a:r>
            <a:endParaRPr lang="en-US" sz="1100" dirty="0"/>
          </a:p>
        </p:txBody>
      </p:sp>
      <p:sp>
        <p:nvSpPr>
          <p:cNvPr id="18" name="Text 16"/>
          <p:cNvSpPr/>
          <p:nvPr/>
        </p:nvSpPr>
        <p:spPr>
          <a:xfrm>
            <a:off x="4956048" y="2999232"/>
            <a:ext cx="3950208" cy="429768"/>
          </a:xfrm>
          <a:prstGeom prst="rect">
            <a:avLst/>
          </a:prstGeom>
          <a:noFill/>
          <a:ln/>
        </p:spPr>
        <p:txBody>
          <a:bodyPr wrap="square" lIns="0" tIns="0" rIns="0" bIns="0" rtlCol="0" anchor="ctr"/>
          <a:lstStyle/>
          <a:p>
            <a:pPr marL="0" indent="0">
              <a:buNone/>
            </a:pPr>
            <a:r>
              <a:rPr lang="en-US" sz="900" dirty="0">
                <a:solidFill>
                  <a:srgbClr val="1A1A2E"/>
                </a:solidFill>
              </a:rPr>
              <a:t>Full-disk encryption (BitLocker, VeraCrypt, FileVault) renders entire drives or partitions unreadable. Without the password or recovery key, the data is cryptographically inaccessible.</a:t>
            </a:r>
            <a:endParaRPr lang="en-US" sz="900" dirty="0"/>
          </a:p>
        </p:txBody>
      </p:sp>
      <p:sp>
        <p:nvSpPr>
          <p:cNvPr id="19" name="Shape 17"/>
          <p:cNvSpPr/>
          <p:nvPr/>
        </p:nvSpPr>
        <p:spPr>
          <a:xfrm>
            <a:off x="320040" y="3602736"/>
            <a:ext cx="4251960" cy="89611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0" name="Shape 18"/>
          <p:cNvSpPr/>
          <p:nvPr/>
        </p:nvSpPr>
        <p:spPr>
          <a:xfrm>
            <a:off x="320040" y="3602736"/>
            <a:ext cx="109728" cy="896112"/>
          </a:xfrm>
          <a:prstGeom prst="rect">
            <a:avLst/>
          </a:prstGeom>
          <a:solidFill>
            <a:srgbClr val="A855F7"/>
          </a:solidFill>
          <a:ln w="12700">
            <a:solidFill>
              <a:srgbClr val="A855F7"/>
            </a:solidFill>
            <a:prstDash val="solid"/>
          </a:ln>
        </p:spPr>
        <p:txBody>
          <a:bodyPr/>
          <a:lstStyle/>
          <a:p>
            <a:endParaRPr lang="en-SG"/>
          </a:p>
        </p:txBody>
      </p:sp>
      <p:sp>
        <p:nvSpPr>
          <p:cNvPr id="21" name="Text 19"/>
          <p:cNvSpPr/>
          <p:nvPr/>
        </p:nvSpPr>
        <p:spPr>
          <a:xfrm>
            <a:off x="521208" y="3675888"/>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Locked Operating Systems</a:t>
            </a:r>
            <a:endParaRPr lang="en-US" sz="1100" dirty="0"/>
          </a:p>
        </p:txBody>
      </p:sp>
      <p:sp>
        <p:nvSpPr>
          <p:cNvPr id="22" name="Text 20"/>
          <p:cNvSpPr/>
          <p:nvPr/>
        </p:nvSpPr>
        <p:spPr>
          <a:xfrm>
            <a:off x="521208" y="4005072"/>
            <a:ext cx="3950208" cy="429768"/>
          </a:xfrm>
          <a:prstGeom prst="rect">
            <a:avLst/>
          </a:prstGeom>
          <a:noFill/>
          <a:ln/>
        </p:spPr>
        <p:txBody>
          <a:bodyPr wrap="square" lIns="0" tIns="0" rIns="0" bIns="0" rtlCol="0" anchor="ctr"/>
          <a:lstStyle/>
          <a:p>
            <a:pPr marL="0" indent="0">
              <a:buNone/>
            </a:pPr>
            <a:r>
              <a:rPr lang="en-US" sz="900" dirty="0">
                <a:solidFill>
                  <a:srgbClr val="1A1A2E"/>
                </a:solidFill>
              </a:rPr>
              <a:t>Windows, macOS, and Linux login passwords prevent access to a live system. Investigators may need to bypass or recover these credentials to examine the running environment.</a:t>
            </a:r>
            <a:endParaRPr lang="en-US" sz="900" dirty="0"/>
          </a:p>
        </p:txBody>
      </p:sp>
      <p:sp>
        <p:nvSpPr>
          <p:cNvPr id="23" name="Shape 21"/>
          <p:cNvSpPr/>
          <p:nvPr/>
        </p:nvSpPr>
        <p:spPr>
          <a:xfrm>
            <a:off x="4754880" y="3602736"/>
            <a:ext cx="4251960" cy="896112"/>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4" name="Shape 22"/>
          <p:cNvSpPr/>
          <p:nvPr/>
        </p:nvSpPr>
        <p:spPr>
          <a:xfrm>
            <a:off x="4754880" y="3602736"/>
            <a:ext cx="109728" cy="896112"/>
          </a:xfrm>
          <a:prstGeom prst="rect">
            <a:avLst/>
          </a:prstGeom>
          <a:solidFill>
            <a:srgbClr val="A855F7"/>
          </a:solidFill>
          <a:ln w="12700">
            <a:solidFill>
              <a:srgbClr val="A855F7"/>
            </a:solidFill>
            <a:prstDash val="solid"/>
          </a:ln>
        </p:spPr>
        <p:txBody>
          <a:bodyPr/>
          <a:lstStyle/>
          <a:p>
            <a:endParaRPr lang="en-SG"/>
          </a:p>
        </p:txBody>
      </p:sp>
      <p:sp>
        <p:nvSpPr>
          <p:cNvPr id="25" name="Text 23"/>
          <p:cNvSpPr/>
          <p:nvPr/>
        </p:nvSpPr>
        <p:spPr>
          <a:xfrm>
            <a:off x="4956048" y="3675888"/>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Mobile Device PINs &amp; Passcodes</a:t>
            </a:r>
            <a:endParaRPr lang="en-US" sz="1100" dirty="0"/>
          </a:p>
        </p:txBody>
      </p:sp>
      <p:sp>
        <p:nvSpPr>
          <p:cNvPr id="26" name="Text 24"/>
          <p:cNvSpPr/>
          <p:nvPr/>
        </p:nvSpPr>
        <p:spPr>
          <a:xfrm>
            <a:off x="4956048" y="4005072"/>
            <a:ext cx="3950208" cy="429768"/>
          </a:xfrm>
          <a:prstGeom prst="rect">
            <a:avLst/>
          </a:prstGeom>
          <a:noFill/>
          <a:ln/>
        </p:spPr>
        <p:txBody>
          <a:bodyPr wrap="square" lIns="0" tIns="0" rIns="0" bIns="0" rtlCol="0" anchor="ctr"/>
          <a:lstStyle/>
          <a:p>
            <a:pPr marL="0" indent="0">
              <a:buNone/>
            </a:pPr>
            <a:r>
              <a:rPr lang="en-US" sz="900" dirty="0">
                <a:solidFill>
                  <a:srgbClr val="1A1A2E"/>
                </a:solidFill>
              </a:rPr>
              <a:t>Smartphones and tablets use PINs, patterns, or biometrics. Locked devices prevent access to messages, call logs, photos, and app data — critical evidence sources.</a:t>
            </a:r>
            <a:endParaRPr lang="en-US" sz="900" dirty="0"/>
          </a:p>
        </p:txBody>
      </p:sp>
      <p:sp>
        <p:nvSpPr>
          <p:cNvPr id="27" name="Text 25"/>
          <p:cNvSpPr/>
          <p:nvPr/>
        </p:nvSpPr>
        <p:spPr>
          <a:xfrm>
            <a:off x="320040" y="4645152"/>
            <a:ext cx="8503920" cy="246888"/>
          </a:xfrm>
          <a:prstGeom prst="rect">
            <a:avLst/>
          </a:prstGeom>
          <a:noFill/>
          <a:ln/>
        </p:spPr>
        <p:txBody>
          <a:bodyPr wrap="square" lIns="0" tIns="0" rIns="0" bIns="0" rtlCol="0" anchor="ctr"/>
          <a:lstStyle/>
          <a:p>
            <a:pPr marL="0" indent="0">
              <a:buNone/>
            </a:pPr>
            <a:r>
              <a:rPr lang="en-US" sz="850" i="1" dirty="0">
                <a:solidFill>
                  <a:srgbClr val="FFD166"/>
                </a:solidFill>
              </a:rPr>
              <a:t>⚠️  Password recovery must always be conducted within the bounds of the investigation's legal authority — e.g. under a valid warrant or with the device owner's consent.</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11 · PASSWORD RECOVERY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1 &amp; 2: Dictionary &amp; Brute Force Attacks</a:t>
            </a:r>
            <a:endParaRPr lang="en-US" sz="2800" dirty="0"/>
          </a:p>
        </p:txBody>
      </p:sp>
      <p:sp>
        <p:nvSpPr>
          <p:cNvPr id="5" name="Shape 3"/>
          <p:cNvSpPr/>
          <p:nvPr/>
        </p:nvSpPr>
        <p:spPr>
          <a:xfrm>
            <a:off x="320040" y="1188720"/>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298448"/>
            <a:ext cx="4160520" cy="341985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4160520" cy="73152"/>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57200" y="1426464"/>
            <a:ext cx="3840480" cy="329184"/>
          </a:xfrm>
          <a:prstGeom prst="rect">
            <a:avLst/>
          </a:prstGeom>
          <a:noFill/>
          <a:ln/>
        </p:spPr>
        <p:txBody>
          <a:bodyPr wrap="square" lIns="0" tIns="0" rIns="0" bIns="0" rtlCol="0" anchor="ctr"/>
          <a:lstStyle/>
          <a:p>
            <a:pPr marL="0" indent="0">
              <a:buNone/>
            </a:pPr>
            <a:r>
              <a:rPr lang="en-US" sz="1300" b="1" dirty="0">
                <a:solidFill>
                  <a:srgbClr val="F4A261"/>
                </a:solidFill>
              </a:rPr>
              <a:t>📖  Dictionary Attack</a:t>
            </a:r>
            <a:endParaRPr lang="en-US" sz="1300" dirty="0"/>
          </a:p>
        </p:txBody>
      </p:sp>
      <p:sp>
        <p:nvSpPr>
          <p:cNvPr id="9" name="Text 7"/>
          <p:cNvSpPr/>
          <p:nvPr/>
        </p:nvSpPr>
        <p:spPr>
          <a:xfrm>
            <a:off x="457200" y="1810512"/>
            <a:ext cx="3840480" cy="237744"/>
          </a:xfrm>
          <a:prstGeom prst="rect">
            <a:avLst/>
          </a:prstGeom>
          <a:noFill/>
          <a:ln/>
        </p:spPr>
        <p:txBody>
          <a:bodyPr wrap="square" lIns="0" tIns="0" rIns="0" bIns="0" rtlCol="0" anchor="ctr"/>
          <a:lstStyle/>
          <a:p>
            <a:pPr marL="0" indent="0">
              <a:buNone/>
            </a:pPr>
            <a:r>
              <a:rPr lang="en-US" sz="1000" b="1" dirty="0">
                <a:solidFill>
                  <a:srgbClr val="475569"/>
                </a:solidFill>
              </a:rPr>
              <a:t>How it works:</a:t>
            </a:r>
            <a:endParaRPr lang="en-US" sz="1000" dirty="0"/>
          </a:p>
        </p:txBody>
      </p:sp>
      <p:sp>
        <p:nvSpPr>
          <p:cNvPr id="10" name="Text 8"/>
          <p:cNvSpPr/>
          <p:nvPr/>
        </p:nvSpPr>
        <p:spPr>
          <a:xfrm>
            <a:off x="457200" y="2103120"/>
            <a:ext cx="3840480" cy="310896"/>
          </a:xfrm>
          <a:prstGeom prst="rect">
            <a:avLst/>
          </a:prstGeom>
          <a:noFill/>
          <a:ln/>
        </p:spPr>
        <p:txBody>
          <a:bodyPr wrap="square" lIns="0" tIns="0" rIns="0" bIns="0" rtlCol="0" anchor="ctr"/>
          <a:lstStyle/>
          <a:p>
            <a:pPr marL="0" indent="0">
              <a:buNone/>
            </a:pPr>
            <a:r>
              <a:rPr lang="en-US" sz="850" dirty="0">
                <a:solidFill>
                  <a:srgbClr val="1A1A2E"/>
                </a:solidFill>
              </a:rPr>
              <a:t>• Uses a pre-built wordlist of common passwords, phrases, and known leaked credentials</a:t>
            </a:r>
            <a:endParaRPr lang="en-US" sz="850" dirty="0"/>
          </a:p>
        </p:txBody>
      </p:sp>
      <p:sp>
        <p:nvSpPr>
          <p:cNvPr id="11" name="Text 9"/>
          <p:cNvSpPr/>
          <p:nvPr/>
        </p:nvSpPr>
        <p:spPr>
          <a:xfrm>
            <a:off x="457200" y="2450592"/>
            <a:ext cx="3840480" cy="310896"/>
          </a:xfrm>
          <a:prstGeom prst="rect">
            <a:avLst/>
          </a:prstGeom>
          <a:noFill/>
          <a:ln/>
        </p:spPr>
        <p:txBody>
          <a:bodyPr wrap="square" lIns="0" tIns="0" rIns="0" bIns="0" rtlCol="0" anchor="ctr"/>
          <a:lstStyle/>
          <a:p>
            <a:pPr marL="0" indent="0">
              <a:buNone/>
            </a:pPr>
            <a:r>
              <a:rPr lang="en-US" sz="850" dirty="0">
                <a:solidFill>
                  <a:srgbClr val="1A1A2E"/>
                </a:solidFill>
              </a:rPr>
              <a:t>• Each word is hashed and compared against the target hash</a:t>
            </a:r>
            <a:endParaRPr lang="en-US" sz="850" dirty="0"/>
          </a:p>
        </p:txBody>
      </p:sp>
      <p:sp>
        <p:nvSpPr>
          <p:cNvPr id="12" name="Text 10"/>
          <p:cNvSpPr/>
          <p:nvPr/>
        </p:nvSpPr>
        <p:spPr>
          <a:xfrm>
            <a:off x="457200" y="2798064"/>
            <a:ext cx="3840480" cy="310896"/>
          </a:xfrm>
          <a:prstGeom prst="rect">
            <a:avLst/>
          </a:prstGeom>
          <a:noFill/>
          <a:ln/>
        </p:spPr>
        <p:txBody>
          <a:bodyPr wrap="square" lIns="0" tIns="0" rIns="0" bIns="0" rtlCol="0" anchor="ctr"/>
          <a:lstStyle/>
          <a:p>
            <a:pPr marL="0" indent="0">
              <a:buNone/>
            </a:pPr>
            <a:r>
              <a:rPr lang="en-US" sz="850" dirty="0">
                <a:solidFill>
                  <a:srgbClr val="1A1A2E"/>
                </a:solidFill>
              </a:rPr>
              <a:t>• Rules can mutate words: l33t substitutions, appended numbers, capitalisation</a:t>
            </a:r>
            <a:endParaRPr lang="en-US" sz="850" dirty="0"/>
          </a:p>
        </p:txBody>
      </p:sp>
      <p:sp>
        <p:nvSpPr>
          <p:cNvPr id="13" name="Text 11"/>
          <p:cNvSpPr/>
          <p:nvPr/>
        </p:nvSpPr>
        <p:spPr>
          <a:xfrm>
            <a:off x="457200" y="3145536"/>
            <a:ext cx="3840480" cy="310896"/>
          </a:xfrm>
          <a:prstGeom prst="rect">
            <a:avLst/>
          </a:prstGeom>
          <a:noFill/>
          <a:ln/>
        </p:spPr>
        <p:txBody>
          <a:bodyPr wrap="square" lIns="0" tIns="0" rIns="0" bIns="0" rtlCol="0" anchor="ctr"/>
          <a:lstStyle/>
          <a:p>
            <a:pPr marL="0" indent="0">
              <a:buNone/>
            </a:pPr>
            <a:r>
              <a:rPr lang="en-US" sz="850" dirty="0">
                <a:solidFill>
                  <a:srgbClr val="1A1A2E"/>
                </a:solidFill>
              </a:rPr>
              <a:t>• Fast — millions of attempts per second against weak passwords</a:t>
            </a:r>
            <a:endParaRPr lang="en-US" sz="850" dirty="0"/>
          </a:p>
        </p:txBody>
      </p:sp>
      <p:sp>
        <p:nvSpPr>
          <p:cNvPr id="14" name="Text 12"/>
          <p:cNvSpPr/>
          <p:nvPr/>
        </p:nvSpPr>
        <p:spPr>
          <a:xfrm>
            <a:off x="457200" y="3493008"/>
            <a:ext cx="3840480" cy="310896"/>
          </a:xfrm>
          <a:prstGeom prst="rect">
            <a:avLst/>
          </a:prstGeom>
          <a:noFill/>
          <a:ln/>
        </p:spPr>
        <p:txBody>
          <a:bodyPr wrap="square" lIns="0" tIns="0" rIns="0" bIns="0" rtlCol="0" anchor="ctr"/>
          <a:lstStyle/>
          <a:p>
            <a:pPr marL="0" indent="0">
              <a:buNone/>
            </a:pPr>
            <a:r>
              <a:rPr lang="en-US" sz="850" dirty="0">
                <a:solidFill>
                  <a:srgbClr val="1A1A2E"/>
                </a:solidFill>
              </a:rPr>
              <a:t>• Effective against predictable choices (e.g. 'password123', 'iloveyou')</a:t>
            </a:r>
            <a:endParaRPr lang="en-US" sz="850" dirty="0"/>
          </a:p>
        </p:txBody>
      </p:sp>
      <p:sp>
        <p:nvSpPr>
          <p:cNvPr id="15" name="Shape 13"/>
          <p:cNvSpPr/>
          <p:nvPr/>
        </p:nvSpPr>
        <p:spPr>
          <a:xfrm>
            <a:off x="411480" y="3785616"/>
            <a:ext cx="3977640" cy="841248"/>
          </a:xfrm>
          <a:prstGeom prst="rect">
            <a:avLst/>
          </a:prstGeom>
          <a:solidFill>
            <a:srgbClr val="FFFFFF"/>
          </a:solidFill>
          <a:ln w="6350">
            <a:solidFill>
              <a:srgbClr val="F4A261"/>
            </a:solidFill>
            <a:prstDash val="solid"/>
          </a:ln>
        </p:spPr>
        <p:txBody>
          <a:bodyPr/>
          <a:lstStyle/>
          <a:p>
            <a:endParaRPr lang="en-SG"/>
          </a:p>
        </p:txBody>
      </p:sp>
      <p:sp>
        <p:nvSpPr>
          <p:cNvPr id="16" name="Text 14"/>
          <p:cNvSpPr/>
          <p:nvPr/>
        </p:nvSpPr>
        <p:spPr>
          <a:xfrm>
            <a:off x="530352" y="3822192"/>
            <a:ext cx="3749040" cy="228600"/>
          </a:xfrm>
          <a:prstGeom prst="rect">
            <a:avLst/>
          </a:prstGeom>
          <a:noFill/>
          <a:ln/>
        </p:spPr>
        <p:txBody>
          <a:bodyPr wrap="square" lIns="0" tIns="0" rIns="0" bIns="0" rtlCol="0" anchor="ctr"/>
          <a:lstStyle/>
          <a:p>
            <a:pPr marL="0" indent="0">
              <a:buNone/>
            </a:pPr>
            <a:r>
              <a:rPr lang="en-US" sz="900" b="1" dirty="0">
                <a:solidFill>
                  <a:srgbClr val="F4A261"/>
                </a:solidFill>
              </a:rPr>
              <a:t>📋 Case Scenario</a:t>
            </a:r>
            <a:endParaRPr lang="en-US" sz="900" dirty="0"/>
          </a:p>
        </p:txBody>
      </p:sp>
      <p:sp>
        <p:nvSpPr>
          <p:cNvPr id="17" name="Text 15"/>
          <p:cNvSpPr/>
          <p:nvPr/>
        </p:nvSpPr>
        <p:spPr>
          <a:xfrm>
            <a:off x="530352" y="4059936"/>
            <a:ext cx="3749040" cy="512064"/>
          </a:xfrm>
          <a:prstGeom prst="rect">
            <a:avLst/>
          </a:prstGeom>
          <a:noFill/>
          <a:ln/>
        </p:spPr>
        <p:txBody>
          <a:bodyPr wrap="square" lIns="0" tIns="0" rIns="0" bIns="0" rtlCol="0" anchor="ctr"/>
          <a:lstStyle/>
          <a:p>
            <a:pPr marL="0" indent="0">
              <a:buNone/>
            </a:pPr>
            <a:r>
              <a:rPr lang="en-US" sz="800" dirty="0">
                <a:solidFill>
                  <a:srgbClr val="475569"/>
                </a:solidFill>
              </a:rPr>
              <a:t>An encrypted ZIP archive is found on a suspect's PC. The analyst runs the hash against the rockyou.txt wordlist using Hashcat. The password 'sunshine2019' is recovered in under 3 seconds — matching a year the suspect was active on social media.</a:t>
            </a:r>
            <a:endParaRPr lang="en-US" sz="800" dirty="0"/>
          </a:p>
        </p:txBody>
      </p:sp>
      <p:sp>
        <p:nvSpPr>
          <p:cNvPr id="18" name="Shape 16"/>
          <p:cNvSpPr/>
          <p:nvPr/>
        </p:nvSpPr>
        <p:spPr>
          <a:xfrm>
            <a:off x="4663440" y="1298448"/>
            <a:ext cx="4160520" cy="341985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9" name="Shape 17"/>
          <p:cNvSpPr/>
          <p:nvPr/>
        </p:nvSpPr>
        <p:spPr>
          <a:xfrm>
            <a:off x="4663440" y="1298448"/>
            <a:ext cx="4160520" cy="73152"/>
          </a:xfrm>
          <a:prstGeom prst="rect">
            <a:avLst/>
          </a:prstGeom>
          <a:solidFill>
            <a:srgbClr val="E63946"/>
          </a:solidFill>
          <a:ln w="12700">
            <a:solidFill>
              <a:srgbClr val="E63946"/>
            </a:solidFill>
            <a:prstDash val="solid"/>
          </a:ln>
        </p:spPr>
        <p:txBody>
          <a:bodyPr/>
          <a:lstStyle/>
          <a:p>
            <a:endParaRPr lang="en-SG"/>
          </a:p>
        </p:txBody>
      </p:sp>
      <p:sp>
        <p:nvSpPr>
          <p:cNvPr id="20" name="Text 18"/>
          <p:cNvSpPr/>
          <p:nvPr/>
        </p:nvSpPr>
        <p:spPr>
          <a:xfrm>
            <a:off x="4800600" y="1426464"/>
            <a:ext cx="3840480" cy="329184"/>
          </a:xfrm>
          <a:prstGeom prst="rect">
            <a:avLst/>
          </a:prstGeom>
          <a:noFill/>
          <a:ln/>
        </p:spPr>
        <p:txBody>
          <a:bodyPr wrap="square" lIns="0" tIns="0" rIns="0" bIns="0" rtlCol="0" anchor="ctr"/>
          <a:lstStyle/>
          <a:p>
            <a:pPr marL="0" indent="0">
              <a:buNone/>
            </a:pPr>
            <a:r>
              <a:rPr lang="en-US" sz="1300" b="1" dirty="0">
                <a:solidFill>
                  <a:srgbClr val="E63946"/>
                </a:solidFill>
              </a:rPr>
              <a:t>⚡  Brute Force Attack</a:t>
            </a:r>
            <a:endParaRPr lang="en-US" sz="1300" dirty="0"/>
          </a:p>
        </p:txBody>
      </p:sp>
      <p:sp>
        <p:nvSpPr>
          <p:cNvPr id="21" name="Text 19"/>
          <p:cNvSpPr/>
          <p:nvPr/>
        </p:nvSpPr>
        <p:spPr>
          <a:xfrm>
            <a:off x="4800600" y="1810512"/>
            <a:ext cx="3840480" cy="237744"/>
          </a:xfrm>
          <a:prstGeom prst="rect">
            <a:avLst/>
          </a:prstGeom>
          <a:noFill/>
          <a:ln/>
        </p:spPr>
        <p:txBody>
          <a:bodyPr wrap="square" lIns="0" tIns="0" rIns="0" bIns="0" rtlCol="0" anchor="ctr"/>
          <a:lstStyle/>
          <a:p>
            <a:pPr marL="0" indent="0">
              <a:buNone/>
            </a:pPr>
            <a:r>
              <a:rPr lang="en-US" sz="1000" b="1" dirty="0">
                <a:solidFill>
                  <a:srgbClr val="475569"/>
                </a:solidFill>
              </a:rPr>
              <a:t>How it works:</a:t>
            </a:r>
            <a:endParaRPr lang="en-US" sz="1000" dirty="0"/>
          </a:p>
        </p:txBody>
      </p:sp>
      <p:sp>
        <p:nvSpPr>
          <p:cNvPr id="22" name="Text 20"/>
          <p:cNvSpPr/>
          <p:nvPr/>
        </p:nvSpPr>
        <p:spPr>
          <a:xfrm>
            <a:off x="4800600" y="2103120"/>
            <a:ext cx="3840480" cy="310896"/>
          </a:xfrm>
          <a:prstGeom prst="rect">
            <a:avLst/>
          </a:prstGeom>
          <a:noFill/>
          <a:ln/>
        </p:spPr>
        <p:txBody>
          <a:bodyPr wrap="square" lIns="0" tIns="0" rIns="0" bIns="0" rtlCol="0" anchor="ctr"/>
          <a:lstStyle/>
          <a:p>
            <a:pPr marL="0" indent="0">
              <a:buNone/>
            </a:pPr>
            <a:r>
              <a:rPr lang="en-US" sz="850" dirty="0">
                <a:solidFill>
                  <a:srgbClr val="1A1A2E"/>
                </a:solidFill>
              </a:rPr>
              <a:t>• Systematically tries every possible combination of characters in a defined keyspace</a:t>
            </a:r>
            <a:endParaRPr lang="en-US" sz="850" dirty="0"/>
          </a:p>
        </p:txBody>
      </p:sp>
      <p:sp>
        <p:nvSpPr>
          <p:cNvPr id="23" name="Text 21"/>
          <p:cNvSpPr/>
          <p:nvPr/>
        </p:nvSpPr>
        <p:spPr>
          <a:xfrm>
            <a:off x="4800600" y="2450592"/>
            <a:ext cx="3840480" cy="310896"/>
          </a:xfrm>
          <a:prstGeom prst="rect">
            <a:avLst/>
          </a:prstGeom>
          <a:noFill/>
          <a:ln/>
        </p:spPr>
        <p:txBody>
          <a:bodyPr wrap="square" lIns="0" tIns="0" rIns="0" bIns="0" rtlCol="0" anchor="ctr"/>
          <a:lstStyle/>
          <a:p>
            <a:pPr marL="0" indent="0">
              <a:buNone/>
            </a:pPr>
            <a:r>
              <a:rPr lang="en-US" sz="850" dirty="0">
                <a:solidFill>
                  <a:srgbClr val="1A1A2E"/>
                </a:solidFill>
              </a:rPr>
              <a:t>• Keyspace defined by: character set (a–z, 0–9, symbols) × password length</a:t>
            </a:r>
            <a:endParaRPr lang="en-US" sz="850" dirty="0"/>
          </a:p>
        </p:txBody>
      </p:sp>
      <p:sp>
        <p:nvSpPr>
          <p:cNvPr id="24" name="Text 22"/>
          <p:cNvSpPr/>
          <p:nvPr/>
        </p:nvSpPr>
        <p:spPr>
          <a:xfrm>
            <a:off x="4800600" y="2798064"/>
            <a:ext cx="3840480" cy="310896"/>
          </a:xfrm>
          <a:prstGeom prst="rect">
            <a:avLst/>
          </a:prstGeom>
          <a:noFill/>
          <a:ln/>
        </p:spPr>
        <p:txBody>
          <a:bodyPr wrap="square" lIns="0" tIns="0" rIns="0" bIns="0" rtlCol="0" anchor="ctr"/>
          <a:lstStyle/>
          <a:p>
            <a:pPr marL="0" indent="0">
              <a:buNone/>
            </a:pPr>
            <a:r>
              <a:rPr lang="en-US" sz="850" dirty="0">
                <a:solidFill>
                  <a:srgbClr val="1A1A2E"/>
                </a:solidFill>
              </a:rPr>
              <a:t>• Guaranteed to succeed — but time required grows exponentially with length</a:t>
            </a:r>
            <a:endParaRPr lang="en-US" sz="850" dirty="0"/>
          </a:p>
        </p:txBody>
      </p:sp>
      <p:sp>
        <p:nvSpPr>
          <p:cNvPr id="25" name="Text 23"/>
          <p:cNvSpPr/>
          <p:nvPr/>
        </p:nvSpPr>
        <p:spPr>
          <a:xfrm>
            <a:off x="4800600" y="3145536"/>
            <a:ext cx="3840480" cy="310896"/>
          </a:xfrm>
          <a:prstGeom prst="rect">
            <a:avLst/>
          </a:prstGeom>
          <a:noFill/>
          <a:ln/>
        </p:spPr>
        <p:txBody>
          <a:bodyPr wrap="square" lIns="0" tIns="0" rIns="0" bIns="0" rtlCol="0" anchor="ctr"/>
          <a:lstStyle/>
          <a:p>
            <a:pPr marL="0" indent="0">
              <a:buNone/>
            </a:pPr>
            <a:r>
              <a:rPr lang="en-US" sz="850" dirty="0">
                <a:solidFill>
                  <a:srgbClr val="1A1A2E"/>
                </a:solidFill>
              </a:rPr>
              <a:t>• GPU acceleration (Hashcat) can test billions of hashes per second</a:t>
            </a:r>
            <a:endParaRPr lang="en-US" sz="850" dirty="0"/>
          </a:p>
        </p:txBody>
      </p:sp>
      <p:sp>
        <p:nvSpPr>
          <p:cNvPr id="26" name="Text 24"/>
          <p:cNvSpPr/>
          <p:nvPr/>
        </p:nvSpPr>
        <p:spPr>
          <a:xfrm>
            <a:off x="4800600" y="3493008"/>
            <a:ext cx="3840480" cy="310896"/>
          </a:xfrm>
          <a:prstGeom prst="rect">
            <a:avLst/>
          </a:prstGeom>
          <a:noFill/>
          <a:ln/>
        </p:spPr>
        <p:txBody>
          <a:bodyPr wrap="square" lIns="0" tIns="0" rIns="0" bIns="0" rtlCol="0" anchor="ctr"/>
          <a:lstStyle/>
          <a:p>
            <a:pPr marL="0" indent="0">
              <a:buNone/>
            </a:pPr>
            <a:r>
              <a:rPr lang="en-US" sz="850" dirty="0">
                <a:solidFill>
                  <a:srgbClr val="1A1A2E"/>
                </a:solidFill>
              </a:rPr>
              <a:t>• Practical for short passwords (≤ 8 chars); infeasible for long complex ones</a:t>
            </a:r>
            <a:endParaRPr lang="en-US" sz="850" dirty="0"/>
          </a:p>
        </p:txBody>
      </p:sp>
      <p:sp>
        <p:nvSpPr>
          <p:cNvPr id="27" name="Shape 25"/>
          <p:cNvSpPr/>
          <p:nvPr/>
        </p:nvSpPr>
        <p:spPr>
          <a:xfrm>
            <a:off x="4754880" y="3785616"/>
            <a:ext cx="3977640" cy="841248"/>
          </a:xfrm>
          <a:prstGeom prst="rect">
            <a:avLst/>
          </a:prstGeom>
          <a:solidFill>
            <a:srgbClr val="FFFFFF"/>
          </a:solidFill>
          <a:ln w="6350">
            <a:solidFill>
              <a:srgbClr val="E63946"/>
            </a:solidFill>
            <a:prstDash val="solid"/>
          </a:ln>
        </p:spPr>
        <p:txBody>
          <a:bodyPr/>
          <a:lstStyle/>
          <a:p>
            <a:endParaRPr lang="en-SG"/>
          </a:p>
        </p:txBody>
      </p:sp>
      <p:sp>
        <p:nvSpPr>
          <p:cNvPr id="28" name="Text 26"/>
          <p:cNvSpPr/>
          <p:nvPr/>
        </p:nvSpPr>
        <p:spPr>
          <a:xfrm>
            <a:off x="4873752" y="3822192"/>
            <a:ext cx="3749040" cy="228600"/>
          </a:xfrm>
          <a:prstGeom prst="rect">
            <a:avLst/>
          </a:prstGeom>
          <a:noFill/>
          <a:ln/>
        </p:spPr>
        <p:txBody>
          <a:bodyPr wrap="square" lIns="0" tIns="0" rIns="0" bIns="0" rtlCol="0" anchor="ctr"/>
          <a:lstStyle/>
          <a:p>
            <a:pPr marL="0" indent="0">
              <a:buNone/>
            </a:pPr>
            <a:r>
              <a:rPr lang="en-US" sz="900" b="1" dirty="0">
                <a:solidFill>
                  <a:srgbClr val="E63946"/>
                </a:solidFill>
              </a:rPr>
              <a:t>📋 Case Scenario</a:t>
            </a:r>
            <a:endParaRPr lang="en-US" sz="900" dirty="0"/>
          </a:p>
        </p:txBody>
      </p:sp>
      <p:sp>
        <p:nvSpPr>
          <p:cNvPr id="29" name="Text 27"/>
          <p:cNvSpPr/>
          <p:nvPr/>
        </p:nvSpPr>
        <p:spPr>
          <a:xfrm>
            <a:off x="4873752" y="4059936"/>
            <a:ext cx="3749040" cy="512064"/>
          </a:xfrm>
          <a:prstGeom prst="rect">
            <a:avLst/>
          </a:prstGeom>
          <a:noFill/>
          <a:ln/>
        </p:spPr>
        <p:txBody>
          <a:bodyPr wrap="square" lIns="0" tIns="0" rIns="0" bIns="0" rtlCol="0" anchor="ctr"/>
          <a:lstStyle/>
          <a:p>
            <a:pPr marL="0" indent="0">
              <a:buNone/>
            </a:pPr>
            <a:r>
              <a:rPr lang="en-US" sz="800" dirty="0">
                <a:solidFill>
                  <a:srgbClr val="475569"/>
                </a:solidFill>
              </a:rPr>
              <a:t>A locked Excel spreadsheet is found on a suspect's USB drive. Analysis shows the password is exactly 4 digits. A brute force run covering 0000–9999 takes under 1 second — revealing financial records relevant to a fraud investigation.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11 · PASSWORD RECOVERY TECHNIQUES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Technique 3: Password Guessing via Suspect Profiling</a:t>
            </a:r>
            <a:endParaRPr lang="en-US" sz="2800" dirty="0"/>
          </a:p>
        </p:txBody>
      </p:sp>
      <p:sp>
        <p:nvSpPr>
          <p:cNvPr id="5" name="Shape 3"/>
          <p:cNvSpPr/>
          <p:nvPr/>
        </p:nvSpPr>
        <p:spPr>
          <a:xfrm>
            <a:off x="320040" y="1188720"/>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298448"/>
            <a:ext cx="8503920" cy="658368"/>
          </a:xfrm>
          <a:prstGeom prst="rect">
            <a:avLst/>
          </a:prstGeom>
          <a:solidFill>
            <a:srgbClr val="EEF6FB"/>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298448"/>
            <a:ext cx="109728" cy="658368"/>
          </a:xfrm>
          <a:prstGeom prst="rect">
            <a:avLst/>
          </a:prstGeom>
          <a:solidFill>
            <a:srgbClr val="A855F7"/>
          </a:solidFill>
          <a:ln w="12700">
            <a:solidFill>
              <a:srgbClr val="A855F7"/>
            </a:solidFill>
            <a:prstDash val="solid"/>
          </a:ln>
        </p:spPr>
        <p:txBody>
          <a:bodyPr/>
          <a:lstStyle/>
          <a:p>
            <a:endParaRPr lang="en-SG"/>
          </a:p>
        </p:txBody>
      </p:sp>
      <p:sp>
        <p:nvSpPr>
          <p:cNvPr id="8" name="Text 6"/>
          <p:cNvSpPr/>
          <p:nvPr/>
        </p:nvSpPr>
        <p:spPr>
          <a:xfrm>
            <a:off x="512064" y="1353312"/>
            <a:ext cx="8229600" cy="237744"/>
          </a:xfrm>
          <a:prstGeom prst="rect">
            <a:avLst/>
          </a:prstGeom>
          <a:noFill/>
          <a:ln/>
        </p:spPr>
        <p:txBody>
          <a:bodyPr wrap="square" lIns="0" tIns="0" rIns="0" bIns="0" rtlCol="0" anchor="ctr"/>
          <a:lstStyle/>
          <a:p>
            <a:pPr marL="0" indent="0">
              <a:buNone/>
            </a:pPr>
            <a:r>
              <a:rPr lang="en-US" sz="1100" b="1" dirty="0">
                <a:solidFill>
                  <a:srgbClr val="A855F7"/>
                </a:solidFill>
              </a:rPr>
              <a:t>What is it?</a:t>
            </a:r>
            <a:endParaRPr lang="en-US" sz="1100" dirty="0"/>
          </a:p>
        </p:txBody>
      </p:sp>
      <p:sp>
        <p:nvSpPr>
          <p:cNvPr id="9" name="Text 7"/>
          <p:cNvSpPr/>
          <p:nvPr/>
        </p:nvSpPr>
        <p:spPr>
          <a:xfrm>
            <a:off x="512064" y="1609344"/>
            <a:ext cx="8092440" cy="292608"/>
          </a:xfrm>
          <a:prstGeom prst="rect">
            <a:avLst/>
          </a:prstGeom>
          <a:noFill/>
          <a:ln/>
        </p:spPr>
        <p:txBody>
          <a:bodyPr wrap="square" lIns="0" tIns="0" rIns="0" bIns="0" rtlCol="0" anchor="ctr"/>
          <a:lstStyle/>
          <a:p>
            <a:pPr marL="0" indent="0">
              <a:buNone/>
            </a:pPr>
            <a:r>
              <a:rPr lang="en-US" sz="950" dirty="0">
                <a:solidFill>
                  <a:srgbClr val="1A1A2E"/>
                </a:solidFill>
              </a:rPr>
              <a:t>Investigators use personal information gathered about a suspect to manually construct likely passwords before running automated tools — dramatically narrowing the search space.</a:t>
            </a:r>
            <a:endParaRPr lang="en-US" sz="950" dirty="0"/>
          </a:p>
        </p:txBody>
      </p:sp>
      <p:sp>
        <p:nvSpPr>
          <p:cNvPr id="10" name="Text 8"/>
          <p:cNvSpPr/>
          <p:nvPr/>
        </p:nvSpPr>
        <p:spPr>
          <a:xfrm>
            <a:off x="320040" y="2048256"/>
            <a:ext cx="8503920" cy="292608"/>
          </a:xfrm>
          <a:prstGeom prst="rect">
            <a:avLst/>
          </a:prstGeom>
          <a:noFill/>
          <a:ln/>
        </p:spPr>
        <p:txBody>
          <a:bodyPr wrap="square" lIns="0" tIns="0" rIns="0" bIns="0" rtlCol="0" anchor="ctr"/>
          <a:lstStyle/>
          <a:p>
            <a:pPr marL="0" indent="0">
              <a:buNone/>
            </a:pPr>
            <a:r>
              <a:rPr lang="en-US" sz="1200" b="1" dirty="0">
                <a:solidFill>
                  <a:srgbClr val="1A1A2E"/>
                </a:solidFill>
              </a:rPr>
              <a:t>What Information Can Inform Password Guesses?</a:t>
            </a:r>
            <a:endParaRPr lang="en-US" sz="1200" dirty="0"/>
          </a:p>
        </p:txBody>
      </p:sp>
      <p:sp>
        <p:nvSpPr>
          <p:cNvPr id="11" name="Shape 9"/>
          <p:cNvSpPr/>
          <p:nvPr/>
        </p:nvSpPr>
        <p:spPr>
          <a:xfrm>
            <a:off x="320040" y="2395728"/>
            <a:ext cx="4251960" cy="960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2" name="Shape 10"/>
          <p:cNvSpPr/>
          <p:nvPr/>
        </p:nvSpPr>
        <p:spPr>
          <a:xfrm>
            <a:off x="320040" y="2395728"/>
            <a:ext cx="109728" cy="960120"/>
          </a:xfrm>
          <a:prstGeom prst="rect">
            <a:avLst/>
          </a:prstGeom>
          <a:solidFill>
            <a:srgbClr val="A855F7"/>
          </a:solidFill>
          <a:ln w="12700">
            <a:solidFill>
              <a:srgbClr val="A855F7"/>
            </a:solidFill>
            <a:prstDash val="solid"/>
          </a:ln>
        </p:spPr>
        <p:txBody>
          <a:bodyPr/>
          <a:lstStyle/>
          <a:p>
            <a:endParaRPr lang="en-SG"/>
          </a:p>
        </p:txBody>
      </p:sp>
      <p:sp>
        <p:nvSpPr>
          <p:cNvPr id="13" name="Text 11"/>
          <p:cNvSpPr/>
          <p:nvPr/>
        </p:nvSpPr>
        <p:spPr>
          <a:xfrm>
            <a:off x="521208" y="2468880"/>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Personal Details</a:t>
            </a:r>
            <a:endParaRPr lang="en-US" sz="1100" dirty="0"/>
          </a:p>
        </p:txBody>
      </p:sp>
      <p:sp>
        <p:nvSpPr>
          <p:cNvPr id="14" name="Text 12"/>
          <p:cNvSpPr/>
          <p:nvPr/>
        </p:nvSpPr>
        <p:spPr>
          <a:xfrm>
            <a:off x="521208" y="2798064"/>
            <a:ext cx="3950208" cy="219456"/>
          </a:xfrm>
          <a:prstGeom prst="rect">
            <a:avLst/>
          </a:prstGeom>
          <a:noFill/>
          <a:ln/>
        </p:spPr>
        <p:txBody>
          <a:bodyPr wrap="square" lIns="0" tIns="0" rIns="0" bIns="0" rtlCol="0" anchor="ctr"/>
          <a:lstStyle/>
          <a:p>
            <a:pPr marL="0" indent="0">
              <a:buNone/>
            </a:pPr>
            <a:r>
              <a:rPr lang="en-US" sz="900" dirty="0">
                <a:solidFill>
                  <a:srgbClr val="1A1A2E"/>
                </a:solidFill>
              </a:rPr>
              <a:t>• Full name, nicknames, initials</a:t>
            </a:r>
            <a:endParaRPr lang="en-US" sz="900" dirty="0"/>
          </a:p>
        </p:txBody>
      </p:sp>
      <p:sp>
        <p:nvSpPr>
          <p:cNvPr id="15" name="Text 13"/>
          <p:cNvSpPr/>
          <p:nvPr/>
        </p:nvSpPr>
        <p:spPr>
          <a:xfrm>
            <a:off x="521208" y="3035808"/>
            <a:ext cx="3950208" cy="219456"/>
          </a:xfrm>
          <a:prstGeom prst="rect">
            <a:avLst/>
          </a:prstGeom>
          <a:noFill/>
          <a:ln/>
        </p:spPr>
        <p:txBody>
          <a:bodyPr wrap="square" lIns="0" tIns="0" rIns="0" bIns="0" rtlCol="0" anchor="ctr"/>
          <a:lstStyle/>
          <a:p>
            <a:pPr marL="0" indent="0">
              <a:buNone/>
            </a:pPr>
            <a:r>
              <a:rPr lang="en-US" sz="900" dirty="0">
                <a:solidFill>
                  <a:srgbClr val="1A1A2E"/>
                </a:solidFill>
              </a:rPr>
              <a:t>• Date of birth, anniversary dates</a:t>
            </a:r>
            <a:endParaRPr lang="en-US" sz="900" dirty="0"/>
          </a:p>
        </p:txBody>
      </p:sp>
      <p:sp>
        <p:nvSpPr>
          <p:cNvPr id="16" name="Text 14"/>
          <p:cNvSpPr/>
          <p:nvPr/>
        </p:nvSpPr>
        <p:spPr>
          <a:xfrm>
            <a:off x="2284170" y="2790749"/>
            <a:ext cx="3950208" cy="219456"/>
          </a:xfrm>
          <a:prstGeom prst="rect">
            <a:avLst/>
          </a:prstGeom>
          <a:noFill/>
          <a:ln/>
        </p:spPr>
        <p:txBody>
          <a:bodyPr wrap="square" lIns="0" tIns="0" rIns="0" bIns="0" rtlCol="0" anchor="ctr"/>
          <a:lstStyle/>
          <a:p>
            <a:pPr marL="0" indent="0">
              <a:buNone/>
            </a:pPr>
            <a:r>
              <a:rPr lang="en-US" sz="900" dirty="0">
                <a:solidFill>
                  <a:srgbClr val="1A1A2E"/>
                </a:solidFill>
              </a:rPr>
              <a:t>• Place of birth or hometown</a:t>
            </a:r>
            <a:endParaRPr lang="en-US" sz="900" dirty="0"/>
          </a:p>
        </p:txBody>
      </p:sp>
      <p:sp>
        <p:nvSpPr>
          <p:cNvPr id="17" name="Shape 15"/>
          <p:cNvSpPr/>
          <p:nvPr/>
        </p:nvSpPr>
        <p:spPr>
          <a:xfrm>
            <a:off x="4754880" y="2395728"/>
            <a:ext cx="4251960" cy="960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8" name="Shape 16"/>
          <p:cNvSpPr/>
          <p:nvPr/>
        </p:nvSpPr>
        <p:spPr>
          <a:xfrm>
            <a:off x="4754880" y="2395728"/>
            <a:ext cx="109728" cy="960120"/>
          </a:xfrm>
          <a:prstGeom prst="rect">
            <a:avLst/>
          </a:prstGeom>
          <a:solidFill>
            <a:srgbClr val="A855F7"/>
          </a:solidFill>
          <a:ln w="12700">
            <a:solidFill>
              <a:srgbClr val="A855F7"/>
            </a:solidFill>
            <a:prstDash val="solid"/>
          </a:ln>
        </p:spPr>
        <p:txBody>
          <a:bodyPr/>
          <a:lstStyle/>
          <a:p>
            <a:endParaRPr lang="en-SG"/>
          </a:p>
        </p:txBody>
      </p:sp>
      <p:sp>
        <p:nvSpPr>
          <p:cNvPr id="19" name="Text 17"/>
          <p:cNvSpPr/>
          <p:nvPr/>
        </p:nvSpPr>
        <p:spPr>
          <a:xfrm>
            <a:off x="4956048" y="2468880"/>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Family &amp; Relationships</a:t>
            </a:r>
            <a:endParaRPr lang="en-US" sz="1100" dirty="0"/>
          </a:p>
        </p:txBody>
      </p:sp>
      <p:sp>
        <p:nvSpPr>
          <p:cNvPr id="20" name="Text 18"/>
          <p:cNvSpPr/>
          <p:nvPr/>
        </p:nvSpPr>
        <p:spPr>
          <a:xfrm>
            <a:off x="4956048" y="2798064"/>
            <a:ext cx="3950208" cy="219456"/>
          </a:xfrm>
          <a:prstGeom prst="rect">
            <a:avLst/>
          </a:prstGeom>
          <a:noFill/>
          <a:ln/>
        </p:spPr>
        <p:txBody>
          <a:bodyPr wrap="square" lIns="0" tIns="0" rIns="0" bIns="0" rtlCol="0" anchor="ctr"/>
          <a:lstStyle/>
          <a:p>
            <a:pPr marL="0" indent="0">
              <a:buNone/>
            </a:pPr>
            <a:r>
              <a:rPr lang="en-US" sz="900" dirty="0">
                <a:solidFill>
                  <a:srgbClr val="1A1A2E"/>
                </a:solidFill>
              </a:rPr>
              <a:t>• Spouse/partner name</a:t>
            </a:r>
            <a:endParaRPr lang="en-US" sz="900" dirty="0"/>
          </a:p>
        </p:txBody>
      </p:sp>
      <p:sp>
        <p:nvSpPr>
          <p:cNvPr id="21" name="Text 19"/>
          <p:cNvSpPr/>
          <p:nvPr/>
        </p:nvSpPr>
        <p:spPr>
          <a:xfrm>
            <a:off x="4956048" y="3035808"/>
            <a:ext cx="3950208" cy="219456"/>
          </a:xfrm>
          <a:prstGeom prst="rect">
            <a:avLst/>
          </a:prstGeom>
          <a:noFill/>
          <a:ln/>
        </p:spPr>
        <p:txBody>
          <a:bodyPr wrap="square" lIns="0" tIns="0" rIns="0" bIns="0" rtlCol="0" anchor="ctr"/>
          <a:lstStyle/>
          <a:p>
            <a:pPr marL="0" indent="0">
              <a:buNone/>
            </a:pPr>
            <a:r>
              <a:rPr lang="en-US" sz="900" dirty="0">
                <a:solidFill>
                  <a:srgbClr val="1A1A2E"/>
                </a:solidFill>
              </a:rPr>
              <a:t>• Children's names and birthdays</a:t>
            </a:r>
            <a:endParaRPr lang="en-US" sz="900" dirty="0"/>
          </a:p>
        </p:txBody>
      </p:sp>
      <p:sp>
        <p:nvSpPr>
          <p:cNvPr id="22" name="Text 20"/>
          <p:cNvSpPr/>
          <p:nvPr/>
        </p:nvSpPr>
        <p:spPr>
          <a:xfrm>
            <a:off x="6697067" y="2798068"/>
            <a:ext cx="3950208" cy="219456"/>
          </a:xfrm>
          <a:prstGeom prst="rect">
            <a:avLst/>
          </a:prstGeom>
          <a:noFill/>
          <a:ln/>
        </p:spPr>
        <p:txBody>
          <a:bodyPr wrap="square" lIns="0" tIns="0" rIns="0" bIns="0" rtlCol="0" anchor="ctr"/>
          <a:lstStyle/>
          <a:p>
            <a:pPr marL="0" indent="0">
              <a:buNone/>
            </a:pPr>
            <a:r>
              <a:rPr lang="en-US" sz="900" dirty="0">
                <a:solidFill>
                  <a:srgbClr val="1A1A2E"/>
                </a:solidFill>
              </a:rPr>
              <a:t>• Pet names</a:t>
            </a:r>
            <a:endParaRPr lang="en-US" sz="900" dirty="0"/>
          </a:p>
        </p:txBody>
      </p:sp>
      <p:sp>
        <p:nvSpPr>
          <p:cNvPr id="23" name="Shape 21"/>
          <p:cNvSpPr/>
          <p:nvPr/>
        </p:nvSpPr>
        <p:spPr>
          <a:xfrm>
            <a:off x="320040" y="3474720"/>
            <a:ext cx="4251960" cy="960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4" name="Shape 22"/>
          <p:cNvSpPr/>
          <p:nvPr/>
        </p:nvSpPr>
        <p:spPr>
          <a:xfrm>
            <a:off x="320040" y="3474720"/>
            <a:ext cx="109728" cy="960120"/>
          </a:xfrm>
          <a:prstGeom prst="rect">
            <a:avLst/>
          </a:prstGeom>
          <a:solidFill>
            <a:srgbClr val="A855F7"/>
          </a:solidFill>
          <a:ln w="12700">
            <a:solidFill>
              <a:srgbClr val="A855F7"/>
            </a:solidFill>
            <a:prstDash val="solid"/>
          </a:ln>
        </p:spPr>
        <p:txBody>
          <a:bodyPr/>
          <a:lstStyle/>
          <a:p>
            <a:endParaRPr lang="en-SG"/>
          </a:p>
        </p:txBody>
      </p:sp>
      <p:sp>
        <p:nvSpPr>
          <p:cNvPr id="25" name="Text 23"/>
          <p:cNvSpPr/>
          <p:nvPr/>
        </p:nvSpPr>
        <p:spPr>
          <a:xfrm>
            <a:off x="521208" y="3547872"/>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Interests &amp; Hobbies</a:t>
            </a:r>
            <a:endParaRPr lang="en-US" sz="1100" dirty="0"/>
          </a:p>
        </p:txBody>
      </p:sp>
      <p:sp>
        <p:nvSpPr>
          <p:cNvPr id="26" name="Text 24"/>
          <p:cNvSpPr/>
          <p:nvPr/>
        </p:nvSpPr>
        <p:spPr>
          <a:xfrm>
            <a:off x="521208" y="3877056"/>
            <a:ext cx="3950208" cy="219456"/>
          </a:xfrm>
          <a:prstGeom prst="rect">
            <a:avLst/>
          </a:prstGeom>
          <a:noFill/>
          <a:ln/>
        </p:spPr>
        <p:txBody>
          <a:bodyPr wrap="square" lIns="0" tIns="0" rIns="0" bIns="0" rtlCol="0" anchor="ctr"/>
          <a:lstStyle/>
          <a:p>
            <a:pPr marL="0" indent="0">
              <a:buNone/>
            </a:pPr>
            <a:r>
              <a:rPr lang="en-US" sz="900" dirty="0">
                <a:solidFill>
                  <a:srgbClr val="1A1A2E"/>
                </a:solidFill>
              </a:rPr>
              <a:t>• Sports teams and player numbers</a:t>
            </a:r>
            <a:endParaRPr lang="en-US" sz="900" dirty="0"/>
          </a:p>
        </p:txBody>
      </p:sp>
      <p:sp>
        <p:nvSpPr>
          <p:cNvPr id="27" name="Text 25"/>
          <p:cNvSpPr/>
          <p:nvPr/>
        </p:nvSpPr>
        <p:spPr>
          <a:xfrm>
            <a:off x="521208" y="4114800"/>
            <a:ext cx="3950208" cy="219456"/>
          </a:xfrm>
          <a:prstGeom prst="rect">
            <a:avLst/>
          </a:prstGeom>
          <a:noFill/>
          <a:ln/>
        </p:spPr>
        <p:txBody>
          <a:bodyPr wrap="square" lIns="0" tIns="0" rIns="0" bIns="0" rtlCol="0" anchor="ctr"/>
          <a:lstStyle/>
          <a:p>
            <a:pPr marL="0" indent="0">
              <a:buNone/>
            </a:pPr>
            <a:r>
              <a:rPr lang="en-US" sz="900" dirty="0">
                <a:solidFill>
                  <a:srgbClr val="1A1A2E"/>
                </a:solidFill>
              </a:rPr>
              <a:t>• Music bands, song names</a:t>
            </a:r>
            <a:endParaRPr lang="en-US" sz="900" dirty="0"/>
          </a:p>
        </p:txBody>
      </p:sp>
      <p:sp>
        <p:nvSpPr>
          <p:cNvPr id="28" name="Text 26"/>
          <p:cNvSpPr/>
          <p:nvPr/>
        </p:nvSpPr>
        <p:spPr>
          <a:xfrm>
            <a:off x="2284168" y="3877058"/>
            <a:ext cx="3950208" cy="219456"/>
          </a:xfrm>
          <a:prstGeom prst="rect">
            <a:avLst/>
          </a:prstGeom>
          <a:noFill/>
          <a:ln/>
        </p:spPr>
        <p:txBody>
          <a:bodyPr wrap="square" lIns="0" tIns="0" rIns="0" bIns="0" rtlCol="0" anchor="ctr"/>
          <a:lstStyle/>
          <a:p>
            <a:pPr marL="0" indent="0">
              <a:buNone/>
            </a:pPr>
            <a:r>
              <a:rPr lang="en-US" sz="900" dirty="0">
                <a:solidFill>
                  <a:srgbClr val="1A1A2E"/>
                </a:solidFill>
              </a:rPr>
              <a:t>• Favourite films, games, TV shows</a:t>
            </a:r>
            <a:endParaRPr lang="en-US" sz="900" dirty="0"/>
          </a:p>
        </p:txBody>
      </p:sp>
      <p:sp>
        <p:nvSpPr>
          <p:cNvPr id="29" name="Shape 27"/>
          <p:cNvSpPr/>
          <p:nvPr/>
        </p:nvSpPr>
        <p:spPr>
          <a:xfrm>
            <a:off x="4754880" y="3474720"/>
            <a:ext cx="4251960" cy="960120"/>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0" name="Shape 28"/>
          <p:cNvSpPr/>
          <p:nvPr/>
        </p:nvSpPr>
        <p:spPr>
          <a:xfrm>
            <a:off x="4754880" y="3474720"/>
            <a:ext cx="109728" cy="960120"/>
          </a:xfrm>
          <a:prstGeom prst="rect">
            <a:avLst/>
          </a:prstGeom>
          <a:solidFill>
            <a:srgbClr val="A855F7"/>
          </a:solidFill>
          <a:ln w="12700">
            <a:solidFill>
              <a:srgbClr val="A855F7"/>
            </a:solidFill>
            <a:prstDash val="solid"/>
          </a:ln>
        </p:spPr>
        <p:txBody>
          <a:bodyPr/>
          <a:lstStyle/>
          <a:p>
            <a:endParaRPr lang="en-SG"/>
          </a:p>
        </p:txBody>
      </p:sp>
      <p:sp>
        <p:nvSpPr>
          <p:cNvPr id="31" name="Text 29"/>
          <p:cNvSpPr/>
          <p:nvPr/>
        </p:nvSpPr>
        <p:spPr>
          <a:xfrm>
            <a:off x="4956048" y="3547872"/>
            <a:ext cx="3950208" cy="274320"/>
          </a:xfrm>
          <a:prstGeom prst="rect">
            <a:avLst/>
          </a:prstGeom>
          <a:noFill/>
          <a:ln/>
        </p:spPr>
        <p:txBody>
          <a:bodyPr wrap="square" lIns="0" tIns="0" rIns="0" bIns="0" rtlCol="0" anchor="ctr"/>
          <a:lstStyle/>
          <a:p>
            <a:pPr marL="0" indent="0">
              <a:buNone/>
            </a:pPr>
            <a:r>
              <a:rPr lang="en-US" sz="1100" b="1" dirty="0">
                <a:solidFill>
                  <a:srgbClr val="1A1A2E"/>
                </a:solidFill>
              </a:rPr>
              <a:t>💼  Work &amp; Online Identity</a:t>
            </a:r>
            <a:endParaRPr lang="en-US" sz="1100" dirty="0"/>
          </a:p>
        </p:txBody>
      </p:sp>
      <p:sp>
        <p:nvSpPr>
          <p:cNvPr id="32" name="Text 30"/>
          <p:cNvSpPr/>
          <p:nvPr/>
        </p:nvSpPr>
        <p:spPr>
          <a:xfrm>
            <a:off x="4956048" y="3877056"/>
            <a:ext cx="3950208" cy="219456"/>
          </a:xfrm>
          <a:prstGeom prst="rect">
            <a:avLst/>
          </a:prstGeom>
          <a:noFill/>
          <a:ln/>
        </p:spPr>
        <p:txBody>
          <a:bodyPr wrap="square" lIns="0" tIns="0" rIns="0" bIns="0" rtlCol="0" anchor="ctr"/>
          <a:lstStyle/>
          <a:p>
            <a:pPr marL="0" indent="0">
              <a:buNone/>
            </a:pPr>
            <a:r>
              <a:rPr lang="en-US" sz="900" dirty="0">
                <a:solidFill>
                  <a:srgbClr val="1A1A2E"/>
                </a:solidFill>
              </a:rPr>
              <a:t>• Employer name or job title</a:t>
            </a:r>
            <a:endParaRPr lang="en-US" sz="900" dirty="0"/>
          </a:p>
        </p:txBody>
      </p:sp>
      <p:sp>
        <p:nvSpPr>
          <p:cNvPr id="33" name="Text 31"/>
          <p:cNvSpPr/>
          <p:nvPr/>
        </p:nvSpPr>
        <p:spPr>
          <a:xfrm>
            <a:off x="4956048" y="4114800"/>
            <a:ext cx="3950208" cy="219456"/>
          </a:xfrm>
          <a:prstGeom prst="rect">
            <a:avLst/>
          </a:prstGeom>
          <a:noFill/>
          <a:ln/>
        </p:spPr>
        <p:txBody>
          <a:bodyPr wrap="square" lIns="0" tIns="0" rIns="0" bIns="0" rtlCol="0" anchor="ctr"/>
          <a:lstStyle/>
          <a:p>
            <a:pPr marL="0" indent="0">
              <a:buNone/>
            </a:pPr>
            <a:r>
              <a:rPr lang="en-US" sz="900" dirty="0">
                <a:solidFill>
                  <a:srgbClr val="1A1A2E"/>
                </a:solidFill>
              </a:rPr>
              <a:t>• Usernames from social media</a:t>
            </a:r>
            <a:endParaRPr lang="en-US" sz="900" dirty="0"/>
          </a:p>
        </p:txBody>
      </p:sp>
      <p:sp>
        <p:nvSpPr>
          <p:cNvPr id="34" name="Text 32"/>
          <p:cNvSpPr/>
          <p:nvPr/>
        </p:nvSpPr>
        <p:spPr>
          <a:xfrm>
            <a:off x="6675116" y="3869744"/>
            <a:ext cx="3950208" cy="219456"/>
          </a:xfrm>
          <a:prstGeom prst="rect">
            <a:avLst/>
          </a:prstGeom>
          <a:noFill/>
          <a:ln/>
        </p:spPr>
        <p:txBody>
          <a:bodyPr wrap="square" lIns="0" tIns="0" rIns="0" bIns="0" rtlCol="0" anchor="ctr"/>
          <a:lstStyle/>
          <a:p>
            <a:pPr marL="0" indent="0">
              <a:buNone/>
            </a:pPr>
            <a:r>
              <a:rPr lang="en-US" sz="900" dirty="0">
                <a:solidFill>
                  <a:srgbClr val="1A1A2E"/>
                </a:solidFill>
              </a:rPr>
              <a:t>• Known previous passwords (from breaches)</a:t>
            </a:r>
            <a:endParaRPr lang="en-US" sz="900" dirty="0"/>
          </a:p>
        </p:txBody>
      </p:sp>
      <p:sp>
        <p:nvSpPr>
          <p:cNvPr id="35" name="Shape 33"/>
          <p:cNvSpPr/>
          <p:nvPr/>
        </p:nvSpPr>
        <p:spPr>
          <a:xfrm>
            <a:off x="320040" y="4546397"/>
            <a:ext cx="8503920" cy="336499"/>
          </a:xfrm>
          <a:prstGeom prst="rect">
            <a:avLst/>
          </a:prstGeom>
          <a:solidFill>
            <a:srgbClr val="FFFFFF"/>
          </a:solidFill>
          <a:ln w="6350">
            <a:solidFill>
              <a:srgbClr val="A855F7"/>
            </a:solidFill>
            <a:prstDash val="solid"/>
          </a:ln>
        </p:spPr>
        <p:txBody>
          <a:bodyPr/>
          <a:lstStyle/>
          <a:p>
            <a:endParaRPr lang="en-SG"/>
          </a:p>
        </p:txBody>
      </p:sp>
      <p:sp>
        <p:nvSpPr>
          <p:cNvPr id="36" name="Text 34"/>
          <p:cNvSpPr/>
          <p:nvPr/>
        </p:nvSpPr>
        <p:spPr>
          <a:xfrm>
            <a:off x="457200" y="4553712"/>
            <a:ext cx="8229600" cy="310896"/>
          </a:xfrm>
          <a:prstGeom prst="rect">
            <a:avLst/>
          </a:prstGeom>
          <a:noFill/>
          <a:ln/>
        </p:spPr>
        <p:txBody>
          <a:bodyPr wrap="square" lIns="0" tIns="0" rIns="0" bIns="0" rtlCol="0" anchor="ctr"/>
          <a:lstStyle/>
          <a:p>
            <a:pPr marL="0" indent="0">
              <a:buNone/>
            </a:pPr>
            <a:r>
              <a:rPr lang="en-US" sz="800" dirty="0">
                <a:solidFill>
                  <a:srgbClr val="475569"/>
                </a:solidFill>
              </a:rPr>
              <a:t>📋  Case Scenario:  An encrypted VeraCrypt volume is found. Investigation reveals the suspect is a Liverpool FC supporter born in 1987 with a son named 'Ethan'. The analyst builds a targeted wordlist — 'LFC1987', 'Ethan1987', 'Liverpool87' — and recovers the password on the third attempt.</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64592"/>
            <a:ext cx="1828800" cy="256032"/>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164592"/>
            <a:ext cx="1828800" cy="256032"/>
          </a:xfrm>
          <a:prstGeom prst="rect">
            <a:avLst/>
          </a:prstGeom>
          <a:noFill/>
          <a:ln/>
        </p:spPr>
        <p:txBody>
          <a:bodyPr wrap="square" lIns="0" tIns="0" rIns="0" bIns="0" rtlCol="0" anchor="ctr"/>
          <a:lstStyle/>
          <a:p>
            <a:pPr marL="0" indent="0" algn="ctr">
              <a:buNone/>
            </a:pPr>
            <a:r>
              <a:rPr lang="en-US" sz="800" b="1" dirty="0">
                <a:solidFill>
                  <a:srgbClr val="0D1B2A"/>
                </a:solidFill>
              </a:rPr>
              <a:t>SECTION 11 · PASSWORD RECOVERY TOOLS</a:t>
            </a:r>
            <a:endParaRPr lang="en-US" sz="800" dirty="0"/>
          </a:p>
        </p:txBody>
      </p:sp>
      <p:sp>
        <p:nvSpPr>
          <p:cNvPr id="4" name="Text 2"/>
          <p:cNvSpPr/>
          <p:nvPr/>
        </p:nvSpPr>
        <p:spPr>
          <a:xfrm>
            <a:off x="320040" y="502920"/>
            <a:ext cx="8503920" cy="640080"/>
          </a:xfrm>
          <a:prstGeom prst="rect">
            <a:avLst/>
          </a:prstGeom>
          <a:noFill/>
          <a:ln/>
        </p:spPr>
        <p:txBody>
          <a:bodyPr wrap="square" lIns="0" tIns="0" rIns="0" bIns="0" rtlCol="0" anchor="ctr"/>
          <a:lstStyle/>
          <a:p>
            <a:pPr marL="0" indent="0" algn="l">
              <a:buNone/>
            </a:pPr>
            <a:r>
              <a:rPr lang="en-US" sz="2800" b="1" dirty="0">
                <a:solidFill>
                  <a:srgbClr val="1A1A2E"/>
                </a:solidFill>
                <a:latin typeface="Calibri" pitchFamily="34" charset="0"/>
                <a:ea typeface="Calibri" pitchFamily="34" charset="-122"/>
                <a:cs typeface="Calibri" pitchFamily="34" charset="-120"/>
              </a:rPr>
              <a:t>Popular Open-Source Password Recovery Tools</a:t>
            </a:r>
            <a:endParaRPr lang="en-US" sz="2800" dirty="0"/>
          </a:p>
        </p:txBody>
      </p:sp>
      <p:sp>
        <p:nvSpPr>
          <p:cNvPr id="5" name="Shape 3"/>
          <p:cNvSpPr/>
          <p:nvPr/>
        </p:nvSpPr>
        <p:spPr>
          <a:xfrm>
            <a:off x="320040" y="1188720"/>
            <a:ext cx="8503920" cy="36576"/>
          </a:xfrm>
          <a:prstGeom prst="rect">
            <a:avLst/>
          </a:prstGeom>
          <a:solidFill>
            <a:srgbClr val="A855F7"/>
          </a:solidFill>
          <a:ln w="12700">
            <a:solidFill>
              <a:srgbClr val="A855F7"/>
            </a:solidFill>
            <a:prstDash val="solid"/>
          </a:ln>
        </p:spPr>
        <p:txBody>
          <a:bodyPr/>
          <a:lstStyle/>
          <a:p>
            <a:endParaRPr lang="en-SG"/>
          </a:p>
        </p:txBody>
      </p:sp>
      <p:sp>
        <p:nvSpPr>
          <p:cNvPr id="6" name="Shape 4"/>
          <p:cNvSpPr/>
          <p:nvPr/>
        </p:nvSpPr>
        <p:spPr>
          <a:xfrm>
            <a:off x="320040" y="1316736"/>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7" name="Shape 5"/>
          <p:cNvSpPr/>
          <p:nvPr/>
        </p:nvSpPr>
        <p:spPr>
          <a:xfrm>
            <a:off x="320040" y="1316736"/>
            <a:ext cx="2770632" cy="64008"/>
          </a:xfrm>
          <a:prstGeom prst="rect">
            <a:avLst/>
          </a:prstGeom>
          <a:solidFill>
            <a:srgbClr val="F4A261"/>
          </a:solidFill>
          <a:ln w="12700">
            <a:solidFill>
              <a:srgbClr val="F4A261"/>
            </a:solidFill>
            <a:prstDash val="solid"/>
          </a:ln>
        </p:spPr>
        <p:txBody>
          <a:bodyPr/>
          <a:lstStyle/>
          <a:p>
            <a:endParaRPr lang="en-SG"/>
          </a:p>
        </p:txBody>
      </p:sp>
      <p:sp>
        <p:nvSpPr>
          <p:cNvPr id="8" name="Text 6"/>
          <p:cNvSpPr/>
          <p:nvPr/>
        </p:nvSpPr>
        <p:spPr>
          <a:xfrm>
            <a:off x="411480" y="1426464"/>
            <a:ext cx="2587752" cy="292608"/>
          </a:xfrm>
          <a:prstGeom prst="rect">
            <a:avLst/>
          </a:prstGeom>
          <a:noFill/>
          <a:ln/>
        </p:spPr>
        <p:txBody>
          <a:bodyPr wrap="square" lIns="0" tIns="0" rIns="0" bIns="0" rtlCol="0" anchor="ctr"/>
          <a:lstStyle/>
          <a:p>
            <a:pPr marL="0" indent="0">
              <a:buNone/>
            </a:pPr>
            <a:r>
              <a:rPr lang="en-US" sz="1200" b="1" dirty="0">
                <a:solidFill>
                  <a:srgbClr val="F4A261"/>
                </a:solidFill>
              </a:rPr>
              <a:t>⚡ Hashcat</a:t>
            </a:r>
            <a:endParaRPr lang="en-US" sz="1200" dirty="0"/>
          </a:p>
        </p:txBody>
      </p:sp>
      <p:sp>
        <p:nvSpPr>
          <p:cNvPr id="9" name="Shape 7"/>
          <p:cNvSpPr/>
          <p:nvPr/>
        </p:nvSpPr>
        <p:spPr>
          <a:xfrm>
            <a:off x="411480" y="1737360"/>
            <a:ext cx="2587752" cy="201168"/>
          </a:xfrm>
          <a:prstGeom prst="rect">
            <a:avLst/>
          </a:prstGeom>
          <a:solidFill>
            <a:srgbClr val="FFFFFF"/>
          </a:solidFill>
          <a:ln w="6350">
            <a:solidFill>
              <a:srgbClr val="F4A261"/>
            </a:solidFill>
            <a:prstDash val="solid"/>
          </a:ln>
        </p:spPr>
        <p:txBody>
          <a:bodyPr/>
          <a:lstStyle/>
          <a:p>
            <a:endParaRPr lang="en-SG"/>
          </a:p>
        </p:txBody>
      </p:sp>
      <p:sp>
        <p:nvSpPr>
          <p:cNvPr id="10" name="Text 8"/>
          <p:cNvSpPr/>
          <p:nvPr/>
        </p:nvSpPr>
        <p:spPr>
          <a:xfrm>
            <a:off x="411480" y="1737360"/>
            <a:ext cx="2587752" cy="201168"/>
          </a:xfrm>
          <a:prstGeom prst="rect">
            <a:avLst/>
          </a:prstGeom>
          <a:noFill/>
          <a:ln/>
        </p:spPr>
        <p:txBody>
          <a:bodyPr wrap="square" lIns="0" tIns="0" rIns="0" bIns="0" rtlCol="0" anchor="ctr"/>
          <a:lstStyle/>
          <a:p>
            <a:pPr marL="0" indent="0" algn="ctr">
              <a:buNone/>
            </a:pPr>
            <a:r>
              <a:rPr lang="en-US" sz="750" b="1" dirty="0">
                <a:solidFill>
                  <a:srgbClr val="F4A261"/>
                </a:solidFill>
              </a:rPr>
              <a:t>GPU-Accelerated</a:t>
            </a:r>
            <a:endParaRPr lang="en-US" sz="750" dirty="0"/>
          </a:p>
        </p:txBody>
      </p:sp>
      <p:sp>
        <p:nvSpPr>
          <p:cNvPr id="11" name="Text 9"/>
          <p:cNvSpPr/>
          <p:nvPr/>
        </p:nvSpPr>
        <p:spPr>
          <a:xfrm>
            <a:off x="411480" y="1993392"/>
            <a:ext cx="2587752" cy="585216"/>
          </a:xfrm>
          <a:prstGeom prst="rect">
            <a:avLst/>
          </a:prstGeom>
          <a:noFill/>
          <a:ln/>
        </p:spPr>
        <p:txBody>
          <a:bodyPr wrap="square" lIns="0" tIns="0" rIns="0" bIns="0" rtlCol="0" anchor="ctr"/>
          <a:lstStyle/>
          <a:p>
            <a:pPr marL="0" indent="0">
              <a:buNone/>
            </a:pPr>
            <a:r>
              <a:rPr lang="en-US" sz="780" dirty="0">
                <a:solidFill>
                  <a:srgbClr val="1A1A2E"/>
                </a:solidFill>
              </a:rPr>
              <a:t>The world's fastest password recovery tool. Supports 300+ hash types including MD5, SHA-1/256, NTLM, bcrypt, WPA2, and more. Runs on CPU or GPU — modern GPUs test billions of hashes/sec.</a:t>
            </a:r>
            <a:endParaRPr lang="en-US" sz="780" dirty="0"/>
          </a:p>
        </p:txBody>
      </p:sp>
      <p:sp>
        <p:nvSpPr>
          <p:cNvPr id="12" name="Text 10"/>
          <p:cNvSpPr/>
          <p:nvPr/>
        </p:nvSpPr>
        <p:spPr>
          <a:xfrm>
            <a:off x="411480" y="2615184"/>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Cracking NTLM hashes from a Windows SAM file dump</a:t>
            </a:r>
            <a:endParaRPr lang="en-US" sz="750" dirty="0"/>
          </a:p>
        </p:txBody>
      </p:sp>
      <p:sp>
        <p:nvSpPr>
          <p:cNvPr id="13" name="Shape 11"/>
          <p:cNvSpPr/>
          <p:nvPr/>
        </p:nvSpPr>
        <p:spPr>
          <a:xfrm>
            <a:off x="3182112" y="1316736"/>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14" name="Shape 12"/>
          <p:cNvSpPr/>
          <p:nvPr/>
        </p:nvSpPr>
        <p:spPr>
          <a:xfrm>
            <a:off x="3182112" y="1316736"/>
            <a:ext cx="2770632" cy="64008"/>
          </a:xfrm>
          <a:prstGeom prst="rect">
            <a:avLst/>
          </a:prstGeom>
          <a:solidFill>
            <a:srgbClr val="00B4D8"/>
          </a:solidFill>
          <a:ln w="12700">
            <a:solidFill>
              <a:srgbClr val="00B4D8"/>
            </a:solidFill>
            <a:prstDash val="solid"/>
          </a:ln>
        </p:spPr>
        <p:txBody>
          <a:bodyPr/>
          <a:lstStyle/>
          <a:p>
            <a:endParaRPr lang="en-SG"/>
          </a:p>
        </p:txBody>
      </p:sp>
      <p:sp>
        <p:nvSpPr>
          <p:cNvPr id="15" name="Text 13"/>
          <p:cNvSpPr/>
          <p:nvPr/>
        </p:nvSpPr>
        <p:spPr>
          <a:xfrm>
            <a:off x="3273552" y="1426464"/>
            <a:ext cx="2587752" cy="292608"/>
          </a:xfrm>
          <a:prstGeom prst="rect">
            <a:avLst/>
          </a:prstGeom>
          <a:noFill/>
          <a:ln/>
        </p:spPr>
        <p:txBody>
          <a:bodyPr wrap="square" lIns="0" tIns="0" rIns="0" bIns="0" rtlCol="0" anchor="ctr"/>
          <a:lstStyle/>
          <a:p>
            <a:pPr marL="0" indent="0">
              <a:buNone/>
            </a:pPr>
            <a:r>
              <a:rPr lang="en-US" sz="1200" b="1" dirty="0">
                <a:solidFill>
                  <a:srgbClr val="00B4D8"/>
                </a:solidFill>
              </a:rPr>
              <a:t>🔨 John the Ripper</a:t>
            </a:r>
            <a:endParaRPr lang="en-US" sz="1200" dirty="0"/>
          </a:p>
        </p:txBody>
      </p:sp>
      <p:sp>
        <p:nvSpPr>
          <p:cNvPr id="16" name="Shape 14"/>
          <p:cNvSpPr/>
          <p:nvPr/>
        </p:nvSpPr>
        <p:spPr>
          <a:xfrm>
            <a:off x="3273552" y="1737360"/>
            <a:ext cx="2587752" cy="201168"/>
          </a:xfrm>
          <a:prstGeom prst="rect">
            <a:avLst/>
          </a:prstGeom>
          <a:solidFill>
            <a:srgbClr val="FFFFFF"/>
          </a:solidFill>
          <a:ln w="6350">
            <a:solidFill>
              <a:srgbClr val="00B4D8"/>
            </a:solidFill>
            <a:prstDash val="solid"/>
          </a:ln>
        </p:spPr>
        <p:txBody>
          <a:bodyPr/>
          <a:lstStyle/>
          <a:p>
            <a:endParaRPr lang="en-SG"/>
          </a:p>
        </p:txBody>
      </p:sp>
      <p:sp>
        <p:nvSpPr>
          <p:cNvPr id="17" name="Text 15"/>
          <p:cNvSpPr/>
          <p:nvPr/>
        </p:nvSpPr>
        <p:spPr>
          <a:xfrm>
            <a:off x="3273552" y="1737360"/>
            <a:ext cx="2587752" cy="201168"/>
          </a:xfrm>
          <a:prstGeom prst="rect">
            <a:avLst/>
          </a:prstGeom>
          <a:noFill/>
          <a:ln/>
        </p:spPr>
        <p:txBody>
          <a:bodyPr wrap="square" lIns="0" tIns="0" rIns="0" bIns="0" rtlCol="0" anchor="ctr"/>
          <a:lstStyle/>
          <a:p>
            <a:pPr marL="0" indent="0" algn="ctr">
              <a:buNone/>
            </a:pPr>
            <a:r>
              <a:rPr lang="en-US" sz="750" b="1" dirty="0">
                <a:solidFill>
                  <a:srgbClr val="00B4D8"/>
                </a:solidFill>
              </a:rPr>
              <a:t>Cross-Platform Classic</a:t>
            </a:r>
            <a:endParaRPr lang="en-US" sz="750" dirty="0"/>
          </a:p>
        </p:txBody>
      </p:sp>
      <p:sp>
        <p:nvSpPr>
          <p:cNvPr id="18" name="Text 16"/>
          <p:cNvSpPr/>
          <p:nvPr/>
        </p:nvSpPr>
        <p:spPr>
          <a:xfrm>
            <a:off x="3273552" y="1993392"/>
            <a:ext cx="2587752" cy="585216"/>
          </a:xfrm>
          <a:prstGeom prst="rect">
            <a:avLst/>
          </a:prstGeom>
          <a:noFill/>
          <a:ln/>
        </p:spPr>
        <p:txBody>
          <a:bodyPr wrap="square" lIns="0" tIns="0" rIns="0" bIns="0" rtlCol="0" anchor="ctr"/>
          <a:lstStyle/>
          <a:p>
            <a:pPr marL="0" indent="0">
              <a:buNone/>
            </a:pPr>
            <a:r>
              <a:rPr lang="en-US" sz="780" dirty="0">
                <a:solidFill>
                  <a:srgbClr val="1A1A2E"/>
                </a:solidFill>
              </a:rPr>
              <a:t>One of the most widely used tools in forensic training. Automatically detects hash types and supports dictionary, incremental (brute force), and rule-based attacks. Available on Linux/macOS/Windows.</a:t>
            </a:r>
            <a:endParaRPr lang="en-US" sz="780" dirty="0"/>
          </a:p>
        </p:txBody>
      </p:sp>
      <p:sp>
        <p:nvSpPr>
          <p:cNvPr id="19" name="Text 17"/>
          <p:cNvSpPr/>
          <p:nvPr/>
        </p:nvSpPr>
        <p:spPr>
          <a:xfrm>
            <a:off x="3273552" y="2615184"/>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Recovering Linux /etc/shadow password hashes</a:t>
            </a:r>
            <a:endParaRPr lang="en-US" sz="750" dirty="0"/>
          </a:p>
        </p:txBody>
      </p:sp>
      <p:sp>
        <p:nvSpPr>
          <p:cNvPr id="20" name="Shape 18"/>
          <p:cNvSpPr/>
          <p:nvPr/>
        </p:nvSpPr>
        <p:spPr>
          <a:xfrm>
            <a:off x="6044184" y="1316736"/>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1" name="Shape 19"/>
          <p:cNvSpPr/>
          <p:nvPr/>
        </p:nvSpPr>
        <p:spPr>
          <a:xfrm>
            <a:off x="6044184" y="1316736"/>
            <a:ext cx="2770632" cy="64008"/>
          </a:xfrm>
          <a:prstGeom prst="rect">
            <a:avLst/>
          </a:prstGeom>
          <a:solidFill>
            <a:srgbClr val="2EC4B6"/>
          </a:solidFill>
          <a:ln w="12700">
            <a:solidFill>
              <a:srgbClr val="2EC4B6"/>
            </a:solidFill>
            <a:prstDash val="solid"/>
          </a:ln>
        </p:spPr>
        <p:txBody>
          <a:bodyPr/>
          <a:lstStyle/>
          <a:p>
            <a:endParaRPr lang="en-SG"/>
          </a:p>
        </p:txBody>
      </p:sp>
      <p:sp>
        <p:nvSpPr>
          <p:cNvPr id="22" name="Text 20"/>
          <p:cNvSpPr/>
          <p:nvPr/>
        </p:nvSpPr>
        <p:spPr>
          <a:xfrm>
            <a:off x="6135624" y="1426464"/>
            <a:ext cx="2587752" cy="292608"/>
          </a:xfrm>
          <a:prstGeom prst="rect">
            <a:avLst/>
          </a:prstGeom>
          <a:noFill/>
          <a:ln/>
        </p:spPr>
        <p:txBody>
          <a:bodyPr wrap="square" lIns="0" tIns="0" rIns="0" bIns="0" rtlCol="0" anchor="ctr"/>
          <a:lstStyle/>
          <a:p>
            <a:pPr marL="0" indent="0">
              <a:buNone/>
            </a:pPr>
            <a:r>
              <a:rPr lang="en-US" sz="1200" b="1" dirty="0">
                <a:solidFill>
                  <a:srgbClr val="2EC4B6"/>
                </a:solidFill>
              </a:rPr>
              <a:t>🌈 Ophcrack</a:t>
            </a:r>
            <a:endParaRPr lang="en-US" sz="1200" dirty="0"/>
          </a:p>
        </p:txBody>
      </p:sp>
      <p:sp>
        <p:nvSpPr>
          <p:cNvPr id="23" name="Shape 21"/>
          <p:cNvSpPr/>
          <p:nvPr/>
        </p:nvSpPr>
        <p:spPr>
          <a:xfrm>
            <a:off x="6135624" y="1737360"/>
            <a:ext cx="2587752" cy="201168"/>
          </a:xfrm>
          <a:prstGeom prst="rect">
            <a:avLst/>
          </a:prstGeom>
          <a:solidFill>
            <a:srgbClr val="FFFFFF"/>
          </a:solidFill>
          <a:ln w="6350">
            <a:solidFill>
              <a:srgbClr val="2EC4B6"/>
            </a:solidFill>
            <a:prstDash val="solid"/>
          </a:ln>
        </p:spPr>
        <p:txBody>
          <a:bodyPr/>
          <a:lstStyle/>
          <a:p>
            <a:endParaRPr lang="en-SG"/>
          </a:p>
        </p:txBody>
      </p:sp>
      <p:sp>
        <p:nvSpPr>
          <p:cNvPr id="24" name="Text 22"/>
          <p:cNvSpPr/>
          <p:nvPr/>
        </p:nvSpPr>
        <p:spPr>
          <a:xfrm>
            <a:off x="6135624" y="1737360"/>
            <a:ext cx="2587752" cy="201168"/>
          </a:xfrm>
          <a:prstGeom prst="rect">
            <a:avLst/>
          </a:prstGeom>
          <a:noFill/>
          <a:ln/>
        </p:spPr>
        <p:txBody>
          <a:bodyPr wrap="square" lIns="0" tIns="0" rIns="0" bIns="0" rtlCol="0" anchor="ctr"/>
          <a:lstStyle/>
          <a:p>
            <a:pPr marL="0" indent="0" algn="ctr">
              <a:buNone/>
            </a:pPr>
            <a:r>
              <a:rPr lang="en-US" sz="750" b="1" dirty="0">
                <a:solidFill>
                  <a:srgbClr val="2EC4B6"/>
                </a:solidFill>
              </a:rPr>
              <a:t>Rainbow Table Attack</a:t>
            </a:r>
            <a:endParaRPr lang="en-US" sz="750" dirty="0"/>
          </a:p>
        </p:txBody>
      </p:sp>
      <p:sp>
        <p:nvSpPr>
          <p:cNvPr id="25" name="Text 23"/>
          <p:cNvSpPr/>
          <p:nvPr/>
        </p:nvSpPr>
        <p:spPr>
          <a:xfrm>
            <a:off x="6135624" y="1993392"/>
            <a:ext cx="2587752" cy="585216"/>
          </a:xfrm>
          <a:prstGeom prst="rect">
            <a:avLst/>
          </a:prstGeom>
          <a:noFill/>
          <a:ln/>
        </p:spPr>
        <p:txBody>
          <a:bodyPr wrap="square" lIns="0" tIns="0" rIns="0" bIns="0" rtlCol="0" anchor="ctr"/>
          <a:lstStyle/>
          <a:p>
            <a:pPr marL="0" indent="0">
              <a:buNone/>
            </a:pPr>
            <a:r>
              <a:rPr lang="en-US" sz="780" dirty="0">
                <a:solidFill>
                  <a:srgbClr val="1A1A2E"/>
                </a:solidFill>
              </a:rPr>
              <a:t>Specialises in cracking Windows LM and NTLM password hashes using pre-computed rainbow tables. Includes a Live CD edition — boot directly without installing an OS. Very effective on older Windows systems.</a:t>
            </a:r>
            <a:endParaRPr lang="en-US" sz="780" dirty="0"/>
          </a:p>
        </p:txBody>
      </p:sp>
      <p:sp>
        <p:nvSpPr>
          <p:cNvPr id="26" name="Text 24"/>
          <p:cNvSpPr/>
          <p:nvPr/>
        </p:nvSpPr>
        <p:spPr>
          <a:xfrm>
            <a:off x="6135624" y="2615184"/>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Recovering Windows XP/7 account passwords via bootable USB</a:t>
            </a:r>
            <a:endParaRPr lang="en-US" sz="750" dirty="0"/>
          </a:p>
        </p:txBody>
      </p:sp>
      <p:sp>
        <p:nvSpPr>
          <p:cNvPr id="27" name="Shape 25"/>
          <p:cNvSpPr/>
          <p:nvPr/>
        </p:nvSpPr>
        <p:spPr>
          <a:xfrm>
            <a:off x="320040" y="3072384"/>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28" name="Shape 26"/>
          <p:cNvSpPr/>
          <p:nvPr/>
        </p:nvSpPr>
        <p:spPr>
          <a:xfrm>
            <a:off x="320040" y="3072384"/>
            <a:ext cx="2770632" cy="64008"/>
          </a:xfrm>
          <a:prstGeom prst="rect">
            <a:avLst/>
          </a:prstGeom>
          <a:solidFill>
            <a:srgbClr val="FFD166"/>
          </a:solidFill>
          <a:ln w="12700">
            <a:solidFill>
              <a:srgbClr val="FFD166"/>
            </a:solidFill>
            <a:prstDash val="solid"/>
          </a:ln>
        </p:spPr>
        <p:txBody>
          <a:bodyPr/>
          <a:lstStyle/>
          <a:p>
            <a:endParaRPr lang="en-SG"/>
          </a:p>
        </p:txBody>
      </p:sp>
      <p:sp>
        <p:nvSpPr>
          <p:cNvPr id="29" name="Text 27"/>
          <p:cNvSpPr/>
          <p:nvPr/>
        </p:nvSpPr>
        <p:spPr>
          <a:xfrm>
            <a:off x="411480" y="3182112"/>
            <a:ext cx="2587752" cy="292608"/>
          </a:xfrm>
          <a:prstGeom prst="rect">
            <a:avLst/>
          </a:prstGeom>
          <a:noFill/>
          <a:ln/>
        </p:spPr>
        <p:txBody>
          <a:bodyPr wrap="square" lIns="0" tIns="0" rIns="0" bIns="0" rtlCol="0" anchor="ctr"/>
          <a:lstStyle/>
          <a:p>
            <a:pPr marL="0" indent="0">
              <a:buNone/>
            </a:pPr>
            <a:r>
              <a:rPr lang="en-US" sz="1200" b="1" dirty="0">
                <a:solidFill>
                  <a:srgbClr val="FFD166"/>
                </a:solidFill>
              </a:rPr>
              <a:t>🐍 Hydra (THC-Hydra)</a:t>
            </a:r>
            <a:endParaRPr lang="en-US" sz="1200" dirty="0"/>
          </a:p>
        </p:txBody>
      </p:sp>
      <p:sp>
        <p:nvSpPr>
          <p:cNvPr id="30" name="Shape 28"/>
          <p:cNvSpPr/>
          <p:nvPr/>
        </p:nvSpPr>
        <p:spPr>
          <a:xfrm>
            <a:off x="411480" y="3493008"/>
            <a:ext cx="2587752" cy="201168"/>
          </a:xfrm>
          <a:prstGeom prst="rect">
            <a:avLst/>
          </a:prstGeom>
          <a:solidFill>
            <a:srgbClr val="FFFFFF"/>
          </a:solidFill>
          <a:ln w="6350">
            <a:solidFill>
              <a:srgbClr val="FFD166"/>
            </a:solidFill>
            <a:prstDash val="solid"/>
          </a:ln>
        </p:spPr>
        <p:txBody>
          <a:bodyPr/>
          <a:lstStyle/>
          <a:p>
            <a:endParaRPr lang="en-SG"/>
          </a:p>
        </p:txBody>
      </p:sp>
      <p:sp>
        <p:nvSpPr>
          <p:cNvPr id="31" name="Text 29"/>
          <p:cNvSpPr/>
          <p:nvPr/>
        </p:nvSpPr>
        <p:spPr>
          <a:xfrm>
            <a:off x="411480" y="3493008"/>
            <a:ext cx="2587752" cy="201168"/>
          </a:xfrm>
          <a:prstGeom prst="rect">
            <a:avLst/>
          </a:prstGeom>
          <a:noFill/>
          <a:ln/>
        </p:spPr>
        <p:txBody>
          <a:bodyPr wrap="square" lIns="0" tIns="0" rIns="0" bIns="0" rtlCol="0" anchor="ctr"/>
          <a:lstStyle/>
          <a:p>
            <a:pPr marL="0" indent="0" algn="ctr">
              <a:buNone/>
            </a:pPr>
            <a:r>
              <a:rPr lang="en-US" sz="750" b="1" dirty="0">
                <a:solidFill>
                  <a:srgbClr val="FFD166"/>
                </a:solidFill>
              </a:rPr>
              <a:t>Online / Network Attack</a:t>
            </a:r>
            <a:endParaRPr lang="en-US" sz="750" dirty="0"/>
          </a:p>
        </p:txBody>
      </p:sp>
      <p:sp>
        <p:nvSpPr>
          <p:cNvPr id="32" name="Text 30"/>
          <p:cNvSpPr/>
          <p:nvPr/>
        </p:nvSpPr>
        <p:spPr>
          <a:xfrm>
            <a:off x="411480" y="3749040"/>
            <a:ext cx="2587752" cy="585216"/>
          </a:xfrm>
          <a:prstGeom prst="rect">
            <a:avLst/>
          </a:prstGeom>
          <a:noFill/>
          <a:ln/>
        </p:spPr>
        <p:txBody>
          <a:bodyPr wrap="square" lIns="0" tIns="0" rIns="0" bIns="0" rtlCol="0" anchor="ctr"/>
          <a:lstStyle/>
          <a:p>
            <a:pPr marL="0" indent="0">
              <a:buNone/>
            </a:pPr>
            <a:r>
              <a:rPr lang="en-US" sz="780" dirty="0">
                <a:solidFill>
                  <a:srgbClr val="1A1A2E"/>
                </a:solidFill>
              </a:rPr>
              <a:t>A parallelised login cracker for online services. Supports 50+ protocols: SSH, FTP, HTTP, RDP, SMB, SMTP, and more. Used when the credential system is accessible over a network rather than as an offline hash.</a:t>
            </a:r>
            <a:endParaRPr lang="en-US" sz="780" dirty="0"/>
          </a:p>
        </p:txBody>
      </p:sp>
      <p:sp>
        <p:nvSpPr>
          <p:cNvPr id="33" name="Text 31"/>
          <p:cNvSpPr/>
          <p:nvPr/>
        </p:nvSpPr>
        <p:spPr>
          <a:xfrm>
            <a:off x="411480" y="4370832"/>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Testing FTP or SSH login credentials on a seized server</a:t>
            </a:r>
            <a:endParaRPr lang="en-US" sz="750" dirty="0"/>
          </a:p>
        </p:txBody>
      </p:sp>
      <p:sp>
        <p:nvSpPr>
          <p:cNvPr id="34" name="Shape 32"/>
          <p:cNvSpPr/>
          <p:nvPr/>
        </p:nvSpPr>
        <p:spPr>
          <a:xfrm>
            <a:off x="3182112" y="3072384"/>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35" name="Shape 33"/>
          <p:cNvSpPr/>
          <p:nvPr/>
        </p:nvSpPr>
        <p:spPr>
          <a:xfrm>
            <a:off x="3182112" y="3072384"/>
            <a:ext cx="2770632" cy="64008"/>
          </a:xfrm>
          <a:prstGeom prst="rect">
            <a:avLst/>
          </a:prstGeom>
          <a:solidFill>
            <a:srgbClr val="90E0EF"/>
          </a:solidFill>
          <a:ln w="12700">
            <a:solidFill>
              <a:srgbClr val="90E0EF"/>
            </a:solidFill>
            <a:prstDash val="solid"/>
          </a:ln>
        </p:spPr>
        <p:txBody>
          <a:bodyPr/>
          <a:lstStyle/>
          <a:p>
            <a:endParaRPr lang="en-SG"/>
          </a:p>
        </p:txBody>
      </p:sp>
      <p:sp>
        <p:nvSpPr>
          <p:cNvPr id="36" name="Text 34"/>
          <p:cNvSpPr/>
          <p:nvPr/>
        </p:nvSpPr>
        <p:spPr>
          <a:xfrm>
            <a:off x="3273552" y="3182112"/>
            <a:ext cx="2587752" cy="292608"/>
          </a:xfrm>
          <a:prstGeom prst="rect">
            <a:avLst/>
          </a:prstGeom>
          <a:noFill/>
          <a:ln/>
        </p:spPr>
        <p:txBody>
          <a:bodyPr wrap="square" lIns="0" tIns="0" rIns="0" bIns="0" rtlCol="0" anchor="ctr"/>
          <a:lstStyle/>
          <a:p>
            <a:pPr marL="0" indent="0">
              <a:buNone/>
            </a:pPr>
            <a:r>
              <a:rPr lang="en-US" sz="1200" b="1" dirty="0">
                <a:solidFill>
                  <a:srgbClr val="1A1A2E"/>
                </a:solidFill>
              </a:rPr>
              <a:t>🗜️ fcrackzip</a:t>
            </a:r>
            <a:endParaRPr lang="en-US" sz="1200" dirty="0"/>
          </a:p>
        </p:txBody>
      </p:sp>
      <p:sp>
        <p:nvSpPr>
          <p:cNvPr id="37" name="Shape 35"/>
          <p:cNvSpPr/>
          <p:nvPr/>
        </p:nvSpPr>
        <p:spPr>
          <a:xfrm>
            <a:off x="3273552" y="3493008"/>
            <a:ext cx="2587752" cy="201168"/>
          </a:xfrm>
          <a:prstGeom prst="rect">
            <a:avLst/>
          </a:prstGeom>
          <a:solidFill>
            <a:srgbClr val="FFFFFF"/>
          </a:solidFill>
          <a:ln w="6350">
            <a:solidFill>
              <a:srgbClr val="90E0EF"/>
            </a:solidFill>
            <a:prstDash val="solid"/>
          </a:ln>
        </p:spPr>
        <p:txBody>
          <a:bodyPr/>
          <a:lstStyle/>
          <a:p>
            <a:endParaRPr lang="en-SG"/>
          </a:p>
        </p:txBody>
      </p:sp>
      <p:sp>
        <p:nvSpPr>
          <p:cNvPr id="38" name="Text 36"/>
          <p:cNvSpPr/>
          <p:nvPr/>
        </p:nvSpPr>
        <p:spPr>
          <a:xfrm>
            <a:off x="3273552" y="3493008"/>
            <a:ext cx="2587752" cy="201168"/>
          </a:xfrm>
          <a:prstGeom prst="rect">
            <a:avLst/>
          </a:prstGeom>
          <a:noFill/>
          <a:ln/>
        </p:spPr>
        <p:txBody>
          <a:bodyPr wrap="square" lIns="0" tIns="0" rIns="0" bIns="0" rtlCol="0" anchor="ctr"/>
          <a:lstStyle/>
          <a:p>
            <a:pPr marL="0" indent="0" algn="ctr">
              <a:buNone/>
            </a:pPr>
            <a:r>
              <a:rPr lang="en-US" sz="750" b="1" dirty="0">
                <a:solidFill>
                  <a:srgbClr val="1A1A2E"/>
                </a:solidFill>
              </a:rPr>
              <a:t>ZIP Archive Specialist</a:t>
            </a:r>
            <a:endParaRPr lang="en-US" sz="750" dirty="0"/>
          </a:p>
        </p:txBody>
      </p:sp>
      <p:sp>
        <p:nvSpPr>
          <p:cNvPr id="39" name="Text 37"/>
          <p:cNvSpPr/>
          <p:nvPr/>
        </p:nvSpPr>
        <p:spPr>
          <a:xfrm>
            <a:off x="3273552" y="3749040"/>
            <a:ext cx="2587752" cy="585216"/>
          </a:xfrm>
          <a:prstGeom prst="rect">
            <a:avLst/>
          </a:prstGeom>
          <a:noFill/>
          <a:ln/>
        </p:spPr>
        <p:txBody>
          <a:bodyPr wrap="square" lIns="0" tIns="0" rIns="0" bIns="0" rtlCol="0" anchor="ctr"/>
          <a:lstStyle/>
          <a:p>
            <a:pPr marL="0" indent="0">
              <a:buNone/>
            </a:pPr>
            <a:r>
              <a:rPr lang="en-US" sz="780" dirty="0">
                <a:solidFill>
                  <a:srgbClr val="1A1A2E"/>
                </a:solidFill>
              </a:rPr>
              <a:t>Lightweight command-line tool dedicated to cracking password-protected ZIP archives using brute force or dictionary attacks. Fast and simple — commonly used as a first step on archived evidence.</a:t>
            </a:r>
            <a:endParaRPr lang="en-US" sz="780" dirty="0"/>
          </a:p>
        </p:txBody>
      </p:sp>
      <p:sp>
        <p:nvSpPr>
          <p:cNvPr id="40" name="Text 38"/>
          <p:cNvSpPr/>
          <p:nvPr/>
        </p:nvSpPr>
        <p:spPr>
          <a:xfrm>
            <a:off x="3273552" y="4370832"/>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Cracking encrypted ZIP archives found during disk analysis</a:t>
            </a:r>
            <a:endParaRPr lang="en-US" sz="750" dirty="0"/>
          </a:p>
        </p:txBody>
      </p:sp>
      <p:sp>
        <p:nvSpPr>
          <p:cNvPr id="41" name="Shape 39"/>
          <p:cNvSpPr/>
          <p:nvPr/>
        </p:nvSpPr>
        <p:spPr>
          <a:xfrm>
            <a:off x="6044184" y="3072384"/>
            <a:ext cx="2770632" cy="1682496"/>
          </a:xfrm>
          <a:prstGeom prst="rect">
            <a:avLst/>
          </a:prstGeom>
          <a:solidFill>
            <a:srgbClr val="FFFFFF"/>
          </a:solidFill>
          <a:ln w="9525">
            <a:solidFill>
              <a:srgbClr val="00B4D8"/>
            </a:solidFill>
            <a:prstDash val="solid"/>
          </a:ln>
          <a:effectLst>
            <a:outerShdw blurRad="101600" dist="25400" dir="8100000" algn="bl" rotWithShape="0">
              <a:srgbClr val="000000">
                <a:alpha val="25000"/>
              </a:srgbClr>
            </a:outerShdw>
          </a:effectLst>
        </p:spPr>
        <p:txBody>
          <a:bodyPr/>
          <a:lstStyle/>
          <a:p>
            <a:endParaRPr lang="en-SG"/>
          </a:p>
        </p:txBody>
      </p:sp>
      <p:sp>
        <p:nvSpPr>
          <p:cNvPr id="42" name="Shape 40"/>
          <p:cNvSpPr/>
          <p:nvPr/>
        </p:nvSpPr>
        <p:spPr>
          <a:xfrm>
            <a:off x="6044184" y="3072384"/>
            <a:ext cx="2770632" cy="64008"/>
          </a:xfrm>
          <a:prstGeom prst="rect">
            <a:avLst/>
          </a:prstGeom>
          <a:solidFill>
            <a:srgbClr val="F87171"/>
          </a:solidFill>
          <a:ln w="12700">
            <a:solidFill>
              <a:srgbClr val="F87171"/>
            </a:solidFill>
            <a:prstDash val="solid"/>
          </a:ln>
        </p:spPr>
        <p:txBody>
          <a:bodyPr/>
          <a:lstStyle/>
          <a:p>
            <a:endParaRPr lang="en-SG"/>
          </a:p>
        </p:txBody>
      </p:sp>
      <p:sp>
        <p:nvSpPr>
          <p:cNvPr id="43" name="Text 41"/>
          <p:cNvSpPr/>
          <p:nvPr/>
        </p:nvSpPr>
        <p:spPr>
          <a:xfrm>
            <a:off x="6135624" y="3182112"/>
            <a:ext cx="2587752" cy="292608"/>
          </a:xfrm>
          <a:prstGeom prst="rect">
            <a:avLst/>
          </a:prstGeom>
          <a:noFill/>
          <a:ln/>
        </p:spPr>
        <p:txBody>
          <a:bodyPr wrap="square" lIns="0" tIns="0" rIns="0" bIns="0" rtlCol="0" anchor="ctr"/>
          <a:lstStyle/>
          <a:p>
            <a:pPr marL="0" indent="0">
              <a:buNone/>
            </a:pPr>
            <a:r>
              <a:rPr lang="en-US" sz="1200" b="1" dirty="0">
                <a:solidFill>
                  <a:srgbClr val="F87171"/>
                </a:solidFill>
              </a:rPr>
              <a:t>📄 pdfcrack</a:t>
            </a:r>
            <a:endParaRPr lang="en-US" sz="1200" dirty="0"/>
          </a:p>
        </p:txBody>
      </p:sp>
      <p:sp>
        <p:nvSpPr>
          <p:cNvPr id="44" name="Shape 42"/>
          <p:cNvSpPr/>
          <p:nvPr/>
        </p:nvSpPr>
        <p:spPr>
          <a:xfrm>
            <a:off x="6135624" y="3493008"/>
            <a:ext cx="2587752" cy="201168"/>
          </a:xfrm>
          <a:prstGeom prst="rect">
            <a:avLst/>
          </a:prstGeom>
          <a:solidFill>
            <a:srgbClr val="FFFFFF"/>
          </a:solidFill>
          <a:ln w="6350">
            <a:solidFill>
              <a:srgbClr val="F87171"/>
            </a:solidFill>
            <a:prstDash val="solid"/>
          </a:ln>
        </p:spPr>
        <p:txBody>
          <a:bodyPr/>
          <a:lstStyle/>
          <a:p>
            <a:endParaRPr lang="en-SG"/>
          </a:p>
        </p:txBody>
      </p:sp>
      <p:sp>
        <p:nvSpPr>
          <p:cNvPr id="45" name="Text 43"/>
          <p:cNvSpPr/>
          <p:nvPr/>
        </p:nvSpPr>
        <p:spPr>
          <a:xfrm>
            <a:off x="6135624" y="3493008"/>
            <a:ext cx="2587752" cy="201168"/>
          </a:xfrm>
          <a:prstGeom prst="rect">
            <a:avLst/>
          </a:prstGeom>
          <a:noFill/>
          <a:ln/>
        </p:spPr>
        <p:txBody>
          <a:bodyPr wrap="square" lIns="0" tIns="0" rIns="0" bIns="0" rtlCol="0" anchor="ctr"/>
          <a:lstStyle/>
          <a:p>
            <a:pPr marL="0" indent="0" algn="ctr">
              <a:buNone/>
            </a:pPr>
            <a:r>
              <a:rPr lang="en-US" sz="750" b="1" dirty="0">
                <a:solidFill>
                  <a:srgbClr val="F87171"/>
                </a:solidFill>
              </a:rPr>
              <a:t>PDF Password Recovery</a:t>
            </a:r>
            <a:endParaRPr lang="en-US" sz="750" dirty="0"/>
          </a:p>
        </p:txBody>
      </p:sp>
      <p:sp>
        <p:nvSpPr>
          <p:cNvPr id="46" name="Text 44"/>
          <p:cNvSpPr/>
          <p:nvPr/>
        </p:nvSpPr>
        <p:spPr>
          <a:xfrm>
            <a:off x="6135624" y="3749040"/>
            <a:ext cx="2587752" cy="585216"/>
          </a:xfrm>
          <a:prstGeom prst="rect">
            <a:avLst/>
          </a:prstGeom>
          <a:noFill/>
          <a:ln/>
        </p:spPr>
        <p:txBody>
          <a:bodyPr wrap="square" lIns="0" tIns="0" rIns="0" bIns="0" rtlCol="0" anchor="ctr"/>
          <a:lstStyle/>
          <a:p>
            <a:pPr marL="0" indent="0">
              <a:buNone/>
            </a:pPr>
            <a:r>
              <a:rPr lang="en-US" sz="780" dirty="0">
                <a:solidFill>
                  <a:srgbClr val="1A1A2E"/>
                </a:solidFill>
              </a:rPr>
              <a:t>Command-line tool for recovering passwords from PDF documents protected with standard security handlers. Supports owner and user passwords. Useful when documents are key evidence in a case.</a:t>
            </a:r>
            <a:endParaRPr lang="en-US" sz="780" dirty="0"/>
          </a:p>
        </p:txBody>
      </p:sp>
      <p:sp>
        <p:nvSpPr>
          <p:cNvPr id="47" name="Text 45"/>
          <p:cNvSpPr/>
          <p:nvPr/>
        </p:nvSpPr>
        <p:spPr>
          <a:xfrm>
            <a:off x="6135624" y="4370832"/>
            <a:ext cx="2587752" cy="310896"/>
          </a:xfrm>
          <a:prstGeom prst="rect">
            <a:avLst/>
          </a:prstGeom>
          <a:noFill/>
          <a:ln/>
        </p:spPr>
        <p:txBody>
          <a:bodyPr wrap="square" lIns="0" tIns="0" rIns="0" bIns="0" rtlCol="0" anchor="ctr"/>
          <a:lstStyle/>
          <a:p>
            <a:pPr marL="0" indent="0">
              <a:buNone/>
            </a:pPr>
            <a:r>
              <a:rPr lang="en-US" sz="750" i="1" dirty="0">
                <a:solidFill>
                  <a:srgbClr val="475569"/>
                </a:solidFill>
              </a:rPr>
              <a:t>🔍 e.g. Unlocking a password-protected PDF contract in a fraud case</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01168"/>
          </a:xfrm>
          <a:prstGeom prst="rect">
            <a:avLst/>
          </a:prstGeom>
          <a:solidFill>
            <a:srgbClr val="00B4D8"/>
          </a:solidFill>
          <a:ln w="12700">
            <a:solidFill>
              <a:srgbClr val="00B4D8"/>
            </a:solidFill>
            <a:prstDash val="solid"/>
          </a:ln>
        </p:spPr>
        <p:txBody>
          <a:bodyPr/>
          <a:lstStyle/>
          <a:p>
            <a:endParaRPr lang="en-SG"/>
          </a:p>
        </p:txBody>
      </p:sp>
      <p:sp>
        <p:nvSpPr>
          <p:cNvPr id="3" name="Text 1"/>
          <p:cNvSpPr/>
          <p:nvPr/>
        </p:nvSpPr>
        <p:spPr>
          <a:xfrm>
            <a:off x="320040" y="256032"/>
            <a:ext cx="8503920" cy="292608"/>
          </a:xfrm>
          <a:prstGeom prst="rect">
            <a:avLst/>
          </a:prstGeom>
          <a:noFill/>
          <a:ln/>
        </p:spPr>
        <p:txBody>
          <a:bodyPr wrap="square" lIns="0" tIns="0" rIns="0" bIns="0" rtlCol="0" anchor="ctr"/>
          <a:lstStyle/>
          <a:p>
            <a:pPr marL="0" indent="0" algn="l">
              <a:buNone/>
            </a:pPr>
            <a:r>
              <a:rPr lang="en-US" sz="1000" b="1" kern="0" spc="500" dirty="0">
                <a:solidFill>
                  <a:srgbClr val="00B4D8"/>
                </a:solidFill>
              </a:rPr>
              <a:t>LESSON 4 — FULL SUMMARY</a:t>
            </a:r>
            <a:endParaRPr lang="en-US" sz="1000" dirty="0"/>
          </a:p>
        </p:txBody>
      </p:sp>
      <p:sp>
        <p:nvSpPr>
          <p:cNvPr id="4" name="Text 2"/>
          <p:cNvSpPr/>
          <p:nvPr/>
        </p:nvSpPr>
        <p:spPr>
          <a:xfrm>
            <a:off x="320040" y="548640"/>
            <a:ext cx="8503920" cy="475488"/>
          </a:xfrm>
          <a:prstGeom prst="rect">
            <a:avLst/>
          </a:prstGeom>
          <a:noFill/>
          <a:ln/>
        </p:spPr>
        <p:txBody>
          <a:bodyPr wrap="square" lIns="0" tIns="0" rIns="0" bIns="0" rtlCol="0" anchor="ctr"/>
          <a:lstStyle/>
          <a:p>
            <a:pPr marL="0" indent="0" algn="l">
              <a:buNone/>
            </a:pPr>
            <a:r>
              <a:rPr lang="en-US" sz="2600" b="1" dirty="0">
                <a:solidFill>
                  <a:srgbClr val="1A1A2E"/>
                </a:solidFill>
              </a:rPr>
              <a:t>Key Learning Points</a:t>
            </a:r>
            <a:endParaRPr lang="en-US" sz="2600" dirty="0"/>
          </a:p>
        </p:txBody>
      </p:sp>
      <p:sp>
        <p:nvSpPr>
          <p:cNvPr id="5" name="Shape 3"/>
          <p:cNvSpPr/>
          <p:nvPr/>
        </p:nvSpPr>
        <p:spPr>
          <a:xfrm>
            <a:off x="320040" y="1069848"/>
            <a:ext cx="8503920" cy="36576"/>
          </a:xfrm>
          <a:prstGeom prst="rect">
            <a:avLst/>
          </a:prstGeom>
          <a:solidFill>
            <a:srgbClr val="00B4D8"/>
          </a:solidFill>
          <a:ln w="12700">
            <a:solidFill>
              <a:srgbClr val="00B4D8"/>
            </a:solidFill>
            <a:prstDash val="solid"/>
          </a:ln>
        </p:spPr>
        <p:txBody>
          <a:bodyPr/>
          <a:lstStyle/>
          <a:p>
            <a:endParaRPr lang="en-SG"/>
          </a:p>
        </p:txBody>
      </p:sp>
      <p:sp>
        <p:nvSpPr>
          <p:cNvPr id="6" name="Shape 4"/>
          <p:cNvSpPr/>
          <p:nvPr/>
        </p:nvSpPr>
        <p:spPr>
          <a:xfrm>
            <a:off x="320040" y="1133856"/>
            <a:ext cx="4133088" cy="402336"/>
          </a:xfrm>
          <a:prstGeom prst="rect">
            <a:avLst/>
          </a:prstGeom>
          <a:solidFill>
            <a:srgbClr val="FFFFFF"/>
          </a:solidFill>
          <a:ln w="12700">
            <a:solidFill>
              <a:srgbClr val="FFFFFF"/>
            </a:solidFill>
            <a:prstDash val="solid"/>
          </a:ln>
        </p:spPr>
        <p:txBody>
          <a:bodyPr/>
          <a:lstStyle/>
          <a:p>
            <a:endParaRPr lang="en-SG"/>
          </a:p>
        </p:txBody>
      </p:sp>
      <p:sp>
        <p:nvSpPr>
          <p:cNvPr id="7" name="Shape 5"/>
          <p:cNvSpPr/>
          <p:nvPr/>
        </p:nvSpPr>
        <p:spPr>
          <a:xfrm>
            <a:off x="320040" y="1133856"/>
            <a:ext cx="347472" cy="402336"/>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320040" y="1133856"/>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01</a:t>
            </a:r>
            <a:endParaRPr lang="en-US" sz="900" dirty="0"/>
          </a:p>
        </p:txBody>
      </p:sp>
      <p:sp>
        <p:nvSpPr>
          <p:cNvPr id="9" name="Text 7"/>
          <p:cNvSpPr/>
          <p:nvPr/>
        </p:nvSpPr>
        <p:spPr>
          <a:xfrm>
            <a:off x="740664" y="1161288"/>
            <a:ext cx="3639312" cy="347472"/>
          </a:xfrm>
          <a:prstGeom prst="rect">
            <a:avLst/>
          </a:prstGeom>
          <a:noFill/>
          <a:ln/>
        </p:spPr>
        <p:txBody>
          <a:bodyPr wrap="square" lIns="0" tIns="0" rIns="0" bIns="0" rtlCol="0" anchor="ctr"/>
          <a:lstStyle/>
          <a:p>
            <a:pPr marL="0" indent="0">
              <a:buNone/>
            </a:pPr>
            <a:r>
              <a:rPr lang="en-US" sz="800" dirty="0">
                <a:solidFill>
                  <a:srgbClr val="1A1A2E"/>
                </a:solidFill>
              </a:rPr>
              <a:t>Investigations must be guided by clear objectives, legal constraints, data relevance, and time pressure before any analysis begins.</a:t>
            </a:r>
            <a:endParaRPr lang="en-US" sz="800" dirty="0"/>
          </a:p>
        </p:txBody>
      </p:sp>
      <p:sp>
        <p:nvSpPr>
          <p:cNvPr id="10" name="Shape 8"/>
          <p:cNvSpPr/>
          <p:nvPr/>
        </p:nvSpPr>
        <p:spPr>
          <a:xfrm>
            <a:off x="4690872" y="1133856"/>
            <a:ext cx="4133088" cy="402336"/>
          </a:xfrm>
          <a:prstGeom prst="rect">
            <a:avLst/>
          </a:prstGeom>
          <a:solidFill>
            <a:srgbClr val="FFFFFF"/>
          </a:solidFill>
          <a:ln w="12700">
            <a:solidFill>
              <a:srgbClr val="FFFFFF"/>
            </a:solidFill>
            <a:prstDash val="solid"/>
          </a:ln>
        </p:spPr>
        <p:txBody>
          <a:bodyPr/>
          <a:lstStyle/>
          <a:p>
            <a:endParaRPr lang="en-SG"/>
          </a:p>
        </p:txBody>
      </p:sp>
      <p:sp>
        <p:nvSpPr>
          <p:cNvPr id="11" name="Shape 9"/>
          <p:cNvSpPr/>
          <p:nvPr/>
        </p:nvSpPr>
        <p:spPr>
          <a:xfrm>
            <a:off x="4690872" y="1133856"/>
            <a:ext cx="347472" cy="402336"/>
          </a:xfrm>
          <a:prstGeom prst="rect">
            <a:avLst/>
          </a:prstGeom>
          <a:solidFill>
            <a:srgbClr val="F4A261"/>
          </a:solidFill>
          <a:ln w="12700">
            <a:solidFill>
              <a:srgbClr val="F4A261"/>
            </a:solidFill>
            <a:prstDash val="solid"/>
          </a:ln>
        </p:spPr>
        <p:txBody>
          <a:bodyPr/>
          <a:lstStyle/>
          <a:p>
            <a:endParaRPr lang="en-SG"/>
          </a:p>
        </p:txBody>
      </p:sp>
      <p:sp>
        <p:nvSpPr>
          <p:cNvPr id="12" name="Text 10"/>
          <p:cNvSpPr/>
          <p:nvPr/>
        </p:nvSpPr>
        <p:spPr>
          <a:xfrm>
            <a:off x="4690872" y="1133856"/>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02</a:t>
            </a:r>
            <a:endParaRPr lang="en-US" sz="900" dirty="0"/>
          </a:p>
        </p:txBody>
      </p:sp>
      <p:sp>
        <p:nvSpPr>
          <p:cNvPr id="13" name="Text 11"/>
          <p:cNvSpPr/>
          <p:nvPr/>
        </p:nvSpPr>
        <p:spPr>
          <a:xfrm>
            <a:off x="5111496" y="1161288"/>
            <a:ext cx="3639312" cy="347472"/>
          </a:xfrm>
          <a:prstGeom prst="rect">
            <a:avLst/>
          </a:prstGeom>
          <a:noFill/>
          <a:ln/>
        </p:spPr>
        <p:txBody>
          <a:bodyPr wrap="square" lIns="0" tIns="0" rIns="0" bIns="0" rtlCol="0" anchor="ctr"/>
          <a:lstStyle/>
          <a:p>
            <a:pPr marL="0" indent="0">
              <a:buNone/>
            </a:pPr>
            <a:r>
              <a:rPr lang="en-US" sz="800" dirty="0">
                <a:solidFill>
                  <a:srgbClr val="1A1A2E"/>
                </a:solidFill>
              </a:rPr>
              <a:t>A structured workflow — scope → collect → method → tools → analyse → report — ensures evidence remains legally admissible.</a:t>
            </a:r>
            <a:endParaRPr lang="en-US" sz="800" dirty="0"/>
          </a:p>
        </p:txBody>
      </p:sp>
      <p:sp>
        <p:nvSpPr>
          <p:cNvPr id="14" name="Shape 12"/>
          <p:cNvSpPr/>
          <p:nvPr/>
        </p:nvSpPr>
        <p:spPr>
          <a:xfrm>
            <a:off x="320040" y="1595628"/>
            <a:ext cx="4133088" cy="402336"/>
          </a:xfrm>
          <a:prstGeom prst="rect">
            <a:avLst/>
          </a:prstGeom>
          <a:solidFill>
            <a:srgbClr val="FFFFFF"/>
          </a:solidFill>
          <a:ln w="12700">
            <a:solidFill>
              <a:srgbClr val="FFFFFF"/>
            </a:solidFill>
            <a:prstDash val="solid"/>
          </a:ln>
        </p:spPr>
        <p:txBody>
          <a:bodyPr/>
          <a:lstStyle/>
          <a:p>
            <a:endParaRPr lang="en-SG"/>
          </a:p>
        </p:txBody>
      </p:sp>
      <p:sp>
        <p:nvSpPr>
          <p:cNvPr id="15" name="Shape 13"/>
          <p:cNvSpPr/>
          <p:nvPr/>
        </p:nvSpPr>
        <p:spPr>
          <a:xfrm>
            <a:off x="320040" y="1595628"/>
            <a:ext cx="347472" cy="402336"/>
          </a:xfrm>
          <a:prstGeom prst="rect">
            <a:avLst/>
          </a:prstGeom>
          <a:solidFill>
            <a:srgbClr val="2EC4B6"/>
          </a:solidFill>
          <a:ln w="12700">
            <a:solidFill>
              <a:srgbClr val="2EC4B6"/>
            </a:solidFill>
            <a:prstDash val="solid"/>
          </a:ln>
        </p:spPr>
        <p:txBody>
          <a:bodyPr/>
          <a:lstStyle/>
          <a:p>
            <a:endParaRPr lang="en-SG"/>
          </a:p>
        </p:txBody>
      </p:sp>
      <p:sp>
        <p:nvSpPr>
          <p:cNvPr id="16" name="Text 14"/>
          <p:cNvSpPr/>
          <p:nvPr/>
        </p:nvSpPr>
        <p:spPr>
          <a:xfrm>
            <a:off x="320040" y="1595628"/>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03</a:t>
            </a:r>
            <a:endParaRPr lang="en-US" sz="900" dirty="0"/>
          </a:p>
        </p:txBody>
      </p:sp>
      <p:sp>
        <p:nvSpPr>
          <p:cNvPr id="17" name="Text 15"/>
          <p:cNvSpPr/>
          <p:nvPr/>
        </p:nvSpPr>
        <p:spPr>
          <a:xfrm>
            <a:off x="740664" y="1623060"/>
            <a:ext cx="3639312" cy="347472"/>
          </a:xfrm>
          <a:prstGeom prst="rect">
            <a:avLst/>
          </a:prstGeom>
          <a:noFill/>
          <a:ln/>
        </p:spPr>
        <p:txBody>
          <a:bodyPr wrap="square" lIns="0" tIns="0" rIns="0" bIns="0" rtlCol="0" anchor="ctr"/>
          <a:lstStyle/>
          <a:p>
            <a:pPr marL="0" indent="0">
              <a:buNone/>
            </a:pPr>
            <a:r>
              <a:rPr lang="en-US" sz="800" dirty="0">
                <a:solidFill>
                  <a:srgbClr val="1A1A2E"/>
                </a:solidFill>
              </a:rPr>
              <a:t>FTK is a court-validated platform offering multi-file-system support, keyword search, bookmarking, KFF integration, and automated reporting.</a:t>
            </a:r>
            <a:endParaRPr lang="en-US" sz="800" dirty="0"/>
          </a:p>
        </p:txBody>
      </p:sp>
      <p:sp>
        <p:nvSpPr>
          <p:cNvPr id="18" name="Shape 16"/>
          <p:cNvSpPr/>
          <p:nvPr/>
        </p:nvSpPr>
        <p:spPr>
          <a:xfrm>
            <a:off x="4690872" y="1595628"/>
            <a:ext cx="4133088" cy="402336"/>
          </a:xfrm>
          <a:prstGeom prst="rect">
            <a:avLst/>
          </a:prstGeom>
          <a:solidFill>
            <a:srgbClr val="FFFFFF"/>
          </a:solidFill>
          <a:ln w="12700">
            <a:solidFill>
              <a:srgbClr val="FFFFFF"/>
            </a:solidFill>
            <a:prstDash val="solid"/>
          </a:ln>
        </p:spPr>
        <p:txBody>
          <a:bodyPr/>
          <a:lstStyle/>
          <a:p>
            <a:endParaRPr lang="en-SG"/>
          </a:p>
        </p:txBody>
      </p:sp>
      <p:sp>
        <p:nvSpPr>
          <p:cNvPr id="19" name="Shape 17"/>
          <p:cNvSpPr/>
          <p:nvPr/>
        </p:nvSpPr>
        <p:spPr>
          <a:xfrm>
            <a:off x="4690872" y="1595628"/>
            <a:ext cx="347472" cy="402336"/>
          </a:xfrm>
          <a:prstGeom prst="rect">
            <a:avLst/>
          </a:prstGeom>
          <a:solidFill>
            <a:srgbClr val="90E0EF"/>
          </a:solidFill>
          <a:ln w="12700">
            <a:solidFill>
              <a:srgbClr val="90E0EF"/>
            </a:solidFill>
            <a:prstDash val="solid"/>
          </a:ln>
        </p:spPr>
        <p:txBody>
          <a:bodyPr/>
          <a:lstStyle/>
          <a:p>
            <a:endParaRPr lang="en-SG"/>
          </a:p>
        </p:txBody>
      </p:sp>
      <p:sp>
        <p:nvSpPr>
          <p:cNvPr id="20" name="Text 18"/>
          <p:cNvSpPr/>
          <p:nvPr/>
        </p:nvSpPr>
        <p:spPr>
          <a:xfrm>
            <a:off x="4690872" y="1595628"/>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04</a:t>
            </a:r>
            <a:endParaRPr lang="en-US" sz="900" dirty="0"/>
          </a:p>
        </p:txBody>
      </p:sp>
      <p:sp>
        <p:nvSpPr>
          <p:cNvPr id="21" name="Text 19"/>
          <p:cNvSpPr/>
          <p:nvPr/>
        </p:nvSpPr>
        <p:spPr>
          <a:xfrm>
            <a:off x="5111496" y="1623060"/>
            <a:ext cx="3639312" cy="347472"/>
          </a:xfrm>
          <a:prstGeom prst="rect">
            <a:avLst/>
          </a:prstGeom>
          <a:noFill/>
          <a:ln/>
        </p:spPr>
        <p:txBody>
          <a:bodyPr wrap="square" lIns="0" tIns="0" rIns="0" bIns="0" rtlCol="0" anchor="ctr"/>
          <a:lstStyle/>
          <a:p>
            <a:pPr marL="0" indent="0">
              <a:buNone/>
            </a:pPr>
            <a:r>
              <a:rPr lang="en-US" sz="800" dirty="0">
                <a:solidFill>
                  <a:srgbClr val="1A1A2E"/>
                </a:solidFill>
              </a:rPr>
              <a:t>Hex-level analysis reveals true file types via magic bytes, exposes tampering, and enables recovery of deleted or hidden data.</a:t>
            </a:r>
            <a:endParaRPr lang="en-US" sz="800" dirty="0"/>
          </a:p>
        </p:txBody>
      </p:sp>
      <p:sp>
        <p:nvSpPr>
          <p:cNvPr id="22" name="Shape 20"/>
          <p:cNvSpPr/>
          <p:nvPr/>
        </p:nvSpPr>
        <p:spPr>
          <a:xfrm>
            <a:off x="320040" y="2057400"/>
            <a:ext cx="4133088" cy="402336"/>
          </a:xfrm>
          <a:prstGeom prst="rect">
            <a:avLst/>
          </a:prstGeom>
          <a:solidFill>
            <a:srgbClr val="FFFFFF"/>
          </a:solidFill>
          <a:ln w="12700">
            <a:solidFill>
              <a:srgbClr val="FFFFFF"/>
            </a:solidFill>
            <a:prstDash val="solid"/>
          </a:ln>
        </p:spPr>
        <p:txBody>
          <a:bodyPr/>
          <a:lstStyle/>
          <a:p>
            <a:endParaRPr lang="en-SG"/>
          </a:p>
        </p:txBody>
      </p:sp>
      <p:sp>
        <p:nvSpPr>
          <p:cNvPr id="23" name="Shape 21"/>
          <p:cNvSpPr/>
          <p:nvPr/>
        </p:nvSpPr>
        <p:spPr>
          <a:xfrm>
            <a:off x="320040" y="2057400"/>
            <a:ext cx="347472" cy="402336"/>
          </a:xfrm>
          <a:prstGeom prst="rect">
            <a:avLst/>
          </a:prstGeom>
          <a:solidFill>
            <a:srgbClr val="FFD166"/>
          </a:solidFill>
          <a:ln w="12700">
            <a:solidFill>
              <a:srgbClr val="FFD166"/>
            </a:solidFill>
            <a:prstDash val="solid"/>
          </a:ln>
        </p:spPr>
        <p:txBody>
          <a:bodyPr/>
          <a:lstStyle/>
          <a:p>
            <a:endParaRPr lang="en-SG"/>
          </a:p>
        </p:txBody>
      </p:sp>
      <p:sp>
        <p:nvSpPr>
          <p:cNvPr id="24" name="Text 22"/>
          <p:cNvSpPr/>
          <p:nvPr/>
        </p:nvSpPr>
        <p:spPr>
          <a:xfrm>
            <a:off x="320040" y="2057400"/>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05</a:t>
            </a:r>
            <a:endParaRPr lang="en-US" sz="900" dirty="0"/>
          </a:p>
        </p:txBody>
      </p:sp>
      <p:sp>
        <p:nvSpPr>
          <p:cNvPr id="25" name="Text 23"/>
          <p:cNvSpPr/>
          <p:nvPr/>
        </p:nvSpPr>
        <p:spPr>
          <a:xfrm>
            <a:off x="740664" y="2084832"/>
            <a:ext cx="3639312" cy="347472"/>
          </a:xfrm>
          <a:prstGeom prst="rect">
            <a:avLst/>
          </a:prstGeom>
          <a:noFill/>
          <a:ln/>
        </p:spPr>
        <p:txBody>
          <a:bodyPr wrap="square" lIns="0" tIns="0" rIns="0" bIns="0" rtlCol="0" anchor="ctr"/>
          <a:lstStyle/>
          <a:p>
            <a:pPr marL="0" indent="0">
              <a:buNone/>
            </a:pPr>
            <a:r>
              <a:rPr lang="en-US" sz="800" dirty="0">
                <a:solidFill>
                  <a:srgbClr val="1A1A2E"/>
                </a:solidFill>
              </a:rPr>
              <a:t>WinHex and HxD are key hex editor tools; analysts must be able to read offsets, byte values, and decoded ASCII from a hex view.</a:t>
            </a:r>
            <a:endParaRPr lang="en-US" sz="800" dirty="0"/>
          </a:p>
        </p:txBody>
      </p:sp>
      <p:sp>
        <p:nvSpPr>
          <p:cNvPr id="26" name="Shape 24"/>
          <p:cNvSpPr/>
          <p:nvPr/>
        </p:nvSpPr>
        <p:spPr>
          <a:xfrm>
            <a:off x="4690872" y="2057400"/>
            <a:ext cx="4133088" cy="402336"/>
          </a:xfrm>
          <a:prstGeom prst="rect">
            <a:avLst/>
          </a:prstGeom>
          <a:solidFill>
            <a:srgbClr val="FFFFFF"/>
          </a:solidFill>
          <a:ln w="12700">
            <a:solidFill>
              <a:srgbClr val="FFFFFF"/>
            </a:solidFill>
            <a:prstDash val="solid"/>
          </a:ln>
        </p:spPr>
        <p:txBody>
          <a:bodyPr/>
          <a:lstStyle/>
          <a:p>
            <a:endParaRPr lang="en-SG"/>
          </a:p>
        </p:txBody>
      </p:sp>
      <p:sp>
        <p:nvSpPr>
          <p:cNvPr id="27" name="Shape 25"/>
          <p:cNvSpPr/>
          <p:nvPr/>
        </p:nvSpPr>
        <p:spPr>
          <a:xfrm>
            <a:off x="4690872" y="2057400"/>
            <a:ext cx="347472" cy="402336"/>
          </a:xfrm>
          <a:prstGeom prst="rect">
            <a:avLst/>
          </a:prstGeom>
          <a:solidFill>
            <a:srgbClr val="2EC4B6"/>
          </a:solidFill>
          <a:ln w="12700">
            <a:solidFill>
              <a:srgbClr val="2EC4B6"/>
            </a:solidFill>
            <a:prstDash val="solid"/>
          </a:ln>
        </p:spPr>
        <p:txBody>
          <a:bodyPr/>
          <a:lstStyle/>
          <a:p>
            <a:endParaRPr lang="en-SG"/>
          </a:p>
        </p:txBody>
      </p:sp>
      <p:sp>
        <p:nvSpPr>
          <p:cNvPr id="28" name="Text 26"/>
          <p:cNvSpPr/>
          <p:nvPr/>
        </p:nvSpPr>
        <p:spPr>
          <a:xfrm>
            <a:off x="4690872" y="2057400"/>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06</a:t>
            </a:r>
            <a:endParaRPr lang="en-US" sz="900" dirty="0"/>
          </a:p>
        </p:txBody>
      </p:sp>
      <p:sp>
        <p:nvSpPr>
          <p:cNvPr id="29" name="Text 27"/>
          <p:cNvSpPr/>
          <p:nvPr/>
        </p:nvSpPr>
        <p:spPr>
          <a:xfrm>
            <a:off x="5111496" y="2084832"/>
            <a:ext cx="3639312" cy="347472"/>
          </a:xfrm>
          <a:prstGeom prst="rect">
            <a:avLst/>
          </a:prstGeom>
          <a:noFill/>
          <a:ln/>
        </p:spPr>
        <p:txBody>
          <a:bodyPr wrap="square" lIns="0" tIns="0" rIns="0" bIns="0" rtlCol="0" anchor="ctr"/>
          <a:lstStyle/>
          <a:p>
            <a:pPr marL="0" indent="0">
              <a:buNone/>
            </a:pPr>
            <a:r>
              <a:rPr lang="en-US" sz="800" dirty="0">
                <a:solidFill>
                  <a:srgbClr val="1A1A2E"/>
                </a:solidFill>
              </a:rPr>
              <a:t>KFF classifies files as Known Good, Known Bad, or Unknown — dramatically focusing investigative effort on suspicious content only.</a:t>
            </a:r>
            <a:endParaRPr lang="en-US" sz="800" dirty="0"/>
          </a:p>
        </p:txBody>
      </p:sp>
      <p:sp>
        <p:nvSpPr>
          <p:cNvPr id="30" name="Shape 28"/>
          <p:cNvSpPr/>
          <p:nvPr/>
        </p:nvSpPr>
        <p:spPr>
          <a:xfrm>
            <a:off x="320040" y="2519172"/>
            <a:ext cx="4133088" cy="402336"/>
          </a:xfrm>
          <a:prstGeom prst="rect">
            <a:avLst/>
          </a:prstGeom>
          <a:solidFill>
            <a:srgbClr val="FFFFFF"/>
          </a:solidFill>
          <a:ln w="12700">
            <a:solidFill>
              <a:srgbClr val="FFFFFF"/>
            </a:solidFill>
            <a:prstDash val="solid"/>
          </a:ln>
        </p:spPr>
        <p:txBody>
          <a:bodyPr/>
          <a:lstStyle/>
          <a:p>
            <a:endParaRPr lang="en-SG"/>
          </a:p>
        </p:txBody>
      </p:sp>
      <p:sp>
        <p:nvSpPr>
          <p:cNvPr id="31" name="Shape 29"/>
          <p:cNvSpPr/>
          <p:nvPr/>
        </p:nvSpPr>
        <p:spPr>
          <a:xfrm>
            <a:off x="320040" y="2519172"/>
            <a:ext cx="347472" cy="402336"/>
          </a:xfrm>
          <a:prstGeom prst="rect">
            <a:avLst/>
          </a:prstGeom>
          <a:solidFill>
            <a:srgbClr val="E63946"/>
          </a:solidFill>
          <a:ln w="12700">
            <a:solidFill>
              <a:srgbClr val="E63946"/>
            </a:solidFill>
            <a:prstDash val="solid"/>
          </a:ln>
        </p:spPr>
        <p:txBody>
          <a:bodyPr/>
          <a:lstStyle/>
          <a:p>
            <a:endParaRPr lang="en-SG"/>
          </a:p>
        </p:txBody>
      </p:sp>
      <p:sp>
        <p:nvSpPr>
          <p:cNvPr id="32" name="Text 30"/>
          <p:cNvSpPr/>
          <p:nvPr/>
        </p:nvSpPr>
        <p:spPr>
          <a:xfrm>
            <a:off x="320040" y="2519172"/>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07</a:t>
            </a:r>
            <a:endParaRPr lang="en-US" sz="900" dirty="0"/>
          </a:p>
        </p:txBody>
      </p:sp>
      <p:sp>
        <p:nvSpPr>
          <p:cNvPr id="33" name="Text 31"/>
          <p:cNvSpPr/>
          <p:nvPr/>
        </p:nvSpPr>
        <p:spPr>
          <a:xfrm>
            <a:off x="740664" y="2546604"/>
            <a:ext cx="3639312" cy="347472"/>
          </a:xfrm>
          <a:prstGeom prst="rect">
            <a:avLst/>
          </a:prstGeom>
          <a:noFill/>
          <a:ln/>
        </p:spPr>
        <p:txBody>
          <a:bodyPr wrap="square" lIns="0" tIns="0" rIns="0" bIns="0" rtlCol="0" anchor="ctr"/>
          <a:lstStyle/>
          <a:p>
            <a:pPr marL="0" indent="0">
              <a:buNone/>
            </a:pPr>
            <a:r>
              <a:rPr lang="en-US" sz="800" dirty="0">
                <a:solidFill>
                  <a:srgbClr val="1A1A2E"/>
                </a:solidFill>
              </a:rPr>
              <a:t>Data hiding encompasses extension/filename manipulation, disk manipulation (hidden partitions, bad clusters, HPA), steganography, and encryption.</a:t>
            </a:r>
            <a:endParaRPr lang="en-US" sz="800" dirty="0"/>
          </a:p>
        </p:txBody>
      </p:sp>
      <p:sp>
        <p:nvSpPr>
          <p:cNvPr id="34" name="Shape 32"/>
          <p:cNvSpPr/>
          <p:nvPr/>
        </p:nvSpPr>
        <p:spPr>
          <a:xfrm>
            <a:off x="4690872" y="2519172"/>
            <a:ext cx="4133088" cy="402336"/>
          </a:xfrm>
          <a:prstGeom prst="rect">
            <a:avLst/>
          </a:prstGeom>
          <a:solidFill>
            <a:srgbClr val="FFFFFF"/>
          </a:solidFill>
          <a:ln w="12700">
            <a:solidFill>
              <a:srgbClr val="FFFFFF"/>
            </a:solidFill>
            <a:prstDash val="solid"/>
          </a:ln>
        </p:spPr>
        <p:txBody>
          <a:bodyPr/>
          <a:lstStyle/>
          <a:p>
            <a:endParaRPr lang="en-SG"/>
          </a:p>
        </p:txBody>
      </p:sp>
      <p:sp>
        <p:nvSpPr>
          <p:cNvPr id="35" name="Shape 33"/>
          <p:cNvSpPr/>
          <p:nvPr/>
        </p:nvSpPr>
        <p:spPr>
          <a:xfrm>
            <a:off x="4690872" y="2519172"/>
            <a:ext cx="347472" cy="402336"/>
          </a:xfrm>
          <a:prstGeom prst="rect">
            <a:avLst/>
          </a:prstGeom>
          <a:solidFill>
            <a:srgbClr val="F4A261"/>
          </a:solidFill>
          <a:ln w="12700">
            <a:solidFill>
              <a:srgbClr val="F4A261"/>
            </a:solidFill>
            <a:prstDash val="solid"/>
          </a:ln>
        </p:spPr>
        <p:txBody>
          <a:bodyPr/>
          <a:lstStyle/>
          <a:p>
            <a:endParaRPr lang="en-SG"/>
          </a:p>
        </p:txBody>
      </p:sp>
      <p:sp>
        <p:nvSpPr>
          <p:cNvPr id="36" name="Text 34"/>
          <p:cNvSpPr/>
          <p:nvPr/>
        </p:nvSpPr>
        <p:spPr>
          <a:xfrm>
            <a:off x="4690872" y="2519172"/>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08</a:t>
            </a:r>
            <a:endParaRPr lang="en-US" sz="900" dirty="0"/>
          </a:p>
        </p:txBody>
      </p:sp>
      <p:sp>
        <p:nvSpPr>
          <p:cNvPr id="37" name="Text 35"/>
          <p:cNvSpPr/>
          <p:nvPr/>
        </p:nvSpPr>
        <p:spPr>
          <a:xfrm>
            <a:off x="5111496" y="2546604"/>
            <a:ext cx="3639312" cy="347472"/>
          </a:xfrm>
          <a:prstGeom prst="rect">
            <a:avLst/>
          </a:prstGeom>
          <a:noFill/>
          <a:ln/>
        </p:spPr>
        <p:txBody>
          <a:bodyPr wrap="square" lIns="0" tIns="0" rIns="0" bIns="0" rtlCol="0" anchor="ctr"/>
          <a:lstStyle/>
          <a:p>
            <a:pPr marL="0" indent="0">
              <a:buNone/>
            </a:pPr>
            <a:r>
              <a:rPr lang="en-US" sz="800" dirty="0">
                <a:solidFill>
                  <a:srgbClr val="1A1A2E"/>
                </a:solidFill>
              </a:rPr>
              <a:t>Steganography conceals data inside carrier files (images, audio) using techniques like LSB substitution — detectable via statistical analysis.</a:t>
            </a:r>
            <a:endParaRPr lang="en-US" sz="800" dirty="0"/>
          </a:p>
        </p:txBody>
      </p:sp>
      <p:sp>
        <p:nvSpPr>
          <p:cNvPr id="38" name="Shape 36"/>
          <p:cNvSpPr/>
          <p:nvPr/>
        </p:nvSpPr>
        <p:spPr>
          <a:xfrm>
            <a:off x="320040" y="2980944"/>
            <a:ext cx="4133088" cy="402336"/>
          </a:xfrm>
          <a:prstGeom prst="rect">
            <a:avLst/>
          </a:prstGeom>
          <a:solidFill>
            <a:srgbClr val="FFFFFF"/>
          </a:solidFill>
          <a:ln w="12700">
            <a:solidFill>
              <a:srgbClr val="FFFFFF"/>
            </a:solidFill>
            <a:prstDash val="solid"/>
          </a:ln>
        </p:spPr>
        <p:txBody>
          <a:bodyPr/>
          <a:lstStyle/>
          <a:p>
            <a:endParaRPr lang="en-SG"/>
          </a:p>
        </p:txBody>
      </p:sp>
      <p:sp>
        <p:nvSpPr>
          <p:cNvPr id="39" name="Shape 37"/>
          <p:cNvSpPr/>
          <p:nvPr/>
        </p:nvSpPr>
        <p:spPr>
          <a:xfrm>
            <a:off x="320040" y="2980944"/>
            <a:ext cx="347472" cy="402336"/>
          </a:xfrm>
          <a:prstGeom prst="rect">
            <a:avLst/>
          </a:prstGeom>
          <a:solidFill>
            <a:srgbClr val="90E0EF"/>
          </a:solidFill>
          <a:ln w="12700">
            <a:solidFill>
              <a:srgbClr val="90E0EF"/>
            </a:solidFill>
            <a:prstDash val="solid"/>
          </a:ln>
        </p:spPr>
        <p:txBody>
          <a:bodyPr/>
          <a:lstStyle/>
          <a:p>
            <a:endParaRPr lang="en-SG"/>
          </a:p>
        </p:txBody>
      </p:sp>
      <p:sp>
        <p:nvSpPr>
          <p:cNvPr id="40" name="Text 38"/>
          <p:cNvSpPr/>
          <p:nvPr/>
        </p:nvSpPr>
        <p:spPr>
          <a:xfrm>
            <a:off x="320040" y="2980944"/>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09</a:t>
            </a:r>
            <a:endParaRPr lang="en-US" sz="900" dirty="0"/>
          </a:p>
        </p:txBody>
      </p:sp>
      <p:sp>
        <p:nvSpPr>
          <p:cNvPr id="41" name="Text 39"/>
          <p:cNvSpPr/>
          <p:nvPr/>
        </p:nvSpPr>
        <p:spPr>
          <a:xfrm>
            <a:off x="740664" y="3008376"/>
            <a:ext cx="3639312" cy="347472"/>
          </a:xfrm>
          <a:prstGeom prst="rect">
            <a:avLst/>
          </a:prstGeom>
          <a:noFill/>
          <a:ln/>
        </p:spPr>
        <p:txBody>
          <a:bodyPr wrap="square" lIns="0" tIns="0" rIns="0" bIns="0" rtlCol="0" anchor="ctr"/>
          <a:lstStyle/>
          <a:p>
            <a:pPr marL="0" indent="0">
              <a:buNone/>
            </a:pPr>
            <a:r>
              <a:rPr lang="en-US" sz="800" dirty="0">
                <a:solidFill>
                  <a:srgbClr val="1A1A2E"/>
                </a:solidFill>
              </a:rPr>
              <a:t>AES and RSA encryption are used by attackers to render files and disks unreadable; high entropy is a key indicator of encrypted content.</a:t>
            </a:r>
            <a:endParaRPr lang="en-US" sz="800" dirty="0"/>
          </a:p>
        </p:txBody>
      </p:sp>
      <p:sp>
        <p:nvSpPr>
          <p:cNvPr id="42" name="Shape 40"/>
          <p:cNvSpPr/>
          <p:nvPr/>
        </p:nvSpPr>
        <p:spPr>
          <a:xfrm>
            <a:off x="4690872" y="2980944"/>
            <a:ext cx="4133088" cy="402336"/>
          </a:xfrm>
          <a:prstGeom prst="rect">
            <a:avLst/>
          </a:prstGeom>
          <a:solidFill>
            <a:srgbClr val="FFFFFF"/>
          </a:solidFill>
          <a:ln w="12700">
            <a:solidFill>
              <a:srgbClr val="FFFFFF"/>
            </a:solidFill>
            <a:prstDash val="solid"/>
          </a:ln>
        </p:spPr>
        <p:txBody>
          <a:bodyPr/>
          <a:lstStyle/>
          <a:p>
            <a:endParaRPr lang="en-SG"/>
          </a:p>
        </p:txBody>
      </p:sp>
      <p:sp>
        <p:nvSpPr>
          <p:cNvPr id="43" name="Shape 41"/>
          <p:cNvSpPr/>
          <p:nvPr/>
        </p:nvSpPr>
        <p:spPr>
          <a:xfrm>
            <a:off x="4690872" y="2980944"/>
            <a:ext cx="347472" cy="402336"/>
          </a:xfrm>
          <a:prstGeom prst="rect">
            <a:avLst/>
          </a:prstGeom>
          <a:solidFill>
            <a:srgbClr val="A855F7"/>
          </a:solidFill>
          <a:ln w="12700">
            <a:solidFill>
              <a:srgbClr val="A855F7"/>
            </a:solidFill>
            <a:prstDash val="solid"/>
          </a:ln>
        </p:spPr>
        <p:txBody>
          <a:bodyPr/>
          <a:lstStyle/>
          <a:p>
            <a:endParaRPr lang="en-SG"/>
          </a:p>
        </p:txBody>
      </p:sp>
      <p:sp>
        <p:nvSpPr>
          <p:cNvPr id="44" name="Text 42"/>
          <p:cNvSpPr/>
          <p:nvPr/>
        </p:nvSpPr>
        <p:spPr>
          <a:xfrm>
            <a:off x="4690872" y="2980944"/>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10</a:t>
            </a:r>
            <a:endParaRPr lang="en-US" sz="900" dirty="0"/>
          </a:p>
        </p:txBody>
      </p:sp>
      <p:sp>
        <p:nvSpPr>
          <p:cNvPr id="45" name="Text 43"/>
          <p:cNvSpPr/>
          <p:nvPr/>
        </p:nvSpPr>
        <p:spPr>
          <a:xfrm>
            <a:off x="5111496" y="3008376"/>
            <a:ext cx="3639312" cy="347472"/>
          </a:xfrm>
          <a:prstGeom prst="rect">
            <a:avLst/>
          </a:prstGeom>
          <a:noFill/>
          <a:ln/>
        </p:spPr>
        <p:txBody>
          <a:bodyPr wrap="square" lIns="0" tIns="0" rIns="0" bIns="0" rtlCol="0" anchor="ctr"/>
          <a:lstStyle/>
          <a:p>
            <a:pPr marL="0" indent="0">
              <a:buNone/>
            </a:pPr>
            <a:r>
              <a:rPr lang="en-US" sz="800" dirty="0">
                <a:solidFill>
                  <a:srgbClr val="1A1A2E"/>
                </a:solidFill>
              </a:rPr>
              <a:t>Password Recovery is essential when investigators encounter protected files, encrypted volumes, or locked systems containing potential evidence.</a:t>
            </a:r>
            <a:endParaRPr lang="en-US" sz="800" dirty="0"/>
          </a:p>
        </p:txBody>
      </p:sp>
      <p:sp>
        <p:nvSpPr>
          <p:cNvPr id="46" name="Shape 44"/>
          <p:cNvSpPr/>
          <p:nvPr/>
        </p:nvSpPr>
        <p:spPr>
          <a:xfrm>
            <a:off x="320040" y="3442716"/>
            <a:ext cx="4133088" cy="402336"/>
          </a:xfrm>
          <a:prstGeom prst="rect">
            <a:avLst/>
          </a:prstGeom>
          <a:solidFill>
            <a:srgbClr val="FFFFFF"/>
          </a:solidFill>
          <a:ln w="12700">
            <a:solidFill>
              <a:srgbClr val="FFFFFF"/>
            </a:solidFill>
            <a:prstDash val="solid"/>
          </a:ln>
        </p:spPr>
        <p:txBody>
          <a:bodyPr/>
          <a:lstStyle/>
          <a:p>
            <a:endParaRPr lang="en-SG"/>
          </a:p>
        </p:txBody>
      </p:sp>
      <p:sp>
        <p:nvSpPr>
          <p:cNvPr id="47" name="Shape 45"/>
          <p:cNvSpPr/>
          <p:nvPr/>
        </p:nvSpPr>
        <p:spPr>
          <a:xfrm>
            <a:off x="320040" y="3442716"/>
            <a:ext cx="347472" cy="402336"/>
          </a:xfrm>
          <a:prstGeom prst="rect">
            <a:avLst/>
          </a:prstGeom>
          <a:solidFill>
            <a:srgbClr val="FFD166"/>
          </a:solidFill>
          <a:ln w="12700">
            <a:solidFill>
              <a:srgbClr val="FFD166"/>
            </a:solidFill>
            <a:prstDash val="solid"/>
          </a:ln>
        </p:spPr>
        <p:txBody>
          <a:bodyPr/>
          <a:lstStyle/>
          <a:p>
            <a:endParaRPr lang="en-SG"/>
          </a:p>
        </p:txBody>
      </p:sp>
      <p:sp>
        <p:nvSpPr>
          <p:cNvPr id="48" name="Text 46"/>
          <p:cNvSpPr/>
          <p:nvPr/>
        </p:nvSpPr>
        <p:spPr>
          <a:xfrm>
            <a:off x="320040" y="3442716"/>
            <a:ext cx="347472" cy="402336"/>
          </a:xfrm>
          <a:prstGeom prst="rect">
            <a:avLst/>
          </a:prstGeom>
          <a:noFill/>
          <a:ln/>
        </p:spPr>
        <p:txBody>
          <a:bodyPr wrap="square" lIns="0" tIns="0" rIns="0" bIns="0" rtlCol="0" anchor="ctr"/>
          <a:lstStyle/>
          <a:p>
            <a:pPr marL="0" indent="0" algn="ctr">
              <a:buNone/>
            </a:pPr>
            <a:r>
              <a:rPr lang="en-US" sz="900" b="1" dirty="0">
                <a:solidFill>
                  <a:srgbClr val="0D1B2A"/>
                </a:solidFill>
              </a:rPr>
              <a:t>11</a:t>
            </a:r>
            <a:endParaRPr lang="en-US" sz="900" dirty="0"/>
          </a:p>
        </p:txBody>
      </p:sp>
      <p:sp>
        <p:nvSpPr>
          <p:cNvPr id="49" name="Text 47"/>
          <p:cNvSpPr/>
          <p:nvPr/>
        </p:nvSpPr>
        <p:spPr>
          <a:xfrm>
            <a:off x="740664" y="3470148"/>
            <a:ext cx="3639312" cy="347472"/>
          </a:xfrm>
          <a:prstGeom prst="rect">
            <a:avLst/>
          </a:prstGeom>
          <a:noFill/>
          <a:ln/>
        </p:spPr>
        <p:txBody>
          <a:bodyPr wrap="square" lIns="0" tIns="0" rIns="0" bIns="0" rtlCol="0" anchor="ctr"/>
          <a:lstStyle/>
          <a:p>
            <a:pPr marL="0" indent="0">
              <a:buNone/>
            </a:pPr>
            <a:r>
              <a:rPr lang="en-US" sz="800" dirty="0">
                <a:solidFill>
                  <a:srgbClr val="1A1A2E"/>
                </a:solidFill>
              </a:rPr>
              <a:t>Dictionary attacks, brute force, and suspect profiling are three core recovery techniques — supported by tools such as Hashcat, John the Ripper, and Ophcrack.</a:t>
            </a:r>
            <a:endParaRPr lang="en-US" sz="800" dirty="0"/>
          </a:p>
        </p:txBody>
      </p:sp>
      <p:sp>
        <p:nvSpPr>
          <p:cNvPr id="52" name="Text 50"/>
          <p:cNvSpPr/>
          <p:nvPr/>
        </p:nvSpPr>
        <p:spPr>
          <a:xfrm>
            <a:off x="5394960" y="4818888"/>
            <a:ext cx="3429000" cy="329184"/>
          </a:xfrm>
          <a:prstGeom prst="rect">
            <a:avLst/>
          </a:prstGeom>
          <a:noFill/>
          <a:ln/>
        </p:spPr>
        <p:txBody>
          <a:bodyPr wrap="square" lIns="0" tIns="0" rIns="0" bIns="0" rtlCol="0" anchor="ctr"/>
          <a:lstStyle/>
          <a:p>
            <a:pPr marL="0" indent="0" algn="r">
              <a:buNone/>
            </a:pPr>
            <a:r>
              <a:rPr lang="en-US" sz="850" i="1" dirty="0">
                <a:solidFill>
                  <a:srgbClr val="475569"/>
                </a:solidFill>
              </a:rPr>
              <a:t>Next: Lesson 5 — Mobile Device Forensics &amp; Evidence Acquisition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Props1.xml><?xml version="1.0" encoding="utf-8"?>
<ds:datastoreItem xmlns:ds="http://schemas.openxmlformats.org/officeDocument/2006/customXml" ds:itemID="{2C6A6B1A-F0AA-476B-8F9C-DE617A20556E}">
  <ds:schemaRefs>
    <ds:schemaRef ds:uri="http://schemas.microsoft.com/sharepoint/v3/contenttype/forms"/>
  </ds:schemaRefs>
</ds:datastoreItem>
</file>

<file path=customXml/itemProps2.xml><?xml version="1.0" encoding="utf-8"?>
<ds:datastoreItem xmlns:ds="http://schemas.openxmlformats.org/officeDocument/2006/customXml" ds:itemID="{D7C27CEF-EFDE-4706-9420-68834DDBDC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318d02-235f-4db9-ad34-20bb5fcc8063"/>
    <ds:schemaRef ds:uri="2732436f-90ae-4a0f-88e2-b128265cf4b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2C6422-0141-4240-B01C-3A77808F473C}">
  <ds:schemaRefs>
    <ds:schemaRef ds:uri="http://schemas.microsoft.com/office/2006/documentManagement/types"/>
    <ds:schemaRef ds:uri="http://schemas.microsoft.com/office/2006/metadata/properties"/>
    <ds:schemaRef ds:uri="http://schemas.microsoft.com/sharepoint/v3"/>
    <ds:schemaRef ds:uri="http://purl.org/dc/dcmitype/"/>
    <ds:schemaRef ds:uri="http://purl.org/dc/elements/1.1/"/>
    <ds:schemaRef ds:uri="http://purl.org/dc/terms/"/>
    <ds:schemaRef ds:uri="http://schemas.microsoft.com/office/infopath/2007/PartnerControls"/>
    <ds:schemaRef ds:uri="http://schemas.openxmlformats.org/package/2006/metadata/core-properties"/>
    <ds:schemaRef ds:uri="3e3fafd7-318f-4e4d-809b-9691c39d9c6f"/>
    <ds:schemaRef ds:uri="http://www.w3.org/XML/1998/namespace"/>
    <ds:schemaRef ds:uri="2732436f-90ae-4a0f-88e2-b128265cf4b3"/>
    <ds:schemaRef ds:uri="4b318d02-235f-4db9-ad34-20bb5fcc8063"/>
  </ds:schemaRefs>
</ds:datastoreItem>
</file>

<file path=docProps/app.xml><?xml version="1.0" encoding="utf-8"?>
<Properties xmlns="http://schemas.openxmlformats.org/officeDocument/2006/extended-properties" xmlns:vt="http://schemas.openxmlformats.org/officeDocument/2006/docPropsVTypes">
  <TotalTime>7</TotalTime>
  <Words>4523</Words>
  <Application>Microsoft Office PowerPoint</Application>
  <PresentationFormat>On-screen Show (16:9)</PresentationFormat>
  <Paragraphs>548</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Digital Forensics Course</dc:creator>
  <cp:lastModifiedBy>Shaun TAN (TP)</cp:lastModifiedBy>
  <cp:revision>4</cp:revision>
  <dcterms:created xsi:type="dcterms:W3CDTF">2026-03-12T07:00:18Z</dcterms:created>
  <dcterms:modified xsi:type="dcterms:W3CDTF">2026-04-13T14:13:28Z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2026-04-09T02:51:38Z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cabdf678-f273-48d3-ae10-0a87a66ebd0f</vt:lpwstr>
  </property>
  <property fmtid="{D5CDD505-2E9C-101B-9397-08002B2CF9AE}" pid="9" name="MSIP_Label_d528611d-fe69-484f-b56b-0db8a0d79612_ContentBits">
    <vt:lpwstr>0</vt:lpwstr>
  </property>
  <property fmtid="{D5CDD505-2E9C-101B-9397-08002B2CF9AE}" pid="10" name="MSIP_Label_d528611d-fe69-484f-b56b-0db8a0d79612_Tag">
    <vt:lpwstr>10, 0, 1, 1</vt:lpwstr>
  </property>
  <property fmtid="{D5CDD505-2E9C-101B-9397-08002B2CF9AE}" pid="11" name="Order">
    <vt:r8>160800</vt:r8>
  </property>
  <property fmtid="{D5CDD505-2E9C-101B-9397-08002B2CF9AE}" pid="12" name="ComplianceAssetId">
    <vt:lpwstr/>
  </property>
  <property fmtid="{D5CDD505-2E9C-101B-9397-08002B2CF9AE}" pid="13" name="_ExtendedDescription">
    <vt:lpwstr/>
  </property>
  <property fmtid="{D5CDD505-2E9C-101B-9397-08002B2CF9AE}" pid="14" name="TriggerFlowInfo">
    <vt:lpwstr/>
  </property>
  <property fmtid="{D5CDD505-2E9C-101B-9397-08002B2CF9AE}" pid="15" name="MediaServiceImageTags">
    <vt:lpwstr/>
  </property>
</Properties>
</file>