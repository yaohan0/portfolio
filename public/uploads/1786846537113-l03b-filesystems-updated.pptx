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wdp" ContentType="image/vnd.ms-photo"/>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media/image25.svg" ContentType="image/svg+xml"/>
  <Override PartName="/ppt/media/image27.svg" ContentType="image/svg+xml"/>
  <Override PartName="/ppt/media/image2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0" r:id="rId3"/>
  </p:sldMasterIdLst>
  <p:notesMasterIdLst>
    <p:notesMasterId r:id="rId5"/>
  </p:notesMasterIdLst>
  <p:sldIdLst>
    <p:sldId id="313" r:id="rId4"/>
    <p:sldId id="2490" r:id="rId6"/>
    <p:sldId id="2481" r:id="rId7"/>
    <p:sldId id="314" r:id="rId8"/>
    <p:sldId id="315" r:id="rId9"/>
    <p:sldId id="317" r:id="rId10"/>
    <p:sldId id="256" r:id="rId11"/>
    <p:sldId id="257" r:id="rId12"/>
    <p:sldId id="258" r:id="rId13"/>
    <p:sldId id="259" r:id="rId14"/>
    <p:sldId id="299" r:id="rId15"/>
    <p:sldId id="260" r:id="rId16"/>
    <p:sldId id="261" r:id="rId17"/>
    <p:sldId id="262" r:id="rId18"/>
    <p:sldId id="263" r:id="rId19"/>
    <p:sldId id="264" r:id="rId20"/>
    <p:sldId id="265" r:id="rId21"/>
    <p:sldId id="300" r:id="rId22"/>
    <p:sldId id="266" r:id="rId23"/>
    <p:sldId id="303" r:id="rId24"/>
    <p:sldId id="267" r:id="rId25"/>
    <p:sldId id="268" r:id="rId26"/>
    <p:sldId id="309" r:id="rId27"/>
    <p:sldId id="269" r:id="rId28"/>
    <p:sldId id="308" r:id="rId29"/>
    <p:sldId id="270" r:id="rId30"/>
    <p:sldId id="271" r:id="rId31"/>
    <p:sldId id="272" r:id="rId32"/>
    <p:sldId id="310" r:id="rId33"/>
    <p:sldId id="311" r:id="rId34"/>
    <p:sldId id="304" r:id="rId35"/>
    <p:sldId id="305" r:id="rId36"/>
    <p:sldId id="306" r:id="rId37"/>
    <p:sldId id="312" r:id="rId38"/>
    <p:sldId id="302" r:id="rId39"/>
    <p:sldId id="277" r:id="rId40"/>
    <p:sldId id="278" r:id="rId41"/>
    <p:sldId id="279" r:id="rId42"/>
    <p:sldId id="280" r:id="rId43"/>
    <p:sldId id="281" r:id="rId44"/>
    <p:sldId id="282" r:id="rId45"/>
    <p:sldId id="283" r:id="rId46"/>
    <p:sldId id="284" r:id="rId47"/>
    <p:sldId id="285" r:id="rId48"/>
    <p:sldId id="301" r:id="rId49"/>
    <p:sldId id="286" r:id="rId50"/>
    <p:sldId id="287" r:id="rId51"/>
    <p:sldId id="288" r:id="rId52"/>
    <p:sldId id="289" r:id="rId53"/>
    <p:sldId id="290" r:id="rId54"/>
    <p:sldId id="291" r:id="rId55"/>
    <p:sldId id="292" r:id="rId56"/>
    <p:sldId id="293" r:id="rId57"/>
    <p:sldId id="294" r:id="rId58"/>
    <p:sldId id="295" r:id="rId59"/>
    <p:sldId id="296" r:id="rId60"/>
    <p:sldId id="297" r:id="rId61"/>
    <p:sldId id="298" r:id="rId6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6" autoAdjust="0"/>
    <p:restoredTop sz="94610"/>
  </p:normalViewPr>
  <p:slideViewPr>
    <p:cSldViewPr snapToGrid="0" snapToObjects="1">
      <p:cViewPr varScale="1">
        <p:scale>
          <a:sx n="135" d="100"/>
          <a:sy n="135" d="100"/>
        </p:scale>
        <p:origin x="960" y="3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8" Type="http://schemas.openxmlformats.org/officeDocument/2006/relationships/customXml" Target="../customXml/item3.xml"/><Relationship Id="rId67" Type="http://schemas.openxmlformats.org/officeDocument/2006/relationships/customXml" Target="../customXml/item2.xml"/><Relationship Id="rId66" Type="http://schemas.openxmlformats.org/officeDocument/2006/relationships/customXml" Target="../customXml/item1.xml"/><Relationship Id="rId65" Type="http://schemas.openxmlformats.org/officeDocument/2006/relationships/tableStyles" Target="tableStyles.xml"/><Relationship Id="rId64" Type="http://schemas.openxmlformats.org/officeDocument/2006/relationships/viewProps" Target="viewProps.xml"/><Relationship Id="rId63" Type="http://schemas.openxmlformats.org/officeDocument/2006/relationships/presProps" Target="presProps.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iagrams/_rels/data1.xml.rels><?xml version="1.0" encoding="UTF-8" standalone="yes"?>
<Relationships xmlns="http://schemas.openxmlformats.org/package/2006/relationships"><Relationship Id="rId2" Type="http://schemas.openxmlformats.org/officeDocument/2006/relationships/image" Target="../media/image25.svg"/><Relationship Id="rId1" Type="http://schemas.openxmlformats.org/officeDocument/2006/relationships/image" Target="../media/image24.png"/></Relationships>
</file>

<file path=ppt/diagrams/_rels/data2.xml.rels><?xml version="1.0" encoding="UTF-8" standalone="yes"?>
<Relationships xmlns="http://schemas.openxmlformats.org/package/2006/relationships"><Relationship Id="rId4" Type="http://schemas.openxmlformats.org/officeDocument/2006/relationships/image" Target="../media/image29.svg"/><Relationship Id="rId3" Type="http://schemas.openxmlformats.org/officeDocument/2006/relationships/image" Target="../media/image28.png"/><Relationship Id="rId2" Type="http://schemas.openxmlformats.org/officeDocument/2006/relationships/image" Target="../media/image27.svg"/><Relationship Id="rId1" Type="http://schemas.openxmlformats.org/officeDocument/2006/relationships/image" Target="../media/image26.png"/></Relationships>
</file>

<file path=ppt/diagrams/_rels/drawing1.xml.rels><?xml version="1.0" encoding="UTF-8" standalone="yes"?>
<Relationships xmlns="http://schemas.openxmlformats.org/package/2006/relationships"><Relationship Id="rId2" Type="http://schemas.openxmlformats.org/officeDocument/2006/relationships/image" Target="../media/image25.svg"/><Relationship Id="rId1" Type="http://schemas.openxmlformats.org/officeDocument/2006/relationships/image" Target="../media/image24.png"/></Relationships>
</file>

<file path=ppt/diagrams/_rels/drawing2.xml.rels><?xml version="1.0" encoding="UTF-8" standalone="yes"?>
<Relationships xmlns="http://schemas.openxmlformats.org/package/2006/relationships"><Relationship Id="rId4" Type="http://schemas.openxmlformats.org/officeDocument/2006/relationships/image" Target="../media/image29.svg"/><Relationship Id="rId3" Type="http://schemas.openxmlformats.org/officeDocument/2006/relationships/image" Target="../media/image28.png"/><Relationship Id="rId2" Type="http://schemas.openxmlformats.org/officeDocument/2006/relationships/image" Target="../media/image27.svg"/><Relationship Id="rId1" Type="http://schemas.openxmlformats.org/officeDocument/2006/relationships/image" Target="../media/image26.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113D02F7-F0AD-42B8-A9CA-EEDA10BC89E9}" type="doc">
      <dgm:prSet loTypeId="list" loCatId="list" qsTypeId="urn:microsoft.com/office/officeart/2005/8/quickstyle/simple1" qsCatId="simple" csTypeId="urn:microsoft.com/office/officeart/2005/8/colors/accent1_2" csCatId="accent1" phldr="1"/>
      <dgm:spPr/>
      <dgm:t>
        <a:bodyPr/>
        <a:lstStyle/>
        <a:p>
          <a:endParaRPr lang="en-SG"/>
        </a:p>
      </dgm:t>
    </dgm:pt>
    <dgm:pt modelId="{2E4957F7-7208-482F-8EF6-720F333A8438}">
      <dgm:prSet phldrT="[Text]"/>
      <dgm:spPr/>
      <dgm:t>
        <a:bodyPr lIns="432000"/>
        <a:lstStyle/>
        <a:p>
          <a:r>
            <a:rPr lang="en-US" dirty="0"/>
            <a:t>Directory entry: </a:t>
          </a:r>
          <a:endParaRPr lang="en-SG" dirty="0"/>
        </a:p>
      </dgm:t>
    </dgm:pt>
    <dgm:pt modelId="{23DFE57A-8657-4D05-B03D-7BFE1177B1E0}" cxnId="{41573CA5-2010-46E5-97F3-ED72139664F9}" type="parTrans">
      <dgm:prSet/>
      <dgm:spPr/>
      <dgm:t>
        <a:bodyPr/>
        <a:lstStyle/>
        <a:p>
          <a:endParaRPr lang="en-SG"/>
        </a:p>
      </dgm:t>
    </dgm:pt>
    <dgm:pt modelId="{856B6312-2C44-441C-962A-17B805D3F5C9}" cxnId="{41573CA5-2010-46E5-97F3-ED72139664F9}" type="sibTrans">
      <dgm:prSet/>
      <dgm:spPr/>
      <dgm:t>
        <a:bodyPr/>
        <a:lstStyle/>
        <a:p>
          <a:endParaRPr lang="en-SG"/>
        </a:p>
      </dgm:t>
    </dgm:pt>
    <dgm:pt modelId="{5160FC35-2646-497E-91BC-CD5A21D22370}">
      <dgm:prSet/>
      <dgm:spPr/>
      <dgm:t>
        <a:bodyPr lIns="432000"/>
        <a:lstStyle/>
        <a:p>
          <a:r>
            <a:rPr lang="en-US" dirty="0"/>
            <a:t>Accessed, modified, creation time in directory entry</a:t>
          </a:r>
        </a:p>
      </dgm:t>
    </dgm:pt>
    <dgm:pt modelId="{92146EAD-D8F8-46AC-AFAE-D1883A527135}" cxnId="{391C0A1C-470F-405B-97B0-B28505536696}" type="parTrans">
      <dgm:prSet/>
      <dgm:spPr/>
      <dgm:t>
        <a:bodyPr/>
        <a:lstStyle/>
        <a:p>
          <a:endParaRPr lang="en-SG"/>
        </a:p>
      </dgm:t>
    </dgm:pt>
    <dgm:pt modelId="{16C6FBD0-68DF-4D71-8AA4-903C3C2BAAA2}" cxnId="{391C0A1C-470F-405B-97B0-B28505536696}" type="sibTrans">
      <dgm:prSet/>
      <dgm:spPr/>
      <dgm:t>
        <a:bodyPr/>
        <a:lstStyle/>
        <a:p>
          <a:endParaRPr lang="en-SG"/>
        </a:p>
      </dgm:t>
    </dgm:pt>
    <dgm:pt modelId="{54300FCC-8EA9-4103-A34E-454276460924}">
      <dgm:prSet/>
      <dgm:spPr/>
      <dgm:t>
        <a:bodyPr lIns="432000"/>
        <a:lstStyle/>
        <a:p>
          <a:r>
            <a:rPr lang="en-US" dirty="0"/>
            <a:t>Starting cluster address, file size</a:t>
          </a:r>
        </a:p>
      </dgm:t>
    </dgm:pt>
    <dgm:pt modelId="{C3BF7D66-4BDA-475C-8C05-BBC0E2E378F5}" cxnId="{A42353AD-F6DB-4EE7-AC23-A923ED7E0D93}" type="parTrans">
      <dgm:prSet/>
      <dgm:spPr/>
      <dgm:t>
        <a:bodyPr/>
        <a:lstStyle/>
        <a:p>
          <a:endParaRPr lang="en-SG"/>
        </a:p>
      </dgm:t>
    </dgm:pt>
    <dgm:pt modelId="{8EE7A77C-A1E3-4D75-9E6A-1768005283EA}" cxnId="{A42353AD-F6DB-4EE7-AC23-A923ED7E0D93}" type="sibTrans">
      <dgm:prSet/>
      <dgm:spPr/>
      <dgm:t>
        <a:bodyPr/>
        <a:lstStyle/>
        <a:p>
          <a:endParaRPr lang="en-SG"/>
        </a:p>
      </dgm:t>
    </dgm:pt>
    <dgm:pt modelId="{E1322410-D913-4142-A388-51D6FC3C1631}" type="pres">
      <dgm:prSet presAssocID="{113D02F7-F0AD-42B8-A9CA-EEDA10BC89E9}" presName="Name0" presStyleCnt="0">
        <dgm:presLayoutVars>
          <dgm:dir/>
          <dgm:resizeHandles val="exact"/>
        </dgm:presLayoutVars>
      </dgm:prSet>
      <dgm:spPr/>
    </dgm:pt>
    <dgm:pt modelId="{E87EA3A0-1B75-4C27-BAB4-551875A3C14E}" type="pres">
      <dgm:prSet presAssocID="{2E4957F7-7208-482F-8EF6-720F333A8438}" presName="composite" presStyleCnt="0"/>
      <dgm:spPr/>
    </dgm:pt>
    <dgm:pt modelId="{46E79073-35FC-4030-A1AD-37AE62CA4AB2}" type="pres">
      <dgm:prSet presAssocID="{2E4957F7-7208-482F-8EF6-720F333A8438}" presName="rect1" presStyleLbl="trAlignAcc1" presStyleIdx="0" presStyleCnt="1" custScaleX="77752" custScaleY="199103">
        <dgm:presLayoutVars>
          <dgm:bulletEnabled val="1"/>
        </dgm:presLayoutVars>
      </dgm:prSet>
      <dgm:spPr/>
    </dgm:pt>
    <dgm:pt modelId="{6EA315A0-7E47-429F-92EE-42C1BA52549E}" type="pres">
      <dgm:prSet presAssocID="{2E4957F7-7208-482F-8EF6-720F333A8438}" presName="rect2" presStyleLbl="fgImgPlace1" presStyleIdx="0" presStyleCnt="1"/>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l="-25000" r="-25000"/>
          </a:stretch>
        </a:blipFill>
      </dgm:spPr>
    </dgm:pt>
  </dgm:ptLst>
  <dgm:cxnLst>
    <dgm:cxn modelId="{391C0A1C-470F-405B-97B0-B28505536696}" srcId="{2E4957F7-7208-482F-8EF6-720F333A8438}" destId="{5160FC35-2646-497E-91BC-CD5A21D22370}" srcOrd="0" destOrd="0" parTransId="{92146EAD-D8F8-46AC-AFAE-D1883A527135}" sibTransId="{16C6FBD0-68DF-4D71-8AA4-903C3C2BAAA2}"/>
    <dgm:cxn modelId="{0BACBF8F-B5CD-4449-8025-69DF8F498AE3}" type="presOf" srcId="{5160FC35-2646-497E-91BC-CD5A21D22370}" destId="{46E79073-35FC-4030-A1AD-37AE62CA4AB2}" srcOrd="0" destOrd="1" presId="urn:microsoft.com/office/officeart/2008/layout/PictureStrips"/>
    <dgm:cxn modelId="{41573CA5-2010-46E5-97F3-ED72139664F9}" srcId="{113D02F7-F0AD-42B8-A9CA-EEDA10BC89E9}" destId="{2E4957F7-7208-482F-8EF6-720F333A8438}" srcOrd="0" destOrd="0" parTransId="{23DFE57A-8657-4D05-B03D-7BFE1177B1E0}" sibTransId="{856B6312-2C44-441C-962A-17B805D3F5C9}"/>
    <dgm:cxn modelId="{A42353AD-F6DB-4EE7-AC23-A923ED7E0D93}" srcId="{2E4957F7-7208-482F-8EF6-720F333A8438}" destId="{54300FCC-8EA9-4103-A34E-454276460924}" srcOrd="1" destOrd="0" parTransId="{C3BF7D66-4BDA-475C-8C05-BBC0E2E378F5}" sibTransId="{8EE7A77C-A1E3-4D75-9E6A-1768005283EA}"/>
    <dgm:cxn modelId="{366731C2-6517-41B6-9CE3-EB334817EB3A}" type="presOf" srcId="{113D02F7-F0AD-42B8-A9CA-EEDA10BC89E9}" destId="{E1322410-D913-4142-A388-51D6FC3C1631}" srcOrd="0" destOrd="0" presId="urn:microsoft.com/office/officeart/2008/layout/PictureStrips"/>
    <dgm:cxn modelId="{A0A855C5-C753-4A3D-9E8E-65E7BAE643C4}" type="presOf" srcId="{2E4957F7-7208-482F-8EF6-720F333A8438}" destId="{46E79073-35FC-4030-A1AD-37AE62CA4AB2}" srcOrd="0" destOrd="0" presId="urn:microsoft.com/office/officeart/2008/layout/PictureStrips"/>
    <dgm:cxn modelId="{534034E7-A6B0-4D1C-98D5-332A6C87C515}" type="presOf" srcId="{54300FCC-8EA9-4103-A34E-454276460924}" destId="{46E79073-35FC-4030-A1AD-37AE62CA4AB2}" srcOrd="0" destOrd="2" presId="urn:microsoft.com/office/officeart/2008/layout/PictureStrips"/>
    <dgm:cxn modelId="{55A8C695-3380-47C5-803B-E2DC15AC8298}" type="presParOf" srcId="{E1322410-D913-4142-A388-51D6FC3C1631}" destId="{E87EA3A0-1B75-4C27-BAB4-551875A3C14E}" srcOrd="0" destOrd="0" presId="urn:microsoft.com/office/officeart/2008/layout/PictureStrips"/>
    <dgm:cxn modelId="{081415FD-F520-4C08-A70A-6C33D8E67F13}" type="presParOf" srcId="{E87EA3A0-1B75-4C27-BAB4-551875A3C14E}" destId="{46E79073-35FC-4030-A1AD-37AE62CA4AB2}" srcOrd="0" destOrd="0" presId="urn:microsoft.com/office/officeart/2008/layout/PictureStrips"/>
    <dgm:cxn modelId="{D979091B-C50F-4E2B-8598-B16C8B081E5E}" type="presParOf" srcId="{E87EA3A0-1B75-4C27-BAB4-551875A3C14E}" destId="{6EA315A0-7E47-429F-92EE-42C1BA52549E}" srcOrd="1" destOrd="0" presId="urn:microsoft.com/office/officeart/2008/layout/PictureStrips"/>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13D02F7-F0AD-42B8-A9CA-EEDA10BC89E9}" type="doc">
      <dgm:prSet loTypeId="urn:microsoft.com/office/officeart/2008/layout/PictureStrips" loCatId="list" qsTypeId="urn:microsoft.com/office/officeart/2005/8/quickstyle/simple1" qsCatId="simple" csTypeId="urn:microsoft.com/office/officeart/2005/8/colors/accent1_2" csCatId="accent1" phldr="1"/>
      <dgm:spPr/>
      <dgm:t>
        <a:bodyPr/>
        <a:lstStyle/>
        <a:p>
          <a:endParaRPr lang="en-SG"/>
        </a:p>
      </dgm:t>
    </dgm:pt>
    <dgm:pt modelId="{54300FCC-8EA9-4103-A34E-454276460924}">
      <dgm:prSet custT="1"/>
      <dgm:spPr/>
      <dgm:t>
        <a:bodyPr/>
        <a:lstStyle/>
        <a:p>
          <a:r>
            <a:rPr lang="en-US" sz="2400" dirty="0"/>
            <a:t>Slack space data will remain</a:t>
          </a:r>
        </a:p>
      </dgm:t>
    </dgm:pt>
    <dgm:pt modelId="{C3BF7D66-4BDA-475C-8C05-BBC0E2E378F5}" cxnId="{A42353AD-F6DB-4EE7-AC23-A923ED7E0D93}" type="parTrans">
      <dgm:prSet/>
      <dgm:spPr/>
      <dgm:t>
        <a:bodyPr/>
        <a:lstStyle/>
        <a:p>
          <a:endParaRPr lang="en-SG"/>
        </a:p>
      </dgm:t>
    </dgm:pt>
    <dgm:pt modelId="{8EE7A77C-A1E3-4D75-9E6A-1768005283EA}" cxnId="{A42353AD-F6DB-4EE7-AC23-A923ED7E0D93}" type="sibTrans">
      <dgm:prSet/>
      <dgm:spPr/>
      <dgm:t>
        <a:bodyPr/>
        <a:lstStyle/>
        <a:p>
          <a:endParaRPr lang="en-SG"/>
        </a:p>
      </dgm:t>
    </dgm:pt>
    <dgm:pt modelId="{D2D19ADA-0F20-4709-BBA5-28F1505C5A86}">
      <dgm:prSet custT="1"/>
      <dgm:spPr/>
      <dgm:t>
        <a:bodyPr/>
        <a:lstStyle/>
        <a:p>
          <a:r>
            <a:rPr lang="en-US" sz="2000" dirty="0"/>
            <a:t>Actual data will remain at the initial starting cluster address (if it is not overwritten) </a:t>
          </a:r>
        </a:p>
      </dgm:t>
    </dgm:pt>
    <dgm:pt modelId="{463AC4A6-6A55-4778-B8E4-5DF9DA14D699}" cxnId="{5CD14400-1D89-4A64-ACC0-5EA4DBBBEE4B}" type="parTrans">
      <dgm:prSet/>
      <dgm:spPr/>
      <dgm:t>
        <a:bodyPr/>
        <a:lstStyle/>
        <a:p>
          <a:endParaRPr lang="en-SG"/>
        </a:p>
      </dgm:t>
    </dgm:pt>
    <dgm:pt modelId="{9B9F766F-3657-4095-B8F5-CF6384DE13D6}" cxnId="{5CD14400-1D89-4A64-ACC0-5EA4DBBBEE4B}" type="sibTrans">
      <dgm:prSet/>
      <dgm:spPr/>
      <dgm:t>
        <a:bodyPr/>
        <a:lstStyle/>
        <a:p>
          <a:endParaRPr lang="en-SG"/>
        </a:p>
      </dgm:t>
    </dgm:pt>
    <dgm:pt modelId="{E1322410-D913-4142-A388-51D6FC3C1631}" type="pres">
      <dgm:prSet presAssocID="{113D02F7-F0AD-42B8-A9CA-EEDA10BC89E9}" presName="Name0" presStyleCnt="0">
        <dgm:presLayoutVars>
          <dgm:dir/>
          <dgm:resizeHandles val="exact"/>
        </dgm:presLayoutVars>
      </dgm:prSet>
      <dgm:spPr/>
    </dgm:pt>
    <dgm:pt modelId="{EC01C3A8-F826-4BE9-AE56-7BAC7185CFA5}" type="pres">
      <dgm:prSet presAssocID="{54300FCC-8EA9-4103-A34E-454276460924}" presName="composite" presStyleCnt="0"/>
      <dgm:spPr/>
    </dgm:pt>
    <dgm:pt modelId="{8E0EE2DA-13E4-4006-8E1B-D92408C9DD5B}" type="pres">
      <dgm:prSet presAssocID="{54300FCC-8EA9-4103-A34E-454276460924}" presName="rect1" presStyleLbl="trAlignAcc1" presStyleIdx="0" presStyleCnt="2">
        <dgm:presLayoutVars>
          <dgm:bulletEnabled val="1"/>
        </dgm:presLayoutVars>
      </dgm:prSet>
      <dgm:spPr/>
    </dgm:pt>
    <dgm:pt modelId="{188BE3B3-FFD7-4750-89FB-C5623A13A880}" type="pres">
      <dgm:prSet presAssocID="{54300FCC-8EA9-4103-A34E-454276460924}" presName="rect2" presStyleLbl="fgImgPlace1" presStyleIdx="0" presStyleCnt="2"/>
      <dgm:spPr>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l="-25000" r="-25000"/>
          </a:stretch>
        </a:blipFill>
      </dgm:spPr>
    </dgm:pt>
    <dgm:pt modelId="{3BB86554-69DD-442F-980F-4CD9604164B4}" type="pres">
      <dgm:prSet presAssocID="{8EE7A77C-A1E3-4D75-9E6A-1768005283EA}" presName="sibTrans" presStyleCnt="0"/>
      <dgm:spPr/>
    </dgm:pt>
    <dgm:pt modelId="{9EF380FA-DF9C-4060-AD70-89A7CEAE4263}" type="pres">
      <dgm:prSet presAssocID="{D2D19ADA-0F20-4709-BBA5-28F1505C5A86}" presName="composite" presStyleCnt="0"/>
      <dgm:spPr/>
    </dgm:pt>
    <dgm:pt modelId="{5182D9D6-C766-497B-B5C0-55E909F530AC}" type="pres">
      <dgm:prSet presAssocID="{D2D19ADA-0F20-4709-BBA5-28F1505C5A86}" presName="rect1" presStyleLbl="trAlignAcc1" presStyleIdx="1" presStyleCnt="2">
        <dgm:presLayoutVars>
          <dgm:bulletEnabled val="1"/>
        </dgm:presLayoutVars>
      </dgm:prSet>
      <dgm:spPr/>
    </dgm:pt>
    <dgm:pt modelId="{FE4FC185-CD07-48D8-A85A-C94CAE15B7DA}" type="pres">
      <dgm:prSet presAssocID="{D2D19ADA-0F20-4709-BBA5-28F1505C5A86}" presName="rect2" presStyleLbl="fgImgPlac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l="-25000" r="-25000"/>
          </a:stretch>
        </a:blipFill>
      </dgm:spPr>
    </dgm:pt>
  </dgm:ptLst>
  <dgm:cxnLst>
    <dgm:cxn modelId="{5CD14400-1D89-4A64-ACC0-5EA4DBBBEE4B}" srcId="{113D02F7-F0AD-42B8-A9CA-EEDA10BC89E9}" destId="{D2D19ADA-0F20-4709-BBA5-28F1505C5A86}" srcOrd="1" destOrd="0" parTransId="{463AC4A6-6A55-4778-B8E4-5DF9DA14D699}" sibTransId="{9B9F766F-3657-4095-B8F5-CF6384DE13D6}"/>
    <dgm:cxn modelId="{7326C591-27B4-4131-8C23-7AC8EB713365}" type="presOf" srcId="{54300FCC-8EA9-4103-A34E-454276460924}" destId="{8E0EE2DA-13E4-4006-8E1B-D92408C9DD5B}" srcOrd="0" destOrd="0" presId="urn:microsoft.com/office/officeart/2008/layout/PictureStrips"/>
    <dgm:cxn modelId="{A42353AD-F6DB-4EE7-AC23-A923ED7E0D93}" srcId="{113D02F7-F0AD-42B8-A9CA-EEDA10BC89E9}" destId="{54300FCC-8EA9-4103-A34E-454276460924}" srcOrd="0" destOrd="0" parTransId="{C3BF7D66-4BDA-475C-8C05-BBC0E2E378F5}" sibTransId="{8EE7A77C-A1E3-4D75-9E6A-1768005283EA}"/>
    <dgm:cxn modelId="{366731C2-6517-41B6-9CE3-EB334817EB3A}" type="presOf" srcId="{113D02F7-F0AD-42B8-A9CA-EEDA10BC89E9}" destId="{E1322410-D913-4142-A388-51D6FC3C1631}" srcOrd="0" destOrd="0" presId="urn:microsoft.com/office/officeart/2008/layout/PictureStrips"/>
    <dgm:cxn modelId="{6B9E6CCF-6B3E-4C01-BB3B-D213AF5BBA8B}" type="presOf" srcId="{D2D19ADA-0F20-4709-BBA5-28F1505C5A86}" destId="{5182D9D6-C766-497B-B5C0-55E909F530AC}" srcOrd="0" destOrd="0" presId="urn:microsoft.com/office/officeart/2008/layout/PictureStrips"/>
    <dgm:cxn modelId="{D383CD20-7E27-4CED-8A74-8CEF9E8EAAD5}" type="presParOf" srcId="{E1322410-D913-4142-A388-51D6FC3C1631}" destId="{EC01C3A8-F826-4BE9-AE56-7BAC7185CFA5}" srcOrd="0" destOrd="0" presId="urn:microsoft.com/office/officeart/2008/layout/PictureStrips"/>
    <dgm:cxn modelId="{D5A3E210-F4C9-44D1-AD86-984F00BE6433}" type="presParOf" srcId="{EC01C3A8-F826-4BE9-AE56-7BAC7185CFA5}" destId="{8E0EE2DA-13E4-4006-8E1B-D92408C9DD5B}" srcOrd="0" destOrd="0" presId="urn:microsoft.com/office/officeart/2008/layout/PictureStrips"/>
    <dgm:cxn modelId="{C1A8283C-0230-4848-9339-AAD046B65B05}" type="presParOf" srcId="{EC01C3A8-F826-4BE9-AE56-7BAC7185CFA5}" destId="{188BE3B3-FFD7-4750-89FB-C5623A13A880}" srcOrd="1" destOrd="0" presId="urn:microsoft.com/office/officeart/2008/layout/PictureStrips"/>
    <dgm:cxn modelId="{F2C1CE7E-BB9A-49E0-801E-9ED8D25D96C1}" type="presParOf" srcId="{E1322410-D913-4142-A388-51D6FC3C1631}" destId="{3BB86554-69DD-442F-980F-4CD9604164B4}" srcOrd="1" destOrd="0" presId="urn:microsoft.com/office/officeart/2008/layout/PictureStrips"/>
    <dgm:cxn modelId="{DC05E713-D5B1-4644-B3E1-B2232CAF1CFD}" type="presParOf" srcId="{E1322410-D913-4142-A388-51D6FC3C1631}" destId="{9EF380FA-DF9C-4060-AD70-89A7CEAE4263}" srcOrd="2" destOrd="0" presId="urn:microsoft.com/office/officeart/2008/layout/PictureStrips"/>
    <dgm:cxn modelId="{56887F53-19DF-4CD9-B48A-558233062585}" type="presParOf" srcId="{9EF380FA-DF9C-4060-AD70-89A7CEAE4263}" destId="{5182D9D6-C766-497B-B5C0-55E909F530AC}" srcOrd="0" destOrd="0" presId="urn:microsoft.com/office/officeart/2008/layout/PictureStrips"/>
    <dgm:cxn modelId="{51F1F39E-002F-4D6E-92DD-83A51BFB19E9}" type="presParOf" srcId="{9EF380FA-DF9C-4060-AD70-89A7CEAE4263}" destId="{FE4FC185-CD07-48D8-A85A-C94CAE15B7DA}" srcOrd="1" destOrd="0" presId="urn:microsoft.com/office/officeart/2008/layout/PictureStrips"/>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4909184" cy="3581063"/>
        <a:chOff x="0" y="0"/>
        <a:chExt cx="4909184" cy="3581063"/>
      </a:xfrm>
    </dsp:grpSpPr>
    <dsp:sp modelId="{46E79073-35FC-4030-A1AD-37AE62CA4AB2}">
      <dsp:nvSpPr>
        <dsp:cNvPr id="3" name="Rectangle 2"/>
        <dsp:cNvSpPr/>
      </dsp:nvSpPr>
      <dsp:spPr bwMode="white">
        <a:xfrm>
          <a:off x="196367" y="1160520"/>
          <a:ext cx="4712817" cy="1472755"/>
        </a:xfrm>
        <a:prstGeom prst="rect">
          <a:avLst/>
        </a:prstGeom>
      </dsp:spPr>
      <dsp:style>
        <a:lnRef idx="1">
          <a:schemeClr val="accent1"/>
        </a:lnRef>
        <a:fillRef idx="1">
          <a:schemeClr val="lt1">
            <a:alpha val="40000"/>
          </a:schemeClr>
        </a:fillRef>
        <a:effectRef idx="0">
          <a:scrgbClr r="0" g="0" b="0"/>
        </a:effectRef>
        <a:fontRef idx="minor"/>
      </dsp:style>
      <dsp:txBody>
        <a:bodyPr lIns="432000" tIns="80010" rIns="80010" bIns="80010" anchor="t"/>
        <a:lstStyle>
          <a:lvl1pPr algn="l">
            <a:defRPr sz="2100"/>
          </a:lvl1pPr>
          <a:lvl2pPr marL="171450" indent="-171450" algn="l">
            <a:defRPr sz="1600"/>
          </a:lvl2pPr>
          <a:lvl3pPr marL="342900" indent="-171450" algn="l">
            <a:defRPr sz="1600"/>
          </a:lvl3pPr>
          <a:lvl4pPr marL="514350" indent="-171450" algn="l">
            <a:defRPr sz="1600"/>
          </a:lvl4pPr>
          <a:lvl5pPr marL="685800" indent="-171450" algn="l">
            <a:defRPr sz="1600"/>
          </a:lvl5pPr>
          <a:lvl6pPr marL="857250" indent="-171450" algn="l">
            <a:defRPr sz="1600"/>
          </a:lvl6pPr>
          <a:lvl7pPr marL="1028700" indent="-171450" algn="l">
            <a:defRPr sz="1600"/>
          </a:lvl7pPr>
          <a:lvl8pPr marL="1200150" indent="-171450" algn="l">
            <a:defRPr sz="1600"/>
          </a:lvl8pPr>
          <a:lvl9pPr marL="1371600" indent="-171450" algn="l">
            <a:defRPr sz="1600"/>
          </a:lvl9pPr>
        </a:lstStyle>
        <a:p>
          <a:pPr lvl="0">
            <a:lnSpc>
              <a:spcPct val="100000"/>
            </a:lnSpc>
            <a:spcBef>
              <a:spcPct val="0"/>
            </a:spcBef>
            <a:spcAft>
              <a:spcPct val="35000"/>
            </a:spcAft>
          </a:pPr>
          <a:r>
            <a:rPr lang="en-US" dirty="0">
              <a:solidFill>
                <a:schemeClr val="dk1"/>
              </a:solidFill>
            </a:rPr>
            <a:t>Directory entry: </a:t>
          </a:r>
          <a:endParaRPr lang="en-SG" dirty="0">
            <a:solidFill>
              <a:schemeClr val="dk1"/>
            </a:solidFill>
          </a:endParaRPr>
        </a:p>
        <a:p>
          <a:pPr lvl="1">
            <a:lnSpc>
              <a:spcPct val="100000"/>
            </a:lnSpc>
            <a:spcBef>
              <a:spcPct val="0"/>
            </a:spcBef>
            <a:spcAft>
              <a:spcPct val="15000"/>
            </a:spcAft>
            <a:buChar char="•"/>
          </a:pPr>
          <a:r>
            <a:rPr lang="en-US" dirty="0">
              <a:solidFill>
                <a:schemeClr val="dk1"/>
              </a:solidFill>
            </a:rPr>
            <a:t>Accessed, modified, creation time in directory entry</a:t>
          </a:r>
          <a:endParaRPr lang="en-US" dirty="0">
            <a:solidFill>
              <a:schemeClr val="dk1"/>
            </a:solidFill>
          </a:endParaRPr>
        </a:p>
        <a:p>
          <a:pPr lvl="1">
            <a:lnSpc>
              <a:spcPct val="100000"/>
            </a:lnSpc>
            <a:spcBef>
              <a:spcPct val="0"/>
            </a:spcBef>
            <a:spcAft>
              <a:spcPct val="15000"/>
            </a:spcAft>
            <a:buChar char="•"/>
          </a:pPr>
          <a:r>
            <a:rPr lang="en-US" dirty="0">
              <a:solidFill>
                <a:schemeClr val="dk1"/>
              </a:solidFill>
            </a:rPr>
            <a:t>Starting cluster address, file size</a:t>
          </a:r>
          <a:endParaRPr>
            <a:solidFill>
              <a:schemeClr val="dk1"/>
            </a:solidFill>
          </a:endParaRPr>
        </a:p>
      </dsp:txBody>
      <dsp:txXfrm>
        <a:off x="196367" y="1160520"/>
        <a:ext cx="4712817" cy="1472755"/>
      </dsp:txXfrm>
    </dsp:sp>
    <dsp:sp modelId="{6EA315A0-7E47-429F-92EE-42C1BA52549E}">
      <dsp:nvSpPr>
        <dsp:cNvPr id="4" name="Rectangle 3"/>
        <dsp:cNvSpPr/>
      </dsp:nvSpPr>
      <dsp:spPr bwMode="white">
        <a:xfrm>
          <a:off x="0" y="947788"/>
          <a:ext cx="1030929" cy="1546393"/>
        </a:xfrm>
        <a:prstGeom prst="rect">
          <a:avLst/>
        </a:prstGeom>
        <a: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l="-25000" r="-25000"/>
          </a:stretch>
        </a:blipFill>
      </dsp:spPr>
      <dsp:style>
        <a:lnRef idx="2">
          <a:schemeClr val="lt1"/>
        </a:lnRef>
        <a:fillRef idx="1">
          <a:schemeClr val="accent1">
            <a:tint val="50000"/>
          </a:schemeClr>
        </a:fillRef>
        <a:effectRef idx="0">
          <a:scrgbClr r="0" g="0" b="0"/>
        </a:effectRef>
        <a:fontRef idx="minor"/>
      </dsp:style>
      <dsp:txXfrm>
        <a:off x="0" y="947788"/>
        <a:ext cx="1030929" cy="1546393"/>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3854509" cy="3744685"/>
        <a:chOff x="0" y="0"/>
        <a:chExt cx="3854509" cy="3744685"/>
      </a:xfrm>
    </dsp:grpSpPr>
    <dsp:sp modelId="{8E0EE2DA-13E4-4006-8E1B-D92408C9DD5B}">
      <dsp:nvSpPr>
        <dsp:cNvPr id="3" name="Rectangle 2"/>
        <dsp:cNvSpPr/>
      </dsp:nvSpPr>
      <dsp:spPr bwMode="white">
        <a:xfrm>
          <a:off x="154180" y="548028"/>
          <a:ext cx="3700329" cy="1156353"/>
        </a:xfrm>
        <a:prstGeom prst="rect">
          <a:avLst/>
        </a:prstGeom>
      </dsp:spPr>
      <dsp:style>
        <a:lnRef idx="1">
          <a:schemeClr val="accent1"/>
        </a:lnRef>
        <a:fillRef idx="1">
          <a:schemeClr val="lt1">
            <a:alpha val="40000"/>
          </a:schemeClr>
        </a:fillRef>
        <a:effectRef idx="0">
          <a:scrgbClr r="0" g="0" b="0"/>
        </a:effectRef>
        <a:fontRef idx="minor"/>
      </dsp:style>
      <dsp:txBody>
        <a:bodyPr lIns="783236" tIns="91439" rIns="91439" bIns="91439"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US" sz="2400" dirty="0">
              <a:solidFill>
                <a:schemeClr val="dk1"/>
              </a:solidFill>
            </a:rPr>
            <a:t>Slack space data will remain</a:t>
          </a:r>
          <a:endParaRPr>
            <a:solidFill>
              <a:schemeClr val="dk1"/>
            </a:solidFill>
          </a:endParaRPr>
        </a:p>
      </dsp:txBody>
      <dsp:txXfrm>
        <a:off x="154180" y="548028"/>
        <a:ext cx="3700329" cy="1156353"/>
      </dsp:txXfrm>
    </dsp:sp>
    <dsp:sp modelId="{188BE3B3-FFD7-4750-89FB-C5623A13A880}">
      <dsp:nvSpPr>
        <dsp:cNvPr id="4" name="Rectangle 3"/>
        <dsp:cNvSpPr/>
      </dsp:nvSpPr>
      <dsp:spPr bwMode="white">
        <a:xfrm>
          <a:off x="0" y="380999"/>
          <a:ext cx="809447" cy="1214170"/>
        </a:xfrm>
        <a:prstGeom prst="rect">
          <a:avLst/>
        </a:prstGeom>
        <a:blipFill>
          <a:blip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l="-25000" r="-25000"/>
          </a:stretch>
        </a:blipFill>
      </dsp:spPr>
      <dsp:style>
        <a:lnRef idx="2">
          <a:schemeClr val="lt1"/>
        </a:lnRef>
        <a:fillRef idx="1">
          <a:schemeClr val="accent1">
            <a:tint val="50000"/>
          </a:schemeClr>
        </a:fillRef>
        <a:effectRef idx="0">
          <a:scrgbClr r="0" g="0" b="0"/>
        </a:effectRef>
        <a:fontRef idx="minor"/>
      </dsp:style>
      <dsp:txXfrm>
        <a:off x="0" y="380999"/>
        <a:ext cx="809447" cy="1214170"/>
      </dsp:txXfrm>
    </dsp:sp>
    <dsp:sp modelId="{5182D9D6-C766-497B-B5C0-55E909F530AC}">
      <dsp:nvSpPr>
        <dsp:cNvPr id="5" name="Rectangle 4"/>
        <dsp:cNvSpPr/>
      </dsp:nvSpPr>
      <dsp:spPr bwMode="white">
        <a:xfrm>
          <a:off x="154180" y="2207333"/>
          <a:ext cx="3700329" cy="1156353"/>
        </a:xfrm>
        <a:prstGeom prst="rect">
          <a:avLst/>
        </a:prstGeom>
      </dsp:spPr>
      <dsp:style>
        <a:lnRef idx="1">
          <a:schemeClr val="accent1"/>
        </a:lnRef>
        <a:fillRef idx="1">
          <a:schemeClr val="lt1">
            <a:alpha val="40000"/>
          </a:schemeClr>
        </a:fillRef>
        <a:effectRef idx="0">
          <a:scrgbClr r="0" g="0" b="0"/>
        </a:effectRef>
        <a:fontRef idx="minor"/>
      </dsp:style>
      <dsp:txBody>
        <a:bodyPr lIns="783236" tIns="76200" rIns="76200" bIns="7620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US" sz="2000" dirty="0">
              <a:solidFill>
                <a:schemeClr val="dk1"/>
              </a:solidFill>
            </a:rPr>
            <a:t>Actual data will remain at the initial starting cluster address (if it is not overwritten) </a:t>
          </a:r>
          <a:endParaRPr>
            <a:solidFill>
              <a:schemeClr val="dk1"/>
            </a:solidFill>
          </a:endParaRPr>
        </a:p>
      </dsp:txBody>
      <dsp:txXfrm>
        <a:off x="154180" y="2207333"/>
        <a:ext cx="3700329" cy="1156353"/>
      </dsp:txXfrm>
    </dsp:sp>
    <dsp:sp modelId="{FE4FC185-CD07-48D8-A85A-C94CAE15B7DA}">
      <dsp:nvSpPr>
        <dsp:cNvPr id="6" name="Rectangle 5"/>
        <dsp:cNvSpPr/>
      </dsp:nvSpPr>
      <dsp:spPr bwMode="white">
        <a:xfrm>
          <a:off x="0" y="2040304"/>
          <a:ext cx="809447" cy="1214170"/>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l="-25000" r="-25000"/>
          </a:stretch>
        </a:blipFill>
      </dsp:spPr>
      <dsp:style>
        <a:lnRef idx="2">
          <a:schemeClr val="lt1"/>
        </a:lnRef>
        <a:fillRef idx="1">
          <a:schemeClr val="accent1">
            <a:tint val="50000"/>
          </a:schemeClr>
        </a:fillRef>
        <a:effectRef idx="0">
          <a:scrgbClr r="0" g="0" b="0"/>
        </a:effectRef>
        <a:fontRef idx="minor"/>
      </dsp:style>
      <dsp:txXfrm>
        <a:off x="0" y="2040304"/>
        <a:ext cx="809447" cy="1214170"/>
      </dsp:txXfrm>
    </dsp:sp>
  </dsp:spTree>
</dsp:drawing>
</file>

<file path=ppt/diagrams/layout1.xml><?xml version="1.0" encoding="utf-8"?>
<dgm:layoutDef xmlns:dgm="http://schemas.openxmlformats.org/drawingml/2006/diagram" xmlns:a="http://schemas.openxmlformats.org/drawingml/2006/main" uniqueId="urn:microsoft.com/office/officeart/2008/layout/PictureStrips">
  <dgm:title val=""/>
  <dgm:desc val=""/>
  <dgm:catLst>
    <dgm:cat type="list" pri="12500"/>
    <dgm:cat type="picture" pri="13000"/>
    <dgm:cat type="pictureconvert" pri="13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rSet qsTypeId="urn:microsoft.com/office/officeart/2005/8/quickstyle/simple5"/>
        </dgm:pt>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40" srcId="0" destId="10" srcOrd="0" destOrd="0"/>
        <dgm:cxn modelId="50" srcId="0" destId="20" srcOrd="1" destOrd="0"/>
        <dgm:cxn modelId="60" srcId="0" destId="30" srcOrd="2" destOrd="0"/>
        <dgm:cxn modelId="70" srcId="0" destId="40" srcOrd="2"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3"/>
        </dgm:alg>
        <dgm:shape xmlns:r="http://schemas.openxmlformats.org/officeDocument/2006/relationships" r:blip="">
          <dgm:adjLst/>
        </dgm:shape>
        <dgm:choose name="Name4">
          <dgm:if name="Name5" func="var" arg="dir" op="equ" val="norm">
            <dgm:constrLst>
              <dgm:constr type="l" for="ch" forName="rect1" refType="w" fact="0.04"/>
              <dgm:constr type="t" for="ch" forName="rect1" refType="h" fact="0.13"/>
              <dgm:constr type="w" for="ch" forName="rect1" refType="w" fact="0.96"/>
              <dgm:constr type="h" for="ch" forName="rect1" refType="h" fact="0.9"/>
              <dgm:constr type="l" for="ch" forName="rect2" refType="w" fact="0"/>
              <dgm:constr type="t" for="ch" forName="rect2" refType="h" fact="0"/>
              <dgm:constr type="w" for="ch" forName="rect2" refType="w" fact="0.21"/>
              <dgm:constr type="h" for="ch" forName="rect2" refType="w" fact="0.315"/>
            </dgm:constrLst>
          </dgm:if>
          <dgm:else name="Name6">
            <dgm:constrLst>
              <dgm:constr type="l" for="ch" forName="rect1" refType="w" fact="0"/>
              <dgm:constr type="t" for="ch" forName="rect1" refType="h" fact="0.13"/>
              <dgm:constr type="w" for="ch" forName="rect1" refType="w" fact="0.96"/>
              <dgm:constr type="h" for="ch" forName="rect1" refType="h" fact="0.9"/>
              <dgm:constr type="l" for="ch" forName="rect2" refType="w" fact="0.79"/>
              <dgm:constr type="t" for="ch" forName="rect2" refType="h" fact="0"/>
              <dgm:constr type="w" for="ch" forName="rect2" refType="w" fact="0.21"/>
              <dgm:constr type="h" for="ch" forName="rect2" refType="w" fact="0.315"/>
            </dgm:constrLst>
          </dgm:else>
        </dgm:choose>
        <dgm:layoutNode name="rect1" styleLbl="trAlignAcc1">
          <dgm:varLst>
            <dgm:bulletEnabled val="1"/>
          </dgm:varLst>
          <dgm:alg type="tx">
            <dgm:param type="parTxLTRAlign" val="l"/>
          </dgm:alg>
          <dgm:shape xmlns:r="http://schemas.openxmlformats.org/officeDocument/2006/relationships" type="rect" r:blip="">
            <dgm:adjLst/>
          </dgm:shape>
          <dgm:presOf axis="desOrSelf" ptType="node"/>
          <dgm:choose name="Name7">
            <dgm:if name="Name8" func="var" arg="dir" op="equ" val="norm">
              <dgm:constrLst>
                <dgm:constr type="lMarg" refType="w" fact="0.6"/>
                <dgm:constr type="rMarg" refType="primFontSz" fact="0.3"/>
                <dgm:constr type="tMarg" refType="primFontSz" fact="0.3"/>
                <dgm:constr type="bMarg" refType="primFontSz" fact="0.3"/>
              </dgm:constrLst>
            </dgm:if>
            <dgm:else name="Name9">
              <dgm:constrLst>
                <dgm:constr type="lMarg" refType="primFontSz" fact="0.3"/>
                <dgm:constr type="rMarg" refType="w" fact="0.6"/>
                <dgm:constr type="tMarg" refType="primFontSz" fact="0.3"/>
                <dgm:constr type="bMarg" refType="primFontSz" fact="0.3"/>
              </dgm:constrLst>
            </dgm:else>
          </dgm:choose>
          <dgm:ruleLst>
            <dgm:rule type="primFontSz" val="5" fact="NaN" max="NaN"/>
          </dgm:ruleLst>
        </dgm:layoutNode>
        <dgm:layoutNode name="rect2" styleLbl="fg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PictureStrips">
  <dgm:title val=""/>
  <dgm:desc val=""/>
  <dgm:catLst>
    <dgm:cat type="list" pri="12500"/>
    <dgm:cat type="picture" pri="13000"/>
    <dgm:cat type="pictureconvert" pri="13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40" srcId="0" destId="10" srcOrd="0" destOrd="0"/>
        <dgm:cxn modelId="50" srcId="0" destId="20" srcOrd="1" destOrd="0"/>
        <dgm:cxn modelId="60" srcId="0" destId="30" srcOrd="2" destOrd="0"/>
        <dgm:cxn modelId="70" srcId="0" destId="40" srcOrd="2"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3"/>
        </dgm:alg>
        <dgm:shape xmlns:r="http://schemas.openxmlformats.org/officeDocument/2006/relationships" r:blip="">
          <dgm:adjLst/>
        </dgm:shape>
        <dgm:choose name="Name4">
          <dgm:if name="Name5" func="var" arg="dir" op="equ" val="norm">
            <dgm:constrLst>
              <dgm:constr type="l" for="ch" forName="rect1" refType="w" fact="0.04"/>
              <dgm:constr type="t" for="ch" forName="rect1" refType="h" fact="0.13"/>
              <dgm:constr type="w" for="ch" forName="rect1" refType="w" fact="0.96"/>
              <dgm:constr type="h" for="ch" forName="rect1" refType="h" fact="0.9"/>
              <dgm:constr type="l" for="ch" forName="rect2" refType="w" fact="0"/>
              <dgm:constr type="t" for="ch" forName="rect2" refType="h" fact="0"/>
              <dgm:constr type="w" for="ch" forName="rect2" refType="w" fact="0.21"/>
              <dgm:constr type="h" for="ch" forName="rect2" refType="w" fact="0.315"/>
            </dgm:constrLst>
          </dgm:if>
          <dgm:else name="Name6">
            <dgm:constrLst>
              <dgm:constr type="l" for="ch" forName="rect1" refType="w" fact="0"/>
              <dgm:constr type="t" for="ch" forName="rect1" refType="h" fact="0.13"/>
              <dgm:constr type="w" for="ch" forName="rect1" refType="w" fact="0.96"/>
              <dgm:constr type="h" for="ch" forName="rect1" refType="h" fact="0.9"/>
              <dgm:constr type="l" for="ch" forName="rect2" refType="w" fact="0.79"/>
              <dgm:constr type="t" for="ch" forName="rect2" refType="h" fact="0"/>
              <dgm:constr type="w" for="ch" forName="rect2" refType="w" fact="0.21"/>
              <dgm:constr type="h" for="ch" forName="rect2" refType="w" fact="0.315"/>
            </dgm:constrLst>
          </dgm:else>
        </dgm:choose>
        <dgm:layoutNode name="rect1" styleLbl="trAlignAcc1">
          <dgm:varLst>
            <dgm:bulletEnabled val="1"/>
          </dgm:varLst>
          <dgm:alg type="tx">
            <dgm:param type="parTxLTRAlign" val="l"/>
          </dgm:alg>
          <dgm:shape xmlns:r="http://schemas.openxmlformats.org/officeDocument/2006/relationships" type="rect" r:blip="">
            <dgm:adjLst/>
          </dgm:shape>
          <dgm:presOf axis="desOrSelf" ptType="node"/>
          <dgm:choose name="Name7">
            <dgm:if name="Name8" func="var" arg="dir" op="equ" val="norm">
              <dgm:constrLst>
                <dgm:constr type="lMarg" refType="w" fact="0.6"/>
                <dgm:constr type="rMarg" refType="primFontSz" fact="0.3"/>
                <dgm:constr type="tMarg" refType="primFontSz" fact="0.3"/>
                <dgm:constr type="bMarg" refType="primFontSz" fact="0.3"/>
              </dgm:constrLst>
            </dgm:if>
            <dgm:else name="Name9">
              <dgm:constrLst>
                <dgm:constr type="lMarg" refType="primFontSz" fact="0.3"/>
                <dgm:constr type="rMarg" refType="w" fact="0.6"/>
                <dgm:constr type="tMarg" refType="primFontSz" fact="0.3"/>
                <dgm:constr type="bMarg" refType="primFontSz" fact="0.3"/>
              </dgm:constrLst>
            </dgm:else>
          </dgm:choose>
          <dgm:ruleLst>
            <dgm:rule type="primFontSz" val="5" fact="NaN" max="NaN"/>
          </dgm:ruleLst>
        </dgm:layoutNode>
        <dgm:layoutNode name="rect2" styleLbl="fg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5517D57B-0494-49D9-8F90-52080C8F43BE}" type="slidenum">
              <a:rPr kumimoji="0" lang="en-SG"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SG"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042987BF-3148-4B76-830E-C5ABC330691D}" type="slidenum">
              <a:rPr kumimoji="0" lang="en-SG"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SG"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5" Type="http://schemas.microsoft.com/office/2007/relationships/hdphoto" Target="../media/image4.wdp"/><Relationship Id="rId4" Type="http://schemas.openxmlformats.org/officeDocument/2006/relationships/image" Target="../media/image3.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5" Type="http://schemas.microsoft.com/office/2007/relationships/hdphoto" Target="../media/image4.wdp"/><Relationship Id="rId4" Type="http://schemas.openxmlformats.org/officeDocument/2006/relationships/image" Target="../media/image3.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5" Type="http://schemas.microsoft.com/office/2007/relationships/hdphoto" Target="../media/image4.wdp"/><Relationship Id="rId4" Type="http://schemas.openxmlformats.org/officeDocument/2006/relationships/image" Target="../media/image5.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5" Type="http://schemas.microsoft.com/office/2007/relationships/hdphoto" Target="../media/image4.wdp"/><Relationship Id="rId4" Type="http://schemas.openxmlformats.org/officeDocument/2006/relationships/image" Target="../media/image5.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7" name="Rectangle 6"/>
          <p:cNvSpPr/>
          <p:nvPr/>
        </p:nvSpPr>
        <p:spPr>
          <a:xfrm>
            <a:off x="685800" y="1010211"/>
            <a:ext cx="7772400" cy="60512"/>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sz="1350"/>
          </a:p>
        </p:txBody>
      </p:sp>
      <p:sp>
        <p:nvSpPr>
          <p:cNvPr id="8" name="Rectangle 7"/>
          <p:cNvSpPr/>
          <p:nvPr/>
        </p:nvSpPr>
        <p:spPr>
          <a:xfrm>
            <a:off x="685800" y="3212073"/>
            <a:ext cx="7772400" cy="60512"/>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sz="1350"/>
          </a:p>
        </p:txBody>
      </p:sp>
      <p:sp>
        <p:nvSpPr>
          <p:cNvPr id="9" name="Rectangle 8"/>
          <p:cNvSpPr/>
          <p:nvPr/>
        </p:nvSpPr>
        <p:spPr>
          <a:xfrm>
            <a:off x="685800" y="1113584"/>
            <a:ext cx="7772400" cy="205740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sz="1350"/>
          </a:p>
        </p:txBody>
      </p:sp>
      <p:grpSp>
        <p:nvGrpSpPr>
          <p:cNvPr id="10" name="Group 9"/>
          <p:cNvGrpSpPr>
            <a:grpSpLocks noChangeAspect="1"/>
          </p:cNvGrpSpPr>
          <p:nvPr/>
        </p:nvGrpSpPr>
        <p:grpSpPr>
          <a:xfrm>
            <a:off x="7234780" y="3080267"/>
            <a:ext cx="914400" cy="685800"/>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US" sz="1350"/>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US" sz="1350"/>
            </a:p>
          </p:txBody>
        </p:sp>
      </p:grpSp>
      <p:sp>
        <p:nvSpPr>
          <p:cNvPr id="2" name="Title 1"/>
          <p:cNvSpPr>
            <a:spLocks noGrp="1"/>
          </p:cNvSpPr>
          <p:nvPr>
            <p:ph type="ctrTitle"/>
          </p:nvPr>
        </p:nvSpPr>
        <p:spPr>
          <a:xfrm>
            <a:off x="788670" y="1074167"/>
            <a:ext cx="7593330" cy="2276856"/>
          </a:xfrm>
        </p:spPr>
        <p:txBody>
          <a:bodyPr anchor="ctr">
            <a:noAutofit/>
          </a:bodyPr>
          <a:lstStyle>
            <a:lvl1pPr algn="l">
              <a:lnSpc>
                <a:spcPct val="80000"/>
              </a:lnSpc>
              <a:defRPr sz="4800" b="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802386" y="3291840"/>
            <a:ext cx="5918454" cy="802386"/>
          </a:xfrm>
        </p:spPr>
        <p:txBody>
          <a:bodyPr>
            <a:normAutofit/>
          </a:bodyPr>
          <a:lstStyle>
            <a:lvl1pPr marL="0" indent="0" algn="l">
              <a:buNone/>
              <a:defRPr sz="1350" b="0">
                <a:solidFill>
                  <a:schemeClr val="tx1"/>
                </a:solidFill>
              </a:defRPr>
            </a:lvl1pPr>
            <a:lvl2pPr marL="342900" indent="0" algn="ctr">
              <a:buNone/>
              <a:defRPr sz="1350"/>
            </a:lvl2pPr>
            <a:lvl3pPr marL="685800" indent="0" algn="ctr">
              <a:buNone/>
              <a:defRPr sz="1350"/>
            </a:lvl3pPr>
            <a:lvl4pPr marL="1028700" indent="0" algn="ctr">
              <a:buNone/>
              <a:defRPr sz="1350"/>
            </a:lvl4pPr>
            <a:lvl5pPr marL="1371600" indent="0" algn="ctr">
              <a:buNone/>
              <a:defRPr sz="1350"/>
            </a:lvl5pPr>
            <a:lvl6pPr marL="1714500" indent="0" algn="ctr">
              <a:buNone/>
              <a:defRPr sz="1350"/>
            </a:lvl6pPr>
            <a:lvl7pPr marL="2057400" indent="0" algn="ctr">
              <a:buNone/>
              <a:defRPr sz="1350"/>
            </a:lvl7pPr>
            <a:lvl8pPr marL="2400300" indent="0" algn="ctr">
              <a:buNone/>
              <a:defRPr sz="1350"/>
            </a:lvl8pPr>
            <a:lvl9pPr marL="2743200" indent="0" algn="ctr">
              <a:buNone/>
              <a:defRPr sz="135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5" name="Footer Placeholder 4"/>
          <p:cNvSpPr>
            <a:spLocks noGrp="1"/>
          </p:cNvSpPr>
          <p:nvPr>
            <p:ph type="ftr" sz="quarter" idx="11"/>
          </p:nvPr>
        </p:nvSpPr>
        <p:spPr>
          <a:xfrm>
            <a:off x="812805" y="4704589"/>
            <a:ext cx="4745736" cy="273844"/>
          </a:xfrm>
        </p:spPr>
        <p:txBody>
          <a:bodyPr/>
          <a:lstStyle/>
          <a:p>
            <a:pPr defTabSz="685800">
              <a:defRPr/>
            </a:pPr>
            <a:endParaRPr lang="en-US">
              <a:solidFill>
                <a:srgbClr val="073E87"/>
              </a:solidFill>
              <a:latin typeface="Candara" panose="020E0502030303020204"/>
            </a:endParaRPr>
          </a:p>
        </p:txBody>
      </p:sp>
      <p:sp>
        <p:nvSpPr>
          <p:cNvPr id="6" name="Slide Number Placeholder 5"/>
          <p:cNvSpPr>
            <a:spLocks noGrp="1"/>
          </p:cNvSpPr>
          <p:nvPr>
            <p:ph type="sldNum" sz="quarter" idx="12"/>
          </p:nvPr>
        </p:nvSpPr>
        <p:spPr>
          <a:xfrm>
            <a:off x="7244281" y="3170396"/>
            <a:ext cx="895401" cy="480060"/>
          </a:xfrm>
        </p:spPr>
        <p:txBody>
          <a:bodyPr/>
          <a:lstStyle>
            <a:lvl1pPr>
              <a:defRPr sz="2100" b="1"/>
            </a:lvl1p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8" name="Footer Placeholder 7"/>
          <p:cNvSpPr>
            <a:spLocks noGrp="1"/>
          </p:cNvSpPr>
          <p:nvPr>
            <p:ph type="ftr" sz="quarter" idx="11"/>
          </p:nvPr>
        </p:nvSpPr>
        <p:spPr/>
        <p:txBody>
          <a:bodyPr/>
          <a:lstStyle/>
          <a:p>
            <a:pPr defTabSz="685800">
              <a:defRPr/>
            </a:pPr>
            <a:endParaRPr lang="en-US">
              <a:solidFill>
                <a:srgbClr val="073E87"/>
              </a:solidFill>
              <a:latin typeface="Candara" panose="020E0502030303020204"/>
            </a:endParaRPr>
          </a:p>
        </p:txBody>
      </p:sp>
      <p:sp>
        <p:nvSpPr>
          <p:cNvPr id="9" name="Slide Number Placeholder 8"/>
          <p:cNvSpPr>
            <a:spLocks noGrp="1"/>
          </p:cNvSpPr>
          <p:nvPr>
            <p:ph type="sldNum" sz="quarter" idx="12"/>
          </p:nvPr>
        </p:nvSpPr>
        <p:spPr/>
        <p:txBody>
          <a:body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5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8" name="Footer Placeholder 7"/>
          <p:cNvSpPr>
            <a:spLocks noGrp="1"/>
          </p:cNvSpPr>
          <p:nvPr>
            <p:ph type="ftr" sz="quarter" idx="11"/>
          </p:nvPr>
        </p:nvSpPr>
        <p:spPr/>
        <p:txBody>
          <a:bodyPr/>
          <a:lstStyle/>
          <a:p>
            <a:pPr defTabSz="685800">
              <a:defRPr/>
            </a:pPr>
            <a:endParaRPr lang="en-US">
              <a:solidFill>
                <a:srgbClr val="073E87"/>
              </a:solidFill>
              <a:latin typeface="Candara" panose="020E0502030303020204"/>
            </a:endParaRPr>
          </a:p>
        </p:txBody>
      </p:sp>
      <p:sp>
        <p:nvSpPr>
          <p:cNvPr id="9" name="Slide Number Placeholder 8"/>
          <p:cNvSpPr>
            <a:spLocks noGrp="1"/>
          </p:cNvSpPr>
          <p:nvPr>
            <p:ph type="sldNum" sz="quarter" idx="12"/>
          </p:nvPr>
        </p:nvSpPr>
        <p:spPr/>
        <p:txBody>
          <a:body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14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8" name="Footer Placeholder 7"/>
          <p:cNvSpPr>
            <a:spLocks noGrp="1"/>
          </p:cNvSpPr>
          <p:nvPr>
            <p:ph type="ftr" sz="quarter" idx="11"/>
          </p:nvPr>
        </p:nvSpPr>
        <p:spPr/>
        <p:txBody>
          <a:bodyPr/>
          <a:lstStyle/>
          <a:p>
            <a:pPr defTabSz="685800">
              <a:defRPr/>
            </a:pPr>
            <a:endParaRPr lang="en-US">
              <a:solidFill>
                <a:srgbClr val="073E87"/>
              </a:solidFill>
              <a:latin typeface="Candara" panose="020E0502030303020204"/>
            </a:endParaRPr>
          </a:p>
        </p:txBody>
      </p:sp>
      <p:sp>
        <p:nvSpPr>
          <p:cNvPr id="9" name="Slide Number Placeholder 8"/>
          <p:cNvSpPr>
            <a:spLocks noGrp="1"/>
          </p:cNvSpPr>
          <p:nvPr>
            <p:ph type="sldNum" sz="quarter" idx="12"/>
          </p:nvPr>
        </p:nvSpPr>
        <p:spPr/>
        <p:txBody>
          <a:body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13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8" name="Footer Placeholder 7"/>
          <p:cNvSpPr>
            <a:spLocks noGrp="1"/>
          </p:cNvSpPr>
          <p:nvPr>
            <p:ph type="ftr" sz="quarter" idx="11"/>
          </p:nvPr>
        </p:nvSpPr>
        <p:spPr/>
        <p:txBody>
          <a:bodyPr/>
          <a:lstStyle/>
          <a:p>
            <a:pPr defTabSz="685800">
              <a:defRPr/>
            </a:pPr>
            <a:endParaRPr lang="en-US">
              <a:solidFill>
                <a:srgbClr val="073E87"/>
              </a:solidFill>
              <a:latin typeface="Candara" panose="020E0502030303020204"/>
            </a:endParaRPr>
          </a:p>
        </p:txBody>
      </p:sp>
      <p:sp>
        <p:nvSpPr>
          <p:cNvPr id="9" name="Slide Number Placeholder 8"/>
          <p:cNvSpPr>
            <a:spLocks noGrp="1"/>
          </p:cNvSpPr>
          <p:nvPr>
            <p:ph type="sldNum" sz="quarter" idx="12"/>
          </p:nvPr>
        </p:nvSpPr>
        <p:spPr/>
        <p:txBody>
          <a:body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1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8" name="Footer Placeholder 7"/>
          <p:cNvSpPr>
            <a:spLocks noGrp="1"/>
          </p:cNvSpPr>
          <p:nvPr>
            <p:ph type="ftr" sz="quarter" idx="11"/>
          </p:nvPr>
        </p:nvSpPr>
        <p:spPr/>
        <p:txBody>
          <a:bodyPr/>
          <a:lstStyle/>
          <a:p>
            <a:pPr defTabSz="685800">
              <a:defRPr/>
            </a:pPr>
            <a:endParaRPr lang="en-US">
              <a:solidFill>
                <a:srgbClr val="073E87"/>
              </a:solidFill>
              <a:latin typeface="Candara" panose="020E0502030303020204"/>
            </a:endParaRPr>
          </a:p>
        </p:txBody>
      </p:sp>
      <p:sp>
        <p:nvSpPr>
          <p:cNvPr id="9" name="Slide Number Placeholder 8"/>
          <p:cNvSpPr>
            <a:spLocks noGrp="1"/>
          </p:cNvSpPr>
          <p:nvPr>
            <p:ph type="sldNum" sz="quarter" idx="12"/>
          </p:nvPr>
        </p:nvSpPr>
        <p:spPr/>
        <p:txBody>
          <a:body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1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8" name="Footer Placeholder 7"/>
          <p:cNvSpPr>
            <a:spLocks noGrp="1"/>
          </p:cNvSpPr>
          <p:nvPr>
            <p:ph type="ftr" sz="quarter" idx="11"/>
          </p:nvPr>
        </p:nvSpPr>
        <p:spPr/>
        <p:txBody>
          <a:bodyPr/>
          <a:lstStyle/>
          <a:p>
            <a:pPr defTabSz="685800">
              <a:defRPr/>
            </a:pPr>
            <a:endParaRPr lang="en-US">
              <a:solidFill>
                <a:srgbClr val="073E87"/>
              </a:solidFill>
              <a:latin typeface="Candara" panose="020E0502030303020204"/>
            </a:endParaRPr>
          </a:p>
        </p:txBody>
      </p:sp>
      <p:sp>
        <p:nvSpPr>
          <p:cNvPr id="9" name="Slide Number Placeholder 8"/>
          <p:cNvSpPr>
            <a:spLocks noGrp="1"/>
          </p:cNvSpPr>
          <p:nvPr>
            <p:ph type="sldNum" sz="quarter" idx="12"/>
          </p:nvPr>
        </p:nvSpPr>
        <p:spPr/>
        <p:txBody>
          <a:body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10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8" name="Footer Placeholder 7"/>
          <p:cNvSpPr>
            <a:spLocks noGrp="1"/>
          </p:cNvSpPr>
          <p:nvPr>
            <p:ph type="ftr" sz="quarter" idx="11"/>
          </p:nvPr>
        </p:nvSpPr>
        <p:spPr/>
        <p:txBody>
          <a:bodyPr/>
          <a:lstStyle/>
          <a:p>
            <a:pPr defTabSz="685800">
              <a:defRPr/>
            </a:pPr>
            <a:endParaRPr lang="en-US">
              <a:solidFill>
                <a:srgbClr val="073E87"/>
              </a:solidFill>
              <a:latin typeface="Candara" panose="020E0502030303020204"/>
            </a:endParaRPr>
          </a:p>
        </p:txBody>
      </p:sp>
      <p:sp>
        <p:nvSpPr>
          <p:cNvPr id="9" name="Slide Number Placeholder 8"/>
          <p:cNvSpPr>
            <a:spLocks noGrp="1"/>
          </p:cNvSpPr>
          <p:nvPr>
            <p:ph type="sldNum" sz="quarter" idx="12"/>
          </p:nvPr>
        </p:nvSpPr>
        <p:spPr/>
        <p:txBody>
          <a:body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9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8" name="Footer Placeholder 7"/>
          <p:cNvSpPr>
            <a:spLocks noGrp="1"/>
          </p:cNvSpPr>
          <p:nvPr>
            <p:ph type="ftr" sz="quarter" idx="11"/>
          </p:nvPr>
        </p:nvSpPr>
        <p:spPr/>
        <p:txBody>
          <a:bodyPr/>
          <a:lstStyle/>
          <a:p>
            <a:pPr defTabSz="685800">
              <a:defRPr/>
            </a:pPr>
            <a:endParaRPr lang="en-US">
              <a:solidFill>
                <a:srgbClr val="073E87"/>
              </a:solidFill>
              <a:latin typeface="Candara" panose="020E0502030303020204"/>
            </a:endParaRPr>
          </a:p>
        </p:txBody>
      </p:sp>
      <p:sp>
        <p:nvSpPr>
          <p:cNvPr id="9" name="Slide Number Placeholder 8"/>
          <p:cNvSpPr>
            <a:spLocks noGrp="1"/>
          </p:cNvSpPr>
          <p:nvPr>
            <p:ph type="sldNum" sz="quarter" idx="12"/>
          </p:nvPr>
        </p:nvSpPr>
        <p:spPr/>
        <p:txBody>
          <a:body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8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8" name="Footer Placeholder 7"/>
          <p:cNvSpPr>
            <a:spLocks noGrp="1"/>
          </p:cNvSpPr>
          <p:nvPr>
            <p:ph type="ftr" sz="quarter" idx="11"/>
          </p:nvPr>
        </p:nvSpPr>
        <p:spPr/>
        <p:txBody>
          <a:bodyPr/>
          <a:lstStyle/>
          <a:p>
            <a:pPr defTabSz="685800">
              <a:defRPr/>
            </a:pPr>
            <a:endParaRPr lang="en-US">
              <a:solidFill>
                <a:srgbClr val="073E87"/>
              </a:solidFill>
              <a:latin typeface="Candara" panose="020E0502030303020204"/>
            </a:endParaRPr>
          </a:p>
        </p:txBody>
      </p:sp>
      <p:sp>
        <p:nvSpPr>
          <p:cNvPr id="9" name="Slide Number Placeholder 8"/>
          <p:cNvSpPr>
            <a:spLocks noGrp="1"/>
          </p:cNvSpPr>
          <p:nvPr>
            <p:ph type="sldNum" sz="quarter" idx="12"/>
          </p:nvPr>
        </p:nvSpPr>
        <p:spPr/>
        <p:txBody>
          <a:body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7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8" name="Footer Placeholder 7"/>
          <p:cNvSpPr>
            <a:spLocks noGrp="1"/>
          </p:cNvSpPr>
          <p:nvPr>
            <p:ph type="ftr" sz="quarter" idx="11"/>
          </p:nvPr>
        </p:nvSpPr>
        <p:spPr/>
        <p:txBody>
          <a:bodyPr/>
          <a:lstStyle/>
          <a:p>
            <a:pPr defTabSz="685800">
              <a:defRPr/>
            </a:pPr>
            <a:endParaRPr lang="en-US">
              <a:solidFill>
                <a:srgbClr val="073E87"/>
              </a:solidFill>
              <a:latin typeface="Candara" panose="020E0502030303020204"/>
            </a:endParaRPr>
          </a:p>
        </p:txBody>
      </p:sp>
      <p:sp>
        <p:nvSpPr>
          <p:cNvPr id="9" name="Slide Number Placeholder 8"/>
          <p:cNvSpPr>
            <a:spLocks noGrp="1"/>
          </p:cNvSpPr>
          <p:nvPr>
            <p:ph type="sldNum" sz="quarter" idx="12"/>
          </p:nvPr>
        </p:nvSpPr>
        <p:spPr/>
        <p:txBody>
          <a:body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6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8" name="Footer Placeholder 7"/>
          <p:cNvSpPr>
            <a:spLocks noGrp="1"/>
          </p:cNvSpPr>
          <p:nvPr>
            <p:ph type="ftr" sz="quarter" idx="11"/>
          </p:nvPr>
        </p:nvSpPr>
        <p:spPr/>
        <p:txBody>
          <a:bodyPr/>
          <a:lstStyle/>
          <a:p>
            <a:pPr defTabSz="685800">
              <a:defRPr/>
            </a:pPr>
            <a:endParaRPr lang="en-US">
              <a:solidFill>
                <a:srgbClr val="073E87"/>
              </a:solidFill>
              <a:latin typeface="Candara" panose="020E0502030303020204"/>
            </a:endParaRPr>
          </a:p>
        </p:txBody>
      </p:sp>
      <p:sp>
        <p:nvSpPr>
          <p:cNvPr id="9" name="Slide Number Placeholder 8"/>
          <p:cNvSpPr>
            <a:spLocks noGrp="1"/>
          </p:cNvSpPr>
          <p:nvPr>
            <p:ph type="sldNum" sz="quarter" idx="12"/>
          </p:nvPr>
        </p:nvSpPr>
        <p:spPr/>
        <p:txBody>
          <a:body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5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8" name="Footer Placeholder 7"/>
          <p:cNvSpPr>
            <a:spLocks noGrp="1"/>
          </p:cNvSpPr>
          <p:nvPr>
            <p:ph type="ftr" sz="quarter" idx="11"/>
          </p:nvPr>
        </p:nvSpPr>
        <p:spPr/>
        <p:txBody>
          <a:bodyPr/>
          <a:lstStyle/>
          <a:p>
            <a:pPr defTabSz="685800">
              <a:defRPr/>
            </a:pPr>
            <a:endParaRPr lang="en-US">
              <a:solidFill>
                <a:srgbClr val="073E87"/>
              </a:solidFill>
              <a:latin typeface="Candara" panose="020E0502030303020204"/>
            </a:endParaRPr>
          </a:p>
        </p:txBody>
      </p:sp>
      <p:sp>
        <p:nvSpPr>
          <p:cNvPr id="9" name="Slide Number Placeholder 8"/>
          <p:cNvSpPr>
            <a:spLocks noGrp="1"/>
          </p:cNvSpPr>
          <p:nvPr>
            <p:ph type="sldNum" sz="quarter" idx="12"/>
          </p:nvPr>
        </p:nvSpPr>
        <p:spPr/>
        <p:txBody>
          <a:body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8" name="Footer Placeholder 7"/>
          <p:cNvSpPr>
            <a:spLocks noGrp="1"/>
          </p:cNvSpPr>
          <p:nvPr>
            <p:ph type="ftr" sz="quarter" idx="11"/>
          </p:nvPr>
        </p:nvSpPr>
        <p:spPr/>
        <p:txBody>
          <a:bodyPr/>
          <a:lstStyle/>
          <a:p>
            <a:pPr defTabSz="685800">
              <a:defRPr/>
            </a:pPr>
            <a:endParaRPr lang="en-US">
              <a:solidFill>
                <a:srgbClr val="073E87"/>
              </a:solidFill>
              <a:latin typeface="Candara" panose="020E0502030303020204"/>
            </a:endParaRPr>
          </a:p>
        </p:txBody>
      </p:sp>
      <p:sp>
        <p:nvSpPr>
          <p:cNvPr id="9" name="Slide Number Placeholder 8"/>
          <p:cNvSpPr>
            <a:spLocks noGrp="1"/>
          </p:cNvSpPr>
          <p:nvPr>
            <p:ph type="sldNum" sz="quarter" idx="12"/>
          </p:nvPr>
        </p:nvSpPr>
        <p:spPr/>
        <p:txBody>
          <a:body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8" name="Footer Placeholder 7"/>
          <p:cNvSpPr>
            <a:spLocks noGrp="1"/>
          </p:cNvSpPr>
          <p:nvPr>
            <p:ph type="ftr" sz="quarter" idx="11"/>
          </p:nvPr>
        </p:nvSpPr>
        <p:spPr/>
        <p:txBody>
          <a:bodyPr/>
          <a:lstStyle/>
          <a:p>
            <a:pPr defTabSz="685800">
              <a:defRPr/>
            </a:pPr>
            <a:endParaRPr lang="en-US">
              <a:solidFill>
                <a:srgbClr val="073E87"/>
              </a:solidFill>
              <a:latin typeface="Candara" panose="020E0502030303020204"/>
            </a:endParaRPr>
          </a:p>
        </p:txBody>
      </p:sp>
      <p:sp>
        <p:nvSpPr>
          <p:cNvPr id="9" name="Slide Number Placeholder 8"/>
          <p:cNvSpPr>
            <a:spLocks noGrp="1"/>
          </p:cNvSpPr>
          <p:nvPr>
            <p:ph type="sldNum" sz="quarter" idx="12"/>
          </p:nvPr>
        </p:nvSpPr>
        <p:spPr/>
        <p:txBody>
          <a:body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8" name="Footer Placeholder 7"/>
          <p:cNvSpPr>
            <a:spLocks noGrp="1"/>
          </p:cNvSpPr>
          <p:nvPr>
            <p:ph type="ftr" sz="quarter" idx="11"/>
          </p:nvPr>
        </p:nvSpPr>
        <p:spPr/>
        <p:txBody>
          <a:bodyPr/>
          <a:lstStyle/>
          <a:p>
            <a:pPr defTabSz="685800">
              <a:defRPr/>
            </a:pPr>
            <a:endParaRPr lang="en-US">
              <a:solidFill>
                <a:srgbClr val="073E87"/>
              </a:solidFill>
              <a:latin typeface="Candara" panose="020E0502030303020204"/>
            </a:endParaRPr>
          </a:p>
        </p:txBody>
      </p:sp>
      <p:sp>
        <p:nvSpPr>
          <p:cNvPr id="9" name="Slide Number Placeholder 8"/>
          <p:cNvSpPr>
            <a:spLocks noGrp="1"/>
          </p:cNvSpPr>
          <p:nvPr>
            <p:ph type="sldNum" sz="quarter" idx="12"/>
          </p:nvPr>
        </p:nvSpPr>
        <p:spPr/>
        <p:txBody>
          <a:body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8" name="Footer Placeholder 7"/>
          <p:cNvSpPr>
            <a:spLocks noGrp="1"/>
          </p:cNvSpPr>
          <p:nvPr>
            <p:ph type="ftr" sz="quarter" idx="11"/>
          </p:nvPr>
        </p:nvSpPr>
        <p:spPr/>
        <p:txBody>
          <a:bodyPr/>
          <a:lstStyle/>
          <a:p>
            <a:pPr defTabSz="685800">
              <a:defRPr/>
            </a:pPr>
            <a:endParaRPr lang="en-US">
              <a:solidFill>
                <a:srgbClr val="073E87"/>
              </a:solidFill>
              <a:latin typeface="Candara" panose="020E0502030303020204"/>
            </a:endParaRPr>
          </a:p>
        </p:txBody>
      </p:sp>
      <p:sp>
        <p:nvSpPr>
          <p:cNvPr id="9" name="Slide Number Placeholder 8"/>
          <p:cNvSpPr>
            <a:spLocks noGrp="1"/>
          </p:cNvSpPr>
          <p:nvPr>
            <p:ph type="sldNum" sz="quarter" idx="12"/>
          </p:nvPr>
        </p:nvSpPr>
        <p:spPr/>
        <p:txBody>
          <a:body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7" name="Rectangle 6"/>
          <p:cNvSpPr/>
          <p:nvPr/>
        </p:nvSpPr>
        <p:spPr>
          <a:xfrm>
            <a:off x="0" y="3688492"/>
            <a:ext cx="9144000" cy="1455008"/>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5346" y="918972"/>
            <a:ext cx="6960870" cy="2640330"/>
          </a:xfrm>
        </p:spPr>
        <p:txBody>
          <a:bodyPr anchor="ctr">
            <a:normAutofit/>
          </a:bodyPr>
          <a:lstStyle>
            <a:lvl1pPr>
              <a:lnSpc>
                <a:spcPct val="80000"/>
              </a:lnSpc>
              <a:defRPr sz="4800" b="0"/>
            </a:lvl1pPr>
          </a:lstStyle>
          <a:p>
            <a:r>
              <a:rPr lang="en-US"/>
              <a:t>Click to edit Master title style</a:t>
            </a:r>
            <a:endParaRPr lang="en-US" dirty="0"/>
          </a:p>
        </p:txBody>
      </p:sp>
      <p:sp>
        <p:nvSpPr>
          <p:cNvPr id="3" name="Text Placeholder 2"/>
          <p:cNvSpPr>
            <a:spLocks noGrp="1"/>
          </p:cNvSpPr>
          <p:nvPr>
            <p:ph type="body" idx="1"/>
          </p:nvPr>
        </p:nvSpPr>
        <p:spPr>
          <a:xfrm>
            <a:off x="1624330" y="3765042"/>
            <a:ext cx="6789420" cy="800100"/>
          </a:xfrm>
        </p:spPr>
        <p:txBody>
          <a:bodyPr anchor="t">
            <a:normAutofit/>
          </a:bodyPr>
          <a:lstStyle>
            <a:lvl1pPr marL="0" indent="0">
              <a:buNone/>
              <a:defRPr sz="1350" b="0">
                <a:solidFill>
                  <a:schemeClr val="accent1">
                    <a:lumMod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a:xfrm>
            <a:off x="6445251" y="4704589"/>
            <a:ext cx="1983232" cy="273844"/>
          </a:xfrm>
        </p:spPr>
        <p:txBody>
          <a:bodyPr/>
          <a:lstStyle>
            <a:lvl1pPr>
              <a:defRPr>
                <a:solidFill>
                  <a:schemeClr val="accent1">
                    <a:lumMod val="50000"/>
                  </a:schemeClr>
                </a:solidFill>
              </a:defRPr>
            </a:lvl1p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5" name="Footer Placeholder 4"/>
          <p:cNvSpPr>
            <a:spLocks noGrp="1"/>
          </p:cNvSpPr>
          <p:nvPr>
            <p:ph type="ftr" sz="quarter" idx="11"/>
          </p:nvPr>
        </p:nvSpPr>
        <p:spPr>
          <a:xfrm>
            <a:off x="1636099" y="4704588"/>
            <a:ext cx="4745736" cy="273844"/>
          </a:xfrm>
        </p:spPr>
        <p:txBody>
          <a:bodyPr/>
          <a:lstStyle>
            <a:lvl1pPr>
              <a:defRPr>
                <a:solidFill>
                  <a:schemeClr val="accent1">
                    <a:lumMod val="50000"/>
                  </a:schemeClr>
                </a:solidFill>
              </a:defRPr>
            </a:lvl1pPr>
          </a:lstStyle>
          <a:p>
            <a:pPr defTabSz="685800">
              <a:defRPr/>
            </a:pPr>
            <a:endParaRPr lang="en-US">
              <a:solidFill>
                <a:srgbClr val="073E87"/>
              </a:solidFill>
              <a:latin typeface="Candara" panose="020E0502030303020204"/>
            </a:endParaRPr>
          </a:p>
        </p:txBody>
      </p:sp>
      <p:grpSp>
        <p:nvGrpSpPr>
          <p:cNvPr id="8" name="Group 7"/>
          <p:cNvGrpSpPr>
            <a:grpSpLocks noChangeAspect="1"/>
          </p:cNvGrpSpPr>
          <p:nvPr/>
        </p:nvGrpSpPr>
        <p:grpSpPr>
          <a:xfrm>
            <a:off x="633862" y="1822967"/>
            <a:ext cx="914400" cy="685800"/>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645450" y="1881455"/>
            <a:ext cx="891224" cy="540249"/>
          </a:xfrm>
        </p:spPr>
        <p:txBody>
          <a:bodyPr/>
          <a:lstStyle>
            <a:lvl1pPr>
              <a:defRPr sz="2100"/>
            </a:lvl1p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1645920"/>
            <a:ext cx="3657600" cy="2983230"/>
          </a:xfrm>
        </p:spPr>
        <p:txBody>
          <a:bodyPr/>
          <a:lstStyle>
            <a:lvl1pPr>
              <a:defRPr sz="1500"/>
            </a:lvl1pPr>
            <a:lvl2pPr>
              <a:defRPr sz="135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4792218" y="1645920"/>
            <a:ext cx="3657600" cy="2983230"/>
          </a:xfrm>
        </p:spPr>
        <p:txBody>
          <a:bodyPr/>
          <a:lstStyle>
            <a:lvl1pPr>
              <a:defRPr sz="1500"/>
            </a:lvl1pPr>
            <a:lvl2pPr>
              <a:defRPr sz="135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6" name="Footer Placeholder 5"/>
          <p:cNvSpPr>
            <a:spLocks noGrp="1"/>
          </p:cNvSpPr>
          <p:nvPr>
            <p:ph type="ftr" sz="quarter" idx="11"/>
          </p:nvPr>
        </p:nvSpPr>
        <p:spPr/>
        <p:txBody>
          <a:bodyPr/>
          <a:lstStyle/>
          <a:p>
            <a:pPr defTabSz="685800">
              <a:defRPr/>
            </a:pPr>
            <a:endParaRPr lang="en-US">
              <a:solidFill>
                <a:srgbClr val="073E87"/>
              </a:solidFill>
              <a:latin typeface="Candara" panose="020E0502030303020204"/>
            </a:endParaRPr>
          </a:p>
        </p:txBody>
      </p:sp>
      <p:sp>
        <p:nvSpPr>
          <p:cNvPr id="7" name="Slide Number Placeholder 6"/>
          <p:cNvSpPr>
            <a:spLocks noGrp="1"/>
          </p:cNvSpPr>
          <p:nvPr>
            <p:ph type="sldNum" sz="quarter" idx="12"/>
          </p:nvPr>
        </p:nvSpPr>
        <p:spPr/>
        <p:txBody>
          <a:body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85800" y="1536192"/>
            <a:ext cx="3657600" cy="480060"/>
          </a:xfrm>
        </p:spPr>
        <p:txBody>
          <a:bodyPr anchor="ctr">
            <a:normAutofit/>
          </a:bodyPr>
          <a:lstStyle>
            <a:lvl1pPr marL="0" indent="0">
              <a:buNone/>
              <a:defRPr sz="1500" b="1">
                <a:solidFill>
                  <a:schemeClr val="accent1">
                    <a:lumMod val="75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4" name="Content Placeholder 3"/>
          <p:cNvSpPr>
            <a:spLocks noGrp="1"/>
          </p:cNvSpPr>
          <p:nvPr>
            <p:ph sz="half" idx="2"/>
          </p:nvPr>
        </p:nvSpPr>
        <p:spPr>
          <a:xfrm>
            <a:off x="685800" y="2057400"/>
            <a:ext cx="3657600" cy="2468880"/>
          </a:xfrm>
        </p:spPr>
        <p:txBody>
          <a:bodyPr/>
          <a:lstStyle>
            <a:lvl1pPr>
              <a:defRPr sz="1500"/>
            </a:lvl1pPr>
            <a:lvl2pPr>
              <a:defRPr sz="135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4820793" y="1536192"/>
            <a:ext cx="3657600" cy="480060"/>
          </a:xfrm>
        </p:spPr>
        <p:txBody>
          <a:bodyPr anchor="ctr">
            <a:normAutofit/>
          </a:bodyPr>
          <a:lstStyle>
            <a:lvl1pPr marL="0" indent="0">
              <a:buNone/>
              <a:defRPr sz="1500" b="1">
                <a:solidFill>
                  <a:schemeClr val="accent1">
                    <a:lumMod val="75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6" name="Content Placeholder 5"/>
          <p:cNvSpPr>
            <a:spLocks noGrp="1"/>
          </p:cNvSpPr>
          <p:nvPr>
            <p:ph sz="quarter" idx="4"/>
          </p:nvPr>
        </p:nvSpPr>
        <p:spPr>
          <a:xfrm>
            <a:off x="4820793" y="2057400"/>
            <a:ext cx="3657600" cy="2468880"/>
          </a:xfrm>
        </p:spPr>
        <p:txBody>
          <a:bodyPr/>
          <a:lstStyle>
            <a:lvl1pPr>
              <a:defRPr sz="1500"/>
            </a:lvl1pPr>
            <a:lvl2pPr>
              <a:defRPr sz="135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8" name="Footer Placeholder 7"/>
          <p:cNvSpPr>
            <a:spLocks noGrp="1"/>
          </p:cNvSpPr>
          <p:nvPr>
            <p:ph type="ftr" sz="quarter" idx="11"/>
          </p:nvPr>
        </p:nvSpPr>
        <p:spPr/>
        <p:txBody>
          <a:bodyPr/>
          <a:lstStyle/>
          <a:p>
            <a:pPr defTabSz="685800">
              <a:defRPr/>
            </a:pPr>
            <a:endParaRPr lang="en-US">
              <a:solidFill>
                <a:srgbClr val="073E87"/>
              </a:solidFill>
              <a:latin typeface="Candara" panose="020E0502030303020204"/>
            </a:endParaRPr>
          </a:p>
        </p:txBody>
      </p:sp>
      <p:sp>
        <p:nvSpPr>
          <p:cNvPr id="9" name="Slide Number Placeholder 8"/>
          <p:cNvSpPr>
            <a:spLocks noGrp="1"/>
          </p:cNvSpPr>
          <p:nvPr>
            <p:ph type="sldNum" sz="quarter" idx="12"/>
          </p:nvPr>
        </p:nvSpPr>
        <p:spPr/>
        <p:txBody>
          <a:body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pPr defTabSz="685800">
              <a:defRPr/>
            </a:pPr>
            <a:endParaRPr lang="en-US">
              <a:solidFill>
                <a:srgbClr val="073E87"/>
              </a:solidFill>
              <a:latin typeface="Candara" panose="020E0502030303020204"/>
            </a:endParaRPr>
          </a:p>
        </p:txBody>
      </p:sp>
      <p:sp>
        <p:nvSpPr>
          <p:cNvPr id="5" name="Slide Number Placeholder 4"/>
          <p:cNvSpPr>
            <a:spLocks noGrp="1"/>
          </p:cNvSpPr>
          <p:nvPr>
            <p:ph type="sldNum" sz="quarter" idx="12"/>
          </p:nvPr>
        </p:nvSpPr>
        <p:spPr/>
        <p:txBody>
          <a:body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27_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pPr defTabSz="685800">
              <a:defRPr/>
            </a:pPr>
            <a:endParaRPr lang="en-US">
              <a:solidFill>
                <a:srgbClr val="073E87"/>
              </a:solidFill>
              <a:latin typeface="Candara" panose="020E0502030303020204"/>
            </a:endParaRPr>
          </a:p>
        </p:txBody>
      </p:sp>
      <p:sp>
        <p:nvSpPr>
          <p:cNvPr id="5" name="Slide Number Placeholder 4"/>
          <p:cNvSpPr>
            <a:spLocks noGrp="1"/>
          </p:cNvSpPr>
          <p:nvPr>
            <p:ph type="sldNum" sz="quarter" idx="12"/>
          </p:nvPr>
        </p:nvSpPr>
        <p:spPr/>
        <p:txBody>
          <a:body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26_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pPr defTabSz="685800">
              <a:defRPr/>
            </a:pPr>
            <a:endParaRPr lang="en-US">
              <a:solidFill>
                <a:srgbClr val="073E87"/>
              </a:solidFill>
              <a:latin typeface="Candara" panose="020E0502030303020204"/>
            </a:endParaRPr>
          </a:p>
        </p:txBody>
      </p:sp>
      <p:sp>
        <p:nvSpPr>
          <p:cNvPr id="5" name="Slide Number Placeholder 4"/>
          <p:cNvSpPr>
            <a:spLocks noGrp="1"/>
          </p:cNvSpPr>
          <p:nvPr>
            <p:ph type="sldNum" sz="quarter" idx="12"/>
          </p:nvPr>
        </p:nvSpPr>
        <p:spPr/>
        <p:txBody>
          <a:body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25_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pPr defTabSz="685800">
              <a:defRPr/>
            </a:pPr>
            <a:endParaRPr lang="en-US">
              <a:solidFill>
                <a:srgbClr val="073E87"/>
              </a:solidFill>
              <a:latin typeface="Candara" panose="020E0502030303020204"/>
            </a:endParaRPr>
          </a:p>
        </p:txBody>
      </p:sp>
      <p:sp>
        <p:nvSpPr>
          <p:cNvPr id="5" name="Slide Number Placeholder 4"/>
          <p:cNvSpPr>
            <a:spLocks noGrp="1"/>
          </p:cNvSpPr>
          <p:nvPr>
            <p:ph type="sldNum" sz="quarter" idx="12"/>
          </p:nvPr>
        </p:nvSpPr>
        <p:spPr/>
        <p:txBody>
          <a:body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24_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pPr defTabSz="685800">
              <a:defRPr/>
            </a:pPr>
            <a:endParaRPr lang="en-US">
              <a:solidFill>
                <a:srgbClr val="073E87"/>
              </a:solidFill>
              <a:latin typeface="Candara" panose="020E0502030303020204"/>
            </a:endParaRPr>
          </a:p>
        </p:txBody>
      </p:sp>
      <p:sp>
        <p:nvSpPr>
          <p:cNvPr id="5" name="Slide Number Placeholder 4"/>
          <p:cNvSpPr>
            <a:spLocks noGrp="1"/>
          </p:cNvSpPr>
          <p:nvPr>
            <p:ph type="sldNum" sz="quarter" idx="12"/>
          </p:nvPr>
        </p:nvSpPr>
        <p:spPr/>
        <p:txBody>
          <a:body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23_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pPr defTabSz="685800">
              <a:defRPr/>
            </a:pPr>
            <a:endParaRPr lang="en-US">
              <a:solidFill>
                <a:srgbClr val="073E87"/>
              </a:solidFill>
              <a:latin typeface="Candara" panose="020E0502030303020204"/>
            </a:endParaRPr>
          </a:p>
        </p:txBody>
      </p:sp>
      <p:sp>
        <p:nvSpPr>
          <p:cNvPr id="5" name="Slide Number Placeholder 4"/>
          <p:cNvSpPr>
            <a:spLocks noGrp="1"/>
          </p:cNvSpPr>
          <p:nvPr>
            <p:ph type="sldNum" sz="quarter" idx="12"/>
          </p:nvPr>
        </p:nvSpPr>
        <p:spPr/>
        <p:txBody>
          <a:body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22_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pPr defTabSz="685800">
              <a:defRPr/>
            </a:pPr>
            <a:endParaRPr lang="en-US">
              <a:solidFill>
                <a:srgbClr val="073E87"/>
              </a:solidFill>
              <a:latin typeface="Candara" panose="020E0502030303020204"/>
            </a:endParaRPr>
          </a:p>
        </p:txBody>
      </p:sp>
      <p:sp>
        <p:nvSpPr>
          <p:cNvPr id="5" name="Slide Number Placeholder 4"/>
          <p:cNvSpPr>
            <a:spLocks noGrp="1"/>
          </p:cNvSpPr>
          <p:nvPr>
            <p:ph type="sldNum" sz="quarter" idx="12"/>
          </p:nvPr>
        </p:nvSpPr>
        <p:spPr/>
        <p:txBody>
          <a:body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21_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pPr defTabSz="685800">
              <a:defRPr/>
            </a:pPr>
            <a:endParaRPr lang="en-US">
              <a:solidFill>
                <a:srgbClr val="073E87"/>
              </a:solidFill>
              <a:latin typeface="Candara" panose="020E0502030303020204"/>
            </a:endParaRPr>
          </a:p>
        </p:txBody>
      </p:sp>
      <p:sp>
        <p:nvSpPr>
          <p:cNvPr id="5" name="Slide Number Placeholder 4"/>
          <p:cNvSpPr>
            <a:spLocks noGrp="1"/>
          </p:cNvSpPr>
          <p:nvPr>
            <p:ph type="sldNum" sz="quarter" idx="12"/>
          </p:nvPr>
        </p:nvSpPr>
        <p:spPr/>
        <p:txBody>
          <a:body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20_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pPr defTabSz="685800">
              <a:defRPr/>
            </a:pPr>
            <a:endParaRPr lang="en-US">
              <a:solidFill>
                <a:srgbClr val="073E87"/>
              </a:solidFill>
              <a:latin typeface="Candara" panose="020E0502030303020204"/>
            </a:endParaRPr>
          </a:p>
        </p:txBody>
      </p:sp>
      <p:sp>
        <p:nvSpPr>
          <p:cNvPr id="5" name="Slide Number Placeholder 4"/>
          <p:cNvSpPr>
            <a:spLocks noGrp="1"/>
          </p:cNvSpPr>
          <p:nvPr>
            <p:ph type="sldNum" sz="quarter" idx="12"/>
          </p:nvPr>
        </p:nvSpPr>
        <p:spPr/>
        <p:txBody>
          <a:body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19_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pPr defTabSz="685800">
              <a:defRPr/>
            </a:pPr>
            <a:endParaRPr lang="en-US">
              <a:solidFill>
                <a:srgbClr val="073E87"/>
              </a:solidFill>
              <a:latin typeface="Candara" panose="020E0502030303020204"/>
            </a:endParaRPr>
          </a:p>
        </p:txBody>
      </p:sp>
      <p:sp>
        <p:nvSpPr>
          <p:cNvPr id="5" name="Slide Number Placeholder 4"/>
          <p:cNvSpPr>
            <a:spLocks noGrp="1"/>
          </p:cNvSpPr>
          <p:nvPr>
            <p:ph type="sldNum" sz="quarter" idx="12"/>
          </p:nvPr>
        </p:nvSpPr>
        <p:spPr/>
        <p:txBody>
          <a:body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18_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pPr defTabSz="685800">
              <a:defRPr/>
            </a:pPr>
            <a:endParaRPr lang="en-US">
              <a:solidFill>
                <a:srgbClr val="073E87"/>
              </a:solidFill>
              <a:latin typeface="Candara" panose="020E0502030303020204"/>
            </a:endParaRPr>
          </a:p>
        </p:txBody>
      </p:sp>
      <p:sp>
        <p:nvSpPr>
          <p:cNvPr id="5" name="Slide Number Placeholder 4"/>
          <p:cNvSpPr>
            <a:spLocks noGrp="1"/>
          </p:cNvSpPr>
          <p:nvPr>
            <p:ph type="sldNum" sz="quarter" idx="12"/>
          </p:nvPr>
        </p:nvSpPr>
        <p:spPr/>
        <p:txBody>
          <a:body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17_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pPr defTabSz="685800">
              <a:defRPr/>
            </a:pPr>
            <a:endParaRPr lang="en-US">
              <a:solidFill>
                <a:srgbClr val="073E87"/>
              </a:solidFill>
              <a:latin typeface="Candara" panose="020E0502030303020204"/>
            </a:endParaRPr>
          </a:p>
        </p:txBody>
      </p:sp>
      <p:sp>
        <p:nvSpPr>
          <p:cNvPr id="5" name="Slide Number Placeholder 4"/>
          <p:cNvSpPr>
            <a:spLocks noGrp="1"/>
          </p:cNvSpPr>
          <p:nvPr>
            <p:ph type="sldNum" sz="quarter" idx="12"/>
          </p:nvPr>
        </p:nvSpPr>
        <p:spPr/>
        <p:txBody>
          <a:body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16_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pPr defTabSz="685800">
              <a:defRPr/>
            </a:pPr>
            <a:endParaRPr lang="en-US">
              <a:solidFill>
                <a:srgbClr val="073E87"/>
              </a:solidFill>
              <a:latin typeface="Candara" panose="020E0502030303020204"/>
            </a:endParaRPr>
          </a:p>
        </p:txBody>
      </p:sp>
      <p:sp>
        <p:nvSpPr>
          <p:cNvPr id="5" name="Slide Number Placeholder 4"/>
          <p:cNvSpPr>
            <a:spLocks noGrp="1"/>
          </p:cNvSpPr>
          <p:nvPr>
            <p:ph type="sldNum" sz="quarter" idx="12"/>
          </p:nvPr>
        </p:nvSpPr>
        <p:spPr/>
        <p:txBody>
          <a:body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15_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pPr defTabSz="685800">
              <a:defRPr/>
            </a:pPr>
            <a:endParaRPr lang="en-US">
              <a:solidFill>
                <a:srgbClr val="073E87"/>
              </a:solidFill>
              <a:latin typeface="Candara" panose="020E0502030303020204"/>
            </a:endParaRPr>
          </a:p>
        </p:txBody>
      </p:sp>
      <p:sp>
        <p:nvSpPr>
          <p:cNvPr id="5" name="Slide Number Placeholder 4"/>
          <p:cNvSpPr>
            <a:spLocks noGrp="1"/>
          </p:cNvSpPr>
          <p:nvPr>
            <p:ph type="sldNum" sz="quarter" idx="12"/>
          </p:nvPr>
        </p:nvSpPr>
        <p:spPr/>
        <p:txBody>
          <a:body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14_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pPr defTabSz="685800">
              <a:defRPr/>
            </a:pPr>
            <a:endParaRPr lang="en-US">
              <a:solidFill>
                <a:srgbClr val="073E87"/>
              </a:solidFill>
              <a:latin typeface="Candara" panose="020E0502030303020204"/>
            </a:endParaRPr>
          </a:p>
        </p:txBody>
      </p:sp>
      <p:sp>
        <p:nvSpPr>
          <p:cNvPr id="5" name="Slide Number Placeholder 4"/>
          <p:cNvSpPr>
            <a:spLocks noGrp="1"/>
          </p:cNvSpPr>
          <p:nvPr>
            <p:ph type="sldNum" sz="quarter" idx="12"/>
          </p:nvPr>
        </p:nvSpPr>
        <p:spPr/>
        <p:txBody>
          <a:body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Only" preserve="1">
  <p:cSld name="13_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pPr defTabSz="685800">
              <a:defRPr/>
            </a:pPr>
            <a:endParaRPr lang="en-US">
              <a:solidFill>
                <a:srgbClr val="073E87"/>
              </a:solidFill>
              <a:latin typeface="Candara" panose="020E0502030303020204"/>
            </a:endParaRPr>
          </a:p>
        </p:txBody>
      </p:sp>
      <p:sp>
        <p:nvSpPr>
          <p:cNvPr id="5" name="Slide Number Placeholder 4"/>
          <p:cNvSpPr>
            <a:spLocks noGrp="1"/>
          </p:cNvSpPr>
          <p:nvPr>
            <p:ph type="sldNum" sz="quarter" idx="12"/>
          </p:nvPr>
        </p:nvSpPr>
        <p:spPr/>
        <p:txBody>
          <a:body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12_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pPr defTabSz="685800">
              <a:defRPr/>
            </a:pPr>
            <a:endParaRPr lang="en-US">
              <a:solidFill>
                <a:srgbClr val="073E87"/>
              </a:solidFill>
              <a:latin typeface="Candara" panose="020E0502030303020204"/>
            </a:endParaRPr>
          </a:p>
        </p:txBody>
      </p:sp>
      <p:sp>
        <p:nvSpPr>
          <p:cNvPr id="5" name="Slide Number Placeholder 4"/>
          <p:cNvSpPr>
            <a:spLocks noGrp="1"/>
          </p:cNvSpPr>
          <p:nvPr>
            <p:ph type="sldNum" sz="quarter" idx="12"/>
          </p:nvPr>
        </p:nvSpPr>
        <p:spPr/>
        <p:txBody>
          <a:body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11_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pPr defTabSz="685800">
              <a:defRPr/>
            </a:pPr>
            <a:endParaRPr lang="en-US">
              <a:solidFill>
                <a:srgbClr val="073E87"/>
              </a:solidFill>
              <a:latin typeface="Candara" panose="020E0502030303020204"/>
            </a:endParaRPr>
          </a:p>
        </p:txBody>
      </p:sp>
      <p:sp>
        <p:nvSpPr>
          <p:cNvPr id="5" name="Slide Number Placeholder 4"/>
          <p:cNvSpPr>
            <a:spLocks noGrp="1"/>
          </p:cNvSpPr>
          <p:nvPr>
            <p:ph type="sldNum" sz="quarter" idx="12"/>
          </p:nvPr>
        </p:nvSpPr>
        <p:spPr/>
        <p:txBody>
          <a:body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10_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pPr defTabSz="685800">
              <a:defRPr/>
            </a:pPr>
            <a:endParaRPr lang="en-US">
              <a:solidFill>
                <a:srgbClr val="073E87"/>
              </a:solidFill>
              <a:latin typeface="Candara" panose="020E0502030303020204"/>
            </a:endParaRPr>
          </a:p>
        </p:txBody>
      </p:sp>
      <p:sp>
        <p:nvSpPr>
          <p:cNvPr id="5" name="Slide Number Placeholder 4"/>
          <p:cNvSpPr>
            <a:spLocks noGrp="1"/>
          </p:cNvSpPr>
          <p:nvPr>
            <p:ph type="sldNum" sz="quarter" idx="12"/>
          </p:nvPr>
        </p:nvSpPr>
        <p:spPr/>
        <p:txBody>
          <a:body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9_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pPr defTabSz="685800">
              <a:defRPr/>
            </a:pPr>
            <a:endParaRPr lang="en-US">
              <a:solidFill>
                <a:srgbClr val="073E87"/>
              </a:solidFill>
              <a:latin typeface="Candara" panose="020E0502030303020204"/>
            </a:endParaRPr>
          </a:p>
        </p:txBody>
      </p:sp>
      <p:sp>
        <p:nvSpPr>
          <p:cNvPr id="5" name="Slide Number Placeholder 4"/>
          <p:cNvSpPr>
            <a:spLocks noGrp="1"/>
          </p:cNvSpPr>
          <p:nvPr>
            <p:ph type="sldNum" sz="quarter" idx="12"/>
          </p:nvPr>
        </p:nvSpPr>
        <p:spPr/>
        <p:txBody>
          <a:body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8_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pPr defTabSz="685800">
              <a:defRPr/>
            </a:pPr>
            <a:endParaRPr lang="en-US">
              <a:solidFill>
                <a:srgbClr val="073E87"/>
              </a:solidFill>
              <a:latin typeface="Candara" panose="020E0502030303020204"/>
            </a:endParaRPr>
          </a:p>
        </p:txBody>
      </p:sp>
      <p:sp>
        <p:nvSpPr>
          <p:cNvPr id="5" name="Slide Number Placeholder 4"/>
          <p:cNvSpPr>
            <a:spLocks noGrp="1"/>
          </p:cNvSpPr>
          <p:nvPr>
            <p:ph type="sldNum" sz="quarter" idx="12"/>
          </p:nvPr>
        </p:nvSpPr>
        <p:spPr/>
        <p:txBody>
          <a:body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7_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pPr defTabSz="685800">
              <a:defRPr/>
            </a:pPr>
            <a:endParaRPr lang="en-US">
              <a:solidFill>
                <a:srgbClr val="073E87"/>
              </a:solidFill>
              <a:latin typeface="Candara" panose="020E0502030303020204"/>
            </a:endParaRPr>
          </a:p>
        </p:txBody>
      </p:sp>
      <p:sp>
        <p:nvSpPr>
          <p:cNvPr id="5" name="Slide Number Placeholder 4"/>
          <p:cNvSpPr>
            <a:spLocks noGrp="1"/>
          </p:cNvSpPr>
          <p:nvPr>
            <p:ph type="sldNum" sz="quarter" idx="12"/>
          </p:nvPr>
        </p:nvSpPr>
        <p:spPr/>
        <p:txBody>
          <a:body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6_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pPr defTabSz="685800">
              <a:defRPr/>
            </a:pPr>
            <a:endParaRPr lang="en-US">
              <a:solidFill>
                <a:srgbClr val="073E87"/>
              </a:solidFill>
              <a:latin typeface="Candara" panose="020E0502030303020204"/>
            </a:endParaRPr>
          </a:p>
        </p:txBody>
      </p:sp>
      <p:sp>
        <p:nvSpPr>
          <p:cNvPr id="5" name="Slide Number Placeholder 4"/>
          <p:cNvSpPr>
            <a:spLocks noGrp="1"/>
          </p:cNvSpPr>
          <p:nvPr>
            <p:ph type="sldNum" sz="quarter" idx="12"/>
          </p:nvPr>
        </p:nvSpPr>
        <p:spPr/>
        <p:txBody>
          <a:body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5_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pPr defTabSz="685800">
              <a:defRPr/>
            </a:pPr>
            <a:endParaRPr lang="en-US">
              <a:solidFill>
                <a:srgbClr val="073E87"/>
              </a:solidFill>
              <a:latin typeface="Candara" panose="020E0502030303020204"/>
            </a:endParaRPr>
          </a:p>
        </p:txBody>
      </p:sp>
      <p:sp>
        <p:nvSpPr>
          <p:cNvPr id="5" name="Slide Number Placeholder 4"/>
          <p:cNvSpPr>
            <a:spLocks noGrp="1"/>
          </p:cNvSpPr>
          <p:nvPr>
            <p:ph type="sldNum" sz="quarter" idx="12"/>
          </p:nvPr>
        </p:nvSpPr>
        <p:spPr/>
        <p:txBody>
          <a:body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4_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pPr defTabSz="685800">
              <a:defRPr/>
            </a:pPr>
            <a:endParaRPr lang="en-US">
              <a:solidFill>
                <a:srgbClr val="073E87"/>
              </a:solidFill>
              <a:latin typeface="Candara" panose="020E0502030303020204"/>
            </a:endParaRPr>
          </a:p>
        </p:txBody>
      </p:sp>
      <p:sp>
        <p:nvSpPr>
          <p:cNvPr id="5" name="Slide Number Placeholder 4"/>
          <p:cNvSpPr>
            <a:spLocks noGrp="1"/>
          </p:cNvSpPr>
          <p:nvPr>
            <p:ph type="sldNum" sz="quarter" idx="12"/>
          </p:nvPr>
        </p:nvSpPr>
        <p:spPr/>
        <p:txBody>
          <a:body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3_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pPr defTabSz="685800">
              <a:defRPr/>
            </a:pPr>
            <a:endParaRPr lang="en-US">
              <a:solidFill>
                <a:srgbClr val="073E87"/>
              </a:solidFill>
              <a:latin typeface="Candara" panose="020E0502030303020204"/>
            </a:endParaRPr>
          </a:p>
        </p:txBody>
      </p:sp>
      <p:sp>
        <p:nvSpPr>
          <p:cNvPr id="5" name="Slide Number Placeholder 4"/>
          <p:cNvSpPr>
            <a:spLocks noGrp="1"/>
          </p:cNvSpPr>
          <p:nvPr>
            <p:ph type="sldNum" sz="quarter" idx="12"/>
          </p:nvPr>
        </p:nvSpPr>
        <p:spPr/>
        <p:txBody>
          <a:body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2_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pPr defTabSz="685800">
              <a:defRPr/>
            </a:pPr>
            <a:endParaRPr lang="en-US">
              <a:solidFill>
                <a:srgbClr val="073E87"/>
              </a:solidFill>
              <a:latin typeface="Candara" panose="020E0502030303020204"/>
            </a:endParaRPr>
          </a:p>
        </p:txBody>
      </p:sp>
      <p:sp>
        <p:nvSpPr>
          <p:cNvPr id="5" name="Slide Number Placeholder 4"/>
          <p:cNvSpPr>
            <a:spLocks noGrp="1"/>
          </p:cNvSpPr>
          <p:nvPr>
            <p:ph type="sldNum" sz="quarter" idx="12"/>
          </p:nvPr>
        </p:nvSpPr>
        <p:spPr/>
        <p:txBody>
          <a:body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pPr defTabSz="685800">
              <a:defRPr/>
            </a:pPr>
            <a:endParaRPr lang="en-US">
              <a:solidFill>
                <a:srgbClr val="073E87"/>
              </a:solidFill>
              <a:latin typeface="Candara" panose="020E0502030303020204"/>
            </a:endParaRPr>
          </a:p>
        </p:txBody>
      </p:sp>
      <p:sp>
        <p:nvSpPr>
          <p:cNvPr id="5" name="Slide Number Placeholder 4"/>
          <p:cNvSpPr>
            <a:spLocks noGrp="1"/>
          </p:cNvSpPr>
          <p:nvPr>
            <p:ph type="sldNum" sz="quarter" idx="12"/>
          </p:nvPr>
        </p:nvSpPr>
        <p:spPr/>
        <p:txBody>
          <a:body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3" name="Footer Placeholder 2"/>
          <p:cNvSpPr>
            <a:spLocks noGrp="1"/>
          </p:cNvSpPr>
          <p:nvPr>
            <p:ph type="ftr" sz="quarter" idx="11"/>
          </p:nvPr>
        </p:nvSpPr>
        <p:spPr/>
        <p:txBody>
          <a:bodyPr/>
          <a:lstStyle/>
          <a:p>
            <a:pPr defTabSz="685800">
              <a:defRPr/>
            </a:pPr>
            <a:endParaRPr lang="en-US">
              <a:solidFill>
                <a:srgbClr val="073E87"/>
              </a:solidFill>
              <a:latin typeface="Candara" panose="020E0502030303020204"/>
            </a:endParaRPr>
          </a:p>
        </p:txBody>
      </p:sp>
      <p:sp>
        <p:nvSpPr>
          <p:cNvPr id="4" name="Slide Number Placeholder 3"/>
          <p:cNvSpPr>
            <a:spLocks noGrp="1"/>
          </p:cNvSpPr>
          <p:nvPr>
            <p:ph type="sldNum" sz="quarter" idx="12"/>
          </p:nvPr>
        </p:nvSpPr>
        <p:spPr/>
        <p:txBody>
          <a:body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8" name="Rectangle 7"/>
          <p:cNvSpPr/>
          <p:nvPr/>
        </p:nvSpPr>
        <p:spPr>
          <a:xfrm>
            <a:off x="6227806" y="1"/>
            <a:ext cx="2916194" cy="51434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514350"/>
            <a:ext cx="2400300" cy="1303020"/>
          </a:xfrm>
        </p:spPr>
        <p:txBody>
          <a:bodyPr anchor="b">
            <a:normAutofit/>
          </a:bodyPr>
          <a:lstStyle>
            <a:lvl1pPr>
              <a:defRPr sz="2100" b="0"/>
            </a:lvl1pPr>
          </a:lstStyle>
          <a:p>
            <a:r>
              <a:rPr lang="en-US"/>
              <a:t>Click to edit Master title style</a:t>
            </a:r>
            <a:endParaRPr lang="en-US" dirty="0"/>
          </a:p>
        </p:txBody>
      </p:sp>
      <p:sp>
        <p:nvSpPr>
          <p:cNvPr id="3" name="Content Placeholder 2"/>
          <p:cNvSpPr>
            <a:spLocks noGrp="1"/>
          </p:cNvSpPr>
          <p:nvPr>
            <p:ph idx="1"/>
          </p:nvPr>
        </p:nvSpPr>
        <p:spPr>
          <a:xfrm>
            <a:off x="628650" y="514350"/>
            <a:ext cx="5033772" cy="3765042"/>
          </a:xfrm>
        </p:spPr>
        <p:txBody>
          <a:bodyPr/>
          <a:lstStyle>
            <a:lvl1pPr>
              <a:defRPr sz="1500"/>
            </a:lvl1pPr>
            <a:lvl2pPr>
              <a:defRPr sz="135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412230" y="1817370"/>
            <a:ext cx="2400300" cy="2468880"/>
          </a:xfrm>
        </p:spPr>
        <p:txBody>
          <a:bodyPr>
            <a:normAutofit/>
          </a:bodyPr>
          <a:lstStyle>
            <a:lvl1pPr marL="0" indent="0">
              <a:lnSpc>
                <a:spcPct val="100000"/>
              </a:lnSpc>
              <a:spcBef>
                <a:spcPts val="750"/>
              </a:spcBef>
              <a:buNone/>
              <a:defRPr sz="1015">
                <a:solidFill>
                  <a:schemeClr val="accent1">
                    <a:lumMod val="50000"/>
                  </a:schemeClr>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endParaRPr lang="en-US"/>
          </a:p>
        </p:txBody>
      </p:sp>
      <p:grpSp>
        <p:nvGrpSpPr>
          <p:cNvPr id="12" name="Group 11"/>
          <p:cNvGrpSpPr/>
          <p:nvPr/>
        </p:nvGrpSpPr>
        <p:grpSpPr>
          <a:xfrm>
            <a:off x="8522664" y="4691444"/>
            <a:ext cx="393192" cy="294894"/>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brightnessContrast bright="-40000" contrast="20000"/>
                        </a14:imgEffect>
                        <a14:imgEffect>
                          <a14:saturation sat="95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9" name="Date Placeholder 8"/>
          <p:cNvSpPr>
            <a:spLocks noGrp="1"/>
          </p:cNvSpPr>
          <p:nvPr>
            <p:ph type="dt" sz="half" idx="10"/>
          </p:nvPr>
        </p:nvSpPr>
        <p:spPr/>
        <p:txBody>
          <a:body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10" name="Footer Placeholder 9"/>
          <p:cNvSpPr>
            <a:spLocks noGrp="1"/>
          </p:cNvSpPr>
          <p:nvPr>
            <p:ph type="ftr" sz="quarter" idx="11"/>
          </p:nvPr>
        </p:nvSpPr>
        <p:spPr/>
        <p:txBody>
          <a:bodyPr/>
          <a:lstStyle/>
          <a:p>
            <a:pPr defTabSz="685800">
              <a:defRPr/>
            </a:pPr>
            <a:endParaRPr lang="en-US">
              <a:solidFill>
                <a:srgbClr val="073E87"/>
              </a:solidFill>
              <a:latin typeface="Candara" panose="020E0502030303020204"/>
            </a:endParaRPr>
          </a:p>
        </p:txBody>
      </p:sp>
      <p:sp>
        <p:nvSpPr>
          <p:cNvPr id="11" name="Slide Number Placeholder 10"/>
          <p:cNvSpPr>
            <a:spLocks noGrp="1"/>
          </p:cNvSpPr>
          <p:nvPr>
            <p:ph type="sldNum" sz="quarter" idx="12"/>
          </p:nvPr>
        </p:nvSpPr>
        <p:spPr/>
        <p:txBody>
          <a:body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11" name="Rectangle 10"/>
          <p:cNvSpPr/>
          <p:nvPr/>
        </p:nvSpPr>
        <p:spPr>
          <a:xfrm>
            <a:off x="6227806" y="1"/>
            <a:ext cx="2916194" cy="51434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514350"/>
            <a:ext cx="2400300" cy="1303020"/>
          </a:xfrm>
        </p:spPr>
        <p:txBody>
          <a:bodyPr anchor="b">
            <a:normAutofit/>
          </a:bodyPr>
          <a:lstStyle>
            <a:lvl1pPr>
              <a:defRPr sz="21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 y="0"/>
            <a:ext cx="6227805" cy="5143500"/>
          </a:xfrm>
          <a:solidFill>
            <a:schemeClr val="tx2">
              <a:lumMod val="20000"/>
              <a:lumOff val="80000"/>
            </a:schemeClr>
          </a:solidFill>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412230" y="1817370"/>
            <a:ext cx="2400300" cy="2468880"/>
          </a:xfrm>
        </p:spPr>
        <p:txBody>
          <a:bodyPr>
            <a:normAutofit/>
          </a:bodyPr>
          <a:lstStyle>
            <a:lvl1pPr marL="0" indent="0">
              <a:lnSpc>
                <a:spcPct val="100000"/>
              </a:lnSpc>
              <a:spcBef>
                <a:spcPts val="750"/>
              </a:spcBef>
              <a:buNone/>
              <a:defRPr sz="1015">
                <a:solidFill>
                  <a:schemeClr val="accent1">
                    <a:lumMod val="50000"/>
                  </a:schemeClr>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endParaRPr lang="en-US"/>
          </a:p>
        </p:txBody>
      </p:sp>
      <p:grpSp>
        <p:nvGrpSpPr>
          <p:cNvPr id="12" name="Group 11"/>
          <p:cNvGrpSpPr/>
          <p:nvPr/>
        </p:nvGrpSpPr>
        <p:grpSpPr>
          <a:xfrm>
            <a:off x="8522664" y="4691444"/>
            <a:ext cx="393192" cy="294894"/>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brightnessContrast bright="-40000" contrast="20000"/>
                        </a14:imgEffect>
                        <a14:imgEffect>
                          <a14:saturation sat="95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8" name="Date Placeholder 7"/>
          <p:cNvSpPr>
            <a:spLocks noGrp="1"/>
          </p:cNvSpPr>
          <p:nvPr>
            <p:ph type="dt" sz="half" idx="10"/>
          </p:nvPr>
        </p:nvSpPr>
        <p:spPr/>
        <p:txBody>
          <a:body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10" name="Slide Number Placeholder 9"/>
          <p:cNvSpPr>
            <a:spLocks noGrp="1"/>
          </p:cNvSpPr>
          <p:nvPr>
            <p:ph type="sldNum" sz="quarter" idx="12"/>
          </p:nvPr>
        </p:nvSpPr>
        <p:spPr/>
        <p:txBody>
          <a:body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8" name="Footer Placeholder 7"/>
          <p:cNvSpPr>
            <a:spLocks noGrp="1"/>
          </p:cNvSpPr>
          <p:nvPr>
            <p:ph type="ftr" sz="quarter" idx="11"/>
          </p:nvPr>
        </p:nvSpPr>
        <p:spPr/>
        <p:txBody>
          <a:bodyPr/>
          <a:lstStyle/>
          <a:p>
            <a:pPr defTabSz="685800">
              <a:defRPr/>
            </a:pPr>
            <a:endParaRPr lang="en-US">
              <a:solidFill>
                <a:srgbClr val="073E87"/>
              </a:solidFill>
              <a:latin typeface="Candara" panose="020E0502030303020204"/>
            </a:endParaRPr>
          </a:p>
        </p:txBody>
      </p:sp>
      <p:sp>
        <p:nvSpPr>
          <p:cNvPr id="9" name="Slide Number Placeholder 8"/>
          <p:cNvSpPr>
            <a:spLocks noGrp="1"/>
          </p:cNvSpPr>
          <p:nvPr>
            <p:ph type="sldNum" sz="quarter" idx="12"/>
          </p:nvPr>
        </p:nvSpPr>
        <p:spPr/>
        <p:txBody>
          <a:body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400050"/>
            <a:ext cx="1914525" cy="4229100"/>
          </a:xfrm>
        </p:spPr>
        <p:txBody>
          <a:bodyPr vert="eaVert"/>
          <a:lstStyle>
            <a:lvl1pPr>
              <a:defRPr b="0"/>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00101" y="400050"/>
            <a:ext cx="5629275" cy="422910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8" name="Footer Placeholder 7"/>
          <p:cNvSpPr>
            <a:spLocks noGrp="1"/>
          </p:cNvSpPr>
          <p:nvPr>
            <p:ph type="ftr" sz="quarter" idx="11"/>
          </p:nvPr>
        </p:nvSpPr>
        <p:spPr/>
        <p:txBody>
          <a:bodyPr/>
          <a:lstStyle/>
          <a:p>
            <a:pPr defTabSz="685800">
              <a:defRPr/>
            </a:pPr>
            <a:endParaRPr lang="en-US">
              <a:solidFill>
                <a:srgbClr val="073E87"/>
              </a:solidFill>
              <a:latin typeface="Candara" panose="020E0502030303020204"/>
            </a:endParaRPr>
          </a:p>
        </p:txBody>
      </p:sp>
      <p:sp>
        <p:nvSpPr>
          <p:cNvPr id="9" name="Slide Number Placeholder 8"/>
          <p:cNvSpPr>
            <a:spLocks noGrp="1"/>
          </p:cNvSpPr>
          <p:nvPr>
            <p:ph type="sldNum" sz="quarter" idx="12"/>
          </p:nvPr>
        </p:nvSpPr>
        <p:spPr/>
        <p:txBody>
          <a:body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0.xml"/><Relationship Id="rId8" Type="http://schemas.openxmlformats.org/officeDocument/2006/relationships/slideLayout" Target="../slideLayouts/slideLayout9.xml"/><Relationship Id="rId7" Type="http://schemas.openxmlformats.org/officeDocument/2006/relationships/slideLayout" Target="../slideLayouts/slideLayout8.xml"/><Relationship Id="rId6" Type="http://schemas.openxmlformats.org/officeDocument/2006/relationships/slideLayout" Target="../slideLayouts/slideLayout7.xml"/><Relationship Id="rId57" Type="http://schemas.openxmlformats.org/officeDocument/2006/relationships/theme" Target="../theme/theme2.xml"/><Relationship Id="rId56" Type="http://schemas.openxmlformats.org/officeDocument/2006/relationships/image" Target="../media/image3.png"/><Relationship Id="rId55" Type="http://schemas.microsoft.com/office/2007/relationships/hdphoto" Target="../media/image4.wdp"/><Relationship Id="rId54" Type="http://schemas.openxmlformats.org/officeDocument/2006/relationships/image" Target="../media/image5.png"/><Relationship Id="rId53" Type="http://schemas.openxmlformats.org/officeDocument/2006/relationships/slideLayout" Target="../slideLayouts/slideLayout54.xml"/><Relationship Id="rId52" Type="http://schemas.openxmlformats.org/officeDocument/2006/relationships/slideLayout" Target="../slideLayouts/slideLayout53.xml"/><Relationship Id="rId51" Type="http://schemas.openxmlformats.org/officeDocument/2006/relationships/slideLayout" Target="../slideLayouts/slideLayout52.xml"/><Relationship Id="rId50" Type="http://schemas.openxmlformats.org/officeDocument/2006/relationships/slideLayout" Target="../slideLayouts/slideLayout51.xml"/><Relationship Id="rId5" Type="http://schemas.openxmlformats.org/officeDocument/2006/relationships/slideLayout" Target="../slideLayouts/slideLayout6.xml"/><Relationship Id="rId49" Type="http://schemas.openxmlformats.org/officeDocument/2006/relationships/slideLayout" Target="../slideLayouts/slideLayout50.xml"/><Relationship Id="rId48" Type="http://schemas.openxmlformats.org/officeDocument/2006/relationships/slideLayout" Target="../slideLayouts/slideLayout49.xml"/><Relationship Id="rId47" Type="http://schemas.openxmlformats.org/officeDocument/2006/relationships/slideLayout" Target="../slideLayouts/slideLayout48.xml"/><Relationship Id="rId46" Type="http://schemas.openxmlformats.org/officeDocument/2006/relationships/slideLayout" Target="../slideLayouts/slideLayout47.xml"/><Relationship Id="rId45" Type="http://schemas.openxmlformats.org/officeDocument/2006/relationships/slideLayout" Target="../slideLayouts/slideLayout46.xml"/><Relationship Id="rId44" Type="http://schemas.openxmlformats.org/officeDocument/2006/relationships/slideLayout" Target="../slideLayouts/slideLayout45.xml"/><Relationship Id="rId43" Type="http://schemas.openxmlformats.org/officeDocument/2006/relationships/slideLayout" Target="../slideLayouts/slideLayout44.xml"/><Relationship Id="rId42" Type="http://schemas.openxmlformats.org/officeDocument/2006/relationships/slideLayout" Target="../slideLayouts/slideLayout43.xml"/><Relationship Id="rId41" Type="http://schemas.openxmlformats.org/officeDocument/2006/relationships/slideLayout" Target="../slideLayouts/slideLayout42.xml"/><Relationship Id="rId40" Type="http://schemas.openxmlformats.org/officeDocument/2006/relationships/slideLayout" Target="../slideLayouts/slideLayout41.xml"/><Relationship Id="rId4" Type="http://schemas.openxmlformats.org/officeDocument/2006/relationships/slideLayout" Target="../slideLayouts/slideLayout5.xml"/><Relationship Id="rId39" Type="http://schemas.openxmlformats.org/officeDocument/2006/relationships/slideLayout" Target="../slideLayouts/slideLayout40.xml"/><Relationship Id="rId38" Type="http://schemas.openxmlformats.org/officeDocument/2006/relationships/slideLayout" Target="../slideLayouts/slideLayout39.xml"/><Relationship Id="rId37" Type="http://schemas.openxmlformats.org/officeDocument/2006/relationships/slideLayout" Target="../slideLayouts/slideLayout38.xml"/><Relationship Id="rId36" Type="http://schemas.openxmlformats.org/officeDocument/2006/relationships/slideLayout" Target="../slideLayouts/slideLayout37.xml"/><Relationship Id="rId35" Type="http://schemas.openxmlformats.org/officeDocument/2006/relationships/slideLayout" Target="../slideLayouts/slideLayout36.xml"/><Relationship Id="rId34" Type="http://schemas.openxmlformats.org/officeDocument/2006/relationships/slideLayout" Target="../slideLayouts/slideLayout35.xml"/><Relationship Id="rId33" Type="http://schemas.openxmlformats.org/officeDocument/2006/relationships/slideLayout" Target="../slideLayouts/slideLayout34.xml"/><Relationship Id="rId32" Type="http://schemas.openxmlformats.org/officeDocument/2006/relationships/slideLayout" Target="../slideLayouts/slideLayout33.xml"/><Relationship Id="rId31" Type="http://schemas.openxmlformats.org/officeDocument/2006/relationships/slideLayout" Target="../slideLayouts/slideLayout32.xml"/><Relationship Id="rId30" Type="http://schemas.openxmlformats.org/officeDocument/2006/relationships/slideLayout" Target="../slideLayouts/slideLayout31.xml"/><Relationship Id="rId3" Type="http://schemas.openxmlformats.org/officeDocument/2006/relationships/slideLayout" Target="../slideLayouts/slideLayout4.xml"/><Relationship Id="rId29" Type="http://schemas.openxmlformats.org/officeDocument/2006/relationships/slideLayout" Target="../slideLayouts/slideLayout30.xml"/><Relationship Id="rId28" Type="http://schemas.openxmlformats.org/officeDocument/2006/relationships/slideLayout" Target="../slideLayouts/slideLayout29.xml"/><Relationship Id="rId27" Type="http://schemas.openxmlformats.org/officeDocument/2006/relationships/slideLayout" Target="../slideLayouts/slideLayout28.xml"/><Relationship Id="rId26" Type="http://schemas.openxmlformats.org/officeDocument/2006/relationships/slideLayout" Target="../slideLayouts/slideLayout27.xml"/><Relationship Id="rId25" Type="http://schemas.openxmlformats.org/officeDocument/2006/relationships/slideLayout" Target="../slideLayouts/slideLayout26.xml"/><Relationship Id="rId24" Type="http://schemas.openxmlformats.org/officeDocument/2006/relationships/slideLayout" Target="../slideLayouts/slideLayout25.xml"/><Relationship Id="rId23" Type="http://schemas.openxmlformats.org/officeDocument/2006/relationships/slideLayout" Target="../slideLayouts/slideLayout24.xml"/><Relationship Id="rId22" Type="http://schemas.openxmlformats.org/officeDocument/2006/relationships/slideLayout" Target="../slideLayouts/slideLayout23.xml"/><Relationship Id="rId21" Type="http://schemas.openxmlformats.org/officeDocument/2006/relationships/slideLayout" Target="../slideLayouts/slideLayout22.xml"/><Relationship Id="rId20" Type="http://schemas.openxmlformats.org/officeDocument/2006/relationships/slideLayout" Target="../slideLayouts/slideLayout21.xml"/><Relationship Id="rId2" Type="http://schemas.openxmlformats.org/officeDocument/2006/relationships/slideLayout" Target="../slideLayouts/slideLayout3.xml"/><Relationship Id="rId19" Type="http://schemas.openxmlformats.org/officeDocument/2006/relationships/slideLayout" Target="../slideLayouts/slideLayout20.xml"/><Relationship Id="rId18" Type="http://schemas.openxmlformats.org/officeDocument/2006/relationships/slideLayout" Target="../slideLayouts/slideLayout19.xml"/><Relationship Id="rId17" Type="http://schemas.openxmlformats.org/officeDocument/2006/relationships/slideLayout" Target="../slideLayouts/slideLayout18.xml"/><Relationship Id="rId16" Type="http://schemas.openxmlformats.org/officeDocument/2006/relationships/slideLayout" Target="../slideLayouts/slideLayout17.xml"/><Relationship Id="rId15" Type="http://schemas.openxmlformats.org/officeDocument/2006/relationships/slideLayout" Target="../slideLayouts/slideLayout16.xml"/><Relationship Id="rId14" Type="http://schemas.openxmlformats.org/officeDocument/2006/relationships/slideLayout" Target="../slideLayouts/slideLayout15.xml"/><Relationship Id="rId13" Type="http://schemas.openxmlformats.org/officeDocument/2006/relationships/slideLayout" Target="../slideLayouts/slideLayout14.xml"/><Relationship Id="rId12" Type="http://schemas.openxmlformats.org/officeDocument/2006/relationships/slideLayout" Target="../slideLayouts/slideLayout13.xml"/><Relationship Id="rId11" Type="http://schemas.openxmlformats.org/officeDocument/2006/relationships/slideLayout" Target="../slideLayouts/slideLayout12.xml"/><Relationship Id="rId10" Type="http://schemas.openxmlformats.org/officeDocument/2006/relationships/slideLayout" Target="../slideLayouts/slideLayout11.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2" name="Group 11"/>
          <p:cNvGrpSpPr/>
          <p:nvPr/>
        </p:nvGrpSpPr>
        <p:grpSpPr>
          <a:xfrm>
            <a:off x="8522664" y="4691444"/>
            <a:ext cx="393192" cy="294894"/>
            <a:chOff x="8532189" y="5068824"/>
            <a:chExt cx="393192" cy="393192"/>
          </a:xfrm>
        </p:grpSpPr>
        <p:sp>
          <p:nvSpPr>
            <p:cNvPr id="8" name="Oval 7"/>
            <p:cNvSpPr>
              <a:spLocks noChangeAspect="1"/>
            </p:cNvSpPr>
            <p:nvPr/>
          </p:nvSpPr>
          <p:spPr>
            <a:xfrm>
              <a:off x="8532189" y="5068824"/>
              <a:ext cx="393192" cy="393192"/>
            </a:xfrm>
            <a:prstGeom prst="ellipse">
              <a:avLst/>
            </a:prstGeom>
            <a:blipFill dpi="0" rotWithShape="1">
              <a:blip r:embed="rId54">
                <a:duotone>
                  <a:schemeClr val="accent1">
                    <a:shade val="45000"/>
                    <a:satMod val="135000"/>
                  </a:schemeClr>
                  <a:prstClr val="white"/>
                </a:duotone>
                <a:extLst>
                  <a:ext uri="{BEBA8EAE-BF5A-486C-A8C5-ECC9F3942E4B}">
                    <a14:imgProps xmlns:a14="http://schemas.microsoft.com/office/drawing/2010/main">
                      <a14:imgLayer r:embed="rId55">
                        <a14:imgEffect>
                          <a14:brightnessContrast bright="-40000" contrast="20000"/>
                        </a14:imgEffect>
                        <a14:imgEffect>
                          <a14:saturation sat="95000"/>
                        </a14:imgEffect>
                      </a14:imgLayer>
                    </a14:imgProps>
                  </a:ext>
                </a:extLst>
              </a:blip>
              <a:srcRect/>
              <a:tile tx="50800" ty="0" sx="85000" sy="85000" flip="none" algn="tl"/>
            </a:blipFill>
            <a:ln w="25400" cap="flat" cmpd="sng" algn="ctr">
              <a:noFill/>
              <a:prstDash val="solid"/>
            </a:ln>
            <a:effectLst/>
          </p:spPr>
          <p:txBody>
            <a:bodyPr/>
            <a:lstStyle/>
            <a:p>
              <a:endParaRPr lang="en-US" sz="1350"/>
            </a:p>
          </p:txBody>
        </p:sp>
        <p:sp>
          <p:nvSpPr>
            <p:cNvPr id="9" name="Oval 8"/>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txBody>
            <a:bodyPr/>
            <a:lstStyle/>
            <a:p>
              <a:endParaRPr lang="en-US" sz="1350"/>
            </a:p>
          </p:txBody>
        </p:sp>
      </p:grpSp>
      <p:sp>
        <p:nvSpPr>
          <p:cNvPr id="2" name="Title Placeholder 1"/>
          <p:cNvSpPr>
            <a:spLocks noGrp="1"/>
          </p:cNvSpPr>
          <p:nvPr>
            <p:ph type="title"/>
          </p:nvPr>
        </p:nvSpPr>
        <p:spPr>
          <a:xfrm>
            <a:off x="685800" y="363474"/>
            <a:ext cx="7772400" cy="120700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1591056"/>
            <a:ext cx="7772400" cy="3038094"/>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5992368" y="4704589"/>
            <a:ext cx="2455164" cy="273844"/>
          </a:xfrm>
          <a:prstGeom prst="rect">
            <a:avLst/>
          </a:prstGeom>
        </p:spPr>
        <p:txBody>
          <a:bodyPr vert="horz" lIns="91440" tIns="45720" rIns="91440" bIns="45720" rtlCol="0" anchor="ctr"/>
          <a:lstStyle>
            <a:lvl1pPr algn="r">
              <a:defRPr sz="750">
                <a:solidFill>
                  <a:schemeClr val="accent1">
                    <a:lumMod val="50000"/>
                  </a:schemeClr>
                </a:solidFill>
              </a:defRPr>
            </a:lvl1pPr>
          </a:lstStyle>
          <a:p>
            <a:pPr defTabSz="685800">
              <a:defRPr/>
            </a:pPr>
            <a:fld id="{1D8BD707-D9CF-40AE-B4C6-C98DA3205C09}" type="datetimeFigureOut">
              <a:rPr lang="en-US" smtClean="0">
                <a:solidFill>
                  <a:srgbClr val="073E87"/>
                </a:solidFill>
                <a:latin typeface="Candara" panose="020E0502030303020204"/>
              </a:rPr>
            </a:fld>
            <a:endParaRPr lang="en-US">
              <a:solidFill>
                <a:srgbClr val="073E87"/>
              </a:solidFill>
              <a:latin typeface="Candara" panose="020E0502030303020204"/>
            </a:endParaRPr>
          </a:p>
        </p:txBody>
      </p:sp>
      <p:sp>
        <p:nvSpPr>
          <p:cNvPr id="5" name="Footer Placeholder 4"/>
          <p:cNvSpPr>
            <a:spLocks noGrp="1"/>
          </p:cNvSpPr>
          <p:nvPr>
            <p:ph type="ftr" sz="quarter" idx="3"/>
          </p:nvPr>
        </p:nvSpPr>
        <p:spPr>
          <a:xfrm>
            <a:off x="685800" y="4704589"/>
            <a:ext cx="4745736" cy="273844"/>
          </a:xfrm>
          <a:prstGeom prst="rect">
            <a:avLst/>
          </a:prstGeom>
        </p:spPr>
        <p:txBody>
          <a:bodyPr vert="horz" lIns="91440" tIns="45720" rIns="91440" bIns="45720" rtlCol="0" anchor="ctr"/>
          <a:lstStyle>
            <a:lvl1pPr algn="l">
              <a:defRPr sz="750">
                <a:solidFill>
                  <a:schemeClr val="accent1">
                    <a:lumMod val="50000"/>
                  </a:schemeClr>
                </a:solidFill>
              </a:defRPr>
            </a:lvl1pPr>
          </a:lstStyle>
          <a:p>
            <a:pPr defTabSz="685800">
              <a:defRPr/>
            </a:pPr>
            <a:endParaRPr lang="en-US">
              <a:solidFill>
                <a:srgbClr val="073E87"/>
              </a:solidFill>
              <a:latin typeface="Candara" panose="020E0502030303020204"/>
            </a:endParaRPr>
          </a:p>
        </p:txBody>
      </p:sp>
      <p:sp>
        <p:nvSpPr>
          <p:cNvPr id="6" name="Slide Number Placeholder 5"/>
          <p:cNvSpPr>
            <a:spLocks noGrp="1"/>
          </p:cNvSpPr>
          <p:nvPr>
            <p:ph type="sldNum" sz="quarter" idx="4"/>
          </p:nvPr>
        </p:nvSpPr>
        <p:spPr>
          <a:xfrm>
            <a:off x="8483346" y="4704589"/>
            <a:ext cx="480060" cy="273844"/>
          </a:xfrm>
          <a:prstGeom prst="rect">
            <a:avLst/>
          </a:prstGeom>
        </p:spPr>
        <p:txBody>
          <a:bodyPr vert="horz" lIns="91440" tIns="45720" rIns="91440" bIns="45720" rtlCol="0" anchor="ctr"/>
          <a:lstStyle>
            <a:lvl1pPr algn="ctr">
              <a:defRPr sz="825" b="1" spc="-53" baseline="0">
                <a:solidFill>
                  <a:srgbClr val="FFFFFF"/>
                </a:solidFill>
                <a:latin typeface="+mn-lt"/>
              </a:defRPr>
            </a:lvl1pPr>
          </a:lstStyle>
          <a:p>
            <a:pPr defTabSz="685800">
              <a:defRPr/>
            </a:pPr>
            <a:fld id="{B6F15528-21DE-4FAA-801E-634DDDAF4B2B}" type="slidenum">
              <a:rPr lang="en-US" sz="750" b="0" spc="0" smtClean="0">
                <a:solidFill>
                  <a:srgbClr val="073E87"/>
                </a:solidFill>
                <a:latin typeface="Candara" panose="020E0502030303020204"/>
              </a:rPr>
            </a:fld>
            <a:endParaRPr lang="en-US" sz="750" b="0" spc="0">
              <a:solidFill>
                <a:srgbClr val="073E87"/>
              </a:solidFill>
              <a:latin typeface="Candara" panose="020E0502030303020204"/>
            </a:endParaRPr>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 id="2147483678" r:id="rId28"/>
    <p:sldLayoutId id="2147483679" r:id="rId29"/>
    <p:sldLayoutId id="2147483680" r:id="rId30"/>
    <p:sldLayoutId id="2147483681" r:id="rId31"/>
    <p:sldLayoutId id="2147483682" r:id="rId32"/>
    <p:sldLayoutId id="2147483683" r:id="rId33"/>
    <p:sldLayoutId id="2147483684" r:id="rId34"/>
    <p:sldLayoutId id="2147483685" r:id="rId35"/>
    <p:sldLayoutId id="2147483686" r:id="rId36"/>
    <p:sldLayoutId id="2147483687" r:id="rId37"/>
    <p:sldLayoutId id="2147483688" r:id="rId38"/>
    <p:sldLayoutId id="2147483689" r:id="rId39"/>
    <p:sldLayoutId id="2147483690" r:id="rId40"/>
    <p:sldLayoutId id="2147483691" r:id="rId41"/>
    <p:sldLayoutId id="2147483692" r:id="rId42"/>
    <p:sldLayoutId id="2147483693" r:id="rId43"/>
    <p:sldLayoutId id="2147483694" r:id="rId44"/>
    <p:sldLayoutId id="2147483695" r:id="rId45"/>
    <p:sldLayoutId id="2147483696" r:id="rId46"/>
    <p:sldLayoutId id="2147483697" r:id="rId47"/>
    <p:sldLayoutId id="2147483698" r:id="rId48"/>
    <p:sldLayoutId id="2147483699" r:id="rId49"/>
    <p:sldLayoutId id="2147483700" r:id="rId50"/>
    <p:sldLayoutId id="2147483701" r:id="rId51"/>
    <p:sldLayoutId id="2147483702" r:id="rId52"/>
    <p:sldLayoutId id="2147483703" r:id="rId53"/>
  </p:sldLayoutIdLst>
  <p:txStyles>
    <p:titleStyle>
      <a:lvl1pPr algn="l" defTabSz="685800" rtl="0" eaLnBrk="1" latinLnBrk="0" hangingPunct="1">
        <a:lnSpc>
          <a:spcPct val="90000"/>
        </a:lnSpc>
        <a:spcBef>
          <a:spcPct val="0"/>
        </a:spcBef>
        <a:buNone/>
        <a:defRPr sz="3150" b="0" kern="1200" cap="all" baseline="0">
          <a:blipFill>
            <a:blip r:embed="rId56">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37160" indent="-137160" algn="l" defTabSz="685800" rtl="0" eaLnBrk="1" latinLnBrk="0" hangingPunct="1">
        <a:lnSpc>
          <a:spcPct val="90000"/>
        </a:lnSpc>
        <a:spcBef>
          <a:spcPts val="900"/>
        </a:spcBef>
        <a:buClr>
          <a:schemeClr val="accent1">
            <a:lumMod val="75000"/>
          </a:schemeClr>
        </a:buClr>
        <a:buSzPct val="85000"/>
        <a:buFont typeface="Wingdings" panose="05000000000000000000" pitchFamily="2" charset="2"/>
        <a:buChar char="§"/>
        <a:defRPr sz="1500" kern="1200">
          <a:solidFill>
            <a:schemeClr val="tx1"/>
          </a:solidFill>
          <a:latin typeface="+mn-lt"/>
          <a:ea typeface="+mn-ea"/>
          <a:cs typeface="+mn-cs"/>
        </a:defRPr>
      </a:lvl1pPr>
      <a:lvl2pPr marL="342900" indent="-137160" algn="l" defTabSz="685800" rtl="0" eaLnBrk="1" latinLnBrk="0" hangingPunct="1">
        <a:lnSpc>
          <a:spcPct val="90000"/>
        </a:lnSpc>
        <a:spcBef>
          <a:spcPts val="300"/>
        </a:spcBef>
        <a:spcAft>
          <a:spcPts val="150"/>
        </a:spcAft>
        <a:buClr>
          <a:schemeClr val="accent1">
            <a:lumMod val="75000"/>
          </a:schemeClr>
        </a:buClr>
        <a:buSzPct val="85000"/>
        <a:buFont typeface="Wingdings" panose="05000000000000000000" pitchFamily="2" charset="2"/>
        <a:buChar char="§"/>
        <a:defRPr sz="1350" kern="1200">
          <a:solidFill>
            <a:schemeClr val="tx1"/>
          </a:solidFill>
          <a:latin typeface="+mn-lt"/>
          <a:ea typeface="+mn-ea"/>
          <a:cs typeface="+mn-cs"/>
        </a:defRPr>
      </a:lvl2pPr>
      <a:lvl3pPr marL="548640" indent="-137160" algn="l" defTabSz="685800" rtl="0" eaLnBrk="1" latinLnBrk="0" hangingPunct="1">
        <a:lnSpc>
          <a:spcPct val="90000"/>
        </a:lnSpc>
        <a:spcBef>
          <a:spcPts val="300"/>
        </a:spcBef>
        <a:spcAft>
          <a:spcPts val="150"/>
        </a:spcAft>
        <a:buClr>
          <a:schemeClr val="accent1">
            <a:lumMod val="75000"/>
          </a:schemeClr>
        </a:buClr>
        <a:buSzPct val="85000"/>
        <a:buFont typeface="Wingdings" panose="05000000000000000000" pitchFamily="2" charset="2"/>
        <a:buChar char="§"/>
        <a:defRPr sz="1200" kern="1200">
          <a:solidFill>
            <a:schemeClr val="tx1"/>
          </a:solidFill>
          <a:latin typeface="+mn-lt"/>
          <a:ea typeface="+mn-ea"/>
          <a:cs typeface="+mn-cs"/>
        </a:defRPr>
      </a:lvl3pPr>
      <a:lvl4pPr marL="754380" indent="-137160" algn="l" defTabSz="685800" rtl="0" eaLnBrk="1" latinLnBrk="0" hangingPunct="1">
        <a:lnSpc>
          <a:spcPct val="90000"/>
        </a:lnSpc>
        <a:spcBef>
          <a:spcPts val="300"/>
        </a:spcBef>
        <a:spcAft>
          <a:spcPts val="150"/>
        </a:spcAft>
        <a:buClr>
          <a:schemeClr val="accent1">
            <a:lumMod val="75000"/>
          </a:schemeClr>
        </a:buClr>
        <a:buSzPct val="85000"/>
        <a:buFont typeface="Wingdings" panose="05000000000000000000" pitchFamily="2" charset="2"/>
        <a:buChar char="§"/>
        <a:defRPr sz="1200" kern="1200">
          <a:solidFill>
            <a:schemeClr val="tx1"/>
          </a:solidFill>
          <a:latin typeface="+mn-lt"/>
          <a:ea typeface="+mn-ea"/>
          <a:cs typeface="+mn-cs"/>
        </a:defRPr>
      </a:lvl4pPr>
      <a:lvl5pPr marL="960120" indent="-137160" algn="l" defTabSz="685800" rtl="0" eaLnBrk="1" latinLnBrk="0" hangingPunct="1">
        <a:lnSpc>
          <a:spcPct val="90000"/>
        </a:lnSpc>
        <a:spcBef>
          <a:spcPts val="300"/>
        </a:spcBef>
        <a:spcAft>
          <a:spcPts val="150"/>
        </a:spcAft>
        <a:buClr>
          <a:schemeClr val="accent1">
            <a:lumMod val="75000"/>
          </a:schemeClr>
        </a:buClr>
        <a:buSzPct val="85000"/>
        <a:buFont typeface="Wingdings" panose="05000000000000000000" pitchFamily="2" charset="2"/>
        <a:buChar char="§"/>
        <a:defRPr sz="1200" kern="1200">
          <a:solidFill>
            <a:schemeClr val="tx1"/>
          </a:solidFill>
          <a:latin typeface="+mn-lt"/>
          <a:ea typeface="+mn-ea"/>
          <a:cs typeface="+mn-cs"/>
        </a:defRPr>
      </a:lvl5pPr>
      <a:lvl6pPr marL="1200150" indent="-171450" algn="l" defTabSz="685800" rtl="0" eaLnBrk="1" latinLnBrk="0" hangingPunct="1">
        <a:lnSpc>
          <a:spcPct val="90000"/>
        </a:lnSpc>
        <a:spcBef>
          <a:spcPts val="300"/>
        </a:spcBef>
        <a:spcAft>
          <a:spcPts val="150"/>
        </a:spcAft>
        <a:buClr>
          <a:schemeClr val="accent1">
            <a:lumMod val="75000"/>
          </a:schemeClr>
        </a:buClr>
        <a:buSzPct val="85000"/>
        <a:buFont typeface="Wingdings" panose="05000000000000000000" pitchFamily="2" charset="2"/>
        <a:buChar char="§"/>
        <a:defRPr sz="1200" kern="1200">
          <a:solidFill>
            <a:schemeClr val="tx1"/>
          </a:solidFill>
          <a:latin typeface="+mn-lt"/>
          <a:ea typeface="+mn-ea"/>
          <a:cs typeface="+mn-cs"/>
        </a:defRPr>
      </a:lvl6pPr>
      <a:lvl7pPr marL="1424940" indent="-171450" algn="l" defTabSz="685800" rtl="0" eaLnBrk="1" latinLnBrk="0" hangingPunct="1">
        <a:lnSpc>
          <a:spcPct val="90000"/>
        </a:lnSpc>
        <a:spcBef>
          <a:spcPts val="300"/>
        </a:spcBef>
        <a:spcAft>
          <a:spcPts val="150"/>
        </a:spcAft>
        <a:buClr>
          <a:schemeClr val="accent1">
            <a:lumMod val="75000"/>
          </a:schemeClr>
        </a:buClr>
        <a:buSzPct val="85000"/>
        <a:buFont typeface="Wingdings" panose="05000000000000000000" pitchFamily="2" charset="2"/>
        <a:buChar char="§"/>
        <a:defRPr sz="1200" kern="1200">
          <a:solidFill>
            <a:schemeClr val="tx1"/>
          </a:solidFill>
          <a:latin typeface="+mn-lt"/>
          <a:ea typeface="+mn-ea"/>
          <a:cs typeface="+mn-cs"/>
        </a:defRPr>
      </a:lvl7pPr>
      <a:lvl8pPr marL="1649730" indent="-171450" algn="l" defTabSz="685800" rtl="0" eaLnBrk="1" latinLnBrk="0" hangingPunct="1">
        <a:lnSpc>
          <a:spcPct val="90000"/>
        </a:lnSpc>
        <a:spcBef>
          <a:spcPts val="300"/>
        </a:spcBef>
        <a:spcAft>
          <a:spcPts val="150"/>
        </a:spcAft>
        <a:buClr>
          <a:schemeClr val="accent1">
            <a:lumMod val="75000"/>
          </a:schemeClr>
        </a:buClr>
        <a:buSzPct val="85000"/>
        <a:buFont typeface="Wingdings" panose="05000000000000000000" pitchFamily="2" charset="2"/>
        <a:buChar char="§"/>
        <a:defRPr sz="1200" kern="1200">
          <a:solidFill>
            <a:schemeClr val="tx1"/>
          </a:solidFill>
          <a:latin typeface="+mn-lt"/>
          <a:ea typeface="+mn-ea"/>
          <a:cs typeface="+mn-cs"/>
        </a:defRPr>
      </a:lvl8pPr>
      <a:lvl9pPr marL="1875155" indent="-171450" algn="l" defTabSz="685800" rtl="0" eaLnBrk="1" latinLnBrk="0" hangingPunct="1">
        <a:lnSpc>
          <a:spcPct val="90000"/>
        </a:lnSpc>
        <a:spcBef>
          <a:spcPts val="300"/>
        </a:spcBef>
        <a:spcAft>
          <a:spcPts val="150"/>
        </a:spcAft>
        <a:buClr>
          <a:schemeClr val="accent1">
            <a:lumMod val="75000"/>
          </a:schemeClr>
        </a:buClr>
        <a:buSzPct val="85000"/>
        <a:buFont typeface="Wingdings" panose="05000000000000000000" pitchFamily="2" charset="2"/>
        <a:buChar char="§"/>
        <a:defRPr sz="12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image" Target="../media/image10.jpeg"/><Relationship Id="rId8" Type="http://schemas.openxmlformats.org/officeDocument/2006/relationships/hyperlink" Target="https://creativecommons.org/licenses/by-nc/3.0/" TargetMode="External"/><Relationship Id="rId7" Type="http://schemas.openxmlformats.org/officeDocument/2006/relationships/hyperlink" Target="http://www.allwhitebackground.com/solid-state-drive-ssd.html" TargetMode="External"/><Relationship Id="rId6" Type="http://schemas.openxmlformats.org/officeDocument/2006/relationships/image" Target="../media/image9.jpeg"/><Relationship Id="rId5" Type="http://schemas.openxmlformats.org/officeDocument/2006/relationships/hyperlink" Target="https://en.wikipedia.org/wiki/Hard_disk_drive" TargetMode="External"/><Relationship Id="rId4" Type="http://schemas.openxmlformats.org/officeDocument/2006/relationships/image" Target="../media/image8.jpeg"/><Relationship Id="rId3" Type="http://schemas.openxmlformats.org/officeDocument/2006/relationships/hyperlink" Target="https://creativecommons.org/licenses/by-sa/3.0/" TargetMode="External"/><Relationship Id="rId29" Type="http://schemas.openxmlformats.org/officeDocument/2006/relationships/notesSlide" Target="../notesSlides/notesSlide2.xml"/><Relationship Id="rId28" Type="http://schemas.openxmlformats.org/officeDocument/2006/relationships/slideLayout" Target="../slideLayouts/slideLayout3.xml"/><Relationship Id="rId27" Type="http://schemas.openxmlformats.org/officeDocument/2006/relationships/hyperlink" Target="http://commons.wikimedia.org/wiki/Category:Zip_disk_icons" TargetMode="External"/><Relationship Id="rId26" Type="http://schemas.openxmlformats.org/officeDocument/2006/relationships/image" Target="../media/image18.png"/><Relationship Id="rId25" Type="http://schemas.openxmlformats.org/officeDocument/2006/relationships/hyperlink" Target="https://en.wikipedia.org/wiki/Floppy_disk" TargetMode="External"/><Relationship Id="rId24" Type="http://schemas.openxmlformats.org/officeDocument/2006/relationships/image" Target="../media/image17.jpeg"/><Relationship Id="rId23" Type="http://schemas.openxmlformats.org/officeDocument/2006/relationships/hyperlink" Target="https://en.wikipedia.org/wiki/Secure_Digital" TargetMode="External"/><Relationship Id="rId22" Type="http://schemas.openxmlformats.org/officeDocument/2006/relationships/image" Target="../media/image16.jpeg"/><Relationship Id="rId21" Type="http://schemas.openxmlformats.org/officeDocument/2006/relationships/hyperlink" Target="http://en.wikipedia.org/wiki/USB_flash_memory_drive" TargetMode="External"/><Relationship Id="rId20" Type="http://schemas.openxmlformats.org/officeDocument/2006/relationships/image" Target="../media/image15.jpeg"/><Relationship Id="rId2" Type="http://schemas.openxmlformats.org/officeDocument/2006/relationships/hyperlink" Target="https://en.wikipedia.org/wiki/Seagate_Barracuda" TargetMode="External"/><Relationship Id="rId19" Type="http://schemas.openxmlformats.org/officeDocument/2006/relationships/hyperlink" Target="http://commons.wikimedia.org/wiki/File:Dvd_unmount.png" TargetMode="External"/><Relationship Id="rId18" Type="http://schemas.openxmlformats.org/officeDocument/2006/relationships/image" Target="../media/image14.png"/><Relationship Id="rId17" Type="http://schemas.openxmlformats.org/officeDocument/2006/relationships/hyperlink" Target="https://commons.wikimedia.org/wiki/File:Oxygen480-devices-media-optical-blu-ray.svg" TargetMode="External"/><Relationship Id="rId16" Type="http://schemas.openxmlformats.org/officeDocument/2006/relationships/image" Target="../media/image13.png"/><Relationship Id="rId15" Type="http://schemas.openxmlformats.org/officeDocument/2006/relationships/hyperlink" Target="https://en.wikipedia.org/wiki/CD-ROM" TargetMode="External"/><Relationship Id="rId14" Type="http://schemas.openxmlformats.org/officeDocument/2006/relationships/image" Target="../media/image12.png"/><Relationship Id="rId13" Type="http://schemas.openxmlformats.org/officeDocument/2006/relationships/hyperlink" Target="https://hardwarerecs.stackexchange.com/questions/1952/additional-ssd-for-msi-ge62-apache-pro" TargetMode="External"/><Relationship Id="rId12" Type="http://schemas.openxmlformats.org/officeDocument/2006/relationships/image" Target="../media/image11.jpeg"/><Relationship Id="rId11" Type="http://schemas.openxmlformats.org/officeDocument/2006/relationships/hyperlink" Target="https://creativecommons.org/licenses/by/3.0/" TargetMode="External"/><Relationship Id="rId10" Type="http://schemas.openxmlformats.org/officeDocument/2006/relationships/hyperlink" Target="http://www.actualidadhardware.com/review-kingmax-m-2-ssd-128gb-2242/" TargetMode="External"/><Relationship Id="rId1" Type="http://schemas.openxmlformats.org/officeDocument/2006/relationships/image" Target="../media/image7.jpeg"/></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22.xml"/><Relationship Id="rId5" Type="http://schemas.openxmlformats.org/officeDocument/2006/relationships/image" Target="../media/image20.png"/><Relationship Id="rId4" Type="http://schemas.openxmlformats.org/officeDocument/2006/relationships/hyperlink" Target="http://en.wikipedia.org/wiki/Cylinder-head-sector" TargetMode="External"/><Relationship Id="rId3" Type="http://schemas.openxmlformats.org/officeDocument/2006/relationships/image" Target="../media/image19.png"/><Relationship Id="rId2" Type="http://schemas.microsoft.com/office/2007/relationships/hdphoto" Target="../media/image4.wdp"/><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xml"/><Relationship Id="rId2" Type="http://schemas.openxmlformats.org/officeDocument/2006/relationships/image" Target="../media/image21.png"/><Relationship Id="rId1" Type="http://schemas.openxmlformats.org/officeDocument/2006/relationships/hyperlink" Target="https://www.digital-detective.net/dcode/"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image" Target="../media/image22.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9" Type="http://schemas.openxmlformats.org/officeDocument/2006/relationships/diagramColors" Target="../diagrams/colors2.xml"/><Relationship Id="rId8" Type="http://schemas.openxmlformats.org/officeDocument/2006/relationships/diagramQuickStyle" Target="../diagrams/quickStyle2.xml"/><Relationship Id="rId7" Type="http://schemas.openxmlformats.org/officeDocument/2006/relationships/diagramLayout" Target="../diagrams/layout2.xml"/><Relationship Id="rId6" Type="http://schemas.openxmlformats.org/officeDocument/2006/relationships/diagramData" Target="../diagrams/data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1" Type="http://schemas.openxmlformats.org/officeDocument/2006/relationships/slideLayout" Target="../slideLayouts/slideLayout1.xml"/><Relationship Id="rId10" Type="http://schemas.microsoft.com/office/2007/relationships/diagramDrawing" Target="../diagrams/drawing2.xml"/><Relationship Id="rId1" Type="http://schemas.openxmlformats.org/officeDocument/2006/relationships/diagramData" Target="../diagrams/data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389120" cy="5143500"/>
          </a:xfrm>
          <a:prstGeom prst="rect">
            <a:avLst/>
          </a:prstGeom>
          <a:solidFill>
            <a:srgbClr val="10B981"/>
          </a:solidFill>
          <a:ln w="12700">
            <a:solidFill>
              <a:srgbClr val="10B981"/>
            </a:solidFill>
            <a:prstDash val="solid"/>
          </a:ln>
        </p:spPr>
        <p:txBody>
          <a:bodyPr/>
          <a:lstStyle/>
          <a:p>
            <a:endParaRPr lang="en-SG" dirty="0"/>
          </a:p>
        </p:txBody>
      </p:sp>
      <p:sp>
        <p:nvSpPr>
          <p:cNvPr id="3" name="Text 1"/>
          <p:cNvSpPr/>
          <p:nvPr/>
        </p:nvSpPr>
        <p:spPr>
          <a:xfrm>
            <a:off x="91440" y="182880"/>
            <a:ext cx="4206240" cy="2926080"/>
          </a:xfrm>
          <a:prstGeom prst="rect">
            <a:avLst/>
          </a:prstGeom>
          <a:noFill/>
        </p:spPr>
        <p:txBody>
          <a:bodyPr wrap="square" lIns="0" tIns="0" rIns="0" bIns="0" rtlCol="0" anchor="ctr"/>
          <a:lstStyle/>
          <a:p>
            <a:pPr marL="0" indent="0">
              <a:buNone/>
            </a:pPr>
            <a:r>
              <a:rPr lang="en-US" sz="5400" b="1" dirty="0">
                <a:solidFill>
                  <a:srgbClr val="000000"/>
                </a:solidFill>
                <a:latin typeface="Trebuchet MS" panose="020B0603020202020204" pitchFamily="34" charset="0"/>
              </a:rPr>
              <a:t>Disk </a:t>
            </a:r>
            <a:br>
              <a:rPr lang="en-US" sz="5400" b="1" dirty="0">
                <a:solidFill>
                  <a:srgbClr val="000000"/>
                </a:solidFill>
                <a:latin typeface="Trebuchet MS" panose="020B0603020202020204" pitchFamily="34" charset="0"/>
              </a:rPr>
            </a:br>
            <a:r>
              <a:rPr lang="en-US" sz="5400" b="1" dirty="0">
                <a:solidFill>
                  <a:srgbClr val="000000"/>
                </a:solidFill>
                <a:latin typeface="Trebuchet MS" panose="020B0603020202020204" pitchFamily="34" charset="0"/>
              </a:rPr>
              <a:t>Geometry</a:t>
            </a:r>
            <a:endParaRPr lang="en-US" sz="5400" dirty="0"/>
          </a:p>
        </p:txBody>
      </p:sp>
      <p:sp>
        <p:nvSpPr>
          <p:cNvPr id="8" name="Text 6"/>
          <p:cNvSpPr/>
          <p:nvPr/>
        </p:nvSpPr>
        <p:spPr>
          <a:xfrm>
            <a:off x="4754880" y="457200"/>
            <a:ext cx="4114800" cy="292608"/>
          </a:xfrm>
          <a:prstGeom prst="rect">
            <a:avLst/>
          </a:prstGeom>
          <a:noFill/>
        </p:spPr>
        <p:txBody>
          <a:bodyPr wrap="square" rtlCol="0" anchor="ctr"/>
          <a:lstStyle/>
          <a:p>
            <a:pPr marL="0" indent="0">
              <a:buNone/>
            </a:pPr>
            <a:r>
              <a:rPr lang="en-US" sz="13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In this section:</a:t>
            </a:r>
            <a:endParaRPr lang="en-US" sz="1300" dirty="0"/>
          </a:p>
        </p:txBody>
      </p:sp>
      <p:sp>
        <p:nvSpPr>
          <p:cNvPr id="9" name="Shape 7"/>
          <p:cNvSpPr/>
          <p:nvPr/>
        </p:nvSpPr>
        <p:spPr>
          <a:xfrm>
            <a:off x="4754880" y="877824"/>
            <a:ext cx="4114800" cy="530352"/>
          </a:xfrm>
          <a:prstGeom prst="rect">
            <a:avLst/>
          </a:prstGeom>
          <a:noFill/>
          <a:ln w="12700">
            <a:solidFill>
              <a:srgbClr val="FFFFFF">
                <a:alpha val="20000"/>
              </a:srgbClr>
            </a:solidFill>
            <a:prstDash val="solid"/>
          </a:ln>
        </p:spPr>
        <p:txBody>
          <a:bodyPr/>
          <a:lstStyle/>
          <a:p>
            <a:endParaRPr lang="en-SG"/>
          </a:p>
        </p:txBody>
      </p:sp>
      <p:sp>
        <p:nvSpPr>
          <p:cNvPr id="10" name="Shape 8"/>
          <p:cNvSpPr/>
          <p:nvPr/>
        </p:nvSpPr>
        <p:spPr>
          <a:xfrm>
            <a:off x="4864608" y="950976"/>
            <a:ext cx="310896" cy="310896"/>
          </a:xfrm>
          <a:prstGeom prst="line">
            <a:avLst/>
          </a:prstGeom>
          <a:solidFill>
            <a:srgbClr val="10B981"/>
          </a:solidFill>
          <a:ln w="12700">
            <a:solidFill>
              <a:srgbClr val="10B981"/>
            </a:solidFill>
            <a:prstDash val="solid"/>
          </a:ln>
        </p:spPr>
        <p:txBody>
          <a:bodyPr/>
          <a:lstStyle/>
          <a:p>
            <a:endParaRPr lang="en-SG"/>
          </a:p>
        </p:txBody>
      </p:sp>
      <p:sp>
        <p:nvSpPr>
          <p:cNvPr id="11" name="Text 9"/>
          <p:cNvSpPr/>
          <p:nvPr/>
        </p:nvSpPr>
        <p:spPr>
          <a:xfrm>
            <a:off x="4864608" y="987552"/>
            <a:ext cx="310896" cy="201168"/>
          </a:xfrm>
          <a:prstGeom prst="rect">
            <a:avLst/>
          </a:prstGeom>
          <a:noFill/>
        </p:spPr>
        <p:txBody>
          <a:bodyPr wrap="square" lIns="0" tIns="0" rIns="0" bIns="0" rtlCol="0" anchor="ctr"/>
          <a:lstStyle/>
          <a:p>
            <a:pPr marL="0" indent="0" algn="ctr">
              <a:buNone/>
            </a:pPr>
            <a:r>
              <a:rPr lang="en-US" sz="9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1</a:t>
            </a:r>
            <a:endParaRPr lang="en-US" sz="900" dirty="0"/>
          </a:p>
        </p:txBody>
      </p:sp>
      <p:sp>
        <p:nvSpPr>
          <p:cNvPr id="12" name="Text 10"/>
          <p:cNvSpPr/>
          <p:nvPr/>
        </p:nvSpPr>
        <p:spPr>
          <a:xfrm>
            <a:off x="5230368" y="932688"/>
            <a:ext cx="3566160" cy="347472"/>
          </a:xfrm>
          <a:prstGeom prst="rect">
            <a:avLst/>
          </a:prstGeom>
          <a:noFill/>
        </p:spPr>
        <p:txBody>
          <a:bodyPr wrap="square" rtlCol="0" anchor="ctr"/>
          <a:lstStyle/>
          <a:p>
            <a:pPr marL="0" indent="0">
              <a:buNone/>
            </a:pPr>
            <a:r>
              <a:rPr lang="en-US" sz="1100" dirty="0">
                <a:solidFill>
                  <a:srgbClr val="1A1A2E"/>
                </a:solidFill>
                <a:latin typeface="Calibri" panose="020F0502020204030204" pitchFamily="34" charset="0"/>
                <a:ea typeface="Calibri" panose="020F0502020204030204" pitchFamily="34" charset="-122"/>
                <a:cs typeface="Calibri" panose="020F0502020204030204" pitchFamily="34" charset="-120"/>
              </a:rPr>
              <a:t>Platters, tracks, sectors, cylinders</a:t>
            </a:r>
            <a:endParaRPr lang="en-US" sz="1100" dirty="0"/>
          </a:p>
        </p:txBody>
      </p:sp>
      <p:sp>
        <p:nvSpPr>
          <p:cNvPr id="13" name="Shape 11"/>
          <p:cNvSpPr/>
          <p:nvPr/>
        </p:nvSpPr>
        <p:spPr>
          <a:xfrm>
            <a:off x="4754880" y="1499616"/>
            <a:ext cx="4114800" cy="530352"/>
          </a:xfrm>
          <a:prstGeom prst="rect">
            <a:avLst/>
          </a:prstGeom>
          <a:noFill/>
          <a:ln w="12700">
            <a:solidFill>
              <a:srgbClr val="FFFFFF">
                <a:alpha val="20000"/>
              </a:srgbClr>
            </a:solidFill>
            <a:prstDash val="solid"/>
          </a:ln>
        </p:spPr>
        <p:txBody>
          <a:bodyPr/>
          <a:lstStyle/>
          <a:p>
            <a:endParaRPr lang="en-SG"/>
          </a:p>
        </p:txBody>
      </p:sp>
      <p:sp>
        <p:nvSpPr>
          <p:cNvPr id="14" name="Shape 12"/>
          <p:cNvSpPr/>
          <p:nvPr/>
        </p:nvSpPr>
        <p:spPr>
          <a:xfrm>
            <a:off x="4864608" y="1572768"/>
            <a:ext cx="310896" cy="310896"/>
          </a:xfrm>
          <a:prstGeom prst="line">
            <a:avLst/>
          </a:prstGeom>
          <a:solidFill>
            <a:srgbClr val="10B981"/>
          </a:solidFill>
          <a:ln w="12700">
            <a:solidFill>
              <a:srgbClr val="10B981"/>
            </a:solidFill>
            <a:prstDash val="solid"/>
          </a:ln>
        </p:spPr>
        <p:txBody>
          <a:bodyPr/>
          <a:lstStyle/>
          <a:p>
            <a:endParaRPr lang="en-SG"/>
          </a:p>
        </p:txBody>
      </p:sp>
      <p:sp>
        <p:nvSpPr>
          <p:cNvPr id="15" name="Text 13"/>
          <p:cNvSpPr/>
          <p:nvPr/>
        </p:nvSpPr>
        <p:spPr>
          <a:xfrm>
            <a:off x="4864608" y="1609344"/>
            <a:ext cx="310896" cy="201168"/>
          </a:xfrm>
          <a:prstGeom prst="rect">
            <a:avLst/>
          </a:prstGeom>
          <a:noFill/>
        </p:spPr>
        <p:txBody>
          <a:bodyPr wrap="square" lIns="0" tIns="0" rIns="0" bIns="0" rtlCol="0" anchor="ctr"/>
          <a:lstStyle/>
          <a:p>
            <a:pPr marL="0" indent="0" algn="ctr">
              <a:buNone/>
            </a:pPr>
            <a:r>
              <a:rPr lang="en-US" sz="9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2</a:t>
            </a:r>
            <a:endParaRPr lang="en-US" sz="900" dirty="0"/>
          </a:p>
        </p:txBody>
      </p:sp>
      <p:sp>
        <p:nvSpPr>
          <p:cNvPr id="16" name="Text 14"/>
          <p:cNvSpPr/>
          <p:nvPr/>
        </p:nvSpPr>
        <p:spPr>
          <a:xfrm>
            <a:off x="5230368" y="1554480"/>
            <a:ext cx="3566160" cy="347472"/>
          </a:xfrm>
          <a:prstGeom prst="rect">
            <a:avLst/>
          </a:prstGeom>
          <a:noFill/>
        </p:spPr>
        <p:txBody>
          <a:bodyPr wrap="square" rtlCol="0" anchor="ctr"/>
          <a:lstStyle/>
          <a:p>
            <a:pPr marL="0" indent="0">
              <a:buNone/>
            </a:pPr>
            <a:r>
              <a:rPr lang="en-US" sz="1100" dirty="0">
                <a:solidFill>
                  <a:srgbClr val="1A1A2E"/>
                </a:solidFill>
                <a:latin typeface="Calibri" panose="020F0502020204030204" pitchFamily="34" charset="0"/>
                <a:ea typeface="Calibri" panose="020F0502020204030204" pitchFamily="34" charset="-122"/>
                <a:cs typeface="Calibri" panose="020F0502020204030204" pitchFamily="34" charset="-120"/>
              </a:rPr>
              <a:t>CHS — Cylinder, Head, Sector explained</a:t>
            </a:r>
            <a:endParaRPr lang="en-US" sz="1100" dirty="0"/>
          </a:p>
        </p:txBody>
      </p:sp>
      <p:sp>
        <p:nvSpPr>
          <p:cNvPr id="17" name="Shape 15"/>
          <p:cNvSpPr/>
          <p:nvPr/>
        </p:nvSpPr>
        <p:spPr>
          <a:xfrm>
            <a:off x="4754880" y="2121408"/>
            <a:ext cx="4114800" cy="530352"/>
          </a:xfrm>
          <a:prstGeom prst="rect">
            <a:avLst/>
          </a:prstGeom>
          <a:noFill/>
          <a:ln w="12700">
            <a:solidFill>
              <a:srgbClr val="FFFFFF">
                <a:alpha val="20000"/>
              </a:srgbClr>
            </a:solidFill>
            <a:prstDash val="solid"/>
          </a:ln>
        </p:spPr>
        <p:txBody>
          <a:bodyPr/>
          <a:lstStyle/>
          <a:p>
            <a:endParaRPr lang="en-SG"/>
          </a:p>
        </p:txBody>
      </p:sp>
      <p:sp>
        <p:nvSpPr>
          <p:cNvPr id="18" name="Shape 16"/>
          <p:cNvSpPr/>
          <p:nvPr/>
        </p:nvSpPr>
        <p:spPr>
          <a:xfrm>
            <a:off x="4864608" y="2194560"/>
            <a:ext cx="310896" cy="310896"/>
          </a:xfrm>
          <a:prstGeom prst="line">
            <a:avLst/>
          </a:prstGeom>
          <a:solidFill>
            <a:srgbClr val="10B981"/>
          </a:solidFill>
          <a:ln w="12700">
            <a:solidFill>
              <a:srgbClr val="10B981"/>
            </a:solidFill>
            <a:prstDash val="solid"/>
          </a:ln>
        </p:spPr>
        <p:txBody>
          <a:bodyPr/>
          <a:lstStyle/>
          <a:p>
            <a:endParaRPr lang="en-SG"/>
          </a:p>
        </p:txBody>
      </p:sp>
      <p:sp>
        <p:nvSpPr>
          <p:cNvPr id="19" name="Text 17"/>
          <p:cNvSpPr/>
          <p:nvPr/>
        </p:nvSpPr>
        <p:spPr>
          <a:xfrm>
            <a:off x="4864608" y="2231136"/>
            <a:ext cx="310896" cy="201168"/>
          </a:xfrm>
          <a:prstGeom prst="rect">
            <a:avLst/>
          </a:prstGeom>
          <a:noFill/>
        </p:spPr>
        <p:txBody>
          <a:bodyPr wrap="square" lIns="0" tIns="0" rIns="0" bIns="0" rtlCol="0" anchor="ctr"/>
          <a:lstStyle/>
          <a:p>
            <a:pPr marL="0" indent="0" algn="ctr">
              <a:buNone/>
            </a:pPr>
            <a:r>
              <a:rPr lang="en-US" sz="9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3</a:t>
            </a:r>
            <a:endParaRPr lang="en-US" sz="900" dirty="0"/>
          </a:p>
        </p:txBody>
      </p:sp>
      <p:sp>
        <p:nvSpPr>
          <p:cNvPr id="20" name="Text 18"/>
          <p:cNvSpPr/>
          <p:nvPr/>
        </p:nvSpPr>
        <p:spPr>
          <a:xfrm>
            <a:off x="5230368" y="2176272"/>
            <a:ext cx="3566160" cy="347472"/>
          </a:xfrm>
          <a:prstGeom prst="rect">
            <a:avLst/>
          </a:prstGeom>
          <a:noFill/>
        </p:spPr>
        <p:txBody>
          <a:bodyPr wrap="square" rtlCol="0" anchor="ctr"/>
          <a:lstStyle/>
          <a:p>
            <a:pPr marL="0" indent="0">
              <a:buNone/>
            </a:pPr>
            <a:r>
              <a:rPr lang="en-US" sz="1100" dirty="0">
                <a:solidFill>
                  <a:srgbClr val="1A1A2E"/>
                </a:solidFill>
                <a:latin typeface="Calibri" panose="020F0502020204030204" pitchFamily="34" charset="0"/>
                <a:ea typeface="Calibri" panose="020F0502020204030204" pitchFamily="34" charset="-122"/>
                <a:cs typeface="Calibri" panose="020F0502020204030204" pitchFamily="34" charset="-120"/>
              </a:rPr>
              <a:t>LBA — Logical Block Addressing</a:t>
            </a:r>
            <a:endParaRPr lang="en-US" sz="1100" dirty="0"/>
          </a:p>
        </p:txBody>
      </p:sp>
      <p:sp>
        <p:nvSpPr>
          <p:cNvPr id="21" name="Shape 19"/>
          <p:cNvSpPr/>
          <p:nvPr/>
        </p:nvSpPr>
        <p:spPr>
          <a:xfrm>
            <a:off x="4754880" y="2743200"/>
            <a:ext cx="4114800" cy="530352"/>
          </a:xfrm>
          <a:prstGeom prst="rect">
            <a:avLst/>
          </a:prstGeom>
          <a:noFill/>
          <a:ln w="12700">
            <a:solidFill>
              <a:srgbClr val="FFFFFF">
                <a:alpha val="20000"/>
              </a:srgbClr>
            </a:solidFill>
            <a:prstDash val="solid"/>
          </a:ln>
        </p:spPr>
        <p:txBody>
          <a:bodyPr/>
          <a:lstStyle/>
          <a:p>
            <a:endParaRPr lang="en-SG"/>
          </a:p>
        </p:txBody>
      </p:sp>
      <p:sp>
        <p:nvSpPr>
          <p:cNvPr id="22" name="Shape 20"/>
          <p:cNvSpPr/>
          <p:nvPr/>
        </p:nvSpPr>
        <p:spPr>
          <a:xfrm>
            <a:off x="4864608" y="2816352"/>
            <a:ext cx="310896" cy="310896"/>
          </a:xfrm>
          <a:prstGeom prst="line">
            <a:avLst/>
          </a:prstGeom>
          <a:solidFill>
            <a:srgbClr val="10B981"/>
          </a:solidFill>
          <a:ln w="12700">
            <a:solidFill>
              <a:srgbClr val="10B981"/>
            </a:solidFill>
            <a:prstDash val="solid"/>
          </a:ln>
        </p:spPr>
        <p:txBody>
          <a:bodyPr/>
          <a:lstStyle/>
          <a:p>
            <a:endParaRPr lang="en-SG"/>
          </a:p>
        </p:txBody>
      </p:sp>
      <p:sp>
        <p:nvSpPr>
          <p:cNvPr id="23" name="Text 21"/>
          <p:cNvSpPr/>
          <p:nvPr/>
        </p:nvSpPr>
        <p:spPr>
          <a:xfrm>
            <a:off x="4864608" y="2852928"/>
            <a:ext cx="310896" cy="201168"/>
          </a:xfrm>
          <a:prstGeom prst="rect">
            <a:avLst/>
          </a:prstGeom>
          <a:noFill/>
        </p:spPr>
        <p:txBody>
          <a:bodyPr wrap="square" lIns="0" tIns="0" rIns="0" bIns="0" rtlCol="0" anchor="ctr"/>
          <a:lstStyle/>
          <a:p>
            <a:pPr marL="0" indent="0" algn="ctr">
              <a:buNone/>
            </a:pPr>
            <a:r>
              <a:rPr lang="en-US" sz="9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4</a:t>
            </a:r>
            <a:endParaRPr lang="en-US" sz="900" dirty="0"/>
          </a:p>
        </p:txBody>
      </p:sp>
      <p:sp>
        <p:nvSpPr>
          <p:cNvPr id="24" name="Text 22"/>
          <p:cNvSpPr/>
          <p:nvPr/>
        </p:nvSpPr>
        <p:spPr>
          <a:xfrm>
            <a:off x="5230368" y="2798064"/>
            <a:ext cx="3566160" cy="347472"/>
          </a:xfrm>
          <a:prstGeom prst="rect">
            <a:avLst/>
          </a:prstGeom>
          <a:noFill/>
        </p:spPr>
        <p:txBody>
          <a:bodyPr wrap="square" rtlCol="0" anchor="ctr"/>
          <a:lstStyle/>
          <a:p>
            <a:pPr marL="0" indent="0">
              <a:buNone/>
            </a:pPr>
            <a:r>
              <a:rPr lang="en-US" sz="1100" dirty="0">
                <a:solidFill>
                  <a:srgbClr val="1A1A2E"/>
                </a:solidFill>
                <a:latin typeface="Calibri" panose="020F0502020204030204" pitchFamily="34" charset="0"/>
                <a:ea typeface="Calibri" panose="020F0502020204030204" pitchFamily="34" charset="-122"/>
                <a:cs typeface="Calibri" panose="020F0502020204030204" pitchFamily="34" charset="-120"/>
              </a:rPr>
              <a:t>CHS ↔ LBA conversion formulas</a:t>
            </a:r>
            <a:endParaRPr lang="en-US" sz="1100" dirty="0"/>
          </a:p>
        </p:txBody>
      </p:sp>
      <p:sp>
        <p:nvSpPr>
          <p:cNvPr id="25" name="Text 1"/>
          <p:cNvSpPr/>
          <p:nvPr/>
        </p:nvSpPr>
        <p:spPr>
          <a:xfrm>
            <a:off x="457200" y="164592"/>
            <a:ext cx="8229600" cy="384048"/>
          </a:xfrm>
          <a:prstGeom prst="rect">
            <a:avLst/>
          </a:prstGeom>
          <a:noFill/>
        </p:spPr>
        <p:txBody>
          <a:bodyPr wrap="square" lIns="0" tIns="0" rIns="0" bIns="0" rtlCol="0" anchor="ctr"/>
          <a:lstStyle/>
          <a:p>
            <a:pPr marL="0" indent="0">
              <a:buNone/>
            </a:pPr>
            <a:r>
              <a:rPr lang="en-US" sz="1400" b="1" kern="0" spc="400"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Week 3</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Rectangle: Rounded Corners 75"/>
          <p:cNvSpPr/>
          <p:nvPr/>
        </p:nvSpPr>
        <p:spPr>
          <a:xfrm>
            <a:off x="4340548" y="1500194"/>
            <a:ext cx="3401339" cy="1658546"/>
          </a:xfrm>
          <a:prstGeom prst="roundRect">
            <a:avLst>
              <a:gd name="adj" fmla="val 7303"/>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en-SG" sz="1350">
              <a:solidFill>
                <a:prstClr val="white"/>
              </a:solidFill>
              <a:latin typeface="Rockwell" panose="02060603020205020403"/>
            </a:endParaRPr>
          </a:p>
        </p:txBody>
      </p:sp>
      <p:sp>
        <p:nvSpPr>
          <p:cNvPr id="75" name="Rectangle: Rounded Corners 74"/>
          <p:cNvSpPr/>
          <p:nvPr/>
        </p:nvSpPr>
        <p:spPr>
          <a:xfrm>
            <a:off x="1392013" y="1500194"/>
            <a:ext cx="2851924" cy="1678096"/>
          </a:xfrm>
          <a:prstGeom prst="roundRect">
            <a:avLst>
              <a:gd name="adj" fmla="val 7303"/>
            </a:avLst>
          </a:prstGeom>
          <a:solidFill>
            <a:srgbClr val="FF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en-SG" sz="1350">
              <a:solidFill>
                <a:prstClr val="white"/>
              </a:solidFill>
              <a:latin typeface="Rockwell" panose="02060603020205020403"/>
            </a:endParaRPr>
          </a:p>
        </p:txBody>
      </p:sp>
      <p:sp>
        <p:nvSpPr>
          <p:cNvPr id="2" name="Title 1"/>
          <p:cNvSpPr>
            <a:spLocks noGrp="1"/>
          </p:cNvSpPr>
          <p:nvPr>
            <p:ph type="title"/>
          </p:nvPr>
        </p:nvSpPr>
        <p:spPr/>
        <p:txBody>
          <a:bodyPr>
            <a:normAutofit/>
          </a:bodyPr>
          <a:lstStyle/>
          <a:p>
            <a:r>
              <a:rPr lang="en-SG" sz="4500" dirty="0"/>
              <a:t>Basics of computer</a:t>
            </a:r>
            <a:br>
              <a:rPr lang="en-SG" sz="4050" dirty="0"/>
            </a:br>
            <a:r>
              <a:rPr lang="en-SG" sz="3300" i="1" dirty="0"/>
              <a:t>(</a:t>
            </a:r>
            <a:r>
              <a:rPr lang="en-US" sz="3300" i="1" dirty="0"/>
              <a:t>Storage DISK</a:t>
            </a:r>
            <a:r>
              <a:rPr lang="en-SG" sz="3300" i="1" dirty="0"/>
              <a:t>)</a:t>
            </a:r>
            <a:endParaRPr lang="en-SG" sz="4050" dirty="0"/>
          </a:p>
        </p:txBody>
      </p:sp>
      <p:sp>
        <p:nvSpPr>
          <p:cNvPr id="52" name="Rectangle 51"/>
          <p:cNvSpPr/>
          <p:nvPr/>
        </p:nvSpPr>
        <p:spPr>
          <a:xfrm>
            <a:off x="1899711" y="1480644"/>
            <a:ext cx="1945276" cy="346249"/>
          </a:xfrm>
          <a:prstGeom prst="rect">
            <a:avLst/>
          </a:prstGeom>
          <a:noFill/>
        </p:spPr>
        <p:txBody>
          <a:bodyPr wrap="none" lIns="68580" tIns="34290" rIns="68580" bIns="34290">
            <a:spAutoFit/>
          </a:bodyPr>
          <a:lstStyle/>
          <a:p>
            <a:pPr algn="ctr" defTabSz="342900"/>
            <a:r>
              <a:rPr lang="en-US" b="1" dirty="0" err="1">
                <a:ln w="0"/>
                <a:solidFill>
                  <a:srgbClr val="FF0000"/>
                </a:solidFill>
                <a:effectLst>
                  <a:outerShdw blurRad="38100" dist="25400" dir="5400000" algn="ctr" rotWithShape="0">
                    <a:srgbClr val="6E747A">
                      <a:alpha val="43000"/>
                    </a:srgbClr>
                  </a:outerShdw>
                </a:effectLst>
                <a:latin typeface="Rockwell" panose="02060603020205020403"/>
              </a:rPr>
              <a:t>Harddisk</a:t>
            </a:r>
            <a:r>
              <a:rPr lang="en-US" b="1" dirty="0">
                <a:ln w="0"/>
                <a:solidFill>
                  <a:srgbClr val="FF0000"/>
                </a:solidFill>
                <a:effectLst>
                  <a:outerShdw blurRad="38100" dist="25400" dir="5400000" algn="ctr" rotWithShape="0">
                    <a:srgbClr val="6E747A">
                      <a:alpha val="43000"/>
                    </a:srgbClr>
                  </a:outerShdw>
                </a:effectLst>
                <a:latin typeface="Rockwell" panose="02060603020205020403"/>
              </a:rPr>
              <a:t> (HDD)</a:t>
            </a:r>
            <a:endParaRPr lang="en-US" b="1" dirty="0">
              <a:ln w="0"/>
              <a:solidFill>
                <a:srgbClr val="FF0000"/>
              </a:solidFill>
              <a:effectLst>
                <a:outerShdw blurRad="38100" dist="25400" dir="5400000" algn="ctr" rotWithShape="0">
                  <a:srgbClr val="6E747A">
                    <a:alpha val="43000"/>
                  </a:srgbClr>
                </a:outerShdw>
              </a:effectLst>
              <a:latin typeface="Rockwell" panose="02060603020205020403"/>
            </a:endParaRPr>
          </a:p>
        </p:txBody>
      </p:sp>
      <p:sp>
        <p:nvSpPr>
          <p:cNvPr id="53" name="Rectangle 52"/>
          <p:cNvSpPr/>
          <p:nvPr/>
        </p:nvSpPr>
        <p:spPr>
          <a:xfrm>
            <a:off x="4910384" y="1504863"/>
            <a:ext cx="2522165" cy="346249"/>
          </a:xfrm>
          <a:prstGeom prst="rect">
            <a:avLst/>
          </a:prstGeom>
          <a:noFill/>
        </p:spPr>
        <p:txBody>
          <a:bodyPr wrap="none" lIns="68580" tIns="34290" rIns="68580" bIns="34290">
            <a:spAutoFit/>
          </a:bodyPr>
          <a:lstStyle/>
          <a:p>
            <a:pPr algn="ctr" defTabSz="342900"/>
            <a:r>
              <a:rPr lang="en-US" b="1" dirty="0">
                <a:ln w="0"/>
                <a:solidFill>
                  <a:srgbClr val="FF0000"/>
                </a:solidFill>
                <a:effectLst>
                  <a:outerShdw blurRad="38100" dist="25400" dir="5400000" algn="ctr" rotWithShape="0">
                    <a:srgbClr val="6E747A">
                      <a:alpha val="43000"/>
                    </a:srgbClr>
                  </a:outerShdw>
                </a:effectLst>
                <a:latin typeface="Rockwell" panose="02060603020205020403"/>
              </a:rPr>
              <a:t>Solid-state disk (SSD)</a:t>
            </a:r>
            <a:endParaRPr lang="en-US" b="1" dirty="0">
              <a:ln w="0"/>
              <a:solidFill>
                <a:srgbClr val="FF0000"/>
              </a:solidFill>
              <a:effectLst>
                <a:outerShdw blurRad="38100" dist="25400" dir="5400000" algn="ctr" rotWithShape="0">
                  <a:srgbClr val="6E747A">
                    <a:alpha val="43000"/>
                  </a:srgbClr>
                </a:outerShdw>
              </a:effectLst>
              <a:latin typeface="Rockwell" panose="02060603020205020403"/>
            </a:endParaRPr>
          </a:p>
        </p:txBody>
      </p:sp>
      <p:grpSp>
        <p:nvGrpSpPr>
          <p:cNvPr id="68" name="Group 67"/>
          <p:cNvGrpSpPr/>
          <p:nvPr/>
        </p:nvGrpSpPr>
        <p:grpSpPr>
          <a:xfrm>
            <a:off x="1605435" y="1820679"/>
            <a:ext cx="1250156" cy="1346549"/>
            <a:chOff x="795747" y="2524500"/>
            <a:chExt cx="1666875" cy="1795399"/>
          </a:xfrm>
        </p:grpSpPr>
        <p:grpSp>
          <p:nvGrpSpPr>
            <p:cNvPr id="64" name="Group 63"/>
            <p:cNvGrpSpPr/>
            <p:nvPr/>
          </p:nvGrpSpPr>
          <p:grpSpPr>
            <a:xfrm>
              <a:off x="795747" y="2882581"/>
              <a:ext cx="1666875" cy="1437318"/>
              <a:chOff x="258805" y="2155397"/>
              <a:chExt cx="1666875" cy="1437318"/>
            </a:xfrm>
          </p:grpSpPr>
          <p:pic>
            <p:nvPicPr>
              <p:cNvPr id="62" name="Picture 61" descr="A close up of electronics&#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72382" y="2155397"/>
                <a:ext cx="1439722" cy="961997"/>
              </a:xfrm>
              <a:prstGeom prst="rect">
                <a:avLst/>
              </a:prstGeom>
            </p:spPr>
          </p:pic>
          <p:sp>
            <p:nvSpPr>
              <p:cNvPr id="63" name="TextBox 62"/>
              <p:cNvSpPr txBox="1"/>
              <p:nvPr/>
            </p:nvSpPr>
            <p:spPr>
              <a:xfrm>
                <a:off x="258805" y="3100272"/>
                <a:ext cx="1666875" cy="492443"/>
              </a:xfrm>
              <a:prstGeom prst="rect">
                <a:avLst/>
              </a:prstGeom>
              <a:noFill/>
            </p:spPr>
            <p:txBody>
              <a:bodyPr wrap="square" rtlCol="0">
                <a:spAutoFit/>
              </a:bodyPr>
              <a:lstStyle/>
              <a:p>
                <a:pPr defTabSz="342900"/>
                <a:r>
                  <a:rPr lang="en-SG" sz="600" dirty="0">
                    <a:solidFill>
                      <a:prstClr val="black"/>
                    </a:solidFill>
                    <a:latin typeface="Rockwell" panose="02060603020205020403"/>
                    <a:hlinkClick r:id="rId2" tooltip="https://en.wikipedia.org/wiki/Seagate_Barracuda"/>
                  </a:rPr>
                  <a:t>This Photo</a:t>
                </a:r>
                <a:r>
                  <a:rPr lang="en-SG" sz="600" dirty="0">
                    <a:solidFill>
                      <a:prstClr val="black"/>
                    </a:solidFill>
                    <a:latin typeface="Rockwell" panose="02060603020205020403"/>
                  </a:rPr>
                  <a:t> by Unknown Author is licensed under </a:t>
                </a:r>
                <a:r>
                  <a:rPr lang="en-SG" sz="600" dirty="0">
                    <a:solidFill>
                      <a:prstClr val="black"/>
                    </a:solidFill>
                    <a:latin typeface="Rockwell" panose="02060603020205020403"/>
                    <a:hlinkClick r:id="rId3" tooltip="https://creativecommons.org/licenses/by-sa/3.0/"/>
                  </a:rPr>
                  <a:t>CC BY-SA</a:t>
                </a:r>
                <a:endParaRPr lang="en-SG" sz="600" dirty="0">
                  <a:solidFill>
                    <a:prstClr val="black"/>
                  </a:solidFill>
                  <a:latin typeface="Rockwell" panose="02060603020205020403"/>
                </a:endParaRPr>
              </a:p>
            </p:txBody>
          </p:sp>
        </p:grpSp>
        <p:sp>
          <p:nvSpPr>
            <p:cNvPr id="65" name="Rectangle 64"/>
            <p:cNvSpPr/>
            <p:nvPr/>
          </p:nvSpPr>
          <p:spPr>
            <a:xfrm>
              <a:off x="1031626" y="2524500"/>
              <a:ext cx="1112271" cy="400109"/>
            </a:xfrm>
            <a:prstGeom prst="rect">
              <a:avLst/>
            </a:prstGeom>
            <a:noFill/>
          </p:spPr>
          <p:txBody>
            <a:bodyPr wrap="none" lIns="68580" tIns="34290" rIns="68580" bIns="34290">
              <a:spAutoFit/>
            </a:bodyPr>
            <a:lstStyle/>
            <a:p>
              <a:pPr algn="ctr" defTabSz="342900"/>
              <a:r>
                <a:rPr lang="en-US" sz="1500" dirty="0">
                  <a:ln w="0"/>
                  <a:solidFill>
                    <a:srgbClr val="D34817"/>
                  </a:solidFill>
                  <a:effectLst>
                    <a:outerShdw blurRad="38100" dist="25400" dir="5400000" algn="ctr" rotWithShape="0">
                      <a:srgbClr val="6E747A">
                        <a:alpha val="43000"/>
                      </a:srgbClr>
                    </a:outerShdw>
                  </a:effectLst>
                  <a:latin typeface="Rockwell" panose="02060603020205020403"/>
                </a:rPr>
                <a:t>3.5 Inch</a:t>
              </a:r>
              <a:endParaRPr lang="en-US" sz="1500" dirty="0">
                <a:ln w="0"/>
                <a:solidFill>
                  <a:srgbClr val="D34817"/>
                </a:solidFill>
                <a:effectLst>
                  <a:outerShdw blurRad="38100" dist="25400" dir="5400000" algn="ctr" rotWithShape="0">
                    <a:srgbClr val="6E747A">
                      <a:alpha val="43000"/>
                    </a:srgbClr>
                  </a:outerShdw>
                </a:effectLst>
                <a:latin typeface="Rockwell" panose="02060603020205020403"/>
              </a:endParaRPr>
            </a:p>
          </p:txBody>
        </p:sp>
      </p:grpSp>
      <p:grpSp>
        <p:nvGrpSpPr>
          <p:cNvPr id="67" name="Group 66"/>
          <p:cNvGrpSpPr/>
          <p:nvPr/>
        </p:nvGrpSpPr>
        <p:grpSpPr>
          <a:xfrm>
            <a:off x="2925482" y="1822036"/>
            <a:ext cx="1294096" cy="1383302"/>
            <a:chOff x="2087200" y="4917634"/>
            <a:chExt cx="1643216" cy="1844403"/>
          </a:xfrm>
        </p:grpSpPr>
        <p:grpSp>
          <p:nvGrpSpPr>
            <p:cNvPr id="50" name="Group 49"/>
            <p:cNvGrpSpPr/>
            <p:nvPr/>
          </p:nvGrpSpPr>
          <p:grpSpPr>
            <a:xfrm>
              <a:off x="2087200" y="5256629"/>
              <a:ext cx="1643216" cy="1505408"/>
              <a:chOff x="1067390" y="3501210"/>
              <a:chExt cx="1643216" cy="1505408"/>
            </a:xfrm>
          </p:grpSpPr>
          <p:pic>
            <p:nvPicPr>
              <p:cNvPr id="4" name="Picture 3" descr="A close up of a disk&#10;&#10;Description automatically generated"/>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295425" y="3501210"/>
                <a:ext cx="1145902" cy="876615"/>
              </a:xfrm>
              <a:prstGeom prst="rect">
                <a:avLst/>
              </a:prstGeom>
            </p:spPr>
          </p:pic>
          <p:sp>
            <p:nvSpPr>
              <p:cNvPr id="5" name="TextBox 4"/>
              <p:cNvSpPr txBox="1"/>
              <p:nvPr/>
            </p:nvSpPr>
            <p:spPr>
              <a:xfrm>
                <a:off x="1067390" y="4468009"/>
                <a:ext cx="1643216" cy="538609"/>
              </a:xfrm>
              <a:prstGeom prst="rect">
                <a:avLst/>
              </a:prstGeom>
              <a:noFill/>
            </p:spPr>
            <p:txBody>
              <a:bodyPr wrap="square" rtlCol="0">
                <a:spAutoFit/>
              </a:bodyPr>
              <a:lstStyle/>
              <a:p>
                <a:pPr algn="ctr" defTabSz="342900"/>
                <a:r>
                  <a:rPr lang="en-SG" sz="675" dirty="0">
                    <a:solidFill>
                      <a:prstClr val="black"/>
                    </a:solidFill>
                    <a:latin typeface="Rockwell" panose="02060603020205020403"/>
                    <a:hlinkClick r:id="rId5" tooltip="https://en.wikipedia.org/wiki/Hard_disk_drive"/>
                  </a:rPr>
                  <a:t>This Photo</a:t>
                </a:r>
                <a:r>
                  <a:rPr lang="en-SG" sz="675" dirty="0">
                    <a:solidFill>
                      <a:prstClr val="black"/>
                    </a:solidFill>
                    <a:latin typeface="Rockwell" panose="02060603020205020403"/>
                  </a:rPr>
                  <a:t> by Unknown Author is licensed under </a:t>
                </a:r>
                <a:r>
                  <a:rPr lang="en-SG" sz="675" dirty="0">
                    <a:solidFill>
                      <a:prstClr val="black"/>
                    </a:solidFill>
                    <a:latin typeface="Rockwell" panose="02060603020205020403"/>
                    <a:hlinkClick r:id="rId3" tooltip="https://creativecommons.org/licenses/by-sa/3.0/"/>
                  </a:rPr>
                  <a:t>CC BY-SA</a:t>
                </a:r>
                <a:endParaRPr lang="en-SG" sz="675" dirty="0">
                  <a:solidFill>
                    <a:prstClr val="black"/>
                  </a:solidFill>
                  <a:latin typeface="Rockwell" panose="02060603020205020403"/>
                </a:endParaRPr>
              </a:p>
            </p:txBody>
          </p:sp>
        </p:grpSp>
        <p:sp>
          <p:nvSpPr>
            <p:cNvPr id="66" name="Rectangle 65"/>
            <p:cNvSpPr/>
            <p:nvPr/>
          </p:nvSpPr>
          <p:spPr>
            <a:xfrm>
              <a:off x="2378555" y="4917634"/>
              <a:ext cx="1059253" cy="400109"/>
            </a:xfrm>
            <a:prstGeom prst="rect">
              <a:avLst/>
            </a:prstGeom>
            <a:noFill/>
          </p:spPr>
          <p:txBody>
            <a:bodyPr wrap="none" lIns="68580" tIns="34290" rIns="68580" bIns="34290">
              <a:spAutoFit/>
            </a:bodyPr>
            <a:lstStyle/>
            <a:p>
              <a:pPr algn="ctr" defTabSz="342900"/>
              <a:r>
                <a:rPr lang="en-US" sz="1500" dirty="0">
                  <a:ln w="0"/>
                  <a:solidFill>
                    <a:srgbClr val="D34817"/>
                  </a:solidFill>
                  <a:effectLst>
                    <a:outerShdw blurRad="38100" dist="25400" dir="5400000" algn="ctr" rotWithShape="0">
                      <a:srgbClr val="6E747A">
                        <a:alpha val="43000"/>
                      </a:srgbClr>
                    </a:outerShdw>
                  </a:effectLst>
                  <a:latin typeface="Rockwell" panose="02060603020205020403"/>
                </a:rPr>
                <a:t>2.5 Inch</a:t>
              </a:r>
              <a:endParaRPr lang="en-US" sz="1500" dirty="0">
                <a:ln w="0"/>
                <a:solidFill>
                  <a:srgbClr val="D34817"/>
                </a:solidFill>
                <a:effectLst>
                  <a:outerShdw blurRad="38100" dist="25400" dir="5400000" algn="ctr" rotWithShape="0">
                    <a:srgbClr val="6E747A">
                      <a:alpha val="43000"/>
                    </a:srgbClr>
                  </a:outerShdw>
                </a:effectLst>
                <a:latin typeface="Rockwell" panose="02060603020205020403"/>
              </a:endParaRPr>
            </a:p>
          </p:txBody>
        </p:sp>
      </p:grpSp>
      <p:grpSp>
        <p:nvGrpSpPr>
          <p:cNvPr id="74" name="Group 73"/>
          <p:cNvGrpSpPr/>
          <p:nvPr/>
        </p:nvGrpSpPr>
        <p:grpSpPr>
          <a:xfrm>
            <a:off x="4397546" y="1823682"/>
            <a:ext cx="1205271" cy="1306169"/>
            <a:chOff x="4568333" y="2466379"/>
            <a:chExt cx="1607028" cy="1741558"/>
          </a:xfrm>
        </p:grpSpPr>
        <p:grpSp>
          <p:nvGrpSpPr>
            <p:cNvPr id="48" name="Group 47"/>
            <p:cNvGrpSpPr/>
            <p:nvPr/>
          </p:nvGrpSpPr>
          <p:grpSpPr>
            <a:xfrm>
              <a:off x="4568333" y="2766682"/>
              <a:ext cx="1607028" cy="1441255"/>
              <a:chOff x="1810930" y="3146623"/>
              <a:chExt cx="1607028" cy="1441255"/>
            </a:xfrm>
          </p:grpSpPr>
          <p:pic>
            <p:nvPicPr>
              <p:cNvPr id="46" name="Picture 45" descr="A circuit board&#10;&#10;Description automatically generated"/>
              <p:cNvPicPr>
                <a:picLocks noChangeAspect="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927519" y="3146623"/>
                <a:ext cx="1348772" cy="944141"/>
              </a:xfrm>
              <a:prstGeom prst="rect">
                <a:avLst/>
              </a:prstGeom>
            </p:spPr>
          </p:pic>
          <p:sp>
            <p:nvSpPr>
              <p:cNvPr id="47" name="TextBox 46"/>
              <p:cNvSpPr txBox="1"/>
              <p:nvPr/>
            </p:nvSpPr>
            <p:spPr>
              <a:xfrm>
                <a:off x="1810930" y="4049269"/>
                <a:ext cx="1607028" cy="538609"/>
              </a:xfrm>
              <a:prstGeom prst="rect">
                <a:avLst/>
              </a:prstGeom>
              <a:noFill/>
            </p:spPr>
            <p:txBody>
              <a:bodyPr wrap="square" rtlCol="0">
                <a:spAutoFit/>
              </a:bodyPr>
              <a:lstStyle/>
              <a:p>
                <a:pPr algn="ctr" defTabSz="342900"/>
                <a:r>
                  <a:rPr lang="en-SG" sz="675" dirty="0">
                    <a:solidFill>
                      <a:prstClr val="black"/>
                    </a:solidFill>
                    <a:latin typeface="Rockwell" panose="02060603020205020403"/>
                    <a:hlinkClick r:id="rId7" tooltip="http://www.allwhitebackground.com/solid-state-drive-ssd.html"/>
                  </a:rPr>
                  <a:t>This Photo</a:t>
                </a:r>
                <a:r>
                  <a:rPr lang="en-SG" sz="675" dirty="0">
                    <a:solidFill>
                      <a:prstClr val="black"/>
                    </a:solidFill>
                    <a:latin typeface="Rockwell" panose="02060603020205020403"/>
                  </a:rPr>
                  <a:t> by Unknown Author is licensed under </a:t>
                </a:r>
                <a:r>
                  <a:rPr lang="en-SG" sz="675" dirty="0">
                    <a:solidFill>
                      <a:prstClr val="black"/>
                    </a:solidFill>
                    <a:latin typeface="Rockwell" panose="02060603020205020403"/>
                    <a:hlinkClick r:id="rId8" tooltip="https://creativecommons.org/licenses/by-nc/3.0/"/>
                  </a:rPr>
                  <a:t>CC BY-NC</a:t>
                </a:r>
                <a:endParaRPr lang="en-SG" sz="675" dirty="0">
                  <a:solidFill>
                    <a:prstClr val="black"/>
                  </a:solidFill>
                  <a:latin typeface="Rockwell" panose="02060603020205020403"/>
                </a:endParaRPr>
              </a:p>
            </p:txBody>
          </p:sp>
        </p:grpSp>
        <p:sp>
          <p:nvSpPr>
            <p:cNvPr id="69" name="Rectangle 68"/>
            <p:cNvSpPr/>
            <p:nvPr/>
          </p:nvSpPr>
          <p:spPr>
            <a:xfrm>
              <a:off x="4803173" y="2466379"/>
              <a:ext cx="1112271" cy="400109"/>
            </a:xfrm>
            <a:prstGeom prst="rect">
              <a:avLst/>
            </a:prstGeom>
            <a:noFill/>
          </p:spPr>
          <p:txBody>
            <a:bodyPr wrap="none" lIns="68580" tIns="34290" rIns="68580" bIns="34290">
              <a:spAutoFit/>
            </a:bodyPr>
            <a:lstStyle/>
            <a:p>
              <a:pPr algn="ctr" defTabSz="342900"/>
              <a:r>
                <a:rPr lang="en-US" sz="1500" dirty="0">
                  <a:ln w="0"/>
                  <a:solidFill>
                    <a:srgbClr val="D34817"/>
                  </a:solidFill>
                  <a:effectLst>
                    <a:outerShdw blurRad="38100" dist="25400" dir="5400000" algn="ctr" rotWithShape="0">
                      <a:srgbClr val="6E747A">
                        <a:alpha val="43000"/>
                      </a:srgbClr>
                    </a:outerShdw>
                  </a:effectLst>
                  <a:latin typeface="Rockwell" panose="02060603020205020403"/>
                </a:rPr>
                <a:t>2.5 Inch</a:t>
              </a:r>
              <a:endParaRPr lang="en-US" sz="1500" dirty="0">
                <a:ln w="0"/>
                <a:solidFill>
                  <a:srgbClr val="D34817"/>
                </a:solidFill>
                <a:effectLst>
                  <a:outerShdw blurRad="38100" dist="25400" dir="5400000" algn="ctr" rotWithShape="0">
                    <a:srgbClr val="6E747A">
                      <a:alpha val="43000"/>
                    </a:srgbClr>
                  </a:outerShdw>
                </a:effectLst>
                <a:latin typeface="Rockwell" panose="02060603020205020403"/>
              </a:endParaRPr>
            </a:p>
          </p:txBody>
        </p:sp>
      </p:grpSp>
      <p:grpSp>
        <p:nvGrpSpPr>
          <p:cNvPr id="73" name="Group 72"/>
          <p:cNvGrpSpPr/>
          <p:nvPr/>
        </p:nvGrpSpPr>
        <p:grpSpPr>
          <a:xfrm>
            <a:off x="6607587" y="1823680"/>
            <a:ext cx="1250706" cy="1395105"/>
            <a:chOff x="7239980" y="3538381"/>
            <a:chExt cx="1667608" cy="1860139"/>
          </a:xfrm>
        </p:grpSpPr>
        <p:grpSp>
          <p:nvGrpSpPr>
            <p:cNvPr id="49" name="Group 48"/>
            <p:cNvGrpSpPr/>
            <p:nvPr/>
          </p:nvGrpSpPr>
          <p:grpSpPr>
            <a:xfrm>
              <a:off x="7239980" y="3842940"/>
              <a:ext cx="1667608" cy="1555580"/>
              <a:chOff x="6814969" y="2439079"/>
              <a:chExt cx="1667608" cy="1555580"/>
            </a:xfrm>
          </p:grpSpPr>
          <p:pic>
            <p:nvPicPr>
              <p:cNvPr id="34" name="Picture 33" descr="A circuit board&#10;&#10;Description automatically generated"/>
              <p:cNvPicPr>
                <a:picLocks noChangeAspect="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814969" y="2439079"/>
                <a:ext cx="1667608" cy="889391"/>
              </a:xfrm>
              <a:prstGeom prst="rect">
                <a:avLst/>
              </a:prstGeom>
            </p:spPr>
          </p:pic>
          <p:sp>
            <p:nvSpPr>
              <p:cNvPr id="35" name="TextBox 34"/>
              <p:cNvSpPr txBox="1"/>
              <p:nvPr/>
            </p:nvSpPr>
            <p:spPr>
              <a:xfrm>
                <a:off x="6973553" y="3317552"/>
                <a:ext cx="1402264" cy="677107"/>
              </a:xfrm>
              <a:prstGeom prst="rect">
                <a:avLst/>
              </a:prstGeom>
              <a:noFill/>
            </p:spPr>
            <p:txBody>
              <a:bodyPr wrap="square" rtlCol="0">
                <a:spAutoFit/>
              </a:bodyPr>
              <a:lstStyle/>
              <a:p>
                <a:pPr algn="ctr" defTabSz="342900"/>
                <a:r>
                  <a:rPr lang="en-SG" sz="675" dirty="0">
                    <a:solidFill>
                      <a:prstClr val="black"/>
                    </a:solidFill>
                    <a:latin typeface="Rockwell" panose="02060603020205020403"/>
                    <a:hlinkClick r:id="rId10" tooltip="http://www.actualidadhardware.com/review-kingmax-m-2-ssd-128gb-2242/"/>
                  </a:rPr>
                  <a:t>This Photo</a:t>
                </a:r>
                <a:r>
                  <a:rPr lang="en-SG" sz="675" dirty="0">
                    <a:solidFill>
                      <a:prstClr val="black"/>
                    </a:solidFill>
                    <a:latin typeface="Rockwell" panose="02060603020205020403"/>
                  </a:rPr>
                  <a:t> by Unknown Author is licensed under </a:t>
                </a:r>
                <a:r>
                  <a:rPr lang="en-SG" sz="675" dirty="0">
                    <a:solidFill>
                      <a:prstClr val="black"/>
                    </a:solidFill>
                    <a:latin typeface="Rockwell" panose="02060603020205020403"/>
                    <a:hlinkClick r:id="rId11" tooltip="https://creativecommons.org/licenses/by/3.0/"/>
                  </a:rPr>
                  <a:t>CC BY</a:t>
                </a:r>
                <a:endParaRPr lang="en-SG" sz="675" dirty="0">
                  <a:solidFill>
                    <a:prstClr val="black"/>
                  </a:solidFill>
                  <a:latin typeface="Rockwell" panose="02060603020205020403"/>
                </a:endParaRPr>
              </a:p>
            </p:txBody>
          </p:sp>
        </p:grpSp>
        <p:sp>
          <p:nvSpPr>
            <p:cNvPr id="70" name="Rectangle 69"/>
            <p:cNvSpPr/>
            <p:nvPr/>
          </p:nvSpPr>
          <p:spPr>
            <a:xfrm>
              <a:off x="7433216" y="3538381"/>
              <a:ext cx="1242648" cy="400109"/>
            </a:xfrm>
            <a:prstGeom prst="rect">
              <a:avLst/>
            </a:prstGeom>
            <a:noFill/>
          </p:spPr>
          <p:txBody>
            <a:bodyPr wrap="none" lIns="68580" tIns="34290" rIns="68580" bIns="34290">
              <a:spAutoFit/>
            </a:bodyPr>
            <a:lstStyle/>
            <a:p>
              <a:pPr algn="ctr" defTabSz="342900"/>
              <a:r>
                <a:rPr lang="en-US" sz="1500" dirty="0">
                  <a:ln w="0"/>
                  <a:solidFill>
                    <a:srgbClr val="D34817"/>
                  </a:solidFill>
                  <a:effectLst>
                    <a:outerShdw blurRad="38100" dist="25400" dir="5400000" algn="ctr" rotWithShape="0">
                      <a:srgbClr val="6E747A">
                        <a:alpha val="43000"/>
                      </a:srgbClr>
                    </a:outerShdw>
                  </a:effectLst>
                  <a:latin typeface="Rockwell" panose="02060603020205020403"/>
                </a:rPr>
                <a:t>M.2 2242</a:t>
              </a:r>
              <a:endParaRPr lang="en-US" sz="1500" dirty="0">
                <a:ln w="0"/>
                <a:solidFill>
                  <a:srgbClr val="D34817"/>
                </a:solidFill>
                <a:effectLst>
                  <a:outerShdw blurRad="38100" dist="25400" dir="5400000" algn="ctr" rotWithShape="0">
                    <a:srgbClr val="6E747A">
                      <a:alpha val="43000"/>
                    </a:srgbClr>
                  </a:outerShdw>
                </a:effectLst>
                <a:latin typeface="Rockwell" panose="02060603020205020403"/>
              </a:endParaRPr>
            </a:p>
          </p:txBody>
        </p:sp>
      </p:grpSp>
      <p:grpSp>
        <p:nvGrpSpPr>
          <p:cNvPr id="72" name="Group 71"/>
          <p:cNvGrpSpPr/>
          <p:nvPr/>
        </p:nvGrpSpPr>
        <p:grpSpPr>
          <a:xfrm>
            <a:off x="5394952" y="1822037"/>
            <a:ext cx="1320270" cy="1294125"/>
            <a:chOff x="4673531" y="5152421"/>
            <a:chExt cx="1760360" cy="1725499"/>
          </a:xfrm>
        </p:grpSpPr>
        <p:grpSp>
          <p:nvGrpSpPr>
            <p:cNvPr id="51" name="Group 50"/>
            <p:cNvGrpSpPr/>
            <p:nvPr/>
          </p:nvGrpSpPr>
          <p:grpSpPr>
            <a:xfrm>
              <a:off x="4673531" y="5658673"/>
              <a:ext cx="1760360" cy="1219247"/>
              <a:chOff x="4837696" y="5437590"/>
              <a:chExt cx="1760360" cy="1219247"/>
            </a:xfrm>
          </p:grpSpPr>
          <p:pic>
            <p:nvPicPr>
              <p:cNvPr id="31" name="Picture 30" descr="A picture containing circuit&#10;&#10;Description automatically generated"/>
              <p:cNvPicPr>
                <a:picLocks noChangeAspect="1"/>
              </p:cNvPicPr>
              <p:nvPr/>
            </p:nvPicPr>
            <p:blipFill>
              <a:blip r:embed="rId1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837696" y="5437590"/>
                <a:ext cx="1607028" cy="904527"/>
              </a:xfrm>
              <a:prstGeom prst="rect">
                <a:avLst/>
              </a:prstGeom>
            </p:spPr>
          </p:pic>
          <p:sp>
            <p:nvSpPr>
              <p:cNvPr id="32" name="TextBox 31"/>
              <p:cNvSpPr txBox="1"/>
              <p:nvPr/>
            </p:nvSpPr>
            <p:spPr>
              <a:xfrm>
                <a:off x="5105061" y="6118228"/>
                <a:ext cx="1492995" cy="538609"/>
              </a:xfrm>
              <a:prstGeom prst="rect">
                <a:avLst/>
              </a:prstGeom>
              <a:noFill/>
            </p:spPr>
            <p:txBody>
              <a:bodyPr wrap="square" rtlCol="0">
                <a:spAutoFit/>
              </a:bodyPr>
              <a:lstStyle/>
              <a:p>
                <a:pPr algn="ctr" defTabSz="342900"/>
                <a:r>
                  <a:rPr lang="en-SG" sz="675" dirty="0">
                    <a:solidFill>
                      <a:prstClr val="black"/>
                    </a:solidFill>
                    <a:latin typeface="Rockwell" panose="02060603020205020403"/>
                    <a:hlinkClick r:id="rId13" tooltip="https://hardwarerecs.stackexchange.com/questions/1952/additional-ssd-for-msi-ge62-apache-pro"/>
                  </a:rPr>
                  <a:t>This Photo</a:t>
                </a:r>
                <a:r>
                  <a:rPr lang="en-SG" sz="675" dirty="0">
                    <a:solidFill>
                      <a:prstClr val="black"/>
                    </a:solidFill>
                    <a:latin typeface="Rockwell" panose="02060603020205020403"/>
                  </a:rPr>
                  <a:t> by Unknown Author is licensed under </a:t>
                </a:r>
                <a:r>
                  <a:rPr lang="en-SG" sz="675" dirty="0">
                    <a:solidFill>
                      <a:prstClr val="black"/>
                    </a:solidFill>
                    <a:latin typeface="Rockwell" panose="02060603020205020403"/>
                    <a:hlinkClick r:id="rId3" tooltip="https://creativecommons.org/licenses/by-sa/3.0/"/>
                  </a:rPr>
                  <a:t>CC BY-SA</a:t>
                </a:r>
                <a:endParaRPr lang="en-SG" sz="675" dirty="0">
                  <a:solidFill>
                    <a:prstClr val="black"/>
                  </a:solidFill>
                  <a:latin typeface="Rockwell" panose="02060603020205020403"/>
                </a:endParaRPr>
              </a:p>
            </p:txBody>
          </p:sp>
        </p:grpSp>
        <p:sp>
          <p:nvSpPr>
            <p:cNvPr id="71" name="Rectangle 70"/>
            <p:cNvSpPr/>
            <p:nvPr/>
          </p:nvSpPr>
          <p:spPr>
            <a:xfrm>
              <a:off x="5002254" y="5152421"/>
              <a:ext cx="1242648" cy="400109"/>
            </a:xfrm>
            <a:prstGeom prst="rect">
              <a:avLst/>
            </a:prstGeom>
            <a:noFill/>
          </p:spPr>
          <p:txBody>
            <a:bodyPr wrap="none" lIns="68580" tIns="34290" rIns="68580" bIns="34290">
              <a:spAutoFit/>
            </a:bodyPr>
            <a:lstStyle/>
            <a:p>
              <a:pPr algn="ctr" defTabSz="342900"/>
              <a:r>
                <a:rPr lang="en-US" sz="1500" dirty="0">
                  <a:ln w="0"/>
                  <a:solidFill>
                    <a:srgbClr val="D34817"/>
                  </a:solidFill>
                  <a:effectLst>
                    <a:outerShdw blurRad="38100" dist="25400" dir="5400000" algn="ctr" rotWithShape="0">
                      <a:srgbClr val="6E747A">
                        <a:alpha val="43000"/>
                      </a:srgbClr>
                    </a:outerShdw>
                  </a:effectLst>
                  <a:latin typeface="Rockwell" panose="02060603020205020403"/>
                </a:rPr>
                <a:t>M.2 2280</a:t>
              </a:r>
              <a:endParaRPr lang="en-US" sz="1500" dirty="0">
                <a:ln w="0"/>
                <a:solidFill>
                  <a:srgbClr val="D34817"/>
                </a:solidFill>
                <a:effectLst>
                  <a:outerShdw blurRad="38100" dist="25400" dir="5400000" algn="ctr" rotWithShape="0">
                    <a:srgbClr val="6E747A">
                      <a:alpha val="43000"/>
                    </a:srgbClr>
                  </a:outerShdw>
                </a:effectLst>
                <a:latin typeface="Rockwell" panose="02060603020205020403"/>
              </a:endParaRPr>
            </a:p>
          </p:txBody>
        </p:sp>
      </p:grpSp>
      <p:sp>
        <p:nvSpPr>
          <p:cNvPr id="77" name="Arrow: Right 76">
            <a:hlinkClick r:id="" action="ppaction://noaction"/>
          </p:cNvPr>
          <p:cNvSpPr/>
          <p:nvPr/>
        </p:nvSpPr>
        <p:spPr>
          <a:xfrm>
            <a:off x="6381412" y="4657249"/>
            <a:ext cx="1074420" cy="4800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r>
              <a:rPr lang="en-SG" sz="1350" b="1" dirty="0">
                <a:solidFill>
                  <a:prstClr val="white"/>
                </a:solidFill>
                <a:latin typeface="Rockwell" panose="02060603020205020403"/>
              </a:rPr>
              <a:t>MORE</a:t>
            </a:r>
            <a:endParaRPr lang="en-SG" sz="1350" b="1" dirty="0">
              <a:solidFill>
                <a:prstClr val="white"/>
              </a:solidFill>
              <a:latin typeface="Rockwell" panose="02060603020205020403"/>
            </a:endParaRPr>
          </a:p>
        </p:txBody>
      </p:sp>
      <p:sp>
        <p:nvSpPr>
          <p:cNvPr id="88" name="Rectangle: Rounded Corners 87"/>
          <p:cNvSpPr/>
          <p:nvPr/>
        </p:nvSpPr>
        <p:spPr>
          <a:xfrm>
            <a:off x="1403449" y="3215145"/>
            <a:ext cx="6349874" cy="1433363"/>
          </a:xfrm>
          <a:prstGeom prst="roundRect">
            <a:avLst>
              <a:gd name="adj" fmla="val 7303"/>
            </a:avLst>
          </a:prstGeom>
          <a:solidFill>
            <a:srgbClr val="CC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en-SG" sz="1350">
              <a:solidFill>
                <a:prstClr val="white"/>
              </a:solidFill>
              <a:latin typeface="Rockwell" panose="02060603020205020403"/>
            </a:endParaRPr>
          </a:p>
        </p:txBody>
      </p:sp>
      <p:sp>
        <p:nvSpPr>
          <p:cNvPr id="89" name="Rectangle 88"/>
          <p:cNvSpPr/>
          <p:nvPr/>
        </p:nvSpPr>
        <p:spPr>
          <a:xfrm>
            <a:off x="1556637" y="3172741"/>
            <a:ext cx="6010842" cy="346249"/>
          </a:xfrm>
          <a:prstGeom prst="rect">
            <a:avLst/>
          </a:prstGeom>
          <a:noFill/>
        </p:spPr>
        <p:txBody>
          <a:bodyPr wrap="square" lIns="68580" tIns="34290" rIns="68580" bIns="34290">
            <a:spAutoFit/>
          </a:bodyPr>
          <a:lstStyle/>
          <a:p>
            <a:pPr algn="ctr" defTabSz="342900"/>
            <a:r>
              <a:rPr lang="en-US" b="1" dirty="0">
                <a:ln w="0"/>
                <a:solidFill>
                  <a:srgbClr val="FF0000"/>
                </a:solidFill>
                <a:effectLst>
                  <a:outerShdw blurRad="38100" dist="25400" dir="5400000" algn="ctr" rotWithShape="0">
                    <a:srgbClr val="6E747A">
                      <a:alpha val="43000"/>
                    </a:srgbClr>
                  </a:outerShdw>
                </a:effectLst>
                <a:latin typeface="Rockwell" panose="02060603020205020403"/>
              </a:rPr>
              <a:t>Removable Storage</a:t>
            </a:r>
            <a:endParaRPr lang="en-US" b="1" dirty="0">
              <a:ln w="0"/>
              <a:solidFill>
                <a:srgbClr val="FF0000"/>
              </a:solidFill>
              <a:effectLst>
                <a:outerShdw blurRad="38100" dist="25400" dir="5400000" algn="ctr" rotWithShape="0">
                  <a:srgbClr val="6E747A">
                    <a:alpha val="43000"/>
                  </a:srgbClr>
                </a:outerShdw>
              </a:effectLst>
              <a:latin typeface="Rockwell" panose="02060603020205020403"/>
            </a:endParaRPr>
          </a:p>
        </p:txBody>
      </p:sp>
      <p:grpSp>
        <p:nvGrpSpPr>
          <p:cNvPr id="111" name="Group 110"/>
          <p:cNvGrpSpPr/>
          <p:nvPr/>
        </p:nvGrpSpPr>
        <p:grpSpPr>
          <a:xfrm>
            <a:off x="1329609" y="3416949"/>
            <a:ext cx="1060073" cy="1175842"/>
            <a:chOff x="835428" y="5037334"/>
            <a:chExt cx="1413431" cy="1567789"/>
          </a:xfrm>
        </p:grpSpPr>
        <p:sp>
          <p:nvSpPr>
            <p:cNvPr id="92" name="Rectangle 91"/>
            <p:cNvSpPr/>
            <p:nvPr/>
          </p:nvSpPr>
          <p:spPr>
            <a:xfrm>
              <a:off x="1298251" y="5037334"/>
              <a:ext cx="565113" cy="400109"/>
            </a:xfrm>
            <a:prstGeom prst="rect">
              <a:avLst/>
            </a:prstGeom>
            <a:noFill/>
          </p:spPr>
          <p:txBody>
            <a:bodyPr wrap="none" lIns="68580" tIns="34290" rIns="68580" bIns="34290">
              <a:spAutoFit/>
            </a:bodyPr>
            <a:lstStyle/>
            <a:p>
              <a:pPr algn="ctr" defTabSz="342900"/>
              <a:r>
                <a:rPr lang="en-US" sz="1500" dirty="0">
                  <a:ln w="0"/>
                  <a:solidFill>
                    <a:srgbClr val="D34817"/>
                  </a:solidFill>
                  <a:effectLst>
                    <a:outerShdw blurRad="38100" dist="25400" dir="5400000" algn="ctr" rotWithShape="0">
                      <a:srgbClr val="6E747A">
                        <a:alpha val="43000"/>
                      </a:srgbClr>
                    </a:outerShdw>
                  </a:effectLst>
                  <a:latin typeface="Rockwell" panose="02060603020205020403"/>
                </a:rPr>
                <a:t>CD</a:t>
              </a:r>
              <a:endParaRPr lang="en-US" sz="1500" dirty="0">
                <a:ln w="0"/>
                <a:solidFill>
                  <a:srgbClr val="D34817"/>
                </a:solidFill>
                <a:effectLst>
                  <a:outerShdw blurRad="38100" dist="25400" dir="5400000" algn="ctr" rotWithShape="0">
                    <a:srgbClr val="6E747A">
                      <a:alpha val="43000"/>
                    </a:srgbClr>
                  </a:outerShdw>
                </a:effectLst>
                <a:latin typeface="Rockwell" panose="02060603020205020403"/>
              </a:endParaRPr>
            </a:p>
          </p:txBody>
        </p:sp>
        <p:pic>
          <p:nvPicPr>
            <p:cNvPr id="101" name="Picture 100" descr="A picture containing device, electronics&#10;&#10;Description automatically generated"/>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1253687" y="5458444"/>
              <a:ext cx="599868" cy="599868"/>
            </a:xfrm>
            <a:prstGeom prst="rect">
              <a:avLst/>
            </a:prstGeom>
          </p:spPr>
        </p:pic>
        <p:sp>
          <p:nvSpPr>
            <p:cNvPr id="102" name="TextBox 101"/>
            <p:cNvSpPr txBox="1"/>
            <p:nvPr/>
          </p:nvSpPr>
          <p:spPr>
            <a:xfrm>
              <a:off x="835428" y="6112680"/>
              <a:ext cx="1413431" cy="492443"/>
            </a:xfrm>
            <a:prstGeom prst="rect">
              <a:avLst/>
            </a:prstGeom>
            <a:noFill/>
          </p:spPr>
          <p:txBody>
            <a:bodyPr wrap="square" rtlCol="0">
              <a:spAutoFit/>
            </a:bodyPr>
            <a:lstStyle/>
            <a:p>
              <a:pPr algn="ctr" defTabSz="342900"/>
              <a:r>
                <a:rPr lang="en-SG" sz="600" dirty="0">
                  <a:solidFill>
                    <a:prstClr val="black"/>
                  </a:solidFill>
                  <a:latin typeface="Rockwell" panose="02060603020205020403"/>
                  <a:hlinkClick r:id="rId15" tooltip="https://en.wikipedia.org/wiki/CD-ROM"/>
                </a:rPr>
                <a:t>This Photo</a:t>
              </a:r>
              <a:r>
                <a:rPr lang="en-SG" sz="600" dirty="0">
                  <a:solidFill>
                    <a:prstClr val="black"/>
                  </a:solidFill>
                  <a:latin typeface="Rockwell" panose="02060603020205020403"/>
                </a:rPr>
                <a:t> by Unknown Author is licensed under </a:t>
              </a:r>
              <a:r>
                <a:rPr lang="en-SG" sz="600" dirty="0">
                  <a:solidFill>
                    <a:prstClr val="black"/>
                  </a:solidFill>
                  <a:latin typeface="Rockwell" panose="02060603020205020403"/>
                  <a:hlinkClick r:id="rId3" tooltip="https://creativecommons.org/licenses/by-sa/3.0/"/>
                </a:rPr>
                <a:t>CC BY-SA</a:t>
              </a:r>
              <a:endParaRPr lang="en-SG" sz="600" dirty="0">
                <a:solidFill>
                  <a:prstClr val="black"/>
                </a:solidFill>
                <a:latin typeface="Rockwell" panose="02060603020205020403"/>
              </a:endParaRPr>
            </a:p>
          </p:txBody>
        </p:sp>
      </p:grpSp>
      <p:grpSp>
        <p:nvGrpSpPr>
          <p:cNvPr id="110" name="Group 109"/>
          <p:cNvGrpSpPr/>
          <p:nvPr/>
        </p:nvGrpSpPr>
        <p:grpSpPr>
          <a:xfrm>
            <a:off x="3134479" y="3420570"/>
            <a:ext cx="1072682" cy="1177827"/>
            <a:chOff x="2555061" y="4780687"/>
            <a:chExt cx="1430242" cy="1570436"/>
          </a:xfrm>
        </p:grpSpPr>
        <p:grpSp>
          <p:nvGrpSpPr>
            <p:cNvPr id="109" name="Group 108"/>
            <p:cNvGrpSpPr/>
            <p:nvPr/>
          </p:nvGrpSpPr>
          <p:grpSpPr>
            <a:xfrm>
              <a:off x="2555061" y="5128338"/>
              <a:ext cx="1430242" cy="1222785"/>
              <a:chOff x="2456680" y="5677672"/>
              <a:chExt cx="1430242" cy="1222785"/>
            </a:xfrm>
          </p:grpSpPr>
          <p:pic>
            <p:nvPicPr>
              <p:cNvPr id="104" name="Picture 103" descr="A picture containing device, electronics, blue, air&#10;&#10;Description automatically generated"/>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2791146" y="5677672"/>
                <a:ext cx="722482" cy="722482"/>
              </a:xfrm>
              <a:prstGeom prst="rect">
                <a:avLst/>
              </a:prstGeom>
            </p:spPr>
          </p:pic>
          <p:sp>
            <p:nvSpPr>
              <p:cNvPr id="105" name="TextBox 104"/>
              <p:cNvSpPr txBox="1"/>
              <p:nvPr/>
            </p:nvSpPr>
            <p:spPr>
              <a:xfrm>
                <a:off x="2456680" y="6408014"/>
                <a:ext cx="1430242" cy="492443"/>
              </a:xfrm>
              <a:prstGeom prst="rect">
                <a:avLst/>
              </a:prstGeom>
              <a:noFill/>
            </p:spPr>
            <p:txBody>
              <a:bodyPr wrap="square" rtlCol="0">
                <a:spAutoFit/>
              </a:bodyPr>
              <a:lstStyle/>
              <a:p>
                <a:pPr algn="ctr" defTabSz="342900"/>
                <a:r>
                  <a:rPr lang="en-SG" sz="600" dirty="0">
                    <a:solidFill>
                      <a:prstClr val="black"/>
                    </a:solidFill>
                    <a:latin typeface="Rockwell" panose="02060603020205020403"/>
                    <a:hlinkClick r:id="rId17" tooltip="https://commons.wikimedia.org/wiki/File:Oxygen480-devices-media-optical-blu-ray.svg"/>
                  </a:rPr>
                  <a:t>This Photo</a:t>
                </a:r>
                <a:r>
                  <a:rPr lang="en-SG" sz="600" dirty="0">
                    <a:solidFill>
                      <a:prstClr val="black"/>
                    </a:solidFill>
                    <a:latin typeface="Rockwell" panose="02060603020205020403"/>
                  </a:rPr>
                  <a:t> by Unknown Author is licensed under </a:t>
                </a:r>
                <a:r>
                  <a:rPr lang="en-SG" sz="600" dirty="0">
                    <a:solidFill>
                      <a:prstClr val="black"/>
                    </a:solidFill>
                    <a:latin typeface="Rockwell" panose="02060603020205020403"/>
                    <a:hlinkClick r:id="rId3" tooltip="https://creativecommons.org/licenses/by-sa/3.0/"/>
                  </a:rPr>
                  <a:t>CC BY-SA</a:t>
                </a:r>
                <a:endParaRPr lang="en-SG" sz="600" dirty="0">
                  <a:solidFill>
                    <a:prstClr val="black"/>
                  </a:solidFill>
                  <a:latin typeface="Rockwell" panose="02060603020205020403"/>
                </a:endParaRPr>
              </a:p>
            </p:txBody>
          </p:sp>
        </p:grpSp>
        <p:sp>
          <p:nvSpPr>
            <p:cNvPr id="97" name="Rectangle 96"/>
            <p:cNvSpPr/>
            <p:nvPr/>
          </p:nvSpPr>
          <p:spPr>
            <a:xfrm>
              <a:off x="2732641" y="4780687"/>
              <a:ext cx="1075081" cy="400109"/>
            </a:xfrm>
            <a:prstGeom prst="rect">
              <a:avLst/>
            </a:prstGeom>
            <a:noFill/>
          </p:spPr>
          <p:txBody>
            <a:bodyPr wrap="none" lIns="68580" tIns="34290" rIns="68580" bIns="34290">
              <a:spAutoFit/>
            </a:bodyPr>
            <a:lstStyle/>
            <a:p>
              <a:pPr algn="ctr" defTabSz="342900"/>
              <a:r>
                <a:rPr lang="en-US" sz="1500" dirty="0">
                  <a:ln w="0"/>
                  <a:solidFill>
                    <a:srgbClr val="D34817"/>
                  </a:solidFill>
                  <a:effectLst>
                    <a:outerShdw blurRad="38100" dist="25400" dir="5400000" algn="ctr" rotWithShape="0">
                      <a:srgbClr val="6E747A">
                        <a:alpha val="43000"/>
                      </a:srgbClr>
                    </a:outerShdw>
                  </a:effectLst>
                  <a:latin typeface="Rockwell" panose="02060603020205020403"/>
                </a:rPr>
                <a:t>Blu-Ray</a:t>
              </a:r>
              <a:endParaRPr lang="en-US" sz="1500" dirty="0">
                <a:ln w="0"/>
                <a:solidFill>
                  <a:srgbClr val="D34817"/>
                </a:solidFill>
                <a:effectLst>
                  <a:outerShdw blurRad="38100" dist="25400" dir="5400000" algn="ctr" rotWithShape="0">
                    <a:srgbClr val="6E747A">
                      <a:alpha val="43000"/>
                    </a:srgbClr>
                  </a:outerShdw>
                </a:effectLst>
                <a:latin typeface="Rockwell" panose="02060603020205020403"/>
              </a:endParaRPr>
            </a:p>
          </p:txBody>
        </p:sp>
      </p:grpSp>
      <p:grpSp>
        <p:nvGrpSpPr>
          <p:cNvPr id="113" name="Group 112"/>
          <p:cNvGrpSpPr/>
          <p:nvPr/>
        </p:nvGrpSpPr>
        <p:grpSpPr>
          <a:xfrm>
            <a:off x="2225736" y="3420034"/>
            <a:ext cx="1071940" cy="1180243"/>
            <a:chOff x="-2760881" y="3861735"/>
            <a:chExt cx="1429253" cy="1573657"/>
          </a:xfrm>
        </p:grpSpPr>
        <p:pic>
          <p:nvPicPr>
            <p:cNvPr id="107" name="Picture 106" descr="A picture containing device, electronics, black, sitting&#10;&#10;Description automatically generated"/>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2457340" y="4160708"/>
              <a:ext cx="799155" cy="799155"/>
            </a:xfrm>
            <a:prstGeom prst="rect">
              <a:avLst/>
            </a:prstGeom>
          </p:spPr>
        </p:pic>
        <p:sp>
          <p:nvSpPr>
            <p:cNvPr id="108" name="TextBox 107"/>
            <p:cNvSpPr txBox="1"/>
            <p:nvPr/>
          </p:nvSpPr>
          <p:spPr>
            <a:xfrm>
              <a:off x="-2760881" y="4942950"/>
              <a:ext cx="1429253" cy="492442"/>
            </a:xfrm>
            <a:prstGeom prst="rect">
              <a:avLst/>
            </a:prstGeom>
            <a:noFill/>
          </p:spPr>
          <p:txBody>
            <a:bodyPr wrap="square" rtlCol="0">
              <a:spAutoFit/>
            </a:bodyPr>
            <a:lstStyle/>
            <a:p>
              <a:pPr algn="ctr" defTabSz="342900"/>
              <a:r>
                <a:rPr lang="en-SG" sz="600" dirty="0">
                  <a:solidFill>
                    <a:prstClr val="black"/>
                  </a:solidFill>
                  <a:latin typeface="Rockwell" panose="02060603020205020403"/>
                  <a:hlinkClick r:id="rId19" tooltip="http://commons.wikimedia.org/wiki/File:Dvd_unmount.png"/>
                </a:rPr>
                <a:t>This Photo</a:t>
              </a:r>
              <a:r>
                <a:rPr lang="en-SG" sz="600" dirty="0">
                  <a:solidFill>
                    <a:prstClr val="black"/>
                  </a:solidFill>
                  <a:latin typeface="Rockwell" panose="02060603020205020403"/>
                </a:rPr>
                <a:t> by Unknown Author is licensed under </a:t>
              </a:r>
              <a:r>
                <a:rPr lang="en-SG" sz="600" dirty="0">
                  <a:solidFill>
                    <a:prstClr val="black"/>
                  </a:solidFill>
                  <a:latin typeface="Rockwell" panose="02060603020205020403"/>
                  <a:hlinkClick r:id="rId3" tooltip="https://creativecommons.org/licenses/by-sa/3.0/"/>
                </a:rPr>
                <a:t>CC BY-SA</a:t>
              </a:r>
              <a:endParaRPr lang="en-SG" sz="600" dirty="0">
                <a:solidFill>
                  <a:prstClr val="black"/>
                </a:solidFill>
                <a:latin typeface="Rockwell" panose="02060603020205020403"/>
              </a:endParaRPr>
            </a:p>
          </p:txBody>
        </p:sp>
        <p:sp>
          <p:nvSpPr>
            <p:cNvPr id="112" name="Rectangle 111"/>
            <p:cNvSpPr/>
            <p:nvPr/>
          </p:nvSpPr>
          <p:spPr>
            <a:xfrm>
              <a:off x="-2418982" y="3861735"/>
              <a:ext cx="720368" cy="400109"/>
            </a:xfrm>
            <a:prstGeom prst="rect">
              <a:avLst/>
            </a:prstGeom>
            <a:noFill/>
          </p:spPr>
          <p:txBody>
            <a:bodyPr wrap="none" lIns="68580" tIns="34290" rIns="68580" bIns="34290">
              <a:spAutoFit/>
            </a:bodyPr>
            <a:lstStyle/>
            <a:p>
              <a:pPr algn="ctr" defTabSz="342900"/>
              <a:r>
                <a:rPr lang="en-US" sz="1500" dirty="0">
                  <a:ln w="0"/>
                  <a:solidFill>
                    <a:srgbClr val="D34817"/>
                  </a:solidFill>
                  <a:effectLst>
                    <a:outerShdw blurRad="38100" dist="25400" dir="5400000" algn="ctr" rotWithShape="0">
                      <a:srgbClr val="6E747A">
                        <a:alpha val="43000"/>
                      </a:srgbClr>
                    </a:outerShdw>
                  </a:effectLst>
                  <a:latin typeface="Rockwell" panose="02060603020205020403"/>
                </a:rPr>
                <a:t>DVD</a:t>
              </a:r>
              <a:endParaRPr lang="en-US" sz="1500" dirty="0">
                <a:ln w="0"/>
                <a:solidFill>
                  <a:srgbClr val="D34817"/>
                </a:solidFill>
                <a:effectLst>
                  <a:outerShdw blurRad="38100" dist="25400" dir="5400000" algn="ctr" rotWithShape="0">
                    <a:srgbClr val="6E747A">
                      <a:alpha val="43000"/>
                    </a:srgbClr>
                  </a:outerShdw>
                </a:effectLst>
                <a:latin typeface="Rockwell" panose="02060603020205020403"/>
              </a:endParaRPr>
            </a:p>
          </p:txBody>
        </p:sp>
      </p:grpSp>
      <p:grpSp>
        <p:nvGrpSpPr>
          <p:cNvPr id="124" name="Group 123"/>
          <p:cNvGrpSpPr/>
          <p:nvPr/>
        </p:nvGrpSpPr>
        <p:grpSpPr>
          <a:xfrm>
            <a:off x="4078230" y="3424258"/>
            <a:ext cx="867665" cy="1263880"/>
            <a:chOff x="7657599" y="2332863"/>
            <a:chExt cx="1156887" cy="1685174"/>
          </a:xfrm>
        </p:grpSpPr>
        <p:pic>
          <p:nvPicPr>
            <p:cNvPr id="121" name="Picture 120" descr="A circuit board&#10;&#10;Description automatically generated"/>
            <p:cNvPicPr>
              <a:picLocks noChangeAspect="1"/>
            </p:cNvPicPr>
            <p:nvPr/>
          </p:nvPicPr>
          <p:blipFill rotWithShape="1">
            <a:blip r:embed="rId20">
              <a:clrChange>
                <a:clrFrom>
                  <a:srgbClr val="FFFFFF"/>
                </a:clrFrom>
                <a:clrTo>
                  <a:srgbClr val="FFFFFF">
                    <a:alpha val="0"/>
                  </a:srgbClr>
                </a:clrTo>
              </a:clrChange>
              <a:extLst>
                <a:ext uri="{28A0092B-C50C-407E-A947-70E740481C1C}">
                  <a14:useLocalDpi xmlns:a14="http://schemas.microsoft.com/office/drawing/2010/main" val="0"/>
                </a:ext>
              </a:extLst>
            </a:blip>
            <a:srcRect r="25291" b="51119"/>
            <a:stretch>
              <a:fillRect/>
            </a:stretch>
          </p:blipFill>
          <p:spPr>
            <a:xfrm>
              <a:off x="7668868" y="2852265"/>
              <a:ext cx="1145618" cy="422475"/>
            </a:xfrm>
            <a:prstGeom prst="rect">
              <a:avLst/>
            </a:prstGeom>
          </p:spPr>
        </p:pic>
        <p:sp>
          <p:nvSpPr>
            <p:cNvPr id="122" name="TextBox 121"/>
            <p:cNvSpPr txBox="1"/>
            <p:nvPr/>
          </p:nvSpPr>
          <p:spPr>
            <a:xfrm>
              <a:off x="7657599" y="3340929"/>
              <a:ext cx="1142772" cy="677108"/>
            </a:xfrm>
            <a:prstGeom prst="rect">
              <a:avLst/>
            </a:prstGeom>
            <a:noFill/>
          </p:spPr>
          <p:txBody>
            <a:bodyPr wrap="square" rtlCol="0">
              <a:spAutoFit/>
            </a:bodyPr>
            <a:lstStyle/>
            <a:p>
              <a:pPr algn="ctr" defTabSz="342900"/>
              <a:r>
                <a:rPr lang="en-SG" sz="675" dirty="0">
                  <a:solidFill>
                    <a:prstClr val="black"/>
                  </a:solidFill>
                  <a:latin typeface="Rockwell" panose="02060603020205020403"/>
                  <a:hlinkClick r:id="rId21" tooltip="http://en.wikipedia.org/wiki/USB_flash_memory_drive"/>
                </a:rPr>
                <a:t>This Photo</a:t>
              </a:r>
              <a:r>
                <a:rPr lang="en-SG" sz="675" dirty="0">
                  <a:solidFill>
                    <a:prstClr val="black"/>
                  </a:solidFill>
                  <a:latin typeface="Rockwell" panose="02060603020205020403"/>
                </a:rPr>
                <a:t> by Unknown Author is licensed under </a:t>
              </a:r>
              <a:r>
                <a:rPr lang="en-SG" sz="675" dirty="0">
                  <a:solidFill>
                    <a:prstClr val="black"/>
                  </a:solidFill>
                  <a:latin typeface="Rockwell" panose="02060603020205020403"/>
                  <a:hlinkClick r:id="rId3" tooltip="https://creativecommons.org/licenses/by-sa/3.0/"/>
                </a:rPr>
                <a:t>CC BY-SA</a:t>
              </a:r>
              <a:endParaRPr lang="en-SG" sz="675" dirty="0">
                <a:solidFill>
                  <a:prstClr val="black"/>
                </a:solidFill>
                <a:latin typeface="Rockwell" panose="02060603020205020403"/>
              </a:endParaRPr>
            </a:p>
          </p:txBody>
        </p:sp>
        <p:sp>
          <p:nvSpPr>
            <p:cNvPr id="123" name="Rectangle 122"/>
            <p:cNvSpPr/>
            <p:nvPr/>
          </p:nvSpPr>
          <p:spPr>
            <a:xfrm>
              <a:off x="7845795" y="2332863"/>
              <a:ext cx="802358" cy="400109"/>
            </a:xfrm>
            <a:prstGeom prst="rect">
              <a:avLst/>
            </a:prstGeom>
            <a:noFill/>
          </p:spPr>
          <p:txBody>
            <a:bodyPr wrap="none" lIns="68580" tIns="34290" rIns="68580" bIns="34290">
              <a:spAutoFit/>
            </a:bodyPr>
            <a:lstStyle/>
            <a:p>
              <a:pPr algn="ctr" defTabSz="342900"/>
              <a:r>
                <a:rPr lang="en-US" sz="1500" dirty="0">
                  <a:ln w="0"/>
                  <a:solidFill>
                    <a:srgbClr val="D34817"/>
                  </a:solidFill>
                  <a:effectLst>
                    <a:outerShdw blurRad="38100" dist="25400" dir="5400000" algn="ctr" rotWithShape="0">
                      <a:srgbClr val="6E747A">
                        <a:alpha val="43000"/>
                      </a:srgbClr>
                    </a:outerShdw>
                  </a:effectLst>
                  <a:latin typeface="Rockwell" panose="02060603020205020403"/>
                </a:rPr>
                <a:t>Flash</a:t>
              </a:r>
              <a:endParaRPr lang="en-US" sz="1500" dirty="0">
                <a:ln w="0"/>
                <a:solidFill>
                  <a:srgbClr val="D34817"/>
                </a:solidFill>
                <a:effectLst>
                  <a:outerShdw blurRad="38100" dist="25400" dir="5400000" algn="ctr" rotWithShape="0">
                    <a:srgbClr val="6E747A">
                      <a:alpha val="43000"/>
                    </a:srgbClr>
                  </a:outerShdw>
                </a:effectLst>
                <a:latin typeface="Rockwell" panose="02060603020205020403"/>
              </a:endParaRPr>
            </a:p>
          </p:txBody>
        </p:sp>
      </p:grpSp>
      <p:grpSp>
        <p:nvGrpSpPr>
          <p:cNvPr id="136" name="Group 135"/>
          <p:cNvGrpSpPr/>
          <p:nvPr/>
        </p:nvGrpSpPr>
        <p:grpSpPr>
          <a:xfrm>
            <a:off x="4892428" y="3415596"/>
            <a:ext cx="1062061" cy="1279273"/>
            <a:chOff x="5514599" y="4554127"/>
            <a:chExt cx="1416081" cy="1705696"/>
          </a:xfrm>
        </p:grpSpPr>
        <p:grpSp>
          <p:nvGrpSpPr>
            <p:cNvPr id="134" name="Group 133"/>
            <p:cNvGrpSpPr/>
            <p:nvPr/>
          </p:nvGrpSpPr>
          <p:grpSpPr>
            <a:xfrm>
              <a:off x="5514599" y="4929035"/>
              <a:ext cx="1416081" cy="1330788"/>
              <a:chOff x="6111709" y="3820374"/>
              <a:chExt cx="1416081" cy="1330788"/>
            </a:xfrm>
          </p:grpSpPr>
          <p:pic>
            <p:nvPicPr>
              <p:cNvPr id="132" name="Picture 131" descr="A close up of a device&#10;&#10;Description automatically generated"/>
              <p:cNvPicPr>
                <a:picLocks noChangeAspect="1"/>
              </p:cNvPicPr>
              <p:nvPr/>
            </p:nvPicPr>
            <p:blipFill>
              <a:blip r:embed="rId2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255381" y="3820374"/>
                <a:ext cx="1128738" cy="713157"/>
              </a:xfrm>
              <a:prstGeom prst="rect">
                <a:avLst/>
              </a:prstGeom>
            </p:spPr>
          </p:pic>
          <p:sp>
            <p:nvSpPr>
              <p:cNvPr id="133" name="TextBox 132"/>
              <p:cNvSpPr txBox="1"/>
              <p:nvPr/>
            </p:nvSpPr>
            <p:spPr>
              <a:xfrm>
                <a:off x="6111709" y="4474054"/>
                <a:ext cx="1416081" cy="677108"/>
              </a:xfrm>
              <a:prstGeom prst="rect">
                <a:avLst/>
              </a:prstGeom>
              <a:noFill/>
            </p:spPr>
            <p:txBody>
              <a:bodyPr wrap="square" rtlCol="0">
                <a:spAutoFit/>
              </a:bodyPr>
              <a:lstStyle/>
              <a:p>
                <a:pPr algn="ctr" defTabSz="342900"/>
                <a:r>
                  <a:rPr lang="en-SG" sz="675" dirty="0">
                    <a:solidFill>
                      <a:prstClr val="black"/>
                    </a:solidFill>
                    <a:latin typeface="Rockwell" panose="02060603020205020403"/>
                    <a:hlinkClick r:id="rId23" tooltip="https://en.wikipedia.org/wiki/Secure_Digital"/>
                  </a:rPr>
                  <a:t>This Photo</a:t>
                </a:r>
                <a:r>
                  <a:rPr lang="en-SG" sz="675" dirty="0">
                    <a:solidFill>
                      <a:prstClr val="black"/>
                    </a:solidFill>
                    <a:latin typeface="Rockwell" panose="02060603020205020403"/>
                  </a:rPr>
                  <a:t> by Unknown Author is licensed under </a:t>
                </a:r>
                <a:r>
                  <a:rPr lang="en-SG" sz="675" dirty="0">
                    <a:solidFill>
                      <a:prstClr val="black"/>
                    </a:solidFill>
                    <a:latin typeface="Rockwell" panose="02060603020205020403"/>
                    <a:hlinkClick r:id="rId3" tooltip="https://creativecommons.org/licenses/by-sa/3.0/"/>
                  </a:rPr>
                  <a:t>CC BY-SA</a:t>
                </a:r>
                <a:endParaRPr lang="en-SG" sz="675" dirty="0">
                  <a:solidFill>
                    <a:prstClr val="black"/>
                  </a:solidFill>
                  <a:latin typeface="Rockwell" panose="02060603020205020403"/>
                </a:endParaRPr>
              </a:p>
            </p:txBody>
          </p:sp>
        </p:grpSp>
        <p:sp>
          <p:nvSpPr>
            <p:cNvPr id="135" name="Rectangle 134"/>
            <p:cNvSpPr/>
            <p:nvPr/>
          </p:nvSpPr>
          <p:spPr>
            <a:xfrm>
              <a:off x="5611836" y="4554127"/>
              <a:ext cx="1182374" cy="400109"/>
            </a:xfrm>
            <a:prstGeom prst="rect">
              <a:avLst/>
            </a:prstGeom>
            <a:noFill/>
          </p:spPr>
          <p:txBody>
            <a:bodyPr wrap="none" lIns="68580" tIns="34290" rIns="68580" bIns="34290">
              <a:spAutoFit/>
            </a:bodyPr>
            <a:lstStyle/>
            <a:p>
              <a:pPr algn="ctr" defTabSz="342900"/>
              <a:r>
                <a:rPr lang="en-US" sz="1500" dirty="0">
                  <a:ln w="0"/>
                  <a:solidFill>
                    <a:srgbClr val="D34817"/>
                  </a:solidFill>
                  <a:effectLst>
                    <a:outerShdw blurRad="38100" dist="25400" dir="5400000" algn="ctr" rotWithShape="0">
                      <a:srgbClr val="6E747A">
                        <a:alpha val="43000"/>
                      </a:srgbClr>
                    </a:outerShdw>
                  </a:effectLst>
                  <a:latin typeface="Rockwell" panose="02060603020205020403"/>
                </a:rPr>
                <a:t>Memory</a:t>
              </a:r>
              <a:endParaRPr lang="en-US" sz="1500" dirty="0">
                <a:ln w="0"/>
                <a:solidFill>
                  <a:srgbClr val="D34817"/>
                </a:solidFill>
                <a:effectLst>
                  <a:outerShdw blurRad="38100" dist="25400" dir="5400000" algn="ctr" rotWithShape="0">
                    <a:srgbClr val="6E747A">
                      <a:alpha val="43000"/>
                    </a:srgbClr>
                  </a:outerShdw>
                </a:effectLst>
                <a:latin typeface="Rockwell" panose="02060603020205020403"/>
              </a:endParaRPr>
            </a:p>
          </p:txBody>
        </p:sp>
      </p:grpSp>
      <p:grpSp>
        <p:nvGrpSpPr>
          <p:cNvPr id="141" name="Group 140"/>
          <p:cNvGrpSpPr/>
          <p:nvPr/>
        </p:nvGrpSpPr>
        <p:grpSpPr>
          <a:xfrm>
            <a:off x="5908961" y="3424256"/>
            <a:ext cx="919339" cy="1242892"/>
            <a:chOff x="7034295" y="4569351"/>
            <a:chExt cx="1225785" cy="1657189"/>
          </a:xfrm>
        </p:grpSpPr>
        <p:pic>
          <p:nvPicPr>
            <p:cNvPr id="138" name="Picture 137" descr="A picture containing stereo&#10;&#10;Description automatically generated"/>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7104858" y="4999288"/>
              <a:ext cx="1093372" cy="531197"/>
            </a:xfrm>
            <a:prstGeom prst="rect">
              <a:avLst/>
            </a:prstGeom>
          </p:spPr>
        </p:pic>
        <p:sp>
          <p:nvSpPr>
            <p:cNvPr id="139" name="TextBox 138"/>
            <p:cNvSpPr txBox="1"/>
            <p:nvPr/>
          </p:nvSpPr>
          <p:spPr>
            <a:xfrm>
              <a:off x="7034295" y="5549432"/>
              <a:ext cx="1225785" cy="677108"/>
            </a:xfrm>
            <a:prstGeom prst="rect">
              <a:avLst/>
            </a:prstGeom>
            <a:noFill/>
          </p:spPr>
          <p:txBody>
            <a:bodyPr wrap="square" rtlCol="0">
              <a:spAutoFit/>
            </a:bodyPr>
            <a:lstStyle/>
            <a:p>
              <a:pPr algn="ctr" defTabSz="342900"/>
              <a:r>
                <a:rPr lang="en-SG" sz="675" dirty="0">
                  <a:solidFill>
                    <a:prstClr val="black"/>
                  </a:solidFill>
                  <a:latin typeface="Rockwell" panose="02060603020205020403"/>
                  <a:hlinkClick r:id="rId25" tooltip="https://en.wikipedia.org/wiki/Floppy_disk"/>
                </a:rPr>
                <a:t>This Photo</a:t>
              </a:r>
              <a:r>
                <a:rPr lang="en-SG" sz="675" dirty="0">
                  <a:solidFill>
                    <a:prstClr val="black"/>
                  </a:solidFill>
                  <a:latin typeface="Rockwell" panose="02060603020205020403"/>
                </a:rPr>
                <a:t> by Unknown Author is licensed under </a:t>
              </a:r>
              <a:r>
                <a:rPr lang="en-SG" sz="675" dirty="0">
                  <a:solidFill>
                    <a:prstClr val="black"/>
                  </a:solidFill>
                  <a:latin typeface="Rockwell" panose="02060603020205020403"/>
                  <a:hlinkClick r:id="rId3" tooltip="https://creativecommons.org/licenses/by-sa/3.0/"/>
                </a:rPr>
                <a:t>CC BY-SA</a:t>
              </a:r>
              <a:endParaRPr lang="en-SG" sz="675" dirty="0">
                <a:solidFill>
                  <a:prstClr val="black"/>
                </a:solidFill>
                <a:latin typeface="Rockwell" panose="02060603020205020403"/>
              </a:endParaRPr>
            </a:p>
          </p:txBody>
        </p:sp>
        <p:sp>
          <p:nvSpPr>
            <p:cNvPr id="140" name="Rectangle 139"/>
            <p:cNvSpPr/>
            <p:nvPr/>
          </p:nvSpPr>
          <p:spPr>
            <a:xfrm>
              <a:off x="7124647" y="4569351"/>
              <a:ext cx="1006344" cy="400109"/>
            </a:xfrm>
            <a:prstGeom prst="rect">
              <a:avLst/>
            </a:prstGeom>
            <a:noFill/>
          </p:spPr>
          <p:txBody>
            <a:bodyPr wrap="none" lIns="68580" tIns="34290" rIns="68580" bIns="34290">
              <a:spAutoFit/>
            </a:bodyPr>
            <a:lstStyle/>
            <a:p>
              <a:pPr algn="ctr" defTabSz="342900"/>
              <a:r>
                <a:rPr lang="en-US" sz="1500" dirty="0">
                  <a:ln w="0"/>
                  <a:solidFill>
                    <a:srgbClr val="D34817"/>
                  </a:solidFill>
                  <a:effectLst>
                    <a:outerShdw blurRad="38100" dist="25400" dir="5400000" algn="ctr" rotWithShape="0">
                      <a:srgbClr val="6E747A">
                        <a:alpha val="43000"/>
                      </a:srgbClr>
                    </a:outerShdw>
                  </a:effectLst>
                  <a:latin typeface="Rockwell" panose="02060603020205020403"/>
                </a:rPr>
                <a:t>Floppy</a:t>
              </a:r>
              <a:endParaRPr lang="en-US" sz="1500" dirty="0">
                <a:ln w="0"/>
                <a:solidFill>
                  <a:srgbClr val="D34817"/>
                </a:solidFill>
                <a:effectLst>
                  <a:outerShdw blurRad="38100" dist="25400" dir="5400000" algn="ctr" rotWithShape="0">
                    <a:srgbClr val="6E747A">
                      <a:alpha val="43000"/>
                    </a:srgbClr>
                  </a:outerShdw>
                </a:effectLst>
                <a:latin typeface="Rockwell" panose="02060603020205020403"/>
              </a:endParaRPr>
            </a:p>
          </p:txBody>
        </p:sp>
      </p:grpSp>
      <p:sp>
        <p:nvSpPr>
          <p:cNvPr id="145" name="Rectangle 144"/>
          <p:cNvSpPr/>
          <p:nvPr/>
        </p:nvSpPr>
        <p:spPr>
          <a:xfrm>
            <a:off x="6808568" y="3413666"/>
            <a:ext cx="866264" cy="300082"/>
          </a:xfrm>
          <a:prstGeom prst="rect">
            <a:avLst/>
          </a:prstGeom>
          <a:noFill/>
        </p:spPr>
        <p:txBody>
          <a:bodyPr wrap="none" lIns="68580" tIns="34290" rIns="68580" bIns="34290">
            <a:spAutoFit/>
          </a:bodyPr>
          <a:lstStyle/>
          <a:p>
            <a:pPr algn="ctr" defTabSz="342900"/>
            <a:r>
              <a:rPr lang="en-US" sz="1500" dirty="0">
                <a:ln w="0"/>
                <a:solidFill>
                  <a:srgbClr val="D34817"/>
                </a:solidFill>
                <a:effectLst>
                  <a:outerShdw blurRad="38100" dist="25400" dir="5400000" algn="ctr" rotWithShape="0">
                    <a:srgbClr val="6E747A">
                      <a:alpha val="43000"/>
                    </a:srgbClr>
                  </a:outerShdw>
                </a:effectLst>
                <a:latin typeface="Rockwell" panose="02060603020205020403"/>
              </a:rPr>
              <a:t>Zip Disk</a:t>
            </a:r>
            <a:endParaRPr lang="en-US" sz="1500" dirty="0">
              <a:ln w="0"/>
              <a:solidFill>
                <a:srgbClr val="D34817"/>
              </a:solidFill>
              <a:effectLst>
                <a:outerShdw blurRad="38100" dist="25400" dir="5400000" algn="ctr" rotWithShape="0">
                  <a:srgbClr val="6E747A">
                    <a:alpha val="43000"/>
                  </a:srgbClr>
                </a:outerShdw>
              </a:effectLst>
              <a:latin typeface="Rockwell" panose="02060603020205020403"/>
            </a:endParaRPr>
          </a:p>
        </p:txBody>
      </p:sp>
      <p:grpSp>
        <p:nvGrpSpPr>
          <p:cNvPr id="152" name="Group 151"/>
          <p:cNvGrpSpPr/>
          <p:nvPr/>
        </p:nvGrpSpPr>
        <p:grpSpPr>
          <a:xfrm>
            <a:off x="6781107" y="3706128"/>
            <a:ext cx="971089" cy="966469"/>
            <a:chOff x="7817280" y="4411031"/>
            <a:chExt cx="1294785" cy="1288626"/>
          </a:xfrm>
        </p:grpSpPr>
        <p:pic>
          <p:nvPicPr>
            <p:cNvPr id="150" name="Picture 149" descr="A close up of a sign&#10;&#10;Description automatically generated"/>
            <p:cNvPicPr>
              <a:picLocks noChangeAspect="1"/>
            </p:cNvPicPr>
            <p:nvPr/>
          </p:nvPicPr>
          <p:blipFill>
            <a:blip r:embed="rId26">
              <a:extLst>
                <a:ext uri="{28A0092B-C50C-407E-A947-70E740481C1C}">
                  <a14:useLocalDpi xmlns:a14="http://schemas.microsoft.com/office/drawing/2010/main" val="0"/>
                </a:ext>
              </a:extLst>
            </a:blip>
            <a:stretch>
              <a:fillRect/>
            </a:stretch>
          </p:blipFill>
          <p:spPr>
            <a:xfrm>
              <a:off x="8146976" y="4411031"/>
              <a:ext cx="670449" cy="670449"/>
            </a:xfrm>
            <a:prstGeom prst="rect">
              <a:avLst/>
            </a:prstGeom>
          </p:spPr>
        </p:pic>
        <p:sp>
          <p:nvSpPr>
            <p:cNvPr id="151" name="TextBox 150"/>
            <p:cNvSpPr txBox="1"/>
            <p:nvPr/>
          </p:nvSpPr>
          <p:spPr>
            <a:xfrm>
              <a:off x="7817280" y="5022549"/>
              <a:ext cx="1294785" cy="677108"/>
            </a:xfrm>
            <a:prstGeom prst="rect">
              <a:avLst/>
            </a:prstGeom>
            <a:noFill/>
          </p:spPr>
          <p:txBody>
            <a:bodyPr wrap="square" rtlCol="0">
              <a:spAutoFit/>
            </a:bodyPr>
            <a:lstStyle/>
            <a:p>
              <a:pPr algn="ctr" defTabSz="342900"/>
              <a:r>
                <a:rPr lang="en-SG" sz="675" dirty="0">
                  <a:solidFill>
                    <a:prstClr val="black"/>
                  </a:solidFill>
                  <a:latin typeface="Rockwell" panose="02060603020205020403"/>
                  <a:hlinkClick r:id="rId27" tooltip="http://commons.wikimedia.org/wiki/Category:Zip_disk_icons"/>
                </a:rPr>
                <a:t>This Photo</a:t>
              </a:r>
              <a:r>
                <a:rPr lang="en-SG" sz="675" dirty="0">
                  <a:solidFill>
                    <a:prstClr val="black"/>
                  </a:solidFill>
                  <a:latin typeface="Rockwell" panose="02060603020205020403"/>
                </a:rPr>
                <a:t> by Unknown Author is licensed under </a:t>
              </a:r>
              <a:r>
                <a:rPr lang="en-SG" sz="675" dirty="0">
                  <a:solidFill>
                    <a:prstClr val="black"/>
                  </a:solidFill>
                  <a:latin typeface="Rockwell" panose="02060603020205020403"/>
                  <a:hlinkClick r:id="rId3" tooltip="https://creativecommons.org/licenses/by-sa/3.0/"/>
                </a:rPr>
                <a:t>CC BY-SA</a:t>
              </a:r>
              <a:endParaRPr lang="en-SG" sz="675" dirty="0">
                <a:solidFill>
                  <a:prstClr val="black"/>
                </a:solidFill>
                <a:latin typeface="Rockwell" panose="02060603020205020403"/>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grpSp>
        <p:nvGrpSpPr>
          <p:cNvPr id="17417" name="Group 75"/>
          <p:cNvGrpSpPr>
            <a:grpSpLocks noGrp="1" noRot="1" noChangeAspect="1" noMove="1" noResize="1" noUngrp="1"/>
          </p:cNvGrpSpPr>
          <p:nvPr/>
        </p:nvGrpSpPr>
        <p:grpSpPr>
          <a:xfrm>
            <a:off x="7556470" y="4672261"/>
            <a:ext cx="257175" cy="342900"/>
            <a:chOff x="11361456" y="6195813"/>
            <a:chExt cx="548640" cy="548640"/>
          </a:xfrm>
        </p:grpSpPr>
        <p:sp>
          <p:nvSpPr>
            <p:cNvPr id="17418" name="Oval 76"/>
            <p:cNvSpPr/>
            <p:nvPr/>
          </p:nvSpPr>
          <p:spPr>
            <a:xfrm>
              <a:off x="11361456" y="6195813"/>
              <a:ext cx="548640" cy="548640"/>
            </a:xfrm>
            <a:prstGeom prst="ellipse">
              <a:avLst/>
            </a:prstGeom>
            <a:blipFill dpi="0" rotWithShape="1">
              <a:blip r:embed="rId1">
                <a:duotone>
                  <a:schemeClr val="accent1">
                    <a:shade val="45000"/>
                    <a:satMod val="135000"/>
                  </a:schemeClr>
                  <a:prstClr val="white"/>
                </a:duotone>
                <a:extLst>
                  <a:ext uri="{BEBA8EAE-BF5A-486C-A8C5-ECC9F3942E4B}">
                    <a14:imgProps xmlns:a14="http://schemas.microsoft.com/office/drawing/2010/main">
                      <a14:imgLayer r:embed="rId2">
                        <a14:imgEffect>
                          <a14:brightnessContrast bright="-40000" contrast="20000"/>
                        </a14:imgEffect>
                        <a14:imgEffect>
                          <a14:saturation sat="95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algn="ctr" defTabSz="685800">
                <a:defRPr/>
              </a:pPr>
              <a:endParaRPr lang="en-US" sz="1500" kern="0" dirty="0">
                <a:solidFill>
                  <a:prstClr val="white"/>
                </a:solidFill>
                <a:latin typeface="Rockwell Extra Bold" panose="02060903040505020403" pitchFamily="18" charset="0"/>
              </a:endParaRPr>
            </a:p>
          </p:txBody>
        </p:sp>
        <p:sp>
          <p:nvSpPr>
            <p:cNvPr id="17419" name="Oval 77"/>
            <p:cNvSpPr/>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algn="ctr" defTabSz="685800">
                <a:defRPr/>
              </a:pPr>
              <a:endParaRPr lang="en-US" sz="1350" kern="0" dirty="0">
                <a:solidFill>
                  <a:prstClr val="white"/>
                </a:solidFill>
                <a:latin typeface="Calibri" panose="020F0502020204030204"/>
              </a:endParaRPr>
            </a:p>
          </p:txBody>
        </p:sp>
      </p:grpSp>
      <p:sp>
        <p:nvSpPr>
          <p:cNvPr id="17412" name="Rectangle 2"/>
          <p:cNvSpPr>
            <a:spLocks noGrp="1" noChangeArrowheads="1"/>
          </p:cNvSpPr>
          <p:nvPr>
            <p:ph type="title"/>
          </p:nvPr>
        </p:nvSpPr>
        <p:spPr>
          <a:xfrm>
            <a:off x="1499625" y="363474"/>
            <a:ext cx="4216429" cy="1207008"/>
          </a:xfrm>
        </p:spPr>
        <p:txBody>
          <a:bodyPr vert="horz" lIns="68580" tIns="34290" rIns="68580" bIns="34290" rtlCol="0" anchor="ctr">
            <a:normAutofit/>
          </a:bodyPr>
          <a:lstStyle/>
          <a:p>
            <a:r>
              <a:rPr lang="en-US" sz="4050" dirty="0"/>
              <a:t>Basics of computer</a:t>
            </a:r>
            <a:br>
              <a:rPr lang="en-US" sz="4050" dirty="0"/>
            </a:br>
            <a:r>
              <a:rPr lang="en-US" sz="3300" i="1" dirty="0"/>
              <a:t>(Disk Geometry - HDD)</a:t>
            </a:r>
            <a:endParaRPr lang="en-US" sz="4050" i="1" dirty="0"/>
          </a:p>
        </p:txBody>
      </p:sp>
      <p:pic>
        <p:nvPicPr>
          <p:cNvPr id="7" name="Picture 6" descr="A picture containing game, table&#10;&#10;Description automatically generated"/>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165843" y="1480708"/>
            <a:ext cx="4073233" cy="3299318"/>
          </a:xfrm>
          <a:prstGeom prst="rect">
            <a:avLst/>
          </a:prstGeom>
        </p:spPr>
      </p:pic>
      <p:sp>
        <p:nvSpPr>
          <p:cNvPr id="3" name="TextBox 2"/>
          <p:cNvSpPr txBox="1"/>
          <p:nvPr/>
        </p:nvSpPr>
        <p:spPr>
          <a:xfrm>
            <a:off x="1175772" y="4938826"/>
            <a:ext cx="3357009" cy="230832"/>
          </a:xfrm>
          <a:prstGeom prst="rect">
            <a:avLst/>
          </a:prstGeom>
          <a:noFill/>
        </p:spPr>
        <p:txBody>
          <a:bodyPr wrap="none" rtlCol="0">
            <a:spAutoFit/>
          </a:bodyPr>
          <a:lstStyle/>
          <a:p>
            <a:pPr defTabSz="342900">
              <a:spcAft>
                <a:spcPts val="450"/>
              </a:spcAft>
            </a:pPr>
            <a:r>
              <a:rPr lang="en-US" sz="900" b="1" dirty="0">
                <a:solidFill>
                  <a:prstClr val="black"/>
                </a:solidFill>
                <a:latin typeface="Rockwell" panose="02060603020205020403"/>
              </a:rPr>
              <a:t>Source</a:t>
            </a:r>
            <a:r>
              <a:rPr lang="en-US" sz="900" dirty="0">
                <a:solidFill>
                  <a:prstClr val="black"/>
                </a:solidFill>
                <a:latin typeface="Rockwell" panose="02060603020205020403"/>
              </a:rPr>
              <a:t>: </a:t>
            </a:r>
            <a:r>
              <a:rPr lang="en-US" sz="900" dirty="0">
                <a:solidFill>
                  <a:prstClr val="black"/>
                </a:solidFill>
                <a:latin typeface="Rockwell" panose="02060603020205020403"/>
                <a:hlinkClick r:id="rId4"/>
              </a:rPr>
              <a:t>http://en.wikipedia.org/wiki/Cylinder-head-sector</a:t>
            </a:r>
            <a:endParaRPr lang="en-SG" sz="900" dirty="0">
              <a:solidFill>
                <a:prstClr val="black"/>
              </a:solidFill>
              <a:latin typeface="Rockwell" panose="02060603020205020403"/>
            </a:endParaRPr>
          </a:p>
        </p:txBody>
      </p:sp>
      <p:pic>
        <p:nvPicPr>
          <p:cNvPr id="4" name="Picture 3" descr="A picture containing device, room&#10;&#10;Description automatically generated"/>
          <p:cNvPicPr>
            <a:picLocks noChangeAspect="1"/>
          </p:cNvPicPr>
          <p:nvPr/>
        </p:nvPicPr>
        <p:blipFill rotWithShape="1">
          <a:blip r:embed="rId5" cstate="email">
            <a:extLst>
              <a:ext uri="{28A0092B-C50C-407E-A947-70E740481C1C}">
                <a14:useLocalDpi xmlns:a14="http://schemas.microsoft.com/office/drawing/2010/main" val="0"/>
              </a:ext>
            </a:extLst>
          </a:blip>
          <a:stretch>
            <a:fillRect/>
          </a:stretch>
        </p:blipFill>
        <p:spPr>
          <a:xfrm>
            <a:off x="5427354" y="192574"/>
            <a:ext cx="2416901" cy="2712035"/>
          </a:xfrm>
          <a:prstGeom prst="rect">
            <a:avLst/>
          </a:prstGeom>
        </p:spPr>
      </p:pic>
      <p:sp>
        <p:nvSpPr>
          <p:cNvPr id="9" name="TextBox 8"/>
          <p:cNvSpPr txBox="1"/>
          <p:nvPr/>
        </p:nvSpPr>
        <p:spPr>
          <a:xfrm>
            <a:off x="3886367" y="2365214"/>
            <a:ext cx="1415657" cy="507831"/>
          </a:xfrm>
          <a:prstGeom prst="rect">
            <a:avLst/>
          </a:prstGeom>
          <a:solidFill>
            <a:schemeClr val="bg1"/>
          </a:solidFill>
        </p:spPr>
        <p:txBody>
          <a:bodyPr wrap="square" rtlCol="0">
            <a:spAutoFit/>
          </a:bodyPr>
          <a:lstStyle/>
          <a:p>
            <a:pPr defTabSz="342900"/>
            <a:r>
              <a:rPr lang="en-SG" sz="1350" dirty="0">
                <a:solidFill>
                  <a:prstClr val="black"/>
                </a:solidFill>
                <a:latin typeface="Rockwell" panose="02060603020205020403"/>
              </a:rPr>
              <a:t>Disk read-and-write heads</a:t>
            </a:r>
            <a:endParaRPr lang="en-SG" sz="1350" dirty="0">
              <a:solidFill>
                <a:prstClr val="black"/>
              </a:solidFill>
              <a:latin typeface="Rockwell" panose="02060603020205020403"/>
            </a:endParaRPr>
          </a:p>
        </p:txBody>
      </p:sp>
      <p:sp>
        <p:nvSpPr>
          <p:cNvPr id="10" name="Rectangle 9"/>
          <p:cNvSpPr/>
          <p:nvPr/>
        </p:nvSpPr>
        <p:spPr>
          <a:xfrm>
            <a:off x="3760470" y="3046307"/>
            <a:ext cx="994410" cy="38567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en-SG" sz="1350">
              <a:solidFill>
                <a:prstClr val="white"/>
              </a:solidFill>
              <a:latin typeface="Rockwell" panose="02060603020205020403"/>
            </a:endParaRPr>
          </a:p>
        </p:txBody>
      </p:sp>
      <p:cxnSp>
        <p:nvCxnSpPr>
          <p:cNvPr id="12" name="Straight Arrow Connector 11"/>
          <p:cNvCxnSpPr>
            <a:stCxn id="9" idx="1"/>
          </p:cNvCxnSpPr>
          <p:nvPr/>
        </p:nvCxnSpPr>
        <p:spPr>
          <a:xfrm flipH="1">
            <a:off x="3760471" y="2619130"/>
            <a:ext cx="125896" cy="2120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9" idx="1"/>
            <a:endCxn id="10" idx="1"/>
          </p:cNvCxnSpPr>
          <p:nvPr/>
        </p:nvCxnSpPr>
        <p:spPr>
          <a:xfrm flipH="1">
            <a:off x="3760470" y="2619130"/>
            <a:ext cx="125897" cy="62001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3823418" y="2837935"/>
            <a:ext cx="3911544" cy="2354491"/>
          </a:xfrm>
          <a:prstGeom prst="rect">
            <a:avLst/>
          </a:prstGeom>
          <a:noFill/>
        </p:spPr>
        <p:txBody>
          <a:bodyPr wrap="square">
            <a:spAutoFit/>
          </a:bodyPr>
          <a:lstStyle/>
          <a:p>
            <a:pPr marL="257175" indent="-257175" defTabSz="685800">
              <a:lnSpc>
                <a:spcPct val="90000"/>
              </a:lnSpc>
              <a:spcBef>
                <a:spcPct val="20000"/>
              </a:spcBef>
              <a:buClr>
                <a:srgbClr val="D34817">
                  <a:lumMod val="75000"/>
                </a:srgbClr>
              </a:buClr>
              <a:buSzPct val="85000"/>
              <a:buFont typeface="Arial" panose="020B0604020202020204" pitchFamily="34" charset="0"/>
              <a:buChar char="•"/>
            </a:pPr>
            <a:r>
              <a:rPr lang="en-US" sz="1500" dirty="0">
                <a:solidFill>
                  <a:prstClr val="black"/>
                </a:solidFill>
                <a:latin typeface="Rockwell" panose="02060603020205020403"/>
              </a:rPr>
              <a:t>Hard disk contains one or more </a:t>
            </a:r>
            <a:r>
              <a:rPr lang="en-US" sz="1500" b="1" u="sng" dirty="0">
                <a:solidFill>
                  <a:prstClr val="black"/>
                </a:solidFill>
                <a:latin typeface="Rockwell" panose="02060603020205020403"/>
              </a:rPr>
              <a:t>Platters</a:t>
            </a:r>
            <a:endParaRPr lang="en-US" sz="1500" b="1" u="sng" dirty="0">
              <a:solidFill>
                <a:prstClr val="black"/>
              </a:solidFill>
              <a:latin typeface="Rockwell" panose="02060603020205020403"/>
            </a:endParaRPr>
          </a:p>
          <a:p>
            <a:pPr marL="257175" indent="-257175" defTabSz="685800">
              <a:lnSpc>
                <a:spcPct val="90000"/>
              </a:lnSpc>
              <a:spcBef>
                <a:spcPct val="20000"/>
              </a:spcBef>
              <a:buClr>
                <a:srgbClr val="D34817">
                  <a:lumMod val="75000"/>
                </a:srgbClr>
              </a:buClr>
              <a:buSzPct val="85000"/>
              <a:buFont typeface="Arial" panose="020B0604020202020204" pitchFamily="34" charset="0"/>
              <a:buChar char="•"/>
            </a:pPr>
            <a:r>
              <a:rPr lang="en-US" sz="1500" b="1" u="sng" dirty="0">
                <a:solidFill>
                  <a:prstClr val="black"/>
                </a:solidFill>
                <a:latin typeface="Rockwell" panose="02060603020205020403"/>
              </a:rPr>
              <a:t>Track</a:t>
            </a:r>
            <a:r>
              <a:rPr lang="en-US" sz="1500" u="sng" dirty="0">
                <a:solidFill>
                  <a:prstClr val="black"/>
                </a:solidFill>
                <a:latin typeface="Rockwell" panose="02060603020205020403"/>
              </a:rPr>
              <a:t> </a:t>
            </a:r>
            <a:r>
              <a:rPr lang="en-US" sz="1500" dirty="0">
                <a:solidFill>
                  <a:prstClr val="black"/>
                </a:solidFill>
                <a:latin typeface="Rockwell" panose="02060603020205020403"/>
              </a:rPr>
              <a:t>is narrow recording band that forms full circle on disk surface. Track 0 is the outside track</a:t>
            </a:r>
            <a:endParaRPr lang="en-US" sz="1500" dirty="0">
              <a:solidFill>
                <a:prstClr val="black"/>
              </a:solidFill>
              <a:latin typeface="Rockwell" panose="02060603020205020403"/>
            </a:endParaRPr>
          </a:p>
          <a:p>
            <a:pPr marL="257175" indent="-257175" defTabSz="685800">
              <a:lnSpc>
                <a:spcPct val="90000"/>
              </a:lnSpc>
              <a:spcBef>
                <a:spcPct val="20000"/>
              </a:spcBef>
              <a:buClr>
                <a:srgbClr val="D34817">
                  <a:lumMod val="75000"/>
                </a:srgbClr>
              </a:buClr>
              <a:buSzPct val="85000"/>
              <a:buFont typeface="Arial" panose="020B0604020202020204" pitchFamily="34" charset="0"/>
              <a:buChar char="•"/>
            </a:pPr>
            <a:r>
              <a:rPr lang="en-US" sz="1500" dirty="0">
                <a:solidFill>
                  <a:prstClr val="black"/>
                </a:solidFill>
                <a:latin typeface="Rockwell" panose="02060603020205020403"/>
              </a:rPr>
              <a:t>Each track is divided into </a:t>
            </a:r>
            <a:r>
              <a:rPr lang="en-US" sz="1500" b="1" u="sng" dirty="0">
                <a:solidFill>
                  <a:prstClr val="black"/>
                </a:solidFill>
                <a:latin typeface="Rockwell" panose="02060603020205020403"/>
              </a:rPr>
              <a:t>Sector</a:t>
            </a:r>
            <a:r>
              <a:rPr lang="en-US" sz="1500" u="sng" dirty="0">
                <a:solidFill>
                  <a:prstClr val="black"/>
                </a:solidFill>
                <a:latin typeface="Rockwell" panose="02060603020205020403"/>
              </a:rPr>
              <a:t> </a:t>
            </a:r>
            <a:r>
              <a:rPr lang="en-US" sz="1500" dirty="0">
                <a:solidFill>
                  <a:prstClr val="black"/>
                </a:solidFill>
                <a:latin typeface="Rockwell" panose="02060603020205020403"/>
              </a:rPr>
              <a:t>with a typical size of </a:t>
            </a:r>
            <a:r>
              <a:rPr lang="en-US" sz="1500" b="1" u="sng" dirty="0">
                <a:solidFill>
                  <a:prstClr val="black"/>
                </a:solidFill>
                <a:latin typeface="Rockwell" panose="02060603020205020403"/>
              </a:rPr>
              <a:t>512</a:t>
            </a:r>
            <a:r>
              <a:rPr lang="en-US" sz="1500" u="sng" dirty="0">
                <a:solidFill>
                  <a:prstClr val="black"/>
                </a:solidFill>
                <a:latin typeface="Rockwell" panose="02060603020205020403"/>
              </a:rPr>
              <a:t> </a:t>
            </a:r>
            <a:r>
              <a:rPr lang="en-US" sz="1500" b="1" u="sng" dirty="0">
                <a:solidFill>
                  <a:prstClr val="black"/>
                </a:solidFill>
                <a:latin typeface="Rockwell" panose="02060603020205020403"/>
              </a:rPr>
              <a:t>bytes</a:t>
            </a:r>
            <a:endParaRPr lang="en-US" sz="1500" b="1" u="sng" dirty="0">
              <a:solidFill>
                <a:prstClr val="black"/>
              </a:solidFill>
              <a:latin typeface="Rockwell" panose="02060603020205020403"/>
            </a:endParaRPr>
          </a:p>
          <a:p>
            <a:pPr marL="257175" indent="-257175" defTabSz="685800">
              <a:lnSpc>
                <a:spcPct val="90000"/>
              </a:lnSpc>
              <a:spcBef>
                <a:spcPct val="20000"/>
              </a:spcBef>
              <a:buClr>
                <a:srgbClr val="D34817">
                  <a:lumMod val="75000"/>
                </a:srgbClr>
              </a:buClr>
              <a:buSzPct val="85000"/>
              <a:buFont typeface="Arial" panose="020B0604020202020204" pitchFamily="34" charset="0"/>
              <a:buChar char="•"/>
            </a:pPr>
            <a:r>
              <a:rPr lang="en-US" sz="1500" b="1" u="sng" dirty="0">
                <a:solidFill>
                  <a:prstClr val="black"/>
                </a:solidFill>
                <a:latin typeface="Rockwell" panose="02060603020205020403"/>
              </a:rPr>
              <a:t>Cylinder</a:t>
            </a:r>
            <a:r>
              <a:rPr lang="en-US" sz="1500" u="sng" dirty="0">
                <a:solidFill>
                  <a:prstClr val="black"/>
                </a:solidFill>
                <a:latin typeface="Rockwell" panose="02060603020205020403"/>
              </a:rPr>
              <a:t>:</a:t>
            </a:r>
            <a:r>
              <a:rPr lang="en-US" sz="1500" dirty="0">
                <a:solidFill>
                  <a:prstClr val="black"/>
                </a:solidFill>
                <a:latin typeface="Rockwell" panose="02060603020205020403"/>
              </a:rPr>
              <a:t> all tracks at a given address on all platters</a:t>
            </a:r>
            <a:endParaRPr lang="en-US" sz="1500" dirty="0">
              <a:solidFill>
                <a:prstClr val="black"/>
              </a:solidFill>
              <a:latin typeface="Rockwell" panose="02060603020205020403"/>
            </a:endParaRPr>
          </a:p>
          <a:p>
            <a:pPr marL="257175" indent="-257175" defTabSz="685800">
              <a:lnSpc>
                <a:spcPct val="90000"/>
              </a:lnSpc>
              <a:spcBef>
                <a:spcPct val="20000"/>
              </a:spcBef>
              <a:buClr>
                <a:srgbClr val="D34817">
                  <a:lumMod val="75000"/>
                </a:srgbClr>
              </a:buClr>
              <a:buSzPct val="85000"/>
              <a:buFont typeface="Arial" panose="020B0604020202020204" pitchFamily="34" charset="0"/>
              <a:buChar char="•"/>
            </a:pPr>
            <a:r>
              <a:rPr lang="en-US" sz="1500" b="1" u="sng" dirty="0">
                <a:solidFill>
                  <a:prstClr val="black"/>
                </a:solidFill>
                <a:latin typeface="Rockwell" panose="02060603020205020403"/>
              </a:rPr>
              <a:t>Cluster</a:t>
            </a:r>
            <a:r>
              <a:rPr lang="en-US" sz="1350" b="1" dirty="0">
                <a:solidFill>
                  <a:prstClr val="black"/>
                </a:solidFill>
                <a:latin typeface="Rockwell" panose="02060603020205020403"/>
              </a:rPr>
              <a:t> </a:t>
            </a:r>
            <a:r>
              <a:rPr lang="en-US" sz="1350" dirty="0">
                <a:solidFill>
                  <a:prstClr val="black"/>
                </a:solidFill>
                <a:latin typeface="Rockwell" panose="02060603020205020403"/>
              </a:rPr>
              <a:t>is a group of sectors within a disk</a:t>
            </a:r>
            <a:endParaRPr lang="en-US" sz="1500" u="sng" dirty="0">
              <a:solidFill>
                <a:prstClr val="black"/>
              </a:solidFill>
              <a:latin typeface="Rockwell" panose="02060603020205020403"/>
            </a:endParaRPr>
          </a:p>
        </p:txBody>
      </p:sp>
      <p:sp>
        <p:nvSpPr>
          <p:cNvPr id="35" name="TextBox 34"/>
          <p:cNvSpPr txBox="1"/>
          <p:nvPr/>
        </p:nvSpPr>
        <p:spPr>
          <a:xfrm>
            <a:off x="1198257" y="2140612"/>
            <a:ext cx="602737" cy="276999"/>
          </a:xfrm>
          <a:prstGeom prst="rect">
            <a:avLst/>
          </a:prstGeom>
          <a:solidFill>
            <a:schemeClr val="bg1"/>
          </a:solidFill>
        </p:spPr>
        <p:txBody>
          <a:bodyPr wrap="square" rtlCol="0">
            <a:spAutoFit/>
          </a:bodyPr>
          <a:lstStyle/>
          <a:p>
            <a:pPr defTabSz="342900"/>
            <a:r>
              <a:rPr lang="en-SG" sz="1200" dirty="0">
                <a:solidFill>
                  <a:prstClr val="black"/>
                </a:solidFill>
                <a:latin typeface="Rockwell" panose="02060603020205020403"/>
              </a:rPr>
              <a:t>Track</a:t>
            </a:r>
            <a:endParaRPr lang="en-SG" sz="1200" dirty="0">
              <a:solidFill>
                <a:prstClr val="black"/>
              </a:solidFill>
              <a:latin typeface="Rockwell" panose="02060603020205020403"/>
            </a:endParaRPr>
          </a:p>
        </p:txBody>
      </p:sp>
      <p:sp>
        <p:nvSpPr>
          <p:cNvPr id="36" name="TextBox 35"/>
          <p:cNvSpPr txBox="1"/>
          <p:nvPr/>
        </p:nvSpPr>
        <p:spPr>
          <a:xfrm>
            <a:off x="1175772" y="2553328"/>
            <a:ext cx="602736" cy="461665"/>
          </a:xfrm>
          <a:prstGeom prst="rect">
            <a:avLst/>
          </a:prstGeom>
          <a:solidFill>
            <a:schemeClr val="bg1"/>
          </a:solidFill>
        </p:spPr>
        <p:txBody>
          <a:bodyPr wrap="square" rtlCol="0">
            <a:spAutoFit/>
          </a:bodyPr>
          <a:lstStyle/>
          <a:p>
            <a:pPr defTabSz="342900"/>
            <a:r>
              <a:rPr lang="en-SG" sz="1200" dirty="0">
                <a:solidFill>
                  <a:prstClr val="black"/>
                </a:solidFill>
                <a:latin typeface="Rockwell" panose="02060603020205020403"/>
              </a:rPr>
              <a:t>Sector</a:t>
            </a:r>
            <a:endParaRPr lang="en-SG" sz="1200" dirty="0">
              <a:solidFill>
                <a:prstClr val="black"/>
              </a:solidFill>
              <a:latin typeface="Rockwell" panose="02060603020205020403"/>
            </a:endParaRPr>
          </a:p>
        </p:txBody>
      </p:sp>
      <p:sp>
        <p:nvSpPr>
          <p:cNvPr id="37" name="TextBox 36"/>
          <p:cNvSpPr txBox="1"/>
          <p:nvPr/>
        </p:nvSpPr>
        <p:spPr>
          <a:xfrm>
            <a:off x="1143001" y="3431977"/>
            <a:ext cx="720090" cy="415498"/>
          </a:xfrm>
          <a:prstGeom prst="rect">
            <a:avLst/>
          </a:prstGeom>
          <a:solidFill>
            <a:schemeClr val="bg1"/>
          </a:solidFill>
        </p:spPr>
        <p:txBody>
          <a:bodyPr wrap="square" rtlCol="0">
            <a:spAutoFit/>
          </a:bodyPr>
          <a:lstStyle/>
          <a:p>
            <a:pPr defTabSz="342900"/>
            <a:r>
              <a:rPr lang="en-SG" sz="1050" dirty="0">
                <a:solidFill>
                  <a:prstClr val="black"/>
                </a:solidFill>
                <a:latin typeface="Rockwell" panose="02060603020205020403"/>
              </a:rPr>
              <a:t>Cylinder</a:t>
            </a:r>
            <a:endParaRPr lang="en-SG" sz="1050" dirty="0">
              <a:solidFill>
                <a:prstClr val="black"/>
              </a:solidFill>
              <a:latin typeface="Rockwell" panose="02060603020205020403"/>
            </a:endParaRPr>
          </a:p>
        </p:txBody>
      </p:sp>
      <p:sp>
        <p:nvSpPr>
          <p:cNvPr id="38" name="TextBox 37"/>
          <p:cNvSpPr txBox="1"/>
          <p:nvPr/>
        </p:nvSpPr>
        <p:spPr>
          <a:xfrm>
            <a:off x="6928659" y="2115923"/>
            <a:ext cx="962449" cy="715581"/>
          </a:xfrm>
          <a:prstGeom prst="rect">
            <a:avLst/>
          </a:prstGeom>
          <a:solidFill>
            <a:schemeClr val="bg1"/>
          </a:solidFill>
        </p:spPr>
        <p:txBody>
          <a:bodyPr wrap="square" rtlCol="0">
            <a:spAutoFit/>
          </a:bodyPr>
          <a:lstStyle/>
          <a:p>
            <a:pPr defTabSz="342900"/>
            <a:r>
              <a:rPr lang="en-SG" sz="1350" dirty="0">
                <a:solidFill>
                  <a:prstClr val="black"/>
                </a:solidFill>
                <a:latin typeface="Rockwell" panose="02060603020205020403"/>
              </a:rPr>
              <a:t>Heads</a:t>
            </a:r>
            <a:endParaRPr lang="en-SG" sz="1350" dirty="0">
              <a:solidFill>
                <a:prstClr val="black"/>
              </a:solidFill>
              <a:latin typeface="Rockwell" panose="02060603020205020403"/>
            </a:endParaRPr>
          </a:p>
          <a:p>
            <a:pPr defTabSz="342900"/>
            <a:r>
              <a:rPr lang="en-SG" sz="1350" dirty="0">
                <a:solidFill>
                  <a:prstClr val="black"/>
                </a:solidFill>
                <a:latin typeface="Rockwell" panose="02060603020205020403"/>
              </a:rPr>
              <a:t>8 heads, </a:t>
            </a:r>
            <a:br>
              <a:rPr lang="en-SG" sz="1350" dirty="0">
                <a:solidFill>
                  <a:prstClr val="black"/>
                </a:solidFill>
                <a:latin typeface="Rockwell" panose="02060603020205020403"/>
              </a:rPr>
            </a:br>
            <a:r>
              <a:rPr lang="en-SG" sz="1350" dirty="0">
                <a:solidFill>
                  <a:prstClr val="black"/>
                </a:solidFill>
                <a:latin typeface="Rockwell" panose="02060603020205020403"/>
              </a:rPr>
              <a:t>4 platters</a:t>
            </a:r>
            <a:endParaRPr lang="en-SG" sz="1350" dirty="0">
              <a:solidFill>
                <a:prstClr val="black"/>
              </a:solidFill>
              <a:latin typeface="Rockwell" panose="02060603020205020403"/>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94944"/>
          </a:xfrm>
          <a:prstGeom prst="rect">
            <a:avLst/>
          </a:prstGeom>
          <a:solidFill>
            <a:srgbClr val="10B981"/>
          </a:solidFill>
          <a:ln w="12700">
            <a:solidFill>
              <a:srgbClr val="10B981"/>
            </a:solidFill>
            <a:prstDash val="solid"/>
          </a:ln>
        </p:spPr>
        <p:txBody>
          <a:bodyPr/>
          <a:lstStyle/>
          <a:p/>
        </p:txBody>
      </p:sp>
      <p:sp>
        <p:nvSpPr>
          <p:cNvPr id="3" name="Text 1"/>
          <p:cNvSpPr/>
          <p:nvPr/>
        </p:nvSpPr>
        <p:spPr>
          <a:xfrm>
            <a:off x="256032" y="54864"/>
            <a:ext cx="8631936" cy="585216"/>
          </a:xfrm>
          <a:prstGeom prst="rect">
            <a:avLst/>
          </a:prstGeom>
          <a:noFill/>
        </p:spPr>
        <p:txBody>
          <a:bodyPr wrap="square" lIns="0" tIns="0" rIns="0" bIns="0" rtlCol="0" anchor="ctr"/>
          <a:lstStyle/>
          <a:p>
            <a:pPr marL="0" indent="0">
              <a:buNone/>
            </a:pPr>
            <a:r>
              <a:rPr lang="en-US" sz="1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HDD Structure — Platters, Tracks, Sectors &amp; Cylinders</a:t>
            </a:r>
            <a:endParaRPr lang="en-US" sz="1800" dirty="0"/>
          </a:p>
        </p:txBody>
      </p:sp>
      <p:sp>
        <p:nvSpPr>
          <p:cNvPr id="8" name="Text 6"/>
          <p:cNvSpPr/>
          <p:nvPr/>
        </p:nvSpPr>
        <p:spPr>
          <a:xfrm>
            <a:off x="256032" y="804672"/>
            <a:ext cx="8631936" cy="310896"/>
          </a:xfrm>
          <a:prstGeom prst="rect">
            <a:avLst/>
          </a:prstGeom>
          <a:noFill/>
        </p:spPr>
        <p:txBody>
          <a:bodyPr wrap="square" rtlCol="0" anchor="ctr"/>
          <a:lstStyle/>
          <a:p>
            <a:pPr marL="0" indent="0">
              <a:buNone/>
            </a:pPr>
            <a:r>
              <a:rPr lang="en-US" sz="1000" i="1" dirty="0">
                <a:solidFill>
                  <a:srgbClr val="5E7A9A"/>
                </a:solidFill>
                <a:latin typeface="Calibri" panose="020F0502020204030204" pitchFamily="34" charset="0"/>
                <a:ea typeface="Calibri" panose="020F0502020204030204" pitchFamily="34" charset="-122"/>
                <a:cs typeface="Calibri" panose="020F0502020204030204" pitchFamily="34" charset="-120"/>
              </a:rPr>
              <a:t>A traditional Hard Disk Drive (HDD) stores data magnetically on spinning platters. The physical layout of these platters gives rise to the addressing schemes forensic examiners must understand.</a:t>
            </a:r>
            <a:endParaRPr lang="en-US" sz="1000" dirty="0"/>
          </a:p>
        </p:txBody>
      </p:sp>
      <p:sp>
        <p:nvSpPr>
          <p:cNvPr id="22" name="Shape 20"/>
          <p:cNvSpPr/>
          <p:nvPr/>
        </p:nvSpPr>
        <p:spPr>
          <a:xfrm>
            <a:off x="5943600" y="969264"/>
            <a:ext cx="2944368" cy="859536"/>
          </a:xfrm>
          <a:prstGeom prst="rect">
            <a:avLst/>
          </a:prstGeom>
          <a:solidFill>
            <a:srgbClr val="FFFFFF"/>
          </a:solidFill>
          <a:ln w="12700">
            <a:solidFill>
              <a:srgbClr val="10B981"/>
            </a:solidFill>
            <a:prstDash val="solid"/>
          </a:ln>
          <a:effectLst>
            <a:outerShdw blurRad="101600" dist="38100" dir="8100000" algn="bl" rotWithShape="0">
              <a:srgbClr val="000000">
                <a:alpha val="18000"/>
              </a:srgbClr>
            </a:outerShdw>
          </a:effectLst>
        </p:spPr>
        <p:txBody>
          <a:bodyPr/>
          <a:lstStyle/>
          <a:p/>
        </p:txBody>
      </p:sp>
      <p:sp>
        <p:nvSpPr>
          <p:cNvPr id="23" name="Shape 21"/>
          <p:cNvSpPr/>
          <p:nvPr/>
        </p:nvSpPr>
        <p:spPr>
          <a:xfrm>
            <a:off x="5943600" y="969264"/>
            <a:ext cx="164592" cy="859536"/>
          </a:xfrm>
          <a:prstGeom prst="rect">
            <a:avLst/>
          </a:prstGeom>
          <a:solidFill>
            <a:srgbClr val="10B981"/>
          </a:solidFill>
          <a:ln w="12700">
            <a:solidFill>
              <a:srgbClr val="10B981"/>
            </a:solidFill>
            <a:prstDash val="solid"/>
          </a:ln>
        </p:spPr>
        <p:txBody>
          <a:bodyPr/>
          <a:lstStyle/>
          <a:p/>
        </p:txBody>
      </p:sp>
      <p:sp>
        <p:nvSpPr>
          <p:cNvPr id="24" name="Text 22"/>
          <p:cNvSpPr/>
          <p:nvPr/>
        </p:nvSpPr>
        <p:spPr>
          <a:xfrm>
            <a:off x="6163056" y="1005840"/>
            <a:ext cx="2633472" cy="219456"/>
          </a:xfrm>
          <a:prstGeom prst="rect">
            <a:avLst/>
          </a:prstGeom>
          <a:noFill/>
        </p:spPr>
        <p:txBody>
          <a:bodyPr wrap="square" lIns="0" tIns="0" rIns="0" bIns="0" rtlCol="0" anchor="ctr"/>
          <a:lstStyle/>
          <a:p>
            <a:pPr marL="0" indent="0">
              <a:buNone/>
            </a:pPr>
            <a:r>
              <a:rPr lang="en-US" sz="1100" b="1" dirty="0">
                <a:solidFill>
                  <a:srgbClr val="0A1628"/>
                </a:solidFill>
                <a:latin typeface="Trebuchet MS" panose="020B0603020202020204" pitchFamily="34" charset="0"/>
                <a:ea typeface="Trebuchet MS" panose="020B0603020202020204" pitchFamily="34" charset="-122"/>
                <a:cs typeface="Trebuchet MS" panose="020B0603020202020204" pitchFamily="34" charset="-120"/>
              </a:rPr>
              <a:t>Platter</a:t>
            </a:r>
            <a:endParaRPr lang="en-US" sz="1100" dirty="0"/>
          </a:p>
        </p:txBody>
      </p:sp>
      <p:sp>
        <p:nvSpPr>
          <p:cNvPr id="25" name="Text 23"/>
          <p:cNvSpPr/>
          <p:nvPr/>
        </p:nvSpPr>
        <p:spPr>
          <a:xfrm>
            <a:off x="6163056" y="1243584"/>
            <a:ext cx="2633472" cy="512064"/>
          </a:xfrm>
          <a:prstGeom prst="rect">
            <a:avLst/>
          </a:prstGeom>
          <a:noFill/>
        </p:spPr>
        <p:txBody>
          <a:bodyPr wrap="square" lIns="0" tIns="0" rIns="0" bIns="0" rtlCol="0" anchor="ctr"/>
          <a:lstStyle/>
          <a:p>
            <a:pPr marL="0" indent="0">
              <a:buNone/>
            </a:pPr>
            <a:r>
              <a:rPr lang="en-US" sz="850" dirty="0">
                <a:solidFill>
                  <a:srgbClr val="1A2E4A"/>
                </a:solidFill>
                <a:latin typeface="Calibri" panose="020F0502020204030204" pitchFamily="34" charset="0"/>
                <a:ea typeface="Calibri" panose="020F0502020204030204" pitchFamily="34" charset="-122"/>
                <a:cs typeface="Calibri" panose="020F0502020204030204" pitchFamily="34" charset="-120"/>
              </a:rPr>
              <a:t>Circular magnetic disk coated with magnetic material. A drive has 1+ platters. Data is stored as magnetic patterns on both surfaces.</a:t>
            </a:r>
            <a:endParaRPr lang="en-US" sz="850" dirty="0"/>
          </a:p>
        </p:txBody>
      </p:sp>
      <p:sp>
        <p:nvSpPr>
          <p:cNvPr id="26" name="Shape 24"/>
          <p:cNvSpPr/>
          <p:nvPr/>
        </p:nvSpPr>
        <p:spPr>
          <a:xfrm>
            <a:off x="5943600" y="1920240"/>
            <a:ext cx="2944368" cy="859536"/>
          </a:xfrm>
          <a:prstGeom prst="rect">
            <a:avLst/>
          </a:prstGeom>
          <a:solidFill>
            <a:srgbClr val="FFFFFF"/>
          </a:solidFill>
          <a:ln w="12700">
            <a:solidFill>
              <a:srgbClr val="0EA5E9"/>
            </a:solidFill>
            <a:prstDash val="solid"/>
          </a:ln>
          <a:effectLst>
            <a:outerShdw blurRad="101600" dist="38100" dir="8100000" algn="bl" rotWithShape="0">
              <a:srgbClr val="000000">
                <a:alpha val="18000"/>
              </a:srgbClr>
            </a:outerShdw>
          </a:effectLst>
        </p:spPr>
        <p:txBody>
          <a:bodyPr/>
          <a:lstStyle/>
          <a:p/>
        </p:txBody>
      </p:sp>
      <p:sp>
        <p:nvSpPr>
          <p:cNvPr id="27" name="Shape 25"/>
          <p:cNvSpPr/>
          <p:nvPr/>
        </p:nvSpPr>
        <p:spPr>
          <a:xfrm>
            <a:off x="5943600" y="1920240"/>
            <a:ext cx="164592" cy="859536"/>
          </a:xfrm>
          <a:prstGeom prst="rect">
            <a:avLst/>
          </a:prstGeom>
          <a:solidFill>
            <a:srgbClr val="0EA5E9"/>
          </a:solidFill>
          <a:ln w="12700">
            <a:solidFill>
              <a:srgbClr val="0EA5E9"/>
            </a:solidFill>
            <a:prstDash val="solid"/>
          </a:ln>
        </p:spPr>
        <p:txBody>
          <a:bodyPr/>
          <a:lstStyle/>
          <a:p/>
        </p:txBody>
      </p:sp>
      <p:sp>
        <p:nvSpPr>
          <p:cNvPr id="28" name="Text 26"/>
          <p:cNvSpPr/>
          <p:nvPr/>
        </p:nvSpPr>
        <p:spPr>
          <a:xfrm>
            <a:off x="6163056" y="1956816"/>
            <a:ext cx="2633472" cy="219456"/>
          </a:xfrm>
          <a:prstGeom prst="rect">
            <a:avLst/>
          </a:prstGeom>
          <a:noFill/>
        </p:spPr>
        <p:txBody>
          <a:bodyPr wrap="square" lIns="0" tIns="0" rIns="0" bIns="0" rtlCol="0" anchor="ctr"/>
          <a:lstStyle/>
          <a:p>
            <a:pPr marL="0" indent="0">
              <a:buNone/>
            </a:pPr>
            <a:r>
              <a:rPr lang="en-US" sz="1100" b="1" dirty="0">
                <a:solidFill>
                  <a:srgbClr val="0A1628"/>
                </a:solidFill>
                <a:latin typeface="Trebuchet MS" panose="020B0603020202020204" pitchFamily="34" charset="0"/>
                <a:ea typeface="Trebuchet MS" panose="020B0603020202020204" pitchFamily="34" charset="-122"/>
                <a:cs typeface="Trebuchet MS" panose="020B0603020202020204" pitchFamily="34" charset="-120"/>
              </a:rPr>
              <a:t>Track</a:t>
            </a:r>
            <a:endParaRPr lang="en-US" sz="1100" dirty="0"/>
          </a:p>
        </p:txBody>
      </p:sp>
      <p:sp>
        <p:nvSpPr>
          <p:cNvPr id="29" name="Text 27"/>
          <p:cNvSpPr/>
          <p:nvPr/>
        </p:nvSpPr>
        <p:spPr>
          <a:xfrm>
            <a:off x="6163056" y="2194560"/>
            <a:ext cx="2633472" cy="512064"/>
          </a:xfrm>
          <a:prstGeom prst="rect">
            <a:avLst/>
          </a:prstGeom>
          <a:noFill/>
        </p:spPr>
        <p:txBody>
          <a:bodyPr wrap="square" lIns="0" tIns="0" rIns="0" bIns="0" rtlCol="0" anchor="ctr"/>
          <a:lstStyle/>
          <a:p>
            <a:pPr marL="0" indent="0">
              <a:buNone/>
            </a:pPr>
            <a:r>
              <a:rPr lang="en-US" sz="850" dirty="0">
                <a:solidFill>
                  <a:srgbClr val="1A2E4A"/>
                </a:solidFill>
                <a:latin typeface="Calibri" panose="020F0502020204030204" pitchFamily="34" charset="0"/>
                <a:ea typeface="Calibri" panose="020F0502020204030204" pitchFamily="34" charset="-122"/>
                <a:cs typeface="Calibri" panose="020F0502020204030204" pitchFamily="34" charset="-120"/>
              </a:rPr>
              <a:t>A concentric ring on one side of a platter. Tracks are numbered from 0 (outermost) inward. A typical HDD has thousands of tracks per platter.</a:t>
            </a:r>
            <a:endParaRPr lang="en-US" sz="850" dirty="0"/>
          </a:p>
        </p:txBody>
      </p:sp>
      <p:sp>
        <p:nvSpPr>
          <p:cNvPr id="30" name="Shape 28"/>
          <p:cNvSpPr/>
          <p:nvPr/>
        </p:nvSpPr>
        <p:spPr>
          <a:xfrm>
            <a:off x="5943600" y="2871216"/>
            <a:ext cx="2944368" cy="859536"/>
          </a:xfrm>
          <a:prstGeom prst="rect">
            <a:avLst/>
          </a:prstGeom>
          <a:solidFill>
            <a:srgbClr val="FFFFFF"/>
          </a:solidFill>
          <a:ln w="12700">
            <a:solidFill>
              <a:srgbClr val="F59E0B"/>
            </a:solidFill>
            <a:prstDash val="solid"/>
          </a:ln>
          <a:effectLst>
            <a:outerShdw blurRad="101600" dist="38100" dir="8100000" algn="bl" rotWithShape="0">
              <a:srgbClr val="000000">
                <a:alpha val="18000"/>
              </a:srgbClr>
            </a:outerShdw>
          </a:effectLst>
        </p:spPr>
        <p:txBody>
          <a:bodyPr/>
          <a:lstStyle/>
          <a:p/>
        </p:txBody>
      </p:sp>
      <p:sp>
        <p:nvSpPr>
          <p:cNvPr id="31" name="Shape 29"/>
          <p:cNvSpPr/>
          <p:nvPr/>
        </p:nvSpPr>
        <p:spPr>
          <a:xfrm>
            <a:off x="5943600" y="2871216"/>
            <a:ext cx="164592" cy="859536"/>
          </a:xfrm>
          <a:prstGeom prst="rect">
            <a:avLst/>
          </a:prstGeom>
          <a:solidFill>
            <a:srgbClr val="F59E0B"/>
          </a:solidFill>
          <a:ln w="12700">
            <a:solidFill>
              <a:srgbClr val="F59E0B"/>
            </a:solidFill>
            <a:prstDash val="solid"/>
          </a:ln>
        </p:spPr>
        <p:txBody>
          <a:bodyPr/>
          <a:lstStyle/>
          <a:p/>
        </p:txBody>
      </p:sp>
      <p:sp>
        <p:nvSpPr>
          <p:cNvPr id="32" name="Text 30"/>
          <p:cNvSpPr/>
          <p:nvPr/>
        </p:nvSpPr>
        <p:spPr>
          <a:xfrm>
            <a:off x="6163056" y="2907792"/>
            <a:ext cx="2633472" cy="219456"/>
          </a:xfrm>
          <a:prstGeom prst="rect">
            <a:avLst/>
          </a:prstGeom>
          <a:noFill/>
        </p:spPr>
        <p:txBody>
          <a:bodyPr wrap="square" lIns="0" tIns="0" rIns="0" bIns="0" rtlCol="0" anchor="ctr"/>
          <a:lstStyle/>
          <a:p>
            <a:pPr marL="0" indent="0">
              <a:buNone/>
            </a:pPr>
            <a:r>
              <a:rPr lang="en-US" sz="1100" b="1" dirty="0">
                <a:solidFill>
                  <a:srgbClr val="0A1628"/>
                </a:solidFill>
                <a:latin typeface="Trebuchet MS" panose="020B0603020202020204" pitchFamily="34" charset="0"/>
                <a:ea typeface="Trebuchet MS" panose="020B0603020202020204" pitchFamily="34" charset="-122"/>
                <a:cs typeface="Trebuchet MS" panose="020B0603020202020204" pitchFamily="34" charset="-120"/>
              </a:rPr>
              <a:t>Sector</a:t>
            </a:r>
            <a:endParaRPr lang="en-US" sz="1100" dirty="0"/>
          </a:p>
        </p:txBody>
      </p:sp>
      <p:sp>
        <p:nvSpPr>
          <p:cNvPr id="33" name="Text 31"/>
          <p:cNvSpPr/>
          <p:nvPr/>
        </p:nvSpPr>
        <p:spPr>
          <a:xfrm>
            <a:off x="6163056" y="3145536"/>
            <a:ext cx="2633472" cy="512064"/>
          </a:xfrm>
          <a:prstGeom prst="rect">
            <a:avLst/>
          </a:prstGeom>
          <a:noFill/>
        </p:spPr>
        <p:txBody>
          <a:bodyPr wrap="square" lIns="0" tIns="0" rIns="0" bIns="0" rtlCol="0" anchor="ctr"/>
          <a:lstStyle/>
          <a:p>
            <a:pPr marL="0" indent="0">
              <a:buNone/>
            </a:pPr>
            <a:r>
              <a:rPr lang="en-US" sz="850" dirty="0">
                <a:solidFill>
                  <a:srgbClr val="1A2E4A"/>
                </a:solidFill>
                <a:latin typeface="Calibri" panose="020F0502020204030204" pitchFamily="34" charset="0"/>
                <a:ea typeface="Calibri" panose="020F0502020204030204" pitchFamily="34" charset="-122"/>
                <a:cs typeface="Calibri" panose="020F0502020204030204" pitchFamily="34" charset="-120"/>
              </a:rPr>
              <a:t>The smallest addressable storage unit on a platter. Traditionally 512 bytes; modern drives use 4,096-byte Advanced Format sectors.</a:t>
            </a:r>
            <a:endParaRPr lang="en-US" sz="850" dirty="0"/>
          </a:p>
        </p:txBody>
      </p:sp>
      <p:sp>
        <p:nvSpPr>
          <p:cNvPr id="34" name="Shape 32"/>
          <p:cNvSpPr/>
          <p:nvPr/>
        </p:nvSpPr>
        <p:spPr>
          <a:xfrm>
            <a:off x="5943600" y="3822192"/>
            <a:ext cx="2944368" cy="859536"/>
          </a:xfrm>
          <a:prstGeom prst="rect">
            <a:avLst/>
          </a:prstGeom>
          <a:solidFill>
            <a:srgbClr val="FFFFFF"/>
          </a:solidFill>
          <a:ln w="12700">
            <a:solidFill>
              <a:srgbClr val="EC4899"/>
            </a:solidFill>
            <a:prstDash val="solid"/>
          </a:ln>
          <a:effectLst>
            <a:outerShdw blurRad="101600" dist="38100" dir="8100000" algn="bl" rotWithShape="0">
              <a:srgbClr val="000000">
                <a:alpha val="18000"/>
              </a:srgbClr>
            </a:outerShdw>
          </a:effectLst>
        </p:spPr>
        <p:txBody>
          <a:bodyPr/>
          <a:lstStyle/>
          <a:p/>
        </p:txBody>
      </p:sp>
      <p:sp>
        <p:nvSpPr>
          <p:cNvPr id="35" name="Shape 33"/>
          <p:cNvSpPr/>
          <p:nvPr/>
        </p:nvSpPr>
        <p:spPr>
          <a:xfrm>
            <a:off x="5943600" y="3822192"/>
            <a:ext cx="164592" cy="859536"/>
          </a:xfrm>
          <a:prstGeom prst="rect">
            <a:avLst/>
          </a:prstGeom>
          <a:solidFill>
            <a:srgbClr val="EC4899"/>
          </a:solidFill>
          <a:ln w="12700">
            <a:solidFill>
              <a:srgbClr val="EC4899"/>
            </a:solidFill>
            <a:prstDash val="solid"/>
          </a:ln>
        </p:spPr>
        <p:txBody>
          <a:bodyPr/>
          <a:lstStyle/>
          <a:p/>
        </p:txBody>
      </p:sp>
      <p:sp>
        <p:nvSpPr>
          <p:cNvPr id="36" name="Text 34"/>
          <p:cNvSpPr/>
          <p:nvPr/>
        </p:nvSpPr>
        <p:spPr>
          <a:xfrm>
            <a:off x="6163056" y="3858768"/>
            <a:ext cx="2633472" cy="219456"/>
          </a:xfrm>
          <a:prstGeom prst="rect">
            <a:avLst/>
          </a:prstGeom>
          <a:noFill/>
        </p:spPr>
        <p:txBody>
          <a:bodyPr wrap="square" lIns="0" tIns="0" rIns="0" bIns="0" rtlCol="0" anchor="ctr"/>
          <a:lstStyle/>
          <a:p>
            <a:pPr marL="0" indent="0">
              <a:buNone/>
            </a:pPr>
            <a:r>
              <a:rPr lang="en-US" sz="1100" b="1" dirty="0">
                <a:solidFill>
                  <a:srgbClr val="0A1628"/>
                </a:solidFill>
                <a:latin typeface="Trebuchet MS" panose="020B0603020202020204" pitchFamily="34" charset="0"/>
                <a:ea typeface="Trebuchet MS" panose="020B0603020202020204" pitchFamily="34" charset="-122"/>
                <a:cs typeface="Trebuchet MS" panose="020B0603020202020204" pitchFamily="34" charset="-120"/>
              </a:rPr>
              <a:t>Cylinder</a:t>
            </a:r>
            <a:endParaRPr lang="en-US" sz="1100" dirty="0"/>
          </a:p>
        </p:txBody>
      </p:sp>
      <p:sp>
        <p:nvSpPr>
          <p:cNvPr id="37" name="Text 35"/>
          <p:cNvSpPr/>
          <p:nvPr/>
        </p:nvSpPr>
        <p:spPr>
          <a:xfrm>
            <a:off x="6163056" y="4096512"/>
            <a:ext cx="2633472" cy="512064"/>
          </a:xfrm>
          <a:prstGeom prst="rect">
            <a:avLst/>
          </a:prstGeom>
          <a:noFill/>
        </p:spPr>
        <p:txBody>
          <a:bodyPr wrap="square" lIns="0" tIns="0" rIns="0" bIns="0" rtlCol="0" anchor="ctr"/>
          <a:lstStyle/>
          <a:p>
            <a:pPr marL="0" indent="0">
              <a:buNone/>
            </a:pPr>
            <a:r>
              <a:rPr lang="en-US" sz="850" dirty="0">
                <a:solidFill>
                  <a:srgbClr val="1A2E4A"/>
                </a:solidFill>
                <a:latin typeface="Calibri" panose="020F0502020204030204" pitchFamily="34" charset="0"/>
                <a:ea typeface="Calibri" panose="020F0502020204030204" pitchFamily="34" charset="-122"/>
                <a:cs typeface="Calibri" panose="020F0502020204030204" pitchFamily="34" charset="-120"/>
              </a:rPr>
              <a:t>The set of all tracks at the same position across every platter surface. C is the first coordinate in CHS addressing.</a:t>
            </a:r>
            <a:endParaRPr lang="en-US" sz="850" dirty="0"/>
          </a:p>
        </p:txBody>
      </p:sp>
      <p:sp>
        <p:nvSpPr>
          <p:cNvPr id="38" name="Oval 37"/>
          <p:cNvSpPr/>
          <p:nvPr/>
        </p:nvSpPr>
        <p:spPr>
          <a:xfrm>
            <a:off x="1508760" y="1234440"/>
            <a:ext cx="2468880" cy="2468880"/>
          </a:xfrm>
          <a:prstGeom prst="ellipse">
            <a:avLst/>
          </a:prstGeom>
          <a:solidFill>
            <a:srgbClr val="D1FAE5"/>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737360" y="1463040"/>
            <a:ext cx="2011680" cy="2011680"/>
          </a:xfrm>
          <a:prstGeom prst="ellipse">
            <a:avLst/>
          </a:prstGeom>
          <a:solidFill>
            <a:srgbClr val="F3F4F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965960" y="1691640"/>
            <a:ext cx="1554480" cy="1554480"/>
          </a:xfrm>
          <a:prstGeom prst="ellipse">
            <a:avLst/>
          </a:prstGeom>
          <a:solidFill>
            <a:srgbClr val="D1FAE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2176272" y="1901952"/>
            <a:ext cx="1133856" cy="1133856"/>
          </a:xfrm>
          <a:prstGeom prst="ellipse">
            <a:avLst/>
          </a:prstGeom>
          <a:solidFill>
            <a:srgbClr val="F3F4F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2377440" y="2103120"/>
            <a:ext cx="731520" cy="731520"/>
          </a:xfrm>
          <a:prstGeom prst="ellipse">
            <a:avLst/>
          </a:prstGeom>
          <a:solidFill>
            <a:srgbClr val="E5E7E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2505456" y="2231136"/>
            <a:ext cx="475488" cy="475488"/>
          </a:xfrm>
          <a:prstGeom prst="ellipse">
            <a:avLst/>
          </a:prstGeom>
          <a:solidFill>
            <a:srgbClr val="10B981"/>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560320" y="2395728"/>
            <a:ext cx="365760" cy="164592"/>
          </a:xfrm>
          <a:prstGeom prst="rect">
            <a:avLst/>
          </a:prstGeom>
          <a:noFill/>
        </p:spPr>
        <p:txBody>
          <a:bodyPr wrap="square" lIns="0" tIns="0" rIns="0" bIns="0">
            <a:spAutoFit/>
          </a:bodyPr>
          <a:lstStyle/>
          <a:p>
            <a:pPr algn="ctr">
              <a:defRPr sz="800" b="1">
                <a:solidFill>
                  <a:srgbClr val="FFFFFF"/>
                </a:solidFill>
              </a:defRPr>
            </a:pPr>
            <a:r>
              <a:t>Hub</a:t>
            </a:r>
          </a:p>
        </p:txBody>
      </p:sp>
      <p:sp>
        <p:nvSpPr>
          <p:cNvPr id="4" name="ArcSector"/>
          <p:cNvSpPr/>
          <p:nvPr/>
        </p:nvSpPr>
        <p:spPr>
          <a:xfrm>
            <a:off x="3189006" y="2734711"/>
            <a:ext cx="499373" cy="558104"/>
          </a:xfrm>
          <a:custGeom>
            <a:avLst/>
            <a:gdLst/>
            <a:ahLst/>
            <a:cxnLst/>
            <a:rect l="0" t="0" r="499373" b="558104"/>
            <a:pathLst>
              <a:path w="499373" h="558104">
                <a:moveTo>
                  <a:pt x="499373" y="78185"/>
                </a:moveTo>
                <a:lnTo>
                  <a:pt x="488427" y="106889"/>
                </a:lnTo>
                <a:lnTo>
                  <a:pt x="476609" y="135246"/>
                </a:lnTo>
                <a:lnTo>
                  <a:pt x="463930" y="163228"/>
                </a:lnTo>
                <a:lnTo>
                  <a:pt x="450403" y="190810"/>
                </a:lnTo>
                <a:lnTo>
                  <a:pt x="436040" y="217966"/>
                </a:lnTo>
                <a:lnTo>
                  <a:pt x="420854" y="244670"/>
                </a:lnTo>
                <a:lnTo>
                  <a:pt x="404860" y="270899"/>
                </a:lnTo>
                <a:lnTo>
                  <a:pt x="388072" y="296626"/>
                </a:lnTo>
                <a:lnTo>
                  <a:pt x="370507" y="321829"/>
                </a:lnTo>
                <a:lnTo>
                  <a:pt x="352179" y="346484"/>
                </a:lnTo>
                <a:lnTo>
                  <a:pt x="333108" y="370568"/>
                </a:lnTo>
                <a:lnTo>
                  <a:pt x="313310" y="394058"/>
                </a:lnTo>
                <a:lnTo>
                  <a:pt x="292804" y="416933"/>
                </a:lnTo>
                <a:lnTo>
                  <a:pt x="271609" y="439170"/>
                </a:lnTo>
                <a:lnTo>
                  <a:pt x="249744" y="460750"/>
                </a:lnTo>
                <a:lnTo>
                  <a:pt x="227231" y="481653"/>
                </a:lnTo>
                <a:lnTo>
                  <a:pt x="204090" y="501858"/>
                </a:lnTo>
                <a:lnTo>
                  <a:pt x="180343" y="521346"/>
                </a:lnTo>
                <a:lnTo>
                  <a:pt x="156012" y="540101"/>
                </a:lnTo>
                <a:lnTo>
                  <a:pt x="131119" y="558104"/>
                </a:lnTo>
                <a:lnTo>
                  <a:pt x="0" y="370845"/>
                </a:lnTo>
                <a:lnTo>
                  <a:pt x="19235" y="356934"/>
                </a:lnTo>
                <a:lnTo>
                  <a:pt x="38036" y="342442"/>
                </a:lnTo>
                <a:lnTo>
                  <a:pt x="56386" y="327383"/>
                </a:lnTo>
                <a:lnTo>
                  <a:pt x="74268" y="311770"/>
                </a:lnTo>
                <a:lnTo>
                  <a:pt x="91665" y="295618"/>
                </a:lnTo>
                <a:lnTo>
                  <a:pt x="108560" y="278942"/>
                </a:lnTo>
                <a:lnTo>
                  <a:pt x="124938" y="261759"/>
                </a:lnTo>
                <a:lnTo>
                  <a:pt x="140783" y="244083"/>
                </a:lnTo>
                <a:lnTo>
                  <a:pt x="156082" y="225932"/>
                </a:lnTo>
                <a:lnTo>
                  <a:pt x="170819" y="207321"/>
                </a:lnTo>
                <a:lnTo>
                  <a:pt x="184981" y="188270"/>
                </a:lnTo>
                <a:lnTo>
                  <a:pt x="198554" y="168795"/>
                </a:lnTo>
                <a:lnTo>
                  <a:pt x="211526" y="148914"/>
                </a:lnTo>
                <a:lnTo>
                  <a:pt x="223886" y="128647"/>
                </a:lnTo>
                <a:lnTo>
                  <a:pt x="235620" y="108011"/>
                </a:lnTo>
                <a:lnTo>
                  <a:pt x="246719" y="87027"/>
                </a:lnTo>
                <a:lnTo>
                  <a:pt x="257172" y="65714"/>
                </a:lnTo>
                <a:lnTo>
                  <a:pt x="266969" y="44091"/>
                </a:lnTo>
                <a:lnTo>
                  <a:pt x="276101" y="22180"/>
                </a:lnTo>
                <a:lnTo>
                  <a:pt x="284560" y="0"/>
                </a:lnTo>
                <a:close/>
              </a:path>
            </a:pathLst>
          </a:custGeom>
          <a:solidFill>
            <a:srgbClr val="FEF3C7"/>
          </a:solidFill>
          <a:ln w="9525">
            <a:solidFill>
              <a:srgbClr val="F59E0B"/>
            </a:solidFill>
          </a:ln>
        </p:spPr>
        <p:txBody>
          <a:bodyPr/>
          <a:lstStyle/>
          <a:p>
            <a:endParaRPr lang="en-SG"/>
          </a:p>
        </p:txBody>
      </p:sp>
      <p:sp>
        <p:nvSpPr>
          <p:cNvPr id="5" name="Straight Connector 4"/>
          <p:cNvSpPr/>
          <p:nvPr/>
        </p:nvSpPr>
        <p:spPr>
          <a:xfrm>
            <a:off x="3841820" y="2275163"/>
            <a:ext cx="547299" cy="0"/>
          </a:xfrm>
          <a:prstGeom prst="line">
            <a:avLst/>
          </a:prstGeom>
          <a:noFill/>
          <a:ln w="12700">
            <a:solidFill>
              <a:srgbClr val="0EA5E9"/>
            </a:solidFill>
            <a:prstDash val="dash"/>
          </a:ln>
        </p:spPr>
        <p:txBody>
          <a:bodyPr/>
          <a:lstStyle/>
          <a:p>
            <a:endParaRPr lang="en-SG"/>
          </a:p>
        </p:txBody>
      </p:sp>
      <p:sp>
        <p:nvSpPr>
          <p:cNvPr id="45" name="TextBox 44"/>
          <p:cNvSpPr txBox="1"/>
          <p:nvPr/>
        </p:nvSpPr>
        <p:spPr>
          <a:xfrm>
            <a:off x="4407408" y="2183723"/>
            <a:ext cx="640080" cy="201168"/>
          </a:xfrm>
          <a:prstGeom prst="rect">
            <a:avLst/>
          </a:prstGeom>
          <a:noFill/>
        </p:spPr>
        <p:txBody>
          <a:bodyPr wrap="square" lIns="0" tIns="0" rIns="0" bIns="0">
            <a:spAutoFit/>
          </a:bodyPr>
          <a:lstStyle/>
          <a:p>
            <a:pPr algn="l">
              <a:defRPr sz="900" b="1">
                <a:solidFill>
                  <a:srgbClr val="0EA5E9"/>
                </a:solidFill>
              </a:defRPr>
            </a:pPr>
            <a:r>
              <a:t>Track</a:t>
            </a:r>
          </a:p>
        </p:txBody>
      </p:sp>
      <p:sp>
        <p:nvSpPr>
          <p:cNvPr id="6" name="Straight Connector 5"/>
          <p:cNvSpPr/>
          <p:nvPr/>
        </p:nvSpPr>
        <p:spPr>
          <a:xfrm>
            <a:off x="3450506" y="3011615"/>
            <a:ext cx="938613" cy="0"/>
          </a:xfrm>
          <a:prstGeom prst="line">
            <a:avLst/>
          </a:prstGeom>
          <a:noFill/>
          <a:ln w="12700">
            <a:solidFill>
              <a:srgbClr val="F59E0B"/>
            </a:solidFill>
            <a:prstDash val="dash"/>
          </a:ln>
        </p:spPr>
        <p:txBody>
          <a:bodyPr/>
          <a:lstStyle/>
          <a:p>
            <a:endParaRPr lang="en-SG"/>
          </a:p>
        </p:txBody>
      </p:sp>
      <p:sp>
        <p:nvSpPr>
          <p:cNvPr id="46" name="TextBox 45"/>
          <p:cNvSpPr txBox="1"/>
          <p:nvPr/>
        </p:nvSpPr>
        <p:spPr>
          <a:xfrm>
            <a:off x="4407408" y="2920175"/>
            <a:ext cx="640080" cy="201168"/>
          </a:xfrm>
          <a:prstGeom prst="rect">
            <a:avLst/>
          </a:prstGeom>
          <a:noFill/>
        </p:spPr>
        <p:txBody>
          <a:bodyPr wrap="square" lIns="0" tIns="0" rIns="0" bIns="0">
            <a:spAutoFit/>
          </a:bodyPr>
          <a:lstStyle/>
          <a:p>
            <a:pPr algn="l">
              <a:defRPr sz="900" b="1">
                <a:solidFill>
                  <a:srgbClr val="F59E0B"/>
                </a:solidFill>
              </a:defRPr>
            </a:pPr>
            <a:r>
              <a:t>Sector</a:t>
            </a:r>
          </a:p>
        </p:txBody>
      </p:sp>
      <p:sp>
        <p:nvSpPr>
          <p:cNvPr id="7" name="Straight Connector 6"/>
          <p:cNvSpPr/>
          <p:nvPr/>
        </p:nvSpPr>
        <p:spPr>
          <a:xfrm flipH="1">
            <a:off x="502920" y="2468880"/>
            <a:ext cx="1005839" cy="0"/>
          </a:xfrm>
          <a:prstGeom prst="line">
            <a:avLst/>
          </a:prstGeom>
          <a:noFill/>
          <a:ln w="12700">
            <a:solidFill>
              <a:srgbClr val="10B981"/>
            </a:solidFill>
            <a:prstDash val="dash"/>
          </a:ln>
        </p:spPr>
        <p:txBody>
          <a:bodyPr/>
          <a:lstStyle/>
          <a:p>
            <a:endParaRPr lang="en-SG"/>
          </a:p>
        </p:txBody>
      </p:sp>
      <p:sp>
        <p:nvSpPr>
          <p:cNvPr id="47" name="TextBox 46"/>
          <p:cNvSpPr txBox="1"/>
          <p:nvPr/>
        </p:nvSpPr>
        <p:spPr>
          <a:xfrm>
            <a:off x="137160" y="2377440"/>
            <a:ext cx="502920" cy="201168"/>
          </a:xfrm>
          <a:prstGeom prst="rect">
            <a:avLst/>
          </a:prstGeom>
          <a:noFill/>
        </p:spPr>
        <p:txBody>
          <a:bodyPr wrap="square" lIns="0" tIns="0" rIns="0" bIns="0">
            <a:spAutoFit/>
          </a:bodyPr>
          <a:lstStyle/>
          <a:p>
            <a:pPr algn="l">
              <a:defRPr sz="900" b="1">
                <a:solidFill>
                  <a:srgbClr val="10B981"/>
                </a:solidFill>
              </a:defRPr>
            </a:pPr>
            <a:r>
              <a:t>Platter</a:t>
            </a:r>
          </a:p>
        </p:txBody>
      </p:sp>
      <p:sp>
        <p:nvSpPr>
          <p:cNvPr id="48" name="TextBox 47"/>
          <p:cNvSpPr txBox="1"/>
          <p:nvPr/>
        </p:nvSpPr>
        <p:spPr>
          <a:xfrm>
            <a:off x="596230" y="3913632"/>
            <a:ext cx="2286000" cy="164592"/>
          </a:xfrm>
          <a:prstGeom prst="rect">
            <a:avLst/>
          </a:prstGeom>
          <a:noFill/>
        </p:spPr>
        <p:txBody>
          <a:bodyPr wrap="square" lIns="0" tIns="0" rIns="0" bIns="0">
            <a:spAutoFit/>
          </a:bodyPr>
          <a:lstStyle/>
          <a:p>
            <a:pPr algn="l">
              <a:defRPr sz="800" b="1">
                <a:solidFill>
                  <a:srgbClr val="9CA3AF"/>
                </a:solidFill>
              </a:defRPr>
            </a:pPr>
            <a:r>
              <a:t>Side View (Cylinder)</a:t>
            </a:r>
          </a:p>
        </p:txBody>
      </p:sp>
      <p:sp>
        <p:nvSpPr>
          <p:cNvPr id="49" name="Oval 48"/>
          <p:cNvSpPr/>
          <p:nvPr/>
        </p:nvSpPr>
        <p:spPr>
          <a:xfrm>
            <a:off x="1666078" y="4046220"/>
            <a:ext cx="2103120" cy="137160"/>
          </a:xfrm>
          <a:prstGeom prst="ellipse">
            <a:avLst/>
          </a:prstGeom>
          <a:solidFill>
            <a:srgbClr val="E5E7E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666078" y="4265676"/>
            <a:ext cx="2103120" cy="137160"/>
          </a:xfrm>
          <a:prstGeom prst="ellipse">
            <a:avLst/>
          </a:prstGeom>
          <a:solidFill>
            <a:srgbClr val="E5E7E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666078" y="4485132"/>
            <a:ext cx="2103120" cy="137160"/>
          </a:xfrm>
          <a:prstGeom prst="ellipse">
            <a:avLst/>
          </a:prstGeom>
          <a:solidFill>
            <a:srgbClr val="E5E7E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raight Connector 8"/>
          <p:cNvSpPr/>
          <p:nvPr/>
        </p:nvSpPr>
        <p:spPr>
          <a:xfrm>
            <a:off x="2717638" y="4069080"/>
            <a:ext cx="1" cy="530352"/>
          </a:xfrm>
          <a:prstGeom prst="line">
            <a:avLst/>
          </a:prstGeom>
          <a:noFill/>
          <a:ln w="25400">
            <a:solidFill>
              <a:srgbClr val="10B981"/>
            </a:solidFill>
          </a:ln>
        </p:spPr>
        <p:txBody>
          <a:bodyPr/>
          <a:lstStyle/>
          <a:p>
            <a:endParaRPr lang="en-SG"/>
          </a:p>
        </p:txBody>
      </p:sp>
      <p:sp>
        <p:nvSpPr>
          <p:cNvPr id="52" name="Rectangle 51"/>
          <p:cNvSpPr/>
          <p:nvPr/>
        </p:nvSpPr>
        <p:spPr>
          <a:xfrm>
            <a:off x="3042250" y="4078224"/>
            <a:ext cx="118872" cy="512064"/>
          </a:xfrm>
          <a:prstGeom prst="rect">
            <a:avLst/>
          </a:prstGeom>
          <a:solidFill>
            <a:srgbClr val="DBEAFE">
              <a:alpha val="50000"/>
            </a:srgbClr>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3074254" y="4087368"/>
            <a:ext cx="54864" cy="54864"/>
          </a:xfrm>
          <a:prstGeom prst="ellipse">
            <a:avLst/>
          </a:prstGeom>
          <a:solidFill>
            <a:srgbClr val="0EA5E9"/>
          </a:solidFill>
          <a:ln w="63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3074254" y="4306824"/>
            <a:ext cx="54864" cy="54864"/>
          </a:xfrm>
          <a:prstGeom prst="ellipse">
            <a:avLst/>
          </a:prstGeom>
          <a:solidFill>
            <a:srgbClr val="0EA5E9"/>
          </a:solidFill>
          <a:ln w="63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3074254" y="4526280"/>
            <a:ext cx="54864" cy="54864"/>
          </a:xfrm>
          <a:prstGeom prst="ellipse">
            <a:avLst/>
          </a:prstGeom>
          <a:solidFill>
            <a:srgbClr val="0EA5E9"/>
          </a:solidFill>
          <a:ln w="63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traight Connector 9"/>
          <p:cNvSpPr/>
          <p:nvPr/>
        </p:nvSpPr>
        <p:spPr>
          <a:xfrm>
            <a:off x="3197698" y="4334256"/>
            <a:ext cx="1021717" cy="0"/>
          </a:xfrm>
          <a:prstGeom prst="line">
            <a:avLst/>
          </a:prstGeom>
          <a:noFill/>
          <a:ln w="12700">
            <a:solidFill>
              <a:srgbClr val="0EA5E9"/>
            </a:solidFill>
            <a:prstDash val="dash"/>
          </a:ln>
        </p:spPr>
        <p:txBody>
          <a:bodyPr/>
          <a:lstStyle/>
          <a:p>
            <a:endParaRPr lang="en-SG"/>
          </a:p>
        </p:txBody>
      </p:sp>
      <p:sp>
        <p:nvSpPr>
          <p:cNvPr id="56" name="TextBox 55"/>
          <p:cNvSpPr txBox="1"/>
          <p:nvPr/>
        </p:nvSpPr>
        <p:spPr>
          <a:xfrm>
            <a:off x="4262974" y="4242816"/>
            <a:ext cx="1097280" cy="182880"/>
          </a:xfrm>
          <a:prstGeom prst="rect">
            <a:avLst/>
          </a:prstGeom>
          <a:noFill/>
        </p:spPr>
        <p:txBody>
          <a:bodyPr wrap="square" lIns="0" tIns="0" rIns="0" bIns="0">
            <a:spAutoFit/>
          </a:bodyPr>
          <a:lstStyle/>
          <a:p>
            <a:pPr algn="l">
              <a:defRPr sz="900" b="1">
                <a:solidFill>
                  <a:srgbClr val="0EA5E9"/>
                </a:solidFill>
              </a:defRPr>
            </a:pPr>
            <a:r>
              <a:rPr dirty="0"/>
              <a:t>Cylinder</a:t>
            </a:r>
            <a:endParaRPr dirty="0"/>
          </a:p>
        </p:txBody>
      </p:sp>
      <p:sp>
        <p:nvSpPr>
          <p:cNvPr id="11" name="Straight Connector 10"/>
          <p:cNvSpPr/>
          <p:nvPr/>
        </p:nvSpPr>
        <p:spPr>
          <a:xfrm flipH="1">
            <a:off x="1346038" y="4114800"/>
            <a:ext cx="283464" cy="0"/>
          </a:xfrm>
          <a:prstGeom prst="line">
            <a:avLst/>
          </a:prstGeom>
          <a:noFill/>
          <a:ln w="9525">
            <a:solidFill>
              <a:srgbClr val="9CA3AF"/>
            </a:solidFill>
          </a:ln>
        </p:spPr>
        <p:txBody>
          <a:bodyPr/>
          <a:lstStyle/>
          <a:p>
            <a:endParaRPr lang="en-SG"/>
          </a:p>
        </p:txBody>
      </p:sp>
      <p:sp>
        <p:nvSpPr>
          <p:cNvPr id="57" name="TextBox 56"/>
          <p:cNvSpPr txBox="1"/>
          <p:nvPr/>
        </p:nvSpPr>
        <p:spPr>
          <a:xfrm>
            <a:off x="596230" y="4023360"/>
            <a:ext cx="548640" cy="182880"/>
          </a:xfrm>
          <a:prstGeom prst="rect">
            <a:avLst/>
          </a:prstGeom>
          <a:noFill/>
        </p:spPr>
        <p:txBody>
          <a:bodyPr wrap="square" lIns="0" tIns="0" rIns="0" bIns="0">
            <a:spAutoFit/>
          </a:bodyPr>
          <a:lstStyle/>
          <a:p>
            <a:pPr algn="l">
              <a:defRPr sz="800" b="0">
                <a:solidFill>
                  <a:srgbClr val="9CA3AF"/>
                </a:solidFill>
              </a:defRPr>
            </a:pPr>
            <a:r>
              <a:t>Platters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94944"/>
          </a:xfrm>
          <a:prstGeom prst="rect">
            <a:avLst/>
          </a:prstGeom>
          <a:solidFill>
            <a:srgbClr val="10B981"/>
          </a:solidFill>
          <a:ln w="12700">
            <a:solidFill>
              <a:srgbClr val="10B981"/>
            </a:solidFill>
            <a:prstDash val="solid"/>
          </a:ln>
        </p:spPr>
        <p:txBody>
          <a:bodyPr/>
          <a:lstStyle/>
          <a:p>
            <a:endParaRPr lang="en-SG"/>
          </a:p>
        </p:txBody>
      </p:sp>
      <p:sp>
        <p:nvSpPr>
          <p:cNvPr id="3" name="Text 1"/>
          <p:cNvSpPr/>
          <p:nvPr/>
        </p:nvSpPr>
        <p:spPr>
          <a:xfrm>
            <a:off x="256032" y="54864"/>
            <a:ext cx="8631936" cy="585216"/>
          </a:xfrm>
          <a:prstGeom prst="rect">
            <a:avLst/>
          </a:prstGeom>
          <a:noFill/>
        </p:spPr>
        <p:txBody>
          <a:bodyPr wrap="square" lIns="0" tIns="0" rIns="0" bIns="0" rtlCol="0" anchor="ctr"/>
          <a:lstStyle/>
          <a:p>
            <a:pPr marL="0" indent="0">
              <a:buNone/>
            </a:pPr>
            <a:r>
              <a:rPr lang="en-US" sz="1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CHS Addressing — Cylinder, Head, Sector</a:t>
            </a:r>
            <a:endParaRPr lang="en-US" sz="1800" dirty="0"/>
          </a:p>
        </p:txBody>
      </p:sp>
      <p:sp>
        <p:nvSpPr>
          <p:cNvPr id="8" name="Text 6"/>
          <p:cNvSpPr/>
          <p:nvPr/>
        </p:nvSpPr>
        <p:spPr>
          <a:xfrm>
            <a:off x="256032" y="804672"/>
            <a:ext cx="8631936" cy="274320"/>
          </a:xfrm>
          <a:prstGeom prst="rect">
            <a:avLst/>
          </a:prstGeom>
          <a:noFill/>
        </p:spPr>
        <p:txBody>
          <a:bodyPr wrap="square" rtlCol="0" anchor="ctr"/>
          <a:lstStyle/>
          <a:p>
            <a:pPr marL="0" indent="0">
              <a:buNone/>
            </a:pPr>
            <a:r>
              <a:rPr lang="en-US" sz="1000" i="1" dirty="0">
                <a:solidFill>
                  <a:srgbClr val="5E7A9A"/>
                </a:solidFill>
                <a:latin typeface="Calibri" panose="020F0502020204030204" pitchFamily="34" charset="0"/>
                <a:ea typeface="Calibri" panose="020F0502020204030204" pitchFamily="34" charset="-122"/>
                <a:cs typeface="Calibri" panose="020F0502020204030204" pitchFamily="34" charset="-120"/>
              </a:rPr>
              <a:t>CHS was the original method for specifying the location of data on a hard drive. Each sector is identified by three coordinates: which cylinder, which read/write head, and which sector.</a:t>
            </a:r>
            <a:endParaRPr lang="en-US" sz="1000" dirty="0"/>
          </a:p>
        </p:txBody>
      </p:sp>
      <p:sp>
        <p:nvSpPr>
          <p:cNvPr id="9" name="Shape 7"/>
          <p:cNvSpPr/>
          <p:nvPr/>
        </p:nvSpPr>
        <p:spPr>
          <a:xfrm>
            <a:off x="256032" y="1188720"/>
            <a:ext cx="2779776" cy="2560320"/>
          </a:xfrm>
          <a:prstGeom prst="rect">
            <a:avLst/>
          </a:prstGeom>
          <a:solidFill>
            <a:srgbClr val="FFFFFF"/>
          </a:solidFill>
          <a:ln w="12700">
            <a:solidFill>
              <a:srgbClr val="10B981"/>
            </a:solidFill>
            <a:prstDash val="solid"/>
          </a:ln>
          <a:effectLst>
            <a:outerShdw blurRad="101600" dist="38100" dir="8100000" algn="bl" rotWithShape="0">
              <a:srgbClr val="000000">
                <a:alpha val="18000"/>
              </a:srgbClr>
            </a:outerShdw>
          </a:effectLst>
        </p:spPr>
        <p:txBody>
          <a:bodyPr/>
          <a:lstStyle/>
          <a:p>
            <a:endParaRPr lang="en-SG"/>
          </a:p>
        </p:txBody>
      </p:sp>
      <p:sp>
        <p:nvSpPr>
          <p:cNvPr id="10" name="Shape 8"/>
          <p:cNvSpPr/>
          <p:nvPr/>
        </p:nvSpPr>
        <p:spPr>
          <a:xfrm>
            <a:off x="256032" y="1188720"/>
            <a:ext cx="2779776" cy="658368"/>
          </a:xfrm>
          <a:prstGeom prst="rect">
            <a:avLst/>
          </a:prstGeom>
          <a:solidFill>
            <a:srgbClr val="10B981"/>
          </a:solidFill>
          <a:ln w="12700">
            <a:solidFill>
              <a:srgbClr val="10B981"/>
            </a:solidFill>
            <a:prstDash val="solid"/>
          </a:ln>
        </p:spPr>
        <p:txBody>
          <a:bodyPr/>
          <a:lstStyle/>
          <a:p>
            <a:endParaRPr lang="en-SG"/>
          </a:p>
        </p:txBody>
      </p:sp>
      <p:sp>
        <p:nvSpPr>
          <p:cNvPr id="11" name="Text 9"/>
          <p:cNvSpPr/>
          <p:nvPr/>
        </p:nvSpPr>
        <p:spPr>
          <a:xfrm>
            <a:off x="256032" y="1188720"/>
            <a:ext cx="694944" cy="658368"/>
          </a:xfrm>
          <a:prstGeom prst="rect">
            <a:avLst/>
          </a:prstGeom>
          <a:noFill/>
        </p:spPr>
        <p:txBody>
          <a:bodyPr wrap="square" lIns="0" tIns="0" rIns="0" bIns="0" rtlCol="0" anchor="ctr"/>
          <a:lstStyle/>
          <a:p>
            <a:pPr marL="0" indent="0" algn="ctr">
              <a:buNone/>
            </a:pPr>
            <a:r>
              <a:rPr lang="en-US" sz="34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C</a:t>
            </a:r>
            <a:endParaRPr lang="en-US" sz="3400" dirty="0"/>
          </a:p>
        </p:txBody>
      </p:sp>
      <p:sp>
        <p:nvSpPr>
          <p:cNvPr id="12" name="Text 10"/>
          <p:cNvSpPr/>
          <p:nvPr/>
        </p:nvSpPr>
        <p:spPr>
          <a:xfrm>
            <a:off x="950976" y="1243584"/>
            <a:ext cx="2011680" cy="274320"/>
          </a:xfrm>
          <a:prstGeom prst="rect">
            <a:avLst/>
          </a:prstGeom>
          <a:noFill/>
        </p:spPr>
        <p:txBody>
          <a:bodyPr wrap="square" lIns="0" tIns="0" rIns="0" bIns="0" rtlCol="0" anchor="ctr"/>
          <a:lstStyle/>
          <a:p>
            <a:pPr marL="0" indent="0">
              <a:buNone/>
            </a:pPr>
            <a:r>
              <a:rPr lang="en-US" sz="16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Cylinder</a:t>
            </a:r>
            <a:endParaRPr lang="en-US" sz="1600" dirty="0"/>
          </a:p>
        </p:txBody>
      </p:sp>
      <p:sp>
        <p:nvSpPr>
          <p:cNvPr id="13" name="Text 11"/>
          <p:cNvSpPr/>
          <p:nvPr/>
        </p:nvSpPr>
        <p:spPr>
          <a:xfrm>
            <a:off x="365760" y="1920240"/>
            <a:ext cx="2560320" cy="731520"/>
          </a:xfrm>
          <a:prstGeom prst="rect">
            <a:avLst/>
          </a:prstGeom>
          <a:noFill/>
        </p:spPr>
        <p:txBody>
          <a:bodyPr wrap="square" lIns="0" tIns="0" rIns="0" bIns="0" rtlCol="0" anchor="ctr"/>
          <a:lstStyle/>
          <a:p>
            <a:pPr marL="0" indent="0">
              <a:buNone/>
            </a:pPr>
            <a:r>
              <a:rPr lang="en-US" sz="900" dirty="0">
                <a:solidFill>
                  <a:srgbClr val="1A2E4A"/>
                </a:solidFill>
                <a:latin typeface="Calibri" panose="020F0502020204030204" pitchFamily="34" charset="0"/>
                <a:ea typeface="Calibri" panose="020F0502020204030204" pitchFamily="34" charset="-122"/>
                <a:cs typeface="Calibri" panose="020F0502020204030204" pitchFamily="34" charset="-120"/>
              </a:rPr>
              <a:t>Identifies the concentric ring position on the platter (numbered from 0 outward). Early drives: 16-bit field → max 65,536 cylinders.</a:t>
            </a:r>
            <a:endParaRPr lang="en-US" sz="900" dirty="0"/>
          </a:p>
        </p:txBody>
      </p:sp>
      <p:sp>
        <p:nvSpPr>
          <p:cNvPr id="14" name="Text 12"/>
          <p:cNvSpPr/>
          <p:nvPr/>
        </p:nvSpPr>
        <p:spPr>
          <a:xfrm>
            <a:off x="365760" y="2688336"/>
            <a:ext cx="2560320" cy="201168"/>
          </a:xfrm>
          <a:prstGeom prst="rect">
            <a:avLst/>
          </a:prstGeom>
          <a:noFill/>
        </p:spPr>
        <p:txBody>
          <a:bodyPr wrap="square" lIns="0" tIns="0" rIns="0" bIns="0" rtlCol="0" anchor="ctr"/>
          <a:lstStyle/>
          <a:p>
            <a:pPr marL="0" indent="0">
              <a:buNone/>
            </a:pPr>
            <a:r>
              <a:rPr lang="en-US" sz="850" b="1" dirty="0">
                <a:solidFill>
                  <a:srgbClr val="10B981"/>
                </a:solidFill>
                <a:latin typeface="Calibri" panose="020F0502020204030204" pitchFamily="34" charset="0"/>
                <a:ea typeface="Calibri" panose="020F0502020204030204" pitchFamily="34" charset="-122"/>
                <a:cs typeface="Calibri" panose="020F0502020204030204" pitchFamily="34" charset="-120"/>
              </a:rPr>
              <a:t>Range: 0 to 1,023 (original BIOS limit)</a:t>
            </a:r>
            <a:endParaRPr lang="en-US" sz="850" dirty="0"/>
          </a:p>
        </p:txBody>
      </p:sp>
      <p:sp>
        <p:nvSpPr>
          <p:cNvPr id="15" name="Text 13"/>
          <p:cNvSpPr/>
          <p:nvPr/>
        </p:nvSpPr>
        <p:spPr>
          <a:xfrm>
            <a:off x="365760" y="2907792"/>
            <a:ext cx="2560320" cy="201168"/>
          </a:xfrm>
          <a:prstGeom prst="rect">
            <a:avLst/>
          </a:prstGeom>
          <a:noFill/>
        </p:spPr>
        <p:txBody>
          <a:bodyPr wrap="square" lIns="0" tIns="0" rIns="0" bIns="0" rtlCol="0" anchor="ctr"/>
          <a:lstStyle/>
          <a:p>
            <a:pPr marL="0" indent="0">
              <a:buNone/>
            </a:pPr>
            <a:r>
              <a:rPr lang="en-US" sz="850" i="1" dirty="0">
                <a:solidFill>
                  <a:srgbClr val="5E7A9A"/>
                </a:solidFill>
                <a:latin typeface="Calibri" panose="020F0502020204030204" pitchFamily="34" charset="0"/>
                <a:ea typeface="Calibri" panose="020F0502020204030204" pitchFamily="34" charset="-122"/>
                <a:cs typeface="Calibri" panose="020F0502020204030204" pitchFamily="34" charset="-120"/>
              </a:rPr>
              <a:t>C=0 = outermost track (all platters)</a:t>
            </a:r>
            <a:endParaRPr lang="en-US" sz="850" dirty="0"/>
          </a:p>
        </p:txBody>
      </p:sp>
      <p:sp>
        <p:nvSpPr>
          <p:cNvPr id="16" name="Shape 14"/>
          <p:cNvSpPr/>
          <p:nvPr/>
        </p:nvSpPr>
        <p:spPr>
          <a:xfrm>
            <a:off x="3163824" y="1188720"/>
            <a:ext cx="2779776" cy="2560320"/>
          </a:xfrm>
          <a:prstGeom prst="rect">
            <a:avLst/>
          </a:prstGeom>
          <a:solidFill>
            <a:srgbClr val="FFFFFF"/>
          </a:solidFill>
          <a:ln w="12700">
            <a:solidFill>
              <a:srgbClr val="0EA5E9"/>
            </a:solidFill>
            <a:prstDash val="solid"/>
          </a:ln>
          <a:effectLst>
            <a:outerShdw blurRad="101600" dist="38100" dir="8100000" algn="bl" rotWithShape="0">
              <a:srgbClr val="000000">
                <a:alpha val="18000"/>
              </a:srgbClr>
            </a:outerShdw>
          </a:effectLst>
        </p:spPr>
        <p:txBody>
          <a:bodyPr/>
          <a:lstStyle/>
          <a:p>
            <a:endParaRPr lang="en-SG"/>
          </a:p>
        </p:txBody>
      </p:sp>
      <p:sp>
        <p:nvSpPr>
          <p:cNvPr id="17" name="Shape 15"/>
          <p:cNvSpPr/>
          <p:nvPr/>
        </p:nvSpPr>
        <p:spPr>
          <a:xfrm>
            <a:off x="3163824" y="1188720"/>
            <a:ext cx="2779776" cy="658368"/>
          </a:xfrm>
          <a:prstGeom prst="rect">
            <a:avLst/>
          </a:prstGeom>
          <a:solidFill>
            <a:srgbClr val="0EA5E9"/>
          </a:solidFill>
          <a:ln w="12700">
            <a:solidFill>
              <a:srgbClr val="0EA5E9"/>
            </a:solidFill>
            <a:prstDash val="solid"/>
          </a:ln>
        </p:spPr>
        <p:txBody>
          <a:bodyPr/>
          <a:lstStyle/>
          <a:p>
            <a:endParaRPr lang="en-SG"/>
          </a:p>
        </p:txBody>
      </p:sp>
      <p:sp>
        <p:nvSpPr>
          <p:cNvPr id="18" name="Text 16"/>
          <p:cNvSpPr/>
          <p:nvPr/>
        </p:nvSpPr>
        <p:spPr>
          <a:xfrm>
            <a:off x="3163824" y="1188720"/>
            <a:ext cx="694944" cy="658368"/>
          </a:xfrm>
          <a:prstGeom prst="rect">
            <a:avLst/>
          </a:prstGeom>
          <a:noFill/>
        </p:spPr>
        <p:txBody>
          <a:bodyPr wrap="square" lIns="0" tIns="0" rIns="0" bIns="0" rtlCol="0" anchor="ctr"/>
          <a:lstStyle/>
          <a:p>
            <a:pPr marL="0" indent="0" algn="ctr">
              <a:buNone/>
            </a:pPr>
            <a:r>
              <a:rPr lang="en-US" sz="34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H</a:t>
            </a:r>
            <a:endParaRPr lang="en-US" sz="3400" dirty="0"/>
          </a:p>
        </p:txBody>
      </p:sp>
      <p:sp>
        <p:nvSpPr>
          <p:cNvPr id="19" name="Text 17"/>
          <p:cNvSpPr/>
          <p:nvPr/>
        </p:nvSpPr>
        <p:spPr>
          <a:xfrm>
            <a:off x="3858768" y="1243584"/>
            <a:ext cx="2011680" cy="274320"/>
          </a:xfrm>
          <a:prstGeom prst="rect">
            <a:avLst/>
          </a:prstGeom>
          <a:noFill/>
        </p:spPr>
        <p:txBody>
          <a:bodyPr wrap="square" lIns="0" tIns="0" rIns="0" bIns="0" rtlCol="0" anchor="ctr"/>
          <a:lstStyle/>
          <a:p>
            <a:pPr marL="0" indent="0">
              <a:buNone/>
            </a:pPr>
            <a:r>
              <a:rPr lang="en-US" sz="16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Head</a:t>
            </a:r>
            <a:endParaRPr lang="en-US" sz="1600" dirty="0"/>
          </a:p>
        </p:txBody>
      </p:sp>
      <p:sp>
        <p:nvSpPr>
          <p:cNvPr id="20" name="Text 18"/>
          <p:cNvSpPr/>
          <p:nvPr/>
        </p:nvSpPr>
        <p:spPr>
          <a:xfrm>
            <a:off x="3273552" y="1920240"/>
            <a:ext cx="2560320" cy="731520"/>
          </a:xfrm>
          <a:prstGeom prst="rect">
            <a:avLst/>
          </a:prstGeom>
          <a:noFill/>
        </p:spPr>
        <p:txBody>
          <a:bodyPr wrap="square" lIns="0" tIns="0" rIns="0" bIns="0" rtlCol="0" anchor="ctr"/>
          <a:lstStyle/>
          <a:p>
            <a:pPr marL="0" indent="0">
              <a:buNone/>
            </a:pPr>
            <a:r>
              <a:rPr lang="en-US" sz="900" dirty="0">
                <a:solidFill>
                  <a:srgbClr val="1A2E4A"/>
                </a:solidFill>
                <a:latin typeface="Calibri" panose="020F0502020204030204" pitchFamily="34" charset="0"/>
                <a:ea typeface="Calibri" panose="020F0502020204030204" pitchFamily="34" charset="-122"/>
                <a:cs typeface="Calibri" panose="020F0502020204030204" pitchFamily="34" charset="-120"/>
              </a:rPr>
              <a:t>Identifies which read/write head — one per platter surface. A 4-platter drive has 8 heads (4 platters × 2 sides).</a:t>
            </a:r>
            <a:endParaRPr lang="en-US" sz="900" dirty="0"/>
          </a:p>
        </p:txBody>
      </p:sp>
      <p:sp>
        <p:nvSpPr>
          <p:cNvPr id="21" name="Text 19"/>
          <p:cNvSpPr/>
          <p:nvPr/>
        </p:nvSpPr>
        <p:spPr>
          <a:xfrm>
            <a:off x="3273552" y="2688336"/>
            <a:ext cx="2560320" cy="201168"/>
          </a:xfrm>
          <a:prstGeom prst="rect">
            <a:avLst/>
          </a:prstGeom>
          <a:noFill/>
        </p:spPr>
        <p:txBody>
          <a:bodyPr wrap="square" lIns="0" tIns="0" rIns="0" bIns="0" rtlCol="0" anchor="ctr"/>
          <a:lstStyle/>
          <a:p>
            <a:pPr marL="0" indent="0">
              <a:buNone/>
            </a:pPr>
            <a:r>
              <a:rPr lang="en-US" sz="850" b="1" dirty="0">
                <a:solidFill>
                  <a:srgbClr val="0EA5E9"/>
                </a:solidFill>
                <a:latin typeface="Calibri" panose="020F0502020204030204" pitchFamily="34" charset="0"/>
                <a:ea typeface="Calibri" panose="020F0502020204030204" pitchFamily="34" charset="-122"/>
                <a:cs typeface="Calibri" panose="020F0502020204030204" pitchFamily="34" charset="-120"/>
              </a:rPr>
              <a:t>Range: 0 to 255 (8-bit field)</a:t>
            </a:r>
            <a:endParaRPr lang="en-US" sz="850" dirty="0"/>
          </a:p>
        </p:txBody>
      </p:sp>
      <p:sp>
        <p:nvSpPr>
          <p:cNvPr id="22" name="Text 20"/>
          <p:cNvSpPr/>
          <p:nvPr/>
        </p:nvSpPr>
        <p:spPr>
          <a:xfrm>
            <a:off x="3273552" y="2907792"/>
            <a:ext cx="2560320" cy="201168"/>
          </a:xfrm>
          <a:prstGeom prst="rect">
            <a:avLst/>
          </a:prstGeom>
          <a:noFill/>
        </p:spPr>
        <p:txBody>
          <a:bodyPr wrap="square" lIns="0" tIns="0" rIns="0" bIns="0" rtlCol="0" anchor="ctr"/>
          <a:lstStyle/>
          <a:p>
            <a:pPr marL="0" indent="0">
              <a:buNone/>
            </a:pPr>
            <a:r>
              <a:rPr lang="en-US" sz="850" i="1" dirty="0">
                <a:solidFill>
                  <a:srgbClr val="5E7A9A"/>
                </a:solidFill>
                <a:latin typeface="Calibri" panose="020F0502020204030204" pitchFamily="34" charset="0"/>
                <a:ea typeface="Calibri" panose="020F0502020204030204" pitchFamily="34" charset="-122"/>
                <a:cs typeface="Calibri" panose="020F0502020204030204" pitchFamily="34" charset="-120"/>
              </a:rPr>
              <a:t>H=0 = top surface of first platter</a:t>
            </a:r>
            <a:endParaRPr lang="en-US" sz="850" dirty="0"/>
          </a:p>
        </p:txBody>
      </p:sp>
      <p:sp>
        <p:nvSpPr>
          <p:cNvPr id="23" name="Shape 21"/>
          <p:cNvSpPr/>
          <p:nvPr/>
        </p:nvSpPr>
        <p:spPr>
          <a:xfrm>
            <a:off x="6071616" y="1188720"/>
            <a:ext cx="2779776" cy="2560320"/>
          </a:xfrm>
          <a:prstGeom prst="rect">
            <a:avLst/>
          </a:prstGeom>
          <a:solidFill>
            <a:srgbClr val="FFFFFF"/>
          </a:solidFill>
          <a:ln w="12700">
            <a:solidFill>
              <a:srgbClr val="F59E0B"/>
            </a:solidFill>
            <a:prstDash val="solid"/>
          </a:ln>
          <a:effectLst>
            <a:outerShdw blurRad="101600" dist="38100" dir="8100000" algn="bl" rotWithShape="0">
              <a:srgbClr val="000000">
                <a:alpha val="18000"/>
              </a:srgbClr>
            </a:outerShdw>
          </a:effectLst>
        </p:spPr>
        <p:txBody>
          <a:bodyPr/>
          <a:lstStyle/>
          <a:p>
            <a:endParaRPr lang="en-SG"/>
          </a:p>
        </p:txBody>
      </p:sp>
      <p:sp>
        <p:nvSpPr>
          <p:cNvPr id="24" name="Shape 22"/>
          <p:cNvSpPr/>
          <p:nvPr/>
        </p:nvSpPr>
        <p:spPr>
          <a:xfrm>
            <a:off x="6071616" y="1188720"/>
            <a:ext cx="2779776" cy="658368"/>
          </a:xfrm>
          <a:prstGeom prst="rect">
            <a:avLst/>
          </a:prstGeom>
          <a:solidFill>
            <a:srgbClr val="F59E0B"/>
          </a:solidFill>
          <a:ln w="12700">
            <a:solidFill>
              <a:srgbClr val="F59E0B"/>
            </a:solidFill>
            <a:prstDash val="solid"/>
          </a:ln>
        </p:spPr>
        <p:txBody>
          <a:bodyPr/>
          <a:lstStyle/>
          <a:p>
            <a:endParaRPr lang="en-SG"/>
          </a:p>
        </p:txBody>
      </p:sp>
      <p:sp>
        <p:nvSpPr>
          <p:cNvPr id="25" name="Text 23"/>
          <p:cNvSpPr/>
          <p:nvPr/>
        </p:nvSpPr>
        <p:spPr>
          <a:xfrm>
            <a:off x="6071616" y="1188720"/>
            <a:ext cx="694944" cy="658368"/>
          </a:xfrm>
          <a:prstGeom prst="rect">
            <a:avLst/>
          </a:prstGeom>
          <a:noFill/>
        </p:spPr>
        <p:txBody>
          <a:bodyPr wrap="square" lIns="0" tIns="0" rIns="0" bIns="0" rtlCol="0" anchor="ctr"/>
          <a:lstStyle/>
          <a:p>
            <a:pPr marL="0" indent="0" algn="ctr">
              <a:buNone/>
            </a:pPr>
            <a:r>
              <a:rPr lang="en-US" sz="34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S</a:t>
            </a:r>
            <a:endParaRPr lang="en-US" sz="3400" dirty="0"/>
          </a:p>
        </p:txBody>
      </p:sp>
      <p:sp>
        <p:nvSpPr>
          <p:cNvPr id="26" name="Text 24"/>
          <p:cNvSpPr/>
          <p:nvPr/>
        </p:nvSpPr>
        <p:spPr>
          <a:xfrm>
            <a:off x="6766560" y="1243584"/>
            <a:ext cx="2011680" cy="274320"/>
          </a:xfrm>
          <a:prstGeom prst="rect">
            <a:avLst/>
          </a:prstGeom>
          <a:noFill/>
        </p:spPr>
        <p:txBody>
          <a:bodyPr wrap="square" lIns="0" tIns="0" rIns="0" bIns="0" rtlCol="0" anchor="ctr"/>
          <a:lstStyle/>
          <a:p>
            <a:pPr marL="0" indent="0">
              <a:buNone/>
            </a:pPr>
            <a:r>
              <a:rPr lang="en-US" sz="16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Sector</a:t>
            </a:r>
            <a:endParaRPr lang="en-US" sz="1600" dirty="0"/>
          </a:p>
        </p:txBody>
      </p:sp>
      <p:sp>
        <p:nvSpPr>
          <p:cNvPr id="27" name="Text 25"/>
          <p:cNvSpPr/>
          <p:nvPr/>
        </p:nvSpPr>
        <p:spPr>
          <a:xfrm>
            <a:off x="6181344" y="1920240"/>
            <a:ext cx="2560320" cy="731520"/>
          </a:xfrm>
          <a:prstGeom prst="rect">
            <a:avLst/>
          </a:prstGeom>
          <a:noFill/>
        </p:spPr>
        <p:txBody>
          <a:bodyPr wrap="square" lIns="0" tIns="0" rIns="0" bIns="0" rtlCol="0" anchor="ctr"/>
          <a:lstStyle/>
          <a:p>
            <a:pPr marL="0" indent="0">
              <a:buNone/>
            </a:pPr>
            <a:r>
              <a:rPr lang="en-US" sz="900" dirty="0">
                <a:solidFill>
                  <a:srgbClr val="1A2E4A"/>
                </a:solidFill>
                <a:latin typeface="Calibri" panose="020F0502020204030204" pitchFamily="34" charset="0"/>
                <a:ea typeface="Calibri" panose="020F0502020204030204" pitchFamily="34" charset="-122"/>
                <a:cs typeface="Calibri" panose="020F0502020204030204" pitchFamily="34" charset="-120"/>
              </a:rPr>
              <a:t>Identifies which sector within a track. Note: sectors start at 1, not 0 — unlike cylinders and heads.</a:t>
            </a:r>
            <a:endParaRPr lang="en-US" sz="900" dirty="0"/>
          </a:p>
        </p:txBody>
      </p:sp>
      <p:sp>
        <p:nvSpPr>
          <p:cNvPr id="28" name="Text 26"/>
          <p:cNvSpPr/>
          <p:nvPr/>
        </p:nvSpPr>
        <p:spPr>
          <a:xfrm>
            <a:off x="6181344" y="2688336"/>
            <a:ext cx="2560320" cy="201168"/>
          </a:xfrm>
          <a:prstGeom prst="rect">
            <a:avLst/>
          </a:prstGeom>
          <a:noFill/>
        </p:spPr>
        <p:txBody>
          <a:bodyPr wrap="square" lIns="0" tIns="0" rIns="0" bIns="0" rtlCol="0" anchor="ctr"/>
          <a:lstStyle/>
          <a:p>
            <a:pPr marL="0" indent="0">
              <a:buNone/>
            </a:pPr>
            <a:r>
              <a:rPr lang="en-US" sz="850" b="1" dirty="0">
                <a:solidFill>
                  <a:srgbClr val="F59E0B"/>
                </a:solidFill>
                <a:latin typeface="Calibri" panose="020F0502020204030204" pitchFamily="34" charset="0"/>
                <a:ea typeface="Calibri" panose="020F0502020204030204" pitchFamily="34" charset="-122"/>
                <a:cs typeface="Calibri" panose="020F0502020204030204" pitchFamily="34" charset="-120"/>
              </a:rPr>
              <a:t>Range: 1 to 63 (6-bit field)</a:t>
            </a:r>
            <a:endParaRPr lang="en-US" sz="850" dirty="0"/>
          </a:p>
        </p:txBody>
      </p:sp>
      <p:sp>
        <p:nvSpPr>
          <p:cNvPr id="29" name="Text 27"/>
          <p:cNvSpPr/>
          <p:nvPr/>
        </p:nvSpPr>
        <p:spPr>
          <a:xfrm>
            <a:off x="6181344" y="2907792"/>
            <a:ext cx="2560320" cy="201168"/>
          </a:xfrm>
          <a:prstGeom prst="rect">
            <a:avLst/>
          </a:prstGeom>
          <a:noFill/>
        </p:spPr>
        <p:txBody>
          <a:bodyPr wrap="square" lIns="0" tIns="0" rIns="0" bIns="0" rtlCol="0" anchor="ctr"/>
          <a:lstStyle/>
          <a:p>
            <a:pPr marL="0" indent="0">
              <a:buNone/>
            </a:pPr>
            <a:r>
              <a:rPr lang="en-US" sz="850" i="1" dirty="0">
                <a:solidFill>
                  <a:srgbClr val="5E7A9A"/>
                </a:solidFill>
                <a:latin typeface="Calibri" panose="020F0502020204030204" pitchFamily="34" charset="0"/>
                <a:ea typeface="Calibri" panose="020F0502020204030204" pitchFamily="34" charset="-122"/>
                <a:cs typeface="Calibri" panose="020F0502020204030204" pitchFamily="34" charset="-120"/>
              </a:rPr>
              <a:t>S=1 = first sector of the track</a:t>
            </a:r>
            <a:endParaRPr lang="en-US" sz="850" dirty="0"/>
          </a:p>
        </p:txBody>
      </p:sp>
      <p:sp>
        <p:nvSpPr>
          <p:cNvPr id="30" name="Shape 28"/>
          <p:cNvSpPr/>
          <p:nvPr/>
        </p:nvSpPr>
        <p:spPr>
          <a:xfrm>
            <a:off x="256032" y="3840480"/>
            <a:ext cx="4187952" cy="932688"/>
          </a:xfrm>
          <a:prstGeom prst="rect">
            <a:avLst/>
          </a:prstGeom>
          <a:solidFill>
            <a:srgbClr val="FFFFFF"/>
          </a:solidFill>
          <a:ln w="12700">
            <a:solidFill>
              <a:srgbClr val="10B981"/>
            </a:solidFill>
            <a:prstDash val="solid"/>
          </a:ln>
          <a:effectLst>
            <a:outerShdw blurRad="101600" dist="38100" dir="8100000" algn="bl" rotWithShape="0">
              <a:srgbClr val="000000">
                <a:alpha val="18000"/>
              </a:srgbClr>
            </a:outerShdw>
          </a:effectLst>
        </p:spPr>
        <p:txBody>
          <a:bodyPr/>
          <a:lstStyle/>
          <a:p>
            <a:endParaRPr lang="en-SG"/>
          </a:p>
        </p:txBody>
      </p:sp>
      <p:sp>
        <p:nvSpPr>
          <p:cNvPr id="31" name="Text 29"/>
          <p:cNvSpPr/>
          <p:nvPr/>
        </p:nvSpPr>
        <p:spPr>
          <a:xfrm>
            <a:off x="365760" y="3858768"/>
            <a:ext cx="3968496" cy="237744"/>
          </a:xfrm>
          <a:prstGeom prst="rect">
            <a:avLst/>
          </a:prstGeom>
          <a:noFill/>
        </p:spPr>
        <p:txBody>
          <a:bodyPr wrap="square" lIns="0" tIns="0" rIns="0" bIns="0" rtlCol="0" anchor="ctr"/>
          <a:lstStyle/>
          <a:p>
            <a:pPr marL="0" indent="0">
              <a:buNone/>
            </a:pPr>
            <a:r>
              <a:rPr lang="en-US" sz="1050" b="1" dirty="0">
                <a:solidFill>
                  <a:srgbClr val="0A1628"/>
                </a:solidFill>
                <a:latin typeface="Trebuchet MS" panose="020B0603020202020204" pitchFamily="34" charset="0"/>
                <a:ea typeface="Trebuchet MS" panose="020B0603020202020204" pitchFamily="34" charset="-122"/>
                <a:cs typeface="Trebuchet MS" panose="020B0603020202020204" pitchFamily="34" charset="-120"/>
              </a:rPr>
              <a:t>CHS Capacity Formula</a:t>
            </a:r>
            <a:endParaRPr lang="en-US" sz="1050" dirty="0"/>
          </a:p>
        </p:txBody>
      </p:sp>
      <p:sp>
        <p:nvSpPr>
          <p:cNvPr id="32" name="Text 30"/>
          <p:cNvSpPr/>
          <p:nvPr/>
        </p:nvSpPr>
        <p:spPr>
          <a:xfrm>
            <a:off x="365760" y="4114800"/>
            <a:ext cx="3968496" cy="603504"/>
          </a:xfrm>
          <a:prstGeom prst="rect">
            <a:avLst/>
          </a:prstGeom>
          <a:noFill/>
        </p:spPr>
        <p:txBody>
          <a:bodyPr wrap="square" lIns="0" tIns="0" rIns="0" bIns="0" rtlCol="0" anchor="ctr"/>
          <a:lstStyle/>
          <a:p>
            <a:pPr marL="0" indent="0">
              <a:buNone/>
            </a:pPr>
            <a:r>
              <a:rPr lang="en-US" sz="950" dirty="0">
                <a:solidFill>
                  <a:srgbClr val="1A2E4A"/>
                </a:solidFill>
                <a:latin typeface="Calibri" panose="020F0502020204030204" pitchFamily="34" charset="0"/>
                <a:ea typeface="Calibri" panose="020F0502020204030204" pitchFamily="34" charset="-122"/>
                <a:cs typeface="Calibri" panose="020F0502020204030204" pitchFamily="34" charset="-120"/>
              </a:rPr>
              <a:t>Total sectors = Cylinders × Heads × Sectors per Track</a:t>
            </a:r>
            <a:endParaRPr lang="en-US" sz="950" dirty="0"/>
          </a:p>
          <a:p>
            <a:pPr marL="0" indent="0">
              <a:buNone/>
            </a:pPr>
            <a:r>
              <a:rPr lang="en-US" sz="950" dirty="0">
                <a:solidFill>
                  <a:srgbClr val="1A2E4A"/>
                </a:solidFill>
                <a:latin typeface="Calibri" panose="020F0502020204030204" pitchFamily="34" charset="0"/>
                <a:ea typeface="Calibri" panose="020F0502020204030204" pitchFamily="34" charset="-122"/>
                <a:cs typeface="Calibri" panose="020F0502020204030204" pitchFamily="34" charset="-120"/>
              </a:rPr>
              <a:t>Max CHS (BIOS): 1,024 × 16 × 63 = 1,032,192 sectors × 512 B = 528 MB</a:t>
            </a:r>
            <a:endParaRPr lang="en-US" sz="950" dirty="0"/>
          </a:p>
        </p:txBody>
      </p:sp>
      <p:sp>
        <p:nvSpPr>
          <p:cNvPr id="33" name="Shape 31"/>
          <p:cNvSpPr/>
          <p:nvPr/>
        </p:nvSpPr>
        <p:spPr>
          <a:xfrm>
            <a:off x="4700016" y="3840480"/>
            <a:ext cx="4187952" cy="932688"/>
          </a:xfrm>
          <a:prstGeom prst="rect">
            <a:avLst/>
          </a:prstGeom>
          <a:solidFill>
            <a:srgbClr val="FFFFFF"/>
          </a:solidFill>
          <a:ln w="12700">
            <a:solidFill>
              <a:srgbClr val="0EA5E9"/>
            </a:solidFill>
            <a:prstDash val="solid"/>
          </a:ln>
          <a:effectLst>
            <a:outerShdw blurRad="101600" dist="38100" dir="8100000" algn="bl" rotWithShape="0">
              <a:srgbClr val="000000">
                <a:alpha val="18000"/>
              </a:srgbClr>
            </a:outerShdw>
          </a:effectLst>
        </p:spPr>
        <p:txBody>
          <a:bodyPr/>
          <a:lstStyle/>
          <a:p>
            <a:endParaRPr lang="en-SG"/>
          </a:p>
        </p:txBody>
      </p:sp>
      <p:sp>
        <p:nvSpPr>
          <p:cNvPr id="34" name="Text 32"/>
          <p:cNvSpPr/>
          <p:nvPr/>
        </p:nvSpPr>
        <p:spPr>
          <a:xfrm>
            <a:off x="4809744" y="3858768"/>
            <a:ext cx="3968496" cy="237744"/>
          </a:xfrm>
          <a:prstGeom prst="rect">
            <a:avLst/>
          </a:prstGeom>
          <a:noFill/>
        </p:spPr>
        <p:txBody>
          <a:bodyPr wrap="square" lIns="0" tIns="0" rIns="0" bIns="0" rtlCol="0" anchor="ctr"/>
          <a:lstStyle/>
          <a:p>
            <a:pPr marL="0" indent="0">
              <a:buNone/>
            </a:pPr>
            <a:r>
              <a:rPr lang="en-US" sz="1050" b="1" dirty="0">
                <a:solidFill>
                  <a:srgbClr val="0A1628"/>
                </a:solidFill>
                <a:latin typeface="Trebuchet MS" panose="020B0603020202020204" pitchFamily="34" charset="0"/>
                <a:ea typeface="Trebuchet MS" panose="020B0603020202020204" pitchFamily="34" charset="-122"/>
                <a:cs typeface="Trebuchet MS" panose="020B0603020202020204" pitchFamily="34" charset="-120"/>
              </a:rPr>
              <a:t>Why CHS Was Retired</a:t>
            </a:r>
            <a:endParaRPr lang="en-US" sz="1050" dirty="0"/>
          </a:p>
        </p:txBody>
      </p:sp>
      <p:sp>
        <p:nvSpPr>
          <p:cNvPr id="35" name="Text 33"/>
          <p:cNvSpPr/>
          <p:nvPr/>
        </p:nvSpPr>
        <p:spPr>
          <a:xfrm>
            <a:off x="4809744" y="4114800"/>
            <a:ext cx="3968496" cy="603504"/>
          </a:xfrm>
          <a:prstGeom prst="rect">
            <a:avLst/>
          </a:prstGeom>
          <a:noFill/>
        </p:spPr>
        <p:txBody>
          <a:bodyPr wrap="square" lIns="0" tIns="0" rIns="0" bIns="0" rtlCol="0" anchor="ctr"/>
          <a:lstStyle/>
          <a:p>
            <a:pPr marL="0" indent="0">
              <a:buNone/>
            </a:pPr>
            <a:r>
              <a:rPr lang="en-US" sz="900" dirty="0">
                <a:solidFill>
                  <a:srgbClr val="1A2E4A"/>
                </a:solidFill>
                <a:latin typeface="Calibri" panose="020F0502020204030204" pitchFamily="34" charset="0"/>
                <a:ea typeface="Calibri" panose="020F0502020204030204" pitchFamily="34" charset="-122"/>
                <a:cs typeface="Calibri" panose="020F0502020204030204" pitchFamily="34" charset="-120"/>
              </a:rPr>
              <a:t>BIOS CHS max = 528 MB. As drives exceeded this, INT 13h Extensions (LBA) were introduced. Modern OSes use only LBA. CHS values in MBR partition tables may still be set (often to 0xFEFFFF as a placeholder).</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94944"/>
          </a:xfrm>
          <a:prstGeom prst="rect">
            <a:avLst/>
          </a:prstGeom>
          <a:solidFill>
            <a:srgbClr val="EC4899"/>
          </a:solidFill>
          <a:ln w="12700">
            <a:solidFill>
              <a:srgbClr val="EC4899"/>
            </a:solidFill>
            <a:prstDash val="solid"/>
          </a:ln>
        </p:spPr>
        <p:txBody>
          <a:bodyPr/>
          <a:lstStyle/>
          <a:p>
            <a:endParaRPr lang="en-SG"/>
          </a:p>
        </p:txBody>
      </p:sp>
      <p:sp>
        <p:nvSpPr>
          <p:cNvPr id="3" name="Text 1"/>
          <p:cNvSpPr/>
          <p:nvPr/>
        </p:nvSpPr>
        <p:spPr>
          <a:xfrm>
            <a:off x="256032" y="54864"/>
            <a:ext cx="8631936" cy="585216"/>
          </a:xfrm>
          <a:prstGeom prst="rect">
            <a:avLst/>
          </a:prstGeom>
          <a:noFill/>
        </p:spPr>
        <p:txBody>
          <a:bodyPr wrap="square" lIns="0" tIns="0" rIns="0" bIns="0" rtlCol="0" anchor="ctr"/>
          <a:lstStyle/>
          <a:p>
            <a:pPr marL="0" indent="0">
              <a:buNone/>
            </a:pPr>
            <a:r>
              <a:rPr lang="en-US" sz="1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HDD Interface Types — SATA, SAS, IDE &amp; More</a:t>
            </a:r>
            <a:endParaRPr lang="en-US" sz="1800" dirty="0"/>
          </a:p>
        </p:txBody>
      </p:sp>
      <p:sp>
        <p:nvSpPr>
          <p:cNvPr id="8" name="Text 6"/>
          <p:cNvSpPr/>
          <p:nvPr/>
        </p:nvSpPr>
        <p:spPr>
          <a:xfrm>
            <a:off x="256032" y="804672"/>
            <a:ext cx="8631936" cy="274320"/>
          </a:xfrm>
          <a:prstGeom prst="rect">
            <a:avLst/>
          </a:prstGeom>
          <a:noFill/>
        </p:spPr>
        <p:txBody>
          <a:bodyPr wrap="square" rtlCol="0" anchor="ctr"/>
          <a:lstStyle/>
          <a:p>
            <a:pPr marL="0" indent="0">
              <a:buNone/>
            </a:pPr>
            <a:r>
              <a:rPr lang="en-US" sz="1000" i="1" dirty="0">
                <a:solidFill>
                  <a:srgbClr val="5E7A9A"/>
                </a:solidFill>
                <a:latin typeface="Calibri" panose="020F0502020204030204" pitchFamily="34" charset="0"/>
                <a:ea typeface="Calibri" panose="020F0502020204030204" pitchFamily="34" charset="-122"/>
                <a:cs typeface="Calibri" panose="020F0502020204030204" pitchFamily="34" charset="-120"/>
              </a:rPr>
              <a:t>The interface type determines how a drive connects to the motherboard. As a forensic examiner, you must recognise the drive type to select the correct write-blocker and acquisition tool.</a:t>
            </a:r>
            <a:endParaRPr lang="en-US" sz="1000" dirty="0"/>
          </a:p>
        </p:txBody>
      </p:sp>
      <p:sp>
        <p:nvSpPr>
          <p:cNvPr id="9" name="Shape 7"/>
          <p:cNvSpPr/>
          <p:nvPr/>
        </p:nvSpPr>
        <p:spPr>
          <a:xfrm>
            <a:off x="256032" y="1152144"/>
            <a:ext cx="2779776" cy="1828800"/>
          </a:xfrm>
          <a:prstGeom prst="rect">
            <a:avLst/>
          </a:prstGeom>
          <a:solidFill>
            <a:srgbClr val="FFFFFF"/>
          </a:solidFill>
          <a:ln w="12700">
            <a:solidFill>
              <a:srgbClr val="F59E0B"/>
            </a:solidFill>
            <a:prstDash val="solid"/>
          </a:ln>
          <a:effectLst>
            <a:outerShdw blurRad="101600" dist="38100" dir="8100000" algn="bl" rotWithShape="0">
              <a:srgbClr val="000000">
                <a:alpha val="18000"/>
              </a:srgbClr>
            </a:outerShdw>
          </a:effectLst>
        </p:spPr>
        <p:txBody>
          <a:bodyPr/>
          <a:lstStyle/>
          <a:p>
            <a:endParaRPr lang="en-SG"/>
          </a:p>
        </p:txBody>
      </p:sp>
      <p:sp>
        <p:nvSpPr>
          <p:cNvPr id="10" name="Shape 8"/>
          <p:cNvSpPr/>
          <p:nvPr/>
        </p:nvSpPr>
        <p:spPr>
          <a:xfrm>
            <a:off x="256032" y="1152144"/>
            <a:ext cx="2779776" cy="310896"/>
          </a:xfrm>
          <a:prstGeom prst="rect">
            <a:avLst/>
          </a:prstGeom>
          <a:solidFill>
            <a:srgbClr val="F59E0B"/>
          </a:solidFill>
          <a:ln w="12700">
            <a:solidFill>
              <a:srgbClr val="F59E0B"/>
            </a:solidFill>
            <a:prstDash val="solid"/>
          </a:ln>
        </p:spPr>
        <p:txBody>
          <a:bodyPr/>
          <a:lstStyle/>
          <a:p>
            <a:endParaRPr lang="en-SG"/>
          </a:p>
        </p:txBody>
      </p:sp>
      <p:sp>
        <p:nvSpPr>
          <p:cNvPr id="11" name="Text 9"/>
          <p:cNvSpPr/>
          <p:nvPr/>
        </p:nvSpPr>
        <p:spPr>
          <a:xfrm>
            <a:off x="365760" y="1188720"/>
            <a:ext cx="1280160" cy="237744"/>
          </a:xfrm>
          <a:prstGeom prst="rect">
            <a:avLst/>
          </a:prstGeom>
          <a:noFill/>
        </p:spPr>
        <p:txBody>
          <a:bodyPr wrap="square" lIns="0" tIns="0" rIns="0" bIns="0" rtlCol="0" anchor="ctr"/>
          <a:lstStyle/>
          <a:p>
            <a:pPr marL="0" indent="0">
              <a:buNone/>
            </a:pPr>
            <a:r>
              <a:rPr lang="en-US" sz="13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IDE / PATA</a:t>
            </a:r>
            <a:endParaRPr lang="en-US" sz="1300" dirty="0"/>
          </a:p>
        </p:txBody>
      </p:sp>
      <p:sp>
        <p:nvSpPr>
          <p:cNvPr id="12" name="Text 10"/>
          <p:cNvSpPr/>
          <p:nvPr/>
        </p:nvSpPr>
        <p:spPr>
          <a:xfrm>
            <a:off x="1682496" y="1225296"/>
            <a:ext cx="1188720" cy="201168"/>
          </a:xfrm>
          <a:prstGeom prst="rect">
            <a:avLst/>
          </a:prstGeom>
          <a:noFill/>
        </p:spPr>
        <p:txBody>
          <a:bodyPr wrap="square" lIns="0" tIns="0" rIns="0" bIns="0" rtlCol="0" anchor="ctr"/>
          <a:lstStyle/>
          <a:p>
            <a:pPr marL="0" indent="0" algn="r">
              <a:buNone/>
            </a:pPr>
            <a:r>
              <a:rPr lang="en-US" sz="850" dirty="0">
                <a:solidFill>
                  <a:srgbClr val="000000"/>
                </a:solidFill>
                <a:latin typeface="Calibri" panose="020F0502020204030204" pitchFamily="34" charset="0"/>
                <a:ea typeface="Calibri" panose="020F0502020204030204" pitchFamily="34" charset="-122"/>
                <a:cs typeface="Calibri" panose="020F0502020204030204" pitchFamily="34" charset="-120"/>
              </a:rPr>
              <a:t>1986–2010</a:t>
            </a:r>
            <a:endParaRPr lang="en-US" sz="850" dirty="0"/>
          </a:p>
        </p:txBody>
      </p:sp>
      <p:sp>
        <p:nvSpPr>
          <p:cNvPr id="13" name="Text 11"/>
          <p:cNvSpPr/>
          <p:nvPr/>
        </p:nvSpPr>
        <p:spPr>
          <a:xfrm>
            <a:off x="365760" y="1499616"/>
            <a:ext cx="2578608" cy="182880"/>
          </a:xfrm>
          <a:prstGeom prst="rect">
            <a:avLst/>
          </a:prstGeom>
          <a:noFill/>
        </p:spPr>
        <p:txBody>
          <a:bodyPr wrap="square" lIns="0" tIns="0" rIns="0" bIns="0" rtlCol="0" anchor="ctr"/>
          <a:lstStyle/>
          <a:p>
            <a:pPr marL="0" indent="0">
              <a:buNone/>
            </a:pPr>
            <a:r>
              <a:rPr lang="en-US" sz="850" b="1" dirty="0">
                <a:solidFill>
                  <a:srgbClr val="0A1628"/>
                </a:solidFill>
                <a:latin typeface="Trebuchet MS" panose="020B0603020202020204" pitchFamily="34" charset="0"/>
                <a:ea typeface="Trebuchet MS" panose="020B0603020202020204" pitchFamily="34" charset="-122"/>
                <a:cs typeface="Trebuchet MS" panose="020B0603020202020204" pitchFamily="34" charset="-120"/>
              </a:rPr>
              <a:t>Integrated Drive Electronics / Parallel ATA</a:t>
            </a:r>
            <a:endParaRPr lang="en-US" sz="850" dirty="0"/>
          </a:p>
        </p:txBody>
      </p:sp>
      <p:sp>
        <p:nvSpPr>
          <p:cNvPr id="14" name="Text 12"/>
          <p:cNvSpPr/>
          <p:nvPr/>
        </p:nvSpPr>
        <p:spPr>
          <a:xfrm>
            <a:off x="365760" y="1682496"/>
            <a:ext cx="2578608" cy="182880"/>
          </a:xfrm>
          <a:prstGeom prst="rect">
            <a:avLst/>
          </a:prstGeom>
          <a:noFill/>
        </p:spPr>
        <p:txBody>
          <a:bodyPr wrap="square" lIns="0" tIns="0" rIns="0" bIns="0" rtlCol="0" anchor="ctr"/>
          <a:lstStyle/>
          <a:p>
            <a:pPr marL="0" indent="0">
              <a:buNone/>
            </a:pPr>
            <a:r>
              <a:rPr lang="en-US" sz="850" dirty="0">
                <a:solidFill>
                  <a:srgbClr val="F59E0B"/>
                </a:solidFill>
                <a:latin typeface="Calibri" panose="020F0502020204030204" pitchFamily="34" charset="0"/>
                <a:ea typeface="Calibri" panose="020F0502020204030204" pitchFamily="34" charset="-122"/>
                <a:cs typeface="Calibri" panose="020F0502020204030204" pitchFamily="34" charset="-120"/>
              </a:rPr>
              <a:t>Speed: Up to 133 MB/s (ATA/133)</a:t>
            </a:r>
            <a:endParaRPr lang="en-US" sz="850" dirty="0"/>
          </a:p>
        </p:txBody>
      </p:sp>
      <p:sp>
        <p:nvSpPr>
          <p:cNvPr id="15" name="Text 13"/>
          <p:cNvSpPr/>
          <p:nvPr/>
        </p:nvSpPr>
        <p:spPr>
          <a:xfrm>
            <a:off x="365760" y="1865376"/>
            <a:ext cx="2578608" cy="182880"/>
          </a:xfrm>
          <a:prstGeom prst="rect">
            <a:avLst/>
          </a:prstGeom>
          <a:noFill/>
        </p:spPr>
        <p:txBody>
          <a:bodyPr wrap="square" lIns="0" tIns="0" rIns="0" bIns="0" rtlCol="0" anchor="ctr"/>
          <a:lstStyle/>
          <a:p>
            <a:pPr marL="0" indent="0">
              <a:buNone/>
            </a:pPr>
            <a:r>
              <a:rPr lang="en-US" sz="800" dirty="0">
                <a:solidFill>
                  <a:srgbClr val="1A2E4A"/>
                </a:solidFill>
                <a:latin typeface="Calibri" panose="020F0502020204030204" pitchFamily="34" charset="0"/>
                <a:ea typeface="Calibri" panose="020F0502020204030204" pitchFamily="34" charset="-122"/>
                <a:cs typeface="Calibri" panose="020F0502020204030204" pitchFamily="34" charset="-120"/>
              </a:rPr>
              <a:t>Connector: 40-pin ribbon cable + 4-pin Molex power</a:t>
            </a:r>
            <a:endParaRPr lang="en-US" sz="800" dirty="0"/>
          </a:p>
        </p:txBody>
      </p:sp>
      <p:sp>
        <p:nvSpPr>
          <p:cNvPr id="16" name="Text 14"/>
          <p:cNvSpPr/>
          <p:nvPr/>
        </p:nvSpPr>
        <p:spPr>
          <a:xfrm>
            <a:off x="365760" y="2084832"/>
            <a:ext cx="2578608" cy="804672"/>
          </a:xfrm>
          <a:prstGeom prst="rect">
            <a:avLst/>
          </a:prstGeom>
          <a:noFill/>
        </p:spPr>
        <p:txBody>
          <a:bodyPr wrap="square" lIns="0" tIns="0" rIns="0" bIns="0" rtlCol="0" anchor="ctr"/>
          <a:lstStyle/>
          <a:p>
            <a:pPr marL="0" indent="0">
              <a:buNone/>
            </a:pPr>
            <a:r>
              <a:rPr lang="en-US" sz="850" i="1" dirty="0">
                <a:solidFill>
                  <a:srgbClr val="5E7A9A"/>
                </a:solidFill>
                <a:latin typeface="Calibri" panose="020F0502020204030204" pitchFamily="34" charset="0"/>
                <a:ea typeface="Calibri" panose="020F0502020204030204" pitchFamily="34" charset="-122"/>
                <a:cs typeface="Calibri" panose="020F0502020204030204" pitchFamily="34" charset="-120"/>
              </a:rPr>
              <a:t>🔍 Requires PATA write-blocker. Often found in cold cases. Check jumper settings (master/slave) before acquisition.</a:t>
            </a:r>
            <a:endParaRPr lang="en-US" sz="850" dirty="0"/>
          </a:p>
        </p:txBody>
      </p:sp>
      <p:sp>
        <p:nvSpPr>
          <p:cNvPr id="17" name="Shape 15"/>
          <p:cNvSpPr/>
          <p:nvPr/>
        </p:nvSpPr>
        <p:spPr>
          <a:xfrm>
            <a:off x="3163824" y="1152144"/>
            <a:ext cx="2779776" cy="1828800"/>
          </a:xfrm>
          <a:prstGeom prst="rect">
            <a:avLst/>
          </a:prstGeom>
          <a:solidFill>
            <a:srgbClr val="FFFFFF"/>
          </a:solidFill>
          <a:ln w="12700">
            <a:solidFill>
              <a:srgbClr val="EC4899"/>
            </a:solidFill>
            <a:prstDash val="solid"/>
          </a:ln>
          <a:effectLst>
            <a:outerShdw blurRad="101600" dist="38100" dir="8100000" algn="bl" rotWithShape="0">
              <a:srgbClr val="000000">
                <a:alpha val="18000"/>
              </a:srgbClr>
            </a:outerShdw>
          </a:effectLst>
        </p:spPr>
        <p:txBody>
          <a:bodyPr/>
          <a:lstStyle/>
          <a:p>
            <a:endParaRPr lang="en-SG"/>
          </a:p>
        </p:txBody>
      </p:sp>
      <p:sp>
        <p:nvSpPr>
          <p:cNvPr id="18" name="Shape 16"/>
          <p:cNvSpPr/>
          <p:nvPr/>
        </p:nvSpPr>
        <p:spPr>
          <a:xfrm>
            <a:off x="3163824" y="1152144"/>
            <a:ext cx="2779776" cy="310896"/>
          </a:xfrm>
          <a:prstGeom prst="rect">
            <a:avLst/>
          </a:prstGeom>
          <a:solidFill>
            <a:srgbClr val="EC4899"/>
          </a:solidFill>
          <a:ln w="12700">
            <a:solidFill>
              <a:srgbClr val="EC4899"/>
            </a:solidFill>
            <a:prstDash val="solid"/>
          </a:ln>
        </p:spPr>
        <p:txBody>
          <a:bodyPr/>
          <a:lstStyle/>
          <a:p>
            <a:endParaRPr lang="en-SG"/>
          </a:p>
        </p:txBody>
      </p:sp>
      <p:sp>
        <p:nvSpPr>
          <p:cNvPr id="19" name="Text 17"/>
          <p:cNvSpPr/>
          <p:nvPr/>
        </p:nvSpPr>
        <p:spPr>
          <a:xfrm>
            <a:off x="3273552" y="1188720"/>
            <a:ext cx="1280160" cy="237744"/>
          </a:xfrm>
          <a:prstGeom prst="rect">
            <a:avLst/>
          </a:prstGeom>
          <a:noFill/>
        </p:spPr>
        <p:txBody>
          <a:bodyPr wrap="square" lIns="0" tIns="0" rIns="0" bIns="0" rtlCol="0" anchor="ctr"/>
          <a:lstStyle/>
          <a:p>
            <a:pPr marL="0" indent="0">
              <a:buNone/>
            </a:pPr>
            <a:r>
              <a:rPr lang="en-US" sz="13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SATA</a:t>
            </a:r>
            <a:endParaRPr lang="en-US" sz="1300" dirty="0"/>
          </a:p>
        </p:txBody>
      </p:sp>
      <p:sp>
        <p:nvSpPr>
          <p:cNvPr id="20" name="Text 18"/>
          <p:cNvSpPr/>
          <p:nvPr/>
        </p:nvSpPr>
        <p:spPr>
          <a:xfrm>
            <a:off x="4590288" y="1225296"/>
            <a:ext cx="1188720" cy="201168"/>
          </a:xfrm>
          <a:prstGeom prst="rect">
            <a:avLst/>
          </a:prstGeom>
          <a:noFill/>
        </p:spPr>
        <p:txBody>
          <a:bodyPr wrap="square" lIns="0" tIns="0" rIns="0" bIns="0" rtlCol="0" anchor="ctr"/>
          <a:lstStyle/>
          <a:p>
            <a:pPr marL="0" indent="0" algn="r">
              <a:buNone/>
            </a:pPr>
            <a:r>
              <a:rPr lang="en-US" sz="850" dirty="0">
                <a:solidFill>
                  <a:srgbClr val="000000"/>
                </a:solidFill>
                <a:latin typeface="Calibri" panose="020F0502020204030204" pitchFamily="34" charset="0"/>
                <a:ea typeface="Calibri" panose="020F0502020204030204" pitchFamily="34" charset="-122"/>
                <a:cs typeface="Calibri" panose="020F0502020204030204" pitchFamily="34" charset="-120"/>
              </a:rPr>
              <a:t>2003–present</a:t>
            </a:r>
            <a:endParaRPr lang="en-US" sz="850" dirty="0"/>
          </a:p>
        </p:txBody>
      </p:sp>
      <p:sp>
        <p:nvSpPr>
          <p:cNvPr id="21" name="Text 19"/>
          <p:cNvSpPr/>
          <p:nvPr/>
        </p:nvSpPr>
        <p:spPr>
          <a:xfrm>
            <a:off x="3273552" y="1499616"/>
            <a:ext cx="2578608" cy="182880"/>
          </a:xfrm>
          <a:prstGeom prst="rect">
            <a:avLst/>
          </a:prstGeom>
          <a:noFill/>
        </p:spPr>
        <p:txBody>
          <a:bodyPr wrap="square" lIns="0" tIns="0" rIns="0" bIns="0" rtlCol="0" anchor="ctr"/>
          <a:lstStyle/>
          <a:p>
            <a:pPr marL="0" indent="0">
              <a:buNone/>
            </a:pPr>
            <a:r>
              <a:rPr lang="en-US" sz="850" b="1" dirty="0">
                <a:solidFill>
                  <a:srgbClr val="0A1628"/>
                </a:solidFill>
                <a:latin typeface="Trebuchet MS" panose="020B0603020202020204" pitchFamily="34" charset="0"/>
                <a:ea typeface="Trebuchet MS" panose="020B0603020202020204" pitchFamily="34" charset="-122"/>
                <a:cs typeface="Trebuchet MS" panose="020B0603020202020204" pitchFamily="34" charset="-120"/>
              </a:rPr>
              <a:t>Serial ATA</a:t>
            </a:r>
            <a:endParaRPr lang="en-US" sz="850" dirty="0"/>
          </a:p>
        </p:txBody>
      </p:sp>
      <p:sp>
        <p:nvSpPr>
          <p:cNvPr id="22" name="Text 20"/>
          <p:cNvSpPr/>
          <p:nvPr/>
        </p:nvSpPr>
        <p:spPr>
          <a:xfrm>
            <a:off x="3273552" y="1682496"/>
            <a:ext cx="2578608" cy="182880"/>
          </a:xfrm>
          <a:prstGeom prst="rect">
            <a:avLst/>
          </a:prstGeom>
          <a:noFill/>
        </p:spPr>
        <p:txBody>
          <a:bodyPr wrap="square" lIns="0" tIns="0" rIns="0" bIns="0" rtlCol="0" anchor="ctr"/>
          <a:lstStyle/>
          <a:p>
            <a:pPr marL="0" indent="0">
              <a:buNone/>
            </a:pPr>
            <a:r>
              <a:rPr lang="en-US" sz="850" dirty="0">
                <a:solidFill>
                  <a:srgbClr val="EC4899"/>
                </a:solidFill>
                <a:latin typeface="Calibri" panose="020F0502020204030204" pitchFamily="34" charset="0"/>
                <a:ea typeface="Calibri" panose="020F0502020204030204" pitchFamily="34" charset="-122"/>
                <a:cs typeface="Calibri" panose="020F0502020204030204" pitchFamily="34" charset="-120"/>
              </a:rPr>
              <a:t>Speed: SATA III: 600 MB/s</a:t>
            </a:r>
            <a:endParaRPr lang="en-US" sz="850" dirty="0"/>
          </a:p>
        </p:txBody>
      </p:sp>
      <p:sp>
        <p:nvSpPr>
          <p:cNvPr id="23" name="Text 21"/>
          <p:cNvSpPr/>
          <p:nvPr/>
        </p:nvSpPr>
        <p:spPr>
          <a:xfrm>
            <a:off x="3273552" y="1865376"/>
            <a:ext cx="2578608" cy="182880"/>
          </a:xfrm>
          <a:prstGeom prst="rect">
            <a:avLst/>
          </a:prstGeom>
          <a:noFill/>
        </p:spPr>
        <p:txBody>
          <a:bodyPr wrap="square" lIns="0" tIns="0" rIns="0" bIns="0" rtlCol="0" anchor="ctr"/>
          <a:lstStyle/>
          <a:p>
            <a:pPr marL="0" indent="0">
              <a:buNone/>
            </a:pPr>
            <a:r>
              <a:rPr lang="en-US" sz="800" dirty="0">
                <a:solidFill>
                  <a:srgbClr val="1A2E4A"/>
                </a:solidFill>
                <a:latin typeface="Calibri" panose="020F0502020204030204" pitchFamily="34" charset="0"/>
                <a:ea typeface="Calibri" panose="020F0502020204030204" pitchFamily="34" charset="-122"/>
                <a:cs typeface="Calibri" panose="020F0502020204030204" pitchFamily="34" charset="-120"/>
              </a:rPr>
              <a:t>Connector: 7-pin data + 15-pin SATA power (thin L-shape)</a:t>
            </a:r>
            <a:endParaRPr lang="en-US" sz="800" dirty="0"/>
          </a:p>
        </p:txBody>
      </p:sp>
      <p:sp>
        <p:nvSpPr>
          <p:cNvPr id="24" name="Text 22"/>
          <p:cNvSpPr/>
          <p:nvPr/>
        </p:nvSpPr>
        <p:spPr>
          <a:xfrm>
            <a:off x="3273552" y="2084832"/>
            <a:ext cx="2578608" cy="804672"/>
          </a:xfrm>
          <a:prstGeom prst="rect">
            <a:avLst/>
          </a:prstGeom>
          <a:noFill/>
        </p:spPr>
        <p:txBody>
          <a:bodyPr wrap="square" lIns="0" tIns="0" rIns="0" bIns="0" rtlCol="0" anchor="ctr"/>
          <a:lstStyle/>
          <a:p>
            <a:pPr marL="0" indent="0">
              <a:buNone/>
            </a:pPr>
            <a:r>
              <a:rPr lang="en-US" sz="850" i="1" dirty="0">
                <a:solidFill>
                  <a:srgbClr val="5E7A9A"/>
                </a:solidFill>
                <a:latin typeface="Calibri" panose="020F0502020204030204" pitchFamily="34" charset="0"/>
                <a:ea typeface="Calibri" panose="020F0502020204030204" pitchFamily="34" charset="-122"/>
                <a:cs typeface="Calibri" panose="020F0502020204030204" pitchFamily="34" charset="-120"/>
              </a:rPr>
              <a:t>🔍 Use SATA write-blocker. Supports hot-plug. SATA III backward compatible with SATA I/II.</a:t>
            </a:r>
            <a:endParaRPr lang="en-US" sz="850" dirty="0"/>
          </a:p>
        </p:txBody>
      </p:sp>
      <p:sp>
        <p:nvSpPr>
          <p:cNvPr id="25" name="Shape 23"/>
          <p:cNvSpPr/>
          <p:nvPr/>
        </p:nvSpPr>
        <p:spPr>
          <a:xfrm>
            <a:off x="6071616" y="1152144"/>
            <a:ext cx="2779776" cy="1828800"/>
          </a:xfrm>
          <a:prstGeom prst="rect">
            <a:avLst/>
          </a:prstGeom>
          <a:solidFill>
            <a:srgbClr val="FFFFFF"/>
          </a:solidFill>
          <a:ln w="12700">
            <a:solidFill>
              <a:srgbClr val="0EA5E9"/>
            </a:solidFill>
            <a:prstDash val="solid"/>
          </a:ln>
          <a:effectLst>
            <a:outerShdw blurRad="101600" dist="38100" dir="8100000" algn="bl" rotWithShape="0">
              <a:srgbClr val="000000">
                <a:alpha val="18000"/>
              </a:srgbClr>
            </a:outerShdw>
          </a:effectLst>
        </p:spPr>
        <p:txBody>
          <a:bodyPr/>
          <a:lstStyle/>
          <a:p>
            <a:endParaRPr lang="en-SG"/>
          </a:p>
        </p:txBody>
      </p:sp>
      <p:sp>
        <p:nvSpPr>
          <p:cNvPr id="26" name="Shape 24"/>
          <p:cNvSpPr/>
          <p:nvPr/>
        </p:nvSpPr>
        <p:spPr>
          <a:xfrm>
            <a:off x="6071616" y="1152144"/>
            <a:ext cx="2779776" cy="310896"/>
          </a:xfrm>
          <a:prstGeom prst="rect">
            <a:avLst/>
          </a:prstGeom>
          <a:solidFill>
            <a:srgbClr val="0EA5E9"/>
          </a:solidFill>
          <a:ln w="12700">
            <a:solidFill>
              <a:srgbClr val="0EA5E9"/>
            </a:solidFill>
            <a:prstDash val="solid"/>
          </a:ln>
        </p:spPr>
        <p:txBody>
          <a:bodyPr/>
          <a:lstStyle/>
          <a:p>
            <a:endParaRPr lang="en-SG"/>
          </a:p>
        </p:txBody>
      </p:sp>
      <p:sp>
        <p:nvSpPr>
          <p:cNvPr id="27" name="Text 25"/>
          <p:cNvSpPr/>
          <p:nvPr/>
        </p:nvSpPr>
        <p:spPr>
          <a:xfrm>
            <a:off x="6181344" y="1188720"/>
            <a:ext cx="1280160" cy="237744"/>
          </a:xfrm>
          <a:prstGeom prst="rect">
            <a:avLst/>
          </a:prstGeom>
          <a:noFill/>
        </p:spPr>
        <p:txBody>
          <a:bodyPr wrap="square" lIns="0" tIns="0" rIns="0" bIns="0" rtlCol="0" anchor="ctr"/>
          <a:lstStyle/>
          <a:p>
            <a:pPr marL="0" indent="0">
              <a:buNone/>
            </a:pPr>
            <a:r>
              <a:rPr lang="en-US" sz="13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SAS</a:t>
            </a:r>
            <a:endParaRPr lang="en-US" sz="1300" dirty="0"/>
          </a:p>
        </p:txBody>
      </p:sp>
      <p:sp>
        <p:nvSpPr>
          <p:cNvPr id="28" name="Text 26"/>
          <p:cNvSpPr/>
          <p:nvPr/>
        </p:nvSpPr>
        <p:spPr>
          <a:xfrm>
            <a:off x="7498080" y="1225296"/>
            <a:ext cx="1188720" cy="201168"/>
          </a:xfrm>
          <a:prstGeom prst="rect">
            <a:avLst/>
          </a:prstGeom>
          <a:noFill/>
        </p:spPr>
        <p:txBody>
          <a:bodyPr wrap="square" lIns="0" tIns="0" rIns="0" bIns="0" rtlCol="0" anchor="ctr"/>
          <a:lstStyle/>
          <a:p>
            <a:pPr marL="0" indent="0" algn="r">
              <a:buNone/>
            </a:pPr>
            <a:r>
              <a:rPr lang="en-US" sz="850" dirty="0">
                <a:solidFill>
                  <a:srgbClr val="000000"/>
                </a:solidFill>
                <a:latin typeface="Calibri" panose="020F0502020204030204" pitchFamily="34" charset="0"/>
                <a:ea typeface="Calibri" panose="020F0502020204030204" pitchFamily="34" charset="-122"/>
                <a:cs typeface="Calibri" panose="020F0502020204030204" pitchFamily="34" charset="-120"/>
              </a:rPr>
              <a:t>2004–present</a:t>
            </a:r>
            <a:endParaRPr lang="en-US" sz="850" dirty="0"/>
          </a:p>
        </p:txBody>
      </p:sp>
      <p:sp>
        <p:nvSpPr>
          <p:cNvPr id="29" name="Text 27"/>
          <p:cNvSpPr/>
          <p:nvPr/>
        </p:nvSpPr>
        <p:spPr>
          <a:xfrm>
            <a:off x="6181344" y="1499616"/>
            <a:ext cx="2578608" cy="182880"/>
          </a:xfrm>
          <a:prstGeom prst="rect">
            <a:avLst/>
          </a:prstGeom>
          <a:noFill/>
        </p:spPr>
        <p:txBody>
          <a:bodyPr wrap="square" lIns="0" tIns="0" rIns="0" bIns="0" rtlCol="0" anchor="ctr"/>
          <a:lstStyle/>
          <a:p>
            <a:pPr marL="0" indent="0">
              <a:buNone/>
            </a:pPr>
            <a:r>
              <a:rPr lang="en-US" sz="850" b="1" dirty="0">
                <a:solidFill>
                  <a:srgbClr val="0A1628"/>
                </a:solidFill>
                <a:latin typeface="Trebuchet MS" panose="020B0603020202020204" pitchFamily="34" charset="0"/>
                <a:ea typeface="Trebuchet MS" panose="020B0603020202020204" pitchFamily="34" charset="-122"/>
                <a:cs typeface="Trebuchet MS" panose="020B0603020202020204" pitchFamily="34" charset="-120"/>
              </a:rPr>
              <a:t>Serial Attached SCSI</a:t>
            </a:r>
            <a:endParaRPr lang="en-US" sz="850" dirty="0"/>
          </a:p>
        </p:txBody>
      </p:sp>
      <p:sp>
        <p:nvSpPr>
          <p:cNvPr id="30" name="Text 28"/>
          <p:cNvSpPr/>
          <p:nvPr/>
        </p:nvSpPr>
        <p:spPr>
          <a:xfrm>
            <a:off x="6181344" y="1682496"/>
            <a:ext cx="2578608" cy="182880"/>
          </a:xfrm>
          <a:prstGeom prst="rect">
            <a:avLst/>
          </a:prstGeom>
          <a:noFill/>
        </p:spPr>
        <p:txBody>
          <a:bodyPr wrap="square" lIns="0" tIns="0" rIns="0" bIns="0" rtlCol="0" anchor="ctr"/>
          <a:lstStyle/>
          <a:p>
            <a:pPr marL="0" indent="0">
              <a:buNone/>
            </a:pPr>
            <a:r>
              <a:rPr lang="en-US" sz="850" dirty="0">
                <a:solidFill>
                  <a:srgbClr val="0EA5E9"/>
                </a:solidFill>
                <a:latin typeface="Calibri" panose="020F0502020204030204" pitchFamily="34" charset="0"/>
                <a:ea typeface="Calibri" panose="020F0502020204030204" pitchFamily="34" charset="-122"/>
                <a:cs typeface="Calibri" panose="020F0502020204030204" pitchFamily="34" charset="-120"/>
              </a:rPr>
              <a:t>Speed: SAS-4: up to 22.5 Gb/s</a:t>
            </a:r>
            <a:endParaRPr lang="en-US" sz="850" dirty="0"/>
          </a:p>
        </p:txBody>
      </p:sp>
      <p:sp>
        <p:nvSpPr>
          <p:cNvPr id="31" name="Text 29"/>
          <p:cNvSpPr/>
          <p:nvPr/>
        </p:nvSpPr>
        <p:spPr>
          <a:xfrm>
            <a:off x="6181344" y="1865376"/>
            <a:ext cx="2578608" cy="182880"/>
          </a:xfrm>
          <a:prstGeom prst="rect">
            <a:avLst/>
          </a:prstGeom>
          <a:noFill/>
        </p:spPr>
        <p:txBody>
          <a:bodyPr wrap="square" lIns="0" tIns="0" rIns="0" bIns="0" rtlCol="0" anchor="ctr"/>
          <a:lstStyle/>
          <a:p>
            <a:pPr marL="0" indent="0">
              <a:buNone/>
            </a:pPr>
            <a:r>
              <a:rPr lang="en-US" sz="800" dirty="0">
                <a:solidFill>
                  <a:srgbClr val="1A2E4A"/>
                </a:solidFill>
                <a:latin typeface="Calibri" panose="020F0502020204030204" pitchFamily="34" charset="0"/>
                <a:ea typeface="Calibri" panose="020F0502020204030204" pitchFamily="34" charset="-122"/>
                <a:cs typeface="Calibri" panose="020F0502020204030204" pitchFamily="34" charset="-120"/>
              </a:rPr>
              <a:t>Connector: SAS connector (similar shape to SATA, not interchangeable)</a:t>
            </a:r>
            <a:endParaRPr lang="en-US" sz="800" dirty="0"/>
          </a:p>
        </p:txBody>
      </p:sp>
      <p:sp>
        <p:nvSpPr>
          <p:cNvPr id="32" name="Text 30"/>
          <p:cNvSpPr/>
          <p:nvPr/>
        </p:nvSpPr>
        <p:spPr>
          <a:xfrm>
            <a:off x="6181344" y="2084832"/>
            <a:ext cx="2578608" cy="804672"/>
          </a:xfrm>
          <a:prstGeom prst="rect">
            <a:avLst/>
          </a:prstGeom>
          <a:noFill/>
        </p:spPr>
        <p:txBody>
          <a:bodyPr wrap="square" lIns="0" tIns="0" rIns="0" bIns="0" rtlCol="0" anchor="ctr"/>
          <a:lstStyle/>
          <a:p>
            <a:pPr marL="0" indent="0">
              <a:buNone/>
            </a:pPr>
            <a:r>
              <a:rPr lang="en-US" sz="850" i="1" dirty="0">
                <a:solidFill>
                  <a:srgbClr val="5E7A9A"/>
                </a:solidFill>
                <a:latin typeface="Calibri" panose="020F0502020204030204" pitchFamily="34" charset="0"/>
                <a:ea typeface="Calibri" panose="020F0502020204030204" pitchFamily="34" charset="-122"/>
                <a:cs typeface="Calibri" panose="020F0502020204030204" pitchFamily="34" charset="-120"/>
              </a:rPr>
              <a:t>🔍 Requires SAS write-blocker — not compatible with standard SATA blockers. Common in corporate server investigations.</a:t>
            </a:r>
            <a:endParaRPr lang="en-US" sz="850" dirty="0"/>
          </a:p>
        </p:txBody>
      </p:sp>
      <p:sp>
        <p:nvSpPr>
          <p:cNvPr id="33" name="Shape 31"/>
          <p:cNvSpPr/>
          <p:nvPr/>
        </p:nvSpPr>
        <p:spPr>
          <a:xfrm>
            <a:off x="256032" y="3072384"/>
            <a:ext cx="4315968" cy="1828800"/>
          </a:xfrm>
          <a:prstGeom prst="rect">
            <a:avLst/>
          </a:prstGeom>
          <a:solidFill>
            <a:srgbClr val="FFFFFF"/>
          </a:solidFill>
          <a:ln w="12700">
            <a:solidFill>
              <a:srgbClr val="10B981"/>
            </a:solidFill>
            <a:prstDash val="solid"/>
          </a:ln>
          <a:effectLst>
            <a:outerShdw blurRad="101600" dist="38100" dir="8100000" algn="bl" rotWithShape="0">
              <a:srgbClr val="000000">
                <a:alpha val="18000"/>
              </a:srgbClr>
            </a:outerShdw>
          </a:effectLst>
        </p:spPr>
        <p:txBody>
          <a:bodyPr/>
          <a:lstStyle/>
          <a:p>
            <a:endParaRPr lang="en-SG"/>
          </a:p>
        </p:txBody>
      </p:sp>
      <p:sp>
        <p:nvSpPr>
          <p:cNvPr id="34" name="Shape 32"/>
          <p:cNvSpPr/>
          <p:nvPr/>
        </p:nvSpPr>
        <p:spPr>
          <a:xfrm>
            <a:off x="256032" y="3072384"/>
            <a:ext cx="4315968" cy="310896"/>
          </a:xfrm>
          <a:prstGeom prst="rect">
            <a:avLst/>
          </a:prstGeom>
          <a:solidFill>
            <a:srgbClr val="10B981"/>
          </a:solidFill>
          <a:ln w="12700">
            <a:solidFill>
              <a:srgbClr val="10B981"/>
            </a:solidFill>
            <a:prstDash val="solid"/>
          </a:ln>
        </p:spPr>
        <p:txBody>
          <a:bodyPr/>
          <a:lstStyle/>
          <a:p>
            <a:endParaRPr lang="en-SG"/>
          </a:p>
        </p:txBody>
      </p:sp>
      <p:sp>
        <p:nvSpPr>
          <p:cNvPr id="35" name="Text 33"/>
          <p:cNvSpPr/>
          <p:nvPr/>
        </p:nvSpPr>
        <p:spPr>
          <a:xfrm>
            <a:off x="365760" y="3108960"/>
            <a:ext cx="1280160" cy="237744"/>
          </a:xfrm>
          <a:prstGeom prst="rect">
            <a:avLst/>
          </a:prstGeom>
          <a:noFill/>
        </p:spPr>
        <p:txBody>
          <a:bodyPr wrap="square" lIns="0" tIns="0" rIns="0" bIns="0" rtlCol="0" anchor="ctr"/>
          <a:lstStyle/>
          <a:p>
            <a:pPr marL="0" indent="0">
              <a:buNone/>
            </a:pPr>
            <a:r>
              <a:rPr lang="en-US" sz="13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SCSI</a:t>
            </a:r>
            <a:endParaRPr lang="en-US" sz="1300" dirty="0"/>
          </a:p>
        </p:txBody>
      </p:sp>
      <p:sp>
        <p:nvSpPr>
          <p:cNvPr id="36" name="Text 34"/>
          <p:cNvSpPr/>
          <p:nvPr/>
        </p:nvSpPr>
        <p:spPr>
          <a:xfrm>
            <a:off x="1682496" y="3145536"/>
            <a:ext cx="1188720" cy="201168"/>
          </a:xfrm>
          <a:prstGeom prst="rect">
            <a:avLst/>
          </a:prstGeom>
          <a:noFill/>
        </p:spPr>
        <p:txBody>
          <a:bodyPr wrap="square" lIns="0" tIns="0" rIns="0" bIns="0" rtlCol="0" anchor="ctr"/>
          <a:lstStyle/>
          <a:p>
            <a:pPr marL="0" indent="0" algn="r">
              <a:buNone/>
            </a:pPr>
            <a:r>
              <a:rPr lang="en-US" sz="850" dirty="0">
                <a:solidFill>
                  <a:srgbClr val="000000"/>
                </a:solidFill>
                <a:latin typeface="Calibri" panose="020F0502020204030204" pitchFamily="34" charset="0"/>
                <a:ea typeface="Calibri" panose="020F0502020204030204" pitchFamily="34" charset="-122"/>
                <a:cs typeface="Calibri" panose="020F0502020204030204" pitchFamily="34" charset="-120"/>
              </a:rPr>
              <a:t>1986–2000s</a:t>
            </a:r>
            <a:endParaRPr lang="en-US" sz="850" dirty="0"/>
          </a:p>
        </p:txBody>
      </p:sp>
      <p:sp>
        <p:nvSpPr>
          <p:cNvPr id="37" name="Text 35"/>
          <p:cNvSpPr/>
          <p:nvPr/>
        </p:nvSpPr>
        <p:spPr>
          <a:xfrm>
            <a:off x="365760" y="3419856"/>
            <a:ext cx="4114800" cy="182880"/>
          </a:xfrm>
          <a:prstGeom prst="rect">
            <a:avLst/>
          </a:prstGeom>
          <a:noFill/>
        </p:spPr>
        <p:txBody>
          <a:bodyPr wrap="square" lIns="0" tIns="0" rIns="0" bIns="0" rtlCol="0" anchor="ctr"/>
          <a:lstStyle/>
          <a:p>
            <a:pPr marL="0" indent="0">
              <a:buNone/>
            </a:pPr>
            <a:r>
              <a:rPr lang="en-US" sz="850" b="1" dirty="0">
                <a:solidFill>
                  <a:srgbClr val="0A1628"/>
                </a:solidFill>
                <a:latin typeface="Trebuchet MS" panose="020B0603020202020204" pitchFamily="34" charset="0"/>
                <a:ea typeface="Trebuchet MS" panose="020B0603020202020204" pitchFamily="34" charset="-122"/>
                <a:cs typeface="Trebuchet MS" panose="020B0603020202020204" pitchFamily="34" charset="-120"/>
              </a:rPr>
              <a:t>Small Computer System Interface</a:t>
            </a:r>
            <a:endParaRPr lang="en-US" sz="850" dirty="0"/>
          </a:p>
        </p:txBody>
      </p:sp>
      <p:sp>
        <p:nvSpPr>
          <p:cNvPr id="38" name="Text 36"/>
          <p:cNvSpPr/>
          <p:nvPr/>
        </p:nvSpPr>
        <p:spPr>
          <a:xfrm>
            <a:off x="365760" y="3602736"/>
            <a:ext cx="4114800" cy="182880"/>
          </a:xfrm>
          <a:prstGeom prst="rect">
            <a:avLst/>
          </a:prstGeom>
          <a:noFill/>
        </p:spPr>
        <p:txBody>
          <a:bodyPr wrap="square" lIns="0" tIns="0" rIns="0" bIns="0" rtlCol="0" anchor="ctr"/>
          <a:lstStyle/>
          <a:p>
            <a:pPr marL="0" indent="0">
              <a:buNone/>
            </a:pPr>
            <a:r>
              <a:rPr lang="en-US" sz="850" dirty="0">
                <a:solidFill>
                  <a:srgbClr val="10B981"/>
                </a:solidFill>
                <a:latin typeface="Calibri" panose="020F0502020204030204" pitchFamily="34" charset="0"/>
                <a:ea typeface="Calibri" panose="020F0502020204030204" pitchFamily="34" charset="-122"/>
                <a:cs typeface="Calibri" panose="020F0502020204030204" pitchFamily="34" charset="-120"/>
              </a:rPr>
              <a:t>Speed: Ultra-320 SCSI: 320 MB/s</a:t>
            </a:r>
            <a:endParaRPr lang="en-US" sz="850" dirty="0"/>
          </a:p>
        </p:txBody>
      </p:sp>
      <p:sp>
        <p:nvSpPr>
          <p:cNvPr id="39" name="Text 37"/>
          <p:cNvSpPr/>
          <p:nvPr/>
        </p:nvSpPr>
        <p:spPr>
          <a:xfrm>
            <a:off x="365760" y="3785616"/>
            <a:ext cx="4114800" cy="182880"/>
          </a:xfrm>
          <a:prstGeom prst="rect">
            <a:avLst/>
          </a:prstGeom>
          <a:noFill/>
        </p:spPr>
        <p:txBody>
          <a:bodyPr wrap="square" lIns="0" tIns="0" rIns="0" bIns="0" rtlCol="0" anchor="ctr"/>
          <a:lstStyle/>
          <a:p>
            <a:pPr marL="0" indent="0">
              <a:buNone/>
            </a:pPr>
            <a:r>
              <a:rPr lang="en-US" sz="800" dirty="0">
                <a:solidFill>
                  <a:srgbClr val="1A2E4A"/>
                </a:solidFill>
                <a:latin typeface="Calibri" panose="020F0502020204030204" pitchFamily="34" charset="0"/>
                <a:ea typeface="Calibri" panose="020F0502020204030204" pitchFamily="34" charset="-122"/>
                <a:cs typeface="Calibri" panose="020F0502020204030204" pitchFamily="34" charset="-120"/>
              </a:rPr>
              <a:t>Connector: Various: 50-pin, 68-pin, 80-pin SCA</a:t>
            </a:r>
            <a:endParaRPr lang="en-US" sz="800" dirty="0"/>
          </a:p>
        </p:txBody>
      </p:sp>
      <p:sp>
        <p:nvSpPr>
          <p:cNvPr id="40" name="Text 38"/>
          <p:cNvSpPr/>
          <p:nvPr/>
        </p:nvSpPr>
        <p:spPr>
          <a:xfrm>
            <a:off x="365760" y="4005072"/>
            <a:ext cx="4114800" cy="804672"/>
          </a:xfrm>
          <a:prstGeom prst="rect">
            <a:avLst/>
          </a:prstGeom>
          <a:noFill/>
        </p:spPr>
        <p:txBody>
          <a:bodyPr wrap="square" lIns="0" tIns="0" rIns="0" bIns="0" rtlCol="0" anchor="ctr"/>
          <a:lstStyle/>
          <a:p>
            <a:pPr marL="0" indent="0">
              <a:buNone/>
            </a:pPr>
            <a:r>
              <a:rPr lang="en-US" sz="850" i="1" dirty="0">
                <a:solidFill>
                  <a:srgbClr val="5E7A9A"/>
                </a:solidFill>
                <a:latin typeface="Calibri" panose="020F0502020204030204" pitchFamily="34" charset="0"/>
                <a:ea typeface="Calibri" panose="020F0502020204030204" pitchFamily="34" charset="-122"/>
                <a:cs typeface="Calibri" panose="020F0502020204030204" pitchFamily="34" charset="-120"/>
              </a:rPr>
              <a:t>🔍 Multiple connector variants. Requires appropriate adapter. Check SCSI ID before connecting.</a:t>
            </a:r>
            <a:endParaRPr lang="en-US" sz="850" dirty="0"/>
          </a:p>
        </p:txBody>
      </p:sp>
      <p:sp>
        <p:nvSpPr>
          <p:cNvPr id="41" name="Shape 39"/>
          <p:cNvSpPr/>
          <p:nvPr/>
        </p:nvSpPr>
        <p:spPr>
          <a:xfrm>
            <a:off x="4828032" y="3072384"/>
            <a:ext cx="4059936" cy="1828800"/>
          </a:xfrm>
          <a:prstGeom prst="rect">
            <a:avLst/>
          </a:prstGeom>
          <a:solidFill>
            <a:srgbClr val="FFFFFF"/>
          </a:solidFill>
          <a:ln w="12700">
            <a:solidFill>
              <a:srgbClr val="8B5CF6"/>
            </a:solidFill>
            <a:prstDash val="solid"/>
          </a:ln>
          <a:effectLst>
            <a:outerShdw blurRad="101600" dist="38100" dir="8100000" algn="bl" rotWithShape="0">
              <a:srgbClr val="000000">
                <a:alpha val="18000"/>
              </a:srgbClr>
            </a:outerShdw>
          </a:effectLst>
        </p:spPr>
        <p:txBody>
          <a:bodyPr/>
          <a:lstStyle/>
          <a:p>
            <a:endParaRPr lang="en-SG"/>
          </a:p>
        </p:txBody>
      </p:sp>
      <p:sp>
        <p:nvSpPr>
          <p:cNvPr id="42" name="Shape 40"/>
          <p:cNvSpPr/>
          <p:nvPr/>
        </p:nvSpPr>
        <p:spPr>
          <a:xfrm>
            <a:off x="4828032" y="3072384"/>
            <a:ext cx="4059936" cy="310896"/>
          </a:xfrm>
          <a:prstGeom prst="rect">
            <a:avLst/>
          </a:prstGeom>
          <a:solidFill>
            <a:srgbClr val="8B5CF6"/>
          </a:solidFill>
          <a:ln w="12700">
            <a:solidFill>
              <a:srgbClr val="8B5CF6"/>
            </a:solidFill>
            <a:prstDash val="solid"/>
          </a:ln>
        </p:spPr>
        <p:txBody>
          <a:bodyPr/>
          <a:lstStyle/>
          <a:p>
            <a:endParaRPr lang="en-SG"/>
          </a:p>
        </p:txBody>
      </p:sp>
      <p:sp>
        <p:nvSpPr>
          <p:cNvPr id="43" name="Text 41"/>
          <p:cNvSpPr/>
          <p:nvPr/>
        </p:nvSpPr>
        <p:spPr>
          <a:xfrm>
            <a:off x="4937760" y="3108960"/>
            <a:ext cx="1280160" cy="237744"/>
          </a:xfrm>
          <a:prstGeom prst="rect">
            <a:avLst/>
          </a:prstGeom>
          <a:noFill/>
        </p:spPr>
        <p:txBody>
          <a:bodyPr wrap="square" lIns="0" tIns="0" rIns="0" bIns="0" rtlCol="0" anchor="ctr"/>
          <a:lstStyle/>
          <a:p>
            <a:pPr marL="0" indent="0">
              <a:buNone/>
            </a:pPr>
            <a:r>
              <a:rPr lang="en-US" sz="13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NVMe / PCIe</a:t>
            </a:r>
            <a:endParaRPr lang="en-US" sz="1300" dirty="0"/>
          </a:p>
        </p:txBody>
      </p:sp>
      <p:sp>
        <p:nvSpPr>
          <p:cNvPr id="44" name="Text 42"/>
          <p:cNvSpPr/>
          <p:nvPr/>
        </p:nvSpPr>
        <p:spPr>
          <a:xfrm>
            <a:off x="6254496" y="3145536"/>
            <a:ext cx="1188720" cy="201168"/>
          </a:xfrm>
          <a:prstGeom prst="rect">
            <a:avLst/>
          </a:prstGeom>
          <a:noFill/>
        </p:spPr>
        <p:txBody>
          <a:bodyPr wrap="square" lIns="0" tIns="0" rIns="0" bIns="0" rtlCol="0" anchor="ctr"/>
          <a:lstStyle/>
          <a:p>
            <a:pPr marL="0" indent="0" algn="r">
              <a:buNone/>
            </a:pPr>
            <a:r>
              <a:rPr lang="en-US" sz="850" dirty="0">
                <a:solidFill>
                  <a:srgbClr val="000000"/>
                </a:solidFill>
                <a:latin typeface="Calibri" panose="020F0502020204030204" pitchFamily="34" charset="0"/>
                <a:ea typeface="Calibri" panose="020F0502020204030204" pitchFamily="34" charset="-122"/>
                <a:cs typeface="Calibri" panose="020F0502020204030204" pitchFamily="34" charset="-120"/>
              </a:rPr>
              <a:t>2013–present</a:t>
            </a:r>
            <a:endParaRPr lang="en-US" sz="850" dirty="0"/>
          </a:p>
        </p:txBody>
      </p:sp>
      <p:sp>
        <p:nvSpPr>
          <p:cNvPr id="45" name="Text 43"/>
          <p:cNvSpPr/>
          <p:nvPr/>
        </p:nvSpPr>
        <p:spPr>
          <a:xfrm>
            <a:off x="4937760" y="3419856"/>
            <a:ext cx="3858768" cy="182880"/>
          </a:xfrm>
          <a:prstGeom prst="rect">
            <a:avLst/>
          </a:prstGeom>
          <a:noFill/>
        </p:spPr>
        <p:txBody>
          <a:bodyPr wrap="square" lIns="0" tIns="0" rIns="0" bIns="0" rtlCol="0" anchor="ctr"/>
          <a:lstStyle/>
          <a:p>
            <a:pPr marL="0" indent="0">
              <a:buNone/>
            </a:pPr>
            <a:r>
              <a:rPr lang="en-US" sz="850" b="1" dirty="0">
                <a:solidFill>
                  <a:srgbClr val="0A1628"/>
                </a:solidFill>
                <a:latin typeface="Trebuchet MS" panose="020B0603020202020204" pitchFamily="34" charset="0"/>
                <a:ea typeface="Trebuchet MS" panose="020B0603020202020204" pitchFamily="34" charset="-122"/>
                <a:cs typeface="Trebuchet MS" panose="020B0603020202020204" pitchFamily="34" charset="-120"/>
              </a:rPr>
              <a:t>Non-Volatile Memory Express</a:t>
            </a:r>
            <a:endParaRPr lang="en-US" sz="850" dirty="0"/>
          </a:p>
        </p:txBody>
      </p:sp>
      <p:sp>
        <p:nvSpPr>
          <p:cNvPr id="46" name="Text 44"/>
          <p:cNvSpPr/>
          <p:nvPr/>
        </p:nvSpPr>
        <p:spPr>
          <a:xfrm>
            <a:off x="4937760" y="3602736"/>
            <a:ext cx="3858768" cy="182880"/>
          </a:xfrm>
          <a:prstGeom prst="rect">
            <a:avLst/>
          </a:prstGeom>
          <a:noFill/>
        </p:spPr>
        <p:txBody>
          <a:bodyPr wrap="square" lIns="0" tIns="0" rIns="0" bIns="0" rtlCol="0" anchor="ctr"/>
          <a:lstStyle/>
          <a:p>
            <a:pPr marL="0" indent="0">
              <a:buNone/>
            </a:pPr>
            <a:r>
              <a:rPr lang="en-US" sz="850" dirty="0">
                <a:solidFill>
                  <a:srgbClr val="8B5CF6"/>
                </a:solidFill>
                <a:latin typeface="Calibri" panose="020F0502020204030204" pitchFamily="34" charset="0"/>
                <a:ea typeface="Calibri" panose="020F0502020204030204" pitchFamily="34" charset="-122"/>
                <a:cs typeface="Calibri" panose="020F0502020204030204" pitchFamily="34" charset="-120"/>
              </a:rPr>
              <a:t>Speed: PCIe 4.0 ×4: up to 7 GB/s</a:t>
            </a:r>
            <a:endParaRPr lang="en-US" sz="850" dirty="0"/>
          </a:p>
        </p:txBody>
      </p:sp>
      <p:sp>
        <p:nvSpPr>
          <p:cNvPr id="47" name="Text 45"/>
          <p:cNvSpPr/>
          <p:nvPr/>
        </p:nvSpPr>
        <p:spPr>
          <a:xfrm>
            <a:off x="4937760" y="3785616"/>
            <a:ext cx="3858768" cy="182880"/>
          </a:xfrm>
          <a:prstGeom prst="rect">
            <a:avLst/>
          </a:prstGeom>
          <a:noFill/>
        </p:spPr>
        <p:txBody>
          <a:bodyPr wrap="square" lIns="0" tIns="0" rIns="0" bIns="0" rtlCol="0" anchor="ctr"/>
          <a:lstStyle/>
          <a:p>
            <a:pPr marL="0" indent="0">
              <a:buNone/>
            </a:pPr>
            <a:r>
              <a:rPr lang="en-US" sz="800" dirty="0">
                <a:solidFill>
                  <a:srgbClr val="1A2E4A"/>
                </a:solidFill>
                <a:latin typeface="Calibri" panose="020F0502020204030204" pitchFamily="34" charset="0"/>
                <a:ea typeface="Calibri" panose="020F0502020204030204" pitchFamily="34" charset="-122"/>
                <a:cs typeface="Calibri" panose="020F0502020204030204" pitchFamily="34" charset="-120"/>
              </a:rPr>
              <a:t>Connector: M.2 (2280 most common) or PCIe add-in card</a:t>
            </a:r>
            <a:endParaRPr lang="en-US" sz="800" dirty="0"/>
          </a:p>
        </p:txBody>
      </p:sp>
      <p:sp>
        <p:nvSpPr>
          <p:cNvPr id="48" name="Text 46"/>
          <p:cNvSpPr/>
          <p:nvPr/>
        </p:nvSpPr>
        <p:spPr>
          <a:xfrm>
            <a:off x="4937760" y="4005072"/>
            <a:ext cx="3858768" cy="804672"/>
          </a:xfrm>
          <a:prstGeom prst="rect">
            <a:avLst/>
          </a:prstGeom>
          <a:noFill/>
        </p:spPr>
        <p:txBody>
          <a:bodyPr wrap="square" lIns="0" tIns="0" rIns="0" bIns="0" rtlCol="0" anchor="ctr"/>
          <a:lstStyle/>
          <a:p>
            <a:pPr marL="0" indent="0">
              <a:buNone/>
            </a:pPr>
            <a:r>
              <a:rPr lang="en-US" sz="850" i="1" dirty="0">
                <a:solidFill>
                  <a:srgbClr val="5E7A9A"/>
                </a:solidFill>
                <a:latin typeface="Calibri" panose="020F0502020204030204" pitchFamily="34" charset="0"/>
                <a:ea typeface="Calibri" panose="020F0502020204030204" pitchFamily="34" charset="-122"/>
                <a:cs typeface="Calibri" panose="020F0502020204030204" pitchFamily="34" charset="-120"/>
              </a:rPr>
              <a:t>🔍 Write-blocker support is newer — verify tool compatibility. May require M.2 to PCIe adapter for forensic workstation.</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011680"/>
          </a:xfrm>
          <a:prstGeom prst="rect">
            <a:avLst/>
          </a:prstGeom>
          <a:solidFill>
            <a:srgbClr val="6366F1"/>
          </a:solidFill>
          <a:ln w="12700">
            <a:solidFill>
              <a:srgbClr val="6366F1"/>
            </a:solidFill>
            <a:prstDash val="solid"/>
          </a:ln>
        </p:spPr>
        <p:txBody>
          <a:bodyPr/>
          <a:lstStyle/>
          <a:p>
            <a:endParaRPr lang="en-SG"/>
          </a:p>
        </p:txBody>
      </p:sp>
      <p:sp>
        <p:nvSpPr>
          <p:cNvPr id="3" name="Text 1"/>
          <p:cNvSpPr/>
          <p:nvPr/>
        </p:nvSpPr>
        <p:spPr>
          <a:xfrm>
            <a:off x="457200" y="164592"/>
            <a:ext cx="8229600" cy="384048"/>
          </a:xfrm>
          <a:prstGeom prst="rect">
            <a:avLst/>
          </a:prstGeom>
          <a:noFill/>
        </p:spPr>
        <p:txBody>
          <a:bodyPr wrap="square" lIns="0" tIns="0" rIns="0" bIns="0" rtlCol="0" anchor="ctr"/>
          <a:lstStyle/>
          <a:p>
            <a:pPr marL="0" indent="0">
              <a:buNone/>
            </a:pPr>
            <a:r>
              <a:rPr lang="en-US" sz="1400" b="1" kern="0" spc="400"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Week 3</a:t>
            </a:r>
            <a:endParaRPr lang="en-US" sz="1400" dirty="0"/>
          </a:p>
        </p:txBody>
      </p:sp>
      <p:sp>
        <p:nvSpPr>
          <p:cNvPr id="4" name="Text 2"/>
          <p:cNvSpPr/>
          <p:nvPr/>
        </p:nvSpPr>
        <p:spPr>
          <a:xfrm>
            <a:off x="457200" y="566928"/>
            <a:ext cx="8229600" cy="1280160"/>
          </a:xfrm>
          <a:prstGeom prst="rect">
            <a:avLst/>
          </a:prstGeom>
          <a:noFill/>
        </p:spPr>
        <p:txBody>
          <a:bodyPr wrap="square" lIns="0" tIns="0" rIns="0" bIns="0" rtlCol="0" anchor="ctr"/>
          <a:lstStyle/>
          <a:p>
            <a:pPr marL="0" indent="0">
              <a:buNone/>
            </a:pPr>
            <a:r>
              <a:rPr lang="en-US" sz="52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File Systems</a:t>
            </a:r>
            <a:endParaRPr lang="en-US" sz="5200" dirty="0"/>
          </a:p>
        </p:txBody>
      </p:sp>
      <p:sp>
        <p:nvSpPr>
          <p:cNvPr id="5" name="Text 3"/>
          <p:cNvSpPr/>
          <p:nvPr/>
        </p:nvSpPr>
        <p:spPr>
          <a:xfrm>
            <a:off x="457200" y="1737360"/>
            <a:ext cx="8229600" cy="347472"/>
          </a:xfrm>
          <a:prstGeom prst="rect">
            <a:avLst/>
          </a:prstGeom>
          <a:noFill/>
        </p:spPr>
        <p:txBody>
          <a:bodyPr wrap="square" lIns="0" tIns="0" rIns="0" bIns="0" rtlCol="0" anchor="ctr"/>
          <a:lstStyle/>
          <a:p>
            <a:pPr marL="0" indent="0">
              <a:buNone/>
            </a:pPr>
            <a:r>
              <a:rPr lang="en-US" sz="1400" kern="0" spc="200" dirty="0">
                <a:solidFill>
                  <a:srgbClr val="000000"/>
                </a:solidFill>
                <a:latin typeface="Calibri" panose="020F0502020204030204" pitchFamily="34" charset="0"/>
                <a:ea typeface="Calibri" panose="020F0502020204030204" pitchFamily="34" charset="-122"/>
                <a:cs typeface="Calibri" panose="020F0502020204030204" pitchFamily="34" charset="-120"/>
              </a:rPr>
              <a:t>FAT · NTFS · ReFS · EXT4 · APFS</a:t>
            </a:r>
            <a:endParaRPr lang="en-US" sz="1400" dirty="0"/>
          </a:p>
        </p:txBody>
      </p:sp>
      <p:sp>
        <p:nvSpPr>
          <p:cNvPr id="6" name="Shape 4"/>
          <p:cNvSpPr/>
          <p:nvPr/>
        </p:nvSpPr>
        <p:spPr>
          <a:xfrm>
            <a:off x="457200" y="2286000"/>
            <a:ext cx="1956816" cy="548640"/>
          </a:xfrm>
          <a:prstGeom prst="rect">
            <a:avLst/>
          </a:prstGeom>
          <a:solidFill>
            <a:srgbClr val="6366F1">
              <a:alpha val="80000"/>
            </a:srgbClr>
          </a:solidFill>
          <a:ln w="12700">
            <a:solidFill>
              <a:srgbClr val="6366F1"/>
            </a:solidFill>
            <a:prstDash val="solid"/>
          </a:ln>
        </p:spPr>
        <p:txBody>
          <a:bodyPr/>
          <a:lstStyle/>
          <a:p>
            <a:endParaRPr lang="en-SG"/>
          </a:p>
        </p:txBody>
      </p:sp>
      <p:sp>
        <p:nvSpPr>
          <p:cNvPr id="7" name="Text 5"/>
          <p:cNvSpPr/>
          <p:nvPr/>
        </p:nvSpPr>
        <p:spPr>
          <a:xfrm>
            <a:off x="457200" y="2286000"/>
            <a:ext cx="1956816" cy="548640"/>
          </a:xfrm>
          <a:prstGeom prst="rect">
            <a:avLst/>
          </a:prstGeom>
          <a:noFill/>
        </p:spPr>
        <p:txBody>
          <a:bodyPr wrap="square" lIns="0" tIns="0" rIns="0" bIns="0" rtlCol="0" anchor="ctr"/>
          <a:lstStyle/>
          <a:p>
            <a:pPr marL="0" indent="0" algn="ctr">
              <a:buNone/>
            </a:pPr>
            <a:r>
              <a:rPr lang="en-US" sz="12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01  Intro</a:t>
            </a:r>
            <a:endParaRPr lang="en-US" sz="1200" dirty="0"/>
          </a:p>
        </p:txBody>
      </p:sp>
      <p:sp>
        <p:nvSpPr>
          <p:cNvPr id="8" name="Shape 6"/>
          <p:cNvSpPr/>
          <p:nvPr/>
        </p:nvSpPr>
        <p:spPr>
          <a:xfrm>
            <a:off x="2633472" y="2286000"/>
            <a:ext cx="1956816" cy="548640"/>
          </a:xfrm>
          <a:prstGeom prst="rect">
            <a:avLst/>
          </a:prstGeom>
          <a:solidFill>
            <a:srgbClr val="F59E0B">
              <a:alpha val="80000"/>
            </a:srgbClr>
          </a:solidFill>
          <a:ln w="12700">
            <a:solidFill>
              <a:srgbClr val="F59E0B"/>
            </a:solidFill>
            <a:prstDash val="solid"/>
          </a:ln>
        </p:spPr>
        <p:txBody>
          <a:bodyPr/>
          <a:lstStyle/>
          <a:p>
            <a:endParaRPr lang="en-SG"/>
          </a:p>
        </p:txBody>
      </p:sp>
      <p:sp>
        <p:nvSpPr>
          <p:cNvPr id="9" name="Text 7"/>
          <p:cNvSpPr/>
          <p:nvPr/>
        </p:nvSpPr>
        <p:spPr>
          <a:xfrm>
            <a:off x="2633472" y="2286000"/>
            <a:ext cx="1956816" cy="548640"/>
          </a:xfrm>
          <a:prstGeom prst="rect">
            <a:avLst/>
          </a:prstGeom>
          <a:noFill/>
        </p:spPr>
        <p:txBody>
          <a:bodyPr wrap="square" lIns="0" tIns="0" rIns="0" bIns="0" rtlCol="0" anchor="ctr"/>
          <a:lstStyle/>
          <a:p>
            <a:pPr marL="0" indent="0" algn="ctr">
              <a:buNone/>
            </a:pPr>
            <a:r>
              <a:rPr lang="en-US" sz="12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02  FAT</a:t>
            </a:r>
            <a:endParaRPr lang="en-US" sz="1200" dirty="0"/>
          </a:p>
        </p:txBody>
      </p:sp>
      <p:sp>
        <p:nvSpPr>
          <p:cNvPr id="10" name="Shape 8"/>
          <p:cNvSpPr/>
          <p:nvPr/>
        </p:nvSpPr>
        <p:spPr>
          <a:xfrm>
            <a:off x="4809744" y="2286000"/>
            <a:ext cx="1956816" cy="548640"/>
          </a:xfrm>
          <a:prstGeom prst="rect">
            <a:avLst/>
          </a:prstGeom>
          <a:solidFill>
            <a:srgbClr val="0EA5E9">
              <a:alpha val="80000"/>
            </a:srgbClr>
          </a:solidFill>
          <a:ln w="12700">
            <a:solidFill>
              <a:srgbClr val="0EA5E9"/>
            </a:solidFill>
            <a:prstDash val="solid"/>
          </a:ln>
        </p:spPr>
        <p:txBody>
          <a:bodyPr/>
          <a:lstStyle/>
          <a:p>
            <a:endParaRPr lang="en-SG"/>
          </a:p>
        </p:txBody>
      </p:sp>
      <p:sp>
        <p:nvSpPr>
          <p:cNvPr id="11" name="Text 9"/>
          <p:cNvSpPr/>
          <p:nvPr/>
        </p:nvSpPr>
        <p:spPr>
          <a:xfrm>
            <a:off x="4809744" y="2286000"/>
            <a:ext cx="1956816" cy="548640"/>
          </a:xfrm>
          <a:prstGeom prst="rect">
            <a:avLst/>
          </a:prstGeom>
          <a:noFill/>
        </p:spPr>
        <p:txBody>
          <a:bodyPr wrap="square" lIns="0" tIns="0" rIns="0" bIns="0" rtlCol="0" anchor="ctr"/>
          <a:lstStyle/>
          <a:p>
            <a:pPr marL="0" indent="0" algn="ctr">
              <a:buNone/>
            </a:pPr>
            <a:r>
              <a:rPr lang="en-US" sz="12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03  NTFS</a:t>
            </a:r>
            <a:endParaRPr lang="en-US" sz="1200" dirty="0"/>
          </a:p>
        </p:txBody>
      </p:sp>
      <p:sp>
        <p:nvSpPr>
          <p:cNvPr id="12" name="Shape 10"/>
          <p:cNvSpPr/>
          <p:nvPr/>
        </p:nvSpPr>
        <p:spPr>
          <a:xfrm>
            <a:off x="6986016" y="2286000"/>
            <a:ext cx="1956816" cy="548640"/>
          </a:xfrm>
          <a:prstGeom prst="rect">
            <a:avLst/>
          </a:prstGeom>
          <a:solidFill>
            <a:srgbClr val="10B981">
              <a:alpha val="80000"/>
            </a:srgbClr>
          </a:solidFill>
          <a:ln w="12700">
            <a:solidFill>
              <a:srgbClr val="10B981"/>
            </a:solidFill>
            <a:prstDash val="solid"/>
          </a:ln>
        </p:spPr>
        <p:txBody>
          <a:bodyPr/>
          <a:lstStyle/>
          <a:p>
            <a:endParaRPr lang="en-SG"/>
          </a:p>
        </p:txBody>
      </p:sp>
      <p:sp>
        <p:nvSpPr>
          <p:cNvPr id="13" name="Text 11"/>
          <p:cNvSpPr/>
          <p:nvPr/>
        </p:nvSpPr>
        <p:spPr>
          <a:xfrm>
            <a:off x="6986016" y="2286000"/>
            <a:ext cx="1956816" cy="548640"/>
          </a:xfrm>
          <a:prstGeom prst="rect">
            <a:avLst/>
          </a:prstGeom>
          <a:noFill/>
        </p:spPr>
        <p:txBody>
          <a:bodyPr wrap="square" lIns="0" tIns="0" rIns="0" bIns="0" rtlCol="0" anchor="ctr"/>
          <a:lstStyle/>
          <a:p>
            <a:pPr marL="0" indent="0" algn="ctr">
              <a:buNone/>
            </a:pPr>
            <a:r>
              <a:rPr lang="en-US" sz="12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04  Other FS</a:t>
            </a:r>
            <a:endParaRPr lang="en-US" sz="1200" dirty="0"/>
          </a:p>
        </p:txBody>
      </p:sp>
      <p:sp>
        <p:nvSpPr>
          <p:cNvPr id="14" name="Text 12"/>
          <p:cNvSpPr/>
          <p:nvPr/>
        </p:nvSpPr>
        <p:spPr>
          <a:xfrm>
            <a:off x="457200" y="3017520"/>
            <a:ext cx="8229600" cy="274320"/>
          </a:xfrm>
          <a:prstGeom prst="rect">
            <a:avLst/>
          </a:prstGeom>
          <a:noFill/>
        </p:spPr>
        <p:txBody>
          <a:bodyPr wrap="square" lIns="0" tIns="0" rIns="0" bIns="0" rtlCol="0" anchor="ctr"/>
          <a:lstStyle/>
          <a:p>
            <a:pPr marL="0" indent="0">
              <a:buNone/>
            </a:pPr>
            <a:r>
              <a:rPr lang="en-US" sz="1300" dirty="0">
                <a:solidFill>
                  <a:srgbClr val="1A1A2E"/>
                </a:solidFill>
                <a:latin typeface="Calibri" panose="020F0502020204030204" pitchFamily="34" charset="0"/>
                <a:ea typeface="Calibri" panose="020F0502020204030204" pitchFamily="34" charset="-122"/>
                <a:cs typeface="Calibri" panose="020F0502020204030204" pitchFamily="34" charset="-120"/>
              </a:rPr>
              <a:t>Digital Forensics</a:t>
            </a:r>
            <a:endParaRPr lang="en-US" sz="1300" dirty="0"/>
          </a:p>
        </p:txBody>
      </p:sp>
      <p:sp>
        <p:nvSpPr>
          <p:cNvPr id="15" name="Text 13"/>
          <p:cNvSpPr/>
          <p:nvPr/>
        </p:nvSpPr>
        <p:spPr>
          <a:xfrm>
            <a:off x="457200" y="3401568"/>
            <a:ext cx="8229600" cy="256032"/>
          </a:xfrm>
          <a:prstGeom prst="rect">
            <a:avLst/>
          </a:prstGeom>
          <a:noFill/>
        </p:spPr>
        <p:txBody>
          <a:bodyPr wrap="square" lIns="0" tIns="0" rIns="0" bIns="0" rtlCol="0" anchor="ctr"/>
          <a:lstStyle/>
          <a:p>
            <a:pPr marL="0" indent="0">
              <a:buNone/>
            </a:pPr>
            <a:r>
              <a:rPr lang="en-US" sz="11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Learning objectives covered in this lecture:</a:t>
            </a:r>
            <a:endParaRPr lang="en-US" sz="1100" dirty="0"/>
          </a:p>
        </p:txBody>
      </p:sp>
      <p:sp>
        <p:nvSpPr>
          <p:cNvPr id="16" name="Shape 14"/>
          <p:cNvSpPr/>
          <p:nvPr/>
        </p:nvSpPr>
        <p:spPr>
          <a:xfrm>
            <a:off x="457200" y="3712464"/>
            <a:ext cx="128016" cy="128016"/>
          </a:xfrm>
          <a:prstGeom prst="line">
            <a:avLst/>
          </a:prstGeom>
          <a:solidFill>
            <a:srgbClr val="6366F1"/>
          </a:solidFill>
          <a:ln w="12700">
            <a:solidFill>
              <a:srgbClr val="6366F1"/>
            </a:solidFill>
            <a:prstDash val="solid"/>
          </a:ln>
        </p:spPr>
        <p:txBody>
          <a:bodyPr/>
          <a:lstStyle/>
          <a:p>
            <a:endParaRPr lang="en-SG"/>
          </a:p>
        </p:txBody>
      </p:sp>
      <p:sp>
        <p:nvSpPr>
          <p:cNvPr id="17" name="Text 15"/>
          <p:cNvSpPr/>
          <p:nvPr/>
        </p:nvSpPr>
        <p:spPr>
          <a:xfrm>
            <a:off x="658368" y="3694176"/>
            <a:ext cx="8028432" cy="256032"/>
          </a:xfrm>
          <a:prstGeom prst="rect">
            <a:avLst/>
          </a:prstGeom>
          <a:noFill/>
        </p:spPr>
        <p:txBody>
          <a:bodyPr wrap="square" rtlCol="0" anchor="ctr"/>
          <a:lstStyle/>
          <a:p>
            <a:pPr marL="0" indent="0">
              <a:buNone/>
            </a:pPr>
            <a:r>
              <a:rPr lang="en-US" sz="1000" dirty="0">
                <a:solidFill>
                  <a:srgbClr val="1A1A2E"/>
                </a:solidFill>
                <a:latin typeface="Calibri" panose="020F0502020204030204" pitchFamily="34" charset="0"/>
                <a:ea typeface="Calibri" panose="020F0502020204030204" pitchFamily="34" charset="-122"/>
                <a:cs typeface="Calibri" panose="020F0502020204030204" pitchFamily="34" charset="-120"/>
              </a:rPr>
              <a:t>Understand what file systems are and why they matter in forensic investigations</a:t>
            </a:r>
            <a:endParaRPr lang="en-US" sz="1000" dirty="0"/>
          </a:p>
        </p:txBody>
      </p:sp>
      <p:sp>
        <p:nvSpPr>
          <p:cNvPr id="18" name="Shape 16"/>
          <p:cNvSpPr/>
          <p:nvPr/>
        </p:nvSpPr>
        <p:spPr>
          <a:xfrm>
            <a:off x="457200" y="4023360"/>
            <a:ext cx="128016" cy="128016"/>
          </a:xfrm>
          <a:prstGeom prst="line">
            <a:avLst/>
          </a:prstGeom>
          <a:solidFill>
            <a:srgbClr val="6366F1"/>
          </a:solidFill>
          <a:ln w="12700">
            <a:solidFill>
              <a:srgbClr val="6366F1"/>
            </a:solidFill>
            <a:prstDash val="solid"/>
          </a:ln>
        </p:spPr>
        <p:txBody>
          <a:bodyPr/>
          <a:lstStyle/>
          <a:p>
            <a:endParaRPr lang="en-SG"/>
          </a:p>
        </p:txBody>
      </p:sp>
      <p:sp>
        <p:nvSpPr>
          <p:cNvPr id="19" name="Text 17"/>
          <p:cNvSpPr/>
          <p:nvPr/>
        </p:nvSpPr>
        <p:spPr>
          <a:xfrm>
            <a:off x="658368" y="4005072"/>
            <a:ext cx="8028432" cy="256032"/>
          </a:xfrm>
          <a:prstGeom prst="rect">
            <a:avLst/>
          </a:prstGeom>
          <a:noFill/>
        </p:spPr>
        <p:txBody>
          <a:bodyPr wrap="square" rtlCol="0" anchor="ctr"/>
          <a:lstStyle/>
          <a:p>
            <a:pPr marL="0" indent="0">
              <a:buNone/>
            </a:pPr>
            <a:r>
              <a:rPr lang="en-US" sz="1000" dirty="0">
                <a:solidFill>
                  <a:srgbClr val="1A1A2E"/>
                </a:solidFill>
                <a:latin typeface="Calibri" panose="020F0502020204030204" pitchFamily="34" charset="0"/>
                <a:ea typeface="Calibri" panose="020F0502020204030204" pitchFamily="34" charset="-122"/>
                <a:cs typeface="Calibri" panose="020F0502020204030204" pitchFamily="34" charset="-120"/>
              </a:rPr>
              <a:t>Identify FAT32 structures: boot sector, directory entries, cluster chains, and deleted file recovery</a:t>
            </a:r>
            <a:endParaRPr lang="en-US" sz="1000" dirty="0"/>
          </a:p>
        </p:txBody>
      </p:sp>
      <p:sp>
        <p:nvSpPr>
          <p:cNvPr id="20" name="Shape 18"/>
          <p:cNvSpPr/>
          <p:nvPr/>
        </p:nvSpPr>
        <p:spPr>
          <a:xfrm>
            <a:off x="457200" y="4334256"/>
            <a:ext cx="128016" cy="128016"/>
          </a:xfrm>
          <a:prstGeom prst="line">
            <a:avLst/>
          </a:prstGeom>
          <a:solidFill>
            <a:srgbClr val="6366F1"/>
          </a:solidFill>
          <a:ln w="12700">
            <a:solidFill>
              <a:srgbClr val="6366F1"/>
            </a:solidFill>
            <a:prstDash val="solid"/>
          </a:ln>
        </p:spPr>
        <p:txBody>
          <a:bodyPr/>
          <a:lstStyle/>
          <a:p>
            <a:endParaRPr lang="en-SG"/>
          </a:p>
        </p:txBody>
      </p:sp>
      <p:sp>
        <p:nvSpPr>
          <p:cNvPr id="21" name="Text 19"/>
          <p:cNvSpPr/>
          <p:nvPr/>
        </p:nvSpPr>
        <p:spPr>
          <a:xfrm>
            <a:off x="658368" y="4315968"/>
            <a:ext cx="8028432" cy="256032"/>
          </a:xfrm>
          <a:prstGeom prst="rect">
            <a:avLst/>
          </a:prstGeom>
          <a:noFill/>
        </p:spPr>
        <p:txBody>
          <a:bodyPr wrap="square" rtlCol="0" anchor="ctr"/>
          <a:lstStyle/>
          <a:p>
            <a:pPr marL="0" indent="0">
              <a:buNone/>
            </a:pPr>
            <a:r>
              <a:rPr lang="en-US" sz="1000" dirty="0">
                <a:solidFill>
                  <a:srgbClr val="1A1A2E"/>
                </a:solidFill>
                <a:latin typeface="Calibri" panose="020F0502020204030204" pitchFamily="34" charset="0"/>
                <a:ea typeface="Calibri" panose="020F0502020204030204" pitchFamily="34" charset="-122"/>
                <a:cs typeface="Calibri" panose="020F0502020204030204" pitchFamily="34" charset="-120"/>
              </a:rPr>
              <a:t>Interpret NTFS structures: MFT records, system files, and volume boot records</a:t>
            </a:r>
            <a:endParaRPr lang="en-US" sz="1000" dirty="0"/>
          </a:p>
        </p:txBody>
      </p:sp>
      <p:sp>
        <p:nvSpPr>
          <p:cNvPr id="22" name="Shape 20"/>
          <p:cNvSpPr/>
          <p:nvPr/>
        </p:nvSpPr>
        <p:spPr>
          <a:xfrm>
            <a:off x="457200" y="4645152"/>
            <a:ext cx="128016" cy="128016"/>
          </a:xfrm>
          <a:prstGeom prst="line">
            <a:avLst/>
          </a:prstGeom>
          <a:solidFill>
            <a:srgbClr val="6366F1"/>
          </a:solidFill>
          <a:ln w="12700">
            <a:solidFill>
              <a:srgbClr val="6366F1"/>
            </a:solidFill>
            <a:prstDash val="solid"/>
          </a:ln>
        </p:spPr>
        <p:txBody>
          <a:bodyPr/>
          <a:lstStyle/>
          <a:p>
            <a:endParaRPr lang="en-SG"/>
          </a:p>
        </p:txBody>
      </p:sp>
      <p:sp>
        <p:nvSpPr>
          <p:cNvPr id="23" name="Text 21"/>
          <p:cNvSpPr/>
          <p:nvPr/>
        </p:nvSpPr>
        <p:spPr>
          <a:xfrm>
            <a:off x="658368" y="4626864"/>
            <a:ext cx="8028432" cy="256032"/>
          </a:xfrm>
          <a:prstGeom prst="rect">
            <a:avLst/>
          </a:prstGeom>
          <a:noFill/>
        </p:spPr>
        <p:txBody>
          <a:bodyPr wrap="square" rtlCol="0" anchor="ctr"/>
          <a:lstStyle/>
          <a:p>
            <a:pPr marL="0" indent="0">
              <a:buNone/>
            </a:pPr>
            <a:r>
              <a:rPr lang="en-US" sz="1000" dirty="0">
                <a:solidFill>
                  <a:srgbClr val="1A1A2E"/>
                </a:solidFill>
                <a:latin typeface="Calibri" panose="020F0502020204030204" pitchFamily="34" charset="0"/>
                <a:ea typeface="Calibri" panose="020F0502020204030204" pitchFamily="34" charset="-122"/>
                <a:cs typeface="Calibri" panose="020F0502020204030204" pitchFamily="34" charset="-120"/>
              </a:rPr>
              <a:t>Recognise the characteristics of ReFS, EXT4, and APFS file systems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389120" cy="5143500"/>
          </a:xfrm>
          <a:prstGeom prst="rect">
            <a:avLst/>
          </a:prstGeom>
          <a:solidFill>
            <a:srgbClr val="6366F1"/>
          </a:solidFill>
          <a:ln w="12700">
            <a:solidFill>
              <a:srgbClr val="6366F1"/>
            </a:solidFill>
            <a:prstDash val="solid"/>
          </a:ln>
        </p:spPr>
        <p:txBody>
          <a:bodyPr/>
          <a:lstStyle/>
          <a:p>
            <a:endParaRPr lang="en-SG"/>
          </a:p>
        </p:txBody>
      </p:sp>
      <p:sp>
        <p:nvSpPr>
          <p:cNvPr id="3" name="Text 1"/>
          <p:cNvSpPr/>
          <p:nvPr/>
        </p:nvSpPr>
        <p:spPr>
          <a:xfrm>
            <a:off x="91440" y="182880"/>
            <a:ext cx="4206240" cy="2926080"/>
          </a:xfrm>
          <a:prstGeom prst="rect">
            <a:avLst/>
          </a:prstGeom>
          <a:noFill/>
        </p:spPr>
        <p:txBody>
          <a:bodyPr wrap="square" lIns="0" tIns="0" rIns="0" bIns="0" rtlCol="0" anchor="ctr"/>
          <a:lstStyle/>
          <a:p>
            <a:pPr marL="0" indent="0" algn="ctr">
              <a:buNone/>
            </a:pPr>
            <a:r>
              <a:rPr lang="en-US" sz="12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01</a:t>
            </a:r>
            <a:endParaRPr lang="en-US" sz="12800" dirty="0"/>
          </a:p>
        </p:txBody>
      </p:sp>
      <p:sp>
        <p:nvSpPr>
          <p:cNvPr id="4" name="Shape 2"/>
          <p:cNvSpPr/>
          <p:nvPr/>
        </p:nvSpPr>
        <p:spPr>
          <a:xfrm>
            <a:off x="256032" y="3108960"/>
            <a:ext cx="3877056" cy="347472"/>
          </a:xfrm>
          <a:prstGeom prst="rect">
            <a:avLst/>
          </a:prstGeom>
          <a:solidFill>
            <a:srgbClr val="FFFFFF">
              <a:alpha val="80000"/>
            </a:srgbClr>
          </a:solidFill>
          <a:ln w="12700">
            <a:solidFill>
              <a:srgbClr val="FFFFFF">
                <a:alpha val="50000"/>
              </a:srgbClr>
            </a:solidFill>
            <a:prstDash val="solid"/>
          </a:ln>
        </p:spPr>
        <p:txBody>
          <a:bodyPr/>
          <a:lstStyle/>
          <a:p>
            <a:endParaRPr lang="en-SG"/>
          </a:p>
        </p:txBody>
      </p:sp>
      <p:sp>
        <p:nvSpPr>
          <p:cNvPr id="5" name="Text 3"/>
          <p:cNvSpPr/>
          <p:nvPr/>
        </p:nvSpPr>
        <p:spPr>
          <a:xfrm>
            <a:off x="256032" y="3108960"/>
            <a:ext cx="3877056" cy="347472"/>
          </a:xfrm>
          <a:prstGeom prst="rect">
            <a:avLst/>
          </a:prstGeom>
          <a:noFill/>
        </p:spPr>
        <p:txBody>
          <a:bodyPr wrap="square" lIns="0" tIns="0" rIns="0" bIns="0" rtlCol="0" anchor="ctr"/>
          <a:lstStyle/>
          <a:p>
            <a:pPr marL="0" indent="0" algn="ctr">
              <a:buNone/>
            </a:pPr>
            <a:r>
              <a:rPr lang="en-US" sz="1000" b="1" kern="0" spc="300"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SECTION 01</a:t>
            </a:r>
            <a:endParaRPr lang="en-US" sz="1000" dirty="0"/>
          </a:p>
        </p:txBody>
      </p:sp>
      <p:sp>
        <p:nvSpPr>
          <p:cNvPr id="6" name="Text 4"/>
          <p:cNvSpPr/>
          <p:nvPr/>
        </p:nvSpPr>
        <p:spPr>
          <a:xfrm>
            <a:off x="256032" y="3529584"/>
            <a:ext cx="3877056" cy="402336"/>
          </a:xfrm>
          <a:prstGeom prst="rect">
            <a:avLst/>
          </a:prstGeom>
          <a:noFill/>
        </p:spPr>
        <p:txBody>
          <a:bodyPr wrap="square" lIns="0" tIns="0" rIns="0" bIns="0" rtlCol="0" anchor="ctr"/>
          <a:lstStyle/>
          <a:p>
            <a:pPr marL="0" indent="0" algn="ctr">
              <a:buNone/>
            </a:pPr>
            <a:r>
              <a:rPr lang="en-US" sz="20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Introduction to File Systems</a:t>
            </a:r>
            <a:endParaRPr lang="en-US" sz="2000" dirty="0"/>
          </a:p>
        </p:txBody>
      </p:sp>
      <p:sp>
        <p:nvSpPr>
          <p:cNvPr id="7" name="Text 5"/>
          <p:cNvSpPr/>
          <p:nvPr/>
        </p:nvSpPr>
        <p:spPr>
          <a:xfrm>
            <a:off x="256032" y="3986784"/>
            <a:ext cx="3877056" cy="512064"/>
          </a:xfrm>
          <a:prstGeom prst="rect">
            <a:avLst/>
          </a:prstGeom>
          <a:noFill/>
        </p:spPr>
        <p:txBody>
          <a:bodyPr wrap="square" lIns="0" tIns="0" rIns="0" bIns="0" rtlCol="0" anchor="ctr"/>
          <a:lstStyle/>
          <a:p>
            <a:pPr marL="0" indent="0" algn="ctr">
              <a:buNone/>
            </a:pPr>
            <a:r>
              <a:rPr lang="en-US" sz="1100" i="1" dirty="0">
                <a:solidFill>
                  <a:srgbClr val="1A1A2E"/>
                </a:solidFill>
                <a:latin typeface="Calibri" panose="020F0502020204030204" pitchFamily="34" charset="0"/>
                <a:ea typeface="Calibri" panose="020F0502020204030204" pitchFamily="34" charset="-122"/>
                <a:cs typeface="Calibri" panose="020F0502020204030204" pitchFamily="34" charset="-120"/>
              </a:rPr>
              <a:t>What are file systems and why do they matter to digital forensics?</a:t>
            </a:r>
            <a:endParaRPr lang="en-US" sz="1100" dirty="0"/>
          </a:p>
        </p:txBody>
      </p:sp>
      <p:sp>
        <p:nvSpPr>
          <p:cNvPr id="8" name="Text 6"/>
          <p:cNvSpPr/>
          <p:nvPr/>
        </p:nvSpPr>
        <p:spPr>
          <a:xfrm>
            <a:off x="4754880" y="457200"/>
            <a:ext cx="4114800" cy="292608"/>
          </a:xfrm>
          <a:prstGeom prst="rect">
            <a:avLst/>
          </a:prstGeom>
          <a:noFill/>
        </p:spPr>
        <p:txBody>
          <a:bodyPr wrap="square" rtlCol="0" anchor="ctr"/>
          <a:lstStyle/>
          <a:p>
            <a:pPr marL="0" indent="0">
              <a:buNone/>
            </a:pPr>
            <a:r>
              <a:rPr lang="en-US" sz="13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In this section:</a:t>
            </a:r>
            <a:endParaRPr lang="en-US" sz="1300" dirty="0"/>
          </a:p>
        </p:txBody>
      </p:sp>
      <p:sp>
        <p:nvSpPr>
          <p:cNvPr id="9" name="Shape 7"/>
          <p:cNvSpPr/>
          <p:nvPr/>
        </p:nvSpPr>
        <p:spPr>
          <a:xfrm>
            <a:off x="4754880" y="877824"/>
            <a:ext cx="4114800" cy="566928"/>
          </a:xfrm>
          <a:prstGeom prst="rect">
            <a:avLst/>
          </a:prstGeom>
          <a:noFill/>
          <a:ln w="12700">
            <a:solidFill>
              <a:srgbClr val="FFFFFF">
                <a:alpha val="20000"/>
              </a:srgbClr>
            </a:solidFill>
            <a:prstDash val="solid"/>
          </a:ln>
        </p:spPr>
        <p:txBody>
          <a:bodyPr/>
          <a:lstStyle/>
          <a:p>
            <a:endParaRPr lang="en-SG"/>
          </a:p>
        </p:txBody>
      </p:sp>
      <p:sp>
        <p:nvSpPr>
          <p:cNvPr id="10" name="Shape 8"/>
          <p:cNvSpPr/>
          <p:nvPr/>
        </p:nvSpPr>
        <p:spPr>
          <a:xfrm>
            <a:off x="4864608" y="950976"/>
            <a:ext cx="347472" cy="347472"/>
          </a:xfrm>
          <a:prstGeom prst="line">
            <a:avLst/>
          </a:prstGeom>
          <a:solidFill>
            <a:srgbClr val="6366F1"/>
          </a:solidFill>
          <a:ln w="12700">
            <a:solidFill>
              <a:srgbClr val="6366F1"/>
            </a:solidFill>
            <a:prstDash val="solid"/>
          </a:ln>
        </p:spPr>
        <p:txBody>
          <a:bodyPr/>
          <a:lstStyle/>
          <a:p>
            <a:endParaRPr lang="en-SG"/>
          </a:p>
        </p:txBody>
      </p:sp>
      <p:sp>
        <p:nvSpPr>
          <p:cNvPr id="11" name="Text 9"/>
          <p:cNvSpPr/>
          <p:nvPr/>
        </p:nvSpPr>
        <p:spPr>
          <a:xfrm>
            <a:off x="4864608" y="987552"/>
            <a:ext cx="347472" cy="237744"/>
          </a:xfrm>
          <a:prstGeom prst="rect">
            <a:avLst/>
          </a:prstGeom>
          <a:noFill/>
        </p:spPr>
        <p:txBody>
          <a:bodyPr wrap="square" lIns="0" tIns="0" rIns="0" bIns="0" rtlCol="0" anchor="ctr"/>
          <a:lstStyle/>
          <a:p>
            <a:pPr marL="0" indent="0" algn="ctr">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1</a:t>
            </a:r>
            <a:endParaRPr lang="en-US" sz="1000" dirty="0"/>
          </a:p>
        </p:txBody>
      </p:sp>
      <p:sp>
        <p:nvSpPr>
          <p:cNvPr id="12" name="Text 10"/>
          <p:cNvSpPr/>
          <p:nvPr/>
        </p:nvSpPr>
        <p:spPr>
          <a:xfrm>
            <a:off x="5266944" y="950976"/>
            <a:ext cx="3529584" cy="365760"/>
          </a:xfrm>
          <a:prstGeom prst="rect">
            <a:avLst/>
          </a:prstGeom>
          <a:noFill/>
        </p:spPr>
        <p:txBody>
          <a:bodyPr wrap="square" rtlCol="0" anchor="ctr"/>
          <a:lstStyle/>
          <a:p>
            <a:pPr marL="0" indent="0">
              <a:buNone/>
            </a:pPr>
            <a:r>
              <a:rPr lang="en-US" sz="1150" dirty="0">
                <a:solidFill>
                  <a:srgbClr val="1A1A2E"/>
                </a:solidFill>
                <a:latin typeface="Calibri" panose="020F0502020204030204" pitchFamily="34" charset="0"/>
                <a:ea typeface="Calibri" panose="020F0502020204030204" pitchFamily="34" charset="-122"/>
                <a:cs typeface="Calibri" panose="020F0502020204030204" pitchFamily="34" charset="-120"/>
              </a:rPr>
              <a:t>Definition and purpose of file systems</a:t>
            </a:r>
            <a:endParaRPr lang="en-US" sz="1150" dirty="0"/>
          </a:p>
        </p:txBody>
      </p:sp>
      <p:sp>
        <p:nvSpPr>
          <p:cNvPr id="13" name="Shape 11"/>
          <p:cNvSpPr/>
          <p:nvPr/>
        </p:nvSpPr>
        <p:spPr>
          <a:xfrm>
            <a:off x="4754880" y="1536192"/>
            <a:ext cx="4114800" cy="566928"/>
          </a:xfrm>
          <a:prstGeom prst="rect">
            <a:avLst/>
          </a:prstGeom>
          <a:noFill/>
          <a:ln w="12700">
            <a:solidFill>
              <a:srgbClr val="FFFFFF">
                <a:alpha val="20000"/>
              </a:srgbClr>
            </a:solidFill>
            <a:prstDash val="solid"/>
          </a:ln>
        </p:spPr>
        <p:txBody>
          <a:bodyPr/>
          <a:lstStyle/>
          <a:p>
            <a:endParaRPr lang="en-SG"/>
          </a:p>
        </p:txBody>
      </p:sp>
      <p:sp>
        <p:nvSpPr>
          <p:cNvPr id="14" name="Shape 12"/>
          <p:cNvSpPr/>
          <p:nvPr/>
        </p:nvSpPr>
        <p:spPr>
          <a:xfrm>
            <a:off x="4864608" y="1609344"/>
            <a:ext cx="347472" cy="347472"/>
          </a:xfrm>
          <a:prstGeom prst="line">
            <a:avLst/>
          </a:prstGeom>
          <a:solidFill>
            <a:srgbClr val="6366F1"/>
          </a:solidFill>
          <a:ln w="12700">
            <a:solidFill>
              <a:srgbClr val="6366F1"/>
            </a:solidFill>
            <a:prstDash val="solid"/>
          </a:ln>
        </p:spPr>
        <p:txBody>
          <a:bodyPr/>
          <a:lstStyle/>
          <a:p>
            <a:endParaRPr lang="en-SG"/>
          </a:p>
        </p:txBody>
      </p:sp>
      <p:sp>
        <p:nvSpPr>
          <p:cNvPr id="15" name="Text 13"/>
          <p:cNvSpPr/>
          <p:nvPr/>
        </p:nvSpPr>
        <p:spPr>
          <a:xfrm>
            <a:off x="4864608" y="1645920"/>
            <a:ext cx="347472" cy="237744"/>
          </a:xfrm>
          <a:prstGeom prst="rect">
            <a:avLst/>
          </a:prstGeom>
          <a:noFill/>
        </p:spPr>
        <p:txBody>
          <a:bodyPr wrap="square" lIns="0" tIns="0" rIns="0" bIns="0" rtlCol="0" anchor="ctr"/>
          <a:lstStyle/>
          <a:p>
            <a:pPr marL="0" indent="0" algn="ctr">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2</a:t>
            </a:r>
            <a:endParaRPr lang="en-US" sz="1000" dirty="0"/>
          </a:p>
        </p:txBody>
      </p:sp>
      <p:sp>
        <p:nvSpPr>
          <p:cNvPr id="16" name="Text 14"/>
          <p:cNvSpPr/>
          <p:nvPr/>
        </p:nvSpPr>
        <p:spPr>
          <a:xfrm>
            <a:off x="5266944" y="1609344"/>
            <a:ext cx="3529584" cy="365760"/>
          </a:xfrm>
          <a:prstGeom prst="rect">
            <a:avLst/>
          </a:prstGeom>
          <a:noFill/>
        </p:spPr>
        <p:txBody>
          <a:bodyPr wrap="square" rtlCol="0" anchor="ctr"/>
          <a:lstStyle/>
          <a:p>
            <a:pPr marL="0" indent="0">
              <a:buNone/>
            </a:pPr>
            <a:r>
              <a:rPr lang="en-US" sz="1150" dirty="0">
                <a:solidFill>
                  <a:srgbClr val="1A1A2E"/>
                </a:solidFill>
                <a:latin typeface="Calibri" panose="020F0502020204030204" pitchFamily="34" charset="0"/>
                <a:ea typeface="Calibri" panose="020F0502020204030204" pitchFamily="34" charset="-122"/>
                <a:cs typeface="Calibri" panose="020F0502020204030204" pitchFamily="34" charset="-120"/>
              </a:rPr>
              <a:t>Main components: Content, Name, Metadata</a:t>
            </a:r>
            <a:endParaRPr lang="en-US" sz="1150" dirty="0"/>
          </a:p>
        </p:txBody>
      </p:sp>
      <p:sp>
        <p:nvSpPr>
          <p:cNvPr id="17" name="Shape 15"/>
          <p:cNvSpPr/>
          <p:nvPr/>
        </p:nvSpPr>
        <p:spPr>
          <a:xfrm>
            <a:off x="4754880" y="2194560"/>
            <a:ext cx="4114800" cy="566928"/>
          </a:xfrm>
          <a:prstGeom prst="rect">
            <a:avLst/>
          </a:prstGeom>
          <a:noFill/>
          <a:ln w="12700">
            <a:solidFill>
              <a:srgbClr val="FFFFFF">
                <a:alpha val="20000"/>
              </a:srgbClr>
            </a:solidFill>
            <a:prstDash val="solid"/>
          </a:ln>
        </p:spPr>
        <p:txBody>
          <a:bodyPr/>
          <a:lstStyle/>
          <a:p>
            <a:endParaRPr lang="en-SG"/>
          </a:p>
        </p:txBody>
      </p:sp>
      <p:sp>
        <p:nvSpPr>
          <p:cNvPr id="18" name="Shape 16"/>
          <p:cNvSpPr/>
          <p:nvPr/>
        </p:nvSpPr>
        <p:spPr>
          <a:xfrm>
            <a:off x="4864608" y="2267712"/>
            <a:ext cx="347472" cy="347472"/>
          </a:xfrm>
          <a:prstGeom prst="line">
            <a:avLst/>
          </a:prstGeom>
          <a:solidFill>
            <a:srgbClr val="6366F1"/>
          </a:solidFill>
          <a:ln w="12700">
            <a:solidFill>
              <a:srgbClr val="6366F1"/>
            </a:solidFill>
            <a:prstDash val="solid"/>
          </a:ln>
        </p:spPr>
        <p:txBody>
          <a:bodyPr/>
          <a:lstStyle/>
          <a:p>
            <a:endParaRPr lang="en-SG"/>
          </a:p>
        </p:txBody>
      </p:sp>
      <p:sp>
        <p:nvSpPr>
          <p:cNvPr id="19" name="Text 17"/>
          <p:cNvSpPr/>
          <p:nvPr/>
        </p:nvSpPr>
        <p:spPr>
          <a:xfrm>
            <a:off x="4864608" y="2304288"/>
            <a:ext cx="347472" cy="237744"/>
          </a:xfrm>
          <a:prstGeom prst="rect">
            <a:avLst/>
          </a:prstGeom>
          <a:noFill/>
        </p:spPr>
        <p:txBody>
          <a:bodyPr wrap="square" lIns="0" tIns="0" rIns="0" bIns="0" rtlCol="0" anchor="ctr"/>
          <a:lstStyle/>
          <a:p>
            <a:pPr marL="0" indent="0" algn="ctr">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3</a:t>
            </a:r>
            <a:endParaRPr lang="en-US" sz="1000" dirty="0"/>
          </a:p>
        </p:txBody>
      </p:sp>
      <p:sp>
        <p:nvSpPr>
          <p:cNvPr id="20" name="Text 18"/>
          <p:cNvSpPr/>
          <p:nvPr/>
        </p:nvSpPr>
        <p:spPr>
          <a:xfrm>
            <a:off x="5266944" y="2267712"/>
            <a:ext cx="3529584" cy="365760"/>
          </a:xfrm>
          <a:prstGeom prst="rect">
            <a:avLst/>
          </a:prstGeom>
          <a:noFill/>
        </p:spPr>
        <p:txBody>
          <a:bodyPr wrap="square" rtlCol="0" anchor="ctr"/>
          <a:lstStyle/>
          <a:p>
            <a:pPr marL="0" indent="0">
              <a:buNone/>
            </a:pPr>
            <a:r>
              <a:rPr lang="en-US" sz="1150" dirty="0">
                <a:solidFill>
                  <a:srgbClr val="1A1A2E"/>
                </a:solidFill>
                <a:latin typeface="Calibri" panose="020F0502020204030204" pitchFamily="34" charset="0"/>
                <a:ea typeface="Calibri" panose="020F0502020204030204" pitchFamily="34" charset="-122"/>
                <a:cs typeface="Calibri" panose="020F0502020204030204" pitchFamily="34" charset="-120"/>
              </a:rPr>
              <a:t>MACB Timestamps refresher</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6366F1"/>
          </a:solidFill>
          <a:ln w="12700">
            <a:solidFill>
              <a:srgbClr val="6366F1"/>
            </a:solidFill>
            <a:prstDash val="solid"/>
          </a:ln>
        </p:spPr>
        <p:txBody>
          <a:bodyPr/>
          <a:lstStyle/>
          <a:p>
            <a:endParaRPr lang="en-SG"/>
          </a:p>
        </p:txBody>
      </p:sp>
      <p:sp>
        <p:nvSpPr>
          <p:cNvPr id="3" name="Text 1"/>
          <p:cNvSpPr/>
          <p:nvPr/>
        </p:nvSpPr>
        <p:spPr>
          <a:xfrm>
            <a:off x="329184" y="201168"/>
            <a:ext cx="8631936" cy="548640"/>
          </a:xfrm>
          <a:prstGeom prst="rect">
            <a:avLst/>
          </a:prstGeom>
          <a:noFill/>
        </p:spPr>
        <p:txBody>
          <a:bodyPr wrap="square" lIns="0" tIns="0" rIns="0" bIns="0" rtlCol="0" anchor="ctr"/>
          <a:lstStyle/>
          <a:p>
            <a:pPr marL="0" indent="0">
              <a:buNone/>
            </a:pPr>
            <a:r>
              <a:rPr lang="en-US" sz="1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What is a File System?</a:t>
            </a:r>
            <a:endParaRPr lang="en-US" sz="1800" dirty="0"/>
          </a:p>
        </p:txBody>
      </p:sp>
      <p:sp>
        <p:nvSpPr>
          <p:cNvPr id="4" name="Shape 2"/>
          <p:cNvSpPr/>
          <p:nvPr/>
        </p:nvSpPr>
        <p:spPr>
          <a:xfrm>
            <a:off x="256032" y="73152"/>
            <a:ext cx="1463040" cy="219456"/>
          </a:xfrm>
          <a:prstGeom prst="rect">
            <a:avLst/>
          </a:prstGeom>
          <a:solidFill>
            <a:srgbClr val="6366F1"/>
          </a:solidFill>
          <a:ln w="12700">
            <a:solidFill>
              <a:srgbClr val="6366F1"/>
            </a:solidFill>
            <a:prstDash val="solid"/>
          </a:ln>
        </p:spPr>
        <p:txBody>
          <a:bodyPr/>
          <a:lstStyle/>
          <a:p>
            <a:endParaRPr lang="en-SG"/>
          </a:p>
        </p:txBody>
      </p:sp>
      <p:sp>
        <p:nvSpPr>
          <p:cNvPr id="5" name="Text 3"/>
          <p:cNvSpPr/>
          <p:nvPr/>
        </p:nvSpPr>
        <p:spPr>
          <a:xfrm>
            <a:off x="256032" y="73152"/>
            <a:ext cx="1463040" cy="219456"/>
          </a:xfrm>
          <a:prstGeom prst="rect">
            <a:avLst/>
          </a:prstGeom>
          <a:noFill/>
        </p:spPr>
        <p:txBody>
          <a:bodyPr wrap="square" lIns="0" tIns="0" rIns="0" bIns="0" rtlCol="0" anchor="ctr"/>
          <a:lstStyle/>
          <a:p>
            <a:pPr marL="0" indent="0" algn="ctr">
              <a:buNone/>
            </a:pPr>
            <a:r>
              <a:rPr lang="en-US" sz="800" b="1" kern="0" spc="100"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SECTION 01 — INTRO</a:t>
            </a:r>
            <a:endParaRPr lang="en-US" sz="800" dirty="0"/>
          </a:p>
        </p:txBody>
      </p:sp>
      <p:sp>
        <p:nvSpPr>
          <p:cNvPr id="10" name="Shape 8"/>
          <p:cNvSpPr/>
          <p:nvPr/>
        </p:nvSpPr>
        <p:spPr>
          <a:xfrm>
            <a:off x="256032" y="822960"/>
            <a:ext cx="8631936" cy="530352"/>
          </a:xfrm>
          <a:prstGeom prst="rect">
            <a:avLst/>
          </a:prstGeom>
          <a:solidFill>
            <a:srgbClr val="6366F1">
              <a:alpha val="90000"/>
            </a:srgbClr>
          </a:solidFill>
          <a:ln w="12700">
            <a:solidFill>
              <a:srgbClr val="6366F1"/>
            </a:solidFill>
            <a:prstDash val="solid"/>
          </a:ln>
        </p:spPr>
        <p:txBody>
          <a:bodyPr/>
          <a:lstStyle/>
          <a:p>
            <a:endParaRPr lang="en-SG"/>
          </a:p>
        </p:txBody>
      </p:sp>
      <p:sp>
        <p:nvSpPr>
          <p:cNvPr id="11" name="Text 9"/>
          <p:cNvSpPr/>
          <p:nvPr/>
        </p:nvSpPr>
        <p:spPr>
          <a:xfrm>
            <a:off x="402336" y="859536"/>
            <a:ext cx="8339328" cy="457200"/>
          </a:xfrm>
          <a:prstGeom prst="rect">
            <a:avLst/>
          </a:prstGeom>
          <a:noFill/>
        </p:spPr>
        <p:txBody>
          <a:bodyPr wrap="square" lIns="0" tIns="0" rIns="0" bIns="0" rtlCol="0" anchor="ctr"/>
          <a:lstStyle/>
          <a:p>
            <a:pPr marL="0" indent="0">
              <a:buNone/>
            </a:pPr>
            <a:r>
              <a:rPr lang="en-US" sz="11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A file system is the method and data structure an operating system uses to organise, store, retrieve, and manage data on a storage device.</a:t>
            </a:r>
            <a:endParaRPr lang="en-US" sz="1100" dirty="0"/>
          </a:p>
        </p:txBody>
      </p:sp>
      <p:sp>
        <p:nvSpPr>
          <p:cNvPr id="12" name="Shape 10"/>
          <p:cNvSpPr/>
          <p:nvPr/>
        </p:nvSpPr>
        <p:spPr>
          <a:xfrm>
            <a:off x="256032" y="1444752"/>
            <a:ext cx="2761488" cy="2706624"/>
          </a:xfrm>
          <a:prstGeom prst="rect">
            <a:avLst/>
          </a:prstGeom>
          <a:solidFill>
            <a:srgbClr val="EEF6FB"/>
          </a:solidFill>
          <a:ln w="12700">
            <a:solidFill>
              <a:srgbClr val="6366F1"/>
            </a:solidFill>
            <a:prstDash val="solid"/>
          </a:ln>
          <a:effectLst>
            <a:outerShdw blurRad="127000" dist="38100" dir="8100000" algn="bl" rotWithShape="0">
              <a:srgbClr val="000000">
                <a:alpha val="22000"/>
              </a:srgbClr>
            </a:outerShdw>
          </a:effectLst>
        </p:spPr>
        <p:txBody>
          <a:bodyPr/>
          <a:lstStyle/>
          <a:p>
            <a:endParaRPr lang="en-SG"/>
          </a:p>
        </p:txBody>
      </p:sp>
      <p:sp>
        <p:nvSpPr>
          <p:cNvPr id="13" name="Shape 11"/>
          <p:cNvSpPr/>
          <p:nvPr/>
        </p:nvSpPr>
        <p:spPr>
          <a:xfrm>
            <a:off x="256032" y="1444752"/>
            <a:ext cx="2761488" cy="310896"/>
          </a:xfrm>
          <a:prstGeom prst="rect">
            <a:avLst/>
          </a:prstGeom>
          <a:solidFill>
            <a:srgbClr val="6366F1"/>
          </a:solidFill>
          <a:ln w="12700">
            <a:solidFill>
              <a:srgbClr val="6366F1"/>
            </a:solidFill>
            <a:prstDash val="solid"/>
          </a:ln>
        </p:spPr>
        <p:txBody>
          <a:bodyPr/>
          <a:lstStyle/>
          <a:p>
            <a:endParaRPr lang="en-SG"/>
          </a:p>
        </p:txBody>
      </p:sp>
      <p:sp>
        <p:nvSpPr>
          <p:cNvPr id="14" name="Text 12"/>
          <p:cNvSpPr/>
          <p:nvPr/>
        </p:nvSpPr>
        <p:spPr>
          <a:xfrm>
            <a:off x="365760" y="1490472"/>
            <a:ext cx="2578608" cy="237744"/>
          </a:xfrm>
          <a:prstGeom prst="rect">
            <a:avLst/>
          </a:prstGeom>
          <a:noFill/>
        </p:spPr>
        <p:txBody>
          <a:bodyPr wrap="square" lIns="0" tIns="0" rIns="0" bIns="0" rtlCol="0" anchor="ctr"/>
          <a:lstStyle/>
          <a:p>
            <a:pPr marL="0" indent="0">
              <a:buNone/>
            </a:pPr>
            <a:r>
              <a:rPr lang="en-US" sz="11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What is it?</a:t>
            </a:r>
            <a:endParaRPr lang="en-US" sz="1150" dirty="0"/>
          </a:p>
        </p:txBody>
      </p:sp>
      <p:sp>
        <p:nvSpPr>
          <p:cNvPr id="15" name="Shape 13"/>
          <p:cNvSpPr/>
          <p:nvPr/>
        </p:nvSpPr>
        <p:spPr>
          <a:xfrm>
            <a:off x="365760" y="1883664"/>
            <a:ext cx="128016" cy="128016"/>
          </a:xfrm>
          <a:prstGeom prst="line">
            <a:avLst/>
          </a:prstGeom>
          <a:solidFill>
            <a:srgbClr val="6366F1"/>
          </a:solidFill>
          <a:ln w="12700">
            <a:solidFill>
              <a:srgbClr val="6366F1"/>
            </a:solidFill>
            <a:prstDash val="solid"/>
          </a:ln>
        </p:spPr>
        <p:txBody>
          <a:bodyPr/>
          <a:lstStyle/>
          <a:p>
            <a:endParaRPr lang="en-SG"/>
          </a:p>
        </p:txBody>
      </p:sp>
      <p:sp>
        <p:nvSpPr>
          <p:cNvPr id="16" name="Text 14"/>
          <p:cNvSpPr/>
          <p:nvPr/>
        </p:nvSpPr>
        <p:spPr>
          <a:xfrm>
            <a:off x="548640" y="1847088"/>
            <a:ext cx="2377440" cy="475488"/>
          </a:xfrm>
          <a:prstGeom prst="rect">
            <a:avLst/>
          </a:prstGeom>
          <a:noFill/>
        </p:spPr>
        <p:txBody>
          <a:bodyPr wrap="square" rtlCol="0" anchor="ctr"/>
          <a:lstStyle/>
          <a:p>
            <a:pPr marL="0" indent="0">
              <a:buNone/>
            </a:pPr>
            <a:r>
              <a:rPr lang="en-US" sz="950" dirty="0">
                <a:solidFill>
                  <a:srgbClr val="1A1A2E"/>
                </a:solidFill>
                <a:latin typeface="Calibri" panose="020F0502020204030204" pitchFamily="34" charset="0"/>
                <a:ea typeface="Calibri" panose="020F0502020204030204" pitchFamily="34" charset="-122"/>
                <a:cs typeface="Calibri" panose="020F0502020204030204" pitchFamily="34" charset="-120"/>
              </a:rPr>
              <a:t>Rules and structures for organising data on disk</a:t>
            </a:r>
            <a:endParaRPr lang="en-US" sz="950" dirty="0"/>
          </a:p>
        </p:txBody>
      </p:sp>
      <p:sp>
        <p:nvSpPr>
          <p:cNvPr id="17" name="Shape 15"/>
          <p:cNvSpPr/>
          <p:nvPr/>
        </p:nvSpPr>
        <p:spPr>
          <a:xfrm>
            <a:off x="365760" y="2432304"/>
            <a:ext cx="128016" cy="128016"/>
          </a:xfrm>
          <a:prstGeom prst="line">
            <a:avLst/>
          </a:prstGeom>
          <a:solidFill>
            <a:srgbClr val="6366F1"/>
          </a:solidFill>
          <a:ln w="12700">
            <a:solidFill>
              <a:srgbClr val="6366F1"/>
            </a:solidFill>
            <a:prstDash val="solid"/>
          </a:ln>
        </p:spPr>
        <p:txBody>
          <a:bodyPr/>
          <a:lstStyle/>
          <a:p>
            <a:endParaRPr lang="en-SG"/>
          </a:p>
        </p:txBody>
      </p:sp>
      <p:sp>
        <p:nvSpPr>
          <p:cNvPr id="18" name="Text 16"/>
          <p:cNvSpPr/>
          <p:nvPr/>
        </p:nvSpPr>
        <p:spPr>
          <a:xfrm>
            <a:off x="548640" y="2395728"/>
            <a:ext cx="2377440" cy="475488"/>
          </a:xfrm>
          <a:prstGeom prst="rect">
            <a:avLst/>
          </a:prstGeom>
          <a:noFill/>
        </p:spPr>
        <p:txBody>
          <a:bodyPr wrap="square" rtlCol="0" anchor="ctr"/>
          <a:lstStyle/>
          <a:p>
            <a:pPr marL="0" indent="0">
              <a:buNone/>
            </a:pPr>
            <a:r>
              <a:rPr lang="en-US" sz="950" dirty="0">
                <a:solidFill>
                  <a:srgbClr val="1A1A2E"/>
                </a:solidFill>
                <a:latin typeface="Calibri" panose="020F0502020204030204" pitchFamily="34" charset="0"/>
                <a:ea typeface="Calibri" panose="020F0502020204030204" pitchFamily="34" charset="-122"/>
                <a:cs typeface="Calibri" panose="020F0502020204030204" pitchFamily="34" charset="-120"/>
              </a:rPr>
              <a:t>Manages how files are named, stored, and retrieved</a:t>
            </a:r>
            <a:endParaRPr lang="en-US" sz="950" dirty="0"/>
          </a:p>
        </p:txBody>
      </p:sp>
      <p:sp>
        <p:nvSpPr>
          <p:cNvPr id="19" name="Shape 17"/>
          <p:cNvSpPr/>
          <p:nvPr/>
        </p:nvSpPr>
        <p:spPr>
          <a:xfrm>
            <a:off x="365760" y="2980944"/>
            <a:ext cx="128016" cy="128016"/>
          </a:xfrm>
          <a:prstGeom prst="line">
            <a:avLst/>
          </a:prstGeom>
          <a:solidFill>
            <a:srgbClr val="6366F1"/>
          </a:solidFill>
          <a:ln w="12700">
            <a:solidFill>
              <a:srgbClr val="6366F1"/>
            </a:solidFill>
            <a:prstDash val="solid"/>
          </a:ln>
        </p:spPr>
        <p:txBody>
          <a:bodyPr/>
          <a:lstStyle/>
          <a:p>
            <a:endParaRPr lang="en-SG"/>
          </a:p>
        </p:txBody>
      </p:sp>
      <p:sp>
        <p:nvSpPr>
          <p:cNvPr id="20" name="Text 18"/>
          <p:cNvSpPr/>
          <p:nvPr/>
        </p:nvSpPr>
        <p:spPr>
          <a:xfrm>
            <a:off x="548640" y="2944368"/>
            <a:ext cx="2377440" cy="475488"/>
          </a:xfrm>
          <a:prstGeom prst="rect">
            <a:avLst/>
          </a:prstGeom>
          <a:noFill/>
        </p:spPr>
        <p:txBody>
          <a:bodyPr wrap="square" rtlCol="0" anchor="ctr"/>
          <a:lstStyle/>
          <a:p>
            <a:pPr marL="0" indent="0">
              <a:buNone/>
            </a:pPr>
            <a:r>
              <a:rPr lang="en-US" sz="950" dirty="0">
                <a:solidFill>
                  <a:srgbClr val="1A1A2E"/>
                </a:solidFill>
                <a:latin typeface="Calibri" panose="020F0502020204030204" pitchFamily="34" charset="0"/>
                <a:ea typeface="Calibri" panose="020F0502020204030204" pitchFamily="34" charset="-122"/>
                <a:cs typeface="Calibri" panose="020F0502020204030204" pitchFamily="34" charset="-120"/>
              </a:rPr>
              <a:t>Controls how space is allocated and tracked</a:t>
            </a:r>
            <a:endParaRPr lang="en-US" sz="950" dirty="0"/>
          </a:p>
        </p:txBody>
      </p:sp>
      <p:sp>
        <p:nvSpPr>
          <p:cNvPr id="21" name="Shape 19"/>
          <p:cNvSpPr/>
          <p:nvPr/>
        </p:nvSpPr>
        <p:spPr>
          <a:xfrm>
            <a:off x="365760" y="3529584"/>
            <a:ext cx="128016" cy="128016"/>
          </a:xfrm>
          <a:prstGeom prst="line">
            <a:avLst/>
          </a:prstGeom>
          <a:solidFill>
            <a:srgbClr val="6366F1"/>
          </a:solidFill>
          <a:ln w="12700">
            <a:solidFill>
              <a:srgbClr val="6366F1"/>
            </a:solidFill>
            <a:prstDash val="solid"/>
          </a:ln>
        </p:spPr>
        <p:txBody>
          <a:bodyPr/>
          <a:lstStyle/>
          <a:p>
            <a:endParaRPr lang="en-SG"/>
          </a:p>
        </p:txBody>
      </p:sp>
      <p:sp>
        <p:nvSpPr>
          <p:cNvPr id="22" name="Text 20"/>
          <p:cNvSpPr/>
          <p:nvPr/>
        </p:nvSpPr>
        <p:spPr>
          <a:xfrm>
            <a:off x="548640" y="3493008"/>
            <a:ext cx="2377440" cy="475488"/>
          </a:xfrm>
          <a:prstGeom prst="rect">
            <a:avLst/>
          </a:prstGeom>
          <a:noFill/>
        </p:spPr>
        <p:txBody>
          <a:bodyPr wrap="square" rtlCol="0" anchor="ctr"/>
          <a:lstStyle/>
          <a:p>
            <a:pPr marL="0" indent="0">
              <a:buNone/>
            </a:pPr>
            <a:r>
              <a:rPr lang="en-US" sz="950" dirty="0">
                <a:solidFill>
                  <a:srgbClr val="1A1A2E"/>
                </a:solidFill>
                <a:latin typeface="Calibri" panose="020F0502020204030204" pitchFamily="34" charset="0"/>
                <a:ea typeface="Calibri" panose="020F0502020204030204" pitchFamily="34" charset="-122"/>
                <a:cs typeface="Calibri" panose="020F0502020204030204" pitchFamily="34" charset="-120"/>
              </a:rPr>
              <a:t>Acts as the 'table of contents' of a storage device</a:t>
            </a:r>
            <a:endParaRPr lang="en-US" sz="950" dirty="0"/>
          </a:p>
        </p:txBody>
      </p:sp>
      <p:sp>
        <p:nvSpPr>
          <p:cNvPr id="23" name="Shape 21"/>
          <p:cNvSpPr/>
          <p:nvPr/>
        </p:nvSpPr>
        <p:spPr>
          <a:xfrm>
            <a:off x="3182112" y="1444752"/>
            <a:ext cx="2761488" cy="2706624"/>
          </a:xfrm>
          <a:prstGeom prst="rect">
            <a:avLst/>
          </a:prstGeom>
          <a:solidFill>
            <a:srgbClr val="EEF6FB"/>
          </a:solidFill>
          <a:ln w="12700">
            <a:solidFill>
              <a:srgbClr val="F59E0B"/>
            </a:solidFill>
            <a:prstDash val="solid"/>
          </a:ln>
          <a:effectLst>
            <a:outerShdw blurRad="127000" dist="38100" dir="8100000" algn="bl" rotWithShape="0">
              <a:srgbClr val="000000">
                <a:alpha val="22000"/>
              </a:srgbClr>
            </a:outerShdw>
          </a:effectLst>
        </p:spPr>
        <p:txBody>
          <a:bodyPr/>
          <a:lstStyle/>
          <a:p>
            <a:endParaRPr lang="en-SG"/>
          </a:p>
        </p:txBody>
      </p:sp>
      <p:sp>
        <p:nvSpPr>
          <p:cNvPr id="24" name="Shape 22"/>
          <p:cNvSpPr/>
          <p:nvPr/>
        </p:nvSpPr>
        <p:spPr>
          <a:xfrm>
            <a:off x="3182112" y="1444752"/>
            <a:ext cx="2761488" cy="310896"/>
          </a:xfrm>
          <a:prstGeom prst="rect">
            <a:avLst/>
          </a:prstGeom>
          <a:solidFill>
            <a:srgbClr val="F59E0B"/>
          </a:solidFill>
          <a:ln w="12700">
            <a:solidFill>
              <a:srgbClr val="F59E0B"/>
            </a:solidFill>
            <a:prstDash val="solid"/>
          </a:ln>
        </p:spPr>
        <p:txBody>
          <a:bodyPr/>
          <a:lstStyle/>
          <a:p>
            <a:endParaRPr lang="en-SG"/>
          </a:p>
        </p:txBody>
      </p:sp>
      <p:sp>
        <p:nvSpPr>
          <p:cNvPr id="25" name="Text 23"/>
          <p:cNvSpPr/>
          <p:nvPr/>
        </p:nvSpPr>
        <p:spPr>
          <a:xfrm>
            <a:off x="3291840" y="1490472"/>
            <a:ext cx="2578608" cy="237744"/>
          </a:xfrm>
          <a:prstGeom prst="rect">
            <a:avLst/>
          </a:prstGeom>
          <a:noFill/>
        </p:spPr>
        <p:txBody>
          <a:bodyPr wrap="square" lIns="0" tIns="0" rIns="0" bIns="0" rtlCol="0" anchor="ctr"/>
          <a:lstStyle/>
          <a:p>
            <a:pPr marL="0" indent="0">
              <a:buNone/>
            </a:pPr>
            <a:r>
              <a:rPr lang="en-US" sz="11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Why does it exist?</a:t>
            </a:r>
            <a:endParaRPr lang="en-US" sz="1150" dirty="0"/>
          </a:p>
        </p:txBody>
      </p:sp>
      <p:sp>
        <p:nvSpPr>
          <p:cNvPr id="26" name="Shape 24"/>
          <p:cNvSpPr/>
          <p:nvPr/>
        </p:nvSpPr>
        <p:spPr>
          <a:xfrm>
            <a:off x="3291840" y="1883664"/>
            <a:ext cx="128016" cy="128016"/>
          </a:xfrm>
          <a:prstGeom prst="line">
            <a:avLst/>
          </a:prstGeom>
          <a:solidFill>
            <a:srgbClr val="F59E0B"/>
          </a:solidFill>
          <a:ln w="12700">
            <a:solidFill>
              <a:srgbClr val="F59E0B"/>
            </a:solidFill>
            <a:prstDash val="solid"/>
          </a:ln>
        </p:spPr>
        <p:txBody>
          <a:bodyPr/>
          <a:lstStyle/>
          <a:p>
            <a:endParaRPr lang="en-SG"/>
          </a:p>
        </p:txBody>
      </p:sp>
      <p:sp>
        <p:nvSpPr>
          <p:cNvPr id="27" name="Text 25"/>
          <p:cNvSpPr/>
          <p:nvPr/>
        </p:nvSpPr>
        <p:spPr>
          <a:xfrm>
            <a:off x="3474720" y="1847088"/>
            <a:ext cx="2377440" cy="475488"/>
          </a:xfrm>
          <a:prstGeom prst="rect">
            <a:avLst/>
          </a:prstGeom>
          <a:noFill/>
        </p:spPr>
        <p:txBody>
          <a:bodyPr wrap="square" rtlCol="0" anchor="ctr"/>
          <a:lstStyle/>
          <a:p>
            <a:pPr marL="0" indent="0">
              <a:buNone/>
            </a:pPr>
            <a:r>
              <a:rPr lang="en-US" sz="950" dirty="0">
                <a:solidFill>
                  <a:srgbClr val="1A1A2E"/>
                </a:solidFill>
                <a:latin typeface="Calibri" panose="020F0502020204030204" pitchFamily="34" charset="0"/>
                <a:ea typeface="Calibri" panose="020F0502020204030204" pitchFamily="34" charset="-122"/>
                <a:cs typeface="Calibri" panose="020F0502020204030204" pitchFamily="34" charset="-120"/>
              </a:rPr>
              <a:t>Without a file system, disk data is a stream of raw bytes</a:t>
            </a:r>
            <a:endParaRPr lang="en-US" sz="950" dirty="0"/>
          </a:p>
        </p:txBody>
      </p:sp>
      <p:sp>
        <p:nvSpPr>
          <p:cNvPr id="28" name="Shape 26"/>
          <p:cNvSpPr/>
          <p:nvPr/>
        </p:nvSpPr>
        <p:spPr>
          <a:xfrm>
            <a:off x="3291840" y="2432304"/>
            <a:ext cx="128016" cy="128016"/>
          </a:xfrm>
          <a:prstGeom prst="line">
            <a:avLst/>
          </a:prstGeom>
          <a:solidFill>
            <a:srgbClr val="F59E0B"/>
          </a:solidFill>
          <a:ln w="12700">
            <a:solidFill>
              <a:srgbClr val="F59E0B"/>
            </a:solidFill>
            <a:prstDash val="solid"/>
          </a:ln>
        </p:spPr>
        <p:txBody>
          <a:bodyPr/>
          <a:lstStyle/>
          <a:p>
            <a:endParaRPr lang="en-SG"/>
          </a:p>
        </p:txBody>
      </p:sp>
      <p:sp>
        <p:nvSpPr>
          <p:cNvPr id="29" name="Text 27"/>
          <p:cNvSpPr/>
          <p:nvPr/>
        </p:nvSpPr>
        <p:spPr>
          <a:xfrm>
            <a:off x="3474720" y="2395728"/>
            <a:ext cx="2377440" cy="475488"/>
          </a:xfrm>
          <a:prstGeom prst="rect">
            <a:avLst/>
          </a:prstGeom>
          <a:noFill/>
        </p:spPr>
        <p:txBody>
          <a:bodyPr wrap="square" rtlCol="0" anchor="ctr"/>
          <a:lstStyle/>
          <a:p>
            <a:pPr marL="0" indent="0">
              <a:buNone/>
            </a:pPr>
            <a:r>
              <a:rPr lang="en-US" sz="950" dirty="0">
                <a:solidFill>
                  <a:srgbClr val="1A1A2E"/>
                </a:solidFill>
                <a:latin typeface="Calibri" panose="020F0502020204030204" pitchFamily="34" charset="0"/>
                <a:ea typeface="Calibri" panose="020F0502020204030204" pitchFamily="34" charset="-122"/>
                <a:cs typeface="Calibri" panose="020F0502020204030204" pitchFamily="34" charset="-120"/>
              </a:rPr>
              <a:t>Provides structure: folders, filenames, permissions</a:t>
            </a:r>
            <a:endParaRPr lang="en-US" sz="950" dirty="0"/>
          </a:p>
        </p:txBody>
      </p:sp>
      <p:sp>
        <p:nvSpPr>
          <p:cNvPr id="30" name="Shape 28"/>
          <p:cNvSpPr/>
          <p:nvPr/>
        </p:nvSpPr>
        <p:spPr>
          <a:xfrm>
            <a:off x="3291840" y="2980944"/>
            <a:ext cx="128016" cy="128016"/>
          </a:xfrm>
          <a:prstGeom prst="line">
            <a:avLst/>
          </a:prstGeom>
          <a:solidFill>
            <a:srgbClr val="F59E0B"/>
          </a:solidFill>
          <a:ln w="12700">
            <a:solidFill>
              <a:srgbClr val="F59E0B"/>
            </a:solidFill>
            <a:prstDash val="solid"/>
          </a:ln>
        </p:spPr>
        <p:txBody>
          <a:bodyPr/>
          <a:lstStyle/>
          <a:p>
            <a:endParaRPr lang="en-SG"/>
          </a:p>
        </p:txBody>
      </p:sp>
      <p:sp>
        <p:nvSpPr>
          <p:cNvPr id="31" name="Text 29"/>
          <p:cNvSpPr/>
          <p:nvPr/>
        </p:nvSpPr>
        <p:spPr>
          <a:xfrm>
            <a:off x="3474720" y="2944368"/>
            <a:ext cx="2377440" cy="475488"/>
          </a:xfrm>
          <a:prstGeom prst="rect">
            <a:avLst/>
          </a:prstGeom>
          <a:noFill/>
        </p:spPr>
        <p:txBody>
          <a:bodyPr wrap="square" rtlCol="0" anchor="ctr"/>
          <a:lstStyle/>
          <a:p>
            <a:pPr marL="0" indent="0">
              <a:buNone/>
            </a:pPr>
            <a:r>
              <a:rPr lang="en-US" sz="950" dirty="0">
                <a:solidFill>
                  <a:srgbClr val="1A1A2E"/>
                </a:solidFill>
                <a:latin typeface="Calibri" panose="020F0502020204030204" pitchFamily="34" charset="0"/>
                <a:ea typeface="Calibri" panose="020F0502020204030204" pitchFamily="34" charset="-122"/>
                <a:cs typeface="Calibri" panose="020F0502020204030204" pitchFamily="34" charset="-120"/>
              </a:rPr>
              <a:t>Handles fragmentation and free-space management</a:t>
            </a:r>
            <a:endParaRPr lang="en-US" sz="950" dirty="0"/>
          </a:p>
        </p:txBody>
      </p:sp>
      <p:sp>
        <p:nvSpPr>
          <p:cNvPr id="32" name="Shape 30"/>
          <p:cNvSpPr/>
          <p:nvPr/>
        </p:nvSpPr>
        <p:spPr>
          <a:xfrm>
            <a:off x="3291840" y="3529584"/>
            <a:ext cx="128016" cy="128016"/>
          </a:xfrm>
          <a:prstGeom prst="line">
            <a:avLst/>
          </a:prstGeom>
          <a:solidFill>
            <a:srgbClr val="F59E0B"/>
          </a:solidFill>
          <a:ln w="12700">
            <a:solidFill>
              <a:srgbClr val="F59E0B"/>
            </a:solidFill>
            <a:prstDash val="solid"/>
          </a:ln>
        </p:spPr>
        <p:txBody>
          <a:bodyPr/>
          <a:lstStyle/>
          <a:p>
            <a:endParaRPr lang="en-SG"/>
          </a:p>
        </p:txBody>
      </p:sp>
      <p:sp>
        <p:nvSpPr>
          <p:cNvPr id="33" name="Text 31"/>
          <p:cNvSpPr/>
          <p:nvPr/>
        </p:nvSpPr>
        <p:spPr>
          <a:xfrm>
            <a:off x="3474720" y="3493008"/>
            <a:ext cx="2377440" cy="475488"/>
          </a:xfrm>
          <a:prstGeom prst="rect">
            <a:avLst/>
          </a:prstGeom>
          <a:noFill/>
        </p:spPr>
        <p:txBody>
          <a:bodyPr wrap="square" rtlCol="0" anchor="ctr"/>
          <a:lstStyle/>
          <a:p>
            <a:pPr marL="0" indent="0">
              <a:buNone/>
            </a:pPr>
            <a:r>
              <a:rPr lang="en-US" sz="950" dirty="0">
                <a:solidFill>
                  <a:srgbClr val="1A1A2E"/>
                </a:solidFill>
                <a:latin typeface="Calibri" panose="020F0502020204030204" pitchFamily="34" charset="0"/>
                <a:ea typeface="Calibri" panose="020F0502020204030204" pitchFamily="34" charset="-122"/>
                <a:cs typeface="Calibri" panose="020F0502020204030204" pitchFamily="34" charset="-120"/>
              </a:rPr>
              <a:t>Enables multi-user access control and journalling</a:t>
            </a:r>
            <a:endParaRPr lang="en-US" sz="950" dirty="0"/>
          </a:p>
        </p:txBody>
      </p:sp>
      <p:sp>
        <p:nvSpPr>
          <p:cNvPr id="34" name="Shape 32"/>
          <p:cNvSpPr/>
          <p:nvPr/>
        </p:nvSpPr>
        <p:spPr>
          <a:xfrm>
            <a:off x="6108192" y="1444752"/>
            <a:ext cx="2761488" cy="2706624"/>
          </a:xfrm>
          <a:prstGeom prst="rect">
            <a:avLst/>
          </a:prstGeom>
          <a:solidFill>
            <a:srgbClr val="EEF6FB"/>
          </a:solidFill>
          <a:ln w="12700">
            <a:solidFill>
              <a:srgbClr val="0EA5E9"/>
            </a:solidFill>
            <a:prstDash val="solid"/>
          </a:ln>
          <a:effectLst>
            <a:outerShdw blurRad="127000" dist="38100" dir="8100000" algn="bl" rotWithShape="0">
              <a:srgbClr val="000000">
                <a:alpha val="22000"/>
              </a:srgbClr>
            </a:outerShdw>
          </a:effectLst>
        </p:spPr>
        <p:txBody>
          <a:bodyPr/>
          <a:lstStyle/>
          <a:p>
            <a:endParaRPr lang="en-SG"/>
          </a:p>
        </p:txBody>
      </p:sp>
      <p:sp>
        <p:nvSpPr>
          <p:cNvPr id="35" name="Shape 33"/>
          <p:cNvSpPr/>
          <p:nvPr/>
        </p:nvSpPr>
        <p:spPr>
          <a:xfrm>
            <a:off x="6108192" y="1444752"/>
            <a:ext cx="2761488" cy="310896"/>
          </a:xfrm>
          <a:prstGeom prst="rect">
            <a:avLst/>
          </a:prstGeom>
          <a:solidFill>
            <a:srgbClr val="0EA5E9"/>
          </a:solidFill>
          <a:ln w="12700">
            <a:solidFill>
              <a:srgbClr val="0EA5E9"/>
            </a:solidFill>
            <a:prstDash val="solid"/>
          </a:ln>
        </p:spPr>
        <p:txBody>
          <a:bodyPr/>
          <a:lstStyle/>
          <a:p>
            <a:endParaRPr lang="en-SG"/>
          </a:p>
        </p:txBody>
      </p:sp>
      <p:sp>
        <p:nvSpPr>
          <p:cNvPr id="36" name="Text 34"/>
          <p:cNvSpPr/>
          <p:nvPr/>
        </p:nvSpPr>
        <p:spPr>
          <a:xfrm>
            <a:off x="6217920" y="1490472"/>
            <a:ext cx="2578608" cy="237744"/>
          </a:xfrm>
          <a:prstGeom prst="rect">
            <a:avLst/>
          </a:prstGeom>
          <a:noFill/>
        </p:spPr>
        <p:txBody>
          <a:bodyPr wrap="square" lIns="0" tIns="0" rIns="0" bIns="0" rtlCol="0" anchor="ctr"/>
          <a:lstStyle/>
          <a:p>
            <a:pPr marL="0" indent="0">
              <a:buNone/>
            </a:pPr>
            <a:r>
              <a:rPr lang="en-US" sz="11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Forensic Importance</a:t>
            </a:r>
            <a:endParaRPr lang="en-US" sz="1150" dirty="0"/>
          </a:p>
        </p:txBody>
      </p:sp>
      <p:sp>
        <p:nvSpPr>
          <p:cNvPr id="37" name="Shape 35"/>
          <p:cNvSpPr/>
          <p:nvPr/>
        </p:nvSpPr>
        <p:spPr>
          <a:xfrm>
            <a:off x="6217920" y="1883664"/>
            <a:ext cx="128016" cy="128016"/>
          </a:xfrm>
          <a:prstGeom prst="line">
            <a:avLst/>
          </a:prstGeom>
          <a:solidFill>
            <a:srgbClr val="0EA5E9"/>
          </a:solidFill>
          <a:ln w="12700">
            <a:solidFill>
              <a:srgbClr val="0EA5E9"/>
            </a:solidFill>
            <a:prstDash val="solid"/>
          </a:ln>
        </p:spPr>
        <p:txBody>
          <a:bodyPr/>
          <a:lstStyle/>
          <a:p>
            <a:endParaRPr lang="en-SG"/>
          </a:p>
        </p:txBody>
      </p:sp>
      <p:sp>
        <p:nvSpPr>
          <p:cNvPr id="38" name="Text 36"/>
          <p:cNvSpPr/>
          <p:nvPr/>
        </p:nvSpPr>
        <p:spPr>
          <a:xfrm>
            <a:off x="6400800" y="1847088"/>
            <a:ext cx="2377440" cy="475488"/>
          </a:xfrm>
          <a:prstGeom prst="rect">
            <a:avLst/>
          </a:prstGeom>
          <a:noFill/>
        </p:spPr>
        <p:txBody>
          <a:bodyPr wrap="square" rtlCol="0" anchor="ctr"/>
          <a:lstStyle/>
          <a:p>
            <a:pPr marL="0" indent="0">
              <a:buNone/>
            </a:pPr>
            <a:r>
              <a:rPr lang="en-US" sz="950" dirty="0">
                <a:solidFill>
                  <a:srgbClr val="1A1A2E"/>
                </a:solidFill>
                <a:latin typeface="Calibri" panose="020F0502020204030204" pitchFamily="34" charset="0"/>
                <a:ea typeface="Calibri" panose="020F0502020204030204" pitchFamily="34" charset="-122"/>
                <a:cs typeface="Calibri" panose="020F0502020204030204" pitchFamily="34" charset="-120"/>
              </a:rPr>
              <a:t>File systems record when files were created, modified, accessed</a:t>
            </a:r>
            <a:endParaRPr lang="en-US" sz="950" dirty="0"/>
          </a:p>
        </p:txBody>
      </p:sp>
      <p:sp>
        <p:nvSpPr>
          <p:cNvPr id="39" name="Shape 37"/>
          <p:cNvSpPr/>
          <p:nvPr/>
        </p:nvSpPr>
        <p:spPr>
          <a:xfrm>
            <a:off x="6217920" y="2432304"/>
            <a:ext cx="128016" cy="128016"/>
          </a:xfrm>
          <a:prstGeom prst="line">
            <a:avLst/>
          </a:prstGeom>
          <a:solidFill>
            <a:srgbClr val="0EA5E9"/>
          </a:solidFill>
          <a:ln w="12700">
            <a:solidFill>
              <a:srgbClr val="0EA5E9"/>
            </a:solidFill>
            <a:prstDash val="solid"/>
          </a:ln>
        </p:spPr>
        <p:txBody>
          <a:bodyPr/>
          <a:lstStyle/>
          <a:p>
            <a:endParaRPr lang="en-SG"/>
          </a:p>
        </p:txBody>
      </p:sp>
      <p:sp>
        <p:nvSpPr>
          <p:cNvPr id="40" name="Text 38"/>
          <p:cNvSpPr/>
          <p:nvPr/>
        </p:nvSpPr>
        <p:spPr>
          <a:xfrm>
            <a:off x="6400800" y="2395728"/>
            <a:ext cx="2377440" cy="475488"/>
          </a:xfrm>
          <a:prstGeom prst="rect">
            <a:avLst/>
          </a:prstGeom>
          <a:noFill/>
        </p:spPr>
        <p:txBody>
          <a:bodyPr wrap="square" rtlCol="0" anchor="ctr"/>
          <a:lstStyle/>
          <a:p>
            <a:pPr marL="0" indent="0">
              <a:buNone/>
            </a:pPr>
            <a:r>
              <a:rPr lang="en-US" sz="950" dirty="0">
                <a:solidFill>
                  <a:srgbClr val="1A1A2E"/>
                </a:solidFill>
                <a:latin typeface="Calibri" panose="020F0502020204030204" pitchFamily="34" charset="0"/>
                <a:ea typeface="Calibri" panose="020F0502020204030204" pitchFamily="34" charset="-122"/>
                <a:cs typeface="Calibri" panose="020F0502020204030204" pitchFamily="34" charset="-120"/>
              </a:rPr>
              <a:t>Deleted file metadata often survives — recoverable by examiners</a:t>
            </a:r>
            <a:endParaRPr lang="en-US" sz="950" dirty="0"/>
          </a:p>
        </p:txBody>
      </p:sp>
      <p:sp>
        <p:nvSpPr>
          <p:cNvPr id="41" name="Shape 39"/>
          <p:cNvSpPr/>
          <p:nvPr/>
        </p:nvSpPr>
        <p:spPr>
          <a:xfrm>
            <a:off x="6217920" y="2980944"/>
            <a:ext cx="128016" cy="128016"/>
          </a:xfrm>
          <a:prstGeom prst="line">
            <a:avLst/>
          </a:prstGeom>
          <a:solidFill>
            <a:srgbClr val="0EA5E9"/>
          </a:solidFill>
          <a:ln w="12700">
            <a:solidFill>
              <a:srgbClr val="0EA5E9"/>
            </a:solidFill>
            <a:prstDash val="solid"/>
          </a:ln>
        </p:spPr>
        <p:txBody>
          <a:bodyPr/>
          <a:lstStyle/>
          <a:p>
            <a:endParaRPr lang="en-SG"/>
          </a:p>
        </p:txBody>
      </p:sp>
      <p:sp>
        <p:nvSpPr>
          <p:cNvPr id="42" name="Text 40"/>
          <p:cNvSpPr/>
          <p:nvPr/>
        </p:nvSpPr>
        <p:spPr>
          <a:xfrm>
            <a:off x="6400800" y="2944368"/>
            <a:ext cx="2377440" cy="475488"/>
          </a:xfrm>
          <a:prstGeom prst="rect">
            <a:avLst/>
          </a:prstGeom>
          <a:noFill/>
        </p:spPr>
        <p:txBody>
          <a:bodyPr wrap="square" rtlCol="0" anchor="ctr"/>
          <a:lstStyle/>
          <a:p>
            <a:pPr marL="0" indent="0">
              <a:buNone/>
            </a:pPr>
            <a:r>
              <a:rPr lang="en-US" sz="950" dirty="0">
                <a:solidFill>
                  <a:srgbClr val="1A1A2E"/>
                </a:solidFill>
                <a:latin typeface="Calibri" panose="020F0502020204030204" pitchFamily="34" charset="0"/>
                <a:ea typeface="Calibri" panose="020F0502020204030204" pitchFamily="34" charset="-122"/>
                <a:cs typeface="Calibri" panose="020F0502020204030204" pitchFamily="34" charset="-120"/>
              </a:rPr>
              <a:t>Directory entries, cluster chains, and journals hold evidence</a:t>
            </a:r>
            <a:endParaRPr lang="en-US" sz="950" dirty="0"/>
          </a:p>
        </p:txBody>
      </p:sp>
      <p:sp>
        <p:nvSpPr>
          <p:cNvPr id="43" name="Shape 41"/>
          <p:cNvSpPr/>
          <p:nvPr/>
        </p:nvSpPr>
        <p:spPr>
          <a:xfrm>
            <a:off x="6217920" y="3529584"/>
            <a:ext cx="128016" cy="128016"/>
          </a:xfrm>
          <a:prstGeom prst="line">
            <a:avLst/>
          </a:prstGeom>
          <a:solidFill>
            <a:srgbClr val="0EA5E9"/>
          </a:solidFill>
          <a:ln w="12700">
            <a:solidFill>
              <a:srgbClr val="0EA5E9"/>
            </a:solidFill>
            <a:prstDash val="solid"/>
          </a:ln>
        </p:spPr>
        <p:txBody>
          <a:bodyPr/>
          <a:lstStyle/>
          <a:p>
            <a:endParaRPr lang="en-SG"/>
          </a:p>
        </p:txBody>
      </p:sp>
      <p:sp>
        <p:nvSpPr>
          <p:cNvPr id="44" name="Text 42"/>
          <p:cNvSpPr/>
          <p:nvPr/>
        </p:nvSpPr>
        <p:spPr>
          <a:xfrm>
            <a:off x="6400800" y="3493008"/>
            <a:ext cx="2377440" cy="475488"/>
          </a:xfrm>
          <a:prstGeom prst="rect">
            <a:avLst/>
          </a:prstGeom>
          <a:noFill/>
        </p:spPr>
        <p:txBody>
          <a:bodyPr wrap="square" rtlCol="0" anchor="ctr"/>
          <a:lstStyle/>
          <a:p>
            <a:pPr marL="0" indent="0">
              <a:buNone/>
            </a:pPr>
            <a:r>
              <a:rPr lang="en-US" sz="950" dirty="0">
                <a:solidFill>
                  <a:srgbClr val="1A1A2E"/>
                </a:solidFill>
                <a:latin typeface="Calibri" panose="020F0502020204030204" pitchFamily="34" charset="0"/>
                <a:ea typeface="Calibri" panose="020F0502020204030204" pitchFamily="34" charset="-122"/>
                <a:cs typeface="Calibri" panose="020F0502020204030204" pitchFamily="34" charset="-120"/>
              </a:rPr>
              <a:t>Different file systems require different forensic tools and techniques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6366F1"/>
          </a:solidFill>
          <a:ln w="12700">
            <a:solidFill>
              <a:srgbClr val="6366F1"/>
            </a:solidFill>
            <a:prstDash val="solid"/>
          </a:ln>
        </p:spPr>
        <p:txBody>
          <a:bodyPr/>
          <a:lstStyle/>
          <a:p>
            <a:endParaRPr lang="en-SG"/>
          </a:p>
        </p:txBody>
      </p:sp>
      <p:sp>
        <p:nvSpPr>
          <p:cNvPr id="3" name="Text 1"/>
          <p:cNvSpPr/>
          <p:nvPr/>
        </p:nvSpPr>
        <p:spPr>
          <a:xfrm>
            <a:off x="256032" y="146304"/>
            <a:ext cx="8631936" cy="548640"/>
          </a:xfrm>
          <a:prstGeom prst="rect">
            <a:avLst/>
          </a:prstGeom>
          <a:noFill/>
        </p:spPr>
        <p:txBody>
          <a:bodyPr wrap="square" lIns="0" tIns="0" rIns="0" bIns="0" rtlCol="0" anchor="ctr"/>
          <a:lstStyle/>
          <a:p>
            <a:pPr marL="0" indent="0">
              <a:buNone/>
            </a:pPr>
            <a:r>
              <a:rPr lang="en-US" sz="1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Main Components of a File System</a:t>
            </a:r>
            <a:endParaRPr lang="en-US" sz="1800" dirty="0"/>
          </a:p>
        </p:txBody>
      </p:sp>
      <p:sp>
        <p:nvSpPr>
          <p:cNvPr id="4" name="Shape 2"/>
          <p:cNvSpPr/>
          <p:nvPr/>
        </p:nvSpPr>
        <p:spPr>
          <a:xfrm>
            <a:off x="256032" y="73152"/>
            <a:ext cx="1463040" cy="219456"/>
          </a:xfrm>
          <a:prstGeom prst="rect">
            <a:avLst/>
          </a:prstGeom>
          <a:solidFill>
            <a:srgbClr val="6366F1"/>
          </a:solidFill>
          <a:ln w="12700">
            <a:solidFill>
              <a:srgbClr val="6366F1"/>
            </a:solidFill>
            <a:prstDash val="solid"/>
          </a:ln>
        </p:spPr>
        <p:txBody>
          <a:bodyPr/>
          <a:lstStyle/>
          <a:p>
            <a:endParaRPr lang="en-SG"/>
          </a:p>
        </p:txBody>
      </p:sp>
      <p:sp>
        <p:nvSpPr>
          <p:cNvPr id="5" name="Text 3"/>
          <p:cNvSpPr/>
          <p:nvPr/>
        </p:nvSpPr>
        <p:spPr>
          <a:xfrm>
            <a:off x="256032" y="73152"/>
            <a:ext cx="1463040" cy="219456"/>
          </a:xfrm>
          <a:prstGeom prst="rect">
            <a:avLst/>
          </a:prstGeom>
          <a:noFill/>
        </p:spPr>
        <p:txBody>
          <a:bodyPr wrap="square" lIns="0" tIns="0" rIns="0" bIns="0" rtlCol="0" anchor="ctr"/>
          <a:lstStyle/>
          <a:p>
            <a:pPr marL="0" indent="0" algn="ctr">
              <a:buNone/>
            </a:pPr>
            <a:r>
              <a:rPr lang="en-US" sz="800" b="1" kern="0" spc="100"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SECTION 01 — INTRO</a:t>
            </a:r>
            <a:endParaRPr lang="en-US" sz="800" dirty="0"/>
          </a:p>
        </p:txBody>
      </p:sp>
      <p:sp>
        <p:nvSpPr>
          <p:cNvPr id="10" name="Text 8"/>
          <p:cNvSpPr/>
          <p:nvPr/>
        </p:nvSpPr>
        <p:spPr>
          <a:xfrm>
            <a:off x="256032" y="822960"/>
            <a:ext cx="8631936" cy="292608"/>
          </a:xfrm>
          <a:prstGeom prst="rect">
            <a:avLst/>
          </a:prstGeom>
          <a:noFill/>
        </p:spPr>
        <p:txBody>
          <a:bodyPr wrap="square" rtlCol="0" anchor="ctr"/>
          <a:lstStyle/>
          <a:p>
            <a:pPr marL="0" indent="0">
              <a:buNone/>
            </a:pPr>
            <a:r>
              <a:rPr lang="en-US" sz="950" i="1" dirty="0">
                <a:solidFill>
                  <a:srgbClr val="475569"/>
                </a:solidFill>
                <a:latin typeface="Calibri" panose="020F0502020204030204" pitchFamily="34" charset="0"/>
                <a:ea typeface="Calibri" panose="020F0502020204030204" pitchFamily="34" charset="-122"/>
                <a:cs typeface="Calibri" panose="020F0502020204030204" pitchFamily="34" charset="-120"/>
              </a:rPr>
              <a:t>Every file system manages four core categories of information. Understanding these helps forensic examiners know exactly where to look for evidence.</a:t>
            </a:r>
            <a:endParaRPr lang="en-US" sz="950" dirty="0"/>
          </a:p>
        </p:txBody>
      </p:sp>
      <p:sp>
        <p:nvSpPr>
          <p:cNvPr id="11" name="Shape 9"/>
          <p:cNvSpPr/>
          <p:nvPr/>
        </p:nvSpPr>
        <p:spPr>
          <a:xfrm>
            <a:off x="256032" y="1258212"/>
            <a:ext cx="4187952" cy="2066544"/>
          </a:xfrm>
          <a:prstGeom prst="rect">
            <a:avLst/>
          </a:prstGeom>
          <a:solidFill>
            <a:srgbClr val="EEF6FB"/>
          </a:solidFill>
          <a:ln w="12700">
            <a:solidFill>
              <a:srgbClr val="6366F1"/>
            </a:solidFill>
            <a:prstDash val="solid"/>
          </a:ln>
          <a:effectLst>
            <a:outerShdw blurRad="127000" dist="38100" dir="8100000" algn="bl" rotWithShape="0">
              <a:srgbClr val="000000">
                <a:alpha val="22000"/>
              </a:srgbClr>
            </a:outerShdw>
          </a:effectLst>
        </p:spPr>
        <p:txBody>
          <a:bodyPr/>
          <a:lstStyle/>
          <a:p>
            <a:endParaRPr lang="en-SG"/>
          </a:p>
        </p:txBody>
      </p:sp>
      <p:sp>
        <p:nvSpPr>
          <p:cNvPr id="12" name="Shape 10"/>
          <p:cNvSpPr/>
          <p:nvPr/>
        </p:nvSpPr>
        <p:spPr>
          <a:xfrm>
            <a:off x="256032" y="1258212"/>
            <a:ext cx="182880" cy="2066544"/>
          </a:xfrm>
          <a:prstGeom prst="rect">
            <a:avLst/>
          </a:prstGeom>
          <a:solidFill>
            <a:srgbClr val="6366F1"/>
          </a:solidFill>
          <a:ln w="12700">
            <a:solidFill>
              <a:srgbClr val="6366F1"/>
            </a:solidFill>
            <a:prstDash val="solid"/>
          </a:ln>
        </p:spPr>
        <p:txBody>
          <a:bodyPr/>
          <a:lstStyle/>
          <a:p>
            <a:endParaRPr lang="en-SG"/>
          </a:p>
        </p:txBody>
      </p:sp>
      <p:sp>
        <p:nvSpPr>
          <p:cNvPr id="13" name="Shape 11"/>
          <p:cNvSpPr/>
          <p:nvPr/>
        </p:nvSpPr>
        <p:spPr>
          <a:xfrm>
            <a:off x="512064" y="1367940"/>
            <a:ext cx="310896" cy="310896"/>
          </a:xfrm>
          <a:prstGeom prst="line">
            <a:avLst/>
          </a:prstGeom>
          <a:solidFill>
            <a:srgbClr val="6366F1">
              <a:alpha val="80000"/>
            </a:srgbClr>
          </a:solidFill>
          <a:ln w="12700">
            <a:solidFill>
              <a:srgbClr val="6366F1"/>
            </a:solidFill>
            <a:prstDash val="solid"/>
          </a:ln>
        </p:spPr>
        <p:txBody>
          <a:bodyPr/>
          <a:lstStyle/>
          <a:p>
            <a:endParaRPr lang="en-SG"/>
          </a:p>
        </p:txBody>
      </p:sp>
      <p:sp>
        <p:nvSpPr>
          <p:cNvPr id="14" name="Text 12"/>
          <p:cNvSpPr/>
          <p:nvPr/>
        </p:nvSpPr>
        <p:spPr>
          <a:xfrm>
            <a:off x="512064" y="1404516"/>
            <a:ext cx="310896" cy="219456"/>
          </a:xfrm>
          <a:prstGeom prst="rect">
            <a:avLst/>
          </a:prstGeom>
          <a:noFill/>
        </p:spPr>
        <p:txBody>
          <a:bodyPr wrap="square" lIns="0" tIns="0" rIns="0" bIns="0" rtlCol="0" anchor="ctr"/>
          <a:lstStyle/>
          <a:p>
            <a:pPr marL="0" indent="0" algn="ctr">
              <a:buNone/>
            </a:pPr>
            <a:r>
              <a:rPr lang="en-US" sz="9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01</a:t>
            </a:r>
            <a:endParaRPr lang="en-US" sz="900" dirty="0"/>
          </a:p>
        </p:txBody>
      </p:sp>
      <p:sp>
        <p:nvSpPr>
          <p:cNvPr id="15" name="Text 13"/>
          <p:cNvSpPr/>
          <p:nvPr/>
        </p:nvSpPr>
        <p:spPr>
          <a:xfrm>
            <a:off x="877824" y="1349652"/>
            <a:ext cx="3456432" cy="237744"/>
          </a:xfrm>
          <a:prstGeom prst="rect">
            <a:avLst/>
          </a:prstGeom>
          <a:noFill/>
        </p:spPr>
        <p:txBody>
          <a:bodyPr wrap="square" lIns="0" tIns="0" rIns="0" bIns="0" rtlCol="0" anchor="ctr"/>
          <a:lstStyle/>
          <a:p>
            <a:pPr marL="0" indent="0">
              <a:buNone/>
            </a:pPr>
            <a:r>
              <a:rPr lang="en-US" sz="12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File Content</a:t>
            </a:r>
            <a:endParaRPr lang="en-US" sz="1200" dirty="0"/>
          </a:p>
        </p:txBody>
      </p:sp>
      <p:sp>
        <p:nvSpPr>
          <p:cNvPr id="16" name="Text 14"/>
          <p:cNvSpPr/>
          <p:nvPr/>
        </p:nvSpPr>
        <p:spPr>
          <a:xfrm>
            <a:off x="877824" y="1587396"/>
            <a:ext cx="3456432" cy="182880"/>
          </a:xfrm>
          <a:prstGeom prst="rect">
            <a:avLst/>
          </a:prstGeom>
          <a:noFill/>
        </p:spPr>
        <p:txBody>
          <a:bodyPr wrap="square" lIns="0" tIns="0" rIns="0" bIns="0" rtlCol="0" anchor="ctr"/>
          <a:lstStyle/>
          <a:p>
            <a:pPr marL="0" indent="0">
              <a:buNone/>
            </a:pPr>
            <a:r>
              <a:rPr lang="en-US" sz="900" i="1" dirty="0">
                <a:solidFill>
                  <a:srgbClr val="6366F1"/>
                </a:solidFill>
                <a:latin typeface="Calibri" panose="020F0502020204030204" pitchFamily="34" charset="0"/>
                <a:ea typeface="Calibri" panose="020F0502020204030204" pitchFamily="34" charset="-122"/>
                <a:cs typeface="Calibri" panose="020F0502020204030204" pitchFamily="34" charset="-120"/>
              </a:rPr>
              <a:t>The actual data stored in a file</a:t>
            </a:r>
            <a:endParaRPr lang="en-US" sz="900" dirty="0"/>
          </a:p>
        </p:txBody>
      </p:sp>
      <p:sp>
        <p:nvSpPr>
          <p:cNvPr id="17" name="Text 15"/>
          <p:cNvSpPr/>
          <p:nvPr/>
        </p:nvSpPr>
        <p:spPr>
          <a:xfrm>
            <a:off x="512064" y="1806852"/>
            <a:ext cx="3840480" cy="1005840"/>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The raw bytes that make up a document, image, video, or any file. Stored in allocated clusters on disk. Forensic examiners recover content by following cluster chains. Even after deletion, content may remain in unallocated space until overwritten.</a:t>
            </a:r>
            <a:endParaRPr lang="en-US" sz="900" dirty="0"/>
          </a:p>
        </p:txBody>
      </p:sp>
      <p:sp>
        <p:nvSpPr>
          <p:cNvPr id="18" name="Shape 16"/>
          <p:cNvSpPr/>
          <p:nvPr/>
        </p:nvSpPr>
        <p:spPr>
          <a:xfrm>
            <a:off x="512064" y="2940708"/>
            <a:ext cx="3840480" cy="9144"/>
          </a:xfrm>
          <a:prstGeom prst="rect">
            <a:avLst/>
          </a:prstGeom>
          <a:solidFill>
            <a:srgbClr val="2E4068"/>
          </a:solidFill>
          <a:ln w="12700">
            <a:solidFill>
              <a:srgbClr val="2E4068"/>
            </a:solidFill>
            <a:prstDash val="solid"/>
          </a:ln>
        </p:spPr>
        <p:txBody>
          <a:bodyPr/>
          <a:lstStyle/>
          <a:p>
            <a:endParaRPr lang="en-SG"/>
          </a:p>
        </p:txBody>
      </p:sp>
      <p:sp>
        <p:nvSpPr>
          <p:cNvPr id="19" name="Text 17"/>
          <p:cNvSpPr/>
          <p:nvPr/>
        </p:nvSpPr>
        <p:spPr>
          <a:xfrm>
            <a:off x="512064" y="2958996"/>
            <a:ext cx="3840480" cy="274320"/>
          </a:xfrm>
          <a:prstGeom prst="rect">
            <a:avLst/>
          </a:prstGeom>
          <a:noFill/>
        </p:spPr>
        <p:txBody>
          <a:bodyPr wrap="square" rtlCol="0" anchor="ctr"/>
          <a:lstStyle/>
          <a:p>
            <a:pPr marL="0" indent="0">
              <a:buNone/>
            </a:pPr>
            <a:r>
              <a:rPr lang="en-US" sz="850" i="1" dirty="0">
                <a:solidFill>
                  <a:srgbClr val="475569"/>
                </a:solidFill>
                <a:latin typeface="Calibri" panose="020F0502020204030204" pitchFamily="34" charset="0"/>
                <a:ea typeface="Calibri" panose="020F0502020204030204" pitchFamily="34" charset="-122"/>
                <a:cs typeface="Calibri" panose="020F0502020204030204" pitchFamily="34" charset="-120"/>
              </a:rPr>
              <a:t>e.g. Documents, images, executables, database files</a:t>
            </a:r>
            <a:endParaRPr lang="en-US" sz="850" dirty="0"/>
          </a:p>
        </p:txBody>
      </p:sp>
      <p:sp>
        <p:nvSpPr>
          <p:cNvPr id="20" name="Shape 18"/>
          <p:cNvSpPr/>
          <p:nvPr/>
        </p:nvSpPr>
        <p:spPr>
          <a:xfrm>
            <a:off x="4590288" y="1258212"/>
            <a:ext cx="4187952" cy="2066544"/>
          </a:xfrm>
          <a:prstGeom prst="rect">
            <a:avLst/>
          </a:prstGeom>
          <a:solidFill>
            <a:srgbClr val="EEF6FB"/>
          </a:solidFill>
          <a:ln w="12700">
            <a:solidFill>
              <a:srgbClr val="F59E0B"/>
            </a:solidFill>
            <a:prstDash val="solid"/>
          </a:ln>
          <a:effectLst>
            <a:outerShdw blurRad="127000" dist="38100" dir="8100000" algn="bl" rotWithShape="0">
              <a:srgbClr val="000000">
                <a:alpha val="22000"/>
              </a:srgbClr>
            </a:outerShdw>
          </a:effectLst>
        </p:spPr>
        <p:txBody>
          <a:bodyPr/>
          <a:lstStyle/>
          <a:p>
            <a:endParaRPr lang="en-SG"/>
          </a:p>
        </p:txBody>
      </p:sp>
      <p:sp>
        <p:nvSpPr>
          <p:cNvPr id="21" name="Shape 19"/>
          <p:cNvSpPr/>
          <p:nvPr/>
        </p:nvSpPr>
        <p:spPr>
          <a:xfrm>
            <a:off x="4590288" y="1258212"/>
            <a:ext cx="182880" cy="2066544"/>
          </a:xfrm>
          <a:prstGeom prst="rect">
            <a:avLst/>
          </a:prstGeom>
          <a:solidFill>
            <a:srgbClr val="F59E0B"/>
          </a:solidFill>
          <a:ln w="12700">
            <a:solidFill>
              <a:srgbClr val="F59E0B"/>
            </a:solidFill>
            <a:prstDash val="solid"/>
          </a:ln>
        </p:spPr>
        <p:txBody>
          <a:bodyPr/>
          <a:lstStyle/>
          <a:p>
            <a:endParaRPr lang="en-SG"/>
          </a:p>
        </p:txBody>
      </p:sp>
      <p:sp>
        <p:nvSpPr>
          <p:cNvPr id="22" name="Shape 20"/>
          <p:cNvSpPr/>
          <p:nvPr/>
        </p:nvSpPr>
        <p:spPr>
          <a:xfrm>
            <a:off x="4846320" y="1367940"/>
            <a:ext cx="310896" cy="310896"/>
          </a:xfrm>
          <a:prstGeom prst="line">
            <a:avLst/>
          </a:prstGeom>
          <a:solidFill>
            <a:srgbClr val="F59E0B">
              <a:alpha val="80000"/>
            </a:srgbClr>
          </a:solidFill>
          <a:ln w="12700">
            <a:solidFill>
              <a:srgbClr val="F59E0B"/>
            </a:solidFill>
            <a:prstDash val="solid"/>
          </a:ln>
        </p:spPr>
        <p:txBody>
          <a:bodyPr/>
          <a:lstStyle/>
          <a:p>
            <a:endParaRPr lang="en-SG"/>
          </a:p>
        </p:txBody>
      </p:sp>
      <p:sp>
        <p:nvSpPr>
          <p:cNvPr id="23" name="Text 21"/>
          <p:cNvSpPr/>
          <p:nvPr/>
        </p:nvSpPr>
        <p:spPr>
          <a:xfrm>
            <a:off x="4846320" y="1404516"/>
            <a:ext cx="310896" cy="219456"/>
          </a:xfrm>
          <a:prstGeom prst="rect">
            <a:avLst/>
          </a:prstGeom>
          <a:noFill/>
        </p:spPr>
        <p:txBody>
          <a:bodyPr wrap="square" lIns="0" tIns="0" rIns="0" bIns="0" rtlCol="0" anchor="ctr"/>
          <a:lstStyle/>
          <a:p>
            <a:pPr marL="0" indent="0" algn="ctr">
              <a:buNone/>
            </a:pPr>
            <a:r>
              <a:rPr lang="en-US" sz="9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02</a:t>
            </a:r>
            <a:endParaRPr lang="en-US" sz="900" dirty="0"/>
          </a:p>
        </p:txBody>
      </p:sp>
      <p:sp>
        <p:nvSpPr>
          <p:cNvPr id="24" name="Text 22"/>
          <p:cNvSpPr/>
          <p:nvPr/>
        </p:nvSpPr>
        <p:spPr>
          <a:xfrm>
            <a:off x="5212080" y="1349652"/>
            <a:ext cx="3456432" cy="237744"/>
          </a:xfrm>
          <a:prstGeom prst="rect">
            <a:avLst/>
          </a:prstGeom>
          <a:noFill/>
        </p:spPr>
        <p:txBody>
          <a:bodyPr wrap="square" lIns="0" tIns="0" rIns="0" bIns="0" rtlCol="0" anchor="ctr"/>
          <a:lstStyle/>
          <a:p>
            <a:pPr marL="0" indent="0">
              <a:buNone/>
            </a:pPr>
            <a:r>
              <a:rPr lang="en-US" sz="12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File Name</a:t>
            </a:r>
            <a:endParaRPr lang="en-US" sz="1200" dirty="0"/>
          </a:p>
        </p:txBody>
      </p:sp>
      <p:sp>
        <p:nvSpPr>
          <p:cNvPr id="25" name="Text 23"/>
          <p:cNvSpPr/>
          <p:nvPr/>
        </p:nvSpPr>
        <p:spPr>
          <a:xfrm>
            <a:off x="5212080" y="1587396"/>
            <a:ext cx="3456432" cy="182880"/>
          </a:xfrm>
          <a:prstGeom prst="rect">
            <a:avLst/>
          </a:prstGeom>
          <a:noFill/>
        </p:spPr>
        <p:txBody>
          <a:bodyPr wrap="square" lIns="0" tIns="0" rIns="0" bIns="0" rtlCol="0" anchor="ctr"/>
          <a:lstStyle/>
          <a:p>
            <a:pPr marL="0" indent="0">
              <a:buNone/>
            </a:pPr>
            <a:r>
              <a:rPr lang="en-US" sz="900" i="1" dirty="0">
                <a:solidFill>
                  <a:srgbClr val="F59E0B"/>
                </a:solidFill>
                <a:latin typeface="Calibri" panose="020F0502020204030204" pitchFamily="34" charset="0"/>
                <a:ea typeface="Calibri" panose="020F0502020204030204" pitchFamily="34" charset="-122"/>
                <a:cs typeface="Calibri" panose="020F0502020204030204" pitchFamily="34" charset="-120"/>
              </a:rPr>
              <a:t>How the file is identified and accessed</a:t>
            </a:r>
            <a:endParaRPr lang="en-US" sz="900" dirty="0"/>
          </a:p>
        </p:txBody>
      </p:sp>
      <p:sp>
        <p:nvSpPr>
          <p:cNvPr id="26" name="Text 24"/>
          <p:cNvSpPr/>
          <p:nvPr/>
        </p:nvSpPr>
        <p:spPr>
          <a:xfrm>
            <a:off x="4846320" y="1806852"/>
            <a:ext cx="3840480" cy="1005840"/>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The human-readable name associated with a file. In FAT32, names are stored as 8.3 Short File Names (SFN) or Long File Names (LFN). In NTFS, stored as Unicode in the $FILE_NAME attribute. A renamed or deleted file may leave orphaned name records.</a:t>
            </a:r>
            <a:endParaRPr lang="en-US" sz="900" dirty="0"/>
          </a:p>
        </p:txBody>
      </p:sp>
      <p:sp>
        <p:nvSpPr>
          <p:cNvPr id="27" name="Shape 25"/>
          <p:cNvSpPr/>
          <p:nvPr/>
        </p:nvSpPr>
        <p:spPr>
          <a:xfrm>
            <a:off x="4846320" y="2940708"/>
            <a:ext cx="3840480" cy="9144"/>
          </a:xfrm>
          <a:prstGeom prst="rect">
            <a:avLst/>
          </a:prstGeom>
          <a:solidFill>
            <a:srgbClr val="2E4068"/>
          </a:solidFill>
          <a:ln w="12700">
            <a:solidFill>
              <a:srgbClr val="2E4068"/>
            </a:solidFill>
            <a:prstDash val="solid"/>
          </a:ln>
        </p:spPr>
        <p:txBody>
          <a:bodyPr/>
          <a:lstStyle/>
          <a:p>
            <a:endParaRPr lang="en-SG"/>
          </a:p>
        </p:txBody>
      </p:sp>
      <p:sp>
        <p:nvSpPr>
          <p:cNvPr id="28" name="Text 26"/>
          <p:cNvSpPr/>
          <p:nvPr/>
        </p:nvSpPr>
        <p:spPr>
          <a:xfrm>
            <a:off x="4846320" y="2958996"/>
            <a:ext cx="3840480" cy="274320"/>
          </a:xfrm>
          <a:prstGeom prst="rect">
            <a:avLst/>
          </a:prstGeom>
          <a:noFill/>
        </p:spPr>
        <p:txBody>
          <a:bodyPr wrap="square" rtlCol="0" anchor="ctr"/>
          <a:lstStyle/>
          <a:p>
            <a:pPr marL="0" indent="0">
              <a:buNone/>
            </a:pPr>
            <a:r>
              <a:rPr lang="en-US" sz="850" i="1" dirty="0">
                <a:solidFill>
                  <a:srgbClr val="475569"/>
                </a:solidFill>
                <a:latin typeface="Calibri" panose="020F0502020204030204" pitchFamily="34" charset="0"/>
                <a:ea typeface="Calibri" panose="020F0502020204030204" pitchFamily="34" charset="-122"/>
                <a:cs typeface="Calibri" panose="020F0502020204030204" pitchFamily="34" charset="-120"/>
              </a:rPr>
              <a:t>e.g. report.docx · EVIDENCE.EXE · My Documents</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6366F1"/>
          </a:solidFill>
          <a:ln w="12700">
            <a:solidFill>
              <a:srgbClr val="6366F1"/>
            </a:solidFill>
            <a:prstDash val="solid"/>
          </a:ln>
        </p:spPr>
        <p:txBody>
          <a:bodyPr/>
          <a:lstStyle/>
          <a:p>
            <a:endParaRPr lang="en-SG"/>
          </a:p>
        </p:txBody>
      </p:sp>
      <p:sp>
        <p:nvSpPr>
          <p:cNvPr id="3" name="Text 1"/>
          <p:cNvSpPr/>
          <p:nvPr/>
        </p:nvSpPr>
        <p:spPr>
          <a:xfrm>
            <a:off x="246888" y="171909"/>
            <a:ext cx="8631936" cy="548640"/>
          </a:xfrm>
          <a:prstGeom prst="rect">
            <a:avLst/>
          </a:prstGeom>
          <a:noFill/>
        </p:spPr>
        <p:txBody>
          <a:bodyPr wrap="square" lIns="0" tIns="0" rIns="0" bIns="0" rtlCol="0" anchor="ctr"/>
          <a:lstStyle/>
          <a:p>
            <a:pPr marL="0" indent="0">
              <a:buNone/>
            </a:pPr>
            <a:r>
              <a:rPr lang="en-US" sz="1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Main Components of a File System</a:t>
            </a:r>
            <a:endParaRPr lang="en-US" sz="1800" dirty="0"/>
          </a:p>
        </p:txBody>
      </p:sp>
      <p:sp>
        <p:nvSpPr>
          <p:cNvPr id="4" name="Shape 2"/>
          <p:cNvSpPr/>
          <p:nvPr/>
        </p:nvSpPr>
        <p:spPr>
          <a:xfrm>
            <a:off x="256032" y="73152"/>
            <a:ext cx="1463040" cy="219456"/>
          </a:xfrm>
          <a:prstGeom prst="rect">
            <a:avLst/>
          </a:prstGeom>
          <a:solidFill>
            <a:srgbClr val="6366F1"/>
          </a:solidFill>
          <a:ln w="12700">
            <a:solidFill>
              <a:srgbClr val="6366F1"/>
            </a:solidFill>
            <a:prstDash val="solid"/>
          </a:ln>
        </p:spPr>
        <p:txBody>
          <a:bodyPr/>
          <a:lstStyle/>
          <a:p>
            <a:endParaRPr lang="en-SG"/>
          </a:p>
        </p:txBody>
      </p:sp>
      <p:sp>
        <p:nvSpPr>
          <p:cNvPr id="5" name="Text 3"/>
          <p:cNvSpPr/>
          <p:nvPr/>
        </p:nvSpPr>
        <p:spPr>
          <a:xfrm>
            <a:off x="256032" y="73152"/>
            <a:ext cx="1463040" cy="219456"/>
          </a:xfrm>
          <a:prstGeom prst="rect">
            <a:avLst/>
          </a:prstGeom>
          <a:noFill/>
        </p:spPr>
        <p:txBody>
          <a:bodyPr wrap="square" lIns="0" tIns="0" rIns="0" bIns="0" rtlCol="0" anchor="ctr"/>
          <a:lstStyle/>
          <a:p>
            <a:pPr marL="0" indent="0" algn="ctr">
              <a:buNone/>
            </a:pPr>
            <a:r>
              <a:rPr lang="en-US" sz="800" b="1" kern="0" spc="100"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SECTION 01 — INTRO</a:t>
            </a:r>
            <a:endParaRPr lang="en-US" sz="800" dirty="0"/>
          </a:p>
        </p:txBody>
      </p:sp>
      <p:sp>
        <p:nvSpPr>
          <p:cNvPr id="8" name="Text 6"/>
          <p:cNvSpPr/>
          <p:nvPr/>
        </p:nvSpPr>
        <p:spPr>
          <a:xfrm>
            <a:off x="329184" y="2836470"/>
            <a:ext cx="6400800" cy="201168"/>
          </a:xfrm>
          <a:prstGeom prst="rect">
            <a:avLst/>
          </a:prstGeom>
          <a:noFill/>
        </p:spPr>
        <p:txBody>
          <a:bodyPr wrap="square" lIns="0" tIns="0" rIns="0" bIns="0" rtlCol="0" anchor="ctr"/>
          <a:lstStyle/>
          <a:p>
            <a:pPr marL="0" indent="0">
              <a:buNone/>
            </a:pPr>
            <a:r>
              <a:rPr lang="en-US" sz="800" dirty="0">
                <a:solidFill>
                  <a:srgbClr val="475569"/>
                </a:solidFill>
                <a:latin typeface="Calibri" panose="020F0502020204030204" pitchFamily="34" charset="0"/>
                <a:ea typeface="Calibri" panose="020F0502020204030204" pitchFamily="34" charset="-122"/>
                <a:cs typeface="Calibri" panose="020F0502020204030204" pitchFamily="34" charset="-120"/>
              </a:rPr>
              <a:t>Digital Forensics — Week 3: File Systems</a:t>
            </a:r>
            <a:endParaRPr lang="en-US" sz="800" dirty="0"/>
          </a:p>
        </p:txBody>
      </p:sp>
      <p:sp>
        <p:nvSpPr>
          <p:cNvPr id="10" name="Text 8"/>
          <p:cNvSpPr/>
          <p:nvPr/>
        </p:nvSpPr>
        <p:spPr>
          <a:xfrm>
            <a:off x="256032" y="822960"/>
            <a:ext cx="8631936" cy="292608"/>
          </a:xfrm>
          <a:prstGeom prst="rect">
            <a:avLst/>
          </a:prstGeom>
          <a:noFill/>
        </p:spPr>
        <p:txBody>
          <a:bodyPr wrap="square" rtlCol="0" anchor="ctr"/>
          <a:lstStyle/>
          <a:p>
            <a:pPr marL="0" indent="0">
              <a:buNone/>
            </a:pPr>
            <a:r>
              <a:rPr lang="en-US" sz="950" i="1" dirty="0">
                <a:solidFill>
                  <a:srgbClr val="475569"/>
                </a:solidFill>
                <a:latin typeface="Calibri" panose="020F0502020204030204" pitchFamily="34" charset="0"/>
                <a:ea typeface="Calibri" panose="020F0502020204030204" pitchFamily="34" charset="-122"/>
                <a:cs typeface="Calibri" panose="020F0502020204030204" pitchFamily="34" charset="-120"/>
              </a:rPr>
              <a:t>Every file system manages four core categories of information. Understanding these helps forensic examiners know exactly where to look for evidence.</a:t>
            </a:r>
            <a:endParaRPr lang="en-US" sz="950" dirty="0"/>
          </a:p>
        </p:txBody>
      </p:sp>
      <p:sp>
        <p:nvSpPr>
          <p:cNvPr id="29" name="Shape 27"/>
          <p:cNvSpPr/>
          <p:nvPr/>
        </p:nvSpPr>
        <p:spPr>
          <a:xfrm>
            <a:off x="256032" y="1345998"/>
            <a:ext cx="4187952" cy="2066544"/>
          </a:xfrm>
          <a:prstGeom prst="rect">
            <a:avLst/>
          </a:prstGeom>
          <a:solidFill>
            <a:srgbClr val="EEF6FB"/>
          </a:solidFill>
          <a:ln w="12700">
            <a:solidFill>
              <a:srgbClr val="0EA5E9"/>
            </a:solidFill>
            <a:prstDash val="solid"/>
          </a:ln>
          <a:effectLst>
            <a:outerShdw blurRad="127000" dist="38100" dir="8100000" algn="bl" rotWithShape="0">
              <a:srgbClr val="000000">
                <a:alpha val="22000"/>
              </a:srgbClr>
            </a:outerShdw>
          </a:effectLst>
        </p:spPr>
        <p:txBody>
          <a:bodyPr/>
          <a:lstStyle/>
          <a:p>
            <a:endParaRPr lang="en-SG"/>
          </a:p>
        </p:txBody>
      </p:sp>
      <p:sp>
        <p:nvSpPr>
          <p:cNvPr id="30" name="Shape 28"/>
          <p:cNvSpPr/>
          <p:nvPr/>
        </p:nvSpPr>
        <p:spPr>
          <a:xfrm>
            <a:off x="256032" y="1345998"/>
            <a:ext cx="182880" cy="2066544"/>
          </a:xfrm>
          <a:prstGeom prst="rect">
            <a:avLst/>
          </a:prstGeom>
          <a:solidFill>
            <a:srgbClr val="0EA5E9"/>
          </a:solidFill>
          <a:ln w="12700">
            <a:solidFill>
              <a:srgbClr val="0EA5E9"/>
            </a:solidFill>
            <a:prstDash val="solid"/>
          </a:ln>
        </p:spPr>
        <p:txBody>
          <a:bodyPr/>
          <a:lstStyle/>
          <a:p>
            <a:endParaRPr lang="en-SG"/>
          </a:p>
        </p:txBody>
      </p:sp>
      <p:sp>
        <p:nvSpPr>
          <p:cNvPr id="31" name="Shape 29"/>
          <p:cNvSpPr/>
          <p:nvPr/>
        </p:nvSpPr>
        <p:spPr>
          <a:xfrm>
            <a:off x="512064" y="1455726"/>
            <a:ext cx="310896" cy="310896"/>
          </a:xfrm>
          <a:prstGeom prst="line">
            <a:avLst/>
          </a:prstGeom>
          <a:solidFill>
            <a:srgbClr val="0EA5E9">
              <a:alpha val="80000"/>
            </a:srgbClr>
          </a:solidFill>
          <a:ln w="12700">
            <a:solidFill>
              <a:srgbClr val="0EA5E9"/>
            </a:solidFill>
            <a:prstDash val="solid"/>
          </a:ln>
        </p:spPr>
        <p:txBody>
          <a:bodyPr/>
          <a:lstStyle/>
          <a:p>
            <a:endParaRPr lang="en-SG"/>
          </a:p>
        </p:txBody>
      </p:sp>
      <p:sp>
        <p:nvSpPr>
          <p:cNvPr id="32" name="Text 30"/>
          <p:cNvSpPr/>
          <p:nvPr/>
        </p:nvSpPr>
        <p:spPr>
          <a:xfrm>
            <a:off x="512064" y="1492302"/>
            <a:ext cx="310896" cy="219456"/>
          </a:xfrm>
          <a:prstGeom prst="rect">
            <a:avLst/>
          </a:prstGeom>
          <a:noFill/>
        </p:spPr>
        <p:txBody>
          <a:bodyPr wrap="square" lIns="0" tIns="0" rIns="0" bIns="0" rtlCol="0" anchor="ctr"/>
          <a:lstStyle/>
          <a:p>
            <a:pPr marL="0" indent="0" algn="ctr">
              <a:buNone/>
            </a:pPr>
            <a:r>
              <a:rPr lang="en-US" sz="9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03</a:t>
            </a:r>
            <a:endParaRPr lang="en-US" sz="900" dirty="0"/>
          </a:p>
        </p:txBody>
      </p:sp>
      <p:sp>
        <p:nvSpPr>
          <p:cNvPr id="33" name="Text 31"/>
          <p:cNvSpPr/>
          <p:nvPr/>
        </p:nvSpPr>
        <p:spPr>
          <a:xfrm>
            <a:off x="877824" y="1437438"/>
            <a:ext cx="3456432" cy="237744"/>
          </a:xfrm>
          <a:prstGeom prst="rect">
            <a:avLst/>
          </a:prstGeom>
          <a:noFill/>
        </p:spPr>
        <p:txBody>
          <a:bodyPr wrap="square" lIns="0" tIns="0" rIns="0" bIns="0" rtlCol="0" anchor="ctr"/>
          <a:lstStyle/>
          <a:p>
            <a:pPr marL="0" indent="0">
              <a:buNone/>
            </a:pPr>
            <a:r>
              <a:rPr lang="en-US" sz="12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Metadata</a:t>
            </a:r>
            <a:endParaRPr lang="en-US" sz="1200" dirty="0"/>
          </a:p>
        </p:txBody>
      </p:sp>
      <p:sp>
        <p:nvSpPr>
          <p:cNvPr id="34" name="Text 32"/>
          <p:cNvSpPr/>
          <p:nvPr/>
        </p:nvSpPr>
        <p:spPr>
          <a:xfrm>
            <a:off x="877824" y="1675182"/>
            <a:ext cx="3456432" cy="182880"/>
          </a:xfrm>
          <a:prstGeom prst="rect">
            <a:avLst/>
          </a:prstGeom>
          <a:noFill/>
        </p:spPr>
        <p:txBody>
          <a:bodyPr wrap="square" lIns="0" tIns="0" rIns="0" bIns="0" rtlCol="0" anchor="ctr"/>
          <a:lstStyle/>
          <a:p>
            <a:pPr marL="0" indent="0">
              <a:buNone/>
            </a:pPr>
            <a:r>
              <a:rPr lang="en-US" sz="900" i="1" dirty="0">
                <a:solidFill>
                  <a:srgbClr val="0EA5E9"/>
                </a:solidFill>
                <a:latin typeface="Calibri" panose="020F0502020204030204" pitchFamily="34" charset="0"/>
                <a:ea typeface="Calibri" panose="020F0502020204030204" pitchFamily="34" charset="-122"/>
                <a:cs typeface="Calibri" panose="020F0502020204030204" pitchFamily="34" charset="-120"/>
              </a:rPr>
              <a:t>Data about the file — not the file itself</a:t>
            </a:r>
            <a:endParaRPr lang="en-US" sz="900" dirty="0"/>
          </a:p>
        </p:txBody>
      </p:sp>
      <p:sp>
        <p:nvSpPr>
          <p:cNvPr id="35" name="Text 33"/>
          <p:cNvSpPr/>
          <p:nvPr/>
        </p:nvSpPr>
        <p:spPr>
          <a:xfrm>
            <a:off x="512064" y="1894638"/>
            <a:ext cx="3840480" cy="1005840"/>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Timestamps (MACB), file size, permissions, owner, group, starting cluster, and attribute flags. Metadata survives file deletion in many file systems. NTFS stores rich metadata in MFT records; FAT stores it in 32-byte directory entries.</a:t>
            </a:r>
            <a:endParaRPr lang="en-US" sz="900" dirty="0"/>
          </a:p>
        </p:txBody>
      </p:sp>
      <p:sp>
        <p:nvSpPr>
          <p:cNvPr id="36" name="Shape 34"/>
          <p:cNvSpPr/>
          <p:nvPr/>
        </p:nvSpPr>
        <p:spPr>
          <a:xfrm>
            <a:off x="512064" y="3028494"/>
            <a:ext cx="3840480" cy="9144"/>
          </a:xfrm>
          <a:prstGeom prst="rect">
            <a:avLst/>
          </a:prstGeom>
          <a:solidFill>
            <a:srgbClr val="2E4068"/>
          </a:solidFill>
          <a:ln w="12700">
            <a:solidFill>
              <a:srgbClr val="2E4068"/>
            </a:solidFill>
            <a:prstDash val="solid"/>
          </a:ln>
        </p:spPr>
        <p:txBody>
          <a:bodyPr/>
          <a:lstStyle/>
          <a:p>
            <a:endParaRPr lang="en-SG"/>
          </a:p>
        </p:txBody>
      </p:sp>
      <p:sp>
        <p:nvSpPr>
          <p:cNvPr id="37" name="Text 35"/>
          <p:cNvSpPr/>
          <p:nvPr/>
        </p:nvSpPr>
        <p:spPr>
          <a:xfrm>
            <a:off x="512064" y="3046782"/>
            <a:ext cx="3840480" cy="274320"/>
          </a:xfrm>
          <a:prstGeom prst="rect">
            <a:avLst/>
          </a:prstGeom>
          <a:noFill/>
        </p:spPr>
        <p:txBody>
          <a:bodyPr wrap="square" rtlCol="0" anchor="ctr"/>
          <a:lstStyle/>
          <a:p>
            <a:pPr marL="0" indent="0">
              <a:buNone/>
            </a:pPr>
            <a:r>
              <a:rPr lang="en-US" sz="850" i="1" dirty="0">
                <a:solidFill>
                  <a:srgbClr val="475569"/>
                </a:solidFill>
                <a:latin typeface="Calibri" panose="020F0502020204030204" pitchFamily="34" charset="0"/>
                <a:ea typeface="Calibri" panose="020F0502020204030204" pitchFamily="34" charset="-122"/>
                <a:cs typeface="Calibri" panose="020F0502020204030204" pitchFamily="34" charset="-120"/>
              </a:rPr>
              <a:t>e.g. Created date · File size · Permissions · Cluster number</a:t>
            </a:r>
            <a:endParaRPr lang="en-US" sz="850" dirty="0"/>
          </a:p>
        </p:txBody>
      </p:sp>
      <p:sp>
        <p:nvSpPr>
          <p:cNvPr id="38" name="Shape 36"/>
          <p:cNvSpPr/>
          <p:nvPr/>
        </p:nvSpPr>
        <p:spPr>
          <a:xfrm>
            <a:off x="4590288" y="1345998"/>
            <a:ext cx="4187952" cy="2066544"/>
          </a:xfrm>
          <a:prstGeom prst="rect">
            <a:avLst/>
          </a:prstGeom>
          <a:solidFill>
            <a:srgbClr val="EEF6FB"/>
          </a:solidFill>
          <a:ln w="12700">
            <a:solidFill>
              <a:srgbClr val="10B981"/>
            </a:solidFill>
            <a:prstDash val="solid"/>
          </a:ln>
          <a:effectLst>
            <a:outerShdw blurRad="127000" dist="38100" dir="8100000" algn="bl" rotWithShape="0">
              <a:srgbClr val="000000">
                <a:alpha val="22000"/>
              </a:srgbClr>
            </a:outerShdw>
          </a:effectLst>
        </p:spPr>
        <p:txBody>
          <a:bodyPr/>
          <a:lstStyle/>
          <a:p>
            <a:endParaRPr lang="en-SG"/>
          </a:p>
        </p:txBody>
      </p:sp>
      <p:sp>
        <p:nvSpPr>
          <p:cNvPr id="39" name="Shape 37"/>
          <p:cNvSpPr/>
          <p:nvPr/>
        </p:nvSpPr>
        <p:spPr>
          <a:xfrm>
            <a:off x="4590288" y="1345998"/>
            <a:ext cx="182880" cy="2066544"/>
          </a:xfrm>
          <a:prstGeom prst="rect">
            <a:avLst/>
          </a:prstGeom>
          <a:solidFill>
            <a:srgbClr val="10B981"/>
          </a:solidFill>
          <a:ln w="12700">
            <a:solidFill>
              <a:srgbClr val="10B981"/>
            </a:solidFill>
            <a:prstDash val="solid"/>
          </a:ln>
        </p:spPr>
        <p:txBody>
          <a:bodyPr/>
          <a:lstStyle/>
          <a:p>
            <a:endParaRPr lang="en-SG"/>
          </a:p>
        </p:txBody>
      </p:sp>
      <p:sp>
        <p:nvSpPr>
          <p:cNvPr id="40" name="Shape 38"/>
          <p:cNvSpPr/>
          <p:nvPr/>
        </p:nvSpPr>
        <p:spPr>
          <a:xfrm>
            <a:off x="4846320" y="1455726"/>
            <a:ext cx="310896" cy="310896"/>
          </a:xfrm>
          <a:prstGeom prst="line">
            <a:avLst/>
          </a:prstGeom>
          <a:solidFill>
            <a:srgbClr val="10B981">
              <a:alpha val="80000"/>
            </a:srgbClr>
          </a:solidFill>
          <a:ln w="12700">
            <a:solidFill>
              <a:srgbClr val="10B981"/>
            </a:solidFill>
            <a:prstDash val="solid"/>
          </a:ln>
        </p:spPr>
        <p:txBody>
          <a:bodyPr/>
          <a:lstStyle/>
          <a:p>
            <a:endParaRPr lang="en-SG"/>
          </a:p>
        </p:txBody>
      </p:sp>
      <p:sp>
        <p:nvSpPr>
          <p:cNvPr id="41" name="Text 39"/>
          <p:cNvSpPr/>
          <p:nvPr/>
        </p:nvSpPr>
        <p:spPr>
          <a:xfrm>
            <a:off x="4846320" y="1492302"/>
            <a:ext cx="310896" cy="219456"/>
          </a:xfrm>
          <a:prstGeom prst="rect">
            <a:avLst/>
          </a:prstGeom>
          <a:noFill/>
        </p:spPr>
        <p:txBody>
          <a:bodyPr wrap="square" lIns="0" tIns="0" rIns="0" bIns="0" rtlCol="0" anchor="ctr"/>
          <a:lstStyle/>
          <a:p>
            <a:pPr marL="0" indent="0" algn="ctr">
              <a:buNone/>
            </a:pPr>
            <a:r>
              <a:rPr lang="en-US" sz="9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04</a:t>
            </a:r>
            <a:endParaRPr lang="en-US" sz="900" dirty="0"/>
          </a:p>
        </p:txBody>
      </p:sp>
      <p:sp>
        <p:nvSpPr>
          <p:cNvPr id="42" name="Text 40"/>
          <p:cNvSpPr/>
          <p:nvPr/>
        </p:nvSpPr>
        <p:spPr>
          <a:xfrm>
            <a:off x="5212080" y="1437438"/>
            <a:ext cx="3456432" cy="237744"/>
          </a:xfrm>
          <a:prstGeom prst="rect">
            <a:avLst/>
          </a:prstGeom>
          <a:noFill/>
        </p:spPr>
        <p:txBody>
          <a:bodyPr wrap="square" lIns="0" tIns="0" rIns="0" bIns="0" rtlCol="0" anchor="ctr"/>
          <a:lstStyle/>
          <a:p>
            <a:pPr marL="0" indent="0">
              <a:buNone/>
            </a:pPr>
            <a:r>
              <a:rPr lang="en-US" sz="12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Application Layer</a:t>
            </a:r>
            <a:endParaRPr lang="en-US" sz="1200" dirty="0"/>
          </a:p>
        </p:txBody>
      </p:sp>
      <p:sp>
        <p:nvSpPr>
          <p:cNvPr id="43" name="Text 41"/>
          <p:cNvSpPr/>
          <p:nvPr/>
        </p:nvSpPr>
        <p:spPr>
          <a:xfrm>
            <a:off x="5212080" y="1675182"/>
            <a:ext cx="3456432" cy="182880"/>
          </a:xfrm>
          <a:prstGeom prst="rect">
            <a:avLst/>
          </a:prstGeom>
          <a:noFill/>
        </p:spPr>
        <p:txBody>
          <a:bodyPr wrap="square" lIns="0" tIns="0" rIns="0" bIns="0" rtlCol="0" anchor="ctr"/>
          <a:lstStyle/>
          <a:p>
            <a:pPr marL="0" indent="0">
              <a:buNone/>
            </a:pPr>
            <a:r>
              <a:rPr lang="en-US" sz="900" i="1" dirty="0">
                <a:solidFill>
                  <a:srgbClr val="10B981"/>
                </a:solidFill>
                <a:latin typeface="Calibri" panose="020F0502020204030204" pitchFamily="34" charset="0"/>
                <a:ea typeface="Calibri" panose="020F0502020204030204" pitchFamily="34" charset="-122"/>
                <a:cs typeface="Calibri" panose="020F0502020204030204" pitchFamily="34" charset="-120"/>
              </a:rPr>
              <a:t>How the OS presents files to programs</a:t>
            </a:r>
            <a:endParaRPr lang="en-US" sz="900" dirty="0"/>
          </a:p>
        </p:txBody>
      </p:sp>
      <p:sp>
        <p:nvSpPr>
          <p:cNvPr id="44" name="Text 42"/>
          <p:cNvSpPr/>
          <p:nvPr/>
        </p:nvSpPr>
        <p:spPr>
          <a:xfrm>
            <a:off x="4846320" y="1894638"/>
            <a:ext cx="3840480" cy="1005840"/>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The interface between the file system driver and user-space applications. The OS translates logical file operations (open, read, write, delete) into physical disk operations. Forensic tools use this layer to parse file system structures from disk images.</a:t>
            </a:r>
            <a:endParaRPr lang="en-US" sz="900" dirty="0"/>
          </a:p>
        </p:txBody>
      </p:sp>
      <p:sp>
        <p:nvSpPr>
          <p:cNvPr id="45" name="Shape 43"/>
          <p:cNvSpPr/>
          <p:nvPr/>
        </p:nvSpPr>
        <p:spPr>
          <a:xfrm>
            <a:off x="4846320" y="3028494"/>
            <a:ext cx="3840480" cy="9144"/>
          </a:xfrm>
          <a:prstGeom prst="rect">
            <a:avLst/>
          </a:prstGeom>
          <a:solidFill>
            <a:srgbClr val="2E4068"/>
          </a:solidFill>
          <a:ln w="12700">
            <a:solidFill>
              <a:srgbClr val="2E4068"/>
            </a:solidFill>
            <a:prstDash val="solid"/>
          </a:ln>
        </p:spPr>
        <p:txBody>
          <a:bodyPr/>
          <a:lstStyle/>
          <a:p>
            <a:endParaRPr lang="en-SG"/>
          </a:p>
        </p:txBody>
      </p:sp>
      <p:sp>
        <p:nvSpPr>
          <p:cNvPr id="46" name="Text 44"/>
          <p:cNvSpPr/>
          <p:nvPr/>
        </p:nvSpPr>
        <p:spPr>
          <a:xfrm>
            <a:off x="4846320" y="3046782"/>
            <a:ext cx="3840480" cy="274320"/>
          </a:xfrm>
          <a:prstGeom prst="rect">
            <a:avLst/>
          </a:prstGeom>
          <a:noFill/>
        </p:spPr>
        <p:txBody>
          <a:bodyPr wrap="square" rtlCol="0" anchor="ctr"/>
          <a:lstStyle/>
          <a:p>
            <a:pPr marL="0" indent="0">
              <a:buNone/>
            </a:pPr>
            <a:r>
              <a:rPr lang="en-US" sz="850" i="1" dirty="0">
                <a:solidFill>
                  <a:srgbClr val="475569"/>
                </a:solidFill>
                <a:latin typeface="Calibri" panose="020F0502020204030204" pitchFamily="34" charset="0"/>
                <a:ea typeface="Calibri" panose="020F0502020204030204" pitchFamily="34" charset="-122"/>
                <a:cs typeface="Calibri" panose="020F0502020204030204" pitchFamily="34" charset="-120"/>
              </a:rPr>
              <a:t>e.g. Windows Explorer · Linux VFS · macOS Finder</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6366F1"/>
          </a:solidFill>
          <a:ln w="12700">
            <a:solidFill>
              <a:srgbClr val="6366F1"/>
            </a:solidFill>
            <a:prstDash val="solid"/>
          </a:ln>
        </p:spPr>
        <p:txBody>
          <a:bodyPr/>
          <a:lstStyle/>
          <a:p>
            <a:endParaRPr lang="en-SG"/>
          </a:p>
        </p:txBody>
      </p:sp>
      <p:sp>
        <p:nvSpPr>
          <p:cNvPr id="3" name="Text 1"/>
          <p:cNvSpPr/>
          <p:nvPr/>
        </p:nvSpPr>
        <p:spPr>
          <a:xfrm>
            <a:off x="256032" y="186690"/>
            <a:ext cx="8631936" cy="548640"/>
          </a:xfrm>
          <a:prstGeom prst="rect">
            <a:avLst/>
          </a:prstGeom>
          <a:noFill/>
        </p:spPr>
        <p:txBody>
          <a:bodyPr wrap="square" lIns="0" tIns="0" rIns="0" bIns="0" rtlCol="0" anchor="ctr"/>
          <a:lstStyle/>
          <a:p>
            <a:pPr marL="0" indent="0">
              <a:buNone/>
            </a:pPr>
            <a:r>
              <a:rPr lang="en-US" sz="1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MACB Timestamps — A Forensic Refresher</a:t>
            </a:r>
            <a:endParaRPr lang="en-US" sz="1800" dirty="0"/>
          </a:p>
        </p:txBody>
      </p:sp>
      <p:sp>
        <p:nvSpPr>
          <p:cNvPr id="4" name="Shape 2"/>
          <p:cNvSpPr/>
          <p:nvPr/>
        </p:nvSpPr>
        <p:spPr>
          <a:xfrm>
            <a:off x="256032" y="73152"/>
            <a:ext cx="1463040" cy="219456"/>
          </a:xfrm>
          <a:prstGeom prst="rect">
            <a:avLst/>
          </a:prstGeom>
          <a:solidFill>
            <a:srgbClr val="6366F1"/>
          </a:solidFill>
          <a:ln w="12700">
            <a:solidFill>
              <a:srgbClr val="6366F1"/>
            </a:solidFill>
            <a:prstDash val="solid"/>
          </a:ln>
        </p:spPr>
        <p:txBody>
          <a:bodyPr/>
          <a:lstStyle/>
          <a:p>
            <a:endParaRPr lang="en-SG"/>
          </a:p>
        </p:txBody>
      </p:sp>
      <p:sp>
        <p:nvSpPr>
          <p:cNvPr id="5" name="Text 3"/>
          <p:cNvSpPr/>
          <p:nvPr/>
        </p:nvSpPr>
        <p:spPr>
          <a:xfrm>
            <a:off x="256032" y="73152"/>
            <a:ext cx="1463040" cy="219456"/>
          </a:xfrm>
          <a:prstGeom prst="rect">
            <a:avLst/>
          </a:prstGeom>
          <a:noFill/>
        </p:spPr>
        <p:txBody>
          <a:bodyPr wrap="square" lIns="0" tIns="0" rIns="0" bIns="0" rtlCol="0" anchor="ctr"/>
          <a:lstStyle/>
          <a:p>
            <a:pPr marL="0" indent="0" algn="ctr">
              <a:buNone/>
            </a:pPr>
            <a:r>
              <a:rPr lang="en-US" sz="800" b="1" kern="0" spc="100"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SECTION 01 — INTRO</a:t>
            </a:r>
            <a:endParaRPr lang="en-US" sz="800" dirty="0"/>
          </a:p>
        </p:txBody>
      </p:sp>
      <p:sp>
        <p:nvSpPr>
          <p:cNvPr id="10" name="Text 8"/>
          <p:cNvSpPr/>
          <p:nvPr/>
        </p:nvSpPr>
        <p:spPr>
          <a:xfrm>
            <a:off x="256032" y="822960"/>
            <a:ext cx="8631936" cy="292608"/>
          </a:xfrm>
          <a:prstGeom prst="rect">
            <a:avLst/>
          </a:prstGeom>
          <a:noFill/>
        </p:spPr>
        <p:txBody>
          <a:bodyPr wrap="square" rtlCol="0" anchor="ctr"/>
          <a:lstStyle/>
          <a:p>
            <a:pPr marL="0" indent="0">
              <a:buNone/>
            </a:pPr>
            <a:r>
              <a:rPr lang="en-US" sz="950" i="1" dirty="0">
                <a:solidFill>
                  <a:srgbClr val="475569"/>
                </a:solidFill>
                <a:latin typeface="Calibri" panose="020F0502020204030204" pitchFamily="34" charset="0"/>
                <a:ea typeface="Calibri" panose="020F0502020204030204" pitchFamily="34" charset="-122"/>
                <a:cs typeface="Calibri" panose="020F0502020204030204" pitchFamily="34" charset="-120"/>
              </a:rPr>
              <a:t>Timestamps are among the most important artefacts in a digital investigation. Examiners use them to reconstruct timelines of user activity and detect tampering.</a:t>
            </a:r>
            <a:endParaRPr lang="en-US" sz="950" dirty="0"/>
          </a:p>
        </p:txBody>
      </p:sp>
      <p:sp>
        <p:nvSpPr>
          <p:cNvPr id="11" name="Shape 9"/>
          <p:cNvSpPr/>
          <p:nvPr/>
        </p:nvSpPr>
        <p:spPr>
          <a:xfrm>
            <a:off x="256032" y="1170432"/>
            <a:ext cx="2066544" cy="3547872"/>
          </a:xfrm>
          <a:prstGeom prst="rect">
            <a:avLst/>
          </a:prstGeom>
          <a:solidFill>
            <a:srgbClr val="EEF6FB"/>
          </a:solidFill>
          <a:ln w="12700">
            <a:solidFill>
              <a:srgbClr val="F59E0B"/>
            </a:solidFill>
            <a:prstDash val="solid"/>
          </a:ln>
          <a:effectLst>
            <a:outerShdw blurRad="127000" dist="38100" dir="8100000" algn="bl" rotWithShape="0">
              <a:srgbClr val="000000">
                <a:alpha val="22000"/>
              </a:srgbClr>
            </a:outerShdw>
          </a:effectLst>
        </p:spPr>
        <p:txBody>
          <a:bodyPr/>
          <a:lstStyle/>
          <a:p>
            <a:endParaRPr lang="en-SG"/>
          </a:p>
        </p:txBody>
      </p:sp>
      <p:sp>
        <p:nvSpPr>
          <p:cNvPr id="12" name="Shape 10"/>
          <p:cNvSpPr/>
          <p:nvPr/>
        </p:nvSpPr>
        <p:spPr>
          <a:xfrm>
            <a:off x="256032" y="1170432"/>
            <a:ext cx="2066544" cy="603504"/>
          </a:xfrm>
          <a:prstGeom prst="rect">
            <a:avLst/>
          </a:prstGeom>
          <a:solidFill>
            <a:srgbClr val="F59E0B"/>
          </a:solidFill>
          <a:ln w="12700">
            <a:solidFill>
              <a:srgbClr val="F59E0B"/>
            </a:solidFill>
            <a:prstDash val="solid"/>
          </a:ln>
        </p:spPr>
        <p:txBody>
          <a:bodyPr/>
          <a:lstStyle/>
          <a:p>
            <a:endParaRPr lang="en-SG"/>
          </a:p>
        </p:txBody>
      </p:sp>
      <p:sp>
        <p:nvSpPr>
          <p:cNvPr id="13" name="Text 11"/>
          <p:cNvSpPr/>
          <p:nvPr/>
        </p:nvSpPr>
        <p:spPr>
          <a:xfrm>
            <a:off x="329184" y="1207008"/>
            <a:ext cx="530352" cy="512064"/>
          </a:xfrm>
          <a:prstGeom prst="rect">
            <a:avLst/>
          </a:prstGeom>
          <a:noFill/>
        </p:spPr>
        <p:txBody>
          <a:bodyPr wrap="square" lIns="0" tIns="0" rIns="0" bIns="0" rtlCol="0" anchor="ctr"/>
          <a:lstStyle/>
          <a:p>
            <a:pPr marL="0" indent="0" algn="ctr">
              <a:buNone/>
            </a:pPr>
            <a:r>
              <a:rPr lang="en-US" sz="32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M</a:t>
            </a:r>
            <a:endParaRPr lang="en-US" sz="3200" dirty="0"/>
          </a:p>
        </p:txBody>
      </p:sp>
      <p:sp>
        <p:nvSpPr>
          <p:cNvPr id="14" name="Text 12"/>
          <p:cNvSpPr/>
          <p:nvPr/>
        </p:nvSpPr>
        <p:spPr>
          <a:xfrm>
            <a:off x="877824" y="1298448"/>
            <a:ext cx="1371600" cy="365760"/>
          </a:xfrm>
          <a:prstGeom prst="rect">
            <a:avLst/>
          </a:prstGeom>
          <a:noFill/>
        </p:spPr>
        <p:txBody>
          <a:bodyPr wrap="square" lIns="0" tIns="0" rIns="0" bIns="0" rtlCol="0" anchor="ctr"/>
          <a:lstStyle/>
          <a:p>
            <a:pPr marL="0" indent="0">
              <a:buNone/>
            </a:pPr>
            <a:r>
              <a:rPr lang="en-US" sz="14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Modified</a:t>
            </a:r>
            <a:endParaRPr lang="en-US" sz="1400" dirty="0"/>
          </a:p>
        </p:txBody>
      </p:sp>
      <p:sp>
        <p:nvSpPr>
          <p:cNvPr id="15" name="Text 13"/>
          <p:cNvSpPr/>
          <p:nvPr/>
        </p:nvSpPr>
        <p:spPr>
          <a:xfrm>
            <a:off x="365760" y="1847088"/>
            <a:ext cx="1865376" cy="329184"/>
          </a:xfrm>
          <a:prstGeom prst="rect">
            <a:avLst/>
          </a:prstGeom>
          <a:noFill/>
        </p:spPr>
        <p:txBody>
          <a:bodyPr wrap="square" lIns="0" tIns="0" rIns="0" bIns="0" rtlCol="0" anchor="ctr"/>
          <a:lstStyle/>
          <a:p>
            <a:pPr marL="0" indent="0">
              <a:buNone/>
            </a:pPr>
            <a:r>
              <a:rPr lang="en-US" sz="9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The last time the file's content was changed.</a:t>
            </a:r>
            <a:endParaRPr lang="en-US" sz="950" dirty="0"/>
          </a:p>
        </p:txBody>
      </p:sp>
      <p:sp>
        <p:nvSpPr>
          <p:cNvPr id="16" name="Text 14"/>
          <p:cNvSpPr/>
          <p:nvPr/>
        </p:nvSpPr>
        <p:spPr>
          <a:xfrm>
            <a:off x="365760" y="2231136"/>
            <a:ext cx="1865376" cy="1207008"/>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Updated whenever a write operation changes file data. Does NOT update when only metadata changes. Forensically: shows when evidence was last edited.</a:t>
            </a:r>
            <a:endParaRPr lang="en-US" sz="900" dirty="0"/>
          </a:p>
        </p:txBody>
      </p:sp>
      <p:sp>
        <p:nvSpPr>
          <p:cNvPr id="17" name="Shape 15"/>
          <p:cNvSpPr/>
          <p:nvPr/>
        </p:nvSpPr>
        <p:spPr>
          <a:xfrm>
            <a:off x="365760" y="3547872"/>
            <a:ext cx="1865376" cy="9144"/>
          </a:xfrm>
          <a:prstGeom prst="rect">
            <a:avLst/>
          </a:prstGeom>
          <a:solidFill>
            <a:srgbClr val="2E4068"/>
          </a:solidFill>
          <a:ln w="12700">
            <a:solidFill>
              <a:srgbClr val="2E4068"/>
            </a:solidFill>
            <a:prstDash val="solid"/>
          </a:ln>
        </p:spPr>
        <p:txBody>
          <a:bodyPr/>
          <a:lstStyle/>
          <a:p>
            <a:endParaRPr lang="en-SG"/>
          </a:p>
        </p:txBody>
      </p:sp>
      <p:sp>
        <p:nvSpPr>
          <p:cNvPr id="18" name="Shape 16"/>
          <p:cNvSpPr/>
          <p:nvPr/>
        </p:nvSpPr>
        <p:spPr>
          <a:xfrm>
            <a:off x="365760" y="3584448"/>
            <a:ext cx="128016" cy="841248"/>
          </a:xfrm>
          <a:prstGeom prst="rect">
            <a:avLst/>
          </a:prstGeom>
          <a:solidFill>
            <a:srgbClr val="F59E0B"/>
          </a:solidFill>
          <a:ln w="12700">
            <a:solidFill>
              <a:srgbClr val="F59E0B"/>
            </a:solidFill>
            <a:prstDash val="solid"/>
          </a:ln>
        </p:spPr>
        <p:txBody>
          <a:bodyPr/>
          <a:lstStyle/>
          <a:p>
            <a:endParaRPr lang="en-SG"/>
          </a:p>
        </p:txBody>
      </p:sp>
      <p:sp>
        <p:nvSpPr>
          <p:cNvPr id="19" name="Text 17"/>
          <p:cNvSpPr/>
          <p:nvPr/>
        </p:nvSpPr>
        <p:spPr>
          <a:xfrm>
            <a:off x="548640" y="3584448"/>
            <a:ext cx="1700784" cy="841248"/>
          </a:xfrm>
          <a:prstGeom prst="rect">
            <a:avLst/>
          </a:prstGeom>
          <a:noFill/>
        </p:spPr>
        <p:txBody>
          <a:bodyPr wrap="square" rtlCol="0" anchor="t"/>
          <a:lstStyle/>
          <a:p>
            <a:pPr marL="0" indent="0">
              <a:buNone/>
            </a:pPr>
            <a:r>
              <a:rPr lang="en-US" sz="850" i="1" dirty="0">
                <a:solidFill>
                  <a:srgbClr val="475569"/>
                </a:solidFill>
                <a:latin typeface="Calibri" panose="020F0502020204030204" pitchFamily="34" charset="0"/>
                <a:ea typeface="Calibri" panose="020F0502020204030204" pitchFamily="34" charset="-122"/>
                <a:cs typeface="Calibri" panose="020F0502020204030204" pitchFamily="34" charset="-120"/>
              </a:rPr>
              <a:t>An examiner sees M-time = 03:14 AM — unusual for a business document.</a:t>
            </a:r>
            <a:endParaRPr lang="en-US" sz="850" dirty="0"/>
          </a:p>
        </p:txBody>
      </p:sp>
      <p:sp>
        <p:nvSpPr>
          <p:cNvPr id="20" name="Shape 18"/>
          <p:cNvSpPr/>
          <p:nvPr/>
        </p:nvSpPr>
        <p:spPr>
          <a:xfrm>
            <a:off x="2468880" y="1170432"/>
            <a:ext cx="2066544" cy="3547872"/>
          </a:xfrm>
          <a:prstGeom prst="rect">
            <a:avLst/>
          </a:prstGeom>
          <a:solidFill>
            <a:srgbClr val="EEF6FB"/>
          </a:solidFill>
          <a:ln w="12700">
            <a:solidFill>
              <a:srgbClr val="6366F1"/>
            </a:solidFill>
            <a:prstDash val="solid"/>
          </a:ln>
          <a:effectLst>
            <a:outerShdw blurRad="127000" dist="38100" dir="8100000" algn="bl" rotWithShape="0">
              <a:srgbClr val="000000">
                <a:alpha val="22000"/>
              </a:srgbClr>
            </a:outerShdw>
          </a:effectLst>
        </p:spPr>
        <p:txBody>
          <a:bodyPr/>
          <a:lstStyle/>
          <a:p>
            <a:endParaRPr lang="en-SG"/>
          </a:p>
        </p:txBody>
      </p:sp>
      <p:sp>
        <p:nvSpPr>
          <p:cNvPr id="21" name="Shape 19"/>
          <p:cNvSpPr/>
          <p:nvPr/>
        </p:nvSpPr>
        <p:spPr>
          <a:xfrm>
            <a:off x="2468880" y="1170432"/>
            <a:ext cx="2066544" cy="603504"/>
          </a:xfrm>
          <a:prstGeom prst="rect">
            <a:avLst/>
          </a:prstGeom>
          <a:solidFill>
            <a:srgbClr val="6366F1"/>
          </a:solidFill>
          <a:ln w="12700">
            <a:solidFill>
              <a:srgbClr val="6366F1"/>
            </a:solidFill>
            <a:prstDash val="solid"/>
          </a:ln>
        </p:spPr>
        <p:txBody>
          <a:bodyPr/>
          <a:lstStyle/>
          <a:p>
            <a:endParaRPr lang="en-SG"/>
          </a:p>
        </p:txBody>
      </p:sp>
      <p:sp>
        <p:nvSpPr>
          <p:cNvPr id="22" name="Text 20"/>
          <p:cNvSpPr/>
          <p:nvPr/>
        </p:nvSpPr>
        <p:spPr>
          <a:xfrm>
            <a:off x="2542032" y="1207008"/>
            <a:ext cx="530352" cy="512064"/>
          </a:xfrm>
          <a:prstGeom prst="rect">
            <a:avLst/>
          </a:prstGeom>
          <a:noFill/>
        </p:spPr>
        <p:txBody>
          <a:bodyPr wrap="square" lIns="0" tIns="0" rIns="0" bIns="0" rtlCol="0" anchor="ctr"/>
          <a:lstStyle/>
          <a:p>
            <a:pPr marL="0" indent="0" algn="ctr">
              <a:buNone/>
            </a:pPr>
            <a:r>
              <a:rPr lang="en-US" sz="32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A</a:t>
            </a:r>
            <a:endParaRPr lang="en-US" sz="3200" dirty="0"/>
          </a:p>
        </p:txBody>
      </p:sp>
      <p:sp>
        <p:nvSpPr>
          <p:cNvPr id="23" name="Text 21"/>
          <p:cNvSpPr/>
          <p:nvPr/>
        </p:nvSpPr>
        <p:spPr>
          <a:xfrm>
            <a:off x="3090672" y="1298448"/>
            <a:ext cx="1371600" cy="365760"/>
          </a:xfrm>
          <a:prstGeom prst="rect">
            <a:avLst/>
          </a:prstGeom>
          <a:noFill/>
        </p:spPr>
        <p:txBody>
          <a:bodyPr wrap="square" lIns="0" tIns="0" rIns="0" bIns="0" rtlCol="0" anchor="ctr"/>
          <a:lstStyle/>
          <a:p>
            <a:pPr marL="0" indent="0">
              <a:buNone/>
            </a:pPr>
            <a:r>
              <a:rPr lang="en-US" sz="14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Accessed</a:t>
            </a:r>
            <a:endParaRPr lang="en-US" sz="1400" dirty="0"/>
          </a:p>
        </p:txBody>
      </p:sp>
      <p:sp>
        <p:nvSpPr>
          <p:cNvPr id="24" name="Text 22"/>
          <p:cNvSpPr/>
          <p:nvPr/>
        </p:nvSpPr>
        <p:spPr>
          <a:xfrm>
            <a:off x="2578608" y="1847088"/>
            <a:ext cx="1865376" cy="329184"/>
          </a:xfrm>
          <a:prstGeom prst="rect">
            <a:avLst/>
          </a:prstGeom>
          <a:noFill/>
        </p:spPr>
        <p:txBody>
          <a:bodyPr wrap="square" lIns="0" tIns="0" rIns="0" bIns="0" rtlCol="0" anchor="ctr"/>
          <a:lstStyle/>
          <a:p>
            <a:pPr marL="0" indent="0">
              <a:buNone/>
            </a:pPr>
            <a:r>
              <a:rPr lang="en-US" sz="9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The last time the file was opened or read.</a:t>
            </a:r>
            <a:endParaRPr lang="en-US" sz="950" dirty="0"/>
          </a:p>
        </p:txBody>
      </p:sp>
      <p:sp>
        <p:nvSpPr>
          <p:cNvPr id="25" name="Text 23"/>
          <p:cNvSpPr/>
          <p:nvPr/>
        </p:nvSpPr>
        <p:spPr>
          <a:xfrm>
            <a:off x="2578608" y="2231136"/>
            <a:ext cx="1865376" cy="1207008"/>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Updated when the file is read, opened, or executed. Some systems disable A-time updates (noatime) for performance. Value may be unreliable as evidence of viewing.</a:t>
            </a:r>
            <a:endParaRPr lang="en-US" sz="900" dirty="0"/>
          </a:p>
        </p:txBody>
      </p:sp>
      <p:sp>
        <p:nvSpPr>
          <p:cNvPr id="26" name="Shape 24"/>
          <p:cNvSpPr/>
          <p:nvPr/>
        </p:nvSpPr>
        <p:spPr>
          <a:xfrm>
            <a:off x="2578608" y="3547872"/>
            <a:ext cx="1865376" cy="9144"/>
          </a:xfrm>
          <a:prstGeom prst="rect">
            <a:avLst/>
          </a:prstGeom>
          <a:solidFill>
            <a:srgbClr val="2E4068"/>
          </a:solidFill>
          <a:ln w="12700">
            <a:solidFill>
              <a:srgbClr val="2E4068"/>
            </a:solidFill>
            <a:prstDash val="solid"/>
          </a:ln>
        </p:spPr>
        <p:txBody>
          <a:bodyPr/>
          <a:lstStyle/>
          <a:p>
            <a:endParaRPr lang="en-SG"/>
          </a:p>
        </p:txBody>
      </p:sp>
      <p:sp>
        <p:nvSpPr>
          <p:cNvPr id="27" name="Shape 25"/>
          <p:cNvSpPr/>
          <p:nvPr/>
        </p:nvSpPr>
        <p:spPr>
          <a:xfrm>
            <a:off x="2578608" y="3584448"/>
            <a:ext cx="128016" cy="841248"/>
          </a:xfrm>
          <a:prstGeom prst="rect">
            <a:avLst/>
          </a:prstGeom>
          <a:solidFill>
            <a:srgbClr val="6366F1"/>
          </a:solidFill>
          <a:ln w="12700">
            <a:solidFill>
              <a:srgbClr val="6366F1"/>
            </a:solidFill>
            <a:prstDash val="solid"/>
          </a:ln>
        </p:spPr>
        <p:txBody>
          <a:bodyPr/>
          <a:lstStyle/>
          <a:p>
            <a:endParaRPr lang="en-SG"/>
          </a:p>
        </p:txBody>
      </p:sp>
      <p:sp>
        <p:nvSpPr>
          <p:cNvPr id="28" name="Text 26"/>
          <p:cNvSpPr/>
          <p:nvPr/>
        </p:nvSpPr>
        <p:spPr>
          <a:xfrm>
            <a:off x="2761488" y="3584448"/>
            <a:ext cx="1700784" cy="841248"/>
          </a:xfrm>
          <a:prstGeom prst="rect">
            <a:avLst/>
          </a:prstGeom>
          <a:noFill/>
        </p:spPr>
        <p:txBody>
          <a:bodyPr wrap="square" rtlCol="0" anchor="t"/>
          <a:lstStyle/>
          <a:p>
            <a:pPr marL="0" indent="0">
              <a:buNone/>
            </a:pPr>
            <a:r>
              <a:rPr lang="en-US" sz="850" i="1" dirty="0">
                <a:solidFill>
                  <a:srgbClr val="475569"/>
                </a:solidFill>
                <a:latin typeface="Calibri" panose="020F0502020204030204" pitchFamily="34" charset="0"/>
                <a:ea typeface="Calibri" panose="020F0502020204030204" pitchFamily="34" charset="-122"/>
                <a:cs typeface="Calibri" panose="020F0502020204030204" pitchFamily="34" charset="-120"/>
              </a:rPr>
              <a:t>A-time shows access 2 hours after alleged incident — corroborates timeline.</a:t>
            </a:r>
            <a:endParaRPr lang="en-US" sz="850" dirty="0"/>
          </a:p>
        </p:txBody>
      </p:sp>
      <p:sp>
        <p:nvSpPr>
          <p:cNvPr id="29" name="Shape 27"/>
          <p:cNvSpPr/>
          <p:nvPr/>
        </p:nvSpPr>
        <p:spPr>
          <a:xfrm>
            <a:off x="4681728" y="1170432"/>
            <a:ext cx="2066544" cy="3547872"/>
          </a:xfrm>
          <a:prstGeom prst="rect">
            <a:avLst/>
          </a:prstGeom>
          <a:solidFill>
            <a:srgbClr val="EEF6FB"/>
          </a:solidFill>
          <a:ln w="12700">
            <a:solidFill>
              <a:srgbClr val="0EA5E9"/>
            </a:solidFill>
            <a:prstDash val="solid"/>
          </a:ln>
          <a:effectLst>
            <a:outerShdw blurRad="127000" dist="38100" dir="8100000" algn="bl" rotWithShape="0">
              <a:srgbClr val="000000">
                <a:alpha val="22000"/>
              </a:srgbClr>
            </a:outerShdw>
          </a:effectLst>
        </p:spPr>
        <p:txBody>
          <a:bodyPr/>
          <a:lstStyle/>
          <a:p>
            <a:endParaRPr lang="en-SG"/>
          </a:p>
        </p:txBody>
      </p:sp>
      <p:sp>
        <p:nvSpPr>
          <p:cNvPr id="30" name="Shape 28"/>
          <p:cNvSpPr/>
          <p:nvPr/>
        </p:nvSpPr>
        <p:spPr>
          <a:xfrm>
            <a:off x="4681728" y="1170432"/>
            <a:ext cx="2066544" cy="603504"/>
          </a:xfrm>
          <a:prstGeom prst="rect">
            <a:avLst/>
          </a:prstGeom>
          <a:solidFill>
            <a:srgbClr val="0EA5E9"/>
          </a:solidFill>
          <a:ln w="12700">
            <a:solidFill>
              <a:srgbClr val="0EA5E9"/>
            </a:solidFill>
            <a:prstDash val="solid"/>
          </a:ln>
        </p:spPr>
        <p:txBody>
          <a:bodyPr/>
          <a:lstStyle/>
          <a:p>
            <a:endParaRPr lang="en-SG"/>
          </a:p>
        </p:txBody>
      </p:sp>
      <p:sp>
        <p:nvSpPr>
          <p:cNvPr id="31" name="Text 29"/>
          <p:cNvSpPr/>
          <p:nvPr/>
        </p:nvSpPr>
        <p:spPr>
          <a:xfrm>
            <a:off x="4754880" y="1207008"/>
            <a:ext cx="530352" cy="512064"/>
          </a:xfrm>
          <a:prstGeom prst="rect">
            <a:avLst/>
          </a:prstGeom>
          <a:noFill/>
        </p:spPr>
        <p:txBody>
          <a:bodyPr wrap="square" lIns="0" tIns="0" rIns="0" bIns="0" rtlCol="0" anchor="ctr"/>
          <a:lstStyle/>
          <a:p>
            <a:pPr marL="0" indent="0" algn="ctr">
              <a:buNone/>
            </a:pPr>
            <a:r>
              <a:rPr lang="en-US" sz="32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C</a:t>
            </a:r>
            <a:endParaRPr lang="en-US" sz="3200" dirty="0"/>
          </a:p>
        </p:txBody>
      </p:sp>
      <p:sp>
        <p:nvSpPr>
          <p:cNvPr id="32" name="Text 30"/>
          <p:cNvSpPr/>
          <p:nvPr/>
        </p:nvSpPr>
        <p:spPr>
          <a:xfrm>
            <a:off x="5303520" y="1298448"/>
            <a:ext cx="1371600" cy="365760"/>
          </a:xfrm>
          <a:prstGeom prst="rect">
            <a:avLst/>
          </a:prstGeom>
          <a:noFill/>
        </p:spPr>
        <p:txBody>
          <a:bodyPr wrap="square" lIns="0" tIns="0" rIns="0" bIns="0" rtlCol="0" anchor="ctr"/>
          <a:lstStyle/>
          <a:p>
            <a:pPr marL="0" indent="0">
              <a:buNone/>
            </a:pPr>
            <a:r>
              <a:rPr lang="en-US" sz="14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Changed</a:t>
            </a:r>
            <a:endParaRPr lang="en-US" sz="1400" dirty="0"/>
          </a:p>
        </p:txBody>
      </p:sp>
      <p:sp>
        <p:nvSpPr>
          <p:cNvPr id="33" name="Text 31"/>
          <p:cNvSpPr/>
          <p:nvPr/>
        </p:nvSpPr>
        <p:spPr>
          <a:xfrm>
            <a:off x="4791456" y="1847088"/>
            <a:ext cx="1865376" cy="329184"/>
          </a:xfrm>
          <a:prstGeom prst="rect">
            <a:avLst/>
          </a:prstGeom>
          <a:noFill/>
        </p:spPr>
        <p:txBody>
          <a:bodyPr wrap="square" lIns="0" tIns="0" rIns="0" bIns="0" rtlCol="0" anchor="ctr"/>
          <a:lstStyle/>
          <a:p>
            <a:pPr marL="0" indent="0">
              <a:buNone/>
            </a:pPr>
            <a:r>
              <a:rPr lang="en-US" sz="9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The last time the file's metadata was changed.</a:t>
            </a:r>
            <a:endParaRPr lang="en-US" sz="950" dirty="0"/>
          </a:p>
        </p:txBody>
      </p:sp>
      <p:sp>
        <p:nvSpPr>
          <p:cNvPr id="34" name="Text 32"/>
          <p:cNvSpPr/>
          <p:nvPr/>
        </p:nvSpPr>
        <p:spPr>
          <a:xfrm>
            <a:off x="4791456" y="2231136"/>
            <a:ext cx="1865376" cy="1207008"/>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Updates when permissions, ownership, or filename change — not just content. Different from Modified. In NTFS = $STANDARD_INFORMATION ctime.</a:t>
            </a:r>
            <a:endParaRPr lang="en-US" sz="900" dirty="0"/>
          </a:p>
        </p:txBody>
      </p:sp>
      <p:sp>
        <p:nvSpPr>
          <p:cNvPr id="35" name="Shape 33"/>
          <p:cNvSpPr/>
          <p:nvPr/>
        </p:nvSpPr>
        <p:spPr>
          <a:xfrm>
            <a:off x="4791456" y="3547872"/>
            <a:ext cx="1865376" cy="9144"/>
          </a:xfrm>
          <a:prstGeom prst="rect">
            <a:avLst/>
          </a:prstGeom>
          <a:solidFill>
            <a:srgbClr val="2E4068"/>
          </a:solidFill>
          <a:ln w="12700">
            <a:solidFill>
              <a:srgbClr val="2E4068"/>
            </a:solidFill>
            <a:prstDash val="solid"/>
          </a:ln>
        </p:spPr>
        <p:txBody>
          <a:bodyPr/>
          <a:lstStyle/>
          <a:p>
            <a:endParaRPr lang="en-SG"/>
          </a:p>
        </p:txBody>
      </p:sp>
      <p:sp>
        <p:nvSpPr>
          <p:cNvPr id="36" name="Shape 34"/>
          <p:cNvSpPr/>
          <p:nvPr/>
        </p:nvSpPr>
        <p:spPr>
          <a:xfrm>
            <a:off x="4791456" y="3584448"/>
            <a:ext cx="128016" cy="841248"/>
          </a:xfrm>
          <a:prstGeom prst="rect">
            <a:avLst/>
          </a:prstGeom>
          <a:solidFill>
            <a:srgbClr val="0EA5E9"/>
          </a:solidFill>
          <a:ln w="12700">
            <a:solidFill>
              <a:srgbClr val="0EA5E9"/>
            </a:solidFill>
            <a:prstDash val="solid"/>
          </a:ln>
        </p:spPr>
        <p:txBody>
          <a:bodyPr/>
          <a:lstStyle/>
          <a:p>
            <a:endParaRPr lang="en-SG"/>
          </a:p>
        </p:txBody>
      </p:sp>
      <p:sp>
        <p:nvSpPr>
          <p:cNvPr id="37" name="Text 35"/>
          <p:cNvSpPr/>
          <p:nvPr/>
        </p:nvSpPr>
        <p:spPr>
          <a:xfrm>
            <a:off x="4974336" y="3584448"/>
            <a:ext cx="1700784" cy="841248"/>
          </a:xfrm>
          <a:prstGeom prst="rect">
            <a:avLst/>
          </a:prstGeom>
          <a:noFill/>
        </p:spPr>
        <p:txBody>
          <a:bodyPr wrap="square" rtlCol="0" anchor="t"/>
          <a:lstStyle/>
          <a:p>
            <a:pPr marL="0" indent="0">
              <a:buNone/>
            </a:pPr>
            <a:r>
              <a:rPr lang="en-US" sz="850" i="1" dirty="0">
                <a:solidFill>
                  <a:srgbClr val="475569"/>
                </a:solidFill>
                <a:latin typeface="Calibri" panose="020F0502020204030204" pitchFamily="34" charset="0"/>
                <a:ea typeface="Calibri" panose="020F0502020204030204" pitchFamily="34" charset="-122"/>
                <a:cs typeface="Calibri" panose="020F0502020204030204" pitchFamily="34" charset="-120"/>
              </a:rPr>
              <a:t>C-time changed but M-time unchanged = possible permission manipulation.</a:t>
            </a:r>
            <a:endParaRPr lang="en-US" sz="850" dirty="0"/>
          </a:p>
        </p:txBody>
      </p:sp>
      <p:sp>
        <p:nvSpPr>
          <p:cNvPr id="38" name="Shape 36"/>
          <p:cNvSpPr/>
          <p:nvPr/>
        </p:nvSpPr>
        <p:spPr>
          <a:xfrm>
            <a:off x="6894576" y="1170432"/>
            <a:ext cx="2066544" cy="3547872"/>
          </a:xfrm>
          <a:prstGeom prst="rect">
            <a:avLst/>
          </a:prstGeom>
          <a:solidFill>
            <a:srgbClr val="EEF6FB"/>
          </a:solidFill>
          <a:ln w="12700">
            <a:solidFill>
              <a:srgbClr val="10B981"/>
            </a:solidFill>
            <a:prstDash val="solid"/>
          </a:ln>
          <a:effectLst>
            <a:outerShdw blurRad="127000" dist="38100" dir="8100000" algn="bl" rotWithShape="0">
              <a:srgbClr val="000000">
                <a:alpha val="22000"/>
              </a:srgbClr>
            </a:outerShdw>
          </a:effectLst>
        </p:spPr>
        <p:txBody>
          <a:bodyPr/>
          <a:lstStyle/>
          <a:p>
            <a:endParaRPr lang="en-SG"/>
          </a:p>
        </p:txBody>
      </p:sp>
      <p:sp>
        <p:nvSpPr>
          <p:cNvPr id="39" name="Shape 37"/>
          <p:cNvSpPr/>
          <p:nvPr/>
        </p:nvSpPr>
        <p:spPr>
          <a:xfrm>
            <a:off x="6894576" y="1170432"/>
            <a:ext cx="2066544" cy="603504"/>
          </a:xfrm>
          <a:prstGeom prst="rect">
            <a:avLst/>
          </a:prstGeom>
          <a:solidFill>
            <a:srgbClr val="10B981"/>
          </a:solidFill>
          <a:ln w="12700">
            <a:solidFill>
              <a:srgbClr val="10B981"/>
            </a:solidFill>
            <a:prstDash val="solid"/>
          </a:ln>
        </p:spPr>
        <p:txBody>
          <a:bodyPr/>
          <a:lstStyle/>
          <a:p>
            <a:endParaRPr lang="en-SG"/>
          </a:p>
        </p:txBody>
      </p:sp>
      <p:sp>
        <p:nvSpPr>
          <p:cNvPr id="40" name="Text 38"/>
          <p:cNvSpPr/>
          <p:nvPr/>
        </p:nvSpPr>
        <p:spPr>
          <a:xfrm>
            <a:off x="6967728" y="1207008"/>
            <a:ext cx="530352" cy="512064"/>
          </a:xfrm>
          <a:prstGeom prst="rect">
            <a:avLst/>
          </a:prstGeom>
          <a:noFill/>
        </p:spPr>
        <p:txBody>
          <a:bodyPr wrap="square" lIns="0" tIns="0" rIns="0" bIns="0" rtlCol="0" anchor="ctr"/>
          <a:lstStyle/>
          <a:p>
            <a:pPr marL="0" indent="0" algn="ctr">
              <a:buNone/>
            </a:pPr>
            <a:r>
              <a:rPr lang="en-US" sz="32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B</a:t>
            </a:r>
            <a:endParaRPr lang="en-US" sz="3200" dirty="0"/>
          </a:p>
        </p:txBody>
      </p:sp>
      <p:sp>
        <p:nvSpPr>
          <p:cNvPr id="41" name="Text 39"/>
          <p:cNvSpPr/>
          <p:nvPr/>
        </p:nvSpPr>
        <p:spPr>
          <a:xfrm>
            <a:off x="7516368" y="1298448"/>
            <a:ext cx="1371600" cy="365760"/>
          </a:xfrm>
          <a:prstGeom prst="rect">
            <a:avLst/>
          </a:prstGeom>
          <a:noFill/>
        </p:spPr>
        <p:txBody>
          <a:bodyPr wrap="square" lIns="0" tIns="0" rIns="0" bIns="0" rtlCol="0" anchor="ctr"/>
          <a:lstStyle/>
          <a:p>
            <a:pPr marL="0" indent="0">
              <a:buNone/>
            </a:pPr>
            <a:r>
              <a:rPr lang="en-US" sz="14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Birth/Created</a:t>
            </a:r>
            <a:endParaRPr lang="en-US" sz="1400" dirty="0"/>
          </a:p>
        </p:txBody>
      </p:sp>
      <p:sp>
        <p:nvSpPr>
          <p:cNvPr id="42" name="Text 40"/>
          <p:cNvSpPr/>
          <p:nvPr/>
        </p:nvSpPr>
        <p:spPr>
          <a:xfrm>
            <a:off x="7004304" y="1847088"/>
            <a:ext cx="1865376" cy="329184"/>
          </a:xfrm>
          <a:prstGeom prst="rect">
            <a:avLst/>
          </a:prstGeom>
          <a:noFill/>
        </p:spPr>
        <p:txBody>
          <a:bodyPr wrap="square" lIns="0" tIns="0" rIns="0" bIns="0" rtlCol="0" anchor="ctr"/>
          <a:lstStyle/>
          <a:p>
            <a:pPr marL="0" indent="0">
              <a:buNone/>
            </a:pPr>
            <a:r>
              <a:rPr lang="en-US" sz="9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The time the file was first created on this volume.</a:t>
            </a:r>
            <a:endParaRPr lang="en-US" sz="950" dirty="0"/>
          </a:p>
        </p:txBody>
      </p:sp>
      <p:sp>
        <p:nvSpPr>
          <p:cNvPr id="43" name="Text 41"/>
          <p:cNvSpPr/>
          <p:nvPr/>
        </p:nvSpPr>
        <p:spPr>
          <a:xfrm>
            <a:off x="7004304" y="2231136"/>
            <a:ext cx="1865376" cy="1207008"/>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Set when file is created. Not available in all file systems (missing in EXT3). In FAT32 = DIR_CrtTime/Date. In NTFS = $STANDARD_INFORMATION crtime.</a:t>
            </a:r>
            <a:endParaRPr lang="en-US" sz="900" dirty="0"/>
          </a:p>
        </p:txBody>
      </p:sp>
      <p:sp>
        <p:nvSpPr>
          <p:cNvPr id="44" name="Shape 42"/>
          <p:cNvSpPr/>
          <p:nvPr/>
        </p:nvSpPr>
        <p:spPr>
          <a:xfrm>
            <a:off x="7004304" y="3547872"/>
            <a:ext cx="1865376" cy="9144"/>
          </a:xfrm>
          <a:prstGeom prst="rect">
            <a:avLst/>
          </a:prstGeom>
          <a:solidFill>
            <a:srgbClr val="2E4068"/>
          </a:solidFill>
          <a:ln w="12700">
            <a:solidFill>
              <a:srgbClr val="2E4068"/>
            </a:solidFill>
            <a:prstDash val="solid"/>
          </a:ln>
        </p:spPr>
        <p:txBody>
          <a:bodyPr/>
          <a:lstStyle/>
          <a:p>
            <a:endParaRPr lang="en-SG"/>
          </a:p>
        </p:txBody>
      </p:sp>
      <p:sp>
        <p:nvSpPr>
          <p:cNvPr id="45" name="Shape 43"/>
          <p:cNvSpPr/>
          <p:nvPr/>
        </p:nvSpPr>
        <p:spPr>
          <a:xfrm>
            <a:off x="7004304" y="3584448"/>
            <a:ext cx="128016" cy="841248"/>
          </a:xfrm>
          <a:prstGeom prst="rect">
            <a:avLst/>
          </a:prstGeom>
          <a:solidFill>
            <a:srgbClr val="10B981"/>
          </a:solidFill>
          <a:ln w="12700">
            <a:solidFill>
              <a:srgbClr val="10B981"/>
            </a:solidFill>
            <a:prstDash val="solid"/>
          </a:ln>
        </p:spPr>
        <p:txBody>
          <a:bodyPr/>
          <a:lstStyle/>
          <a:p>
            <a:endParaRPr lang="en-SG"/>
          </a:p>
        </p:txBody>
      </p:sp>
      <p:sp>
        <p:nvSpPr>
          <p:cNvPr id="46" name="Text 44"/>
          <p:cNvSpPr/>
          <p:nvPr/>
        </p:nvSpPr>
        <p:spPr>
          <a:xfrm>
            <a:off x="7187184" y="3584448"/>
            <a:ext cx="1700784" cy="841248"/>
          </a:xfrm>
          <a:prstGeom prst="rect">
            <a:avLst/>
          </a:prstGeom>
          <a:noFill/>
        </p:spPr>
        <p:txBody>
          <a:bodyPr wrap="square" rtlCol="0" anchor="t"/>
          <a:lstStyle/>
          <a:p>
            <a:pPr marL="0" indent="0">
              <a:buNone/>
            </a:pPr>
            <a:r>
              <a:rPr lang="en-US" sz="850" i="1" dirty="0">
                <a:solidFill>
                  <a:srgbClr val="475569"/>
                </a:solidFill>
                <a:latin typeface="Calibri" panose="020F0502020204030204" pitchFamily="34" charset="0"/>
                <a:ea typeface="Calibri" panose="020F0502020204030204" pitchFamily="34" charset="-122"/>
                <a:cs typeface="Calibri" panose="020F0502020204030204" pitchFamily="34" charset="-120"/>
              </a:rPr>
              <a:t>Birth time later than Modified time = file copied here after being edited.</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389120" cy="5143500"/>
          </a:xfrm>
          <a:prstGeom prst="rect">
            <a:avLst/>
          </a:prstGeom>
          <a:solidFill>
            <a:srgbClr val="F59E0B"/>
          </a:solidFill>
          <a:ln w="12700">
            <a:solidFill>
              <a:srgbClr val="F59E0B"/>
            </a:solidFill>
            <a:prstDash val="solid"/>
          </a:ln>
        </p:spPr>
        <p:txBody>
          <a:bodyPr/>
          <a:lstStyle/>
          <a:p>
            <a:endParaRPr lang="en-SG"/>
          </a:p>
        </p:txBody>
      </p:sp>
      <p:sp>
        <p:nvSpPr>
          <p:cNvPr id="3" name="Text 1"/>
          <p:cNvSpPr/>
          <p:nvPr/>
        </p:nvSpPr>
        <p:spPr>
          <a:xfrm>
            <a:off x="91440" y="182880"/>
            <a:ext cx="4206240" cy="2926080"/>
          </a:xfrm>
          <a:prstGeom prst="rect">
            <a:avLst/>
          </a:prstGeom>
          <a:noFill/>
        </p:spPr>
        <p:txBody>
          <a:bodyPr wrap="square" lIns="0" tIns="0" rIns="0" bIns="0" rtlCol="0" anchor="ctr"/>
          <a:lstStyle/>
          <a:p>
            <a:pPr marL="0" indent="0" algn="ctr">
              <a:buNone/>
            </a:pPr>
            <a:r>
              <a:rPr lang="en-US" sz="12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02</a:t>
            </a:r>
            <a:endParaRPr lang="en-US" sz="12800" dirty="0"/>
          </a:p>
        </p:txBody>
      </p:sp>
      <p:sp>
        <p:nvSpPr>
          <p:cNvPr id="4" name="Shape 2"/>
          <p:cNvSpPr/>
          <p:nvPr/>
        </p:nvSpPr>
        <p:spPr>
          <a:xfrm>
            <a:off x="256032" y="3108960"/>
            <a:ext cx="3877056" cy="347472"/>
          </a:xfrm>
          <a:prstGeom prst="rect">
            <a:avLst/>
          </a:prstGeom>
          <a:solidFill>
            <a:srgbClr val="FFFFFF">
              <a:alpha val="80000"/>
            </a:srgbClr>
          </a:solidFill>
          <a:ln w="12700">
            <a:solidFill>
              <a:srgbClr val="FFFFFF">
                <a:alpha val="50000"/>
              </a:srgbClr>
            </a:solidFill>
            <a:prstDash val="solid"/>
          </a:ln>
        </p:spPr>
        <p:txBody>
          <a:bodyPr/>
          <a:lstStyle/>
          <a:p>
            <a:endParaRPr lang="en-SG"/>
          </a:p>
        </p:txBody>
      </p:sp>
      <p:sp>
        <p:nvSpPr>
          <p:cNvPr id="5" name="Text 3"/>
          <p:cNvSpPr/>
          <p:nvPr/>
        </p:nvSpPr>
        <p:spPr>
          <a:xfrm>
            <a:off x="256032" y="3108960"/>
            <a:ext cx="3877056" cy="347472"/>
          </a:xfrm>
          <a:prstGeom prst="rect">
            <a:avLst/>
          </a:prstGeom>
          <a:noFill/>
        </p:spPr>
        <p:txBody>
          <a:bodyPr wrap="square" lIns="0" tIns="0" rIns="0" bIns="0" rtlCol="0" anchor="ctr"/>
          <a:lstStyle/>
          <a:p>
            <a:pPr marL="0" indent="0" algn="ctr">
              <a:buNone/>
            </a:pPr>
            <a:r>
              <a:rPr lang="en-US" sz="1000" b="1" kern="0" spc="300"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SECTION 02</a:t>
            </a:r>
            <a:endParaRPr lang="en-US" sz="1000" dirty="0"/>
          </a:p>
        </p:txBody>
      </p:sp>
      <p:sp>
        <p:nvSpPr>
          <p:cNvPr id="6" name="Text 4"/>
          <p:cNvSpPr/>
          <p:nvPr/>
        </p:nvSpPr>
        <p:spPr>
          <a:xfrm>
            <a:off x="256032" y="3529584"/>
            <a:ext cx="3877056" cy="402336"/>
          </a:xfrm>
          <a:prstGeom prst="rect">
            <a:avLst/>
          </a:prstGeom>
          <a:noFill/>
        </p:spPr>
        <p:txBody>
          <a:bodyPr wrap="square" lIns="0" tIns="0" rIns="0" bIns="0" rtlCol="0" anchor="ctr"/>
          <a:lstStyle/>
          <a:p>
            <a:pPr marL="0" indent="0" algn="ctr">
              <a:buNone/>
            </a:pPr>
            <a:r>
              <a:rPr lang="en-US" sz="20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FAT File System</a:t>
            </a:r>
            <a:endParaRPr lang="en-US" sz="2000" dirty="0"/>
          </a:p>
        </p:txBody>
      </p:sp>
      <p:sp>
        <p:nvSpPr>
          <p:cNvPr id="7" name="Text 5"/>
          <p:cNvSpPr/>
          <p:nvPr/>
        </p:nvSpPr>
        <p:spPr>
          <a:xfrm>
            <a:off x="256032" y="3986784"/>
            <a:ext cx="3877056" cy="512064"/>
          </a:xfrm>
          <a:prstGeom prst="rect">
            <a:avLst/>
          </a:prstGeom>
          <a:noFill/>
        </p:spPr>
        <p:txBody>
          <a:bodyPr wrap="square" lIns="0" tIns="0" rIns="0" bIns="0" rtlCol="0" anchor="ctr"/>
          <a:lstStyle/>
          <a:p>
            <a:pPr marL="0" indent="0" algn="ctr">
              <a:buNone/>
            </a:pPr>
            <a:r>
              <a:rPr lang="en-US" sz="1100" i="1" dirty="0">
                <a:solidFill>
                  <a:srgbClr val="1A1A2E"/>
                </a:solidFill>
                <a:latin typeface="Calibri" panose="020F0502020204030204" pitchFamily="34" charset="0"/>
                <a:ea typeface="Calibri" panose="020F0502020204030204" pitchFamily="34" charset="-122"/>
                <a:cs typeface="Calibri" panose="020F0502020204030204" pitchFamily="34" charset="-120"/>
              </a:rPr>
              <a:t>Structure, directory entries, cluster chains, and forensic analysis of FAT32.</a:t>
            </a:r>
            <a:endParaRPr lang="en-US" sz="1100" dirty="0"/>
          </a:p>
        </p:txBody>
      </p:sp>
      <p:sp>
        <p:nvSpPr>
          <p:cNvPr id="8" name="Text 6"/>
          <p:cNvSpPr/>
          <p:nvPr/>
        </p:nvSpPr>
        <p:spPr>
          <a:xfrm>
            <a:off x="4754880" y="457200"/>
            <a:ext cx="4114800" cy="292608"/>
          </a:xfrm>
          <a:prstGeom prst="rect">
            <a:avLst/>
          </a:prstGeom>
          <a:noFill/>
        </p:spPr>
        <p:txBody>
          <a:bodyPr wrap="square" rtlCol="0" anchor="ctr"/>
          <a:lstStyle/>
          <a:p>
            <a:pPr marL="0" indent="0">
              <a:buNone/>
            </a:pPr>
            <a:r>
              <a:rPr lang="en-US" sz="13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In this section:</a:t>
            </a:r>
            <a:endParaRPr lang="en-US" sz="1300" dirty="0"/>
          </a:p>
        </p:txBody>
      </p:sp>
      <p:sp>
        <p:nvSpPr>
          <p:cNvPr id="9" name="Shape 7"/>
          <p:cNvSpPr/>
          <p:nvPr/>
        </p:nvSpPr>
        <p:spPr>
          <a:xfrm>
            <a:off x="4754880" y="877824"/>
            <a:ext cx="4114800" cy="566928"/>
          </a:xfrm>
          <a:prstGeom prst="rect">
            <a:avLst/>
          </a:prstGeom>
          <a:noFill/>
          <a:ln w="12700">
            <a:solidFill>
              <a:srgbClr val="FFFFFF">
                <a:alpha val="20000"/>
              </a:srgbClr>
            </a:solidFill>
            <a:prstDash val="solid"/>
          </a:ln>
        </p:spPr>
        <p:txBody>
          <a:bodyPr/>
          <a:lstStyle/>
          <a:p>
            <a:endParaRPr lang="en-SG"/>
          </a:p>
        </p:txBody>
      </p:sp>
      <p:sp>
        <p:nvSpPr>
          <p:cNvPr id="10" name="Shape 8"/>
          <p:cNvSpPr/>
          <p:nvPr/>
        </p:nvSpPr>
        <p:spPr>
          <a:xfrm>
            <a:off x="4864608" y="950976"/>
            <a:ext cx="347472" cy="347472"/>
          </a:xfrm>
          <a:prstGeom prst="line">
            <a:avLst/>
          </a:prstGeom>
          <a:solidFill>
            <a:srgbClr val="F59E0B"/>
          </a:solidFill>
          <a:ln w="12700">
            <a:solidFill>
              <a:srgbClr val="F59E0B"/>
            </a:solidFill>
            <a:prstDash val="solid"/>
          </a:ln>
        </p:spPr>
        <p:txBody>
          <a:bodyPr/>
          <a:lstStyle/>
          <a:p>
            <a:endParaRPr lang="en-SG"/>
          </a:p>
        </p:txBody>
      </p:sp>
      <p:sp>
        <p:nvSpPr>
          <p:cNvPr id="11" name="Text 9"/>
          <p:cNvSpPr/>
          <p:nvPr/>
        </p:nvSpPr>
        <p:spPr>
          <a:xfrm>
            <a:off x="4864608" y="987552"/>
            <a:ext cx="347472" cy="237744"/>
          </a:xfrm>
          <a:prstGeom prst="rect">
            <a:avLst/>
          </a:prstGeom>
          <a:noFill/>
        </p:spPr>
        <p:txBody>
          <a:bodyPr wrap="square" lIns="0" tIns="0" rIns="0" bIns="0" rtlCol="0" anchor="ctr"/>
          <a:lstStyle/>
          <a:p>
            <a:pPr marL="0" indent="0" algn="ctr">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1</a:t>
            </a:r>
            <a:endParaRPr lang="en-US" sz="1000" dirty="0"/>
          </a:p>
        </p:txBody>
      </p:sp>
      <p:sp>
        <p:nvSpPr>
          <p:cNvPr id="12" name="Text 10"/>
          <p:cNvSpPr/>
          <p:nvPr/>
        </p:nvSpPr>
        <p:spPr>
          <a:xfrm>
            <a:off x="5266944" y="950976"/>
            <a:ext cx="3529584" cy="365760"/>
          </a:xfrm>
          <a:prstGeom prst="rect">
            <a:avLst/>
          </a:prstGeom>
          <a:noFill/>
        </p:spPr>
        <p:txBody>
          <a:bodyPr wrap="square" rtlCol="0" anchor="ctr"/>
          <a:lstStyle/>
          <a:p>
            <a:pPr marL="0" indent="0">
              <a:buNone/>
            </a:pPr>
            <a:r>
              <a:rPr lang="en-US" sz="1150" dirty="0">
                <a:solidFill>
                  <a:srgbClr val="1A1A2E"/>
                </a:solidFill>
                <a:latin typeface="Calibri" panose="020F0502020204030204" pitchFamily="34" charset="0"/>
                <a:ea typeface="Calibri" panose="020F0502020204030204" pitchFamily="34" charset="-122"/>
                <a:cs typeface="Calibri" panose="020F0502020204030204" pitchFamily="34" charset="-120"/>
              </a:rPr>
              <a:t>FAT12/16/32 versions &amp; volume structure</a:t>
            </a:r>
            <a:endParaRPr lang="en-US" sz="1150" dirty="0"/>
          </a:p>
        </p:txBody>
      </p:sp>
      <p:sp>
        <p:nvSpPr>
          <p:cNvPr id="13" name="Shape 11"/>
          <p:cNvSpPr/>
          <p:nvPr/>
        </p:nvSpPr>
        <p:spPr>
          <a:xfrm>
            <a:off x="4754880" y="1536192"/>
            <a:ext cx="4114800" cy="566928"/>
          </a:xfrm>
          <a:prstGeom prst="rect">
            <a:avLst/>
          </a:prstGeom>
          <a:noFill/>
          <a:ln w="12700">
            <a:solidFill>
              <a:srgbClr val="FFFFFF">
                <a:alpha val="20000"/>
              </a:srgbClr>
            </a:solidFill>
            <a:prstDash val="solid"/>
          </a:ln>
        </p:spPr>
        <p:txBody>
          <a:bodyPr/>
          <a:lstStyle/>
          <a:p>
            <a:endParaRPr lang="en-SG"/>
          </a:p>
        </p:txBody>
      </p:sp>
      <p:sp>
        <p:nvSpPr>
          <p:cNvPr id="14" name="Shape 12"/>
          <p:cNvSpPr/>
          <p:nvPr/>
        </p:nvSpPr>
        <p:spPr>
          <a:xfrm>
            <a:off x="4864608" y="1609344"/>
            <a:ext cx="347472" cy="347472"/>
          </a:xfrm>
          <a:prstGeom prst="line">
            <a:avLst/>
          </a:prstGeom>
          <a:solidFill>
            <a:srgbClr val="F59E0B"/>
          </a:solidFill>
          <a:ln w="12700">
            <a:solidFill>
              <a:srgbClr val="F59E0B"/>
            </a:solidFill>
            <a:prstDash val="solid"/>
          </a:ln>
        </p:spPr>
        <p:txBody>
          <a:bodyPr/>
          <a:lstStyle/>
          <a:p>
            <a:endParaRPr lang="en-SG"/>
          </a:p>
        </p:txBody>
      </p:sp>
      <p:sp>
        <p:nvSpPr>
          <p:cNvPr id="15" name="Text 13"/>
          <p:cNvSpPr/>
          <p:nvPr/>
        </p:nvSpPr>
        <p:spPr>
          <a:xfrm>
            <a:off x="4864608" y="1645920"/>
            <a:ext cx="347472" cy="237744"/>
          </a:xfrm>
          <a:prstGeom prst="rect">
            <a:avLst/>
          </a:prstGeom>
          <a:noFill/>
        </p:spPr>
        <p:txBody>
          <a:bodyPr wrap="square" lIns="0" tIns="0" rIns="0" bIns="0" rtlCol="0" anchor="ctr"/>
          <a:lstStyle/>
          <a:p>
            <a:pPr marL="0" indent="0" algn="ctr">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2</a:t>
            </a:r>
            <a:endParaRPr lang="en-US" sz="1000" dirty="0"/>
          </a:p>
        </p:txBody>
      </p:sp>
      <p:sp>
        <p:nvSpPr>
          <p:cNvPr id="16" name="Text 14"/>
          <p:cNvSpPr/>
          <p:nvPr/>
        </p:nvSpPr>
        <p:spPr>
          <a:xfrm>
            <a:off x="5266944" y="1609344"/>
            <a:ext cx="3529584" cy="365760"/>
          </a:xfrm>
          <a:prstGeom prst="rect">
            <a:avLst/>
          </a:prstGeom>
          <a:noFill/>
        </p:spPr>
        <p:txBody>
          <a:bodyPr wrap="square" rtlCol="0" anchor="ctr"/>
          <a:lstStyle/>
          <a:p>
            <a:pPr marL="0" indent="0">
              <a:buNone/>
            </a:pPr>
            <a:r>
              <a:rPr lang="en-US" sz="1150" dirty="0">
                <a:solidFill>
                  <a:srgbClr val="1A1A2E"/>
                </a:solidFill>
                <a:latin typeface="Calibri" panose="020F0502020204030204" pitchFamily="34" charset="0"/>
                <a:ea typeface="Calibri" panose="020F0502020204030204" pitchFamily="34" charset="-122"/>
                <a:cs typeface="Calibri" panose="020F0502020204030204" pitchFamily="34" charset="-120"/>
              </a:rPr>
              <a:t>Boot Sector BPB byte-offset table</a:t>
            </a:r>
            <a:endParaRPr lang="en-US" sz="1150" dirty="0"/>
          </a:p>
        </p:txBody>
      </p:sp>
      <p:sp>
        <p:nvSpPr>
          <p:cNvPr id="17" name="Shape 15"/>
          <p:cNvSpPr/>
          <p:nvPr/>
        </p:nvSpPr>
        <p:spPr>
          <a:xfrm>
            <a:off x="4754880" y="2194560"/>
            <a:ext cx="4114800" cy="566928"/>
          </a:xfrm>
          <a:prstGeom prst="rect">
            <a:avLst/>
          </a:prstGeom>
          <a:noFill/>
          <a:ln w="12700">
            <a:solidFill>
              <a:srgbClr val="FFFFFF">
                <a:alpha val="20000"/>
              </a:srgbClr>
            </a:solidFill>
            <a:prstDash val="solid"/>
          </a:ln>
        </p:spPr>
        <p:txBody>
          <a:bodyPr/>
          <a:lstStyle/>
          <a:p>
            <a:endParaRPr lang="en-SG"/>
          </a:p>
        </p:txBody>
      </p:sp>
      <p:sp>
        <p:nvSpPr>
          <p:cNvPr id="18" name="Shape 16"/>
          <p:cNvSpPr/>
          <p:nvPr/>
        </p:nvSpPr>
        <p:spPr>
          <a:xfrm>
            <a:off x="4864608" y="2267712"/>
            <a:ext cx="347472" cy="347472"/>
          </a:xfrm>
          <a:prstGeom prst="line">
            <a:avLst/>
          </a:prstGeom>
          <a:solidFill>
            <a:srgbClr val="F59E0B"/>
          </a:solidFill>
          <a:ln w="12700">
            <a:solidFill>
              <a:srgbClr val="F59E0B"/>
            </a:solidFill>
            <a:prstDash val="solid"/>
          </a:ln>
        </p:spPr>
        <p:txBody>
          <a:bodyPr/>
          <a:lstStyle/>
          <a:p>
            <a:endParaRPr lang="en-SG"/>
          </a:p>
        </p:txBody>
      </p:sp>
      <p:sp>
        <p:nvSpPr>
          <p:cNvPr id="19" name="Text 17"/>
          <p:cNvSpPr/>
          <p:nvPr/>
        </p:nvSpPr>
        <p:spPr>
          <a:xfrm>
            <a:off x="4864608" y="2304288"/>
            <a:ext cx="347472" cy="237744"/>
          </a:xfrm>
          <a:prstGeom prst="rect">
            <a:avLst/>
          </a:prstGeom>
          <a:noFill/>
        </p:spPr>
        <p:txBody>
          <a:bodyPr wrap="square" lIns="0" tIns="0" rIns="0" bIns="0" rtlCol="0" anchor="ctr"/>
          <a:lstStyle/>
          <a:p>
            <a:pPr marL="0" indent="0" algn="ctr">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3</a:t>
            </a:r>
            <a:endParaRPr lang="en-US" sz="1000" dirty="0"/>
          </a:p>
        </p:txBody>
      </p:sp>
      <p:sp>
        <p:nvSpPr>
          <p:cNvPr id="20" name="Text 18"/>
          <p:cNvSpPr/>
          <p:nvPr/>
        </p:nvSpPr>
        <p:spPr>
          <a:xfrm>
            <a:off x="5266944" y="2267712"/>
            <a:ext cx="3529584" cy="365760"/>
          </a:xfrm>
          <a:prstGeom prst="rect">
            <a:avLst/>
          </a:prstGeom>
          <a:noFill/>
        </p:spPr>
        <p:txBody>
          <a:bodyPr wrap="square" rtlCol="0" anchor="ctr"/>
          <a:lstStyle/>
          <a:p>
            <a:pPr marL="0" indent="0">
              <a:buNone/>
            </a:pPr>
            <a:r>
              <a:rPr lang="en-US" sz="1150" dirty="0">
                <a:solidFill>
                  <a:srgbClr val="1A1A2E"/>
                </a:solidFill>
                <a:latin typeface="Calibri" panose="020F0502020204030204" pitchFamily="34" charset="0"/>
                <a:ea typeface="Calibri" panose="020F0502020204030204" pitchFamily="34" charset="-122"/>
                <a:cs typeface="Calibri" panose="020F0502020204030204" pitchFamily="34" charset="-120"/>
              </a:rPr>
              <a:t>EOF &amp; bad cluster markers</a:t>
            </a:r>
            <a:endParaRPr lang="en-US" sz="1150" dirty="0"/>
          </a:p>
        </p:txBody>
      </p:sp>
      <p:sp>
        <p:nvSpPr>
          <p:cNvPr id="21" name="Shape 19"/>
          <p:cNvSpPr/>
          <p:nvPr/>
        </p:nvSpPr>
        <p:spPr>
          <a:xfrm>
            <a:off x="4754880" y="2852928"/>
            <a:ext cx="4114800" cy="566928"/>
          </a:xfrm>
          <a:prstGeom prst="rect">
            <a:avLst/>
          </a:prstGeom>
          <a:noFill/>
          <a:ln w="12700">
            <a:solidFill>
              <a:srgbClr val="FFFFFF">
                <a:alpha val="20000"/>
              </a:srgbClr>
            </a:solidFill>
            <a:prstDash val="solid"/>
          </a:ln>
        </p:spPr>
        <p:txBody>
          <a:bodyPr/>
          <a:lstStyle/>
          <a:p>
            <a:endParaRPr lang="en-SG"/>
          </a:p>
        </p:txBody>
      </p:sp>
      <p:sp>
        <p:nvSpPr>
          <p:cNvPr id="22" name="Shape 20"/>
          <p:cNvSpPr/>
          <p:nvPr/>
        </p:nvSpPr>
        <p:spPr>
          <a:xfrm>
            <a:off x="4864608" y="2926080"/>
            <a:ext cx="347472" cy="347472"/>
          </a:xfrm>
          <a:prstGeom prst="line">
            <a:avLst/>
          </a:prstGeom>
          <a:solidFill>
            <a:srgbClr val="F59E0B"/>
          </a:solidFill>
          <a:ln w="12700">
            <a:solidFill>
              <a:srgbClr val="F59E0B"/>
            </a:solidFill>
            <a:prstDash val="solid"/>
          </a:ln>
        </p:spPr>
        <p:txBody>
          <a:bodyPr/>
          <a:lstStyle/>
          <a:p>
            <a:endParaRPr lang="en-SG"/>
          </a:p>
        </p:txBody>
      </p:sp>
      <p:sp>
        <p:nvSpPr>
          <p:cNvPr id="23" name="Text 21"/>
          <p:cNvSpPr/>
          <p:nvPr/>
        </p:nvSpPr>
        <p:spPr>
          <a:xfrm>
            <a:off x="4864608" y="2962656"/>
            <a:ext cx="347472" cy="237744"/>
          </a:xfrm>
          <a:prstGeom prst="rect">
            <a:avLst/>
          </a:prstGeom>
          <a:noFill/>
        </p:spPr>
        <p:txBody>
          <a:bodyPr wrap="square" lIns="0" tIns="0" rIns="0" bIns="0" rtlCol="0" anchor="ctr"/>
          <a:lstStyle/>
          <a:p>
            <a:pPr marL="0" indent="0" algn="ctr">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4</a:t>
            </a:r>
            <a:endParaRPr lang="en-US" sz="1000" dirty="0"/>
          </a:p>
        </p:txBody>
      </p:sp>
      <p:sp>
        <p:nvSpPr>
          <p:cNvPr id="24" name="Text 22"/>
          <p:cNvSpPr/>
          <p:nvPr/>
        </p:nvSpPr>
        <p:spPr>
          <a:xfrm>
            <a:off x="5266944" y="2926080"/>
            <a:ext cx="3529584" cy="365760"/>
          </a:xfrm>
          <a:prstGeom prst="rect">
            <a:avLst/>
          </a:prstGeom>
          <a:noFill/>
        </p:spPr>
        <p:txBody>
          <a:bodyPr wrap="square" rtlCol="0" anchor="ctr"/>
          <a:lstStyle/>
          <a:p>
            <a:pPr marL="0" indent="0">
              <a:buNone/>
            </a:pPr>
            <a:r>
              <a:rPr lang="en-US" sz="1150" dirty="0">
                <a:solidFill>
                  <a:srgbClr val="1A1A2E"/>
                </a:solidFill>
                <a:latin typeface="Calibri" panose="020F0502020204030204" pitchFamily="34" charset="0"/>
                <a:ea typeface="Calibri" panose="020F0502020204030204" pitchFamily="34" charset="-122"/>
                <a:cs typeface="Calibri" panose="020F0502020204030204" pitchFamily="34" charset="-120"/>
              </a:rPr>
              <a:t>Cluster chains — following files on disk</a:t>
            </a:r>
            <a:endParaRPr lang="en-US" sz="1150" dirty="0"/>
          </a:p>
        </p:txBody>
      </p:sp>
      <p:sp>
        <p:nvSpPr>
          <p:cNvPr id="25" name="Shape 23"/>
          <p:cNvSpPr/>
          <p:nvPr/>
        </p:nvSpPr>
        <p:spPr>
          <a:xfrm>
            <a:off x="4754880" y="3511296"/>
            <a:ext cx="4114800" cy="566928"/>
          </a:xfrm>
          <a:prstGeom prst="rect">
            <a:avLst/>
          </a:prstGeom>
          <a:noFill/>
          <a:ln w="12700">
            <a:solidFill>
              <a:srgbClr val="FFFFFF">
                <a:alpha val="20000"/>
              </a:srgbClr>
            </a:solidFill>
            <a:prstDash val="solid"/>
          </a:ln>
        </p:spPr>
        <p:txBody>
          <a:bodyPr/>
          <a:lstStyle/>
          <a:p>
            <a:endParaRPr lang="en-SG"/>
          </a:p>
        </p:txBody>
      </p:sp>
      <p:sp>
        <p:nvSpPr>
          <p:cNvPr id="26" name="Shape 24"/>
          <p:cNvSpPr/>
          <p:nvPr/>
        </p:nvSpPr>
        <p:spPr>
          <a:xfrm>
            <a:off x="4864608" y="3584448"/>
            <a:ext cx="347472" cy="347472"/>
          </a:xfrm>
          <a:prstGeom prst="line">
            <a:avLst/>
          </a:prstGeom>
          <a:solidFill>
            <a:srgbClr val="F59E0B"/>
          </a:solidFill>
          <a:ln w="12700">
            <a:solidFill>
              <a:srgbClr val="F59E0B"/>
            </a:solidFill>
            <a:prstDash val="solid"/>
          </a:ln>
        </p:spPr>
        <p:txBody>
          <a:bodyPr/>
          <a:lstStyle/>
          <a:p>
            <a:endParaRPr lang="en-SG"/>
          </a:p>
        </p:txBody>
      </p:sp>
      <p:sp>
        <p:nvSpPr>
          <p:cNvPr id="27" name="Text 25"/>
          <p:cNvSpPr/>
          <p:nvPr/>
        </p:nvSpPr>
        <p:spPr>
          <a:xfrm>
            <a:off x="4864608" y="3621024"/>
            <a:ext cx="347472" cy="237744"/>
          </a:xfrm>
          <a:prstGeom prst="rect">
            <a:avLst/>
          </a:prstGeom>
          <a:noFill/>
        </p:spPr>
        <p:txBody>
          <a:bodyPr wrap="square" lIns="0" tIns="0" rIns="0" bIns="0" rtlCol="0" anchor="ctr"/>
          <a:lstStyle/>
          <a:p>
            <a:pPr marL="0" indent="0" algn="ctr">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5</a:t>
            </a:r>
            <a:endParaRPr lang="en-US" sz="1000" dirty="0"/>
          </a:p>
        </p:txBody>
      </p:sp>
      <p:sp>
        <p:nvSpPr>
          <p:cNvPr id="28" name="Text 26"/>
          <p:cNvSpPr/>
          <p:nvPr/>
        </p:nvSpPr>
        <p:spPr>
          <a:xfrm>
            <a:off x="5266944" y="3584448"/>
            <a:ext cx="3529584" cy="365760"/>
          </a:xfrm>
          <a:prstGeom prst="rect">
            <a:avLst/>
          </a:prstGeom>
          <a:noFill/>
        </p:spPr>
        <p:txBody>
          <a:bodyPr wrap="square" rtlCol="0" anchor="ctr"/>
          <a:lstStyle/>
          <a:p>
            <a:pPr marL="0" indent="0">
              <a:buNone/>
            </a:pPr>
            <a:r>
              <a:rPr lang="en-US" sz="1150" dirty="0">
                <a:solidFill>
                  <a:srgbClr val="1A1A2E"/>
                </a:solidFill>
                <a:latin typeface="Calibri" panose="020F0502020204030204" pitchFamily="34" charset="0"/>
                <a:ea typeface="Calibri" panose="020F0502020204030204" pitchFamily="34" charset="-122"/>
                <a:cs typeface="Calibri" panose="020F0502020204030204" pitchFamily="34" charset="-120"/>
              </a:rPr>
              <a:t>32-byte directory entry structure</a:t>
            </a:r>
            <a:endParaRPr lang="en-US" sz="1150" dirty="0"/>
          </a:p>
        </p:txBody>
      </p:sp>
      <p:sp>
        <p:nvSpPr>
          <p:cNvPr id="29" name="Shape 27"/>
          <p:cNvSpPr/>
          <p:nvPr/>
        </p:nvSpPr>
        <p:spPr>
          <a:xfrm>
            <a:off x="4754880" y="4169664"/>
            <a:ext cx="4114800" cy="566928"/>
          </a:xfrm>
          <a:prstGeom prst="rect">
            <a:avLst/>
          </a:prstGeom>
          <a:noFill/>
          <a:ln w="12700">
            <a:solidFill>
              <a:srgbClr val="FFFFFF">
                <a:alpha val="20000"/>
              </a:srgbClr>
            </a:solidFill>
            <a:prstDash val="solid"/>
          </a:ln>
        </p:spPr>
        <p:txBody>
          <a:bodyPr/>
          <a:lstStyle/>
          <a:p>
            <a:endParaRPr lang="en-SG"/>
          </a:p>
        </p:txBody>
      </p:sp>
      <p:sp>
        <p:nvSpPr>
          <p:cNvPr id="30" name="Shape 28"/>
          <p:cNvSpPr/>
          <p:nvPr/>
        </p:nvSpPr>
        <p:spPr>
          <a:xfrm>
            <a:off x="4864608" y="4242816"/>
            <a:ext cx="347472" cy="347472"/>
          </a:xfrm>
          <a:prstGeom prst="line">
            <a:avLst/>
          </a:prstGeom>
          <a:solidFill>
            <a:srgbClr val="F59E0B"/>
          </a:solidFill>
          <a:ln w="12700">
            <a:solidFill>
              <a:srgbClr val="F59E0B"/>
            </a:solidFill>
            <a:prstDash val="solid"/>
          </a:ln>
        </p:spPr>
        <p:txBody>
          <a:bodyPr/>
          <a:lstStyle/>
          <a:p>
            <a:endParaRPr lang="en-SG"/>
          </a:p>
        </p:txBody>
      </p:sp>
      <p:sp>
        <p:nvSpPr>
          <p:cNvPr id="31" name="Text 29"/>
          <p:cNvSpPr/>
          <p:nvPr/>
        </p:nvSpPr>
        <p:spPr>
          <a:xfrm>
            <a:off x="4864608" y="4279392"/>
            <a:ext cx="347472" cy="237744"/>
          </a:xfrm>
          <a:prstGeom prst="rect">
            <a:avLst/>
          </a:prstGeom>
          <a:noFill/>
        </p:spPr>
        <p:txBody>
          <a:bodyPr wrap="square" lIns="0" tIns="0" rIns="0" bIns="0" rtlCol="0" anchor="ctr"/>
          <a:lstStyle/>
          <a:p>
            <a:pPr marL="0" indent="0" algn="ctr">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6</a:t>
            </a:r>
            <a:endParaRPr lang="en-US" sz="1000" dirty="0"/>
          </a:p>
        </p:txBody>
      </p:sp>
      <p:sp>
        <p:nvSpPr>
          <p:cNvPr id="32" name="Text 30"/>
          <p:cNvSpPr/>
          <p:nvPr/>
        </p:nvSpPr>
        <p:spPr>
          <a:xfrm>
            <a:off x="5266944" y="4169547"/>
            <a:ext cx="3529584" cy="365760"/>
          </a:xfrm>
          <a:prstGeom prst="rect">
            <a:avLst/>
          </a:prstGeom>
          <a:noFill/>
        </p:spPr>
        <p:txBody>
          <a:bodyPr wrap="square" rtlCol="0" anchor="ctr"/>
          <a:lstStyle/>
          <a:p>
            <a:pPr marL="0" indent="0">
              <a:buNone/>
            </a:pPr>
            <a:r>
              <a:rPr lang="en-US" sz="1150" dirty="0">
                <a:solidFill>
                  <a:srgbClr val="1A1A2E"/>
                </a:solidFill>
                <a:latin typeface="Calibri" panose="020F0502020204030204" pitchFamily="34" charset="0"/>
                <a:ea typeface="Calibri" panose="020F0502020204030204" pitchFamily="34" charset="-122"/>
                <a:cs typeface="Calibri" panose="020F0502020204030204" pitchFamily="34" charset="-120"/>
              </a:rPr>
              <a:t>SFN vs LFN — Short and Long File Names</a:t>
            </a:r>
            <a:endParaRPr lang="en-US" sz="1150" dirty="0"/>
          </a:p>
        </p:txBody>
      </p:sp>
      <p:sp>
        <p:nvSpPr>
          <p:cNvPr id="36" name="Text 34"/>
          <p:cNvSpPr/>
          <p:nvPr/>
        </p:nvSpPr>
        <p:spPr>
          <a:xfrm>
            <a:off x="5266944" y="4366319"/>
            <a:ext cx="3529584" cy="365760"/>
          </a:xfrm>
          <a:prstGeom prst="rect">
            <a:avLst/>
          </a:prstGeom>
          <a:noFill/>
        </p:spPr>
        <p:txBody>
          <a:bodyPr wrap="square" rtlCol="0" anchor="ctr"/>
          <a:lstStyle/>
          <a:p>
            <a:pPr marL="0" indent="0">
              <a:buNone/>
            </a:pPr>
            <a:r>
              <a:rPr lang="en-US" sz="1150" dirty="0">
                <a:solidFill>
                  <a:srgbClr val="1A1A2E"/>
                </a:solidFill>
                <a:latin typeface="Calibri" panose="020F0502020204030204" pitchFamily="34" charset="0"/>
                <a:ea typeface="Calibri" panose="020F0502020204030204" pitchFamily="34" charset="-122"/>
                <a:cs typeface="Calibri" panose="020F0502020204030204" pitchFamily="34" charset="-120"/>
              </a:rPr>
              <a:t>Hex+ASCII forensic examples (SFN → LFN → Deleted)</a:t>
            </a:r>
            <a:endParaRPr lang="en-US" sz="1150" dirty="0"/>
          </a:p>
        </p:txBody>
      </p:sp>
      <p:sp>
        <p:nvSpPr>
          <p:cNvPr id="40" name="Text 38"/>
          <p:cNvSpPr/>
          <p:nvPr/>
        </p:nvSpPr>
        <p:spPr>
          <a:xfrm>
            <a:off x="5266944" y="4548437"/>
            <a:ext cx="3529584" cy="365760"/>
          </a:xfrm>
          <a:prstGeom prst="rect">
            <a:avLst/>
          </a:prstGeom>
          <a:noFill/>
        </p:spPr>
        <p:txBody>
          <a:bodyPr wrap="square" rtlCol="0" anchor="ctr"/>
          <a:lstStyle/>
          <a:p>
            <a:pPr marL="0" indent="0">
              <a:buNone/>
            </a:pPr>
            <a:r>
              <a:rPr lang="en-US" sz="1150" dirty="0">
                <a:solidFill>
                  <a:srgbClr val="1A1A2E"/>
                </a:solidFill>
                <a:latin typeface="Calibri" panose="020F0502020204030204" pitchFamily="34" charset="0"/>
                <a:ea typeface="Calibri" panose="020F0502020204030204" pitchFamily="34" charset="-122"/>
                <a:cs typeface="Calibri" panose="020F0502020204030204" pitchFamily="34" charset="-120"/>
              </a:rPr>
              <a:t>DCODE timestamp decoding</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F59E0B"/>
          </a:solidFill>
          <a:ln w="12700">
            <a:solidFill>
              <a:srgbClr val="F59E0B"/>
            </a:solidFill>
            <a:prstDash val="solid"/>
          </a:ln>
        </p:spPr>
        <p:txBody>
          <a:bodyPr/>
          <a:lstStyle/>
          <a:p>
            <a:endParaRPr lang="en-SG"/>
          </a:p>
        </p:txBody>
      </p:sp>
      <p:sp>
        <p:nvSpPr>
          <p:cNvPr id="3" name="Text 1"/>
          <p:cNvSpPr/>
          <p:nvPr/>
        </p:nvSpPr>
        <p:spPr>
          <a:xfrm>
            <a:off x="256032" y="186690"/>
            <a:ext cx="8631936" cy="548640"/>
          </a:xfrm>
          <a:prstGeom prst="rect">
            <a:avLst/>
          </a:prstGeom>
          <a:noFill/>
        </p:spPr>
        <p:txBody>
          <a:bodyPr wrap="square" lIns="0" tIns="0" rIns="0" bIns="0" rtlCol="0" anchor="ctr"/>
          <a:lstStyle/>
          <a:p>
            <a:pPr marL="0" indent="0">
              <a:buNone/>
            </a:pPr>
            <a:r>
              <a:rPr lang="en-US" sz="1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FAT File System — Overview &amp; Unique Traits</a:t>
            </a:r>
            <a:endParaRPr lang="en-US" sz="1800" dirty="0"/>
          </a:p>
        </p:txBody>
      </p:sp>
      <p:sp>
        <p:nvSpPr>
          <p:cNvPr id="4" name="Shape 2"/>
          <p:cNvSpPr/>
          <p:nvPr/>
        </p:nvSpPr>
        <p:spPr>
          <a:xfrm>
            <a:off x="256032" y="73152"/>
            <a:ext cx="1463040" cy="219456"/>
          </a:xfrm>
          <a:prstGeom prst="rect">
            <a:avLst/>
          </a:prstGeom>
          <a:solidFill>
            <a:srgbClr val="F59E0B"/>
          </a:solidFill>
          <a:ln w="12700">
            <a:solidFill>
              <a:srgbClr val="F59E0B"/>
            </a:solidFill>
            <a:prstDash val="solid"/>
          </a:ln>
        </p:spPr>
        <p:txBody>
          <a:bodyPr/>
          <a:lstStyle/>
          <a:p>
            <a:endParaRPr lang="en-SG"/>
          </a:p>
        </p:txBody>
      </p:sp>
      <p:sp>
        <p:nvSpPr>
          <p:cNvPr id="5" name="Text 3"/>
          <p:cNvSpPr/>
          <p:nvPr/>
        </p:nvSpPr>
        <p:spPr>
          <a:xfrm>
            <a:off x="256032" y="73152"/>
            <a:ext cx="1463040" cy="219456"/>
          </a:xfrm>
          <a:prstGeom prst="rect">
            <a:avLst/>
          </a:prstGeom>
          <a:noFill/>
        </p:spPr>
        <p:txBody>
          <a:bodyPr wrap="square" lIns="0" tIns="0" rIns="0" bIns="0" rtlCol="0" anchor="ctr"/>
          <a:lstStyle/>
          <a:p>
            <a:pPr marL="0" indent="0" algn="ctr">
              <a:buNone/>
            </a:pPr>
            <a:r>
              <a:rPr lang="en-US" sz="800" b="1" kern="0" spc="100"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SECTION 02 — FAT</a:t>
            </a:r>
            <a:endParaRPr lang="en-US" sz="800" dirty="0"/>
          </a:p>
        </p:txBody>
      </p:sp>
      <p:sp>
        <p:nvSpPr>
          <p:cNvPr id="10" name="Text 8"/>
          <p:cNvSpPr/>
          <p:nvPr/>
        </p:nvSpPr>
        <p:spPr>
          <a:xfrm>
            <a:off x="256032" y="822960"/>
            <a:ext cx="8631936" cy="310896"/>
          </a:xfrm>
          <a:prstGeom prst="rect">
            <a:avLst/>
          </a:prstGeom>
          <a:noFill/>
        </p:spPr>
        <p:txBody>
          <a:bodyPr wrap="square" rtlCol="0" anchor="ctr"/>
          <a:lstStyle/>
          <a:p>
            <a:pPr marL="0" indent="0">
              <a:buNone/>
            </a:pPr>
            <a:r>
              <a:rPr lang="en-US" sz="950" i="1" dirty="0">
                <a:solidFill>
                  <a:srgbClr val="475569"/>
                </a:solidFill>
                <a:latin typeface="Calibri" panose="020F0502020204030204" pitchFamily="34" charset="0"/>
                <a:ea typeface="Calibri" panose="020F0502020204030204" pitchFamily="34" charset="-122"/>
                <a:cs typeface="Calibri" panose="020F0502020204030204" pitchFamily="34" charset="-120"/>
              </a:rPr>
              <a:t>FAT (File Allocation Table) is one of the oldest and most widely used file systems. It remains the default for removable media such as USB drives, SD cards, and cameras.</a:t>
            </a:r>
            <a:endParaRPr lang="en-US" sz="950" dirty="0"/>
          </a:p>
        </p:txBody>
      </p:sp>
      <p:sp>
        <p:nvSpPr>
          <p:cNvPr id="11" name="Shape 9"/>
          <p:cNvSpPr/>
          <p:nvPr/>
        </p:nvSpPr>
        <p:spPr>
          <a:xfrm>
            <a:off x="256032" y="1170432"/>
            <a:ext cx="2761488" cy="1700784"/>
          </a:xfrm>
          <a:prstGeom prst="rect">
            <a:avLst/>
          </a:prstGeom>
          <a:solidFill>
            <a:srgbClr val="EEF6FB"/>
          </a:solidFill>
          <a:ln w="12700">
            <a:solidFill>
              <a:srgbClr val="F59E0B"/>
            </a:solidFill>
            <a:prstDash val="solid"/>
          </a:ln>
          <a:effectLst>
            <a:outerShdw blurRad="127000" dist="38100" dir="8100000" algn="bl" rotWithShape="0">
              <a:srgbClr val="000000">
                <a:alpha val="22000"/>
              </a:srgbClr>
            </a:outerShdw>
          </a:effectLst>
        </p:spPr>
        <p:txBody>
          <a:bodyPr/>
          <a:lstStyle/>
          <a:p>
            <a:endParaRPr lang="en-SG"/>
          </a:p>
        </p:txBody>
      </p:sp>
      <p:sp>
        <p:nvSpPr>
          <p:cNvPr id="12" name="Shape 10"/>
          <p:cNvSpPr/>
          <p:nvPr/>
        </p:nvSpPr>
        <p:spPr>
          <a:xfrm>
            <a:off x="256032" y="1170432"/>
            <a:ext cx="2761488" cy="274320"/>
          </a:xfrm>
          <a:prstGeom prst="rect">
            <a:avLst/>
          </a:prstGeom>
          <a:solidFill>
            <a:srgbClr val="F59E0B"/>
          </a:solidFill>
          <a:ln w="12700">
            <a:solidFill>
              <a:srgbClr val="F59E0B"/>
            </a:solidFill>
            <a:prstDash val="solid"/>
          </a:ln>
        </p:spPr>
        <p:txBody>
          <a:bodyPr/>
          <a:lstStyle/>
          <a:p>
            <a:endParaRPr lang="en-SG"/>
          </a:p>
        </p:txBody>
      </p:sp>
      <p:sp>
        <p:nvSpPr>
          <p:cNvPr id="13" name="Shape 11"/>
          <p:cNvSpPr/>
          <p:nvPr/>
        </p:nvSpPr>
        <p:spPr>
          <a:xfrm>
            <a:off x="347472" y="1207008"/>
            <a:ext cx="201168" cy="201168"/>
          </a:xfrm>
          <a:prstGeom prst="line">
            <a:avLst/>
          </a:prstGeom>
          <a:noFill/>
          <a:ln w="12700">
            <a:solidFill>
              <a:srgbClr val="000000">
                <a:alpha val="70000"/>
              </a:srgbClr>
            </a:solidFill>
            <a:prstDash val="solid"/>
          </a:ln>
        </p:spPr>
        <p:txBody>
          <a:bodyPr/>
          <a:lstStyle/>
          <a:p>
            <a:endParaRPr lang="en-SG"/>
          </a:p>
        </p:txBody>
      </p:sp>
      <p:sp>
        <p:nvSpPr>
          <p:cNvPr id="14" name="Text 12"/>
          <p:cNvSpPr/>
          <p:nvPr/>
        </p:nvSpPr>
        <p:spPr>
          <a:xfrm>
            <a:off x="347472" y="1216152"/>
            <a:ext cx="201168" cy="182880"/>
          </a:xfrm>
          <a:prstGeom prst="rect">
            <a:avLst/>
          </a:prstGeom>
          <a:noFill/>
        </p:spPr>
        <p:txBody>
          <a:bodyPr wrap="square" lIns="0" tIns="0" rIns="0" bIns="0" rtlCol="0" anchor="ctr"/>
          <a:lstStyle/>
          <a:p>
            <a:pPr marL="0" indent="0" algn="ctr">
              <a:buNone/>
            </a:pPr>
            <a:r>
              <a:rPr lang="en-US" sz="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01</a:t>
            </a:r>
            <a:endParaRPr lang="en-US" sz="800" dirty="0"/>
          </a:p>
        </p:txBody>
      </p:sp>
      <p:sp>
        <p:nvSpPr>
          <p:cNvPr id="15" name="Text 13"/>
          <p:cNvSpPr/>
          <p:nvPr/>
        </p:nvSpPr>
        <p:spPr>
          <a:xfrm>
            <a:off x="603504" y="1207008"/>
            <a:ext cx="2322576" cy="219456"/>
          </a:xfrm>
          <a:prstGeom prst="rect">
            <a:avLst/>
          </a:prstGeom>
          <a:noFill/>
        </p:spPr>
        <p:txBody>
          <a:bodyPr wrap="square" lIns="0" tIns="0" rIns="0" bIns="0" rtlCol="0" anchor="ctr"/>
          <a:lstStyle/>
          <a:p>
            <a:pPr marL="0" indent="0">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Simple Linked-List Design</a:t>
            </a:r>
            <a:endParaRPr lang="en-US" sz="1000" dirty="0"/>
          </a:p>
        </p:txBody>
      </p:sp>
      <p:sp>
        <p:nvSpPr>
          <p:cNvPr id="16" name="Text 14"/>
          <p:cNvSpPr/>
          <p:nvPr/>
        </p:nvSpPr>
        <p:spPr>
          <a:xfrm>
            <a:off x="365760" y="1481328"/>
            <a:ext cx="2560320" cy="1335024"/>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FAT uses a table of entries, one per cluster. Each entry points to the next cluster in a file's chain — like a singly-linked list. Simple to implement; no complex B-tree required.</a:t>
            </a:r>
            <a:endParaRPr lang="en-US" sz="900" dirty="0"/>
          </a:p>
        </p:txBody>
      </p:sp>
      <p:sp>
        <p:nvSpPr>
          <p:cNvPr id="17" name="Shape 15"/>
          <p:cNvSpPr/>
          <p:nvPr/>
        </p:nvSpPr>
        <p:spPr>
          <a:xfrm>
            <a:off x="3182112" y="1170432"/>
            <a:ext cx="2761488" cy="1700784"/>
          </a:xfrm>
          <a:prstGeom prst="rect">
            <a:avLst/>
          </a:prstGeom>
          <a:solidFill>
            <a:srgbClr val="EEF6FB"/>
          </a:solidFill>
          <a:ln w="12700">
            <a:solidFill>
              <a:srgbClr val="EF4444"/>
            </a:solidFill>
            <a:prstDash val="solid"/>
          </a:ln>
          <a:effectLst>
            <a:outerShdw blurRad="127000" dist="38100" dir="8100000" algn="bl" rotWithShape="0">
              <a:srgbClr val="000000">
                <a:alpha val="22000"/>
              </a:srgbClr>
            </a:outerShdw>
          </a:effectLst>
        </p:spPr>
        <p:txBody>
          <a:bodyPr/>
          <a:lstStyle/>
          <a:p>
            <a:endParaRPr lang="en-SG"/>
          </a:p>
        </p:txBody>
      </p:sp>
      <p:sp>
        <p:nvSpPr>
          <p:cNvPr id="18" name="Shape 16"/>
          <p:cNvSpPr/>
          <p:nvPr/>
        </p:nvSpPr>
        <p:spPr>
          <a:xfrm>
            <a:off x="3182112" y="1170432"/>
            <a:ext cx="2761488" cy="274320"/>
          </a:xfrm>
          <a:prstGeom prst="rect">
            <a:avLst/>
          </a:prstGeom>
          <a:solidFill>
            <a:srgbClr val="EF4444"/>
          </a:solidFill>
          <a:ln w="12700">
            <a:solidFill>
              <a:srgbClr val="EF4444"/>
            </a:solidFill>
            <a:prstDash val="solid"/>
          </a:ln>
        </p:spPr>
        <p:txBody>
          <a:bodyPr/>
          <a:lstStyle/>
          <a:p>
            <a:endParaRPr lang="en-SG"/>
          </a:p>
        </p:txBody>
      </p:sp>
      <p:sp>
        <p:nvSpPr>
          <p:cNvPr id="19" name="Shape 17"/>
          <p:cNvSpPr/>
          <p:nvPr/>
        </p:nvSpPr>
        <p:spPr>
          <a:xfrm>
            <a:off x="3273552" y="1207008"/>
            <a:ext cx="201168" cy="201168"/>
          </a:xfrm>
          <a:prstGeom prst="line">
            <a:avLst/>
          </a:prstGeom>
          <a:noFill/>
          <a:ln w="12700">
            <a:solidFill>
              <a:srgbClr val="000000">
                <a:alpha val="70000"/>
              </a:srgbClr>
            </a:solidFill>
            <a:prstDash val="solid"/>
          </a:ln>
        </p:spPr>
        <p:txBody>
          <a:bodyPr/>
          <a:lstStyle/>
          <a:p>
            <a:endParaRPr lang="en-SG"/>
          </a:p>
        </p:txBody>
      </p:sp>
      <p:sp>
        <p:nvSpPr>
          <p:cNvPr id="20" name="Text 18"/>
          <p:cNvSpPr/>
          <p:nvPr/>
        </p:nvSpPr>
        <p:spPr>
          <a:xfrm>
            <a:off x="3273552" y="1216152"/>
            <a:ext cx="201168" cy="182880"/>
          </a:xfrm>
          <a:prstGeom prst="rect">
            <a:avLst/>
          </a:prstGeom>
          <a:noFill/>
        </p:spPr>
        <p:txBody>
          <a:bodyPr wrap="square" lIns="0" tIns="0" rIns="0" bIns="0" rtlCol="0" anchor="ctr"/>
          <a:lstStyle/>
          <a:p>
            <a:pPr marL="0" indent="0" algn="ctr">
              <a:buNone/>
            </a:pPr>
            <a:r>
              <a:rPr lang="en-US" sz="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02</a:t>
            </a:r>
            <a:endParaRPr lang="en-US" sz="800" dirty="0"/>
          </a:p>
        </p:txBody>
      </p:sp>
      <p:sp>
        <p:nvSpPr>
          <p:cNvPr id="21" name="Text 19"/>
          <p:cNvSpPr/>
          <p:nvPr/>
        </p:nvSpPr>
        <p:spPr>
          <a:xfrm>
            <a:off x="3529584" y="1207008"/>
            <a:ext cx="2322576" cy="219456"/>
          </a:xfrm>
          <a:prstGeom prst="rect">
            <a:avLst/>
          </a:prstGeom>
          <a:noFill/>
        </p:spPr>
        <p:txBody>
          <a:bodyPr wrap="square" lIns="0" tIns="0" rIns="0" bIns="0" rtlCol="0" anchor="ctr"/>
          <a:lstStyle/>
          <a:p>
            <a:pPr marL="0" indent="0">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No Access Controls</a:t>
            </a:r>
            <a:endParaRPr lang="en-US" sz="1000" dirty="0"/>
          </a:p>
        </p:txBody>
      </p:sp>
      <p:sp>
        <p:nvSpPr>
          <p:cNvPr id="22" name="Text 20"/>
          <p:cNvSpPr/>
          <p:nvPr/>
        </p:nvSpPr>
        <p:spPr>
          <a:xfrm>
            <a:off x="3291840" y="1481328"/>
            <a:ext cx="2560320" cy="1335024"/>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FAT has no built-in permissions, ACLs, or encryption. Any process or user can read or write any file. Unsuitable for multi-user secure environments but universal for portable media.</a:t>
            </a:r>
            <a:endParaRPr lang="en-US" sz="900" dirty="0"/>
          </a:p>
        </p:txBody>
      </p:sp>
      <p:sp>
        <p:nvSpPr>
          <p:cNvPr id="23" name="Shape 21"/>
          <p:cNvSpPr/>
          <p:nvPr/>
        </p:nvSpPr>
        <p:spPr>
          <a:xfrm>
            <a:off x="6108192" y="1170432"/>
            <a:ext cx="2761488" cy="1700784"/>
          </a:xfrm>
          <a:prstGeom prst="rect">
            <a:avLst/>
          </a:prstGeom>
          <a:solidFill>
            <a:srgbClr val="EEF6FB"/>
          </a:solidFill>
          <a:ln w="12700">
            <a:solidFill>
              <a:srgbClr val="6366F1"/>
            </a:solidFill>
            <a:prstDash val="solid"/>
          </a:ln>
          <a:effectLst>
            <a:outerShdw blurRad="127000" dist="38100" dir="8100000" algn="bl" rotWithShape="0">
              <a:srgbClr val="000000">
                <a:alpha val="22000"/>
              </a:srgbClr>
            </a:outerShdw>
          </a:effectLst>
        </p:spPr>
        <p:txBody>
          <a:bodyPr/>
          <a:lstStyle/>
          <a:p>
            <a:endParaRPr lang="en-SG"/>
          </a:p>
        </p:txBody>
      </p:sp>
      <p:sp>
        <p:nvSpPr>
          <p:cNvPr id="24" name="Shape 22"/>
          <p:cNvSpPr/>
          <p:nvPr/>
        </p:nvSpPr>
        <p:spPr>
          <a:xfrm>
            <a:off x="6108192" y="1170432"/>
            <a:ext cx="2761488" cy="274320"/>
          </a:xfrm>
          <a:prstGeom prst="rect">
            <a:avLst/>
          </a:prstGeom>
          <a:solidFill>
            <a:srgbClr val="6366F1"/>
          </a:solidFill>
          <a:ln w="12700">
            <a:solidFill>
              <a:srgbClr val="6366F1"/>
            </a:solidFill>
            <a:prstDash val="solid"/>
          </a:ln>
        </p:spPr>
        <p:txBody>
          <a:bodyPr/>
          <a:lstStyle/>
          <a:p>
            <a:endParaRPr lang="en-SG"/>
          </a:p>
        </p:txBody>
      </p:sp>
      <p:sp>
        <p:nvSpPr>
          <p:cNvPr id="25" name="Shape 23"/>
          <p:cNvSpPr/>
          <p:nvPr/>
        </p:nvSpPr>
        <p:spPr>
          <a:xfrm>
            <a:off x="6199632" y="1207008"/>
            <a:ext cx="201168" cy="201168"/>
          </a:xfrm>
          <a:prstGeom prst="line">
            <a:avLst/>
          </a:prstGeom>
          <a:noFill/>
          <a:ln w="12700">
            <a:solidFill>
              <a:srgbClr val="000000">
                <a:alpha val="70000"/>
              </a:srgbClr>
            </a:solidFill>
            <a:prstDash val="solid"/>
          </a:ln>
        </p:spPr>
        <p:txBody>
          <a:bodyPr/>
          <a:lstStyle/>
          <a:p>
            <a:endParaRPr lang="en-SG"/>
          </a:p>
        </p:txBody>
      </p:sp>
      <p:sp>
        <p:nvSpPr>
          <p:cNvPr id="26" name="Text 24"/>
          <p:cNvSpPr/>
          <p:nvPr/>
        </p:nvSpPr>
        <p:spPr>
          <a:xfrm>
            <a:off x="6199632" y="1216152"/>
            <a:ext cx="201168" cy="182880"/>
          </a:xfrm>
          <a:prstGeom prst="rect">
            <a:avLst/>
          </a:prstGeom>
          <a:noFill/>
        </p:spPr>
        <p:txBody>
          <a:bodyPr wrap="square" lIns="0" tIns="0" rIns="0" bIns="0" rtlCol="0" anchor="ctr"/>
          <a:lstStyle/>
          <a:p>
            <a:pPr marL="0" indent="0" algn="ctr">
              <a:buNone/>
            </a:pPr>
            <a:r>
              <a:rPr lang="en-US" sz="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03</a:t>
            </a:r>
            <a:endParaRPr lang="en-US" sz="800" dirty="0"/>
          </a:p>
        </p:txBody>
      </p:sp>
      <p:sp>
        <p:nvSpPr>
          <p:cNvPr id="27" name="Text 25"/>
          <p:cNvSpPr/>
          <p:nvPr/>
        </p:nvSpPr>
        <p:spPr>
          <a:xfrm>
            <a:off x="6455664" y="1207008"/>
            <a:ext cx="2322576" cy="219456"/>
          </a:xfrm>
          <a:prstGeom prst="rect">
            <a:avLst/>
          </a:prstGeom>
          <a:noFill/>
        </p:spPr>
        <p:txBody>
          <a:bodyPr wrap="square" lIns="0" tIns="0" rIns="0" bIns="0" rtlCol="0" anchor="ctr"/>
          <a:lstStyle/>
          <a:p>
            <a:pPr marL="0" indent="0">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No Journalling</a:t>
            </a:r>
            <a:endParaRPr lang="en-US" sz="1000" dirty="0"/>
          </a:p>
        </p:txBody>
      </p:sp>
      <p:sp>
        <p:nvSpPr>
          <p:cNvPr id="28" name="Text 26"/>
          <p:cNvSpPr/>
          <p:nvPr/>
        </p:nvSpPr>
        <p:spPr>
          <a:xfrm>
            <a:off x="6217920" y="1481328"/>
            <a:ext cx="2560320" cy="1335024"/>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FAT does not record metadata operations before committing them. A sudden power loss can corrupt the volume. Later versions use dirty-bit flags; NTFS and EXT4 improve on this significantly.</a:t>
            </a:r>
            <a:endParaRPr lang="en-US" sz="900" dirty="0"/>
          </a:p>
        </p:txBody>
      </p:sp>
      <p:sp>
        <p:nvSpPr>
          <p:cNvPr id="29" name="Shape 27"/>
          <p:cNvSpPr/>
          <p:nvPr/>
        </p:nvSpPr>
        <p:spPr>
          <a:xfrm>
            <a:off x="256032" y="3035808"/>
            <a:ext cx="2761488" cy="1700784"/>
          </a:xfrm>
          <a:prstGeom prst="rect">
            <a:avLst/>
          </a:prstGeom>
          <a:solidFill>
            <a:srgbClr val="EEF6FB"/>
          </a:solidFill>
          <a:ln w="12700">
            <a:solidFill>
              <a:srgbClr val="10B981"/>
            </a:solidFill>
            <a:prstDash val="solid"/>
          </a:ln>
          <a:effectLst>
            <a:outerShdw blurRad="127000" dist="38100" dir="8100000" algn="bl" rotWithShape="0">
              <a:srgbClr val="000000">
                <a:alpha val="22000"/>
              </a:srgbClr>
            </a:outerShdw>
          </a:effectLst>
        </p:spPr>
        <p:txBody>
          <a:bodyPr/>
          <a:lstStyle/>
          <a:p>
            <a:endParaRPr lang="en-SG"/>
          </a:p>
        </p:txBody>
      </p:sp>
      <p:sp>
        <p:nvSpPr>
          <p:cNvPr id="30" name="Shape 28"/>
          <p:cNvSpPr/>
          <p:nvPr/>
        </p:nvSpPr>
        <p:spPr>
          <a:xfrm>
            <a:off x="256032" y="3035808"/>
            <a:ext cx="2761488" cy="274320"/>
          </a:xfrm>
          <a:prstGeom prst="rect">
            <a:avLst/>
          </a:prstGeom>
          <a:solidFill>
            <a:srgbClr val="10B981"/>
          </a:solidFill>
          <a:ln w="12700">
            <a:solidFill>
              <a:srgbClr val="10B981"/>
            </a:solidFill>
            <a:prstDash val="solid"/>
          </a:ln>
        </p:spPr>
        <p:txBody>
          <a:bodyPr/>
          <a:lstStyle/>
          <a:p>
            <a:endParaRPr lang="en-SG"/>
          </a:p>
        </p:txBody>
      </p:sp>
      <p:sp>
        <p:nvSpPr>
          <p:cNvPr id="31" name="Shape 29"/>
          <p:cNvSpPr/>
          <p:nvPr/>
        </p:nvSpPr>
        <p:spPr>
          <a:xfrm>
            <a:off x="347472" y="3072384"/>
            <a:ext cx="201168" cy="201168"/>
          </a:xfrm>
          <a:prstGeom prst="line">
            <a:avLst/>
          </a:prstGeom>
          <a:noFill/>
          <a:ln w="12700">
            <a:solidFill>
              <a:srgbClr val="000000">
                <a:alpha val="70000"/>
              </a:srgbClr>
            </a:solidFill>
            <a:prstDash val="solid"/>
          </a:ln>
        </p:spPr>
        <p:txBody>
          <a:bodyPr/>
          <a:lstStyle/>
          <a:p>
            <a:endParaRPr lang="en-SG"/>
          </a:p>
        </p:txBody>
      </p:sp>
      <p:sp>
        <p:nvSpPr>
          <p:cNvPr id="32" name="Text 30"/>
          <p:cNvSpPr/>
          <p:nvPr/>
        </p:nvSpPr>
        <p:spPr>
          <a:xfrm>
            <a:off x="347472" y="3081528"/>
            <a:ext cx="201168" cy="182880"/>
          </a:xfrm>
          <a:prstGeom prst="rect">
            <a:avLst/>
          </a:prstGeom>
          <a:noFill/>
        </p:spPr>
        <p:txBody>
          <a:bodyPr wrap="square" lIns="0" tIns="0" rIns="0" bIns="0" rtlCol="0" anchor="ctr"/>
          <a:lstStyle/>
          <a:p>
            <a:pPr marL="0" indent="0" algn="ctr">
              <a:buNone/>
            </a:pPr>
            <a:r>
              <a:rPr lang="en-US" sz="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04</a:t>
            </a:r>
            <a:endParaRPr lang="en-US" sz="800" dirty="0"/>
          </a:p>
        </p:txBody>
      </p:sp>
      <p:sp>
        <p:nvSpPr>
          <p:cNvPr id="33" name="Text 31"/>
          <p:cNvSpPr/>
          <p:nvPr/>
        </p:nvSpPr>
        <p:spPr>
          <a:xfrm>
            <a:off x="603504" y="3072384"/>
            <a:ext cx="2322576" cy="219456"/>
          </a:xfrm>
          <a:prstGeom prst="rect">
            <a:avLst/>
          </a:prstGeom>
          <a:noFill/>
        </p:spPr>
        <p:txBody>
          <a:bodyPr wrap="square" lIns="0" tIns="0" rIns="0" bIns="0" rtlCol="0" anchor="ctr"/>
          <a:lstStyle/>
          <a:p>
            <a:pPr marL="0" indent="0">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Wide Compatibility</a:t>
            </a:r>
            <a:endParaRPr lang="en-US" sz="1000" dirty="0"/>
          </a:p>
        </p:txBody>
      </p:sp>
      <p:sp>
        <p:nvSpPr>
          <p:cNvPr id="34" name="Text 32"/>
          <p:cNvSpPr/>
          <p:nvPr/>
        </p:nvSpPr>
        <p:spPr>
          <a:xfrm>
            <a:off x="365760" y="3346704"/>
            <a:ext cx="2560320" cy="1335024"/>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Supported natively by Windows, macOS, Linux, Unix, and most embedded systems and cameras. The universal 'lingua franca' of storage. exFAT extends FAT32 for larger drives.</a:t>
            </a:r>
            <a:endParaRPr lang="en-US" sz="900" dirty="0"/>
          </a:p>
        </p:txBody>
      </p:sp>
      <p:sp>
        <p:nvSpPr>
          <p:cNvPr id="35" name="Shape 33"/>
          <p:cNvSpPr/>
          <p:nvPr/>
        </p:nvSpPr>
        <p:spPr>
          <a:xfrm>
            <a:off x="3182112" y="3035808"/>
            <a:ext cx="2761488" cy="1700784"/>
          </a:xfrm>
          <a:prstGeom prst="rect">
            <a:avLst/>
          </a:prstGeom>
          <a:solidFill>
            <a:srgbClr val="EEF6FB"/>
          </a:solidFill>
          <a:ln w="12700">
            <a:solidFill>
              <a:srgbClr val="0EA5E9"/>
            </a:solidFill>
            <a:prstDash val="solid"/>
          </a:ln>
          <a:effectLst>
            <a:outerShdw blurRad="127000" dist="38100" dir="8100000" algn="bl" rotWithShape="0">
              <a:srgbClr val="000000">
                <a:alpha val="22000"/>
              </a:srgbClr>
            </a:outerShdw>
          </a:effectLst>
        </p:spPr>
        <p:txBody>
          <a:bodyPr/>
          <a:lstStyle/>
          <a:p>
            <a:endParaRPr lang="en-SG"/>
          </a:p>
        </p:txBody>
      </p:sp>
      <p:sp>
        <p:nvSpPr>
          <p:cNvPr id="36" name="Shape 34"/>
          <p:cNvSpPr/>
          <p:nvPr/>
        </p:nvSpPr>
        <p:spPr>
          <a:xfrm>
            <a:off x="3182112" y="3035808"/>
            <a:ext cx="2761488" cy="274320"/>
          </a:xfrm>
          <a:prstGeom prst="rect">
            <a:avLst/>
          </a:prstGeom>
          <a:solidFill>
            <a:srgbClr val="0EA5E9"/>
          </a:solidFill>
          <a:ln w="12700">
            <a:solidFill>
              <a:srgbClr val="0EA5E9"/>
            </a:solidFill>
            <a:prstDash val="solid"/>
          </a:ln>
        </p:spPr>
        <p:txBody>
          <a:bodyPr/>
          <a:lstStyle/>
          <a:p>
            <a:endParaRPr lang="en-SG"/>
          </a:p>
        </p:txBody>
      </p:sp>
      <p:sp>
        <p:nvSpPr>
          <p:cNvPr id="37" name="Shape 35"/>
          <p:cNvSpPr/>
          <p:nvPr/>
        </p:nvSpPr>
        <p:spPr>
          <a:xfrm>
            <a:off x="3273552" y="3072384"/>
            <a:ext cx="201168" cy="201168"/>
          </a:xfrm>
          <a:prstGeom prst="line">
            <a:avLst/>
          </a:prstGeom>
          <a:noFill/>
          <a:ln w="12700">
            <a:solidFill>
              <a:srgbClr val="000000">
                <a:alpha val="70000"/>
              </a:srgbClr>
            </a:solidFill>
            <a:prstDash val="solid"/>
          </a:ln>
        </p:spPr>
        <p:txBody>
          <a:bodyPr/>
          <a:lstStyle/>
          <a:p>
            <a:endParaRPr lang="en-SG"/>
          </a:p>
        </p:txBody>
      </p:sp>
      <p:sp>
        <p:nvSpPr>
          <p:cNvPr id="38" name="Text 36"/>
          <p:cNvSpPr/>
          <p:nvPr/>
        </p:nvSpPr>
        <p:spPr>
          <a:xfrm>
            <a:off x="3273552" y="3081528"/>
            <a:ext cx="201168" cy="182880"/>
          </a:xfrm>
          <a:prstGeom prst="rect">
            <a:avLst/>
          </a:prstGeom>
          <a:noFill/>
        </p:spPr>
        <p:txBody>
          <a:bodyPr wrap="square" lIns="0" tIns="0" rIns="0" bIns="0" rtlCol="0" anchor="ctr"/>
          <a:lstStyle/>
          <a:p>
            <a:pPr marL="0" indent="0" algn="ctr">
              <a:buNone/>
            </a:pPr>
            <a:r>
              <a:rPr lang="en-US" sz="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05</a:t>
            </a:r>
            <a:endParaRPr lang="en-US" sz="800" dirty="0"/>
          </a:p>
        </p:txBody>
      </p:sp>
      <p:sp>
        <p:nvSpPr>
          <p:cNvPr id="39" name="Text 37"/>
          <p:cNvSpPr/>
          <p:nvPr/>
        </p:nvSpPr>
        <p:spPr>
          <a:xfrm>
            <a:off x="3529584" y="3072384"/>
            <a:ext cx="2322576" cy="219456"/>
          </a:xfrm>
          <a:prstGeom prst="rect">
            <a:avLst/>
          </a:prstGeom>
          <a:noFill/>
        </p:spPr>
        <p:txBody>
          <a:bodyPr wrap="square" lIns="0" tIns="0" rIns="0" bIns="0" rtlCol="0" anchor="ctr"/>
          <a:lstStyle/>
          <a:p>
            <a:pPr marL="0" indent="0">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Fixed Cluster Size</a:t>
            </a:r>
            <a:endParaRPr lang="en-US" sz="1000" dirty="0"/>
          </a:p>
        </p:txBody>
      </p:sp>
      <p:sp>
        <p:nvSpPr>
          <p:cNvPr id="40" name="Text 38"/>
          <p:cNvSpPr/>
          <p:nvPr/>
        </p:nvSpPr>
        <p:spPr>
          <a:xfrm>
            <a:off x="3291840" y="3346704"/>
            <a:ext cx="2560320" cy="1335024"/>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The cluster size is determined at format time and cannot change. Small files waste space in large clusters (slack space). Forensic value: slack space may contain residual data from previously stored files.</a:t>
            </a:r>
            <a:endParaRPr lang="en-US" sz="900" dirty="0"/>
          </a:p>
        </p:txBody>
      </p:sp>
      <p:sp>
        <p:nvSpPr>
          <p:cNvPr id="41" name="Shape 39"/>
          <p:cNvSpPr/>
          <p:nvPr/>
        </p:nvSpPr>
        <p:spPr>
          <a:xfrm>
            <a:off x="6108192" y="3035808"/>
            <a:ext cx="2761488" cy="1700784"/>
          </a:xfrm>
          <a:prstGeom prst="rect">
            <a:avLst/>
          </a:prstGeom>
          <a:solidFill>
            <a:srgbClr val="EEF6FB"/>
          </a:solidFill>
          <a:ln w="12700">
            <a:solidFill>
              <a:srgbClr val="F97316"/>
            </a:solidFill>
            <a:prstDash val="solid"/>
          </a:ln>
          <a:effectLst>
            <a:outerShdw blurRad="127000" dist="38100" dir="8100000" algn="bl" rotWithShape="0">
              <a:srgbClr val="000000">
                <a:alpha val="22000"/>
              </a:srgbClr>
            </a:outerShdw>
          </a:effectLst>
        </p:spPr>
        <p:txBody>
          <a:bodyPr/>
          <a:lstStyle/>
          <a:p>
            <a:endParaRPr lang="en-SG"/>
          </a:p>
        </p:txBody>
      </p:sp>
      <p:sp>
        <p:nvSpPr>
          <p:cNvPr id="42" name="Shape 40"/>
          <p:cNvSpPr/>
          <p:nvPr/>
        </p:nvSpPr>
        <p:spPr>
          <a:xfrm>
            <a:off x="6108192" y="3035808"/>
            <a:ext cx="2761488" cy="274320"/>
          </a:xfrm>
          <a:prstGeom prst="rect">
            <a:avLst/>
          </a:prstGeom>
          <a:solidFill>
            <a:srgbClr val="F97316"/>
          </a:solidFill>
          <a:ln w="12700">
            <a:solidFill>
              <a:srgbClr val="F97316"/>
            </a:solidFill>
            <a:prstDash val="solid"/>
          </a:ln>
        </p:spPr>
        <p:txBody>
          <a:bodyPr/>
          <a:lstStyle/>
          <a:p>
            <a:endParaRPr lang="en-SG"/>
          </a:p>
        </p:txBody>
      </p:sp>
      <p:sp>
        <p:nvSpPr>
          <p:cNvPr id="43" name="Shape 41"/>
          <p:cNvSpPr/>
          <p:nvPr/>
        </p:nvSpPr>
        <p:spPr>
          <a:xfrm>
            <a:off x="6199632" y="3072384"/>
            <a:ext cx="201168" cy="201168"/>
          </a:xfrm>
          <a:prstGeom prst="line">
            <a:avLst/>
          </a:prstGeom>
          <a:noFill/>
          <a:ln w="12700">
            <a:solidFill>
              <a:srgbClr val="000000">
                <a:alpha val="70000"/>
              </a:srgbClr>
            </a:solidFill>
            <a:prstDash val="solid"/>
          </a:ln>
        </p:spPr>
        <p:txBody>
          <a:bodyPr/>
          <a:lstStyle/>
          <a:p>
            <a:endParaRPr lang="en-SG"/>
          </a:p>
        </p:txBody>
      </p:sp>
      <p:sp>
        <p:nvSpPr>
          <p:cNvPr id="44" name="Text 42"/>
          <p:cNvSpPr/>
          <p:nvPr/>
        </p:nvSpPr>
        <p:spPr>
          <a:xfrm>
            <a:off x="6199632" y="3081528"/>
            <a:ext cx="201168" cy="182880"/>
          </a:xfrm>
          <a:prstGeom prst="rect">
            <a:avLst/>
          </a:prstGeom>
          <a:noFill/>
        </p:spPr>
        <p:txBody>
          <a:bodyPr wrap="square" lIns="0" tIns="0" rIns="0" bIns="0" rtlCol="0" anchor="ctr"/>
          <a:lstStyle/>
          <a:p>
            <a:pPr marL="0" indent="0" algn="ctr">
              <a:buNone/>
            </a:pPr>
            <a:r>
              <a:rPr lang="en-US" sz="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06</a:t>
            </a:r>
            <a:endParaRPr lang="en-US" sz="800" dirty="0"/>
          </a:p>
        </p:txBody>
      </p:sp>
      <p:sp>
        <p:nvSpPr>
          <p:cNvPr id="45" name="Text 43"/>
          <p:cNvSpPr/>
          <p:nvPr/>
        </p:nvSpPr>
        <p:spPr>
          <a:xfrm>
            <a:off x="6455664" y="3072384"/>
            <a:ext cx="2322576" cy="219456"/>
          </a:xfrm>
          <a:prstGeom prst="rect">
            <a:avLst/>
          </a:prstGeom>
          <a:noFill/>
        </p:spPr>
        <p:txBody>
          <a:bodyPr wrap="square" lIns="0" tIns="0" rIns="0" bIns="0" rtlCol="0" anchor="ctr"/>
          <a:lstStyle/>
          <a:p>
            <a:pPr marL="0" indent="0">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Typical Use Cases</a:t>
            </a:r>
            <a:endParaRPr lang="en-US" sz="1000" dirty="0"/>
          </a:p>
        </p:txBody>
      </p:sp>
      <p:sp>
        <p:nvSpPr>
          <p:cNvPr id="46" name="Text 44"/>
          <p:cNvSpPr/>
          <p:nvPr/>
        </p:nvSpPr>
        <p:spPr>
          <a:xfrm>
            <a:off x="6217920" y="3346704"/>
            <a:ext cx="2560320" cy="1335024"/>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USB flash drives, SD/microSD cards, digital cameras, floppy disks. Widely used in IoT and embedded systems. Any cross-platform storage requirement typically defaults to FAT or exFAT.</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F59E0B"/>
          </a:solidFill>
          <a:ln w="12700">
            <a:solidFill>
              <a:srgbClr val="F59E0B"/>
            </a:solidFill>
            <a:prstDash val="solid"/>
          </a:ln>
        </p:spPr>
        <p:txBody>
          <a:bodyPr/>
          <a:lstStyle/>
          <a:p>
            <a:endParaRPr lang="en-SG"/>
          </a:p>
        </p:txBody>
      </p:sp>
      <p:sp>
        <p:nvSpPr>
          <p:cNvPr id="3" name="Text 1"/>
          <p:cNvSpPr/>
          <p:nvPr/>
        </p:nvSpPr>
        <p:spPr>
          <a:xfrm>
            <a:off x="256032" y="141732"/>
            <a:ext cx="8631936" cy="548640"/>
          </a:xfrm>
          <a:prstGeom prst="rect">
            <a:avLst/>
          </a:prstGeom>
          <a:noFill/>
        </p:spPr>
        <p:txBody>
          <a:bodyPr wrap="square" lIns="0" tIns="0" rIns="0" bIns="0" rtlCol="0" anchor="ctr"/>
          <a:lstStyle/>
          <a:p>
            <a:pPr marL="0" indent="0">
              <a:buNone/>
            </a:pPr>
            <a:r>
              <a:rPr lang="en-US" sz="17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FAT Versions — FAT12, FAT16 &amp; FAT32 Compared</a:t>
            </a:r>
            <a:endParaRPr lang="en-US" sz="1700" dirty="0"/>
          </a:p>
        </p:txBody>
      </p:sp>
      <p:sp>
        <p:nvSpPr>
          <p:cNvPr id="4" name="Shape 2"/>
          <p:cNvSpPr/>
          <p:nvPr/>
        </p:nvSpPr>
        <p:spPr>
          <a:xfrm>
            <a:off x="256032" y="73152"/>
            <a:ext cx="1463040" cy="219456"/>
          </a:xfrm>
          <a:prstGeom prst="rect">
            <a:avLst/>
          </a:prstGeom>
          <a:solidFill>
            <a:srgbClr val="F59E0B"/>
          </a:solidFill>
          <a:ln w="12700">
            <a:solidFill>
              <a:srgbClr val="F59E0B"/>
            </a:solidFill>
            <a:prstDash val="solid"/>
          </a:ln>
        </p:spPr>
        <p:txBody>
          <a:bodyPr/>
          <a:lstStyle/>
          <a:p>
            <a:endParaRPr lang="en-SG"/>
          </a:p>
        </p:txBody>
      </p:sp>
      <p:sp>
        <p:nvSpPr>
          <p:cNvPr id="5" name="Text 3"/>
          <p:cNvSpPr/>
          <p:nvPr/>
        </p:nvSpPr>
        <p:spPr>
          <a:xfrm>
            <a:off x="256032" y="73152"/>
            <a:ext cx="1463040" cy="219456"/>
          </a:xfrm>
          <a:prstGeom prst="rect">
            <a:avLst/>
          </a:prstGeom>
          <a:noFill/>
        </p:spPr>
        <p:txBody>
          <a:bodyPr wrap="square" lIns="0" tIns="0" rIns="0" bIns="0" rtlCol="0" anchor="ctr"/>
          <a:lstStyle/>
          <a:p>
            <a:pPr marL="0" indent="0" algn="ctr">
              <a:buNone/>
            </a:pPr>
            <a:r>
              <a:rPr lang="en-US" sz="800" b="1" kern="0" spc="100"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SECTION 02 — FAT</a:t>
            </a:r>
            <a:endParaRPr lang="en-US" sz="800" dirty="0"/>
          </a:p>
        </p:txBody>
      </p:sp>
      <p:sp>
        <p:nvSpPr>
          <p:cNvPr id="10" name="Text 8"/>
          <p:cNvSpPr/>
          <p:nvPr/>
        </p:nvSpPr>
        <p:spPr>
          <a:xfrm>
            <a:off x="256032" y="822960"/>
            <a:ext cx="8631936" cy="256032"/>
          </a:xfrm>
          <a:prstGeom prst="rect">
            <a:avLst/>
          </a:prstGeom>
          <a:noFill/>
        </p:spPr>
        <p:txBody>
          <a:bodyPr wrap="square" rtlCol="0" anchor="ctr"/>
          <a:lstStyle/>
          <a:p>
            <a:pPr marL="0" indent="0">
              <a:buNone/>
            </a:pPr>
            <a:r>
              <a:rPr lang="en-US" sz="950" i="1" dirty="0">
                <a:solidFill>
                  <a:srgbClr val="475569"/>
                </a:solidFill>
                <a:latin typeface="Calibri" panose="020F0502020204030204" pitchFamily="34" charset="0"/>
                <a:ea typeface="Calibri" panose="020F0502020204030204" pitchFamily="34" charset="-122"/>
                <a:cs typeface="Calibri" panose="020F0502020204030204" pitchFamily="34" charset="-120"/>
              </a:rPr>
              <a:t>FAT12 was designed for floppy disks; FAT16 for early hard drives; FAT32 remains the standard for removable media today.</a:t>
            </a:r>
            <a:endParaRPr lang="en-US" sz="950" dirty="0"/>
          </a:p>
        </p:txBody>
      </p:sp>
      <p:graphicFrame>
        <p:nvGraphicFramePr>
          <p:cNvPr id="11" name="Table 0"/>
          <p:cNvGraphicFramePr>
            <a:graphicFrameLocks noGrp="1"/>
          </p:cNvGraphicFramePr>
          <p:nvPr/>
        </p:nvGraphicFramePr>
        <p:xfrm>
          <a:off x="256032" y="1115568"/>
          <a:ext cx="8631936" cy="3520440"/>
        </p:xfrm>
        <a:graphic>
          <a:graphicData uri="http://schemas.openxmlformats.org/drawingml/2006/table">
            <a:tbl>
              <a:tblPr/>
              <a:tblGrid>
                <a:gridCol w="2560320"/>
                <a:gridCol w="1920240"/>
                <a:gridCol w="1920240"/>
                <a:gridCol w="2231136"/>
              </a:tblGrid>
              <a:tr h="320040">
                <a:tc>
                  <a:txBody>
                    <a:bodyPr/>
                    <a:lstStyle/>
                    <a:p>
                      <a:pPr marL="0" indent="0">
                        <a:buNone/>
                      </a:pPr>
                      <a:r>
                        <a:rPr lang="en-US" sz="950" b="1" dirty="0">
                          <a:solidFill>
                            <a:srgbClr val="000000"/>
                          </a:solidFill>
                          <a:latin typeface="Calibri" panose="020F0502020204030204" pitchFamily="34" charset="0"/>
                          <a:ea typeface="Calibri" panose="020F0502020204030204" pitchFamily="34" charset="-122"/>
                          <a:cs typeface="Calibri" panose="020F0502020204030204" pitchFamily="34" charset="-120"/>
                        </a:rPr>
                        <a:t>Feature</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solidFill>
                      <a:srgbClr val="F59E0B"/>
                    </a:solidFill>
                  </a:tcPr>
                </a:tc>
                <a:tc>
                  <a:txBody>
                    <a:bodyPr/>
                    <a:lstStyle/>
                    <a:p>
                      <a:pPr marL="0" indent="0">
                        <a:buNone/>
                      </a:pPr>
                      <a:r>
                        <a:rPr lang="en-US" sz="950" b="1" dirty="0">
                          <a:solidFill>
                            <a:srgbClr val="000000"/>
                          </a:solidFill>
                          <a:latin typeface="Calibri" panose="020F0502020204030204" pitchFamily="34" charset="0"/>
                          <a:ea typeface="Calibri" panose="020F0502020204030204" pitchFamily="34" charset="-122"/>
                          <a:cs typeface="Calibri" panose="020F0502020204030204" pitchFamily="34" charset="-120"/>
                        </a:rPr>
                        <a:t>FAT12</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solidFill>
                      <a:srgbClr val="D97706"/>
                    </a:solidFill>
                  </a:tcPr>
                </a:tc>
                <a:tc>
                  <a:txBody>
                    <a:bodyPr/>
                    <a:lstStyle/>
                    <a:p>
                      <a:pPr marL="0" indent="0">
                        <a:buNone/>
                      </a:pPr>
                      <a:r>
                        <a:rPr lang="en-US" sz="950" b="1" dirty="0">
                          <a:solidFill>
                            <a:srgbClr val="000000"/>
                          </a:solidFill>
                          <a:latin typeface="Calibri" panose="020F0502020204030204" pitchFamily="34" charset="0"/>
                          <a:ea typeface="Calibri" panose="020F0502020204030204" pitchFamily="34" charset="-122"/>
                          <a:cs typeface="Calibri" panose="020F0502020204030204" pitchFamily="34" charset="-120"/>
                        </a:rPr>
                        <a:t>FAT16</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solidFill>
                      <a:srgbClr val="F59E0B"/>
                    </a:solidFill>
                  </a:tcPr>
                </a:tc>
                <a:tc>
                  <a:txBody>
                    <a:bodyPr/>
                    <a:lstStyle/>
                    <a:p>
                      <a:pPr marL="0" indent="0">
                        <a:buNone/>
                      </a:pPr>
                      <a:r>
                        <a:rPr lang="en-US" sz="950" b="1" dirty="0">
                          <a:solidFill>
                            <a:srgbClr val="000000"/>
                          </a:solidFill>
                          <a:latin typeface="Calibri" panose="020F0502020204030204" pitchFamily="34" charset="0"/>
                          <a:ea typeface="Calibri" panose="020F0502020204030204" pitchFamily="34" charset="-122"/>
                          <a:cs typeface="Calibri" panose="020F0502020204030204" pitchFamily="34" charset="-120"/>
                        </a:rPr>
                        <a:t>FAT32</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solidFill>
                      <a:srgbClr val="FCD34D"/>
                    </a:solidFill>
                  </a:tcPr>
                </a:tc>
              </a:tr>
              <a:tr h="320040">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Max Volume Size</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32 MB</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4 GB</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2 TB (32-bit limit)</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320040">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Max File Size</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32 MB</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4 GB</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4 GB – 1 byte</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320040">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Max File Name</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8.3 SFN</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8.3 SFN + LFN</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8.3 SFN + LFN</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320040">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FAT Entry Size</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12-bit</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16-bit</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28-bit (in 32-bit field)</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320040">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Max Clusters</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4,084</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65,524</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268,435,444</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320040">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Root Directory</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Fixed location</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Fixed location</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Data area (flexible)</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320040">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Typical Use</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Floppy disks</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Early hard disks, USB</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USB, SD cards, cameras</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320040">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OS Support</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DOS, legacy</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Windows 9x, Linux</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Windows, macOS, Linux, iOS</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320040">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Journalling</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None</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None</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None</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320040">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Long Filenames</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No (VFAT adds)</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VFAT extension</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VFAT extension</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F59E0B"/>
          </a:solidFill>
          <a:ln w="12700">
            <a:solidFill>
              <a:srgbClr val="F59E0B"/>
            </a:solidFill>
            <a:prstDash val="solid"/>
          </a:ln>
        </p:spPr>
        <p:txBody>
          <a:bodyPr/>
          <a:lstStyle/>
          <a:p>
            <a:endParaRPr lang="en-SG"/>
          </a:p>
        </p:txBody>
      </p:sp>
      <p:sp>
        <p:nvSpPr>
          <p:cNvPr id="3" name="Text 1"/>
          <p:cNvSpPr/>
          <p:nvPr/>
        </p:nvSpPr>
        <p:spPr>
          <a:xfrm>
            <a:off x="256032" y="128015"/>
            <a:ext cx="8631936" cy="548640"/>
          </a:xfrm>
          <a:prstGeom prst="rect">
            <a:avLst/>
          </a:prstGeom>
          <a:noFill/>
        </p:spPr>
        <p:txBody>
          <a:bodyPr wrap="square" lIns="0" tIns="0" rIns="0" bIns="0" rtlCol="0" anchor="ctr"/>
          <a:lstStyle/>
          <a:p>
            <a:pPr marL="0" indent="0">
              <a:buNone/>
            </a:pPr>
            <a:r>
              <a:rPr lang="en-US" sz="1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FAT32 Volume Structure</a:t>
            </a:r>
            <a:endParaRPr lang="en-US" sz="1800" dirty="0"/>
          </a:p>
        </p:txBody>
      </p:sp>
      <p:sp>
        <p:nvSpPr>
          <p:cNvPr id="4" name="Shape 2"/>
          <p:cNvSpPr/>
          <p:nvPr/>
        </p:nvSpPr>
        <p:spPr>
          <a:xfrm>
            <a:off x="256032" y="73152"/>
            <a:ext cx="1463040" cy="219456"/>
          </a:xfrm>
          <a:prstGeom prst="rect">
            <a:avLst/>
          </a:prstGeom>
          <a:solidFill>
            <a:srgbClr val="F59E0B"/>
          </a:solidFill>
          <a:ln w="12700">
            <a:solidFill>
              <a:srgbClr val="F59E0B"/>
            </a:solidFill>
            <a:prstDash val="solid"/>
          </a:ln>
        </p:spPr>
        <p:txBody>
          <a:bodyPr/>
          <a:lstStyle/>
          <a:p>
            <a:endParaRPr lang="en-SG"/>
          </a:p>
        </p:txBody>
      </p:sp>
      <p:sp>
        <p:nvSpPr>
          <p:cNvPr id="5" name="Text 3"/>
          <p:cNvSpPr/>
          <p:nvPr/>
        </p:nvSpPr>
        <p:spPr>
          <a:xfrm>
            <a:off x="256032" y="73152"/>
            <a:ext cx="1463040" cy="219456"/>
          </a:xfrm>
          <a:prstGeom prst="rect">
            <a:avLst/>
          </a:prstGeom>
          <a:noFill/>
        </p:spPr>
        <p:txBody>
          <a:bodyPr wrap="square" lIns="0" tIns="0" rIns="0" bIns="0" rtlCol="0" anchor="ctr"/>
          <a:lstStyle/>
          <a:p>
            <a:pPr marL="0" indent="0" algn="ctr">
              <a:buNone/>
            </a:pPr>
            <a:r>
              <a:rPr lang="en-US" sz="800" b="1" kern="0" spc="100"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SECTION 02 — FAT</a:t>
            </a:r>
            <a:endParaRPr lang="en-US" sz="800" dirty="0"/>
          </a:p>
        </p:txBody>
      </p:sp>
      <p:sp>
        <p:nvSpPr>
          <p:cNvPr id="10" name="Shape 8"/>
          <p:cNvSpPr/>
          <p:nvPr/>
        </p:nvSpPr>
        <p:spPr>
          <a:xfrm>
            <a:off x="256032" y="822960"/>
            <a:ext cx="1188720" cy="621792"/>
          </a:xfrm>
          <a:prstGeom prst="rect">
            <a:avLst/>
          </a:prstGeom>
          <a:solidFill>
            <a:srgbClr val="F59E0B"/>
          </a:solidFill>
          <a:ln w="12700">
            <a:solidFill>
              <a:srgbClr val="F59E0B"/>
            </a:solidFill>
            <a:prstDash val="solid"/>
          </a:ln>
        </p:spPr>
        <p:txBody>
          <a:bodyPr/>
          <a:lstStyle/>
          <a:p>
            <a:endParaRPr lang="en-SG"/>
          </a:p>
        </p:txBody>
      </p:sp>
      <p:sp>
        <p:nvSpPr>
          <p:cNvPr id="11" name="Text 9"/>
          <p:cNvSpPr/>
          <p:nvPr/>
        </p:nvSpPr>
        <p:spPr>
          <a:xfrm>
            <a:off x="256032" y="822960"/>
            <a:ext cx="1188720" cy="621792"/>
          </a:xfrm>
          <a:prstGeom prst="rect">
            <a:avLst/>
          </a:prstGeom>
          <a:noFill/>
        </p:spPr>
        <p:txBody>
          <a:bodyPr wrap="square" lIns="0" tIns="0" rIns="0" bIns="0" rtlCol="0" anchor="ctr"/>
          <a:lstStyle/>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Boot</a:t>
            </a:r>
            <a:endParaRPr lang="en-US" sz="850" dirty="0"/>
          </a:p>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Sector</a:t>
            </a:r>
            <a:endParaRPr lang="en-US" sz="850" dirty="0"/>
          </a:p>
        </p:txBody>
      </p:sp>
      <p:sp>
        <p:nvSpPr>
          <p:cNvPr id="12" name="Shape 10"/>
          <p:cNvSpPr/>
          <p:nvPr/>
        </p:nvSpPr>
        <p:spPr>
          <a:xfrm>
            <a:off x="1463040" y="822960"/>
            <a:ext cx="1280160" cy="621792"/>
          </a:xfrm>
          <a:prstGeom prst="rect">
            <a:avLst/>
          </a:prstGeom>
          <a:solidFill>
            <a:srgbClr val="F97316"/>
          </a:solidFill>
          <a:ln w="12700">
            <a:solidFill>
              <a:srgbClr val="F97316"/>
            </a:solidFill>
            <a:prstDash val="solid"/>
          </a:ln>
        </p:spPr>
        <p:txBody>
          <a:bodyPr/>
          <a:lstStyle/>
          <a:p>
            <a:endParaRPr lang="en-SG"/>
          </a:p>
        </p:txBody>
      </p:sp>
      <p:sp>
        <p:nvSpPr>
          <p:cNvPr id="13" name="Text 11"/>
          <p:cNvSpPr/>
          <p:nvPr/>
        </p:nvSpPr>
        <p:spPr>
          <a:xfrm>
            <a:off x="1463040" y="822960"/>
            <a:ext cx="1280160" cy="621792"/>
          </a:xfrm>
          <a:prstGeom prst="rect">
            <a:avLst/>
          </a:prstGeom>
          <a:noFill/>
        </p:spPr>
        <p:txBody>
          <a:bodyPr wrap="square" lIns="0" tIns="0" rIns="0" bIns="0" rtlCol="0" anchor="ctr"/>
          <a:lstStyle/>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FAT #1</a:t>
            </a:r>
            <a:endParaRPr lang="en-US" sz="850" dirty="0"/>
          </a:p>
        </p:txBody>
      </p:sp>
      <p:sp>
        <p:nvSpPr>
          <p:cNvPr id="14" name="Shape 12"/>
          <p:cNvSpPr/>
          <p:nvPr/>
        </p:nvSpPr>
        <p:spPr>
          <a:xfrm>
            <a:off x="2761488" y="822960"/>
            <a:ext cx="1280160" cy="621792"/>
          </a:xfrm>
          <a:prstGeom prst="rect">
            <a:avLst/>
          </a:prstGeom>
          <a:solidFill>
            <a:srgbClr val="FB923C"/>
          </a:solidFill>
          <a:ln w="12700">
            <a:solidFill>
              <a:srgbClr val="FB923C"/>
            </a:solidFill>
            <a:prstDash val="solid"/>
          </a:ln>
        </p:spPr>
        <p:txBody>
          <a:bodyPr/>
          <a:lstStyle/>
          <a:p>
            <a:endParaRPr lang="en-SG"/>
          </a:p>
        </p:txBody>
      </p:sp>
      <p:sp>
        <p:nvSpPr>
          <p:cNvPr id="15" name="Text 13"/>
          <p:cNvSpPr/>
          <p:nvPr/>
        </p:nvSpPr>
        <p:spPr>
          <a:xfrm>
            <a:off x="2761488" y="822960"/>
            <a:ext cx="1280160" cy="621792"/>
          </a:xfrm>
          <a:prstGeom prst="rect">
            <a:avLst/>
          </a:prstGeom>
          <a:noFill/>
        </p:spPr>
        <p:txBody>
          <a:bodyPr wrap="square" lIns="0" tIns="0" rIns="0" bIns="0" rtlCol="0" anchor="ctr"/>
          <a:lstStyle/>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FAT #2</a:t>
            </a:r>
            <a:endParaRPr lang="en-US" sz="850" dirty="0"/>
          </a:p>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(Backup)</a:t>
            </a:r>
            <a:endParaRPr lang="en-US" sz="850" dirty="0"/>
          </a:p>
        </p:txBody>
      </p:sp>
      <p:sp>
        <p:nvSpPr>
          <p:cNvPr id="16" name="Shape 14"/>
          <p:cNvSpPr/>
          <p:nvPr/>
        </p:nvSpPr>
        <p:spPr>
          <a:xfrm>
            <a:off x="4059936" y="822960"/>
            <a:ext cx="1737360" cy="621792"/>
          </a:xfrm>
          <a:prstGeom prst="rect">
            <a:avLst/>
          </a:prstGeom>
          <a:solidFill>
            <a:srgbClr val="FCD34D"/>
          </a:solidFill>
          <a:ln w="12700">
            <a:solidFill>
              <a:srgbClr val="FCD34D"/>
            </a:solidFill>
            <a:prstDash val="solid"/>
          </a:ln>
        </p:spPr>
        <p:txBody>
          <a:bodyPr/>
          <a:lstStyle/>
          <a:p>
            <a:endParaRPr lang="en-SG"/>
          </a:p>
        </p:txBody>
      </p:sp>
      <p:sp>
        <p:nvSpPr>
          <p:cNvPr id="17" name="Text 15"/>
          <p:cNvSpPr/>
          <p:nvPr/>
        </p:nvSpPr>
        <p:spPr>
          <a:xfrm>
            <a:off x="4059936" y="822960"/>
            <a:ext cx="1737360" cy="621792"/>
          </a:xfrm>
          <a:prstGeom prst="rect">
            <a:avLst/>
          </a:prstGeom>
          <a:noFill/>
        </p:spPr>
        <p:txBody>
          <a:bodyPr wrap="square" lIns="0" tIns="0" rIns="0" bIns="0" rtlCol="0" anchor="ctr"/>
          <a:lstStyle/>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Root</a:t>
            </a:r>
            <a:endParaRPr lang="en-US" sz="850" dirty="0"/>
          </a:p>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Directory</a:t>
            </a:r>
            <a:endParaRPr lang="en-US" sz="850" dirty="0"/>
          </a:p>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(FAT32: in Data)</a:t>
            </a:r>
            <a:endParaRPr lang="en-US" sz="850" dirty="0"/>
          </a:p>
        </p:txBody>
      </p:sp>
      <p:sp>
        <p:nvSpPr>
          <p:cNvPr id="18" name="Shape 16"/>
          <p:cNvSpPr/>
          <p:nvPr/>
        </p:nvSpPr>
        <p:spPr>
          <a:xfrm>
            <a:off x="5815584" y="822960"/>
            <a:ext cx="3145536" cy="621792"/>
          </a:xfrm>
          <a:prstGeom prst="rect">
            <a:avLst/>
          </a:prstGeom>
          <a:solidFill>
            <a:srgbClr val="A3E635"/>
          </a:solidFill>
          <a:ln w="12700">
            <a:solidFill>
              <a:srgbClr val="A3E635"/>
            </a:solidFill>
            <a:prstDash val="solid"/>
          </a:ln>
        </p:spPr>
        <p:txBody>
          <a:bodyPr/>
          <a:lstStyle/>
          <a:p>
            <a:endParaRPr lang="en-SG"/>
          </a:p>
        </p:txBody>
      </p:sp>
      <p:sp>
        <p:nvSpPr>
          <p:cNvPr id="19" name="Text 17"/>
          <p:cNvSpPr/>
          <p:nvPr/>
        </p:nvSpPr>
        <p:spPr>
          <a:xfrm>
            <a:off x="5815584" y="822960"/>
            <a:ext cx="3145536" cy="621792"/>
          </a:xfrm>
          <a:prstGeom prst="rect">
            <a:avLst/>
          </a:prstGeom>
          <a:noFill/>
        </p:spPr>
        <p:txBody>
          <a:bodyPr wrap="square" lIns="0" tIns="0" rIns="0" bIns="0" rtlCol="0" anchor="ctr"/>
          <a:lstStyle/>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Data Area</a:t>
            </a:r>
            <a:endParaRPr lang="en-US" sz="850" dirty="0"/>
          </a:p>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(Clusters)</a:t>
            </a:r>
            <a:endParaRPr lang="en-US" sz="850" dirty="0"/>
          </a:p>
        </p:txBody>
      </p:sp>
      <p:sp>
        <p:nvSpPr>
          <p:cNvPr id="20" name="Text 18"/>
          <p:cNvSpPr/>
          <p:nvPr/>
        </p:nvSpPr>
        <p:spPr>
          <a:xfrm>
            <a:off x="256032" y="1481328"/>
            <a:ext cx="8631936" cy="201168"/>
          </a:xfrm>
          <a:prstGeom prst="rect">
            <a:avLst/>
          </a:prstGeom>
          <a:noFill/>
        </p:spPr>
        <p:txBody>
          <a:bodyPr wrap="square" rtlCol="0" anchor="ctr"/>
          <a:lstStyle/>
          <a:p>
            <a:pPr marL="0" indent="0" algn="ctr">
              <a:buNone/>
            </a:pPr>
            <a:r>
              <a:rPr lang="en-US" sz="850" i="1" dirty="0">
                <a:solidFill>
                  <a:srgbClr val="475569"/>
                </a:solidFill>
                <a:latin typeface="Calibri" panose="020F0502020204030204" pitchFamily="34" charset="0"/>
                <a:ea typeface="Calibri" panose="020F0502020204030204" pitchFamily="34" charset="-122"/>
                <a:cs typeface="Calibri" panose="020F0502020204030204" pitchFamily="34" charset="-120"/>
              </a:rPr>
              <a:t>↑  FAT32 Volume Layout — sectors flow left to right  ↑</a:t>
            </a:r>
            <a:endParaRPr lang="en-US" sz="850" dirty="0"/>
          </a:p>
        </p:txBody>
      </p:sp>
      <p:sp>
        <p:nvSpPr>
          <p:cNvPr id="21" name="Shape 19"/>
          <p:cNvSpPr/>
          <p:nvPr/>
        </p:nvSpPr>
        <p:spPr>
          <a:xfrm>
            <a:off x="256032" y="1721612"/>
            <a:ext cx="2029968" cy="2798064"/>
          </a:xfrm>
          <a:prstGeom prst="rect">
            <a:avLst/>
          </a:prstGeom>
          <a:solidFill>
            <a:srgbClr val="EEF6FB"/>
          </a:solidFill>
          <a:ln w="12700">
            <a:solidFill>
              <a:srgbClr val="F59E0B"/>
            </a:solidFill>
            <a:prstDash val="solid"/>
          </a:ln>
          <a:effectLst>
            <a:outerShdw blurRad="127000" dist="38100" dir="8100000" algn="bl" rotWithShape="0">
              <a:srgbClr val="000000">
                <a:alpha val="22000"/>
              </a:srgbClr>
            </a:outerShdw>
          </a:effectLst>
        </p:spPr>
        <p:txBody>
          <a:bodyPr/>
          <a:lstStyle/>
          <a:p>
            <a:endParaRPr lang="en-SG"/>
          </a:p>
        </p:txBody>
      </p:sp>
      <p:sp>
        <p:nvSpPr>
          <p:cNvPr id="22" name="Shape 20"/>
          <p:cNvSpPr/>
          <p:nvPr/>
        </p:nvSpPr>
        <p:spPr>
          <a:xfrm>
            <a:off x="256032" y="1719072"/>
            <a:ext cx="2029968" cy="274320"/>
          </a:xfrm>
          <a:prstGeom prst="rect">
            <a:avLst/>
          </a:prstGeom>
          <a:solidFill>
            <a:srgbClr val="F59E0B"/>
          </a:solidFill>
          <a:ln w="12700">
            <a:solidFill>
              <a:srgbClr val="F59E0B"/>
            </a:solidFill>
            <a:prstDash val="solid"/>
          </a:ln>
        </p:spPr>
        <p:txBody>
          <a:bodyPr/>
          <a:lstStyle/>
          <a:p>
            <a:endParaRPr lang="en-SG"/>
          </a:p>
        </p:txBody>
      </p:sp>
      <p:sp>
        <p:nvSpPr>
          <p:cNvPr id="23" name="Text 21"/>
          <p:cNvSpPr/>
          <p:nvPr/>
        </p:nvSpPr>
        <p:spPr>
          <a:xfrm>
            <a:off x="347472" y="1755648"/>
            <a:ext cx="1883664" cy="219456"/>
          </a:xfrm>
          <a:prstGeom prst="rect">
            <a:avLst/>
          </a:prstGeom>
          <a:noFill/>
        </p:spPr>
        <p:txBody>
          <a:bodyPr wrap="square" lIns="0" tIns="0" rIns="0" bIns="0" rtlCol="0" anchor="ctr"/>
          <a:lstStyle/>
          <a:p>
            <a:pPr marL="0" indent="0">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Boot Sector (VBR)</a:t>
            </a:r>
            <a:endParaRPr lang="en-US" sz="1000" dirty="0"/>
          </a:p>
        </p:txBody>
      </p:sp>
      <p:sp>
        <p:nvSpPr>
          <p:cNvPr id="24" name="Text 22"/>
          <p:cNvSpPr/>
          <p:nvPr/>
        </p:nvSpPr>
        <p:spPr>
          <a:xfrm>
            <a:off x="347472" y="2048256"/>
            <a:ext cx="1865376" cy="2468880"/>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Located at Logical Sector 0. Contains the BIOS Parameter Block (BPB): bytes per sector, sectors per cluster, reserved sectors, FAT count, and more. The starting point for all FAT32 parsing.</a:t>
            </a:r>
            <a:endParaRPr lang="en-US" sz="900" dirty="0"/>
          </a:p>
        </p:txBody>
      </p:sp>
      <p:sp>
        <p:nvSpPr>
          <p:cNvPr id="25" name="Shape 23"/>
          <p:cNvSpPr/>
          <p:nvPr/>
        </p:nvSpPr>
        <p:spPr>
          <a:xfrm>
            <a:off x="2395728" y="1719072"/>
            <a:ext cx="2029968" cy="2798064"/>
          </a:xfrm>
          <a:prstGeom prst="rect">
            <a:avLst/>
          </a:prstGeom>
          <a:solidFill>
            <a:srgbClr val="EEF6FB"/>
          </a:solidFill>
          <a:ln w="12700">
            <a:solidFill>
              <a:srgbClr val="F97316"/>
            </a:solidFill>
            <a:prstDash val="solid"/>
          </a:ln>
          <a:effectLst>
            <a:outerShdw blurRad="127000" dist="38100" dir="8100000" algn="bl" rotWithShape="0">
              <a:srgbClr val="000000">
                <a:alpha val="22000"/>
              </a:srgbClr>
            </a:outerShdw>
          </a:effectLst>
        </p:spPr>
        <p:txBody>
          <a:bodyPr/>
          <a:lstStyle/>
          <a:p>
            <a:endParaRPr lang="en-SG"/>
          </a:p>
        </p:txBody>
      </p:sp>
      <p:sp>
        <p:nvSpPr>
          <p:cNvPr id="26" name="Shape 24"/>
          <p:cNvSpPr/>
          <p:nvPr/>
        </p:nvSpPr>
        <p:spPr>
          <a:xfrm>
            <a:off x="2395728" y="1719072"/>
            <a:ext cx="2029968" cy="274320"/>
          </a:xfrm>
          <a:prstGeom prst="rect">
            <a:avLst/>
          </a:prstGeom>
          <a:solidFill>
            <a:srgbClr val="F97316"/>
          </a:solidFill>
          <a:ln w="12700">
            <a:solidFill>
              <a:srgbClr val="F97316"/>
            </a:solidFill>
            <a:prstDash val="solid"/>
          </a:ln>
        </p:spPr>
        <p:txBody>
          <a:bodyPr/>
          <a:lstStyle/>
          <a:p>
            <a:endParaRPr lang="en-SG"/>
          </a:p>
        </p:txBody>
      </p:sp>
      <p:sp>
        <p:nvSpPr>
          <p:cNvPr id="27" name="Text 25"/>
          <p:cNvSpPr/>
          <p:nvPr/>
        </p:nvSpPr>
        <p:spPr>
          <a:xfrm>
            <a:off x="2487168" y="1755648"/>
            <a:ext cx="1883664" cy="219456"/>
          </a:xfrm>
          <a:prstGeom prst="rect">
            <a:avLst/>
          </a:prstGeom>
          <a:noFill/>
        </p:spPr>
        <p:txBody>
          <a:bodyPr wrap="square" lIns="0" tIns="0" rIns="0" bIns="0" rtlCol="0" anchor="ctr"/>
          <a:lstStyle/>
          <a:p>
            <a:pPr marL="0" indent="0">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File Allocation Tables (×2)</a:t>
            </a:r>
            <a:endParaRPr lang="en-US" sz="1000" dirty="0"/>
          </a:p>
        </p:txBody>
      </p:sp>
      <p:sp>
        <p:nvSpPr>
          <p:cNvPr id="28" name="Text 26"/>
          <p:cNvSpPr/>
          <p:nvPr/>
        </p:nvSpPr>
        <p:spPr>
          <a:xfrm>
            <a:off x="2487168" y="2048256"/>
            <a:ext cx="1865376" cy="2468880"/>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Two identical copies of the FAT — one primary, one backup for redundancy. Each entry (28-bit) holds the cluster status: next cluster in chain, EOF marker, or bad cluster flag.</a:t>
            </a:r>
            <a:endParaRPr lang="en-US" sz="900" dirty="0"/>
          </a:p>
        </p:txBody>
      </p:sp>
      <p:sp>
        <p:nvSpPr>
          <p:cNvPr id="29" name="Shape 27"/>
          <p:cNvSpPr/>
          <p:nvPr/>
        </p:nvSpPr>
        <p:spPr>
          <a:xfrm>
            <a:off x="4535424" y="1719072"/>
            <a:ext cx="2029968" cy="2798064"/>
          </a:xfrm>
          <a:prstGeom prst="rect">
            <a:avLst/>
          </a:prstGeom>
          <a:solidFill>
            <a:srgbClr val="EEF6FB"/>
          </a:solidFill>
          <a:ln w="12700">
            <a:solidFill>
              <a:srgbClr val="FCD34D"/>
            </a:solidFill>
            <a:prstDash val="solid"/>
          </a:ln>
          <a:effectLst>
            <a:outerShdw blurRad="127000" dist="38100" dir="8100000" algn="bl" rotWithShape="0">
              <a:srgbClr val="000000">
                <a:alpha val="22000"/>
              </a:srgbClr>
            </a:outerShdw>
          </a:effectLst>
        </p:spPr>
        <p:txBody>
          <a:bodyPr/>
          <a:lstStyle/>
          <a:p>
            <a:endParaRPr lang="en-SG"/>
          </a:p>
        </p:txBody>
      </p:sp>
      <p:sp>
        <p:nvSpPr>
          <p:cNvPr id="30" name="Shape 28"/>
          <p:cNvSpPr/>
          <p:nvPr/>
        </p:nvSpPr>
        <p:spPr>
          <a:xfrm>
            <a:off x="4535424" y="1719072"/>
            <a:ext cx="2029968" cy="274320"/>
          </a:xfrm>
          <a:prstGeom prst="rect">
            <a:avLst/>
          </a:prstGeom>
          <a:solidFill>
            <a:srgbClr val="FCD34D"/>
          </a:solidFill>
          <a:ln w="12700">
            <a:solidFill>
              <a:srgbClr val="FCD34D"/>
            </a:solidFill>
            <a:prstDash val="solid"/>
          </a:ln>
        </p:spPr>
        <p:txBody>
          <a:bodyPr/>
          <a:lstStyle/>
          <a:p>
            <a:endParaRPr lang="en-SG"/>
          </a:p>
        </p:txBody>
      </p:sp>
      <p:sp>
        <p:nvSpPr>
          <p:cNvPr id="31" name="Text 29"/>
          <p:cNvSpPr/>
          <p:nvPr/>
        </p:nvSpPr>
        <p:spPr>
          <a:xfrm>
            <a:off x="4626864" y="1755648"/>
            <a:ext cx="1883664" cy="219456"/>
          </a:xfrm>
          <a:prstGeom prst="rect">
            <a:avLst/>
          </a:prstGeom>
          <a:noFill/>
        </p:spPr>
        <p:txBody>
          <a:bodyPr wrap="square" lIns="0" tIns="0" rIns="0" bIns="0" rtlCol="0" anchor="ctr"/>
          <a:lstStyle/>
          <a:p>
            <a:pPr marL="0" indent="0">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Root Directory (FAT32)</a:t>
            </a:r>
            <a:endParaRPr lang="en-US" sz="1000" dirty="0"/>
          </a:p>
        </p:txBody>
      </p:sp>
      <p:sp>
        <p:nvSpPr>
          <p:cNvPr id="32" name="Text 30"/>
          <p:cNvSpPr/>
          <p:nvPr/>
        </p:nvSpPr>
        <p:spPr>
          <a:xfrm>
            <a:off x="4626864" y="2048256"/>
            <a:ext cx="1865376" cy="2468880"/>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In FAT32, the root directory is NOT at a fixed location. It begins at the cluster specified in the BPB (usually cluster 2) and grows as a normal cluster chain. Each entry is 32 bytes.</a:t>
            </a:r>
            <a:endParaRPr lang="en-US" sz="900" dirty="0"/>
          </a:p>
        </p:txBody>
      </p:sp>
      <p:sp>
        <p:nvSpPr>
          <p:cNvPr id="33" name="Shape 31"/>
          <p:cNvSpPr/>
          <p:nvPr/>
        </p:nvSpPr>
        <p:spPr>
          <a:xfrm>
            <a:off x="6675120" y="1719072"/>
            <a:ext cx="2029968" cy="2798064"/>
          </a:xfrm>
          <a:prstGeom prst="rect">
            <a:avLst/>
          </a:prstGeom>
          <a:solidFill>
            <a:srgbClr val="EEF6FB"/>
          </a:solidFill>
          <a:ln w="12700">
            <a:solidFill>
              <a:srgbClr val="A3E635"/>
            </a:solidFill>
            <a:prstDash val="solid"/>
          </a:ln>
          <a:effectLst>
            <a:outerShdw blurRad="127000" dist="38100" dir="8100000" algn="bl" rotWithShape="0">
              <a:srgbClr val="000000">
                <a:alpha val="22000"/>
              </a:srgbClr>
            </a:outerShdw>
          </a:effectLst>
        </p:spPr>
        <p:txBody>
          <a:bodyPr/>
          <a:lstStyle/>
          <a:p>
            <a:endParaRPr lang="en-SG"/>
          </a:p>
        </p:txBody>
      </p:sp>
      <p:sp>
        <p:nvSpPr>
          <p:cNvPr id="34" name="Shape 32"/>
          <p:cNvSpPr/>
          <p:nvPr/>
        </p:nvSpPr>
        <p:spPr>
          <a:xfrm>
            <a:off x="6675120" y="1719072"/>
            <a:ext cx="2029968" cy="274320"/>
          </a:xfrm>
          <a:prstGeom prst="rect">
            <a:avLst/>
          </a:prstGeom>
          <a:solidFill>
            <a:srgbClr val="A3E635"/>
          </a:solidFill>
          <a:ln w="12700">
            <a:solidFill>
              <a:srgbClr val="A3E635"/>
            </a:solidFill>
            <a:prstDash val="solid"/>
          </a:ln>
        </p:spPr>
        <p:txBody>
          <a:bodyPr/>
          <a:lstStyle/>
          <a:p>
            <a:endParaRPr lang="en-SG"/>
          </a:p>
        </p:txBody>
      </p:sp>
      <p:sp>
        <p:nvSpPr>
          <p:cNvPr id="35" name="Text 33"/>
          <p:cNvSpPr/>
          <p:nvPr/>
        </p:nvSpPr>
        <p:spPr>
          <a:xfrm>
            <a:off x="6766560" y="1755648"/>
            <a:ext cx="1883664" cy="219456"/>
          </a:xfrm>
          <a:prstGeom prst="rect">
            <a:avLst/>
          </a:prstGeom>
          <a:noFill/>
        </p:spPr>
        <p:txBody>
          <a:bodyPr wrap="square" lIns="0" tIns="0" rIns="0" bIns="0" rtlCol="0" anchor="ctr"/>
          <a:lstStyle/>
          <a:p>
            <a:pPr marL="0" indent="0">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Data Area (Clusters)</a:t>
            </a:r>
            <a:endParaRPr lang="en-US" sz="1000" dirty="0"/>
          </a:p>
        </p:txBody>
      </p:sp>
      <p:sp>
        <p:nvSpPr>
          <p:cNvPr id="36" name="Text 34"/>
          <p:cNvSpPr/>
          <p:nvPr/>
        </p:nvSpPr>
        <p:spPr>
          <a:xfrm>
            <a:off x="6766560" y="2048256"/>
            <a:ext cx="1865376" cy="2468880"/>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The main storage area. Divided into equal-sized clusters numbered from cluster 2. Files and directories are stored here. Cluster size is set at format time (512 B to 32 KB typical).</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F59E0B"/>
          </a:solidFill>
          <a:ln w="12700">
            <a:solidFill>
              <a:srgbClr val="F59E0B"/>
            </a:solidFill>
            <a:prstDash val="solid"/>
          </a:ln>
        </p:spPr>
        <p:txBody>
          <a:bodyPr/>
          <a:lstStyle/>
          <a:p>
            <a:endParaRPr lang="en-SG"/>
          </a:p>
        </p:txBody>
      </p:sp>
      <p:sp>
        <p:nvSpPr>
          <p:cNvPr id="3" name="Text 1"/>
          <p:cNvSpPr/>
          <p:nvPr/>
        </p:nvSpPr>
        <p:spPr>
          <a:xfrm>
            <a:off x="256032" y="128015"/>
            <a:ext cx="8631936" cy="548640"/>
          </a:xfrm>
          <a:prstGeom prst="rect">
            <a:avLst/>
          </a:prstGeom>
          <a:noFill/>
        </p:spPr>
        <p:txBody>
          <a:bodyPr wrap="square" lIns="0" tIns="0" rIns="0" bIns="0" rtlCol="0" anchor="ctr"/>
          <a:lstStyle/>
          <a:p>
            <a:pPr marL="0" indent="0">
              <a:buNone/>
            </a:pPr>
            <a:r>
              <a:rPr lang="en-US" sz="16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FAT32 Boot Sector — Byte Offset Reference (BPB)</a:t>
            </a:r>
            <a:endParaRPr lang="en-US" sz="1600" dirty="0"/>
          </a:p>
        </p:txBody>
      </p:sp>
      <p:sp>
        <p:nvSpPr>
          <p:cNvPr id="4" name="Shape 2"/>
          <p:cNvSpPr/>
          <p:nvPr/>
        </p:nvSpPr>
        <p:spPr>
          <a:xfrm>
            <a:off x="256032" y="73152"/>
            <a:ext cx="1463040" cy="219456"/>
          </a:xfrm>
          <a:prstGeom prst="rect">
            <a:avLst/>
          </a:prstGeom>
          <a:solidFill>
            <a:srgbClr val="F59E0B"/>
          </a:solidFill>
          <a:ln w="12700">
            <a:solidFill>
              <a:srgbClr val="F59E0B"/>
            </a:solidFill>
            <a:prstDash val="solid"/>
          </a:ln>
        </p:spPr>
        <p:txBody>
          <a:bodyPr/>
          <a:lstStyle/>
          <a:p>
            <a:endParaRPr lang="en-SG"/>
          </a:p>
        </p:txBody>
      </p:sp>
      <p:sp>
        <p:nvSpPr>
          <p:cNvPr id="5" name="Text 3"/>
          <p:cNvSpPr/>
          <p:nvPr/>
        </p:nvSpPr>
        <p:spPr>
          <a:xfrm>
            <a:off x="256032" y="73152"/>
            <a:ext cx="1463040" cy="219456"/>
          </a:xfrm>
          <a:prstGeom prst="rect">
            <a:avLst/>
          </a:prstGeom>
          <a:noFill/>
        </p:spPr>
        <p:txBody>
          <a:bodyPr wrap="square" lIns="0" tIns="0" rIns="0" bIns="0" rtlCol="0" anchor="ctr"/>
          <a:lstStyle/>
          <a:p>
            <a:pPr marL="0" indent="0" algn="ctr">
              <a:buNone/>
            </a:pPr>
            <a:r>
              <a:rPr lang="en-US" sz="800" b="1" kern="0" spc="100"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SECTION 02 — FAT</a:t>
            </a:r>
            <a:endParaRPr lang="en-US" sz="800" dirty="0"/>
          </a:p>
        </p:txBody>
      </p:sp>
      <p:sp>
        <p:nvSpPr>
          <p:cNvPr id="10" name="Text 8"/>
          <p:cNvSpPr/>
          <p:nvPr/>
        </p:nvSpPr>
        <p:spPr>
          <a:xfrm>
            <a:off x="256032" y="804672"/>
            <a:ext cx="8631936" cy="274320"/>
          </a:xfrm>
          <a:prstGeom prst="rect">
            <a:avLst/>
          </a:prstGeom>
          <a:noFill/>
        </p:spPr>
        <p:txBody>
          <a:bodyPr wrap="square" rtlCol="0" anchor="ctr"/>
          <a:lstStyle/>
          <a:p>
            <a:pPr marL="0" indent="0">
              <a:buNone/>
            </a:pPr>
            <a:r>
              <a:rPr lang="en-US" sz="950" i="1" dirty="0">
                <a:solidFill>
                  <a:srgbClr val="475569"/>
                </a:solidFill>
                <a:latin typeface="Calibri" panose="020F0502020204030204" pitchFamily="34" charset="0"/>
                <a:ea typeface="Calibri" panose="020F0502020204030204" pitchFamily="34" charset="-122"/>
                <a:cs typeface="Calibri" panose="020F0502020204030204" pitchFamily="34" charset="-120"/>
              </a:rPr>
              <a:t>The Boot Sector (also called the Volume Boot Record) begins at offset 0x00 and is always 512 bytes. The BIOS Parameter Block (BPB) inside it describes the volume geometry.</a:t>
            </a:r>
            <a:endParaRPr lang="en-US" sz="950" dirty="0"/>
          </a:p>
        </p:txBody>
      </p:sp>
      <p:graphicFrame>
        <p:nvGraphicFramePr>
          <p:cNvPr id="11" name="Table 0"/>
          <p:cNvGraphicFramePr>
            <a:graphicFrameLocks noGrp="1"/>
          </p:cNvGraphicFramePr>
          <p:nvPr/>
        </p:nvGraphicFramePr>
        <p:xfrm>
          <a:off x="256032" y="1115568"/>
          <a:ext cx="8631936" cy="2118360"/>
        </p:xfrm>
        <a:graphic>
          <a:graphicData uri="http://schemas.openxmlformats.org/drawingml/2006/table">
            <a:tbl>
              <a:tblPr/>
              <a:tblGrid>
                <a:gridCol w="1463040"/>
                <a:gridCol w="1645920"/>
                <a:gridCol w="585216"/>
                <a:gridCol w="4937760"/>
              </a:tblGrid>
              <a:tr h="182880">
                <a:tc>
                  <a:txBody>
                    <a:bodyPr/>
                    <a:lstStyle/>
                    <a:p>
                      <a:pPr marL="0" indent="0">
                        <a:buNone/>
                      </a:pPr>
                      <a:r>
                        <a:rPr lang="en-US" sz="850" b="1" dirty="0">
                          <a:solidFill>
                            <a:srgbClr val="FFFFFF"/>
                          </a:solidFill>
                          <a:latin typeface="Calibri" panose="020F0502020204030204" pitchFamily="34" charset="0"/>
                          <a:ea typeface="Calibri" panose="020F0502020204030204" pitchFamily="34" charset="-122"/>
                          <a:cs typeface="Calibri" panose="020F0502020204030204" pitchFamily="34" charset="-120"/>
                        </a:rPr>
                        <a:t>Offset (Hex)</a:t>
                      </a:r>
                      <a:endParaRPr lang="en-US" sz="8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solidFill>
                      <a:srgbClr val="F59E0B"/>
                    </a:solidFill>
                  </a:tcPr>
                </a:tc>
                <a:tc>
                  <a:txBody>
                    <a:bodyPr/>
                    <a:lstStyle/>
                    <a:p>
                      <a:pPr marL="0" indent="0">
                        <a:buNone/>
                      </a:pPr>
                      <a:r>
                        <a:rPr lang="en-US" sz="850" b="1" dirty="0">
                          <a:solidFill>
                            <a:srgbClr val="FFFFFF"/>
                          </a:solidFill>
                          <a:latin typeface="Calibri" panose="020F0502020204030204" pitchFamily="34" charset="0"/>
                          <a:ea typeface="Calibri" panose="020F0502020204030204" pitchFamily="34" charset="-122"/>
                          <a:cs typeface="Calibri" panose="020F0502020204030204" pitchFamily="34" charset="-120"/>
                        </a:rPr>
                        <a:t>Field Name</a:t>
                      </a:r>
                      <a:endParaRPr lang="en-US" sz="8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solidFill>
                      <a:srgbClr val="F59E0B"/>
                    </a:solidFill>
                  </a:tcPr>
                </a:tc>
                <a:tc>
                  <a:txBody>
                    <a:bodyPr/>
                    <a:lstStyle/>
                    <a:p>
                      <a:pPr marL="0" indent="0">
                        <a:buNone/>
                      </a:pPr>
                      <a:r>
                        <a:rPr lang="en-US" sz="850" b="1" dirty="0">
                          <a:solidFill>
                            <a:srgbClr val="FFFFFF"/>
                          </a:solidFill>
                          <a:latin typeface="Calibri" panose="020F0502020204030204" pitchFamily="34" charset="0"/>
                          <a:ea typeface="Calibri" panose="020F0502020204030204" pitchFamily="34" charset="-122"/>
                          <a:cs typeface="Calibri" panose="020F0502020204030204" pitchFamily="34" charset="-120"/>
                        </a:rPr>
                        <a:t>Byte Range</a:t>
                      </a:r>
                      <a:endParaRPr lang="en-US" sz="8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solidFill>
                      <a:srgbClr val="F59E0B"/>
                    </a:solidFill>
                  </a:tcPr>
                </a:tc>
                <a:tc>
                  <a:txBody>
                    <a:bodyPr/>
                    <a:lstStyle/>
                    <a:p>
                      <a:pPr marL="0" indent="0">
                        <a:buNone/>
                      </a:pPr>
                      <a:r>
                        <a:rPr lang="en-US" sz="850" b="1" dirty="0">
                          <a:solidFill>
                            <a:srgbClr val="FFFFFF"/>
                          </a:solidFill>
                          <a:latin typeface="Calibri" panose="020F0502020204030204" pitchFamily="34" charset="0"/>
                          <a:ea typeface="Calibri" panose="020F0502020204030204" pitchFamily="34" charset="-122"/>
                          <a:cs typeface="Calibri" panose="020F0502020204030204" pitchFamily="34" charset="-120"/>
                        </a:rPr>
                        <a:t>Description</a:t>
                      </a:r>
                      <a:endParaRPr lang="en-US" sz="8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solidFill>
                      <a:srgbClr val="F59E0B"/>
                    </a:solidFill>
                  </a:tcPr>
                </a:tc>
              </a:tr>
              <a:tr h="182880">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0x00–0x02</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Jump Boot Code</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0-2</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JMP instruction + NOP. Entry point for boot code. Signature: EB 52 90 (or similar).</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182880">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0x03–0x0A</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OEM Name</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3-10</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OEM identifier string, e.g. 'MSDOS5.0' or 'MSWIN4.1'. Not used by the file system driver.</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182880">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0x0B–0x0C</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Bytes Per Sector</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11-12</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Sector size in bytes. Typical values: 512, 1024, 2048, 4096. Almost always 512 (0x0200).</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182880">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0x0D</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Sectors Per Cluster</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13</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Number of sectors per cluster. Power of 2 (1, 2, 4, 8 … 128). Determines cluster size.</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182880">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0x0E–0x0F</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Reserved Sectors</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14-15</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Sectors before the first FAT, including the boot sector. Typically 32 for FAT32.</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182880">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0x10</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Number of FATs</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16</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Number of FAT copies. Always 2 for reliability (primary + backup).</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182880">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0x11–0x12</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Root Entry Count</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17-18</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FAT32: always 0. Provided for FAT12/16 compatibility only.</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182880">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0x13–0x14</a:t>
                      </a:r>
                      <a:endParaRPr lang="en-US" sz="850" dirty="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Total Sectors 16</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19-20</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FAT32: always 0. Total sectors stored in 0x20 instead.</a:t>
                      </a:r>
                      <a:endParaRPr lang="en-US" sz="850" dirty="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bl>
          </a:graphicData>
        </a:graphic>
      </p:graphicFrame>
      <p:sp>
        <p:nvSpPr>
          <p:cNvPr id="12" name="Text 9"/>
          <p:cNvSpPr/>
          <p:nvPr/>
        </p:nvSpPr>
        <p:spPr>
          <a:xfrm>
            <a:off x="144998" y="3248817"/>
            <a:ext cx="8631936" cy="146304"/>
          </a:xfrm>
          <a:prstGeom prst="rect">
            <a:avLst/>
          </a:prstGeom>
          <a:noFill/>
        </p:spPr>
        <p:txBody>
          <a:bodyPr wrap="square" rtlCol="0" anchor="ctr"/>
          <a:lstStyle/>
          <a:p>
            <a:pPr marL="0" indent="0">
              <a:buNone/>
            </a:pPr>
            <a:r>
              <a:rPr lang="en-US" sz="750" i="1" dirty="0">
                <a:solidFill>
                  <a:srgbClr val="475569"/>
                </a:solidFill>
                <a:latin typeface="Calibri" panose="020F0502020204030204" pitchFamily="34" charset="0"/>
                <a:ea typeface="Calibri" panose="020F0502020204030204" pitchFamily="34" charset="-122"/>
                <a:cs typeface="Calibri" panose="020F0502020204030204" pitchFamily="34" charset="-120"/>
              </a:rPr>
              <a:t>All multi-byte values are stored in little-endian byte order (least significant byte first).</a:t>
            </a:r>
            <a:endParaRPr lang="en-US" sz="750" dirty="0"/>
          </a:p>
        </p:txBody>
      </p:sp>
      <p:sp>
        <p:nvSpPr>
          <p:cNvPr id="6" name="TextBox 5"/>
          <p:cNvSpPr txBox="1"/>
          <p:nvPr/>
        </p:nvSpPr>
        <p:spPr>
          <a:xfrm>
            <a:off x="2735318" y="4044578"/>
            <a:ext cx="3570208" cy="230832"/>
          </a:xfrm>
          <a:prstGeom prst="rect">
            <a:avLst/>
          </a:prstGeom>
          <a:noFill/>
        </p:spPr>
        <p:txBody>
          <a:bodyPr wrap="none" rtlCol="0">
            <a:spAutoFit/>
          </a:bodyPr>
          <a:lstStyle/>
          <a:p>
            <a:r>
              <a:rPr lang="en-US" sz="900" dirty="0">
                <a:solidFill>
                  <a:schemeClr val="bg1"/>
                </a:solidFill>
              </a:rPr>
              <a:t>Refer to  the B.C. book page (254-255) for rest of the description</a:t>
            </a:r>
            <a:endParaRPr lang="en-SG" sz="900" dirty="0">
              <a:solidFill>
                <a:schemeClr val="bg1"/>
              </a:solidFill>
            </a:endParaRPr>
          </a:p>
        </p:txBody>
      </p:sp>
      <p:sp>
        <p:nvSpPr>
          <p:cNvPr id="7" name="Rectangle 6"/>
          <p:cNvSpPr/>
          <p:nvPr/>
        </p:nvSpPr>
        <p:spPr>
          <a:xfrm>
            <a:off x="666000" y="3581007"/>
            <a:ext cx="7812000" cy="1247136"/>
          </a:xfrm>
          <a:prstGeom prst="rect">
            <a:avLst/>
          </a:prstGeom>
        </p:spPr>
        <p:txBody>
          <a:bodyPr wrap="square">
            <a:spAutoFit/>
          </a:bodyPr>
          <a:lstStyle/>
          <a:p>
            <a:r>
              <a:rPr lang="en-SG" sz="1500" dirty="0">
                <a:solidFill>
                  <a:schemeClr val="tx1">
                    <a:lumMod val="95000"/>
                    <a:lumOff val="5000"/>
                  </a:schemeClr>
                </a:solidFill>
                <a:latin typeface="Courier New" panose="02070309020205020404" pitchFamily="49" charset="0"/>
                <a:cs typeface="Courier New" panose="02070309020205020404" pitchFamily="49" charset="0"/>
              </a:rPr>
              <a:t>0000000: </a:t>
            </a:r>
            <a:r>
              <a:rPr lang="en-SG" sz="1500" b="1" u="sng" dirty="0">
                <a:solidFill>
                  <a:schemeClr val="tx1">
                    <a:lumMod val="95000"/>
                    <a:lumOff val="5000"/>
                  </a:schemeClr>
                </a:solidFill>
                <a:latin typeface="Courier New" panose="02070309020205020404" pitchFamily="49" charset="0"/>
                <a:cs typeface="Courier New" panose="02070309020205020404" pitchFamily="49" charset="0"/>
              </a:rPr>
              <a:t>eb3c 90</a:t>
            </a:r>
            <a:r>
              <a:rPr lang="en-SG" sz="1500" b="1" dirty="0">
                <a:solidFill>
                  <a:schemeClr val="tx1">
                    <a:lumMod val="95000"/>
                    <a:lumOff val="5000"/>
                  </a:schemeClr>
                </a:solidFill>
                <a:latin typeface="Courier New" panose="02070309020205020404" pitchFamily="49" charset="0"/>
                <a:cs typeface="Courier New" panose="02070309020205020404" pitchFamily="49" charset="0"/>
              </a:rPr>
              <a:t>4d 5344 4f53 352e 30</a:t>
            </a:r>
            <a:r>
              <a:rPr lang="en-SG" sz="1500" b="1" u="sng" dirty="0">
                <a:solidFill>
                  <a:schemeClr val="tx1">
                    <a:lumMod val="95000"/>
                    <a:lumOff val="5000"/>
                  </a:schemeClr>
                </a:solidFill>
                <a:latin typeface="Courier New" panose="02070309020205020404" pitchFamily="49" charset="0"/>
                <a:cs typeface="Courier New" panose="02070309020205020404" pitchFamily="49" charset="0"/>
              </a:rPr>
              <a:t>00 02</a:t>
            </a:r>
            <a:r>
              <a:rPr lang="en-SG" sz="1500" b="1" dirty="0">
                <a:solidFill>
                  <a:schemeClr val="tx1">
                    <a:lumMod val="95000"/>
                    <a:lumOff val="5000"/>
                  </a:schemeClr>
                </a:solidFill>
                <a:latin typeface="Courier New" panose="02070309020205020404" pitchFamily="49" charset="0"/>
                <a:cs typeface="Courier New" panose="02070309020205020404" pitchFamily="49" charset="0"/>
              </a:rPr>
              <a:t>01</a:t>
            </a:r>
            <a:r>
              <a:rPr lang="en-SG" sz="1500" dirty="0">
                <a:solidFill>
                  <a:schemeClr val="tx1">
                    <a:lumMod val="95000"/>
                    <a:lumOff val="5000"/>
                  </a:schemeClr>
                </a:solidFill>
                <a:latin typeface="Courier New" panose="02070309020205020404" pitchFamily="49" charset="0"/>
                <a:cs typeface="Courier New" panose="02070309020205020404" pitchFamily="49" charset="0"/>
              </a:rPr>
              <a:t> </a:t>
            </a:r>
            <a:r>
              <a:rPr lang="en-SG" sz="1500" b="1" dirty="0">
                <a:solidFill>
                  <a:schemeClr val="tx1">
                    <a:lumMod val="95000"/>
                    <a:lumOff val="5000"/>
                  </a:schemeClr>
                </a:solidFill>
                <a:latin typeface="Courier New" panose="02070309020205020404" pitchFamily="49" charset="0"/>
                <a:cs typeface="Courier New" panose="02070309020205020404" pitchFamily="49" charset="0"/>
              </a:rPr>
              <a:t>0200</a:t>
            </a:r>
            <a:r>
              <a:rPr lang="en-SG" sz="1500" dirty="0">
                <a:solidFill>
                  <a:schemeClr val="tx1">
                    <a:lumMod val="95000"/>
                    <a:lumOff val="5000"/>
                  </a:schemeClr>
                </a:solidFill>
                <a:latin typeface="Courier New" panose="02070309020205020404" pitchFamily="49" charset="0"/>
                <a:cs typeface="Courier New" panose="02070309020205020404" pitchFamily="49" charset="0"/>
              </a:rPr>
              <a:t>  .&lt;.</a:t>
            </a:r>
            <a:r>
              <a:rPr lang="en-SG" sz="1500" i="1" dirty="0">
                <a:solidFill>
                  <a:schemeClr val="tx1">
                    <a:lumMod val="95000"/>
                    <a:lumOff val="5000"/>
                  </a:schemeClr>
                </a:solidFill>
                <a:latin typeface="Courier New" panose="02070309020205020404" pitchFamily="49" charset="0"/>
                <a:cs typeface="Courier New" panose="02070309020205020404" pitchFamily="49" charset="0"/>
              </a:rPr>
              <a:t>MSDOS5.0</a:t>
            </a:r>
            <a:r>
              <a:rPr lang="en-SG" sz="1500" dirty="0">
                <a:solidFill>
                  <a:schemeClr val="tx1">
                    <a:lumMod val="95000"/>
                    <a:lumOff val="5000"/>
                  </a:schemeClr>
                </a:solidFill>
                <a:latin typeface="Courier New" panose="02070309020205020404" pitchFamily="49" charset="0"/>
                <a:cs typeface="Courier New" panose="02070309020205020404" pitchFamily="49" charset="0"/>
              </a:rPr>
              <a:t>.....</a:t>
            </a:r>
            <a:endParaRPr lang="en-SG" sz="1500" dirty="0">
              <a:solidFill>
                <a:schemeClr val="tx1">
                  <a:lumMod val="95000"/>
                  <a:lumOff val="5000"/>
                </a:schemeClr>
              </a:solidFill>
              <a:latin typeface="Courier New" panose="02070309020205020404" pitchFamily="49" charset="0"/>
              <a:cs typeface="Courier New" panose="02070309020205020404" pitchFamily="49" charset="0"/>
            </a:endParaRPr>
          </a:p>
          <a:p>
            <a:r>
              <a:rPr lang="en-SG" sz="1500" dirty="0">
                <a:solidFill>
                  <a:schemeClr val="tx1">
                    <a:lumMod val="95000"/>
                    <a:lumOff val="5000"/>
                  </a:schemeClr>
                </a:solidFill>
                <a:latin typeface="Courier New" panose="02070309020205020404" pitchFamily="49" charset="0"/>
                <a:cs typeface="Courier New" panose="02070309020205020404" pitchFamily="49" charset="0"/>
              </a:rPr>
              <a:t>0000010: 0200 02</a:t>
            </a:r>
            <a:r>
              <a:rPr lang="en-SG" sz="1500" b="1" u="sng" dirty="0">
                <a:solidFill>
                  <a:schemeClr val="tx1">
                    <a:lumMod val="95000"/>
                    <a:lumOff val="5000"/>
                  </a:schemeClr>
                </a:solidFill>
                <a:latin typeface="Courier New" panose="02070309020205020404" pitchFamily="49" charset="0"/>
                <a:cs typeface="Courier New" panose="02070309020205020404" pitchFamily="49" charset="0"/>
              </a:rPr>
              <a:t>81 cc</a:t>
            </a:r>
            <a:r>
              <a:rPr lang="en-SG" sz="1500" dirty="0">
                <a:solidFill>
                  <a:schemeClr val="tx1">
                    <a:lumMod val="95000"/>
                    <a:lumOff val="5000"/>
                  </a:schemeClr>
                </a:solidFill>
                <a:latin typeface="Courier New" panose="02070309020205020404" pitchFamily="49" charset="0"/>
                <a:cs typeface="Courier New" panose="02070309020205020404" pitchFamily="49" charset="0"/>
              </a:rPr>
              <a:t>f8 cb00 3f00 ff00 3f00 0000  ........?...?...</a:t>
            </a:r>
            <a:endParaRPr lang="en-SG" sz="1500" dirty="0">
              <a:solidFill>
                <a:schemeClr val="tx1">
                  <a:lumMod val="95000"/>
                  <a:lumOff val="5000"/>
                </a:schemeClr>
              </a:solidFill>
              <a:latin typeface="Courier New" panose="02070309020205020404" pitchFamily="49" charset="0"/>
              <a:cs typeface="Courier New" panose="02070309020205020404" pitchFamily="49" charset="0"/>
            </a:endParaRPr>
          </a:p>
          <a:p>
            <a:r>
              <a:rPr lang="en-SG" sz="1500" dirty="0">
                <a:solidFill>
                  <a:schemeClr val="tx1">
                    <a:lumMod val="95000"/>
                    <a:lumOff val="5000"/>
                  </a:schemeClr>
                </a:solidFill>
                <a:latin typeface="Courier New" panose="02070309020205020404" pitchFamily="49" charset="0"/>
                <a:cs typeface="Courier New" panose="02070309020205020404" pitchFamily="49" charset="0"/>
              </a:rPr>
              <a:t>0000020: </a:t>
            </a:r>
            <a:r>
              <a:rPr lang="en-SG" sz="1500" u="sng" dirty="0">
                <a:solidFill>
                  <a:schemeClr val="tx1">
                    <a:lumMod val="95000"/>
                    <a:lumOff val="5000"/>
                  </a:schemeClr>
                </a:solidFill>
                <a:latin typeface="Courier New" panose="02070309020205020404" pitchFamily="49" charset="0"/>
                <a:cs typeface="Courier New" panose="02070309020205020404" pitchFamily="49" charset="0"/>
              </a:rPr>
              <a:t>0000 0000</a:t>
            </a:r>
            <a:r>
              <a:rPr lang="en-SG" sz="1500" dirty="0">
                <a:solidFill>
                  <a:schemeClr val="tx1">
                    <a:lumMod val="95000"/>
                    <a:lumOff val="5000"/>
                  </a:schemeClr>
                </a:solidFill>
                <a:latin typeface="Courier New" panose="02070309020205020404" pitchFamily="49" charset="0"/>
                <a:cs typeface="Courier New" panose="02070309020205020404" pitchFamily="49" charset="0"/>
              </a:rPr>
              <a:t> 8000 2948 9405 284e 4f20 4e41  ......)H..(NO NA</a:t>
            </a:r>
            <a:endParaRPr lang="en-SG" sz="1500" dirty="0">
              <a:solidFill>
                <a:schemeClr val="tx1">
                  <a:lumMod val="95000"/>
                  <a:lumOff val="5000"/>
                </a:schemeClr>
              </a:solidFill>
              <a:latin typeface="Courier New" panose="02070309020205020404" pitchFamily="49" charset="0"/>
              <a:cs typeface="Courier New" panose="02070309020205020404" pitchFamily="49" charset="0"/>
            </a:endParaRPr>
          </a:p>
          <a:p>
            <a:r>
              <a:rPr lang="en-SG" sz="1500" dirty="0">
                <a:solidFill>
                  <a:schemeClr val="tx1">
                    <a:lumMod val="95000"/>
                    <a:lumOff val="5000"/>
                  </a:schemeClr>
                </a:solidFill>
                <a:latin typeface="Courier New" panose="02070309020205020404" pitchFamily="49" charset="0"/>
                <a:cs typeface="Courier New" panose="02070309020205020404" pitchFamily="49" charset="0"/>
              </a:rPr>
              <a:t>0000030: 4d45 2020 2020 4641 5431 3620 2020 33c9  ME    FAT16   3.</a:t>
            </a:r>
            <a:endParaRPr lang="en-SG" sz="1500" dirty="0">
              <a:solidFill>
                <a:schemeClr val="tx1">
                  <a:lumMod val="95000"/>
                  <a:lumOff val="5000"/>
                </a:schemeClr>
              </a:solidFill>
              <a:latin typeface="Courier New" panose="02070309020205020404" pitchFamily="49" charset="0"/>
              <a:cs typeface="Courier New" panose="02070309020205020404" pitchFamily="49" charset="0"/>
            </a:endParaRPr>
          </a:p>
          <a:p>
            <a:r>
              <a:rPr lang="en-SG" sz="1500" dirty="0">
                <a:solidFill>
                  <a:schemeClr val="tx1">
                    <a:lumMod val="95000"/>
                    <a:lumOff val="5000"/>
                  </a:schemeClr>
                </a:solidFill>
                <a:latin typeface="Courier New" panose="02070309020205020404" pitchFamily="49" charset="0"/>
                <a:cs typeface="Courier New" panose="02070309020205020404" pitchFamily="49" charset="0"/>
              </a:rPr>
              <a:t>0000040: 8ed1 bcf0 7b8e d9b8 0020 8ec0 </a:t>
            </a:r>
            <a:r>
              <a:rPr lang="en-SG" sz="1500" dirty="0" err="1">
                <a:solidFill>
                  <a:schemeClr val="tx1">
                    <a:lumMod val="95000"/>
                    <a:lumOff val="5000"/>
                  </a:schemeClr>
                </a:solidFill>
                <a:latin typeface="Courier New" panose="02070309020205020404" pitchFamily="49" charset="0"/>
                <a:cs typeface="Courier New" panose="02070309020205020404" pitchFamily="49" charset="0"/>
              </a:rPr>
              <a:t>fcbd</a:t>
            </a:r>
            <a:r>
              <a:rPr lang="en-SG" sz="1500" dirty="0">
                <a:solidFill>
                  <a:schemeClr val="tx1">
                    <a:lumMod val="95000"/>
                    <a:lumOff val="5000"/>
                  </a:schemeClr>
                </a:solidFill>
                <a:latin typeface="Courier New" panose="02070309020205020404" pitchFamily="49" charset="0"/>
                <a:cs typeface="Courier New" panose="02070309020205020404" pitchFamily="49" charset="0"/>
              </a:rPr>
              <a:t> 007c  ....{.... .....|</a:t>
            </a:r>
            <a:endParaRPr lang="en-SG" sz="1500" dirty="0">
              <a:solidFill>
                <a:schemeClr val="tx1">
                  <a:lumMod val="95000"/>
                  <a:lumOff val="5000"/>
                </a:schemeClr>
              </a:solidFill>
              <a:latin typeface="Courier New" panose="02070309020205020404" pitchFamily="49" charset="0"/>
              <a:cs typeface="Courier New" panose="02070309020205020404" pitchFamily="49" charset="0"/>
            </a:endParaRPr>
          </a:p>
        </p:txBody>
      </p:sp>
      <p:grpSp>
        <p:nvGrpSpPr>
          <p:cNvPr id="8" name="Group 7"/>
          <p:cNvGrpSpPr/>
          <p:nvPr/>
        </p:nvGrpSpPr>
        <p:grpSpPr>
          <a:xfrm>
            <a:off x="1735667" y="3264521"/>
            <a:ext cx="846666" cy="581404"/>
            <a:chOff x="1735667" y="4657342"/>
            <a:chExt cx="846666" cy="581404"/>
          </a:xfrm>
        </p:grpSpPr>
        <p:sp>
          <p:nvSpPr>
            <p:cNvPr id="9" name="Rectangle 8"/>
            <p:cNvSpPr/>
            <p:nvPr/>
          </p:nvSpPr>
          <p:spPr>
            <a:xfrm>
              <a:off x="1735667" y="4973827"/>
              <a:ext cx="846666" cy="264919"/>
            </a:xfrm>
            <a:prstGeom prst="rect">
              <a:avLst/>
            </a:prstGeom>
            <a:noFill/>
            <a:ln w="28575">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 name="Rectangle 12"/>
            <p:cNvSpPr/>
            <p:nvPr/>
          </p:nvSpPr>
          <p:spPr>
            <a:xfrm>
              <a:off x="1943199" y="4657342"/>
              <a:ext cx="550151" cy="369332"/>
            </a:xfrm>
            <a:prstGeom prst="rect">
              <a:avLst/>
            </a:prstGeom>
          </p:spPr>
          <p:txBody>
            <a:bodyPr wrap="none">
              <a:spAutoFit/>
            </a:bodyPr>
            <a:lstStyle/>
            <a:p>
              <a:r>
                <a:rPr lang="en-SG" dirty="0">
                  <a:solidFill>
                    <a:srgbClr val="FF0000"/>
                  </a:solidFill>
                </a:rPr>
                <a:t>0–2</a:t>
              </a:r>
              <a:endParaRPr lang="en-SG" dirty="0">
                <a:solidFill>
                  <a:srgbClr val="FF0000"/>
                </a:solidFill>
              </a:endParaRPr>
            </a:p>
          </p:txBody>
        </p:sp>
      </p:grpSp>
      <p:grpSp>
        <p:nvGrpSpPr>
          <p:cNvPr id="14" name="Group 13"/>
          <p:cNvGrpSpPr/>
          <p:nvPr/>
        </p:nvGrpSpPr>
        <p:grpSpPr>
          <a:xfrm>
            <a:off x="2582333" y="3229752"/>
            <a:ext cx="2290657" cy="616173"/>
            <a:chOff x="2582333" y="4622573"/>
            <a:chExt cx="2290657" cy="616173"/>
          </a:xfrm>
        </p:grpSpPr>
        <p:sp>
          <p:nvSpPr>
            <p:cNvPr id="15" name="Rectangle 14"/>
            <p:cNvSpPr/>
            <p:nvPr/>
          </p:nvSpPr>
          <p:spPr>
            <a:xfrm>
              <a:off x="2582333" y="4968387"/>
              <a:ext cx="2290657" cy="270359"/>
            </a:xfrm>
            <a:prstGeom prst="rect">
              <a:avLst/>
            </a:prstGeom>
            <a:noFill/>
            <a:ln w="28575">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6" name="Rectangle 15"/>
            <p:cNvSpPr/>
            <p:nvPr/>
          </p:nvSpPr>
          <p:spPr>
            <a:xfrm>
              <a:off x="3214443" y="4622573"/>
              <a:ext cx="675185" cy="369332"/>
            </a:xfrm>
            <a:prstGeom prst="rect">
              <a:avLst/>
            </a:prstGeom>
          </p:spPr>
          <p:txBody>
            <a:bodyPr wrap="none">
              <a:spAutoFit/>
            </a:bodyPr>
            <a:lstStyle/>
            <a:p>
              <a:r>
                <a:rPr lang="en-SG" dirty="0">
                  <a:solidFill>
                    <a:srgbClr val="FF0000"/>
                  </a:solidFill>
                </a:rPr>
                <a:t>3–10</a:t>
              </a:r>
              <a:endParaRPr lang="en-SG" dirty="0">
                <a:solidFill>
                  <a:srgbClr val="FF0000"/>
                </a:solidFill>
              </a:endParaRPr>
            </a:p>
          </p:txBody>
        </p:sp>
      </p:grpSp>
      <p:grpSp>
        <p:nvGrpSpPr>
          <p:cNvPr id="17" name="Group 16"/>
          <p:cNvGrpSpPr/>
          <p:nvPr/>
        </p:nvGrpSpPr>
        <p:grpSpPr>
          <a:xfrm>
            <a:off x="4702422" y="3239151"/>
            <a:ext cx="800219" cy="606774"/>
            <a:chOff x="4702422" y="4631972"/>
            <a:chExt cx="800219" cy="606774"/>
          </a:xfrm>
        </p:grpSpPr>
        <p:sp>
          <p:nvSpPr>
            <p:cNvPr id="18" name="Rectangle 17"/>
            <p:cNvSpPr/>
            <p:nvPr/>
          </p:nvSpPr>
          <p:spPr>
            <a:xfrm>
              <a:off x="4872991" y="4968387"/>
              <a:ext cx="575309" cy="270359"/>
            </a:xfrm>
            <a:prstGeom prst="rect">
              <a:avLst/>
            </a:prstGeom>
            <a:noFill/>
            <a:ln w="28575">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9" name="Rectangle 18"/>
            <p:cNvSpPr/>
            <p:nvPr/>
          </p:nvSpPr>
          <p:spPr>
            <a:xfrm>
              <a:off x="4702422" y="4631972"/>
              <a:ext cx="800219" cy="369332"/>
            </a:xfrm>
            <a:prstGeom prst="rect">
              <a:avLst/>
            </a:prstGeom>
          </p:spPr>
          <p:txBody>
            <a:bodyPr wrap="none">
              <a:spAutoFit/>
            </a:bodyPr>
            <a:lstStyle/>
            <a:p>
              <a:r>
                <a:rPr lang="en-SG" dirty="0">
                  <a:solidFill>
                    <a:srgbClr val="FF0000"/>
                  </a:solidFill>
                </a:rPr>
                <a:t>11–12</a:t>
              </a:r>
              <a:endParaRPr lang="en-SG" dirty="0">
                <a:solidFill>
                  <a:srgbClr val="FF0000"/>
                </a:solidFill>
              </a:endParaRPr>
            </a:p>
          </p:txBody>
        </p:sp>
      </p:grpSp>
      <p:grpSp>
        <p:nvGrpSpPr>
          <p:cNvPr id="20" name="Group 19"/>
          <p:cNvGrpSpPr/>
          <p:nvPr/>
        </p:nvGrpSpPr>
        <p:grpSpPr>
          <a:xfrm>
            <a:off x="950429" y="4076273"/>
            <a:ext cx="1878115" cy="988317"/>
            <a:chOff x="950429" y="5469094"/>
            <a:chExt cx="1878115" cy="988317"/>
          </a:xfrm>
        </p:grpSpPr>
        <p:sp>
          <p:nvSpPr>
            <p:cNvPr id="21" name="Rectangle 20"/>
            <p:cNvSpPr/>
            <p:nvPr/>
          </p:nvSpPr>
          <p:spPr>
            <a:xfrm>
              <a:off x="950429" y="6088079"/>
              <a:ext cx="800219" cy="369332"/>
            </a:xfrm>
            <a:prstGeom prst="rect">
              <a:avLst/>
            </a:prstGeom>
          </p:spPr>
          <p:txBody>
            <a:bodyPr wrap="none">
              <a:spAutoFit/>
            </a:bodyPr>
            <a:lstStyle/>
            <a:p>
              <a:r>
                <a:rPr lang="en-SG" dirty="0">
                  <a:solidFill>
                    <a:srgbClr val="FF0000"/>
                  </a:solidFill>
                </a:rPr>
                <a:t>32–35</a:t>
              </a:r>
              <a:endParaRPr lang="en-SG" dirty="0">
                <a:solidFill>
                  <a:srgbClr val="FF0000"/>
                </a:solidFill>
              </a:endParaRPr>
            </a:p>
          </p:txBody>
        </p:sp>
        <p:sp>
          <p:nvSpPr>
            <p:cNvPr id="22" name="Rectangle 21"/>
            <p:cNvSpPr/>
            <p:nvPr/>
          </p:nvSpPr>
          <p:spPr>
            <a:xfrm>
              <a:off x="1765523" y="5469094"/>
              <a:ext cx="1063021" cy="230833"/>
            </a:xfrm>
            <a:prstGeom prst="rect">
              <a:avLst/>
            </a:prstGeom>
            <a:noFill/>
            <a:ln w="28575">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23" name="Straight Arrow Connector 22"/>
            <p:cNvCxnSpPr>
              <a:stCxn id="21" idx="0"/>
              <a:endCxn id="22" idx="1"/>
            </p:cNvCxnSpPr>
            <p:nvPr/>
          </p:nvCxnSpPr>
          <p:spPr>
            <a:xfrm flipV="1">
              <a:off x="1350539" y="5584511"/>
              <a:ext cx="414984" cy="503568"/>
            </a:xfrm>
            <a:prstGeom prst="straightConnector1">
              <a:avLst/>
            </a:prstGeom>
            <a:ln w="28575">
              <a:solidFill>
                <a:srgbClr val="FF0066"/>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4" name="Group 23"/>
          <p:cNvGrpSpPr/>
          <p:nvPr/>
        </p:nvGrpSpPr>
        <p:grpSpPr>
          <a:xfrm>
            <a:off x="2495441" y="3845440"/>
            <a:ext cx="800219" cy="1219150"/>
            <a:chOff x="2495441" y="5238261"/>
            <a:chExt cx="800219" cy="1219150"/>
          </a:xfrm>
        </p:grpSpPr>
        <p:sp>
          <p:nvSpPr>
            <p:cNvPr id="25" name="Rectangle 24"/>
            <p:cNvSpPr/>
            <p:nvPr/>
          </p:nvSpPr>
          <p:spPr>
            <a:xfrm>
              <a:off x="2582333" y="5238261"/>
              <a:ext cx="575309" cy="230833"/>
            </a:xfrm>
            <a:prstGeom prst="rect">
              <a:avLst/>
            </a:prstGeom>
            <a:noFill/>
            <a:ln w="28575">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6" name="Rectangle 25"/>
            <p:cNvSpPr/>
            <p:nvPr/>
          </p:nvSpPr>
          <p:spPr>
            <a:xfrm>
              <a:off x="2495441" y="6088079"/>
              <a:ext cx="800219" cy="369332"/>
            </a:xfrm>
            <a:prstGeom prst="rect">
              <a:avLst/>
            </a:prstGeom>
          </p:spPr>
          <p:txBody>
            <a:bodyPr wrap="none">
              <a:spAutoFit/>
            </a:bodyPr>
            <a:lstStyle/>
            <a:p>
              <a:r>
                <a:rPr lang="en-SG" dirty="0">
                  <a:solidFill>
                    <a:srgbClr val="FF0000"/>
                  </a:solidFill>
                </a:rPr>
                <a:t>19–20</a:t>
              </a:r>
              <a:endParaRPr lang="en-SG" dirty="0">
                <a:solidFill>
                  <a:srgbClr val="FF0000"/>
                </a:solidFill>
              </a:endParaRPr>
            </a:p>
          </p:txBody>
        </p:sp>
        <p:cxnSp>
          <p:nvCxnSpPr>
            <p:cNvPr id="27" name="Connector: Elbow 26"/>
            <p:cNvCxnSpPr/>
            <p:nvPr/>
          </p:nvCxnSpPr>
          <p:spPr>
            <a:xfrm rot="5400000" flipH="1" flipV="1">
              <a:off x="2491525" y="5815862"/>
              <a:ext cx="756926" cy="12700"/>
            </a:xfrm>
            <a:prstGeom prst="bentConnector3">
              <a:avLst/>
            </a:prstGeom>
            <a:ln w="28575">
              <a:solidFill>
                <a:srgbClr val="FF0066"/>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5614251" y="3238783"/>
            <a:ext cx="766557" cy="599175"/>
            <a:chOff x="5080591" y="4640962"/>
            <a:chExt cx="766557" cy="599175"/>
          </a:xfrm>
        </p:grpSpPr>
        <p:sp>
          <p:nvSpPr>
            <p:cNvPr id="29" name="Rectangle 28"/>
            <p:cNvSpPr/>
            <p:nvPr/>
          </p:nvSpPr>
          <p:spPr>
            <a:xfrm>
              <a:off x="5210118" y="4969778"/>
              <a:ext cx="518013" cy="270359"/>
            </a:xfrm>
            <a:prstGeom prst="rect">
              <a:avLst/>
            </a:prstGeom>
            <a:noFill/>
            <a:ln w="28575">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0" name="Rectangle 29"/>
            <p:cNvSpPr/>
            <p:nvPr/>
          </p:nvSpPr>
          <p:spPr>
            <a:xfrm>
              <a:off x="5080591" y="4640962"/>
              <a:ext cx="766557" cy="369332"/>
            </a:xfrm>
            <a:prstGeom prst="rect">
              <a:avLst/>
            </a:prstGeom>
          </p:spPr>
          <p:txBody>
            <a:bodyPr wrap="none">
              <a:spAutoFit/>
            </a:bodyPr>
            <a:lstStyle/>
            <a:p>
              <a:r>
                <a:rPr lang="en-SG" dirty="0">
                  <a:solidFill>
                    <a:srgbClr val="FF0000"/>
                  </a:solidFill>
                </a:rPr>
                <a:t>14-15</a:t>
              </a:r>
              <a:endParaRPr lang="en-SG" dirty="0">
                <a:solidFill>
                  <a:srgbClr val="FF000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500"/>
                                        <p:tgtEl>
                                          <p:spTgt spid="2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F59E0B"/>
          </a:solidFill>
          <a:ln w="12700">
            <a:solidFill>
              <a:srgbClr val="F59E0B"/>
            </a:solidFill>
            <a:prstDash val="solid"/>
          </a:ln>
        </p:spPr>
        <p:txBody>
          <a:bodyPr/>
          <a:lstStyle/>
          <a:p>
            <a:endParaRPr lang="en-SG"/>
          </a:p>
        </p:txBody>
      </p:sp>
      <p:sp>
        <p:nvSpPr>
          <p:cNvPr id="3" name="Text 1"/>
          <p:cNvSpPr/>
          <p:nvPr/>
        </p:nvSpPr>
        <p:spPr>
          <a:xfrm>
            <a:off x="256032" y="128015"/>
            <a:ext cx="8631936" cy="548640"/>
          </a:xfrm>
          <a:prstGeom prst="rect">
            <a:avLst/>
          </a:prstGeom>
          <a:noFill/>
        </p:spPr>
        <p:txBody>
          <a:bodyPr wrap="square" lIns="0" tIns="0" rIns="0" bIns="0" rtlCol="0" anchor="ctr"/>
          <a:lstStyle/>
          <a:p>
            <a:pPr marL="0" indent="0">
              <a:buNone/>
            </a:pPr>
            <a:r>
              <a:rPr lang="en-US" sz="16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FAT32 Boot Sector — Byte Offset Reference (BPB)</a:t>
            </a:r>
            <a:endParaRPr lang="en-US" sz="1600" dirty="0"/>
          </a:p>
        </p:txBody>
      </p:sp>
      <p:sp>
        <p:nvSpPr>
          <p:cNvPr id="4" name="Shape 2"/>
          <p:cNvSpPr/>
          <p:nvPr/>
        </p:nvSpPr>
        <p:spPr>
          <a:xfrm>
            <a:off x="256032" y="73152"/>
            <a:ext cx="1463040" cy="219456"/>
          </a:xfrm>
          <a:prstGeom prst="rect">
            <a:avLst/>
          </a:prstGeom>
          <a:solidFill>
            <a:srgbClr val="F59E0B"/>
          </a:solidFill>
          <a:ln w="12700">
            <a:solidFill>
              <a:srgbClr val="F59E0B"/>
            </a:solidFill>
            <a:prstDash val="solid"/>
          </a:ln>
        </p:spPr>
        <p:txBody>
          <a:bodyPr/>
          <a:lstStyle/>
          <a:p>
            <a:endParaRPr lang="en-SG"/>
          </a:p>
        </p:txBody>
      </p:sp>
      <p:sp>
        <p:nvSpPr>
          <p:cNvPr id="5" name="Text 3"/>
          <p:cNvSpPr/>
          <p:nvPr/>
        </p:nvSpPr>
        <p:spPr>
          <a:xfrm>
            <a:off x="256032" y="73152"/>
            <a:ext cx="1463040" cy="219456"/>
          </a:xfrm>
          <a:prstGeom prst="rect">
            <a:avLst/>
          </a:prstGeom>
          <a:noFill/>
        </p:spPr>
        <p:txBody>
          <a:bodyPr wrap="square" lIns="0" tIns="0" rIns="0" bIns="0" rtlCol="0" anchor="ctr"/>
          <a:lstStyle/>
          <a:p>
            <a:pPr marL="0" indent="0" algn="ctr">
              <a:buNone/>
            </a:pPr>
            <a:r>
              <a:rPr lang="en-US" sz="800" b="1" kern="0" spc="100"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SECTION 02 — FAT</a:t>
            </a:r>
            <a:endParaRPr lang="en-US" sz="800" dirty="0"/>
          </a:p>
        </p:txBody>
      </p:sp>
      <p:sp>
        <p:nvSpPr>
          <p:cNvPr id="10" name="Text 8"/>
          <p:cNvSpPr/>
          <p:nvPr/>
        </p:nvSpPr>
        <p:spPr>
          <a:xfrm>
            <a:off x="256032" y="804672"/>
            <a:ext cx="8631936" cy="274320"/>
          </a:xfrm>
          <a:prstGeom prst="rect">
            <a:avLst/>
          </a:prstGeom>
          <a:noFill/>
        </p:spPr>
        <p:txBody>
          <a:bodyPr wrap="square" rtlCol="0" anchor="ctr"/>
          <a:lstStyle/>
          <a:p>
            <a:pPr marL="0" indent="0">
              <a:buNone/>
            </a:pPr>
            <a:r>
              <a:rPr lang="en-US" sz="950" i="1" dirty="0">
                <a:solidFill>
                  <a:srgbClr val="475569"/>
                </a:solidFill>
                <a:latin typeface="Calibri" panose="020F0502020204030204" pitchFamily="34" charset="0"/>
                <a:ea typeface="Calibri" panose="020F0502020204030204" pitchFamily="34" charset="-122"/>
                <a:cs typeface="Calibri" panose="020F0502020204030204" pitchFamily="34" charset="-120"/>
              </a:rPr>
              <a:t>The Boot Sector (also called the Volume Boot Record) begins at offset 0x00 and is always 512 bytes. The BIOS Parameter Block (BPB) inside it describes the volume geometry.</a:t>
            </a:r>
            <a:endParaRPr lang="en-US" sz="950" dirty="0"/>
          </a:p>
        </p:txBody>
      </p:sp>
      <p:graphicFrame>
        <p:nvGraphicFramePr>
          <p:cNvPr id="11" name="Table 0"/>
          <p:cNvGraphicFramePr>
            <a:graphicFrameLocks noGrp="1"/>
          </p:cNvGraphicFramePr>
          <p:nvPr/>
        </p:nvGraphicFramePr>
        <p:xfrm>
          <a:off x="256032" y="1115568"/>
          <a:ext cx="8631936" cy="2560320"/>
        </p:xfrm>
        <a:graphic>
          <a:graphicData uri="http://schemas.openxmlformats.org/drawingml/2006/table">
            <a:tbl>
              <a:tblPr/>
              <a:tblGrid>
                <a:gridCol w="1463040"/>
                <a:gridCol w="1645920"/>
                <a:gridCol w="585216"/>
                <a:gridCol w="4937760"/>
              </a:tblGrid>
              <a:tr h="182880">
                <a:tc>
                  <a:txBody>
                    <a:bodyPr/>
                    <a:lstStyle/>
                    <a:p>
                      <a:pPr marL="0" indent="0">
                        <a:buNone/>
                      </a:pPr>
                      <a:r>
                        <a:rPr lang="en-US" sz="850" b="1" dirty="0">
                          <a:solidFill>
                            <a:srgbClr val="FFFFFF"/>
                          </a:solidFill>
                          <a:latin typeface="Calibri" panose="020F0502020204030204" pitchFamily="34" charset="0"/>
                          <a:ea typeface="Calibri" panose="020F0502020204030204" pitchFamily="34" charset="-122"/>
                          <a:cs typeface="Calibri" panose="020F0502020204030204" pitchFamily="34" charset="-120"/>
                        </a:rPr>
                        <a:t>Offset (Hex)</a:t>
                      </a:r>
                      <a:endParaRPr lang="en-US" sz="8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solidFill>
                      <a:srgbClr val="F59E0B"/>
                    </a:solidFill>
                  </a:tcPr>
                </a:tc>
                <a:tc>
                  <a:txBody>
                    <a:bodyPr/>
                    <a:lstStyle/>
                    <a:p>
                      <a:pPr marL="0" indent="0">
                        <a:buNone/>
                      </a:pPr>
                      <a:r>
                        <a:rPr lang="en-US" sz="850" b="1" dirty="0">
                          <a:solidFill>
                            <a:srgbClr val="FFFFFF"/>
                          </a:solidFill>
                          <a:latin typeface="Calibri" panose="020F0502020204030204" pitchFamily="34" charset="0"/>
                          <a:ea typeface="Calibri" panose="020F0502020204030204" pitchFamily="34" charset="-122"/>
                          <a:cs typeface="Calibri" panose="020F0502020204030204" pitchFamily="34" charset="-120"/>
                        </a:rPr>
                        <a:t>Field Name</a:t>
                      </a:r>
                      <a:endParaRPr lang="en-US" sz="8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solidFill>
                      <a:srgbClr val="F59E0B"/>
                    </a:solidFill>
                  </a:tcPr>
                </a:tc>
                <a:tc>
                  <a:txBody>
                    <a:bodyPr/>
                    <a:lstStyle/>
                    <a:p>
                      <a:pPr marL="0" indent="0">
                        <a:buNone/>
                      </a:pPr>
                      <a:r>
                        <a:rPr lang="en-US" sz="850" b="1" dirty="0">
                          <a:solidFill>
                            <a:srgbClr val="FFFFFF"/>
                          </a:solidFill>
                          <a:latin typeface="Calibri" panose="020F0502020204030204" pitchFamily="34" charset="0"/>
                          <a:ea typeface="Calibri" panose="020F0502020204030204" pitchFamily="34" charset="-122"/>
                          <a:cs typeface="Calibri" panose="020F0502020204030204" pitchFamily="34" charset="-120"/>
                        </a:rPr>
                        <a:t>Byte Range</a:t>
                      </a:r>
                      <a:endParaRPr lang="en-US" sz="8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solidFill>
                      <a:srgbClr val="F59E0B"/>
                    </a:solidFill>
                  </a:tcPr>
                </a:tc>
                <a:tc>
                  <a:txBody>
                    <a:bodyPr/>
                    <a:lstStyle/>
                    <a:p>
                      <a:pPr marL="0" indent="0">
                        <a:buNone/>
                      </a:pPr>
                      <a:r>
                        <a:rPr lang="en-US" sz="850" b="1" dirty="0">
                          <a:solidFill>
                            <a:srgbClr val="FFFFFF"/>
                          </a:solidFill>
                          <a:latin typeface="Calibri" panose="020F0502020204030204" pitchFamily="34" charset="0"/>
                          <a:ea typeface="Calibri" panose="020F0502020204030204" pitchFamily="34" charset="-122"/>
                          <a:cs typeface="Calibri" panose="020F0502020204030204" pitchFamily="34" charset="-120"/>
                        </a:rPr>
                        <a:t>Description</a:t>
                      </a:r>
                      <a:endParaRPr lang="en-US" sz="8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solidFill>
                      <a:srgbClr val="F59E0B"/>
                    </a:solidFill>
                  </a:tcPr>
                </a:tc>
              </a:tr>
              <a:tr h="182880">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0x15</a:t>
                      </a:r>
                      <a:endParaRPr lang="en-US" sz="850" dirty="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Media Type</a:t>
                      </a:r>
                      <a:endParaRPr lang="en-US" sz="850" dirty="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21</a:t>
                      </a:r>
                      <a:endParaRPr lang="en-US" sz="850" dirty="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0xF8 = fixed disk; 0xF0 = removable (floppy). Matches first byte of FAT1.</a:t>
                      </a:r>
                      <a:endParaRPr lang="en-US" sz="850" dirty="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182880">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0x16–0x17</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Sectors Per FAT 16</a:t>
                      </a:r>
                      <a:endParaRPr lang="en-US" sz="850" dirty="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22-23</a:t>
                      </a:r>
                      <a:endParaRPr lang="en-US" sz="850" dirty="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FAT32: always 0. FAT size stored in 0x24 instead.</a:t>
                      </a:r>
                      <a:endParaRPr lang="en-US" sz="850" dirty="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182880">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0x1C–0x1F</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Hidden Sectors</a:t>
                      </a:r>
                      <a:endParaRPr lang="en-US" sz="850" dirty="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28-31</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Sectors preceding this partition. Used to calculate absolute LBA addresses.</a:t>
                      </a:r>
                      <a:endParaRPr lang="en-US" sz="850" dirty="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182880">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0x20–0x23</a:t>
                      </a:r>
                      <a:endParaRPr lang="en-US" sz="850" dirty="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Total Sectors 32</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32-35</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Total number of sectors in the volume. Multiply by Bytes Per Sector for volume size.</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182880">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0x24–0x27</a:t>
                      </a:r>
                      <a:endParaRPr lang="en-US" sz="850" dirty="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FAT Size 32</a:t>
                      </a:r>
                      <a:endParaRPr lang="en-US" sz="850" dirty="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36-39</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Number of sectors per FAT copy. Replaces 0x16–0x17 for FAT32.</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182880">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0x2C–0x2F</a:t>
                      </a:r>
                      <a:endParaRPr lang="en-US" sz="850" dirty="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Root Cluster</a:t>
                      </a:r>
                      <a:endParaRPr lang="en-US" sz="850" dirty="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44-47</a:t>
                      </a:r>
                      <a:endParaRPr lang="en-US" sz="850" dirty="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Starting cluster of the root directory. Usually cluster 2 on a freshly formatted volume.</a:t>
                      </a:r>
                      <a:endParaRPr lang="en-US" sz="850" dirty="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182880">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0x30–0x31</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FS Info Sector</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48-49</a:t>
                      </a:r>
                      <a:endParaRPr lang="en-US" sz="850" dirty="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Sector number of the </a:t>
                      </a:r>
                      <a:r>
                        <a:rPr lang="en-US" sz="850" dirty="0" err="1">
                          <a:solidFill>
                            <a:schemeClr val="tx1">
                              <a:lumMod val="95000"/>
                              <a:lumOff val="5000"/>
                            </a:schemeClr>
                          </a:solidFill>
                          <a:latin typeface="Calibri" panose="020F0502020204030204"/>
                          <a:ea typeface="Calibri" panose="020F0502020204030204"/>
                          <a:cs typeface="Calibri" panose="020F0502020204030204"/>
                        </a:rPr>
                        <a:t>FSInfo</a:t>
                      </a:r>
                      <a:r>
                        <a:rPr lang="en-US" sz="850" dirty="0">
                          <a:solidFill>
                            <a:schemeClr val="tx1">
                              <a:lumMod val="95000"/>
                              <a:lumOff val="5000"/>
                            </a:schemeClr>
                          </a:solidFill>
                          <a:latin typeface="Calibri" panose="020F0502020204030204"/>
                          <a:ea typeface="Calibri" panose="020F0502020204030204"/>
                          <a:cs typeface="Calibri" panose="020F0502020204030204"/>
                        </a:rPr>
                        <a:t> structure. Tracks free cluster count and next free cluster.</a:t>
                      </a:r>
                      <a:endParaRPr lang="en-US" sz="850" dirty="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182880">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0x47–0x51</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Volume Label</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71-81</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Volume label string, space-padded. E.g. 'USB DRIVE  '. Also stored in the root directory.</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182880">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0x52–0x59</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FS Type Label</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82-89</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String 'FAT32   ' (with spaces). Informational only — not used to determine FAT type.</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182880">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0x1FE–0x1FF</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Boot Signature</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510-511</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Always 0x55 0xAA. Validates the sector as a boot record. Required by BIOS and forensic tools.</a:t>
                      </a:r>
                      <a:endParaRPr lang="en-US" sz="850" dirty="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bl>
          </a:graphicData>
        </a:graphic>
      </p:graphicFrame>
      <p:sp>
        <p:nvSpPr>
          <p:cNvPr id="12" name="Text 9"/>
          <p:cNvSpPr/>
          <p:nvPr/>
        </p:nvSpPr>
        <p:spPr>
          <a:xfrm>
            <a:off x="196337" y="3675888"/>
            <a:ext cx="8631936" cy="146304"/>
          </a:xfrm>
          <a:prstGeom prst="rect">
            <a:avLst/>
          </a:prstGeom>
          <a:noFill/>
        </p:spPr>
        <p:txBody>
          <a:bodyPr wrap="square" rtlCol="0" anchor="ctr"/>
          <a:lstStyle/>
          <a:p>
            <a:pPr marL="0" indent="0">
              <a:buNone/>
            </a:pPr>
            <a:r>
              <a:rPr lang="en-US" sz="750" i="1" dirty="0">
                <a:solidFill>
                  <a:srgbClr val="475569"/>
                </a:solidFill>
                <a:latin typeface="Calibri" panose="020F0502020204030204" pitchFamily="34" charset="0"/>
                <a:ea typeface="Calibri" panose="020F0502020204030204" pitchFamily="34" charset="-122"/>
                <a:cs typeface="Calibri" panose="020F0502020204030204" pitchFamily="34" charset="-120"/>
              </a:rPr>
              <a:t>All multi-byte values are stored in little-endian byte order (least significant byte first).</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F59E0B"/>
          </a:solidFill>
          <a:ln w="12700">
            <a:solidFill>
              <a:srgbClr val="F59E0B"/>
            </a:solidFill>
            <a:prstDash val="solid"/>
          </a:ln>
        </p:spPr>
        <p:txBody>
          <a:bodyPr/>
          <a:lstStyle/>
          <a:p>
            <a:endParaRPr lang="en-SG"/>
          </a:p>
        </p:txBody>
      </p:sp>
      <p:sp>
        <p:nvSpPr>
          <p:cNvPr id="3" name="Text 1"/>
          <p:cNvSpPr/>
          <p:nvPr/>
        </p:nvSpPr>
        <p:spPr>
          <a:xfrm>
            <a:off x="256032" y="120700"/>
            <a:ext cx="8631936" cy="548640"/>
          </a:xfrm>
          <a:prstGeom prst="rect">
            <a:avLst/>
          </a:prstGeom>
          <a:noFill/>
        </p:spPr>
        <p:txBody>
          <a:bodyPr wrap="square" lIns="0" tIns="0" rIns="0" bIns="0" rtlCol="0" anchor="ctr"/>
          <a:lstStyle/>
          <a:p>
            <a:pPr marL="0" indent="0">
              <a:buNone/>
            </a:pPr>
            <a:r>
              <a:rPr lang="en-US" sz="16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FAT32 Cluster Entries — Understanding Entry Values</a:t>
            </a:r>
            <a:endParaRPr lang="en-US" sz="1600" dirty="0"/>
          </a:p>
        </p:txBody>
      </p:sp>
      <p:sp>
        <p:nvSpPr>
          <p:cNvPr id="4" name="Shape 2"/>
          <p:cNvSpPr/>
          <p:nvPr/>
        </p:nvSpPr>
        <p:spPr>
          <a:xfrm>
            <a:off x="256032" y="73152"/>
            <a:ext cx="1463040" cy="219456"/>
          </a:xfrm>
          <a:prstGeom prst="rect">
            <a:avLst/>
          </a:prstGeom>
          <a:solidFill>
            <a:srgbClr val="F59E0B"/>
          </a:solidFill>
          <a:ln w="12700">
            <a:solidFill>
              <a:srgbClr val="F59E0B"/>
            </a:solidFill>
            <a:prstDash val="solid"/>
          </a:ln>
        </p:spPr>
        <p:txBody>
          <a:bodyPr/>
          <a:lstStyle/>
          <a:p>
            <a:endParaRPr lang="en-SG"/>
          </a:p>
        </p:txBody>
      </p:sp>
      <p:sp>
        <p:nvSpPr>
          <p:cNvPr id="5" name="Text 3"/>
          <p:cNvSpPr/>
          <p:nvPr/>
        </p:nvSpPr>
        <p:spPr>
          <a:xfrm>
            <a:off x="256032" y="73152"/>
            <a:ext cx="1463040" cy="219456"/>
          </a:xfrm>
          <a:prstGeom prst="rect">
            <a:avLst/>
          </a:prstGeom>
          <a:noFill/>
        </p:spPr>
        <p:txBody>
          <a:bodyPr wrap="square" lIns="0" tIns="0" rIns="0" bIns="0" rtlCol="0" anchor="ctr"/>
          <a:lstStyle/>
          <a:p>
            <a:pPr marL="0" indent="0" algn="ctr">
              <a:buNone/>
            </a:pPr>
            <a:r>
              <a:rPr lang="en-US" sz="800" b="1" kern="0" spc="100"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SECTION 02 — FAT</a:t>
            </a:r>
            <a:endParaRPr lang="en-US" sz="800" dirty="0"/>
          </a:p>
        </p:txBody>
      </p:sp>
      <p:sp>
        <p:nvSpPr>
          <p:cNvPr id="10" name="Text 8"/>
          <p:cNvSpPr/>
          <p:nvPr/>
        </p:nvSpPr>
        <p:spPr>
          <a:xfrm>
            <a:off x="256032" y="822960"/>
            <a:ext cx="8631936" cy="274320"/>
          </a:xfrm>
          <a:prstGeom prst="rect">
            <a:avLst/>
          </a:prstGeom>
          <a:noFill/>
        </p:spPr>
        <p:txBody>
          <a:bodyPr wrap="square" rtlCol="0" anchor="ctr"/>
          <a:lstStyle/>
          <a:p>
            <a:pPr marL="0" indent="0">
              <a:buNone/>
            </a:pPr>
            <a:r>
              <a:rPr lang="en-US" sz="950" i="1" dirty="0">
                <a:solidFill>
                  <a:srgbClr val="475569"/>
                </a:solidFill>
                <a:latin typeface="Calibri" panose="020F0502020204030204" pitchFamily="34" charset="0"/>
                <a:ea typeface="Calibri" panose="020F0502020204030204" pitchFamily="34" charset="-122"/>
                <a:cs typeface="Calibri" panose="020F0502020204030204" pitchFamily="34" charset="-120"/>
              </a:rPr>
              <a:t>The File Allocation Table contains one 28-bit entry per cluster. Each entry's value tells the OS — and forensic examiner — the exact status of that cluster on disk.</a:t>
            </a:r>
            <a:endParaRPr lang="en-US" sz="950" dirty="0"/>
          </a:p>
        </p:txBody>
      </p:sp>
      <p:graphicFrame>
        <p:nvGraphicFramePr>
          <p:cNvPr id="11" name="Table 0"/>
          <p:cNvGraphicFramePr>
            <a:graphicFrameLocks noGrp="1"/>
          </p:cNvGraphicFramePr>
          <p:nvPr/>
        </p:nvGraphicFramePr>
        <p:xfrm>
          <a:off x="256032" y="1133856"/>
          <a:ext cx="8631936" cy="2209800"/>
        </p:xfrm>
        <a:graphic>
          <a:graphicData uri="http://schemas.openxmlformats.org/drawingml/2006/table">
            <a:tbl>
              <a:tblPr/>
              <a:tblGrid>
                <a:gridCol w="2560320"/>
                <a:gridCol w="2194560"/>
                <a:gridCol w="3877056"/>
              </a:tblGrid>
              <a:tr h="365760">
                <a:tc>
                  <a:txBody>
                    <a:bodyPr/>
                    <a:lstStyle/>
                    <a:p>
                      <a:pPr marL="0" indent="0">
                        <a:buNone/>
                      </a:pPr>
                      <a:r>
                        <a:rPr lang="en-US" sz="950" b="1" dirty="0">
                          <a:solidFill>
                            <a:srgbClr val="FFFFFF"/>
                          </a:solidFill>
                          <a:latin typeface="Calibri" panose="020F0502020204030204" pitchFamily="34" charset="0"/>
                          <a:ea typeface="Calibri" panose="020F0502020204030204" pitchFamily="34" charset="-122"/>
                          <a:cs typeface="Calibri" panose="020F0502020204030204" pitchFamily="34" charset="-120"/>
                        </a:rPr>
                        <a:t>FAT32 Entry Value</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solidFill>
                      <a:srgbClr val="F59E0B"/>
                    </a:solidFill>
                  </a:tcPr>
                </a:tc>
                <a:tc>
                  <a:txBody>
                    <a:bodyPr/>
                    <a:lstStyle/>
                    <a:p>
                      <a:pPr marL="0" indent="0">
                        <a:buNone/>
                      </a:pPr>
                      <a:r>
                        <a:rPr lang="en-US" sz="950" b="1" dirty="0">
                          <a:solidFill>
                            <a:srgbClr val="FFFFFF"/>
                          </a:solidFill>
                          <a:latin typeface="Calibri" panose="020F0502020204030204" pitchFamily="34" charset="0"/>
                          <a:ea typeface="Calibri" panose="020F0502020204030204" pitchFamily="34" charset="-122"/>
                          <a:cs typeface="Calibri" panose="020F0502020204030204" pitchFamily="34" charset="-120"/>
                        </a:rPr>
                        <a:t>Meaning</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solidFill>
                      <a:srgbClr val="F59E0B"/>
                    </a:solidFill>
                  </a:tcPr>
                </a:tc>
                <a:tc>
                  <a:txBody>
                    <a:bodyPr/>
                    <a:lstStyle/>
                    <a:p>
                      <a:pPr marL="0" indent="0">
                        <a:buNone/>
                      </a:pPr>
                      <a:r>
                        <a:rPr lang="en-US" sz="950" b="1" dirty="0">
                          <a:solidFill>
                            <a:srgbClr val="FFFFFF"/>
                          </a:solidFill>
                          <a:latin typeface="Calibri" panose="020F0502020204030204" pitchFamily="34" charset="0"/>
                          <a:ea typeface="Calibri" panose="020F0502020204030204" pitchFamily="34" charset="-122"/>
                          <a:cs typeface="Calibri" panose="020F0502020204030204" pitchFamily="34" charset="-120"/>
                        </a:rPr>
                        <a:t>Forensic Significance</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solidFill>
                      <a:srgbClr val="F59E0B"/>
                    </a:solidFill>
                  </a:tcPr>
                </a:tc>
              </a:tr>
              <a:tr h="365760">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0x00000000</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Free cluster — not allocated</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Unallocated space. File carving can recover data here if not overwritten.</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365760">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0x00000002 – 0x0FFFFFEF</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Next cluster in chain</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Pointer to the next cluster. Follow the chain to read a file's full content.</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365760">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0x0FFFFFF8 – 0x0FFFFFFF</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End Of File (EOF) marker</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This is the last cluster in the file's chain. Stop reading here.</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365760">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0x0FFFFFF7</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Bad/damaged cluster</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Cluster is marked unreadable. Attackers may falsely mark good clusters as bad to hide data.</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365760">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0x0FFFFFF0 – 0x0FFFFFF6</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Reserved — do not use</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Reserved values. Should not appear in a healthy file system.</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bl>
          </a:graphicData>
        </a:graphic>
      </p:graphicFrame>
      <p:sp>
        <p:nvSpPr>
          <p:cNvPr id="12" name="Shape 9"/>
          <p:cNvSpPr/>
          <p:nvPr/>
        </p:nvSpPr>
        <p:spPr>
          <a:xfrm>
            <a:off x="256032" y="3346704"/>
            <a:ext cx="8631936" cy="347472"/>
          </a:xfrm>
          <a:prstGeom prst="rect">
            <a:avLst/>
          </a:prstGeom>
          <a:solidFill>
            <a:srgbClr val="F59E0B">
              <a:alpha val="80000"/>
            </a:srgbClr>
          </a:solidFill>
          <a:ln w="12700">
            <a:solidFill>
              <a:srgbClr val="F59E0B"/>
            </a:solidFill>
            <a:prstDash val="solid"/>
          </a:ln>
        </p:spPr>
        <p:txBody>
          <a:bodyPr/>
          <a:lstStyle/>
          <a:p>
            <a:endParaRPr lang="en-SG"/>
          </a:p>
        </p:txBody>
      </p:sp>
      <p:sp>
        <p:nvSpPr>
          <p:cNvPr id="13" name="Text 10"/>
          <p:cNvSpPr/>
          <p:nvPr/>
        </p:nvSpPr>
        <p:spPr>
          <a:xfrm>
            <a:off x="402336" y="3383280"/>
            <a:ext cx="8321040" cy="274320"/>
          </a:xfrm>
          <a:prstGeom prst="rect">
            <a:avLst/>
          </a:prstGeom>
          <a:noFill/>
        </p:spPr>
        <p:txBody>
          <a:bodyPr wrap="square" lIns="0" tIns="0" rIns="0" bIns="0" rtlCol="0" anchor="ctr"/>
          <a:lstStyle/>
          <a:p>
            <a:pPr marL="0" indent="0">
              <a:buNone/>
            </a:pPr>
            <a:r>
              <a:rPr lang="en-US" sz="9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Each entry is 32 bits wide in FAT32, but only the lower 28 bits are used. Values are stored in little-endian byte order (least significant byte first).</a:t>
            </a:r>
            <a:endParaRPr lang="en-US" sz="950" dirty="0"/>
          </a:p>
        </p:txBody>
      </p:sp>
      <p:sp>
        <p:nvSpPr>
          <p:cNvPr id="14" name="Shape 11"/>
          <p:cNvSpPr/>
          <p:nvPr/>
        </p:nvSpPr>
        <p:spPr>
          <a:xfrm>
            <a:off x="256032" y="3785616"/>
            <a:ext cx="4224528" cy="969264"/>
          </a:xfrm>
          <a:prstGeom prst="rect">
            <a:avLst/>
          </a:prstGeom>
          <a:solidFill>
            <a:srgbClr val="EEF6FB"/>
          </a:solidFill>
          <a:ln w="12700">
            <a:solidFill>
              <a:srgbClr val="10B981"/>
            </a:solidFill>
            <a:prstDash val="solid"/>
          </a:ln>
          <a:effectLst>
            <a:outerShdw blurRad="127000" dist="38100" dir="8100000" algn="bl" rotWithShape="0">
              <a:srgbClr val="000000">
                <a:alpha val="22000"/>
              </a:srgbClr>
            </a:outerShdw>
          </a:effectLst>
        </p:spPr>
        <p:txBody>
          <a:bodyPr/>
          <a:lstStyle/>
          <a:p>
            <a:endParaRPr lang="en-SG"/>
          </a:p>
        </p:txBody>
      </p:sp>
      <p:sp>
        <p:nvSpPr>
          <p:cNvPr id="15" name="Shape 12"/>
          <p:cNvSpPr/>
          <p:nvPr/>
        </p:nvSpPr>
        <p:spPr>
          <a:xfrm>
            <a:off x="256032" y="3785616"/>
            <a:ext cx="4224528" cy="256032"/>
          </a:xfrm>
          <a:prstGeom prst="rect">
            <a:avLst/>
          </a:prstGeom>
          <a:solidFill>
            <a:srgbClr val="10B981"/>
          </a:solidFill>
          <a:ln w="12700">
            <a:solidFill>
              <a:srgbClr val="10B981"/>
            </a:solidFill>
            <a:prstDash val="solid"/>
          </a:ln>
        </p:spPr>
        <p:txBody>
          <a:bodyPr/>
          <a:lstStyle/>
          <a:p>
            <a:endParaRPr lang="en-SG"/>
          </a:p>
        </p:txBody>
      </p:sp>
      <p:sp>
        <p:nvSpPr>
          <p:cNvPr id="16" name="Text 13"/>
          <p:cNvSpPr/>
          <p:nvPr/>
        </p:nvSpPr>
        <p:spPr>
          <a:xfrm>
            <a:off x="365760" y="3813048"/>
            <a:ext cx="4005072" cy="219456"/>
          </a:xfrm>
          <a:prstGeom prst="rect">
            <a:avLst/>
          </a:prstGeom>
          <a:noFill/>
        </p:spPr>
        <p:txBody>
          <a:bodyPr wrap="square" lIns="0" tIns="0" rIns="0" bIns="0" rtlCol="0" anchor="ctr"/>
          <a:lstStyle/>
          <a:p>
            <a:pPr marL="0" indent="0">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How to read an EOF marker</a:t>
            </a:r>
            <a:endParaRPr lang="en-US" sz="1000" dirty="0"/>
          </a:p>
        </p:txBody>
      </p:sp>
      <p:sp>
        <p:nvSpPr>
          <p:cNvPr id="17" name="Text 14"/>
          <p:cNvSpPr/>
          <p:nvPr/>
        </p:nvSpPr>
        <p:spPr>
          <a:xfrm>
            <a:off x="365760" y="4078224"/>
            <a:ext cx="4005072" cy="621792"/>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Find the starting cluster from the directory entry. Look up that index in the FAT. If the value is between 0x0FFFFFF8 and 0x0FFFFFFF → this is the last cluster of the file. All file data fits within this cluster's bounds.</a:t>
            </a:r>
            <a:endParaRPr lang="en-US" sz="900" dirty="0"/>
          </a:p>
        </p:txBody>
      </p:sp>
      <p:sp>
        <p:nvSpPr>
          <p:cNvPr id="18" name="Shape 15"/>
          <p:cNvSpPr/>
          <p:nvPr/>
        </p:nvSpPr>
        <p:spPr>
          <a:xfrm>
            <a:off x="4663440" y="3785616"/>
            <a:ext cx="4224528" cy="969264"/>
          </a:xfrm>
          <a:prstGeom prst="rect">
            <a:avLst/>
          </a:prstGeom>
          <a:solidFill>
            <a:srgbClr val="EEF6FB"/>
          </a:solidFill>
          <a:ln w="12700">
            <a:solidFill>
              <a:srgbClr val="EF4444"/>
            </a:solidFill>
            <a:prstDash val="solid"/>
          </a:ln>
          <a:effectLst>
            <a:outerShdw blurRad="127000" dist="38100" dir="8100000" algn="bl" rotWithShape="0">
              <a:srgbClr val="000000">
                <a:alpha val="22000"/>
              </a:srgbClr>
            </a:outerShdw>
          </a:effectLst>
        </p:spPr>
        <p:txBody>
          <a:bodyPr/>
          <a:lstStyle/>
          <a:p>
            <a:endParaRPr lang="en-SG"/>
          </a:p>
        </p:txBody>
      </p:sp>
      <p:sp>
        <p:nvSpPr>
          <p:cNvPr id="19" name="Shape 16"/>
          <p:cNvSpPr/>
          <p:nvPr/>
        </p:nvSpPr>
        <p:spPr>
          <a:xfrm>
            <a:off x="4663440" y="3785616"/>
            <a:ext cx="4224528" cy="256032"/>
          </a:xfrm>
          <a:prstGeom prst="rect">
            <a:avLst/>
          </a:prstGeom>
          <a:solidFill>
            <a:srgbClr val="EF4444"/>
          </a:solidFill>
          <a:ln w="12700">
            <a:solidFill>
              <a:srgbClr val="EF4444"/>
            </a:solidFill>
            <a:prstDash val="solid"/>
          </a:ln>
        </p:spPr>
        <p:txBody>
          <a:bodyPr/>
          <a:lstStyle/>
          <a:p>
            <a:endParaRPr lang="en-SG"/>
          </a:p>
        </p:txBody>
      </p:sp>
      <p:sp>
        <p:nvSpPr>
          <p:cNvPr id="20" name="Text 17"/>
          <p:cNvSpPr/>
          <p:nvPr/>
        </p:nvSpPr>
        <p:spPr>
          <a:xfrm>
            <a:off x="4773168" y="3813048"/>
            <a:ext cx="4005072" cy="219456"/>
          </a:xfrm>
          <a:prstGeom prst="rect">
            <a:avLst/>
          </a:prstGeom>
          <a:noFill/>
        </p:spPr>
        <p:txBody>
          <a:bodyPr wrap="square" lIns="0" tIns="0" rIns="0" bIns="0" rtlCol="0" anchor="ctr"/>
          <a:lstStyle/>
          <a:p>
            <a:pPr marL="0" indent="0">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How to read a bad cluster</a:t>
            </a:r>
            <a:endParaRPr lang="en-US" sz="1000" dirty="0"/>
          </a:p>
        </p:txBody>
      </p:sp>
      <p:sp>
        <p:nvSpPr>
          <p:cNvPr id="21" name="Text 18"/>
          <p:cNvSpPr/>
          <p:nvPr/>
        </p:nvSpPr>
        <p:spPr>
          <a:xfrm>
            <a:off x="4773168" y="4078224"/>
            <a:ext cx="4005072" cy="621792"/>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A FAT entry value of exactly 0x0FFFFFF7 means the OS has marked that cluster as unreadable. The OS skips this cluster during allocation. Forensically, data can still be present in those sectors on the physical disk.</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F59E0B"/>
          </a:solidFill>
          <a:ln w="12700">
            <a:solidFill>
              <a:srgbClr val="F59E0B"/>
            </a:solidFill>
            <a:prstDash val="solid"/>
          </a:ln>
        </p:spPr>
        <p:txBody>
          <a:bodyPr/>
          <a:lstStyle/>
          <a:p>
            <a:endParaRPr lang="en-SG"/>
          </a:p>
        </p:txBody>
      </p:sp>
      <p:sp>
        <p:nvSpPr>
          <p:cNvPr id="4" name="Shape 2"/>
          <p:cNvSpPr/>
          <p:nvPr/>
        </p:nvSpPr>
        <p:spPr>
          <a:xfrm>
            <a:off x="256032" y="73152"/>
            <a:ext cx="1463040" cy="219456"/>
          </a:xfrm>
          <a:prstGeom prst="rect">
            <a:avLst/>
          </a:prstGeom>
          <a:solidFill>
            <a:srgbClr val="F59E0B"/>
          </a:solidFill>
          <a:ln w="12700">
            <a:solidFill>
              <a:srgbClr val="F59E0B"/>
            </a:solidFill>
            <a:prstDash val="solid"/>
          </a:ln>
        </p:spPr>
        <p:txBody>
          <a:bodyPr/>
          <a:lstStyle/>
          <a:p>
            <a:endParaRPr lang="en-SG"/>
          </a:p>
        </p:txBody>
      </p:sp>
      <p:sp>
        <p:nvSpPr>
          <p:cNvPr id="5" name="Text 3"/>
          <p:cNvSpPr/>
          <p:nvPr/>
        </p:nvSpPr>
        <p:spPr>
          <a:xfrm>
            <a:off x="256032" y="73152"/>
            <a:ext cx="1463040" cy="219456"/>
          </a:xfrm>
          <a:prstGeom prst="rect">
            <a:avLst/>
          </a:prstGeom>
          <a:noFill/>
        </p:spPr>
        <p:txBody>
          <a:bodyPr wrap="square" lIns="0" tIns="0" rIns="0" bIns="0" rtlCol="0" anchor="ctr"/>
          <a:lstStyle/>
          <a:p>
            <a:pPr marL="0" indent="0" algn="ctr">
              <a:buNone/>
            </a:pPr>
            <a:r>
              <a:rPr lang="en-US" sz="800" b="1" kern="0" spc="100"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SECTION 02 — FAT</a:t>
            </a:r>
            <a:endParaRPr lang="en-US" sz="800" dirty="0"/>
          </a:p>
        </p:txBody>
      </p:sp>
      <p:sp>
        <p:nvSpPr>
          <p:cNvPr id="6" name="TextBox 5"/>
          <p:cNvSpPr txBox="1"/>
          <p:nvPr/>
        </p:nvSpPr>
        <p:spPr>
          <a:xfrm>
            <a:off x="256032" y="210312"/>
            <a:ext cx="8631936" cy="502920"/>
          </a:xfrm>
          <a:prstGeom prst="rect">
            <a:avLst/>
          </a:prstGeom>
          <a:noFill/>
        </p:spPr>
        <p:txBody>
          <a:bodyPr wrap="square" lIns="0" tIns="0" rIns="0" bIns="0">
            <a:spAutoFit/>
          </a:bodyPr>
          <a:lstStyle/>
          <a:p>
            <a:pPr algn="l"/>
            <a:r>
              <a:rPr sz="1600" b="1" i="0" dirty="0">
                <a:solidFill>
                  <a:srgbClr val="000000"/>
                </a:solidFill>
                <a:latin typeface="Trebuchet MS" panose="020B0603020202020204" pitchFamily="34" charset="0"/>
              </a:rPr>
              <a:t>Byte Order — Little Endian vs Big Endian</a:t>
            </a:r>
            <a:endParaRPr sz="1600" b="1" i="0" dirty="0">
              <a:solidFill>
                <a:srgbClr val="000000"/>
              </a:solidFill>
              <a:latin typeface="Trebuchet MS" panose="020B0603020202020204" pitchFamily="34" charset="0"/>
            </a:endParaRPr>
          </a:p>
        </p:txBody>
      </p:sp>
      <p:sp>
        <p:nvSpPr>
          <p:cNvPr id="7" name="TextBox 6"/>
          <p:cNvSpPr txBox="1"/>
          <p:nvPr/>
        </p:nvSpPr>
        <p:spPr>
          <a:xfrm>
            <a:off x="256032" y="822960"/>
            <a:ext cx="8631936" cy="274320"/>
          </a:xfrm>
          <a:prstGeom prst="rect">
            <a:avLst/>
          </a:prstGeom>
          <a:noFill/>
        </p:spPr>
        <p:txBody>
          <a:bodyPr wrap="square" lIns="0" tIns="0" rIns="0" bIns="0">
            <a:spAutoFit/>
          </a:bodyPr>
          <a:lstStyle/>
          <a:p>
            <a:pPr algn="l"/>
            <a:r>
              <a:rPr sz="950" b="0" i="1">
                <a:solidFill>
                  <a:srgbClr val="475569"/>
                </a:solidFill>
                <a:latin typeface="Calibri" panose="020F0502020204030204" pitchFamily="34" charset="0"/>
              </a:rPr>
              <a:t>Multi-byte values in memory can be stored low-byte-first (little-endian) or high-byte-first (big-endian). FAT, NTFS, and most x86 systems use little-endian — you must reverse byte order when reading.</a:t>
            </a:r>
            <a:endParaRPr sz="950" b="0" i="1">
              <a:solidFill>
                <a:srgbClr val="475569"/>
              </a:solidFill>
              <a:latin typeface="Calibri" panose="020F0502020204030204" pitchFamily="34" charset="0"/>
            </a:endParaRPr>
          </a:p>
        </p:txBody>
      </p:sp>
      <p:sp>
        <p:nvSpPr>
          <p:cNvPr id="8" name="Rounded Rectangle 7"/>
          <p:cNvSpPr/>
          <p:nvPr/>
        </p:nvSpPr>
        <p:spPr>
          <a:xfrm>
            <a:off x="256032" y="1234440"/>
            <a:ext cx="4251960" cy="1005840"/>
          </a:xfrm>
          <a:prstGeom prst="roundRect">
            <a:avLst/>
          </a:prstGeom>
          <a:solidFill>
            <a:srgbClr val="FEF3C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307592"/>
            <a:ext cx="4023360" cy="228600"/>
          </a:xfrm>
          <a:prstGeom prst="rect">
            <a:avLst/>
          </a:prstGeom>
          <a:noFill/>
        </p:spPr>
        <p:txBody>
          <a:bodyPr wrap="square" lIns="0" tIns="0" rIns="0" bIns="0">
            <a:spAutoFit/>
          </a:bodyPr>
          <a:lstStyle/>
          <a:p>
            <a:pPr algn="l"/>
            <a:r>
              <a:rPr sz="1100" b="1" i="0">
                <a:solidFill>
                  <a:srgbClr val="F59E0B"/>
                </a:solidFill>
                <a:latin typeface="Trebuchet MS" panose="020B0603020202020204" pitchFamily="34" charset="0"/>
              </a:rPr>
              <a:t>LITTLE ENDIAN (LSB first)</a:t>
            </a:r>
            <a:endParaRPr sz="1100" b="1" i="0">
              <a:solidFill>
                <a:srgbClr val="F59E0B"/>
              </a:solidFill>
              <a:latin typeface="Trebuchet MS" panose="020B0603020202020204" pitchFamily="34" charset="0"/>
            </a:endParaRPr>
          </a:p>
        </p:txBody>
      </p:sp>
      <p:sp>
        <p:nvSpPr>
          <p:cNvPr id="10" name="TextBox 9"/>
          <p:cNvSpPr txBox="1"/>
          <p:nvPr/>
        </p:nvSpPr>
        <p:spPr>
          <a:xfrm>
            <a:off x="365760" y="1581912"/>
            <a:ext cx="4023360" cy="594360"/>
          </a:xfrm>
          <a:prstGeom prst="rect">
            <a:avLst/>
          </a:prstGeom>
          <a:noFill/>
        </p:spPr>
        <p:txBody>
          <a:bodyPr wrap="square" lIns="0" tIns="0" rIns="0" bIns="0">
            <a:spAutoFit/>
          </a:bodyPr>
          <a:lstStyle/>
          <a:p>
            <a:pPr algn="l"/>
            <a:r>
              <a:rPr sz="900" b="0" i="0">
                <a:solidFill>
                  <a:srgbClr val="1A1A2E"/>
                </a:solidFill>
                <a:latin typeface="Calibri" panose="020F0502020204030204" pitchFamily="34" charset="0"/>
              </a:rPr>
              <a:t>The least-significant byte is stored at the lowest memory address. The bytes appear 'reversed' when viewed in a hex editor. Used by: x86/x64 CPUs, FAT, NTFS, Windows, most modern systems.</a:t>
            </a:r>
            <a:endParaRPr sz="900" b="0" i="0">
              <a:solidFill>
                <a:srgbClr val="1A1A2E"/>
              </a:solidFill>
              <a:latin typeface="Calibri" panose="020F0502020204030204" pitchFamily="34" charset="0"/>
            </a:endParaRPr>
          </a:p>
        </p:txBody>
      </p:sp>
      <p:sp>
        <p:nvSpPr>
          <p:cNvPr id="11" name="Rounded Rectangle 10"/>
          <p:cNvSpPr/>
          <p:nvPr/>
        </p:nvSpPr>
        <p:spPr>
          <a:xfrm>
            <a:off x="4636008" y="1234440"/>
            <a:ext cx="4251960" cy="1005840"/>
          </a:xfrm>
          <a:prstGeom prst="roundRect">
            <a:avLst/>
          </a:prstGeom>
          <a:solidFill>
            <a:srgbClr val="DBEAFE"/>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45736" y="1307592"/>
            <a:ext cx="4023360" cy="228600"/>
          </a:xfrm>
          <a:prstGeom prst="rect">
            <a:avLst/>
          </a:prstGeom>
          <a:noFill/>
        </p:spPr>
        <p:txBody>
          <a:bodyPr wrap="square" lIns="0" tIns="0" rIns="0" bIns="0">
            <a:spAutoFit/>
          </a:bodyPr>
          <a:lstStyle/>
          <a:p>
            <a:pPr algn="l"/>
            <a:r>
              <a:rPr sz="1100" b="1" i="0">
                <a:solidFill>
                  <a:srgbClr val="0EA5E9"/>
                </a:solidFill>
                <a:latin typeface="Trebuchet MS" panose="020B0603020202020204" pitchFamily="34" charset="0"/>
              </a:rPr>
              <a:t>BIG ENDIAN (MSB first)</a:t>
            </a:r>
            <a:endParaRPr sz="1100" b="1" i="0">
              <a:solidFill>
                <a:srgbClr val="0EA5E9"/>
              </a:solidFill>
              <a:latin typeface="Trebuchet MS" panose="020B0603020202020204" pitchFamily="34" charset="0"/>
            </a:endParaRPr>
          </a:p>
        </p:txBody>
      </p:sp>
      <p:sp>
        <p:nvSpPr>
          <p:cNvPr id="13" name="TextBox 12"/>
          <p:cNvSpPr txBox="1"/>
          <p:nvPr/>
        </p:nvSpPr>
        <p:spPr>
          <a:xfrm>
            <a:off x="4745736" y="1581912"/>
            <a:ext cx="4023360" cy="594360"/>
          </a:xfrm>
          <a:prstGeom prst="rect">
            <a:avLst/>
          </a:prstGeom>
          <a:noFill/>
        </p:spPr>
        <p:txBody>
          <a:bodyPr wrap="square" lIns="0" tIns="0" rIns="0" bIns="0">
            <a:spAutoFit/>
          </a:bodyPr>
          <a:lstStyle/>
          <a:p>
            <a:pPr algn="l"/>
            <a:r>
              <a:rPr sz="900" b="0" i="0">
                <a:solidFill>
                  <a:srgbClr val="1A1A2E"/>
                </a:solidFill>
                <a:latin typeface="Calibri" panose="020F0502020204030204" pitchFamily="34" charset="0"/>
              </a:rPr>
              <a:t>The most-significant byte is stored at the lowest memory address. Bytes appear in 'natural' reading order. Used by: network protocols (TCP/IP), Motorola 68k, older Macs, Java internals.</a:t>
            </a:r>
            <a:endParaRPr sz="900" b="0" i="0">
              <a:solidFill>
                <a:srgbClr val="1A1A2E"/>
              </a:solidFill>
              <a:latin typeface="Calibri" panose="020F0502020204030204" pitchFamily="34" charset="0"/>
            </a:endParaRPr>
          </a:p>
        </p:txBody>
      </p:sp>
      <p:sp>
        <p:nvSpPr>
          <p:cNvPr id="14" name="TextBox 13"/>
          <p:cNvSpPr txBox="1"/>
          <p:nvPr/>
        </p:nvSpPr>
        <p:spPr>
          <a:xfrm>
            <a:off x="256032" y="2331720"/>
            <a:ext cx="8631936" cy="201168"/>
          </a:xfrm>
          <a:prstGeom prst="rect">
            <a:avLst/>
          </a:prstGeom>
          <a:noFill/>
        </p:spPr>
        <p:txBody>
          <a:bodyPr wrap="square" lIns="0" tIns="0" rIns="0" bIns="0">
            <a:spAutoFit/>
          </a:bodyPr>
          <a:lstStyle/>
          <a:p>
            <a:pPr algn="l"/>
            <a:r>
              <a:rPr sz="1000" b="1" i="0">
                <a:solidFill>
                  <a:srgbClr val="1A1A2E"/>
                </a:solidFill>
                <a:latin typeface="Calibri" panose="020F0502020204030204" pitchFamily="34" charset="0"/>
              </a:rPr>
              <a:t>Example — Storing the 32-bit value 0x12345678 at memory address 0x1000:</a:t>
            </a:r>
            <a:endParaRPr sz="1000" b="1" i="0">
              <a:solidFill>
                <a:srgbClr val="1A1A2E"/>
              </a:solidFill>
              <a:latin typeface="Calibri" panose="020F0502020204030204" pitchFamily="34" charset="0"/>
            </a:endParaRPr>
          </a:p>
        </p:txBody>
      </p:sp>
      <p:sp>
        <p:nvSpPr>
          <p:cNvPr id="15" name="TextBox 14"/>
          <p:cNvSpPr txBox="1"/>
          <p:nvPr/>
        </p:nvSpPr>
        <p:spPr>
          <a:xfrm>
            <a:off x="256032" y="2606040"/>
            <a:ext cx="4251960" cy="201168"/>
          </a:xfrm>
          <a:prstGeom prst="rect">
            <a:avLst/>
          </a:prstGeom>
          <a:noFill/>
        </p:spPr>
        <p:txBody>
          <a:bodyPr wrap="square" lIns="0" tIns="0" rIns="0" bIns="0">
            <a:spAutoFit/>
          </a:bodyPr>
          <a:lstStyle/>
          <a:p>
            <a:pPr algn="ctr"/>
            <a:r>
              <a:rPr sz="1000" b="1" i="0">
                <a:solidFill>
                  <a:srgbClr val="F59E0B"/>
                </a:solidFill>
                <a:latin typeface="Trebuchet MS" panose="020B0603020202020204" pitchFamily="34" charset="0"/>
              </a:rPr>
              <a:t>Little Endian Layout</a:t>
            </a:r>
            <a:endParaRPr sz="1000" b="1" i="0">
              <a:solidFill>
                <a:srgbClr val="F59E0B"/>
              </a:solidFill>
              <a:latin typeface="Trebuchet MS" panose="020B0603020202020204" pitchFamily="34" charset="0"/>
            </a:endParaRPr>
          </a:p>
        </p:txBody>
      </p:sp>
      <p:sp>
        <p:nvSpPr>
          <p:cNvPr id="16" name="Rectangle 15"/>
          <p:cNvSpPr/>
          <p:nvPr/>
        </p:nvSpPr>
        <p:spPr>
          <a:xfrm>
            <a:off x="256032" y="2862072"/>
            <a:ext cx="804672" cy="292608"/>
          </a:xfrm>
          <a:prstGeom prst="rect">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6032" y="2916936"/>
            <a:ext cx="804672" cy="201168"/>
          </a:xfrm>
          <a:prstGeom prst="rect">
            <a:avLst/>
          </a:prstGeom>
          <a:noFill/>
        </p:spPr>
        <p:txBody>
          <a:bodyPr wrap="square" lIns="0" tIns="0" rIns="0" bIns="0">
            <a:spAutoFit/>
          </a:bodyPr>
          <a:lstStyle/>
          <a:p>
            <a:pPr algn="ctr"/>
            <a:r>
              <a:rPr sz="800" b="1" i="0">
                <a:solidFill>
                  <a:srgbClr val="FFFFFF"/>
                </a:solidFill>
                <a:latin typeface="Calibri" panose="020F0502020204030204" pitchFamily="34" charset="0"/>
              </a:rPr>
              <a:t>Address</a:t>
            </a:r>
            <a:endParaRPr sz="800" b="1" i="0">
              <a:solidFill>
                <a:srgbClr val="FFFFFF"/>
              </a:solidFill>
              <a:latin typeface="Calibri" panose="020F0502020204030204" pitchFamily="34" charset="0"/>
            </a:endParaRPr>
          </a:p>
        </p:txBody>
      </p:sp>
      <p:sp>
        <p:nvSpPr>
          <p:cNvPr id="18" name="Rectangle 17"/>
          <p:cNvSpPr/>
          <p:nvPr/>
        </p:nvSpPr>
        <p:spPr>
          <a:xfrm>
            <a:off x="1060704" y="2862072"/>
            <a:ext cx="804672" cy="292608"/>
          </a:xfrm>
          <a:prstGeom prst="rect">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0704" y="2916936"/>
            <a:ext cx="804672" cy="201168"/>
          </a:xfrm>
          <a:prstGeom prst="rect">
            <a:avLst/>
          </a:prstGeom>
          <a:noFill/>
        </p:spPr>
        <p:txBody>
          <a:bodyPr wrap="square" lIns="0" tIns="0" rIns="0" bIns="0">
            <a:spAutoFit/>
          </a:bodyPr>
          <a:lstStyle/>
          <a:p>
            <a:pPr algn="ctr"/>
            <a:r>
              <a:rPr sz="800" b="1" i="0">
                <a:solidFill>
                  <a:srgbClr val="FFFFFF"/>
                </a:solidFill>
                <a:latin typeface="Calibri" panose="020F0502020204030204" pitchFamily="34" charset="0"/>
              </a:rPr>
              <a:t>0x1000</a:t>
            </a:r>
            <a:endParaRPr sz="800" b="1" i="0">
              <a:solidFill>
                <a:srgbClr val="FFFFFF"/>
              </a:solidFill>
              <a:latin typeface="Calibri" panose="020F0502020204030204" pitchFamily="34" charset="0"/>
            </a:endParaRPr>
          </a:p>
        </p:txBody>
      </p:sp>
      <p:sp>
        <p:nvSpPr>
          <p:cNvPr id="20" name="Rectangle 19"/>
          <p:cNvSpPr/>
          <p:nvPr/>
        </p:nvSpPr>
        <p:spPr>
          <a:xfrm>
            <a:off x="1865376" y="2862072"/>
            <a:ext cx="804672" cy="292608"/>
          </a:xfrm>
          <a:prstGeom prst="rect">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865376" y="2916936"/>
            <a:ext cx="804672" cy="201168"/>
          </a:xfrm>
          <a:prstGeom prst="rect">
            <a:avLst/>
          </a:prstGeom>
          <a:noFill/>
        </p:spPr>
        <p:txBody>
          <a:bodyPr wrap="square" lIns="0" tIns="0" rIns="0" bIns="0">
            <a:spAutoFit/>
          </a:bodyPr>
          <a:lstStyle/>
          <a:p>
            <a:pPr algn="ctr"/>
            <a:r>
              <a:rPr sz="800" b="1" i="0">
                <a:solidFill>
                  <a:srgbClr val="FFFFFF"/>
                </a:solidFill>
                <a:latin typeface="Calibri" panose="020F0502020204030204" pitchFamily="34" charset="0"/>
              </a:rPr>
              <a:t>0x1001</a:t>
            </a:r>
            <a:endParaRPr sz="800" b="1" i="0">
              <a:solidFill>
                <a:srgbClr val="FFFFFF"/>
              </a:solidFill>
              <a:latin typeface="Calibri" panose="020F0502020204030204" pitchFamily="34" charset="0"/>
            </a:endParaRPr>
          </a:p>
        </p:txBody>
      </p:sp>
      <p:sp>
        <p:nvSpPr>
          <p:cNvPr id="22" name="Rectangle 21"/>
          <p:cNvSpPr/>
          <p:nvPr/>
        </p:nvSpPr>
        <p:spPr>
          <a:xfrm>
            <a:off x="2670048" y="2862072"/>
            <a:ext cx="804672" cy="292608"/>
          </a:xfrm>
          <a:prstGeom prst="rect">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670048" y="2916936"/>
            <a:ext cx="804672" cy="201168"/>
          </a:xfrm>
          <a:prstGeom prst="rect">
            <a:avLst/>
          </a:prstGeom>
          <a:noFill/>
        </p:spPr>
        <p:txBody>
          <a:bodyPr wrap="square" lIns="0" tIns="0" rIns="0" bIns="0">
            <a:spAutoFit/>
          </a:bodyPr>
          <a:lstStyle/>
          <a:p>
            <a:pPr algn="ctr"/>
            <a:r>
              <a:rPr sz="800" b="1" i="0">
                <a:solidFill>
                  <a:srgbClr val="FFFFFF"/>
                </a:solidFill>
                <a:latin typeface="Calibri" panose="020F0502020204030204" pitchFamily="34" charset="0"/>
              </a:rPr>
              <a:t>0x1002</a:t>
            </a:r>
            <a:endParaRPr sz="800" b="1" i="0">
              <a:solidFill>
                <a:srgbClr val="FFFFFF"/>
              </a:solidFill>
              <a:latin typeface="Calibri" panose="020F0502020204030204" pitchFamily="34" charset="0"/>
            </a:endParaRPr>
          </a:p>
        </p:txBody>
      </p:sp>
      <p:sp>
        <p:nvSpPr>
          <p:cNvPr id="24" name="Rectangle 23"/>
          <p:cNvSpPr/>
          <p:nvPr/>
        </p:nvSpPr>
        <p:spPr>
          <a:xfrm>
            <a:off x="3474720" y="2862072"/>
            <a:ext cx="804672" cy="292608"/>
          </a:xfrm>
          <a:prstGeom prst="rect">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74720" y="2916936"/>
            <a:ext cx="804672" cy="201168"/>
          </a:xfrm>
          <a:prstGeom prst="rect">
            <a:avLst/>
          </a:prstGeom>
          <a:noFill/>
        </p:spPr>
        <p:txBody>
          <a:bodyPr wrap="square" lIns="0" tIns="0" rIns="0" bIns="0">
            <a:spAutoFit/>
          </a:bodyPr>
          <a:lstStyle/>
          <a:p>
            <a:pPr algn="ctr"/>
            <a:r>
              <a:rPr sz="800" b="1" i="0">
                <a:solidFill>
                  <a:srgbClr val="FFFFFF"/>
                </a:solidFill>
                <a:latin typeface="Calibri" panose="020F0502020204030204" pitchFamily="34" charset="0"/>
              </a:rPr>
              <a:t>0x1003</a:t>
            </a:r>
            <a:endParaRPr sz="800" b="1" i="0">
              <a:solidFill>
                <a:srgbClr val="FFFFFF"/>
              </a:solidFill>
              <a:latin typeface="Calibri" panose="020F0502020204030204" pitchFamily="34" charset="0"/>
            </a:endParaRPr>
          </a:p>
        </p:txBody>
      </p:sp>
      <p:sp>
        <p:nvSpPr>
          <p:cNvPr id="26" name="Rectangle 25"/>
          <p:cNvSpPr/>
          <p:nvPr/>
        </p:nvSpPr>
        <p:spPr>
          <a:xfrm>
            <a:off x="256032" y="3154679"/>
            <a:ext cx="804672" cy="292608"/>
          </a:xfrm>
          <a:prstGeom prst="rect">
            <a:avLst/>
          </a:prstGeom>
          <a:solidFill>
            <a:srgbClr val="FEF3C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56032" y="3209544"/>
            <a:ext cx="804672" cy="201168"/>
          </a:xfrm>
          <a:prstGeom prst="rect">
            <a:avLst/>
          </a:prstGeom>
          <a:noFill/>
        </p:spPr>
        <p:txBody>
          <a:bodyPr wrap="square" lIns="0" tIns="0" rIns="0" bIns="0">
            <a:spAutoFit/>
          </a:bodyPr>
          <a:lstStyle/>
          <a:p>
            <a:pPr algn="ctr"/>
            <a:r>
              <a:rPr sz="900" b="1" i="0">
                <a:solidFill>
                  <a:srgbClr val="1A1A2E"/>
                </a:solidFill>
                <a:latin typeface="Consolas" panose="020B0609020204030204" pitchFamily="34" charset="0"/>
              </a:rPr>
              <a:t>Byte</a:t>
            </a:r>
            <a:endParaRPr sz="900" b="1" i="0">
              <a:solidFill>
                <a:srgbClr val="1A1A2E"/>
              </a:solidFill>
              <a:latin typeface="Consolas" panose="020B0609020204030204" pitchFamily="34" charset="0"/>
            </a:endParaRPr>
          </a:p>
        </p:txBody>
      </p:sp>
      <p:sp>
        <p:nvSpPr>
          <p:cNvPr id="28" name="Rectangle 27"/>
          <p:cNvSpPr/>
          <p:nvPr/>
        </p:nvSpPr>
        <p:spPr>
          <a:xfrm>
            <a:off x="1060704" y="3154679"/>
            <a:ext cx="804672" cy="292608"/>
          </a:xfrm>
          <a:prstGeom prst="rect">
            <a:avLst/>
          </a:prstGeom>
          <a:solidFill>
            <a:srgbClr val="FEF3C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60704" y="3209544"/>
            <a:ext cx="804672" cy="201168"/>
          </a:xfrm>
          <a:prstGeom prst="rect">
            <a:avLst/>
          </a:prstGeom>
          <a:noFill/>
        </p:spPr>
        <p:txBody>
          <a:bodyPr wrap="square" lIns="0" tIns="0" rIns="0" bIns="0">
            <a:spAutoFit/>
          </a:bodyPr>
          <a:lstStyle/>
          <a:p>
            <a:pPr algn="ctr"/>
            <a:r>
              <a:rPr sz="900" b="1" i="0">
                <a:solidFill>
                  <a:srgbClr val="1A1A2E"/>
                </a:solidFill>
                <a:latin typeface="Consolas" panose="020B0609020204030204" pitchFamily="34" charset="0"/>
              </a:rPr>
              <a:t>0x78</a:t>
            </a:r>
            <a:endParaRPr sz="900" b="1" i="0">
              <a:solidFill>
                <a:srgbClr val="1A1A2E"/>
              </a:solidFill>
              <a:latin typeface="Consolas" panose="020B0609020204030204" pitchFamily="34" charset="0"/>
            </a:endParaRPr>
          </a:p>
        </p:txBody>
      </p:sp>
      <p:sp>
        <p:nvSpPr>
          <p:cNvPr id="30" name="Rectangle 29"/>
          <p:cNvSpPr/>
          <p:nvPr/>
        </p:nvSpPr>
        <p:spPr>
          <a:xfrm>
            <a:off x="1865376" y="3154679"/>
            <a:ext cx="804672" cy="292608"/>
          </a:xfrm>
          <a:prstGeom prst="rect">
            <a:avLst/>
          </a:prstGeom>
          <a:solidFill>
            <a:srgbClr val="FEF3C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865376" y="3209544"/>
            <a:ext cx="804672" cy="201168"/>
          </a:xfrm>
          <a:prstGeom prst="rect">
            <a:avLst/>
          </a:prstGeom>
          <a:noFill/>
        </p:spPr>
        <p:txBody>
          <a:bodyPr wrap="square" lIns="0" tIns="0" rIns="0" bIns="0">
            <a:spAutoFit/>
          </a:bodyPr>
          <a:lstStyle/>
          <a:p>
            <a:pPr algn="ctr"/>
            <a:r>
              <a:rPr sz="900" b="1" i="0">
                <a:solidFill>
                  <a:srgbClr val="1A1A2E"/>
                </a:solidFill>
                <a:latin typeface="Consolas" panose="020B0609020204030204" pitchFamily="34" charset="0"/>
              </a:rPr>
              <a:t>0x56</a:t>
            </a:r>
            <a:endParaRPr sz="900" b="1" i="0">
              <a:solidFill>
                <a:srgbClr val="1A1A2E"/>
              </a:solidFill>
              <a:latin typeface="Consolas" panose="020B0609020204030204" pitchFamily="34" charset="0"/>
            </a:endParaRPr>
          </a:p>
        </p:txBody>
      </p:sp>
      <p:sp>
        <p:nvSpPr>
          <p:cNvPr id="32" name="Rectangle 31"/>
          <p:cNvSpPr/>
          <p:nvPr/>
        </p:nvSpPr>
        <p:spPr>
          <a:xfrm>
            <a:off x="2670048" y="3154679"/>
            <a:ext cx="804672" cy="292608"/>
          </a:xfrm>
          <a:prstGeom prst="rect">
            <a:avLst/>
          </a:prstGeom>
          <a:solidFill>
            <a:srgbClr val="FEF3C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670048" y="3209544"/>
            <a:ext cx="804672" cy="201168"/>
          </a:xfrm>
          <a:prstGeom prst="rect">
            <a:avLst/>
          </a:prstGeom>
          <a:noFill/>
        </p:spPr>
        <p:txBody>
          <a:bodyPr wrap="square" lIns="0" tIns="0" rIns="0" bIns="0">
            <a:spAutoFit/>
          </a:bodyPr>
          <a:lstStyle/>
          <a:p>
            <a:pPr algn="ctr"/>
            <a:r>
              <a:rPr sz="900" b="1" i="0">
                <a:solidFill>
                  <a:srgbClr val="1A1A2E"/>
                </a:solidFill>
                <a:latin typeface="Consolas" panose="020B0609020204030204" pitchFamily="34" charset="0"/>
              </a:rPr>
              <a:t>0x34</a:t>
            </a:r>
            <a:endParaRPr sz="900" b="1" i="0">
              <a:solidFill>
                <a:srgbClr val="1A1A2E"/>
              </a:solidFill>
              <a:latin typeface="Consolas" panose="020B0609020204030204" pitchFamily="34" charset="0"/>
            </a:endParaRPr>
          </a:p>
        </p:txBody>
      </p:sp>
      <p:sp>
        <p:nvSpPr>
          <p:cNvPr id="34" name="Rectangle 33"/>
          <p:cNvSpPr/>
          <p:nvPr/>
        </p:nvSpPr>
        <p:spPr>
          <a:xfrm>
            <a:off x="3474720" y="3154679"/>
            <a:ext cx="804672" cy="292608"/>
          </a:xfrm>
          <a:prstGeom prst="rect">
            <a:avLst/>
          </a:prstGeom>
          <a:solidFill>
            <a:srgbClr val="FEF3C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474720" y="3209544"/>
            <a:ext cx="804672" cy="201168"/>
          </a:xfrm>
          <a:prstGeom prst="rect">
            <a:avLst/>
          </a:prstGeom>
          <a:noFill/>
        </p:spPr>
        <p:txBody>
          <a:bodyPr wrap="square" lIns="0" tIns="0" rIns="0" bIns="0">
            <a:spAutoFit/>
          </a:bodyPr>
          <a:lstStyle/>
          <a:p>
            <a:pPr algn="ctr"/>
            <a:r>
              <a:rPr sz="900" b="1" i="0">
                <a:solidFill>
                  <a:srgbClr val="1A1A2E"/>
                </a:solidFill>
                <a:latin typeface="Consolas" panose="020B0609020204030204" pitchFamily="34" charset="0"/>
              </a:rPr>
              <a:t>0x12</a:t>
            </a:r>
            <a:endParaRPr sz="900" b="1" i="0">
              <a:solidFill>
                <a:srgbClr val="1A1A2E"/>
              </a:solidFill>
              <a:latin typeface="Consolas" panose="020B0609020204030204" pitchFamily="34" charset="0"/>
            </a:endParaRPr>
          </a:p>
        </p:txBody>
      </p:sp>
      <p:sp>
        <p:nvSpPr>
          <p:cNvPr id="36" name="Rectangle 35"/>
          <p:cNvSpPr/>
          <p:nvPr/>
        </p:nvSpPr>
        <p:spPr>
          <a:xfrm>
            <a:off x="256032" y="3447288"/>
            <a:ext cx="804672" cy="292608"/>
          </a:xfrm>
          <a:prstGeom prst="rect">
            <a:avLst/>
          </a:prstGeom>
          <a:solidFill>
            <a:srgbClr val="FFFFF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56032" y="3502152"/>
            <a:ext cx="804672" cy="201168"/>
          </a:xfrm>
          <a:prstGeom prst="rect">
            <a:avLst/>
          </a:prstGeom>
          <a:noFill/>
        </p:spPr>
        <p:txBody>
          <a:bodyPr wrap="square" lIns="0" tIns="0" rIns="0" bIns="0">
            <a:spAutoFit/>
          </a:bodyPr>
          <a:lstStyle/>
          <a:p>
            <a:pPr algn="ctr"/>
            <a:r>
              <a:rPr sz="800" b="0" i="0">
                <a:solidFill>
                  <a:srgbClr val="475569"/>
                </a:solidFill>
                <a:latin typeface="Calibri" panose="020F0502020204030204" pitchFamily="34" charset="0"/>
              </a:rPr>
              <a:t>Role</a:t>
            </a:r>
            <a:endParaRPr sz="800" b="0" i="0">
              <a:solidFill>
                <a:srgbClr val="475569"/>
              </a:solidFill>
              <a:latin typeface="Calibri" panose="020F0502020204030204" pitchFamily="34" charset="0"/>
            </a:endParaRPr>
          </a:p>
        </p:txBody>
      </p:sp>
      <p:sp>
        <p:nvSpPr>
          <p:cNvPr id="38" name="Rectangle 37"/>
          <p:cNvSpPr/>
          <p:nvPr/>
        </p:nvSpPr>
        <p:spPr>
          <a:xfrm>
            <a:off x="1060704" y="3447288"/>
            <a:ext cx="804672" cy="292608"/>
          </a:xfrm>
          <a:prstGeom prst="rect">
            <a:avLst/>
          </a:prstGeom>
          <a:solidFill>
            <a:srgbClr val="FFFFF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60704" y="3502152"/>
            <a:ext cx="804672" cy="201168"/>
          </a:xfrm>
          <a:prstGeom prst="rect">
            <a:avLst/>
          </a:prstGeom>
          <a:noFill/>
        </p:spPr>
        <p:txBody>
          <a:bodyPr wrap="square" lIns="0" tIns="0" rIns="0" bIns="0">
            <a:spAutoFit/>
          </a:bodyPr>
          <a:lstStyle/>
          <a:p>
            <a:pPr algn="ctr"/>
            <a:r>
              <a:rPr sz="800" b="0" i="0">
                <a:solidFill>
                  <a:srgbClr val="475569"/>
                </a:solidFill>
                <a:latin typeface="Calibri" panose="020F0502020204030204" pitchFamily="34" charset="0"/>
              </a:rPr>
              <a:t>LSB</a:t>
            </a:r>
            <a:endParaRPr sz="800" b="0" i="0">
              <a:solidFill>
                <a:srgbClr val="475569"/>
              </a:solidFill>
              <a:latin typeface="Calibri" panose="020F0502020204030204" pitchFamily="34" charset="0"/>
            </a:endParaRPr>
          </a:p>
        </p:txBody>
      </p:sp>
      <p:sp>
        <p:nvSpPr>
          <p:cNvPr id="40" name="Rectangle 39"/>
          <p:cNvSpPr/>
          <p:nvPr/>
        </p:nvSpPr>
        <p:spPr>
          <a:xfrm>
            <a:off x="1865376" y="3447288"/>
            <a:ext cx="804672" cy="292608"/>
          </a:xfrm>
          <a:prstGeom prst="rect">
            <a:avLst/>
          </a:prstGeom>
          <a:solidFill>
            <a:srgbClr val="FFFFF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865376" y="3502152"/>
            <a:ext cx="804672" cy="201168"/>
          </a:xfrm>
          <a:prstGeom prst="rect">
            <a:avLst/>
          </a:prstGeom>
          <a:noFill/>
        </p:spPr>
        <p:txBody>
          <a:bodyPr wrap="square" lIns="0" tIns="0" rIns="0" bIns="0">
            <a:spAutoFit/>
          </a:bodyPr>
          <a:lstStyle/>
          <a:p>
            <a:pPr algn="ctr"/>
          </a:p>
        </p:txBody>
      </p:sp>
      <p:sp>
        <p:nvSpPr>
          <p:cNvPr id="42" name="Rectangle 41"/>
          <p:cNvSpPr/>
          <p:nvPr/>
        </p:nvSpPr>
        <p:spPr>
          <a:xfrm>
            <a:off x="2670048" y="3447288"/>
            <a:ext cx="804672" cy="292608"/>
          </a:xfrm>
          <a:prstGeom prst="rect">
            <a:avLst/>
          </a:prstGeom>
          <a:solidFill>
            <a:srgbClr val="FFFFF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670048" y="3502152"/>
            <a:ext cx="804672" cy="201168"/>
          </a:xfrm>
          <a:prstGeom prst="rect">
            <a:avLst/>
          </a:prstGeom>
          <a:noFill/>
        </p:spPr>
        <p:txBody>
          <a:bodyPr wrap="square" lIns="0" tIns="0" rIns="0" bIns="0">
            <a:spAutoFit/>
          </a:bodyPr>
          <a:lstStyle/>
          <a:p>
            <a:pPr algn="ctr"/>
          </a:p>
        </p:txBody>
      </p:sp>
      <p:sp>
        <p:nvSpPr>
          <p:cNvPr id="44" name="Rectangle 43"/>
          <p:cNvSpPr/>
          <p:nvPr/>
        </p:nvSpPr>
        <p:spPr>
          <a:xfrm>
            <a:off x="3474720" y="3447288"/>
            <a:ext cx="804672" cy="292608"/>
          </a:xfrm>
          <a:prstGeom prst="rect">
            <a:avLst/>
          </a:prstGeom>
          <a:solidFill>
            <a:srgbClr val="FFFFF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474720" y="3502152"/>
            <a:ext cx="804672" cy="201168"/>
          </a:xfrm>
          <a:prstGeom prst="rect">
            <a:avLst/>
          </a:prstGeom>
          <a:noFill/>
        </p:spPr>
        <p:txBody>
          <a:bodyPr wrap="square" lIns="0" tIns="0" rIns="0" bIns="0">
            <a:spAutoFit/>
          </a:bodyPr>
          <a:lstStyle/>
          <a:p>
            <a:pPr algn="ctr"/>
            <a:r>
              <a:rPr sz="800" b="0" i="0">
                <a:solidFill>
                  <a:srgbClr val="475569"/>
                </a:solidFill>
                <a:latin typeface="Calibri" panose="020F0502020204030204" pitchFamily="34" charset="0"/>
              </a:rPr>
              <a:t>MSB</a:t>
            </a:r>
            <a:endParaRPr sz="800" b="0" i="0">
              <a:solidFill>
                <a:srgbClr val="475569"/>
              </a:solidFill>
              <a:latin typeface="Calibri" panose="020F0502020204030204" pitchFamily="34" charset="0"/>
            </a:endParaRPr>
          </a:p>
        </p:txBody>
      </p:sp>
      <p:sp>
        <p:nvSpPr>
          <p:cNvPr id="46" name="TextBox 45"/>
          <p:cNvSpPr txBox="1"/>
          <p:nvPr/>
        </p:nvSpPr>
        <p:spPr>
          <a:xfrm>
            <a:off x="256032" y="3822191"/>
            <a:ext cx="4251960" cy="138499"/>
          </a:xfrm>
          <a:prstGeom prst="rect">
            <a:avLst/>
          </a:prstGeom>
          <a:noFill/>
        </p:spPr>
        <p:txBody>
          <a:bodyPr wrap="square" lIns="0" tIns="0" rIns="0" bIns="0">
            <a:spAutoFit/>
          </a:bodyPr>
          <a:lstStyle/>
          <a:p>
            <a:pPr algn="l"/>
            <a:r>
              <a:rPr sz="900" b="1" i="1" dirty="0">
                <a:solidFill>
                  <a:srgbClr val="F59E0B"/>
                </a:solidFill>
                <a:latin typeface="Calibri" panose="020F0502020204030204" pitchFamily="34" charset="0"/>
              </a:rPr>
              <a:t>→ Read: reverse byte order to get 0x12345678 = 305,419,896</a:t>
            </a:r>
            <a:r>
              <a:rPr lang="en-SG" sz="900" b="1" i="1" dirty="0">
                <a:solidFill>
                  <a:srgbClr val="F59E0B"/>
                </a:solidFill>
                <a:latin typeface="Calibri" panose="020F0502020204030204" pitchFamily="34" charset="0"/>
              </a:rPr>
              <a:t> (Decimal Value)</a:t>
            </a:r>
            <a:endParaRPr sz="900" b="1" i="1" dirty="0">
              <a:solidFill>
                <a:srgbClr val="F59E0B"/>
              </a:solidFill>
              <a:latin typeface="Calibri" panose="020F0502020204030204" pitchFamily="34" charset="0"/>
            </a:endParaRPr>
          </a:p>
        </p:txBody>
      </p:sp>
      <p:sp>
        <p:nvSpPr>
          <p:cNvPr id="47" name="TextBox 46"/>
          <p:cNvSpPr txBox="1"/>
          <p:nvPr/>
        </p:nvSpPr>
        <p:spPr>
          <a:xfrm>
            <a:off x="4636008" y="2606040"/>
            <a:ext cx="4251960" cy="201168"/>
          </a:xfrm>
          <a:prstGeom prst="rect">
            <a:avLst/>
          </a:prstGeom>
          <a:noFill/>
        </p:spPr>
        <p:txBody>
          <a:bodyPr wrap="square" lIns="0" tIns="0" rIns="0" bIns="0">
            <a:spAutoFit/>
          </a:bodyPr>
          <a:lstStyle/>
          <a:p>
            <a:pPr algn="ctr"/>
            <a:r>
              <a:rPr sz="1000" b="1" i="0">
                <a:solidFill>
                  <a:srgbClr val="0EA5E9"/>
                </a:solidFill>
                <a:latin typeface="Trebuchet MS" panose="020B0603020202020204" pitchFamily="34" charset="0"/>
              </a:rPr>
              <a:t>Big Endian Layout</a:t>
            </a:r>
            <a:endParaRPr sz="1000" b="1" i="0">
              <a:solidFill>
                <a:srgbClr val="0EA5E9"/>
              </a:solidFill>
              <a:latin typeface="Trebuchet MS" panose="020B0603020202020204" pitchFamily="34" charset="0"/>
            </a:endParaRPr>
          </a:p>
        </p:txBody>
      </p:sp>
      <p:sp>
        <p:nvSpPr>
          <p:cNvPr id="48" name="Rectangle 47"/>
          <p:cNvSpPr/>
          <p:nvPr/>
        </p:nvSpPr>
        <p:spPr>
          <a:xfrm>
            <a:off x="4636008" y="2862072"/>
            <a:ext cx="804672" cy="292608"/>
          </a:xfrm>
          <a:prstGeom prst="rect">
            <a:avLst/>
          </a:prstGeom>
          <a:solidFill>
            <a:srgbClr val="0EA5E9"/>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636008" y="2916936"/>
            <a:ext cx="804672" cy="201168"/>
          </a:xfrm>
          <a:prstGeom prst="rect">
            <a:avLst/>
          </a:prstGeom>
          <a:noFill/>
        </p:spPr>
        <p:txBody>
          <a:bodyPr wrap="square" lIns="0" tIns="0" rIns="0" bIns="0">
            <a:spAutoFit/>
          </a:bodyPr>
          <a:lstStyle/>
          <a:p>
            <a:pPr algn="ctr"/>
            <a:r>
              <a:rPr sz="800" b="1" i="0">
                <a:solidFill>
                  <a:srgbClr val="FFFFFF"/>
                </a:solidFill>
                <a:latin typeface="Calibri" panose="020F0502020204030204" pitchFamily="34" charset="0"/>
              </a:rPr>
              <a:t>Address</a:t>
            </a:r>
            <a:endParaRPr sz="800" b="1" i="0">
              <a:solidFill>
                <a:srgbClr val="FFFFFF"/>
              </a:solidFill>
              <a:latin typeface="Calibri" panose="020F0502020204030204" pitchFamily="34" charset="0"/>
            </a:endParaRPr>
          </a:p>
        </p:txBody>
      </p:sp>
      <p:sp>
        <p:nvSpPr>
          <p:cNvPr id="50" name="Rectangle 49"/>
          <p:cNvSpPr/>
          <p:nvPr/>
        </p:nvSpPr>
        <p:spPr>
          <a:xfrm>
            <a:off x="5440680" y="2862072"/>
            <a:ext cx="804672" cy="292608"/>
          </a:xfrm>
          <a:prstGeom prst="rect">
            <a:avLst/>
          </a:prstGeom>
          <a:solidFill>
            <a:srgbClr val="0EA5E9"/>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440680" y="2916936"/>
            <a:ext cx="804672" cy="201168"/>
          </a:xfrm>
          <a:prstGeom prst="rect">
            <a:avLst/>
          </a:prstGeom>
          <a:noFill/>
        </p:spPr>
        <p:txBody>
          <a:bodyPr wrap="square" lIns="0" tIns="0" rIns="0" bIns="0">
            <a:spAutoFit/>
          </a:bodyPr>
          <a:lstStyle/>
          <a:p>
            <a:pPr algn="ctr"/>
            <a:r>
              <a:rPr sz="800" b="1" i="0">
                <a:solidFill>
                  <a:srgbClr val="FFFFFF"/>
                </a:solidFill>
                <a:latin typeface="Calibri" panose="020F0502020204030204" pitchFamily="34" charset="0"/>
              </a:rPr>
              <a:t>0x1000</a:t>
            </a:r>
            <a:endParaRPr sz="800" b="1" i="0">
              <a:solidFill>
                <a:srgbClr val="FFFFFF"/>
              </a:solidFill>
              <a:latin typeface="Calibri" panose="020F0502020204030204" pitchFamily="34" charset="0"/>
            </a:endParaRPr>
          </a:p>
        </p:txBody>
      </p:sp>
      <p:sp>
        <p:nvSpPr>
          <p:cNvPr id="52" name="Rectangle 51"/>
          <p:cNvSpPr/>
          <p:nvPr/>
        </p:nvSpPr>
        <p:spPr>
          <a:xfrm>
            <a:off x="6245352" y="2862072"/>
            <a:ext cx="804672" cy="292608"/>
          </a:xfrm>
          <a:prstGeom prst="rect">
            <a:avLst/>
          </a:prstGeom>
          <a:solidFill>
            <a:srgbClr val="0EA5E9"/>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45352" y="2916936"/>
            <a:ext cx="804672" cy="201168"/>
          </a:xfrm>
          <a:prstGeom prst="rect">
            <a:avLst/>
          </a:prstGeom>
          <a:noFill/>
        </p:spPr>
        <p:txBody>
          <a:bodyPr wrap="square" lIns="0" tIns="0" rIns="0" bIns="0">
            <a:spAutoFit/>
          </a:bodyPr>
          <a:lstStyle/>
          <a:p>
            <a:pPr algn="ctr"/>
            <a:r>
              <a:rPr sz="800" b="1" i="0">
                <a:solidFill>
                  <a:srgbClr val="FFFFFF"/>
                </a:solidFill>
                <a:latin typeface="Calibri" panose="020F0502020204030204" pitchFamily="34" charset="0"/>
              </a:rPr>
              <a:t>0x1001</a:t>
            </a:r>
            <a:endParaRPr sz="800" b="1" i="0">
              <a:solidFill>
                <a:srgbClr val="FFFFFF"/>
              </a:solidFill>
              <a:latin typeface="Calibri" panose="020F0502020204030204" pitchFamily="34" charset="0"/>
            </a:endParaRPr>
          </a:p>
        </p:txBody>
      </p:sp>
      <p:sp>
        <p:nvSpPr>
          <p:cNvPr id="54" name="Rectangle 53"/>
          <p:cNvSpPr/>
          <p:nvPr/>
        </p:nvSpPr>
        <p:spPr>
          <a:xfrm>
            <a:off x="7050024" y="2862072"/>
            <a:ext cx="804672" cy="292608"/>
          </a:xfrm>
          <a:prstGeom prst="rect">
            <a:avLst/>
          </a:prstGeom>
          <a:solidFill>
            <a:srgbClr val="0EA5E9"/>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050024" y="2916936"/>
            <a:ext cx="804672" cy="201168"/>
          </a:xfrm>
          <a:prstGeom prst="rect">
            <a:avLst/>
          </a:prstGeom>
          <a:noFill/>
        </p:spPr>
        <p:txBody>
          <a:bodyPr wrap="square" lIns="0" tIns="0" rIns="0" bIns="0">
            <a:spAutoFit/>
          </a:bodyPr>
          <a:lstStyle/>
          <a:p>
            <a:pPr algn="ctr"/>
            <a:r>
              <a:rPr sz="800" b="1" i="0">
                <a:solidFill>
                  <a:srgbClr val="FFFFFF"/>
                </a:solidFill>
                <a:latin typeface="Calibri" panose="020F0502020204030204" pitchFamily="34" charset="0"/>
              </a:rPr>
              <a:t>0x1002</a:t>
            </a:r>
            <a:endParaRPr sz="800" b="1" i="0">
              <a:solidFill>
                <a:srgbClr val="FFFFFF"/>
              </a:solidFill>
              <a:latin typeface="Calibri" panose="020F0502020204030204" pitchFamily="34" charset="0"/>
            </a:endParaRPr>
          </a:p>
        </p:txBody>
      </p:sp>
      <p:sp>
        <p:nvSpPr>
          <p:cNvPr id="56" name="Rectangle 55"/>
          <p:cNvSpPr/>
          <p:nvPr/>
        </p:nvSpPr>
        <p:spPr>
          <a:xfrm>
            <a:off x="7854696" y="2862072"/>
            <a:ext cx="804672" cy="292608"/>
          </a:xfrm>
          <a:prstGeom prst="rect">
            <a:avLst/>
          </a:prstGeom>
          <a:solidFill>
            <a:srgbClr val="0EA5E9"/>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854696" y="2916936"/>
            <a:ext cx="804672" cy="201168"/>
          </a:xfrm>
          <a:prstGeom prst="rect">
            <a:avLst/>
          </a:prstGeom>
          <a:noFill/>
        </p:spPr>
        <p:txBody>
          <a:bodyPr wrap="square" lIns="0" tIns="0" rIns="0" bIns="0">
            <a:spAutoFit/>
          </a:bodyPr>
          <a:lstStyle/>
          <a:p>
            <a:pPr algn="ctr"/>
            <a:r>
              <a:rPr sz="800" b="1" i="0">
                <a:solidFill>
                  <a:srgbClr val="FFFFFF"/>
                </a:solidFill>
                <a:latin typeface="Calibri" panose="020F0502020204030204" pitchFamily="34" charset="0"/>
              </a:rPr>
              <a:t>0x1003</a:t>
            </a:r>
            <a:endParaRPr sz="800" b="1" i="0">
              <a:solidFill>
                <a:srgbClr val="FFFFFF"/>
              </a:solidFill>
              <a:latin typeface="Calibri" panose="020F0502020204030204" pitchFamily="34" charset="0"/>
            </a:endParaRPr>
          </a:p>
        </p:txBody>
      </p:sp>
      <p:sp>
        <p:nvSpPr>
          <p:cNvPr id="58" name="Rectangle 57"/>
          <p:cNvSpPr/>
          <p:nvPr/>
        </p:nvSpPr>
        <p:spPr>
          <a:xfrm>
            <a:off x="4636008" y="3154679"/>
            <a:ext cx="804672" cy="292608"/>
          </a:xfrm>
          <a:prstGeom prst="rect">
            <a:avLst/>
          </a:prstGeom>
          <a:solidFill>
            <a:srgbClr val="DBEAFE"/>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636008" y="3209544"/>
            <a:ext cx="804672" cy="201168"/>
          </a:xfrm>
          <a:prstGeom prst="rect">
            <a:avLst/>
          </a:prstGeom>
          <a:noFill/>
        </p:spPr>
        <p:txBody>
          <a:bodyPr wrap="square" lIns="0" tIns="0" rIns="0" bIns="0">
            <a:spAutoFit/>
          </a:bodyPr>
          <a:lstStyle/>
          <a:p>
            <a:pPr algn="ctr"/>
            <a:r>
              <a:rPr sz="900" b="1" i="0">
                <a:solidFill>
                  <a:srgbClr val="1A1A2E"/>
                </a:solidFill>
                <a:latin typeface="Consolas" panose="020B0609020204030204" pitchFamily="34" charset="0"/>
              </a:rPr>
              <a:t>Byte</a:t>
            </a:r>
            <a:endParaRPr sz="900" b="1" i="0">
              <a:solidFill>
                <a:srgbClr val="1A1A2E"/>
              </a:solidFill>
              <a:latin typeface="Consolas" panose="020B0609020204030204" pitchFamily="34" charset="0"/>
            </a:endParaRPr>
          </a:p>
        </p:txBody>
      </p:sp>
      <p:sp>
        <p:nvSpPr>
          <p:cNvPr id="60" name="Rectangle 59"/>
          <p:cNvSpPr/>
          <p:nvPr/>
        </p:nvSpPr>
        <p:spPr>
          <a:xfrm>
            <a:off x="5440680" y="3154679"/>
            <a:ext cx="804672" cy="292608"/>
          </a:xfrm>
          <a:prstGeom prst="rect">
            <a:avLst/>
          </a:prstGeom>
          <a:solidFill>
            <a:srgbClr val="DBEAFE"/>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40680" y="3209544"/>
            <a:ext cx="804672" cy="201168"/>
          </a:xfrm>
          <a:prstGeom prst="rect">
            <a:avLst/>
          </a:prstGeom>
          <a:noFill/>
        </p:spPr>
        <p:txBody>
          <a:bodyPr wrap="square" lIns="0" tIns="0" rIns="0" bIns="0">
            <a:spAutoFit/>
          </a:bodyPr>
          <a:lstStyle/>
          <a:p>
            <a:pPr algn="ctr"/>
            <a:r>
              <a:rPr sz="900" b="1" i="0">
                <a:solidFill>
                  <a:srgbClr val="1A1A2E"/>
                </a:solidFill>
                <a:latin typeface="Consolas" panose="020B0609020204030204" pitchFamily="34" charset="0"/>
              </a:rPr>
              <a:t>0x12</a:t>
            </a:r>
            <a:endParaRPr sz="900" b="1" i="0">
              <a:solidFill>
                <a:srgbClr val="1A1A2E"/>
              </a:solidFill>
              <a:latin typeface="Consolas" panose="020B0609020204030204" pitchFamily="34" charset="0"/>
            </a:endParaRPr>
          </a:p>
        </p:txBody>
      </p:sp>
      <p:sp>
        <p:nvSpPr>
          <p:cNvPr id="62" name="Rectangle 61"/>
          <p:cNvSpPr/>
          <p:nvPr/>
        </p:nvSpPr>
        <p:spPr>
          <a:xfrm>
            <a:off x="6245352" y="3154679"/>
            <a:ext cx="804672" cy="292608"/>
          </a:xfrm>
          <a:prstGeom prst="rect">
            <a:avLst/>
          </a:prstGeom>
          <a:solidFill>
            <a:srgbClr val="DBEAFE"/>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245352" y="3209544"/>
            <a:ext cx="804672" cy="201168"/>
          </a:xfrm>
          <a:prstGeom prst="rect">
            <a:avLst/>
          </a:prstGeom>
          <a:noFill/>
        </p:spPr>
        <p:txBody>
          <a:bodyPr wrap="square" lIns="0" tIns="0" rIns="0" bIns="0">
            <a:spAutoFit/>
          </a:bodyPr>
          <a:lstStyle/>
          <a:p>
            <a:pPr algn="ctr"/>
            <a:r>
              <a:rPr sz="900" b="1" i="0">
                <a:solidFill>
                  <a:srgbClr val="1A1A2E"/>
                </a:solidFill>
                <a:latin typeface="Consolas" panose="020B0609020204030204" pitchFamily="34" charset="0"/>
              </a:rPr>
              <a:t>0x34</a:t>
            </a:r>
            <a:endParaRPr sz="900" b="1" i="0">
              <a:solidFill>
                <a:srgbClr val="1A1A2E"/>
              </a:solidFill>
              <a:latin typeface="Consolas" panose="020B0609020204030204" pitchFamily="34" charset="0"/>
            </a:endParaRPr>
          </a:p>
        </p:txBody>
      </p:sp>
      <p:sp>
        <p:nvSpPr>
          <p:cNvPr id="64" name="Rectangle 63"/>
          <p:cNvSpPr/>
          <p:nvPr/>
        </p:nvSpPr>
        <p:spPr>
          <a:xfrm>
            <a:off x="7050024" y="3154679"/>
            <a:ext cx="804672" cy="292608"/>
          </a:xfrm>
          <a:prstGeom prst="rect">
            <a:avLst/>
          </a:prstGeom>
          <a:solidFill>
            <a:srgbClr val="DBEAFE"/>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050024" y="3209544"/>
            <a:ext cx="804672" cy="201168"/>
          </a:xfrm>
          <a:prstGeom prst="rect">
            <a:avLst/>
          </a:prstGeom>
          <a:noFill/>
        </p:spPr>
        <p:txBody>
          <a:bodyPr wrap="square" lIns="0" tIns="0" rIns="0" bIns="0">
            <a:spAutoFit/>
          </a:bodyPr>
          <a:lstStyle/>
          <a:p>
            <a:pPr algn="ctr"/>
            <a:r>
              <a:rPr sz="900" b="1" i="0">
                <a:solidFill>
                  <a:srgbClr val="1A1A2E"/>
                </a:solidFill>
                <a:latin typeface="Consolas" panose="020B0609020204030204" pitchFamily="34" charset="0"/>
              </a:rPr>
              <a:t>0x56</a:t>
            </a:r>
            <a:endParaRPr sz="900" b="1" i="0">
              <a:solidFill>
                <a:srgbClr val="1A1A2E"/>
              </a:solidFill>
              <a:latin typeface="Consolas" panose="020B0609020204030204" pitchFamily="34" charset="0"/>
            </a:endParaRPr>
          </a:p>
        </p:txBody>
      </p:sp>
      <p:sp>
        <p:nvSpPr>
          <p:cNvPr id="66" name="Rectangle 65"/>
          <p:cNvSpPr/>
          <p:nvPr/>
        </p:nvSpPr>
        <p:spPr>
          <a:xfrm>
            <a:off x="7854696" y="3154679"/>
            <a:ext cx="804672" cy="292608"/>
          </a:xfrm>
          <a:prstGeom prst="rect">
            <a:avLst/>
          </a:prstGeom>
          <a:solidFill>
            <a:srgbClr val="DBEAFE"/>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854696" y="3209544"/>
            <a:ext cx="804672" cy="201168"/>
          </a:xfrm>
          <a:prstGeom prst="rect">
            <a:avLst/>
          </a:prstGeom>
          <a:noFill/>
        </p:spPr>
        <p:txBody>
          <a:bodyPr wrap="square" lIns="0" tIns="0" rIns="0" bIns="0">
            <a:spAutoFit/>
          </a:bodyPr>
          <a:lstStyle/>
          <a:p>
            <a:pPr algn="ctr"/>
            <a:r>
              <a:rPr sz="900" b="1" i="0">
                <a:solidFill>
                  <a:srgbClr val="1A1A2E"/>
                </a:solidFill>
                <a:latin typeface="Consolas" panose="020B0609020204030204" pitchFamily="34" charset="0"/>
              </a:rPr>
              <a:t>0x78</a:t>
            </a:r>
            <a:endParaRPr sz="900" b="1" i="0">
              <a:solidFill>
                <a:srgbClr val="1A1A2E"/>
              </a:solidFill>
              <a:latin typeface="Consolas" panose="020B0609020204030204" pitchFamily="34" charset="0"/>
            </a:endParaRPr>
          </a:p>
        </p:txBody>
      </p:sp>
      <p:sp>
        <p:nvSpPr>
          <p:cNvPr id="68" name="Rectangle 67"/>
          <p:cNvSpPr/>
          <p:nvPr/>
        </p:nvSpPr>
        <p:spPr>
          <a:xfrm>
            <a:off x="4636008" y="3447288"/>
            <a:ext cx="804672" cy="292608"/>
          </a:xfrm>
          <a:prstGeom prst="rect">
            <a:avLst/>
          </a:prstGeom>
          <a:solidFill>
            <a:srgbClr val="FFFFFF"/>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636008" y="3502152"/>
            <a:ext cx="804672" cy="201168"/>
          </a:xfrm>
          <a:prstGeom prst="rect">
            <a:avLst/>
          </a:prstGeom>
          <a:noFill/>
        </p:spPr>
        <p:txBody>
          <a:bodyPr wrap="square" lIns="0" tIns="0" rIns="0" bIns="0">
            <a:spAutoFit/>
          </a:bodyPr>
          <a:lstStyle/>
          <a:p>
            <a:pPr algn="ctr"/>
            <a:r>
              <a:rPr sz="800" b="0" i="0">
                <a:solidFill>
                  <a:srgbClr val="475569"/>
                </a:solidFill>
                <a:latin typeface="Calibri" panose="020F0502020204030204" pitchFamily="34" charset="0"/>
              </a:rPr>
              <a:t>Role</a:t>
            </a:r>
            <a:endParaRPr sz="800" b="0" i="0">
              <a:solidFill>
                <a:srgbClr val="475569"/>
              </a:solidFill>
              <a:latin typeface="Calibri" panose="020F0502020204030204" pitchFamily="34" charset="0"/>
            </a:endParaRPr>
          </a:p>
        </p:txBody>
      </p:sp>
      <p:sp>
        <p:nvSpPr>
          <p:cNvPr id="70" name="Rectangle 69"/>
          <p:cNvSpPr/>
          <p:nvPr/>
        </p:nvSpPr>
        <p:spPr>
          <a:xfrm>
            <a:off x="5440680" y="3447288"/>
            <a:ext cx="804672" cy="292608"/>
          </a:xfrm>
          <a:prstGeom prst="rect">
            <a:avLst/>
          </a:prstGeom>
          <a:solidFill>
            <a:srgbClr val="FFFFFF"/>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440680" y="3502152"/>
            <a:ext cx="804672" cy="201168"/>
          </a:xfrm>
          <a:prstGeom prst="rect">
            <a:avLst/>
          </a:prstGeom>
          <a:noFill/>
        </p:spPr>
        <p:txBody>
          <a:bodyPr wrap="square" lIns="0" tIns="0" rIns="0" bIns="0">
            <a:spAutoFit/>
          </a:bodyPr>
          <a:lstStyle/>
          <a:p>
            <a:pPr algn="ctr"/>
            <a:r>
              <a:rPr sz="800" b="0" i="0">
                <a:solidFill>
                  <a:srgbClr val="475569"/>
                </a:solidFill>
                <a:latin typeface="Calibri" panose="020F0502020204030204" pitchFamily="34" charset="0"/>
              </a:rPr>
              <a:t>MSB</a:t>
            </a:r>
            <a:endParaRPr sz="800" b="0" i="0">
              <a:solidFill>
                <a:srgbClr val="475569"/>
              </a:solidFill>
              <a:latin typeface="Calibri" panose="020F0502020204030204" pitchFamily="34" charset="0"/>
            </a:endParaRPr>
          </a:p>
        </p:txBody>
      </p:sp>
      <p:sp>
        <p:nvSpPr>
          <p:cNvPr id="72" name="Rectangle 71"/>
          <p:cNvSpPr/>
          <p:nvPr/>
        </p:nvSpPr>
        <p:spPr>
          <a:xfrm>
            <a:off x="6245352" y="3447288"/>
            <a:ext cx="804672" cy="292608"/>
          </a:xfrm>
          <a:prstGeom prst="rect">
            <a:avLst/>
          </a:prstGeom>
          <a:solidFill>
            <a:srgbClr val="FFFFFF"/>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245352" y="3502152"/>
            <a:ext cx="804672" cy="201168"/>
          </a:xfrm>
          <a:prstGeom prst="rect">
            <a:avLst/>
          </a:prstGeom>
          <a:noFill/>
        </p:spPr>
        <p:txBody>
          <a:bodyPr wrap="square" lIns="0" tIns="0" rIns="0" bIns="0">
            <a:spAutoFit/>
          </a:bodyPr>
          <a:lstStyle/>
          <a:p>
            <a:pPr algn="ctr"/>
          </a:p>
        </p:txBody>
      </p:sp>
      <p:sp>
        <p:nvSpPr>
          <p:cNvPr id="74" name="Rectangle 73"/>
          <p:cNvSpPr/>
          <p:nvPr/>
        </p:nvSpPr>
        <p:spPr>
          <a:xfrm>
            <a:off x="7050024" y="3447288"/>
            <a:ext cx="804672" cy="292608"/>
          </a:xfrm>
          <a:prstGeom prst="rect">
            <a:avLst/>
          </a:prstGeom>
          <a:solidFill>
            <a:srgbClr val="FFFFFF"/>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050024" y="3502152"/>
            <a:ext cx="804672" cy="201168"/>
          </a:xfrm>
          <a:prstGeom prst="rect">
            <a:avLst/>
          </a:prstGeom>
          <a:noFill/>
        </p:spPr>
        <p:txBody>
          <a:bodyPr wrap="square" lIns="0" tIns="0" rIns="0" bIns="0">
            <a:spAutoFit/>
          </a:bodyPr>
          <a:lstStyle/>
          <a:p>
            <a:pPr algn="ctr"/>
          </a:p>
        </p:txBody>
      </p:sp>
      <p:sp>
        <p:nvSpPr>
          <p:cNvPr id="76" name="Rectangle 75"/>
          <p:cNvSpPr/>
          <p:nvPr/>
        </p:nvSpPr>
        <p:spPr>
          <a:xfrm>
            <a:off x="7854696" y="3447288"/>
            <a:ext cx="804672" cy="292608"/>
          </a:xfrm>
          <a:prstGeom prst="rect">
            <a:avLst/>
          </a:prstGeom>
          <a:solidFill>
            <a:srgbClr val="FFFFFF"/>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854696" y="3502152"/>
            <a:ext cx="804672" cy="201168"/>
          </a:xfrm>
          <a:prstGeom prst="rect">
            <a:avLst/>
          </a:prstGeom>
          <a:noFill/>
        </p:spPr>
        <p:txBody>
          <a:bodyPr wrap="square" lIns="0" tIns="0" rIns="0" bIns="0">
            <a:spAutoFit/>
          </a:bodyPr>
          <a:lstStyle/>
          <a:p>
            <a:pPr algn="ctr"/>
            <a:r>
              <a:rPr sz="800" b="0" i="0">
                <a:solidFill>
                  <a:srgbClr val="475569"/>
                </a:solidFill>
                <a:latin typeface="Calibri" panose="020F0502020204030204" pitchFamily="34" charset="0"/>
              </a:rPr>
              <a:t>LSB</a:t>
            </a:r>
            <a:endParaRPr sz="800" b="0" i="0">
              <a:solidFill>
                <a:srgbClr val="475569"/>
              </a:solidFill>
              <a:latin typeface="Calibri" panose="020F0502020204030204" pitchFamily="34" charset="0"/>
            </a:endParaRPr>
          </a:p>
        </p:txBody>
      </p:sp>
      <p:sp>
        <p:nvSpPr>
          <p:cNvPr id="78" name="TextBox 77"/>
          <p:cNvSpPr txBox="1"/>
          <p:nvPr/>
        </p:nvSpPr>
        <p:spPr>
          <a:xfrm>
            <a:off x="4636008" y="3822191"/>
            <a:ext cx="4251960" cy="138499"/>
          </a:xfrm>
          <a:prstGeom prst="rect">
            <a:avLst/>
          </a:prstGeom>
          <a:noFill/>
        </p:spPr>
        <p:txBody>
          <a:bodyPr wrap="square" lIns="0" tIns="0" rIns="0" bIns="0">
            <a:spAutoFit/>
          </a:bodyPr>
          <a:lstStyle/>
          <a:p>
            <a:pPr algn="l"/>
            <a:r>
              <a:rPr sz="900" b="1" i="1" dirty="0">
                <a:solidFill>
                  <a:srgbClr val="0EA5E9"/>
                </a:solidFill>
                <a:latin typeface="Calibri" panose="020F0502020204030204" pitchFamily="34" charset="0"/>
              </a:rPr>
              <a:t>→ Read: bytes already in order → 0x12345678 = 305,419,896</a:t>
            </a:r>
            <a:r>
              <a:rPr lang="en-SG" sz="900" b="1" i="1" dirty="0">
                <a:solidFill>
                  <a:srgbClr val="0EA5E9"/>
                </a:solidFill>
                <a:latin typeface="Calibri" panose="020F0502020204030204" pitchFamily="34" charset="0"/>
              </a:rPr>
              <a:t> (Decimal Value)</a:t>
            </a:r>
            <a:endParaRPr sz="900" b="1" i="1" dirty="0">
              <a:solidFill>
                <a:srgbClr val="0EA5E9"/>
              </a:solidFill>
              <a:latin typeface="Calibri" panose="020F0502020204030204" pitchFamily="34" charset="0"/>
            </a:endParaRPr>
          </a:p>
        </p:txBody>
      </p:sp>
      <p:sp>
        <p:nvSpPr>
          <p:cNvPr id="79" name="Rounded Rectangle 78"/>
          <p:cNvSpPr/>
          <p:nvPr/>
        </p:nvSpPr>
        <p:spPr>
          <a:xfrm>
            <a:off x="256032" y="4206240"/>
            <a:ext cx="8631936" cy="777240"/>
          </a:xfrm>
          <a:prstGeom prst="roundRect">
            <a:avLst/>
          </a:prstGeom>
          <a:solidFill>
            <a:srgbClr val="D1FAE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384048" y="4279392"/>
            <a:ext cx="8412480" cy="201168"/>
          </a:xfrm>
          <a:prstGeom prst="rect">
            <a:avLst/>
          </a:prstGeom>
          <a:noFill/>
        </p:spPr>
        <p:txBody>
          <a:bodyPr wrap="square" lIns="0" tIns="0" rIns="0" bIns="0">
            <a:spAutoFit/>
          </a:bodyPr>
          <a:lstStyle/>
          <a:p>
            <a:pPr algn="l"/>
            <a:r>
              <a:rPr sz="1000" b="1" i="0">
                <a:solidFill>
                  <a:srgbClr val="10B981"/>
                </a:solidFill>
                <a:latin typeface="Trebuchet MS" panose="020B0603020202020204" pitchFamily="34" charset="0"/>
              </a:rPr>
              <a:t>Forensic Reading Tip — Hex Editor Workflow</a:t>
            </a:r>
            <a:endParaRPr sz="1000" b="1" i="0">
              <a:solidFill>
                <a:srgbClr val="10B981"/>
              </a:solidFill>
              <a:latin typeface="Trebuchet MS" panose="020B0603020202020204" pitchFamily="34" charset="0"/>
            </a:endParaRPr>
          </a:p>
        </p:txBody>
      </p:sp>
      <p:sp>
        <p:nvSpPr>
          <p:cNvPr id="81" name="TextBox 80"/>
          <p:cNvSpPr txBox="1"/>
          <p:nvPr/>
        </p:nvSpPr>
        <p:spPr>
          <a:xfrm>
            <a:off x="384048" y="4498848"/>
            <a:ext cx="8412480" cy="457200"/>
          </a:xfrm>
          <a:prstGeom prst="rect">
            <a:avLst/>
          </a:prstGeom>
          <a:noFill/>
        </p:spPr>
        <p:txBody>
          <a:bodyPr wrap="square" lIns="0" tIns="0" rIns="0" bIns="0">
            <a:spAutoFit/>
          </a:bodyPr>
          <a:lstStyle/>
          <a:p>
            <a:pPr algn="l"/>
            <a:r>
              <a:rPr sz="900" b="0" i="0">
                <a:solidFill>
                  <a:srgbClr val="1A1A2E"/>
                </a:solidFill>
                <a:latin typeface="Calibri" panose="020F0502020204030204" pitchFamily="34" charset="0"/>
              </a:rPr>
              <a:t>When you see bytes in a hex editor like  F1 21 00 00  on a FAT/NTFS disk: (1) recognize it's little-endian, (2) reverse to 00 00 21 F1, (3) interpret as 0x000021F1 = 8,689 decimal. The raw byte order on disk is NOT the numerical order — always reverse multi-byte values before calculating.</a:t>
            </a:r>
            <a:endParaRPr sz="900" b="0" i="0">
              <a:solidFill>
                <a:srgbClr val="1A1A2E"/>
              </a:solidFill>
              <a:latin typeface="Calibri" panose="020F050202020403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F59E0B"/>
          </a:solidFill>
          <a:ln w="12700">
            <a:solidFill>
              <a:srgbClr val="F59E0B"/>
            </a:solidFill>
            <a:prstDash val="solid"/>
          </a:ln>
        </p:spPr>
        <p:txBody>
          <a:bodyPr/>
          <a:lstStyle/>
          <a:p>
            <a:endParaRPr lang="en-SG"/>
          </a:p>
        </p:txBody>
      </p:sp>
      <p:sp>
        <p:nvSpPr>
          <p:cNvPr id="3" name="Text 1"/>
          <p:cNvSpPr/>
          <p:nvPr/>
        </p:nvSpPr>
        <p:spPr>
          <a:xfrm>
            <a:off x="256032" y="135330"/>
            <a:ext cx="8631936" cy="548640"/>
          </a:xfrm>
          <a:prstGeom prst="rect">
            <a:avLst/>
          </a:prstGeom>
          <a:noFill/>
        </p:spPr>
        <p:txBody>
          <a:bodyPr wrap="square" lIns="0" tIns="0" rIns="0" bIns="0" rtlCol="0" anchor="ctr"/>
          <a:lstStyle/>
          <a:p>
            <a:pPr marL="0" indent="0">
              <a:buNone/>
            </a:pPr>
            <a:r>
              <a:rPr lang="en-US" sz="16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FAT32 Cluster Entries — EOF &amp; Bad Cluster in Hex</a:t>
            </a:r>
            <a:endParaRPr lang="en-US" sz="1600" dirty="0"/>
          </a:p>
        </p:txBody>
      </p:sp>
      <p:sp>
        <p:nvSpPr>
          <p:cNvPr id="4" name="Shape 2"/>
          <p:cNvSpPr/>
          <p:nvPr/>
        </p:nvSpPr>
        <p:spPr>
          <a:xfrm>
            <a:off x="256032" y="73152"/>
            <a:ext cx="1463040" cy="219456"/>
          </a:xfrm>
          <a:prstGeom prst="rect">
            <a:avLst/>
          </a:prstGeom>
          <a:solidFill>
            <a:srgbClr val="F59E0B"/>
          </a:solidFill>
          <a:ln w="12700">
            <a:solidFill>
              <a:srgbClr val="F59E0B"/>
            </a:solidFill>
            <a:prstDash val="solid"/>
          </a:ln>
        </p:spPr>
        <p:txBody>
          <a:bodyPr/>
          <a:lstStyle/>
          <a:p>
            <a:endParaRPr lang="en-SG"/>
          </a:p>
        </p:txBody>
      </p:sp>
      <p:sp>
        <p:nvSpPr>
          <p:cNvPr id="5" name="Text 3"/>
          <p:cNvSpPr/>
          <p:nvPr/>
        </p:nvSpPr>
        <p:spPr>
          <a:xfrm>
            <a:off x="256032" y="73152"/>
            <a:ext cx="1463040" cy="219456"/>
          </a:xfrm>
          <a:prstGeom prst="rect">
            <a:avLst/>
          </a:prstGeom>
          <a:noFill/>
        </p:spPr>
        <p:txBody>
          <a:bodyPr wrap="square" lIns="0" tIns="0" rIns="0" bIns="0" rtlCol="0" anchor="ctr"/>
          <a:lstStyle/>
          <a:p>
            <a:pPr marL="0" indent="0" algn="ctr">
              <a:buNone/>
            </a:pPr>
            <a:r>
              <a:rPr lang="en-US" sz="800" b="1" kern="0" spc="100"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SECTION 02 — FAT</a:t>
            </a:r>
            <a:endParaRPr lang="en-US" sz="800" dirty="0"/>
          </a:p>
        </p:txBody>
      </p:sp>
      <p:sp>
        <p:nvSpPr>
          <p:cNvPr id="10" name="Text 8"/>
          <p:cNvSpPr/>
          <p:nvPr/>
        </p:nvSpPr>
        <p:spPr>
          <a:xfrm>
            <a:off x="256032" y="822960"/>
            <a:ext cx="8631936" cy="274320"/>
          </a:xfrm>
          <a:prstGeom prst="rect">
            <a:avLst/>
          </a:prstGeom>
          <a:noFill/>
        </p:spPr>
        <p:txBody>
          <a:bodyPr wrap="square" rtlCol="0" anchor="ctr"/>
          <a:lstStyle/>
          <a:p>
            <a:pPr marL="0" indent="0">
              <a:buNone/>
            </a:pPr>
            <a:r>
              <a:rPr lang="en-US" sz="950" i="1" dirty="0">
                <a:solidFill>
                  <a:srgbClr val="475569"/>
                </a:solidFill>
                <a:latin typeface="Calibri" panose="020F0502020204030204" pitchFamily="34" charset="0"/>
                <a:ea typeface="Calibri" panose="020F0502020204030204" pitchFamily="34" charset="-122"/>
                <a:cs typeface="Calibri" panose="020F0502020204030204" pitchFamily="34" charset="-120"/>
              </a:rPr>
              <a:t>Examiners read FAT entries directly from a hex editor to determine file boundaries and detect data hiding. These two markers are the most forensically significant cluster values.</a:t>
            </a:r>
            <a:endParaRPr lang="en-US" sz="950" dirty="0"/>
          </a:p>
        </p:txBody>
      </p:sp>
      <p:sp>
        <p:nvSpPr>
          <p:cNvPr id="11" name="Shape 9"/>
          <p:cNvSpPr/>
          <p:nvPr/>
        </p:nvSpPr>
        <p:spPr>
          <a:xfrm>
            <a:off x="256032" y="1152144"/>
            <a:ext cx="4261104" cy="1645920"/>
          </a:xfrm>
          <a:prstGeom prst="rect">
            <a:avLst/>
          </a:prstGeom>
          <a:solidFill>
            <a:srgbClr val="EEF6FB"/>
          </a:solidFill>
          <a:ln w="12700">
            <a:solidFill>
              <a:srgbClr val="10B981"/>
            </a:solidFill>
            <a:prstDash val="solid"/>
          </a:ln>
          <a:effectLst>
            <a:outerShdw blurRad="127000" dist="38100" dir="8100000" algn="bl" rotWithShape="0">
              <a:srgbClr val="000000">
                <a:alpha val="22000"/>
              </a:srgbClr>
            </a:outerShdw>
          </a:effectLst>
        </p:spPr>
        <p:txBody>
          <a:bodyPr/>
          <a:lstStyle/>
          <a:p>
            <a:endParaRPr lang="en-SG"/>
          </a:p>
        </p:txBody>
      </p:sp>
      <p:sp>
        <p:nvSpPr>
          <p:cNvPr id="12" name="Shape 10"/>
          <p:cNvSpPr/>
          <p:nvPr/>
        </p:nvSpPr>
        <p:spPr>
          <a:xfrm>
            <a:off x="256032" y="1152144"/>
            <a:ext cx="4261104" cy="310896"/>
          </a:xfrm>
          <a:prstGeom prst="rect">
            <a:avLst/>
          </a:prstGeom>
          <a:solidFill>
            <a:srgbClr val="10B981"/>
          </a:solidFill>
          <a:ln w="12700">
            <a:solidFill>
              <a:srgbClr val="10B981"/>
            </a:solidFill>
            <a:prstDash val="solid"/>
          </a:ln>
        </p:spPr>
        <p:txBody>
          <a:bodyPr/>
          <a:lstStyle/>
          <a:p>
            <a:endParaRPr lang="en-SG"/>
          </a:p>
        </p:txBody>
      </p:sp>
      <p:sp>
        <p:nvSpPr>
          <p:cNvPr id="13" name="Text 11"/>
          <p:cNvSpPr/>
          <p:nvPr/>
        </p:nvSpPr>
        <p:spPr>
          <a:xfrm>
            <a:off x="365760" y="1188720"/>
            <a:ext cx="4041648" cy="237744"/>
          </a:xfrm>
          <a:prstGeom prst="rect">
            <a:avLst/>
          </a:prstGeom>
          <a:noFill/>
        </p:spPr>
        <p:txBody>
          <a:bodyPr wrap="square" lIns="0" tIns="0" rIns="0" bIns="0" rtlCol="0" anchor="ctr"/>
          <a:lstStyle/>
          <a:p>
            <a:pPr marL="0" indent="0">
              <a:buNone/>
            </a:pPr>
            <a:r>
              <a:rPr lang="en-US" sz="11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End-Of-File (EOF) Marker — 0x0FFFFFF8+</a:t>
            </a:r>
            <a:endParaRPr lang="en-US" sz="1100" dirty="0"/>
          </a:p>
        </p:txBody>
      </p:sp>
      <p:sp>
        <p:nvSpPr>
          <p:cNvPr id="14" name="Shape 12"/>
          <p:cNvSpPr/>
          <p:nvPr/>
        </p:nvSpPr>
        <p:spPr>
          <a:xfrm>
            <a:off x="365760" y="1536192"/>
            <a:ext cx="4041648" cy="274320"/>
          </a:xfrm>
          <a:prstGeom prst="rect">
            <a:avLst/>
          </a:prstGeom>
          <a:solidFill>
            <a:srgbClr val="FFFFFF"/>
          </a:solidFill>
          <a:ln w="12700">
            <a:solidFill>
              <a:srgbClr val="2E4068"/>
            </a:solidFill>
            <a:prstDash val="solid"/>
          </a:ln>
        </p:spPr>
        <p:txBody>
          <a:bodyPr/>
          <a:lstStyle/>
          <a:p>
            <a:endParaRPr lang="en-SG"/>
          </a:p>
        </p:txBody>
      </p:sp>
      <p:sp>
        <p:nvSpPr>
          <p:cNvPr id="15" name="Text 13"/>
          <p:cNvSpPr/>
          <p:nvPr/>
        </p:nvSpPr>
        <p:spPr>
          <a:xfrm>
            <a:off x="420624" y="1563624"/>
            <a:ext cx="3913632" cy="219456"/>
          </a:xfrm>
          <a:prstGeom prst="rect">
            <a:avLst/>
          </a:prstGeom>
          <a:noFill/>
        </p:spPr>
        <p:txBody>
          <a:bodyPr wrap="square" lIns="0" tIns="0" rIns="0" bIns="0" rtlCol="0" anchor="ctr"/>
          <a:lstStyle/>
          <a:p>
            <a:pPr marL="0" indent="0">
              <a:buNone/>
            </a:pPr>
            <a:r>
              <a:rPr lang="en-US" sz="900" b="1" dirty="0">
                <a:solidFill>
                  <a:srgbClr val="10B981"/>
                </a:solidFill>
                <a:latin typeface="Consolas" panose="020B0609020204030204" pitchFamily="34" charset="0"/>
                <a:ea typeface="Consolas" panose="020B0609020204030204" pitchFamily="34" charset="-122"/>
                <a:cs typeface="Consolas" panose="020B0609020204030204" pitchFamily="34" charset="-120"/>
              </a:rPr>
              <a:t>FF FF FF 0F  → Little-endian: 0x0FFFFFFF</a:t>
            </a:r>
            <a:endParaRPr lang="en-US" sz="900" dirty="0"/>
          </a:p>
        </p:txBody>
      </p:sp>
      <p:sp>
        <p:nvSpPr>
          <p:cNvPr id="16" name="Text 14"/>
          <p:cNvSpPr/>
          <p:nvPr/>
        </p:nvSpPr>
        <p:spPr>
          <a:xfrm>
            <a:off x="365760" y="1865376"/>
            <a:ext cx="4041648" cy="859536"/>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When the FAT parser reads a cluster entry with a value between 0x0FFFFFF8 and 0x0FFFFFFF, it knows the current cluster is the last one in the file. The file content ends here. A forensic examiner uses this to calculate file boundaries during manual recovery.</a:t>
            </a:r>
            <a:endParaRPr lang="en-US" sz="900" dirty="0"/>
          </a:p>
        </p:txBody>
      </p:sp>
      <p:sp>
        <p:nvSpPr>
          <p:cNvPr id="17" name="Shape 15"/>
          <p:cNvSpPr/>
          <p:nvPr/>
        </p:nvSpPr>
        <p:spPr>
          <a:xfrm>
            <a:off x="4663440" y="1152144"/>
            <a:ext cx="4224528" cy="1645920"/>
          </a:xfrm>
          <a:prstGeom prst="rect">
            <a:avLst/>
          </a:prstGeom>
          <a:solidFill>
            <a:srgbClr val="EEF6FB"/>
          </a:solidFill>
          <a:ln w="12700">
            <a:solidFill>
              <a:srgbClr val="EF4444"/>
            </a:solidFill>
            <a:prstDash val="solid"/>
          </a:ln>
          <a:effectLst>
            <a:outerShdw blurRad="127000" dist="38100" dir="8100000" algn="bl" rotWithShape="0">
              <a:srgbClr val="000000">
                <a:alpha val="22000"/>
              </a:srgbClr>
            </a:outerShdw>
          </a:effectLst>
        </p:spPr>
        <p:txBody>
          <a:bodyPr/>
          <a:lstStyle/>
          <a:p>
            <a:endParaRPr lang="en-SG"/>
          </a:p>
        </p:txBody>
      </p:sp>
      <p:sp>
        <p:nvSpPr>
          <p:cNvPr id="18" name="Shape 16"/>
          <p:cNvSpPr/>
          <p:nvPr/>
        </p:nvSpPr>
        <p:spPr>
          <a:xfrm>
            <a:off x="4663440" y="1152144"/>
            <a:ext cx="4224528" cy="310896"/>
          </a:xfrm>
          <a:prstGeom prst="rect">
            <a:avLst/>
          </a:prstGeom>
          <a:solidFill>
            <a:srgbClr val="EF4444"/>
          </a:solidFill>
          <a:ln w="12700">
            <a:solidFill>
              <a:srgbClr val="EF4444"/>
            </a:solidFill>
            <a:prstDash val="solid"/>
          </a:ln>
        </p:spPr>
        <p:txBody>
          <a:bodyPr/>
          <a:lstStyle/>
          <a:p>
            <a:endParaRPr lang="en-SG"/>
          </a:p>
        </p:txBody>
      </p:sp>
      <p:sp>
        <p:nvSpPr>
          <p:cNvPr id="19" name="Text 17"/>
          <p:cNvSpPr/>
          <p:nvPr/>
        </p:nvSpPr>
        <p:spPr>
          <a:xfrm>
            <a:off x="4773168" y="1188720"/>
            <a:ext cx="4005072" cy="237744"/>
          </a:xfrm>
          <a:prstGeom prst="rect">
            <a:avLst/>
          </a:prstGeom>
          <a:noFill/>
        </p:spPr>
        <p:txBody>
          <a:bodyPr wrap="square" lIns="0" tIns="0" rIns="0" bIns="0" rtlCol="0" anchor="ctr"/>
          <a:lstStyle/>
          <a:p>
            <a:pPr marL="0" indent="0">
              <a:buNone/>
            </a:pPr>
            <a:r>
              <a:rPr lang="en-US" sz="11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Bad/Damaged Cluster — 0x0FFFFFF7</a:t>
            </a:r>
            <a:endParaRPr lang="en-US" sz="1100" dirty="0"/>
          </a:p>
        </p:txBody>
      </p:sp>
      <p:sp>
        <p:nvSpPr>
          <p:cNvPr id="20" name="Shape 18"/>
          <p:cNvSpPr/>
          <p:nvPr/>
        </p:nvSpPr>
        <p:spPr>
          <a:xfrm>
            <a:off x="4773168" y="1536192"/>
            <a:ext cx="4005072" cy="274320"/>
          </a:xfrm>
          <a:prstGeom prst="rect">
            <a:avLst/>
          </a:prstGeom>
          <a:solidFill>
            <a:srgbClr val="FFFFFF"/>
          </a:solidFill>
          <a:ln w="12700">
            <a:solidFill>
              <a:srgbClr val="2E4068"/>
            </a:solidFill>
            <a:prstDash val="solid"/>
          </a:ln>
        </p:spPr>
        <p:txBody>
          <a:bodyPr/>
          <a:lstStyle/>
          <a:p>
            <a:endParaRPr lang="en-SG"/>
          </a:p>
        </p:txBody>
      </p:sp>
      <p:sp>
        <p:nvSpPr>
          <p:cNvPr id="21" name="Text 19"/>
          <p:cNvSpPr/>
          <p:nvPr/>
        </p:nvSpPr>
        <p:spPr>
          <a:xfrm>
            <a:off x="4828032" y="1563624"/>
            <a:ext cx="3840480" cy="219456"/>
          </a:xfrm>
          <a:prstGeom prst="rect">
            <a:avLst/>
          </a:prstGeom>
          <a:noFill/>
        </p:spPr>
        <p:txBody>
          <a:bodyPr wrap="square" lIns="0" tIns="0" rIns="0" bIns="0" rtlCol="0" anchor="ctr"/>
          <a:lstStyle/>
          <a:p>
            <a:pPr marL="0" indent="0">
              <a:buNone/>
            </a:pPr>
            <a:r>
              <a:rPr lang="en-US" sz="900" b="1" dirty="0">
                <a:solidFill>
                  <a:srgbClr val="EF4444"/>
                </a:solidFill>
                <a:latin typeface="Consolas" panose="020B0609020204030204" pitchFamily="34" charset="0"/>
                <a:ea typeface="Consolas" panose="020B0609020204030204" pitchFamily="34" charset="-122"/>
                <a:cs typeface="Consolas" panose="020B0609020204030204" pitchFamily="34" charset="-120"/>
              </a:rPr>
              <a:t>F7 FF FF 0F  → Little-endian: 0x0FFFFFF7</a:t>
            </a:r>
            <a:endParaRPr lang="en-US" sz="900" dirty="0"/>
          </a:p>
        </p:txBody>
      </p:sp>
      <p:sp>
        <p:nvSpPr>
          <p:cNvPr id="22" name="Text 20"/>
          <p:cNvSpPr/>
          <p:nvPr/>
        </p:nvSpPr>
        <p:spPr>
          <a:xfrm>
            <a:off x="4773168" y="1865376"/>
            <a:ext cx="4005072" cy="859536"/>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A cluster value of 0x0FFFFFF7 is marked bad. The OS will not use it for new file allocations. Forensic note: attackers and malware have been documented falsely marking good clusters as bad to hide data from the operating system, while directly reading those sectors using forensic tools can reveal the hidden content.</a:t>
            </a:r>
            <a:endParaRPr lang="en-US" sz="900" dirty="0"/>
          </a:p>
        </p:txBody>
      </p:sp>
      <p:sp>
        <p:nvSpPr>
          <p:cNvPr id="23" name="Shape 21"/>
          <p:cNvSpPr/>
          <p:nvPr/>
        </p:nvSpPr>
        <p:spPr>
          <a:xfrm>
            <a:off x="256032" y="2889504"/>
            <a:ext cx="8631936" cy="256032"/>
          </a:xfrm>
          <a:prstGeom prst="rect">
            <a:avLst/>
          </a:prstGeom>
          <a:solidFill>
            <a:srgbClr val="EEF6FB"/>
          </a:solidFill>
          <a:ln w="12700">
            <a:solidFill>
              <a:srgbClr val="2E4068"/>
            </a:solidFill>
            <a:prstDash val="solid"/>
          </a:ln>
        </p:spPr>
        <p:txBody>
          <a:bodyPr/>
          <a:lstStyle/>
          <a:p>
            <a:endParaRPr lang="en-SG"/>
          </a:p>
        </p:txBody>
      </p:sp>
      <p:sp>
        <p:nvSpPr>
          <p:cNvPr id="24" name="Text 22"/>
          <p:cNvSpPr/>
          <p:nvPr/>
        </p:nvSpPr>
        <p:spPr>
          <a:xfrm>
            <a:off x="347472" y="2898648"/>
            <a:ext cx="8412480" cy="219456"/>
          </a:xfrm>
          <a:prstGeom prst="rect">
            <a:avLst/>
          </a:prstGeom>
          <a:noFill/>
        </p:spPr>
        <p:txBody>
          <a:bodyPr wrap="square" lIns="0" tIns="0" rIns="0" bIns="0" rtlCol="0" anchor="ctr"/>
          <a:lstStyle/>
          <a:p>
            <a:pPr marL="0" indent="0">
              <a:buNone/>
            </a:pPr>
            <a:r>
              <a:rPr lang="en-US" sz="9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How to read 4-byte FAT32 entries in little-endian (all multi-byte values stored LSB first):</a:t>
            </a:r>
            <a:endParaRPr lang="en-US" sz="950" dirty="0"/>
          </a:p>
        </p:txBody>
      </p:sp>
      <p:sp>
        <p:nvSpPr>
          <p:cNvPr id="25" name="Shape 23"/>
          <p:cNvSpPr/>
          <p:nvPr/>
        </p:nvSpPr>
        <p:spPr>
          <a:xfrm>
            <a:off x="256032" y="3200400"/>
            <a:ext cx="2084832" cy="1517904"/>
          </a:xfrm>
          <a:prstGeom prst="rect">
            <a:avLst/>
          </a:prstGeom>
          <a:solidFill>
            <a:srgbClr val="EEF6FB"/>
          </a:solidFill>
          <a:ln w="12700">
            <a:solidFill>
              <a:srgbClr val="F59E0B"/>
            </a:solidFill>
            <a:prstDash val="solid"/>
          </a:ln>
          <a:effectLst>
            <a:outerShdw blurRad="127000" dist="38100" dir="8100000" algn="bl" rotWithShape="0">
              <a:srgbClr val="000000">
                <a:alpha val="22000"/>
              </a:srgbClr>
            </a:outerShdw>
          </a:effectLst>
        </p:spPr>
        <p:txBody>
          <a:bodyPr/>
          <a:lstStyle/>
          <a:p>
            <a:endParaRPr lang="en-SG"/>
          </a:p>
        </p:txBody>
      </p:sp>
      <p:sp>
        <p:nvSpPr>
          <p:cNvPr id="26" name="Shape 24"/>
          <p:cNvSpPr/>
          <p:nvPr/>
        </p:nvSpPr>
        <p:spPr>
          <a:xfrm>
            <a:off x="256032" y="3200400"/>
            <a:ext cx="2084832" cy="274320"/>
          </a:xfrm>
          <a:prstGeom prst="rect">
            <a:avLst/>
          </a:prstGeom>
          <a:solidFill>
            <a:srgbClr val="F59E0B"/>
          </a:solidFill>
          <a:ln w="12700">
            <a:solidFill>
              <a:srgbClr val="F59E0B"/>
            </a:solidFill>
            <a:prstDash val="solid"/>
          </a:ln>
        </p:spPr>
        <p:txBody>
          <a:bodyPr/>
          <a:lstStyle/>
          <a:p>
            <a:endParaRPr lang="en-SG"/>
          </a:p>
        </p:txBody>
      </p:sp>
      <p:sp>
        <p:nvSpPr>
          <p:cNvPr id="27" name="Shape 25"/>
          <p:cNvSpPr/>
          <p:nvPr/>
        </p:nvSpPr>
        <p:spPr>
          <a:xfrm>
            <a:off x="347472" y="3236976"/>
            <a:ext cx="201168" cy="201168"/>
          </a:xfrm>
          <a:prstGeom prst="line">
            <a:avLst/>
          </a:prstGeom>
          <a:noFill/>
          <a:ln w="12700">
            <a:solidFill>
              <a:srgbClr val="000000">
                <a:alpha val="60000"/>
              </a:srgbClr>
            </a:solidFill>
            <a:prstDash val="solid"/>
          </a:ln>
        </p:spPr>
        <p:txBody>
          <a:bodyPr/>
          <a:lstStyle/>
          <a:p>
            <a:endParaRPr lang="en-SG"/>
          </a:p>
        </p:txBody>
      </p:sp>
      <p:sp>
        <p:nvSpPr>
          <p:cNvPr id="28" name="Text 26"/>
          <p:cNvSpPr/>
          <p:nvPr/>
        </p:nvSpPr>
        <p:spPr>
          <a:xfrm>
            <a:off x="347472" y="3246120"/>
            <a:ext cx="201168" cy="182880"/>
          </a:xfrm>
          <a:prstGeom prst="rect">
            <a:avLst/>
          </a:prstGeom>
          <a:noFill/>
        </p:spPr>
        <p:txBody>
          <a:bodyPr wrap="square" lIns="0" tIns="0" rIns="0" bIns="0" rtlCol="0" anchor="ctr"/>
          <a:lstStyle/>
          <a:p>
            <a:pPr marL="0" indent="0" algn="ctr">
              <a:buNone/>
            </a:pPr>
            <a:r>
              <a:rPr lang="en-US" sz="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1</a:t>
            </a:r>
            <a:endParaRPr lang="en-US" sz="800" dirty="0"/>
          </a:p>
        </p:txBody>
      </p:sp>
      <p:sp>
        <p:nvSpPr>
          <p:cNvPr id="29" name="Text 27"/>
          <p:cNvSpPr/>
          <p:nvPr/>
        </p:nvSpPr>
        <p:spPr>
          <a:xfrm>
            <a:off x="603504" y="3236976"/>
            <a:ext cx="1645920" cy="219456"/>
          </a:xfrm>
          <a:prstGeom prst="rect">
            <a:avLst/>
          </a:prstGeom>
          <a:noFill/>
        </p:spPr>
        <p:txBody>
          <a:bodyPr wrap="square" lIns="0" tIns="0" rIns="0" bIns="0" rtlCol="0" anchor="ctr"/>
          <a:lstStyle/>
          <a:p>
            <a:pPr marL="0" indent="0">
              <a:buNone/>
            </a:pPr>
            <a:r>
              <a:rPr lang="en-US" sz="9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Locate FAT start</a:t>
            </a:r>
            <a:endParaRPr lang="en-US" sz="950" dirty="0"/>
          </a:p>
        </p:txBody>
      </p:sp>
      <p:sp>
        <p:nvSpPr>
          <p:cNvPr id="30" name="Text 28"/>
          <p:cNvSpPr/>
          <p:nvPr/>
        </p:nvSpPr>
        <p:spPr>
          <a:xfrm>
            <a:off x="347472" y="3511296"/>
            <a:ext cx="1920240" cy="1133856"/>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Use BPB: ReservedSectors × BytesPerSector to find byte offset of FAT #1 on disk.</a:t>
            </a:r>
            <a:endParaRPr lang="en-US" sz="900" dirty="0"/>
          </a:p>
        </p:txBody>
      </p:sp>
      <p:sp>
        <p:nvSpPr>
          <p:cNvPr id="31" name="Shape 29"/>
          <p:cNvSpPr/>
          <p:nvPr/>
        </p:nvSpPr>
        <p:spPr>
          <a:xfrm>
            <a:off x="2468880" y="3200400"/>
            <a:ext cx="2084832" cy="1517904"/>
          </a:xfrm>
          <a:prstGeom prst="rect">
            <a:avLst/>
          </a:prstGeom>
          <a:solidFill>
            <a:srgbClr val="EEF6FB"/>
          </a:solidFill>
          <a:ln w="12700">
            <a:solidFill>
              <a:srgbClr val="0EA5E9"/>
            </a:solidFill>
            <a:prstDash val="solid"/>
          </a:ln>
          <a:effectLst>
            <a:outerShdw blurRad="127000" dist="38100" dir="8100000" algn="bl" rotWithShape="0">
              <a:srgbClr val="000000">
                <a:alpha val="22000"/>
              </a:srgbClr>
            </a:outerShdw>
          </a:effectLst>
        </p:spPr>
        <p:txBody>
          <a:bodyPr/>
          <a:lstStyle/>
          <a:p>
            <a:endParaRPr lang="en-SG"/>
          </a:p>
        </p:txBody>
      </p:sp>
      <p:sp>
        <p:nvSpPr>
          <p:cNvPr id="32" name="Shape 30"/>
          <p:cNvSpPr/>
          <p:nvPr/>
        </p:nvSpPr>
        <p:spPr>
          <a:xfrm>
            <a:off x="2468880" y="3200400"/>
            <a:ext cx="2084832" cy="274320"/>
          </a:xfrm>
          <a:prstGeom prst="rect">
            <a:avLst/>
          </a:prstGeom>
          <a:solidFill>
            <a:srgbClr val="0EA5E9"/>
          </a:solidFill>
          <a:ln w="12700">
            <a:solidFill>
              <a:srgbClr val="0EA5E9"/>
            </a:solidFill>
            <a:prstDash val="solid"/>
          </a:ln>
        </p:spPr>
        <p:txBody>
          <a:bodyPr/>
          <a:lstStyle/>
          <a:p>
            <a:endParaRPr lang="en-SG"/>
          </a:p>
        </p:txBody>
      </p:sp>
      <p:sp>
        <p:nvSpPr>
          <p:cNvPr id="33" name="Shape 31"/>
          <p:cNvSpPr/>
          <p:nvPr/>
        </p:nvSpPr>
        <p:spPr>
          <a:xfrm>
            <a:off x="2560320" y="3236976"/>
            <a:ext cx="201168" cy="201168"/>
          </a:xfrm>
          <a:prstGeom prst="line">
            <a:avLst/>
          </a:prstGeom>
          <a:noFill/>
          <a:ln w="12700">
            <a:solidFill>
              <a:srgbClr val="000000">
                <a:alpha val="60000"/>
              </a:srgbClr>
            </a:solidFill>
            <a:prstDash val="solid"/>
          </a:ln>
        </p:spPr>
        <p:txBody>
          <a:bodyPr/>
          <a:lstStyle/>
          <a:p>
            <a:endParaRPr lang="en-SG"/>
          </a:p>
        </p:txBody>
      </p:sp>
      <p:sp>
        <p:nvSpPr>
          <p:cNvPr id="34" name="Text 32"/>
          <p:cNvSpPr/>
          <p:nvPr/>
        </p:nvSpPr>
        <p:spPr>
          <a:xfrm>
            <a:off x="2560320" y="3246120"/>
            <a:ext cx="201168" cy="182880"/>
          </a:xfrm>
          <a:prstGeom prst="rect">
            <a:avLst/>
          </a:prstGeom>
          <a:noFill/>
        </p:spPr>
        <p:txBody>
          <a:bodyPr wrap="square" lIns="0" tIns="0" rIns="0" bIns="0" rtlCol="0" anchor="ctr"/>
          <a:lstStyle/>
          <a:p>
            <a:pPr marL="0" indent="0" algn="ctr">
              <a:buNone/>
            </a:pPr>
            <a:r>
              <a:rPr lang="en-US" sz="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2</a:t>
            </a:r>
            <a:endParaRPr lang="en-US" sz="800" dirty="0"/>
          </a:p>
        </p:txBody>
      </p:sp>
      <p:sp>
        <p:nvSpPr>
          <p:cNvPr id="35" name="Text 33"/>
          <p:cNvSpPr/>
          <p:nvPr/>
        </p:nvSpPr>
        <p:spPr>
          <a:xfrm>
            <a:off x="2816352" y="3236976"/>
            <a:ext cx="1645920" cy="219456"/>
          </a:xfrm>
          <a:prstGeom prst="rect">
            <a:avLst/>
          </a:prstGeom>
          <a:noFill/>
        </p:spPr>
        <p:txBody>
          <a:bodyPr wrap="square" lIns="0" tIns="0" rIns="0" bIns="0" rtlCol="0" anchor="ctr"/>
          <a:lstStyle/>
          <a:p>
            <a:pPr marL="0" indent="0">
              <a:buNone/>
            </a:pPr>
            <a:r>
              <a:rPr lang="en-US" sz="9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Find entry for cluster N</a:t>
            </a:r>
            <a:endParaRPr lang="en-US" sz="950" dirty="0"/>
          </a:p>
        </p:txBody>
      </p:sp>
      <p:sp>
        <p:nvSpPr>
          <p:cNvPr id="36" name="Text 34"/>
          <p:cNvSpPr/>
          <p:nvPr/>
        </p:nvSpPr>
        <p:spPr>
          <a:xfrm>
            <a:off x="2560320" y="3511296"/>
            <a:ext cx="1920240" cy="1133856"/>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Entry offset within FAT = ClusterNumber × 4 bytes. Read 4 bytes from that offset.</a:t>
            </a:r>
            <a:endParaRPr lang="en-US" sz="900" dirty="0"/>
          </a:p>
        </p:txBody>
      </p:sp>
      <p:sp>
        <p:nvSpPr>
          <p:cNvPr id="37" name="Shape 35"/>
          <p:cNvSpPr/>
          <p:nvPr/>
        </p:nvSpPr>
        <p:spPr>
          <a:xfrm>
            <a:off x="4681728" y="3200400"/>
            <a:ext cx="2084832" cy="1517904"/>
          </a:xfrm>
          <a:prstGeom prst="rect">
            <a:avLst/>
          </a:prstGeom>
          <a:solidFill>
            <a:srgbClr val="EEF6FB"/>
          </a:solidFill>
          <a:ln w="12700">
            <a:solidFill>
              <a:srgbClr val="10B981"/>
            </a:solidFill>
            <a:prstDash val="solid"/>
          </a:ln>
          <a:effectLst>
            <a:outerShdw blurRad="127000" dist="38100" dir="8100000" algn="bl" rotWithShape="0">
              <a:srgbClr val="000000">
                <a:alpha val="22000"/>
              </a:srgbClr>
            </a:outerShdw>
          </a:effectLst>
        </p:spPr>
        <p:txBody>
          <a:bodyPr/>
          <a:lstStyle/>
          <a:p>
            <a:endParaRPr lang="en-SG"/>
          </a:p>
        </p:txBody>
      </p:sp>
      <p:sp>
        <p:nvSpPr>
          <p:cNvPr id="38" name="Shape 36"/>
          <p:cNvSpPr/>
          <p:nvPr/>
        </p:nvSpPr>
        <p:spPr>
          <a:xfrm>
            <a:off x="4681728" y="3200400"/>
            <a:ext cx="2084832" cy="274320"/>
          </a:xfrm>
          <a:prstGeom prst="rect">
            <a:avLst/>
          </a:prstGeom>
          <a:solidFill>
            <a:srgbClr val="10B981"/>
          </a:solidFill>
          <a:ln w="12700">
            <a:solidFill>
              <a:srgbClr val="10B981"/>
            </a:solidFill>
            <a:prstDash val="solid"/>
          </a:ln>
        </p:spPr>
        <p:txBody>
          <a:bodyPr/>
          <a:lstStyle/>
          <a:p>
            <a:endParaRPr lang="en-SG"/>
          </a:p>
        </p:txBody>
      </p:sp>
      <p:sp>
        <p:nvSpPr>
          <p:cNvPr id="39" name="Shape 37"/>
          <p:cNvSpPr/>
          <p:nvPr/>
        </p:nvSpPr>
        <p:spPr>
          <a:xfrm>
            <a:off x="4773168" y="3236976"/>
            <a:ext cx="201168" cy="201168"/>
          </a:xfrm>
          <a:prstGeom prst="line">
            <a:avLst/>
          </a:prstGeom>
          <a:noFill/>
          <a:ln w="12700">
            <a:solidFill>
              <a:srgbClr val="000000">
                <a:alpha val="60000"/>
              </a:srgbClr>
            </a:solidFill>
            <a:prstDash val="solid"/>
          </a:ln>
        </p:spPr>
        <p:txBody>
          <a:bodyPr/>
          <a:lstStyle/>
          <a:p>
            <a:endParaRPr lang="en-SG"/>
          </a:p>
        </p:txBody>
      </p:sp>
      <p:sp>
        <p:nvSpPr>
          <p:cNvPr id="40" name="Text 38"/>
          <p:cNvSpPr/>
          <p:nvPr/>
        </p:nvSpPr>
        <p:spPr>
          <a:xfrm>
            <a:off x="4773168" y="3246120"/>
            <a:ext cx="201168" cy="182880"/>
          </a:xfrm>
          <a:prstGeom prst="rect">
            <a:avLst/>
          </a:prstGeom>
          <a:noFill/>
        </p:spPr>
        <p:txBody>
          <a:bodyPr wrap="square" lIns="0" tIns="0" rIns="0" bIns="0" rtlCol="0" anchor="ctr"/>
          <a:lstStyle/>
          <a:p>
            <a:pPr marL="0" indent="0" algn="ctr">
              <a:buNone/>
            </a:pPr>
            <a:r>
              <a:rPr lang="en-US" sz="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3</a:t>
            </a:r>
            <a:endParaRPr lang="en-US" sz="800" dirty="0"/>
          </a:p>
        </p:txBody>
      </p:sp>
      <p:sp>
        <p:nvSpPr>
          <p:cNvPr id="41" name="Text 39"/>
          <p:cNvSpPr/>
          <p:nvPr/>
        </p:nvSpPr>
        <p:spPr>
          <a:xfrm>
            <a:off x="5029200" y="3236976"/>
            <a:ext cx="1645920" cy="219456"/>
          </a:xfrm>
          <a:prstGeom prst="rect">
            <a:avLst/>
          </a:prstGeom>
          <a:noFill/>
        </p:spPr>
        <p:txBody>
          <a:bodyPr wrap="square" lIns="0" tIns="0" rIns="0" bIns="0" rtlCol="0" anchor="ctr"/>
          <a:lstStyle/>
          <a:p>
            <a:pPr marL="0" indent="0">
              <a:buNone/>
            </a:pPr>
            <a:r>
              <a:rPr lang="en-US" sz="9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Reverse byte order</a:t>
            </a:r>
            <a:endParaRPr lang="en-US" sz="950" dirty="0"/>
          </a:p>
        </p:txBody>
      </p:sp>
      <p:sp>
        <p:nvSpPr>
          <p:cNvPr id="42" name="Text 40"/>
          <p:cNvSpPr/>
          <p:nvPr/>
        </p:nvSpPr>
        <p:spPr>
          <a:xfrm>
            <a:off x="4773168" y="3511296"/>
            <a:ext cx="1920240" cy="1133856"/>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FAT entries are little-endian. Reverse the 4 bytes, then mask the upper 4 bits: value &amp; 0x0FFFFFFF.</a:t>
            </a:r>
            <a:endParaRPr lang="en-US" sz="900" dirty="0"/>
          </a:p>
        </p:txBody>
      </p:sp>
      <p:sp>
        <p:nvSpPr>
          <p:cNvPr id="43" name="Shape 41"/>
          <p:cNvSpPr/>
          <p:nvPr/>
        </p:nvSpPr>
        <p:spPr>
          <a:xfrm>
            <a:off x="6894576" y="3200400"/>
            <a:ext cx="2084832" cy="1517904"/>
          </a:xfrm>
          <a:prstGeom prst="rect">
            <a:avLst/>
          </a:prstGeom>
          <a:solidFill>
            <a:srgbClr val="EEF6FB"/>
          </a:solidFill>
          <a:ln w="12700">
            <a:solidFill>
              <a:srgbClr val="EF4444"/>
            </a:solidFill>
            <a:prstDash val="solid"/>
          </a:ln>
          <a:effectLst>
            <a:outerShdw blurRad="127000" dist="38100" dir="8100000" algn="bl" rotWithShape="0">
              <a:srgbClr val="000000">
                <a:alpha val="22000"/>
              </a:srgbClr>
            </a:outerShdw>
          </a:effectLst>
        </p:spPr>
        <p:txBody>
          <a:bodyPr/>
          <a:lstStyle/>
          <a:p>
            <a:endParaRPr lang="en-SG"/>
          </a:p>
        </p:txBody>
      </p:sp>
      <p:sp>
        <p:nvSpPr>
          <p:cNvPr id="44" name="Shape 42"/>
          <p:cNvSpPr/>
          <p:nvPr/>
        </p:nvSpPr>
        <p:spPr>
          <a:xfrm>
            <a:off x="6894576" y="3200400"/>
            <a:ext cx="2084832" cy="274320"/>
          </a:xfrm>
          <a:prstGeom prst="rect">
            <a:avLst/>
          </a:prstGeom>
          <a:solidFill>
            <a:srgbClr val="EF4444"/>
          </a:solidFill>
          <a:ln w="12700">
            <a:solidFill>
              <a:srgbClr val="EF4444"/>
            </a:solidFill>
            <a:prstDash val="solid"/>
          </a:ln>
        </p:spPr>
        <p:txBody>
          <a:bodyPr/>
          <a:lstStyle/>
          <a:p>
            <a:endParaRPr lang="en-SG"/>
          </a:p>
        </p:txBody>
      </p:sp>
      <p:sp>
        <p:nvSpPr>
          <p:cNvPr id="45" name="Shape 43"/>
          <p:cNvSpPr/>
          <p:nvPr/>
        </p:nvSpPr>
        <p:spPr>
          <a:xfrm>
            <a:off x="6986016" y="3236976"/>
            <a:ext cx="201168" cy="201168"/>
          </a:xfrm>
          <a:prstGeom prst="line">
            <a:avLst/>
          </a:prstGeom>
          <a:noFill/>
          <a:ln w="12700">
            <a:solidFill>
              <a:srgbClr val="000000">
                <a:alpha val="60000"/>
              </a:srgbClr>
            </a:solidFill>
            <a:prstDash val="solid"/>
          </a:ln>
        </p:spPr>
        <p:txBody>
          <a:bodyPr/>
          <a:lstStyle/>
          <a:p>
            <a:endParaRPr lang="en-SG"/>
          </a:p>
        </p:txBody>
      </p:sp>
      <p:sp>
        <p:nvSpPr>
          <p:cNvPr id="46" name="Text 44"/>
          <p:cNvSpPr/>
          <p:nvPr/>
        </p:nvSpPr>
        <p:spPr>
          <a:xfrm>
            <a:off x="6986016" y="3246120"/>
            <a:ext cx="201168" cy="182880"/>
          </a:xfrm>
          <a:prstGeom prst="rect">
            <a:avLst/>
          </a:prstGeom>
          <a:noFill/>
        </p:spPr>
        <p:txBody>
          <a:bodyPr wrap="square" lIns="0" tIns="0" rIns="0" bIns="0" rtlCol="0" anchor="ctr"/>
          <a:lstStyle/>
          <a:p>
            <a:pPr marL="0" indent="0" algn="ctr">
              <a:buNone/>
            </a:pPr>
            <a:r>
              <a:rPr lang="en-US" sz="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4</a:t>
            </a:r>
            <a:endParaRPr lang="en-US" sz="800" dirty="0"/>
          </a:p>
        </p:txBody>
      </p:sp>
      <p:sp>
        <p:nvSpPr>
          <p:cNvPr id="47" name="Text 45"/>
          <p:cNvSpPr/>
          <p:nvPr/>
        </p:nvSpPr>
        <p:spPr>
          <a:xfrm>
            <a:off x="7242048" y="3236976"/>
            <a:ext cx="1645920" cy="219456"/>
          </a:xfrm>
          <a:prstGeom prst="rect">
            <a:avLst/>
          </a:prstGeom>
          <a:noFill/>
        </p:spPr>
        <p:txBody>
          <a:bodyPr wrap="square" lIns="0" tIns="0" rIns="0" bIns="0" rtlCol="0" anchor="ctr"/>
          <a:lstStyle/>
          <a:p>
            <a:pPr marL="0" indent="0">
              <a:buNone/>
            </a:pPr>
            <a:r>
              <a:rPr lang="en-US" sz="9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Interpret the result</a:t>
            </a:r>
            <a:endParaRPr lang="en-US" sz="950" dirty="0"/>
          </a:p>
        </p:txBody>
      </p:sp>
      <p:sp>
        <p:nvSpPr>
          <p:cNvPr id="48" name="Text 46"/>
          <p:cNvSpPr/>
          <p:nvPr/>
        </p:nvSpPr>
        <p:spPr>
          <a:xfrm>
            <a:off x="6986016" y="3511296"/>
            <a:ext cx="1920240" cy="1133856"/>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Compare to the table: 0x00=Free, 0x02–0x0FFFFFEF=next cluster, 0x0FFFFFF8+=EOF, 0x0FFFFFF7=Bad.</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F59E0B"/>
          </a:solidFill>
          <a:ln w="12700">
            <a:solidFill>
              <a:srgbClr val="F59E0B"/>
            </a:solidFill>
            <a:prstDash val="solid"/>
          </a:ln>
        </p:spPr>
        <p:txBody>
          <a:bodyPr/>
          <a:lstStyle/>
          <a:p>
            <a:endParaRPr lang="en-SG"/>
          </a:p>
        </p:txBody>
      </p:sp>
      <p:sp>
        <p:nvSpPr>
          <p:cNvPr id="3" name="Text 1"/>
          <p:cNvSpPr/>
          <p:nvPr/>
        </p:nvSpPr>
        <p:spPr>
          <a:xfrm>
            <a:off x="256032" y="151790"/>
            <a:ext cx="8631936" cy="548640"/>
          </a:xfrm>
          <a:prstGeom prst="rect">
            <a:avLst/>
          </a:prstGeom>
          <a:noFill/>
        </p:spPr>
        <p:txBody>
          <a:bodyPr wrap="square" lIns="0" tIns="0" rIns="0" bIns="0" rtlCol="0" anchor="ctr"/>
          <a:lstStyle/>
          <a:p>
            <a:pPr marL="0" indent="0">
              <a:buNone/>
            </a:pPr>
            <a:r>
              <a:rPr lang="en-US" sz="16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FAT32 Directory Entry Structure — 32-Byte Reference</a:t>
            </a:r>
            <a:endParaRPr lang="en-US" sz="1600" dirty="0"/>
          </a:p>
        </p:txBody>
      </p:sp>
      <p:sp>
        <p:nvSpPr>
          <p:cNvPr id="4" name="Shape 2"/>
          <p:cNvSpPr/>
          <p:nvPr/>
        </p:nvSpPr>
        <p:spPr>
          <a:xfrm>
            <a:off x="256032" y="73152"/>
            <a:ext cx="1463040" cy="219456"/>
          </a:xfrm>
          <a:prstGeom prst="rect">
            <a:avLst/>
          </a:prstGeom>
          <a:solidFill>
            <a:srgbClr val="F59E0B"/>
          </a:solidFill>
          <a:ln w="12700">
            <a:solidFill>
              <a:srgbClr val="F59E0B"/>
            </a:solidFill>
            <a:prstDash val="solid"/>
          </a:ln>
        </p:spPr>
        <p:txBody>
          <a:bodyPr/>
          <a:lstStyle/>
          <a:p>
            <a:endParaRPr lang="en-SG"/>
          </a:p>
        </p:txBody>
      </p:sp>
      <p:sp>
        <p:nvSpPr>
          <p:cNvPr id="5" name="Text 3"/>
          <p:cNvSpPr/>
          <p:nvPr/>
        </p:nvSpPr>
        <p:spPr>
          <a:xfrm>
            <a:off x="256032" y="73152"/>
            <a:ext cx="1463040" cy="219456"/>
          </a:xfrm>
          <a:prstGeom prst="rect">
            <a:avLst/>
          </a:prstGeom>
          <a:noFill/>
        </p:spPr>
        <p:txBody>
          <a:bodyPr wrap="square" lIns="0" tIns="0" rIns="0" bIns="0" rtlCol="0" anchor="ctr"/>
          <a:lstStyle/>
          <a:p>
            <a:pPr marL="0" indent="0" algn="ctr">
              <a:buNone/>
            </a:pPr>
            <a:r>
              <a:rPr lang="en-US" sz="800" b="1" kern="0" spc="100"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SECTION 02 — FAT</a:t>
            </a:r>
            <a:endParaRPr lang="en-US" sz="800" dirty="0"/>
          </a:p>
        </p:txBody>
      </p:sp>
      <p:sp>
        <p:nvSpPr>
          <p:cNvPr id="10" name="Text 8"/>
          <p:cNvSpPr/>
          <p:nvPr/>
        </p:nvSpPr>
        <p:spPr>
          <a:xfrm>
            <a:off x="256032" y="822960"/>
            <a:ext cx="8631936" cy="274320"/>
          </a:xfrm>
          <a:prstGeom prst="rect">
            <a:avLst/>
          </a:prstGeom>
          <a:noFill/>
        </p:spPr>
        <p:txBody>
          <a:bodyPr wrap="square" rtlCol="0" anchor="ctr"/>
          <a:lstStyle/>
          <a:p>
            <a:pPr marL="0" indent="0">
              <a:buNone/>
            </a:pPr>
            <a:r>
              <a:rPr lang="en-US" sz="950" i="1" dirty="0">
                <a:solidFill>
                  <a:srgbClr val="475569"/>
                </a:solidFill>
                <a:latin typeface="Calibri" panose="020F0502020204030204" pitchFamily="34" charset="0"/>
                <a:ea typeface="Calibri" panose="020F0502020204030204" pitchFamily="34" charset="-122"/>
                <a:cs typeface="Calibri" panose="020F0502020204030204" pitchFamily="34" charset="-120"/>
              </a:rPr>
              <a:t>Every file and directory in FAT32 is described by a 32-byte short-name directory entry. Forensic examiners use these byte offsets to manually decode file metadata from a hex editor.</a:t>
            </a:r>
            <a:endParaRPr lang="en-US" sz="950" dirty="0"/>
          </a:p>
        </p:txBody>
      </p:sp>
      <p:graphicFrame>
        <p:nvGraphicFramePr>
          <p:cNvPr id="14" name="Table 0"/>
          <p:cNvGraphicFramePr>
            <a:graphicFrameLocks noGrp="1"/>
          </p:cNvGraphicFramePr>
          <p:nvPr/>
        </p:nvGraphicFramePr>
        <p:xfrm>
          <a:off x="256032" y="1133856"/>
          <a:ext cx="8631936" cy="3773424"/>
        </p:xfrm>
        <a:graphic>
          <a:graphicData uri="http://schemas.openxmlformats.org/drawingml/2006/table">
            <a:tbl>
              <a:tblPr/>
              <a:tblGrid>
                <a:gridCol w="1572768"/>
                <a:gridCol w="640080"/>
                <a:gridCol w="1389888"/>
                <a:gridCol w="5029200"/>
              </a:tblGrid>
              <a:tr h="256032">
                <a:tc>
                  <a:txBody>
                    <a:bodyPr/>
                    <a:lstStyle/>
                    <a:p>
                      <a:pPr marL="0" indent="0">
                        <a:buNone/>
                      </a:pPr>
                      <a:r>
                        <a:rPr lang="en-US" sz="850" b="1" dirty="0">
                          <a:solidFill>
                            <a:srgbClr val="FFFFFF"/>
                          </a:solidFill>
                          <a:latin typeface="Calibri" panose="020F0502020204030204" pitchFamily="34" charset="0"/>
                          <a:ea typeface="Calibri" panose="020F0502020204030204" pitchFamily="34" charset="-122"/>
                          <a:cs typeface="Calibri" panose="020F0502020204030204" pitchFamily="34" charset="-120"/>
                        </a:rPr>
                        <a:t>Offset (Hex)</a:t>
                      </a:r>
                      <a:endParaRPr lang="en-US" sz="8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solidFill>
                      <a:srgbClr val="F59E0B"/>
                    </a:solidFill>
                  </a:tcPr>
                </a:tc>
                <a:tc>
                  <a:txBody>
                    <a:bodyPr/>
                    <a:lstStyle/>
                    <a:p>
                      <a:pPr marL="0" indent="0">
                        <a:buNone/>
                      </a:pPr>
                      <a:r>
                        <a:rPr lang="en-US" sz="850" b="1" dirty="0">
                          <a:solidFill>
                            <a:srgbClr val="FFFFFF"/>
                          </a:solidFill>
                          <a:latin typeface="Calibri" panose="020F0502020204030204" pitchFamily="34" charset="0"/>
                          <a:ea typeface="Calibri" panose="020F0502020204030204" pitchFamily="34" charset="-122"/>
                          <a:cs typeface="Calibri" panose="020F0502020204030204" pitchFamily="34" charset="-120"/>
                        </a:rPr>
                        <a:t>Byte Range</a:t>
                      </a:r>
                      <a:endParaRPr lang="en-US" sz="8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solidFill>
                      <a:srgbClr val="F59E0B"/>
                    </a:solidFill>
                  </a:tcPr>
                </a:tc>
                <a:tc>
                  <a:txBody>
                    <a:bodyPr/>
                    <a:lstStyle/>
                    <a:p>
                      <a:pPr marL="0" indent="0">
                        <a:buNone/>
                      </a:pPr>
                      <a:r>
                        <a:rPr lang="en-US" sz="850" b="1" dirty="0">
                          <a:solidFill>
                            <a:srgbClr val="FFFFFF"/>
                          </a:solidFill>
                          <a:latin typeface="Calibri" panose="020F0502020204030204" pitchFamily="34" charset="0"/>
                          <a:ea typeface="Calibri" panose="020F0502020204030204" pitchFamily="34" charset="-122"/>
                          <a:cs typeface="Calibri" panose="020F0502020204030204" pitchFamily="34" charset="-120"/>
                        </a:rPr>
                        <a:t>Field Name</a:t>
                      </a:r>
                      <a:endParaRPr lang="en-US" sz="8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solidFill>
                      <a:srgbClr val="F59E0B"/>
                    </a:solidFill>
                  </a:tcPr>
                </a:tc>
                <a:tc>
                  <a:txBody>
                    <a:bodyPr/>
                    <a:lstStyle/>
                    <a:p>
                      <a:pPr marL="0" indent="0">
                        <a:buNone/>
                      </a:pPr>
                      <a:r>
                        <a:rPr lang="en-US" sz="850" b="1" dirty="0">
                          <a:solidFill>
                            <a:srgbClr val="FFFFFF"/>
                          </a:solidFill>
                          <a:latin typeface="Calibri" panose="020F0502020204030204" pitchFamily="34" charset="0"/>
                          <a:ea typeface="Calibri" panose="020F0502020204030204" pitchFamily="34" charset="-122"/>
                          <a:cs typeface="Calibri" panose="020F0502020204030204" pitchFamily="34" charset="-120"/>
                        </a:rPr>
                        <a:t>Description</a:t>
                      </a:r>
                      <a:endParaRPr lang="en-US" sz="8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solidFill>
                      <a:srgbClr val="F59E0B"/>
                    </a:solidFill>
                  </a:tcPr>
                </a:tc>
              </a:tr>
              <a:tr h="256032">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0x00–0x07</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0-7</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err="1">
                          <a:solidFill>
                            <a:schemeClr val="tx1">
                              <a:lumMod val="95000"/>
                              <a:lumOff val="5000"/>
                            </a:schemeClr>
                          </a:solidFill>
                          <a:latin typeface="Calibri" panose="020F0502020204030204"/>
                          <a:ea typeface="Calibri" panose="020F0502020204030204"/>
                          <a:cs typeface="Calibri" panose="020F0502020204030204"/>
                        </a:rPr>
                        <a:t>DIR_Name</a:t>
                      </a:r>
                      <a:endParaRPr lang="en-US" sz="850" err="1">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Short filename (8 chars). 0xE5 = deleted; 0x00 = end of directory; 0x05 → real first char is 0xE5.</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256032">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0x08–0x0A</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8-10</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err="1">
                          <a:solidFill>
                            <a:schemeClr val="tx1">
                              <a:lumMod val="95000"/>
                              <a:lumOff val="5000"/>
                            </a:schemeClr>
                          </a:solidFill>
                          <a:latin typeface="Calibri" panose="020F0502020204030204"/>
                          <a:ea typeface="Calibri" panose="020F0502020204030204"/>
                          <a:cs typeface="Calibri" panose="020F0502020204030204"/>
                        </a:rPr>
                        <a:t>DIR_Ext</a:t>
                      </a:r>
                      <a:endParaRPr lang="en-US" sz="850" err="1">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File extension (3 chars). Space-padded. E.g. 'JPG', 'RTF', 'EXE'.</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256032">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0x0B</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11</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err="1">
                          <a:solidFill>
                            <a:schemeClr val="tx1">
                              <a:lumMod val="95000"/>
                              <a:lumOff val="5000"/>
                            </a:schemeClr>
                          </a:solidFill>
                          <a:latin typeface="Calibri" panose="020F0502020204030204"/>
                          <a:ea typeface="Calibri" panose="020F0502020204030204"/>
                          <a:cs typeface="Calibri" panose="020F0502020204030204"/>
                        </a:rPr>
                        <a:t>DIR_Attr</a:t>
                      </a:r>
                      <a:endParaRPr lang="en-US" sz="850" err="1">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Attributes: 0x01=</a:t>
                      </a:r>
                      <a:r>
                        <a:rPr lang="en-US" sz="850" dirty="0" err="1">
                          <a:solidFill>
                            <a:schemeClr val="tx1">
                              <a:lumMod val="95000"/>
                              <a:lumOff val="5000"/>
                            </a:schemeClr>
                          </a:solidFill>
                          <a:latin typeface="Calibri" panose="020F0502020204030204"/>
                          <a:ea typeface="Calibri" panose="020F0502020204030204"/>
                          <a:cs typeface="Calibri" panose="020F0502020204030204"/>
                        </a:rPr>
                        <a:t>ReadOnly</a:t>
                      </a:r>
                      <a:r>
                        <a:rPr lang="en-US" sz="850" dirty="0">
                          <a:solidFill>
                            <a:schemeClr val="tx1">
                              <a:lumMod val="95000"/>
                              <a:lumOff val="5000"/>
                            </a:schemeClr>
                          </a:solidFill>
                          <a:latin typeface="Calibri" panose="020F0502020204030204"/>
                          <a:ea typeface="Calibri" panose="020F0502020204030204"/>
                          <a:cs typeface="Calibri" panose="020F0502020204030204"/>
                        </a:rPr>
                        <a:t>, 0x02=Hidden, 0x04=System, 0x08=</a:t>
                      </a:r>
                      <a:r>
                        <a:rPr lang="en-US" sz="850" dirty="0" err="1">
                          <a:solidFill>
                            <a:schemeClr val="tx1">
                              <a:lumMod val="95000"/>
                              <a:lumOff val="5000"/>
                            </a:schemeClr>
                          </a:solidFill>
                          <a:latin typeface="Calibri" panose="020F0502020204030204"/>
                          <a:ea typeface="Calibri" panose="020F0502020204030204"/>
                          <a:cs typeface="Calibri" panose="020F0502020204030204"/>
                        </a:rPr>
                        <a:t>VolumeLabel</a:t>
                      </a:r>
                      <a:r>
                        <a:rPr lang="en-US" sz="850" dirty="0">
                          <a:solidFill>
                            <a:schemeClr val="tx1">
                              <a:lumMod val="95000"/>
                              <a:lumOff val="5000"/>
                            </a:schemeClr>
                          </a:solidFill>
                          <a:latin typeface="Calibri" panose="020F0502020204030204"/>
                          <a:ea typeface="Calibri" panose="020F0502020204030204"/>
                          <a:cs typeface="Calibri" panose="020F0502020204030204"/>
                        </a:rPr>
                        <a:t>, 0x10=Directory, 0x20=Archive, 0x0F=LFN entry.</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256032">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0x0C</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12</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err="1">
                          <a:solidFill>
                            <a:schemeClr val="tx1">
                              <a:lumMod val="95000"/>
                              <a:lumOff val="5000"/>
                            </a:schemeClr>
                          </a:solidFill>
                          <a:latin typeface="Calibri" panose="020F0502020204030204"/>
                          <a:ea typeface="Calibri" panose="020F0502020204030204"/>
                          <a:cs typeface="Calibri" panose="020F0502020204030204"/>
                        </a:rPr>
                        <a:t>DIR_NTRes</a:t>
                      </a:r>
                      <a:endParaRPr lang="en-US" sz="850" err="1">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Reserved for Windows NT. Should be 0x00.</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256032">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0x0D</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13</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err="1">
                          <a:solidFill>
                            <a:schemeClr val="tx1">
                              <a:lumMod val="95000"/>
                              <a:lumOff val="5000"/>
                            </a:schemeClr>
                          </a:solidFill>
                          <a:latin typeface="Calibri" panose="020F0502020204030204"/>
                          <a:ea typeface="Calibri" panose="020F0502020204030204"/>
                          <a:cs typeface="Calibri" panose="020F0502020204030204"/>
                        </a:rPr>
                        <a:t>DIR_CrtTimeTenth</a:t>
                      </a:r>
                      <a:endParaRPr lang="en-US" sz="850" err="1">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Creation time in 10ms units (0–199). Adds sub-second precision to creation time.</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256032">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0x0E–0x0F</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14-15</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err="1">
                          <a:solidFill>
                            <a:schemeClr val="tx1">
                              <a:lumMod val="95000"/>
                              <a:lumOff val="5000"/>
                            </a:schemeClr>
                          </a:solidFill>
                          <a:latin typeface="Calibri" panose="020F0502020204030204"/>
                          <a:ea typeface="Calibri" panose="020F0502020204030204"/>
                          <a:cs typeface="Calibri" panose="020F0502020204030204"/>
                        </a:rPr>
                        <a:t>DIR_CrtTime</a:t>
                      </a:r>
                      <a:endParaRPr lang="en-US" sz="850" err="1">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Creation time. Bits [15:11]=hour, [10:5]=minute, [4:0]=second÷2.</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256032">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0x10–0x11</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16-17</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err="1">
                          <a:solidFill>
                            <a:schemeClr val="tx1">
                              <a:lumMod val="95000"/>
                              <a:lumOff val="5000"/>
                            </a:schemeClr>
                          </a:solidFill>
                          <a:latin typeface="Calibri" panose="020F0502020204030204"/>
                          <a:ea typeface="Calibri" panose="020F0502020204030204"/>
                          <a:cs typeface="Calibri" panose="020F0502020204030204"/>
                        </a:rPr>
                        <a:t>DIR_CrtDate</a:t>
                      </a:r>
                      <a:endParaRPr lang="en-US" sz="850" err="1">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Creation date. Bits [15:9]=year+1980, [8:5]=month, [4:0]=day.</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256032">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0x12–0x13</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18-19</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err="1">
                          <a:solidFill>
                            <a:schemeClr val="tx1">
                              <a:lumMod val="95000"/>
                              <a:lumOff val="5000"/>
                            </a:schemeClr>
                          </a:solidFill>
                          <a:latin typeface="Calibri" panose="020F0502020204030204"/>
                          <a:ea typeface="Calibri" panose="020F0502020204030204"/>
                          <a:cs typeface="Calibri" panose="020F0502020204030204"/>
                        </a:rPr>
                        <a:t>DIR_LstAccDate</a:t>
                      </a:r>
                      <a:endParaRPr lang="en-US" sz="850" err="1">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Last accessed date only (no time). Same bit format as </a:t>
                      </a:r>
                      <a:r>
                        <a:rPr lang="en-US" sz="850" dirty="0" err="1">
                          <a:solidFill>
                            <a:schemeClr val="tx1">
                              <a:lumMod val="95000"/>
                              <a:lumOff val="5000"/>
                            </a:schemeClr>
                          </a:solidFill>
                          <a:latin typeface="Calibri" panose="020F0502020204030204"/>
                          <a:ea typeface="Calibri" panose="020F0502020204030204"/>
                          <a:cs typeface="Calibri" panose="020F0502020204030204"/>
                        </a:rPr>
                        <a:t>CrtDate</a:t>
                      </a:r>
                      <a:r>
                        <a:rPr lang="en-US" sz="850" dirty="0">
                          <a:solidFill>
                            <a:schemeClr val="tx1">
                              <a:lumMod val="95000"/>
                              <a:lumOff val="5000"/>
                            </a:schemeClr>
                          </a:solidFill>
                          <a:latin typeface="Calibri" panose="020F0502020204030204"/>
                          <a:ea typeface="Calibri" panose="020F0502020204030204"/>
                          <a:cs typeface="Calibri" panose="020F0502020204030204"/>
                        </a:rPr>
                        <a:t>.</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256032">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0x14–0x15</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20-21</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err="1">
                          <a:solidFill>
                            <a:schemeClr val="tx1">
                              <a:lumMod val="95000"/>
                              <a:lumOff val="5000"/>
                            </a:schemeClr>
                          </a:solidFill>
                          <a:latin typeface="Calibri" panose="020F0502020204030204"/>
                          <a:ea typeface="Calibri" panose="020F0502020204030204"/>
                          <a:cs typeface="Calibri" panose="020F0502020204030204"/>
                        </a:rPr>
                        <a:t>DIR_FstClusHI</a:t>
                      </a:r>
                      <a:endParaRPr lang="en-US" sz="850" err="1">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High 16 bits of the starting cluster number (FAT32 only). Zero in FAT16.</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256032">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0x16–0x17</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22-23</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err="1">
                          <a:solidFill>
                            <a:schemeClr val="tx1">
                              <a:lumMod val="95000"/>
                              <a:lumOff val="5000"/>
                            </a:schemeClr>
                          </a:solidFill>
                          <a:latin typeface="Calibri" panose="020F0502020204030204"/>
                          <a:ea typeface="Calibri" panose="020F0502020204030204"/>
                          <a:cs typeface="Calibri" panose="020F0502020204030204"/>
                        </a:rPr>
                        <a:t>DIR_WrtTime</a:t>
                      </a:r>
                      <a:endParaRPr lang="en-US" sz="850" err="1">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Last modified time. Same bit format as </a:t>
                      </a:r>
                      <a:r>
                        <a:rPr lang="en-US" sz="850" dirty="0" err="1">
                          <a:solidFill>
                            <a:schemeClr val="tx1">
                              <a:lumMod val="95000"/>
                              <a:lumOff val="5000"/>
                            </a:schemeClr>
                          </a:solidFill>
                          <a:latin typeface="Calibri" panose="020F0502020204030204"/>
                          <a:ea typeface="Calibri" panose="020F0502020204030204"/>
                          <a:cs typeface="Calibri" panose="020F0502020204030204"/>
                        </a:rPr>
                        <a:t>CrtTime</a:t>
                      </a:r>
                      <a:r>
                        <a:rPr lang="en-US" sz="850" dirty="0">
                          <a:solidFill>
                            <a:schemeClr val="tx1">
                              <a:lumMod val="95000"/>
                              <a:lumOff val="5000"/>
                            </a:schemeClr>
                          </a:solidFill>
                          <a:latin typeface="Calibri" panose="020F0502020204030204"/>
                          <a:ea typeface="Calibri" panose="020F0502020204030204"/>
                          <a:cs typeface="Calibri" panose="020F0502020204030204"/>
                        </a:rPr>
                        <a:t>.</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256032">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0x18–0x19</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24-25</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err="1">
                          <a:solidFill>
                            <a:schemeClr val="tx1">
                              <a:lumMod val="95000"/>
                              <a:lumOff val="5000"/>
                            </a:schemeClr>
                          </a:solidFill>
                          <a:latin typeface="Calibri" panose="020F0502020204030204"/>
                          <a:ea typeface="Calibri" panose="020F0502020204030204"/>
                          <a:cs typeface="Calibri" panose="020F0502020204030204"/>
                        </a:rPr>
                        <a:t>DIR_WrtDate</a:t>
                      </a:r>
                      <a:endParaRPr lang="en-US" sz="850" err="1">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Last modified date. Same bit format as </a:t>
                      </a:r>
                      <a:r>
                        <a:rPr lang="en-US" sz="850" dirty="0" err="1">
                          <a:solidFill>
                            <a:schemeClr val="tx1">
                              <a:lumMod val="95000"/>
                              <a:lumOff val="5000"/>
                            </a:schemeClr>
                          </a:solidFill>
                          <a:latin typeface="Calibri" panose="020F0502020204030204"/>
                          <a:ea typeface="Calibri" panose="020F0502020204030204"/>
                          <a:cs typeface="Calibri" panose="020F0502020204030204"/>
                        </a:rPr>
                        <a:t>CrtDate</a:t>
                      </a:r>
                      <a:r>
                        <a:rPr lang="en-US" sz="850" dirty="0">
                          <a:solidFill>
                            <a:schemeClr val="tx1">
                              <a:lumMod val="95000"/>
                              <a:lumOff val="5000"/>
                            </a:schemeClr>
                          </a:solidFill>
                          <a:latin typeface="Calibri" panose="020F0502020204030204"/>
                          <a:ea typeface="Calibri" panose="020F0502020204030204"/>
                          <a:cs typeface="Calibri" panose="020F0502020204030204"/>
                        </a:rPr>
                        <a:t>.</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256032">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0x1A–0x1B</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26-27</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err="1">
                          <a:solidFill>
                            <a:schemeClr val="tx1">
                              <a:lumMod val="95000"/>
                              <a:lumOff val="5000"/>
                            </a:schemeClr>
                          </a:solidFill>
                          <a:latin typeface="Calibri" panose="020F0502020204030204"/>
                          <a:ea typeface="Calibri" panose="020F0502020204030204"/>
                          <a:cs typeface="Calibri" panose="020F0502020204030204"/>
                        </a:rPr>
                        <a:t>DIR_FstClusLO</a:t>
                      </a:r>
                      <a:endParaRPr lang="en-US" sz="850" err="1">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Low 16 bits of starting cluster. Combine with </a:t>
                      </a:r>
                      <a:r>
                        <a:rPr lang="en-US" sz="850" dirty="0" err="1">
                          <a:solidFill>
                            <a:schemeClr val="tx1">
                              <a:lumMod val="95000"/>
                              <a:lumOff val="5000"/>
                            </a:schemeClr>
                          </a:solidFill>
                          <a:latin typeface="Calibri" panose="020F0502020204030204"/>
                          <a:ea typeface="Calibri" panose="020F0502020204030204"/>
                          <a:cs typeface="Calibri" panose="020F0502020204030204"/>
                        </a:rPr>
                        <a:t>FstClusHI</a:t>
                      </a:r>
                      <a:r>
                        <a:rPr lang="en-US" sz="850" dirty="0">
                          <a:solidFill>
                            <a:schemeClr val="tx1">
                              <a:lumMod val="95000"/>
                              <a:lumOff val="5000"/>
                            </a:schemeClr>
                          </a:solidFill>
                          <a:latin typeface="Calibri" panose="020F0502020204030204"/>
                          <a:ea typeface="Calibri" panose="020F0502020204030204"/>
                          <a:cs typeface="Calibri" panose="020F0502020204030204"/>
                        </a:rPr>
                        <a:t> for full FAT32 cluster address.</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256032">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0x1C–0x1F</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28-31</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err="1">
                          <a:solidFill>
                            <a:schemeClr val="tx1">
                              <a:lumMod val="95000"/>
                              <a:lumOff val="5000"/>
                            </a:schemeClr>
                          </a:solidFill>
                          <a:latin typeface="Calibri" panose="020F0502020204030204"/>
                          <a:ea typeface="Calibri" panose="020F0502020204030204"/>
                          <a:cs typeface="Calibri" panose="020F0502020204030204"/>
                        </a:rPr>
                        <a:t>DIR_FileSize</a:t>
                      </a:r>
                      <a:endParaRPr lang="en-US" sz="850" err="1">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File size in bytes (32-bit LE). Directories = 0; use cluster chain to determine actual directory size.</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bl>
          </a:graphicData>
        </a:graphic>
      </p:graphicFrame>
      <p:sp>
        <p:nvSpPr>
          <p:cNvPr id="12" name="Text 9"/>
          <p:cNvSpPr/>
          <p:nvPr/>
        </p:nvSpPr>
        <p:spPr>
          <a:xfrm>
            <a:off x="256032" y="4936143"/>
            <a:ext cx="8631936" cy="146304"/>
          </a:xfrm>
          <a:prstGeom prst="rect">
            <a:avLst/>
          </a:prstGeom>
          <a:noFill/>
        </p:spPr>
        <p:txBody>
          <a:bodyPr wrap="square" rtlCol="0" anchor="ctr"/>
          <a:lstStyle/>
          <a:p>
            <a:pPr marL="0" indent="0">
              <a:buNone/>
            </a:pPr>
            <a:r>
              <a:rPr lang="en-US" sz="750" i="1" dirty="0">
                <a:solidFill>
                  <a:srgbClr val="475569"/>
                </a:solidFill>
                <a:latin typeface="Calibri" panose="020F0502020204030204" pitchFamily="34" charset="0"/>
                <a:ea typeface="Calibri" panose="020F0502020204030204" pitchFamily="34" charset="-122"/>
                <a:cs typeface="Calibri" panose="020F0502020204030204" pitchFamily="34" charset="-120"/>
              </a:rPr>
              <a:t>Source: Microsoft FAT32 Specification / elm-chan.org · All values little-endian.</a:t>
            </a:r>
            <a:endParaRPr lang="en-US" sz="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F59E0B"/>
          </a:solidFill>
          <a:ln w="12700">
            <a:solidFill>
              <a:srgbClr val="F59E0B"/>
            </a:solidFill>
            <a:prstDash val="solid"/>
          </a:ln>
        </p:spPr>
        <p:txBody>
          <a:bodyPr/>
          <a:lstStyle/>
          <a:p>
            <a:endParaRPr lang="en-SG"/>
          </a:p>
        </p:txBody>
      </p:sp>
      <p:sp>
        <p:nvSpPr>
          <p:cNvPr id="3" name="Text 1"/>
          <p:cNvSpPr/>
          <p:nvPr/>
        </p:nvSpPr>
        <p:spPr>
          <a:xfrm>
            <a:off x="256032" y="151790"/>
            <a:ext cx="8631936" cy="548640"/>
          </a:xfrm>
          <a:prstGeom prst="rect">
            <a:avLst/>
          </a:prstGeom>
          <a:noFill/>
        </p:spPr>
        <p:txBody>
          <a:bodyPr wrap="square" lIns="0" tIns="0" rIns="0" bIns="0" rtlCol="0" anchor="ctr"/>
          <a:lstStyle/>
          <a:p>
            <a:pPr marL="0" indent="0">
              <a:buNone/>
            </a:pPr>
            <a:r>
              <a:rPr lang="en-US" sz="16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FAT32 Directory Entry – Determine Timestamps</a:t>
            </a:r>
            <a:endParaRPr lang="en-US" sz="1600" dirty="0"/>
          </a:p>
        </p:txBody>
      </p:sp>
      <p:sp>
        <p:nvSpPr>
          <p:cNvPr id="4" name="Shape 2"/>
          <p:cNvSpPr/>
          <p:nvPr/>
        </p:nvSpPr>
        <p:spPr>
          <a:xfrm>
            <a:off x="256032" y="73152"/>
            <a:ext cx="1463040" cy="219456"/>
          </a:xfrm>
          <a:prstGeom prst="rect">
            <a:avLst/>
          </a:prstGeom>
          <a:solidFill>
            <a:srgbClr val="F59E0B"/>
          </a:solidFill>
          <a:ln w="12700">
            <a:solidFill>
              <a:srgbClr val="F59E0B"/>
            </a:solidFill>
            <a:prstDash val="solid"/>
          </a:ln>
        </p:spPr>
        <p:txBody>
          <a:bodyPr/>
          <a:lstStyle/>
          <a:p>
            <a:endParaRPr lang="en-SG"/>
          </a:p>
        </p:txBody>
      </p:sp>
      <p:sp>
        <p:nvSpPr>
          <p:cNvPr id="5" name="Text 3"/>
          <p:cNvSpPr/>
          <p:nvPr/>
        </p:nvSpPr>
        <p:spPr>
          <a:xfrm>
            <a:off x="256032" y="73152"/>
            <a:ext cx="1463040" cy="219456"/>
          </a:xfrm>
          <a:prstGeom prst="rect">
            <a:avLst/>
          </a:prstGeom>
          <a:noFill/>
        </p:spPr>
        <p:txBody>
          <a:bodyPr wrap="square" lIns="0" tIns="0" rIns="0" bIns="0" rtlCol="0" anchor="ctr"/>
          <a:lstStyle/>
          <a:p>
            <a:pPr marL="0" indent="0" algn="ctr">
              <a:buNone/>
            </a:pPr>
            <a:r>
              <a:rPr lang="en-US" sz="800" b="1" kern="0" spc="100"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SECTION 02 — FAT</a:t>
            </a:r>
            <a:endParaRPr lang="en-US" sz="800" dirty="0"/>
          </a:p>
        </p:txBody>
      </p:sp>
      <p:grpSp>
        <p:nvGrpSpPr>
          <p:cNvPr id="6" name="Group 5"/>
          <p:cNvGrpSpPr/>
          <p:nvPr/>
        </p:nvGrpSpPr>
        <p:grpSpPr>
          <a:xfrm>
            <a:off x="432000" y="968565"/>
            <a:ext cx="8280000" cy="943040"/>
            <a:chOff x="432000" y="5233574"/>
            <a:chExt cx="8280000" cy="943040"/>
          </a:xfrm>
        </p:grpSpPr>
        <p:sp>
          <p:nvSpPr>
            <p:cNvPr id="7" name="Rectangle 6"/>
            <p:cNvSpPr/>
            <p:nvPr/>
          </p:nvSpPr>
          <p:spPr>
            <a:xfrm>
              <a:off x="432000" y="5591839"/>
              <a:ext cx="8280000" cy="584775"/>
            </a:xfrm>
            <a:prstGeom prst="rect">
              <a:avLst/>
            </a:prstGeom>
          </p:spPr>
          <p:txBody>
            <a:bodyPr wrap="square">
              <a:spAutoFit/>
            </a:bodyPr>
            <a:lstStyle/>
            <a:p>
              <a:r>
                <a:rPr lang="en-SG" sz="1600" dirty="0">
                  <a:solidFill>
                    <a:schemeClr val="tx1">
                      <a:lumMod val="95000"/>
                      <a:lumOff val="5000"/>
                    </a:schemeClr>
                  </a:solidFill>
                  <a:latin typeface="Courier New" panose="02070309020205020404" pitchFamily="49" charset="0"/>
                  <a:cs typeface="Courier New" panose="02070309020205020404" pitchFamily="49" charset="0"/>
                </a:rPr>
                <a:t>0000000: </a:t>
              </a:r>
              <a:r>
                <a:rPr lang="en-SG" sz="1600" u="sng" dirty="0">
                  <a:solidFill>
                    <a:schemeClr val="tx1">
                      <a:lumMod val="95000"/>
                      <a:lumOff val="5000"/>
                    </a:schemeClr>
                  </a:solidFill>
                  <a:latin typeface="Courier New" panose="02070309020205020404" pitchFamily="49" charset="0"/>
                  <a:cs typeface="Courier New" panose="02070309020205020404" pitchFamily="49" charset="0"/>
                </a:rPr>
                <a:t>5052 494d 4152 7e31 5458 54</a:t>
              </a:r>
              <a:r>
                <a:rPr lang="en-SG" sz="1600" dirty="0">
                  <a:solidFill>
                    <a:schemeClr val="tx1">
                      <a:lumMod val="95000"/>
                      <a:lumOff val="5000"/>
                    </a:schemeClr>
                  </a:solidFill>
                  <a:latin typeface="Courier New" panose="02070309020205020404" pitchFamily="49" charset="0"/>
                  <a:cs typeface="Courier New" panose="02070309020205020404" pitchFamily="49" charset="0"/>
                </a:rPr>
                <a:t>20 00</a:t>
              </a:r>
              <a:r>
                <a:rPr lang="en-SG" sz="1600" u="sng" dirty="0">
                  <a:solidFill>
                    <a:schemeClr val="tx1">
                      <a:lumMod val="95000"/>
                      <a:lumOff val="5000"/>
                    </a:schemeClr>
                  </a:solidFill>
                  <a:latin typeface="Courier New" panose="02070309020205020404" pitchFamily="49" charset="0"/>
                  <a:cs typeface="Courier New" panose="02070309020205020404" pitchFamily="49" charset="0"/>
                </a:rPr>
                <a:t>00</a:t>
              </a:r>
              <a:r>
                <a:rPr lang="en-SG" sz="1600" dirty="0">
                  <a:solidFill>
                    <a:schemeClr val="tx1">
                      <a:lumMod val="95000"/>
                      <a:lumOff val="5000"/>
                    </a:schemeClr>
                  </a:solidFill>
                  <a:latin typeface="Courier New" panose="02070309020205020404" pitchFamily="49" charset="0"/>
                  <a:cs typeface="Courier New" panose="02070309020205020404" pitchFamily="49" charset="0"/>
                </a:rPr>
                <a:t> </a:t>
              </a:r>
              <a:r>
                <a:rPr lang="en-SG" sz="1600" b="1" u="sng" dirty="0">
                  <a:solidFill>
                    <a:schemeClr val="tx1">
                      <a:lumMod val="95000"/>
                      <a:lumOff val="5000"/>
                    </a:schemeClr>
                  </a:solidFill>
                  <a:latin typeface="Courier New" panose="02070309020205020404" pitchFamily="49" charset="0"/>
                  <a:cs typeface="Courier New" panose="02070309020205020404" pitchFamily="49" charset="0"/>
                </a:rPr>
                <a:t>0978</a:t>
              </a:r>
              <a:r>
                <a:rPr lang="en-SG" sz="1600" dirty="0">
                  <a:solidFill>
                    <a:schemeClr val="tx1">
                      <a:lumMod val="95000"/>
                      <a:lumOff val="5000"/>
                    </a:schemeClr>
                  </a:solidFill>
                  <a:latin typeface="Courier New" panose="02070309020205020404" pitchFamily="49" charset="0"/>
                  <a:cs typeface="Courier New" panose="02070309020205020404" pitchFamily="49" charset="0"/>
                </a:rPr>
                <a:t>  PRIMAR~1TXT ...x</a:t>
              </a:r>
              <a:endParaRPr lang="en-SG" sz="1600" dirty="0">
                <a:solidFill>
                  <a:schemeClr val="tx1">
                    <a:lumMod val="95000"/>
                    <a:lumOff val="5000"/>
                  </a:schemeClr>
                </a:solidFill>
                <a:latin typeface="Courier New" panose="02070309020205020404" pitchFamily="49" charset="0"/>
                <a:cs typeface="Courier New" panose="02070309020205020404" pitchFamily="49" charset="0"/>
              </a:endParaRPr>
            </a:p>
            <a:p>
              <a:r>
                <a:rPr lang="en-SG" sz="1600" dirty="0">
                  <a:solidFill>
                    <a:schemeClr val="tx1">
                      <a:lumMod val="95000"/>
                      <a:lumOff val="5000"/>
                    </a:schemeClr>
                  </a:solidFill>
                  <a:latin typeface="Courier New" panose="02070309020205020404" pitchFamily="49" charset="0"/>
                  <a:cs typeface="Courier New" panose="02070309020205020404" pitchFamily="49" charset="0"/>
                </a:rPr>
                <a:t>0000010: </a:t>
              </a:r>
              <a:r>
                <a:rPr lang="en-SG" sz="1600" b="1" u="sng" dirty="0">
                  <a:solidFill>
                    <a:schemeClr val="tx1">
                      <a:lumMod val="95000"/>
                      <a:lumOff val="5000"/>
                    </a:schemeClr>
                  </a:solidFill>
                  <a:latin typeface="Courier New" panose="02070309020205020404" pitchFamily="49" charset="0"/>
                  <a:cs typeface="Courier New" panose="02070309020205020404" pitchFamily="49" charset="0"/>
                </a:rPr>
                <a:t>f82e</a:t>
              </a:r>
              <a:r>
                <a:rPr lang="en-SG" sz="1600" dirty="0">
                  <a:solidFill>
                    <a:schemeClr val="tx1">
                      <a:lumMod val="95000"/>
                      <a:lumOff val="5000"/>
                    </a:schemeClr>
                  </a:solidFill>
                  <a:latin typeface="Courier New" panose="02070309020205020404" pitchFamily="49" charset="0"/>
                  <a:cs typeface="Courier New" panose="02070309020205020404" pitchFamily="49" charset="0"/>
                </a:rPr>
                <a:t> </a:t>
              </a:r>
              <a:r>
                <a:rPr lang="en-SG" sz="1600" b="1" u="sng" dirty="0" err="1">
                  <a:solidFill>
                    <a:schemeClr val="tx1">
                      <a:lumMod val="95000"/>
                      <a:lumOff val="5000"/>
                    </a:schemeClr>
                  </a:solidFill>
                  <a:latin typeface="Courier New" panose="02070309020205020404" pitchFamily="49" charset="0"/>
                  <a:cs typeface="Courier New" panose="02070309020205020404" pitchFamily="49" charset="0"/>
                </a:rPr>
                <a:t>f82e</a:t>
              </a:r>
              <a:r>
                <a:rPr lang="en-SG" sz="1600" dirty="0">
                  <a:solidFill>
                    <a:schemeClr val="tx1">
                      <a:lumMod val="95000"/>
                      <a:lumOff val="5000"/>
                    </a:schemeClr>
                  </a:solidFill>
                  <a:latin typeface="Courier New" panose="02070309020205020404" pitchFamily="49" charset="0"/>
                  <a:cs typeface="Courier New" panose="02070309020205020404" pitchFamily="49" charset="0"/>
                </a:rPr>
                <a:t> </a:t>
              </a:r>
              <a:r>
                <a:rPr lang="en-SG" sz="1600" i="1" dirty="0">
                  <a:solidFill>
                    <a:schemeClr val="tx1">
                      <a:lumMod val="95000"/>
                      <a:lumOff val="5000"/>
                    </a:schemeClr>
                  </a:solidFill>
                  <a:latin typeface="Courier New" panose="02070309020205020404" pitchFamily="49" charset="0"/>
                  <a:cs typeface="Courier New" panose="02070309020205020404" pitchFamily="49" charset="0"/>
                </a:rPr>
                <a:t>0000</a:t>
              </a:r>
              <a:r>
                <a:rPr lang="en-SG" sz="1600" dirty="0">
                  <a:solidFill>
                    <a:schemeClr val="tx1">
                      <a:lumMod val="95000"/>
                      <a:lumOff val="5000"/>
                    </a:schemeClr>
                  </a:solidFill>
                  <a:latin typeface="Courier New" panose="02070309020205020404" pitchFamily="49" charset="0"/>
                  <a:cs typeface="Courier New" panose="02070309020205020404" pitchFamily="49" charset="0"/>
                </a:rPr>
                <a:t> </a:t>
              </a:r>
              <a:r>
                <a:rPr lang="en-SG" sz="1600" b="1" u="sng" dirty="0">
                  <a:solidFill>
                    <a:schemeClr val="tx1">
                      <a:lumMod val="95000"/>
                      <a:lumOff val="5000"/>
                    </a:schemeClr>
                  </a:solidFill>
                  <a:latin typeface="Courier New" panose="02070309020205020404" pitchFamily="49" charset="0"/>
                  <a:cs typeface="Courier New" panose="02070309020205020404" pitchFamily="49" charset="0"/>
                </a:rPr>
                <a:t>0978</a:t>
              </a:r>
              <a:r>
                <a:rPr lang="en-SG" sz="1600" u="sng" dirty="0">
                  <a:solidFill>
                    <a:schemeClr val="tx1">
                      <a:lumMod val="95000"/>
                      <a:lumOff val="5000"/>
                    </a:schemeClr>
                  </a:solidFill>
                  <a:latin typeface="Courier New" panose="02070309020205020404" pitchFamily="49" charset="0"/>
                  <a:cs typeface="Courier New" panose="02070309020205020404" pitchFamily="49" charset="0"/>
                </a:rPr>
                <a:t> </a:t>
              </a:r>
              <a:r>
                <a:rPr lang="en-SG" sz="1600" b="1" u="sng" dirty="0">
                  <a:solidFill>
                    <a:schemeClr val="tx1">
                      <a:lumMod val="95000"/>
                      <a:lumOff val="5000"/>
                    </a:schemeClr>
                  </a:solidFill>
                  <a:latin typeface="Courier New" panose="02070309020205020404" pitchFamily="49" charset="0"/>
                  <a:cs typeface="Courier New" panose="02070309020205020404" pitchFamily="49" charset="0"/>
                </a:rPr>
                <a:t>f82e</a:t>
              </a:r>
              <a:r>
                <a:rPr lang="en-SG" sz="1600" dirty="0">
                  <a:solidFill>
                    <a:schemeClr val="tx1">
                      <a:lumMod val="95000"/>
                      <a:lumOff val="5000"/>
                    </a:schemeClr>
                  </a:solidFill>
                  <a:latin typeface="Courier New" panose="02070309020205020404" pitchFamily="49" charset="0"/>
                  <a:cs typeface="Courier New" panose="02070309020205020404" pitchFamily="49" charset="0"/>
                </a:rPr>
                <a:t> 0000 </a:t>
              </a:r>
              <a:r>
                <a:rPr lang="en-SG" sz="1600" i="1" dirty="0">
                  <a:solidFill>
                    <a:schemeClr val="tx1">
                      <a:lumMod val="95000"/>
                      <a:lumOff val="5000"/>
                    </a:schemeClr>
                  </a:solidFill>
                  <a:latin typeface="Courier New" panose="02070309020205020404" pitchFamily="49" charset="0"/>
                  <a:cs typeface="Courier New" panose="02070309020205020404" pitchFamily="49" charset="0"/>
                </a:rPr>
                <a:t>0000</a:t>
              </a:r>
              <a:r>
                <a:rPr lang="en-SG" sz="1600" b="1" i="1" dirty="0">
                  <a:solidFill>
                    <a:schemeClr val="tx1">
                      <a:lumMod val="95000"/>
                      <a:lumOff val="5000"/>
                    </a:schemeClr>
                  </a:solidFill>
                  <a:latin typeface="Courier New" panose="02070309020205020404" pitchFamily="49" charset="0"/>
                  <a:cs typeface="Courier New" panose="02070309020205020404" pitchFamily="49" charset="0"/>
                </a:rPr>
                <a:t> </a:t>
              </a:r>
              <a:r>
                <a:rPr lang="en-SG" sz="1600" i="1" dirty="0">
                  <a:solidFill>
                    <a:schemeClr val="tx1">
                      <a:lumMod val="95000"/>
                      <a:lumOff val="5000"/>
                    </a:schemeClr>
                  </a:solidFill>
                  <a:latin typeface="Courier New" panose="02070309020205020404" pitchFamily="49" charset="0"/>
                  <a:cs typeface="Courier New" panose="02070309020205020404" pitchFamily="49" charset="0"/>
                </a:rPr>
                <a:t>0000</a:t>
              </a:r>
              <a:r>
                <a:rPr lang="en-SG" sz="1600" b="1" i="1" dirty="0">
                  <a:solidFill>
                    <a:schemeClr val="tx1">
                      <a:lumMod val="95000"/>
                      <a:lumOff val="5000"/>
                    </a:schemeClr>
                  </a:solidFill>
                  <a:latin typeface="Courier New" panose="02070309020205020404" pitchFamily="49" charset="0"/>
                  <a:cs typeface="Courier New" panose="02070309020205020404" pitchFamily="49" charset="0"/>
                </a:rPr>
                <a:t>  </a:t>
              </a:r>
              <a:r>
                <a:rPr lang="en-SG" sz="1600" dirty="0">
                  <a:solidFill>
                    <a:schemeClr val="tx1">
                      <a:lumMod val="95000"/>
                      <a:lumOff val="5000"/>
                    </a:schemeClr>
                  </a:solidFill>
                  <a:latin typeface="Courier New" panose="02070309020205020404" pitchFamily="49" charset="0"/>
                  <a:cs typeface="Courier New" panose="02070309020205020404" pitchFamily="49" charset="0"/>
                </a:rPr>
                <a:t>.......x........</a:t>
              </a:r>
              <a:endParaRPr lang="en-SG" sz="1600" dirty="0">
                <a:solidFill>
                  <a:schemeClr val="tx1">
                    <a:lumMod val="95000"/>
                    <a:lumOff val="5000"/>
                  </a:schemeClr>
                </a:solidFill>
                <a:latin typeface="Courier New" panose="02070309020205020404" pitchFamily="49" charset="0"/>
                <a:cs typeface="Courier New" panose="02070309020205020404" pitchFamily="49" charset="0"/>
              </a:endParaRPr>
            </a:p>
          </p:txBody>
        </p:sp>
        <p:sp>
          <p:nvSpPr>
            <p:cNvPr id="8" name="TextBox 7"/>
            <p:cNvSpPr txBox="1"/>
            <p:nvPr/>
          </p:nvSpPr>
          <p:spPr>
            <a:xfrm>
              <a:off x="432000" y="5233574"/>
              <a:ext cx="2849434" cy="369332"/>
            </a:xfrm>
            <a:prstGeom prst="rect">
              <a:avLst/>
            </a:prstGeom>
            <a:noFill/>
          </p:spPr>
          <p:txBody>
            <a:bodyPr wrap="none" rtlCol="0">
              <a:spAutoFit/>
            </a:bodyPr>
            <a:lstStyle/>
            <a:p>
              <a:r>
                <a:rPr lang="en-SG" dirty="0">
                  <a:solidFill>
                    <a:srgbClr val="FF0000"/>
                  </a:solidFill>
                </a:rPr>
                <a:t>Basic FAT directory entry</a:t>
              </a:r>
              <a:endParaRPr lang="en-SG" dirty="0">
                <a:solidFill>
                  <a:srgbClr val="FF0000"/>
                </a:solidFill>
              </a:endParaRPr>
            </a:p>
          </p:txBody>
        </p:sp>
      </p:grpSp>
      <p:grpSp>
        <p:nvGrpSpPr>
          <p:cNvPr id="9" name="Group 8"/>
          <p:cNvGrpSpPr/>
          <p:nvPr/>
        </p:nvGrpSpPr>
        <p:grpSpPr>
          <a:xfrm>
            <a:off x="1013272" y="1598293"/>
            <a:ext cx="1157311" cy="976010"/>
            <a:chOff x="1013272" y="5863302"/>
            <a:chExt cx="1157311" cy="976010"/>
          </a:xfrm>
        </p:grpSpPr>
        <p:sp>
          <p:nvSpPr>
            <p:cNvPr id="11" name="Rectangle 10"/>
            <p:cNvSpPr/>
            <p:nvPr/>
          </p:nvSpPr>
          <p:spPr>
            <a:xfrm>
              <a:off x="1013272" y="6254537"/>
              <a:ext cx="1039788" cy="584775"/>
            </a:xfrm>
            <a:prstGeom prst="rect">
              <a:avLst/>
            </a:prstGeom>
          </p:spPr>
          <p:txBody>
            <a:bodyPr wrap="square">
              <a:spAutoFit/>
            </a:bodyPr>
            <a:lstStyle/>
            <a:p>
              <a:pPr algn="ctr"/>
              <a:r>
                <a:rPr lang="en-SG" sz="1600" dirty="0">
                  <a:solidFill>
                    <a:srgbClr val="FF0000"/>
                  </a:solidFill>
                </a:rPr>
                <a:t>Created Day</a:t>
              </a:r>
              <a:endParaRPr lang="en-SG" sz="1600" dirty="0">
                <a:solidFill>
                  <a:srgbClr val="FF0000"/>
                </a:solidFill>
              </a:endParaRPr>
            </a:p>
          </p:txBody>
        </p:sp>
        <p:sp>
          <p:nvSpPr>
            <p:cNvPr id="13" name="Rectangle 12"/>
            <p:cNvSpPr/>
            <p:nvPr/>
          </p:nvSpPr>
          <p:spPr>
            <a:xfrm>
              <a:off x="1613476" y="5863302"/>
              <a:ext cx="557107" cy="270359"/>
            </a:xfrm>
            <a:prstGeom prst="rect">
              <a:avLst/>
            </a:prstGeom>
            <a:noFill/>
            <a:ln w="28575">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5" name="Straight Arrow Connector 14"/>
            <p:cNvCxnSpPr>
              <a:endCxn id="13" idx="2"/>
            </p:cNvCxnSpPr>
            <p:nvPr/>
          </p:nvCxnSpPr>
          <p:spPr>
            <a:xfrm flipV="1">
              <a:off x="1756351" y="6133661"/>
              <a:ext cx="135679" cy="223085"/>
            </a:xfrm>
            <a:prstGeom prst="straightConnector1">
              <a:avLst/>
            </a:prstGeom>
            <a:ln w="19050">
              <a:solidFill>
                <a:srgbClr val="FF0066"/>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6" name="Group 15"/>
          <p:cNvGrpSpPr/>
          <p:nvPr/>
        </p:nvGrpSpPr>
        <p:grpSpPr>
          <a:xfrm>
            <a:off x="1997948" y="1592916"/>
            <a:ext cx="1164291" cy="1018133"/>
            <a:chOff x="1997948" y="5857925"/>
            <a:chExt cx="1164291" cy="1018133"/>
          </a:xfrm>
        </p:grpSpPr>
        <p:sp>
          <p:nvSpPr>
            <p:cNvPr id="17" name="Rectangle 16"/>
            <p:cNvSpPr/>
            <p:nvPr/>
          </p:nvSpPr>
          <p:spPr>
            <a:xfrm>
              <a:off x="2178203" y="5857925"/>
              <a:ext cx="557107" cy="270359"/>
            </a:xfrm>
            <a:prstGeom prst="rect">
              <a:avLst/>
            </a:prstGeom>
            <a:noFill/>
            <a:ln w="28575">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8" name="Rectangle 17"/>
            <p:cNvSpPr/>
            <p:nvPr/>
          </p:nvSpPr>
          <p:spPr>
            <a:xfrm>
              <a:off x="1997948" y="6291283"/>
              <a:ext cx="1164291" cy="584775"/>
            </a:xfrm>
            <a:prstGeom prst="rect">
              <a:avLst/>
            </a:prstGeom>
          </p:spPr>
          <p:txBody>
            <a:bodyPr wrap="square">
              <a:spAutoFit/>
            </a:bodyPr>
            <a:lstStyle/>
            <a:p>
              <a:pPr algn="ctr"/>
              <a:r>
                <a:rPr lang="en-SG" sz="1600" dirty="0">
                  <a:solidFill>
                    <a:srgbClr val="FF0000"/>
                  </a:solidFill>
                </a:rPr>
                <a:t>Accessed Day</a:t>
              </a:r>
              <a:endParaRPr lang="en-SG" sz="1600" dirty="0">
                <a:solidFill>
                  <a:srgbClr val="FF0000"/>
                </a:solidFill>
              </a:endParaRPr>
            </a:p>
          </p:txBody>
        </p:sp>
        <p:cxnSp>
          <p:nvCxnSpPr>
            <p:cNvPr id="19" name="Straight Arrow Connector 18"/>
            <p:cNvCxnSpPr>
              <a:stCxn id="18" idx="0"/>
              <a:endCxn id="17" idx="2"/>
            </p:cNvCxnSpPr>
            <p:nvPr/>
          </p:nvCxnSpPr>
          <p:spPr>
            <a:xfrm flipH="1" flipV="1">
              <a:off x="2456757" y="6128284"/>
              <a:ext cx="123337" cy="162999"/>
            </a:xfrm>
            <a:prstGeom prst="straightConnector1">
              <a:avLst/>
            </a:prstGeom>
            <a:ln w="19050">
              <a:solidFill>
                <a:srgbClr val="FF0066"/>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0" name="Group 19"/>
          <p:cNvGrpSpPr/>
          <p:nvPr/>
        </p:nvGrpSpPr>
        <p:grpSpPr>
          <a:xfrm>
            <a:off x="3106039" y="1614137"/>
            <a:ext cx="1112528" cy="996912"/>
            <a:chOff x="3106039" y="5879146"/>
            <a:chExt cx="1112528" cy="996912"/>
          </a:xfrm>
        </p:grpSpPr>
        <p:sp>
          <p:nvSpPr>
            <p:cNvPr id="21" name="Rectangle 20"/>
            <p:cNvSpPr/>
            <p:nvPr/>
          </p:nvSpPr>
          <p:spPr>
            <a:xfrm>
              <a:off x="3439565" y="5879146"/>
              <a:ext cx="557107" cy="270359"/>
            </a:xfrm>
            <a:prstGeom prst="rect">
              <a:avLst/>
            </a:prstGeom>
            <a:noFill/>
            <a:ln w="28575">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2" name="Rectangle 21"/>
            <p:cNvSpPr/>
            <p:nvPr/>
          </p:nvSpPr>
          <p:spPr>
            <a:xfrm>
              <a:off x="3106039" y="6291283"/>
              <a:ext cx="1112528" cy="584775"/>
            </a:xfrm>
            <a:prstGeom prst="rect">
              <a:avLst/>
            </a:prstGeom>
          </p:spPr>
          <p:txBody>
            <a:bodyPr wrap="square">
              <a:spAutoFit/>
            </a:bodyPr>
            <a:lstStyle/>
            <a:p>
              <a:pPr algn="ctr"/>
              <a:r>
                <a:rPr lang="en-SG" sz="1600" dirty="0">
                  <a:solidFill>
                    <a:srgbClr val="FF0000"/>
                  </a:solidFill>
                </a:rPr>
                <a:t>Written Time</a:t>
              </a:r>
              <a:endParaRPr lang="en-SG" sz="1600" dirty="0">
                <a:solidFill>
                  <a:srgbClr val="FF0000"/>
                </a:solidFill>
              </a:endParaRPr>
            </a:p>
          </p:txBody>
        </p:sp>
        <p:cxnSp>
          <p:nvCxnSpPr>
            <p:cNvPr id="23" name="Straight Arrow Connector 22"/>
            <p:cNvCxnSpPr>
              <a:stCxn id="22" idx="0"/>
              <a:endCxn id="21" idx="2"/>
            </p:cNvCxnSpPr>
            <p:nvPr/>
          </p:nvCxnSpPr>
          <p:spPr>
            <a:xfrm flipV="1">
              <a:off x="3662303" y="6149505"/>
              <a:ext cx="55816" cy="141778"/>
            </a:xfrm>
            <a:prstGeom prst="straightConnector1">
              <a:avLst/>
            </a:prstGeom>
            <a:ln w="19050">
              <a:solidFill>
                <a:srgbClr val="FF0066"/>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4" name="Group 23"/>
          <p:cNvGrpSpPr/>
          <p:nvPr/>
        </p:nvGrpSpPr>
        <p:grpSpPr>
          <a:xfrm>
            <a:off x="4009239" y="1614137"/>
            <a:ext cx="1250204" cy="960165"/>
            <a:chOff x="4009239" y="5879146"/>
            <a:chExt cx="1250204" cy="960165"/>
          </a:xfrm>
        </p:grpSpPr>
        <p:sp>
          <p:nvSpPr>
            <p:cNvPr id="25" name="Rectangle 24"/>
            <p:cNvSpPr/>
            <p:nvPr/>
          </p:nvSpPr>
          <p:spPr>
            <a:xfrm>
              <a:off x="4009239" y="5879146"/>
              <a:ext cx="557107" cy="270359"/>
            </a:xfrm>
            <a:prstGeom prst="rect">
              <a:avLst/>
            </a:prstGeom>
            <a:noFill/>
            <a:ln w="28575">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6" name="Rectangle 25"/>
            <p:cNvSpPr/>
            <p:nvPr/>
          </p:nvSpPr>
          <p:spPr>
            <a:xfrm>
              <a:off x="4146915" y="6254536"/>
              <a:ext cx="1112528" cy="584775"/>
            </a:xfrm>
            <a:prstGeom prst="rect">
              <a:avLst/>
            </a:prstGeom>
          </p:spPr>
          <p:txBody>
            <a:bodyPr wrap="square">
              <a:spAutoFit/>
            </a:bodyPr>
            <a:lstStyle/>
            <a:p>
              <a:pPr algn="ctr"/>
              <a:r>
                <a:rPr lang="en-SG" sz="1600" dirty="0">
                  <a:solidFill>
                    <a:srgbClr val="FF0000"/>
                  </a:solidFill>
                </a:rPr>
                <a:t>Written Day</a:t>
              </a:r>
              <a:endParaRPr lang="en-SG" sz="1600" dirty="0">
                <a:solidFill>
                  <a:srgbClr val="FF0000"/>
                </a:solidFill>
              </a:endParaRPr>
            </a:p>
          </p:txBody>
        </p:sp>
        <p:cxnSp>
          <p:nvCxnSpPr>
            <p:cNvPr id="27" name="Straight Arrow Connector 26"/>
            <p:cNvCxnSpPr>
              <a:stCxn id="26" idx="0"/>
              <a:endCxn id="25" idx="2"/>
            </p:cNvCxnSpPr>
            <p:nvPr/>
          </p:nvCxnSpPr>
          <p:spPr>
            <a:xfrm flipH="1" flipV="1">
              <a:off x="4287793" y="6149505"/>
              <a:ext cx="415386" cy="105031"/>
            </a:xfrm>
            <a:prstGeom prst="straightConnector1">
              <a:avLst/>
            </a:prstGeom>
            <a:ln w="19050">
              <a:solidFill>
                <a:srgbClr val="FF0066"/>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5421180" y="856716"/>
            <a:ext cx="1463093" cy="754052"/>
            <a:chOff x="5421180" y="5121725"/>
            <a:chExt cx="1463093" cy="754052"/>
          </a:xfrm>
        </p:grpSpPr>
        <p:sp>
          <p:nvSpPr>
            <p:cNvPr id="29" name="Rectangle 28"/>
            <p:cNvSpPr/>
            <p:nvPr/>
          </p:nvSpPr>
          <p:spPr>
            <a:xfrm>
              <a:off x="5874173" y="5605418"/>
              <a:ext cx="557107" cy="270359"/>
            </a:xfrm>
            <a:prstGeom prst="rect">
              <a:avLst/>
            </a:prstGeom>
            <a:noFill/>
            <a:ln w="28575">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0" name="Rectangle 29"/>
            <p:cNvSpPr/>
            <p:nvPr/>
          </p:nvSpPr>
          <p:spPr>
            <a:xfrm>
              <a:off x="5421180" y="5121725"/>
              <a:ext cx="1463093" cy="338554"/>
            </a:xfrm>
            <a:prstGeom prst="rect">
              <a:avLst/>
            </a:prstGeom>
          </p:spPr>
          <p:txBody>
            <a:bodyPr wrap="none">
              <a:spAutoFit/>
            </a:bodyPr>
            <a:lstStyle/>
            <a:p>
              <a:r>
                <a:rPr lang="en-SG" sz="1600" dirty="0">
                  <a:solidFill>
                    <a:srgbClr val="FF0000"/>
                  </a:solidFill>
                </a:rPr>
                <a:t>Created Time</a:t>
              </a:r>
              <a:endParaRPr lang="en-SG" sz="1600" dirty="0">
                <a:solidFill>
                  <a:srgbClr val="FF0000"/>
                </a:solidFill>
              </a:endParaRPr>
            </a:p>
          </p:txBody>
        </p:sp>
        <p:cxnSp>
          <p:nvCxnSpPr>
            <p:cNvPr id="31" name="Straight Arrow Connector 30"/>
            <p:cNvCxnSpPr>
              <a:stCxn id="30" idx="2"/>
              <a:endCxn id="29" idx="0"/>
            </p:cNvCxnSpPr>
            <p:nvPr/>
          </p:nvCxnSpPr>
          <p:spPr>
            <a:xfrm>
              <a:off x="6152727" y="5460279"/>
              <a:ext cx="0" cy="145139"/>
            </a:xfrm>
            <a:prstGeom prst="straightConnector1">
              <a:avLst/>
            </a:prstGeom>
            <a:ln w="19050">
              <a:solidFill>
                <a:srgbClr val="FF0066"/>
              </a:solidFill>
              <a:tailEnd type="triangle"/>
            </a:ln>
          </p:spPr>
          <p:style>
            <a:lnRef idx="1">
              <a:schemeClr val="accent1"/>
            </a:lnRef>
            <a:fillRef idx="0">
              <a:schemeClr val="accent1"/>
            </a:fillRef>
            <a:effectRef idx="0">
              <a:schemeClr val="accent1"/>
            </a:effectRef>
            <a:fontRef idx="minor">
              <a:schemeClr val="tx1"/>
            </a:fontRef>
          </p:style>
        </p:cxnSp>
      </p:grpSp>
      <p:sp>
        <p:nvSpPr>
          <p:cNvPr id="32" name="Rounded Rectangle 7"/>
          <p:cNvSpPr/>
          <p:nvPr/>
        </p:nvSpPr>
        <p:spPr>
          <a:xfrm>
            <a:off x="256032" y="2651755"/>
            <a:ext cx="4616414" cy="1828805"/>
          </a:xfrm>
          <a:prstGeom prst="roundRect">
            <a:avLst/>
          </a:prstGeom>
          <a:solidFill>
            <a:srgbClr val="FEF3C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5760" y="2724907"/>
            <a:ext cx="4368220" cy="415498"/>
          </a:xfrm>
          <a:prstGeom prst="rect">
            <a:avLst/>
          </a:prstGeom>
          <a:noFill/>
        </p:spPr>
        <p:txBody>
          <a:bodyPr wrap="square" lIns="0" tIns="0" rIns="0" bIns="0">
            <a:spAutoFit/>
          </a:bodyPr>
          <a:lstStyle/>
          <a:p>
            <a:pPr algn="l"/>
            <a:r>
              <a:rPr lang="en-SG" sz="1100" b="1" dirty="0">
                <a:solidFill>
                  <a:srgbClr val="F59E0B"/>
                </a:solidFill>
                <a:latin typeface="Trebuchet MS" panose="020B0603020202020204" pitchFamily="34" charset="0"/>
              </a:rPr>
              <a:t>Given the Directory Entry, Determine the following timestamps with </a:t>
            </a:r>
            <a:r>
              <a:rPr lang="en-SG" sz="1600" b="1" dirty="0">
                <a:solidFill>
                  <a:srgbClr val="FF0000"/>
                </a:solidFill>
                <a:latin typeface="Trebuchet MS" panose="020B0603020202020204" pitchFamily="34" charset="0"/>
                <a:hlinkClick r:id="rId1"/>
              </a:rPr>
              <a:t>DCODE</a:t>
            </a:r>
            <a:endParaRPr sz="1600" b="1" i="0" dirty="0">
              <a:solidFill>
                <a:srgbClr val="FF0000"/>
              </a:solidFill>
              <a:latin typeface="Trebuchet MS" panose="020B0603020202020204" pitchFamily="34" charset="0"/>
            </a:endParaRPr>
          </a:p>
        </p:txBody>
      </p:sp>
      <p:sp>
        <p:nvSpPr>
          <p:cNvPr id="34" name="TextBox 33"/>
          <p:cNvSpPr txBox="1"/>
          <p:nvPr/>
        </p:nvSpPr>
        <p:spPr>
          <a:xfrm>
            <a:off x="365760" y="3165371"/>
            <a:ext cx="5055420" cy="1631216"/>
          </a:xfrm>
          <a:prstGeom prst="rect">
            <a:avLst/>
          </a:prstGeom>
          <a:noFill/>
        </p:spPr>
        <p:txBody>
          <a:bodyPr wrap="square" lIns="0" tIns="0" rIns="0" bIns="0">
            <a:spAutoFit/>
          </a:bodyPr>
          <a:lstStyle/>
          <a:p>
            <a:pPr marL="171450" indent="-171450" algn="l">
              <a:buFont typeface="Arial" panose="020B0604020202020204" pitchFamily="34" charset="0"/>
              <a:buChar char="•"/>
            </a:pPr>
            <a:r>
              <a:rPr lang="en-SG" sz="1400" b="0" i="0" dirty="0">
                <a:solidFill>
                  <a:srgbClr val="1A1A2E"/>
                </a:solidFill>
                <a:latin typeface="Calibri" panose="020F0502020204030204" pitchFamily="34" charset="0"/>
              </a:rPr>
              <a:t>Creation Time</a:t>
            </a:r>
            <a:endParaRPr lang="en-SG" sz="1400" b="0" i="0" dirty="0">
              <a:solidFill>
                <a:srgbClr val="1A1A2E"/>
              </a:solidFill>
              <a:latin typeface="Calibri" panose="020F0502020204030204" pitchFamily="34" charset="0"/>
            </a:endParaRPr>
          </a:p>
          <a:p>
            <a:pPr marL="171450" indent="-171450" algn="l">
              <a:buFont typeface="Arial" panose="020B0604020202020204" pitchFamily="34" charset="0"/>
              <a:buChar char="•"/>
            </a:pPr>
            <a:r>
              <a:rPr lang="en-SG" sz="1400" dirty="0">
                <a:solidFill>
                  <a:srgbClr val="1A1A2E"/>
                </a:solidFill>
                <a:latin typeface="Calibri" panose="020F0502020204030204" pitchFamily="34" charset="0"/>
              </a:rPr>
              <a:t>Created Day</a:t>
            </a:r>
            <a:endParaRPr lang="en-SG" sz="1400" dirty="0">
              <a:solidFill>
                <a:srgbClr val="1A1A2E"/>
              </a:solidFill>
              <a:latin typeface="Calibri" panose="020F0502020204030204" pitchFamily="34" charset="0"/>
            </a:endParaRPr>
          </a:p>
          <a:p>
            <a:pPr marL="171450" indent="-171450" algn="l">
              <a:buFont typeface="Arial" panose="020B0604020202020204" pitchFamily="34" charset="0"/>
              <a:buChar char="•"/>
            </a:pPr>
            <a:r>
              <a:rPr lang="en-SG" sz="1400" dirty="0">
                <a:solidFill>
                  <a:srgbClr val="1A1A2E"/>
                </a:solidFill>
                <a:latin typeface="Calibri" panose="020F0502020204030204" pitchFamily="34" charset="0"/>
              </a:rPr>
              <a:t>Accessed Day</a:t>
            </a:r>
            <a:endParaRPr lang="en-SG" sz="1400" dirty="0">
              <a:solidFill>
                <a:srgbClr val="1A1A2E"/>
              </a:solidFill>
              <a:latin typeface="Calibri" panose="020F0502020204030204" pitchFamily="34" charset="0"/>
            </a:endParaRPr>
          </a:p>
          <a:p>
            <a:pPr marL="171450" indent="-171450" algn="l">
              <a:buFont typeface="Arial" panose="020B0604020202020204" pitchFamily="34" charset="0"/>
              <a:buChar char="•"/>
            </a:pPr>
            <a:r>
              <a:rPr lang="en-SG" sz="1400" dirty="0">
                <a:solidFill>
                  <a:srgbClr val="1A1A2E"/>
                </a:solidFill>
                <a:latin typeface="Calibri" panose="020F0502020204030204" pitchFamily="34" charset="0"/>
              </a:rPr>
              <a:t>Written Time</a:t>
            </a:r>
            <a:endParaRPr lang="en-SG" sz="1400" dirty="0">
              <a:solidFill>
                <a:srgbClr val="1A1A2E"/>
              </a:solidFill>
              <a:latin typeface="Calibri" panose="020F0502020204030204" pitchFamily="34" charset="0"/>
            </a:endParaRPr>
          </a:p>
          <a:p>
            <a:pPr marL="171450" indent="-171450">
              <a:buFont typeface="Arial" panose="020B0604020202020204" pitchFamily="34" charset="0"/>
              <a:buChar char="•"/>
            </a:pPr>
            <a:r>
              <a:rPr lang="en-SG" sz="1400" dirty="0">
                <a:solidFill>
                  <a:srgbClr val="1A1A2E"/>
                </a:solidFill>
                <a:latin typeface="Calibri" panose="020F0502020204030204" pitchFamily="34" charset="0"/>
              </a:rPr>
              <a:t>Written Date</a:t>
            </a:r>
            <a:br>
              <a:rPr lang="en-SG" sz="1400" dirty="0">
                <a:solidFill>
                  <a:srgbClr val="1A1A2E"/>
                </a:solidFill>
                <a:latin typeface="Calibri" panose="020F0502020204030204" pitchFamily="34" charset="0"/>
              </a:rPr>
            </a:br>
            <a:br>
              <a:rPr lang="en-SG" dirty="0">
                <a:solidFill>
                  <a:srgbClr val="1A1A2E"/>
                </a:solidFill>
                <a:latin typeface="Calibri" panose="020F0502020204030204" pitchFamily="34" charset="0"/>
              </a:rPr>
            </a:br>
            <a:endParaRPr lang="en-SG" dirty="0">
              <a:solidFill>
                <a:srgbClr val="1A1A2E"/>
              </a:solidFill>
              <a:latin typeface="Calibri" panose="020F0502020204030204" pitchFamily="34" charset="0"/>
            </a:endParaRPr>
          </a:p>
        </p:txBody>
      </p:sp>
      <p:pic>
        <p:nvPicPr>
          <p:cNvPr id="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391" y="1931715"/>
            <a:ext cx="3411102" cy="1983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F59E0B"/>
          </a:solidFill>
          <a:ln w="12700">
            <a:solidFill>
              <a:srgbClr val="F59E0B"/>
            </a:solidFill>
            <a:prstDash val="solid"/>
          </a:ln>
        </p:spPr>
        <p:txBody>
          <a:bodyPr/>
          <a:lstStyle/>
          <a:p>
            <a:endParaRPr lang="en-SG"/>
          </a:p>
        </p:txBody>
      </p:sp>
      <p:sp>
        <p:nvSpPr>
          <p:cNvPr id="3" name="Text 1"/>
          <p:cNvSpPr/>
          <p:nvPr/>
        </p:nvSpPr>
        <p:spPr>
          <a:xfrm>
            <a:off x="256032" y="146304"/>
            <a:ext cx="8631936" cy="548640"/>
          </a:xfrm>
          <a:prstGeom prst="rect">
            <a:avLst/>
          </a:prstGeom>
          <a:noFill/>
        </p:spPr>
        <p:txBody>
          <a:bodyPr wrap="square" lIns="0" tIns="0" rIns="0" bIns="0" rtlCol="0" anchor="ctr"/>
          <a:lstStyle/>
          <a:p>
            <a:pPr marL="0" indent="0">
              <a:buNone/>
            </a:pPr>
            <a:r>
              <a:rPr lang="en-US" sz="1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FAT32 Cluster Chains — Concept &amp; Flowchart</a:t>
            </a:r>
            <a:endParaRPr lang="en-US" sz="1800" dirty="0"/>
          </a:p>
        </p:txBody>
      </p:sp>
      <p:sp>
        <p:nvSpPr>
          <p:cNvPr id="4" name="Shape 2"/>
          <p:cNvSpPr/>
          <p:nvPr/>
        </p:nvSpPr>
        <p:spPr>
          <a:xfrm>
            <a:off x="256032" y="73152"/>
            <a:ext cx="1463040" cy="219456"/>
          </a:xfrm>
          <a:prstGeom prst="rect">
            <a:avLst/>
          </a:prstGeom>
          <a:solidFill>
            <a:srgbClr val="F59E0B"/>
          </a:solidFill>
          <a:ln w="12700">
            <a:solidFill>
              <a:srgbClr val="F59E0B"/>
            </a:solidFill>
            <a:prstDash val="solid"/>
          </a:ln>
        </p:spPr>
        <p:txBody>
          <a:bodyPr/>
          <a:lstStyle/>
          <a:p>
            <a:endParaRPr lang="en-SG"/>
          </a:p>
        </p:txBody>
      </p:sp>
      <p:sp>
        <p:nvSpPr>
          <p:cNvPr id="5" name="Text 3"/>
          <p:cNvSpPr/>
          <p:nvPr/>
        </p:nvSpPr>
        <p:spPr>
          <a:xfrm>
            <a:off x="256032" y="73152"/>
            <a:ext cx="1463040" cy="219456"/>
          </a:xfrm>
          <a:prstGeom prst="rect">
            <a:avLst/>
          </a:prstGeom>
          <a:noFill/>
        </p:spPr>
        <p:txBody>
          <a:bodyPr wrap="square" lIns="0" tIns="0" rIns="0" bIns="0" rtlCol="0" anchor="ctr"/>
          <a:lstStyle/>
          <a:p>
            <a:pPr marL="0" indent="0" algn="ctr">
              <a:buNone/>
            </a:pPr>
            <a:r>
              <a:rPr lang="en-US" sz="800" b="1" kern="0" spc="100"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SECTION 02 — FAT</a:t>
            </a:r>
            <a:endParaRPr lang="en-US" sz="800" dirty="0"/>
          </a:p>
        </p:txBody>
      </p:sp>
      <p:sp>
        <p:nvSpPr>
          <p:cNvPr id="10" name="Text 8"/>
          <p:cNvSpPr/>
          <p:nvPr/>
        </p:nvSpPr>
        <p:spPr>
          <a:xfrm>
            <a:off x="256032" y="822960"/>
            <a:ext cx="8631936" cy="274320"/>
          </a:xfrm>
          <a:prstGeom prst="rect">
            <a:avLst/>
          </a:prstGeom>
          <a:noFill/>
        </p:spPr>
        <p:txBody>
          <a:bodyPr wrap="square" rtlCol="0" anchor="ctr"/>
          <a:lstStyle/>
          <a:p>
            <a:pPr marL="0" indent="0">
              <a:buNone/>
            </a:pPr>
            <a:r>
              <a:rPr lang="en-US" sz="950" i="1" dirty="0">
                <a:solidFill>
                  <a:srgbClr val="475569"/>
                </a:solidFill>
                <a:latin typeface="Calibri" panose="020F0502020204030204" pitchFamily="34" charset="0"/>
                <a:ea typeface="Calibri" panose="020F0502020204030204" pitchFamily="34" charset="-122"/>
                <a:cs typeface="Calibri" panose="020F0502020204030204" pitchFamily="34" charset="-120"/>
              </a:rPr>
              <a:t>A cluster chain is how FAT32 tracks all the pieces of a file. Because a file can be split across many non-contiguous clusters, FAT maintains a linked list of pointers — the cluster chain.</a:t>
            </a:r>
            <a:endParaRPr lang="en-US" sz="950" dirty="0"/>
          </a:p>
        </p:txBody>
      </p:sp>
      <p:sp>
        <p:nvSpPr>
          <p:cNvPr id="11" name="Shape 9"/>
          <p:cNvSpPr/>
          <p:nvPr/>
        </p:nvSpPr>
        <p:spPr>
          <a:xfrm>
            <a:off x="256032" y="1133856"/>
            <a:ext cx="2798064" cy="731520"/>
          </a:xfrm>
          <a:prstGeom prst="rect">
            <a:avLst/>
          </a:prstGeom>
          <a:solidFill>
            <a:srgbClr val="EEF6FB"/>
          </a:solidFill>
          <a:ln w="12700">
            <a:solidFill>
              <a:srgbClr val="F59E0B"/>
            </a:solidFill>
            <a:prstDash val="solid"/>
          </a:ln>
          <a:effectLst>
            <a:outerShdw blurRad="127000" dist="38100" dir="8100000" algn="bl" rotWithShape="0">
              <a:srgbClr val="000000">
                <a:alpha val="22000"/>
              </a:srgbClr>
            </a:outerShdw>
          </a:effectLst>
        </p:spPr>
        <p:txBody>
          <a:bodyPr/>
          <a:lstStyle/>
          <a:p>
            <a:endParaRPr lang="en-SG"/>
          </a:p>
        </p:txBody>
      </p:sp>
      <p:sp>
        <p:nvSpPr>
          <p:cNvPr id="12" name="Shape 10"/>
          <p:cNvSpPr/>
          <p:nvPr/>
        </p:nvSpPr>
        <p:spPr>
          <a:xfrm>
            <a:off x="256032" y="1133856"/>
            <a:ext cx="2798064" cy="237744"/>
          </a:xfrm>
          <a:prstGeom prst="rect">
            <a:avLst/>
          </a:prstGeom>
          <a:solidFill>
            <a:srgbClr val="F59E0B"/>
          </a:solidFill>
          <a:ln w="12700">
            <a:solidFill>
              <a:srgbClr val="F59E0B"/>
            </a:solidFill>
            <a:prstDash val="solid"/>
          </a:ln>
        </p:spPr>
        <p:txBody>
          <a:bodyPr/>
          <a:lstStyle/>
          <a:p>
            <a:endParaRPr lang="en-SG"/>
          </a:p>
        </p:txBody>
      </p:sp>
      <p:sp>
        <p:nvSpPr>
          <p:cNvPr id="13" name="Text 11"/>
          <p:cNvSpPr/>
          <p:nvPr/>
        </p:nvSpPr>
        <p:spPr>
          <a:xfrm>
            <a:off x="365760" y="1152144"/>
            <a:ext cx="2578608" cy="201168"/>
          </a:xfrm>
          <a:prstGeom prst="rect">
            <a:avLst/>
          </a:prstGeom>
          <a:noFill/>
        </p:spPr>
        <p:txBody>
          <a:bodyPr wrap="square" lIns="0" tIns="0" rIns="0" bIns="0" rtlCol="0" anchor="ctr"/>
          <a:lstStyle/>
          <a:p>
            <a:pPr marL="0" indent="0">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Cluster</a:t>
            </a:r>
            <a:endParaRPr lang="en-US" sz="1000" dirty="0"/>
          </a:p>
        </p:txBody>
      </p:sp>
      <p:sp>
        <p:nvSpPr>
          <p:cNvPr id="14" name="Text 12"/>
          <p:cNvSpPr/>
          <p:nvPr/>
        </p:nvSpPr>
        <p:spPr>
          <a:xfrm>
            <a:off x="365760" y="1408176"/>
            <a:ext cx="2578608" cy="420624"/>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The smallest unit of storage FAT can allocate. Typical size: 4 KB (8 sectors × 512 B). A file occupies one or more clusters.</a:t>
            </a:r>
            <a:endParaRPr lang="en-US" sz="900" dirty="0"/>
          </a:p>
        </p:txBody>
      </p:sp>
      <p:sp>
        <p:nvSpPr>
          <p:cNvPr id="15" name="Shape 13"/>
          <p:cNvSpPr/>
          <p:nvPr/>
        </p:nvSpPr>
        <p:spPr>
          <a:xfrm>
            <a:off x="3218688" y="1133856"/>
            <a:ext cx="2798064" cy="731520"/>
          </a:xfrm>
          <a:prstGeom prst="rect">
            <a:avLst/>
          </a:prstGeom>
          <a:solidFill>
            <a:srgbClr val="EEF6FB"/>
          </a:solidFill>
          <a:ln w="12700">
            <a:solidFill>
              <a:srgbClr val="0EA5E9"/>
            </a:solidFill>
            <a:prstDash val="solid"/>
          </a:ln>
          <a:effectLst>
            <a:outerShdw blurRad="127000" dist="38100" dir="8100000" algn="bl" rotWithShape="0">
              <a:srgbClr val="000000">
                <a:alpha val="22000"/>
              </a:srgbClr>
            </a:outerShdw>
          </a:effectLst>
        </p:spPr>
        <p:txBody>
          <a:bodyPr/>
          <a:lstStyle/>
          <a:p>
            <a:endParaRPr lang="en-SG"/>
          </a:p>
        </p:txBody>
      </p:sp>
      <p:sp>
        <p:nvSpPr>
          <p:cNvPr id="16" name="Shape 14"/>
          <p:cNvSpPr/>
          <p:nvPr/>
        </p:nvSpPr>
        <p:spPr>
          <a:xfrm>
            <a:off x="3218688" y="1133856"/>
            <a:ext cx="2798064" cy="237744"/>
          </a:xfrm>
          <a:prstGeom prst="rect">
            <a:avLst/>
          </a:prstGeom>
          <a:solidFill>
            <a:srgbClr val="0EA5E9"/>
          </a:solidFill>
          <a:ln w="12700">
            <a:solidFill>
              <a:srgbClr val="0EA5E9"/>
            </a:solidFill>
            <a:prstDash val="solid"/>
          </a:ln>
        </p:spPr>
        <p:txBody>
          <a:bodyPr/>
          <a:lstStyle/>
          <a:p>
            <a:endParaRPr lang="en-SG"/>
          </a:p>
        </p:txBody>
      </p:sp>
      <p:sp>
        <p:nvSpPr>
          <p:cNvPr id="17" name="Text 15"/>
          <p:cNvSpPr/>
          <p:nvPr/>
        </p:nvSpPr>
        <p:spPr>
          <a:xfrm>
            <a:off x="3328416" y="1152144"/>
            <a:ext cx="2578608" cy="201168"/>
          </a:xfrm>
          <a:prstGeom prst="rect">
            <a:avLst/>
          </a:prstGeom>
          <a:noFill/>
        </p:spPr>
        <p:txBody>
          <a:bodyPr wrap="square" lIns="0" tIns="0" rIns="0" bIns="0" rtlCol="0" anchor="ctr"/>
          <a:lstStyle/>
          <a:p>
            <a:pPr marL="0" indent="0">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FAT Entry</a:t>
            </a:r>
            <a:endParaRPr lang="en-US" sz="1000" dirty="0"/>
          </a:p>
        </p:txBody>
      </p:sp>
      <p:sp>
        <p:nvSpPr>
          <p:cNvPr id="18" name="Text 16"/>
          <p:cNvSpPr/>
          <p:nvPr/>
        </p:nvSpPr>
        <p:spPr>
          <a:xfrm>
            <a:off x="3328416" y="1408176"/>
            <a:ext cx="2578608" cy="420624"/>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A 28-bit number stored in the FAT table for each cluster. It holds the cluster's status: free, next pointer, EOF, or bad.</a:t>
            </a:r>
            <a:endParaRPr lang="en-US" sz="900" dirty="0"/>
          </a:p>
        </p:txBody>
      </p:sp>
      <p:sp>
        <p:nvSpPr>
          <p:cNvPr id="19" name="Shape 17"/>
          <p:cNvSpPr/>
          <p:nvPr/>
        </p:nvSpPr>
        <p:spPr>
          <a:xfrm>
            <a:off x="6181344" y="1133856"/>
            <a:ext cx="2798064" cy="731520"/>
          </a:xfrm>
          <a:prstGeom prst="rect">
            <a:avLst/>
          </a:prstGeom>
          <a:solidFill>
            <a:srgbClr val="EEF6FB"/>
          </a:solidFill>
          <a:ln w="12700">
            <a:solidFill>
              <a:srgbClr val="10B981"/>
            </a:solidFill>
            <a:prstDash val="solid"/>
          </a:ln>
          <a:effectLst>
            <a:outerShdw blurRad="127000" dist="38100" dir="8100000" algn="bl" rotWithShape="0">
              <a:srgbClr val="000000">
                <a:alpha val="22000"/>
              </a:srgbClr>
            </a:outerShdw>
          </a:effectLst>
        </p:spPr>
        <p:txBody>
          <a:bodyPr/>
          <a:lstStyle/>
          <a:p>
            <a:endParaRPr lang="en-SG"/>
          </a:p>
        </p:txBody>
      </p:sp>
      <p:sp>
        <p:nvSpPr>
          <p:cNvPr id="20" name="Shape 18"/>
          <p:cNvSpPr/>
          <p:nvPr/>
        </p:nvSpPr>
        <p:spPr>
          <a:xfrm>
            <a:off x="6181344" y="1133856"/>
            <a:ext cx="2798064" cy="237744"/>
          </a:xfrm>
          <a:prstGeom prst="rect">
            <a:avLst/>
          </a:prstGeom>
          <a:solidFill>
            <a:srgbClr val="10B981"/>
          </a:solidFill>
          <a:ln w="12700">
            <a:solidFill>
              <a:srgbClr val="10B981"/>
            </a:solidFill>
            <a:prstDash val="solid"/>
          </a:ln>
        </p:spPr>
        <p:txBody>
          <a:bodyPr/>
          <a:lstStyle/>
          <a:p>
            <a:endParaRPr lang="en-SG"/>
          </a:p>
        </p:txBody>
      </p:sp>
      <p:sp>
        <p:nvSpPr>
          <p:cNvPr id="21" name="Text 19"/>
          <p:cNvSpPr/>
          <p:nvPr/>
        </p:nvSpPr>
        <p:spPr>
          <a:xfrm>
            <a:off x="6291072" y="1152144"/>
            <a:ext cx="2578608" cy="201168"/>
          </a:xfrm>
          <a:prstGeom prst="rect">
            <a:avLst/>
          </a:prstGeom>
          <a:noFill/>
        </p:spPr>
        <p:txBody>
          <a:bodyPr wrap="square" lIns="0" tIns="0" rIns="0" bIns="0" rtlCol="0" anchor="ctr"/>
          <a:lstStyle/>
          <a:p>
            <a:pPr marL="0" indent="0">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Chain</a:t>
            </a:r>
            <a:endParaRPr lang="en-US" sz="1000" dirty="0"/>
          </a:p>
        </p:txBody>
      </p:sp>
      <p:sp>
        <p:nvSpPr>
          <p:cNvPr id="22" name="Text 20"/>
          <p:cNvSpPr/>
          <p:nvPr/>
        </p:nvSpPr>
        <p:spPr>
          <a:xfrm>
            <a:off x="6291072" y="1408176"/>
            <a:ext cx="2578608" cy="420624"/>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The sequence of clusters linked together to form a complete file. The directory entry points to the first cluster; the FAT maps the rest.</a:t>
            </a:r>
            <a:endParaRPr lang="en-US" sz="900" dirty="0"/>
          </a:p>
        </p:txBody>
      </p:sp>
      <p:sp>
        <p:nvSpPr>
          <p:cNvPr id="23" name="Shape 21"/>
          <p:cNvSpPr/>
          <p:nvPr/>
        </p:nvSpPr>
        <p:spPr>
          <a:xfrm>
            <a:off x="256032" y="1956816"/>
            <a:ext cx="8631936" cy="219456"/>
          </a:xfrm>
          <a:prstGeom prst="rect">
            <a:avLst/>
          </a:prstGeom>
          <a:solidFill>
            <a:srgbClr val="EEF6FB"/>
          </a:solidFill>
          <a:ln w="12700">
            <a:solidFill>
              <a:srgbClr val="2E4068"/>
            </a:solidFill>
            <a:prstDash val="solid"/>
          </a:ln>
        </p:spPr>
        <p:txBody>
          <a:bodyPr/>
          <a:lstStyle/>
          <a:p>
            <a:endParaRPr lang="en-SG"/>
          </a:p>
        </p:txBody>
      </p:sp>
      <p:sp>
        <p:nvSpPr>
          <p:cNvPr id="24" name="Text 22"/>
          <p:cNvSpPr/>
          <p:nvPr/>
        </p:nvSpPr>
        <p:spPr>
          <a:xfrm>
            <a:off x="347472" y="1965960"/>
            <a:ext cx="8412480" cy="182880"/>
          </a:xfrm>
          <a:prstGeom prst="rect">
            <a:avLst/>
          </a:prstGeom>
          <a:noFill/>
        </p:spPr>
        <p:txBody>
          <a:bodyPr wrap="square" lIns="0" tIns="0" rIns="0" bIns="0" rtlCol="0" anchor="ctr"/>
          <a:lstStyle/>
          <a:p>
            <a:pPr marL="0" indent="0">
              <a:buNone/>
            </a:pPr>
            <a:r>
              <a:rPr lang="en-US" sz="10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How FAT32 follows a cluster chain to read a file:</a:t>
            </a:r>
            <a:endParaRPr lang="en-US" sz="1000" dirty="0"/>
          </a:p>
        </p:txBody>
      </p:sp>
      <p:sp>
        <p:nvSpPr>
          <p:cNvPr id="25" name="Shape 23"/>
          <p:cNvSpPr/>
          <p:nvPr/>
        </p:nvSpPr>
        <p:spPr>
          <a:xfrm>
            <a:off x="256032" y="2267712"/>
            <a:ext cx="1298448" cy="694944"/>
          </a:xfrm>
          <a:prstGeom prst="rect">
            <a:avLst/>
          </a:prstGeom>
          <a:solidFill>
            <a:srgbClr val="F59E0B">
              <a:alpha val="75000"/>
            </a:srgbClr>
          </a:solidFill>
          <a:ln w="12700">
            <a:solidFill>
              <a:srgbClr val="F59E0B"/>
            </a:solidFill>
            <a:prstDash val="solid"/>
          </a:ln>
        </p:spPr>
        <p:txBody>
          <a:bodyPr/>
          <a:lstStyle/>
          <a:p>
            <a:endParaRPr lang="en-SG"/>
          </a:p>
        </p:txBody>
      </p:sp>
      <p:sp>
        <p:nvSpPr>
          <p:cNvPr id="26" name="Text 24"/>
          <p:cNvSpPr/>
          <p:nvPr/>
        </p:nvSpPr>
        <p:spPr>
          <a:xfrm>
            <a:off x="256032" y="2304288"/>
            <a:ext cx="1298448" cy="365760"/>
          </a:xfrm>
          <a:prstGeom prst="rect">
            <a:avLst/>
          </a:prstGeom>
          <a:noFill/>
        </p:spPr>
        <p:txBody>
          <a:bodyPr wrap="square" lIns="0" tIns="0" rIns="0" bIns="0" rtlCol="0" anchor="ctr"/>
          <a:lstStyle/>
          <a:p>
            <a:pPr marL="0" indent="0" algn="ctr">
              <a:buNone/>
            </a:pPr>
            <a:r>
              <a:rPr lang="en-US" sz="8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Directory Entry</a:t>
            </a:r>
            <a:endParaRPr lang="en-US" sz="850" dirty="0"/>
          </a:p>
        </p:txBody>
      </p:sp>
      <p:sp>
        <p:nvSpPr>
          <p:cNvPr id="27" name="Text 25"/>
          <p:cNvSpPr/>
          <p:nvPr/>
        </p:nvSpPr>
        <p:spPr>
          <a:xfrm>
            <a:off x="256032" y="2688336"/>
            <a:ext cx="1298448" cy="237744"/>
          </a:xfrm>
          <a:prstGeom prst="rect">
            <a:avLst/>
          </a:prstGeom>
          <a:noFill/>
        </p:spPr>
        <p:txBody>
          <a:bodyPr wrap="square" lIns="0" tIns="0" rIns="0" bIns="0" rtlCol="0" anchor="ctr"/>
          <a:lstStyle/>
          <a:p>
            <a:pPr marL="0" indent="0" algn="ctr">
              <a:buNone/>
            </a:pPr>
            <a:r>
              <a:rPr lang="en-US" sz="750" dirty="0">
                <a:solidFill>
                  <a:srgbClr val="475569"/>
                </a:solidFill>
                <a:latin typeface="Calibri" panose="020F0502020204030204" pitchFamily="34" charset="0"/>
                <a:ea typeface="Calibri" panose="020F0502020204030204" pitchFamily="34" charset="-122"/>
                <a:cs typeface="Calibri" panose="020F0502020204030204" pitchFamily="34" charset="-120"/>
              </a:rPr>
              <a:t>Starting cluster #</a:t>
            </a:r>
            <a:endParaRPr lang="en-US" sz="750" dirty="0"/>
          </a:p>
          <a:p>
            <a:pPr marL="0" indent="0" algn="ctr">
              <a:buNone/>
            </a:pPr>
            <a:r>
              <a:rPr lang="en-US" sz="750" dirty="0">
                <a:solidFill>
                  <a:srgbClr val="475569"/>
                </a:solidFill>
                <a:latin typeface="Calibri" panose="020F0502020204030204" pitchFamily="34" charset="0"/>
                <a:ea typeface="Calibri" panose="020F0502020204030204" pitchFamily="34" charset="-122"/>
                <a:cs typeface="Calibri" panose="020F0502020204030204" pitchFamily="34" charset="-120"/>
              </a:rPr>
              <a:t>+ File size</a:t>
            </a:r>
            <a:endParaRPr lang="en-US" sz="750" dirty="0"/>
          </a:p>
        </p:txBody>
      </p:sp>
      <p:sp>
        <p:nvSpPr>
          <p:cNvPr id="28" name="Text 26"/>
          <p:cNvSpPr/>
          <p:nvPr/>
        </p:nvSpPr>
        <p:spPr>
          <a:xfrm>
            <a:off x="1554480" y="2487168"/>
            <a:ext cx="128016" cy="256032"/>
          </a:xfrm>
          <a:prstGeom prst="rect">
            <a:avLst/>
          </a:prstGeom>
          <a:noFill/>
        </p:spPr>
        <p:txBody>
          <a:bodyPr wrap="square" lIns="0" tIns="0" rIns="0" bIns="0" rtlCol="0" anchor="ctr"/>
          <a:lstStyle/>
          <a:p>
            <a:pPr marL="0" indent="0" algn="ctr">
              <a:buNone/>
            </a:pPr>
            <a:r>
              <a:rPr lang="en-US" sz="1200" b="1" dirty="0">
                <a:solidFill>
                  <a:srgbClr val="475569"/>
                </a:solidFill>
                <a:latin typeface="Trebuchet MS" panose="020B0603020202020204" pitchFamily="34" charset="0"/>
                <a:ea typeface="Trebuchet MS" panose="020B0603020202020204" pitchFamily="34" charset="-122"/>
                <a:cs typeface="Trebuchet MS" panose="020B0603020202020204" pitchFamily="34" charset="-120"/>
              </a:rPr>
              <a:t>→</a:t>
            </a:r>
            <a:endParaRPr lang="en-US" sz="1200" dirty="0"/>
          </a:p>
        </p:txBody>
      </p:sp>
      <p:sp>
        <p:nvSpPr>
          <p:cNvPr id="29" name="Shape 27"/>
          <p:cNvSpPr/>
          <p:nvPr/>
        </p:nvSpPr>
        <p:spPr>
          <a:xfrm>
            <a:off x="1682496" y="2267712"/>
            <a:ext cx="1298448" cy="694944"/>
          </a:xfrm>
          <a:prstGeom prst="rect">
            <a:avLst/>
          </a:prstGeom>
          <a:solidFill>
            <a:srgbClr val="0EA5E9">
              <a:alpha val="75000"/>
            </a:srgbClr>
          </a:solidFill>
          <a:ln w="12700">
            <a:solidFill>
              <a:srgbClr val="0EA5E9"/>
            </a:solidFill>
            <a:prstDash val="solid"/>
          </a:ln>
        </p:spPr>
        <p:txBody>
          <a:bodyPr/>
          <a:lstStyle/>
          <a:p>
            <a:endParaRPr lang="en-SG"/>
          </a:p>
        </p:txBody>
      </p:sp>
      <p:sp>
        <p:nvSpPr>
          <p:cNvPr id="30" name="Text 28"/>
          <p:cNvSpPr/>
          <p:nvPr/>
        </p:nvSpPr>
        <p:spPr>
          <a:xfrm>
            <a:off x="1682496" y="2304288"/>
            <a:ext cx="1298448" cy="365760"/>
          </a:xfrm>
          <a:prstGeom prst="rect">
            <a:avLst/>
          </a:prstGeom>
          <a:noFill/>
        </p:spPr>
        <p:txBody>
          <a:bodyPr wrap="square" lIns="0" tIns="0" rIns="0" bIns="0" rtlCol="0" anchor="ctr"/>
          <a:lstStyle/>
          <a:p>
            <a:pPr marL="0" indent="0" algn="ctr">
              <a:buNone/>
            </a:pPr>
            <a:r>
              <a:rPr lang="en-US" sz="8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Look up FAT</a:t>
            </a:r>
            <a:endParaRPr lang="en-US" sz="850" dirty="0"/>
          </a:p>
          <a:p>
            <a:pPr marL="0" indent="0" algn="ctr">
              <a:buNone/>
            </a:pPr>
            <a:r>
              <a:rPr lang="en-US" sz="8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[cluster N]</a:t>
            </a:r>
            <a:endParaRPr lang="en-US" sz="850" dirty="0"/>
          </a:p>
        </p:txBody>
      </p:sp>
      <p:sp>
        <p:nvSpPr>
          <p:cNvPr id="31" name="Text 29"/>
          <p:cNvSpPr/>
          <p:nvPr/>
        </p:nvSpPr>
        <p:spPr>
          <a:xfrm>
            <a:off x="1682496" y="2688336"/>
            <a:ext cx="1298448" cy="237744"/>
          </a:xfrm>
          <a:prstGeom prst="rect">
            <a:avLst/>
          </a:prstGeom>
          <a:noFill/>
        </p:spPr>
        <p:txBody>
          <a:bodyPr wrap="square" lIns="0" tIns="0" rIns="0" bIns="0" rtlCol="0" anchor="ctr"/>
          <a:lstStyle/>
          <a:p>
            <a:pPr marL="0" indent="0" algn="ctr">
              <a:buNone/>
            </a:pPr>
            <a:r>
              <a:rPr lang="en-US" sz="750" dirty="0">
                <a:solidFill>
                  <a:srgbClr val="475569"/>
                </a:solidFill>
                <a:latin typeface="Calibri" panose="020F0502020204030204" pitchFamily="34" charset="0"/>
                <a:ea typeface="Calibri" panose="020F0502020204030204" pitchFamily="34" charset="-122"/>
                <a:cs typeface="Calibri" panose="020F0502020204030204" pitchFamily="34" charset="-120"/>
              </a:rPr>
              <a:t>FAT[N] = ?</a:t>
            </a:r>
            <a:endParaRPr lang="en-US" sz="750" dirty="0"/>
          </a:p>
        </p:txBody>
      </p:sp>
      <p:sp>
        <p:nvSpPr>
          <p:cNvPr id="32" name="Text 30"/>
          <p:cNvSpPr/>
          <p:nvPr/>
        </p:nvSpPr>
        <p:spPr>
          <a:xfrm>
            <a:off x="2980944" y="2487168"/>
            <a:ext cx="128016" cy="256032"/>
          </a:xfrm>
          <a:prstGeom prst="rect">
            <a:avLst/>
          </a:prstGeom>
          <a:noFill/>
        </p:spPr>
        <p:txBody>
          <a:bodyPr wrap="square" lIns="0" tIns="0" rIns="0" bIns="0" rtlCol="0" anchor="ctr"/>
          <a:lstStyle/>
          <a:p>
            <a:pPr marL="0" indent="0" algn="ctr">
              <a:buNone/>
            </a:pPr>
            <a:r>
              <a:rPr lang="en-US" sz="1200" b="1" dirty="0">
                <a:solidFill>
                  <a:srgbClr val="475569"/>
                </a:solidFill>
                <a:latin typeface="Trebuchet MS" panose="020B0603020202020204" pitchFamily="34" charset="0"/>
                <a:ea typeface="Trebuchet MS" panose="020B0603020202020204" pitchFamily="34" charset="-122"/>
                <a:cs typeface="Trebuchet MS" panose="020B0603020202020204" pitchFamily="34" charset="-120"/>
              </a:rPr>
              <a:t>→</a:t>
            </a:r>
            <a:endParaRPr lang="en-US" sz="1200" dirty="0"/>
          </a:p>
        </p:txBody>
      </p:sp>
      <p:sp>
        <p:nvSpPr>
          <p:cNvPr id="33" name="Shape 31"/>
          <p:cNvSpPr/>
          <p:nvPr/>
        </p:nvSpPr>
        <p:spPr>
          <a:xfrm>
            <a:off x="3108960" y="2267712"/>
            <a:ext cx="1298448" cy="694944"/>
          </a:xfrm>
          <a:prstGeom prst="rect">
            <a:avLst/>
          </a:prstGeom>
          <a:solidFill>
            <a:srgbClr val="6366F1">
              <a:alpha val="75000"/>
            </a:srgbClr>
          </a:solidFill>
          <a:ln w="12700">
            <a:solidFill>
              <a:srgbClr val="6366F1"/>
            </a:solidFill>
            <a:prstDash val="solid"/>
          </a:ln>
        </p:spPr>
        <p:txBody>
          <a:bodyPr/>
          <a:lstStyle/>
          <a:p>
            <a:endParaRPr lang="en-SG"/>
          </a:p>
        </p:txBody>
      </p:sp>
      <p:sp>
        <p:nvSpPr>
          <p:cNvPr id="34" name="Text 32"/>
          <p:cNvSpPr/>
          <p:nvPr/>
        </p:nvSpPr>
        <p:spPr>
          <a:xfrm>
            <a:off x="3108960" y="2304288"/>
            <a:ext cx="1298448" cy="365760"/>
          </a:xfrm>
          <a:prstGeom prst="rect">
            <a:avLst/>
          </a:prstGeom>
          <a:noFill/>
        </p:spPr>
        <p:txBody>
          <a:bodyPr wrap="square" lIns="0" tIns="0" rIns="0" bIns="0" rtlCol="0" anchor="ctr"/>
          <a:lstStyle/>
          <a:p>
            <a:pPr marL="0" indent="0" algn="ctr">
              <a:buNone/>
            </a:pPr>
            <a:r>
              <a:rPr lang="en-US" sz="8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Value is</a:t>
            </a:r>
            <a:endParaRPr lang="en-US" sz="850" dirty="0"/>
          </a:p>
          <a:p>
            <a:pPr marL="0" indent="0" algn="ctr">
              <a:buNone/>
            </a:pPr>
            <a:r>
              <a:rPr lang="en-US" sz="8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0x02–0x0FFFFFEF</a:t>
            </a:r>
            <a:endParaRPr lang="en-US" sz="850" dirty="0"/>
          </a:p>
        </p:txBody>
      </p:sp>
      <p:sp>
        <p:nvSpPr>
          <p:cNvPr id="35" name="Text 33"/>
          <p:cNvSpPr/>
          <p:nvPr/>
        </p:nvSpPr>
        <p:spPr>
          <a:xfrm>
            <a:off x="3108960" y="2688336"/>
            <a:ext cx="1298448" cy="237744"/>
          </a:xfrm>
          <a:prstGeom prst="rect">
            <a:avLst/>
          </a:prstGeom>
          <a:noFill/>
        </p:spPr>
        <p:txBody>
          <a:bodyPr wrap="square" lIns="0" tIns="0" rIns="0" bIns="0" rtlCol="0" anchor="ctr"/>
          <a:lstStyle/>
          <a:p>
            <a:pPr marL="0" indent="0" algn="ctr">
              <a:buNone/>
            </a:pPr>
            <a:r>
              <a:rPr lang="en-US" sz="750" dirty="0">
                <a:solidFill>
                  <a:srgbClr val="475569"/>
                </a:solidFill>
                <a:latin typeface="Calibri" panose="020F0502020204030204" pitchFamily="34" charset="0"/>
                <a:ea typeface="Calibri" panose="020F0502020204030204" pitchFamily="34" charset="-122"/>
                <a:cs typeface="Calibri" panose="020F0502020204030204" pitchFamily="34" charset="-120"/>
              </a:rPr>
              <a:t>→ Next cluster</a:t>
            </a:r>
            <a:endParaRPr lang="en-US" sz="750" dirty="0"/>
          </a:p>
        </p:txBody>
      </p:sp>
      <p:sp>
        <p:nvSpPr>
          <p:cNvPr id="36" name="Text 34"/>
          <p:cNvSpPr/>
          <p:nvPr/>
        </p:nvSpPr>
        <p:spPr>
          <a:xfrm>
            <a:off x="4407408" y="2487168"/>
            <a:ext cx="128016" cy="256032"/>
          </a:xfrm>
          <a:prstGeom prst="rect">
            <a:avLst/>
          </a:prstGeom>
          <a:noFill/>
        </p:spPr>
        <p:txBody>
          <a:bodyPr wrap="square" lIns="0" tIns="0" rIns="0" bIns="0" rtlCol="0" anchor="ctr"/>
          <a:lstStyle/>
          <a:p>
            <a:pPr marL="0" indent="0" algn="ctr">
              <a:buNone/>
            </a:pPr>
            <a:r>
              <a:rPr lang="en-US" sz="1200" b="1" dirty="0">
                <a:solidFill>
                  <a:srgbClr val="475569"/>
                </a:solidFill>
                <a:latin typeface="Trebuchet MS" panose="020B0603020202020204" pitchFamily="34" charset="0"/>
                <a:ea typeface="Trebuchet MS" panose="020B0603020202020204" pitchFamily="34" charset="-122"/>
                <a:cs typeface="Trebuchet MS" panose="020B0603020202020204" pitchFamily="34" charset="-120"/>
              </a:rPr>
              <a:t>→</a:t>
            </a:r>
            <a:endParaRPr lang="en-US" sz="1200" dirty="0"/>
          </a:p>
        </p:txBody>
      </p:sp>
      <p:sp>
        <p:nvSpPr>
          <p:cNvPr id="37" name="Shape 35"/>
          <p:cNvSpPr/>
          <p:nvPr/>
        </p:nvSpPr>
        <p:spPr>
          <a:xfrm>
            <a:off x="4535424" y="2267712"/>
            <a:ext cx="1298448" cy="694944"/>
          </a:xfrm>
          <a:prstGeom prst="rect">
            <a:avLst/>
          </a:prstGeom>
          <a:solidFill>
            <a:srgbClr val="F97316">
              <a:alpha val="75000"/>
            </a:srgbClr>
          </a:solidFill>
          <a:ln w="12700">
            <a:solidFill>
              <a:srgbClr val="F97316"/>
            </a:solidFill>
            <a:prstDash val="solid"/>
          </a:ln>
        </p:spPr>
        <p:txBody>
          <a:bodyPr/>
          <a:lstStyle/>
          <a:p>
            <a:endParaRPr lang="en-SG"/>
          </a:p>
        </p:txBody>
      </p:sp>
      <p:sp>
        <p:nvSpPr>
          <p:cNvPr id="38" name="Text 36"/>
          <p:cNvSpPr/>
          <p:nvPr/>
        </p:nvSpPr>
        <p:spPr>
          <a:xfrm>
            <a:off x="4535424" y="2304288"/>
            <a:ext cx="1298448" cy="365760"/>
          </a:xfrm>
          <a:prstGeom prst="rect">
            <a:avLst/>
          </a:prstGeom>
          <a:noFill/>
        </p:spPr>
        <p:txBody>
          <a:bodyPr wrap="square" lIns="0" tIns="0" rIns="0" bIns="0" rtlCol="0" anchor="ctr"/>
          <a:lstStyle/>
          <a:p>
            <a:pPr marL="0" indent="0" algn="ctr">
              <a:buNone/>
            </a:pPr>
            <a:r>
              <a:rPr lang="en-US" sz="8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Read cluster data</a:t>
            </a:r>
            <a:endParaRPr lang="en-US" sz="850" dirty="0"/>
          </a:p>
          <a:p>
            <a:pPr marL="0" indent="0" algn="ctr">
              <a:buNone/>
            </a:pPr>
            <a:r>
              <a:rPr lang="en-US" sz="8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 advance to next</a:t>
            </a:r>
            <a:endParaRPr lang="en-US" sz="850" dirty="0"/>
          </a:p>
        </p:txBody>
      </p:sp>
      <p:sp>
        <p:nvSpPr>
          <p:cNvPr id="39" name="Text 37"/>
          <p:cNvSpPr/>
          <p:nvPr/>
        </p:nvSpPr>
        <p:spPr>
          <a:xfrm>
            <a:off x="4535424" y="2688336"/>
            <a:ext cx="1298448" cy="237744"/>
          </a:xfrm>
          <a:prstGeom prst="rect">
            <a:avLst/>
          </a:prstGeom>
          <a:noFill/>
        </p:spPr>
        <p:txBody>
          <a:bodyPr wrap="square" lIns="0" tIns="0" rIns="0" bIns="0" rtlCol="0" anchor="ctr"/>
          <a:lstStyle/>
          <a:p>
            <a:pPr marL="0" indent="0" algn="ctr">
              <a:buNone/>
            </a:pPr>
            <a:r>
              <a:rPr lang="en-US" sz="750" dirty="0">
                <a:solidFill>
                  <a:srgbClr val="475569"/>
                </a:solidFill>
                <a:latin typeface="Calibri" panose="020F0502020204030204" pitchFamily="34" charset="0"/>
                <a:ea typeface="Calibri" panose="020F0502020204030204" pitchFamily="34" charset="-122"/>
                <a:cs typeface="Calibri" panose="020F0502020204030204" pitchFamily="34" charset="-120"/>
              </a:rPr>
              <a:t>Repeat</a:t>
            </a:r>
            <a:endParaRPr lang="en-US" sz="750" dirty="0"/>
          </a:p>
        </p:txBody>
      </p:sp>
      <p:sp>
        <p:nvSpPr>
          <p:cNvPr id="40" name="Text 38"/>
          <p:cNvSpPr/>
          <p:nvPr/>
        </p:nvSpPr>
        <p:spPr>
          <a:xfrm>
            <a:off x="5833872" y="2487168"/>
            <a:ext cx="128016" cy="256032"/>
          </a:xfrm>
          <a:prstGeom prst="rect">
            <a:avLst/>
          </a:prstGeom>
          <a:noFill/>
        </p:spPr>
        <p:txBody>
          <a:bodyPr wrap="square" lIns="0" tIns="0" rIns="0" bIns="0" rtlCol="0" anchor="ctr"/>
          <a:lstStyle/>
          <a:p>
            <a:pPr marL="0" indent="0" algn="ctr">
              <a:buNone/>
            </a:pPr>
            <a:r>
              <a:rPr lang="en-US" sz="1200" b="1" dirty="0">
                <a:solidFill>
                  <a:srgbClr val="475569"/>
                </a:solidFill>
                <a:latin typeface="Trebuchet MS" panose="020B0603020202020204" pitchFamily="34" charset="0"/>
                <a:ea typeface="Trebuchet MS" panose="020B0603020202020204" pitchFamily="34" charset="-122"/>
                <a:cs typeface="Trebuchet MS" panose="020B0603020202020204" pitchFamily="34" charset="-120"/>
              </a:rPr>
              <a:t>→</a:t>
            </a:r>
            <a:endParaRPr lang="en-US" sz="1200" dirty="0"/>
          </a:p>
        </p:txBody>
      </p:sp>
      <p:sp>
        <p:nvSpPr>
          <p:cNvPr id="41" name="Shape 39"/>
          <p:cNvSpPr/>
          <p:nvPr/>
        </p:nvSpPr>
        <p:spPr>
          <a:xfrm>
            <a:off x="5961888" y="2267712"/>
            <a:ext cx="1298448" cy="694944"/>
          </a:xfrm>
          <a:prstGeom prst="rect">
            <a:avLst/>
          </a:prstGeom>
          <a:solidFill>
            <a:srgbClr val="10B981">
              <a:alpha val="75000"/>
            </a:srgbClr>
          </a:solidFill>
          <a:ln w="12700">
            <a:solidFill>
              <a:srgbClr val="10B981"/>
            </a:solidFill>
            <a:prstDash val="solid"/>
          </a:ln>
        </p:spPr>
        <p:txBody>
          <a:bodyPr/>
          <a:lstStyle/>
          <a:p>
            <a:endParaRPr lang="en-SG"/>
          </a:p>
        </p:txBody>
      </p:sp>
      <p:sp>
        <p:nvSpPr>
          <p:cNvPr id="42" name="Text 40"/>
          <p:cNvSpPr/>
          <p:nvPr/>
        </p:nvSpPr>
        <p:spPr>
          <a:xfrm>
            <a:off x="5961888" y="2304288"/>
            <a:ext cx="1298448" cy="365760"/>
          </a:xfrm>
          <a:prstGeom prst="rect">
            <a:avLst/>
          </a:prstGeom>
          <a:noFill/>
        </p:spPr>
        <p:txBody>
          <a:bodyPr wrap="square" lIns="0" tIns="0" rIns="0" bIns="0" rtlCol="0" anchor="ctr"/>
          <a:lstStyle/>
          <a:p>
            <a:pPr marL="0" indent="0" algn="ctr">
              <a:buNone/>
            </a:pPr>
            <a:r>
              <a:rPr lang="en-US" sz="8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Value is</a:t>
            </a:r>
            <a:endParaRPr lang="en-US" sz="850" dirty="0"/>
          </a:p>
          <a:p>
            <a:pPr marL="0" indent="0" algn="ctr">
              <a:buNone/>
            </a:pPr>
            <a:r>
              <a:rPr lang="en-US" sz="8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0x0FFFFFF8+</a:t>
            </a:r>
            <a:endParaRPr lang="en-US" sz="850" dirty="0"/>
          </a:p>
        </p:txBody>
      </p:sp>
      <p:sp>
        <p:nvSpPr>
          <p:cNvPr id="43" name="Text 41"/>
          <p:cNvSpPr/>
          <p:nvPr/>
        </p:nvSpPr>
        <p:spPr>
          <a:xfrm>
            <a:off x="5961888" y="2688336"/>
            <a:ext cx="1298448" cy="237744"/>
          </a:xfrm>
          <a:prstGeom prst="rect">
            <a:avLst/>
          </a:prstGeom>
          <a:noFill/>
        </p:spPr>
        <p:txBody>
          <a:bodyPr wrap="square" lIns="0" tIns="0" rIns="0" bIns="0" rtlCol="0" anchor="ctr"/>
          <a:lstStyle/>
          <a:p>
            <a:pPr marL="0" indent="0" algn="ctr">
              <a:buNone/>
            </a:pPr>
            <a:r>
              <a:rPr lang="en-US" sz="750" dirty="0">
                <a:solidFill>
                  <a:srgbClr val="475569"/>
                </a:solidFill>
                <a:latin typeface="Calibri" panose="020F0502020204030204" pitchFamily="34" charset="0"/>
                <a:ea typeface="Calibri" panose="020F0502020204030204" pitchFamily="34" charset="-122"/>
                <a:cs typeface="Calibri" panose="020F0502020204030204" pitchFamily="34" charset="-120"/>
              </a:rPr>
              <a:t>→ EOF</a:t>
            </a:r>
            <a:endParaRPr lang="en-US" sz="750" dirty="0"/>
          </a:p>
        </p:txBody>
      </p:sp>
      <p:sp>
        <p:nvSpPr>
          <p:cNvPr id="44" name="Text 42"/>
          <p:cNvSpPr/>
          <p:nvPr/>
        </p:nvSpPr>
        <p:spPr>
          <a:xfrm>
            <a:off x="7260336" y="2487168"/>
            <a:ext cx="128016" cy="256032"/>
          </a:xfrm>
          <a:prstGeom prst="rect">
            <a:avLst/>
          </a:prstGeom>
          <a:noFill/>
        </p:spPr>
        <p:txBody>
          <a:bodyPr wrap="square" lIns="0" tIns="0" rIns="0" bIns="0" rtlCol="0" anchor="ctr"/>
          <a:lstStyle/>
          <a:p>
            <a:pPr marL="0" indent="0" algn="ctr">
              <a:buNone/>
            </a:pPr>
            <a:r>
              <a:rPr lang="en-US" sz="1200" b="1" dirty="0">
                <a:solidFill>
                  <a:srgbClr val="475569"/>
                </a:solidFill>
                <a:latin typeface="Trebuchet MS" panose="020B0603020202020204" pitchFamily="34" charset="0"/>
                <a:ea typeface="Trebuchet MS" panose="020B0603020202020204" pitchFamily="34" charset="-122"/>
                <a:cs typeface="Trebuchet MS" panose="020B0603020202020204" pitchFamily="34" charset="-120"/>
              </a:rPr>
              <a:t>→</a:t>
            </a:r>
            <a:endParaRPr lang="en-US" sz="1200" dirty="0"/>
          </a:p>
        </p:txBody>
      </p:sp>
      <p:sp>
        <p:nvSpPr>
          <p:cNvPr id="45" name="Shape 43"/>
          <p:cNvSpPr/>
          <p:nvPr/>
        </p:nvSpPr>
        <p:spPr>
          <a:xfrm>
            <a:off x="7388352" y="2267712"/>
            <a:ext cx="1298448" cy="694944"/>
          </a:xfrm>
          <a:prstGeom prst="rect">
            <a:avLst/>
          </a:prstGeom>
          <a:solidFill>
            <a:srgbClr val="10B981">
              <a:alpha val="75000"/>
            </a:srgbClr>
          </a:solidFill>
          <a:ln w="12700">
            <a:solidFill>
              <a:srgbClr val="10B981"/>
            </a:solidFill>
            <a:prstDash val="solid"/>
          </a:ln>
        </p:spPr>
        <p:txBody>
          <a:bodyPr/>
          <a:lstStyle/>
          <a:p>
            <a:endParaRPr lang="en-SG"/>
          </a:p>
        </p:txBody>
      </p:sp>
      <p:sp>
        <p:nvSpPr>
          <p:cNvPr id="46" name="Text 44"/>
          <p:cNvSpPr/>
          <p:nvPr/>
        </p:nvSpPr>
        <p:spPr>
          <a:xfrm>
            <a:off x="7388352" y="2304288"/>
            <a:ext cx="1298448" cy="365760"/>
          </a:xfrm>
          <a:prstGeom prst="rect">
            <a:avLst/>
          </a:prstGeom>
          <a:noFill/>
        </p:spPr>
        <p:txBody>
          <a:bodyPr wrap="square" lIns="0" tIns="0" rIns="0" bIns="0" rtlCol="0" anchor="ctr"/>
          <a:lstStyle/>
          <a:p>
            <a:pPr marL="0" indent="0" algn="ctr">
              <a:buNone/>
            </a:pPr>
            <a:r>
              <a:rPr lang="en-US" sz="8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File complete</a:t>
            </a:r>
            <a:endParaRPr lang="en-US" sz="850" dirty="0"/>
          </a:p>
        </p:txBody>
      </p:sp>
      <p:sp>
        <p:nvSpPr>
          <p:cNvPr id="47" name="Text 45"/>
          <p:cNvSpPr/>
          <p:nvPr/>
        </p:nvSpPr>
        <p:spPr>
          <a:xfrm>
            <a:off x="7388352" y="2688336"/>
            <a:ext cx="1298448" cy="237744"/>
          </a:xfrm>
          <a:prstGeom prst="rect">
            <a:avLst/>
          </a:prstGeom>
          <a:noFill/>
        </p:spPr>
        <p:txBody>
          <a:bodyPr wrap="square" lIns="0" tIns="0" rIns="0" bIns="0" rtlCol="0" anchor="ctr"/>
          <a:lstStyle/>
          <a:p>
            <a:pPr marL="0" indent="0" algn="ctr">
              <a:buNone/>
            </a:pPr>
            <a:r>
              <a:rPr lang="en-US" sz="750" dirty="0">
                <a:solidFill>
                  <a:srgbClr val="475569"/>
                </a:solidFill>
                <a:latin typeface="Calibri" panose="020F0502020204030204" pitchFamily="34" charset="0"/>
                <a:ea typeface="Calibri" panose="020F0502020204030204" pitchFamily="34" charset="-122"/>
                <a:cs typeface="Calibri" panose="020F0502020204030204" pitchFamily="34" charset="-120"/>
              </a:rPr>
              <a:t>All data read</a:t>
            </a:r>
            <a:endParaRPr lang="en-US" sz="750" dirty="0"/>
          </a:p>
        </p:txBody>
      </p:sp>
      <p:sp>
        <p:nvSpPr>
          <p:cNvPr id="48" name="Text 46"/>
          <p:cNvSpPr/>
          <p:nvPr/>
        </p:nvSpPr>
        <p:spPr>
          <a:xfrm>
            <a:off x="256032" y="3054096"/>
            <a:ext cx="8631936" cy="219456"/>
          </a:xfrm>
          <a:prstGeom prst="rect">
            <a:avLst/>
          </a:prstGeom>
          <a:noFill/>
        </p:spPr>
        <p:txBody>
          <a:bodyPr wrap="square" rtlCol="0" anchor="ctr"/>
          <a:lstStyle/>
          <a:p>
            <a:pPr marL="0" indent="0" algn="ctr">
              <a:buNone/>
            </a:pPr>
            <a:r>
              <a:rPr lang="en-US" sz="900" i="1" dirty="0">
                <a:solidFill>
                  <a:srgbClr val="475569"/>
                </a:solidFill>
                <a:latin typeface="Calibri" panose="020F0502020204030204" pitchFamily="34" charset="0"/>
                <a:ea typeface="Calibri" panose="020F0502020204030204" pitchFamily="34" charset="-122"/>
                <a:cs typeface="Calibri" panose="020F0502020204030204" pitchFamily="34" charset="-120"/>
              </a:rPr>
              <a:t>If FAT value = next cluster → keep following. If FAT value = EOF → stop. This loop continues until the chain ends.</a:t>
            </a:r>
            <a:endParaRPr lang="en-US" sz="900" dirty="0"/>
          </a:p>
        </p:txBody>
      </p:sp>
      <p:sp>
        <p:nvSpPr>
          <p:cNvPr id="49" name="Shape 47"/>
          <p:cNvSpPr/>
          <p:nvPr/>
        </p:nvSpPr>
        <p:spPr>
          <a:xfrm>
            <a:off x="256032" y="3346704"/>
            <a:ext cx="8631936" cy="219456"/>
          </a:xfrm>
          <a:prstGeom prst="rect">
            <a:avLst/>
          </a:prstGeom>
          <a:solidFill>
            <a:srgbClr val="F59E0B"/>
          </a:solidFill>
          <a:ln w="12700">
            <a:solidFill>
              <a:srgbClr val="F59E0B"/>
            </a:solidFill>
            <a:prstDash val="solid"/>
          </a:ln>
        </p:spPr>
        <p:txBody>
          <a:bodyPr/>
          <a:lstStyle/>
          <a:p>
            <a:endParaRPr lang="en-SG"/>
          </a:p>
        </p:txBody>
      </p:sp>
      <p:sp>
        <p:nvSpPr>
          <p:cNvPr id="50" name="Text 48"/>
          <p:cNvSpPr/>
          <p:nvPr/>
        </p:nvSpPr>
        <p:spPr>
          <a:xfrm>
            <a:off x="329184" y="3355848"/>
            <a:ext cx="8412480" cy="182880"/>
          </a:xfrm>
          <a:prstGeom prst="rect">
            <a:avLst/>
          </a:prstGeom>
          <a:noFill/>
        </p:spPr>
        <p:txBody>
          <a:bodyPr wrap="square" lIns="0" tIns="0" rIns="0" bIns="0" rtlCol="0" anchor="ctr"/>
          <a:lstStyle/>
          <a:p>
            <a:pPr marL="0" indent="0">
              <a:buNone/>
            </a:pPr>
            <a:r>
              <a:rPr lang="en-US" sz="9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FAT Table excerpt — File stored in clusters 3 → 5 → 7 → EOF</a:t>
            </a:r>
            <a:endParaRPr lang="en-US" sz="950" dirty="0"/>
          </a:p>
        </p:txBody>
      </p:sp>
      <p:sp>
        <p:nvSpPr>
          <p:cNvPr id="51" name="Shape 49"/>
          <p:cNvSpPr/>
          <p:nvPr/>
        </p:nvSpPr>
        <p:spPr>
          <a:xfrm>
            <a:off x="256032" y="3621024"/>
            <a:ext cx="768096" cy="566928"/>
          </a:xfrm>
          <a:prstGeom prst="rect">
            <a:avLst/>
          </a:prstGeom>
          <a:solidFill>
            <a:srgbClr val="EEF6FB"/>
          </a:solidFill>
          <a:ln w="12700">
            <a:solidFill>
              <a:srgbClr val="94A3B8"/>
            </a:solidFill>
            <a:prstDash val="solid"/>
          </a:ln>
        </p:spPr>
        <p:txBody>
          <a:bodyPr/>
          <a:lstStyle/>
          <a:p>
            <a:endParaRPr lang="en-SG"/>
          </a:p>
        </p:txBody>
      </p:sp>
      <p:sp>
        <p:nvSpPr>
          <p:cNvPr id="52" name="Text 50"/>
          <p:cNvSpPr/>
          <p:nvPr/>
        </p:nvSpPr>
        <p:spPr>
          <a:xfrm>
            <a:off x="256032" y="3639312"/>
            <a:ext cx="768096" cy="164592"/>
          </a:xfrm>
          <a:prstGeom prst="rect">
            <a:avLst/>
          </a:prstGeom>
          <a:noFill/>
        </p:spPr>
        <p:txBody>
          <a:bodyPr wrap="square" lIns="0" tIns="0" rIns="0" bIns="0" rtlCol="0" anchor="ctr"/>
          <a:lstStyle/>
          <a:p>
            <a:pPr marL="0" indent="0" algn="ctr">
              <a:buNone/>
            </a:pPr>
            <a:r>
              <a:rPr lang="en-US" sz="750" b="1" dirty="0">
                <a:solidFill>
                  <a:srgbClr val="475569"/>
                </a:solidFill>
                <a:latin typeface="Consolas" panose="020B0609020204030204" pitchFamily="34" charset="0"/>
                <a:ea typeface="Consolas" panose="020B0609020204030204" pitchFamily="34" charset="-122"/>
                <a:cs typeface="Consolas" panose="020B0609020204030204" pitchFamily="34" charset="-120"/>
              </a:rPr>
              <a:t>[0]</a:t>
            </a:r>
            <a:endParaRPr lang="en-US" sz="750" dirty="0"/>
          </a:p>
        </p:txBody>
      </p:sp>
      <p:sp>
        <p:nvSpPr>
          <p:cNvPr id="53" name="Text 51"/>
          <p:cNvSpPr/>
          <p:nvPr/>
        </p:nvSpPr>
        <p:spPr>
          <a:xfrm>
            <a:off x="256032" y="3803904"/>
            <a:ext cx="768096" cy="182880"/>
          </a:xfrm>
          <a:prstGeom prst="rect">
            <a:avLst/>
          </a:prstGeom>
          <a:noFill/>
        </p:spPr>
        <p:txBody>
          <a:bodyPr wrap="square" lIns="0" tIns="0" rIns="0" bIns="0" rtlCol="0" anchor="ctr"/>
          <a:lstStyle/>
          <a:p>
            <a:pPr marL="0" indent="0" algn="ctr">
              <a:buNone/>
            </a:pPr>
            <a:r>
              <a:rPr lang="en-US" sz="700" dirty="0">
                <a:solidFill>
                  <a:srgbClr val="94A3B8"/>
                </a:solidFill>
                <a:latin typeface="Consolas" panose="020B0609020204030204" pitchFamily="34" charset="0"/>
                <a:ea typeface="Consolas" panose="020B0609020204030204" pitchFamily="34" charset="-122"/>
                <a:cs typeface="Consolas" panose="020B0609020204030204" pitchFamily="34" charset="-120"/>
              </a:rPr>
              <a:t>F8FFFF0F</a:t>
            </a:r>
            <a:endParaRPr lang="en-US" sz="700" dirty="0"/>
          </a:p>
        </p:txBody>
      </p:sp>
      <p:sp>
        <p:nvSpPr>
          <p:cNvPr id="54" name="Text 52"/>
          <p:cNvSpPr/>
          <p:nvPr/>
        </p:nvSpPr>
        <p:spPr>
          <a:xfrm>
            <a:off x="256032" y="4005072"/>
            <a:ext cx="768096" cy="164592"/>
          </a:xfrm>
          <a:prstGeom prst="rect">
            <a:avLst/>
          </a:prstGeom>
          <a:noFill/>
        </p:spPr>
        <p:txBody>
          <a:bodyPr wrap="square" lIns="0" tIns="0" rIns="0" bIns="0" rtlCol="0" anchor="ctr"/>
          <a:lstStyle/>
          <a:p>
            <a:pPr marL="0" indent="0" algn="ctr">
              <a:buNone/>
            </a:pPr>
            <a:r>
              <a:rPr lang="en-US" sz="700" dirty="0">
                <a:solidFill>
                  <a:srgbClr val="94A3B8"/>
                </a:solidFill>
                <a:latin typeface="Calibri" panose="020F0502020204030204" pitchFamily="34" charset="0"/>
                <a:ea typeface="Calibri" panose="020F0502020204030204" pitchFamily="34" charset="-122"/>
                <a:cs typeface="Calibri" panose="020F0502020204030204" pitchFamily="34" charset="-120"/>
              </a:rPr>
              <a:t>Reserved</a:t>
            </a:r>
            <a:endParaRPr lang="en-US" sz="700" dirty="0"/>
          </a:p>
        </p:txBody>
      </p:sp>
      <p:sp>
        <p:nvSpPr>
          <p:cNvPr id="55" name="Shape 53"/>
          <p:cNvSpPr/>
          <p:nvPr/>
        </p:nvSpPr>
        <p:spPr>
          <a:xfrm>
            <a:off x="1060704" y="3621024"/>
            <a:ext cx="768096" cy="566928"/>
          </a:xfrm>
          <a:prstGeom prst="rect">
            <a:avLst/>
          </a:prstGeom>
          <a:solidFill>
            <a:srgbClr val="EEF6FB"/>
          </a:solidFill>
          <a:ln w="12700">
            <a:solidFill>
              <a:srgbClr val="94A3B8"/>
            </a:solidFill>
            <a:prstDash val="solid"/>
          </a:ln>
        </p:spPr>
        <p:txBody>
          <a:bodyPr/>
          <a:lstStyle/>
          <a:p>
            <a:endParaRPr lang="en-SG"/>
          </a:p>
        </p:txBody>
      </p:sp>
      <p:sp>
        <p:nvSpPr>
          <p:cNvPr id="56" name="Text 54"/>
          <p:cNvSpPr/>
          <p:nvPr/>
        </p:nvSpPr>
        <p:spPr>
          <a:xfrm>
            <a:off x="1060704" y="3639312"/>
            <a:ext cx="768096" cy="164592"/>
          </a:xfrm>
          <a:prstGeom prst="rect">
            <a:avLst/>
          </a:prstGeom>
          <a:noFill/>
        </p:spPr>
        <p:txBody>
          <a:bodyPr wrap="square" lIns="0" tIns="0" rIns="0" bIns="0" rtlCol="0" anchor="ctr"/>
          <a:lstStyle/>
          <a:p>
            <a:pPr marL="0" indent="0" algn="ctr">
              <a:buNone/>
            </a:pPr>
            <a:r>
              <a:rPr lang="en-US" sz="750" b="1" dirty="0">
                <a:solidFill>
                  <a:srgbClr val="475569"/>
                </a:solidFill>
                <a:latin typeface="Consolas" panose="020B0609020204030204" pitchFamily="34" charset="0"/>
                <a:ea typeface="Consolas" panose="020B0609020204030204" pitchFamily="34" charset="-122"/>
                <a:cs typeface="Consolas" panose="020B0609020204030204" pitchFamily="34" charset="-120"/>
              </a:rPr>
              <a:t>[1]</a:t>
            </a:r>
            <a:endParaRPr lang="en-US" sz="750" dirty="0"/>
          </a:p>
        </p:txBody>
      </p:sp>
      <p:sp>
        <p:nvSpPr>
          <p:cNvPr id="57" name="Text 55"/>
          <p:cNvSpPr/>
          <p:nvPr/>
        </p:nvSpPr>
        <p:spPr>
          <a:xfrm>
            <a:off x="1060704" y="3803904"/>
            <a:ext cx="768096" cy="182880"/>
          </a:xfrm>
          <a:prstGeom prst="rect">
            <a:avLst/>
          </a:prstGeom>
          <a:noFill/>
        </p:spPr>
        <p:txBody>
          <a:bodyPr wrap="square" lIns="0" tIns="0" rIns="0" bIns="0" rtlCol="0" anchor="ctr"/>
          <a:lstStyle/>
          <a:p>
            <a:pPr marL="0" indent="0" algn="ctr">
              <a:buNone/>
            </a:pPr>
            <a:r>
              <a:rPr lang="en-US" sz="700" dirty="0">
                <a:solidFill>
                  <a:srgbClr val="94A3B8"/>
                </a:solidFill>
                <a:latin typeface="Consolas" panose="020B0609020204030204" pitchFamily="34" charset="0"/>
                <a:ea typeface="Consolas" panose="020B0609020204030204" pitchFamily="34" charset="-122"/>
                <a:cs typeface="Consolas" panose="020B0609020204030204" pitchFamily="34" charset="-120"/>
              </a:rPr>
              <a:t>FFFFFFFF</a:t>
            </a:r>
            <a:endParaRPr lang="en-US" sz="700" dirty="0"/>
          </a:p>
        </p:txBody>
      </p:sp>
      <p:sp>
        <p:nvSpPr>
          <p:cNvPr id="58" name="Text 56"/>
          <p:cNvSpPr/>
          <p:nvPr/>
        </p:nvSpPr>
        <p:spPr>
          <a:xfrm>
            <a:off x="1060704" y="4005072"/>
            <a:ext cx="768096" cy="164592"/>
          </a:xfrm>
          <a:prstGeom prst="rect">
            <a:avLst/>
          </a:prstGeom>
          <a:noFill/>
        </p:spPr>
        <p:txBody>
          <a:bodyPr wrap="square" lIns="0" tIns="0" rIns="0" bIns="0" rtlCol="0" anchor="ctr"/>
          <a:lstStyle/>
          <a:p>
            <a:pPr marL="0" indent="0" algn="ctr">
              <a:buNone/>
            </a:pPr>
            <a:r>
              <a:rPr lang="en-US" sz="700" dirty="0">
                <a:solidFill>
                  <a:srgbClr val="94A3B8"/>
                </a:solidFill>
                <a:latin typeface="Calibri" panose="020F0502020204030204" pitchFamily="34" charset="0"/>
                <a:ea typeface="Calibri" panose="020F0502020204030204" pitchFamily="34" charset="-122"/>
                <a:cs typeface="Calibri" panose="020F0502020204030204" pitchFamily="34" charset="-120"/>
              </a:rPr>
              <a:t>Reserved</a:t>
            </a:r>
            <a:endParaRPr lang="en-US" sz="700" dirty="0"/>
          </a:p>
        </p:txBody>
      </p:sp>
      <p:sp>
        <p:nvSpPr>
          <p:cNvPr id="59" name="Shape 57"/>
          <p:cNvSpPr/>
          <p:nvPr/>
        </p:nvSpPr>
        <p:spPr>
          <a:xfrm>
            <a:off x="1865376" y="3621024"/>
            <a:ext cx="768096" cy="566928"/>
          </a:xfrm>
          <a:prstGeom prst="rect">
            <a:avLst/>
          </a:prstGeom>
          <a:solidFill>
            <a:srgbClr val="EEF6FB"/>
          </a:solidFill>
          <a:ln w="12700">
            <a:solidFill>
              <a:srgbClr val="64748B"/>
            </a:solidFill>
            <a:prstDash val="solid"/>
          </a:ln>
        </p:spPr>
        <p:txBody>
          <a:bodyPr/>
          <a:lstStyle/>
          <a:p>
            <a:endParaRPr lang="en-SG"/>
          </a:p>
        </p:txBody>
      </p:sp>
      <p:sp>
        <p:nvSpPr>
          <p:cNvPr id="60" name="Text 58"/>
          <p:cNvSpPr/>
          <p:nvPr/>
        </p:nvSpPr>
        <p:spPr>
          <a:xfrm>
            <a:off x="1865376" y="3639312"/>
            <a:ext cx="768096" cy="164592"/>
          </a:xfrm>
          <a:prstGeom prst="rect">
            <a:avLst/>
          </a:prstGeom>
          <a:noFill/>
        </p:spPr>
        <p:txBody>
          <a:bodyPr wrap="square" lIns="0" tIns="0" rIns="0" bIns="0" rtlCol="0" anchor="ctr"/>
          <a:lstStyle/>
          <a:p>
            <a:pPr marL="0" indent="0" algn="ctr">
              <a:buNone/>
            </a:pPr>
            <a:r>
              <a:rPr lang="en-US" sz="750" b="1" dirty="0">
                <a:solidFill>
                  <a:srgbClr val="475569"/>
                </a:solidFill>
                <a:latin typeface="Consolas" panose="020B0609020204030204" pitchFamily="34" charset="0"/>
                <a:ea typeface="Consolas" panose="020B0609020204030204" pitchFamily="34" charset="-122"/>
                <a:cs typeface="Consolas" panose="020B0609020204030204" pitchFamily="34" charset="-120"/>
              </a:rPr>
              <a:t>[2]</a:t>
            </a:r>
            <a:endParaRPr lang="en-US" sz="750" dirty="0"/>
          </a:p>
        </p:txBody>
      </p:sp>
      <p:sp>
        <p:nvSpPr>
          <p:cNvPr id="61" name="Text 59"/>
          <p:cNvSpPr/>
          <p:nvPr/>
        </p:nvSpPr>
        <p:spPr>
          <a:xfrm>
            <a:off x="1865376" y="3803904"/>
            <a:ext cx="768096" cy="182880"/>
          </a:xfrm>
          <a:prstGeom prst="rect">
            <a:avLst/>
          </a:prstGeom>
          <a:noFill/>
        </p:spPr>
        <p:txBody>
          <a:bodyPr wrap="square" lIns="0" tIns="0" rIns="0" bIns="0" rtlCol="0" anchor="ctr"/>
          <a:lstStyle/>
          <a:p>
            <a:pPr marL="0" indent="0" algn="ctr">
              <a:buNone/>
            </a:pPr>
            <a:r>
              <a:rPr lang="en-US" sz="700" dirty="0">
                <a:solidFill>
                  <a:srgbClr val="475569"/>
                </a:solidFill>
                <a:latin typeface="Consolas" panose="020B0609020204030204" pitchFamily="34" charset="0"/>
                <a:ea typeface="Consolas" panose="020B0609020204030204" pitchFamily="34" charset="-122"/>
                <a:cs typeface="Consolas" panose="020B0609020204030204" pitchFamily="34" charset="-120"/>
              </a:rPr>
              <a:t>00000000</a:t>
            </a:r>
            <a:endParaRPr lang="en-US" sz="700" dirty="0"/>
          </a:p>
        </p:txBody>
      </p:sp>
      <p:sp>
        <p:nvSpPr>
          <p:cNvPr id="62" name="Text 60"/>
          <p:cNvSpPr/>
          <p:nvPr/>
        </p:nvSpPr>
        <p:spPr>
          <a:xfrm>
            <a:off x="1865376" y="4005072"/>
            <a:ext cx="768096" cy="164592"/>
          </a:xfrm>
          <a:prstGeom prst="rect">
            <a:avLst/>
          </a:prstGeom>
          <a:noFill/>
        </p:spPr>
        <p:txBody>
          <a:bodyPr wrap="square" lIns="0" tIns="0" rIns="0" bIns="0" rtlCol="0" anchor="ctr"/>
          <a:lstStyle/>
          <a:p>
            <a:pPr marL="0" indent="0" algn="ctr">
              <a:buNone/>
            </a:pPr>
            <a:r>
              <a:rPr lang="en-US" sz="700" dirty="0">
                <a:solidFill>
                  <a:srgbClr val="475569"/>
                </a:solidFill>
                <a:latin typeface="Calibri" panose="020F0502020204030204" pitchFamily="34" charset="0"/>
                <a:ea typeface="Calibri" panose="020F0502020204030204" pitchFamily="34" charset="-122"/>
                <a:cs typeface="Calibri" panose="020F0502020204030204" pitchFamily="34" charset="-120"/>
              </a:rPr>
              <a:t>Free</a:t>
            </a:r>
            <a:endParaRPr lang="en-US" sz="700" dirty="0"/>
          </a:p>
        </p:txBody>
      </p:sp>
      <p:sp>
        <p:nvSpPr>
          <p:cNvPr id="63" name="Shape 61"/>
          <p:cNvSpPr/>
          <p:nvPr/>
        </p:nvSpPr>
        <p:spPr>
          <a:xfrm>
            <a:off x="2670048" y="3621024"/>
            <a:ext cx="768096" cy="566928"/>
          </a:xfrm>
          <a:prstGeom prst="rect">
            <a:avLst/>
          </a:prstGeom>
          <a:solidFill>
            <a:srgbClr val="F59E0B">
              <a:alpha val="30000"/>
            </a:srgbClr>
          </a:solidFill>
          <a:ln w="12700">
            <a:solidFill>
              <a:srgbClr val="F59E0B"/>
            </a:solidFill>
            <a:prstDash val="solid"/>
          </a:ln>
        </p:spPr>
        <p:txBody>
          <a:bodyPr/>
          <a:lstStyle/>
          <a:p>
            <a:endParaRPr lang="en-SG"/>
          </a:p>
        </p:txBody>
      </p:sp>
      <p:sp>
        <p:nvSpPr>
          <p:cNvPr id="64" name="Text 62"/>
          <p:cNvSpPr/>
          <p:nvPr/>
        </p:nvSpPr>
        <p:spPr>
          <a:xfrm>
            <a:off x="2670048" y="3639312"/>
            <a:ext cx="768096" cy="164592"/>
          </a:xfrm>
          <a:prstGeom prst="rect">
            <a:avLst/>
          </a:prstGeom>
          <a:noFill/>
        </p:spPr>
        <p:txBody>
          <a:bodyPr wrap="square" lIns="0" tIns="0" rIns="0" bIns="0" rtlCol="0" anchor="ctr"/>
          <a:lstStyle/>
          <a:p>
            <a:pPr marL="0" indent="0" algn="ctr">
              <a:buNone/>
            </a:pPr>
            <a:r>
              <a:rPr lang="en-US" sz="750" b="1" dirty="0">
                <a:solidFill>
                  <a:srgbClr val="475569"/>
                </a:solidFill>
                <a:latin typeface="Consolas" panose="020B0609020204030204" pitchFamily="34" charset="0"/>
                <a:ea typeface="Consolas" panose="020B0609020204030204" pitchFamily="34" charset="-122"/>
                <a:cs typeface="Consolas" panose="020B0609020204030204" pitchFamily="34" charset="-120"/>
              </a:rPr>
              <a:t>[3]</a:t>
            </a:r>
            <a:endParaRPr lang="en-US" sz="750" dirty="0"/>
          </a:p>
        </p:txBody>
      </p:sp>
      <p:sp>
        <p:nvSpPr>
          <p:cNvPr id="65" name="Text 63"/>
          <p:cNvSpPr/>
          <p:nvPr/>
        </p:nvSpPr>
        <p:spPr>
          <a:xfrm>
            <a:off x="2670048" y="3803904"/>
            <a:ext cx="768096" cy="182880"/>
          </a:xfrm>
          <a:prstGeom prst="rect">
            <a:avLst/>
          </a:prstGeom>
          <a:noFill/>
        </p:spPr>
        <p:txBody>
          <a:bodyPr wrap="square" lIns="0" tIns="0" rIns="0" bIns="0" rtlCol="0" anchor="ctr"/>
          <a:lstStyle/>
          <a:p>
            <a:pPr marL="0" indent="0" algn="ctr">
              <a:buNone/>
            </a:pPr>
            <a:r>
              <a:rPr lang="en-US" sz="700" dirty="0">
                <a:solidFill>
                  <a:srgbClr val="F59E0B"/>
                </a:solidFill>
                <a:latin typeface="Consolas" panose="020B0609020204030204" pitchFamily="34" charset="0"/>
                <a:ea typeface="Consolas" panose="020B0609020204030204" pitchFamily="34" charset="-122"/>
                <a:cs typeface="Consolas" panose="020B0609020204030204" pitchFamily="34" charset="-120"/>
              </a:rPr>
              <a:t>05000000</a:t>
            </a:r>
            <a:endParaRPr lang="en-US" sz="700" dirty="0"/>
          </a:p>
        </p:txBody>
      </p:sp>
      <p:sp>
        <p:nvSpPr>
          <p:cNvPr id="66" name="Text 64"/>
          <p:cNvSpPr/>
          <p:nvPr/>
        </p:nvSpPr>
        <p:spPr>
          <a:xfrm>
            <a:off x="2670048" y="4005072"/>
            <a:ext cx="768096" cy="164592"/>
          </a:xfrm>
          <a:prstGeom prst="rect">
            <a:avLst/>
          </a:prstGeom>
          <a:noFill/>
        </p:spPr>
        <p:txBody>
          <a:bodyPr wrap="square" lIns="0" tIns="0" rIns="0" bIns="0" rtlCol="0" anchor="ctr"/>
          <a:lstStyle/>
          <a:p>
            <a:pPr marL="0" indent="0" algn="ctr">
              <a:buNone/>
            </a:pPr>
            <a:r>
              <a:rPr lang="en-US" sz="700" dirty="0">
                <a:solidFill>
                  <a:srgbClr val="F59E0B"/>
                </a:solidFill>
                <a:latin typeface="Calibri" panose="020F0502020204030204" pitchFamily="34" charset="0"/>
                <a:ea typeface="Calibri" panose="020F0502020204030204" pitchFamily="34" charset="-122"/>
                <a:cs typeface="Calibri" panose="020F0502020204030204" pitchFamily="34" charset="-120"/>
              </a:rPr>
              <a:t>→ 5</a:t>
            </a:r>
            <a:endParaRPr lang="en-US" sz="700" dirty="0"/>
          </a:p>
        </p:txBody>
      </p:sp>
      <p:sp>
        <p:nvSpPr>
          <p:cNvPr id="67" name="Shape 65"/>
          <p:cNvSpPr/>
          <p:nvPr/>
        </p:nvSpPr>
        <p:spPr>
          <a:xfrm>
            <a:off x="3474720" y="3621024"/>
            <a:ext cx="768096" cy="566928"/>
          </a:xfrm>
          <a:prstGeom prst="rect">
            <a:avLst/>
          </a:prstGeom>
          <a:solidFill>
            <a:srgbClr val="EEF6FB"/>
          </a:solidFill>
          <a:ln w="12700">
            <a:solidFill>
              <a:srgbClr val="64748B"/>
            </a:solidFill>
            <a:prstDash val="solid"/>
          </a:ln>
        </p:spPr>
        <p:txBody>
          <a:bodyPr/>
          <a:lstStyle/>
          <a:p>
            <a:endParaRPr lang="en-SG"/>
          </a:p>
        </p:txBody>
      </p:sp>
      <p:sp>
        <p:nvSpPr>
          <p:cNvPr id="68" name="Text 66"/>
          <p:cNvSpPr/>
          <p:nvPr/>
        </p:nvSpPr>
        <p:spPr>
          <a:xfrm>
            <a:off x="3474720" y="3639312"/>
            <a:ext cx="768096" cy="164592"/>
          </a:xfrm>
          <a:prstGeom prst="rect">
            <a:avLst/>
          </a:prstGeom>
          <a:noFill/>
        </p:spPr>
        <p:txBody>
          <a:bodyPr wrap="square" lIns="0" tIns="0" rIns="0" bIns="0" rtlCol="0" anchor="ctr"/>
          <a:lstStyle/>
          <a:p>
            <a:pPr marL="0" indent="0" algn="ctr">
              <a:buNone/>
            </a:pPr>
            <a:r>
              <a:rPr lang="en-US" sz="750" b="1" dirty="0">
                <a:solidFill>
                  <a:srgbClr val="475569"/>
                </a:solidFill>
                <a:latin typeface="Consolas" panose="020B0609020204030204" pitchFamily="34" charset="0"/>
                <a:ea typeface="Consolas" panose="020B0609020204030204" pitchFamily="34" charset="-122"/>
                <a:cs typeface="Consolas" panose="020B0609020204030204" pitchFamily="34" charset="-120"/>
              </a:rPr>
              <a:t>[4]</a:t>
            </a:r>
            <a:endParaRPr lang="en-US" sz="750" dirty="0"/>
          </a:p>
        </p:txBody>
      </p:sp>
      <p:sp>
        <p:nvSpPr>
          <p:cNvPr id="69" name="Text 67"/>
          <p:cNvSpPr/>
          <p:nvPr/>
        </p:nvSpPr>
        <p:spPr>
          <a:xfrm>
            <a:off x="3474720" y="3803904"/>
            <a:ext cx="768096" cy="182880"/>
          </a:xfrm>
          <a:prstGeom prst="rect">
            <a:avLst/>
          </a:prstGeom>
          <a:noFill/>
        </p:spPr>
        <p:txBody>
          <a:bodyPr wrap="square" lIns="0" tIns="0" rIns="0" bIns="0" rtlCol="0" anchor="ctr"/>
          <a:lstStyle/>
          <a:p>
            <a:pPr marL="0" indent="0" algn="ctr">
              <a:buNone/>
            </a:pPr>
            <a:r>
              <a:rPr lang="en-US" sz="700" dirty="0">
                <a:solidFill>
                  <a:srgbClr val="475569"/>
                </a:solidFill>
                <a:latin typeface="Consolas" panose="020B0609020204030204" pitchFamily="34" charset="0"/>
                <a:ea typeface="Consolas" panose="020B0609020204030204" pitchFamily="34" charset="-122"/>
                <a:cs typeface="Consolas" panose="020B0609020204030204" pitchFamily="34" charset="-120"/>
              </a:rPr>
              <a:t>00000000</a:t>
            </a:r>
            <a:endParaRPr lang="en-US" sz="700" dirty="0"/>
          </a:p>
        </p:txBody>
      </p:sp>
      <p:sp>
        <p:nvSpPr>
          <p:cNvPr id="70" name="Text 68"/>
          <p:cNvSpPr/>
          <p:nvPr/>
        </p:nvSpPr>
        <p:spPr>
          <a:xfrm>
            <a:off x="3474720" y="4005072"/>
            <a:ext cx="768096" cy="164592"/>
          </a:xfrm>
          <a:prstGeom prst="rect">
            <a:avLst/>
          </a:prstGeom>
          <a:noFill/>
        </p:spPr>
        <p:txBody>
          <a:bodyPr wrap="square" lIns="0" tIns="0" rIns="0" bIns="0" rtlCol="0" anchor="ctr"/>
          <a:lstStyle/>
          <a:p>
            <a:pPr marL="0" indent="0" algn="ctr">
              <a:buNone/>
            </a:pPr>
            <a:r>
              <a:rPr lang="en-US" sz="700" dirty="0">
                <a:solidFill>
                  <a:srgbClr val="475569"/>
                </a:solidFill>
                <a:latin typeface="Calibri" panose="020F0502020204030204" pitchFamily="34" charset="0"/>
                <a:ea typeface="Calibri" panose="020F0502020204030204" pitchFamily="34" charset="-122"/>
                <a:cs typeface="Calibri" panose="020F0502020204030204" pitchFamily="34" charset="-120"/>
              </a:rPr>
              <a:t>Free</a:t>
            </a:r>
            <a:endParaRPr lang="en-US" sz="700" dirty="0"/>
          </a:p>
        </p:txBody>
      </p:sp>
      <p:sp>
        <p:nvSpPr>
          <p:cNvPr id="71" name="Shape 69"/>
          <p:cNvSpPr/>
          <p:nvPr/>
        </p:nvSpPr>
        <p:spPr>
          <a:xfrm>
            <a:off x="4279392" y="3621024"/>
            <a:ext cx="768096" cy="566928"/>
          </a:xfrm>
          <a:prstGeom prst="rect">
            <a:avLst/>
          </a:prstGeom>
          <a:solidFill>
            <a:srgbClr val="F59E0B">
              <a:alpha val="30000"/>
            </a:srgbClr>
          </a:solidFill>
          <a:ln w="12700">
            <a:solidFill>
              <a:srgbClr val="F59E0B"/>
            </a:solidFill>
            <a:prstDash val="solid"/>
          </a:ln>
        </p:spPr>
        <p:txBody>
          <a:bodyPr/>
          <a:lstStyle/>
          <a:p>
            <a:endParaRPr lang="en-SG"/>
          </a:p>
        </p:txBody>
      </p:sp>
      <p:sp>
        <p:nvSpPr>
          <p:cNvPr id="72" name="Text 70"/>
          <p:cNvSpPr/>
          <p:nvPr/>
        </p:nvSpPr>
        <p:spPr>
          <a:xfrm>
            <a:off x="4279392" y="3639312"/>
            <a:ext cx="768096" cy="164592"/>
          </a:xfrm>
          <a:prstGeom prst="rect">
            <a:avLst/>
          </a:prstGeom>
          <a:noFill/>
        </p:spPr>
        <p:txBody>
          <a:bodyPr wrap="square" lIns="0" tIns="0" rIns="0" bIns="0" rtlCol="0" anchor="ctr"/>
          <a:lstStyle/>
          <a:p>
            <a:pPr marL="0" indent="0" algn="ctr">
              <a:buNone/>
            </a:pPr>
            <a:r>
              <a:rPr lang="en-US" sz="750" b="1" dirty="0">
                <a:solidFill>
                  <a:srgbClr val="475569"/>
                </a:solidFill>
                <a:latin typeface="Consolas" panose="020B0609020204030204" pitchFamily="34" charset="0"/>
                <a:ea typeface="Consolas" panose="020B0609020204030204" pitchFamily="34" charset="-122"/>
                <a:cs typeface="Consolas" panose="020B0609020204030204" pitchFamily="34" charset="-120"/>
              </a:rPr>
              <a:t>[5]</a:t>
            </a:r>
            <a:endParaRPr lang="en-US" sz="750" dirty="0"/>
          </a:p>
        </p:txBody>
      </p:sp>
      <p:sp>
        <p:nvSpPr>
          <p:cNvPr id="73" name="Text 71"/>
          <p:cNvSpPr/>
          <p:nvPr/>
        </p:nvSpPr>
        <p:spPr>
          <a:xfrm>
            <a:off x="4279392" y="3803904"/>
            <a:ext cx="768096" cy="182880"/>
          </a:xfrm>
          <a:prstGeom prst="rect">
            <a:avLst/>
          </a:prstGeom>
          <a:noFill/>
        </p:spPr>
        <p:txBody>
          <a:bodyPr wrap="square" lIns="0" tIns="0" rIns="0" bIns="0" rtlCol="0" anchor="ctr"/>
          <a:lstStyle/>
          <a:p>
            <a:pPr marL="0" indent="0" algn="ctr">
              <a:buNone/>
            </a:pPr>
            <a:r>
              <a:rPr lang="en-US" sz="700" dirty="0">
                <a:solidFill>
                  <a:srgbClr val="F59E0B"/>
                </a:solidFill>
                <a:latin typeface="Consolas" panose="020B0609020204030204" pitchFamily="34" charset="0"/>
                <a:ea typeface="Consolas" panose="020B0609020204030204" pitchFamily="34" charset="-122"/>
                <a:cs typeface="Consolas" panose="020B0609020204030204" pitchFamily="34" charset="-120"/>
              </a:rPr>
              <a:t>07000000</a:t>
            </a:r>
            <a:endParaRPr lang="en-US" sz="700" dirty="0"/>
          </a:p>
        </p:txBody>
      </p:sp>
      <p:sp>
        <p:nvSpPr>
          <p:cNvPr id="74" name="Text 72"/>
          <p:cNvSpPr/>
          <p:nvPr/>
        </p:nvSpPr>
        <p:spPr>
          <a:xfrm>
            <a:off x="4279392" y="4005072"/>
            <a:ext cx="768096" cy="164592"/>
          </a:xfrm>
          <a:prstGeom prst="rect">
            <a:avLst/>
          </a:prstGeom>
          <a:noFill/>
        </p:spPr>
        <p:txBody>
          <a:bodyPr wrap="square" lIns="0" tIns="0" rIns="0" bIns="0" rtlCol="0" anchor="ctr"/>
          <a:lstStyle/>
          <a:p>
            <a:pPr marL="0" indent="0" algn="ctr">
              <a:buNone/>
            </a:pPr>
            <a:r>
              <a:rPr lang="en-US" sz="700" dirty="0">
                <a:solidFill>
                  <a:srgbClr val="F59E0B"/>
                </a:solidFill>
                <a:latin typeface="Calibri" panose="020F0502020204030204" pitchFamily="34" charset="0"/>
                <a:ea typeface="Calibri" panose="020F0502020204030204" pitchFamily="34" charset="-122"/>
                <a:cs typeface="Calibri" panose="020F0502020204030204" pitchFamily="34" charset="-120"/>
              </a:rPr>
              <a:t>→ 7</a:t>
            </a:r>
            <a:endParaRPr lang="en-US" sz="700" dirty="0"/>
          </a:p>
        </p:txBody>
      </p:sp>
      <p:sp>
        <p:nvSpPr>
          <p:cNvPr id="75" name="Shape 73"/>
          <p:cNvSpPr/>
          <p:nvPr/>
        </p:nvSpPr>
        <p:spPr>
          <a:xfrm>
            <a:off x="5084064" y="3621024"/>
            <a:ext cx="768096" cy="566928"/>
          </a:xfrm>
          <a:prstGeom prst="rect">
            <a:avLst/>
          </a:prstGeom>
          <a:solidFill>
            <a:srgbClr val="EEF6FB"/>
          </a:solidFill>
          <a:ln w="12700">
            <a:solidFill>
              <a:srgbClr val="64748B"/>
            </a:solidFill>
            <a:prstDash val="solid"/>
          </a:ln>
        </p:spPr>
        <p:txBody>
          <a:bodyPr/>
          <a:lstStyle/>
          <a:p>
            <a:endParaRPr lang="en-SG"/>
          </a:p>
        </p:txBody>
      </p:sp>
      <p:sp>
        <p:nvSpPr>
          <p:cNvPr id="76" name="Text 74"/>
          <p:cNvSpPr/>
          <p:nvPr/>
        </p:nvSpPr>
        <p:spPr>
          <a:xfrm>
            <a:off x="5084064" y="3639312"/>
            <a:ext cx="768096" cy="164592"/>
          </a:xfrm>
          <a:prstGeom prst="rect">
            <a:avLst/>
          </a:prstGeom>
          <a:noFill/>
        </p:spPr>
        <p:txBody>
          <a:bodyPr wrap="square" lIns="0" tIns="0" rIns="0" bIns="0" rtlCol="0" anchor="ctr"/>
          <a:lstStyle/>
          <a:p>
            <a:pPr marL="0" indent="0" algn="ctr">
              <a:buNone/>
            </a:pPr>
            <a:r>
              <a:rPr lang="en-US" sz="750" b="1" dirty="0">
                <a:solidFill>
                  <a:srgbClr val="475569"/>
                </a:solidFill>
                <a:latin typeface="Consolas" panose="020B0609020204030204" pitchFamily="34" charset="0"/>
                <a:ea typeface="Consolas" panose="020B0609020204030204" pitchFamily="34" charset="-122"/>
                <a:cs typeface="Consolas" panose="020B0609020204030204" pitchFamily="34" charset="-120"/>
              </a:rPr>
              <a:t>[6]</a:t>
            </a:r>
            <a:endParaRPr lang="en-US" sz="750" dirty="0"/>
          </a:p>
        </p:txBody>
      </p:sp>
      <p:sp>
        <p:nvSpPr>
          <p:cNvPr id="77" name="Text 75"/>
          <p:cNvSpPr/>
          <p:nvPr/>
        </p:nvSpPr>
        <p:spPr>
          <a:xfrm>
            <a:off x="5084064" y="3803904"/>
            <a:ext cx="768096" cy="182880"/>
          </a:xfrm>
          <a:prstGeom prst="rect">
            <a:avLst/>
          </a:prstGeom>
          <a:noFill/>
        </p:spPr>
        <p:txBody>
          <a:bodyPr wrap="square" lIns="0" tIns="0" rIns="0" bIns="0" rtlCol="0" anchor="ctr"/>
          <a:lstStyle/>
          <a:p>
            <a:pPr marL="0" indent="0" algn="ctr">
              <a:buNone/>
            </a:pPr>
            <a:r>
              <a:rPr lang="en-US" sz="700" dirty="0">
                <a:solidFill>
                  <a:srgbClr val="475569"/>
                </a:solidFill>
                <a:latin typeface="Consolas" panose="020B0609020204030204" pitchFamily="34" charset="0"/>
                <a:ea typeface="Consolas" panose="020B0609020204030204" pitchFamily="34" charset="-122"/>
                <a:cs typeface="Consolas" panose="020B0609020204030204" pitchFamily="34" charset="-120"/>
              </a:rPr>
              <a:t>00000000</a:t>
            </a:r>
            <a:endParaRPr lang="en-US" sz="700" dirty="0"/>
          </a:p>
        </p:txBody>
      </p:sp>
      <p:sp>
        <p:nvSpPr>
          <p:cNvPr id="78" name="Text 76"/>
          <p:cNvSpPr/>
          <p:nvPr/>
        </p:nvSpPr>
        <p:spPr>
          <a:xfrm>
            <a:off x="5084064" y="4005072"/>
            <a:ext cx="768096" cy="164592"/>
          </a:xfrm>
          <a:prstGeom prst="rect">
            <a:avLst/>
          </a:prstGeom>
          <a:noFill/>
        </p:spPr>
        <p:txBody>
          <a:bodyPr wrap="square" lIns="0" tIns="0" rIns="0" bIns="0" rtlCol="0" anchor="ctr"/>
          <a:lstStyle/>
          <a:p>
            <a:pPr marL="0" indent="0" algn="ctr">
              <a:buNone/>
            </a:pPr>
            <a:r>
              <a:rPr lang="en-US" sz="700" dirty="0">
                <a:solidFill>
                  <a:srgbClr val="475569"/>
                </a:solidFill>
                <a:latin typeface="Calibri" panose="020F0502020204030204" pitchFamily="34" charset="0"/>
                <a:ea typeface="Calibri" panose="020F0502020204030204" pitchFamily="34" charset="-122"/>
                <a:cs typeface="Calibri" panose="020F0502020204030204" pitchFamily="34" charset="-120"/>
              </a:rPr>
              <a:t>Free</a:t>
            </a:r>
            <a:endParaRPr lang="en-US" sz="700" dirty="0"/>
          </a:p>
        </p:txBody>
      </p:sp>
      <p:sp>
        <p:nvSpPr>
          <p:cNvPr id="79" name="Shape 77"/>
          <p:cNvSpPr/>
          <p:nvPr/>
        </p:nvSpPr>
        <p:spPr>
          <a:xfrm>
            <a:off x="5888736" y="3621024"/>
            <a:ext cx="768096" cy="566928"/>
          </a:xfrm>
          <a:prstGeom prst="rect">
            <a:avLst/>
          </a:prstGeom>
          <a:solidFill>
            <a:srgbClr val="F59E0B">
              <a:alpha val="30000"/>
            </a:srgbClr>
          </a:solidFill>
          <a:ln w="12700">
            <a:solidFill>
              <a:srgbClr val="10B981"/>
            </a:solidFill>
            <a:prstDash val="solid"/>
          </a:ln>
        </p:spPr>
        <p:txBody>
          <a:bodyPr/>
          <a:lstStyle/>
          <a:p>
            <a:endParaRPr lang="en-SG"/>
          </a:p>
        </p:txBody>
      </p:sp>
      <p:sp>
        <p:nvSpPr>
          <p:cNvPr id="80" name="Text 78"/>
          <p:cNvSpPr/>
          <p:nvPr/>
        </p:nvSpPr>
        <p:spPr>
          <a:xfrm>
            <a:off x="5888736" y="3639312"/>
            <a:ext cx="768096" cy="164592"/>
          </a:xfrm>
          <a:prstGeom prst="rect">
            <a:avLst/>
          </a:prstGeom>
          <a:noFill/>
        </p:spPr>
        <p:txBody>
          <a:bodyPr wrap="square" lIns="0" tIns="0" rIns="0" bIns="0" rtlCol="0" anchor="ctr"/>
          <a:lstStyle/>
          <a:p>
            <a:pPr marL="0" indent="0" algn="ctr">
              <a:buNone/>
            </a:pPr>
            <a:r>
              <a:rPr lang="en-US" sz="750" b="1" dirty="0">
                <a:solidFill>
                  <a:srgbClr val="475569"/>
                </a:solidFill>
                <a:latin typeface="Consolas" panose="020B0609020204030204" pitchFamily="34" charset="0"/>
                <a:ea typeface="Consolas" panose="020B0609020204030204" pitchFamily="34" charset="-122"/>
                <a:cs typeface="Consolas" panose="020B0609020204030204" pitchFamily="34" charset="-120"/>
              </a:rPr>
              <a:t>[7]</a:t>
            </a:r>
            <a:endParaRPr lang="en-US" sz="750" dirty="0"/>
          </a:p>
        </p:txBody>
      </p:sp>
      <p:sp>
        <p:nvSpPr>
          <p:cNvPr id="81" name="Text 79"/>
          <p:cNvSpPr/>
          <p:nvPr/>
        </p:nvSpPr>
        <p:spPr>
          <a:xfrm>
            <a:off x="5888736" y="3803904"/>
            <a:ext cx="768096" cy="182880"/>
          </a:xfrm>
          <a:prstGeom prst="rect">
            <a:avLst/>
          </a:prstGeom>
          <a:noFill/>
        </p:spPr>
        <p:txBody>
          <a:bodyPr wrap="square" lIns="0" tIns="0" rIns="0" bIns="0" rtlCol="0" anchor="ctr"/>
          <a:lstStyle/>
          <a:p>
            <a:pPr marL="0" indent="0" algn="ctr">
              <a:buNone/>
            </a:pPr>
            <a:r>
              <a:rPr lang="en-US" sz="700" dirty="0">
                <a:solidFill>
                  <a:srgbClr val="10B981"/>
                </a:solidFill>
                <a:latin typeface="Consolas" panose="020B0609020204030204" pitchFamily="34" charset="0"/>
                <a:ea typeface="Consolas" panose="020B0609020204030204" pitchFamily="34" charset="-122"/>
                <a:cs typeface="Consolas" panose="020B0609020204030204" pitchFamily="34" charset="-120"/>
              </a:rPr>
              <a:t>FFFFFF0F</a:t>
            </a:r>
            <a:endParaRPr lang="en-US" sz="700" dirty="0"/>
          </a:p>
        </p:txBody>
      </p:sp>
      <p:sp>
        <p:nvSpPr>
          <p:cNvPr id="82" name="Text 80"/>
          <p:cNvSpPr/>
          <p:nvPr/>
        </p:nvSpPr>
        <p:spPr>
          <a:xfrm>
            <a:off x="5888736" y="4005072"/>
            <a:ext cx="768096" cy="164592"/>
          </a:xfrm>
          <a:prstGeom prst="rect">
            <a:avLst/>
          </a:prstGeom>
          <a:noFill/>
        </p:spPr>
        <p:txBody>
          <a:bodyPr wrap="square" lIns="0" tIns="0" rIns="0" bIns="0" rtlCol="0" anchor="ctr"/>
          <a:lstStyle/>
          <a:p>
            <a:pPr marL="0" indent="0" algn="ctr">
              <a:buNone/>
            </a:pPr>
            <a:r>
              <a:rPr lang="en-US" sz="700" dirty="0">
                <a:solidFill>
                  <a:srgbClr val="10B981"/>
                </a:solidFill>
                <a:latin typeface="Calibri" panose="020F0502020204030204" pitchFamily="34" charset="0"/>
                <a:ea typeface="Calibri" panose="020F0502020204030204" pitchFamily="34" charset="-122"/>
                <a:cs typeface="Calibri" panose="020F0502020204030204" pitchFamily="34" charset="-120"/>
              </a:rPr>
              <a:t>EOF</a:t>
            </a:r>
            <a:endParaRPr lang="en-US" sz="700" dirty="0"/>
          </a:p>
        </p:txBody>
      </p:sp>
      <p:sp>
        <p:nvSpPr>
          <p:cNvPr id="83" name="Shape 81"/>
          <p:cNvSpPr/>
          <p:nvPr/>
        </p:nvSpPr>
        <p:spPr>
          <a:xfrm>
            <a:off x="6693408" y="3621024"/>
            <a:ext cx="768096" cy="566928"/>
          </a:xfrm>
          <a:prstGeom prst="rect">
            <a:avLst/>
          </a:prstGeom>
          <a:solidFill>
            <a:srgbClr val="EEF6FB"/>
          </a:solidFill>
          <a:ln w="12700">
            <a:solidFill>
              <a:srgbClr val="6366F1"/>
            </a:solidFill>
            <a:prstDash val="solid"/>
          </a:ln>
        </p:spPr>
        <p:txBody>
          <a:bodyPr/>
          <a:lstStyle/>
          <a:p>
            <a:endParaRPr lang="en-SG"/>
          </a:p>
        </p:txBody>
      </p:sp>
      <p:sp>
        <p:nvSpPr>
          <p:cNvPr id="84" name="Text 82"/>
          <p:cNvSpPr/>
          <p:nvPr/>
        </p:nvSpPr>
        <p:spPr>
          <a:xfrm>
            <a:off x="6693408" y="3639312"/>
            <a:ext cx="768096" cy="164592"/>
          </a:xfrm>
          <a:prstGeom prst="rect">
            <a:avLst/>
          </a:prstGeom>
          <a:noFill/>
        </p:spPr>
        <p:txBody>
          <a:bodyPr wrap="square" lIns="0" tIns="0" rIns="0" bIns="0" rtlCol="0" anchor="ctr"/>
          <a:lstStyle/>
          <a:p>
            <a:pPr marL="0" indent="0" algn="ctr">
              <a:buNone/>
            </a:pPr>
            <a:r>
              <a:rPr lang="en-US" sz="750" b="1" dirty="0">
                <a:solidFill>
                  <a:srgbClr val="475569"/>
                </a:solidFill>
                <a:latin typeface="Consolas" panose="020B0609020204030204" pitchFamily="34" charset="0"/>
                <a:ea typeface="Consolas" panose="020B0609020204030204" pitchFamily="34" charset="-122"/>
                <a:cs typeface="Consolas" panose="020B0609020204030204" pitchFamily="34" charset="-120"/>
              </a:rPr>
              <a:t>[8]</a:t>
            </a:r>
            <a:endParaRPr lang="en-US" sz="750" dirty="0"/>
          </a:p>
        </p:txBody>
      </p:sp>
      <p:sp>
        <p:nvSpPr>
          <p:cNvPr id="85" name="Text 83"/>
          <p:cNvSpPr/>
          <p:nvPr/>
        </p:nvSpPr>
        <p:spPr>
          <a:xfrm>
            <a:off x="6693408" y="3803904"/>
            <a:ext cx="768096" cy="182880"/>
          </a:xfrm>
          <a:prstGeom prst="rect">
            <a:avLst/>
          </a:prstGeom>
          <a:noFill/>
        </p:spPr>
        <p:txBody>
          <a:bodyPr wrap="square" lIns="0" tIns="0" rIns="0" bIns="0" rtlCol="0" anchor="ctr"/>
          <a:lstStyle/>
          <a:p>
            <a:pPr marL="0" indent="0" algn="ctr">
              <a:buNone/>
            </a:pPr>
            <a:r>
              <a:rPr lang="en-US" sz="700" dirty="0">
                <a:solidFill>
                  <a:srgbClr val="6366F1"/>
                </a:solidFill>
                <a:latin typeface="Consolas" panose="020B0609020204030204" pitchFamily="34" charset="0"/>
                <a:ea typeface="Consolas" panose="020B0609020204030204" pitchFamily="34" charset="-122"/>
                <a:cs typeface="Consolas" panose="020B0609020204030204" pitchFamily="34" charset="-120"/>
              </a:rPr>
              <a:t>09000000</a:t>
            </a:r>
            <a:endParaRPr lang="en-US" sz="700" dirty="0"/>
          </a:p>
        </p:txBody>
      </p:sp>
      <p:sp>
        <p:nvSpPr>
          <p:cNvPr id="86" name="Text 84"/>
          <p:cNvSpPr/>
          <p:nvPr/>
        </p:nvSpPr>
        <p:spPr>
          <a:xfrm>
            <a:off x="6693408" y="4005072"/>
            <a:ext cx="768096" cy="164592"/>
          </a:xfrm>
          <a:prstGeom prst="rect">
            <a:avLst/>
          </a:prstGeom>
          <a:noFill/>
        </p:spPr>
        <p:txBody>
          <a:bodyPr wrap="square" lIns="0" tIns="0" rIns="0" bIns="0" rtlCol="0" anchor="ctr"/>
          <a:lstStyle/>
          <a:p>
            <a:pPr marL="0" indent="0" algn="ctr">
              <a:buNone/>
            </a:pPr>
            <a:r>
              <a:rPr lang="en-US" sz="700" dirty="0">
                <a:solidFill>
                  <a:srgbClr val="6366F1"/>
                </a:solidFill>
                <a:latin typeface="Calibri" panose="020F0502020204030204" pitchFamily="34" charset="0"/>
                <a:ea typeface="Calibri" panose="020F0502020204030204" pitchFamily="34" charset="-122"/>
                <a:cs typeface="Calibri" panose="020F0502020204030204" pitchFamily="34" charset="-120"/>
              </a:rPr>
              <a:t>File B →9</a:t>
            </a:r>
            <a:endParaRPr lang="en-US" sz="700" dirty="0"/>
          </a:p>
        </p:txBody>
      </p:sp>
      <p:sp>
        <p:nvSpPr>
          <p:cNvPr id="87" name="Shape 85"/>
          <p:cNvSpPr/>
          <p:nvPr/>
        </p:nvSpPr>
        <p:spPr>
          <a:xfrm>
            <a:off x="7498080" y="3621024"/>
            <a:ext cx="768096" cy="566928"/>
          </a:xfrm>
          <a:prstGeom prst="rect">
            <a:avLst/>
          </a:prstGeom>
          <a:solidFill>
            <a:srgbClr val="EEF6FB"/>
          </a:solidFill>
          <a:ln w="12700">
            <a:solidFill>
              <a:srgbClr val="6366F1"/>
            </a:solidFill>
            <a:prstDash val="solid"/>
          </a:ln>
        </p:spPr>
        <p:txBody>
          <a:bodyPr/>
          <a:lstStyle/>
          <a:p>
            <a:endParaRPr lang="en-SG"/>
          </a:p>
        </p:txBody>
      </p:sp>
      <p:sp>
        <p:nvSpPr>
          <p:cNvPr id="88" name="Text 86"/>
          <p:cNvSpPr/>
          <p:nvPr/>
        </p:nvSpPr>
        <p:spPr>
          <a:xfrm>
            <a:off x="7498080" y="3639312"/>
            <a:ext cx="768096" cy="164592"/>
          </a:xfrm>
          <a:prstGeom prst="rect">
            <a:avLst/>
          </a:prstGeom>
          <a:noFill/>
        </p:spPr>
        <p:txBody>
          <a:bodyPr wrap="square" lIns="0" tIns="0" rIns="0" bIns="0" rtlCol="0" anchor="ctr"/>
          <a:lstStyle/>
          <a:p>
            <a:pPr marL="0" indent="0" algn="ctr">
              <a:buNone/>
            </a:pPr>
            <a:r>
              <a:rPr lang="en-US" sz="750" b="1" dirty="0">
                <a:solidFill>
                  <a:srgbClr val="475569"/>
                </a:solidFill>
                <a:latin typeface="Consolas" panose="020B0609020204030204" pitchFamily="34" charset="0"/>
                <a:ea typeface="Consolas" panose="020B0609020204030204" pitchFamily="34" charset="-122"/>
                <a:cs typeface="Consolas" panose="020B0609020204030204" pitchFamily="34" charset="-120"/>
              </a:rPr>
              <a:t>[9]</a:t>
            </a:r>
            <a:endParaRPr lang="en-US" sz="750" dirty="0"/>
          </a:p>
        </p:txBody>
      </p:sp>
      <p:sp>
        <p:nvSpPr>
          <p:cNvPr id="89" name="Text 87"/>
          <p:cNvSpPr/>
          <p:nvPr/>
        </p:nvSpPr>
        <p:spPr>
          <a:xfrm>
            <a:off x="7498080" y="3803904"/>
            <a:ext cx="768096" cy="182880"/>
          </a:xfrm>
          <a:prstGeom prst="rect">
            <a:avLst/>
          </a:prstGeom>
          <a:noFill/>
        </p:spPr>
        <p:txBody>
          <a:bodyPr wrap="square" lIns="0" tIns="0" rIns="0" bIns="0" rtlCol="0" anchor="ctr"/>
          <a:lstStyle/>
          <a:p>
            <a:pPr marL="0" indent="0" algn="ctr">
              <a:buNone/>
            </a:pPr>
            <a:r>
              <a:rPr lang="en-US" sz="700" dirty="0">
                <a:solidFill>
                  <a:srgbClr val="6366F1"/>
                </a:solidFill>
                <a:latin typeface="Consolas" panose="020B0609020204030204" pitchFamily="34" charset="0"/>
                <a:ea typeface="Consolas" panose="020B0609020204030204" pitchFamily="34" charset="-122"/>
                <a:cs typeface="Consolas" panose="020B0609020204030204" pitchFamily="34" charset="-120"/>
              </a:rPr>
              <a:t>FFFFFF0F</a:t>
            </a:r>
            <a:endParaRPr lang="en-US" sz="700" dirty="0"/>
          </a:p>
        </p:txBody>
      </p:sp>
      <p:sp>
        <p:nvSpPr>
          <p:cNvPr id="90" name="Text 88"/>
          <p:cNvSpPr/>
          <p:nvPr/>
        </p:nvSpPr>
        <p:spPr>
          <a:xfrm>
            <a:off x="7498080" y="4005072"/>
            <a:ext cx="768096" cy="164592"/>
          </a:xfrm>
          <a:prstGeom prst="rect">
            <a:avLst/>
          </a:prstGeom>
          <a:noFill/>
        </p:spPr>
        <p:txBody>
          <a:bodyPr wrap="square" lIns="0" tIns="0" rIns="0" bIns="0" rtlCol="0" anchor="ctr"/>
          <a:lstStyle/>
          <a:p>
            <a:pPr marL="0" indent="0" algn="ctr">
              <a:buNone/>
            </a:pPr>
            <a:r>
              <a:rPr lang="en-US" sz="700" dirty="0">
                <a:solidFill>
                  <a:srgbClr val="6366F1"/>
                </a:solidFill>
                <a:latin typeface="Calibri" panose="020F0502020204030204" pitchFamily="34" charset="0"/>
                <a:ea typeface="Calibri" panose="020F0502020204030204" pitchFamily="34" charset="-122"/>
                <a:cs typeface="Calibri" panose="020F0502020204030204" pitchFamily="34" charset="-120"/>
              </a:rPr>
              <a:t>EOF</a:t>
            </a:r>
            <a:endParaRPr lang="en-US" sz="700" dirty="0"/>
          </a:p>
        </p:txBody>
      </p:sp>
      <p:sp>
        <p:nvSpPr>
          <p:cNvPr id="91" name="Shape 89"/>
          <p:cNvSpPr/>
          <p:nvPr/>
        </p:nvSpPr>
        <p:spPr>
          <a:xfrm>
            <a:off x="3035808" y="3493008"/>
            <a:ext cx="1609344" cy="0"/>
          </a:xfrm>
          <a:prstGeom prst="line">
            <a:avLst/>
          </a:prstGeom>
          <a:noFill/>
          <a:ln w="12700">
            <a:solidFill>
              <a:srgbClr val="F59E0B"/>
            </a:solidFill>
            <a:prstDash val="solid"/>
          </a:ln>
        </p:spPr>
        <p:txBody>
          <a:bodyPr/>
          <a:lstStyle/>
          <a:p>
            <a:endParaRPr lang="en-SG"/>
          </a:p>
        </p:txBody>
      </p:sp>
      <p:sp>
        <p:nvSpPr>
          <p:cNvPr id="92" name="Text 90"/>
          <p:cNvSpPr/>
          <p:nvPr/>
        </p:nvSpPr>
        <p:spPr>
          <a:xfrm>
            <a:off x="3712464" y="3383280"/>
            <a:ext cx="256032" cy="164592"/>
          </a:xfrm>
          <a:prstGeom prst="rect">
            <a:avLst/>
          </a:prstGeom>
          <a:noFill/>
        </p:spPr>
        <p:txBody>
          <a:bodyPr wrap="square" lIns="0" tIns="0" rIns="0" bIns="0" rtlCol="0" anchor="ctr"/>
          <a:lstStyle/>
          <a:p>
            <a:pPr marL="0" indent="0" algn="ctr">
              <a:buNone/>
            </a:pPr>
            <a:r>
              <a:rPr lang="en-US" sz="1000" b="1" dirty="0">
                <a:solidFill>
                  <a:srgbClr val="F59E0B"/>
                </a:solidFill>
                <a:latin typeface="Trebuchet MS" panose="020B0603020202020204" pitchFamily="34" charset="0"/>
                <a:ea typeface="Trebuchet MS" panose="020B0603020202020204" pitchFamily="34" charset="-122"/>
                <a:cs typeface="Trebuchet MS" panose="020B0603020202020204" pitchFamily="34" charset="-120"/>
              </a:rPr>
              <a:t>→</a:t>
            </a:r>
            <a:endParaRPr lang="en-US" sz="1000" dirty="0"/>
          </a:p>
        </p:txBody>
      </p:sp>
      <p:sp>
        <p:nvSpPr>
          <p:cNvPr id="93" name="Shape 91"/>
          <p:cNvSpPr/>
          <p:nvPr/>
        </p:nvSpPr>
        <p:spPr>
          <a:xfrm>
            <a:off x="4645152" y="3493008"/>
            <a:ext cx="1609344" cy="0"/>
          </a:xfrm>
          <a:prstGeom prst="line">
            <a:avLst/>
          </a:prstGeom>
          <a:noFill/>
          <a:ln w="12700">
            <a:solidFill>
              <a:srgbClr val="F59E0B"/>
            </a:solidFill>
            <a:prstDash val="solid"/>
          </a:ln>
        </p:spPr>
        <p:txBody>
          <a:bodyPr/>
          <a:lstStyle/>
          <a:p>
            <a:endParaRPr lang="en-SG"/>
          </a:p>
        </p:txBody>
      </p:sp>
      <p:sp>
        <p:nvSpPr>
          <p:cNvPr id="94" name="Text 92"/>
          <p:cNvSpPr/>
          <p:nvPr/>
        </p:nvSpPr>
        <p:spPr>
          <a:xfrm>
            <a:off x="5321808" y="3383280"/>
            <a:ext cx="256032" cy="164592"/>
          </a:xfrm>
          <a:prstGeom prst="rect">
            <a:avLst/>
          </a:prstGeom>
          <a:noFill/>
        </p:spPr>
        <p:txBody>
          <a:bodyPr wrap="square" lIns="0" tIns="0" rIns="0" bIns="0" rtlCol="0" anchor="ctr"/>
          <a:lstStyle/>
          <a:p>
            <a:pPr marL="0" indent="0" algn="ctr">
              <a:buNone/>
            </a:pPr>
            <a:r>
              <a:rPr lang="en-US" sz="1000" b="1" dirty="0">
                <a:solidFill>
                  <a:srgbClr val="F59E0B"/>
                </a:solidFill>
                <a:latin typeface="Trebuchet MS" panose="020B0603020202020204" pitchFamily="34" charset="0"/>
                <a:ea typeface="Trebuchet MS" panose="020B0603020202020204" pitchFamily="34" charset="-122"/>
                <a:cs typeface="Trebuchet MS" panose="020B0603020202020204" pitchFamily="34" charset="-120"/>
              </a:rPr>
              <a:t>→</a:t>
            </a:r>
            <a:endParaRPr lang="en-US" sz="1000" dirty="0"/>
          </a:p>
        </p:txBody>
      </p:sp>
      <p:sp>
        <p:nvSpPr>
          <p:cNvPr id="95" name="Shape 93"/>
          <p:cNvSpPr/>
          <p:nvPr/>
        </p:nvSpPr>
        <p:spPr>
          <a:xfrm>
            <a:off x="256032" y="4297680"/>
            <a:ext cx="128016" cy="128016"/>
          </a:xfrm>
          <a:prstGeom prst="rect">
            <a:avLst/>
          </a:prstGeom>
          <a:solidFill>
            <a:srgbClr val="F59E0B"/>
          </a:solidFill>
          <a:ln w="12700">
            <a:solidFill>
              <a:srgbClr val="F59E0B"/>
            </a:solidFill>
            <a:prstDash val="solid"/>
          </a:ln>
        </p:spPr>
        <p:txBody>
          <a:bodyPr/>
          <a:lstStyle/>
          <a:p>
            <a:endParaRPr lang="en-SG"/>
          </a:p>
        </p:txBody>
      </p:sp>
      <p:sp>
        <p:nvSpPr>
          <p:cNvPr id="96" name="Text 94"/>
          <p:cNvSpPr/>
          <p:nvPr/>
        </p:nvSpPr>
        <p:spPr>
          <a:xfrm>
            <a:off x="438912" y="4279392"/>
            <a:ext cx="1920240" cy="182880"/>
          </a:xfrm>
          <a:prstGeom prst="rect">
            <a:avLst/>
          </a:prstGeom>
          <a:noFill/>
        </p:spPr>
        <p:txBody>
          <a:bodyPr wrap="square" lIns="0" tIns="0" rIns="0" bIns="0" rtlCol="0" anchor="ctr"/>
          <a:lstStyle/>
          <a:p>
            <a:pPr marL="0" indent="0">
              <a:buNone/>
            </a:pPr>
            <a:r>
              <a:rPr lang="en-US" sz="800" dirty="0">
                <a:solidFill>
                  <a:srgbClr val="1A1A2E"/>
                </a:solidFill>
                <a:latin typeface="Calibri" panose="020F0502020204030204" pitchFamily="34" charset="0"/>
                <a:ea typeface="Calibri" panose="020F0502020204030204" pitchFamily="34" charset="-122"/>
                <a:cs typeface="Calibri" panose="020F0502020204030204" pitchFamily="34" charset="-120"/>
              </a:rPr>
              <a:t>File A chain</a:t>
            </a:r>
            <a:endParaRPr lang="en-US" sz="800" dirty="0"/>
          </a:p>
        </p:txBody>
      </p:sp>
      <p:sp>
        <p:nvSpPr>
          <p:cNvPr id="97" name="Shape 95"/>
          <p:cNvSpPr/>
          <p:nvPr/>
        </p:nvSpPr>
        <p:spPr>
          <a:xfrm>
            <a:off x="2414016" y="4297680"/>
            <a:ext cx="128016" cy="128016"/>
          </a:xfrm>
          <a:prstGeom prst="rect">
            <a:avLst/>
          </a:prstGeom>
          <a:solidFill>
            <a:srgbClr val="10B981"/>
          </a:solidFill>
          <a:ln w="12700">
            <a:solidFill>
              <a:srgbClr val="10B981"/>
            </a:solidFill>
            <a:prstDash val="solid"/>
          </a:ln>
        </p:spPr>
        <p:txBody>
          <a:bodyPr/>
          <a:lstStyle/>
          <a:p>
            <a:endParaRPr lang="en-SG"/>
          </a:p>
        </p:txBody>
      </p:sp>
      <p:sp>
        <p:nvSpPr>
          <p:cNvPr id="98" name="Text 96"/>
          <p:cNvSpPr/>
          <p:nvPr/>
        </p:nvSpPr>
        <p:spPr>
          <a:xfrm>
            <a:off x="2596896" y="4279392"/>
            <a:ext cx="1920240" cy="182880"/>
          </a:xfrm>
          <a:prstGeom prst="rect">
            <a:avLst/>
          </a:prstGeom>
          <a:noFill/>
        </p:spPr>
        <p:txBody>
          <a:bodyPr wrap="square" lIns="0" tIns="0" rIns="0" bIns="0" rtlCol="0" anchor="ctr"/>
          <a:lstStyle/>
          <a:p>
            <a:pPr marL="0" indent="0">
              <a:buNone/>
            </a:pPr>
            <a:r>
              <a:rPr lang="en-US" sz="800" dirty="0">
                <a:solidFill>
                  <a:srgbClr val="1A1A2E"/>
                </a:solidFill>
                <a:latin typeface="Calibri" panose="020F0502020204030204" pitchFamily="34" charset="0"/>
                <a:ea typeface="Calibri" panose="020F0502020204030204" pitchFamily="34" charset="-122"/>
                <a:cs typeface="Calibri" panose="020F0502020204030204" pitchFamily="34" charset="-120"/>
              </a:rPr>
              <a:t>EOF marker</a:t>
            </a:r>
            <a:endParaRPr lang="en-US" sz="800" dirty="0"/>
          </a:p>
        </p:txBody>
      </p:sp>
      <p:sp>
        <p:nvSpPr>
          <p:cNvPr id="99" name="Shape 97"/>
          <p:cNvSpPr/>
          <p:nvPr/>
        </p:nvSpPr>
        <p:spPr>
          <a:xfrm>
            <a:off x="4572000" y="4297680"/>
            <a:ext cx="128016" cy="128016"/>
          </a:xfrm>
          <a:prstGeom prst="rect">
            <a:avLst/>
          </a:prstGeom>
          <a:solidFill>
            <a:srgbClr val="64748B"/>
          </a:solidFill>
          <a:ln w="12700">
            <a:solidFill>
              <a:srgbClr val="64748B"/>
            </a:solidFill>
            <a:prstDash val="solid"/>
          </a:ln>
        </p:spPr>
        <p:txBody>
          <a:bodyPr/>
          <a:lstStyle/>
          <a:p>
            <a:endParaRPr lang="en-SG"/>
          </a:p>
        </p:txBody>
      </p:sp>
      <p:sp>
        <p:nvSpPr>
          <p:cNvPr id="100" name="Text 98"/>
          <p:cNvSpPr/>
          <p:nvPr/>
        </p:nvSpPr>
        <p:spPr>
          <a:xfrm>
            <a:off x="4754880" y="4279392"/>
            <a:ext cx="1920240" cy="182880"/>
          </a:xfrm>
          <a:prstGeom prst="rect">
            <a:avLst/>
          </a:prstGeom>
          <a:noFill/>
        </p:spPr>
        <p:txBody>
          <a:bodyPr wrap="square" lIns="0" tIns="0" rIns="0" bIns="0" rtlCol="0" anchor="ctr"/>
          <a:lstStyle/>
          <a:p>
            <a:pPr marL="0" indent="0">
              <a:buNone/>
            </a:pPr>
            <a:r>
              <a:rPr lang="en-US" sz="800" dirty="0">
                <a:solidFill>
                  <a:srgbClr val="1A1A2E"/>
                </a:solidFill>
                <a:latin typeface="Calibri" panose="020F0502020204030204" pitchFamily="34" charset="0"/>
                <a:ea typeface="Calibri" panose="020F0502020204030204" pitchFamily="34" charset="-122"/>
                <a:cs typeface="Calibri" panose="020F0502020204030204" pitchFamily="34" charset="-120"/>
              </a:rPr>
              <a:t>Free clusters</a:t>
            </a:r>
            <a:endParaRPr lang="en-US" sz="800" dirty="0"/>
          </a:p>
        </p:txBody>
      </p:sp>
      <p:sp>
        <p:nvSpPr>
          <p:cNvPr id="101" name="Shape 99"/>
          <p:cNvSpPr/>
          <p:nvPr/>
        </p:nvSpPr>
        <p:spPr>
          <a:xfrm>
            <a:off x="6729984" y="4297680"/>
            <a:ext cx="128016" cy="128016"/>
          </a:xfrm>
          <a:prstGeom prst="rect">
            <a:avLst/>
          </a:prstGeom>
          <a:solidFill>
            <a:srgbClr val="6366F1"/>
          </a:solidFill>
          <a:ln w="12700">
            <a:solidFill>
              <a:srgbClr val="6366F1"/>
            </a:solidFill>
            <a:prstDash val="solid"/>
          </a:ln>
        </p:spPr>
        <p:txBody>
          <a:bodyPr/>
          <a:lstStyle/>
          <a:p>
            <a:endParaRPr lang="en-SG"/>
          </a:p>
        </p:txBody>
      </p:sp>
      <p:sp>
        <p:nvSpPr>
          <p:cNvPr id="102" name="Text 100"/>
          <p:cNvSpPr/>
          <p:nvPr/>
        </p:nvSpPr>
        <p:spPr>
          <a:xfrm>
            <a:off x="6912864" y="4279392"/>
            <a:ext cx="1920240" cy="182880"/>
          </a:xfrm>
          <a:prstGeom prst="rect">
            <a:avLst/>
          </a:prstGeom>
          <a:noFill/>
        </p:spPr>
        <p:txBody>
          <a:bodyPr wrap="square" lIns="0" tIns="0" rIns="0" bIns="0" rtlCol="0" anchor="ctr"/>
          <a:lstStyle/>
          <a:p>
            <a:pPr marL="0" indent="0">
              <a:buNone/>
            </a:pPr>
            <a:r>
              <a:rPr lang="en-US" sz="800" dirty="0">
                <a:solidFill>
                  <a:srgbClr val="1A1A2E"/>
                </a:solidFill>
                <a:latin typeface="Calibri" panose="020F0502020204030204" pitchFamily="34" charset="0"/>
                <a:ea typeface="Calibri" panose="020F0502020204030204" pitchFamily="34" charset="-122"/>
                <a:cs typeface="Calibri" panose="020F0502020204030204" pitchFamily="34" charset="-120"/>
              </a:rPr>
              <a:t>File B chain</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F59E0B"/>
          </a:solidFill>
          <a:ln w="12700">
            <a:solidFill>
              <a:srgbClr val="F59E0B"/>
            </a:solidFill>
            <a:prstDash val="solid"/>
          </a:ln>
        </p:spPr>
        <p:txBody>
          <a:bodyPr/>
          <a:lstStyle/>
          <a:p>
            <a:endParaRPr lang="en-SG"/>
          </a:p>
        </p:txBody>
      </p:sp>
      <p:sp>
        <p:nvSpPr>
          <p:cNvPr id="3" name="Text 1"/>
          <p:cNvSpPr/>
          <p:nvPr/>
        </p:nvSpPr>
        <p:spPr>
          <a:xfrm>
            <a:off x="256032" y="146304"/>
            <a:ext cx="8631936" cy="548640"/>
          </a:xfrm>
          <a:prstGeom prst="rect">
            <a:avLst/>
          </a:prstGeom>
          <a:noFill/>
        </p:spPr>
        <p:txBody>
          <a:bodyPr wrap="square" lIns="0" tIns="0" rIns="0" bIns="0" rtlCol="0" anchor="ctr"/>
          <a:lstStyle/>
          <a:p>
            <a:pPr marL="0" indent="0">
              <a:buNone/>
            </a:pPr>
            <a:r>
              <a:rPr lang="en-US" sz="1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FAT32 Cluster Chains — Concept &amp; Flowchart</a:t>
            </a:r>
            <a:endParaRPr lang="en-US" sz="1800" dirty="0"/>
          </a:p>
        </p:txBody>
      </p:sp>
      <p:sp>
        <p:nvSpPr>
          <p:cNvPr id="4" name="Shape 2"/>
          <p:cNvSpPr/>
          <p:nvPr/>
        </p:nvSpPr>
        <p:spPr>
          <a:xfrm>
            <a:off x="256032" y="73152"/>
            <a:ext cx="1463040" cy="219456"/>
          </a:xfrm>
          <a:prstGeom prst="rect">
            <a:avLst/>
          </a:prstGeom>
          <a:solidFill>
            <a:srgbClr val="F59E0B"/>
          </a:solidFill>
          <a:ln w="12700">
            <a:solidFill>
              <a:srgbClr val="F59E0B"/>
            </a:solidFill>
            <a:prstDash val="solid"/>
          </a:ln>
        </p:spPr>
        <p:txBody>
          <a:bodyPr/>
          <a:lstStyle/>
          <a:p>
            <a:endParaRPr lang="en-SG"/>
          </a:p>
        </p:txBody>
      </p:sp>
      <p:sp>
        <p:nvSpPr>
          <p:cNvPr id="5" name="Text 3"/>
          <p:cNvSpPr/>
          <p:nvPr/>
        </p:nvSpPr>
        <p:spPr>
          <a:xfrm>
            <a:off x="256032" y="73152"/>
            <a:ext cx="1463040" cy="219456"/>
          </a:xfrm>
          <a:prstGeom prst="rect">
            <a:avLst/>
          </a:prstGeom>
          <a:noFill/>
        </p:spPr>
        <p:txBody>
          <a:bodyPr wrap="square" lIns="0" tIns="0" rIns="0" bIns="0" rtlCol="0" anchor="ctr"/>
          <a:lstStyle/>
          <a:p>
            <a:pPr marL="0" indent="0" algn="ctr">
              <a:buNone/>
            </a:pPr>
            <a:r>
              <a:rPr lang="en-US" sz="800" b="1" kern="0" spc="100"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SECTION 02 — FAT</a:t>
            </a:r>
            <a:endParaRPr lang="en-US" sz="800" dirty="0"/>
          </a:p>
        </p:txBody>
      </p:sp>
      <p:sp>
        <p:nvSpPr>
          <p:cNvPr id="131" name="Rectangle 130"/>
          <p:cNvSpPr/>
          <p:nvPr/>
        </p:nvSpPr>
        <p:spPr>
          <a:xfrm>
            <a:off x="788974" y="973050"/>
            <a:ext cx="3880236" cy="911865"/>
          </a:xfrm>
          <a:prstGeom prst="rect">
            <a:avLst/>
          </a:prstGeom>
          <a:solidFill>
            <a:srgbClr val="C00000"/>
          </a:solidFill>
          <a:ln>
            <a:prstDash val="lgDashDotDot"/>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SG" dirty="0">
                <a:solidFill>
                  <a:schemeClr val="bg1"/>
                </a:solidFill>
              </a:rPr>
              <a:t>Root Directory </a:t>
            </a:r>
            <a:br>
              <a:rPr lang="en-SG" dirty="0">
                <a:solidFill>
                  <a:schemeClr val="bg1"/>
                </a:solidFill>
              </a:rPr>
            </a:br>
            <a:endParaRPr lang="en-SG" sz="1400" dirty="0">
              <a:solidFill>
                <a:schemeClr val="bg1"/>
              </a:solidFill>
            </a:endParaRPr>
          </a:p>
        </p:txBody>
      </p:sp>
      <p:sp>
        <p:nvSpPr>
          <p:cNvPr id="132" name="Rectangle 131"/>
          <p:cNvSpPr/>
          <p:nvPr/>
        </p:nvSpPr>
        <p:spPr>
          <a:xfrm>
            <a:off x="3013209" y="2219368"/>
            <a:ext cx="1842301" cy="2849880"/>
          </a:xfrm>
          <a:prstGeom prst="rect">
            <a:avLst/>
          </a:prstGeom>
          <a:solidFill>
            <a:schemeClr val="accent6">
              <a:lumMod val="50000"/>
            </a:schemeClr>
          </a:solidFill>
          <a:ln>
            <a:prstDash val="lgDashDotDot"/>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r>
              <a:rPr lang="en-SG" dirty="0"/>
              <a:t>File Allocation Table</a:t>
            </a:r>
            <a:endParaRPr lang="en-SG" sz="1200" dirty="0"/>
          </a:p>
        </p:txBody>
      </p:sp>
      <p:sp>
        <p:nvSpPr>
          <p:cNvPr id="133" name="Rectangle 132"/>
          <p:cNvSpPr/>
          <p:nvPr/>
        </p:nvSpPr>
        <p:spPr>
          <a:xfrm>
            <a:off x="5823829" y="1767255"/>
            <a:ext cx="1842303" cy="2989695"/>
          </a:xfrm>
          <a:prstGeom prst="rect">
            <a:avLst/>
          </a:prstGeom>
          <a:solidFill>
            <a:schemeClr val="accent4">
              <a:lumMod val="20000"/>
              <a:lumOff val="80000"/>
            </a:schemeClr>
          </a:solidFill>
          <a:ln>
            <a:prstDash val="lgDashDotDot"/>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r>
              <a:rPr lang="en-SG" dirty="0">
                <a:solidFill>
                  <a:schemeClr val="tx1"/>
                </a:solidFill>
              </a:rPr>
              <a:t>Data Area</a:t>
            </a:r>
            <a:endParaRPr lang="en-SG" dirty="0">
              <a:solidFill>
                <a:schemeClr val="tx1"/>
              </a:solidFill>
            </a:endParaRPr>
          </a:p>
        </p:txBody>
      </p:sp>
      <p:sp>
        <p:nvSpPr>
          <p:cNvPr id="134" name="Rectangle 133"/>
          <p:cNvSpPr/>
          <p:nvPr/>
        </p:nvSpPr>
        <p:spPr>
          <a:xfrm>
            <a:off x="6161322" y="1893180"/>
            <a:ext cx="1167319" cy="1061411"/>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solidFill>
                  <a:schemeClr val="bg1"/>
                </a:solidFill>
              </a:rPr>
              <a:t>Cluster 34</a:t>
            </a:r>
            <a:endParaRPr lang="en-SG" dirty="0">
              <a:solidFill>
                <a:schemeClr val="bg1"/>
              </a:solidFill>
            </a:endParaRPr>
          </a:p>
        </p:txBody>
      </p:sp>
      <p:sp>
        <p:nvSpPr>
          <p:cNvPr id="135" name="Rectangle 134"/>
          <p:cNvSpPr/>
          <p:nvPr/>
        </p:nvSpPr>
        <p:spPr>
          <a:xfrm>
            <a:off x="6161322" y="3369800"/>
            <a:ext cx="1167319" cy="940338"/>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solidFill>
                  <a:schemeClr val="bg1"/>
                </a:solidFill>
              </a:rPr>
              <a:t>Cluster 36</a:t>
            </a:r>
            <a:endParaRPr lang="en-SG" dirty="0">
              <a:solidFill>
                <a:schemeClr val="bg1"/>
              </a:solidFill>
            </a:endParaRPr>
          </a:p>
        </p:txBody>
      </p:sp>
      <p:sp>
        <p:nvSpPr>
          <p:cNvPr id="136" name="Rectangle 135"/>
          <p:cNvSpPr/>
          <p:nvPr/>
        </p:nvSpPr>
        <p:spPr>
          <a:xfrm>
            <a:off x="3904126" y="2323164"/>
            <a:ext cx="599082" cy="507831"/>
          </a:xfrm>
          <a:prstGeom prst="rect">
            <a:avLst/>
          </a:prstGeom>
          <a:solidFill>
            <a:srgbClr val="CC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solidFill>
                  <a:schemeClr val="tx1"/>
                </a:solidFill>
              </a:rPr>
              <a:t>34</a:t>
            </a:r>
            <a:endParaRPr lang="en-SG" dirty="0">
              <a:solidFill>
                <a:schemeClr val="tx1"/>
              </a:solidFill>
            </a:endParaRPr>
          </a:p>
        </p:txBody>
      </p:sp>
      <p:sp>
        <p:nvSpPr>
          <p:cNvPr id="137" name="Rectangle 136"/>
          <p:cNvSpPr/>
          <p:nvPr/>
        </p:nvSpPr>
        <p:spPr>
          <a:xfrm>
            <a:off x="3903611" y="3342029"/>
            <a:ext cx="599563" cy="507831"/>
          </a:xfrm>
          <a:prstGeom prst="rect">
            <a:avLst/>
          </a:prstGeom>
          <a:solidFill>
            <a:srgbClr val="CC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solidFill>
                  <a:schemeClr val="tx1"/>
                </a:solidFill>
              </a:rPr>
              <a:t>36</a:t>
            </a:r>
            <a:endParaRPr lang="en-SG" dirty="0">
              <a:solidFill>
                <a:schemeClr val="tx1"/>
              </a:solidFill>
            </a:endParaRPr>
          </a:p>
        </p:txBody>
      </p:sp>
      <p:sp>
        <p:nvSpPr>
          <p:cNvPr id="138" name="Rectangle 137"/>
          <p:cNvSpPr/>
          <p:nvPr/>
        </p:nvSpPr>
        <p:spPr>
          <a:xfrm>
            <a:off x="3293884" y="3854872"/>
            <a:ext cx="608537" cy="507831"/>
          </a:xfrm>
          <a:prstGeom prst="rect">
            <a:avLst/>
          </a:prstGeom>
          <a:solidFill>
            <a:srgbClr val="CC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1600" dirty="0">
                <a:solidFill>
                  <a:schemeClr val="tx1"/>
                </a:solidFill>
              </a:rPr>
              <a:t>EOF</a:t>
            </a:r>
            <a:endParaRPr lang="en-SG" sz="1600" dirty="0">
              <a:solidFill>
                <a:schemeClr val="tx1"/>
              </a:solidFill>
            </a:endParaRPr>
          </a:p>
        </p:txBody>
      </p:sp>
      <p:sp>
        <p:nvSpPr>
          <p:cNvPr id="139" name="Rectangle 138"/>
          <p:cNvSpPr/>
          <p:nvPr/>
        </p:nvSpPr>
        <p:spPr>
          <a:xfrm>
            <a:off x="1000640" y="1307503"/>
            <a:ext cx="1167318" cy="507831"/>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t>File1.dat</a:t>
            </a:r>
            <a:endParaRPr lang="en-SG" dirty="0"/>
          </a:p>
        </p:txBody>
      </p:sp>
      <p:sp>
        <p:nvSpPr>
          <p:cNvPr id="140" name="Rectangle 139"/>
          <p:cNvSpPr/>
          <p:nvPr/>
        </p:nvSpPr>
        <p:spPr>
          <a:xfrm>
            <a:off x="2167958" y="1307503"/>
            <a:ext cx="1167319" cy="507831"/>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t>4000 bytes</a:t>
            </a:r>
            <a:endParaRPr lang="en-SG" dirty="0"/>
          </a:p>
        </p:txBody>
      </p:sp>
      <p:sp>
        <p:nvSpPr>
          <p:cNvPr id="141" name="Rectangle 140"/>
          <p:cNvSpPr/>
          <p:nvPr/>
        </p:nvSpPr>
        <p:spPr>
          <a:xfrm>
            <a:off x="3335278" y="1307504"/>
            <a:ext cx="1167319" cy="507831"/>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t>Cluster 34</a:t>
            </a:r>
            <a:endParaRPr lang="en-SG" dirty="0"/>
          </a:p>
        </p:txBody>
      </p:sp>
      <p:cxnSp>
        <p:nvCxnSpPr>
          <p:cNvPr id="142" name="Straight Arrow Connector 141"/>
          <p:cNvCxnSpPr>
            <a:stCxn id="136" idx="3"/>
            <a:endCxn id="134" idx="1"/>
          </p:cNvCxnSpPr>
          <p:nvPr/>
        </p:nvCxnSpPr>
        <p:spPr>
          <a:xfrm flipV="1">
            <a:off x="4503208" y="2423886"/>
            <a:ext cx="1658114" cy="153194"/>
          </a:xfrm>
          <a:prstGeom prst="straightConnector1">
            <a:avLst/>
          </a:prstGeom>
          <a:ln w="38100">
            <a:solidFill>
              <a:srgbClr val="FF0066"/>
            </a:solidFill>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p:cNvCxnSpPr>
            <a:stCxn id="137" idx="3"/>
            <a:endCxn id="135" idx="1"/>
          </p:cNvCxnSpPr>
          <p:nvPr/>
        </p:nvCxnSpPr>
        <p:spPr>
          <a:xfrm>
            <a:off x="4503174" y="3595945"/>
            <a:ext cx="1658148" cy="244024"/>
          </a:xfrm>
          <a:prstGeom prst="straightConnector1">
            <a:avLst/>
          </a:prstGeom>
          <a:ln w="38100">
            <a:solidFill>
              <a:srgbClr val="FF0066"/>
            </a:solidFill>
            <a:tailEnd type="triangle"/>
          </a:ln>
        </p:spPr>
        <p:style>
          <a:lnRef idx="1">
            <a:schemeClr val="accent1"/>
          </a:lnRef>
          <a:fillRef idx="0">
            <a:schemeClr val="accent1"/>
          </a:fillRef>
          <a:effectRef idx="0">
            <a:schemeClr val="accent1"/>
          </a:effectRef>
          <a:fontRef idx="minor">
            <a:schemeClr val="tx1"/>
          </a:fontRef>
        </p:style>
      </p:cxnSp>
      <p:cxnSp>
        <p:nvCxnSpPr>
          <p:cNvPr id="144" name="Connector: Elbow 143"/>
          <p:cNvCxnSpPr>
            <a:stCxn id="141" idx="2"/>
            <a:endCxn id="136" idx="0"/>
          </p:cNvCxnSpPr>
          <p:nvPr/>
        </p:nvCxnSpPr>
        <p:spPr>
          <a:xfrm rot="16200000" flipH="1">
            <a:off x="3807388" y="1926884"/>
            <a:ext cx="507829" cy="284729"/>
          </a:xfrm>
          <a:prstGeom prst="bentConnector3">
            <a:avLst>
              <a:gd name="adj1" fmla="val 50000"/>
            </a:avLst>
          </a:prstGeom>
          <a:ln w="28575">
            <a:solidFill>
              <a:srgbClr val="FF0066"/>
            </a:solidFill>
            <a:tailEnd type="triangle"/>
          </a:ln>
        </p:spPr>
        <p:style>
          <a:lnRef idx="1">
            <a:schemeClr val="accent1"/>
          </a:lnRef>
          <a:fillRef idx="0">
            <a:schemeClr val="accent1"/>
          </a:fillRef>
          <a:effectRef idx="0">
            <a:schemeClr val="accent1"/>
          </a:effectRef>
          <a:fontRef idx="minor">
            <a:schemeClr val="tx1"/>
          </a:fontRef>
        </p:style>
      </p:cxnSp>
      <p:sp>
        <p:nvSpPr>
          <p:cNvPr id="145" name="Rectangle 144"/>
          <p:cNvSpPr/>
          <p:nvPr/>
        </p:nvSpPr>
        <p:spPr>
          <a:xfrm>
            <a:off x="3293272" y="2323165"/>
            <a:ext cx="610854" cy="507831"/>
          </a:xfrm>
          <a:prstGeom prst="rect">
            <a:avLst/>
          </a:prstGeom>
          <a:solidFill>
            <a:srgbClr val="CC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solidFill>
                  <a:schemeClr val="tx1"/>
                </a:solidFill>
              </a:rPr>
              <a:t>36</a:t>
            </a:r>
            <a:endParaRPr lang="en-SG" dirty="0">
              <a:solidFill>
                <a:schemeClr val="tx1"/>
              </a:solidFill>
            </a:endParaRPr>
          </a:p>
        </p:txBody>
      </p:sp>
      <p:sp>
        <p:nvSpPr>
          <p:cNvPr id="146" name="Rectangle 145"/>
          <p:cNvSpPr/>
          <p:nvPr/>
        </p:nvSpPr>
        <p:spPr>
          <a:xfrm>
            <a:off x="3903515" y="2832493"/>
            <a:ext cx="599081" cy="507831"/>
          </a:xfrm>
          <a:prstGeom prst="rect">
            <a:avLst/>
          </a:prstGeom>
          <a:solidFill>
            <a:srgbClr val="CC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solidFill>
                  <a:schemeClr val="tx1"/>
                </a:solidFill>
              </a:rPr>
              <a:t>35</a:t>
            </a:r>
            <a:endParaRPr lang="en-SG" dirty="0">
              <a:solidFill>
                <a:schemeClr val="tx1"/>
              </a:solidFill>
            </a:endParaRPr>
          </a:p>
        </p:txBody>
      </p:sp>
      <p:sp>
        <p:nvSpPr>
          <p:cNvPr id="147" name="Rectangle 146"/>
          <p:cNvSpPr/>
          <p:nvPr/>
        </p:nvSpPr>
        <p:spPr>
          <a:xfrm>
            <a:off x="3903033" y="3854872"/>
            <a:ext cx="599563" cy="507831"/>
          </a:xfrm>
          <a:prstGeom prst="rect">
            <a:avLst/>
          </a:prstGeom>
          <a:solidFill>
            <a:srgbClr val="CC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solidFill>
                  <a:schemeClr val="tx1"/>
                </a:solidFill>
              </a:rPr>
              <a:t>37</a:t>
            </a:r>
            <a:endParaRPr lang="en-SG" dirty="0">
              <a:solidFill>
                <a:schemeClr val="tx1"/>
              </a:solidFill>
            </a:endParaRPr>
          </a:p>
        </p:txBody>
      </p:sp>
      <p:sp>
        <p:nvSpPr>
          <p:cNvPr id="148" name="Rectangle 147"/>
          <p:cNvSpPr/>
          <p:nvPr/>
        </p:nvSpPr>
        <p:spPr>
          <a:xfrm>
            <a:off x="3293884" y="3343682"/>
            <a:ext cx="608537" cy="507831"/>
          </a:xfrm>
          <a:prstGeom prst="rect">
            <a:avLst/>
          </a:prstGeom>
          <a:solidFill>
            <a:srgbClr val="CC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solidFill>
                  <a:schemeClr val="tx1"/>
                </a:solidFill>
              </a:rPr>
              <a:t>37</a:t>
            </a:r>
            <a:endParaRPr lang="en-SG" dirty="0">
              <a:solidFill>
                <a:schemeClr val="tx1"/>
              </a:solidFill>
            </a:endParaRPr>
          </a:p>
        </p:txBody>
      </p:sp>
      <p:sp>
        <p:nvSpPr>
          <p:cNvPr id="149" name="Rectangle 148"/>
          <p:cNvSpPr/>
          <p:nvPr/>
        </p:nvSpPr>
        <p:spPr>
          <a:xfrm>
            <a:off x="3293271" y="2832492"/>
            <a:ext cx="609631" cy="5078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t>0</a:t>
            </a:r>
            <a:endParaRPr lang="en-SG" dirty="0"/>
          </a:p>
        </p:txBody>
      </p:sp>
      <p:cxnSp>
        <p:nvCxnSpPr>
          <p:cNvPr id="150" name="Connector: Elbow 149"/>
          <p:cNvCxnSpPr/>
          <p:nvPr/>
        </p:nvCxnSpPr>
        <p:spPr>
          <a:xfrm rot="16200000" flipH="1">
            <a:off x="3453768" y="2945728"/>
            <a:ext cx="826167" cy="288427"/>
          </a:xfrm>
          <a:prstGeom prst="bentConnector3">
            <a:avLst>
              <a:gd name="adj1" fmla="val -1651"/>
            </a:avLst>
          </a:prstGeom>
          <a:ln w="38100">
            <a:solidFill>
              <a:srgbClr val="FF0066"/>
            </a:solidFill>
            <a:tailEnd type="triangle"/>
          </a:ln>
        </p:spPr>
        <p:style>
          <a:lnRef idx="1">
            <a:schemeClr val="accent1"/>
          </a:lnRef>
          <a:fillRef idx="0">
            <a:schemeClr val="accent1"/>
          </a:fillRef>
          <a:effectRef idx="0">
            <a:schemeClr val="accent1"/>
          </a:effectRef>
          <a:fontRef idx="minor">
            <a:schemeClr val="tx1"/>
          </a:fontRef>
        </p:style>
      </p:cxnSp>
      <p:cxnSp>
        <p:nvCxnSpPr>
          <p:cNvPr id="151" name="Connector: Elbow 150"/>
          <p:cNvCxnSpPr/>
          <p:nvPr/>
        </p:nvCxnSpPr>
        <p:spPr>
          <a:xfrm rot="16200000" flipH="1">
            <a:off x="3660247" y="3672370"/>
            <a:ext cx="431493" cy="270142"/>
          </a:xfrm>
          <a:prstGeom prst="bentConnector3">
            <a:avLst>
              <a:gd name="adj1" fmla="val 4085"/>
            </a:avLst>
          </a:prstGeom>
          <a:ln w="38100">
            <a:solidFill>
              <a:srgbClr val="FF0066"/>
            </a:solidFill>
            <a:tailEnd type="triangle"/>
          </a:ln>
        </p:spPr>
        <p:style>
          <a:lnRef idx="1">
            <a:schemeClr val="accent1"/>
          </a:lnRef>
          <a:fillRef idx="0">
            <a:schemeClr val="accent1"/>
          </a:fillRef>
          <a:effectRef idx="0">
            <a:schemeClr val="accent1"/>
          </a:effectRef>
          <a:fontRef idx="minor">
            <a:schemeClr val="tx1"/>
          </a:fontRef>
        </p:style>
      </p:cxnSp>
      <p:grpSp>
        <p:nvGrpSpPr>
          <p:cNvPr id="152" name="Group 151"/>
          <p:cNvGrpSpPr/>
          <p:nvPr/>
        </p:nvGrpSpPr>
        <p:grpSpPr>
          <a:xfrm>
            <a:off x="7013104" y="2669694"/>
            <a:ext cx="2081513" cy="1430564"/>
            <a:chOff x="7045759" y="3433868"/>
            <a:chExt cx="2081513" cy="1430564"/>
          </a:xfrm>
        </p:grpSpPr>
        <p:sp>
          <p:nvSpPr>
            <p:cNvPr id="153" name="Rectangle 152"/>
            <p:cNvSpPr/>
            <p:nvPr/>
          </p:nvSpPr>
          <p:spPr>
            <a:xfrm>
              <a:off x="7814139" y="3599139"/>
              <a:ext cx="1313133" cy="707886"/>
            </a:xfrm>
            <a:prstGeom prst="rect">
              <a:avLst/>
            </a:prstGeom>
            <a:noFill/>
          </p:spPr>
          <p:txBody>
            <a:bodyPr wrap="square" lIns="91440" tIns="45720" rIns="91440" bIns="45720">
              <a:spAutoFit/>
            </a:bodyPr>
            <a:lstStyle/>
            <a:p>
              <a:pPr algn="ctr"/>
              <a:r>
                <a:rPr lang="en-US" sz="2000" b="0" cap="none" spc="0" dirty="0">
                  <a:ln w="0"/>
                  <a:solidFill>
                    <a:schemeClr val="accent1"/>
                  </a:solidFill>
                  <a:effectLst>
                    <a:outerShdw blurRad="38100" dist="25400" dir="5400000" algn="ctr" rotWithShape="0">
                      <a:srgbClr val="6E747A">
                        <a:alpha val="43000"/>
                      </a:srgbClr>
                    </a:outerShdw>
                  </a:effectLst>
                </a:rPr>
                <a:t>Dat</a:t>
              </a:r>
              <a:r>
                <a:rPr lang="en-US" sz="2000" dirty="0">
                  <a:ln w="0"/>
                  <a:solidFill>
                    <a:schemeClr val="accent1"/>
                  </a:solidFill>
                  <a:effectLst>
                    <a:outerShdw blurRad="38100" dist="25400" dir="5400000" algn="ctr" rotWithShape="0">
                      <a:srgbClr val="6E747A">
                        <a:alpha val="43000"/>
                      </a:srgbClr>
                    </a:outerShdw>
                  </a:effectLst>
                </a:rPr>
                <a:t>a cluster</a:t>
              </a:r>
              <a:endParaRPr lang="en-US" sz="2000" b="0" cap="none" spc="0" dirty="0">
                <a:ln w="0"/>
                <a:solidFill>
                  <a:schemeClr val="accent1"/>
                </a:solidFill>
                <a:effectLst>
                  <a:outerShdw blurRad="38100" dist="25400" dir="5400000" algn="ctr" rotWithShape="0">
                    <a:srgbClr val="6E747A">
                      <a:alpha val="43000"/>
                    </a:srgbClr>
                  </a:outerShdw>
                </a:effectLst>
              </a:endParaRPr>
            </a:p>
          </p:txBody>
        </p:sp>
        <p:cxnSp>
          <p:nvCxnSpPr>
            <p:cNvPr id="154" name="Straight Arrow Connector 153"/>
            <p:cNvCxnSpPr>
              <a:stCxn id="153" idx="1"/>
            </p:cNvCxnSpPr>
            <p:nvPr/>
          </p:nvCxnSpPr>
          <p:spPr>
            <a:xfrm flipH="1" flipV="1">
              <a:off x="7163411" y="3433868"/>
              <a:ext cx="650728" cy="519214"/>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155" name="Straight Arrow Connector 154"/>
            <p:cNvCxnSpPr>
              <a:stCxn id="153" idx="1"/>
            </p:cNvCxnSpPr>
            <p:nvPr/>
          </p:nvCxnSpPr>
          <p:spPr>
            <a:xfrm flipH="1">
              <a:off x="7045759" y="3953082"/>
              <a:ext cx="768380" cy="911350"/>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56" name="Group 155"/>
          <p:cNvGrpSpPr/>
          <p:nvPr/>
        </p:nvGrpSpPr>
        <p:grpSpPr>
          <a:xfrm>
            <a:off x="1035893" y="2820023"/>
            <a:ext cx="2445496" cy="707886"/>
            <a:chOff x="1068548" y="3584197"/>
            <a:chExt cx="2445496" cy="707886"/>
          </a:xfrm>
        </p:grpSpPr>
        <p:sp>
          <p:nvSpPr>
            <p:cNvPr id="157" name="Rectangle 156"/>
            <p:cNvSpPr/>
            <p:nvPr/>
          </p:nvSpPr>
          <p:spPr>
            <a:xfrm>
              <a:off x="1068548" y="3584197"/>
              <a:ext cx="1842301" cy="707886"/>
            </a:xfrm>
            <a:prstGeom prst="rect">
              <a:avLst/>
            </a:prstGeom>
            <a:noFill/>
          </p:spPr>
          <p:txBody>
            <a:bodyPr wrap="square" lIns="91440" tIns="45720" rIns="91440" bIns="45720">
              <a:spAutoFit/>
            </a:bodyPr>
            <a:lstStyle/>
            <a:p>
              <a:pPr algn="ctr"/>
              <a:r>
                <a:rPr lang="en-US" sz="2000" b="0" cap="none" spc="0" dirty="0">
                  <a:ln w="0"/>
                  <a:solidFill>
                    <a:schemeClr val="accent1"/>
                  </a:solidFill>
                  <a:effectLst>
                    <a:outerShdw blurRad="38100" dist="25400" dir="5400000" algn="ctr" rotWithShape="0">
                      <a:srgbClr val="6E747A">
                        <a:alpha val="43000"/>
                      </a:srgbClr>
                    </a:outerShdw>
                  </a:effectLst>
                </a:rPr>
                <a:t>Not Allocated</a:t>
              </a:r>
              <a:r>
                <a:rPr lang="en-US" sz="2000" dirty="0">
                  <a:ln w="0"/>
                  <a:solidFill>
                    <a:schemeClr val="accent1"/>
                  </a:solidFill>
                  <a:effectLst>
                    <a:outerShdw blurRad="38100" dist="25400" dir="5400000" algn="ctr" rotWithShape="0">
                      <a:srgbClr val="6E747A">
                        <a:alpha val="43000"/>
                      </a:srgbClr>
                    </a:outerShdw>
                  </a:effectLst>
                </a:rPr>
                <a:t> cluster</a:t>
              </a:r>
              <a:endParaRPr lang="en-US" sz="2000" b="0" cap="none" spc="0" dirty="0">
                <a:ln w="0"/>
                <a:solidFill>
                  <a:schemeClr val="accent1"/>
                </a:solidFill>
                <a:effectLst>
                  <a:outerShdw blurRad="38100" dist="25400" dir="5400000" algn="ctr" rotWithShape="0">
                    <a:srgbClr val="6E747A">
                      <a:alpha val="43000"/>
                    </a:srgbClr>
                  </a:outerShdw>
                </a:effectLst>
              </a:endParaRPr>
            </a:p>
          </p:txBody>
        </p:sp>
        <p:cxnSp>
          <p:nvCxnSpPr>
            <p:cNvPr id="158" name="Straight Arrow Connector 157"/>
            <p:cNvCxnSpPr>
              <a:stCxn id="157" idx="3"/>
            </p:cNvCxnSpPr>
            <p:nvPr/>
          </p:nvCxnSpPr>
          <p:spPr>
            <a:xfrm>
              <a:off x="2910849" y="3938140"/>
              <a:ext cx="603195" cy="10723"/>
            </a:xfrm>
            <a:prstGeom prst="straightConnector1">
              <a:avLst/>
            </a:prstGeom>
            <a:ln w="38100">
              <a:solidFill>
                <a:srgbClr val="92D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59" name="Group 158"/>
          <p:cNvGrpSpPr/>
          <p:nvPr/>
        </p:nvGrpSpPr>
        <p:grpSpPr>
          <a:xfrm>
            <a:off x="954865" y="3945445"/>
            <a:ext cx="2446080" cy="400110"/>
            <a:chOff x="987520" y="3609630"/>
            <a:chExt cx="2446080" cy="400110"/>
          </a:xfrm>
        </p:grpSpPr>
        <p:sp>
          <p:nvSpPr>
            <p:cNvPr id="160" name="Rectangle 159"/>
            <p:cNvSpPr/>
            <p:nvPr/>
          </p:nvSpPr>
          <p:spPr>
            <a:xfrm>
              <a:off x="987520" y="3609630"/>
              <a:ext cx="1842301" cy="400110"/>
            </a:xfrm>
            <a:prstGeom prst="rect">
              <a:avLst/>
            </a:prstGeom>
            <a:noFill/>
          </p:spPr>
          <p:txBody>
            <a:bodyPr wrap="square" lIns="91440" tIns="45720" rIns="91440" bIns="45720">
              <a:spAutoFit/>
            </a:bodyPr>
            <a:lstStyle/>
            <a:p>
              <a:pPr algn="ctr"/>
              <a:r>
                <a:rPr lang="en-US" sz="2000" b="0" cap="none" spc="0" dirty="0">
                  <a:ln w="0"/>
                  <a:solidFill>
                    <a:schemeClr val="accent1"/>
                  </a:solidFill>
                  <a:effectLst>
                    <a:outerShdw blurRad="38100" dist="25400" dir="5400000" algn="ctr" rotWithShape="0">
                      <a:srgbClr val="6E747A">
                        <a:alpha val="43000"/>
                      </a:srgbClr>
                    </a:outerShdw>
                  </a:effectLst>
                </a:rPr>
                <a:t>End of File</a:t>
              </a:r>
              <a:endParaRPr lang="en-US" sz="2000" b="0" cap="none" spc="0" dirty="0">
                <a:ln w="0"/>
                <a:solidFill>
                  <a:schemeClr val="accent1"/>
                </a:solidFill>
                <a:effectLst>
                  <a:outerShdw blurRad="38100" dist="25400" dir="5400000" algn="ctr" rotWithShape="0">
                    <a:srgbClr val="6E747A">
                      <a:alpha val="43000"/>
                    </a:srgbClr>
                  </a:outerShdw>
                </a:effectLst>
              </a:endParaRPr>
            </a:p>
          </p:txBody>
        </p:sp>
        <p:cxnSp>
          <p:nvCxnSpPr>
            <p:cNvPr id="161" name="Straight Arrow Connector 160"/>
            <p:cNvCxnSpPr>
              <a:stCxn id="160" idx="3"/>
            </p:cNvCxnSpPr>
            <p:nvPr/>
          </p:nvCxnSpPr>
          <p:spPr>
            <a:xfrm>
              <a:off x="2829821" y="3809685"/>
              <a:ext cx="603779" cy="82951"/>
            </a:xfrm>
            <a:prstGeom prst="straightConnector1">
              <a:avLst/>
            </a:prstGeom>
            <a:ln w="38100">
              <a:solidFill>
                <a:srgbClr val="92D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62" name="Group 161"/>
          <p:cNvGrpSpPr/>
          <p:nvPr/>
        </p:nvGrpSpPr>
        <p:grpSpPr>
          <a:xfrm>
            <a:off x="-300320" y="865115"/>
            <a:ext cx="6891721" cy="1537372"/>
            <a:chOff x="-267665" y="1629289"/>
            <a:chExt cx="6891721" cy="1537372"/>
          </a:xfrm>
        </p:grpSpPr>
        <p:grpSp>
          <p:nvGrpSpPr>
            <p:cNvPr id="163" name="Group 162"/>
            <p:cNvGrpSpPr/>
            <p:nvPr/>
          </p:nvGrpSpPr>
          <p:grpSpPr>
            <a:xfrm>
              <a:off x="-267665" y="2466924"/>
              <a:ext cx="1842301" cy="666332"/>
              <a:chOff x="1068548" y="3317975"/>
              <a:chExt cx="1842301" cy="666332"/>
            </a:xfrm>
          </p:grpSpPr>
          <p:sp>
            <p:nvSpPr>
              <p:cNvPr id="170" name="Rectangle 169"/>
              <p:cNvSpPr/>
              <p:nvPr/>
            </p:nvSpPr>
            <p:spPr>
              <a:xfrm>
                <a:off x="1068548" y="3584197"/>
                <a:ext cx="1842301" cy="400110"/>
              </a:xfrm>
              <a:prstGeom prst="rect">
                <a:avLst/>
              </a:prstGeom>
              <a:noFill/>
            </p:spPr>
            <p:txBody>
              <a:bodyPr wrap="square" lIns="91440" tIns="45720" rIns="91440" bIns="45720">
                <a:spAutoFit/>
              </a:bodyPr>
              <a:lstStyle/>
              <a:p>
                <a:pPr algn="ctr"/>
                <a:r>
                  <a:rPr lang="en-US" sz="2000" b="0" cap="none" spc="0" dirty="0">
                    <a:ln w="0"/>
                    <a:solidFill>
                      <a:schemeClr val="accent1"/>
                    </a:solidFill>
                    <a:effectLst>
                      <a:outerShdw blurRad="38100" dist="25400" dir="5400000" algn="ctr" rotWithShape="0">
                        <a:srgbClr val="6E747A">
                          <a:alpha val="43000"/>
                        </a:srgbClr>
                      </a:outerShdw>
                    </a:effectLst>
                  </a:rPr>
                  <a:t>Filename</a:t>
                </a:r>
                <a:endParaRPr lang="en-US" sz="2000" b="0" cap="none" spc="0" dirty="0">
                  <a:ln w="0"/>
                  <a:solidFill>
                    <a:schemeClr val="accent1"/>
                  </a:solidFill>
                  <a:effectLst>
                    <a:outerShdw blurRad="38100" dist="25400" dir="5400000" algn="ctr" rotWithShape="0">
                      <a:srgbClr val="6E747A">
                        <a:alpha val="43000"/>
                      </a:srgbClr>
                    </a:outerShdw>
                  </a:effectLst>
                </a:endParaRPr>
              </a:p>
            </p:txBody>
          </p:sp>
          <p:cxnSp>
            <p:nvCxnSpPr>
              <p:cNvPr id="171" name="Straight Arrow Connector 170"/>
              <p:cNvCxnSpPr/>
              <p:nvPr/>
            </p:nvCxnSpPr>
            <p:spPr>
              <a:xfrm flipV="1">
                <a:off x="2202893" y="3317975"/>
                <a:ext cx="279368" cy="366498"/>
              </a:xfrm>
              <a:prstGeom prst="straightConnector1">
                <a:avLst/>
              </a:prstGeom>
              <a:ln w="38100">
                <a:solidFill>
                  <a:srgbClr val="92D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64" name="Group 163"/>
            <p:cNvGrpSpPr/>
            <p:nvPr/>
          </p:nvGrpSpPr>
          <p:grpSpPr>
            <a:xfrm>
              <a:off x="1668854" y="2465330"/>
              <a:ext cx="891025" cy="701331"/>
              <a:chOff x="1749882" y="3317975"/>
              <a:chExt cx="891025" cy="701331"/>
            </a:xfrm>
          </p:grpSpPr>
          <p:sp>
            <p:nvSpPr>
              <p:cNvPr id="168" name="Rectangle 167"/>
              <p:cNvSpPr/>
              <p:nvPr/>
            </p:nvSpPr>
            <p:spPr>
              <a:xfrm>
                <a:off x="1749882" y="3619196"/>
                <a:ext cx="891025" cy="400110"/>
              </a:xfrm>
              <a:prstGeom prst="rect">
                <a:avLst/>
              </a:prstGeom>
              <a:noFill/>
            </p:spPr>
            <p:txBody>
              <a:bodyPr wrap="square" lIns="91440" tIns="45720" rIns="91440" bIns="45720">
                <a:spAutoFit/>
              </a:bodyPr>
              <a:lstStyle/>
              <a:p>
                <a:pPr algn="ctr"/>
                <a:r>
                  <a:rPr lang="en-US" sz="2000" b="0" cap="none" spc="0" dirty="0">
                    <a:ln w="0"/>
                    <a:solidFill>
                      <a:schemeClr val="accent1"/>
                    </a:solidFill>
                    <a:effectLst>
                      <a:outerShdw blurRad="38100" dist="25400" dir="5400000" algn="ctr" rotWithShape="0">
                        <a:srgbClr val="6E747A">
                          <a:alpha val="43000"/>
                        </a:srgbClr>
                      </a:outerShdw>
                    </a:effectLst>
                  </a:rPr>
                  <a:t>Size</a:t>
                </a:r>
                <a:endParaRPr lang="en-US" sz="2000" b="0" cap="none" spc="0" dirty="0">
                  <a:ln w="0"/>
                  <a:solidFill>
                    <a:schemeClr val="accent1"/>
                  </a:solidFill>
                  <a:effectLst>
                    <a:outerShdw blurRad="38100" dist="25400" dir="5400000" algn="ctr" rotWithShape="0">
                      <a:srgbClr val="6E747A">
                        <a:alpha val="43000"/>
                      </a:srgbClr>
                    </a:outerShdw>
                  </a:effectLst>
                </a:endParaRPr>
              </a:p>
            </p:txBody>
          </p:sp>
          <p:cxnSp>
            <p:nvCxnSpPr>
              <p:cNvPr id="169" name="Straight Arrow Connector 168"/>
              <p:cNvCxnSpPr/>
              <p:nvPr/>
            </p:nvCxnSpPr>
            <p:spPr>
              <a:xfrm flipV="1">
                <a:off x="2202893" y="3317975"/>
                <a:ext cx="279368" cy="366498"/>
              </a:xfrm>
              <a:prstGeom prst="straightConnector1">
                <a:avLst/>
              </a:prstGeom>
              <a:ln w="38100">
                <a:solidFill>
                  <a:srgbClr val="92D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65" name="Group 164"/>
            <p:cNvGrpSpPr/>
            <p:nvPr/>
          </p:nvGrpSpPr>
          <p:grpSpPr>
            <a:xfrm>
              <a:off x="4476057" y="1629289"/>
              <a:ext cx="2147999" cy="760230"/>
              <a:chOff x="1610860" y="3273984"/>
              <a:chExt cx="2147999" cy="760230"/>
            </a:xfrm>
          </p:grpSpPr>
          <p:sp>
            <p:nvSpPr>
              <p:cNvPr id="166" name="Rectangle 165"/>
              <p:cNvSpPr/>
              <p:nvPr/>
            </p:nvSpPr>
            <p:spPr>
              <a:xfrm>
                <a:off x="1739458" y="3273984"/>
                <a:ext cx="2019401" cy="707886"/>
              </a:xfrm>
              <a:prstGeom prst="rect">
                <a:avLst/>
              </a:prstGeom>
              <a:noFill/>
            </p:spPr>
            <p:txBody>
              <a:bodyPr wrap="square" lIns="91440" tIns="45720" rIns="91440" bIns="45720">
                <a:spAutoFit/>
              </a:bodyPr>
              <a:lstStyle/>
              <a:p>
                <a:pPr algn="ctr"/>
                <a:r>
                  <a:rPr lang="en-US" sz="2000" dirty="0">
                    <a:ln w="0"/>
                    <a:solidFill>
                      <a:schemeClr val="accent1"/>
                    </a:solidFill>
                    <a:effectLst>
                      <a:outerShdw blurRad="38100" dist="25400" dir="5400000" algn="ctr" rotWithShape="0">
                        <a:srgbClr val="6E747A">
                          <a:alpha val="43000"/>
                        </a:srgbClr>
                      </a:outerShdw>
                    </a:effectLst>
                  </a:rPr>
                  <a:t>First cluster address</a:t>
                </a:r>
                <a:endParaRPr lang="en-US" sz="2000" b="0" cap="none" spc="0" dirty="0">
                  <a:ln w="0"/>
                  <a:solidFill>
                    <a:schemeClr val="accent1"/>
                  </a:solidFill>
                  <a:effectLst>
                    <a:outerShdw blurRad="38100" dist="25400" dir="5400000" algn="ctr" rotWithShape="0">
                      <a:srgbClr val="6E747A">
                        <a:alpha val="43000"/>
                      </a:srgbClr>
                    </a:outerShdw>
                  </a:effectLst>
                </a:endParaRPr>
              </a:p>
            </p:txBody>
          </p:sp>
          <p:cxnSp>
            <p:nvCxnSpPr>
              <p:cNvPr id="167" name="Straight Arrow Connector 166"/>
              <p:cNvCxnSpPr/>
              <p:nvPr/>
            </p:nvCxnSpPr>
            <p:spPr>
              <a:xfrm flipH="1">
                <a:off x="1610860" y="3589880"/>
                <a:ext cx="784846" cy="444334"/>
              </a:xfrm>
              <a:prstGeom prst="straightConnector1">
                <a:avLst/>
              </a:prstGeom>
              <a:ln w="38100">
                <a:solidFill>
                  <a:srgbClr val="92D050"/>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172" name="Rectangle 171"/>
          <p:cNvSpPr/>
          <p:nvPr/>
        </p:nvSpPr>
        <p:spPr>
          <a:xfrm>
            <a:off x="6607781" y="767559"/>
            <a:ext cx="2307327" cy="954107"/>
          </a:xfrm>
          <a:prstGeom prst="rect">
            <a:avLst/>
          </a:prstGeom>
          <a:noFill/>
        </p:spPr>
        <p:txBody>
          <a:bodyPr wrap="square" lIns="91440" tIns="45720" rIns="91440" bIns="45720">
            <a:spAutoFit/>
          </a:bodyPr>
          <a:lstStyle/>
          <a:p>
            <a:pPr algn="ctr"/>
            <a:r>
              <a:rPr lang="en-US" sz="2800" b="1" dirty="0">
                <a:ln w="6600">
                  <a:solidFill>
                    <a:schemeClr val="accent2"/>
                  </a:solidFill>
                  <a:prstDash val="solid"/>
                </a:ln>
                <a:solidFill>
                  <a:srgbClr val="FFC000"/>
                </a:solidFill>
                <a:effectLst>
                  <a:outerShdw dist="38100" dir="2700000" algn="tl" rotWithShape="0">
                    <a:schemeClr val="accent2"/>
                  </a:outerShdw>
                </a:effectLst>
              </a:rPr>
              <a:t>Cluster Chaining</a:t>
            </a:r>
            <a:endParaRPr lang="en-US" sz="2800" b="1" dirty="0">
              <a:ln w="6600">
                <a:solidFill>
                  <a:schemeClr val="accent2"/>
                </a:solidFill>
                <a:prstDash val="solid"/>
              </a:ln>
              <a:solidFill>
                <a:srgbClr val="FFC000"/>
              </a:solidFill>
              <a:effectLst>
                <a:outerShdw dist="38100" dir="2700000" algn="tl" rotWithShape="0">
                  <a:schemeClr val="accent2"/>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2"/>
                                        </p:tgtEl>
                                        <p:attrNameLst>
                                          <p:attrName>style.visibility</p:attrName>
                                        </p:attrNameLst>
                                      </p:cBhvr>
                                      <p:to>
                                        <p:strVal val="visible"/>
                                      </p:to>
                                    </p:set>
                                    <p:animEffect transition="in" filter="fade">
                                      <p:cBhvr>
                                        <p:cTn id="7" dur="500"/>
                                        <p:tgtEl>
                                          <p:spTgt spid="16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4"/>
                                        </p:tgtEl>
                                        <p:attrNameLst>
                                          <p:attrName>style.visibility</p:attrName>
                                        </p:attrNameLst>
                                      </p:cBhvr>
                                      <p:to>
                                        <p:strVal val="visible"/>
                                      </p:to>
                                    </p:set>
                                    <p:animEffect transition="in" filter="fade">
                                      <p:cBhvr>
                                        <p:cTn id="12" dur="500"/>
                                        <p:tgtEl>
                                          <p:spTgt spid="14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2"/>
                                        </p:tgtEl>
                                        <p:attrNameLst>
                                          <p:attrName>style.visibility</p:attrName>
                                        </p:attrNameLst>
                                      </p:cBhvr>
                                      <p:to>
                                        <p:strVal val="visible"/>
                                      </p:to>
                                    </p:set>
                                    <p:animEffect transition="in" filter="fade">
                                      <p:cBhvr>
                                        <p:cTn id="17" dur="500"/>
                                        <p:tgtEl>
                                          <p:spTgt spid="14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2"/>
                                        </p:tgtEl>
                                        <p:attrNameLst>
                                          <p:attrName>style.visibility</p:attrName>
                                        </p:attrNameLst>
                                      </p:cBhvr>
                                      <p:to>
                                        <p:strVal val="visible"/>
                                      </p:to>
                                    </p:set>
                                    <p:animEffect transition="in" filter="fade">
                                      <p:cBhvr>
                                        <p:cTn id="22" dur="500"/>
                                        <p:tgtEl>
                                          <p:spTgt spid="15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0"/>
                                        </p:tgtEl>
                                        <p:attrNameLst>
                                          <p:attrName>style.visibility</p:attrName>
                                        </p:attrNameLst>
                                      </p:cBhvr>
                                      <p:to>
                                        <p:strVal val="visible"/>
                                      </p:to>
                                    </p:set>
                                    <p:animEffect transition="in" filter="fade">
                                      <p:cBhvr>
                                        <p:cTn id="27" dur="500"/>
                                        <p:tgtEl>
                                          <p:spTgt spid="15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43"/>
                                        </p:tgtEl>
                                        <p:attrNameLst>
                                          <p:attrName>style.visibility</p:attrName>
                                        </p:attrNameLst>
                                      </p:cBhvr>
                                      <p:to>
                                        <p:strVal val="visible"/>
                                      </p:to>
                                    </p:set>
                                    <p:animEffect transition="in" filter="fade">
                                      <p:cBhvr>
                                        <p:cTn id="32" dur="500"/>
                                        <p:tgtEl>
                                          <p:spTgt spid="14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51"/>
                                        </p:tgtEl>
                                        <p:attrNameLst>
                                          <p:attrName>style.visibility</p:attrName>
                                        </p:attrNameLst>
                                      </p:cBhvr>
                                      <p:to>
                                        <p:strVal val="visible"/>
                                      </p:to>
                                    </p:set>
                                    <p:animEffect transition="in" filter="fade">
                                      <p:cBhvr>
                                        <p:cTn id="37" dur="500"/>
                                        <p:tgtEl>
                                          <p:spTgt spid="15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72"/>
                                        </p:tgtEl>
                                        <p:attrNameLst>
                                          <p:attrName>style.visibility</p:attrName>
                                        </p:attrNameLst>
                                      </p:cBhvr>
                                      <p:to>
                                        <p:strVal val="visible"/>
                                      </p:to>
                                    </p:set>
                                    <p:animEffect transition="in" filter="fade">
                                      <p:cBhvr>
                                        <p:cTn id="42" dur="500"/>
                                        <p:tgtEl>
                                          <p:spTgt spid="17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59"/>
                                        </p:tgtEl>
                                        <p:attrNameLst>
                                          <p:attrName>style.visibility</p:attrName>
                                        </p:attrNameLst>
                                      </p:cBhvr>
                                      <p:to>
                                        <p:strVal val="visible"/>
                                      </p:to>
                                    </p:set>
                                    <p:animEffect transition="in" filter="fade">
                                      <p:cBhvr>
                                        <p:cTn id="47" dur="500"/>
                                        <p:tgtEl>
                                          <p:spTgt spid="159"/>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56"/>
                                        </p:tgtEl>
                                        <p:attrNameLst>
                                          <p:attrName>style.visibility</p:attrName>
                                        </p:attrNameLst>
                                      </p:cBhvr>
                                      <p:to>
                                        <p:strVal val="visible"/>
                                      </p:to>
                                    </p:set>
                                    <p:animEffect transition="in" filter="fade">
                                      <p:cBhvr>
                                        <p:cTn id="52" dur="500"/>
                                        <p:tgtEl>
                                          <p:spTgt spid="1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F59E0B"/>
          </a:solidFill>
          <a:ln w="12700">
            <a:solidFill>
              <a:srgbClr val="F59E0B"/>
            </a:solidFill>
            <a:prstDash val="solid"/>
          </a:ln>
        </p:spPr>
        <p:txBody>
          <a:bodyPr/>
          <a:lstStyle/>
          <a:p>
            <a:endParaRPr lang="en-SG"/>
          </a:p>
        </p:txBody>
      </p:sp>
      <p:sp>
        <p:nvSpPr>
          <p:cNvPr id="3" name="Text 1"/>
          <p:cNvSpPr/>
          <p:nvPr/>
        </p:nvSpPr>
        <p:spPr>
          <a:xfrm>
            <a:off x="256032" y="128015"/>
            <a:ext cx="8631936" cy="548640"/>
          </a:xfrm>
          <a:prstGeom prst="rect">
            <a:avLst/>
          </a:prstGeom>
          <a:noFill/>
        </p:spPr>
        <p:txBody>
          <a:bodyPr wrap="square" lIns="0" tIns="0" rIns="0" bIns="0" rtlCol="0" anchor="ctr"/>
          <a:lstStyle/>
          <a:p>
            <a:pPr marL="0" indent="0">
              <a:buNone/>
            </a:pPr>
            <a:r>
              <a:rPr lang="en-US" sz="1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FAT32 Cluster Chains — Forensic Interpretation</a:t>
            </a:r>
            <a:endParaRPr lang="en-US" sz="1800" dirty="0"/>
          </a:p>
        </p:txBody>
      </p:sp>
      <p:sp>
        <p:nvSpPr>
          <p:cNvPr id="4" name="Shape 2"/>
          <p:cNvSpPr/>
          <p:nvPr/>
        </p:nvSpPr>
        <p:spPr>
          <a:xfrm>
            <a:off x="256032" y="73152"/>
            <a:ext cx="1463040" cy="219456"/>
          </a:xfrm>
          <a:prstGeom prst="rect">
            <a:avLst/>
          </a:prstGeom>
          <a:solidFill>
            <a:srgbClr val="F59E0B"/>
          </a:solidFill>
          <a:ln w="12700">
            <a:solidFill>
              <a:srgbClr val="F59E0B"/>
            </a:solidFill>
            <a:prstDash val="solid"/>
          </a:ln>
        </p:spPr>
        <p:txBody>
          <a:bodyPr/>
          <a:lstStyle/>
          <a:p>
            <a:endParaRPr lang="en-SG"/>
          </a:p>
        </p:txBody>
      </p:sp>
      <p:sp>
        <p:nvSpPr>
          <p:cNvPr id="5" name="Text 3"/>
          <p:cNvSpPr/>
          <p:nvPr/>
        </p:nvSpPr>
        <p:spPr>
          <a:xfrm>
            <a:off x="256032" y="73152"/>
            <a:ext cx="1463040" cy="219456"/>
          </a:xfrm>
          <a:prstGeom prst="rect">
            <a:avLst/>
          </a:prstGeom>
          <a:noFill/>
        </p:spPr>
        <p:txBody>
          <a:bodyPr wrap="square" lIns="0" tIns="0" rIns="0" bIns="0" rtlCol="0" anchor="ctr"/>
          <a:lstStyle/>
          <a:p>
            <a:pPr marL="0" indent="0" algn="ctr">
              <a:buNone/>
            </a:pPr>
            <a:r>
              <a:rPr lang="en-US" sz="800" b="1" kern="0" spc="100"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SECTION 02 — FAT</a:t>
            </a:r>
            <a:endParaRPr lang="en-US" sz="800" dirty="0"/>
          </a:p>
        </p:txBody>
      </p:sp>
      <p:sp>
        <p:nvSpPr>
          <p:cNvPr id="10" name="Text 8"/>
          <p:cNvSpPr/>
          <p:nvPr/>
        </p:nvSpPr>
        <p:spPr>
          <a:xfrm>
            <a:off x="256032" y="822960"/>
            <a:ext cx="8631936" cy="274320"/>
          </a:xfrm>
          <a:prstGeom prst="rect">
            <a:avLst/>
          </a:prstGeom>
          <a:noFill/>
        </p:spPr>
        <p:txBody>
          <a:bodyPr wrap="square" rtlCol="0" anchor="ctr"/>
          <a:lstStyle/>
          <a:p>
            <a:pPr marL="0" indent="0">
              <a:buNone/>
            </a:pPr>
            <a:r>
              <a:rPr lang="en-US" sz="950" i="1" dirty="0">
                <a:solidFill>
                  <a:srgbClr val="475569"/>
                </a:solidFill>
                <a:latin typeface="Calibri" panose="020F0502020204030204" pitchFamily="34" charset="0"/>
                <a:ea typeface="Calibri" panose="020F0502020204030204" pitchFamily="34" charset="-122"/>
                <a:cs typeface="Calibri" panose="020F0502020204030204" pitchFamily="34" charset="-120"/>
              </a:rPr>
              <a:t>Once an examiner understands how cluster chains work, they can manually reconstruct files, identify fragmented files, and recover deleted data — all from raw disk images.</a:t>
            </a:r>
            <a:endParaRPr lang="en-US" sz="950" dirty="0"/>
          </a:p>
        </p:txBody>
      </p:sp>
      <p:sp>
        <p:nvSpPr>
          <p:cNvPr id="11" name="Shape 9"/>
          <p:cNvSpPr/>
          <p:nvPr/>
        </p:nvSpPr>
        <p:spPr>
          <a:xfrm>
            <a:off x="256032" y="1133856"/>
            <a:ext cx="8631936" cy="219456"/>
          </a:xfrm>
          <a:prstGeom prst="rect">
            <a:avLst/>
          </a:prstGeom>
          <a:solidFill>
            <a:srgbClr val="EEF6FB"/>
          </a:solidFill>
          <a:ln w="12700">
            <a:solidFill>
              <a:srgbClr val="2E4068"/>
            </a:solidFill>
            <a:prstDash val="solid"/>
          </a:ln>
        </p:spPr>
        <p:txBody>
          <a:bodyPr/>
          <a:lstStyle/>
          <a:p>
            <a:endParaRPr lang="en-SG"/>
          </a:p>
        </p:txBody>
      </p:sp>
      <p:sp>
        <p:nvSpPr>
          <p:cNvPr id="12" name="Text 10"/>
          <p:cNvSpPr/>
          <p:nvPr/>
        </p:nvSpPr>
        <p:spPr>
          <a:xfrm>
            <a:off x="347472" y="1143000"/>
            <a:ext cx="8412480" cy="182880"/>
          </a:xfrm>
          <a:prstGeom prst="rect">
            <a:avLst/>
          </a:prstGeom>
          <a:noFill/>
        </p:spPr>
        <p:txBody>
          <a:bodyPr wrap="square" lIns="0" tIns="0" rIns="0" bIns="0" rtlCol="0" anchor="ctr"/>
          <a:lstStyle/>
          <a:p>
            <a:pPr marL="0" indent="0">
              <a:buNone/>
            </a:pPr>
            <a:r>
              <a:rPr lang="en-US" sz="10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Step-by-step: How an examiner follows a cluster chain manually</a:t>
            </a:r>
            <a:endParaRPr lang="en-US" sz="1000" dirty="0"/>
          </a:p>
        </p:txBody>
      </p:sp>
      <p:sp>
        <p:nvSpPr>
          <p:cNvPr id="13" name="Shape 11"/>
          <p:cNvSpPr/>
          <p:nvPr/>
        </p:nvSpPr>
        <p:spPr>
          <a:xfrm>
            <a:off x="256032" y="1408176"/>
            <a:ext cx="2761488" cy="1316736"/>
          </a:xfrm>
          <a:prstGeom prst="rect">
            <a:avLst/>
          </a:prstGeom>
          <a:solidFill>
            <a:srgbClr val="EEF6FB"/>
          </a:solidFill>
          <a:ln w="12700">
            <a:solidFill>
              <a:srgbClr val="F59E0B"/>
            </a:solidFill>
            <a:prstDash val="solid"/>
          </a:ln>
          <a:effectLst>
            <a:outerShdw blurRad="127000" dist="38100" dir="8100000" algn="bl" rotWithShape="0">
              <a:srgbClr val="000000">
                <a:alpha val="22000"/>
              </a:srgbClr>
            </a:outerShdw>
          </a:effectLst>
        </p:spPr>
        <p:txBody>
          <a:bodyPr/>
          <a:lstStyle/>
          <a:p>
            <a:endParaRPr lang="en-SG"/>
          </a:p>
        </p:txBody>
      </p:sp>
      <p:sp>
        <p:nvSpPr>
          <p:cNvPr id="14" name="Shape 12"/>
          <p:cNvSpPr/>
          <p:nvPr/>
        </p:nvSpPr>
        <p:spPr>
          <a:xfrm>
            <a:off x="256032" y="1408176"/>
            <a:ext cx="2761488" cy="256032"/>
          </a:xfrm>
          <a:prstGeom prst="rect">
            <a:avLst/>
          </a:prstGeom>
          <a:solidFill>
            <a:srgbClr val="F59E0B"/>
          </a:solidFill>
          <a:ln w="12700">
            <a:solidFill>
              <a:srgbClr val="F59E0B"/>
            </a:solidFill>
            <a:prstDash val="solid"/>
          </a:ln>
        </p:spPr>
        <p:txBody>
          <a:bodyPr/>
          <a:lstStyle/>
          <a:p>
            <a:endParaRPr lang="en-SG"/>
          </a:p>
        </p:txBody>
      </p:sp>
      <p:sp>
        <p:nvSpPr>
          <p:cNvPr id="15" name="Shape 13"/>
          <p:cNvSpPr/>
          <p:nvPr/>
        </p:nvSpPr>
        <p:spPr>
          <a:xfrm>
            <a:off x="347472" y="1444752"/>
            <a:ext cx="201168" cy="201168"/>
          </a:xfrm>
          <a:prstGeom prst="line">
            <a:avLst/>
          </a:prstGeom>
          <a:noFill/>
          <a:ln w="12700">
            <a:solidFill>
              <a:srgbClr val="000000">
                <a:alpha val="70000"/>
              </a:srgbClr>
            </a:solidFill>
            <a:prstDash val="solid"/>
          </a:ln>
        </p:spPr>
        <p:txBody>
          <a:bodyPr/>
          <a:lstStyle/>
          <a:p>
            <a:endParaRPr lang="en-SG"/>
          </a:p>
        </p:txBody>
      </p:sp>
      <p:sp>
        <p:nvSpPr>
          <p:cNvPr id="16" name="Text 14"/>
          <p:cNvSpPr/>
          <p:nvPr/>
        </p:nvSpPr>
        <p:spPr>
          <a:xfrm>
            <a:off x="347472" y="1453896"/>
            <a:ext cx="201168" cy="182880"/>
          </a:xfrm>
          <a:prstGeom prst="rect">
            <a:avLst/>
          </a:prstGeom>
          <a:noFill/>
        </p:spPr>
        <p:txBody>
          <a:bodyPr wrap="square" lIns="0" tIns="0" rIns="0" bIns="0" rtlCol="0" anchor="ctr"/>
          <a:lstStyle/>
          <a:p>
            <a:pPr marL="0" indent="0" algn="ctr">
              <a:buNone/>
            </a:pPr>
            <a:r>
              <a:rPr lang="en-US" sz="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01</a:t>
            </a:r>
            <a:endParaRPr lang="en-US" sz="800" dirty="0"/>
          </a:p>
        </p:txBody>
      </p:sp>
      <p:sp>
        <p:nvSpPr>
          <p:cNvPr id="17" name="Text 15"/>
          <p:cNvSpPr/>
          <p:nvPr/>
        </p:nvSpPr>
        <p:spPr>
          <a:xfrm>
            <a:off x="603504" y="1444752"/>
            <a:ext cx="2322576" cy="201168"/>
          </a:xfrm>
          <a:prstGeom prst="rect">
            <a:avLst/>
          </a:prstGeom>
          <a:noFill/>
        </p:spPr>
        <p:txBody>
          <a:bodyPr wrap="square" lIns="0" tIns="0" rIns="0" bIns="0" rtlCol="0" anchor="ctr"/>
          <a:lstStyle/>
          <a:p>
            <a:pPr marL="0" indent="0">
              <a:buNone/>
            </a:pPr>
            <a:r>
              <a:rPr lang="en-US" sz="9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Find starting cluster</a:t>
            </a:r>
            <a:endParaRPr lang="en-US" sz="950" dirty="0"/>
          </a:p>
        </p:txBody>
      </p:sp>
      <p:sp>
        <p:nvSpPr>
          <p:cNvPr id="18" name="Text 16"/>
          <p:cNvSpPr/>
          <p:nvPr/>
        </p:nvSpPr>
        <p:spPr>
          <a:xfrm>
            <a:off x="347472" y="1700784"/>
            <a:ext cx="2596896" cy="969264"/>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Read bytes 0x1A–0x1B (low word) and 0x14–0x15 (high word) from the directory entry. Combine: full cluster = (HI &lt;&lt; 16) | LO.</a:t>
            </a:r>
            <a:endParaRPr lang="en-US" sz="900" dirty="0"/>
          </a:p>
        </p:txBody>
      </p:sp>
      <p:sp>
        <p:nvSpPr>
          <p:cNvPr id="19" name="Shape 17"/>
          <p:cNvSpPr/>
          <p:nvPr/>
        </p:nvSpPr>
        <p:spPr>
          <a:xfrm>
            <a:off x="3182112" y="1408176"/>
            <a:ext cx="2761488" cy="1316736"/>
          </a:xfrm>
          <a:prstGeom prst="rect">
            <a:avLst/>
          </a:prstGeom>
          <a:solidFill>
            <a:srgbClr val="EEF6FB"/>
          </a:solidFill>
          <a:ln w="12700">
            <a:solidFill>
              <a:srgbClr val="0EA5E9"/>
            </a:solidFill>
            <a:prstDash val="solid"/>
          </a:ln>
          <a:effectLst>
            <a:outerShdw blurRad="127000" dist="38100" dir="8100000" algn="bl" rotWithShape="0">
              <a:srgbClr val="000000">
                <a:alpha val="22000"/>
              </a:srgbClr>
            </a:outerShdw>
          </a:effectLst>
        </p:spPr>
        <p:txBody>
          <a:bodyPr/>
          <a:lstStyle/>
          <a:p>
            <a:endParaRPr lang="en-SG"/>
          </a:p>
        </p:txBody>
      </p:sp>
      <p:sp>
        <p:nvSpPr>
          <p:cNvPr id="20" name="Shape 18"/>
          <p:cNvSpPr/>
          <p:nvPr/>
        </p:nvSpPr>
        <p:spPr>
          <a:xfrm>
            <a:off x="3182112" y="1408176"/>
            <a:ext cx="2761488" cy="256032"/>
          </a:xfrm>
          <a:prstGeom prst="rect">
            <a:avLst/>
          </a:prstGeom>
          <a:solidFill>
            <a:srgbClr val="0EA5E9"/>
          </a:solidFill>
          <a:ln w="12700">
            <a:solidFill>
              <a:srgbClr val="0EA5E9"/>
            </a:solidFill>
            <a:prstDash val="solid"/>
          </a:ln>
        </p:spPr>
        <p:txBody>
          <a:bodyPr/>
          <a:lstStyle/>
          <a:p>
            <a:endParaRPr lang="en-SG"/>
          </a:p>
        </p:txBody>
      </p:sp>
      <p:sp>
        <p:nvSpPr>
          <p:cNvPr id="21" name="Shape 19"/>
          <p:cNvSpPr/>
          <p:nvPr/>
        </p:nvSpPr>
        <p:spPr>
          <a:xfrm>
            <a:off x="3273552" y="1444752"/>
            <a:ext cx="201168" cy="201168"/>
          </a:xfrm>
          <a:prstGeom prst="line">
            <a:avLst/>
          </a:prstGeom>
          <a:noFill/>
          <a:ln w="12700">
            <a:solidFill>
              <a:srgbClr val="000000">
                <a:alpha val="70000"/>
              </a:srgbClr>
            </a:solidFill>
            <a:prstDash val="solid"/>
          </a:ln>
        </p:spPr>
        <p:txBody>
          <a:bodyPr/>
          <a:lstStyle/>
          <a:p>
            <a:endParaRPr lang="en-SG"/>
          </a:p>
        </p:txBody>
      </p:sp>
      <p:sp>
        <p:nvSpPr>
          <p:cNvPr id="22" name="Text 20"/>
          <p:cNvSpPr/>
          <p:nvPr/>
        </p:nvSpPr>
        <p:spPr>
          <a:xfrm>
            <a:off x="3273552" y="1453896"/>
            <a:ext cx="201168" cy="182880"/>
          </a:xfrm>
          <a:prstGeom prst="rect">
            <a:avLst/>
          </a:prstGeom>
          <a:noFill/>
        </p:spPr>
        <p:txBody>
          <a:bodyPr wrap="square" lIns="0" tIns="0" rIns="0" bIns="0" rtlCol="0" anchor="ctr"/>
          <a:lstStyle/>
          <a:p>
            <a:pPr marL="0" indent="0" algn="ctr">
              <a:buNone/>
            </a:pPr>
            <a:r>
              <a:rPr lang="en-US" sz="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02</a:t>
            </a:r>
            <a:endParaRPr lang="en-US" sz="800" dirty="0"/>
          </a:p>
        </p:txBody>
      </p:sp>
      <p:sp>
        <p:nvSpPr>
          <p:cNvPr id="23" name="Text 21"/>
          <p:cNvSpPr/>
          <p:nvPr/>
        </p:nvSpPr>
        <p:spPr>
          <a:xfrm>
            <a:off x="3529584" y="1444752"/>
            <a:ext cx="2322576" cy="201168"/>
          </a:xfrm>
          <a:prstGeom prst="rect">
            <a:avLst/>
          </a:prstGeom>
          <a:noFill/>
        </p:spPr>
        <p:txBody>
          <a:bodyPr wrap="square" lIns="0" tIns="0" rIns="0" bIns="0" rtlCol="0" anchor="ctr"/>
          <a:lstStyle/>
          <a:p>
            <a:pPr marL="0" indent="0">
              <a:buNone/>
            </a:pPr>
            <a:r>
              <a:rPr lang="en-US" sz="9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Locate FAT on disk</a:t>
            </a:r>
            <a:endParaRPr lang="en-US" sz="950" dirty="0"/>
          </a:p>
        </p:txBody>
      </p:sp>
      <p:sp>
        <p:nvSpPr>
          <p:cNvPr id="24" name="Text 22"/>
          <p:cNvSpPr/>
          <p:nvPr/>
        </p:nvSpPr>
        <p:spPr>
          <a:xfrm>
            <a:off x="3273552" y="1700784"/>
            <a:ext cx="2596896" cy="969264"/>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Offset to FAT1 = ReservedSectors × BytesPerSector. Entry for cluster N = FAT_start + (N × 4). Read 4 bytes LE.</a:t>
            </a:r>
            <a:endParaRPr lang="en-US" sz="900" dirty="0"/>
          </a:p>
        </p:txBody>
      </p:sp>
      <p:sp>
        <p:nvSpPr>
          <p:cNvPr id="25" name="Shape 23"/>
          <p:cNvSpPr/>
          <p:nvPr/>
        </p:nvSpPr>
        <p:spPr>
          <a:xfrm>
            <a:off x="6108192" y="1408176"/>
            <a:ext cx="2761488" cy="1316736"/>
          </a:xfrm>
          <a:prstGeom prst="rect">
            <a:avLst/>
          </a:prstGeom>
          <a:solidFill>
            <a:srgbClr val="EEF6FB"/>
          </a:solidFill>
          <a:ln w="12700">
            <a:solidFill>
              <a:srgbClr val="6366F1"/>
            </a:solidFill>
            <a:prstDash val="solid"/>
          </a:ln>
          <a:effectLst>
            <a:outerShdw blurRad="127000" dist="38100" dir="8100000" algn="bl" rotWithShape="0">
              <a:srgbClr val="000000">
                <a:alpha val="22000"/>
              </a:srgbClr>
            </a:outerShdw>
          </a:effectLst>
        </p:spPr>
        <p:txBody>
          <a:bodyPr/>
          <a:lstStyle/>
          <a:p>
            <a:endParaRPr lang="en-SG"/>
          </a:p>
        </p:txBody>
      </p:sp>
      <p:sp>
        <p:nvSpPr>
          <p:cNvPr id="26" name="Shape 24"/>
          <p:cNvSpPr/>
          <p:nvPr/>
        </p:nvSpPr>
        <p:spPr>
          <a:xfrm>
            <a:off x="6108192" y="1408176"/>
            <a:ext cx="2761488" cy="256032"/>
          </a:xfrm>
          <a:prstGeom prst="rect">
            <a:avLst/>
          </a:prstGeom>
          <a:solidFill>
            <a:srgbClr val="6366F1"/>
          </a:solidFill>
          <a:ln w="12700">
            <a:solidFill>
              <a:srgbClr val="6366F1"/>
            </a:solidFill>
            <a:prstDash val="solid"/>
          </a:ln>
        </p:spPr>
        <p:txBody>
          <a:bodyPr/>
          <a:lstStyle/>
          <a:p>
            <a:endParaRPr lang="en-SG"/>
          </a:p>
        </p:txBody>
      </p:sp>
      <p:sp>
        <p:nvSpPr>
          <p:cNvPr id="27" name="Shape 25"/>
          <p:cNvSpPr/>
          <p:nvPr/>
        </p:nvSpPr>
        <p:spPr>
          <a:xfrm>
            <a:off x="6199632" y="1444752"/>
            <a:ext cx="201168" cy="201168"/>
          </a:xfrm>
          <a:prstGeom prst="line">
            <a:avLst/>
          </a:prstGeom>
          <a:noFill/>
          <a:ln w="12700">
            <a:solidFill>
              <a:srgbClr val="000000">
                <a:alpha val="70000"/>
              </a:srgbClr>
            </a:solidFill>
            <a:prstDash val="solid"/>
          </a:ln>
        </p:spPr>
        <p:txBody>
          <a:bodyPr/>
          <a:lstStyle/>
          <a:p>
            <a:endParaRPr lang="en-SG"/>
          </a:p>
        </p:txBody>
      </p:sp>
      <p:sp>
        <p:nvSpPr>
          <p:cNvPr id="28" name="Text 26"/>
          <p:cNvSpPr/>
          <p:nvPr/>
        </p:nvSpPr>
        <p:spPr>
          <a:xfrm>
            <a:off x="6199632" y="1453896"/>
            <a:ext cx="201168" cy="182880"/>
          </a:xfrm>
          <a:prstGeom prst="rect">
            <a:avLst/>
          </a:prstGeom>
          <a:noFill/>
        </p:spPr>
        <p:txBody>
          <a:bodyPr wrap="square" lIns="0" tIns="0" rIns="0" bIns="0" rtlCol="0" anchor="ctr"/>
          <a:lstStyle/>
          <a:p>
            <a:pPr marL="0" indent="0" algn="ctr">
              <a:buNone/>
            </a:pPr>
            <a:r>
              <a:rPr lang="en-US" sz="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03</a:t>
            </a:r>
            <a:endParaRPr lang="en-US" sz="800" dirty="0"/>
          </a:p>
        </p:txBody>
      </p:sp>
      <p:sp>
        <p:nvSpPr>
          <p:cNvPr id="29" name="Text 27"/>
          <p:cNvSpPr/>
          <p:nvPr/>
        </p:nvSpPr>
        <p:spPr>
          <a:xfrm>
            <a:off x="6455664" y="1444752"/>
            <a:ext cx="2322576" cy="201168"/>
          </a:xfrm>
          <a:prstGeom prst="rect">
            <a:avLst/>
          </a:prstGeom>
          <a:noFill/>
        </p:spPr>
        <p:txBody>
          <a:bodyPr wrap="square" lIns="0" tIns="0" rIns="0" bIns="0" rtlCol="0" anchor="ctr"/>
          <a:lstStyle/>
          <a:p>
            <a:pPr marL="0" indent="0">
              <a:buNone/>
            </a:pPr>
            <a:r>
              <a:rPr lang="en-US" sz="9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Mask the upper bits</a:t>
            </a:r>
            <a:endParaRPr lang="en-US" sz="950" dirty="0"/>
          </a:p>
        </p:txBody>
      </p:sp>
      <p:sp>
        <p:nvSpPr>
          <p:cNvPr id="30" name="Text 28"/>
          <p:cNvSpPr/>
          <p:nvPr/>
        </p:nvSpPr>
        <p:spPr>
          <a:xfrm>
            <a:off x="6199632" y="1700784"/>
            <a:ext cx="2596896" cy="969264"/>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FAT32 entries are 32-bit but only 28 bits are used. Apply mask: value = raw_value &amp; 0x0FFFFFFF.</a:t>
            </a:r>
            <a:endParaRPr lang="en-US" sz="900" dirty="0"/>
          </a:p>
        </p:txBody>
      </p:sp>
      <p:sp>
        <p:nvSpPr>
          <p:cNvPr id="31" name="Shape 29"/>
          <p:cNvSpPr/>
          <p:nvPr/>
        </p:nvSpPr>
        <p:spPr>
          <a:xfrm>
            <a:off x="256032" y="2852928"/>
            <a:ext cx="2761488" cy="1316736"/>
          </a:xfrm>
          <a:prstGeom prst="rect">
            <a:avLst/>
          </a:prstGeom>
          <a:solidFill>
            <a:srgbClr val="EEF6FB"/>
          </a:solidFill>
          <a:ln w="12700">
            <a:solidFill>
              <a:srgbClr val="10B981"/>
            </a:solidFill>
            <a:prstDash val="solid"/>
          </a:ln>
          <a:effectLst>
            <a:outerShdw blurRad="127000" dist="38100" dir="8100000" algn="bl" rotWithShape="0">
              <a:srgbClr val="000000">
                <a:alpha val="22000"/>
              </a:srgbClr>
            </a:outerShdw>
          </a:effectLst>
        </p:spPr>
        <p:txBody>
          <a:bodyPr/>
          <a:lstStyle/>
          <a:p>
            <a:endParaRPr lang="en-SG"/>
          </a:p>
        </p:txBody>
      </p:sp>
      <p:sp>
        <p:nvSpPr>
          <p:cNvPr id="32" name="Shape 30"/>
          <p:cNvSpPr/>
          <p:nvPr/>
        </p:nvSpPr>
        <p:spPr>
          <a:xfrm>
            <a:off x="256032" y="2852928"/>
            <a:ext cx="2761488" cy="256032"/>
          </a:xfrm>
          <a:prstGeom prst="rect">
            <a:avLst/>
          </a:prstGeom>
          <a:solidFill>
            <a:srgbClr val="10B981"/>
          </a:solidFill>
          <a:ln w="12700">
            <a:solidFill>
              <a:srgbClr val="10B981"/>
            </a:solidFill>
            <a:prstDash val="solid"/>
          </a:ln>
        </p:spPr>
        <p:txBody>
          <a:bodyPr/>
          <a:lstStyle/>
          <a:p>
            <a:endParaRPr lang="en-SG"/>
          </a:p>
        </p:txBody>
      </p:sp>
      <p:sp>
        <p:nvSpPr>
          <p:cNvPr id="33" name="Shape 31"/>
          <p:cNvSpPr/>
          <p:nvPr/>
        </p:nvSpPr>
        <p:spPr>
          <a:xfrm>
            <a:off x="347472" y="2889504"/>
            <a:ext cx="201168" cy="201168"/>
          </a:xfrm>
          <a:prstGeom prst="line">
            <a:avLst/>
          </a:prstGeom>
          <a:noFill/>
          <a:ln w="12700">
            <a:solidFill>
              <a:srgbClr val="000000">
                <a:alpha val="70000"/>
              </a:srgbClr>
            </a:solidFill>
            <a:prstDash val="solid"/>
          </a:ln>
        </p:spPr>
        <p:txBody>
          <a:bodyPr/>
          <a:lstStyle/>
          <a:p>
            <a:endParaRPr lang="en-SG"/>
          </a:p>
        </p:txBody>
      </p:sp>
      <p:sp>
        <p:nvSpPr>
          <p:cNvPr id="34" name="Text 32"/>
          <p:cNvSpPr/>
          <p:nvPr/>
        </p:nvSpPr>
        <p:spPr>
          <a:xfrm>
            <a:off x="347472" y="2898648"/>
            <a:ext cx="201168" cy="182880"/>
          </a:xfrm>
          <a:prstGeom prst="rect">
            <a:avLst/>
          </a:prstGeom>
          <a:noFill/>
        </p:spPr>
        <p:txBody>
          <a:bodyPr wrap="square" lIns="0" tIns="0" rIns="0" bIns="0" rtlCol="0" anchor="ctr"/>
          <a:lstStyle/>
          <a:p>
            <a:pPr marL="0" indent="0" algn="ctr">
              <a:buNone/>
            </a:pPr>
            <a:r>
              <a:rPr lang="en-US" sz="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04</a:t>
            </a:r>
            <a:endParaRPr lang="en-US" sz="800" dirty="0"/>
          </a:p>
        </p:txBody>
      </p:sp>
      <p:sp>
        <p:nvSpPr>
          <p:cNvPr id="35" name="Text 33"/>
          <p:cNvSpPr/>
          <p:nvPr/>
        </p:nvSpPr>
        <p:spPr>
          <a:xfrm>
            <a:off x="603504" y="2889504"/>
            <a:ext cx="2322576" cy="201168"/>
          </a:xfrm>
          <a:prstGeom prst="rect">
            <a:avLst/>
          </a:prstGeom>
          <a:noFill/>
        </p:spPr>
        <p:txBody>
          <a:bodyPr wrap="square" lIns="0" tIns="0" rIns="0" bIns="0" rtlCol="0" anchor="ctr"/>
          <a:lstStyle/>
          <a:p>
            <a:pPr marL="0" indent="0">
              <a:buNone/>
            </a:pPr>
            <a:r>
              <a:rPr lang="en-US" sz="9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Check the value</a:t>
            </a:r>
            <a:endParaRPr lang="en-US" sz="950" dirty="0"/>
          </a:p>
        </p:txBody>
      </p:sp>
      <p:sp>
        <p:nvSpPr>
          <p:cNvPr id="36" name="Text 34"/>
          <p:cNvSpPr/>
          <p:nvPr/>
        </p:nvSpPr>
        <p:spPr>
          <a:xfrm>
            <a:off x="347472" y="3145536"/>
            <a:ext cx="2596896" cy="969264"/>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Is it 0x0FFFFFF8–0x0FFFFFFF? → EOF, stop. Is it a cluster number? → Read that cluster's data, then jump to it in the FAT. Repeat.</a:t>
            </a:r>
            <a:endParaRPr lang="en-US" sz="900" dirty="0"/>
          </a:p>
        </p:txBody>
      </p:sp>
      <p:sp>
        <p:nvSpPr>
          <p:cNvPr id="37" name="Shape 35"/>
          <p:cNvSpPr/>
          <p:nvPr/>
        </p:nvSpPr>
        <p:spPr>
          <a:xfrm>
            <a:off x="3182112" y="2852928"/>
            <a:ext cx="2761488" cy="1316736"/>
          </a:xfrm>
          <a:prstGeom prst="rect">
            <a:avLst/>
          </a:prstGeom>
          <a:solidFill>
            <a:srgbClr val="EEF6FB"/>
          </a:solidFill>
          <a:ln w="12700">
            <a:solidFill>
              <a:srgbClr val="F97316"/>
            </a:solidFill>
            <a:prstDash val="solid"/>
          </a:ln>
          <a:effectLst>
            <a:outerShdw blurRad="127000" dist="38100" dir="8100000" algn="bl" rotWithShape="0">
              <a:srgbClr val="000000">
                <a:alpha val="22000"/>
              </a:srgbClr>
            </a:outerShdw>
          </a:effectLst>
        </p:spPr>
        <p:txBody>
          <a:bodyPr/>
          <a:lstStyle/>
          <a:p>
            <a:endParaRPr lang="en-SG"/>
          </a:p>
        </p:txBody>
      </p:sp>
      <p:sp>
        <p:nvSpPr>
          <p:cNvPr id="38" name="Shape 36"/>
          <p:cNvSpPr/>
          <p:nvPr/>
        </p:nvSpPr>
        <p:spPr>
          <a:xfrm>
            <a:off x="3182112" y="2852928"/>
            <a:ext cx="2761488" cy="256032"/>
          </a:xfrm>
          <a:prstGeom prst="rect">
            <a:avLst/>
          </a:prstGeom>
          <a:solidFill>
            <a:srgbClr val="F97316"/>
          </a:solidFill>
          <a:ln w="12700">
            <a:solidFill>
              <a:srgbClr val="F97316"/>
            </a:solidFill>
            <a:prstDash val="solid"/>
          </a:ln>
        </p:spPr>
        <p:txBody>
          <a:bodyPr/>
          <a:lstStyle/>
          <a:p>
            <a:endParaRPr lang="en-SG"/>
          </a:p>
        </p:txBody>
      </p:sp>
      <p:sp>
        <p:nvSpPr>
          <p:cNvPr id="39" name="Shape 37"/>
          <p:cNvSpPr/>
          <p:nvPr/>
        </p:nvSpPr>
        <p:spPr>
          <a:xfrm>
            <a:off x="3273552" y="2889504"/>
            <a:ext cx="201168" cy="201168"/>
          </a:xfrm>
          <a:prstGeom prst="line">
            <a:avLst/>
          </a:prstGeom>
          <a:noFill/>
          <a:ln w="12700">
            <a:solidFill>
              <a:srgbClr val="000000">
                <a:alpha val="70000"/>
              </a:srgbClr>
            </a:solidFill>
            <a:prstDash val="solid"/>
          </a:ln>
        </p:spPr>
        <p:txBody>
          <a:bodyPr/>
          <a:lstStyle/>
          <a:p>
            <a:endParaRPr lang="en-SG"/>
          </a:p>
        </p:txBody>
      </p:sp>
      <p:sp>
        <p:nvSpPr>
          <p:cNvPr id="40" name="Text 38"/>
          <p:cNvSpPr/>
          <p:nvPr/>
        </p:nvSpPr>
        <p:spPr>
          <a:xfrm>
            <a:off x="3273552" y="2898648"/>
            <a:ext cx="201168" cy="182880"/>
          </a:xfrm>
          <a:prstGeom prst="rect">
            <a:avLst/>
          </a:prstGeom>
          <a:noFill/>
        </p:spPr>
        <p:txBody>
          <a:bodyPr wrap="square" lIns="0" tIns="0" rIns="0" bIns="0" rtlCol="0" anchor="ctr"/>
          <a:lstStyle/>
          <a:p>
            <a:pPr marL="0" indent="0" algn="ctr">
              <a:buNone/>
            </a:pPr>
            <a:r>
              <a:rPr lang="en-US" sz="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05</a:t>
            </a:r>
            <a:endParaRPr lang="en-US" sz="800" dirty="0"/>
          </a:p>
        </p:txBody>
      </p:sp>
      <p:sp>
        <p:nvSpPr>
          <p:cNvPr id="41" name="Text 39"/>
          <p:cNvSpPr/>
          <p:nvPr/>
        </p:nvSpPr>
        <p:spPr>
          <a:xfrm>
            <a:off x="3529584" y="2889504"/>
            <a:ext cx="2322576" cy="201168"/>
          </a:xfrm>
          <a:prstGeom prst="rect">
            <a:avLst/>
          </a:prstGeom>
          <a:noFill/>
        </p:spPr>
        <p:txBody>
          <a:bodyPr wrap="square" lIns="0" tIns="0" rIns="0" bIns="0" rtlCol="0" anchor="ctr"/>
          <a:lstStyle/>
          <a:p>
            <a:pPr marL="0" indent="0">
              <a:buNone/>
            </a:pPr>
            <a:r>
              <a:rPr lang="en-US" sz="9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Collect all cluster data</a:t>
            </a:r>
            <a:endParaRPr lang="en-US" sz="950" dirty="0"/>
          </a:p>
        </p:txBody>
      </p:sp>
      <p:sp>
        <p:nvSpPr>
          <p:cNvPr id="42" name="Text 40"/>
          <p:cNvSpPr/>
          <p:nvPr/>
        </p:nvSpPr>
        <p:spPr>
          <a:xfrm>
            <a:off x="3273552" y="3145536"/>
            <a:ext cx="2596896" cy="969264"/>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For each cluster in the chain, read (SectorsPerCluster × BytesPerSector) bytes from the data area. Calculate: data_start = ((cluster – 2) × cluster_size) + data_area_offset.</a:t>
            </a:r>
            <a:endParaRPr lang="en-US" sz="900" dirty="0"/>
          </a:p>
        </p:txBody>
      </p:sp>
      <p:sp>
        <p:nvSpPr>
          <p:cNvPr id="43" name="Shape 41"/>
          <p:cNvSpPr/>
          <p:nvPr/>
        </p:nvSpPr>
        <p:spPr>
          <a:xfrm>
            <a:off x="6108192" y="2852928"/>
            <a:ext cx="2761488" cy="1316736"/>
          </a:xfrm>
          <a:prstGeom prst="rect">
            <a:avLst/>
          </a:prstGeom>
          <a:solidFill>
            <a:srgbClr val="EEF6FB"/>
          </a:solidFill>
          <a:ln w="12700">
            <a:solidFill>
              <a:srgbClr val="EF4444"/>
            </a:solidFill>
            <a:prstDash val="solid"/>
          </a:ln>
          <a:effectLst>
            <a:outerShdw blurRad="127000" dist="38100" dir="8100000" algn="bl" rotWithShape="0">
              <a:srgbClr val="000000">
                <a:alpha val="22000"/>
              </a:srgbClr>
            </a:outerShdw>
          </a:effectLst>
        </p:spPr>
        <p:txBody>
          <a:bodyPr/>
          <a:lstStyle/>
          <a:p>
            <a:endParaRPr lang="en-SG"/>
          </a:p>
        </p:txBody>
      </p:sp>
      <p:sp>
        <p:nvSpPr>
          <p:cNvPr id="44" name="Shape 42"/>
          <p:cNvSpPr/>
          <p:nvPr/>
        </p:nvSpPr>
        <p:spPr>
          <a:xfrm>
            <a:off x="6108192" y="2852928"/>
            <a:ext cx="2761488" cy="256032"/>
          </a:xfrm>
          <a:prstGeom prst="rect">
            <a:avLst/>
          </a:prstGeom>
          <a:solidFill>
            <a:srgbClr val="EF4444"/>
          </a:solidFill>
          <a:ln w="12700">
            <a:solidFill>
              <a:srgbClr val="EF4444"/>
            </a:solidFill>
            <a:prstDash val="solid"/>
          </a:ln>
        </p:spPr>
        <p:txBody>
          <a:bodyPr/>
          <a:lstStyle/>
          <a:p>
            <a:endParaRPr lang="en-SG"/>
          </a:p>
        </p:txBody>
      </p:sp>
      <p:sp>
        <p:nvSpPr>
          <p:cNvPr id="45" name="Shape 43"/>
          <p:cNvSpPr/>
          <p:nvPr/>
        </p:nvSpPr>
        <p:spPr>
          <a:xfrm>
            <a:off x="6199632" y="2889504"/>
            <a:ext cx="201168" cy="201168"/>
          </a:xfrm>
          <a:prstGeom prst="line">
            <a:avLst/>
          </a:prstGeom>
          <a:noFill/>
          <a:ln w="12700">
            <a:solidFill>
              <a:srgbClr val="000000">
                <a:alpha val="70000"/>
              </a:srgbClr>
            </a:solidFill>
            <a:prstDash val="solid"/>
          </a:ln>
        </p:spPr>
        <p:txBody>
          <a:bodyPr/>
          <a:lstStyle/>
          <a:p>
            <a:endParaRPr lang="en-SG"/>
          </a:p>
        </p:txBody>
      </p:sp>
      <p:sp>
        <p:nvSpPr>
          <p:cNvPr id="46" name="Text 44"/>
          <p:cNvSpPr/>
          <p:nvPr/>
        </p:nvSpPr>
        <p:spPr>
          <a:xfrm>
            <a:off x="6199632" y="2898648"/>
            <a:ext cx="201168" cy="182880"/>
          </a:xfrm>
          <a:prstGeom prst="rect">
            <a:avLst/>
          </a:prstGeom>
          <a:noFill/>
        </p:spPr>
        <p:txBody>
          <a:bodyPr wrap="square" lIns="0" tIns="0" rIns="0" bIns="0" rtlCol="0" anchor="ctr"/>
          <a:lstStyle/>
          <a:p>
            <a:pPr marL="0" indent="0" algn="ctr">
              <a:buNone/>
            </a:pPr>
            <a:r>
              <a:rPr lang="en-US" sz="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06</a:t>
            </a:r>
            <a:endParaRPr lang="en-US" sz="800" dirty="0"/>
          </a:p>
        </p:txBody>
      </p:sp>
      <p:sp>
        <p:nvSpPr>
          <p:cNvPr id="47" name="Text 45"/>
          <p:cNvSpPr/>
          <p:nvPr/>
        </p:nvSpPr>
        <p:spPr>
          <a:xfrm>
            <a:off x="6455664" y="2889504"/>
            <a:ext cx="2322576" cy="201168"/>
          </a:xfrm>
          <a:prstGeom prst="rect">
            <a:avLst/>
          </a:prstGeom>
          <a:noFill/>
        </p:spPr>
        <p:txBody>
          <a:bodyPr wrap="square" lIns="0" tIns="0" rIns="0" bIns="0" rtlCol="0" anchor="ctr"/>
          <a:lstStyle/>
          <a:p>
            <a:pPr marL="0" indent="0">
              <a:buNone/>
            </a:pPr>
            <a:r>
              <a:rPr lang="en-US" sz="9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Truncate to file size</a:t>
            </a:r>
            <a:endParaRPr lang="en-US" sz="950" dirty="0"/>
          </a:p>
        </p:txBody>
      </p:sp>
      <p:sp>
        <p:nvSpPr>
          <p:cNvPr id="48" name="Text 46"/>
          <p:cNvSpPr/>
          <p:nvPr/>
        </p:nvSpPr>
        <p:spPr>
          <a:xfrm>
            <a:off x="6199632" y="3145536"/>
            <a:ext cx="2596896" cy="969264"/>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The last cluster may be partially filled. Use DIR_FileSize from the directory entry to trim the output to the exact byte count.</a:t>
            </a:r>
            <a:endParaRPr lang="en-US" sz="900" dirty="0"/>
          </a:p>
        </p:txBody>
      </p:sp>
      <p:sp>
        <p:nvSpPr>
          <p:cNvPr id="49" name="Shape 47"/>
          <p:cNvSpPr/>
          <p:nvPr/>
        </p:nvSpPr>
        <p:spPr>
          <a:xfrm>
            <a:off x="256032" y="4480560"/>
            <a:ext cx="8631936" cy="274320"/>
          </a:xfrm>
          <a:prstGeom prst="rect">
            <a:avLst/>
          </a:prstGeom>
          <a:solidFill>
            <a:srgbClr val="EF4444">
              <a:alpha val="80000"/>
            </a:srgbClr>
          </a:solidFill>
          <a:ln w="12700">
            <a:solidFill>
              <a:srgbClr val="EF4444"/>
            </a:solidFill>
            <a:prstDash val="solid"/>
          </a:ln>
        </p:spPr>
        <p:txBody>
          <a:bodyPr/>
          <a:lstStyle/>
          <a:p>
            <a:endParaRPr lang="en-SG"/>
          </a:p>
        </p:txBody>
      </p:sp>
      <p:sp>
        <p:nvSpPr>
          <p:cNvPr id="50" name="Shape 48"/>
          <p:cNvSpPr/>
          <p:nvPr/>
        </p:nvSpPr>
        <p:spPr>
          <a:xfrm>
            <a:off x="256032" y="4480560"/>
            <a:ext cx="164592" cy="274320"/>
          </a:xfrm>
          <a:prstGeom prst="rect">
            <a:avLst/>
          </a:prstGeom>
          <a:solidFill>
            <a:srgbClr val="EF4444"/>
          </a:solidFill>
          <a:ln w="12700">
            <a:solidFill>
              <a:srgbClr val="EF4444"/>
            </a:solidFill>
            <a:prstDash val="solid"/>
          </a:ln>
        </p:spPr>
        <p:txBody>
          <a:bodyPr/>
          <a:lstStyle/>
          <a:p>
            <a:endParaRPr lang="en-SG"/>
          </a:p>
        </p:txBody>
      </p:sp>
      <p:sp>
        <p:nvSpPr>
          <p:cNvPr id="51" name="Text 49"/>
          <p:cNvSpPr/>
          <p:nvPr/>
        </p:nvSpPr>
        <p:spPr>
          <a:xfrm>
            <a:off x="493776" y="4498848"/>
            <a:ext cx="8321040" cy="237744"/>
          </a:xfrm>
          <a:prstGeom prst="rect">
            <a:avLst/>
          </a:prstGeom>
          <a:noFill/>
        </p:spPr>
        <p:txBody>
          <a:bodyPr wrap="square" rtlCol="0" anchor="ctr"/>
          <a:lstStyle/>
          <a:p>
            <a:pPr marL="0" indent="0">
              <a:buNone/>
            </a:pPr>
            <a:r>
              <a:rPr lang="en-US" sz="900" b="1" dirty="0">
                <a:solidFill>
                  <a:srgbClr val="1A1A2E"/>
                </a:solidFill>
                <a:latin typeface="Calibri" panose="020F0502020204030204" pitchFamily="34" charset="0"/>
                <a:ea typeface="Calibri" panose="020F0502020204030204" pitchFamily="34" charset="-122"/>
                <a:cs typeface="Calibri" panose="020F0502020204030204" pitchFamily="34" charset="-120"/>
              </a:rPr>
              <a:t>Deleted file recovery: deletion zeroes FAT entries but leaves directory entry + cluster data intact. Examiners bypass the FAT and read directly from the starting cluster.</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F59E0B"/>
          </a:solidFill>
          <a:ln w="12700">
            <a:solidFill>
              <a:srgbClr val="F59E0B"/>
            </a:solidFill>
            <a:prstDash val="solid"/>
          </a:ln>
        </p:spPr>
        <p:txBody>
          <a:bodyPr/>
          <a:lstStyle/>
          <a:p>
            <a:endParaRPr lang="en-SG"/>
          </a:p>
        </p:txBody>
      </p:sp>
      <p:sp>
        <p:nvSpPr>
          <p:cNvPr id="3" name="Text 1"/>
          <p:cNvSpPr/>
          <p:nvPr/>
        </p:nvSpPr>
        <p:spPr>
          <a:xfrm>
            <a:off x="256032" y="128015"/>
            <a:ext cx="8631936" cy="548640"/>
          </a:xfrm>
          <a:prstGeom prst="rect">
            <a:avLst/>
          </a:prstGeom>
          <a:noFill/>
        </p:spPr>
        <p:txBody>
          <a:bodyPr wrap="square" lIns="0" tIns="0" rIns="0" bIns="0" rtlCol="0" anchor="ctr"/>
          <a:lstStyle/>
          <a:p>
            <a:pPr marL="0" indent="0">
              <a:buNone/>
            </a:pPr>
            <a:r>
              <a:rPr lang="en-US" sz="1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Short File Names (SFN) vs Long File Names (LFN)</a:t>
            </a:r>
            <a:endParaRPr lang="en-US" sz="1800" dirty="0"/>
          </a:p>
        </p:txBody>
      </p:sp>
      <p:sp>
        <p:nvSpPr>
          <p:cNvPr id="4" name="Shape 2"/>
          <p:cNvSpPr/>
          <p:nvPr/>
        </p:nvSpPr>
        <p:spPr>
          <a:xfrm>
            <a:off x="256032" y="73152"/>
            <a:ext cx="1463040" cy="219456"/>
          </a:xfrm>
          <a:prstGeom prst="rect">
            <a:avLst/>
          </a:prstGeom>
          <a:solidFill>
            <a:srgbClr val="F59E0B"/>
          </a:solidFill>
          <a:ln w="12700">
            <a:solidFill>
              <a:srgbClr val="F59E0B"/>
            </a:solidFill>
            <a:prstDash val="solid"/>
          </a:ln>
        </p:spPr>
        <p:txBody>
          <a:bodyPr/>
          <a:lstStyle/>
          <a:p>
            <a:endParaRPr lang="en-SG"/>
          </a:p>
        </p:txBody>
      </p:sp>
      <p:sp>
        <p:nvSpPr>
          <p:cNvPr id="5" name="Text 3"/>
          <p:cNvSpPr/>
          <p:nvPr/>
        </p:nvSpPr>
        <p:spPr>
          <a:xfrm>
            <a:off x="256032" y="73152"/>
            <a:ext cx="1463040" cy="219456"/>
          </a:xfrm>
          <a:prstGeom prst="rect">
            <a:avLst/>
          </a:prstGeom>
          <a:noFill/>
        </p:spPr>
        <p:txBody>
          <a:bodyPr wrap="square" lIns="0" tIns="0" rIns="0" bIns="0" rtlCol="0" anchor="ctr"/>
          <a:lstStyle/>
          <a:p>
            <a:pPr marL="0" indent="0" algn="ctr">
              <a:buNone/>
            </a:pPr>
            <a:r>
              <a:rPr lang="en-US" sz="800" b="1" kern="0" spc="100"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SECTION 02 — FAT</a:t>
            </a:r>
            <a:endParaRPr lang="en-US" sz="800" dirty="0"/>
          </a:p>
        </p:txBody>
      </p:sp>
      <p:sp>
        <p:nvSpPr>
          <p:cNvPr id="10" name="Shape 8"/>
          <p:cNvSpPr/>
          <p:nvPr/>
        </p:nvSpPr>
        <p:spPr>
          <a:xfrm>
            <a:off x="256032" y="822960"/>
            <a:ext cx="4151376" cy="3822192"/>
          </a:xfrm>
          <a:prstGeom prst="rect">
            <a:avLst/>
          </a:prstGeom>
          <a:solidFill>
            <a:srgbClr val="EEF6FB"/>
          </a:solidFill>
          <a:ln w="12700">
            <a:solidFill>
              <a:srgbClr val="F59E0B"/>
            </a:solidFill>
            <a:prstDash val="solid"/>
          </a:ln>
          <a:effectLst>
            <a:outerShdw blurRad="127000" dist="38100" dir="8100000" algn="bl" rotWithShape="0">
              <a:srgbClr val="000000">
                <a:alpha val="22000"/>
              </a:srgbClr>
            </a:outerShdw>
          </a:effectLst>
        </p:spPr>
        <p:txBody>
          <a:bodyPr/>
          <a:lstStyle/>
          <a:p>
            <a:endParaRPr lang="en-SG"/>
          </a:p>
        </p:txBody>
      </p:sp>
      <p:sp>
        <p:nvSpPr>
          <p:cNvPr id="11" name="Shape 9"/>
          <p:cNvSpPr/>
          <p:nvPr/>
        </p:nvSpPr>
        <p:spPr>
          <a:xfrm>
            <a:off x="256032" y="822960"/>
            <a:ext cx="4151376" cy="329184"/>
          </a:xfrm>
          <a:prstGeom prst="rect">
            <a:avLst/>
          </a:prstGeom>
          <a:solidFill>
            <a:srgbClr val="F59E0B"/>
          </a:solidFill>
          <a:ln w="12700">
            <a:solidFill>
              <a:srgbClr val="F59E0B"/>
            </a:solidFill>
            <a:prstDash val="solid"/>
          </a:ln>
        </p:spPr>
        <p:txBody>
          <a:bodyPr/>
          <a:lstStyle/>
          <a:p>
            <a:endParaRPr lang="en-SG"/>
          </a:p>
        </p:txBody>
      </p:sp>
      <p:sp>
        <p:nvSpPr>
          <p:cNvPr id="12" name="Text 10"/>
          <p:cNvSpPr/>
          <p:nvPr/>
        </p:nvSpPr>
        <p:spPr>
          <a:xfrm>
            <a:off x="365760" y="850392"/>
            <a:ext cx="3931920" cy="256032"/>
          </a:xfrm>
          <a:prstGeom prst="rect">
            <a:avLst/>
          </a:prstGeom>
          <a:noFill/>
        </p:spPr>
        <p:txBody>
          <a:bodyPr wrap="square" lIns="0" tIns="0" rIns="0" bIns="0" rtlCol="0" anchor="ctr"/>
          <a:lstStyle/>
          <a:p>
            <a:pPr marL="0" indent="0">
              <a:buNone/>
            </a:pPr>
            <a:r>
              <a:rPr lang="en-US" sz="12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Short File Name (SFN) — 8.3 Format</a:t>
            </a:r>
            <a:endParaRPr lang="en-US" sz="1200" dirty="0"/>
          </a:p>
        </p:txBody>
      </p:sp>
      <p:sp>
        <p:nvSpPr>
          <p:cNvPr id="13" name="Text 11"/>
          <p:cNvSpPr/>
          <p:nvPr/>
        </p:nvSpPr>
        <p:spPr>
          <a:xfrm>
            <a:off x="365760" y="1225296"/>
            <a:ext cx="731520" cy="182880"/>
          </a:xfrm>
          <a:prstGeom prst="rect">
            <a:avLst/>
          </a:prstGeom>
          <a:noFill/>
        </p:spPr>
        <p:txBody>
          <a:bodyPr wrap="square" lIns="0" tIns="0" rIns="0" bIns="0" rtlCol="0" anchor="ctr"/>
          <a:lstStyle/>
          <a:p>
            <a:pPr marL="0" indent="0">
              <a:buNone/>
            </a:pPr>
            <a:r>
              <a:rPr lang="en-US" sz="950" b="1" dirty="0">
                <a:solidFill>
                  <a:srgbClr val="F59E0B"/>
                </a:solidFill>
                <a:latin typeface="Trebuchet MS" panose="020B0603020202020204" pitchFamily="34" charset="0"/>
                <a:ea typeface="Trebuchet MS" panose="020B0603020202020204" pitchFamily="34" charset="-122"/>
                <a:cs typeface="Trebuchet MS" panose="020B0603020202020204" pitchFamily="34" charset="-120"/>
              </a:rPr>
              <a:t>Format:</a:t>
            </a:r>
            <a:endParaRPr lang="en-US" sz="950" dirty="0"/>
          </a:p>
        </p:txBody>
      </p:sp>
      <p:sp>
        <p:nvSpPr>
          <p:cNvPr id="14" name="Text 12"/>
          <p:cNvSpPr/>
          <p:nvPr/>
        </p:nvSpPr>
        <p:spPr>
          <a:xfrm>
            <a:off x="1133856" y="1207008"/>
            <a:ext cx="3182112" cy="384048"/>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Exactly 8 characters for the name + 3 characters for the extension. Padded with spaces if shorter.</a:t>
            </a:r>
            <a:endParaRPr lang="en-US" sz="900" dirty="0"/>
          </a:p>
        </p:txBody>
      </p:sp>
      <p:sp>
        <p:nvSpPr>
          <p:cNvPr id="15" name="Text 13"/>
          <p:cNvSpPr/>
          <p:nvPr/>
        </p:nvSpPr>
        <p:spPr>
          <a:xfrm>
            <a:off x="365760" y="1700784"/>
            <a:ext cx="731520" cy="182880"/>
          </a:xfrm>
          <a:prstGeom prst="rect">
            <a:avLst/>
          </a:prstGeom>
          <a:noFill/>
        </p:spPr>
        <p:txBody>
          <a:bodyPr wrap="square" lIns="0" tIns="0" rIns="0" bIns="0" rtlCol="0" anchor="ctr"/>
          <a:lstStyle/>
          <a:p>
            <a:pPr marL="0" indent="0">
              <a:buNone/>
            </a:pPr>
            <a:r>
              <a:rPr lang="en-US" sz="950" b="1" dirty="0">
                <a:solidFill>
                  <a:srgbClr val="F59E0B"/>
                </a:solidFill>
                <a:latin typeface="Trebuchet MS" panose="020B0603020202020204" pitchFamily="34" charset="0"/>
                <a:ea typeface="Trebuchet MS" panose="020B0603020202020204" pitchFamily="34" charset="-122"/>
                <a:cs typeface="Trebuchet MS" panose="020B0603020202020204" pitchFamily="34" charset="-120"/>
              </a:rPr>
              <a:t>Example:</a:t>
            </a:r>
            <a:endParaRPr lang="en-US" sz="950" dirty="0"/>
          </a:p>
        </p:txBody>
      </p:sp>
      <p:sp>
        <p:nvSpPr>
          <p:cNvPr id="16" name="Text 14"/>
          <p:cNvSpPr/>
          <p:nvPr/>
        </p:nvSpPr>
        <p:spPr>
          <a:xfrm>
            <a:off x="1133856" y="1682496"/>
            <a:ext cx="3182112" cy="384048"/>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'MYFILE.TXT' → stored as 'MYFILE  TXT' (spaces, no dot). 'RESUME.RTF' → 'RESUME  RTF'.</a:t>
            </a:r>
            <a:endParaRPr lang="en-US" sz="900" dirty="0"/>
          </a:p>
        </p:txBody>
      </p:sp>
      <p:sp>
        <p:nvSpPr>
          <p:cNvPr id="17" name="Text 15"/>
          <p:cNvSpPr/>
          <p:nvPr/>
        </p:nvSpPr>
        <p:spPr>
          <a:xfrm>
            <a:off x="365760" y="2176272"/>
            <a:ext cx="731520" cy="182880"/>
          </a:xfrm>
          <a:prstGeom prst="rect">
            <a:avLst/>
          </a:prstGeom>
          <a:noFill/>
        </p:spPr>
        <p:txBody>
          <a:bodyPr wrap="square" lIns="0" tIns="0" rIns="0" bIns="0" rtlCol="0" anchor="ctr"/>
          <a:lstStyle/>
          <a:p>
            <a:pPr marL="0" indent="0">
              <a:buNone/>
            </a:pPr>
            <a:r>
              <a:rPr lang="en-US" sz="950" b="1" dirty="0">
                <a:solidFill>
                  <a:srgbClr val="F59E0B"/>
                </a:solidFill>
                <a:latin typeface="Trebuchet MS" panose="020B0603020202020204" pitchFamily="34" charset="0"/>
                <a:ea typeface="Trebuchet MS" panose="020B0603020202020204" pitchFamily="34" charset="-122"/>
                <a:cs typeface="Trebuchet MS" panose="020B0603020202020204" pitchFamily="34" charset="-120"/>
              </a:rPr>
              <a:t>Restrictions:</a:t>
            </a:r>
            <a:endParaRPr lang="en-US" sz="950" dirty="0"/>
          </a:p>
        </p:txBody>
      </p:sp>
      <p:sp>
        <p:nvSpPr>
          <p:cNvPr id="18" name="Text 16"/>
          <p:cNvSpPr/>
          <p:nvPr/>
        </p:nvSpPr>
        <p:spPr>
          <a:xfrm>
            <a:off x="1133856" y="2157984"/>
            <a:ext cx="3182112" cy="384048"/>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Uppercase ASCII only. No special characters. Stored in bytes 0–10 of the directory entry.</a:t>
            </a:r>
            <a:endParaRPr lang="en-US" sz="900" dirty="0"/>
          </a:p>
        </p:txBody>
      </p:sp>
      <p:sp>
        <p:nvSpPr>
          <p:cNvPr id="19" name="Text 17"/>
          <p:cNvSpPr/>
          <p:nvPr/>
        </p:nvSpPr>
        <p:spPr>
          <a:xfrm>
            <a:off x="365760" y="2651760"/>
            <a:ext cx="731520" cy="182880"/>
          </a:xfrm>
          <a:prstGeom prst="rect">
            <a:avLst/>
          </a:prstGeom>
          <a:noFill/>
        </p:spPr>
        <p:txBody>
          <a:bodyPr wrap="square" lIns="0" tIns="0" rIns="0" bIns="0" rtlCol="0" anchor="ctr"/>
          <a:lstStyle/>
          <a:p>
            <a:pPr marL="0" indent="0">
              <a:buNone/>
            </a:pPr>
            <a:r>
              <a:rPr lang="en-US" sz="950" b="1" dirty="0">
                <a:solidFill>
                  <a:srgbClr val="F59E0B"/>
                </a:solidFill>
                <a:latin typeface="Trebuchet MS" panose="020B0603020202020204" pitchFamily="34" charset="0"/>
                <a:ea typeface="Trebuchet MS" panose="020B0603020202020204" pitchFamily="34" charset="-122"/>
                <a:cs typeface="Trebuchet MS" panose="020B0603020202020204" pitchFamily="34" charset="-120"/>
              </a:rPr>
              <a:t>Why 8.3?</a:t>
            </a:r>
            <a:endParaRPr lang="en-US" sz="950" dirty="0"/>
          </a:p>
        </p:txBody>
      </p:sp>
      <p:sp>
        <p:nvSpPr>
          <p:cNvPr id="20" name="Text 18"/>
          <p:cNvSpPr/>
          <p:nvPr/>
        </p:nvSpPr>
        <p:spPr>
          <a:xfrm>
            <a:off x="1133856" y="2633472"/>
            <a:ext cx="3182112" cy="384048"/>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Inherited from CP/M and DOS (1980s). Hardware limits and memory constraints made longer names impractical at the time.</a:t>
            </a:r>
            <a:endParaRPr lang="en-US" sz="900" dirty="0"/>
          </a:p>
        </p:txBody>
      </p:sp>
      <p:sp>
        <p:nvSpPr>
          <p:cNvPr id="21" name="Text 19"/>
          <p:cNvSpPr/>
          <p:nvPr/>
        </p:nvSpPr>
        <p:spPr>
          <a:xfrm>
            <a:off x="365760" y="3127248"/>
            <a:ext cx="731520" cy="182880"/>
          </a:xfrm>
          <a:prstGeom prst="rect">
            <a:avLst/>
          </a:prstGeom>
          <a:noFill/>
        </p:spPr>
        <p:txBody>
          <a:bodyPr wrap="square" lIns="0" tIns="0" rIns="0" bIns="0" rtlCol="0" anchor="ctr"/>
          <a:lstStyle/>
          <a:p>
            <a:pPr marL="0" indent="0">
              <a:buNone/>
            </a:pPr>
            <a:r>
              <a:rPr lang="en-US" sz="950" b="1" dirty="0">
                <a:solidFill>
                  <a:srgbClr val="F59E0B"/>
                </a:solidFill>
                <a:latin typeface="Trebuchet MS" panose="020B0603020202020204" pitchFamily="34" charset="0"/>
                <a:ea typeface="Trebuchet MS" panose="020B0603020202020204" pitchFamily="34" charset="-122"/>
                <a:cs typeface="Trebuchet MS" panose="020B0603020202020204" pitchFamily="34" charset="-120"/>
              </a:rPr>
              <a:t>Alias generation:</a:t>
            </a:r>
            <a:endParaRPr lang="en-US" sz="950" dirty="0"/>
          </a:p>
        </p:txBody>
      </p:sp>
      <p:sp>
        <p:nvSpPr>
          <p:cNvPr id="22" name="Text 20"/>
          <p:cNvSpPr/>
          <p:nvPr/>
        </p:nvSpPr>
        <p:spPr>
          <a:xfrm>
            <a:off x="1133856" y="3108960"/>
            <a:ext cx="3182112" cy="384048"/>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Long names are shortened automatically: 'My Document.pdf' → 'MYDOCU~1.PDF'. The ~N suffix resolves name collisions.</a:t>
            </a:r>
            <a:endParaRPr lang="en-US" sz="900" dirty="0"/>
          </a:p>
        </p:txBody>
      </p:sp>
      <p:sp>
        <p:nvSpPr>
          <p:cNvPr id="23" name="Text 21"/>
          <p:cNvSpPr/>
          <p:nvPr/>
        </p:nvSpPr>
        <p:spPr>
          <a:xfrm>
            <a:off x="365760" y="3602736"/>
            <a:ext cx="731520" cy="182880"/>
          </a:xfrm>
          <a:prstGeom prst="rect">
            <a:avLst/>
          </a:prstGeom>
          <a:noFill/>
        </p:spPr>
        <p:txBody>
          <a:bodyPr wrap="square" lIns="0" tIns="0" rIns="0" bIns="0" rtlCol="0" anchor="ctr"/>
          <a:lstStyle/>
          <a:p>
            <a:pPr marL="0" indent="0">
              <a:buNone/>
            </a:pPr>
            <a:r>
              <a:rPr lang="en-US" sz="950" b="1" dirty="0">
                <a:solidFill>
                  <a:srgbClr val="F59E0B"/>
                </a:solidFill>
                <a:latin typeface="Trebuchet MS" panose="020B0603020202020204" pitchFamily="34" charset="0"/>
                <a:ea typeface="Trebuchet MS" panose="020B0603020202020204" pitchFamily="34" charset="-122"/>
                <a:cs typeface="Trebuchet MS" panose="020B0603020202020204" pitchFamily="34" charset="-120"/>
              </a:rPr>
              <a:t>Forensic note:</a:t>
            </a:r>
            <a:endParaRPr lang="en-US" sz="950" dirty="0"/>
          </a:p>
        </p:txBody>
      </p:sp>
      <p:sp>
        <p:nvSpPr>
          <p:cNvPr id="24" name="Text 22"/>
          <p:cNvSpPr/>
          <p:nvPr/>
        </p:nvSpPr>
        <p:spPr>
          <a:xfrm>
            <a:off x="1133856" y="3584448"/>
            <a:ext cx="3182112" cy="384048"/>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The SFN is always present — even for files with LFNs. It stores the actual timestamps, cluster, and size. The LFN only stores the display name.</a:t>
            </a:r>
            <a:endParaRPr lang="en-US" sz="900" dirty="0"/>
          </a:p>
        </p:txBody>
      </p:sp>
      <p:sp>
        <p:nvSpPr>
          <p:cNvPr id="25" name="Shape 23"/>
          <p:cNvSpPr/>
          <p:nvPr/>
        </p:nvSpPr>
        <p:spPr>
          <a:xfrm>
            <a:off x="4736592" y="822960"/>
            <a:ext cx="4151376" cy="3822192"/>
          </a:xfrm>
          <a:prstGeom prst="rect">
            <a:avLst/>
          </a:prstGeom>
          <a:solidFill>
            <a:srgbClr val="EEF6FB"/>
          </a:solidFill>
          <a:ln w="12700">
            <a:solidFill>
              <a:srgbClr val="6366F1"/>
            </a:solidFill>
            <a:prstDash val="solid"/>
          </a:ln>
          <a:effectLst>
            <a:outerShdw blurRad="127000" dist="38100" dir="8100000" algn="bl" rotWithShape="0">
              <a:srgbClr val="000000">
                <a:alpha val="22000"/>
              </a:srgbClr>
            </a:outerShdw>
          </a:effectLst>
        </p:spPr>
        <p:txBody>
          <a:bodyPr/>
          <a:lstStyle/>
          <a:p>
            <a:endParaRPr lang="en-SG"/>
          </a:p>
        </p:txBody>
      </p:sp>
      <p:sp>
        <p:nvSpPr>
          <p:cNvPr id="26" name="Shape 24"/>
          <p:cNvSpPr/>
          <p:nvPr/>
        </p:nvSpPr>
        <p:spPr>
          <a:xfrm>
            <a:off x="4736592" y="822960"/>
            <a:ext cx="4151376" cy="329184"/>
          </a:xfrm>
          <a:prstGeom prst="rect">
            <a:avLst/>
          </a:prstGeom>
          <a:solidFill>
            <a:srgbClr val="6366F1"/>
          </a:solidFill>
          <a:ln w="12700">
            <a:solidFill>
              <a:srgbClr val="6366F1"/>
            </a:solidFill>
            <a:prstDash val="solid"/>
          </a:ln>
        </p:spPr>
        <p:txBody>
          <a:bodyPr/>
          <a:lstStyle/>
          <a:p>
            <a:endParaRPr lang="en-SG"/>
          </a:p>
        </p:txBody>
      </p:sp>
      <p:sp>
        <p:nvSpPr>
          <p:cNvPr id="27" name="Text 25"/>
          <p:cNvSpPr/>
          <p:nvPr/>
        </p:nvSpPr>
        <p:spPr>
          <a:xfrm>
            <a:off x="4846320" y="850392"/>
            <a:ext cx="3931920" cy="256032"/>
          </a:xfrm>
          <a:prstGeom prst="rect">
            <a:avLst/>
          </a:prstGeom>
          <a:noFill/>
        </p:spPr>
        <p:txBody>
          <a:bodyPr wrap="square" lIns="0" tIns="0" rIns="0" bIns="0" rtlCol="0" anchor="ctr"/>
          <a:lstStyle/>
          <a:p>
            <a:pPr marL="0" indent="0">
              <a:buNone/>
            </a:pPr>
            <a:r>
              <a:rPr lang="en-US" sz="12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Long File Name (LFN) — VFAT Extension</a:t>
            </a:r>
            <a:endParaRPr lang="en-US" sz="1200" dirty="0"/>
          </a:p>
        </p:txBody>
      </p:sp>
      <p:sp>
        <p:nvSpPr>
          <p:cNvPr id="28" name="Text 26"/>
          <p:cNvSpPr/>
          <p:nvPr/>
        </p:nvSpPr>
        <p:spPr>
          <a:xfrm>
            <a:off x="4846320" y="1225296"/>
            <a:ext cx="768096" cy="182880"/>
          </a:xfrm>
          <a:prstGeom prst="rect">
            <a:avLst/>
          </a:prstGeom>
          <a:noFill/>
        </p:spPr>
        <p:txBody>
          <a:bodyPr wrap="square" lIns="0" tIns="0" rIns="0" bIns="0" rtlCol="0" anchor="ctr"/>
          <a:lstStyle/>
          <a:p>
            <a:pPr marL="0" indent="0">
              <a:buNone/>
            </a:pPr>
            <a:r>
              <a:rPr lang="en-US" sz="950" b="1" dirty="0">
                <a:solidFill>
                  <a:srgbClr val="6366F1"/>
                </a:solidFill>
                <a:latin typeface="Trebuchet MS" panose="020B0603020202020204" pitchFamily="34" charset="0"/>
                <a:ea typeface="Trebuchet MS" panose="020B0603020202020204" pitchFamily="34" charset="-122"/>
                <a:cs typeface="Trebuchet MS" panose="020B0603020202020204" pitchFamily="34" charset="-120"/>
              </a:rPr>
              <a:t>Introduced:</a:t>
            </a:r>
            <a:endParaRPr lang="en-US" sz="950" dirty="0"/>
          </a:p>
        </p:txBody>
      </p:sp>
      <p:sp>
        <p:nvSpPr>
          <p:cNvPr id="29" name="Text 27"/>
          <p:cNvSpPr/>
          <p:nvPr/>
        </p:nvSpPr>
        <p:spPr>
          <a:xfrm>
            <a:off x="5650992" y="1207008"/>
            <a:ext cx="3145536" cy="384048"/>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Windows 95 (VFAT). Allows filenames up to 255 UTF-16 characters. Backward compatible with FAT12, FAT16, FAT32.</a:t>
            </a:r>
            <a:endParaRPr lang="en-US" sz="900" dirty="0"/>
          </a:p>
        </p:txBody>
      </p:sp>
      <p:sp>
        <p:nvSpPr>
          <p:cNvPr id="30" name="Text 28"/>
          <p:cNvSpPr/>
          <p:nvPr/>
        </p:nvSpPr>
        <p:spPr>
          <a:xfrm>
            <a:off x="4846320" y="1700784"/>
            <a:ext cx="768096" cy="182880"/>
          </a:xfrm>
          <a:prstGeom prst="rect">
            <a:avLst/>
          </a:prstGeom>
          <a:noFill/>
        </p:spPr>
        <p:txBody>
          <a:bodyPr wrap="square" lIns="0" tIns="0" rIns="0" bIns="0" rtlCol="0" anchor="ctr"/>
          <a:lstStyle/>
          <a:p>
            <a:pPr marL="0" indent="0">
              <a:buNone/>
            </a:pPr>
            <a:r>
              <a:rPr lang="en-US" sz="950" b="1" dirty="0">
                <a:solidFill>
                  <a:srgbClr val="6366F1"/>
                </a:solidFill>
                <a:latin typeface="Trebuchet MS" panose="020B0603020202020204" pitchFamily="34" charset="0"/>
                <a:ea typeface="Trebuchet MS" panose="020B0603020202020204" pitchFamily="34" charset="-122"/>
                <a:cs typeface="Trebuchet MS" panose="020B0603020202020204" pitchFamily="34" charset="-120"/>
              </a:rPr>
              <a:t>How it works:</a:t>
            </a:r>
            <a:endParaRPr lang="en-US" sz="950" dirty="0"/>
          </a:p>
        </p:txBody>
      </p:sp>
      <p:sp>
        <p:nvSpPr>
          <p:cNvPr id="31" name="Text 29"/>
          <p:cNvSpPr/>
          <p:nvPr/>
        </p:nvSpPr>
        <p:spPr>
          <a:xfrm>
            <a:off x="5650992" y="1682496"/>
            <a:ext cx="3145536" cy="384048"/>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One or more LFN directory entries are placed before the SFN entry. Each LFN entry stores 13 UTF-16 characters across 3 fields.</a:t>
            </a:r>
            <a:endParaRPr lang="en-US" sz="900" dirty="0"/>
          </a:p>
        </p:txBody>
      </p:sp>
      <p:sp>
        <p:nvSpPr>
          <p:cNvPr id="32" name="Text 30"/>
          <p:cNvSpPr/>
          <p:nvPr/>
        </p:nvSpPr>
        <p:spPr>
          <a:xfrm>
            <a:off x="4846320" y="2176272"/>
            <a:ext cx="768096" cy="182880"/>
          </a:xfrm>
          <a:prstGeom prst="rect">
            <a:avLst/>
          </a:prstGeom>
          <a:noFill/>
        </p:spPr>
        <p:txBody>
          <a:bodyPr wrap="square" lIns="0" tIns="0" rIns="0" bIns="0" rtlCol="0" anchor="ctr"/>
          <a:lstStyle/>
          <a:p>
            <a:pPr marL="0" indent="0">
              <a:buNone/>
            </a:pPr>
            <a:r>
              <a:rPr lang="en-US" sz="950" b="1" dirty="0">
                <a:solidFill>
                  <a:srgbClr val="6366F1"/>
                </a:solidFill>
                <a:latin typeface="Trebuchet MS" panose="020B0603020202020204" pitchFamily="34" charset="0"/>
                <a:ea typeface="Trebuchet MS" panose="020B0603020202020204" pitchFamily="34" charset="-122"/>
                <a:cs typeface="Trebuchet MS" panose="020B0603020202020204" pitchFamily="34" charset="-120"/>
              </a:rPr>
              <a:t>Attribute trick:</a:t>
            </a:r>
            <a:endParaRPr lang="en-US" sz="950" dirty="0"/>
          </a:p>
        </p:txBody>
      </p:sp>
      <p:sp>
        <p:nvSpPr>
          <p:cNvPr id="33" name="Text 31"/>
          <p:cNvSpPr/>
          <p:nvPr/>
        </p:nvSpPr>
        <p:spPr>
          <a:xfrm>
            <a:off x="5650992" y="2157984"/>
            <a:ext cx="3145536" cy="384048"/>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LFN entries have attribute byte 0x0F (all four lower bits set). Older DOS systems ignore these 'invalid' entries, preserving compatibility.</a:t>
            </a:r>
            <a:endParaRPr lang="en-US" sz="900" dirty="0"/>
          </a:p>
        </p:txBody>
      </p:sp>
      <p:sp>
        <p:nvSpPr>
          <p:cNvPr id="34" name="Text 32"/>
          <p:cNvSpPr/>
          <p:nvPr/>
        </p:nvSpPr>
        <p:spPr>
          <a:xfrm>
            <a:off x="4846320" y="2651760"/>
            <a:ext cx="768096" cy="182880"/>
          </a:xfrm>
          <a:prstGeom prst="rect">
            <a:avLst/>
          </a:prstGeom>
          <a:noFill/>
        </p:spPr>
        <p:txBody>
          <a:bodyPr wrap="square" lIns="0" tIns="0" rIns="0" bIns="0" rtlCol="0" anchor="ctr"/>
          <a:lstStyle/>
          <a:p>
            <a:pPr marL="0" indent="0">
              <a:buNone/>
            </a:pPr>
            <a:r>
              <a:rPr lang="en-US" sz="950" b="1" dirty="0">
                <a:solidFill>
                  <a:srgbClr val="6366F1"/>
                </a:solidFill>
                <a:latin typeface="Trebuchet MS" panose="020B0603020202020204" pitchFamily="34" charset="0"/>
                <a:ea typeface="Trebuchet MS" panose="020B0603020202020204" pitchFamily="34" charset="-122"/>
                <a:cs typeface="Trebuchet MS" panose="020B0603020202020204" pitchFamily="34" charset="-120"/>
              </a:rPr>
              <a:t>Order:</a:t>
            </a:r>
            <a:endParaRPr lang="en-US" sz="950" dirty="0"/>
          </a:p>
        </p:txBody>
      </p:sp>
      <p:sp>
        <p:nvSpPr>
          <p:cNvPr id="35" name="Text 33"/>
          <p:cNvSpPr/>
          <p:nvPr/>
        </p:nvSpPr>
        <p:spPr>
          <a:xfrm>
            <a:off x="5650992" y="2633472"/>
            <a:ext cx="3145536" cy="384048"/>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LFN entries appear in reverse order, ending with the SFN. Entry with order flag 0x40 OR'd is the last LFN chunk (displayed first).</a:t>
            </a:r>
            <a:endParaRPr lang="en-US" sz="900" dirty="0"/>
          </a:p>
        </p:txBody>
      </p:sp>
      <p:sp>
        <p:nvSpPr>
          <p:cNvPr id="36" name="Text 34"/>
          <p:cNvSpPr/>
          <p:nvPr/>
        </p:nvSpPr>
        <p:spPr>
          <a:xfrm>
            <a:off x="4846320" y="3127248"/>
            <a:ext cx="768096" cy="182880"/>
          </a:xfrm>
          <a:prstGeom prst="rect">
            <a:avLst/>
          </a:prstGeom>
          <a:noFill/>
        </p:spPr>
        <p:txBody>
          <a:bodyPr wrap="square" lIns="0" tIns="0" rIns="0" bIns="0" rtlCol="0" anchor="ctr"/>
          <a:lstStyle/>
          <a:p>
            <a:pPr marL="0" indent="0">
              <a:buNone/>
            </a:pPr>
            <a:r>
              <a:rPr lang="en-US" sz="950" b="1" dirty="0">
                <a:solidFill>
                  <a:srgbClr val="6366F1"/>
                </a:solidFill>
                <a:latin typeface="Trebuchet MS" panose="020B0603020202020204" pitchFamily="34" charset="0"/>
                <a:ea typeface="Trebuchet MS" panose="020B0603020202020204" pitchFamily="34" charset="-122"/>
                <a:cs typeface="Trebuchet MS" panose="020B0603020202020204" pitchFamily="34" charset="-120"/>
              </a:rPr>
              <a:t>Checksum:</a:t>
            </a:r>
            <a:endParaRPr lang="en-US" sz="950" dirty="0"/>
          </a:p>
        </p:txBody>
      </p:sp>
      <p:sp>
        <p:nvSpPr>
          <p:cNvPr id="37" name="Text 35"/>
          <p:cNvSpPr/>
          <p:nvPr/>
        </p:nvSpPr>
        <p:spPr>
          <a:xfrm>
            <a:off x="5650992" y="3108960"/>
            <a:ext cx="3145536" cy="384048"/>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Each LFN entry contains a 1-byte checksum of the SFN. This links LFN entries to their corresponding SFN entry.</a:t>
            </a:r>
            <a:endParaRPr lang="en-US" sz="900" dirty="0"/>
          </a:p>
        </p:txBody>
      </p:sp>
      <p:sp>
        <p:nvSpPr>
          <p:cNvPr id="38" name="Text 36"/>
          <p:cNvSpPr/>
          <p:nvPr/>
        </p:nvSpPr>
        <p:spPr>
          <a:xfrm>
            <a:off x="4846320" y="3602736"/>
            <a:ext cx="768096" cy="182880"/>
          </a:xfrm>
          <a:prstGeom prst="rect">
            <a:avLst/>
          </a:prstGeom>
          <a:noFill/>
        </p:spPr>
        <p:txBody>
          <a:bodyPr wrap="square" lIns="0" tIns="0" rIns="0" bIns="0" rtlCol="0" anchor="ctr"/>
          <a:lstStyle/>
          <a:p>
            <a:pPr marL="0" indent="0">
              <a:buNone/>
            </a:pPr>
            <a:r>
              <a:rPr lang="en-US" sz="950" b="1" dirty="0">
                <a:solidFill>
                  <a:srgbClr val="6366F1"/>
                </a:solidFill>
                <a:latin typeface="Trebuchet MS" panose="020B0603020202020204" pitchFamily="34" charset="0"/>
                <a:ea typeface="Trebuchet MS" panose="020B0603020202020204" pitchFamily="34" charset="-122"/>
                <a:cs typeface="Trebuchet MS" panose="020B0603020202020204" pitchFamily="34" charset="-120"/>
              </a:rPr>
              <a:t>Forensic note:</a:t>
            </a:r>
            <a:endParaRPr lang="en-US" sz="950" dirty="0"/>
          </a:p>
        </p:txBody>
      </p:sp>
      <p:sp>
        <p:nvSpPr>
          <p:cNvPr id="39" name="Text 37"/>
          <p:cNvSpPr/>
          <p:nvPr/>
        </p:nvSpPr>
        <p:spPr>
          <a:xfrm>
            <a:off x="5650992" y="3584448"/>
            <a:ext cx="3145536" cy="384048"/>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During deletion, only the SFN's first byte is set to 0xE5. LFN entries also get 0xE5. The LFN text remains readable until overwritten.</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F59E0B"/>
          </a:solidFill>
          <a:ln w="12700">
            <a:solidFill>
              <a:srgbClr val="F59E0B"/>
            </a:solidFill>
            <a:prstDash val="solid"/>
          </a:ln>
        </p:spPr>
        <p:txBody>
          <a:bodyPr/>
          <a:lstStyle/>
          <a:p>
            <a:endParaRPr lang="en-SG"/>
          </a:p>
        </p:txBody>
      </p:sp>
      <p:sp>
        <p:nvSpPr>
          <p:cNvPr id="3" name="Text 1"/>
          <p:cNvSpPr/>
          <p:nvPr/>
        </p:nvSpPr>
        <p:spPr>
          <a:xfrm>
            <a:off x="256032" y="135330"/>
            <a:ext cx="8631936" cy="548640"/>
          </a:xfrm>
          <a:prstGeom prst="rect">
            <a:avLst/>
          </a:prstGeom>
          <a:noFill/>
        </p:spPr>
        <p:txBody>
          <a:bodyPr wrap="square" lIns="0" tIns="0" rIns="0" bIns="0" rtlCol="0" anchor="ctr"/>
          <a:lstStyle/>
          <a:p>
            <a:pPr marL="0" indent="0">
              <a:buNone/>
            </a:pPr>
            <a:r>
              <a:rPr lang="en-US" sz="16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LFN Directory Entry Structure — Byte Offset Reference</a:t>
            </a:r>
            <a:endParaRPr lang="en-US" sz="1600" dirty="0"/>
          </a:p>
        </p:txBody>
      </p:sp>
      <p:sp>
        <p:nvSpPr>
          <p:cNvPr id="4" name="Shape 2"/>
          <p:cNvSpPr/>
          <p:nvPr/>
        </p:nvSpPr>
        <p:spPr>
          <a:xfrm>
            <a:off x="256032" y="73152"/>
            <a:ext cx="1463040" cy="219456"/>
          </a:xfrm>
          <a:prstGeom prst="rect">
            <a:avLst/>
          </a:prstGeom>
          <a:solidFill>
            <a:srgbClr val="F59E0B"/>
          </a:solidFill>
          <a:ln w="12700">
            <a:solidFill>
              <a:srgbClr val="F59E0B"/>
            </a:solidFill>
            <a:prstDash val="solid"/>
          </a:ln>
        </p:spPr>
        <p:txBody>
          <a:bodyPr/>
          <a:lstStyle/>
          <a:p>
            <a:endParaRPr lang="en-SG"/>
          </a:p>
        </p:txBody>
      </p:sp>
      <p:sp>
        <p:nvSpPr>
          <p:cNvPr id="5" name="Text 3"/>
          <p:cNvSpPr/>
          <p:nvPr/>
        </p:nvSpPr>
        <p:spPr>
          <a:xfrm>
            <a:off x="256032" y="73152"/>
            <a:ext cx="1463040" cy="219456"/>
          </a:xfrm>
          <a:prstGeom prst="rect">
            <a:avLst/>
          </a:prstGeom>
          <a:noFill/>
        </p:spPr>
        <p:txBody>
          <a:bodyPr wrap="square" lIns="0" tIns="0" rIns="0" bIns="0" rtlCol="0" anchor="ctr"/>
          <a:lstStyle/>
          <a:p>
            <a:pPr marL="0" indent="0" algn="ctr">
              <a:buNone/>
            </a:pPr>
            <a:r>
              <a:rPr lang="en-US" sz="800" b="1" kern="0" spc="100"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SECTION 02 — FAT</a:t>
            </a:r>
            <a:endParaRPr lang="en-US" sz="800" dirty="0"/>
          </a:p>
        </p:txBody>
      </p:sp>
      <p:sp>
        <p:nvSpPr>
          <p:cNvPr id="10" name="Text 8"/>
          <p:cNvSpPr/>
          <p:nvPr/>
        </p:nvSpPr>
        <p:spPr>
          <a:xfrm>
            <a:off x="256032" y="822960"/>
            <a:ext cx="8631936" cy="274320"/>
          </a:xfrm>
          <a:prstGeom prst="rect">
            <a:avLst/>
          </a:prstGeom>
          <a:noFill/>
        </p:spPr>
        <p:txBody>
          <a:bodyPr wrap="square" rtlCol="0" anchor="ctr"/>
          <a:lstStyle/>
          <a:p>
            <a:pPr marL="0" indent="0">
              <a:buNone/>
            </a:pPr>
            <a:r>
              <a:rPr lang="en-US" sz="950" i="1" dirty="0">
                <a:solidFill>
                  <a:srgbClr val="475569"/>
                </a:solidFill>
                <a:latin typeface="Calibri" panose="020F0502020204030204" pitchFamily="34" charset="0"/>
                <a:ea typeface="Calibri" panose="020F0502020204030204" pitchFamily="34" charset="-122"/>
                <a:cs typeface="Calibri" panose="020F0502020204030204" pitchFamily="34" charset="-120"/>
              </a:rPr>
              <a:t>Each LFN directory entry is also 32 bytes and stores 13 UTF-16 characters of the long filename across three non-contiguous fields. Multiple LFN entries chain together to form the complete long name.</a:t>
            </a:r>
            <a:endParaRPr lang="en-US" sz="950" dirty="0"/>
          </a:p>
        </p:txBody>
      </p:sp>
      <p:graphicFrame>
        <p:nvGraphicFramePr>
          <p:cNvPr id="11" name="Table 0"/>
          <p:cNvGraphicFramePr>
            <a:graphicFrameLocks noGrp="1"/>
          </p:cNvGraphicFramePr>
          <p:nvPr/>
        </p:nvGraphicFramePr>
        <p:xfrm>
          <a:off x="256032" y="1133856"/>
          <a:ext cx="8631936" cy="2560320"/>
        </p:xfrm>
        <a:graphic>
          <a:graphicData uri="http://schemas.openxmlformats.org/drawingml/2006/table">
            <a:tbl>
              <a:tblPr/>
              <a:tblGrid>
                <a:gridCol w="1572768"/>
                <a:gridCol w="640080"/>
                <a:gridCol w="1572768"/>
                <a:gridCol w="4846320"/>
              </a:tblGrid>
              <a:tr h="274320">
                <a:tc>
                  <a:txBody>
                    <a:bodyPr/>
                    <a:lstStyle/>
                    <a:p>
                      <a:pPr marL="0" indent="0">
                        <a:buNone/>
                      </a:pPr>
                      <a:r>
                        <a:rPr lang="en-US" sz="900" b="1" dirty="0">
                          <a:solidFill>
                            <a:srgbClr val="FFFFFF"/>
                          </a:solidFill>
                          <a:latin typeface="Calibri" panose="020F0502020204030204" pitchFamily="34" charset="0"/>
                          <a:ea typeface="Calibri" panose="020F0502020204030204" pitchFamily="34" charset="-122"/>
                          <a:cs typeface="Calibri" panose="020F0502020204030204" pitchFamily="34" charset="-120"/>
                        </a:rPr>
                        <a:t>Offset (Hex)</a:t>
                      </a:r>
                      <a:endParaRPr lang="en-US" sz="9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solidFill>
                      <a:srgbClr val="6366F1"/>
                    </a:solidFill>
                  </a:tcPr>
                </a:tc>
                <a:tc>
                  <a:txBody>
                    <a:bodyPr/>
                    <a:lstStyle/>
                    <a:p>
                      <a:pPr marL="0" indent="0">
                        <a:buNone/>
                      </a:pPr>
                      <a:r>
                        <a:rPr lang="en-US" sz="900" b="1" dirty="0">
                          <a:solidFill>
                            <a:srgbClr val="FFFFFF"/>
                          </a:solidFill>
                          <a:latin typeface="Calibri" panose="020F0502020204030204" pitchFamily="34" charset="0"/>
                          <a:ea typeface="Calibri" panose="020F0502020204030204" pitchFamily="34" charset="-122"/>
                          <a:cs typeface="Calibri" panose="020F0502020204030204" pitchFamily="34" charset="-120"/>
                        </a:rPr>
                        <a:t>Byte Range</a:t>
                      </a:r>
                      <a:endParaRPr lang="en-US" sz="9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solidFill>
                      <a:srgbClr val="6366F1"/>
                    </a:solidFill>
                  </a:tcPr>
                </a:tc>
                <a:tc>
                  <a:txBody>
                    <a:bodyPr/>
                    <a:lstStyle/>
                    <a:p>
                      <a:pPr marL="0" indent="0">
                        <a:buNone/>
                      </a:pPr>
                      <a:r>
                        <a:rPr lang="en-US" sz="900" b="1" dirty="0">
                          <a:solidFill>
                            <a:srgbClr val="FFFFFF"/>
                          </a:solidFill>
                          <a:latin typeface="Calibri" panose="020F0502020204030204" pitchFamily="34" charset="0"/>
                          <a:ea typeface="Calibri" panose="020F0502020204030204" pitchFamily="34" charset="-122"/>
                          <a:cs typeface="Calibri" panose="020F0502020204030204" pitchFamily="34" charset="-120"/>
                        </a:rPr>
                        <a:t>Field Name</a:t>
                      </a:r>
                      <a:endParaRPr lang="en-US" sz="9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solidFill>
                      <a:srgbClr val="6366F1"/>
                    </a:solidFill>
                  </a:tcPr>
                </a:tc>
                <a:tc>
                  <a:txBody>
                    <a:bodyPr/>
                    <a:lstStyle/>
                    <a:p>
                      <a:pPr marL="0" indent="0">
                        <a:buNone/>
                      </a:pPr>
                      <a:r>
                        <a:rPr lang="en-US" sz="900" b="1" dirty="0">
                          <a:solidFill>
                            <a:srgbClr val="FFFFFF"/>
                          </a:solidFill>
                          <a:latin typeface="Calibri" panose="020F0502020204030204" pitchFamily="34" charset="0"/>
                          <a:ea typeface="Calibri" panose="020F0502020204030204" pitchFamily="34" charset="-122"/>
                          <a:cs typeface="Calibri" panose="020F0502020204030204" pitchFamily="34" charset="-120"/>
                        </a:rPr>
                        <a:t>Description</a:t>
                      </a:r>
                      <a:endParaRPr lang="en-US" sz="9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solidFill>
                      <a:srgbClr val="6366F1"/>
                    </a:solidFill>
                  </a:tcPr>
                </a:tc>
              </a:tr>
              <a:tr h="274320">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0x00</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0-0</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00" dirty="0" err="1">
                          <a:solidFill>
                            <a:schemeClr val="tx1">
                              <a:lumMod val="95000"/>
                              <a:lumOff val="5000"/>
                            </a:schemeClr>
                          </a:solidFill>
                          <a:latin typeface="Calibri" panose="020F0502020204030204"/>
                          <a:ea typeface="Calibri" panose="020F0502020204030204"/>
                          <a:cs typeface="Calibri" panose="020F0502020204030204"/>
                        </a:rPr>
                        <a:t>LDIR_Ord</a:t>
                      </a:r>
                      <a:endParaRPr lang="en-US" sz="900" err="1">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Sequence number. Last LFN entry has bit 6 set (0x40 </a:t>
                      </a:r>
                      <a:r>
                        <a:rPr lang="en-US" sz="900" dirty="0" err="1">
                          <a:solidFill>
                            <a:schemeClr val="tx1">
                              <a:lumMod val="95000"/>
                              <a:lumOff val="5000"/>
                            </a:schemeClr>
                          </a:solidFill>
                          <a:latin typeface="Calibri" panose="020F0502020204030204"/>
                          <a:ea typeface="Calibri" panose="020F0502020204030204"/>
                          <a:cs typeface="Calibri" panose="020F0502020204030204"/>
                        </a:rPr>
                        <a:t>OR'd</a:t>
                      </a:r>
                      <a:r>
                        <a:rPr lang="en-US" sz="900" dirty="0">
                          <a:solidFill>
                            <a:schemeClr val="tx1">
                              <a:lumMod val="95000"/>
                              <a:lumOff val="5000"/>
                            </a:schemeClr>
                          </a:solidFill>
                          <a:latin typeface="Calibri" panose="020F0502020204030204"/>
                          <a:ea typeface="Calibri" panose="020F0502020204030204"/>
                          <a:cs typeface="Calibri" panose="020F0502020204030204"/>
                        </a:rPr>
                        <a:t>). Entries appear reversed on disk.</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274320">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0x01–0x0A</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1-10</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LDIR_Name1</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First 5 UTF-16 characters of the name fragment (2 bytes each).</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274320">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0x0B</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11-11</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00" dirty="0" err="1">
                          <a:solidFill>
                            <a:schemeClr val="tx1">
                              <a:lumMod val="95000"/>
                              <a:lumOff val="5000"/>
                            </a:schemeClr>
                          </a:solidFill>
                          <a:latin typeface="Calibri" panose="020F0502020204030204"/>
                          <a:ea typeface="Calibri" panose="020F0502020204030204"/>
                          <a:cs typeface="Calibri" panose="020F0502020204030204"/>
                        </a:rPr>
                        <a:t>LDIR_Attr</a:t>
                      </a:r>
                      <a:endParaRPr lang="en-US" sz="900" err="1">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Always 0x0F. This value identifies the entry as LFN, not a regular file. Older DOS ignores it.</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274320">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0x0C</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12-12</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00" dirty="0" err="1">
                          <a:solidFill>
                            <a:schemeClr val="tx1">
                              <a:lumMod val="95000"/>
                              <a:lumOff val="5000"/>
                            </a:schemeClr>
                          </a:solidFill>
                          <a:latin typeface="Calibri" panose="020F0502020204030204"/>
                          <a:ea typeface="Calibri" panose="020F0502020204030204"/>
                          <a:cs typeface="Calibri" panose="020F0502020204030204"/>
                        </a:rPr>
                        <a:t>LDIR_Type</a:t>
                      </a:r>
                      <a:endParaRPr lang="en-US" sz="900" err="1">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Always 0x00. Reserved.</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274320">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0x0D</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13-13</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00" dirty="0" err="1">
                          <a:solidFill>
                            <a:schemeClr val="tx1">
                              <a:lumMod val="95000"/>
                              <a:lumOff val="5000"/>
                            </a:schemeClr>
                          </a:solidFill>
                          <a:latin typeface="Calibri" panose="020F0502020204030204"/>
                          <a:ea typeface="Calibri" panose="020F0502020204030204"/>
                          <a:cs typeface="Calibri" panose="020F0502020204030204"/>
                        </a:rPr>
                        <a:t>LDIR_Chksum</a:t>
                      </a:r>
                      <a:endParaRPr lang="en-US" sz="900" err="1">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Checksum of the associated SFN (8.3 name). All LFN entries for a file share the same checksum.</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274320">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0x0E–0x19</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14-25</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LDIR_Name2</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Next 6 UTF-16 characters of the name fragment (12 bytes total).</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274320">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0x1A–0x1B</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26-27</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00" dirty="0" err="1">
                          <a:solidFill>
                            <a:schemeClr val="tx1">
                              <a:lumMod val="95000"/>
                              <a:lumOff val="5000"/>
                            </a:schemeClr>
                          </a:solidFill>
                          <a:latin typeface="Calibri" panose="020F0502020204030204"/>
                          <a:ea typeface="Calibri" panose="020F0502020204030204"/>
                          <a:cs typeface="Calibri" panose="020F0502020204030204"/>
                        </a:rPr>
                        <a:t>LDIR_FstClusLO</a:t>
                      </a:r>
                      <a:endParaRPr lang="en-US" sz="900" err="1">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Always 0x0000. Reserved. Must be zero.</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274320">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0x1C–0x1F</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28-31</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LDIR_Name3</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Final 2 UTF-16 characters of the name fragment (4 bytes total).</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bl>
          </a:graphicData>
        </a:graphic>
      </p:graphicFrame>
      <p:sp>
        <p:nvSpPr>
          <p:cNvPr id="12" name="Shape 9"/>
          <p:cNvSpPr/>
          <p:nvPr/>
        </p:nvSpPr>
        <p:spPr>
          <a:xfrm>
            <a:off x="256032" y="3657600"/>
            <a:ext cx="8631936" cy="237744"/>
          </a:xfrm>
          <a:prstGeom prst="rect">
            <a:avLst/>
          </a:prstGeom>
          <a:solidFill>
            <a:srgbClr val="EEF6FB"/>
          </a:solidFill>
          <a:ln w="12700">
            <a:solidFill>
              <a:srgbClr val="2E4068"/>
            </a:solidFill>
            <a:prstDash val="solid"/>
          </a:ln>
        </p:spPr>
        <p:txBody>
          <a:bodyPr/>
          <a:lstStyle/>
          <a:p>
            <a:endParaRPr lang="en-SG"/>
          </a:p>
        </p:txBody>
      </p:sp>
      <p:sp>
        <p:nvSpPr>
          <p:cNvPr id="13" name="Text 10"/>
          <p:cNvSpPr/>
          <p:nvPr/>
        </p:nvSpPr>
        <p:spPr>
          <a:xfrm>
            <a:off x="329184" y="3666744"/>
            <a:ext cx="8412480" cy="201168"/>
          </a:xfrm>
          <a:prstGeom prst="rect">
            <a:avLst/>
          </a:prstGeom>
          <a:noFill/>
        </p:spPr>
        <p:txBody>
          <a:bodyPr wrap="square" lIns="0" tIns="0" rIns="0" bIns="0" rtlCol="0" anchor="ctr"/>
          <a:lstStyle/>
          <a:p>
            <a:pPr marL="0" indent="0">
              <a:buNone/>
            </a:pPr>
            <a:r>
              <a:rPr lang="en-US" sz="9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LFN entries stored on disk — reverse order, followed by the SFN:</a:t>
            </a:r>
            <a:endParaRPr lang="en-US" sz="950" dirty="0"/>
          </a:p>
        </p:txBody>
      </p:sp>
      <p:sp>
        <p:nvSpPr>
          <p:cNvPr id="14" name="Shape 11"/>
          <p:cNvSpPr/>
          <p:nvPr/>
        </p:nvSpPr>
        <p:spPr>
          <a:xfrm>
            <a:off x="256032" y="3950208"/>
            <a:ext cx="2743200" cy="822960"/>
          </a:xfrm>
          <a:prstGeom prst="rect">
            <a:avLst/>
          </a:prstGeom>
          <a:solidFill>
            <a:srgbClr val="6366F1">
              <a:alpha val="80000"/>
            </a:srgbClr>
          </a:solidFill>
          <a:ln w="12700">
            <a:solidFill>
              <a:srgbClr val="6366F1"/>
            </a:solidFill>
            <a:prstDash val="solid"/>
          </a:ln>
        </p:spPr>
        <p:txBody>
          <a:bodyPr/>
          <a:lstStyle/>
          <a:p>
            <a:endParaRPr lang="en-SG"/>
          </a:p>
        </p:txBody>
      </p:sp>
      <p:sp>
        <p:nvSpPr>
          <p:cNvPr id="15" name="Text 12"/>
          <p:cNvSpPr/>
          <p:nvPr/>
        </p:nvSpPr>
        <p:spPr>
          <a:xfrm>
            <a:off x="256032" y="3950208"/>
            <a:ext cx="2743200" cy="822960"/>
          </a:xfrm>
          <a:prstGeom prst="rect">
            <a:avLst/>
          </a:prstGeom>
          <a:noFill/>
        </p:spPr>
        <p:txBody>
          <a:bodyPr wrap="square" lIns="0" tIns="0" rIns="0" bIns="0" rtlCol="0" anchor="ctr"/>
          <a:lstStyle/>
          <a:p>
            <a:pPr marL="0" indent="0" algn="ctr">
              <a:buNone/>
            </a:pPr>
            <a:r>
              <a:rPr lang="en-US" sz="9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LFN Entry 2</a:t>
            </a:r>
            <a:endParaRPr lang="en-US" sz="950" dirty="0"/>
          </a:p>
          <a:p>
            <a:pPr marL="0" indent="0" algn="ctr">
              <a:buNone/>
            </a:pPr>
            <a:r>
              <a:rPr lang="en-US" sz="9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(Seq 0x42)</a:t>
            </a:r>
            <a:endParaRPr lang="en-US" sz="950" dirty="0"/>
          </a:p>
          <a:p>
            <a:pPr marL="0" indent="0" algn="ctr">
              <a:buNone/>
            </a:pPr>
            <a:r>
              <a:rPr lang="en-US" sz="9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Chars 14–26</a:t>
            </a:r>
            <a:endParaRPr lang="en-US" sz="950" dirty="0"/>
          </a:p>
        </p:txBody>
      </p:sp>
      <p:sp>
        <p:nvSpPr>
          <p:cNvPr id="16" name="Text 13"/>
          <p:cNvSpPr/>
          <p:nvPr/>
        </p:nvSpPr>
        <p:spPr>
          <a:xfrm>
            <a:off x="2999232" y="4187952"/>
            <a:ext cx="164592" cy="329184"/>
          </a:xfrm>
          <a:prstGeom prst="rect">
            <a:avLst/>
          </a:prstGeom>
          <a:noFill/>
        </p:spPr>
        <p:txBody>
          <a:bodyPr wrap="square" lIns="0" tIns="0" rIns="0" bIns="0" rtlCol="0" anchor="ctr"/>
          <a:lstStyle/>
          <a:p>
            <a:pPr marL="0" indent="0" algn="ctr">
              <a:buNone/>
            </a:pPr>
            <a:r>
              <a:rPr lang="en-US" sz="1400" b="1" dirty="0">
                <a:solidFill>
                  <a:srgbClr val="475569"/>
                </a:solidFill>
                <a:latin typeface="Trebuchet MS" panose="020B0603020202020204" pitchFamily="34" charset="0"/>
                <a:ea typeface="Trebuchet MS" panose="020B0603020202020204" pitchFamily="34" charset="-122"/>
                <a:cs typeface="Trebuchet MS" panose="020B0603020202020204" pitchFamily="34" charset="-120"/>
              </a:rPr>
              <a:t>↓</a:t>
            </a:r>
            <a:endParaRPr lang="en-US" sz="1400" dirty="0"/>
          </a:p>
        </p:txBody>
      </p:sp>
      <p:sp>
        <p:nvSpPr>
          <p:cNvPr id="17" name="Shape 14"/>
          <p:cNvSpPr/>
          <p:nvPr/>
        </p:nvSpPr>
        <p:spPr>
          <a:xfrm>
            <a:off x="3163824" y="3950208"/>
            <a:ext cx="2743200" cy="822960"/>
          </a:xfrm>
          <a:prstGeom prst="rect">
            <a:avLst/>
          </a:prstGeom>
          <a:solidFill>
            <a:srgbClr val="818CF8">
              <a:alpha val="80000"/>
            </a:srgbClr>
          </a:solidFill>
          <a:ln w="12700">
            <a:solidFill>
              <a:srgbClr val="818CF8"/>
            </a:solidFill>
            <a:prstDash val="solid"/>
          </a:ln>
        </p:spPr>
        <p:txBody>
          <a:bodyPr/>
          <a:lstStyle/>
          <a:p>
            <a:endParaRPr lang="en-SG"/>
          </a:p>
        </p:txBody>
      </p:sp>
      <p:sp>
        <p:nvSpPr>
          <p:cNvPr id="18" name="Text 15"/>
          <p:cNvSpPr/>
          <p:nvPr/>
        </p:nvSpPr>
        <p:spPr>
          <a:xfrm>
            <a:off x="3163824" y="3950208"/>
            <a:ext cx="2743200" cy="822960"/>
          </a:xfrm>
          <a:prstGeom prst="rect">
            <a:avLst/>
          </a:prstGeom>
          <a:noFill/>
        </p:spPr>
        <p:txBody>
          <a:bodyPr wrap="square" lIns="0" tIns="0" rIns="0" bIns="0" rtlCol="0" anchor="ctr"/>
          <a:lstStyle/>
          <a:p>
            <a:pPr marL="0" indent="0" algn="ctr">
              <a:buNone/>
            </a:pPr>
            <a:r>
              <a:rPr lang="en-US" sz="9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LFN Entry 1</a:t>
            </a:r>
            <a:endParaRPr lang="en-US" sz="950" dirty="0"/>
          </a:p>
          <a:p>
            <a:pPr marL="0" indent="0" algn="ctr">
              <a:buNone/>
            </a:pPr>
            <a:r>
              <a:rPr lang="en-US" sz="9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(Seq 0x01)</a:t>
            </a:r>
            <a:endParaRPr lang="en-US" sz="950" dirty="0"/>
          </a:p>
          <a:p>
            <a:pPr marL="0" indent="0" algn="ctr">
              <a:buNone/>
            </a:pPr>
            <a:r>
              <a:rPr lang="en-US" sz="9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Chars 1–13</a:t>
            </a:r>
            <a:endParaRPr lang="en-US" sz="950" dirty="0"/>
          </a:p>
        </p:txBody>
      </p:sp>
      <p:sp>
        <p:nvSpPr>
          <p:cNvPr id="19" name="Text 16"/>
          <p:cNvSpPr/>
          <p:nvPr/>
        </p:nvSpPr>
        <p:spPr>
          <a:xfrm>
            <a:off x="5907024" y="4187952"/>
            <a:ext cx="164592" cy="329184"/>
          </a:xfrm>
          <a:prstGeom prst="rect">
            <a:avLst/>
          </a:prstGeom>
          <a:noFill/>
        </p:spPr>
        <p:txBody>
          <a:bodyPr wrap="square" lIns="0" tIns="0" rIns="0" bIns="0" rtlCol="0" anchor="ctr"/>
          <a:lstStyle/>
          <a:p>
            <a:pPr marL="0" indent="0" algn="ctr">
              <a:buNone/>
            </a:pPr>
            <a:r>
              <a:rPr lang="en-US" sz="1400" b="1" dirty="0">
                <a:solidFill>
                  <a:srgbClr val="475569"/>
                </a:solidFill>
                <a:latin typeface="Trebuchet MS" panose="020B0603020202020204" pitchFamily="34" charset="0"/>
                <a:ea typeface="Trebuchet MS" panose="020B0603020202020204" pitchFamily="34" charset="-122"/>
                <a:cs typeface="Trebuchet MS" panose="020B0603020202020204" pitchFamily="34" charset="-120"/>
              </a:rPr>
              <a:t>↓</a:t>
            </a:r>
            <a:endParaRPr lang="en-US" sz="1400" dirty="0"/>
          </a:p>
        </p:txBody>
      </p:sp>
      <p:sp>
        <p:nvSpPr>
          <p:cNvPr id="20" name="Shape 17"/>
          <p:cNvSpPr/>
          <p:nvPr/>
        </p:nvSpPr>
        <p:spPr>
          <a:xfrm>
            <a:off x="6071616" y="3950208"/>
            <a:ext cx="2743200" cy="822960"/>
          </a:xfrm>
          <a:prstGeom prst="rect">
            <a:avLst/>
          </a:prstGeom>
          <a:solidFill>
            <a:srgbClr val="F59E0B">
              <a:alpha val="80000"/>
            </a:srgbClr>
          </a:solidFill>
          <a:ln w="12700">
            <a:solidFill>
              <a:srgbClr val="F59E0B"/>
            </a:solidFill>
            <a:prstDash val="solid"/>
          </a:ln>
        </p:spPr>
        <p:txBody>
          <a:bodyPr/>
          <a:lstStyle/>
          <a:p>
            <a:endParaRPr lang="en-SG"/>
          </a:p>
        </p:txBody>
      </p:sp>
      <p:sp>
        <p:nvSpPr>
          <p:cNvPr id="21" name="Text 18"/>
          <p:cNvSpPr/>
          <p:nvPr/>
        </p:nvSpPr>
        <p:spPr>
          <a:xfrm>
            <a:off x="6071616" y="3950208"/>
            <a:ext cx="2743200" cy="822960"/>
          </a:xfrm>
          <a:prstGeom prst="rect">
            <a:avLst/>
          </a:prstGeom>
          <a:noFill/>
        </p:spPr>
        <p:txBody>
          <a:bodyPr wrap="square" lIns="0" tIns="0" rIns="0" bIns="0" rtlCol="0" anchor="ctr"/>
          <a:lstStyle/>
          <a:p>
            <a:pPr marL="0" indent="0" algn="ctr">
              <a:buNone/>
            </a:pPr>
            <a:r>
              <a:rPr lang="en-US" sz="9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SFN Entry</a:t>
            </a:r>
            <a:endParaRPr lang="en-US" sz="950" dirty="0"/>
          </a:p>
          <a:p>
            <a:pPr marL="0" indent="0" algn="ctr">
              <a:buNone/>
            </a:pPr>
            <a:r>
              <a:rPr lang="en-US" sz="9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(Attr 0x20)</a:t>
            </a:r>
            <a:endParaRPr lang="en-US" sz="950" dirty="0"/>
          </a:p>
          <a:p>
            <a:pPr marL="0" indent="0" algn="ctr">
              <a:buNone/>
            </a:pPr>
            <a:r>
              <a:rPr lang="en-US" sz="9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All metadata</a:t>
            </a:r>
            <a:endParaRPr lang="en-US" sz="950" dirty="0"/>
          </a:p>
        </p:txBody>
      </p:sp>
      <p:sp>
        <p:nvSpPr>
          <p:cNvPr id="22" name="Text 19"/>
          <p:cNvSpPr/>
          <p:nvPr/>
        </p:nvSpPr>
        <p:spPr>
          <a:xfrm>
            <a:off x="256032" y="4791456"/>
            <a:ext cx="8631936" cy="128016"/>
          </a:xfrm>
          <a:prstGeom prst="rect">
            <a:avLst/>
          </a:prstGeom>
          <a:noFill/>
        </p:spPr>
        <p:txBody>
          <a:bodyPr wrap="square" rtlCol="0" anchor="ctr"/>
          <a:lstStyle/>
          <a:p>
            <a:pPr marL="0" indent="0" algn="ctr">
              <a:buNone/>
            </a:pPr>
            <a:r>
              <a:rPr lang="en-US" sz="750" i="1" dirty="0">
                <a:solidFill>
                  <a:srgbClr val="475569"/>
                </a:solidFill>
                <a:latin typeface="Calibri" panose="020F0502020204030204" pitchFamily="34" charset="0"/>
                <a:ea typeface="Calibri" panose="020F0502020204030204" pitchFamily="34" charset="-122"/>
                <a:cs typeface="Calibri" panose="020F0502020204030204" pitchFamily="34" charset="-120"/>
              </a:rPr>
              <a:t>← Lower addresses on disk (read top-to-bottom in directory) →</a:t>
            </a:r>
            <a:endParaRPr lang="en-US" sz="7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F59E0B"/>
          </a:solidFill>
          <a:ln w="12700">
            <a:solidFill>
              <a:srgbClr val="F59E0B"/>
            </a:solidFill>
            <a:prstDash val="solid"/>
          </a:ln>
        </p:spPr>
        <p:txBody>
          <a:bodyPr/>
          <a:lstStyle/>
          <a:p>
            <a:endParaRPr lang="en-SG"/>
          </a:p>
        </p:txBody>
      </p:sp>
      <p:sp>
        <p:nvSpPr>
          <p:cNvPr id="3" name="Text 1"/>
          <p:cNvSpPr/>
          <p:nvPr/>
        </p:nvSpPr>
        <p:spPr>
          <a:xfrm>
            <a:off x="256032" y="135330"/>
            <a:ext cx="8631936" cy="548640"/>
          </a:xfrm>
          <a:prstGeom prst="rect">
            <a:avLst/>
          </a:prstGeom>
          <a:noFill/>
        </p:spPr>
        <p:txBody>
          <a:bodyPr wrap="square" lIns="0" tIns="0" rIns="0" bIns="0" rtlCol="0" anchor="ctr"/>
          <a:lstStyle/>
          <a:p>
            <a:pPr marL="0" indent="0">
              <a:buNone/>
            </a:pPr>
            <a:r>
              <a:rPr lang="en-US" sz="16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LFN Directory Entry Structure</a:t>
            </a:r>
            <a:endParaRPr lang="en-US" sz="1600" dirty="0"/>
          </a:p>
        </p:txBody>
      </p:sp>
      <p:sp>
        <p:nvSpPr>
          <p:cNvPr id="4" name="Shape 2"/>
          <p:cNvSpPr/>
          <p:nvPr/>
        </p:nvSpPr>
        <p:spPr>
          <a:xfrm>
            <a:off x="256032" y="73152"/>
            <a:ext cx="1463040" cy="219456"/>
          </a:xfrm>
          <a:prstGeom prst="rect">
            <a:avLst/>
          </a:prstGeom>
          <a:solidFill>
            <a:srgbClr val="F59E0B"/>
          </a:solidFill>
          <a:ln w="12700">
            <a:solidFill>
              <a:srgbClr val="F59E0B"/>
            </a:solidFill>
            <a:prstDash val="solid"/>
          </a:ln>
        </p:spPr>
        <p:txBody>
          <a:bodyPr/>
          <a:lstStyle/>
          <a:p>
            <a:endParaRPr lang="en-SG"/>
          </a:p>
        </p:txBody>
      </p:sp>
      <p:sp>
        <p:nvSpPr>
          <p:cNvPr id="5" name="Text 3"/>
          <p:cNvSpPr/>
          <p:nvPr/>
        </p:nvSpPr>
        <p:spPr>
          <a:xfrm>
            <a:off x="256032" y="73152"/>
            <a:ext cx="1463040" cy="219456"/>
          </a:xfrm>
          <a:prstGeom prst="rect">
            <a:avLst/>
          </a:prstGeom>
          <a:noFill/>
        </p:spPr>
        <p:txBody>
          <a:bodyPr wrap="square" lIns="0" tIns="0" rIns="0" bIns="0" rtlCol="0" anchor="ctr"/>
          <a:lstStyle/>
          <a:p>
            <a:pPr marL="0" indent="0" algn="ctr">
              <a:buNone/>
            </a:pPr>
            <a:r>
              <a:rPr lang="en-US" sz="800" b="1" kern="0" spc="100"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SECTION 02 — FAT</a:t>
            </a:r>
            <a:endParaRPr lang="en-US" sz="800" dirty="0"/>
          </a:p>
        </p:txBody>
      </p:sp>
      <p:pic>
        <p:nvPicPr>
          <p:cNvPr id="6" name="Picture 5"/>
          <p:cNvPicPr>
            <a:picLocks noChangeAspect="1"/>
          </p:cNvPicPr>
          <p:nvPr/>
        </p:nvPicPr>
        <p:blipFill rotWithShape="1">
          <a:blip r:embed="rId1"/>
          <a:srcRect l="1886" r="24898"/>
          <a:stretch>
            <a:fillRect/>
          </a:stretch>
        </p:blipFill>
        <p:spPr>
          <a:xfrm>
            <a:off x="220475" y="3053819"/>
            <a:ext cx="8782747" cy="1416665"/>
          </a:xfrm>
          <a:prstGeom prst="rect">
            <a:avLst/>
          </a:prstGeom>
        </p:spPr>
      </p:pic>
      <p:sp>
        <p:nvSpPr>
          <p:cNvPr id="7" name="Rectangle 6"/>
          <p:cNvSpPr/>
          <p:nvPr/>
        </p:nvSpPr>
        <p:spPr>
          <a:xfrm>
            <a:off x="188363" y="1124806"/>
            <a:ext cx="8782747" cy="1077218"/>
          </a:xfrm>
          <a:prstGeom prst="rect">
            <a:avLst/>
          </a:prstGeom>
        </p:spPr>
        <p:txBody>
          <a:bodyPr wrap="square">
            <a:spAutoFit/>
          </a:bodyPr>
          <a:lstStyle/>
          <a:p>
            <a:r>
              <a:rPr lang="en-SG" sz="1600" dirty="0">
                <a:latin typeface="Courier New" panose="02070309020205020404" pitchFamily="49" charset="0"/>
                <a:cs typeface="Courier New" panose="02070309020205020404" pitchFamily="49" charset="0"/>
              </a:rPr>
              <a:t>0000000: </a:t>
            </a:r>
            <a:r>
              <a:rPr lang="en-SG" sz="1600" u="sng" dirty="0">
                <a:latin typeface="Courier New" panose="02070309020205020404" pitchFamily="49" charset="0"/>
                <a:cs typeface="Courier New" panose="02070309020205020404" pitchFamily="49" charset="0"/>
              </a:rPr>
              <a:t>41</a:t>
            </a:r>
            <a:r>
              <a:rPr lang="en-SG" sz="1600" b="1" i="1" dirty="0">
                <a:latin typeface="Courier New" panose="02070309020205020404" pitchFamily="49" charset="0"/>
                <a:cs typeface="Courier New" panose="02070309020205020404" pitchFamily="49" charset="0"/>
              </a:rPr>
              <a:t>70 0072 0069 006d 0061 00</a:t>
            </a:r>
            <a:r>
              <a:rPr lang="en-SG" sz="1600" u="sng" dirty="0">
                <a:latin typeface="Courier New" panose="02070309020205020404" pitchFamily="49" charset="0"/>
                <a:cs typeface="Courier New" panose="02070309020205020404" pitchFamily="49" charset="0"/>
              </a:rPr>
              <a:t>0f</a:t>
            </a:r>
            <a:r>
              <a:rPr lang="en-SG" sz="1600" b="1" i="1" dirty="0">
                <a:latin typeface="Courier New" panose="02070309020205020404" pitchFamily="49" charset="0"/>
                <a:cs typeface="Courier New" panose="02070309020205020404" pitchFamily="49" charset="0"/>
              </a:rPr>
              <a:t> </a:t>
            </a:r>
            <a:r>
              <a:rPr lang="en-SG" sz="1600" dirty="0">
                <a:latin typeface="Courier New" panose="02070309020205020404" pitchFamily="49" charset="0"/>
                <a:cs typeface="Courier New" panose="02070309020205020404" pitchFamily="49" charset="0"/>
              </a:rPr>
              <a:t>0013 </a:t>
            </a:r>
            <a:r>
              <a:rPr lang="en-SG" sz="1600" b="1" i="1" dirty="0">
                <a:latin typeface="Courier New" panose="02070309020205020404" pitchFamily="49" charset="0"/>
                <a:cs typeface="Courier New" panose="02070309020205020404" pitchFamily="49" charset="0"/>
              </a:rPr>
              <a:t>7200</a:t>
            </a:r>
            <a:r>
              <a:rPr lang="en-SG" sz="1600" dirty="0">
                <a:latin typeface="Courier New" panose="02070309020205020404" pitchFamily="49" charset="0"/>
                <a:cs typeface="Courier New" panose="02070309020205020404" pitchFamily="49" charset="0"/>
              </a:rPr>
              <a:t>  </a:t>
            </a:r>
            <a:r>
              <a:rPr lang="en-SG" sz="1600" dirty="0" err="1">
                <a:latin typeface="Courier New" panose="02070309020205020404" pitchFamily="49" charset="0"/>
                <a:cs typeface="Courier New" panose="02070309020205020404" pitchFamily="49" charset="0"/>
              </a:rPr>
              <a:t>Ap.r.i.m.a</a:t>
            </a:r>
            <a:r>
              <a:rPr lang="en-SG" sz="1600" dirty="0">
                <a:latin typeface="Courier New" panose="02070309020205020404" pitchFamily="49" charset="0"/>
                <a:cs typeface="Courier New" panose="02070309020205020404" pitchFamily="49" charset="0"/>
              </a:rPr>
              <a:t>....r.</a:t>
            </a:r>
            <a:endParaRPr lang="en-SG" sz="1600" dirty="0">
              <a:latin typeface="Courier New" panose="02070309020205020404" pitchFamily="49" charset="0"/>
              <a:cs typeface="Courier New" panose="02070309020205020404" pitchFamily="49" charset="0"/>
            </a:endParaRPr>
          </a:p>
          <a:p>
            <a:r>
              <a:rPr lang="en-SG" sz="1600" dirty="0">
                <a:latin typeface="Courier New" panose="02070309020205020404" pitchFamily="49" charset="0"/>
                <a:cs typeface="Courier New" panose="02070309020205020404" pitchFamily="49" charset="0"/>
              </a:rPr>
              <a:t>0000010: </a:t>
            </a:r>
            <a:r>
              <a:rPr lang="en-SG" sz="1600" b="1" i="1" dirty="0">
                <a:latin typeface="Courier New" panose="02070309020205020404" pitchFamily="49" charset="0"/>
                <a:cs typeface="Courier New" panose="02070309020205020404" pitchFamily="49" charset="0"/>
              </a:rPr>
              <a:t>7900 2d00 3100 2e00 7400 </a:t>
            </a:r>
            <a:r>
              <a:rPr lang="en-SG" sz="1600" dirty="0">
                <a:latin typeface="Courier New" panose="02070309020205020404" pitchFamily="49" charset="0"/>
                <a:cs typeface="Courier New" panose="02070309020205020404" pitchFamily="49" charset="0"/>
              </a:rPr>
              <a:t>0000 </a:t>
            </a:r>
            <a:r>
              <a:rPr lang="en-SG" sz="1600" b="1" i="1" dirty="0">
                <a:latin typeface="Courier New" panose="02070309020205020404" pitchFamily="49" charset="0"/>
                <a:cs typeface="Courier New" panose="02070309020205020404" pitchFamily="49" charset="0"/>
              </a:rPr>
              <a:t>7800 7400  </a:t>
            </a:r>
            <a:r>
              <a:rPr lang="en-SG" sz="1600" dirty="0">
                <a:latin typeface="Courier New" panose="02070309020205020404" pitchFamily="49" charset="0"/>
                <a:cs typeface="Courier New" panose="02070309020205020404" pitchFamily="49" charset="0"/>
              </a:rPr>
              <a:t>y.-.1...t...x.t.</a:t>
            </a:r>
            <a:endParaRPr lang="en-SG" sz="1600" dirty="0">
              <a:latin typeface="Courier New" panose="02070309020205020404" pitchFamily="49" charset="0"/>
              <a:cs typeface="Courier New" panose="02070309020205020404" pitchFamily="49" charset="0"/>
            </a:endParaRPr>
          </a:p>
          <a:p>
            <a:r>
              <a:rPr lang="en-SG" sz="1600" dirty="0">
                <a:latin typeface="Courier New" panose="02070309020205020404" pitchFamily="49" charset="0"/>
                <a:cs typeface="Courier New" panose="02070309020205020404" pitchFamily="49" charset="0"/>
              </a:rPr>
              <a:t>0000020: </a:t>
            </a:r>
            <a:r>
              <a:rPr lang="en-SG" sz="1600" u="sng" dirty="0">
                <a:latin typeface="Courier New" panose="02070309020205020404" pitchFamily="49" charset="0"/>
                <a:cs typeface="Courier New" panose="02070309020205020404" pitchFamily="49" charset="0"/>
              </a:rPr>
              <a:t>5052 494d 4152 7e31 5458 54</a:t>
            </a:r>
            <a:r>
              <a:rPr lang="en-SG" sz="1600" dirty="0">
                <a:latin typeface="Courier New" panose="02070309020205020404" pitchFamily="49" charset="0"/>
                <a:cs typeface="Courier New" panose="02070309020205020404" pitchFamily="49" charset="0"/>
              </a:rPr>
              <a:t>20 00</a:t>
            </a:r>
            <a:r>
              <a:rPr lang="en-SG" sz="1600" u="sng" dirty="0">
                <a:latin typeface="Courier New" panose="02070309020205020404" pitchFamily="49" charset="0"/>
                <a:cs typeface="Courier New" panose="02070309020205020404" pitchFamily="49" charset="0"/>
              </a:rPr>
              <a:t>00</a:t>
            </a:r>
            <a:r>
              <a:rPr lang="en-SG" sz="1600" dirty="0">
                <a:latin typeface="Courier New" panose="02070309020205020404" pitchFamily="49" charset="0"/>
                <a:cs typeface="Courier New" panose="02070309020205020404" pitchFamily="49" charset="0"/>
              </a:rPr>
              <a:t> </a:t>
            </a:r>
            <a:r>
              <a:rPr lang="en-SG" sz="1600" u="sng" dirty="0">
                <a:latin typeface="Courier New" panose="02070309020205020404" pitchFamily="49" charset="0"/>
                <a:cs typeface="Courier New" panose="02070309020205020404" pitchFamily="49" charset="0"/>
              </a:rPr>
              <a:t>0978</a:t>
            </a:r>
            <a:r>
              <a:rPr lang="en-SG" sz="1600" dirty="0">
                <a:latin typeface="Courier New" panose="02070309020205020404" pitchFamily="49" charset="0"/>
                <a:cs typeface="Courier New" panose="02070309020205020404" pitchFamily="49" charset="0"/>
              </a:rPr>
              <a:t>  PRIMAR~1TXT ...x</a:t>
            </a:r>
            <a:endParaRPr lang="en-SG" sz="1600" dirty="0">
              <a:latin typeface="Courier New" panose="02070309020205020404" pitchFamily="49" charset="0"/>
              <a:cs typeface="Courier New" panose="02070309020205020404" pitchFamily="49" charset="0"/>
            </a:endParaRPr>
          </a:p>
          <a:p>
            <a:r>
              <a:rPr lang="en-SG" sz="1600" dirty="0">
                <a:latin typeface="Courier New" panose="02070309020205020404" pitchFamily="49" charset="0"/>
                <a:cs typeface="Courier New" panose="02070309020205020404" pitchFamily="49" charset="0"/>
              </a:rPr>
              <a:t>0000030: </a:t>
            </a:r>
            <a:r>
              <a:rPr lang="en-SG" sz="1600" u="sng" dirty="0">
                <a:latin typeface="Courier New" panose="02070309020205020404" pitchFamily="49" charset="0"/>
                <a:cs typeface="Courier New" panose="02070309020205020404" pitchFamily="49" charset="0"/>
              </a:rPr>
              <a:t>f82e</a:t>
            </a:r>
            <a:r>
              <a:rPr lang="en-SG" sz="1600" dirty="0">
                <a:latin typeface="Courier New" panose="02070309020205020404" pitchFamily="49" charset="0"/>
                <a:cs typeface="Courier New" panose="02070309020205020404" pitchFamily="49" charset="0"/>
              </a:rPr>
              <a:t> </a:t>
            </a:r>
            <a:r>
              <a:rPr lang="en-SG" sz="1600" u="sng" dirty="0" err="1">
                <a:latin typeface="Courier New" panose="02070309020205020404" pitchFamily="49" charset="0"/>
                <a:cs typeface="Courier New" panose="02070309020205020404" pitchFamily="49" charset="0"/>
              </a:rPr>
              <a:t>f82e</a:t>
            </a:r>
            <a:r>
              <a:rPr lang="en-SG" sz="1600" dirty="0">
                <a:latin typeface="Courier New" panose="02070309020205020404" pitchFamily="49" charset="0"/>
                <a:cs typeface="Courier New" panose="02070309020205020404" pitchFamily="49" charset="0"/>
              </a:rPr>
              <a:t> </a:t>
            </a:r>
            <a:r>
              <a:rPr lang="en-SG" sz="1600" b="1" i="1" dirty="0">
                <a:latin typeface="Courier New" panose="02070309020205020404" pitchFamily="49" charset="0"/>
                <a:cs typeface="Courier New" panose="02070309020205020404" pitchFamily="49" charset="0"/>
              </a:rPr>
              <a:t>0000</a:t>
            </a:r>
            <a:r>
              <a:rPr lang="en-SG" sz="1600" dirty="0">
                <a:latin typeface="Courier New" panose="02070309020205020404" pitchFamily="49" charset="0"/>
                <a:cs typeface="Courier New" panose="02070309020205020404" pitchFamily="49" charset="0"/>
              </a:rPr>
              <a:t> </a:t>
            </a:r>
            <a:r>
              <a:rPr lang="en-SG" sz="1600" u="sng" dirty="0">
                <a:latin typeface="Courier New" panose="02070309020205020404" pitchFamily="49" charset="0"/>
                <a:cs typeface="Courier New" panose="02070309020205020404" pitchFamily="49" charset="0"/>
              </a:rPr>
              <a:t>0978 f82e</a:t>
            </a:r>
            <a:r>
              <a:rPr lang="en-SG" sz="1600" dirty="0">
                <a:latin typeface="Courier New" panose="02070309020205020404" pitchFamily="49" charset="0"/>
                <a:cs typeface="Courier New" panose="02070309020205020404" pitchFamily="49" charset="0"/>
              </a:rPr>
              <a:t> 0000 </a:t>
            </a:r>
            <a:r>
              <a:rPr lang="en-SG" sz="1600" b="1" i="1" dirty="0">
                <a:latin typeface="Courier New" panose="02070309020205020404" pitchFamily="49" charset="0"/>
                <a:cs typeface="Courier New" panose="02070309020205020404" pitchFamily="49" charset="0"/>
              </a:rPr>
              <a:t>0000 0000  </a:t>
            </a:r>
            <a:r>
              <a:rPr lang="en-SG" sz="1600" dirty="0">
                <a:latin typeface="Courier New" panose="02070309020205020404" pitchFamily="49" charset="0"/>
                <a:cs typeface="Courier New" panose="02070309020205020404" pitchFamily="49" charset="0"/>
              </a:rPr>
              <a:t>.......x........</a:t>
            </a:r>
            <a:endParaRPr lang="en-SG" sz="1600" dirty="0">
              <a:latin typeface="Courier New" panose="02070309020205020404" pitchFamily="49" charset="0"/>
              <a:cs typeface="Courier New" panose="02070309020205020404" pitchFamily="49" charset="0"/>
            </a:endParaRPr>
          </a:p>
        </p:txBody>
      </p:sp>
      <p:grpSp>
        <p:nvGrpSpPr>
          <p:cNvPr id="8" name="Group 7"/>
          <p:cNvGrpSpPr/>
          <p:nvPr/>
        </p:nvGrpSpPr>
        <p:grpSpPr>
          <a:xfrm>
            <a:off x="1288220" y="774470"/>
            <a:ext cx="7528069" cy="840969"/>
            <a:chOff x="1288220" y="2054627"/>
            <a:chExt cx="7528069" cy="840969"/>
          </a:xfrm>
        </p:grpSpPr>
        <p:sp>
          <p:nvSpPr>
            <p:cNvPr id="9" name="TextBox 8"/>
            <p:cNvSpPr txBox="1"/>
            <p:nvPr/>
          </p:nvSpPr>
          <p:spPr>
            <a:xfrm>
              <a:off x="4283364" y="2054627"/>
              <a:ext cx="4162368" cy="400110"/>
            </a:xfrm>
            <a:prstGeom prst="rect">
              <a:avLst/>
            </a:prstGeom>
            <a:noFill/>
          </p:spPr>
          <p:txBody>
            <a:bodyPr wrap="square" rtlCol="0">
              <a:spAutoFit/>
            </a:bodyPr>
            <a:lstStyle/>
            <a:p>
              <a:r>
                <a:rPr lang="en-US" sz="2000" dirty="0">
                  <a:solidFill>
                    <a:srgbClr val="002060"/>
                  </a:solidFill>
                </a:rPr>
                <a:t>Long File Name directory entry</a:t>
              </a:r>
              <a:endParaRPr lang="en-SG" sz="2000" dirty="0">
                <a:solidFill>
                  <a:srgbClr val="002060"/>
                </a:solidFill>
              </a:endParaRPr>
            </a:p>
          </p:txBody>
        </p:sp>
        <p:sp>
          <p:nvSpPr>
            <p:cNvPr id="23" name="Rectangle 22"/>
            <p:cNvSpPr/>
            <p:nvPr/>
          </p:nvSpPr>
          <p:spPr bwMode="auto">
            <a:xfrm>
              <a:off x="1288220" y="2379756"/>
              <a:ext cx="7528069" cy="515840"/>
            </a:xfrm>
            <a:prstGeom prst="rect">
              <a:avLst/>
            </a:prstGeom>
            <a:noFill/>
            <a:ln w="28575" cap="sq" cmpd="sng" algn="ctr">
              <a:solidFill>
                <a:srgbClr val="002060"/>
              </a:solidFill>
              <a:prstDash val="solid"/>
              <a:round/>
              <a:headEnd type="none" w="sm" len="sm"/>
              <a:tailEnd type="none" w="sm" len="sm"/>
            </a:ln>
            <a:effectLst/>
          </p:spPr>
          <p:txBody>
            <a:bodyPr vert="horz" wrap="none" lIns="68598" tIns="34299" rIns="68598" bIns="34299" numCol="1" rtlCol="0" anchor="t" anchorCtr="0" compatLnSpc="1"/>
            <a:lstStyle/>
            <a:p>
              <a:pPr defTabSz="685800" fontAlgn="base">
                <a:spcBef>
                  <a:spcPct val="0"/>
                </a:spcBef>
                <a:spcAft>
                  <a:spcPct val="0"/>
                </a:spcAft>
              </a:pPr>
              <a:endParaRPr lang="en-SG" sz="2000">
                <a:latin typeface="Times New Roman" panose="02020603050405020304" pitchFamily="18" charset="0"/>
              </a:endParaRPr>
            </a:p>
          </p:txBody>
        </p:sp>
      </p:grpSp>
      <p:grpSp>
        <p:nvGrpSpPr>
          <p:cNvPr id="24" name="Group 23"/>
          <p:cNvGrpSpPr/>
          <p:nvPr/>
        </p:nvGrpSpPr>
        <p:grpSpPr>
          <a:xfrm>
            <a:off x="1288220" y="1644843"/>
            <a:ext cx="7528069" cy="904110"/>
            <a:chOff x="1288220" y="2925000"/>
            <a:chExt cx="7528069" cy="904110"/>
          </a:xfrm>
        </p:grpSpPr>
        <p:sp>
          <p:nvSpPr>
            <p:cNvPr id="25" name="Rounded Rectangle 8"/>
            <p:cNvSpPr/>
            <p:nvPr/>
          </p:nvSpPr>
          <p:spPr bwMode="auto">
            <a:xfrm>
              <a:off x="1288220" y="2925000"/>
              <a:ext cx="7528069" cy="504000"/>
            </a:xfrm>
            <a:prstGeom prst="roundRect">
              <a:avLst>
                <a:gd name="adj" fmla="val 0"/>
              </a:avLst>
            </a:prstGeom>
            <a:noFill/>
            <a:ln w="28575" cap="sq" cmpd="sng" algn="ctr">
              <a:solidFill>
                <a:srgbClr val="FF0000"/>
              </a:solidFill>
              <a:prstDash val="solid"/>
              <a:round/>
              <a:headEnd type="none" w="sm" len="sm"/>
              <a:tailEnd type="none" w="sm" len="sm"/>
            </a:ln>
            <a:effectLst/>
          </p:spPr>
          <p:txBody>
            <a:bodyPr vert="horz" wrap="none" lIns="68598" tIns="34299" rIns="68598" bIns="34299" numCol="1" rtlCol="0" anchor="t" anchorCtr="0" compatLnSpc="1"/>
            <a:lstStyle/>
            <a:p>
              <a:pPr defTabSz="685800" fontAlgn="base">
                <a:spcBef>
                  <a:spcPct val="0"/>
                </a:spcBef>
                <a:spcAft>
                  <a:spcPct val="0"/>
                </a:spcAft>
              </a:pPr>
              <a:endParaRPr lang="en-SG" sz="2000">
                <a:latin typeface="Times New Roman" panose="02020603050405020304" pitchFamily="18" charset="0"/>
              </a:endParaRPr>
            </a:p>
          </p:txBody>
        </p:sp>
        <p:sp>
          <p:nvSpPr>
            <p:cNvPr id="26" name="TextBox 25"/>
            <p:cNvSpPr txBox="1"/>
            <p:nvPr/>
          </p:nvSpPr>
          <p:spPr>
            <a:xfrm>
              <a:off x="4710084" y="3429000"/>
              <a:ext cx="3991459" cy="400110"/>
            </a:xfrm>
            <a:prstGeom prst="rect">
              <a:avLst/>
            </a:prstGeom>
            <a:noFill/>
            <a:ln>
              <a:noFill/>
            </a:ln>
          </p:spPr>
          <p:txBody>
            <a:bodyPr wrap="square" rtlCol="0">
              <a:spAutoFit/>
            </a:bodyPr>
            <a:lstStyle/>
            <a:p>
              <a:r>
                <a:rPr lang="en-SG" sz="2000" dirty="0">
                  <a:solidFill>
                    <a:srgbClr val="FF0000"/>
                  </a:solidFill>
                </a:rPr>
                <a:t>Basic FAT directory entry</a:t>
              </a:r>
              <a:endParaRPr lang="en-SG" sz="2000" dirty="0">
                <a:solidFill>
                  <a:srgbClr val="FF0000"/>
                </a:solidFill>
              </a:endParaRPr>
            </a:p>
          </p:txBody>
        </p:sp>
      </p:grpSp>
      <p:grpSp>
        <p:nvGrpSpPr>
          <p:cNvPr id="27" name="Group 26"/>
          <p:cNvGrpSpPr/>
          <p:nvPr/>
        </p:nvGrpSpPr>
        <p:grpSpPr>
          <a:xfrm>
            <a:off x="5052254" y="2652843"/>
            <a:ext cx="2789654" cy="701964"/>
            <a:chOff x="4928170" y="2697640"/>
            <a:chExt cx="2789654" cy="701964"/>
          </a:xfrm>
        </p:grpSpPr>
        <p:sp>
          <p:nvSpPr>
            <p:cNvPr id="28" name="Rectangle 27"/>
            <p:cNvSpPr/>
            <p:nvPr/>
          </p:nvSpPr>
          <p:spPr>
            <a:xfrm>
              <a:off x="4928170" y="3166905"/>
              <a:ext cx="310582" cy="23269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9" name="Rectangle 28"/>
            <p:cNvSpPr/>
            <p:nvPr/>
          </p:nvSpPr>
          <p:spPr>
            <a:xfrm>
              <a:off x="5428415" y="2697640"/>
              <a:ext cx="2289409" cy="400110"/>
            </a:xfrm>
            <a:prstGeom prst="rect">
              <a:avLst/>
            </a:prstGeom>
          </p:spPr>
          <p:txBody>
            <a:bodyPr wrap="none">
              <a:spAutoFit/>
            </a:bodyPr>
            <a:lstStyle/>
            <a:p>
              <a:r>
                <a:rPr lang="en-SG" sz="2000" dirty="0">
                  <a:solidFill>
                    <a:srgbClr val="FF0000"/>
                  </a:solidFill>
                  <a:latin typeface="Georgia" panose="02040502050405020303" pitchFamily="18" charset="0"/>
                </a:rPr>
                <a:t>Volume label Type</a:t>
              </a:r>
              <a:endParaRPr lang="en-SG" sz="2000" dirty="0">
                <a:solidFill>
                  <a:srgbClr val="FF0000"/>
                </a:solidFill>
                <a:latin typeface="Georgia" panose="02040502050405020303" pitchFamily="18" charset="0"/>
              </a:endParaRPr>
            </a:p>
          </p:txBody>
        </p:sp>
        <p:cxnSp>
          <p:nvCxnSpPr>
            <p:cNvPr id="30" name="Straight Arrow Connector 29"/>
            <p:cNvCxnSpPr/>
            <p:nvPr/>
          </p:nvCxnSpPr>
          <p:spPr>
            <a:xfrm flipH="1">
              <a:off x="5083461" y="2897695"/>
              <a:ext cx="420772" cy="222406"/>
            </a:xfrm>
            <a:prstGeom prst="straightConnector1">
              <a:avLst/>
            </a:prstGeom>
            <a:ln w="28575">
              <a:solidFill>
                <a:srgbClr val="FF0066"/>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944081" y="2652843"/>
            <a:ext cx="2766003" cy="1004521"/>
            <a:chOff x="5428415" y="2697640"/>
            <a:chExt cx="2766003" cy="1004521"/>
          </a:xfrm>
        </p:grpSpPr>
        <p:sp>
          <p:nvSpPr>
            <p:cNvPr id="32" name="Rectangle 31"/>
            <p:cNvSpPr/>
            <p:nvPr/>
          </p:nvSpPr>
          <p:spPr>
            <a:xfrm>
              <a:off x="6925534" y="3469462"/>
              <a:ext cx="1268884" cy="23269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3" name="Rectangle 32"/>
            <p:cNvSpPr/>
            <p:nvPr/>
          </p:nvSpPr>
          <p:spPr>
            <a:xfrm>
              <a:off x="5428415" y="2697640"/>
              <a:ext cx="2686954" cy="400110"/>
            </a:xfrm>
            <a:prstGeom prst="rect">
              <a:avLst/>
            </a:prstGeom>
          </p:spPr>
          <p:txBody>
            <a:bodyPr wrap="none">
              <a:spAutoFit/>
            </a:bodyPr>
            <a:lstStyle/>
            <a:p>
              <a:r>
                <a:rPr lang="en-SG" sz="2000" dirty="0">
                  <a:solidFill>
                    <a:srgbClr val="FF0000"/>
                  </a:solidFill>
                  <a:latin typeface="Georgia" panose="02040502050405020303" pitchFamily="18" charset="0"/>
                </a:rPr>
                <a:t>Created time and date</a:t>
              </a:r>
              <a:endParaRPr lang="en-SG" sz="2000" dirty="0">
                <a:solidFill>
                  <a:srgbClr val="FF0000"/>
                </a:solidFill>
                <a:latin typeface="Georgia" panose="02040502050405020303" pitchFamily="18" charset="0"/>
              </a:endParaRPr>
            </a:p>
          </p:txBody>
        </p:sp>
        <p:cxnSp>
          <p:nvCxnSpPr>
            <p:cNvPr id="34" name="Straight Arrow Connector 33"/>
            <p:cNvCxnSpPr/>
            <p:nvPr/>
          </p:nvCxnSpPr>
          <p:spPr>
            <a:xfrm>
              <a:off x="7491531" y="3008898"/>
              <a:ext cx="68445" cy="460564"/>
            </a:xfrm>
            <a:prstGeom prst="straightConnector1">
              <a:avLst/>
            </a:prstGeom>
            <a:ln w="28575">
              <a:solidFill>
                <a:srgbClr val="FF0066"/>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5" name="Group 34"/>
          <p:cNvGrpSpPr/>
          <p:nvPr/>
        </p:nvGrpSpPr>
        <p:grpSpPr>
          <a:xfrm>
            <a:off x="525186" y="4048229"/>
            <a:ext cx="1527133" cy="1084739"/>
            <a:chOff x="4521647" y="2594173"/>
            <a:chExt cx="1527133" cy="1084739"/>
          </a:xfrm>
        </p:grpSpPr>
        <p:sp>
          <p:nvSpPr>
            <p:cNvPr id="36" name="Rectangle 35"/>
            <p:cNvSpPr/>
            <p:nvPr/>
          </p:nvSpPr>
          <p:spPr>
            <a:xfrm>
              <a:off x="5420693" y="2594173"/>
              <a:ext cx="628087" cy="28030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7" name="Rectangle 36"/>
            <p:cNvSpPr/>
            <p:nvPr/>
          </p:nvSpPr>
          <p:spPr>
            <a:xfrm>
              <a:off x="4521647" y="2971026"/>
              <a:ext cx="1331752" cy="707886"/>
            </a:xfrm>
            <a:prstGeom prst="rect">
              <a:avLst/>
            </a:prstGeom>
          </p:spPr>
          <p:txBody>
            <a:bodyPr wrap="square">
              <a:spAutoFit/>
            </a:bodyPr>
            <a:lstStyle/>
            <a:p>
              <a:pPr algn="ctr"/>
              <a:r>
                <a:rPr lang="en-SG" sz="2000" dirty="0">
                  <a:solidFill>
                    <a:srgbClr val="FF0000"/>
                  </a:solidFill>
                  <a:latin typeface="Georgia" panose="02040502050405020303" pitchFamily="18" charset="0"/>
                </a:rPr>
                <a:t>Created Date</a:t>
              </a:r>
              <a:endParaRPr lang="en-SG" sz="2000" dirty="0">
                <a:solidFill>
                  <a:srgbClr val="FF0000"/>
                </a:solidFill>
                <a:latin typeface="Georgia" panose="02040502050405020303" pitchFamily="18" charset="0"/>
              </a:endParaRPr>
            </a:p>
          </p:txBody>
        </p:sp>
        <p:cxnSp>
          <p:nvCxnSpPr>
            <p:cNvPr id="38" name="Straight Arrow Connector 37"/>
            <p:cNvCxnSpPr/>
            <p:nvPr/>
          </p:nvCxnSpPr>
          <p:spPr>
            <a:xfrm flipV="1">
              <a:off x="5284681" y="2874479"/>
              <a:ext cx="134250" cy="188753"/>
            </a:xfrm>
            <a:prstGeom prst="straightConnector1">
              <a:avLst/>
            </a:prstGeom>
            <a:ln w="28575">
              <a:solidFill>
                <a:srgbClr val="FF0066"/>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9" name="Group 38"/>
          <p:cNvGrpSpPr/>
          <p:nvPr/>
        </p:nvGrpSpPr>
        <p:grpSpPr>
          <a:xfrm>
            <a:off x="5735228" y="3721007"/>
            <a:ext cx="2399525" cy="1186345"/>
            <a:chOff x="4074796" y="2330110"/>
            <a:chExt cx="2399525" cy="1186345"/>
          </a:xfrm>
        </p:grpSpPr>
        <p:sp>
          <p:nvSpPr>
            <p:cNvPr id="40" name="Rectangle 39"/>
            <p:cNvSpPr/>
            <p:nvPr/>
          </p:nvSpPr>
          <p:spPr>
            <a:xfrm>
              <a:off x="4074796" y="2330110"/>
              <a:ext cx="970585" cy="23772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1" name="Rectangle 40"/>
            <p:cNvSpPr/>
            <p:nvPr/>
          </p:nvSpPr>
          <p:spPr>
            <a:xfrm>
              <a:off x="5142569" y="2808569"/>
              <a:ext cx="1331752" cy="707886"/>
            </a:xfrm>
            <a:prstGeom prst="rect">
              <a:avLst/>
            </a:prstGeom>
          </p:spPr>
          <p:txBody>
            <a:bodyPr wrap="square">
              <a:spAutoFit/>
            </a:bodyPr>
            <a:lstStyle/>
            <a:p>
              <a:pPr algn="ctr"/>
              <a:r>
                <a:rPr lang="en-SG" sz="2000" dirty="0">
                  <a:solidFill>
                    <a:srgbClr val="FF0000"/>
                  </a:solidFill>
                  <a:latin typeface="Georgia" panose="02040502050405020303" pitchFamily="18" charset="0"/>
                </a:rPr>
                <a:t>Created Time</a:t>
              </a:r>
              <a:endParaRPr lang="en-SG" sz="2000" dirty="0">
                <a:solidFill>
                  <a:srgbClr val="FF0000"/>
                </a:solidFill>
                <a:latin typeface="Georgia" panose="02040502050405020303" pitchFamily="18" charset="0"/>
              </a:endParaRPr>
            </a:p>
          </p:txBody>
        </p:sp>
        <p:cxnSp>
          <p:nvCxnSpPr>
            <p:cNvPr id="42" name="Straight Arrow Connector 41"/>
            <p:cNvCxnSpPr/>
            <p:nvPr/>
          </p:nvCxnSpPr>
          <p:spPr>
            <a:xfrm flipH="1" flipV="1">
              <a:off x="5036772" y="2585126"/>
              <a:ext cx="337045" cy="294419"/>
            </a:xfrm>
            <a:prstGeom prst="straightConnector1">
              <a:avLst/>
            </a:prstGeom>
            <a:ln w="28575">
              <a:solidFill>
                <a:srgbClr val="FF0066"/>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4745974" y="3726035"/>
            <a:ext cx="1331752" cy="1404239"/>
            <a:chOff x="4745974" y="5006192"/>
            <a:chExt cx="1331752" cy="1404239"/>
          </a:xfrm>
        </p:grpSpPr>
        <p:sp>
          <p:nvSpPr>
            <p:cNvPr id="44" name="Rectangle 43"/>
            <p:cNvSpPr/>
            <p:nvPr/>
          </p:nvSpPr>
          <p:spPr>
            <a:xfrm>
              <a:off x="5058969" y="5006192"/>
              <a:ext cx="310582" cy="23269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5" name="Rectangle 44"/>
            <p:cNvSpPr/>
            <p:nvPr/>
          </p:nvSpPr>
          <p:spPr>
            <a:xfrm>
              <a:off x="4745974" y="5702545"/>
              <a:ext cx="1331752" cy="707886"/>
            </a:xfrm>
            <a:prstGeom prst="rect">
              <a:avLst/>
            </a:prstGeom>
          </p:spPr>
          <p:txBody>
            <a:bodyPr wrap="square">
              <a:spAutoFit/>
            </a:bodyPr>
            <a:lstStyle/>
            <a:p>
              <a:pPr algn="ctr"/>
              <a:r>
                <a:rPr lang="en-SG" sz="2000" dirty="0">
                  <a:solidFill>
                    <a:srgbClr val="FF0000"/>
                  </a:solidFill>
                  <a:latin typeface="Georgia" panose="02040502050405020303" pitchFamily="18" charset="0"/>
                </a:rPr>
                <a:t>Archive bit</a:t>
              </a:r>
              <a:endParaRPr lang="en-SG" sz="2000" dirty="0">
                <a:solidFill>
                  <a:srgbClr val="FF0000"/>
                </a:solidFill>
                <a:latin typeface="Georgia" panose="02040502050405020303" pitchFamily="18" charset="0"/>
              </a:endParaRPr>
            </a:p>
          </p:txBody>
        </p:sp>
        <p:cxnSp>
          <p:nvCxnSpPr>
            <p:cNvPr id="46" name="Straight Arrow Connector 45"/>
            <p:cNvCxnSpPr/>
            <p:nvPr/>
          </p:nvCxnSpPr>
          <p:spPr>
            <a:xfrm flipH="1" flipV="1">
              <a:off x="5371133" y="5215835"/>
              <a:ext cx="46798" cy="534806"/>
            </a:xfrm>
            <a:prstGeom prst="straightConnector1">
              <a:avLst/>
            </a:prstGeom>
            <a:ln w="28575">
              <a:solidFill>
                <a:srgbClr val="FF0066"/>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7" name="Group 46"/>
          <p:cNvGrpSpPr/>
          <p:nvPr/>
        </p:nvGrpSpPr>
        <p:grpSpPr>
          <a:xfrm>
            <a:off x="2796568" y="4056445"/>
            <a:ext cx="2528982" cy="1153255"/>
            <a:chOff x="2796568" y="5336602"/>
            <a:chExt cx="2528982" cy="1153255"/>
          </a:xfrm>
        </p:grpSpPr>
        <p:sp>
          <p:nvSpPr>
            <p:cNvPr id="48" name="Rectangle 47"/>
            <p:cNvSpPr/>
            <p:nvPr/>
          </p:nvSpPr>
          <p:spPr>
            <a:xfrm>
              <a:off x="2796568" y="5336602"/>
              <a:ext cx="546592" cy="21399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9" name="Rectangle 48"/>
            <p:cNvSpPr/>
            <p:nvPr/>
          </p:nvSpPr>
          <p:spPr>
            <a:xfrm>
              <a:off x="2982206" y="5781971"/>
              <a:ext cx="2017490" cy="707886"/>
            </a:xfrm>
            <a:prstGeom prst="rect">
              <a:avLst/>
            </a:prstGeom>
          </p:spPr>
          <p:txBody>
            <a:bodyPr wrap="square">
              <a:spAutoFit/>
            </a:bodyPr>
            <a:lstStyle/>
            <a:p>
              <a:pPr algn="ctr"/>
              <a:r>
                <a:rPr lang="en-SG" sz="2000" dirty="0">
                  <a:solidFill>
                    <a:srgbClr val="FF0000"/>
                  </a:solidFill>
                  <a:latin typeface="Georgia" panose="02040502050405020303" pitchFamily="18" charset="0"/>
                </a:rPr>
                <a:t>First Cluster Address</a:t>
              </a:r>
              <a:endParaRPr lang="en-SG" sz="2000" dirty="0">
                <a:solidFill>
                  <a:srgbClr val="FF0000"/>
                </a:solidFill>
                <a:latin typeface="Georgia" panose="02040502050405020303" pitchFamily="18" charset="0"/>
              </a:endParaRPr>
            </a:p>
          </p:txBody>
        </p:sp>
        <p:cxnSp>
          <p:nvCxnSpPr>
            <p:cNvPr id="50" name="Straight Arrow Connector 49"/>
            <p:cNvCxnSpPr/>
            <p:nvPr/>
          </p:nvCxnSpPr>
          <p:spPr>
            <a:xfrm flipH="1" flipV="1">
              <a:off x="3122617" y="5593217"/>
              <a:ext cx="291418" cy="188754"/>
            </a:xfrm>
            <a:prstGeom prst="straightConnector1">
              <a:avLst/>
            </a:prstGeom>
            <a:ln w="28575">
              <a:solidFill>
                <a:srgbClr val="FF0066"/>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50"/>
            <p:cNvSpPr/>
            <p:nvPr/>
          </p:nvSpPr>
          <p:spPr>
            <a:xfrm>
              <a:off x="4778958" y="5336602"/>
              <a:ext cx="546592" cy="21399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52" name="Straight Arrow Connector 51"/>
            <p:cNvCxnSpPr/>
            <p:nvPr/>
          </p:nvCxnSpPr>
          <p:spPr>
            <a:xfrm flipV="1">
              <a:off x="4605432" y="5562921"/>
              <a:ext cx="446822" cy="270645"/>
            </a:xfrm>
            <a:prstGeom prst="straightConnector1">
              <a:avLst/>
            </a:prstGeom>
            <a:ln w="28575">
              <a:solidFill>
                <a:srgbClr val="FF0066"/>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3" name="Group 52"/>
          <p:cNvGrpSpPr/>
          <p:nvPr/>
        </p:nvGrpSpPr>
        <p:grpSpPr>
          <a:xfrm>
            <a:off x="5476036" y="4031124"/>
            <a:ext cx="1643402" cy="1001670"/>
            <a:chOff x="5476036" y="5311281"/>
            <a:chExt cx="1643402" cy="1001670"/>
          </a:xfrm>
        </p:grpSpPr>
        <p:sp>
          <p:nvSpPr>
            <p:cNvPr id="54" name="Rectangle 53"/>
            <p:cNvSpPr/>
            <p:nvPr/>
          </p:nvSpPr>
          <p:spPr>
            <a:xfrm>
              <a:off x="5476036" y="5311281"/>
              <a:ext cx="1185938" cy="28030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5" name="Rectangle 54"/>
            <p:cNvSpPr/>
            <p:nvPr/>
          </p:nvSpPr>
          <p:spPr>
            <a:xfrm>
              <a:off x="5787686" y="5912841"/>
              <a:ext cx="1331752" cy="400110"/>
            </a:xfrm>
            <a:prstGeom prst="rect">
              <a:avLst/>
            </a:prstGeom>
          </p:spPr>
          <p:txBody>
            <a:bodyPr wrap="square">
              <a:spAutoFit/>
            </a:bodyPr>
            <a:lstStyle/>
            <a:p>
              <a:pPr algn="ctr"/>
              <a:r>
                <a:rPr lang="en-SG" sz="2000" dirty="0">
                  <a:solidFill>
                    <a:srgbClr val="FF0000"/>
                  </a:solidFill>
                  <a:latin typeface="Georgia" panose="02040502050405020303" pitchFamily="18" charset="0"/>
                </a:rPr>
                <a:t>File Size</a:t>
              </a:r>
              <a:endParaRPr lang="en-SG" sz="2000" dirty="0">
                <a:solidFill>
                  <a:srgbClr val="FF0000"/>
                </a:solidFill>
                <a:latin typeface="Georgia" panose="02040502050405020303" pitchFamily="18" charset="0"/>
              </a:endParaRPr>
            </a:p>
          </p:txBody>
        </p:sp>
        <p:cxnSp>
          <p:nvCxnSpPr>
            <p:cNvPr id="56" name="Straight Arrow Connector 55"/>
            <p:cNvCxnSpPr>
              <a:stCxn id="55" idx="0"/>
            </p:cNvCxnSpPr>
            <p:nvPr/>
          </p:nvCxnSpPr>
          <p:spPr>
            <a:xfrm flipH="1" flipV="1">
              <a:off x="6095516" y="5566299"/>
              <a:ext cx="358046" cy="346542"/>
            </a:xfrm>
            <a:prstGeom prst="straightConnector1">
              <a:avLst/>
            </a:prstGeom>
            <a:ln w="28575">
              <a:solidFill>
                <a:srgbClr val="FF0066"/>
              </a:solidFill>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5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5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3"/>
                                        </p:tgtEl>
                                        <p:attrNameLst>
                                          <p:attrName>style.visibility</p:attrName>
                                        </p:attrNameLst>
                                      </p:cBhvr>
                                      <p:to>
                                        <p:strVal val="visible"/>
                                      </p:to>
                                    </p:set>
                                    <p:animEffect transition="in" filter="fade">
                                      <p:cBhvr>
                                        <p:cTn id="27" dur="500"/>
                                        <p:tgtEl>
                                          <p:spTgt spid="4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9"/>
                                        </p:tgtEl>
                                        <p:attrNameLst>
                                          <p:attrName>style.visibility</p:attrName>
                                        </p:attrNameLst>
                                      </p:cBhvr>
                                      <p:to>
                                        <p:strVal val="visible"/>
                                      </p:to>
                                    </p:set>
                                    <p:animEffect transition="in" filter="fade">
                                      <p:cBhvr>
                                        <p:cTn id="32" dur="500"/>
                                        <p:tgtEl>
                                          <p:spTgt spid="3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fade">
                                      <p:cBhvr>
                                        <p:cTn id="37" dur="500"/>
                                        <p:tgtEl>
                                          <p:spTgt spid="3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7"/>
                                        </p:tgtEl>
                                        <p:attrNameLst>
                                          <p:attrName>style.visibility</p:attrName>
                                        </p:attrNameLst>
                                      </p:cBhvr>
                                      <p:to>
                                        <p:strVal val="visible"/>
                                      </p:to>
                                    </p:set>
                                    <p:animEffect transition="in" filter="fade">
                                      <p:cBhvr>
                                        <p:cTn id="42" dur="500"/>
                                        <p:tgtEl>
                                          <p:spTgt spid="47"/>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3"/>
                                        </p:tgtEl>
                                        <p:attrNameLst>
                                          <p:attrName>style.visibility</p:attrName>
                                        </p:attrNameLst>
                                      </p:cBhvr>
                                      <p:to>
                                        <p:strVal val="visible"/>
                                      </p:to>
                                    </p:set>
                                    <p:animEffect transition="in" filter="fade">
                                      <p:cBhvr>
                                        <p:cTn id="47"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F59E0B"/>
          </a:solidFill>
          <a:ln w="12700">
            <a:solidFill>
              <a:srgbClr val="F59E0B"/>
            </a:solidFill>
            <a:prstDash val="solid"/>
          </a:ln>
        </p:spPr>
        <p:txBody>
          <a:bodyPr/>
          <a:lstStyle/>
          <a:p>
            <a:endParaRPr lang="en-SG"/>
          </a:p>
        </p:txBody>
      </p:sp>
      <p:sp>
        <p:nvSpPr>
          <p:cNvPr id="3" name="Text 1"/>
          <p:cNvSpPr/>
          <p:nvPr/>
        </p:nvSpPr>
        <p:spPr>
          <a:xfrm>
            <a:off x="256032" y="135330"/>
            <a:ext cx="8631936" cy="548640"/>
          </a:xfrm>
          <a:prstGeom prst="rect">
            <a:avLst/>
          </a:prstGeom>
          <a:noFill/>
        </p:spPr>
        <p:txBody>
          <a:bodyPr wrap="square" lIns="0" tIns="0" rIns="0" bIns="0" rtlCol="0" anchor="ctr"/>
          <a:lstStyle/>
          <a:p>
            <a:pPr marL="0" indent="0">
              <a:buNone/>
            </a:pPr>
            <a:r>
              <a:rPr lang="en-US" sz="16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LFN Directory Entry Structure</a:t>
            </a:r>
            <a:endParaRPr lang="en-US" sz="1600" dirty="0"/>
          </a:p>
        </p:txBody>
      </p:sp>
      <p:sp>
        <p:nvSpPr>
          <p:cNvPr id="4" name="Shape 2"/>
          <p:cNvSpPr/>
          <p:nvPr/>
        </p:nvSpPr>
        <p:spPr>
          <a:xfrm>
            <a:off x="256032" y="73152"/>
            <a:ext cx="1463040" cy="219456"/>
          </a:xfrm>
          <a:prstGeom prst="rect">
            <a:avLst/>
          </a:prstGeom>
          <a:solidFill>
            <a:srgbClr val="F59E0B"/>
          </a:solidFill>
          <a:ln w="12700">
            <a:solidFill>
              <a:srgbClr val="F59E0B"/>
            </a:solidFill>
            <a:prstDash val="solid"/>
          </a:ln>
        </p:spPr>
        <p:txBody>
          <a:bodyPr/>
          <a:lstStyle/>
          <a:p>
            <a:endParaRPr lang="en-SG"/>
          </a:p>
        </p:txBody>
      </p:sp>
      <p:sp>
        <p:nvSpPr>
          <p:cNvPr id="5" name="Text 3"/>
          <p:cNvSpPr/>
          <p:nvPr/>
        </p:nvSpPr>
        <p:spPr>
          <a:xfrm>
            <a:off x="256032" y="73152"/>
            <a:ext cx="1463040" cy="219456"/>
          </a:xfrm>
          <a:prstGeom prst="rect">
            <a:avLst/>
          </a:prstGeom>
          <a:noFill/>
        </p:spPr>
        <p:txBody>
          <a:bodyPr wrap="square" lIns="0" tIns="0" rIns="0" bIns="0" rtlCol="0" anchor="ctr"/>
          <a:lstStyle/>
          <a:p>
            <a:pPr marL="0" indent="0" algn="ctr">
              <a:buNone/>
            </a:pPr>
            <a:r>
              <a:rPr lang="en-US" sz="800" b="1" kern="0" spc="100"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SECTION 02 — FAT</a:t>
            </a:r>
            <a:endParaRPr lang="en-US" sz="800" dirty="0"/>
          </a:p>
        </p:txBody>
      </p:sp>
      <p:pic>
        <p:nvPicPr>
          <p:cNvPr id="6" name="Picture 5"/>
          <p:cNvPicPr>
            <a:picLocks noChangeAspect="1"/>
          </p:cNvPicPr>
          <p:nvPr/>
        </p:nvPicPr>
        <p:blipFill>
          <a:blip r:embed="rId1"/>
          <a:stretch>
            <a:fillRect/>
          </a:stretch>
        </p:blipFill>
        <p:spPr>
          <a:xfrm>
            <a:off x="77655" y="1624405"/>
            <a:ext cx="9066345" cy="2020859"/>
          </a:xfrm>
          <a:prstGeom prst="rect">
            <a:avLst/>
          </a:prstGeom>
        </p:spPr>
      </p:pic>
      <p:grpSp>
        <p:nvGrpSpPr>
          <p:cNvPr id="7" name="Group 6"/>
          <p:cNvGrpSpPr/>
          <p:nvPr/>
        </p:nvGrpSpPr>
        <p:grpSpPr>
          <a:xfrm>
            <a:off x="3830471" y="811898"/>
            <a:ext cx="2125903" cy="1753209"/>
            <a:chOff x="3830471" y="2307594"/>
            <a:chExt cx="2125903" cy="1753209"/>
          </a:xfrm>
        </p:grpSpPr>
        <p:sp>
          <p:nvSpPr>
            <p:cNvPr id="8" name="Rectangle 7"/>
            <p:cNvSpPr/>
            <p:nvPr/>
          </p:nvSpPr>
          <p:spPr>
            <a:xfrm>
              <a:off x="4893423" y="3172495"/>
              <a:ext cx="380076" cy="23269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Rectangle 8"/>
            <p:cNvSpPr/>
            <p:nvPr/>
          </p:nvSpPr>
          <p:spPr>
            <a:xfrm>
              <a:off x="3830471" y="2307594"/>
              <a:ext cx="2125903" cy="461665"/>
            </a:xfrm>
            <a:prstGeom prst="rect">
              <a:avLst/>
            </a:prstGeom>
          </p:spPr>
          <p:txBody>
            <a:bodyPr wrap="none">
              <a:spAutoFit/>
            </a:bodyPr>
            <a:lstStyle/>
            <a:p>
              <a:r>
                <a:rPr lang="en-SG" sz="2400" dirty="0">
                  <a:solidFill>
                    <a:srgbClr val="FF0000"/>
                  </a:solidFill>
                  <a:latin typeface="Georgia" panose="02040502050405020303" pitchFamily="18" charset="0"/>
                </a:rPr>
                <a:t>LFN attribute </a:t>
              </a:r>
              <a:endParaRPr lang="en-SG" sz="2400" dirty="0">
                <a:solidFill>
                  <a:srgbClr val="FF0000"/>
                </a:solidFill>
              </a:endParaRPr>
            </a:p>
          </p:txBody>
        </p:sp>
        <p:sp>
          <p:nvSpPr>
            <p:cNvPr id="23" name="Rectangle 22"/>
            <p:cNvSpPr/>
            <p:nvPr/>
          </p:nvSpPr>
          <p:spPr>
            <a:xfrm>
              <a:off x="4893423" y="3828104"/>
              <a:ext cx="380076" cy="23269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24" name="Straight Arrow Connector 23"/>
            <p:cNvCxnSpPr/>
            <p:nvPr/>
          </p:nvCxnSpPr>
          <p:spPr>
            <a:xfrm>
              <a:off x="4610827" y="2747947"/>
              <a:ext cx="472634" cy="372154"/>
            </a:xfrm>
            <a:prstGeom prst="straightConnector1">
              <a:avLst/>
            </a:prstGeom>
            <a:ln w="28575">
              <a:solidFill>
                <a:srgbClr val="FF0066"/>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5591870" y="886753"/>
            <a:ext cx="1975385" cy="1684597"/>
            <a:chOff x="4893423" y="2376206"/>
            <a:chExt cx="1975385" cy="1684597"/>
          </a:xfrm>
        </p:grpSpPr>
        <p:sp>
          <p:nvSpPr>
            <p:cNvPr id="26" name="Rectangle 25"/>
            <p:cNvSpPr/>
            <p:nvPr/>
          </p:nvSpPr>
          <p:spPr>
            <a:xfrm>
              <a:off x="4893423" y="3172495"/>
              <a:ext cx="380076" cy="23269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7" name="Rectangle 26"/>
            <p:cNvSpPr/>
            <p:nvPr/>
          </p:nvSpPr>
          <p:spPr>
            <a:xfrm>
              <a:off x="5273499" y="2376206"/>
              <a:ext cx="1595309" cy="461665"/>
            </a:xfrm>
            <a:prstGeom prst="rect">
              <a:avLst/>
            </a:prstGeom>
          </p:spPr>
          <p:txBody>
            <a:bodyPr wrap="none">
              <a:spAutoFit/>
            </a:bodyPr>
            <a:lstStyle/>
            <a:p>
              <a:r>
                <a:rPr lang="en-SG" sz="2400" dirty="0">
                  <a:solidFill>
                    <a:srgbClr val="FF0000"/>
                  </a:solidFill>
                  <a:latin typeface="Georgia" panose="02040502050405020303" pitchFamily="18" charset="0"/>
                </a:rPr>
                <a:t>Checksum</a:t>
              </a:r>
              <a:endParaRPr lang="en-SG" sz="2400" dirty="0">
                <a:solidFill>
                  <a:srgbClr val="FF0000"/>
                </a:solidFill>
              </a:endParaRPr>
            </a:p>
          </p:txBody>
        </p:sp>
        <p:sp>
          <p:nvSpPr>
            <p:cNvPr id="28" name="Rectangle 27"/>
            <p:cNvSpPr/>
            <p:nvPr/>
          </p:nvSpPr>
          <p:spPr>
            <a:xfrm>
              <a:off x="4893423" y="3828104"/>
              <a:ext cx="380076" cy="23269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29" name="Straight Arrow Connector 28"/>
            <p:cNvCxnSpPr/>
            <p:nvPr/>
          </p:nvCxnSpPr>
          <p:spPr>
            <a:xfrm flipH="1">
              <a:off x="5083461" y="2775025"/>
              <a:ext cx="379790" cy="345076"/>
            </a:xfrm>
            <a:prstGeom prst="straightConnector1">
              <a:avLst/>
            </a:prstGeom>
            <a:ln w="28575">
              <a:solidFill>
                <a:srgbClr val="FF0066"/>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H="1">
              <a:off x="5212080" y="2747947"/>
              <a:ext cx="251171" cy="1080157"/>
            </a:xfrm>
            <a:prstGeom prst="straightConnector1">
              <a:avLst/>
            </a:prstGeom>
            <a:ln w="28575">
              <a:solidFill>
                <a:srgbClr val="FF0066"/>
              </a:solidFill>
              <a:tailEnd type="triangle"/>
            </a:ln>
          </p:spPr>
          <p:style>
            <a:lnRef idx="1">
              <a:schemeClr val="accent1"/>
            </a:lnRef>
            <a:fillRef idx="0">
              <a:schemeClr val="accent1"/>
            </a:fillRef>
            <a:effectRef idx="0">
              <a:schemeClr val="accent1"/>
            </a:effectRef>
            <a:fontRef idx="minor">
              <a:schemeClr val="tx1"/>
            </a:fontRef>
          </p:style>
        </p:cxnSp>
      </p:grpSp>
      <p:cxnSp>
        <p:nvCxnSpPr>
          <p:cNvPr id="31" name="Connector: Elbow 30"/>
          <p:cNvCxnSpPr>
            <a:endCxn id="23" idx="1"/>
          </p:cNvCxnSpPr>
          <p:nvPr/>
        </p:nvCxnSpPr>
        <p:spPr>
          <a:xfrm rot="16200000" flipH="1">
            <a:off x="4164528" y="1719862"/>
            <a:ext cx="1175195" cy="282596"/>
          </a:xfrm>
          <a:prstGeom prst="bentConnector2">
            <a:avLst/>
          </a:prstGeom>
          <a:ln w="28575">
            <a:solidFill>
              <a:srgbClr val="FF0066"/>
            </a:solidFill>
            <a:tailEnd type="triangle"/>
          </a:ln>
        </p:spPr>
        <p:style>
          <a:lnRef idx="1">
            <a:schemeClr val="accent1"/>
          </a:lnRef>
          <a:fillRef idx="0">
            <a:schemeClr val="accent1"/>
          </a:fillRef>
          <a:effectRef idx="0">
            <a:schemeClr val="accent1"/>
          </a:effectRef>
          <a:fontRef idx="minor">
            <a:schemeClr val="tx1"/>
          </a:fontRef>
        </p:style>
      </p:cxnSp>
      <p:grpSp>
        <p:nvGrpSpPr>
          <p:cNvPr id="32" name="Group 31"/>
          <p:cNvGrpSpPr/>
          <p:nvPr/>
        </p:nvGrpSpPr>
        <p:grpSpPr>
          <a:xfrm>
            <a:off x="732099" y="2935623"/>
            <a:ext cx="4246301" cy="1751215"/>
            <a:chOff x="732099" y="4431319"/>
            <a:chExt cx="4246301" cy="1751215"/>
          </a:xfrm>
        </p:grpSpPr>
        <p:sp>
          <p:nvSpPr>
            <p:cNvPr id="33" name="Rectangle 32"/>
            <p:cNvSpPr/>
            <p:nvPr/>
          </p:nvSpPr>
          <p:spPr>
            <a:xfrm>
              <a:off x="1324670" y="4431319"/>
              <a:ext cx="3653730" cy="31644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4" name="Arrow: Down 33"/>
            <p:cNvSpPr/>
            <p:nvPr/>
          </p:nvSpPr>
          <p:spPr>
            <a:xfrm>
              <a:off x="2523281" y="4780344"/>
              <a:ext cx="173620" cy="63660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5" name="Rectangle 34"/>
            <p:cNvSpPr/>
            <p:nvPr/>
          </p:nvSpPr>
          <p:spPr>
            <a:xfrm>
              <a:off x="732099" y="5351537"/>
              <a:ext cx="3575579" cy="830997"/>
            </a:xfrm>
            <a:prstGeom prst="rect">
              <a:avLst/>
            </a:prstGeom>
          </p:spPr>
          <p:txBody>
            <a:bodyPr wrap="square">
              <a:spAutoFit/>
            </a:bodyPr>
            <a:lstStyle/>
            <a:p>
              <a:pPr algn="ctr"/>
              <a:r>
                <a:rPr lang="en-SG" sz="2400" dirty="0">
                  <a:solidFill>
                    <a:srgbClr val="FF0000"/>
                  </a:solidFill>
                  <a:latin typeface="Georgia" panose="02040502050405020303" pitchFamily="18" charset="0"/>
                </a:rPr>
                <a:t>Use short filename to compute checksum</a:t>
              </a:r>
              <a:endParaRPr lang="en-SG" sz="2400" dirty="0">
                <a:solidFill>
                  <a:srgbClr val="FF0000"/>
                </a:solidFill>
              </a:endParaRPr>
            </a:p>
          </p:txBody>
        </p:sp>
      </p:grpSp>
      <p:grpSp>
        <p:nvGrpSpPr>
          <p:cNvPr id="36" name="Group 35"/>
          <p:cNvGrpSpPr/>
          <p:nvPr/>
        </p:nvGrpSpPr>
        <p:grpSpPr>
          <a:xfrm>
            <a:off x="197375" y="828553"/>
            <a:ext cx="2712602" cy="1753209"/>
            <a:chOff x="197375" y="2324249"/>
            <a:chExt cx="2712602" cy="1753209"/>
          </a:xfrm>
        </p:grpSpPr>
        <p:sp>
          <p:nvSpPr>
            <p:cNvPr id="37" name="Rectangle 36"/>
            <p:cNvSpPr/>
            <p:nvPr/>
          </p:nvSpPr>
          <p:spPr>
            <a:xfrm>
              <a:off x="1260327" y="3189150"/>
              <a:ext cx="380076" cy="23269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8" name="Rectangle 37"/>
            <p:cNvSpPr/>
            <p:nvPr/>
          </p:nvSpPr>
          <p:spPr>
            <a:xfrm>
              <a:off x="197375" y="2324249"/>
              <a:ext cx="2712602" cy="461665"/>
            </a:xfrm>
            <a:prstGeom prst="rect">
              <a:avLst/>
            </a:prstGeom>
          </p:spPr>
          <p:txBody>
            <a:bodyPr wrap="none">
              <a:spAutoFit/>
            </a:bodyPr>
            <a:lstStyle/>
            <a:p>
              <a:r>
                <a:rPr lang="en-SG" sz="2400" dirty="0">
                  <a:solidFill>
                    <a:srgbClr val="FF0000"/>
                  </a:solidFill>
                  <a:latin typeface="Georgia" panose="02040502050405020303" pitchFamily="18" charset="0"/>
                </a:rPr>
                <a:t>LFN Sequence No.</a:t>
              </a:r>
              <a:endParaRPr lang="en-SG" sz="2400" dirty="0">
                <a:solidFill>
                  <a:srgbClr val="FF0000"/>
                </a:solidFill>
              </a:endParaRPr>
            </a:p>
          </p:txBody>
        </p:sp>
        <p:sp>
          <p:nvSpPr>
            <p:cNvPr id="39" name="Rectangle 38"/>
            <p:cNvSpPr/>
            <p:nvPr/>
          </p:nvSpPr>
          <p:spPr>
            <a:xfrm>
              <a:off x="1260327" y="3844759"/>
              <a:ext cx="380076" cy="23269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40" name="Straight Arrow Connector 39"/>
            <p:cNvCxnSpPr/>
            <p:nvPr/>
          </p:nvCxnSpPr>
          <p:spPr>
            <a:xfrm>
              <a:off x="977731" y="2764602"/>
              <a:ext cx="472634" cy="372154"/>
            </a:xfrm>
            <a:prstGeom prst="straightConnector1">
              <a:avLst/>
            </a:prstGeom>
            <a:ln w="28575">
              <a:solidFill>
                <a:srgbClr val="FF0066"/>
              </a:solidFill>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p:cNvCxnSpPr>
              <a:endCxn id="39" idx="1"/>
            </p:cNvCxnSpPr>
            <p:nvPr/>
          </p:nvCxnSpPr>
          <p:spPr>
            <a:xfrm rot="16200000" flipH="1">
              <a:off x="531432" y="3232213"/>
              <a:ext cx="1175195" cy="282596"/>
            </a:xfrm>
            <a:prstGeom prst="bentConnector2">
              <a:avLst/>
            </a:prstGeom>
            <a:ln w="28575">
              <a:solidFill>
                <a:srgbClr val="FF0066"/>
              </a:solidFill>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nodeType="with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fade">
                                      <p:cBhvr>
                                        <p:cTn id="15" dur="500"/>
                                        <p:tgtEl>
                                          <p:spTgt spid="3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500"/>
                                        <p:tgtEl>
                                          <p:spTgt spid="2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2"/>
                                        </p:tgtEl>
                                        <p:attrNameLst>
                                          <p:attrName>style.visibility</p:attrName>
                                        </p:attrNameLst>
                                      </p:cBhvr>
                                      <p:to>
                                        <p:strVal val="visible"/>
                                      </p:to>
                                    </p:set>
                                    <p:animEffect transition="in" filter="fade">
                                      <p:cBhvr>
                                        <p:cTn id="2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F59E0B"/>
          </a:solidFill>
          <a:ln w="12700">
            <a:solidFill>
              <a:srgbClr val="F59E0B"/>
            </a:solidFill>
            <a:prstDash val="solid"/>
          </a:ln>
        </p:spPr>
        <p:txBody>
          <a:bodyPr/>
          <a:lstStyle/>
          <a:p>
            <a:endParaRPr lang="en-SG"/>
          </a:p>
        </p:txBody>
      </p:sp>
      <p:sp>
        <p:nvSpPr>
          <p:cNvPr id="4" name="Shape 2"/>
          <p:cNvSpPr/>
          <p:nvPr/>
        </p:nvSpPr>
        <p:spPr>
          <a:xfrm>
            <a:off x="256032" y="73152"/>
            <a:ext cx="1463040" cy="219456"/>
          </a:xfrm>
          <a:prstGeom prst="rect">
            <a:avLst/>
          </a:prstGeom>
          <a:solidFill>
            <a:srgbClr val="F59E0B"/>
          </a:solidFill>
          <a:ln w="12700">
            <a:solidFill>
              <a:srgbClr val="F59E0B"/>
            </a:solidFill>
            <a:prstDash val="solid"/>
          </a:ln>
        </p:spPr>
        <p:txBody>
          <a:bodyPr/>
          <a:lstStyle/>
          <a:p>
            <a:endParaRPr lang="en-SG"/>
          </a:p>
        </p:txBody>
      </p:sp>
      <p:sp>
        <p:nvSpPr>
          <p:cNvPr id="5" name="Text 3"/>
          <p:cNvSpPr/>
          <p:nvPr/>
        </p:nvSpPr>
        <p:spPr>
          <a:xfrm>
            <a:off x="256032" y="73152"/>
            <a:ext cx="1463040" cy="219456"/>
          </a:xfrm>
          <a:prstGeom prst="rect">
            <a:avLst/>
          </a:prstGeom>
          <a:noFill/>
        </p:spPr>
        <p:txBody>
          <a:bodyPr wrap="square" lIns="0" tIns="0" rIns="0" bIns="0" rtlCol="0" anchor="ctr"/>
          <a:lstStyle/>
          <a:p>
            <a:pPr marL="0" indent="0" algn="ctr">
              <a:buNone/>
            </a:pPr>
            <a:r>
              <a:rPr lang="en-US" sz="800" b="1" kern="0" spc="100"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SECTION 02 — FAT</a:t>
            </a:r>
            <a:endParaRPr lang="en-US" sz="800" dirty="0"/>
          </a:p>
        </p:txBody>
      </p:sp>
      <p:sp>
        <p:nvSpPr>
          <p:cNvPr id="6" name="TextBox 5"/>
          <p:cNvSpPr txBox="1"/>
          <p:nvPr/>
        </p:nvSpPr>
        <p:spPr>
          <a:xfrm>
            <a:off x="256032" y="321999"/>
            <a:ext cx="8631936" cy="502920"/>
          </a:xfrm>
          <a:prstGeom prst="rect">
            <a:avLst/>
          </a:prstGeom>
          <a:noFill/>
        </p:spPr>
        <p:txBody>
          <a:bodyPr wrap="square" lIns="0" tIns="0" rIns="0" bIns="0">
            <a:spAutoFit/>
          </a:bodyPr>
          <a:lstStyle/>
          <a:p>
            <a:pPr algn="l"/>
            <a:r>
              <a:rPr sz="1600" b="1" i="0" dirty="0">
                <a:solidFill>
                  <a:srgbClr val="000000"/>
                </a:solidFill>
                <a:latin typeface="Trebuchet MS" panose="020B0603020202020204" pitchFamily="34" charset="0"/>
              </a:rPr>
              <a:t>Slack Space — Hidden Data Between File and Cluster Boundaries</a:t>
            </a:r>
            <a:endParaRPr sz="1600" b="1" i="0" dirty="0">
              <a:solidFill>
                <a:srgbClr val="000000"/>
              </a:solidFill>
              <a:latin typeface="Trebuchet MS" panose="020B0603020202020204" pitchFamily="34" charset="0"/>
            </a:endParaRPr>
          </a:p>
        </p:txBody>
      </p:sp>
      <p:sp>
        <p:nvSpPr>
          <p:cNvPr id="7" name="TextBox 6"/>
          <p:cNvSpPr txBox="1"/>
          <p:nvPr/>
        </p:nvSpPr>
        <p:spPr>
          <a:xfrm>
            <a:off x="256032" y="822960"/>
            <a:ext cx="8631936" cy="274320"/>
          </a:xfrm>
          <a:prstGeom prst="rect">
            <a:avLst/>
          </a:prstGeom>
          <a:noFill/>
        </p:spPr>
        <p:txBody>
          <a:bodyPr wrap="square" lIns="0" tIns="0" rIns="0" bIns="0">
            <a:spAutoFit/>
          </a:bodyPr>
          <a:lstStyle/>
          <a:p>
            <a:pPr algn="l"/>
            <a:r>
              <a:rPr sz="950" b="0" i="1">
                <a:solidFill>
                  <a:srgbClr val="475569"/>
                </a:solidFill>
                <a:latin typeface="Calibri" panose="020F0502020204030204" pitchFamily="34" charset="0"/>
              </a:rPr>
              <a:t>When a file is smaller than its allocated cluster, the leftover space still contains old data. Forensic examiners exploit this to recover fragments of previously deleted files.</a:t>
            </a:r>
            <a:endParaRPr sz="950" b="0" i="1">
              <a:solidFill>
                <a:srgbClr val="475569"/>
              </a:solidFill>
              <a:latin typeface="Calibri" panose="020F0502020204030204" pitchFamily="34" charset="0"/>
            </a:endParaRPr>
          </a:p>
        </p:txBody>
      </p:sp>
      <p:sp>
        <p:nvSpPr>
          <p:cNvPr id="8" name="Rounded Rectangle 7"/>
          <p:cNvSpPr/>
          <p:nvPr/>
        </p:nvSpPr>
        <p:spPr>
          <a:xfrm>
            <a:off x="256032" y="1188720"/>
            <a:ext cx="8631936" cy="685800"/>
          </a:xfrm>
          <a:prstGeom prst="roundRect">
            <a:avLst/>
          </a:prstGeom>
          <a:solidFill>
            <a:srgbClr val="FEF3C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261872"/>
            <a:ext cx="8412480" cy="201168"/>
          </a:xfrm>
          <a:prstGeom prst="rect">
            <a:avLst/>
          </a:prstGeom>
          <a:noFill/>
        </p:spPr>
        <p:txBody>
          <a:bodyPr wrap="square" lIns="0" tIns="0" rIns="0" bIns="0">
            <a:spAutoFit/>
          </a:bodyPr>
          <a:lstStyle/>
          <a:p>
            <a:pPr algn="l"/>
            <a:r>
              <a:rPr sz="1100" b="1" i="0">
                <a:solidFill>
                  <a:srgbClr val="F59E0B"/>
                </a:solidFill>
                <a:latin typeface="Trebuchet MS" panose="020B0603020202020204" pitchFamily="34" charset="0"/>
              </a:rPr>
              <a:t>What is Slack Space?</a:t>
            </a:r>
            <a:endParaRPr sz="1100" b="1" i="0">
              <a:solidFill>
                <a:srgbClr val="F59E0B"/>
              </a:solidFill>
              <a:latin typeface="Trebuchet MS" panose="020B0603020202020204" pitchFamily="34" charset="0"/>
            </a:endParaRPr>
          </a:p>
        </p:txBody>
      </p:sp>
      <p:sp>
        <p:nvSpPr>
          <p:cNvPr id="10" name="TextBox 9"/>
          <p:cNvSpPr txBox="1"/>
          <p:nvPr/>
        </p:nvSpPr>
        <p:spPr>
          <a:xfrm>
            <a:off x="384048" y="1463040"/>
            <a:ext cx="8412480" cy="384048"/>
          </a:xfrm>
          <a:prstGeom prst="rect">
            <a:avLst/>
          </a:prstGeom>
          <a:noFill/>
        </p:spPr>
        <p:txBody>
          <a:bodyPr wrap="square" lIns="0" tIns="0" rIns="0" bIns="0">
            <a:spAutoFit/>
          </a:bodyPr>
          <a:lstStyle/>
          <a:p>
            <a:pPr algn="l"/>
            <a:r>
              <a:rPr sz="900" b="0" i="0">
                <a:solidFill>
                  <a:srgbClr val="1A1A2E"/>
                </a:solidFill>
                <a:latin typeface="Calibri" panose="020F0502020204030204" pitchFamily="34" charset="0"/>
              </a:rPr>
              <a:t>The unused portion of a cluster when a file is smaller than the allocated storage unit. Filesystems allocate in fixed-size clusters (e.g., 4 KB), but real files are rarely exact multiples. The leftover bytes are NOT zeroed — they retain whatever was there before.</a:t>
            </a:r>
            <a:endParaRPr sz="900" b="0" i="0">
              <a:solidFill>
                <a:srgbClr val="1A1A2E"/>
              </a:solidFill>
              <a:latin typeface="Calibri" panose="020F0502020204030204" pitchFamily="34" charset="0"/>
            </a:endParaRPr>
          </a:p>
        </p:txBody>
      </p:sp>
      <p:sp>
        <p:nvSpPr>
          <p:cNvPr id="11" name="Rounded Rectangle 10"/>
          <p:cNvSpPr/>
          <p:nvPr/>
        </p:nvSpPr>
        <p:spPr>
          <a:xfrm>
            <a:off x="256032" y="2011680"/>
            <a:ext cx="2788920" cy="1280160"/>
          </a:xfrm>
          <a:prstGeom prst="roundRect">
            <a:avLst/>
          </a:prstGeom>
          <a:solidFill>
            <a:srgbClr val="FFFFFF"/>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6032" y="2011680"/>
            <a:ext cx="2788920" cy="25603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9184" y="2048256"/>
            <a:ext cx="2642615" cy="201168"/>
          </a:xfrm>
          <a:prstGeom prst="rect">
            <a:avLst/>
          </a:prstGeom>
          <a:noFill/>
        </p:spPr>
        <p:txBody>
          <a:bodyPr wrap="square" lIns="0" tIns="0" rIns="0" bIns="0">
            <a:spAutoFit/>
          </a:bodyPr>
          <a:lstStyle/>
          <a:p>
            <a:pPr algn="l"/>
            <a:r>
              <a:rPr sz="1000" b="1" i="0">
                <a:solidFill>
                  <a:srgbClr val="FFFFFF"/>
                </a:solidFill>
                <a:latin typeface="Trebuchet MS" panose="020B0603020202020204" pitchFamily="34" charset="0"/>
              </a:rPr>
              <a:t>RAM Slack</a:t>
            </a:r>
            <a:endParaRPr sz="1000" b="1" i="0">
              <a:solidFill>
                <a:srgbClr val="FFFFFF"/>
              </a:solidFill>
              <a:latin typeface="Trebuchet MS" panose="020B0603020202020204" pitchFamily="34" charset="0"/>
            </a:endParaRPr>
          </a:p>
        </p:txBody>
      </p:sp>
      <p:sp>
        <p:nvSpPr>
          <p:cNvPr id="14" name="TextBox 13"/>
          <p:cNvSpPr txBox="1"/>
          <p:nvPr/>
        </p:nvSpPr>
        <p:spPr>
          <a:xfrm>
            <a:off x="347472" y="2331720"/>
            <a:ext cx="2606039" cy="868680"/>
          </a:xfrm>
          <a:prstGeom prst="rect">
            <a:avLst/>
          </a:prstGeom>
          <a:noFill/>
        </p:spPr>
        <p:txBody>
          <a:bodyPr wrap="square" lIns="0" tIns="0" rIns="0" bIns="0">
            <a:spAutoFit/>
          </a:bodyPr>
          <a:lstStyle/>
          <a:p>
            <a:pPr algn="l"/>
            <a:r>
              <a:rPr sz="850" b="0" i="0">
                <a:solidFill>
                  <a:srgbClr val="1A1A2E"/>
                </a:solidFill>
                <a:latin typeface="Calibri" panose="020F0502020204030204" pitchFamily="34" charset="0"/>
              </a:rPr>
              <a:t>From end-of-file to end of the last sector (512 B boundary). Historically filled with RAM contents — can contain passwords, keys, or text from other programs at the moment of the write.</a:t>
            </a:r>
            <a:endParaRPr sz="850" b="0" i="0">
              <a:solidFill>
                <a:srgbClr val="1A1A2E"/>
              </a:solidFill>
              <a:latin typeface="Calibri" panose="020F0502020204030204" pitchFamily="34" charset="0"/>
            </a:endParaRPr>
          </a:p>
        </p:txBody>
      </p:sp>
      <p:sp>
        <p:nvSpPr>
          <p:cNvPr id="15" name="Rounded Rectangle 14"/>
          <p:cNvSpPr/>
          <p:nvPr/>
        </p:nvSpPr>
        <p:spPr>
          <a:xfrm>
            <a:off x="3182112" y="2011680"/>
            <a:ext cx="2788920" cy="1280160"/>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182112" y="2011680"/>
            <a:ext cx="2788920" cy="25603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55264" y="2048256"/>
            <a:ext cx="2642615" cy="201168"/>
          </a:xfrm>
          <a:prstGeom prst="rect">
            <a:avLst/>
          </a:prstGeom>
          <a:noFill/>
        </p:spPr>
        <p:txBody>
          <a:bodyPr wrap="square" lIns="0" tIns="0" rIns="0" bIns="0">
            <a:spAutoFit/>
          </a:bodyPr>
          <a:lstStyle/>
          <a:p>
            <a:pPr algn="l"/>
            <a:r>
              <a:rPr sz="1000" b="1" i="0">
                <a:solidFill>
                  <a:srgbClr val="FFFFFF"/>
                </a:solidFill>
                <a:latin typeface="Trebuchet MS" panose="020B0603020202020204" pitchFamily="34" charset="0"/>
              </a:rPr>
              <a:t>File Slack (Cluster Slack)</a:t>
            </a:r>
            <a:endParaRPr sz="1000" b="1" i="0">
              <a:solidFill>
                <a:srgbClr val="FFFFFF"/>
              </a:solidFill>
              <a:latin typeface="Trebuchet MS" panose="020B0603020202020204" pitchFamily="34" charset="0"/>
            </a:endParaRPr>
          </a:p>
        </p:txBody>
      </p:sp>
      <p:sp>
        <p:nvSpPr>
          <p:cNvPr id="18" name="TextBox 17"/>
          <p:cNvSpPr txBox="1"/>
          <p:nvPr/>
        </p:nvSpPr>
        <p:spPr>
          <a:xfrm>
            <a:off x="3273552" y="2331720"/>
            <a:ext cx="2606039" cy="868680"/>
          </a:xfrm>
          <a:prstGeom prst="rect">
            <a:avLst/>
          </a:prstGeom>
          <a:noFill/>
        </p:spPr>
        <p:txBody>
          <a:bodyPr wrap="square" lIns="0" tIns="0" rIns="0" bIns="0">
            <a:spAutoFit/>
          </a:bodyPr>
          <a:lstStyle/>
          <a:p>
            <a:pPr algn="l"/>
            <a:r>
              <a:rPr sz="850" b="0" i="0">
                <a:solidFill>
                  <a:srgbClr val="1A1A2E"/>
                </a:solidFill>
                <a:latin typeface="Calibri" panose="020F0502020204030204" pitchFamily="34" charset="0"/>
              </a:rPr>
              <a:t>From end of the file's last sector to end of the cluster. Contains leftover data from the previous file that occupied this cluster. Primary target for forensic recovery.</a:t>
            </a:r>
            <a:endParaRPr sz="850" b="0" i="0">
              <a:solidFill>
                <a:srgbClr val="1A1A2E"/>
              </a:solidFill>
              <a:latin typeface="Calibri" panose="020F0502020204030204" pitchFamily="34" charset="0"/>
            </a:endParaRPr>
          </a:p>
        </p:txBody>
      </p:sp>
      <p:sp>
        <p:nvSpPr>
          <p:cNvPr id="19" name="Rounded Rectangle 18"/>
          <p:cNvSpPr/>
          <p:nvPr/>
        </p:nvSpPr>
        <p:spPr>
          <a:xfrm>
            <a:off x="6108192" y="2011680"/>
            <a:ext cx="2788920" cy="128016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08192" y="2011680"/>
            <a:ext cx="2788920" cy="25603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81344" y="2048256"/>
            <a:ext cx="2642615" cy="201168"/>
          </a:xfrm>
          <a:prstGeom prst="rect">
            <a:avLst/>
          </a:prstGeom>
          <a:noFill/>
        </p:spPr>
        <p:txBody>
          <a:bodyPr wrap="square" lIns="0" tIns="0" rIns="0" bIns="0">
            <a:spAutoFit/>
          </a:bodyPr>
          <a:lstStyle/>
          <a:p>
            <a:pPr algn="l"/>
            <a:r>
              <a:rPr sz="1000" b="1" i="0">
                <a:solidFill>
                  <a:srgbClr val="FFFFFF"/>
                </a:solidFill>
                <a:latin typeface="Trebuchet MS" panose="020B0603020202020204" pitchFamily="34" charset="0"/>
              </a:rPr>
              <a:t>Drive Slack (Partition Slack)</a:t>
            </a:r>
            <a:endParaRPr sz="1000" b="1" i="0">
              <a:solidFill>
                <a:srgbClr val="FFFFFF"/>
              </a:solidFill>
              <a:latin typeface="Trebuchet MS" panose="020B0603020202020204" pitchFamily="34" charset="0"/>
            </a:endParaRPr>
          </a:p>
        </p:txBody>
      </p:sp>
      <p:sp>
        <p:nvSpPr>
          <p:cNvPr id="22" name="TextBox 21"/>
          <p:cNvSpPr txBox="1"/>
          <p:nvPr/>
        </p:nvSpPr>
        <p:spPr>
          <a:xfrm>
            <a:off x="6199632" y="2331720"/>
            <a:ext cx="2606039" cy="868680"/>
          </a:xfrm>
          <a:prstGeom prst="rect">
            <a:avLst/>
          </a:prstGeom>
          <a:noFill/>
        </p:spPr>
        <p:txBody>
          <a:bodyPr wrap="square" lIns="0" tIns="0" rIns="0" bIns="0">
            <a:spAutoFit/>
          </a:bodyPr>
          <a:lstStyle/>
          <a:p>
            <a:pPr algn="l"/>
            <a:r>
              <a:rPr sz="850" b="0" i="0">
                <a:solidFill>
                  <a:srgbClr val="1A1A2E"/>
                </a:solidFill>
                <a:latin typeface="Calibri" panose="020F0502020204030204" pitchFamily="34" charset="0"/>
              </a:rPr>
              <a:t>Unused sectors between the end of the filesystem and the end of the partition (or disk). Can contain traces from previous partition layouts or formatting.</a:t>
            </a:r>
            <a:endParaRPr sz="850" b="0" i="0">
              <a:solidFill>
                <a:srgbClr val="1A1A2E"/>
              </a:solidFill>
              <a:latin typeface="Calibri" panose="020F0502020204030204" pitchFamily="34" charset="0"/>
            </a:endParaRPr>
          </a:p>
        </p:txBody>
      </p:sp>
      <p:sp>
        <p:nvSpPr>
          <p:cNvPr id="23" name="TextBox 22"/>
          <p:cNvSpPr txBox="1"/>
          <p:nvPr/>
        </p:nvSpPr>
        <p:spPr>
          <a:xfrm>
            <a:off x="256032" y="3474720"/>
            <a:ext cx="8631936" cy="201168"/>
          </a:xfrm>
          <a:prstGeom prst="rect">
            <a:avLst/>
          </a:prstGeom>
          <a:noFill/>
        </p:spPr>
        <p:txBody>
          <a:bodyPr wrap="square" lIns="0" tIns="0" rIns="0" bIns="0">
            <a:spAutoFit/>
          </a:bodyPr>
          <a:lstStyle/>
          <a:p>
            <a:pPr algn="l"/>
            <a:r>
              <a:rPr sz="1000" b="1" i="0">
                <a:solidFill>
                  <a:srgbClr val="1A1A2E"/>
                </a:solidFill>
                <a:latin typeface="Calibri" panose="020F0502020204030204" pitchFamily="34" charset="0"/>
              </a:rPr>
              <a:t>Example: 1,500-byte file stored in a 4,096-byte cluster</a:t>
            </a:r>
            <a:endParaRPr sz="1000" b="1" i="0">
              <a:solidFill>
                <a:srgbClr val="1A1A2E"/>
              </a:solidFill>
              <a:latin typeface="Calibri" panose="020F0502020204030204" pitchFamily="34" charset="0"/>
            </a:endParaRPr>
          </a:p>
        </p:txBody>
      </p:sp>
      <p:sp>
        <p:nvSpPr>
          <p:cNvPr id="24" name="Rectangle 23"/>
          <p:cNvSpPr/>
          <p:nvPr/>
        </p:nvSpPr>
        <p:spPr>
          <a:xfrm>
            <a:off x="256032" y="3749039"/>
            <a:ext cx="3161109" cy="411480"/>
          </a:xfrm>
          <a:prstGeom prst="rect">
            <a:avLst/>
          </a:prstGeom>
          <a:solidFill>
            <a:srgbClr val="10B981"/>
          </a:solidFill>
          <a:ln w="12700">
            <a:solidFill>
              <a:srgbClr val="1A1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56032" y="3867911"/>
            <a:ext cx="3161109" cy="201168"/>
          </a:xfrm>
          <a:prstGeom prst="rect">
            <a:avLst/>
          </a:prstGeom>
          <a:noFill/>
        </p:spPr>
        <p:txBody>
          <a:bodyPr wrap="square" lIns="0" tIns="0" rIns="0" bIns="0">
            <a:spAutoFit/>
          </a:bodyPr>
          <a:lstStyle/>
          <a:p>
            <a:pPr algn="ctr"/>
            <a:r>
              <a:rPr sz="900" b="1" i="0">
                <a:solidFill>
                  <a:srgbClr val="FFFFFF"/>
                </a:solidFill>
                <a:latin typeface="Calibri" panose="020F0502020204030204" pitchFamily="34" charset="0"/>
              </a:rPr>
              <a:t>New File Data (1,500 B)</a:t>
            </a:r>
            <a:endParaRPr sz="900" b="1" i="0">
              <a:solidFill>
                <a:srgbClr val="FFFFFF"/>
              </a:solidFill>
              <a:latin typeface="Calibri" panose="020F0502020204030204" pitchFamily="34" charset="0"/>
            </a:endParaRPr>
          </a:p>
        </p:txBody>
      </p:sp>
      <p:sp>
        <p:nvSpPr>
          <p:cNvPr id="26" name="Rectangle 25"/>
          <p:cNvSpPr/>
          <p:nvPr/>
        </p:nvSpPr>
        <p:spPr>
          <a:xfrm>
            <a:off x="3417141" y="3749039"/>
            <a:ext cx="5470826" cy="411480"/>
          </a:xfrm>
          <a:prstGeom prst="rect">
            <a:avLst/>
          </a:prstGeom>
          <a:solidFill>
            <a:srgbClr val="F59E0B"/>
          </a:solidFill>
          <a:ln w="12700">
            <a:solidFill>
              <a:srgbClr val="1A1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417141" y="3794759"/>
            <a:ext cx="5470826" cy="182880"/>
          </a:xfrm>
          <a:prstGeom prst="rect">
            <a:avLst/>
          </a:prstGeom>
          <a:noFill/>
        </p:spPr>
        <p:txBody>
          <a:bodyPr wrap="square" lIns="0" tIns="0" rIns="0" bIns="0">
            <a:spAutoFit/>
          </a:bodyPr>
          <a:lstStyle/>
          <a:p>
            <a:pPr algn="ctr"/>
            <a:r>
              <a:rPr sz="900" b="1" i="0">
                <a:solidFill>
                  <a:srgbClr val="1A1A2E"/>
                </a:solidFill>
                <a:latin typeface="Calibri" panose="020F0502020204030204" pitchFamily="34" charset="0"/>
              </a:rPr>
              <a:t>SLACK (2,596 B)</a:t>
            </a:r>
            <a:endParaRPr sz="900" b="1" i="0">
              <a:solidFill>
                <a:srgbClr val="1A1A2E"/>
              </a:solidFill>
              <a:latin typeface="Calibri" panose="020F0502020204030204" pitchFamily="34" charset="0"/>
            </a:endParaRPr>
          </a:p>
        </p:txBody>
      </p:sp>
      <p:sp>
        <p:nvSpPr>
          <p:cNvPr id="28" name="TextBox 27"/>
          <p:cNvSpPr txBox="1"/>
          <p:nvPr/>
        </p:nvSpPr>
        <p:spPr>
          <a:xfrm>
            <a:off x="3417141" y="3950207"/>
            <a:ext cx="5470826" cy="182880"/>
          </a:xfrm>
          <a:prstGeom prst="rect">
            <a:avLst/>
          </a:prstGeom>
          <a:noFill/>
        </p:spPr>
        <p:txBody>
          <a:bodyPr wrap="square" lIns="0" tIns="0" rIns="0" bIns="0">
            <a:spAutoFit/>
          </a:bodyPr>
          <a:lstStyle/>
          <a:p>
            <a:pPr algn="ctr"/>
            <a:r>
              <a:rPr sz="800" b="0" i="1">
                <a:solidFill>
                  <a:srgbClr val="1A1A2E"/>
                </a:solidFill>
                <a:latin typeface="Calibri" panose="020F0502020204030204" pitchFamily="34" charset="0"/>
              </a:rPr>
              <a:t>← remnants of old file data</a:t>
            </a:r>
            <a:endParaRPr sz="800" b="0" i="1">
              <a:solidFill>
                <a:srgbClr val="1A1A2E"/>
              </a:solidFill>
              <a:latin typeface="Calibri" panose="020F0502020204030204" pitchFamily="34" charset="0"/>
            </a:endParaRPr>
          </a:p>
        </p:txBody>
      </p:sp>
      <p:sp>
        <p:nvSpPr>
          <p:cNvPr id="29" name="TextBox 28"/>
          <p:cNvSpPr txBox="1"/>
          <p:nvPr/>
        </p:nvSpPr>
        <p:spPr>
          <a:xfrm>
            <a:off x="256032" y="4187952"/>
            <a:ext cx="8631936" cy="182880"/>
          </a:xfrm>
          <a:prstGeom prst="rect">
            <a:avLst/>
          </a:prstGeom>
          <a:noFill/>
        </p:spPr>
        <p:txBody>
          <a:bodyPr wrap="square" lIns="0" tIns="0" rIns="0" bIns="0">
            <a:spAutoFit/>
          </a:bodyPr>
          <a:lstStyle/>
          <a:p>
            <a:pPr algn="l"/>
            <a:r>
              <a:rPr sz="700" b="0" i="0">
                <a:solidFill>
                  <a:srgbClr val="475569"/>
                </a:solidFill>
                <a:latin typeface="Calibri" panose="020F0502020204030204" pitchFamily="34" charset="0"/>
              </a:rPr>
              <a:t>0                                                                                                                          4,096 bytes</a:t>
            </a:r>
            <a:endParaRPr sz="700" b="0" i="0">
              <a:solidFill>
                <a:srgbClr val="475569"/>
              </a:solidFill>
              <a:latin typeface="Calibri" panose="020F0502020204030204" pitchFamily="34" charset="0"/>
            </a:endParaRPr>
          </a:p>
        </p:txBody>
      </p:sp>
      <p:sp>
        <p:nvSpPr>
          <p:cNvPr id="30" name="TextBox 29"/>
          <p:cNvSpPr txBox="1"/>
          <p:nvPr/>
        </p:nvSpPr>
        <p:spPr>
          <a:xfrm>
            <a:off x="256032" y="4572000"/>
            <a:ext cx="8631936" cy="274320"/>
          </a:xfrm>
          <a:prstGeom prst="rect">
            <a:avLst/>
          </a:prstGeom>
          <a:noFill/>
        </p:spPr>
        <p:txBody>
          <a:bodyPr wrap="square" lIns="0" tIns="0" rIns="0" bIns="0">
            <a:spAutoFit/>
          </a:bodyPr>
          <a:lstStyle/>
          <a:p>
            <a:pPr algn="l"/>
            <a:r>
              <a:rPr sz="900" b="0" i="1">
                <a:solidFill>
                  <a:srgbClr val="475569"/>
                </a:solidFill>
                <a:latin typeface="Calibri" panose="020F0502020204030204" pitchFamily="34" charset="0"/>
              </a:rPr>
              <a:t>Forensic value: Tools like FTK, EnCase, and Autopsy automatically extract slack space. Even after 'delete + empty trash', the previous occupant's bytes may remain recoverable here.</a:t>
            </a:r>
            <a:endParaRPr sz="900" b="0" i="1">
              <a:solidFill>
                <a:srgbClr val="475569"/>
              </a:solidFill>
              <a:latin typeface="Calibri" panose="020F0502020204030204" pitchFamily="34" charset="0"/>
            </a:endParaRPr>
          </a:p>
        </p:txBody>
      </p:sp>
      <p:sp>
        <p:nvSpPr>
          <p:cNvPr id="31" name="TextBox 30"/>
          <p:cNvSpPr txBox="1"/>
          <p:nvPr/>
        </p:nvSpPr>
        <p:spPr>
          <a:xfrm>
            <a:off x="256032" y="4892040"/>
            <a:ext cx="8631936" cy="164592"/>
          </a:xfrm>
          <a:prstGeom prst="rect">
            <a:avLst/>
          </a:prstGeom>
          <a:noFill/>
        </p:spPr>
        <p:txBody>
          <a:bodyPr wrap="square" lIns="0" tIns="0" rIns="0" bIns="0">
            <a:spAutoFit/>
          </a:bodyPr>
          <a:lstStyle/>
          <a:p>
            <a:pPr algn="l"/>
            <a:r>
              <a:rPr sz="700" b="0" i="1">
                <a:solidFill>
                  <a:srgbClr val="475569"/>
                </a:solidFill>
                <a:latin typeface="Calibri" panose="020F0502020204030204" pitchFamily="34" charset="0"/>
              </a:rPr>
              <a:t>Adapted from Messier, R. (2015). Operating System Forensics. Syngress. (Figure 2.25)</a:t>
            </a:r>
            <a:endParaRPr sz="700" b="0" i="1">
              <a:solidFill>
                <a:srgbClr val="475569"/>
              </a:solidFill>
              <a:latin typeface="Calibri" panose="020F050202020403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F59E0B"/>
          </a:solidFill>
          <a:ln w="12700">
            <a:solidFill>
              <a:srgbClr val="F59E0B"/>
            </a:solidFill>
            <a:prstDash val="solid"/>
          </a:ln>
        </p:spPr>
        <p:txBody>
          <a:bodyPr/>
          <a:lstStyle/>
          <a:p>
            <a:endParaRPr lang="en-SG"/>
          </a:p>
        </p:txBody>
      </p:sp>
      <p:sp>
        <p:nvSpPr>
          <p:cNvPr id="4" name="Shape 2"/>
          <p:cNvSpPr/>
          <p:nvPr/>
        </p:nvSpPr>
        <p:spPr>
          <a:xfrm>
            <a:off x="256032" y="73152"/>
            <a:ext cx="1463040" cy="219456"/>
          </a:xfrm>
          <a:prstGeom prst="rect">
            <a:avLst/>
          </a:prstGeom>
          <a:solidFill>
            <a:srgbClr val="F59E0B"/>
          </a:solidFill>
          <a:ln w="12700">
            <a:solidFill>
              <a:srgbClr val="F59E0B"/>
            </a:solidFill>
            <a:prstDash val="solid"/>
          </a:ln>
        </p:spPr>
        <p:txBody>
          <a:bodyPr/>
          <a:lstStyle/>
          <a:p>
            <a:endParaRPr lang="en-SG"/>
          </a:p>
        </p:txBody>
      </p:sp>
      <p:sp>
        <p:nvSpPr>
          <p:cNvPr id="5" name="Text 3"/>
          <p:cNvSpPr/>
          <p:nvPr/>
        </p:nvSpPr>
        <p:spPr>
          <a:xfrm>
            <a:off x="256032" y="73152"/>
            <a:ext cx="1463040" cy="219456"/>
          </a:xfrm>
          <a:prstGeom prst="rect">
            <a:avLst/>
          </a:prstGeom>
          <a:noFill/>
        </p:spPr>
        <p:txBody>
          <a:bodyPr wrap="square" lIns="0" tIns="0" rIns="0" bIns="0" rtlCol="0" anchor="ctr"/>
          <a:lstStyle/>
          <a:p>
            <a:pPr marL="0" indent="0" algn="ctr">
              <a:buNone/>
            </a:pPr>
            <a:r>
              <a:rPr lang="en-US" sz="800" b="1" kern="0" spc="100"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SECTION 02 — FAT</a:t>
            </a:r>
            <a:endParaRPr lang="en-US" sz="800" dirty="0"/>
          </a:p>
        </p:txBody>
      </p:sp>
      <p:sp>
        <p:nvSpPr>
          <p:cNvPr id="6" name="TextBox 5"/>
          <p:cNvSpPr txBox="1"/>
          <p:nvPr/>
        </p:nvSpPr>
        <p:spPr>
          <a:xfrm>
            <a:off x="210312" y="347472"/>
            <a:ext cx="8631936" cy="502920"/>
          </a:xfrm>
          <a:prstGeom prst="rect">
            <a:avLst/>
          </a:prstGeom>
          <a:noFill/>
        </p:spPr>
        <p:txBody>
          <a:bodyPr wrap="square" lIns="0" tIns="0" rIns="0" bIns="0">
            <a:spAutoFit/>
          </a:bodyPr>
          <a:lstStyle/>
          <a:p>
            <a:pPr algn="l"/>
            <a:r>
              <a:rPr sz="1600" b="1" i="0" dirty="0">
                <a:solidFill>
                  <a:srgbClr val="000000"/>
                </a:solidFill>
                <a:latin typeface="Trebuchet MS" panose="020B0603020202020204" pitchFamily="34" charset="0"/>
              </a:rPr>
              <a:t>File Deletion — What Really Happens When You Press Delete</a:t>
            </a:r>
            <a:endParaRPr sz="1600" b="1" i="0" dirty="0">
              <a:solidFill>
                <a:srgbClr val="000000"/>
              </a:solidFill>
              <a:latin typeface="Trebuchet MS" panose="020B0603020202020204" pitchFamily="34" charset="0"/>
            </a:endParaRPr>
          </a:p>
        </p:txBody>
      </p:sp>
      <p:sp>
        <p:nvSpPr>
          <p:cNvPr id="7" name="TextBox 6"/>
          <p:cNvSpPr txBox="1"/>
          <p:nvPr/>
        </p:nvSpPr>
        <p:spPr>
          <a:xfrm>
            <a:off x="256032" y="822960"/>
            <a:ext cx="8631936" cy="274320"/>
          </a:xfrm>
          <a:prstGeom prst="rect">
            <a:avLst/>
          </a:prstGeom>
          <a:noFill/>
        </p:spPr>
        <p:txBody>
          <a:bodyPr wrap="square" lIns="0" tIns="0" rIns="0" bIns="0">
            <a:spAutoFit/>
          </a:bodyPr>
          <a:lstStyle/>
          <a:p>
            <a:pPr algn="l"/>
            <a:r>
              <a:rPr sz="950" b="0" i="1">
                <a:solidFill>
                  <a:srgbClr val="475569"/>
                </a:solidFill>
                <a:latin typeface="Calibri" panose="020F0502020204030204" pitchFamily="34" charset="0"/>
              </a:rPr>
              <a:t>In FAT (and most filesystems), deleting a file does NOT erase the data. The OS simply marks the space as available. The actual bytes remain on disk until overwritten.</a:t>
            </a:r>
            <a:endParaRPr sz="950" b="0" i="1">
              <a:solidFill>
                <a:srgbClr val="475569"/>
              </a:solidFill>
              <a:latin typeface="Calibri" panose="020F0502020204030204" pitchFamily="34" charset="0"/>
            </a:endParaRPr>
          </a:p>
        </p:txBody>
      </p:sp>
      <p:sp>
        <p:nvSpPr>
          <p:cNvPr id="8" name="Rounded Rectangle 7"/>
          <p:cNvSpPr/>
          <p:nvPr/>
        </p:nvSpPr>
        <p:spPr>
          <a:xfrm>
            <a:off x="256032" y="1188720"/>
            <a:ext cx="8631936" cy="640080"/>
          </a:xfrm>
          <a:prstGeom prst="roundRect">
            <a:avLst/>
          </a:prstGeom>
          <a:solidFill>
            <a:srgbClr val="FECACA"/>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261872"/>
            <a:ext cx="8412480" cy="201168"/>
          </a:xfrm>
          <a:prstGeom prst="rect">
            <a:avLst/>
          </a:prstGeom>
          <a:noFill/>
        </p:spPr>
        <p:txBody>
          <a:bodyPr wrap="square" lIns="0" tIns="0" rIns="0" bIns="0">
            <a:spAutoFit/>
          </a:bodyPr>
          <a:lstStyle/>
          <a:p>
            <a:pPr algn="l"/>
            <a:r>
              <a:rPr sz="1100" b="1" i="0">
                <a:solidFill>
                  <a:srgbClr val="EF4444"/>
                </a:solidFill>
                <a:latin typeface="Trebuchet MS" panose="020B0603020202020204" pitchFamily="34" charset="0"/>
              </a:rPr>
              <a:t>Key Insight</a:t>
            </a:r>
            <a:endParaRPr sz="1100" b="1" i="0">
              <a:solidFill>
                <a:srgbClr val="EF4444"/>
              </a:solidFill>
              <a:latin typeface="Trebuchet MS" panose="020B0603020202020204" pitchFamily="34" charset="0"/>
            </a:endParaRPr>
          </a:p>
        </p:txBody>
      </p:sp>
      <p:sp>
        <p:nvSpPr>
          <p:cNvPr id="10" name="TextBox 9"/>
          <p:cNvSpPr txBox="1"/>
          <p:nvPr/>
        </p:nvSpPr>
        <p:spPr>
          <a:xfrm>
            <a:off x="384048" y="1463040"/>
            <a:ext cx="8412480" cy="320040"/>
          </a:xfrm>
          <a:prstGeom prst="rect">
            <a:avLst/>
          </a:prstGeom>
          <a:noFill/>
        </p:spPr>
        <p:txBody>
          <a:bodyPr wrap="square" lIns="0" tIns="0" rIns="0" bIns="0">
            <a:spAutoFit/>
          </a:bodyPr>
          <a:lstStyle/>
          <a:p>
            <a:pPr algn="l"/>
            <a:r>
              <a:rPr sz="950" b="0" i="0">
                <a:solidFill>
                  <a:srgbClr val="1A1A2E"/>
                </a:solidFill>
                <a:latin typeface="Calibri" panose="020F0502020204030204" pitchFamily="34" charset="0"/>
              </a:rPr>
              <a:t>'Delete' = Mark as free, NOT erase. The file's content and metadata are still physically present on disk until another file is written over those sectors.</a:t>
            </a:r>
            <a:endParaRPr sz="950" b="0" i="0">
              <a:solidFill>
                <a:srgbClr val="1A1A2E"/>
              </a:solidFill>
              <a:latin typeface="Calibri" panose="020F0502020204030204" pitchFamily="34" charset="0"/>
            </a:endParaRPr>
          </a:p>
        </p:txBody>
      </p:sp>
      <p:sp>
        <p:nvSpPr>
          <p:cNvPr id="11" name="Rounded Rectangle 10"/>
          <p:cNvSpPr/>
          <p:nvPr/>
        </p:nvSpPr>
        <p:spPr>
          <a:xfrm>
            <a:off x="256032" y="1965960"/>
            <a:ext cx="2788920" cy="2103120"/>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6032" y="1965960"/>
            <a:ext cx="2788920" cy="29260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9184" y="2011679"/>
            <a:ext cx="2642615" cy="201168"/>
          </a:xfrm>
          <a:prstGeom prst="rect">
            <a:avLst/>
          </a:prstGeom>
          <a:noFill/>
        </p:spPr>
        <p:txBody>
          <a:bodyPr wrap="square" lIns="0" tIns="0" rIns="0" bIns="0">
            <a:spAutoFit/>
          </a:bodyPr>
          <a:lstStyle/>
          <a:p>
            <a:pPr algn="l"/>
            <a:r>
              <a:rPr sz="1000" b="1" i="0">
                <a:solidFill>
                  <a:srgbClr val="FFFFFF"/>
                </a:solidFill>
                <a:latin typeface="Trebuchet MS" panose="020B0603020202020204" pitchFamily="34" charset="0"/>
              </a:rPr>
              <a:t>1  Directory Entry</a:t>
            </a:r>
            <a:endParaRPr sz="1000" b="1" i="0">
              <a:solidFill>
                <a:srgbClr val="FFFFFF"/>
              </a:solidFill>
              <a:latin typeface="Trebuchet MS" panose="020B0603020202020204" pitchFamily="34" charset="0"/>
            </a:endParaRPr>
          </a:p>
        </p:txBody>
      </p:sp>
      <p:sp>
        <p:nvSpPr>
          <p:cNvPr id="14" name="TextBox 13"/>
          <p:cNvSpPr txBox="1"/>
          <p:nvPr/>
        </p:nvSpPr>
        <p:spPr>
          <a:xfrm>
            <a:off x="347472" y="2331720"/>
            <a:ext cx="2606039" cy="201168"/>
          </a:xfrm>
          <a:prstGeom prst="rect">
            <a:avLst/>
          </a:prstGeom>
          <a:noFill/>
        </p:spPr>
        <p:txBody>
          <a:bodyPr wrap="square" lIns="0" tIns="0" rIns="0" bIns="0">
            <a:spAutoFit/>
          </a:bodyPr>
          <a:lstStyle/>
          <a:p>
            <a:pPr algn="l"/>
            <a:r>
              <a:rPr sz="850" b="1" i="0">
                <a:solidFill>
                  <a:srgbClr val="1A1A2E"/>
                </a:solidFill>
                <a:latin typeface="Calibri" panose="020F0502020204030204" pitchFamily="34" charset="0"/>
              </a:rPr>
              <a:t>Byte 0 of the 32-byte entry →</a:t>
            </a:r>
            <a:endParaRPr sz="850" b="1" i="0">
              <a:solidFill>
                <a:srgbClr val="1A1A2E"/>
              </a:solidFill>
              <a:latin typeface="Calibri" panose="020F0502020204030204" pitchFamily="34" charset="0"/>
            </a:endParaRPr>
          </a:p>
        </p:txBody>
      </p:sp>
      <p:sp>
        <p:nvSpPr>
          <p:cNvPr id="15" name="TextBox 14"/>
          <p:cNvSpPr txBox="1"/>
          <p:nvPr/>
        </p:nvSpPr>
        <p:spPr>
          <a:xfrm>
            <a:off x="347472" y="2532888"/>
            <a:ext cx="2606039" cy="201168"/>
          </a:xfrm>
          <a:prstGeom prst="rect">
            <a:avLst/>
          </a:prstGeom>
          <a:noFill/>
        </p:spPr>
        <p:txBody>
          <a:bodyPr wrap="square" lIns="0" tIns="0" rIns="0" bIns="0">
            <a:spAutoFit/>
          </a:bodyPr>
          <a:lstStyle/>
          <a:p>
            <a:pPr algn="l"/>
            <a:r>
              <a:rPr sz="850" b="1" i="0">
                <a:solidFill>
                  <a:srgbClr val="EF4444"/>
                </a:solidFill>
                <a:latin typeface="Consolas" panose="020B0609020204030204" pitchFamily="34" charset="0"/>
              </a:rPr>
              <a:t>changed from 'E' (0x45) to 0xE5</a:t>
            </a:r>
            <a:endParaRPr sz="850" b="1" i="0">
              <a:solidFill>
                <a:srgbClr val="EF4444"/>
              </a:solidFill>
              <a:latin typeface="Consolas" panose="020B0609020204030204" pitchFamily="34" charset="0"/>
            </a:endParaRPr>
          </a:p>
        </p:txBody>
      </p:sp>
      <p:sp>
        <p:nvSpPr>
          <p:cNvPr id="16" name="TextBox 15"/>
          <p:cNvSpPr txBox="1"/>
          <p:nvPr/>
        </p:nvSpPr>
        <p:spPr>
          <a:xfrm>
            <a:off x="347472" y="2770632"/>
            <a:ext cx="2606039" cy="1234440"/>
          </a:xfrm>
          <a:prstGeom prst="rect">
            <a:avLst/>
          </a:prstGeom>
          <a:noFill/>
        </p:spPr>
        <p:txBody>
          <a:bodyPr wrap="square" lIns="0" tIns="0" rIns="0" bIns="0">
            <a:spAutoFit/>
          </a:bodyPr>
          <a:lstStyle/>
          <a:p>
            <a:pPr algn="l"/>
            <a:r>
              <a:rPr sz="850" b="0" i="0">
                <a:solidFill>
                  <a:srgbClr val="1A1A2E"/>
                </a:solidFill>
                <a:latin typeface="Calibri" panose="020F0502020204030204" pitchFamily="34" charset="0"/>
              </a:rPr>
              <a:t>The 0xE5 byte (nicknamed 'sigma' σ) is the universal FAT 'deleted' marker. All other metadata — filename bytes 1–7, extension, attributes, timestamps, start cluster, file size — remains completely intact.</a:t>
            </a:r>
            <a:endParaRPr sz="850" b="0" i="0">
              <a:solidFill>
                <a:srgbClr val="1A1A2E"/>
              </a:solidFill>
              <a:latin typeface="Calibri" panose="020F0502020204030204" pitchFamily="34" charset="0"/>
            </a:endParaRPr>
          </a:p>
        </p:txBody>
      </p:sp>
      <p:sp>
        <p:nvSpPr>
          <p:cNvPr id="17" name="Rounded Rectangle 16"/>
          <p:cNvSpPr/>
          <p:nvPr/>
        </p:nvSpPr>
        <p:spPr>
          <a:xfrm>
            <a:off x="3154680" y="1965960"/>
            <a:ext cx="2788920" cy="2103120"/>
          </a:xfrm>
          <a:prstGeom prst="roundRect">
            <a:avLst/>
          </a:prstGeom>
          <a:solidFill>
            <a:srgbClr val="FFFFFF"/>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154680" y="1965960"/>
            <a:ext cx="2788920" cy="292608"/>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27832" y="2011679"/>
            <a:ext cx="2642615" cy="201168"/>
          </a:xfrm>
          <a:prstGeom prst="rect">
            <a:avLst/>
          </a:prstGeom>
          <a:noFill/>
        </p:spPr>
        <p:txBody>
          <a:bodyPr wrap="square" lIns="0" tIns="0" rIns="0" bIns="0">
            <a:spAutoFit/>
          </a:bodyPr>
          <a:lstStyle/>
          <a:p>
            <a:pPr algn="l"/>
            <a:r>
              <a:rPr sz="1000" b="1" i="0">
                <a:solidFill>
                  <a:srgbClr val="FFFFFF"/>
                </a:solidFill>
                <a:latin typeface="Trebuchet MS" panose="020B0603020202020204" pitchFamily="34" charset="0"/>
              </a:rPr>
              <a:t>2  FAT Chain</a:t>
            </a:r>
            <a:endParaRPr sz="1000" b="1" i="0">
              <a:solidFill>
                <a:srgbClr val="FFFFFF"/>
              </a:solidFill>
              <a:latin typeface="Trebuchet MS" panose="020B0603020202020204" pitchFamily="34" charset="0"/>
            </a:endParaRPr>
          </a:p>
        </p:txBody>
      </p:sp>
      <p:sp>
        <p:nvSpPr>
          <p:cNvPr id="20" name="TextBox 19"/>
          <p:cNvSpPr txBox="1"/>
          <p:nvPr/>
        </p:nvSpPr>
        <p:spPr>
          <a:xfrm>
            <a:off x="3246120" y="2331720"/>
            <a:ext cx="2606039" cy="201168"/>
          </a:xfrm>
          <a:prstGeom prst="rect">
            <a:avLst/>
          </a:prstGeom>
          <a:noFill/>
        </p:spPr>
        <p:txBody>
          <a:bodyPr wrap="square" lIns="0" tIns="0" rIns="0" bIns="0">
            <a:spAutoFit/>
          </a:bodyPr>
          <a:lstStyle/>
          <a:p>
            <a:pPr algn="l"/>
            <a:r>
              <a:rPr sz="850" b="1" i="0">
                <a:solidFill>
                  <a:srgbClr val="1A1A2E"/>
                </a:solidFill>
                <a:latin typeface="Calibri" panose="020F0502020204030204" pitchFamily="34" charset="0"/>
              </a:rPr>
              <a:t>All FAT entries for the file →</a:t>
            </a:r>
            <a:endParaRPr sz="850" b="1" i="0">
              <a:solidFill>
                <a:srgbClr val="1A1A2E"/>
              </a:solidFill>
              <a:latin typeface="Calibri" panose="020F0502020204030204" pitchFamily="34" charset="0"/>
            </a:endParaRPr>
          </a:p>
        </p:txBody>
      </p:sp>
      <p:sp>
        <p:nvSpPr>
          <p:cNvPr id="21" name="TextBox 20"/>
          <p:cNvSpPr txBox="1"/>
          <p:nvPr/>
        </p:nvSpPr>
        <p:spPr>
          <a:xfrm>
            <a:off x="3246120" y="2532888"/>
            <a:ext cx="2606039" cy="201168"/>
          </a:xfrm>
          <a:prstGeom prst="rect">
            <a:avLst/>
          </a:prstGeom>
          <a:noFill/>
        </p:spPr>
        <p:txBody>
          <a:bodyPr wrap="square" lIns="0" tIns="0" rIns="0" bIns="0">
            <a:spAutoFit/>
          </a:bodyPr>
          <a:lstStyle/>
          <a:p>
            <a:pPr algn="l"/>
            <a:r>
              <a:rPr sz="850" b="1" i="0">
                <a:solidFill>
                  <a:srgbClr val="EF4444"/>
                </a:solidFill>
                <a:latin typeface="Consolas" panose="020B0609020204030204" pitchFamily="34" charset="0"/>
              </a:rPr>
              <a:t>set to 0x00000000 (free)</a:t>
            </a:r>
            <a:endParaRPr sz="850" b="1" i="0">
              <a:solidFill>
                <a:srgbClr val="EF4444"/>
              </a:solidFill>
              <a:latin typeface="Consolas" panose="020B0609020204030204" pitchFamily="34" charset="0"/>
            </a:endParaRPr>
          </a:p>
        </p:txBody>
      </p:sp>
      <p:sp>
        <p:nvSpPr>
          <p:cNvPr id="22" name="TextBox 21"/>
          <p:cNvSpPr txBox="1"/>
          <p:nvPr/>
        </p:nvSpPr>
        <p:spPr>
          <a:xfrm>
            <a:off x="3246120" y="2770632"/>
            <a:ext cx="2606039" cy="1234440"/>
          </a:xfrm>
          <a:prstGeom prst="rect">
            <a:avLst/>
          </a:prstGeom>
          <a:noFill/>
        </p:spPr>
        <p:txBody>
          <a:bodyPr wrap="square" lIns="0" tIns="0" rIns="0" bIns="0">
            <a:spAutoFit/>
          </a:bodyPr>
          <a:lstStyle/>
          <a:p>
            <a:pPr algn="l"/>
            <a:r>
              <a:rPr sz="850" b="0" i="0">
                <a:solidFill>
                  <a:srgbClr val="1A1A2E"/>
                </a:solidFill>
                <a:latin typeface="Calibri" panose="020F0502020204030204" pitchFamily="34" charset="0"/>
              </a:rPr>
              <a:t>The cluster chain linking the file's data blocks is zeroed out. The clusters are now marked as available for reallocation, but the directory entry still points to the original starting cluster.</a:t>
            </a:r>
            <a:endParaRPr sz="850" b="0" i="0">
              <a:solidFill>
                <a:srgbClr val="1A1A2E"/>
              </a:solidFill>
              <a:latin typeface="Calibri" panose="020F0502020204030204" pitchFamily="34" charset="0"/>
            </a:endParaRPr>
          </a:p>
        </p:txBody>
      </p:sp>
      <p:sp>
        <p:nvSpPr>
          <p:cNvPr id="23" name="Rounded Rectangle 22"/>
          <p:cNvSpPr/>
          <p:nvPr/>
        </p:nvSpPr>
        <p:spPr>
          <a:xfrm>
            <a:off x="6053328" y="1965960"/>
            <a:ext cx="2788920" cy="210312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053328" y="1965960"/>
            <a:ext cx="2788920" cy="2926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26480" y="2011679"/>
            <a:ext cx="2642615" cy="201168"/>
          </a:xfrm>
          <a:prstGeom prst="rect">
            <a:avLst/>
          </a:prstGeom>
          <a:noFill/>
        </p:spPr>
        <p:txBody>
          <a:bodyPr wrap="square" lIns="0" tIns="0" rIns="0" bIns="0">
            <a:spAutoFit/>
          </a:bodyPr>
          <a:lstStyle/>
          <a:p>
            <a:pPr algn="l"/>
            <a:r>
              <a:rPr sz="1000" b="1" i="0">
                <a:solidFill>
                  <a:srgbClr val="FFFFFF"/>
                </a:solidFill>
                <a:latin typeface="Trebuchet MS" panose="020B0603020202020204" pitchFamily="34" charset="0"/>
              </a:rPr>
              <a:t>3  File Data Clusters</a:t>
            </a:r>
            <a:endParaRPr sz="1000" b="1" i="0">
              <a:solidFill>
                <a:srgbClr val="FFFFFF"/>
              </a:solidFill>
              <a:latin typeface="Trebuchet MS" panose="020B0603020202020204" pitchFamily="34" charset="0"/>
            </a:endParaRPr>
          </a:p>
        </p:txBody>
      </p:sp>
      <p:sp>
        <p:nvSpPr>
          <p:cNvPr id="26" name="TextBox 25"/>
          <p:cNvSpPr txBox="1"/>
          <p:nvPr/>
        </p:nvSpPr>
        <p:spPr>
          <a:xfrm>
            <a:off x="6144768" y="2331720"/>
            <a:ext cx="2606039" cy="201168"/>
          </a:xfrm>
          <a:prstGeom prst="rect">
            <a:avLst/>
          </a:prstGeom>
          <a:noFill/>
        </p:spPr>
        <p:txBody>
          <a:bodyPr wrap="square" lIns="0" tIns="0" rIns="0" bIns="0">
            <a:spAutoFit/>
          </a:bodyPr>
          <a:lstStyle/>
          <a:p>
            <a:pPr algn="l"/>
            <a:r>
              <a:rPr sz="850" b="1" i="0">
                <a:solidFill>
                  <a:srgbClr val="1A1A2E"/>
                </a:solidFill>
                <a:latin typeface="Calibri" panose="020F0502020204030204" pitchFamily="34" charset="0"/>
              </a:rPr>
              <a:t>Actual content on disk →</a:t>
            </a:r>
            <a:endParaRPr sz="850" b="1" i="0">
              <a:solidFill>
                <a:srgbClr val="1A1A2E"/>
              </a:solidFill>
              <a:latin typeface="Calibri" panose="020F0502020204030204" pitchFamily="34" charset="0"/>
            </a:endParaRPr>
          </a:p>
        </p:txBody>
      </p:sp>
      <p:sp>
        <p:nvSpPr>
          <p:cNvPr id="27" name="TextBox 26"/>
          <p:cNvSpPr txBox="1"/>
          <p:nvPr/>
        </p:nvSpPr>
        <p:spPr>
          <a:xfrm>
            <a:off x="6144768" y="2532888"/>
            <a:ext cx="2606039" cy="201168"/>
          </a:xfrm>
          <a:prstGeom prst="rect">
            <a:avLst/>
          </a:prstGeom>
          <a:noFill/>
        </p:spPr>
        <p:txBody>
          <a:bodyPr wrap="square" lIns="0" tIns="0" rIns="0" bIns="0">
            <a:spAutoFit/>
          </a:bodyPr>
          <a:lstStyle/>
          <a:p>
            <a:pPr algn="l"/>
            <a:r>
              <a:rPr sz="850" b="1" i="0">
                <a:solidFill>
                  <a:srgbClr val="10B981"/>
                </a:solidFill>
                <a:latin typeface="Consolas" panose="020B0609020204030204" pitchFamily="34" charset="0"/>
              </a:rPr>
              <a:t>UNTOUCHED — still intact</a:t>
            </a:r>
            <a:endParaRPr sz="850" b="1" i="0">
              <a:solidFill>
                <a:srgbClr val="10B981"/>
              </a:solidFill>
              <a:latin typeface="Consolas" panose="020B0609020204030204" pitchFamily="34" charset="0"/>
            </a:endParaRPr>
          </a:p>
        </p:txBody>
      </p:sp>
      <p:sp>
        <p:nvSpPr>
          <p:cNvPr id="28" name="TextBox 27"/>
          <p:cNvSpPr txBox="1"/>
          <p:nvPr/>
        </p:nvSpPr>
        <p:spPr>
          <a:xfrm>
            <a:off x="6144768" y="2770632"/>
            <a:ext cx="2606039" cy="1234440"/>
          </a:xfrm>
          <a:prstGeom prst="rect">
            <a:avLst/>
          </a:prstGeom>
          <a:noFill/>
        </p:spPr>
        <p:txBody>
          <a:bodyPr wrap="square" lIns="0" tIns="0" rIns="0" bIns="0">
            <a:spAutoFit/>
          </a:bodyPr>
          <a:lstStyle/>
          <a:p>
            <a:pPr algn="l"/>
            <a:r>
              <a:rPr sz="850" b="0" i="0">
                <a:solidFill>
                  <a:srgbClr val="1A1A2E"/>
                </a:solidFill>
                <a:latin typeface="Calibri" panose="020F0502020204030204" pitchFamily="34" charset="0"/>
              </a:rPr>
              <a:t>The raw bytes of the file (photos, documents, etc.) remain in the data area. They stay recoverable until a new file is written to those specific clusters and overwrites them.</a:t>
            </a:r>
            <a:endParaRPr sz="850" b="0" i="0">
              <a:solidFill>
                <a:srgbClr val="1A1A2E"/>
              </a:solidFill>
              <a:latin typeface="Calibri" panose="020F0502020204030204" pitchFamily="34" charset="0"/>
            </a:endParaRPr>
          </a:p>
        </p:txBody>
      </p:sp>
      <p:sp>
        <p:nvSpPr>
          <p:cNvPr id="29" name="TextBox 28"/>
          <p:cNvSpPr txBox="1"/>
          <p:nvPr/>
        </p:nvSpPr>
        <p:spPr>
          <a:xfrm>
            <a:off x="256032" y="4389120"/>
            <a:ext cx="8631936" cy="256032"/>
          </a:xfrm>
          <a:prstGeom prst="rect">
            <a:avLst/>
          </a:prstGeom>
          <a:noFill/>
        </p:spPr>
        <p:txBody>
          <a:bodyPr wrap="square" lIns="0" tIns="0" rIns="0" bIns="0">
            <a:spAutoFit/>
          </a:bodyPr>
          <a:lstStyle/>
          <a:p>
            <a:pPr algn="ctr"/>
            <a:r>
              <a:rPr sz="900" b="1" i="0">
                <a:solidFill>
                  <a:srgbClr val="1A1A2E"/>
                </a:solidFill>
                <a:latin typeface="Consolas" panose="020B0609020204030204" pitchFamily="34" charset="0"/>
              </a:rPr>
              <a:t>Example: Deleting 'EVIDENCE.EXE'  →  dir entry byte 0: 0x45 → 0xE5  |  FAT clusters: 0x00000000  |  .EXE bytes: still on disk</a:t>
            </a:r>
            <a:endParaRPr sz="900" b="1" i="0">
              <a:solidFill>
                <a:srgbClr val="1A1A2E"/>
              </a:solidFill>
              <a:latin typeface="Consolas" panose="020B0609020204030204" pitchFamily="34" charset="0"/>
            </a:endParaRPr>
          </a:p>
        </p:txBody>
      </p:sp>
      <p:sp>
        <p:nvSpPr>
          <p:cNvPr id="30" name="TextBox 29"/>
          <p:cNvSpPr txBox="1"/>
          <p:nvPr/>
        </p:nvSpPr>
        <p:spPr>
          <a:xfrm>
            <a:off x="256032" y="4645152"/>
            <a:ext cx="8631936" cy="274320"/>
          </a:xfrm>
          <a:prstGeom prst="rect">
            <a:avLst/>
          </a:prstGeom>
          <a:noFill/>
        </p:spPr>
        <p:txBody>
          <a:bodyPr wrap="square" lIns="0" tIns="0" rIns="0" bIns="0">
            <a:spAutoFit/>
          </a:bodyPr>
          <a:lstStyle/>
          <a:p>
            <a:pPr algn="ctr"/>
            <a:r>
              <a:rPr sz="900" b="0" i="1">
                <a:solidFill>
                  <a:srgbClr val="475569"/>
                </a:solidFill>
                <a:latin typeface="Calibri" panose="020F0502020204030204" pitchFamily="34" charset="0"/>
              </a:rPr>
              <a:t>This is why secure-delete tools (shred, sdelete, BleachBit) exist — they overwrite the actual data clusters with random bytes.</a:t>
            </a:r>
            <a:endParaRPr sz="900" b="0" i="1">
              <a:solidFill>
                <a:srgbClr val="475569"/>
              </a:solidFill>
              <a:latin typeface="Calibri" panose="020F050202020403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F59E0B"/>
          </a:solidFill>
          <a:ln w="12700">
            <a:solidFill>
              <a:srgbClr val="F59E0B"/>
            </a:solidFill>
            <a:prstDash val="solid"/>
          </a:ln>
        </p:spPr>
        <p:txBody>
          <a:bodyPr/>
          <a:lstStyle/>
          <a:p>
            <a:endParaRPr lang="en-SG"/>
          </a:p>
        </p:txBody>
      </p:sp>
      <p:sp>
        <p:nvSpPr>
          <p:cNvPr id="4" name="Shape 2"/>
          <p:cNvSpPr/>
          <p:nvPr/>
        </p:nvSpPr>
        <p:spPr>
          <a:xfrm>
            <a:off x="256032" y="73152"/>
            <a:ext cx="1463040" cy="219456"/>
          </a:xfrm>
          <a:prstGeom prst="rect">
            <a:avLst/>
          </a:prstGeom>
          <a:solidFill>
            <a:srgbClr val="F59E0B"/>
          </a:solidFill>
          <a:ln w="12700">
            <a:solidFill>
              <a:srgbClr val="F59E0B"/>
            </a:solidFill>
            <a:prstDash val="solid"/>
          </a:ln>
        </p:spPr>
        <p:txBody>
          <a:bodyPr/>
          <a:lstStyle/>
          <a:p>
            <a:endParaRPr lang="en-SG"/>
          </a:p>
        </p:txBody>
      </p:sp>
      <p:sp>
        <p:nvSpPr>
          <p:cNvPr id="5" name="Text 3"/>
          <p:cNvSpPr/>
          <p:nvPr/>
        </p:nvSpPr>
        <p:spPr>
          <a:xfrm>
            <a:off x="256032" y="73152"/>
            <a:ext cx="1463040" cy="219456"/>
          </a:xfrm>
          <a:prstGeom prst="rect">
            <a:avLst/>
          </a:prstGeom>
          <a:noFill/>
        </p:spPr>
        <p:txBody>
          <a:bodyPr wrap="square" lIns="0" tIns="0" rIns="0" bIns="0" rtlCol="0" anchor="ctr"/>
          <a:lstStyle/>
          <a:p>
            <a:pPr marL="0" indent="0" algn="ctr">
              <a:buNone/>
            </a:pPr>
            <a:r>
              <a:rPr lang="en-US" sz="800" b="1" kern="0" spc="100"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SECTION 02 — FAT</a:t>
            </a:r>
            <a:endParaRPr lang="en-US" sz="800" dirty="0"/>
          </a:p>
        </p:txBody>
      </p:sp>
      <p:sp>
        <p:nvSpPr>
          <p:cNvPr id="6" name="TextBox 5"/>
          <p:cNvSpPr txBox="1"/>
          <p:nvPr/>
        </p:nvSpPr>
        <p:spPr>
          <a:xfrm>
            <a:off x="256032" y="237744"/>
            <a:ext cx="8631936" cy="246221"/>
          </a:xfrm>
          <a:prstGeom prst="rect">
            <a:avLst/>
          </a:prstGeom>
          <a:noFill/>
        </p:spPr>
        <p:txBody>
          <a:bodyPr wrap="square" lIns="0" tIns="0" rIns="0" bIns="0">
            <a:spAutoFit/>
          </a:bodyPr>
          <a:lstStyle/>
          <a:p>
            <a:pPr algn="l"/>
            <a:r>
              <a:rPr sz="1600" b="1" i="0" dirty="0">
                <a:solidFill>
                  <a:srgbClr val="000000"/>
                </a:solidFill>
                <a:latin typeface="Trebuchet MS" panose="020B0603020202020204" pitchFamily="34" charset="0"/>
              </a:rPr>
              <a:t>File Recovery — </a:t>
            </a:r>
            <a:r>
              <a:rPr lang="en-SG" sz="1600" b="1" i="0" dirty="0">
                <a:solidFill>
                  <a:srgbClr val="000000"/>
                </a:solidFill>
                <a:latin typeface="Trebuchet MS" panose="020B0603020202020204" pitchFamily="34" charset="0"/>
              </a:rPr>
              <a:t>Data Remanence (What data remains when a file is deleted in FAT?</a:t>
            </a:r>
            <a:endParaRPr sz="1600" b="1" i="0" dirty="0">
              <a:solidFill>
                <a:srgbClr val="000000"/>
              </a:solidFill>
              <a:latin typeface="Trebuchet MS" panose="020B0603020202020204" pitchFamily="34" charset="0"/>
            </a:endParaRPr>
          </a:p>
        </p:txBody>
      </p:sp>
      <p:sp>
        <p:nvSpPr>
          <p:cNvPr id="7" name="TextBox 6"/>
          <p:cNvSpPr txBox="1"/>
          <p:nvPr/>
        </p:nvSpPr>
        <p:spPr>
          <a:xfrm>
            <a:off x="256032" y="822960"/>
            <a:ext cx="8631936" cy="274320"/>
          </a:xfrm>
          <a:prstGeom prst="rect">
            <a:avLst/>
          </a:prstGeom>
          <a:noFill/>
        </p:spPr>
        <p:txBody>
          <a:bodyPr wrap="square" lIns="0" tIns="0" rIns="0" bIns="0">
            <a:spAutoFit/>
          </a:bodyPr>
          <a:lstStyle/>
          <a:p>
            <a:pPr algn="l"/>
            <a:r>
              <a:rPr sz="950" b="0" i="1">
                <a:solidFill>
                  <a:srgbClr val="475569"/>
                </a:solidFill>
                <a:latin typeface="Calibri" panose="020F0502020204030204" pitchFamily="34" charset="0"/>
              </a:rPr>
              <a:t>Because 'delete' only marks space as free, forensic examiners can reconstruct deleted files by reading the directory entry, following metadata, and carving data from clusters or slack space.</a:t>
            </a:r>
            <a:endParaRPr sz="950" b="0" i="1">
              <a:solidFill>
                <a:srgbClr val="475569"/>
              </a:solidFill>
              <a:latin typeface="Calibri" panose="020F0502020204030204" pitchFamily="34" charset="0"/>
            </a:endParaRPr>
          </a:p>
        </p:txBody>
      </p:sp>
      <p:graphicFrame>
        <p:nvGraphicFramePr>
          <p:cNvPr id="37" name="Diagram 36"/>
          <p:cNvGraphicFramePr/>
          <p:nvPr/>
        </p:nvGraphicFramePr>
        <p:xfrm>
          <a:off x="-58783" y="1190726"/>
          <a:ext cx="4909184" cy="358106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aphicFrame>
        <p:nvGraphicFramePr>
          <p:cNvPr id="41" name="Diagram 40"/>
          <p:cNvGraphicFramePr/>
          <p:nvPr/>
        </p:nvGraphicFramePr>
        <p:xfrm>
          <a:off x="4850401" y="922343"/>
          <a:ext cx="3854509" cy="3744685"/>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F59E0B"/>
          </a:solidFill>
          <a:ln w="12700">
            <a:solidFill>
              <a:srgbClr val="F59E0B"/>
            </a:solidFill>
            <a:prstDash val="solid"/>
          </a:ln>
        </p:spPr>
        <p:txBody>
          <a:bodyPr/>
          <a:lstStyle/>
          <a:p>
            <a:endParaRPr lang="en-SG"/>
          </a:p>
        </p:txBody>
      </p:sp>
      <p:sp>
        <p:nvSpPr>
          <p:cNvPr id="4" name="Shape 2"/>
          <p:cNvSpPr/>
          <p:nvPr/>
        </p:nvSpPr>
        <p:spPr>
          <a:xfrm>
            <a:off x="256032" y="73152"/>
            <a:ext cx="1463040" cy="219456"/>
          </a:xfrm>
          <a:prstGeom prst="rect">
            <a:avLst/>
          </a:prstGeom>
          <a:solidFill>
            <a:srgbClr val="F59E0B"/>
          </a:solidFill>
          <a:ln w="12700">
            <a:solidFill>
              <a:srgbClr val="F59E0B"/>
            </a:solidFill>
            <a:prstDash val="solid"/>
          </a:ln>
        </p:spPr>
        <p:txBody>
          <a:bodyPr/>
          <a:lstStyle/>
          <a:p>
            <a:endParaRPr lang="en-SG"/>
          </a:p>
        </p:txBody>
      </p:sp>
      <p:sp>
        <p:nvSpPr>
          <p:cNvPr id="5" name="Text 3"/>
          <p:cNvSpPr/>
          <p:nvPr/>
        </p:nvSpPr>
        <p:spPr>
          <a:xfrm>
            <a:off x="256032" y="73152"/>
            <a:ext cx="1463040" cy="219456"/>
          </a:xfrm>
          <a:prstGeom prst="rect">
            <a:avLst/>
          </a:prstGeom>
          <a:noFill/>
        </p:spPr>
        <p:txBody>
          <a:bodyPr wrap="square" lIns="0" tIns="0" rIns="0" bIns="0" rtlCol="0" anchor="ctr"/>
          <a:lstStyle/>
          <a:p>
            <a:pPr marL="0" indent="0" algn="ctr">
              <a:buNone/>
            </a:pPr>
            <a:r>
              <a:rPr lang="en-US" sz="800" b="1" kern="0" spc="100"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SECTION 02 — FAT</a:t>
            </a:r>
            <a:endParaRPr lang="en-US" sz="800" dirty="0"/>
          </a:p>
        </p:txBody>
      </p:sp>
      <p:sp>
        <p:nvSpPr>
          <p:cNvPr id="6" name="TextBox 5"/>
          <p:cNvSpPr txBox="1"/>
          <p:nvPr/>
        </p:nvSpPr>
        <p:spPr>
          <a:xfrm>
            <a:off x="210312" y="347472"/>
            <a:ext cx="8631936" cy="246221"/>
          </a:xfrm>
          <a:prstGeom prst="rect">
            <a:avLst/>
          </a:prstGeom>
          <a:noFill/>
        </p:spPr>
        <p:txBody>
          <a:bodyPr wrap="square" lIns="0" tIns="0" rIns="0" bIns="0">
            <a:spAutoFit/>
          </a:bodyPr>
          <a:lstStyle/>
          <a:p>
            <a:pPr algn="l"/>
            <a:r>
              <a:rPr sz="1600" b="1" i="0" dirty="0">
                <a:solidFill>
                  <a:srgbClr val="000000"/>
                </a:solidFill>
                <a:latin typeface="Trebuchet MS" panose="020B0603020202020204" pitchFamily="34" charset="0"/>
              </a:rPr>
              <a:t>File </a:t>
            </a:r>
            <a:r>
              <a:rPr lang="en-SG" sz="1600" b="1" i="0" dirty="0">
                <a:solidFill>
                  <a:srgbClr val="000000"/>
                </a:solidFill>
                <a:latin typeface="Trebuchet MS" panose="020B0603020202020204" pitchFamily="34" charset="0"/>
              </a:rPr>
              <a:t>Recovery</a:t>
            </a:r>
            <a:r>
              <a:rPr sz="1600" b="1" i="0" dirty="0">
                <a:solidFill>
                  <a:srgbClr val="000000"/>
                </a:solidFill>
                <a:latin typeface="Trebuchet MS" panose="020B0603020202020204" pitchFamily="34" charset="0"/>
              </a:rPr>
              <a:t> —</a:t>
            </a:r>
            <a:r>
              <a:rPr lang="en-SG" sz="1600" b="1" i="0" dirty="0">
                <a:solidFill>
                  <a:srgbClr val="000000"/>
                </a:solidFill>
                <a:latin typeface="Trebuchet MS" panose="020B0603020202020204" pitchFamily="34" charset="0"/>
              </a:rPr>
              <a:t> Data Remanence</a:t>
            </a:r>
            <a:endParaRPr sz="1600" b="1" i="0" dirty="0">
              <a:solidFill>
                <a:srgbClr val="000000"/>
              </a:solidFill>
              <a:latin typeface="Trebuchet MS" panose="020B0603020202020204" pitchFamily="34" charset="0"/>
            </a:endParaRPr>
          </a:p>
        </p:txBody>
      </p:sp>
      <p:sp>
        <p:nvSpPr>
          <p:cNvPr id="11" name="Rounded Rectangle 10"/>
          <p:cNvSpPr/>
          <p:nvPr/>
        </p:nvSpPr>
        <p:spPr>
          <a:xfrm>
            <a:off x="256032" y="862147"/>
            <a:ext cx="8789996" cy="616220"/>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6031" y="855615"/>
            <a:ext cx="8789997" cy="253419"/>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9184" y="907865"/>
            <a:ext cx="4628170" cy="153888"/>
          </a:xfrm>
          <a:prstGeom prst="rect">
            <a:avLst/>
          </a:prstGeom>
          <a:noFill/>
        </p:spPr>
        <p:txBody>
          <a:bodyPr wrap="square" lIns="0" tIns="0" rIns="0" bIns="0">
            <a:spAutoFit/>
          </a:bodyPr>
          <a:lstStyle/>
          <a:p>
            <a:r>
              <a:rPr lang="en-SG" sz="1000" dirty="0">
                <a:solidFill>
                  <a:schemeClr val="bg1"/>
                </a:solidFill>
              </a:rPr>
              <a:t>Consider a directory entry at </a:t>
            </a:r>
            <a:r>
              <a:rPr lang="en-SG" sz="1000" b="1" i="1" dirty="0">
                <a:solidFill>
                  <a:schemeClr val="bg1"/>
                </a:solidFill>
              </a:rPr>
              <a:t>cluster 2</a:t>
            </a:r>
            <a:r>
              <a:rPr lang="en-SG" sz="1000" dirty="0">
                <a:solidFill>
                  <a:schemeClr val="bg1"/>
                </a:solidFill>
              </a:rPr>
              <a:t> at sector </a:t>
            </a:r>
            <a:r>
              <a:rPr lang="en-SG" sz="1000" b="1" i="1" dirty="0">
                <a:solidFill>
                  <a:schemeClr val="bg1"/>
                </a:solidFill>
              </a:rPr>
              <a:t>16380 </a:t>
            </a:r>
            <a:r>
              <a:rPr lang="en-SG" sz="1000" dirty="0">
                <a:solidFill>
                  <a:schemeClr val="bg1"/>
                </a:solidFill>
              </a:rPr>
              <a:t>with </a:t>
            </a:r>
            <a:r>
              <a:rPr lang="en-SG" sz="1000" b="1" i="1" dirty="0">
                <a:solidFill>
                  <a:schemeClr val="bg1"/>
                </a:solidFill>
              </a:rPr>
              <a:t>8 </a:t>
            </a:r>
            <a:r>
              <a:rPr lang="en-SG" sz="1000" dirty="0">
                <a:solidFill>
                  <a:schemeClr val="bg1"/>
                </a:solidFill>
              </a:rPr>
              <a:t>sectors per cluster </a:t>
            </a:r>
            <a:endParaRPr lang="en-SG" sz="1000" dirty="0">
              <a:solidFill>
                <a:schemeClr val="bg1"/>
              </a:solidFill>
            </a:endParaRPr>
          </a:p>
        </p:txBody>
      </p:sp>
      <p:sp>
        <p:nvSpPr>
          <p:cNvPr id="16" name="TextBox 15"/>
          <p:cNvSpPr txBox="1"/>
          <p:nvPr/>
        </p:nvSpPr>
        <p:spPr>
          <a:xfrm>
            <a:off x="0" y="1192634"/>
            <a:ext cx="7569925" cy="215444"/>
          </a:xfrm>
          <a:prstGeom prst="rect">
            <a:avLst/>
          </a:prstGeom>
          <a:noFill/>
        </p:spPr>
        <p:txBody>
          <a:bodyPr wrap="square" lIns="0" tIns="0" rIns="0" bIns="0">
            <a:spAutoFit/>
          </a:bodyPr>
          <a:lstStyle/>
          <a:p>
            <a:pPr lvl="1"/>
            <a:r>
              <a:rPr lang="en-US" sz="1400" dirty="0"/>
              <a:t>Calculate cluster address is 0x0000000(</a:t>
            </a:r>
            <a:r>
              <a:rPr lang="en-US" sz="1400" dirty="0">
                <a:solidFill>
                  <a:srgbClr val="FF0000"/>
                </a:solidFill>
              </a:rPr>
              <a:t>Cluster No. </a:t>
            </a:r>
            <a:r>
              <a:rPr lang="en-US" sz="1400" dirty="0">
                <a:solidFill>
                  <a:srgbClr val="00B0F0"/>
                </a:solidFill>
              </a:rPr>
              <a:t>- 2</a:t>
            </a:r>
            <a:r>
              <a:rPr lang="en-US" sz="1400" dirty="0"/>
              <a:t>) x (</a:t>
            </a:r>
            <a:r>
              <a:rPr lang="en-US" sz="1400" dirty="0">
                <a:solidFill>
                  <a:srgbClr val="92D050"/>
                </a:solidFill>
              </a:rPr>
              <a:t>Sectors/cluster</a:t>
            </a:r>
            <a:r>
              <a:rPr lang="en-US" sz="1400" dirty="0"/>
              <a:t>) + (sector of cluster 2)</a:t>
            </a:r>
            <a:endParaRPr lang="en-US" sz="1400" dirty="0"/>
          </a:p>
        </p:txBody>
      </p:sp>
      <p:sp>
        <p:nvSpPr>
          <p:cNvPr id="25" name="TextBox 24"/>
          <p:cNvSpPr txBox="1"/>
          <p:nvPr/>
        </p:nvSpPr>
        <p:spPr>
          <a:xfrm>
            <a:off x="6126480" y="1658977"/>
            <a:ext cx="2642615" cy="201168"/>
          </a:xfrm>
          <a:prstGeom prst="rect">
            <a:avLst/>
          </a:prstGeom>
          <a:noFill/>
        </p:spPr>
        <p:txBody>
          <a:bodyPr wrap="square" lIns="0" tIns="0" rIns="0" bIns="0">
            <a:spAutoFit/>
          </a:bodyPr>
          <a:lstStyle/>
          <a:p>
            <a:pPr algn="l"/>
            <a:r>
              <a:rPr sz="1000" b="1" i="0">
                <a:solidFill>
                  <a:srgbClr val="FFFFFF"/>
                </a:solidFill>
                <a:latin typeface="Trebuchet MS" panose="020B0603020202020204" pitchFamily="34" charset="0"/>
              </a:rPr>
              <a:t>3  File Data Clusters</a:t>
            </a:r>
            <a:endParaRPr sz="1000" b="1" i="0">
              <a:solidFill>
                <a:srgbClr val="FFFFFF"/>
              </a:solidFill>
              <a:latin typeface="Trebuchet MS" panose="020B0603020202020204" pitchFamily="34" charset="0"/>
            </a:endParaRPr>
          </a:p>
        </p:txBody>
      </p:sp>
      <p:grpSp>
        <p:nvGrpSpPr>
          <p:cNvPr id="3" name="Group 2"/>
          <p:cNvGrpSpPr/>
          <p:nvPr/>
        </p:nvGrpSpPr>
        <p:grpSpPr>
          <a:xfrm>
            <a:off x="297819" y="1690495"/>
            <a:ext cx="8676000" cy="975117"/>
            <a:chOff x="-2956240" y="5850148"/>
            <a:chExt cx="8676000" cy="975117"/>
          </a:xfrm>
        </p:grpSpPr>
        <p:sp>
          <p:nvSpPr>
            <p:cNvPr id="31" name="Rectangle 30"/>
            <p:cNvSpPr/>
            <p:nvPr/>
          </p:nvSpPr>
          <p:spPr>
            <a:xfrm>
              <a:off x="-2956240" y="5850148"/>
              <a:ext cx="8676000" cy="523220"/>
            </a:xfrm>
            <a:prstGeom prst="rect">
              <a:avLst/>
            </a:prstGeom>
          </p:spPr>
          <p:txBody>
            <a:bodyPr wrap="square">
              <a:spAutoFit/>
            </a:bodyPr>
            <a:lstStyle/>
            <a:p>
              <a:r>
                <a:rPr lang="en-SG" sz="1400" dirty="0">
                  <a:latin typeface="Courier New" panose="02070309020205020404" pitchFamily="49" charset="0"/>
                  <a:cs typeface="Courier New" panose="02070309020205020404" pitchFamily="49" charset="0"/>
                </a:rPr>
                <a:t>007FF9A0   E5 52 41 4E 47 45 7E 31  4A 50 47 20 00 64 C7 4D    .RANGE~1JPG .</a:t>
              </a:r>
              <a:r>
                <a:rPr lang="en-SG" sz="1400" dirty="0" err="1">
                  <a:latin typeface="Courier New" panose="02070309020205020404" pitchFamily="49" charset="0"/>
                  <a:cs typeface="Courier New" panose="02070309020205020404" pitchFamily="49" charset="0"/>
                </a:rPr>
                <a:t>d.M</a:t>
              </a:r>
              <a:endParaRPr lang="en-SG" sz="1400" dirty="0">
                <a:latin typeface="Courier New" panose="02070309020205020404" pitchFamily="49" charset="0"/>
                <a:cs typeface="Courier New" panose="02070309020205020404" pitchFamily="49" charset="0"/>
              </a:endParaRPr>
            </a:p>
            <a:p>
              <a:r>
                <a:rPr lang="en-SG" sz="1400" dirty="0">
                  <a:latin typeface="Courier New" panose="02070309020205020404" pitchFamily="49" charset="0"/>
                  <a:cs typeface="Courier New" panose="02070309020205020404" pitchFamily="49" charset="0"/>
                </a:rPr>
                <a:t>007FF9B0   CF 3E CF 3E 00 00 A8 8B  CA 3A 06 00 ED 18 00 00    .&gt;.&gt;.....:......</a:t>
              </a:r>
              <a:endParaRPr lang="en-SG" sz="1400" dirty="0">
                <a:latin typeface="Courier New" panose="02070309020205020404" pitchFamily="49" charset="0"/>
                <a:cs typeface="Courier New" panose="02070309020205020404" pitchFamily="49" charset="0"/>
              </a:endParaRPr>
            </a:p>
          </p:txBody>
        </p:sp>
        <p:sp>
          <p:nvSpPr>
            <p:cNvPr id="32" name="Rectangle 31"/>
            <p:cNvSpPr/>
            <p:nvPr/>
          </p:nvSpPr>
          <p:spPr bwMode="auto">
            <a:xfrm>
              <a:off x="1600968" y="6078528"/>
              <a:ext cx="586724" cy="242438"/>
            </a:xfrm>
            <a:prstGeom prst="rect">
              <a:avLst/>
            </a:prstGeom>
            <a:noFill/>
            <a:ln w="28575" cap="sq" cmpd="sng" algn="ctr">
              <a:solidFill>
                <a:srgbClr val="FF0000"/>
              </a:solidFill>
              <a:prstDash val="solid"/>
              <a:round/>
              <a:headEnd type="none" w="sm" len="sm"/>
              <a:tailEnd type="none" w="sm" len="sm"/>
            </a:ln>
            <a:effectLst/>
          </p:spPr>
          <p:txBody>
            <a:bodyPr vert="horz" wrap="none" lIns="68598" tIns="34299" rIns="68598" bIns="34299" numCol="1" rtlCol="0" anchor="t" anchorCtr="0" compatLnSpc="1"/>
            <a:lstStyle/>
            <a:p>
              <a:pPr defTabSz="685800" fontAlgn="base">
                <a:spcBef>
                  <a:spcPct val="0"/>
                </a:spcBef>
                <a:spcAft>
                  <a:spcPct val="0"/>
                </a:spcAft>
              </a:pPr>
              <a:endParaRPr lang="en-SG" sz="1800">
                <a:latin typeface="Times New Roman" panose="02020603050405020304" pitchFamily="18" charset="0"/>
              </a:endParaRPr>
            </a:p>
          </p:txBody>
        </p:sp>
        <p:sp>
          <p:nvSpPr>
            <p:cNvPr id="33" name="Rectangle 32"/>
            <p:cNvSpPr/>
            <p:nvPr/>
          </p:nvSpPr>
          <p:spPr bwMode="auto">
            <a:xfrm>
              <a:off x="-401704" y="6078528"/>
              <a:ext cx="540000" cy="242438"/>
            </a:xfrm>
            <a:prstGeom prst="rect">
              <a:avLst/>
            </a:prstGeom>
            <a:noFill/>
            <a:ln w="28575" cap="sq" cmpd="sng" algn="ctr">
              <a:solidFill>
                <a:srgbClr val="FF0000"/>
              </a:solidFill>
              <a:prstDash val="solid"/>
              <a:round/>
              <a:headEnd type="none" w="sm" len="sm"/>
              <a:tailEnd type="none" w="sm" len="sm"/>
            </a:ln>
            <a:effectLst/>
          </p:spPr>
          <p:txBody>
            <a:bodyPr vert="horz" wrap="none" lIns="68598" tIns="34299" rIns="68598" bIns="34299" numCol="1" rtlCol="0" anchor="t" anchorCtr="0" compatLnSpc="1"/>
            <a:lstStyle/>
            <a:p>
              <a:pPr defTabSz="685800" fontAlgn="base">
                <a:spcBef>
                  <a:spcPct val="0"/>
                </a:spcBef>
                <a:spcAft>
                  <a:spcPct val="0"/>
                </a:spcAft>
              </a:pPr>
              <a:endParaRPr lang="en-SG" sz="1800">
                <a:latin typeface="Times New Roman" panose="02020603050405020304" pitchFamily="18" charset="0"/>
              </a:endParaRPr>
            </a:p>
          </p:txBody>
        </p:sp>
        <p:sp>
          <p:nvSpPr>
            <p:cNvPr id="34" name="Rounded Rectangle 23"/>
            <p:cNvSpPr/>
            <p:nvPr/>
          </p:nvSpPr>
          <p:spPr bwMode="auto">
            <a:xfrm>
              <a:off x="2241032" y="6080446"/>
              <a:ext cx="1188000" cy="242438"/>
            </a:xfrm>
            <a:prstGeom prst="roundRect">
              <a:avLst/>
            </a:prstGeom>
            <a:noFill/>
            <a:ln w="28575" cap="sq" cmpd="sng" algn="ctr">
              <a:solidFill>
                <a:srgbClr val="FF0000"/>
              </a:solidFill>
              <a:prstDash val="solid"/>
              <a:round/>
              <a:headEnd type="none" w="sm" len="sm"/>
              <a:tailEnd type="none" w="sm" len="sm"/>
            </a:ln>
            <a:effectLst/>
          </p:spPr>
          <p:txBody>
            <a:bodyPr vert="horz" wrap="none" lIns="68598" tIns="34299" rIns="68598" bIns="34299" numCol="1" rtlCol="0" anchor="t" anchorCtr="0" compatLnSpc="1"/>
            <a:lstStyle/>
            <a:p>
              <a:pPr defTabSz="685800" fontAlgn="base">
                <a:spcBef>
                  <a:spcPct val="0"/>
                </a:spcBef>
                <a:spcAft>
                  <a:spcPct val="0"/>
                </a:spcAft>
              </a:pPr>
              <a:endParaRPr lang="en-SG" sz="1800">
                <a:latin typeface="Times New Roman" panose="02020603050405020304" pitchFamily="18" charset="0"/>
              </a:endParaRPr>
            </a:p>
          </p:txBody>
        </p:sp>
        <p:sp>
          <p:nvSpPr>
            <p:cNvPr id="35" name="TextBox 34"/>
            <p:cNvSpPr txBox="1"/>
            <p:nvPr/>
          </p:nvSpPr>
          <p:spPr>
            <a:xfrm>
              <a:off x="-951695" y="6455933"/>
              <a:ext cx="3434774" cy="369332"/>
            </a:xfrm>
            <a:prstGeom prst="rect">
              <a:avLst/>
            </a:prstGeom>
            <a:noFill/>
          </p:spPr>
          <p:txBody>
            <a:bodyPr wrap="square" rtlCol="0">
              <a:spAutoFit/>
            </a:bodyPr>
            <a:lstStyle/>
            <a:p>
              <a:pPr algn="ctr"/>
              <a:r>
                <a:rPr lang="en-SG" dirty="0">
                  <a:solidFill>
                    <a:srgbClr val="FF0000"/>
                  </a:solidFill>
                </a:rPr>
                <a:t>First Cluster Address</a:t>
              </a:r>
              <a:endParaRPr lang="en-SG" dirty="0">
                <a:solidFill>
                  <a:srgbClr val="FF0000"/>
                </a:solidFill>
              </a:endParaRPr>
            </a:p>
          </p:txBody>
        </p:sp>
        <p:cxnSp>
          <p:nvCxnSpPr>
            <p:cNvPr id="36" name="Straight Arrow Connector 35"/>
            <p:cNvCxnSpPr/>
            <p:nvPr/>
          </p:nvCxnSpPr>
          <p:spPr>
            <a:xfrm flipH="1" flipV="1">
              <a:off x="40640" y="6373368"/>
              <a:ext cx="261659" cy="17063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endCxn id="32" idx="2"/>
            </p:cNvCxnSpPr>
            <p:nvPr/>
          </p:nvCxnSpPr>
          <p:spPr>
            <a:xfrm flipV="1">
              <a:off x="1773500" y="6320966"/>
              <a:ext cx="120830" cy="21299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2155385" y="6423440"/>
              <a:ext cx="1359293" cy="369332"/>
            </a:xfrm>
            <a:prstGeom prst="rect">
              <a:avLst/>
            </a:prstGeom>
            <a:noFill/>
          </p:spPr>
          <p:txBody>
            <a:bodyPr wrap="square" rtlCol="0">
              <a:spAutoFit/>
            </a:bodyPr>
            <a:lstStyle/>
            <a:p>
              <a:pPr algn="ctr"/>
              <a:r>
                <a:rPr lang="en-SG" dirty="0">
                  <a:solidFill>
                    <a:srgbClr val="FF0000"/>
                  </a:solidFill>
                </a:rPr>
                <a:t>File Size</a:t>
              </a:r>
              <a:endParaRPr lang="en-SG" dirty="0">
                <a:solidFill>
                  <a:srgbClr val="FF0000"/>
                </a:solidFill>
              </a:endParaRPr>
            </a:p>
          </p:txBody>
        </p:sp>
        <p:cxnSp>
          <p:nvCxnSpPr>
            <p:cNvPr id="39" name="Straight Arrow Connector 38"/>
            <p:cNvCxnSpPr>
              <a:endCxn id="34" idx="2"/>
            </p:cNvCxnSpPr>
            <p:nvPr/>
          </p:nvCxnSpPr>
          <p:spPr>
            <a:xfrm flipV="1">
              <a:off x="2784608" y="6322884"/>
              <a:ext cx="50424" cy="21108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40" name="Rectangle 39"/>
          <p:cNvSpPr/>
          <p:nvPr/>
        </p:nvSpPr>
        <p:spPr>
          <a:xfrm>
            <a:off x="497128" y="2634636"/>
            <a:ext cx="1547218" cy="461665"/>
          </a:xfrm>
          <a:prstGeom prst="rect">
            <a:avLst/>
          </a:prstGeom>
          <a:noFill/>
        </p:spPr>
        <p:txBody>
          <a:bodyPr wrap="none" lIns="91440" tIns="45720" rIns="91440" bIns="45720">
            <a:spAutoFit/>
          </a:bodyPr>
          <a:lstStyle/>
          <a:p>
            <a:pPr algn="ctr"/>
            <a:r>
              <a:rPr lang="en-US" sz="2400" i="1" cap="none" spc="0" dirty="0">
                <a:ln w="0"/>
                <a:solidFill>
                  <a:srgbClr val="FF0000"/>
                </a:solidFill>
                <a:effectLst>
                  <a:outerShdw blurRad="38100" dist="19050" dir="2700000" algn="tl" rotWithShape="0">
                    <a:schemeClr val="dk1">
                      <a:alpha val="40000"/>
                    </a:schemeClr>
                  </a:outerShdw>
                </a:effectLst>
              </a:rPr>
              <a:t>Example :</a:t>
            </a:r>
            <a:endParaRPr lang="en-US" sz="2400" i="1" dirty="0">
              <a:solidFill>
                <a:srgbClr val="FF0000"/>
              </a:solidFill>
            </a:endParaRPr>
          </a:p>
        </p:txBody>
      </p:sp>
      <p:graphicFrame>
        <p:nvGraphicFramePr>
          <p:cNvPr id="41" name="Table 41"/>
          <p:cNvGraphicFramePr>
            <a:graphicFrameLocks noGrp="1"/>
          </p:cNvGraphicFramePr>
          <p:nvPr/>
        </p:nvGraphicFramePr>
        <p:xfrm>
          <a:off x="2126100" y="2648029"/>
          <a:ext cx="5274602" cy="741680"/>
        </p:xfrm>
        <a:graphic>
          <a:graphicData uri="http://schemas.openxmlformats.org/drawingml/2006/table">
            <a:tbl>
              <a:tblPr bandRow="1">
                <a:tableStyleId>{5C22544A-7EE6-4342-B048-85BDC9FD1C3A}</a:tableStyleId>
              </a:tblPr>
              <a:tblGrid>
                <a:gridCol w="1821181"/>
                <a:gridCol w="3453421"/>
              </a:tblGrid>
              <a:tr h="370840">
                <a:tc>
                  <a:txBody>
                    <a:bodyPr/>
                    <a:lstStyle/>
                    <a:p>
                      <a:r>
                        <a:rPr lang="en-US" sz="1800" b="0" i="1" dirty="0">
                          <a:solidFill>
                            <a:schemeClr val="tx1"/>
                          </a:solidFill>
                        </a:rPr>
                        <a:t>Cluster Address</a:t>
                      </a:r>
                      <a:endParaRPr lang="en-SG" b="0" i="1" dirty="0">
                        <a:solidFill>
                          <a:schemeClr val="tx1"/>
                        </a:solidFill>
                      </a:endParaRPr>
                    </a:p>
                  </a:txBody>
                  <a:tcPr/>
                </a:tc>
                <a:tc>
                  <a:txBody>
                    <a:bodyPr/>
                    <a:lstStyle/>
                    <a:p>
                      <a:r>
                        <a:rPr lang="en-US" sz="1800" b="0" i="1" dirty="0">
                          <a:solidFill>
                            <a:schemeClr val="tx1"/>
                          </a:solidFill>
                        </a:rPr>
                        <a:t>0x00000006</a:t>
                      </a:r>
                      <a:endParaRPr lang="en-SG" b="0" i="1" dirty="0">
                        <a:solidFill>
                          <a:schemeClr val="tx1"/>
                        </a:solidFill>
                      </a:endParaRPr>
                    </a:p>
                  </a:txBody>
                  <a:tcPr/>
                </a:tc>
              </a:tr>
              <a:tr h="370840">
                <a:tc>
                  <a:txBody>
                    <a:bodyPr/>
                    <a:lstStyle/>
                    <a:p>
                      <a:r>
                        <a:rPr lang="en-US" b="0" i="1" dirty="0">
                          <a:solidFill>
                            <a:schemeClr val="tx1"/>
                          </a:solidFill>
                        </a:rPr>
                        <a:t>Size of file</a:t>
                      </a:r>
                      <a:endParaRPr lang="en-SG" b="0" i="1" dirty="0">
                        <a:solidFill>
                          <a:schemeClr val="tx1"/>
                        </a:solidFill>
                      </a:endParaRPr>
                    </a:p>
                  </a:txBody>
                  <a:tcPr/>
                </a:tc>
                <a:tc>
                  <a:txBody>
                    <a:bodyPr/>
                    <a:lstStyle/>
                    <a:p>
                      <a:r>
                        <a:rPr lang="en-US" b="0" i="1" dirty="0">
                          <a:solidFill>
                            <a:schemeClr val="tx1"/>
                          </a:solidFill>
                        </a:rPr>
                        <a:t>0x000018ED = 6381 bytes</a:t>
                      </a:r>
                      <a:endParaRPr lang="en-SG" b="0" i="1" dirty="0">
                        <a:solidFill>
                          <a:schemeClr val="tx1"/>
                        </a:solidFill>
                      </a:endParaRPr>
                    </a:p>
                  </a:txBody>
                  <a:tcPr/>
                </a:tc>
              </a:tr>
            </a:tbl>
          </a:graphicData>
        </a:graphic>
      </p:graphicFrame>
      <p:sp>
        <p:nvSpPr>
          <p:cNvPr id="42" name="Rectangle: Rounded Corners 41"/>
          <p:cNvSpPr/>
          <p:nvPr/>
        </p:nvSpPr>
        <p:spPr>
          <a:xfrm>
            <a:off x="224700" y="1536680"/>
            <a:ext cx="8759279" cy="3250611"/>
          </a:xfrm>
          <a:prstGeom prst="roundRect">
            <a:avLst>
              <a:gd name="adj" fmla="val 9478"/>
            </a:avLst>
          </a:prstGeom>
          <a:noFill/>
          <a:ln w="28575">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43" name="Group 42"/>
          <p:cNvGrpSpPr/>
          <p:nvPr/>
        </p:nvGrpSpPr>
        <p:grpSpPr>
          <a:xfrm>
            <a:off x="224700" y="3419958"/>
            <a:ext cx="8749119" cy="1262633"/>
            <a:chOff x="139793" y="4680524"/>
            <a:chExt cx="8749119" cy="1262633"/>
          </a:xfrm>
        </p:grpSpPr>
        <p:sp>
          <p:nvSpPr>
            <p:cNvPr id="44" name="Rectangle 43"/>
            <p:cNvSpPr/>
            <p:nvPr/>
          </p:nvSpPr>
          <p:spPr>
            <a:xfrm>
              <a:off x="139793" y="5235270"/>
              <a:ext cx="8749119" cy="707886"/>
            </a:xfrm>
            <a:prstGeom prst="rect">
              <a:avLst/>
            </a:prstGeom>
          </p:spPr>
          <p:txBody>
            <a:bodyPr wrap="square">
              <a:spAutoFit/>
            </a:bodyPr>
            <a:lstStyle/>
            <a:p>
              <a:pPr lvl="1"/>
              <a:r>
                <a:rPr lang="en-SG" sz="2000" dirty="0"/>
                <a:t>Starting sector address: </a:t>
              </a:r>
              <a:r>
                <a:rPr lang="en-US" sz="2000" dirty="0"/>
                <a:t>(</a:t>
              </a:r>
              <a:r>
                <a:rPr lang="en-US" sz="2000" b="1" dirty="0">
                  <a:solidFill>
                    <a:srgbClr val="FF0000"/>
                  </a:solidFill>
                </a:rPr>
                <a:t>6</a:t>
              </a:r>
              <a:r>
                <a:rPr lang="en-US" sz="2000" dirty="0">
                  <a:solidFill>
                    <a:srgbClr val="00B0F0"/>
                  </a:solidFill>
                </a:rPr>
                <a:t>-2</a:t>
              </a:r>
              <a:r>
                <a:rPr lang="en-US" sz="2000" dirty="0"/>
                <a:t>)x(</a:t>
              </a:r>
              <a:r>
                <a:rPr lang="en-US" sz="2000" b="1" dirty="0">
                  <a:solidFill>
                    <a:srgbClr val="92D050"/>
                  </a:solidFill>
                </a:rPr>
                <a:t>8</a:t>
              </a:r>
              <a:r>
                <a:rPr lang="en-US" sz="2000" dirty="0"/>
                <a:t>) + </a:t>
              </a:r>
              <a:r>
                <a:rPr lang="en-US" sz="2000" b="1" dirty="0">
                  <a:solidFill>
                    <a:schemeClr val="accent1">
                      <a:lumMod val="50000"/>
                    </a:schemeClr>
                  </a:solidFill>
                </a:rPr>
                <a:t>16380</a:t>
              </a:r>
              <a:r>
                <a:rPr lang="en-US" sz="2000" dirty="0"/>
                <a:t> = sector 16412</a:t>
              </a:r>
              <a:endParaRPr lang="en-US" sz="2000" dirty="0"/>
            </a:p>
            <a:p>
              <a:pPr lvl="1"/>
              <a:r>
                <a:rPr lang="en-US" sz="2000" dirty="0"/>
                <a:t>Number of cluster needed is 6381/4096 = 2 clusters or 16 sectors</a:t>
              </a:r>
              <a:endParaRPr lang="en-US" sz="2000" dirty="0"/>
            </a:p>
          </p:txBody>
        </p:sp>
        <p:grpSp>
          <p:nvGrpSpPr>
            <p:cNvPr id="45" name="Group 44"/>
            <p:cNvGrpSpPr/>
            <p:nvPr/>
          </p:nvGrpSpPr>
          <p:grpSpPr>
            <a:xfrm>
              <a:off x="2041193" y="4895250"/>
              <a:ext cx="1620218" cy="421734"/>
              <a:chOff x="2311702" y="3521991"/>
              <a:chExt cx="1620218" cy="421734"/>
            </a:xfrm>
          </p:grpSpPr>
          <p:sp>
            <p:nvSpPr>
              <p:cNvPr id="53" name="Rectangle 52"/>
              <p:cNvSpPr/>
              <p:nvPr/>
            </p:nvSpPr>
            <p:spPr>
              <a:xfrm>
                <a:off x="2311702" y="3521991"/>
                <a:ext cx="1373838" cy="369332"/>
              </a:xfrm>
              <a:prstGeom prst="rect">
                <a:avLst/>
              </a:prstGeom>
            </p:spPr>
            <p:txBody>
              <a:bodyPr wrap="none">
                <a:spAutoFit/>
              </a:bodyPr>
              <a:lstStyle/>
              <a:p>
                <a:r>
                  <a:rPr lang="en-US" dirty="0">
                    <a:solidFill>
                      <a:srgbClr val="FF0000"/>
                    </a:solidFill>
                  </a:rPr>
                  <a:t>Cluster No.</a:t>
                </a:r>
                <a:endParaRPr lang="en-SG" dirty="0"/>
              </a:p>
            </p:txBody>
          </p:sp>
          <p:cxnSp>
            <p:nvCxnSpPr>
              <p:cNvPr id="54" name="Straight Arrow Connector 53"/>
              <p:cNvCxnSpPr/>
              <p:nvPr/>
            </p:nvCxnSpPr>
            <p:spPr>
              <a:xfrm>
                <a:off x="3538220" y="3723615"/>
                <a:ext cx="393700" cy="22011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3548577" y="4822445"/>
              <a:ext cx="1786066" cy="503575"/>
              <a:chOff x="3541778" y="4678579"/>
              <a:chExt cx="1786066" cy="503575"/>
            </a:xfrm>
          </p:grpSpPr>
          <p:sp>
            <p:nvSpPr>
              <p:cNvPr id="51" name="Rectangle 50"/>
              <p:cNvSpPr/>
              <p:nvPr/>
            </p:nvSpPr>
            <p:spPr>
              <a:xfrm>
                <a:off x="3541778" y="4678579"/>
                <a:ext cx="1786066" cy="369332"/>
              </a:xfrm>
              <a:prstGeom prst="rect">
                <a:avLst/>
              </a:prstGeom>
            </p:spPr>
            <p:txBody>
              <a:bodyPr wrap="none">
                <a:spAutoFit/>
              </a:bodyPr>
              <a:lstStyle/>
              <a:p>
                <a:r>
                  <a:rPr lang="en-US" dirty="0">
                    <a:solidFill>
                      <a:srgbClr val="92D050"/>
                    </a:solidFill>
                  </a:rPr>
                  <a:t>Sectors/cluster</a:t>
                </a:r>
                <a:endParaRPr lang="en-SG" dirty="0">
                  <a:solidFill>
                    <a:srgbClr val="92D050"/>
                  </a:solidFill>
                </a:endParaRPr>
              </a:p>
            </p:txBody>
          </p:sp>
          <p:cxnSp>
            <p:nvCxnSpPr>
              <p:cNvPr id="52" name="Straight Arrow Connector 51"/>
              <p:cNvCxnSpPr>
                <a:stCxn id="51" idx="2"/>
              </p:cNvCxnSpPr>
              <p:nvPr/>
            </p:nvCxnSpPr>
            <p:spPr>
              <a:xfrm flipH="1">
                <a:off x="4307073" y="5047911"/>
                <a:ext cx="127738" cy="134243"/>
              </a:xfrm>
              <a:prstGeom prst="straightConnector1">
                <a:avLst/>
              </a:prstGeom>
              <a:ln w="38100">
                <a:solidFill>
                  <a:srgbClr val="92D050"/>
                </a:solidFill>
                <a:tailEnd type="triangle"/>
              </a:ln>
            </p:spPr>
            <p:style>
              <a:lnRef idx="1">
                <a:schemeClr val="accent1"/>
              </a:lnRef>
              <a:fillRef idx="0">
                <a:schemeClr val="accent1"/>
              </a:fillRef>
              <a:effectRef idx="0">
                <a:schemeClr val="accent1"/>
              </a:effectRef>
              <a:fontRef idx="minor">
                <a:schemeClr val="tx1"/>
              </a:fontRef>
            </p:style>
          </p:cxnSp>
        </p:grpSp>
        <p:sp>
          <p:nvSpPr>
            <p:cNvPr id="47" name="Rectangle 46"/>
            <p:cNvSpPr/>
            <p:nvPr/>
          </p:nvSpPr>
          <p:spPr>
            <a:xfrm>
              <a:off x="5586869" y="4959338"/>
              <a:ext cx="2061783" cy="369332"/>
            </a:xfrm>
            <a:prstGeom prst="rect">
              <a:avLst/>
            </a:prstGeom>
          </p:spPr>
          <p:txBody>
            <a:bodyPr wrap="none">
              <a:spAutoFit/>
            </a:bodyPr>
            <a:lstStyle/>
            <a:p>
              <a:r>
                <a:rPr lang="en-US" dirty="0">
                  <a:solidFill>
                    <a:srgbClr val="69240C"/>
                  </a:solidFill>
                </a:rPr>
                <a:t>Sector of cluster 2</a:t>
              </a:r>
              <a:endParaRPr lang="en-SG" dirty="0">
                <a:solidFill>
                  <a:srgbClr val="69240C"/>
                </a:solidFill>
              </a:endParaRPr>
            </a:p>
          </p:txBody>
        </p:sp>
        <p:cxnSp>
          <p:nvCxnSpPr>
            <p:cNvPr id="48" name="Straight Arrow Connector 47"/>
            <p:cNvCxnSpPr/>
            <p:nvPr/>
          </p:nvCxnSpPr>
          <p:spPr>
            <a:xfrm flipH="1">
              <a:off x="5455905" y="5150999"/>
              <a:ext cx="137478" cy="186707"/>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9" name="Rectangle: Rounded Corners 48"/>
            <p:cNvSpPr/>
            <p:nvPr/>
          </p:nvSpPr>
          <p:spPr>
            <a:xfrm>
              <a:off x="457200" y="4695429"/>
              <a:ext cx="8001000" cy="1247728"/>
            </a:xfrm>
            <a:prstGeom prst="roundRect">
              <a:avLst>
                <a:gd name="adj" fmla="val 9478"/>
              </a:avLst>
            </a:prstGeom>
            <a:noFill/>
            <a:ln w="28575">
              <a:solidFill>
                <a:srgbClr val="FFC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0" name="Rectangle 49"/>
            <p:cNvSpPr/>
            <p:nvPr/>
          </p:nvSpPr>
          <p:spPr>
            <a:xfrm>
              <a:off x="552926" y="4680524"/>
              <a:ext cx="1667444" cy="400110"/>
            </a:xfrm>
            <a:prstGeom prst="rect">
              <a:avLst/>
            </a:prstGeom>
            <a:noFill/>
          </p:spPr>
          <p:txBody>
            <a:bodyPr wrap="none" lIns="91440" tIns="45720" rIns="91440" bIns="45720">
              <a:spAutoFit/>
            </a:bodyPr>
            <a:lstStyle/>
            <a:p>
              <a:pPr algn="ctr"/>
              <a:r>
                <a:rPr lang="en-US" sz="2000" b="0" cap="none" spc="0" dirty="0">
                  <a:ln w="0"/>
                  <a:solidFill>
                    <a:srgbClr val="0070C0"/>
                  </a:solidFill>
                  <a:effectLst>
                    <a:outerShdw blurRad="38100" dist="19050" dir="2700000" algn="tl" rotWithShape="0">
                      <a:schemeClr val="dk1">
                        <a:alpha val="40000"/>
                      </a:schemeClr>
                    </a:outerShdw>
                  </a:effectLst>
                </a:rPr>
                <a:t>Calculation :</a:t>
              </a:r>
              <a:endParaRPr lang="en-US" sz="2000" b="1" i="1" dirty="0">
                <a:solidFill>
                  <a:srgbClr val="0070C0"/>
                </a:solidFill>
              </a:endParaRPr>
            </a:p>
          </p:txBody>
        </p:sp>
      </p:grpSp>
      <p:grpSp>
        <p:nvGrpSpPr>
          <p:cNvPr id="55" name="Group 54"/>
          <p:cNvGrpSpPr/>
          <p:nvPr/>
        </p:nvGrpSpPr>
        <p:grpSpPr>
          <a:xfrm>
            <a:off x="4270826" y="2635939"/>
            <a:ext cx="2730057" cy="369332"/>
            <a:chOff x="4185919" y="2922419"/>
            <a:chExt cx="2730057" cy="369332"/>
          </a:xfrm>
        </p:grpSpPr>
        <p:sp>
          <p:nvSpPr>
            <p:cNvPr id="56" name="TextBox 55"/>
            <p:cNvSpPr txBox="1"/>
            <p:nvPr/>
          </p:nvSpPr>
          <p:spPr>
            <a:xfrm>
              <a:off x="5258078" y="2922419"/>
              <a:ext cx="1657898" cy="369332"/>
            </a:xfrm>
            <a:prstGeom prst="rect">
              <a:avLst/>
            </a:prstGeom>
            <a:noFill/>
          </p:spPr>
          <p:txBody>
            <a:bodyPr wrap="square" rtlCol="0">
              <a:spAutoFit/>
            </a:bodyPr>
            <a:lstStyle/>
            <a:p>
              <a:pPr algn="ctr"/>
              <a:r>
                <a:rPr lang="en-SG" dirty="0">
                  <a:solidFill>
                    <a:srgbClr val="FF0000"/>
                  </a:solidFill>
                </a:rPr>
                <a:t>Cluster No.</a:t>
              </a:r>
              <a:endParaRPr lang="en-SG" dirty="0">
                <a:solidFill>
                  <a:srgbClr val="FF0000"/>
                </a:solidFill>
              </a:endParaRPr>
            </a:p>
          </p:txBody>
        </p:sp>
        <p:sp>
          <p:nvSpPr>
            <p:cNvPr id="57" name="Rectangle 56"/>
            <p:cNvSpPr/>
            <p:nvPr/>
          </p:nvSpPr>
          <p:spPr bwMode="auto">
            <a:xfrm>
              <a:off x="4185919" y="2994228"/>
              <a:ext cx="1072159" cy="280282"/>
            </a:xfrm>
            <a:prstGeom prst="rect">
              <a:avLst/>
            </a:prstGeom>
            <a:noFill/>
            <a:ln w="28575" cap="sq" cmpd="sng" algn="ctr">
              <a:solidFill>
                <a:srgbClr val="FF0000"/>
              </a:solidFill>
              <a:prstDash val="solid"/>
              <a:round/>
              <a:headEnd type="none" w="sm" len="sm"/>
              <a:tailEnd type="none" w="sm" len="sm"/>
            </a:ln>
            <a:effectLst/>
          </p:spPr>
          <p:txBody>
            <a:bodyPr vert="horz" wrap="none" lIns="68598" tIns="34299" rIns="68598" bIns="34299" numCol="1" rtlCol="0" anchor="t" anchorCtr="0" compatLnSpc="1"/>
            <a:lstStyle/>
            <a:p>
              <a:pPr defTabSz="685800" fontAlgn="base">
                <a:spcBef>
                  <a:spcPct val="0"/>
                </a:spcBef>
                <a:spcAft>
                  <a:spcPct val="0"/>
                </a:spcAft>
              </a:pPr>
              <a:endParaRPr lang="en-SG" sz="1800">
                <a:latin typeface="Times New Roman" panose="02020603050405020304" pitchFamily="18" charset="0"/>
              </a:endParaRPr>
            </a:p>
          </p:txBody>
        </p:sp>
      </p:grpSp>
      <p:sp>
        <p:nvSpPr>
          <p:cNvPr id="58" name="Rectangle 57"/>
          <p:cNvSpPr/>
          <p:nvPr/>
        </p:nvSpPr>
        <p:spPr>
          <a:xfrm>
            <a:off x="-56185" y="4769005"/>
            <a:ext cx="9144000" cy="261610"/>
          </a:xfrm>
          <a:prstGeom prst="rect">
            <a:avLst/>
          </a:prstGeom>
        </p:spPr>
        <p:txBody>
          <a:bodyPr wrap="square">
            <a:spAutoFit/>
          </a:bodyPr>
          <a:lstStyle/>
          <a:p>
            <a:pPr lvl="1"/>
            <a:r>
              <a:rPr lang="en-US" sz="1100" i="1" dirty="0">
                <a:cs typeface="Arial" panose="020B0604020202020204" pitchFamily="34" charset="0"/>
              </a:rPr>
              <a:t>E.g. Using dd to extract the data using: </a:t>
            </a:r>
            <a:r>
              <a:rPr lang="en-US" sz="1100" i="1" dirty="0">
                <a:latin typeface="Courier New" panose="02070309020205020404" pitchFamily="49" charset="0"/>
                <a:cs typeface="Arial" panose="020B0604020202020204" pitchFamily="34" charset="0"/>
              </a:rPr>
              <a:t># </a:t>
            </a:r>
            <a:r>
              <a:rPr lang="en-US" sz="1100" i="1" dirty="0">
                <a:latin typeface="Courier New" panose="02070309020205020404" pitchFamily="49" charset="0"/>
                <a:cs typeface="Courier New" panose="02070309020205020404" pitchFamily="49" charset="0"/>
              </a:rPr>
              <a:t>dd if=/dev/sda1 of=./orange.jpg skip=16412 count=16</a:t>
            </a:r>
            <a:r>
              <a:rPr lang="en-US" sz="1100" i="1" dirty="0">
                <a:cs typeface="Arial" panose="020B0604020202020204" pitchFamily="34" charset="0"/>
              </a:rPr>
              <a:t> </a:t>
            </a:r>
            <a:endParaRPr lang="en-SG" sz="1100"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2"/>
                                        </p:tgtEl>
                                        <p:attrNameLst>
                                          <p:attrName>style.visibility</p:attrName>
                                        </p:attrNameLst>
                                      </p:cBhvr>
                                      <p:to>
                                        <p:strVal val="visible"/>
                                      </p:to>
                                    </p:set>
                                    <p:animEffect transition="in" filter="fade">
                                      <p:cBhvr>
                                        <p:cTn id="10" dur="500"/>
                                        <p:tgtEl>
                                          <p:spTgt spid="4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0"/>
                                        </p:tgtEl>
                                        <p:attrNameLst>
                                          <p:attrName>style.visibility</p:attrName>
                                        </p:attrNameLst>
                                      </p:cBhvr>
                                      <p:to>
                                        <p:strVal val="visible"/>
                                      </p:to>
                                    </p:set>
                                    <p:animEffect transition="in" filter="fade">
                                      <p:cBhvr>
                                        <p:cTn id="15" dur="500"/>
                                        <p:tgtEl>
                                          <p:spTgt spid="40"/>
                                        </p:tgtEl>
                                      </p:cBhvr>
                                    </p:animEffect>
                                  </p:childTnLst>
                                </p:cTn>
                              </p:par>
                              <p:par>
                                <p:cTn id="16" presetID="10" presetClass="entr" presetSubtype="0" fill="hold" nodeType="withEffect">
                                  <p:stCondLst>
                                    <p:cond delay="0"/>
                                  </p:stCondLst>
                                  <p:childTnLst>
                                    <p:set>
                                      <p:cBhvr>
                                        <p:cTn id="17" dur="1" fill="hold">
                                          <p:stCondLst>
                                            <p:cond delay="0"/>
                                          </p:stCondLst>
                                        </p:cTn>
                                        <p:tgtEl>
                                          <p:spTgt spid="55"/>
                                        </p:tgtEl>
                                        <p:attrNameLst>
                                          <p:attrName>style.visibility</p:attrName>
                                        </p:attrNameLst>
                                      </p:cBhvr>
                                      <p:to>
                                        <p:strVal val="visible"/>
                                      </p:to>
                                    </p:set>
                                    <p:animEffect transition="in" filter="fade">
                                      <p:cBhvr>
                                        <p:cTn id="18" dur="500"/>
                                        <p:tgtEl>
                                          <p:spTgt spid="55"/>
                                        </p:tgtEl>
                                      </p:cBhvr>
                                    </p:animEffect>
                                  </p:childTnLst>
                                </p:cTn>
                              </p:par>
                              <p:par>
                                <p:cTn id="19" presetID="10" presetClass="entr" presetSubtype="0" fill="hold" nodeType="with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fade">
                                      <p:cBhvr>
                                        <p:cTn id="21" dur="500"/>
                                        <p:tgtEl>
                                          <p:spTgt spid="41"/>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43"/>
                                        </p:tgtEl>
                                        <p:attrNameLst>
                                          <p:attrName>style.visibility</p:attrName>
                                        </p:attrNameLst>
                                      </p:cBhvr>
                                      <p:to>
                                        <p:strVal val="visible"/>
                                      </p:to>
                                    </p:set>
                                    <p:animEffect transition="in" filter="fade">
                                      <p:cBhvr>
                                        <p:cTn id="26" dur="500"/>
                                        <p:tgtEl>
                                          <p:spTgt spid="4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58"/>
                                        </p:tgtEl>
                                        <p:attrNameLst>
                                          <p:attrName>style.visibility</p:attrName>
                                        </p:attrNameLst>
                                      </p:cBhvr>
                                      <p:to>
                                        <p:strVal val="visible"/>
                                      </p:to>
                                    </p:set>
                                    <p:animEffect transition="in" filter="fade">
                                      <p:cBhvr>
                                        <p:cTn id="31"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2" grpId="0" animBg="1"/>
      <p:bldP spid="58" grpId="0"/>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011680"/>
          </a:xfrm>
          <a:prstGeom prst="rect">
            <a:avLst/>
          </a:prstGeom>
          <a:solidFill>
            <a:srgbClr val="6366F1"/>
          </a:solidFill>
          <a:ln w="12700">
            <a:solidFill>
              <a:srgbClr val="6366F1"/>
            </a:solidFill>
            <a:prstDash val="solid"/>
          </a:ln>
        </p:spPr>
        <p:txBody>
          <a:bodyPr/>
          <a:lstStyle/>
          <a:p>
            <a:endParaRPr lang="en-SG"/>
          </a:p>
        </p:txBody>
      </p:sp>
      <p:sp>
        <p:nvSpPr>
          <p:cNvPr id="3" name="Text 1"/>
          <p:cNvSpPr/>
          <p:nvPr/>
        </p:nvSpPr>
        <p:spPr>
          <a:xfrm>
            <a:off x="457200" y="164592"/>
            <a:ext cx="8229600" cy="384048"/>
          </a:xfrm>
          <a:prstGeom prst="rect">
            <a:avLst/>
          </a:prstGeom>
          <a:noFill/>
        </p:spPr>
        <p:txBody>
          <a:bodyPr wrap="square" lIns="0" tIns="0" rIns="0" bIns="0" rtlCol="0" anchor="ctr"/>
          <a:lstStyle/>
          <a:p>
            <a:pPr marL="0" indent="0">
              <a:buNone/>
            </a:pPr>
            <a:r>
              <a:rPr lang="en-US" sz="1400" b="1" kern="0" spc="400"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Week 3</a:t>
            </a:r>
            <a:endParaRPr lang="en-US" sz="1400" dirty="0"/>
          </a:p>
        </p:txBody>
      </p:sp>
      <p:sp>
        <p:nvSpPr>
          <p:cNvPr id="4" name="Text 2"/>
          <p:cNvSpPr/>
          <p:nvPr/>
        </p:nvSpPr>
        <p:spPr>
          <a:xfrm>
            <a:off x="457200" y="566928"/>
            <a:ext cx="8229600" cy="1280160"/>
          </a:xfrm>
          <a:prstGeom prst="rect">
            <a:avLst/>
          </a:prstGeom>
          <a:noFill/>
        </p:spPr>
        <p:txBody>
          <a:bodyPr wrap="square" lIns="0" tIns="0" rIns="0" bIns="0" rtlCol="0" anchor="ctr"/>
          <a:lstStyle/>
          <a:p>
            <a:r>
              <a:rPr lang="en-US" sz="5200" b="1" dirty="0">
                <a:solidFill>
                  <a:srgbClr val="000000"/>
                </a:solidFill>
                <a:latin typeface="Trebuchet MS" panose="020B0603020202020204"/>
              </a:rPr>
              <a:t>Supplementar</a:t>
            </a:r>
            <a:r>
              <a:rPr lang="en-US" sz="5200" b="1">
                <a:solidFill>
                  <a:srgbClr val="000000"/>
                </a:solidFill>
                <a:latin typeface="Trebuchet MS" panose="020B0603020202020204"/>
              </a:rPr>
              <a:t>y Slides</a:t>
            </a:r>
            <a:endParaRPr lang="en-US" sz="5200" b="1">
              <a:solidFill>
                <a:srgbClr val="000000"/>
              </a:solidFill>
              <a:latin typeface="Trebuchet MS" panose="020B0603020202020204"/>
            </a:endParaRPr>
          </a:p>
          <a:p>
            <a:r>
              <a:rPr lang="en-US" sz="2000" b="1">
                <a:latin typeface="Trebuchet MS" panose="020B0603020202020204"/>
              </a:rPr>
              <a:t>(Not Tested)</a:t>
            </a:r>
            <a:endParaRPr lang="en-US" sz="2000" b="1" dirty="0">
              <a:latin typeface="Trebuchet MS" panose="020B0603020202020204"/>
            </a:endParaRPr>
          </a:p>
        </p:txBody>
      </p:sp>
      <p:sp>
        <p:nvSpPr>
          <p:cNvPr id="5" name="Text 3"/>
          <p:cNvSpPr/>
          <p:nvPr/>
        </p:nvSpPr>
        <p:spPr>
          <a:xfrm>
            <a:off x="457200" y="1737360"/>
            <a:ext cx="8229600" cy="347472"/>
          </a:xfrm>
          <a:prstGeom prst="rect">
            <a:avLst/>
          </a:prstGeom>
          <a:noFill/>
        </p:spPr>
        <p:txBody>
          <a:bodyPr wrap="square" lIns="0" tIns="0" rIns="0" bIns="0" rtlCol="0" anchor="ctr"/>
          <a:lstStyle/>
          <a:p>
            <a:pPr marL="0" indent="0">
              <a:buNone/>
            </a:pPr>
            <a:r>
              <a:rPr lang="en-US" sz="1400" strike="sngStrike" kern="0" spc="200" dirty="0">
                <a:solidFill>
                  <a:srgbClr val="000000"/>
                </a:solidFill>
                <a:latin typeface="Calibri" panose="020F0502020204030204"/>
                <a:ea typeface="Calibri" panose="020F0502020204030204"/>
                <a:cs typeface="Calibri" panose="020F0502020204030204"/>
              </a:rPr>
              <a:t>FAT </a:t>
            </a:r>
            <a:r>
              <a:rPr lang="en-US" sz="1400" kern="0" spc="200" dirty="0">
                <a:solidFill>
                  <a:srgbClr val="000000"/>
                </a:solidFill>
                <a:latin typeface="Calibri" panose="020F0502020204030204"/>
                <a:ea typeface="Calibri" panose="020F0502020204030204"/>
                <a:cs typeface="Calibri" panose="020F0502020204030204"/>
              </a:rPr>
              <a:t>· NTFS · </a:t>
            </a:r>
            <a:r>
              <a:rPr lang="en-US" sz="1400" kern="0" spc="200" dirty="0" err="1">
                <a:solidFill>
                  <a:srgbClr val="000000"/>
                </a:solidFill>
                <a:latin typeface="Calibri" panose="020F0502020204030204"/>
                <a:ea typeface="Calibri" panose="020F0502020204030204"/>
                <a:cs typeface="Calibri" panose="020F0502020204030204"/>
              </a:rPr>
              <a:t>ReFS</a:t>
            </a:r>
            <a:r>
              <a:rPr lang="en-US" sz="1400" kern="0" spc="200" dirty="0">
                <a:solidFill>
                  <a:srgbClr val="000000"/>
                </a:solidFill>
                <a:latin typeface="Calibri" panose="020F0502020204030204"/>
                <a:ea typeface="Calibri" panose="020F0502020204030204"/>
                <a:cs typeface="Calibri" panose="020F0502020204030204"/>
              </a:rPr>
              <a:t> · EXT4 · APFS</a:t>
            </a:r>
            <a:endParaRPr lang="en-US" sz="1400" dirty="0">
              <a:latin typeface="Calibri" panose="020F0502020204030204"/>
              <a:ea typeface="Calibri" panose="020F0502020204030204"/>
              <a:cs typeface="Calibri" panose="020F0502020204030204"/>
            </a:endParaRPr>
          </a:p>
        </p:txBody>
      </p:sp>
      <p:sp>
        <p:nvSpPr>
          <p:cNvPr id="6" name="Shape 4"/>
          <p:cNvSpPr/>
          <p:nvPr/>
        </p:nvSpPr>
        <p:spPr>
          <a:xfrm>
            <a:off x="457200" y="2286000"/>
            <a:ext cx="1956816" cy="548640"/>
          </a:xfrm>
          <a:prstGeom prst="rect">
            <a:avLst/>
          </a:prstGeom>
          <a:solidFill>
            <a:schemeClr val="bg1">
              <a:lumMod val="50000"/>
            </a:schemeClr>
          </a:solidFill>
          <a:ln w="12700">
            <a:solidFill>
              <a:schemeClr val="bg1">
                <a:lumMod val="65000"/>
              </a:schemeClr>
            </a:solidFill>
            <a:prstDash val="solid"/>
          </a:ln>
        </p:spPr>
        <p:txBody>
          <a:bodyPr/>
          <a:lstStyle/>
          <a:p>
            <a:endParaRPr lang="en-SG"/>
          </a:p>
        </p:txBody>
      </p:sp>
      <p:sp>
        <p:nvSpPr>
          <p:cNvPr id="7" name="Text 5"/>
          <p:cNvSpPr/>
          <p:nvPr/>
        </p:nvSpPr>
        <p:spPr>
          <a:xfrm>
            <a:off x="457200" y="2286000"/>
            <a:ext cx="1956816" cy="548640"/>
          </a:xfrm>
          <a:prstGeom prst="rect">
            <a:avLst/>
          </a:prstGeom>
          <a:noFill/>
          <a:ln>
            <a:solidFill>
              <a:schemeClr val="bg1">
                <a:lumMod val="65000"/>
              </a:schemeClr>
            </a:solidFill>
          </a:ln>
        </p:spPr>
        <p:txBody>
          <a:bodyPr wrap="square" lIns="0" tIns="0" rIns="0" bIns="0" rtlCol="0" anchor="ctr"/>
          <a:lstStyle/>
          <a:p>
            <a:pPr marL="0" indent="0" algn="ctr">
              <a:buNone/>
            </a:pPr>
            <a:r>
              <a:rPr lang="en-US" sz="1200" b="1" strike="sngStrike" dirty="0">
                <a:solidFill>
                  <a:srgbClr val="1A1A2E"/>
                </a:solidFill>
                <a:latin typeface="Trebuchet MS" panose="020B0603020202020204"/>
                <a:ea typeface="Trebuchet MS" panose="020B0603020202020204" pitchFamily="34" charset="-122"/>
                <a:cs typeface="Trebuchet MS" panose="020B0603020202020204" pitchFamily="34" charset="-120"/>
              </a:rPr>
              <a:t>01  Intro</a:t>
            </a:r>
            <a:endParaRPr lang="en-US" sz="1200" strike="sngStrike" dirty="0">
              <a:latin typeface="Trebuchet MS" panose="020B0603020202020204"/>
            </a:endParaRPr>
          </a:p>
        </p:txBody>
      </p:sp>
      <p:sp>
        <p:nvSpPr>
          <p:cNvPr id="8" name="Shape 6"/>
          <p:cNvSpPr/>
          <p:nvPr/>
        </p:nvSpPr>
        <p:spPr>
          <a:xfrm>
            <a:off x="2633472" y="2286000"/>
            <a:ext cx="1956816" cy="548640"/>
          </a:xfrm>
          <a:prstGeom prst="rect">
            <a:avLst/>
          </a:prstGeom>
          <a:solidFill>
            <a:schemeClr val="bg1">
              <a:lumMod val="50000"/>
            </a:schemeClr>
          </a:solidFill>
          <a:ln w="12700">
            <a:solidFill>
              <a:schemeClr val="bg1">
                <a:lumMod val="65000"/>
              </a:schemeClr>
            </a:solidFill>
            <a:prstDash val="solid"/>
          </a:ln>
        </p:spPr>
        <p:txBody>
          <a:bodyPr/>
          <a:lstStyle/>
          <a:p>
            <a:endParaRPr lang="en-SG"/>
          </a:p>
        </p:txBody>
      </p:sp>
      <p:sp>
        <p:nvSpPr>
          <p:cNvPr id="9" name="Text 7"/>
          <p:cNvSpPr/>
          <p:nvPr/>
        </p:nvSpPr>
        <p:spPr>
          <a:xfrm>
            <a:off x="2633472" y="2286000"/>
            <a:ext cx="1956816" cy="548640"/>
          </a:xfrm>
          <a:prstGeom prst="rect">
            <a:avLst/>
          </a:prstGeom>
          <a:noFill/>
          <a:ln>
            <a:solidFill>
              <a:schemeClr val="bg1">
                <a:lumMod val="65000"/>
              </a:schemeClr>
            </a:solidFill>
          </a:ln>
        </p:spPr>
        <p:txBody>
          <a:bodyPr wrap="square" lIns="0" tIns="0" rIns="0" bIns="0" rtlCol="0" anchor="ctr"/>
          <a:lstStyle/>
          <a:p>
            <a:pPr marL="0" indent="0" algn="ctr">
              <a:buNone/>
            </a:pPr>
            <a:r>
              <a:rPr lang="en-US" sz="1200" b="1" strike="sngStrike" dirty="0">
                <a:solidFill>
                  <a:srgbClr val="1A1A2E"/>
                </a:solidFill>
                <a:latin typeface="Trebuchet MS" panose="020B0603020202020204"/>
                <a:ea typeface="Trebuchet MS" panose="020B0603020202020204" pitchFamily="34" charset="-122"/>
                <a:cs typeface="Trebuchet MS" panose="020B0603020202020204" pitchFamily="34" charset="-120"/>
              </a:rPr>
              <a:t>02  FAT</a:t>
            </a:r>
            <a:endParaRPr lang="en-US" sz="1200" strike="sngStrike">
              <a:latin typeface="Trebuchet MS" panose="020B0603020202020204"/>
              <a:ea typeface="Calibri" panose="020F0502020204030204"/>
              <a:cs typeface="Calibri" panose="020F0502020204030204"/>
            </a:endParaRPr>
          </a:p>
        </p:txBody>
      </p:sp>
      <p:sp>
        <p:nvSpPr>
          <p:cNvPr id="10" name="Shape 8"/>
          <p:cNvSpPr/>
          <p:nvPr/>
        </p:nvSpPr>
        <p:spPr>
          <a:xfrm>
            <a:off x="4809744" y="2286000"/>
            <a:ext cx="1956816" cy="548640"/>
          </a:xfrm>
          <a:prstGeom prst="rect">
            <a:avLst/>
          </a:prstGeom>
          <a:solidFill>
            <a:srgbClr val="0EA5E9">
              <a:alpha val="80000"/>
            </a:srgbClr>
          </a:solidFill>
          <a:ln w="12700">
            <a:solidFill>
              <a:srgbClr val="0EA5E9"/>
            </a:solidFill>
            <a:prstDash val="solid"/>
          </a:ln>
        </p:spPr>
        <p:txBody>
          <a:bodyPr/>
          <a:lstStyle/>
          <a:p>
            <a:endParaRPr lang="en-SG"/>
          </a:p>
        </p:txBody>
      </p:sp>
      <p:sp>
        <p:nvSpPr>
          <p:cNvPr id="11" name="Text 9"/>
          <p:cNvSpPr/>
          <p:nvPr/>
        </p:nvSpPr>
        <p:spPr>
          <a:xfrm>
            <a:off x="4809744" y="2286000"/>
            <a:ext cx="1956816" cy="548640"/>
          </a:xfrm>
          <a:prstGeom prst="rect">
            <a:avLst/>
          </a:prstGeom>
          <a:noFill/>
        </p:spPr>
        <p:txBody>
          <a:bodyPr wrap="square" lIns="0" tIns="0" rIns="0" bIns="0" rtlCol="0" anchor="ctr"/>
          <a:lstStyle/>
          <a:p>
            <a:pPr marL="0" indent="0" algn="ctr">
              <a:buNone/>
            </a:pPr>
            <a:r>
              <a:rPr lang="en-US" sz="12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03  NTFS</a:t>
            </a:r>
            <a:endParaRPr lang="en-US" sz="1200" dirty="0"/>
          </a:p>
        </p:txBody>
      </p:sp>
      <p:sp>
        <p:nvSpPr>
          <p:cNvPr id="12" name="Shape 10"/>
          <p:cNvSpPr/>
          <p:nvPr/>
        </p:nvSpPr>
        <p:spPr>
          <a:xfrm>
            <a:off x="6986016" y="2286000"/>
            <a:ext cx="1956816" cy="548640"/>
          </a:xfrm>
          <a:prstGeom prst="rect">
            <a:avLst/>
          </a:prstGeom>
          <a:solidFill>
            <a:srgbClr val="10B981">
              <a:alpha val="80000"/>
            </a:srgbClr>
          </a:solidFill>
          <a:ln w="12700">
            <a:solidFill>
              <a:srgbClr val="10B981"/>
            </a:solidFill>
            <a:prstDash val="solid"/>
          </a:ln>
        </p:spPr>
        <p:txBody>
          <a:bodyPr/>
          <a:lstStyle/>
          <a:p>
            <a:endParaRPr lang="en-SG"/>
          </a:p>
        </p:txBody>
      </p:sp>
      <p:sp>
        <p:nvSpPr>
          <p:cNvPr id="13" name="Text 11"/>
          <p:cNvSpPr/>
          <p:nvPr/>
        </p:nvSpPr>
        <p:spPr>
          <a:xfrm>
            <a:off x="6986016" y="2286000"/>
            <a:ext cx="1956816" cy="548640"/>
          </a:xfrm>
          <a:prstGeom prst="rect">
            <a:avLst/>
          </a:prstGeom>
          <a:noFill/>
        </p:spPr>
        <p:txBody>
          <a:bodyPr wrap="square" lIns="0" tIns="0" rIns="0" bIns="0" rtlCol="0" anchor="ctr"/>
          <a:lstStyle/>
          <a:p>
            <a:pPr marL="0" indent="0" algn="ctr">
              <a:buNone/>
            </a:pPr>
            <a:r>
              <a:rPr lang="en-US" sz="12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04  Other FS</a:t>
            </a:r>
            <a:endParaRPr lang="en-US" sz="1200" dirty="0"/>
          </a:p>
        </p:txBody>
      </p:sp>
      <p:sp>
        <p:nvSpPr>
          <p:cNvPr id="15" name="Text 13"/>
          <p:cNvSpPr/>
          <p:nvPr/>
        </p:nvSpPr>
        <p:spPr>
          <a:xfrm>
            <a:off x="457200" y="3401568"/>
            <a:ext cx="8229600" cy="256032"/>
          </a:xfrm>
          <a:prstGeom prst="rect">
            <a:avLst/>
          </a:prstGeom>
          <a:noFill/>
        </p:spPr>
        <p:txBody>
          <a:bodyPr wrap="square" lIns="0" tIns="0" rIns="0" bIns="0" rtlCol="0" anchor="ctr"/>
          <a:lstStyle/>
          <a:p>
            <a:pPr marL="0" indent="0">
              <a:buNone/>
            </a:pPr>
            <a:r>
              <a:rPr lang="en-US" sz="11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Learning objectives covered in this lecture:</a:t>
            </a:r>
            <a:endParaRPr lang="en-US" sz="1100" dirty="0"/>
          </a:p>
        </p:txBody>
      </p:sp>
      <p:sp>
        <p:nvSpPr>
          <p:cNvPr id="22" name="Shape 20"/>
          <p:cNvSpPr/>
          <p:nvPr/>
        </p:nvSpPr>
        <p:spPr>
          <a:xfrm>
            <a:off x="457200" y="3663345"/>
            <a:ext cx="128016" cy="128016"/>
          </a:xfrm>
          <a:prstGeom prst="line">
            <a:avLst/>
          </a:prstGeom>
          <a:solidFill>
            <a:srgbClr val="6366F1"/>
          </a:solidFill>
          <a:ln w="12700">
            <a:solidFill>
              <a:srgbClr val="6366F1"/>
            </a:solidFill>
            <a:prstDash val="solid"/>
          </a:ln>
        </p:spPr>
        <p:txBody>
          <a:bodyPr/>
          <a:lstStyle/>
          <a:p>
            <a:endParaRPr lang="en-SG"/>
          </a:p>
        </p:txBody>
      </p:sp>
      <p:sp>
        <p:nvSpPr>
          <p:cNvPr id="23" name="Text 21"/>
          <p:cNvSpPr/>
          <p:nvPr/>
        </p:nvSpPr>
        <p:spPr>
          <a:xfrm>
            <a:off x="658368" y="3645057"/>
            <a:ext cx="8028432" cy="256032"/>
          </a:xfrm>
          <a:prstGeom prst="rect">
            <a:avLst/>
          </a:prstGeom>
          <a:noFill/>
        </p:spPr>
        <p:txBody>
          <a:bodyPr wrap="square" rtlCol="0" anchor="ctr"/>
          <a:lstStyle/>
          <a:p>
            <a:pPr marL="0" indent="0">
              <a:buNone/>
            </a:pPr>
            <a:r>
              <a:rPr lang="en-US" sz="1000" dirty="0">
                <a:solidFill>
                  <a:srgbClr val="1A1A2E"/>
                </a:solidFill>
                <a:latin typeface="Calibri" panose="020F0502020204030204" pitchFamily="34" charset="0"/>
                <a:ea typeface="Calibri" panose="020F0502020204030204" pitchFamily="34" charset="-122"/>
                <a:cs typeface="Calibri" panose="020F0502020204030204" pitchFamily="34" charset="-120"/>
              </a:rPr>
              <a:t>Recognise the characteristics of ReFS, EXT4, and APFS file systems</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389120" cy="5143500"/>
          </a:xfrm>
          <a:prstGeom prst="rect">
            <a:avLst/>
          </a:prstGeom>
          <a:solidFill>
            <a:srgbClr val="0EA5E9"/>
          </a:solidFill>
          <a:ln w="12700">
            <a:solidFill>
              <a:srgbClr val="0EA5E9"/>
            </a:solidFill>
            <a:prstDash val="solid"/>
          </a:ln>
        </p:spPr>
        <p:txBody>
          <a:bodyPr/>
          <a:lstStyle/>
          <a:p>
            <a:endParaRPr lang="en-SG"/>
          </a:p>
        </p:txBody>
      </p:sp>
      <p:sp>
        <p:nvSpPr>
          <p:cNvPr id="3" name="Text 1"/>
          <p:cNvSpPr/>
          <p:nvPr/>
        </p:nvSpPr>
        <p:spPr>
          <a:xfrm>
            <a:off x="91440" y="182880"/>
            <a:ext cx="4206240" cy="2926080"/>
          </a:xfrm>
          <a:prstGeom prst="rect">
            <a:avLst/>
          </a:prstGeom>
          <a:noFill/>
        </p:spPr>
        <p:txBody>
          <a:bodyPr wrap="square" lIns="0" tIns="0" rIns="0" bIns="0" rtlCol="0" anchor="ctr"/>
          <a:lstStyle/>
          <a:p>
            <a:pPr marL="0" indent="0" algn="ctr">
              <a:buNone/>
            </a:pPr>
            <a:r>
              <a:rPr lang="en-US" sz="12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03</a:t>
            </a:r>
            <a:endParaRPr lang="en-US" sz="12800" dirty="0"/>
          </a:p>
        </p:txBody>
      </p:sp>
      <p:sp>
        <p:nvSpPr>
          <p:cNvPr id="4" name="Shape 2"/>
          <p:cNvSpPr/>
          <p:nvPr/>
        </p:nvSpPr>
        <p:spPr>
          <a:xfrm>
            <a:off x="256032" y="3108960"/>
            <a:ext cx="3877056" cy="347472"/>
          </a:xfrm>
          <a:prstGeom prst="rect">
            <a:avLst/>
          </a:prstGeom>
          <a:solidFill>
            <a:srgbClr val="FFFFFF">
              <a:alpha val="80000"/>
            </a:srgbClr>
          </a:solidFill>
          <a:ln w="12700">
            <a:solidFill>
              <a:srgbClr val="FFFFFF">
                <a:alpha val="50000"/>
              </a:srgbClr>
            </a:solidFill>
            <a:prstDash val="solid"/>
          </a:ln>
        </p:spPr>
        <p:txBody>
          <a:bodyPr/>
          <a:lstStyle/>
          <a:p>
            <a:endParaRPr lang="en-SG"/>
          </a:p>
        </p:txBody>
      </p:sp>
      <p:sp>
        <p:nvSpPr>
          <p:cNvPr id="5" name="Text 3"/>
          <p:cNvSpPr/>
          <p:nvPr/>
        </p:nvSpPr>
        <p:spPr>
          <a:xfrm>
            <a:off x="256032" y="3108960"/>
            <a:ext cx="3877056" cy="347472"/>
          </a:xfrm>
          <a:prstGeom prst="rect">
            <a:avLst/>
          </a:prstGeom>
          <a:noFill/>
        </p:spPr>
        <p:txBody>
          <a:bodyPr wrap="square" lIns="0" tIns="0" rIns="0" bIns="0" rtlCol="0" anchor="ctr"/>
          <a:lstStyle/>
          <a:p>
            <a:pPr marL="0" indent="0" algn="ctr">
              <a:buNone/>
            </a:pPr>
            <a:r>
              <a:rPr lang="en-US" sz="1000" b="1" kern="0" spc="300"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SECTION 03</a:t>
            </a:r>
            <a:endParaRPr lang="en-US" sz="1000" dirty="0"/>
          </a:p>
        </p:txBody>
      </p:sp>
      <p:sp>
        <p:nvSpPr>
          <p:cNvPr id="6" name="Text 4"/>
          <p:cNvSpPr/>
          <p:nvPr/>
        </p:nvSpPr>
        <p:spPr>
          <a:xfrm>
            <a:off x="256032" y="3529584"/>
            <a:ext cx="3877056" cy="402336"/>
          </a:xfrm>
          <a:prstGeom prst="rect">
            <a:avLst/>
          </a:prstGeom>
          <a:noFill/>
        </p:spPr>
        <p:txBody>
          <a:bodyPr wrap="square" lIns="0" tIns="0" rIns="0" bIns="0" rtlCol="0" anchor="ctr"/>
          <a:lstStyle/>
          <a:p>
            <a:pPr marL="0" indent="0" algn="ctr">
              <a:buNone/>
            </a:pPr>
            <a:r>
              <a:rPr lang="en-US" sz="20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NTFS File System</a:t>
            </a:r>
            <a:endParaRPr lang="en-US" sz="2000" dirty="0"/>
          </a:p>
        </p:txBody>
      </p:sp>
      <p:sp>
        <p:nvSpPr>
          <p:cNvPr id="7" name="Text 5"/>
          <p:cNvSpPr/>
          <p:nvPr/>
        </p:nvSpPr>
        <p:spPr>
          <a:xfrm>
            <a:off x="256032" y="3986784"/>
            <a:ext cx="3877056" cy="512064"/>
          </a:xfrm>
          <a:prstGeom prst="rect">
            <a:avLst/>
          </a:prstGeom>
          <a:noFill/>
        </p:spPr>
        <p:txBody>
          <a:bodyPr wrap="square" lIns="0" tIns="0" rIns="0" bIns="0" rtlCol="0" anchor="ctr"/>
          <a:lstStyle/>
          <a:p>
            <a:pPr marL="0" indent="0" algn="ctr">
              <a:buNone/>
            </a:pPr>
            <a:r>
              <a:rPr lang="en-US" sz="1100" i="1" dirty="0">
                <a:solidFill>
                  <a:srgbClr val="1A1A2E"/>
                </a:solidFill>
                <a:latin typeface="Calibri" panose="020F0502020204030204" pitchFamily="34" charset="0"/>
                <a:ea typeface="Calibri" panose="020F0502020204030204" pitchFamily="34" charset="-122"/>
                <a:cs typeface="Calibri" panose="020F0502020204030204" pitchFamily="34" charset="-120"/>
              </a:rPr>
              <a:t>Volume structure, MFT records, byte-offset reference tables, and hex-level forensic interpretation.</a:t>
            </a:r>
            <a:endParaRPr lang="en-US" sz="1100" dirty="0"/>
          </a:p>
        </p:txBody>
      </p:sp>
      <p:sp>
        <p:nvSpPr>
          <p:cNvPr id="8" name="Text 6"/>
          <p:cNvSpPr/>
          <p:nvPr/>
        </p:nvSpPr>
        <p:spPr>
          <a:xfrm>
            <a:off x="4754880" y="457200"/>
            <a:ext cx="4114800" cy="292608"/>
          </a:xfrm>
          <a:prstGeom prst="rect">
            <a:avLst/>
          </a:prstGeom>
          <a:noFill/>
        </p:spPr>
        <p:txBody>
          <a:bodyPr wrap="square" rtlCol="0" anchor="ctr"/>
          <a:lstStyle/>
          <a:p>
            <a:pPr marL="0" indent="0">
              <a:buNone/>
            </a:pPr>
            <a:r>
              <a:rPr lang="en-US" sz="13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In this section:</a:t>
            </a:r>
            <a:endParaRPr lang="en-US" sz="1300" dirty="0"/>
          </a:p>
        </p:txBody>
      </p:sp>
      <p:sp>
        <p:nvSpPr>
          <p:cNvPr id="9" name="Shape 7"/>
          <p:cNvSpPr/>
          <p:nvPr/>
        </p:nvSpPr>
        <p:spPr>
          <a:xfrm>
            <a:off x="4754880" y="877824"/>
            <a:ext cx="4114800" cy="566928"/>
          </a:xfrm>
          <a:prstGeom prst="rect">
            <a:avLst/>
          </a:prstGeom>
          <a:noFill/>
          <a:ln w="12700">
            <a:solidFill>
              <a:srgbClr val="FFFFFF">
                <a:alpha val="20000"/>
              </a:srgbClr>
            </a:solidFill>
            <a:prstDash val="solid"/>
          </a:ln>
        </p:spPr>
        <p:txBody>
          <a:bodyPr/>
          <a:lstStyle/>
          <a:p>
            <a:endParaRPr lang="en-SG"/>
          </a:p>
        </p:txBody>
      </p:sp>
      <p:sp>
        <p:nvSpPr>
          <p:cNvPr id="10" name="Shape 8"/>
          <p:cNvSpPr/>
          <p:nvPr/>
        </p:nvSpPr>
        <p:spPr>
          <a:xfrm>
            <a:off x="4864608" y="950976"/>
            <a:ext cx="347472" cy="347472"/>
          </a:xfrm>
          <a:prstGeom prst="line">
            <a:avLst/>
          </a:prstGeom>
          <a:solidFill>
            <a:srgbClr val="0EA5E9"/>
          </a:solidFill>
          <a:ln w="12700">
            <a:solidFill>
              <a:srgbClr val="0EA5E9"/>
            </a:solidFill>
            <a:prstDash val="solid"/>
          </a:ln>
        </p:spPr>
        <p:txBody>
          <a:bodyPr/>
          <a:lstStyle/>
          <a:p>
            <a:endParaRPr lang="en-SG"/>
          </a:p>
        </p:txBody>
      </p:sp>
      <p:sp>
        <p:nvSpPr>
          <p:cNvPr id="11" name="Text 9"/>
          <p:cNvSpPr/>
          <p:nvPr/>
        </p:nvSpPr>
        <p:spPr>
          <a:xfrm>
            <a:off x="4864608" y="987552"/>
            <a:ext cx="347472" cy="237744"/>
          </a:xfrm>
          <a:prstGeom prst="rect">
            <a:avLst/>
          </a:prstGeom>
          <a:noFill/>
        </p:spPr>
        <p:txBody>
          <a:bodyPr wrap="square" lIns="0" tIns="0" rIns="0" bIns="0" rtlCol="0" anchor="ctr"/>
          <a:lstStyle/>
          <a:p>
            <a:pPr marL="0" indent="0" algn="ctr">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1</a:t>
            </a:r>
            <a:endParaRPr lang="en-US" sz="1000" dirty="0"/>
          </a:p>
        </p:txBody>
      </p:sp>
      <p:sp>
        <p:nvSpPr>
          <p:cNvPr id="12" name="Text 10"/>
          <p:cNvSpPr/>
          <p:nvPr/>
        </p:nvSpPr>
        <p:spPr>
          <a:xfrm>
            <a:off x="5266944" y="950976"/>
            <a:ext cx="3529584" cy="365760"/>
          </a:xfrm>
          <a:prstGeom prst="rect">
            <a:avLst/>
          </a:prstGeom>
          <a:noFill/>
        </p:spPr>
        <p:txBody>
          <a:bodyPr wrap="square" rtlCol="0" anchor="ctr"/>
          <a:lstStyle/>
          <a:p>
            <a:pPr marL="0" indent="0">
              <a:buNone/>
            </a:pPr>
            <a:r>
              <a:rPr lang="en-US" sz="1150" dirty="0">
                <a:solidFill>
                  <a:srgbClr val="1A1A2E"/>
                </a:solidFill>
                <a:latin typeface="Calibri" panose="020F0502020204030204" pitchFamily="34" charset="0"/>
                <a:ea typeface="Calibri" panose="020F0502020204030204" pitchFamily="34" charset="-122"/>
                <a:cs typeface="Calibri" panose="020F0502020204030204" pitchFamily="34" charset="-120"/>
              </a:rPr>
              <a:t>NTFS unique traits &amp; advantages</a:t>
            </a:r>
            <a:endParaRPr lang="en-US" sz="1150" dirty="0"/>
          </a:p>
        </p:txBody>
      </p:sp>
      <p:sp>
        <p:nvSpPr>
          <p:cNvPr id="13" name="Shape 11"/>
          <p:cNvSpPr/>
          <p:nvPr/>
        </p:nvSpPr>
        <p:spPr>
          <a:xfrm>
            <a:off x="4754880" y="1536192"/>
            <a:ext cx="4114800" cy="566928"/>
          </a:xfrm>
          <a:prstGeom prst="rect">
            <a:avLst/>
          </a:prstGeom>
          <a:noFill/>
          <a:ln w="12700">
            <a:solidFill>
              <a:srgbClr val="FFFFFF">
                <a:alpha val="20000"/>
              </a:srgbClr>
            </a:solidFill>
            <a:prstDash val="solid"/>
          </a:ln>
        </p:spPr>
        <p:txBody>
          <a:bodyPr/>
          <a:lstStyle/>
          <a:p>
            <a:endParaRPr lang="en-SG"/>
          </a:p>
        </p:txBody>
      </p:sp>
      <p:sp>
        <p:nvSpPr>
          <p:cNvPr id="14" name="Shape 12"/>
          <p:cNvSpPr/>
          <p:nvPr/>
        </p:nvSpPr>
        <p:spPr>
          <a:xfrm>
            <a:off x="4864608" y="1609344"/>
            <a:ext cx="347472" cy="347472"/>
          </a:xfrm>
          <a:prstGeom prst="line">
            <a:avLst/>
          </a:prstGeom>
          <a:solidFill>
            <a:srgbClr val="0EA5E9"/>
          </a:solidFill>
          <a:ln w="12700">
            <a:solidFill>
              <a:srgbClr val="0EA5E9"/>
            </a:solidFill>
            <a:prstDash val="solid"/>
          </a:ln>
        </p:spPr>
        <p:txBody>
          <a:bodyPr/>
          <a:lstStyle/>
          <a:p>
            <a:endParaRPr lang="en-SG"/>
          </a:p>
        </p:txBody>
      </p:sp>
      <p:sp>
        <p:nvSpPr>
          <p:cNvPr id="15" name="Text 13"/>
          <p:cNvSpPr/>
          <p:nvPr/>
        </p:nvSpPr>
        <p:spPr>
          <a:xfrm>
            <a:off x="4864608" y="1645920"/>
            <a:ext cx="347472" cy="237744"/>
          </a:xfrm>
          <a:prstGeom prst="rect">
            <a:avLst/>
          </a:prstGeom>
          <a:noFill/>
        </p:spPr>
        <p:txBody>
          <a:bodyPr wrap="square" lIns="0" tIns="0" rIns="0" bIns="0" rtlCol="0" anchor="ctr"/>
          <a:lstStyle/>
          <a:p>
            <a:pPr marL="0" indent="0" algn="ctr">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2</a:t>
            </a:r>
            <a:endParaRPr lang="en-US" sz="1000" dirty="0"/>
          </a:p>
        </p:txBody>
      </p:sp>
      <p:sp>
        <p:nvSpPr>
          <p:cNvPr id="16" name="Text 14"/>
          <p:cNvSpPr/>
          <p:nvPr/>
        </p:nvSpPr>
        <p:spPr>
          <a:xfrm>
            <a:off x="5266944" y="1609344"/>
            <a:ext cx="3529584" cy="365760"/>
          </a:xfrm>
          <a:prstGeom prst="rect">
            <a:avLst/>
          </a:prstGeom>
          <a:noFill/>
        </p:spPr>
        <p:txBody>
          <a:bodyPr wrap="square" rtlCol="0" anchor="ctr"/>
          <a:lstStyle/>
          <a:p>
            <a:pPr marL="0" indent="0">
              <a:buNone/>
            </a:pPr>
            <a:r>
              <a:rPr lang="en-US" sz="1150" dirty="0">
                <a:solidFill>
                  <a:srgbClr val="1A1A2E"/>
                </a:solidFill>
                <a:latin typeface="Calibri" panose="020F0502020204030204" pitchFamily="34" charset="0"/>
                <a:ea typeface="Calibri" panose="020F0502020204030204" pitchFamily="34" charset="-122"/>
                <a:cs typeface="Calibri" panose="020F0502020204030204" pitchFamily="34" charset="-120"/>
              </a:rPr>
              <a:t>Volume structure — VBR, MFT, LogFile, Bitmap</a:t>
            </a:r>
            <a:endParaRPr lang="en-US" sz="1150" dirty="0"/>
          </a:p>
        </p:txBody>
      </p:sp>
      <p:sp>
        <p:nvSpPr>
          <p:cNvPr id="17" name="Shape 15"/>
          <p:cNvSpPr/>
          <p:nvPr/>
        </p:nvSpPr>
        <p:spPr>
          <a:xfrm>
            <a:off x="4754880" y="2194560"/>
            <a:ext cx="4114800" cy="566928"/>
          </a:xfrm>
          <a:prstGeom prst="rect">
            <a:avLst/>
          </a:prstGeom>
          <a:noFill/>
          <a:ln w="12700">
            <a:solidFill>
              <a:srgbClr val="FFFFFF">
                <a:alpha val="20000"/>
              </a:srgbClr>
            </a:solidFill>
            <a:prstDash val="solid"/>
          </a:ln>
        </p:spPr>
        <p:txBody>
          <a:bodyPr/>
          <a:lstStyle/>
          <a:p>
            <a:endParaRPr lang="en-SG"/>
          </a:p>
        </p:txBody>
      </p:sp>
      <p:sp>
        <p:nvSpPr>
          <p:cNvPr id="18" name="Shape 16"/>
          <p:cNvSpPr/>
          <p:nvPr/>
        </p:nvSpPr>
        <p:spPr>
          <a:xfrm>
            <a:off x="4864608" y="2267712"/>
            <a:ext cx="347472" cy="347472"/>
          </a:xfrm>
          <a:prstGeom prst="line">
            <a:avLst/>
          </a:prstGeom>
          <a:solidFill>
            <a:srgbClr val="0EA5E9"/>
          </a:solidFill>
          <a:ln w="12700">
            <a:solidFill>
              <a:srgbClr val="0EA5E9"/>
            </a:solidFill>
            <a:prstDash val="solid"/>
          </a:ln>
        </p:spPr>
        <p:txBody>
          <a:bodyPr/>
          <a:lstStyle/>
          <a:p>
            <a:endParaRPr lang="en-SG"/>
          </a:p>
        </p:txBody>
      </p:sp>
      <p:sp>
        <p:nvSpPr>
          <p:cNvPr id="19" name="Text 17"/>
          <p:cNvSpPr/>
          <p:nvPr/>
        </p:nvSpPr>
        <p:spPr>
          <a:xfrm>
            <a:off x="4864608" y="2304288"/>
            <a:ext cx="347472" cy="237744"/>
          </a:xfrm>
          <a:prstGeom prst="rect">
            <a:avLst/>
          </a:prstGeom>
          <a:noFill/>
        </p:spPr>
        <p:txBody>
          <a:bodyPr wrap="square" lIns="0" tIns="0" rIns="0" bIns="0" rtlCol="0" anchor="ctr"/>
          <a:lstStyle/>
          <a:p>
            <a:pPr marL="0" indent="0" algn="ctr">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3</a:t>
            </a:r>
            <a:endParaRPr lang="en-US" sz="1000" dirty="0"/>
          </a:p>
        </p:txBody>
      </p:sp>
      <p:sp>
        <p:nvSpPr>
          <p:cNvPr id="20" name="Text 18"/>
          <p:cNvSpPr/>
          <p:nvPr/>
        </p:nvSpPr>
        <p:spPr>
          <a:xfrm>
            <a:off x="5266944" y="2267712"/>
            <a:ext cx="3529584" cy="365760"/>
          </a:xfrm>
          <a:prstGeom prst="rect">
            <a:avLst/>
          </a:prstGeom>
          <a:noFill/>
        </p:spPr>
        <p:txBody>
          <a:bodyPr wrap="square" rtlCol="0" anchor="ctr"/>
          <a:lstStyle/>
          <a:p>
            <a:pPr marL="0" indent="0">
              <a:buNone/>
            </a:pPr>
            <a:r>
              <a:rPr lang="en-US" sz="1150" dirty="0">
                <a:solidFill>
                  <a:srgbClr val="1A1A2E"/>
                </a:solidFill>
                <a:latin typeface="Calibri" panose="020F0502020204030204" pitchFamily="34" charset="0"/>
                <a:ea typeface="Calibri" panose="020F0502020204030204" pitchFamily="34" charset="-122"/>
                <a:cs typeface="Calibri" panose="020F0502020204030204" pitchFamily="34" charset="-120"/>
              </a:rPr>
              <a:t>MFT overview &amp; system records 0–15</a:t>
            </a:r>
            <a:endParaRPr lang="en-US" sz="1150" dirty="0"/>
          </a:p>
        </p:txBody>
      </p:sp>
      <p:sp>
        <p:nvSpPr>
          <p:cNvPr id="21" name="Shape 19"/>
          <p:cNvSpPr/>
          <p:nvPr/>
        </p:nvSpPr>
        <p:spPr>
          <a:xfrm>
            <a:off x="4754880" y="2852928"/>
            <a:ext cx="4114800" cy="566928"/>
          </a:xfrm>
          <a:prstGeom prst="rect">
            <a:avLst/>
          </a:prstGeom>
          <a:noFill/>
          <a:ln w="12700">
            <a:solidFill>
              <a:srgbClr val="FFFFFF">
                <a:alpha val="20000"/>
              </a:srgbClr>
            </a:solidFill>
            <a:prstDash val="solid"/>
          </a:ln>
        </p:spPr>
        <p:txBody>
          <a:bodyPr/>
          <a:lstStyle/>
          <a:p>
            <a:endParaRPr lang="en-SG"/>
          </a:p>
        </p:txBody>
      </p:sp>
      <p:sp>
        <p:nvSpPr>
          <p:cNvPr id="22" name="Shape 20"/>
          <p:cNvSpPr/>
          <p:nvPr/>
        </p:nvSpPr>
        <p:spPr>
          <a:xfrm>
            <a:off x="4864608" y="2926080"/>
            <a:ext cx="347472" cy="347472"/>
          </a:xfrm>
          <a:prstGeom prst="line">
            <a:avLst/>
          </a:prstGeom>
          <a:solidFill>
            <a:srgbClr val="0EA5E9"/>
          </a:solidFill>
          <a:ln w="12700">
            <a:solidFill>
              <a:srgbClr val="0EA5E9"/>
            </a:solidFill>
            <a:prstDash val="solid"/>
          </a:ln>
        </p:spPr>
        <p:txBody>
          <a:bodyPr/>
          <a:lstStyle/>
          <a:p>
            <a:endParaRPr lang="en-SG"/>
          </a:p>
        </p:txBody>
      </p:sp>
      <p:sp>
        <p:nvSpPr>
          <p:cNvPr id="23" name="Text 21"/>
          <p:cNvSpPr/>
          <p:nvPr/>
        </p:nvSpPr>
        <p:spPr>
          <a:xfrm>
            <a:off x="4864608" y="2962656"/>
            <a:ext cx="347472" cy="237744"/>
          </a:xfrm>
          <a:prstGeom prst="rect">
            <a:avLst/>
          </a:prstGeom>
          <a:noFill/>
        </p:spPr>
        <p:txBody>
          <a:bodyPr wrap="square" lIns="0" tIns="0" rIns="0" bIns="0" rtlCol="0" anchor="ctr"/>
          <a:lstStyle/>
          <a:p>
            <a:pPr marL="0" indent="0" algn="ctr">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4</a:t>
            </a:r>
            <a:endParaRPr lang="en-US" sz="1000" dirty="0"/>
          </a:p>
        </p:txBody>
      </p:sp>
      <p:sp>
        <p:nvSpPr>
          <p:cNvPr id="24" name="Text 22"/>
          <p:cNvSpPr/>
          <p:nvPr/>
        </p:nvSpPr>
        <p:spPr>
          <a:xfrm>
            <a:off x="5266944" y="2926080"/>
            <a:ext cx="3529584" cy="365760"/>
          </a:xfrm>
          <a:prstGeom prst="rect">
            <a:avLst/>
          </a:prstGeom>
          <a:noFill/>
        </p:spPr>
        <p:txBody>
          <a:bodyPr wrap="square" rtlCol="0" anchor="ctr"/>
          <a:lstStyle/>
          <a:p>
            <a:pPr marL="0" indent="0">
              <a:buNone/>
            </a:pPr>
            <a:r>
              <a:rPr lang="en-US" sz="1150" dirty="0">
                <a:solidFill>
                  <a:srgbClr val="1A1A2E"/>
                </a:solidFill>
                <a:latin typeface="Calibri" panose="020F0502020204030204" pitchFamily="34" charset="0"/>
                <a:ea typeface="Calibri" panose="020F0502020204030204" pitchFamily="34" charset="-122"/>
                <a:cs typeface="Calibri" panose="020F0502020204030204" pitchFamily="34" charset="-120"/>
              </a:rPr>
              <a:t>MFT record byte-offset reference table</a:t>
            </a:r>
            <a:endParaRPr lang="en-US" sz="1150" dirty="0"/>
          </a:p>
        </p:txBody>
      </p:sp>
      <p:sp>
        <p:nvSpPr>
          <p:cNvPr id="25" name="Shape 23"/>
          <p:cNvSpPr/>
          <p:nvPr/>
        </p:nvSpPr>
        <p:spPr>
          <a:xfrm>
            <a:off x="4754880" y="3511296"/>
            <a:ext cx="4114800" cy="566928"/>
          </a:xfrm>
          <a:prstGeom prst="rect">
            <a:avLst/>
          </a:prstGeom>
          <a:noFill/>
          <a:ln w="12700">
            <a:solidFill>
              <a:srgbClr val="FFFFFF">
                <a:alpha val="20000"/>
              </a:srgbClr>
            </a:solidFill>
            <a:prstDash val="solid"/>
          </a:ln>
        </p:spPr>
        <p:txBody>
          <a:bodyPr/>
          <a:lstStyle/>
          <a:p>
            <a:endParaRPr lang="en-SG"/>
          </a:p>
        </p:txBody>
      </p:sp>
      <p:sp>
        <p:nvSpPr>
          <p:cNvPr id="26" name="Shape 24"/>
          <p:cNvSpPr/>
          <p:nvPr/>
        </p:nvSpPr>
        <p:spPr>
          <a:xfrm>
            <a:off x="4864608" y="3584448"/>
            <a:ext cx="347472" cy="347472"/>
          </a:xfrm>
          <a:prstGeom prst="line">
            <a:avLst/>
          </a:prstGeom>
          <a:solidFill>
            <a:srgbClr val="0EA5E9"/>
          </a:solidFill>
          <a:ln w="12700">
            <a:solidFill>
              <a:srgbClr val="0EA5E9"/>
            </a:solidFill>
            <a:prstDash val="solid"/>
          </a:ln>
        </p:spPr>
        <p:txBody>
          <a:bodyPr/>
          <a:lstStyle/>
          <a:p>
            <a:endParaRPr lang="en-SG"/>
          </a:p>
        </p:txBody>
      </p:sp>
      <p:sp>
        <p:nvSpPr>
          <p:cNvPr id="27" name="Text 25"/>
          <p:cNvSpPr/>
          <p:nvPr/>
        </p:nvSpPr>
        <p:spPr>
          <a:xfrm>
            <a:off x="4864608" y="3621024"/>
            <a:ext cx="347472" cy="237744"/>
          </a:xfrm>
          <a:prstGeom prst="rect">
            <a:avLst/>
          </a:prstGeom>
          <a:noFill/>
        </p:spPr>
        <p:txBody>
          <a:bodyPr wrap="square" lIns="0" tIns="0" rIns="0" bIns="0" rtlCol="0" anchor="ctr"/>
          <a:lstStyle/>
          <a:p>
            <a:pPr marL="0" indent="0" algn="ctr">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5</a:t>
            </a:r>
            <a:endParaRPr lang="en-US" sz="1000" dirty="0"/>
          </a:p>
        </p:txBody>
      </p:sp>
      <p:sp>
        <p:nvSpPr>
          <p:cNvPr id="28" name="Text 26"/>
          <p:cNvSpPr/>
          <p:nvPr/>
        </p:nvSpPr>
        <p:spPr>
          <a:xfrm>
            <a:off x="5266944" y="3584448"/>
            <a:ext cx="3529584" cy="365760"/>
          </a:xfrm>
          <a:prstGeom prst="rect">
            <a:avLst/>
          </a:prstGeom>
          <a:noFill/>
        </p:spPr>
        <p:txBody>
          <a:bodyPr wrap="square" rtlCol="0" anchor="ctr"/>
          <a:lstStyle/>
          <a:p>
            <a:pPr marL="0" indent="0">
              <a:buNone/>
            </a:pPr>
            <a:r>
              <a:rPr lang="en-US" sz="1150" dirty="0">
                <a:solidFill>
                  <a:srgbClr val="1A1A2E"/>
                </a:solidFill>
                <a:latin typeface="Calibri" panose="020F0502020204030204" pitchFamily="34" charset="0"/>
                <a:ea typeface="Calibri" panose="020F0502020204030204" pitchFamily="34" charset="-122"/>
                <a:cs typeface="Calibri" panose="020F0502020204030204" pitchFamily="34" charset="-120"/>
              </a:rPr>
              <a:t>VBR/BPB hex annotation — Bytes/sector, Clusters, Total sectors</a:t>
            </a:r>
            <a:endParaRPr lang="en-US" sz="1150" dirty="0"/>
          </a:p>
        </p:txBody>
      </p:sp>
      <p:sp>
        <p:nvSpPr>
          <p:cNvPr id="29" name="Shape 27"/>
          <p:cNvSpPr/>
          <p:nvPr/>
        </p:nvSpPr>
        <p:spPr>
          <a:xfrm>
            <a:off x="4754880" y="4169664"/>
            <a:ext cx="4114800" cy="566928"/>
          </a:xfrm>
          <a:prstGeom prst="rect">
            <a:avLst/>
          </a:prstGeom>
          <a:noFill/>
          <a:ln w="12700">
            <a:solidFill>
              <a:srgbClr val="FFFFFF">
                <a:alpha val="20000"/>
              </a:srgbClr>
            </a:solidFill>
            <a:prstDash val="solid"/>
          </a:ln>
        </p:spPr>
        <p:txBody>
          <a:bodyPr/>
          <a:lstStyle/>
          <a:p>
            <a:endParaRPr lang="en-SG"/>
          </a:p>
        </p:txBody>
      </p:sp>
      <p:sp>
        <p:nvSpPr>
          <p:cNvPr id="30" name="Shape 28"/>
          <p:cNvSpPr/>
          <p:nvPr/>
        </p:nvSpPr>
        <p:spPr>
          <a:xfrm>
            <a:off x="4864608" y="4242816"/>
            <a:ext cx="347472" cy="347472"/>
          </a:xfrm>
          <a:prstGeom prst="line">
            <a:avLst/>
          </a:prstGeom>
          <a:solidFill>
            <a:srgbClr val="0EA5E9"/>
          </a:solidFill>
          <a:ln w="12700">
            <a:solidFill>
              <a:srgbClr val="0EA5E9"/>
            </a:solidFill>
            <a:prstDash val="solid"/>
          </a:ln>
        </p:spPr>
        <p:txBody>
          <a:bodyPr/>
          <a:lstStyle/>
          <a:p>
            <a:endParaRPr lang="en-SG"/>
          </a:p>
        </p:txBody>
      </p:sp>
      <p:sp>
        <p:nvSpPr>
          <p:cNvPr id="31" name="Text 29"/>
          <p:cNvSpPr/>
          <p:nvPr/>
        </p:nvSpPr>
        <p:spPr>
          <a:xfrm>
            <a:off x="4864608" y="4279392"/>
            <a:ext cx="347472" cy="237744"/>
          </a:xfrm>
          <a:prstGeom prst="rect">
            <a:avLst/>
          </a:prstGeom>
          <a:noFill/>
        </p:spPr>
        <p:txBody>
          <a:bodyPr wrap="square" lIns="0" tIns="0" rIns="0" bIns="0" rtlCol="0" anchor="ctr"/>
          <a:lstStyle/>
          <a:p>
            <a:pPr marL="0" indent="0" algn="ctr">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6</a:t>
            </a:r>
            <a:endParaRPr lang="en-US" sz="1000" dirty="0"/>
          </a:p>
        </p:txBody>
      </p:sp>
      <p:sp>
        <p:nvSpPr>
          <p:cNvPr id="32" name="Text 30"/>
          <p:cNvSpPr/>
          <p:nvPr/>
        </p:nvSpPr>
        <p:spPr>
          <a:xfrm>
            <a:off x="5266944" y="4132912"/>
            <a:ext cx="3529584" cy="365760"/>
          </a:xfrm>
          <a:prstGeom prst="rect">
            <a:avLst/>
          </a:prstGeom>
          <a:noFill/>
        </p:spPr>
        <p:txBody>
          <a:bodyPr wrap="square" rtlCol="0" anchor="ctr"/>
          <a:lstStyle/>
          <a:p>
            <a:pPr marL="0" indent="0">
              <a:buNone/>
            </a:pPr>
            <a:r>
              <a:rPr lang="en-US" sz="1150" dirty="0">
                <a:solidFill>
                  <a:srgbClr val="1A1A2E"/>
                </a:solidFill>
                <a:latin typeface="Calibri" panose="020F0502020204030204" pitchFamily="34" charset="0"/>
                <a:ea typeface="Calibri" panose="020F0502020204030204" pitchFamily="34" charset="-122"/>
                <a:cs typeface="Calibri" panose="020F0502020204030204" pitchFamily="34" charset="-120"/>
              </a:rPr>
              <a:t>VBR hex — LCN $MFT, LCN $MFTMirr, Clusters/MFT record</a:t>
            </a:r>
            <a:endParaRPr lang="en-US" sz="1150" dirty="0"/>
          </a:p>
        </p:txBody>
      </p:sp>
      <p:sp>
        <p:nvSpPr>
          <p:cNvPr id="36" name="Text 34"/>
          <p:cNvSpPr/>
          <p:nvPr/>
        </p:nvSpPr>
        <p:spPr>
          <a:xfrm>
            <a:off x="5266944" y="4402953"/>
            <a:ext cx="3529584" cy="365760"/>
          </a:xfrm>
          <a:prstGeom prst="rect">
            <a:avLst/>
          </a:prstGeom>
          <a:noFill/>
        </p:spPr>
        <p:txBody>
          <a:bodyPr wrap="square" rtlCol="0" anchor="ctr"/>
          <a:lstStyle/>
          <a:p>
            <a:pPr marL="0" indent="0">
              <a:buNone/>
            </a:pPr>
            <a:r>
              <a:rPr lang="en-US" sz="1150" dirty="0">
                <a:solidFill>
                  <a:srgbClr val="1A1A2E"/>
                </a:solidFill>
                <a:latin typeface="Calibri" panose="020F0502020204030204" pitchFamily="34" charset="0"/>
                <a:ea typeface="Calibri" panose="020F0502020204030204" pitchFamily="34" charset="-122"/>
                <a:cs typeface="Calibri" panose="020F0502020204030204" pitchFamily="34" charset="-120"/>
              </a:rPr>
              <a:t>MFT field meanings</a:t>
            </a:r>
            <a:endParaRPr lang="en-US" sz="1150" dirty="0"/>
          </a:p>
        </p:txBody>
      </p:sp>
      <p:sp>
        <p:nvSpPr>
          <p:cNvPr id="40" name="Text 38"/>
          <p:cNvSpPr/>
          <p:nvPr/>
        </p:nvSpPr>
        <p:spPr>
          <a:xfrm>
            <a:off x="5266944" y="4614379"/>
            <a:ext cx="3529584" cy="365760"/>
          </a:xfrm>
          <a:prstGeom prst="rect">
            <a:avLst/>
          </a:prstGeom>
          <a:noFill/>
        </p:spPr>
        <p:txBody>
          <a:bodyPr wrap="square" rtlCol="0" anchor="ctr"/>
          <a:lstStyle/>
          <a:p>
            <a:pPr marL="0" indent="0">
              <a:buNone/>
            </a:pPr>
            <a:r>
              <a:rPr lang="en-US" sz="1150" dirty="0">
                <a:solidFill>
                  <a:srgbClr val="1A1A2E"/>
                </a:solidFill>
                <a:latin typeface="Calibri" panose="020F0502020204030204" pitchFamily="34" charset="0"/>
                <a:ea typeface="Calibri" panose="020F0502020204030204" pitchFamily="34" charset="-122"/>
                <a:cs typeface="Calibri" panose="020F0502020204030204" pitchFamily="34" charset="-120"/>
              </a:rPr>
              <a:t>MFT entry hex annotation</a:t>
            </a:r>
            <a:endParaRPr lang="en-US" sz="1150" dirty="0"/>
          </a:p>
        </p:txBody>
      </p:sp>
      <p:sp>
        <p:nvSpPr>
          <p:cNvPr id="44" name="Text 42"/>
          <p:cNvSpPr/>
          <p:nvPr/>
        </p:nvSpPr>
        <p:spPr>
          <a:xfrm>
            <a:off x="5266944" y="4796496"/>
            <a:ext cx="3529584" cy="365760"/>
          </a:xfrm>
          <a:prstGeom prst="rect">
            <a:avLst/>
          </a:prstGeom>
          <a:noFill/>
        </p:spPr>
        <p:txBody>
          <a:bodyPr wrap="square" rtlCol="0" anchor="ctr"/>
          <a:lstStyle/>
          <a:p>
            <a:pPr marL="0" indent="0">
              <a:buNone/>
            </a:pPr>
            <a:r>
              <a:rPr lang="en-US" sz="1150" dirty="0">
                <a:solidFill>
                  <a:srgbClr val="1A1A2E"/>
                </a:solidFill>
                <a:latin typeface="Calibri" panose="020F0502020204030204" pitchFamily="34" charset="0"/>
                <a:ea typeface="Calibri" panose="020F0502020204030204" pitchFamily="34" charset="-122"/>
                <a:cs typeface="Calibri" panose="020F0502020204030204" pitchFamily="34" charset="-120"/>
              </a:rPr>
              <a:t>Limits &amp; FAT vs NTFS comparison</a:t>
            </a:r>
            <a:endParaRPr lang="en-US" sz="11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EA5E9"/>
          </a:solidFill>
          <a:ln w="12700">
            <a:solidFill>
              <a:srgbClr val="0EA5E9"/>
            </a:solidFill>
            <a:prstDash val="solid"/>
          </a:ln>
        </p:spPr>
        <p:txBody>
          <a:bodyPr/>
          <a:lstStyle/>
          <a:p>
            <a:endParaRPr lang="en-SG"/>
          </a:p>
        </p:txBody>
      </p:sp>
      <p:sp>
        <p:nvSpPr>
          <p:cNvPr id="3" name="Text 1"/>
          <p:cNvSpPr/>
          <p:nvPr/>
        </p:nvSpPr>
        <p:spPr>
          <a:xfrm>
            <a:off x="256032" y="186690"/>
            <a:ext cx="8631936" cy="548640"/>
          </a:xfrm>
          <a:prstGeom prst="rect">
            <a:avLst/>
          </a:prstGeom>
          <a:noFill/>
        </p:spPr>
        <p:txBody>
          <a:bodyPr wrap="square" lIns="0" tIns="0" rIns="0" bIns="0" rtlCol="0" anchor="ctr"/>
          <a:lstStyle/>
          <a:p>
            <a:pPr marL="0" indent="0">
              <a:buNone/>
            </a:pPr>
            <a:r>
              <a:rPr lang="en-US" sz="1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NTFS — Unique Traits &amp; Advantages</a:t>
            </a:r>
            <a:endParaRPr lang="en-US" sz="1800" dirty="0"/>
          </a:p>
        </p:txBody>
      </p:sp>
      <p:sp>
        <p:nvSpPr>
          <p:cNvPr id="4" name="Shape 2"/>
          <p:cNvSpPr/>
          <p:nvPr/>
        </p:nvSpPr>
        <p:spPr>
          <a:xfrm>
            <a:off x="256032" y="73152"/>
            <a:ext cx="1463040" cy="219456"/>
          </a:xfrm>
          <a:prstGeom prst="rect">
            <a:avLst/>
          </a:prstGeom>
          <a:solidFill>
            <a:srgbClr val="0EA5E9"/>
          </a:solidFill>
          <a:ln w="12700">
            <a:solidFill>
              <a:srgbClr val="0EA5E9"/>
            </a:solidFill>
            <a:prstDash val="solid"/>
          </a:ln>
        </p:spPr>
        <p:txBody>
          <a:bodyPr/>
          <a:lstStyle/>
          <a:p>
            <a:endParaRPr lang="en-SG"/>
          </a:p>
        </p:txBody>
      </p:sp>
      <p:sp>
        <p:nvSpPr>
          <p:cNvPr id="5" name="Text 3"/>
          <p:cNvSpPr/>
          <p:nvPr/>
        </p:nvSpPr>
        <p:spPr>
          <a:xfrm>
            <a:off x="256032" y="73152"/>
            <a:ext cx="1463040" cy="219456"/>
          </a:xfrm>
          <a:prstGeom prst="rect">
            <a:avLst/>
          </a:prstGeom>
          <a:noFill/>
        </p:spPr>
        <p:txBody>
          <a:bodyPr wrap="square" lIns="0" tIns="0" rIns="0" bIns="0" rtlCol="0" anchor="ctr"/>
          <a:lstStyle/>
          <a:p>
            <a:pPr marL="0" indent="0" algn="ctr">
              <a:buNone/>
            </a:pPr>
            <a:r>
              <a:rPr lang="en-US" sz="800" b="1" kern="0" spc="100"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SECTION 03 — NTFS</a:t>
            </a:r>
            <a:endParaRPr lang="en-US" sz="800" dirty="0"/>
          </a:p>
        </p:txBody>
      </p:sp>
      <p:sp>
        <p:nvSpPr>
          <p:cNvPr id="10" name="Text 8"/>
          <p:cNvSpPr/>
          <p:nvPr/>
        </p:nvSpPr>
        <p:spPr>
          <a:xfrm>
            <a:off x="256032" y="822960"/>
            <a:ext cx="8631936" cy="274320"/>
          </a:xfrm>
          <a:prstGeom prst="rect">
            <a:avLst/>
          </a:prstGeom>
          <a:noFill/>
        </p:spPr>
        <p:txBody>
          <a:bodyPr wrap="square" rtlCol="0" anchor="ctr"/>
          <a:lstStyle/>
          <a:p>
            <a:pPr marL="0" indent="0">
              <a:buNone/>
            </a:pPr>
            <a:r>
              <a:rPr lang="en-US" sz="950" i="1" dirty="0">
                <a:solidFill>
                  <a:srgbClr val="475569"/>
                </a:solidFill>
                <a:latin typeface="Calibri" panose="020F0502020204030204" pitchFamily="34" charset="0"/>
                <a:ea typeface="Calibri" panose="020F0502020204030204" pitchFamily="34" charset="-122"/>
                <a:cs typeface="Calibri" panose="020F0502020204030204" pitchFamily="34" charset="-120"/>
              </a:rPr>
              <a:t>NTFS (New Technology File System) was introduced with Windows NT 3.1 in 1993. It is the default file system for all modern Windows OS and system drives.</a:t>
            </a:r>
            <a:endParaRPr lang="en-US" sz="950" dirty="0"/>
          </a:p>
        </p:txBody>
      </p:sp>
      <p:sp>
        <p:nvSpPr>
          <p:cNvPr id="11" name="Shape 9"/>
          <p:cNvSpPr/>
          <p:nvPr/>
        </p:nvSpPr>
        <p:spPr>
          <a:xfrm>
            <a:off x="256032" y="1152144"/>
            <a:ext cx="2761488" cy="1700784"/>
          </a:xfrm>
          <a:prstGeom prst="rect">
            <a:avLst/>
          </a:prstGeom>
          <a:solidFill>
            <a:srgbClr val="EEF6FB"/>
          </a:solidFill>
          <a:ln w="12700">
            <a:solidFill>
              <a:srgbClr val="0EA5E9"/>
            </a:solidFill>
            <a:prstDash val="solid"/>
          </a:ln>
          <a:effectLst>
            <a:outerShdw blurRad="127000" dist="38100" dir="8100000" algn="bl" rotWithShape="0">
              <a:srgbClr val="000000">
                <a:alpha val="22000"/>
              </a:srgbClr>
            </a:outerShdw>
          </a:effectLst>
        </p:spPr>
        <p:txBody>
          <a:bodyPr/>
          <a:lstStyle/>
          <a:p>
            <a:endParaRPr lang="en-SG"/>
          </a:p>
        </p:txBody>
      </p:sp>
      <p:sp>
        <p:nvSpPr>
          <p:cNvPr id="12" name="Shape 10"/>
          <p:cNvSpPr/>
          <p:nvPr/>
        </p:nvSpPr>
        <p:spPr>
          <a:xfrm>
            <a:off x="256032" y="1152144"/>
            <a:ext cx="2761488" cy="274320"/>
          </a:xfrm>
          <a:prstGeom prst="rect">
            <a:avLst/>
          </a:prstGeom>
          <a:solidFill>
            <a:srgbClr val="0EA5E9"/>
          </a:solidFill>
          <a:ln w="12700">
            <a:solidFill>
              <a:srgbClr val="0EA5E9"/>
            </a:solidFill>
            <a:prstDash val="solid"/>
          </a:ln>
        </p:spPr>
        <p:txBody>
          <a:bodyPr/>
          <a:lstStyle/>
          <a:p>
            <a:endParaRPr lang="en-SG"/>
          </a:p>
        </p:txBody>
      </p:sp>
      <p:sp>
        <p:nvSpPr>
          <p:cNvPr id="13" name="Shape 11"/>
          <p:cNvSpPr/>
          <p:nvPr/>
        </p:nvSpPr>
        <p:spPr>
          <a:xfrm>
            <a:off x="347472" y="1188720"/>
            <a:ext cx="201168" cy="201168"/>
          </a:xfrm>
          <a:prstGeom prst="line">
            <a:avLst/>
          </a:prstGeom>
          <a:noFill/>
          <a:ln w="12700">
            <a:solidFill>
              <a:srgbClr val="000000">
                <a:alpha val="70000"/>
              </a:srgbClr>
            </a:solidFill>
            <a:prstDash val="solid"/>
          </a:ln>
        </p:spPr>
        <p:txBody>
          <a:bodyPr/>
          <a:lstStyle/>
          <a:p>
            <a:endParaRPr lang="en-SG"/>
          </a:p>
        </p:txBody>
      </p:sp>
      <p:sp>
        <p:nvSpPr>
          <p:cNvPr id="14" name="Text 12"/>
          <p:cNvSpPr/>
          <p:nvPr/>
        </p:nvSpPr>
        <p:spPr>
          <a:xfrm>
            <a:off x="347472" y="1197864"/>
            <a:ext cx="201168" cy="182880"/>
          </a:xfrm>
          <a:prstGeom prst="rect">
            <a:avLst/>
          </a:prstGeom>
          <a:noFill/>
        </p:spPr>
        <p:txBody>
          <a:bodyPr wrap="square" lIns="0" tIns="0" rIns="0" bIns="0" rtlCol="0" anchor="ctr"/>
          <a:lstStyle/>
          <a:p>
            <a:pPr marL="0" indent="0" algn="ctr">
              <a:buNone/>
            </a:pPr>
            <a:r>
              <a:rPr lang="en-US" sz="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01</a:t>
            </a:r>
            <a:endParaRPr lang="en-US" sz="800" dirty="0"/>
          </a:p>
        </p:txBody>
      </p:sp>
      <p:sp>
        <p:nvSpPr>
          <p:cNvPr id="15" name="Text 13"/>
          <p:cNvSpPr/>
          <p:nvPr/>
        </p:nvSpPr>
        <p:spPr>
          <a:xfrm>
            <a:off x="603504" y="1188720"/>
            <a:ext cx="2322576" cy="219456"/>
          </a:xfrm>
          <a:prstGeom prst="rect">
            <a:avLst/>
          </a:prstGeom>
          <a:noFill/>
        </p:spPr>
        <p:txBody>
          <a:bodyPr wrap="square" lIns="0" tIns="0" rIns="0" bIns="0" rtlCol="0" anchor="ctr"/>
          <a:lstStyle/>
          <a:p>
            <a:pPr marL="0" indent="0">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Journalling ($LogFile)</a:t>
            </a:r>
            <a:endParaRPr lang="en-US" sz="1000" dirty="0"/>
          </a:p>
        </p:txBody>
      </p:sp>
      <p:sp>
        <p:nvSpPr>
          <p:cNvPr id="16" name="Text 14"/>
          <p:cNvSpPr/>
          <p:nvPr/>
        </p:nvSpPr>
        <p:spPr>
          <a:xfrm>
            <a:off x="365760" y="1463040"/>
            <a:ext cx="2560320" cy="1335024"/>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Metadata changes are logged before committing. If the system crashes, NTFS can replay the journal to restore consistency. Prevents corruption.</a:t>
            </a:r>
            <a:endParaRPr lang="en-US" sz="900" dirty="0"/>
          </a:p>
        </p:txBody>
      </p:sp>
      <p:sp>
        <p:nvSpPr>
          <p:cNvPr id="17" name="Shape 15"/>
          <p:cNvSpPr/>
          <p:nvPr/>
        </p:nvSpPr>
        <p:spPr>
          <a:xfrm>
            <a:off x="3182112" y="1152144"/>
            <a:ext cx="2761488" cy="1700784"/>
          </a:xfrm>
          <a:prstGeom prst="rect">
            <a:avLst/>
          </a:prstGeom>
          <a:solidFill>
            <a:srgbClr val="EEF6FB"/>
          </a:solidFill>
          <a:ln w="12700">
            <a:solidFill>
              <a:srgbClr val="6366F1"/>
            </a:solidFill>
            <a:prstDash val="solid"/>
          </a:ln>
          <a:effectLst>
            <a:outerShdw blurRad="127000" dist="38100" dir="8100000" algn="bl" rotWithShape="0">
              <a:srgbClr val="000000">
                <a:alpha val="22000"/>
              </a:srgbClr>
            </a:outerShdw>
          </a:effectLst>
        </p:spPr>
        <p:txBody>
          <a:bodyPr/>
          <a:lstStyle/>
          <a:p>
            <a:endParaRPr lang="en-SG"/>
          </a:p>
        </p:txBody>
      </p:sp>
      <p:sp>
        <p:nvSpPr>
          <p:cNvPr id="18" name="Shape 16"/>
          <p:cNvSpPr/>
          <p:nvPr/>
        </p:nvSpPr>
        <p:spPr>
          <a:xfrm>
            <a:off x="3182112" y="1152144"/>
            <a:ext cx="2761488" cy="274320"/>
          </a:xfrm>
          <a:prstGeom prst="rect">
            <a:avLst/>
          </a:prstGeom>
          <a:solidFill>
            <a:srgbClr val="6366F1"/>
          </a:solidFill>
          <a:ln w="12700">
            <a:solidFill>
              <a:srgbClr val="6366F1"/>
            </a:solidFill>
            <a:prstDash val="solid"/>
          </a:ln>
        </p:spPr>
        <p:txBody>
          <a:bodyPr/>
          <a:lstStyle/>
          <a:p>
            <a:endParaRPr lang="en-SG"/>
          </a:p>
        </p:txBody>
      </p:sp>
      <p:sp>
        <p:nvSpPr>
          <p:cNvPr id="19" name="Shape 17"/>
          <p:cNvSpPr/>
          <p:nvPr/>
        </p:nvSpPr>
        <p:spPr>
          <a:xfrm>
            <a:off x="3273552" y="1188720"/>
            <a:ext cx="201168" cy="201168"/>
          </a:xfrm>
          <a:prstGeom prst="line">
            <a:avLst/>
          </a:prstGeom>
          <a:noFill/>
          <a:ln w="12700">
            <a:solidFill>
              <a:srgbClr val="000000">
                <a:alpha val="70000"/>
              </a:srgbClr>
            </a:solidFill>
            <a:prstDash val="solid"/>
          </a:ln>
        </p:spPr>
        <p:txBody>
          <a:bodyPr/>
          <a:lstStyle/>
          <a:p>
            <a:endParaRPr lang="en-SG"/>
          </a:p>
        </p:txBody>
      </p:sp>
      <p:sp>
        <p:nvSpPr>
          <p:cNvPr id="20" name="Text 18"/>
          <p:cNvSpPr/>
          <p:nvPr/>
        </p:nvSpPr>
        <p:spPr>
          <a:xfrm>
            <a:off x="3273552" y="1197864"/>
            <a:ext cx="201168" cy="182880"/>
          </a:xfrm>
          <a:prstGeom prst="rect">
            <a:avLst/>
          </a:prstGeom>
          <a:noFill/>
        </p:spPr>
        <p:txBody>
          <a:bodyPr wrap="square" lIns="0" tIns="0" rIns="0" bIns="0" rtlCol="0" anchor="ctr"/>
          <a:lstStyle/>
          <a:p>
            <a:pPr marL="0" indent="0" algn="ctr">
              <a:buNone/>
            </a:pPr>
            <a:r>
              <a:rPr lang="en-US" sz="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02</a:t>
            </a:r>
            <a:endParaRPr lang="en-US" sz="800" dirty="0"/>
          </a:p>
        </p:txBody>
      </p:sp>
      <p:sp>
        <p:nvSpPr>
          <p:cNvPr id="21" name="Text 19"/>
          <p:cNvSpPr/>
          <p:nvPr/>
        </p:nvSpPr>
        <p:spPr>
          <a:xfrm>
            <a:off x="3529584" y="1188720"/>
            <a:ext cx="2322576" cy="219456"/>
          </a:xfrm>
          <a:prstGeom prst="rect">
            <a:avLst/>
          </a:prstGeom>
          <a:noFill/>
        </p:spPr>
        <p:txBody>
          <a:bodyPr wrap="square" lIns="0" tIns="0" rIns="0" bIns="0" rtlCol="0" anchor="ctr"/>
          <a:lstStyle/>
          <a:p>
            <a:pPr marL="0" indent="0">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Access Control Lists (ACL)</a:t>
            </a:r>
            <a:endParaRPr lang="en-US" sz="1000" dirty="0"/>
          </a:p>
        </p:txBody>
      </p:sp>
      <p:sp>
        <p:nvSpPr>
          <p:cNvPr id="22" name="Text 20"/>
          <p:cNvSpPr/>
          <p:nvPr/>
        </p:nvSpPr>
        <p:spPr>
          <a:xfrm>
            <a:off x="3291840" y="1463040"/>
            <a:ext cx="2560320" cy="1335024"/>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Every file and folder can have per-user and per-group permissions. Mandatory for Windows multi-user and domain environments.</a:t>
            </a:r>
            <a:endParaRPr lang="en-US" sz="900" dirty="0"/>
          </a:p>
        </p:txBody>
      </p:sp>
      <p:sp>
        <p:nvSpPr>
          <p:cNvPr id="23" name="Shape 21"/>
          <p:cNvSpPr/>
          <p:nvPr/>
        </p:nvSpPr>
        <p:spPr>
          <a:xfrm>
            <a:off x="6108192" y="1152144"/>
            <a:ext cx="2761488" cy="1700784"/>
          </a:xfrm>
          <a:prstGeom prst="rect">
            <a:avLst/>
          </a:prstGeom>
          <a:solidFill>
            <a:srgbClr val="EEF6FB"/>
          </a:solidFill>
          <a:ln w="12700">
            <a:solidFill>
              <a:srgbClr val="10B981"/>
            </a:solidFill>
            <a:prstDash val="solid"/>
          </a:ln>
          <a:effectLst>
            <a:outerShdw blurRad="127000" dist="38100" dir="8100000" algn="bl" rotWithShape="0">
              <a:srgbClr val="000000">
                <a:alpha val="22000"/>
              </a:srgbClr>
            </a:outerShdw>
          </a:effectLst>
        </p:spPr>
        <p:txBody>
          <a:bodyPr/>
          <a:lstStyle/>
          <a:p>
            <a:endParaRPr lang="en-SG"/>
          </a:p>
        </p:txBody>
      </p:sp>
      <p:sp>
        <p:nvSpPr>
          <p:cNvPr id="24" name="Shape 22"/>
          <p:cNvSpPr/>
          <p:nvPr/>
        </p:nvSpPr>
        <p:spPr>
          <a:xfrm>
            <a:off x="6108192" y="1152144"/>
            <a:ext cx="2761488" cy="274320"/>
          </a:xfrm>
          <a:prstGeom prst="rect">
            <a:avLst/>
          </a:prstGeom>
          <a:solidFill>
            <a:srgbClr val="10B981"/>
          </a:solidFill>
          <a:ln w="12700">
            <a:solidFill>
              <a:srgbClr val="10B981"/>
            </a:solidFill>
            <a:prstDash val="solid"/>
          </a:ln>
        </p:spPr>
        <p:txBody>
          <a:bodyPr/>
          <a:lstStyle/>
          <a:p>
            <a:endParaRPr lang="en-SG"/>
          </a:p>
        </p:txBody>
      </p:sp>
      <p:sp>
        <p:nvSpPr>
          <p:cNvPr id="25" name="Shape 23"/>
          <p:cNvSpPr/>
          <p:nvPr/>
        </p:nvSpPr>
        <p:spPr>
          <a:xfrm>
            <a:off x="6199632" y="1188720"/>
            <a:ext cx="201168" cy="201168"/>
          </a:xfrm>
          <a:prstGeom prst="line">
            <a:avLst/>
          </a:prstGeom>
          <a:noFill/>
          <a:ln w="12700">
            <a:solidFill>
              <a:srgbClr val="000000">
                <a:alpha val="70000"/>
              </a:srgbClr>
            </a:solidFill>
            <a:prstDash val="solid"/>
          </a:ln>
        </p:spPr>
        <p:txBody>
          <a:bodyPr/>
          <a:lstStyle/>
          <a:p>
            <a:endParaRPr lang="en-SG"/>
          </a:p>
        </p:txBody>
      </p:sp>
      <p:sp>
        <p:nvSpPr>
          <p:cNvPr id="26" name="Text 24"/>
          <p:cNvSpPr/>
          <p:nvPr/>
        </p:nvSpPr>
        <p:spPr>
          <a:xfrm>
            <a:off x="6199632" y="1197864"/>
            <a:ext cx="201168" cy="182880"/>
          </a:xfrm>
          <a:prstGeom prst="rect">
            <a:avLst/>
          </a:prstGeom>
          <a:noFill/>
        </p:spPr>
        <p:txBody>
          <a:bodyPr wrap="square" lIns="0" tIns="0" rIns="0" bIns="0" rtlCol="0" anchor="ctr"/>
          <a:lstStyle/>
          <a:p>
            <a:pPr marL="0" indent="0" algn="ctr">
              <a:buNone/>
            </a:pPr>
            <a:r>
              <a:rPr lang="en-US" sz="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03</a:t>
            </a:r>
            <a:endParaRPr lang="en-US" sz="800" dirty="0"/>
          </a:p>
        </p:txBody>
      </p:sp>
      <p:sp>
        <p:nvSpPr>
          <p:cNvPr id="27" name="Text 25"/>
          <p:cNvSpPr/>
          <p:nvPr/>
        </p:nvSpPr>
        <p:spPr>
          <a:xfrm>
            <a:off x="6455664" y="1188720"/>
            <a:ext cx="2322576" cy="219456"/>
          </a:xfrm>
          <a:prstGeom prst="rect">
            <a:avLst/>
          </a:prstGeom>
          <a:noFill/>
        </p:spPr>
        <p:txBody>
          <a:bodyPr wrap="square" lIns="0" tIns="0" rIns="0" bIns="0" rtlCol="0" anchor="ctr"/>
          <a:lstStyle/>
          <a:p>
            <a:pPr marL="0" indent="0">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Large Volume &amp; File Size</a:t>
            </a:r>
            <a:endParaRPr lang="en-US" sz="1000" dirty="0"/>
          </a:p>
        </p:txBody>
      </p:sp>
      <p:sp>
        <p:nvSpPr>
          <p:cNvPr id="28" name="Text 26"/>
          <p:cNvSpPr/>
          <p:nvPr/>
        </p:nvSpPr>
        <p:spPr>
          <a:xfrm>
            <a:off x="6217920" y="1463040"/>
            <a:ext cx="2560320" cy="1335024"/>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Max volume: ~256 TiB on Windows. Max file size: ~16 TiB. Supports files far larger than FAT32's 4 GB limit.</a:t>
            </a:r>
            <a:endParaRPr lang="en-US" sz="900" dirty="0"/>
          </a:p>
        </p:txBody>
      </p:sp>
      <p:sp>
        <p:nvSpPr>
          <p:cNvPr id="29" name="Shape 27"/>
          <p:cNvSpPr/>
          <p:nvPr/>
        </p:nvSpPr>
        <p:spPr>
          <a:xfrm>
            <a:off x="256032" y="2999232"/>
            <a:ext cx="2761488" cy="1700784"/>
          </a:xfrm>
          <a:prstGeom prst="rect">
            <a:avLst/>
          </a:prstGeom>
          <a:solidFill>
            <a:srgbClr val="EEF6FB"/>
          </a:solidFill>
          <a:ln w="12700">
            <a:solidFill>
              <a:srgbClr val="F59E0B"/>
            </a:solidFill>
            <a:prstDash val="solid"/>
          </a:ln>
          <a:effectLst>
            <a:outerShdw blurRad="127000" dist="38100" dir="8100000" algn="bl" rotWithShape="0">
              <a:srgbClr val="000000">
                <a:alpha val="22000"/>
              </a:srgbClr>
            </a:outerShdw>
          </a:effectLst>
        </p:spPr>
        <p:txBody>
          <a:bodyPr/>
          <a:lstStyle/>
          <a:p>
            <a:endParaRPr lang="en-SG"/>
          </a:p>
        </p:txBody>
      </p:sp>
      <p:sp>
        <p:nvSpPr>
          <p:cNvPr id="30" name="Shape 28"/>
          <p:cNvSpPr/>
          <p:nvPr/>
        </p:nvSpPr>
        <p:spPr>
          <a:xfrm>
            <a:off x="256032" y="2999232"/>
            <a:ext cx="2761488" cy="274320"/>
          </a:xfrm>
          <a:prstGeom prst="rect">
            <a:avLst/>
          </a:prstGeom>
          <a:solidFill>
            <a:srgbClr val="F59E0B"/>
          </a:solidFill>
          <a:ln w="12700">
            <a:solidFill>
              <a:srgbClr val="F59E0B"/>
            </a:solidFill>
            <a:prstDash val="solid"/>
          </a:ln>
        </p:spPr>
        <p:txBody>
          <a:bodyPr/>
          <a:lstStyle/>
          <a:p>
            <a:endParaRPr lang="en-SG"/>
          </a:p>
        </p:txBody>
      </p:sp>
      <p:sp>
        <p:nvSpPr>
          <p:cNvPr id="31" name="Shape 29"/>
          <p:cNvSpPr/>
          <p:nvPr/>
        </p:nvSpPr>
        <p:spPr>
          <a:xfrm>
            <a:off x="347472" y="3035808"/>
            <a:ext cx="201168" cy="201168"/>
          </a:xfrm>
          <a:prstGeom prst="line">
            <a:avLst/>
          </a:prstGeom>
          <a:noFill/>
          <a:ln w="12700">
            <a:solidFill>
              <a:srgbClr val="000000">
                <a:alpha val="70000"/>
              </a:srgbClr>
            </a:solidFill>
            <a:prstDash val="solid"/>
          </a:ln>
        </p:spPr>
        <p:txBody>
          <a:bodyPr/>
          <a:lstStyle/>
          <a:p>
            <a:endParaRPr lang="en-SG"/>
          </a:p>
        </p:txBody>
      </p:sp>
      <p:sp>
        <p:nvSpPr>
          <p:cNvPr id="32" name="Text 30"/>
          <p:cNvSpPr/>
          <p:nvPr/>
        </p:nvSpPr>
        <p:spPr>
          <a:xfrm>
            <a:off x="347472" y="3044952"/>
            <a:ext cx="201168" cy="182880"/>
          </a:xfrm>
          <a:prstGeom prst="rect">
            <a:avLst/>
          </a:prstGeom>
          <a:noFill/>
        </p:spPr>
        <p:txBody>
          <a:bodyPr wrap="square" lIns="0" tIns="0" rIns="0" bIns="0" rtlCol="0" anchor="ctr"/>
          <a:lstStyle/>
          <a:p>
            <a:pPr marL="0" indent="0" algn="ctr">
              <a:buNone/>
            </a:pPr>
            <a:r>
              <a:rPr lang="en-US" sz="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04</a:t>
            </a:r>
            <a:endParaRPr lang="en-US" sz="800" dirty="0"/>
          </a:p>
        </p:txBody>
      </p:sp>
      <p:sp>
        <p:nvSpPr>
          <p:cNvPr id="33" name="Text 31"/>
          <p:cNvSpPr/>
          <p:nvPr/>
        </p:nvSpPr>
        <p:spPr>
          <a:xfrm>
            <a:off x="603504" y="3035808"/>
            <a:ext cx="2322576" cy="219456"/>
          </a:xfrm>
          <a:prstGeom prst="rect">
            <a:avLst/>
          </a:prstGeom>
          <a:noFill/>
        </p:spPr>
        <p:txBody>
          <a:bodyPr wrap="square" lIns="0" tIns="0" rIns="0" bIns="0" rtlCol="0" anchor="ctr"/>
          <a:lstStyle/>
          <a:p>
            <a:pPr marL="0" indent="0">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Alternate Data Streams (ADS)</a:t>
            </a:r>
            <a:endParaRPr lang="en-US" sz="1000" dirty="0"/>
          </a:p>
        </p:txBody>
      </p:sp>
      <p:sp>
        <p:nvSpPr>
          <p:cNvPr id="34" name="Text 32"/>
          <p:cNvSpPr/>
          <p:nvPr/>
        </p:nvSpPr>
        <p:spPr>
          <a:xfrm>
            <a:off x="365760" y="3310128"/>
            <a:ext cx="2560320" cy="1335024"/>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Files can have multiple named data streams attached. Forensic value: malware and attackers use ADS to hide data inside legitimate files.</a:t>
            </a:r>
            <a:endParaRPr lang="en-US" sz="900" dirty="0"/>
          </a:p>
        </p:txBody>
      </p:sp>
      <p:sp>
        <p:nvSpPr>
          <p:cNvPr id="35" name="Shape 33"/>
          <p:cNvSpPr/>
          <p:nvPr/>
        </p:nvSpPr>
        <p:spPr>
          <a:xfrm>
            <a:off x="3182112" y="2999232"/>
            <a:ext cx="2761488" cy="1700784"/>
          </a:xfrm>
          <a:prstGeom prst="rect">
            <a:avLst/>
          </a:prstGeom>
          <a:solidFill>
            <a:srgbClr val="EEF6FB"/>
          </a:solidFill>
          <a:ln w="12700">
            <a:solidFill>
              <a:srgbClr val="EF4444"/>
            </a:solidFill>
            <a:prstDash val="solid"/>
          </a:ln>
          <a:effectLst>
            <a:outerShdw blurRad="127000" dist="38100" dir="8100000" algn="bl" rotWithShape="0">
              <a:srgbClr val="000000">
                <a:alpha val="22000"/>
              </a:srgbClr>
            </a:outerShdw>
          </a:effectLst>
        </p:spPr>
        <p:txBody>
          <a:bodyPr/>
          <a:lstStyle/>
          <a:p>
            <a:endParaRPr lang="en-SG"/>
          </a:p>
        </p:txBody>
      </p:sp>
      <p:sp>
        <p:nvSpPr>
          <p:cNvPr id="36" name="Shape 34"/>
          <p:cNvSpPr/>
          <p:nvPr/>
        </p:nvSpPr>
        <p:spPr>
          <a:xfrm>
            <a:off x="3182112" y="2999232"/>
            <a:ext cx="2761488" cy="274320"/>
          </a:xfrm>
          <a:prstGeom prst="rect">
            <a:avLst/>
          </a:prstGeom>
          <a:solidFill>
            <a:srgbClr val="EF4444"/>
          </a:solidFill>
          <a:ln w="12700">
            <a:solidFill>
              <a:srgbClr val="EF4444"/>
            </a:solidFill>
            <a:prstDash val="solid"/>
          </a:ln>
        </p:spPr>
        <p:txBody>
          <a:bodyPr/>
          <a:lstStyle/>
          <a:p>
            <a:endParaRPr lang="en-SG"/>
          </a:p>
        </p:txBody>
      </p:sp>
      <p:sp>
        <p:nvSpPr>
          <p:cNvPr id="37" name="Shape 35"/>
          <p:cNvSpPr/>
          <p:nvPr/>
        </p:nvSpPr>
        <p:spPr>
          <a:xfrm>
            <a:off x="3273552" y="3035808"/>
            <a:ext cx="201168" cy="201168"/>
          </a:xfrm>
          <a:prstGeom prst="line">
            <a:avLst/>
          </a:prstGeom>
          <a:noFill/>
          <a:ln w="12700">
            <a:solidFill>
              <a:srgbClr val="000000">
                <a:alpha val="70000"/>
              </a:srgbClr>
            </a:solidFill>
            <a:prstDash val="solid"/>
          </a:ln>
        </p:spPr>
        <p:txBody>
          <a:bodyPr/>
          <a:lstStyle/>
          <a:p>
            <a:endParaRPr lang="en-SG"/>
          </a:p>
        </p:txBody>
      </p:sp>
      <p:sp>
        <p:nvSpPr>
          <p:cNvPr id="38" name="Text 36"/>
          <p:cNvSpPr/>
          <p:nvPr/>
        </p:nvSpPr>
        <p:spPr>
          <a:xfrm>
            <a:off x="3273552" y="3044952"/>
            <a:ext cx="201168" cy="182880"/>
          </a:xfrm>
          <a:prstGeom prst="rect">
            <a:avLst/>
          </a:prstGeom>
          <a:noFill/>
        </p:spPr>
        <p:txBody>
          <a:bodyPr wrap="square" lIns="0" tIns="0" rIns="0" bIns="0" rtlCol="0" anchor="ctr"/>
          <a:lstStyle/>
          <a:p>
            <a:pPr marL="0" indent="0" algn="ctr">
              <a:buNone/>
            </a:pPr>
            <a:r>
              <a:rPr lang="en-US" sz="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05</a:t>
            </a:r>
            <a:endParaRPr lang="en-US" sz="800" dirty="0"/>
          </a:p>
        </p:txBody>
      </p:sp>
      <p:sp>
        <p:nvSpPr>
          <p:cNvPr id="39" name="Text 37"/>
          <p:cNvSpPr/>
          <p:nvPr/>
        </p:nvSpPr>
        <p:spPr>
          <a:xfrm>
            <a:off x="3529584" y="3035808"/>
            <a:ext cx="2322576" cy="219456"/>
          </a:xfrm>
          <a:prstGeom prst="rect">
            <a:avLst/>
          </a:prstGeom>
          <a:noFill/>
        </p:spPr>
        <p:txBody>
          <a:bodyPr wrap="square" lIns="0" tIns="0" rIns="0" bIns="0" rtlCol="0" anchor="ctr"/>
          <a:lstStyle/>
          <a:p>
            <a:pPr marL="0" indent="0">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Compression &amp; Encryption (EFS)</a:t>
            </a:r>
            <a:endParaRPr lang="en-US" sz="1000" dirty="0"/>
          </a:p>
        </p:txBody>
      </p:sp>
      <p:sp>
        <p:nvSpPr>
          <p:cNvPr id="40" name="Text 38"/>
          <p:cNvSpPr/>
          <p:nvPr/>
        </p:nvSpPr>
        <p:spPr>
          <a:xfrm>
            <a:off x="3291840" y="3310128"/>
            <a:ext cx="2560320" cy="1335024"/>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Native per-file compression and Encrypting File System (EFS). EFS uses a user certificate — losing it means losing the file content permanently.</a:t>
            </a:r>
            <a:endParaRPr lang="en-US" sz="900" dirty="0"/>
          </a:p>
        </p:txBody>
      </p:sp>
      <p:sp>
        <p:nvSpPr>
          <p:cNvPr id="41" name="Shape 39"/>
          <p:cNvSpPr/>
          <p:nvPr/>
        </p:nvSpPr>
        <p:spPr>
          <a:xfrm>
            <a:off x="6108192" y="2999232"/>
            <a:ext cx="2761488" cy="1700784"/>
          </a:xfrm>
          <a:prstGeom prst="rect">
            <a:avLst/>
          </a:prstGeom>
          <a:solidFill>
            <a:srgbClr val="EEF6FB"/>
          </a:solidFill>
          <a:ln w="12700">
            <a:solidFill>
              <a:srgbClr val="A855F7"/>
            </a:solidFill>
            <a:prstDash val="solid"/>
          </a:ln>
          <a:effectLst>
            <a:outerShdw blurRad="127000" dist="38100" dir="8100000" algn="bl" rotWithShape="0">
              <a:srgbClr val="000000">
                <a:alpha val="22000"/>
              </a:srgbClr>
            </a:outerShdw>
          </a:effectLst>
        </p:spPr>
        <p:txBody>
          <a:bodyPr/>
          <a:lstStyle/>
          <a:p>
            <a:endParaRPr lang="en-SG"/>
          </a:p>
        </p:txBody>
      </p:sp>
      <p:sp>
        <p:nvSpPr>
          <p:cNvPr id="42" name="Shape 40"/>
          <p:cNvSpPr/>
          <p:nvPr/>
        </p:nvSpPr>
        <p:spPr>
          <a:xfrm>
            <a:off x="6108192" y="2999232"/>
            <a:ext cx="2761488" cy="274320"/>
          </a:xfrm>
          <a:prstGeom prst="rect">
            <a:avLst/>
          </a:prstGeom>
          <a:solidFill>
            <a:srgbClr val="A855F7"/>
          </a:solidFill>
          <a:ln w="12700">
            <a:solidFill>
              <a:srgbClr val="A855F7"/>
            </a:solidFill>
            <a:prstDash val="solid"/>
          </a:ln>
        </p:spPr>
        <p:txBody>
          <a:bodyPr/>
          <a:lstStyle/>
          <a:p>
            <a:endParaRPr lang="en-SG"/>
          </a:p>
        </p:txBody>
      </p:sp>
      <p:sp>
        <p:nvSpPr>
          <p:cNvPr id="43" name="Shape 41"/>
          <p:cNvSpPr/>
          <p:nvPr/>
        </p:nvSpPr>
        <p:spPr>
          <a:xfrm>
            <a:off x="6199632" y="3035808"/>
            <a:ext cx="201168" cy="201168"/>
          </a:xfrm>
          <a:prstGeom prst="line">
            <a:avLst/>
          </a:prstGeom>
          <a:noFill/>
          <a:ln w="12700">
            <a:solidFill>
              <a:srgbClr val="000000">
                <a:alpha val="70000"/>
              </a:srgbClr>
            </a:solidFill>
            <a:prstDash val="solid"/>
          </a:ln>
        </p:spPr>
        <p:txBody>
          <a:bodyPr/>
          <a:lstStyle/>
          <a:p>
            <a:endParaRPr lang="en-SG"/>
          </a:p>
        </p:txBody>
      </p:sp>
      <p:sp>
        <p:nvSpPr>
          <p:cNvPr id="44" name="Text 42"/>
          <p:cNvSpPr/>
          <p:nvPr/>
        </p:nvSpPr>
        <p:spPr>
          <a:xfrm>
            <a:off x="6199632" y="3044952"/>
            <a:ext cx="201168" cy="182880"/>
          </a:xfrm>
          <a:prstGeom prst="rect">
            <a:avLst/>
          </a:prstGeom>
          <a:noFill/>
        </p:spPr>
        <p:txBody>
          <a:bodyPr wrap="square" lIns="0" tIns="0" rIns="0" bIns="0" rtlCol="0" anchor="ctr"/>
          <a:lstStyle/>
          <a:p>
            <a:pPr marL="0" indent="0" algn="ctr">
              <a:buNone/>
            </a:pPr>
            <a:r>
              <a:rPr lang="en-US" sz="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06</a:t>
            </a:r>
            <a:endParaRPr lang="en-US" sz="800" dirty="0"/>
          </a:p>
        </p:txBody>
      </p:sp>
      <p:sp>
        <p:nvSpPr>
          <p:cNvPr id="45" name="Text 43"/>
          <p:cNvSpPr/>
          <p:nvPr/>
        </p:nvSpPr>
        <p:spPr>
          <a:xfrm>
            <a:off x="6455664" y="3035808"/>
            <a:ext cx="2322576" cy="219456"/>
          </a:xfrm>
          <a:prstGeom prst="rect">
            <a:avLst/>
          </a:prstGeom>
          <a:noFill/>
        </p:spPr>
        <p:txBody>
          <a:bodyPr wrap="square" lIns="0" tIns="0" rIns="0" bIns="0" rtlCol="0" anchor="ctr"/>
          <a:lstStyle/>
          <a:p>
            <a:pPr marL="0" indent="0">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Common Environments</a:t>
            </a:r>
            <a:endParaRPr lang="en-US" sz="1000" dirty="0"/>
          </a:p>
        </p:txBody>
      </p:sp>
      <p:sp>
        <p:nvSpPr>
          <p:cNvPr id="46" name="Text 44"/>
          <p:cNvSpPr/>
          <p:nvPr/>
        </p:nvSpPr>
        <p:spPr>
          <a:xfrm>
            <a:off x="6217920" y="3310128"/>
            <a:ext cx="2560320" cy="1335024"/>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All Windows system drives (C:\). Server and NAS drives. Enterprise storage. VMware virtual disk images (VMDK). Forensic imaging of any modern Windows system.</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EA5E9"/>
          </a:solidFill>
          <a:ln w="12700">
            <a:solidFill>
              <a:srgbClr val="0EA5E9"/>
            </a:solidFill>
            <a:prstDash val="solid"/>
          </a:ln>
        </p:spPr>
        <p:txBody>
          <a:bodyPr/>
          <a:lstStyle/>
          <a:p>
            <a:endParaRPr lang="en-SG"/>
          </a:p>
        </p:txBody>
      </p:sp>
      <p:sp>
        <p:nvSpPr>
          <p:cNvPr id="3" name="Text 1"/>
          <p:cNvSpPr/>
          <p:nvPr/>
        </p:nvSpPr>
        <p:spPr>
          <a:xfrm>
            <a:off x="256032" y="186690"/>
            <a:ext cx="8631936" cy="548640"/>
          </a:xfrm>
          <a:prstGeom prst="rect">
            <a:avLst/>
          </a:prstGeom>
          <a:noFill/>
        </p:spPr>
        <p:txBody>
          <a:bodyPr wrap="square" lIns="0" tIns="0" rIns="0" bIns="0" rtlCol="0" anchor="ctr"/>
          <a:lstStyle/>
          <a:p>
            <a:pPr marL="0" indent="0">
              <a:buNone/>
            </a:pPr>
            <a:r>
              <a:rPr lang="en-US" sz="1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NTFS Volume Structure</a:t>
            </a:r>
            <a:endParaRPr lang="en-US" sz="1800" dirty="0"/>
          </a:p>
        </p:txBody>
      </p:sp>
      <p:sp>
        <p:nvSpPr>
          <p:cNvPr id="4" name="Shape 2"/>
          <p:cNvSpPr/>
          <p:nvPr/>
        </p:nvSpPr>
        <p:spPr>
          <a:xfrm>
            <a:off x="256032" y="73152"/>
            <a:ext cx="1463040" cy="219456"/>
          </a:xfrm>
          <a:prstGeom prst="rect">
            <a:avLst/>
          </a:prstGeom>
          <a:solidFill>
            <a:srgbClr val="0EA5E9"/>
          </a:solidFill>
          <a:ln w="12700">
            <a:solidFill>
              <a:srgbClr val="0EA5E9"/>
            </a:solidFill>
            <a:prstDash val="solid"/>
          </a:ln>
        </p:spPr>
        <p:txBody>
          <a:bodyPr/>
          <a:lstStyle/>
          <a:p>
            <a:endParaRPr lang="en-SG"/>
          </a:p>
        </p:txBody>
      </p:sp>
      <p:sp>
        <p:nvSpPr>
          <p:cNvPr id="5" name="Text 3"/>
          <p:cNvSpPr/>
          <p:nvPr/>
        </p:nvSpPr>
        <p:spPr>
          <a:xfrm>
            <a:off x="256032" y="73152"/>
            <a:ext cx="1463040" cy="219456"/>
          </a:xfrm>
          <a:prstGeom prst="rect">
            <a:avLst/>
          </a:prstGeom>
          <a:noFill/>
        </p:spPr>
        <p:txBody>
          <a:bodyPr wrap="square" lIns="0" tIns="0" rIns="0" bIns="0" rtlCol="0" anchor="ctr"/>
          <a:lstStyle/>
          <a:p>
            <a:pPr marL="0" indent="0" algn="ctr">
              <a:buNone/>
            </a:pPr>
            <a:r>
              <a:rPr lang="en-US" sz="800" b="1" kern="0" spc="100"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SECTION 03 — NTFS</a:t>
            </a:r>
            <a:endParaRPr lang="en-US" sz="800" dirty="0"/>
          </a:p>
        </p:txBody>
      </p:sp>
      <p:sp>
        <p:nvSpPr>
          <p:cNvPr id="10" name="Shape 8"/>
          <p:cNvSpPr/>
          <p:nvPr/>
        </p:nvSpPr>
        <p:spPr>
          <a:xfrm>
            <a:off x="256032" y="822960"/>
            <a:ext cx="914400" cy="585216"/>
          </a:xfrm>
          <a:prstGeom prst="rect">
            <a:avLst/>
          </a:prstGeom>
          <a:solidFill>
            <a:srgbClr val="0EA5E9"/>
          </a:solidFill>
          <a:ln w="12700">
            <a:solidFill>
              <a:srgbClr val="0EA5E9"/>
            </a:solidFill>
            <a:prstDash val="solid"/>
          </a:ln>
        </p:spPr>
        <p:txBody>
          <a:bodyPr/>
          <a:lstStyle/>
          <a:p>
            <a:endParaRPr lang="en-SG"/>
          </a:p>
        </p:txBody>
      </p:sp>
      <p:sp>
        <p:nvSpPr>
          <p:cNvPr id="11" name="Text 9"/>
          <p:cNvSpPr/>
          <p:nvPr/>
        </p:nvSpPr>
        <p:spPr>
          <a:xfrm>
            <a:off x="256032" y="822960"/>
            <a:ext cx="914400" cy="585216"/>
          </a:xfrm>
          <a:prstGeom prst="rect">
            <a:avLst/>
          </a:prstGeom>
          <a:noFill/>
        </p:spPr>
        <p:txBody>
          <a:bodyPr wrap="square" lIns="0" tIns="0" rIns="0" bIns="0" rtlCol="0" anchor="ctr"/>
          <a:lstStyle/>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VBR</a:t>
            </a:r>
            <a:endParaRPr lang="en-US" sz="850" dirty="0"/>
          </a:p>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(Boot)</a:t>
            </a:r>
            <a:endParaRPr lang="en-US" sz="850" dirty="0"/>
          </a:p>
        </p:txBody>
      </p:sp>
      <p:sp>
        <p:nvSpPr>
          <p:cNvPr id="12" name="Shape 10"/>
          <p:cNvSpPr/>
          <p:nvPr/>
        </p:nvSpPr>
        <p:spPr>
          <a:xfrm>
            <a:off x="1207008" y="822960"/>
            <a:ext cx="1737360" cy="585216"/>
          </a:xfrm>
          <a:prstGeom prst="rect">
            <a:avLst/>
          </a:prstGeom>
          <a:solidFill>
            <a:srgbClr val="6366F1"/>
          </a:solidFill>
          <a:ln w="12700">
            <a:solidFill>
              <a:srgbClr val="6366F1"/>
            </a:solidFill>
            <a:prstDash val="solid"/>
          </a:ln>
        </p:spPr>
        <p:txBody>
          <a:bodyPr/>
          <a:lstStyle/>
          <a:p>
            <a:endParaRPr lang="en-SG"/>
          </a:p>
        </p:txBody>
      </p:sp>
      <p:sp>
        <p:nvSpPr>
          <p:cNvPr id="13" name="Text 11"/>
          <p:cNvSpPr/>
          <p:nvPr/>
        </p:nvSpPr>
        <p:spPr>
          <a:xfrm>
            <a:off x="1207008" y="822960"/>
            <a:ext cx="1737360" cy="585216"/>
          </a:xfrm>
          <a:prstGeom prst="rect">
            <a:avLst/>
          </a:prstGeom>
          <a:noFill/>
        </p:spPr>
        <p:txBody>
          <a:bodyPr wrap="square" lIns="0" tIns="0" rIns="0" bIns="0" rtlCol="0" anchor="ctr"/>
          <a:lstStyle/>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$MFT</a:t>
            </a:r>
            <a:endParaRPr lang="en-US" sz="850" dirty="0"/>
          </a:p>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(File Table)</a:t>
            </a:r>
            <a:endParaRPr lang="en-US" sz="850" dirty="0"/>
          </a:p>
        </p:txBody>
      </p:sp>
      <p:sp>
        <p:nvSpPr>
          <p:cNvPr id="14" name="Shape 12"/>
          <p:cNvSpPr/>
          <p:nvPr/>
        </p:nvSpPr>
        <p:spPr>
          <a:xfrm>
            <a:off x="2980944" y="822960"/>
            <a:ext cx="1371600" cy="585216"/>
          </a:xfrm>
          <a:prstGeom prst="rect">
            <a:avLst/>
          </a:prstGeom>
          <a:solidFill>
            <a:srgbClr val="818CF8"/>
          </a:solidFill>
          <a:ln w="12700">
            <a:solidFill>
              <a:srgbClr val="818CF8"/>
            </a:solidFill>
            <a:prstDash val="solid"/>
          </a:ln>
        </p:spPr>
        <p:txBody>
          <a:bodyPr/>
          <a:lstStyle/>
          <a:p>
            <a:endParaRPr lang="en-SG"/>
          </a:p>
        </p:txBody>
      </p:sp>
      <p:sp>
        <p:nvSpPr>
          <p:cNvPr id="15" name="Text 13"/>
          <p:cNvSpPr/>
          <p:nvPr/>
        </p:nvSpPr>
        <p:spPr>
          <a:xfrm>
            <a:off x="2980944" y="822960"/>
            <a:ext cx="1371600" cy="585216"/>
          </a:xfrm>
          <a:prstGeom prst="rect">
            <a:avLst/>
          </a:prstGeom>
          <a:noFill/>
        </p:spPr>
        <p:txBody>
          <a:bodyPr wrap="square" lIns="0" tIns="0" rIns="0" bIns="0" rtlCol="0" anchor="ctr"/>
          <a:lstStyle/>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$MFTMirr</a:t>
            </a:r>
            <a:endParaRPr lang="en-US" sz="850" dirty="0"/>
          </a:p>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(Backup)</a:t>
            </a:r>
            <a:endParaRPr lang="en-US" sz="850" dirty="0"/>
          </a:p>
        </p:txBody>
      </p:sp>
      <p:sp>
        <p:nvSpPr>
          <p:cNvPr id="16" name="Shape 14"/>
          <p:cNvSpPr/>
          <p:nvPr/>
        </p:nvSpPr>
        <p:spPr>
          <a:xfrm>
            <a:off x="4389120" y="822960"/>
            <a:ext cx="1371600" cy="585216"/>
          </a:xfrm>
          <a:prstGeom prst="rect">
            <a:avLst/>
          </a:prstGeom>
          <a:solidFill>
            <a:srgbClr val="F59E0B"/>
          </a:solidFill>
          <a:ln w="12700">
            <a:solidFill>
              <a:srgbClr val="F59E0B"/>
            </a:solidFill>
            <a:prstDash val="solid"/>
          </a:ln>
        </p:spPr>
        <p:txBody>
          <a:bodyPr/>
          <a:lstStyle/>
          <a:p>
            <a:endParaRPr lang="en-SG"/>
          </a:p>
        </p:txBody>
      </p:sp>
      <p:sp>
        <p:nvSpPr>
          <p:cNvPr id="17" name="Text 15"/>
          <p:cNvSpPr/>
          <p:nvPr/>
        </p:nvSpPr>
        <p:spPr>
          <a:xfrm>
            <a:off x="4389120" y="822960"/>
            <a:ext cx="1371600" cy="585216"/>
          </a:xfrm>
          <a:prstGeom prst="rect">
            <a:avLst/>
          </a:prstGeom>
          <a:noFill/>
        </p:spPr>
        <p:txBody>
          <a:bodyPr wrap="square" lIns="0" tIns="0" rIns="0" bIns="0" rtlCol="0" anchor="ctr"/>
          <a:lstStyle/>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$LogFile</a:t>
            </a:r>
            <a:endParaRPr lang="en-US" sz="850" dirty="0"/>
          </a:p>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(Journal)</a:t>
            </a:r>
            <a:endParaRPr lang="en-US" sz="850" dirty="0"/>
          </a:p>
        </p:txBody>
      </p:sp>
      <p:sp>
        <p:nvSpPr>
          <p:cNvPr id="18" name="Shape 16"/>
          <p:cNvSpPr/>
          <p:nvPr/>
        </p:nvSpPr>
        <p:spPr>
          <a:xfrm>
            <a:off x="5797296" y="822960"/>
            <a:ext cx="1371600" cy="585216"/>
          </a:xfrm>
          <a:prstGeom prst="rect">
            <a:avLst/>
          </a:prstGeom>
          <a:solidFill>
            <a:srgbClr val="10B981"/>
          </a:solidFill>
          <a:ln w="12700">
            <a:solidFill>
              <a:srgbClr val="10B981"/>
            </a:solidFill>
            <a:prstDash val="solid"/>
          </a:ln>
        </p:spPr>
        <p:txBody>
          <a:bodyPr/>
          <a:lstStyle/>
          <a:p>
            <a:endParaRPr lang="en-SG"/>
          </a:p>
        </p:txBody>
      </p:sp>
      <p:sp>
        <p:nvSpPr>
          <p:cNvPr id="19" name="Text 17"/>
          <p:cNvSpPr/>
          <p:nvPr/>
        </p:nvSpPr>
        <p:spPr>
          <a:xfrm>
            <a:off x="5797296" y="822960"/>
            <a:ext cx="1371600" cy="585216"/>
          </a:xfrm>
          <a:prstGeom prst="rect">
            <a:avLst/>
          </a:prstGeom>
          <a:noFill/>
        </p:spPr>
        <p:txBody>
          <a:bodyPr wrap="square" lIns="0" tIns="0" rIns="0" bIns="0" rtlCol="0" anchor="ctr"/>
          <a:lstStyle/>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$Bitmap</a:t>
            </a:r>
            <a:endParaRPr lang="en-US" sz="850" dirty="0"/>
          </a:p>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(Alloc Map)</a:t>
            </a:r>
            <a:endParaRPr lang="en-US" sz="850" dirty="0"/>
          </a:p>
        </p:txBody>
      </p:sp>
      <p:sp>
        <p:nvSpPr>
          <p:cNvPr id="20" name="Shape 18"/>
          <p:cNvSpPr/>
          <p:nvPr/>
        </p:nvSpPr>
        <p:spPr>
          <a:xfrm>
            <a:off x="7205472" y="822960"/>
            <a:ext cx="1847088" cy="585216"/>
          </a:xfrm>
          <a:prstGeom prst="rect">
            <a:avLst/>
          </a:prstGeom>
          <a:solidFill>
            <a:srgbClr val="94A3B8"/>
          </a:solidFill>
          <a:ln w="12700">
            <a:solidFill>
              <a:srgbClr val="94A3B8"/>
            </a:solidFill>
            <a:prstDash val="solid"/>
          </a:ln>
        </p:spPr>
        <p:txBody>
          <a:bodyPr/>
          <a:lstStyle/>
          <a:p>
            <a:endParaRPr lang="en-SG"/>
          </a:p>
        </p:txBody>
      </p:sp>
      <p:sp>
        <p:nvSpPr>
          <p:cNvPr id="21" name="Text 19"/>
          <p:cNvSpPr/>
          <p:nvPr/>
        </p:nvSpPr>
        <p:spPr>
          <a:xfrm>
            <a:off x="7205472" y="822960"/>
            <a:ext cx="1847088" cy="585216"/>
          </a:xfrm>
          <a:prstGeom prst="rect">
            <a:avLst/>
          </a:prstGeom>
          <a:noFill/>
        </p:spPr>
        <p:txBody>
          <a:bodyPr wrap="square" lIns="0" tIns="0" rIns="0" bIns="0" rtlCol="0" anchor="ctr"/>
          <a:lstStyle/>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Data</a:t>
            </a:r>
            <a:endParaRPr lang="en-US" sz="850" dirty="0"/>
          </a:p>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Clusters</a:t>
            </a:r>
            <a:endParaRPr lang="en-US" sz="850" dirty="0"/>
          </a:p>
        </p:txBody>
      </p:sp>
      <p:sp>
        <p:nvSpPr>
          <p:cNvPr id="22" name="Text 20"/>
          <p:cNvSpPr/>
          <p:nvPr/>
        </p:nvSpPr>
        <p:spPr>
          <a:xfrm>
            <a:off x="256032" y="1444752"/>
            <a:ext cx="8631936" cy="182880"/>
          </a:xfrm>
          <a:prstGeom prst="rect">
            <a:avLst/>
          </a:prstGeom>
          <a:noFill/>
        </p:spPr>
        <p:txBody>
          <a:bodyPr wrap="square" rtlCol="0" anchor="ctr"/>
          <a:lstStyle/>
          <a:p>
            <a:pPr marL="0" indent="0" algn="ctr">
              <a:buNone/>
            </a:pPr>
            <a:r>
              <a:rPr lang="en-US" sz="900" i="1" dirty="0">
                <a:solidFill>
                  <a:srgbClr val="475569"/>
                </a:solidFill>
                <a:latin typeface="Calibri" panose="020F0502020204030204" pitchFamily="34" charset="0"/>
                <a:ea typeface="Calibri" panose="020F0502020204030204" pitchFamily="34" charset="-122"/>
                <a:cs typeface="Calibri" panose="020F0502020204030204" pitchFamily="34" charset="-120"/>
              </a:rPr>
              <a:t>↑  NTFS Volume Layout  ↑</a:t>
            </a:r>
            <a:endParaRPr lang="en-US" sz="900" dirty="0"/>
          </a:p>
        </p:txBody>
      </p:sp>
      <p:sp>
        <p:nvSpPr>
          <p:cNvPr id="23" name="Shape 21"/>
          <p:cNvSpPr/>
          <p:nvPr/>
        </p:nvSpPr>
        <p:spPr>
          <a:xfrm>
            <a:off x="256032" y="1682496"/>
            <a:ext cx="2029968" cy="2980944"/>
          </a:xfrm>
          <a:prstGeom prst="rect">
            <a:avLst/>
          </a:prstGeom>
          <a:solidFill>
            <a:srgbClr val="EEF6FB"/>
          </a:solidFill>
          <a:ln w="12700">
            <a:solidFill>
              <a:srgbClr val="0EA5E9"/>
            </a:solidFill>
            <a:prstDash val="solid"/>
          </a:ln>
          <a:effectLst>
            <a:outerShdw blurRad="127000" dist="38100" dir="8100000" algn="bl" rotWithShape="0">
              <a:srgbClr val="000000">
                <a:alpha val="22000"/>
              </a:srgbClr>
            </a:outerShdw>
          </a:effectLst>
        </p:spPr>
        <p:txBody>
          <a:bodyPr/>
          <a:lstStyle/>
          <a:p>
            <a:endParaRPr lang="en-SG"/>
          </a:p>
        </p:txBody>
      </p:sp>
      <p:sp>
        <p:nvSpPr>
          <p:cNvPr id="24" name="Shape 22"/>
          <p:cNvSpPr/>
          <p:nvPr/>
        </p:nvSpPr>
        <p:spPr>
          <a:xfrm>
            <a:off x="256032" y="1682496"/>
            <a:ext cx="2029968" cy="274320"/>
          </a:xfrm>
          <a:prstGeom prst="rect">
            <a:avLst/>
          </a:prstGeom>
          <a:solidFill>
            <a:srgbClr val="0EA5E9"/>
          </a:solidFill>
          <a:ln w="12700">
            <a:solidFill>
              <a:srgbClr val="0EA5E9"/>
            </a:solidFill>
            <a:prstDash val="solid"/>
          </a:ln>
        </p:spPr>
        <p:txBody>
          <a:bodyPr/>
          <a:lstStyle/>
          <a:p>
            <a:endParaRPr lang="en-SG"/>
          </a:p>
        </p:txBody>
      </p:sp>
      <p:sp>
        <p:nvSpPr>
          <p:cNvPr id="25" name="Text 23"/>
          <p:cNvSpPr/>
          <p:nvPr/>
        </p:nvSpPr>
        <p:spPr>
          <a:xfrm>
            <a:off x="347472" y="1719072"/>
            <a:ext cx="1883664" cy="219456"/>
          </a:xfrm>
          <a:prstGeom prst="rect">
            <a:avLst/>
          </a:prstGeom>
          <a:noFill/>
        </p:spPr>
        <p:txBody>
          <a:bodyPr wrap="square" lIns="0" tIns="0" rIns="0" bIns="0" rtlCol="0" anchor="ctr"/>
          <a:lstStyle/>
          <a:p>
            <a:pPr marL="0" indent="0">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Volume Boot Record (VBR)</a:t>
            </a:r>
            <a:endParaRPr lang="en-US" sz="1000" dirty="0"/>
          </a:p>
        </p:txBody>
      </p:sp>
      <p:sp>
        <p:nvSpPr>
          <p:cNvPr id="26" name="Text 24"/>
          <p:cNvSpPr/>
          <p:nvPr/>
        </p:nvSpPr>
        <p:spPr>
          <a:xfrm>
            <a:off x="347472" y="2011680"/>
            <a:ext cx="1865376" cy="2615184"/>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Sector 0. Contains the BIOS Parameter Block (BPB) with volume geometry: bytes/sector, sectors/cluster, total sectors, and MFT location. Starting point for all NTFS parsers.</a:t>
            </a:r>
            <a:endParaRPr lang="en-US" sz="900" dirty="0"/>
          </a:p>
        </p:txBody>
      </p:sp>
      <p:sp>
        <p:nvSpPr>
          <p:cNvPr id="27" name="Shape 25"/>
          <p:cNvSpPr/>
          <p:nvPr/>
        </p:nvSpPr>
        <p:spPr>
          <a:xfrm>
            <a:off x="2395728" y="1682496"/>
            <a:ext cx="2029968" cy="2980944"/>
          </a:xfrm>
          <a:prstGeom prst="rect">
            <a:avLst/>
          </a:prstGeom>
          <a:solidFill>
            <a:srgbClr val="EEF6FB"/>
          </a:solidFill>
          <a:ln w="12700">
            <a:solidFill>
              <a:srgbClr val="6366F1"/>
            </a:solidFill>
            <a:prstDash val="solid"/>
          </a:ln>
          <a:effectLst>
            <a:outerShdw blurRad="127000" dist="38100" dir="8100000" algn="bl" rotWithShape="0">
              <a:srgbClr val="000000">
                <a:alpha val="22000"/>
              </a:srgbClr>
            </a:outerShdw>
          </a:effectLst>
        </p:spPr>
        <p:txBody>
          <a:bodyPr/>
          <a:lstStyle/>
          <a:p>
            <a:endParaRPr lang="en-SG"/>
          </a:p>
        </p:txBody>
      </p:sp>
      <p:sp>
        <p:nvSpPr>
          <p:cNvPr id="28" name="Shape 26"/>
          <p:cNvSpPr/>
          <p:nvPr/>
        </p:nvSpPr>
        <p:spPr>
          <a:xfrm>
            <a:off x="2395728" y="1682496"/>
            <a:ext cx="2029968" cy="274320"/>
          </a:xfrm>
          <a:prstGeom prst="rect">
            <a:avLst/>
          </a:prstGeom>
          <a:solidFill>
            <a:srgbClr val="6366F1"/>
          </a:solidFill>
          <a:ln w="12700">
            <a:solidFill>
              <a:srgbClr val="6366F1"/>
            </a:solidFill>
            <a:prstDash val="solid"/>
          </a:ln>
        </p:spPr>
        <p:txBody>
          <a:bodyPr/>
          <a:lstStyle/>
          <a:p>
            <a:endParaRPr lang="en-SG"/>
          </a:p>
        </p:txBody>
      </p:sp>
      <p:sp>
        <p:nvSpPr>
          <p:cNvPr id="29" name="Text 27"/>
          <p:cNvSpPr/>
          <p:nvPr/>
        </p:nvSpPr>
        <p:spPr>
          <a:xfrm>
            <a:off x="2487168" y="1719072"/>
            <a:ext cx="1883664" cy="219456"/>
          </a:xfrm>
          <a:prstGeom prst="rect">
            <a:avLst/>
          </a:prstGeom>
          <a:noFill/>
        </p:spPr>
        <p:txBody>
          <a:bodyPr wrap="square" lIns="0" tIns="0" rIns="0" bIns="0" rtlCol="0" anchor="ctr"/>
          <a:lstStyle/>
          <a:p>
            <a:pPr marL="0" indent="0">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$MFT — Master File Table</a:t>
            </a:r>
            <a:endParaRPr lang="en-US" sz="1000" dirty="0"/>
          </a:p>
        </p:txBody>
      </p:sp>
      <p:sp>
        <p:nvSpPr>
          <p:cNvPr id="30" name="Text 28"/>
          <p:cNvSpPr/>
          <p:nvPr/>
        </p:nvSpPr>
        <p:spPr>
          <a:xfrm>
            <a:off x="2487168" y="2011680"/>
            <a:ext cx="1865376" cy="2615184"/>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The core of NTFS. One 1,024-byte record per file and directory. Stores all file attributes: name, timestamps, size, permissions, and data location. First 16 records reserved for system files.</a:t>
            </a:r>
            <a:endParaRPr lang="en-US" sz="900" dirty="0"/>
          </a:p>
        </p:txBody>
      </p:sp>
      <p:sp>
        <p:nvSpPr>
          <p:cNvPr id="31" name="Shape 29"/>
          <p:cNvSpPr/>
          <p:nvPr/>
        </p:nvSpPr>
        <p:spPr>
          <a:xfrm>
            <a:off x="4535424" y="1682496"/>
            <a:ext cx="2029968" cy="2980944"/>
          </a:xfrm>
          <a:prstGeom prst="rect">
            <a:avLst/>
          </a:prstGeom>
          <a:solidFill>
            <a:srgbClr val="EEF6FB"/>
          </a:solidFill>
          <a:ln w="12700">
            <a:solidFill>
              <a:srgbClr val="F59E0B"/>
            </a:solidFill>
            <a:prstDash val="solid"/>
          </a:ln>
          <a:effectLst>
            <a:outerShdw blurRad="127000" dist="38100" dir="8100000" algn="bl" rotWithShape="0">
              <a:srgbClr val="000000">
                <a:alpha val="22000"/>
              </a:srgbClr>
            </a:outerShdw>
          </a:effectLst>
        </p:spPr>
        <p:txBody>
          <a:bodyPr/>
          <a:lstStyle/>
          <a:p>
            <a:endParaRPr lang="en-SG"/>
          </a:p>
        </p:txBody>
      </p:sp>
      <p:sp>
        <p:nvSpPr>
          <p:cNvPr id="32" name="Shape 30"/>
          <p:cNvSpPr/>
          <p:nvPr/>
        </p:nvSpPr>
        <p:spPr>
          <a:xfrm>
            <a:off x="4535424" y="1682496"/>
            <a:ext cx="2029968" cy="274320"/>
          </a:xfrm>
          <a:prstGeom prst="rect">
            <a:avLst/>
          </a:prstGeom>
          <a:solidFill>
            <a:srgbClr val="F59E0B"/>
          </a:solidFill>
          <a:ln w="12700">
            <a:solidFill>
              <a:srgbClr val="F59E0B"/>
            </a:solidFill>
            <a:prstDash val="solid"/>
          </a:ln>
        </p:spPr>
        <p:txBody>
          <a:bodyPr/>
          <a:lstStyle/>
          <a:p>
            <a:endParaRPr lang="en-SG"/>
          </a:p>
        </p:txBody>
      </p:sp>
      <p:sp>
        <p:nvSpPr>
          <p:cNvPr id="33" name="Text 31"/>
          <p:cNvSpPr/>
          <p:nvPr/>
        </p:nvSpPr>
        <p:spPr>
          <a:xfrm>
            <a:off x="4626864" y="1719072"/>
            <a:ext cx="1883664" cy="219456"/>
          </a:xfrm>
          <a:prstGeom prst="rect">
            <a:avLst/>
          </a:prstGeom>
          <a:noFill/>
        </p:spPr>
        <p:txBody>
          <a:bodyPr wrap="square" lIns="0" tIns="0" rIns="0" bIns="0" rtlCol="0" anchor="ctr"/>
          <a:lstStyle/>
          <a:p>
            <a:pPr marL="0" indent="0">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$LogFile — Metadata Journal</a:t>
            </a:r>
            <a:endParaRPr lang="en-US" sz="1000" dirty="0"/>
          </a:p>
        </p:txBody>
      </p:sp>
      <p:sp>
        <p:nvSpPr>
          <p:cNvPr id="34" name="Text 32"/>
          <p:cNvSpPr/>
          <p:nvPr/>
        </p:nvSpPr>
        <p:spPr>
          <a:xfrm>
            <a:off x="4626864" y="2011680"/>
            <a:ext cx="1865376" cy="2615184"/>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Transaction journal. Records metadata changes before commit. Forensic value: may reveal recently deleted or modified files. Separate from $UsnJrnl change journal.</a:t>
            </a:r>
            <a:endParaRPr lang="en-US" sz="900" dirty="0"/>
          </a:p>
        </p:txBody>
      </p:sp>
      <p:sp>
        <p:nvSpPr>
          <p:cNvPr id="35" name="Shape 33"/>
          <p:cNvSpPr/>
          <p:nvPr/>
        </p:nvSpPr>
        <p:spPr>
          <a:xfrm>
            <a:off x="6675120" y="1682496"/>
            <a:ext cx="2029968" cy="2980944"/>
          </a:xfrm>
          <a:prstGeom prst="rect">
            <a:avLst/>
          </a:prstGeom>
          <a:solidFill>
            <a:srgbClr val="EEF6FB"/>
          </a:solidFill>
          <a:ln w="12700">
            <a:solidFill>
              <a:srgbClr val="10B981"/>
            </a:solidFill>
            <a:prstDash val="solid"/>
          </a:ln>
          <a:effectLst>
            <a:outerShdw blurRad="127000" dist="38100" dir="8100000" algn="bl" rotWithShape="0">
              <a:srgbClr val="000000">
                <a:alpha val="22000"/>
              </a:srgbClr>
            </a:outerShdw>
          </a:effectLst>
        </p:spPr>
        <p:txBody>
          <a:bodyPr/>
          <a:lstStyle/>
          <a:p>
            <a:endParaRPr lang="en-SG"/>
          </a:p>
        </p:txBody>
      </p:sp>
      <p:sp>
        <p:nvSpPr>
          <p:cNvPr id="36" name="Shape 34"/>
          <p:cNvSpPr/>
          <p:nvPr/>
        </p:nvSpPr>
        <p:spPr>
          <a:xfrm>
            <a:off x="6675120" y="1682496"/>
            <a:ext cx="2029968" cy="274320"/>
          </a:xfrm>
          <a:prstGeom prst="rect">
            <a:avLst/>
          </a:prstGeom>
          <a:solidFill>
            <a:srgbClr val="10B981"/>
          </a:solidFill>
          <a:ln w="12700">
            <a:solidFill>
              <a:srgbClr val="10B981"/>
            </a:solidFill>
            <a:prstDash val="solid"/>
          </a:ln>
        </p:spPr>
        <p:txBody>
          <a:bodyPr/>
          <a:lstStyle/>
          <a:p>
            <a:endParaRPr lang="en-SG"/>
          </a:p>
        </p:txBody>
      </p:sp>
      <p:sp>
        <p:nvSpPr>
          <p:cNvPr id="37" name="Text 35"/>
          <p:cNvSpPr/>
          <p:nvPr/>
        </p:nvSpPr>
        <p:spPr>
          <a:xfrm>
            <a:off x="6766560" y="1719072"/>
            <a:ext cx="1883664" cy="219456"/>
          </a:xfrm>
          <a:prstGeom prst="rect">
            <a:avLst/>
          </a:prstGeom>
          <a:noFill/>
        </p:spPr>
        <p:txBody>
          <a:bodyPr wrap="square" lIns="0" tIns="0" rIns="0" bIns="0" rtlCol="0" anchor="ctr"/>
          <a:lstStyle/>
          <a:p>
            <a:pPr marL="0" indent="0">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$Bitmap — Allocation Map</a:t>
            </a:r>
            <a:endParaRPr lang="en-US" sz="1000" dirty="0"/>
          </a:p>
        </p:txBody>
      </p:sp>
      <p:sp>
        <p:nvSpPr>
          <p:cNvPr id="38" name="Text 36"/>
          <p:cNvSpPr/>
          <p:nvPr/>
        </p:nvSpPr>
        <p:spPr>
          <a:xfrm>
            <a:off x="6766560" y="2011680"/>
            <a:ext cx="1865376" cy="2615184"/>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One bit per cluster: 1 = allocated, 0 = free. Used by the OS to find free space. Forensic tools scan 0-bits to locate unallocated clusters for file carving.</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EA5E9"/>
          </a:solidFill>
          <a:ln w="12700">
            <a:solidFill>
              <a:srgbClr val="0EA5E9"/>
            </a:solidFill>
            <a:prstDash val="solid"/>
          </a:ln>
        </p:spPr>
        <p:txBody>
          <a:bodyPr/>
          <a:lstStyle/>
          <a:p>
            <a:endParaRPr lang="en-SG"/>
          </a:p>
        </p:txBody>
      </p:sp>
      <p:sp>
        <p:nvSpPr>
          <p:cNvPr id="3" name="Text 1"/>
          <p:cNvSpPr/>
          <p:nvPr/>
        </p:nvSpPr>
        <p:spPr>
          <a:xfrm>
            <a:off x="256032" y="186690"/>
            <a:ext cx="8631936" cy="548640"/>
          </a:xfrm>
          <a:prstGeom prst="rect">
            <a:avLst/>
          </a:prstGeom>
          <a:noFill/>
        </p:spPr>
        <p:txBody>
          <a:bodyPr wrap="square" lIns="0" tIns="0" rIns="0" bIns="0" rtlCol="0" anchor="ctr"/>
          <a:lstStyle/>
          <a:p>
            <a:pPr marL="0" indent="0">
              <a:buNone/>
            </a:pPr>
            <a:r>
              <a:rPr lang="en-US" sz="1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NTFS — Master File Table (MFT) Overview</a:t>
            </a:r>
            <a:endParaRPr lang="en-US" sz="1800" dirty="0"/>
          </a:p>
        </p:txBody>
      </p:sp>
      <p:sp>
        <p:nvSpPr>
          <p:cNvPr id="4" name="Shape 2"/>
          <p:cNvSpPr/>
          <p:nvPr/>
        </p:nvSpPr>
        <p:spPr>
          <a:xfrm>
            <a:off x="256032" y="73152"/>
            <a:ext cx="1463040" cy="219456"/>
          </a:xfrm>
          <a:prstGeom prst="rect">
            <a:avLst/>
          </a:prstGeom>
          <a:solidFill>
            <a:srgbClr val="0EA5E9"/>
          </a:solidFill>
          <a:ln w="12700">
            <a:solidFill>
              <a:srgbClr val="0EA5E9"/>
            </a:solidFill>
            <a:prstDash val="solid"/>
          </a:ln>
        </p:spPr>
        <p:txBody>
          <a:bodyPr/>
          <a:lstStyle/>
          <a:p>
            <a:endParaRPr lang="en-SG"/>
          </a:p>
        </p:txBody>
      </p:sp>
      <p:sp>
        <p:nvSpPr>
          <p:cNvPr id="5" name="Text 3"/>
          <p:cNvSpPr/>
          <p:nvPr/>
        </p:nvSpPr>
        <p:spPr>
          <a:xfrm>
            <a:off x="256032" y="73152"/>
            <a:ext cx="1463040" cy="219456"/>
          </a:xfrm>
          <a:prstGeom prst="rect">
            <a:avLst/>
          </a:prstGeom>
          <a:noFill/>
        </p:spPr>
        <p:txBody>
          <a:bodyPr wrap="square" lIns="0" tIns="0" rIns="0" bIns="0" rtlCol="0" anchor="ctr"/>
          <a:lstStyle/>
          <a:p>
            <a:pPr marL="0" indent="0" algn="ctr">
              <a:buNone/>
            </a:pPr>
            <a:r>
              <a:rPr lang="en-US" sz="800" b="1" kern="0" spc="100"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SECTION 03 — NTFS</a:t>
            </a:r>
            <a:endParaRPr lang="en-US" sz="800" dirty="0"/>
          </a:p>
        </p:txBody>
      </p:sp>
      <p:sp>
        <p:nvSpPr>
          <p:cNvPr id="10" name="Shape 8"/>
          <p:cNvSpPr/>
          <p:nvPr/>
        </p:nvSpPr>
        <p:spPr>
          <a:xfrm>
            <a:off x="256032" y="822960"/>
            <a:ext cx="8631936" cy="457200"/>
          </a:xfrm>
          <a:prstGeom prst="rect">
            <a:avLst/>
          </a:prstGeom>
          <a:solidFill>
            <a:srgbClr val="0EA5E9">
              <a:alpha val="85000"/>
            </a:srgbClr>
          </a:solidFill>
          <a:ln w="12700">
            <a:solidFill>
              <a:srgbClr val="0EA5E9"/>
            </a:solidFill>
            <a:prstDash val="solid"/>
          </a:ln>
        </p:spPr>
        <p:txBody>
          <a:bodyPr/>
          <a:lstStyle/>
          <a:p>
            <a:endParaRPr lang="en-SG"/>
          </a:p>
        </p:txBody>
      </p:sp>
      <p:sp>
        <p:nvSpPr>
          <p:cNvPr id="11" name="Text 9"/>
          <p:cNvSpPr/>
          <p:nvPr/>
        </p:nvSpPr>
        <p:spPr>
          <a:xfrm>
            <a:off x="402336" y="850392"/>
            <a:ext cx="8339328" cy="402336"/>
          </a:xfrm>
          <a:prstGeom prst="rect">
            <a:avLst/>
          </a:prstGeom>
          <a:noFill/>
        </p:spPr>
        <p:txBody>
          <a:bodyPr wrap="square" lIns="0" tIns="0" rIns="0" bIns="0" rtlCol="0" anchor="ctr"/>
          <a:lstStyle/>
          <a:p>
            <a:pPr marL="0" indent="0">
              <a:buNone/>
            </a:pPr>
            <a:r>
              <a:rPr lang="en-US" sz="11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The MFT is a structured database where every file, folder, and metadata object is stored as a fixed-size 1,024-byte record.</a:t>
            </a:r>
            <a:endParaRPr lang="en-US" sz="1100" dirty="0"/>
          </a:p>
        </p:txBody>
      </p:sp>
      <p:sp>
        <p:nvSpPr>
          <p:cNvPr id="12" name="Shape 10"/>
          <p:cNvSpPr/>
          <p:nvPr/>
        </p:nvSpPr>
        <p:spPr>
          <a:xfrm>
            <a:off x="256032" y="1353312"/>
            <a:ext cx="4151376" cy="1755648"/>
          </a:xfrm>
          <a:prstGeom prst="rect">
            <a:avLst/>
          </a:prstGeom>
          <a:solidFill>
            <a:srgbClr val="EEF6FB"/>
          </a:solidFill>
          <a:ln w="12700">
            <a:solidFill>
              <a:srgbClr val="0EA5E9"/>
            </a:solidFill>
            <a:prstDash val="solid"/>
          </a:ln>
          <a:effectLst>
            <a:outerShdw blurRad="127000" dist="38100" dir="8100000" algn="bl" rotWithShape="0">
              <a:srgbClr val="000000">
                <a:alpha val="22000"/>
              </a:srgbClr>
            </a:outerShdw>
          </a:effectLst>
        </p:spPr>
        <p:txBody>
          <a:bodyPr/>
          <a:lstStyle/>
          <a:p>
            <a:endParaRPr lang="en-SG"/>
          </a:p>
        </p:txBody>
      </p:sp>
      <p:sp>
        <p:nvSpPr>
          <p:cNvPr id="13" name="Shape 11"/>
          <p:cNvSpPr/>
          <p:nvPr/>
        </p:nvSpPr>
        <p:spPr>
          <a:xfrm>
            <a:off x="256032" y="1353312"/>
            <a:ext cx="4151376" cy="274320"/>
          </a:xfrm>
          <a:prstGeom prst="rect">
            <a:avLst/>
          </a:prstGeom>
          <a:solidFill>
            <a:srgbClr val="0EA5E9"/>
          </a:solidFill>
          <a:ln w="12700">
            <a:solidFill>
              <a:srgbClr val="0EA5E9"/>
            </a:solidFill>
            <a:prstDash val="solid"/>
          </a:ln>
        </p:spPr>
        <p:txBody>
          <a:bodyPr/>
          <a:lstStyle/>
          <a:p>
            <a:endParaRPr lang="en-SG"/>
          </a:p>
        </p:txBody>
      </p:sp>
      <p:sp>
        <p:nvSpPr>
          <p:cNvPr id="14" name="Text 12"/>
          <p:cNvSpPr/>
          <p:nvPr/>
        </p:nvSpPr>
        <p:spPr>
          <a:xfrm>
            <a:off x="365760" y="1371600"/>
            <a:ext cx="3931920" cy="237744"/>
          </a:xfrm>
          <a:prstGeom prst="rect">
            <a:avLst/>
          </a:prstGeom>
          <a:noFill/>
        </p:spPr>
        <p:txBody>
          <a:bodyPr wrap="square" lIns="0" tIns="0" rIns="0" bIns="0" rtlCol="0" anchor="ctr"/>
          <a:lstStyle/>
          <a:p>
            <a:pPr marL="0" indent="0">
              <a:buNone/>
            </a:pPr>
            <a:r>
              <a:rPr lang="en-US" sz="11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One Record Per File</a:t>
            </a:r>
            <a:endParaRPr lang="en-US" sz="1100" dirty="0"/>
          </a:p>
        </p:txBody>
      </p:sp>
      <p:sp>
        <p:nvSpPr>
          <p:cNvPr id="15" name="Shape 13"/>
          <p:cNvSpPr/>
          <p:nvPr/>
        </p:nvSpPr>
        <p:spPr>
          <a:xfrm>
            <a:off x="347472" y="1700784"/>
            <a:ext cx="128016" cy="128016"/>
          </a:xfrm>
          <a:prstGeom prst="line">
            <a:avLst/>
          </a:prstGeom>
          <a:solidFill>
            <a:srgbClr val="0EA5E9"/>
          </a:solidFill>
          <a:ln w="12700">
            <a:solidFill>
              <a:srgbClr val="0EA5E9"/>
            </a:solidFill>
            <a:prstDash val="solid"/>
          </a:ln>
        </p:spPr>
        <p:txBody>
          <a:bodyPr/>
          <a:lstStyle/>
          <a:p>
            <a:endParaRPr lang="en-SG"/>
          </a:p>
        </p:txBody>
      </p:sp>
      <p:sp>
        <p:nvSpPr>
          <p:cNvPr id="16" name="Text 14"/>
          <p:cNvSpPr/>
          <p:nvPr/>
        </p:nvSpPr>
        <p:spPr>
          <a:xfrm>
            <a:off x="530352" y="1682496"/>
            <a:ext cx="3785616" cy="274320"/>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Every file and directory has at least one 1,024-byte MFT record — critical for timeline analysis</a:t>
            </a:r>
            <a:endParaRPr lang="en-US" sz="900" dirty="0"/>
          </a:p>
        </p:txBody>
      </p:sp>
      <p:sp>
        <p:nvSpPr>
          <p:cNvPr id="17" name="Shape 15"/>
          <p:cNvSpPr/>
          <p:nvPr/>
        </p:nvSpPr>
        <p:spPr>
          <a:xfrm>
            <a:off x="347472" y="2029968"/>
            <a:ext cx="128016" cy="128016"/>
          </a:xfrm>
          <a:prstGeom prst="line">
            <a:avLst/>
          </a:prstGeom>
          <a:solidFill>
            <a:srgbClr val="0EA5E9"/>
          </a:solidFill>
          <a:ln w="12700">
            <a:solidFill>
              <a:srgbClr val="0EA5E9"/>
            </a:solidFill>
            <a:prstDash val="solid"/>
          </a:ln>
        </p:spPr>
        <p:txBody>
          <a:bodyPr/>
          <a:lstStyle/>
          <a:p>
            <a:endParaRPr lang="en-SG"/>
          </a:p>
        </p:txBody>
      </p:sp>
      <p:sp>
        <p:nvSpPr>
          <p:cNvPr id="18" name="Text 16"/>
          <p:cNvSpPr/>
          <p:nvPr/>
        </p:nvSpPr>
        <p:spPr>
          <a:xfrm>
            <a:off x="530352" y="2011680"/>
            <a:ext cx="3785616" cy="274320"/>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Contains all file metadata: name, size, timestamps, parent folder reference</a:t>
            </a:r>
            <a:endParaRPr lang="en-US" sz="900" dirty="0"/>
          </a:p>
        </p:txBody>
      </p:sp>
      <p:sp>
        <p:nvSpPr>
          <p:cNvPr id="19" name="Shape 17"/>
          <p:cNvSpPr/>
          <p:nvPr/>
        </p:nvSpPr>
        <p:spPr>
          <a:xfrm>
            <a:off x="347472" y="2359152"/>
            <a:ext cx="128016" cy="128016"/>
          </a:xfrm>
          <a:prstGeom prst="line">
            <a:avLst/>
          </a:prstGeom>
          <a:solidFill>
            <a:srgbClr val="0EA5E9"/>
          </a:solidFill>
          <a:ln w="12700">
            <a:solidFill>
              <a:srgbClr val="0EA5E9"/>
            </a:solidFill>
            <a:prstDash val="solid"/>
          </a:ln>
        </p:spPr>
        <p:txBody>
          <a:bodyPr/>
          <a:lstStyle/>
          <a:p>
            <a:endParaRPr lang="en-SG"/>
          </a:p>
        </p:txBody>
      </p:sp>
      <p:sp>
        <p:nvSpPr>
          <p:cNvPr id="20" name="Text 18"/>
          <p:cNvSpPr/>
          <p:nvPr/>
        </p:nvSpPr>
        <p:spPr>
          <a:xfrm>
            <a:off x="530352" y="2340864"/>
            <a:ext cx="3785616" cy="274320"/>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Resident files (small) store data inside the MFT record itself</a:t>
            </a:r>
            <a:endParaRPr lang="en-US" sz="900" dirty="0"/>
          </a:p>
        </p:txBody>
      </p:sp>
      <p:sp>
        <p:nvSpPr>
          <p:cNvPr id="21" name="Shape 19"/>
          <p:cNvSpPr/>
          <p:nvPr/>
        </p:nvSpPr>
        <p:spPr>
          <a:xfrm>
            <a:off x="347472" y="2688336"/>
            <a:ext cx="128016" cy="128016"/>
          </a:xfrm>
          <a:prstGeom prst="line">
            <a:avLst/>
          </a:prstGeom>
          <a:solidFill>
            <a:srgbClr val="0EA5E9"/>
          </a:solidFill>
          <a:ln w="12700">
            <a:solidFill>
              <a:srgbClr val="0EA5E9"/>
            </a:solidFill>
            <a:prstDash val="solid"/>
          </a:ln>
        </p:spPr>
        <p:txBody>
          <a:bodyPr/>
          <a:lstStyle/>
          <a:p>
            <a:endParaRPr lang="en-SG"/>
          </a:p>
        </p:txBody>
      </p:sp>
      <p:sp>
        <p:nvSpPr>
          <p:cNvPr id="22" name="Text 20"/>
          <p:cNvSpPr/>
          <p:nvPr/>
        </p:nvSpPr>
        <p:spPr>
          <a:xfrm>
            <a:off x="530352" y="2670048"/>
            <a:ext cx="3785616" cy="274320"/>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Non-resident files store data in external clusters; MFT holds a pointer (data run)</a:t>
            </a:r>
            <a:endParaRPr lang="en-US" sz="900" dirty="0"/>
          </a:p>
        </p:txBody>
      </p:sp>
      <p:sp>
        <p:nvSpPr>
          <p:cNvPr id="23" name="Shape 21"/>
          <p:cNvSpPr/>
          <p:nvPr/>
        </p:nvSpPr>
        <p:spPr>
          <a:xfrm>
            <a:off x="256032" y="3182112"/>
            <a:ext cx="4151376" cy="1499616"/>
          </a:xfrm>
          <a:prstGeom prst="rect">
            <a:avLst/>
          </a:prstGeom>
          <a:solidFill>
            <a:srgbClr val="EEF6FB"/>
          </a:solidFill>
          <a:ln w="12700">
            <a:solidFill>
              <a:srgbClr val="F59E0B"/>
            </a:solidFill>
            <a:prstDash val="solid"/>
          </a:ln>
          <a:effectLst>
            <a:outerShdw blurRad="127000" dist="38100" dir="8100000" algn="bl" rotWithShape="0">
              <a:srgbClr val="000000">
                <a:alpha val="22000"/>
              </a:srgbClr>
            </a:outerShdw>
          </a:effectLst>
        </p:spPr>
        <p:txBody>
          <a:bodyPr/>
          <a:lstStyle/>
          <a:p>
            <a:endParaRPr lang="en-SG"/>
          </a:p>
        </p:txBody>
      </p:sp>
      <p:sp>
        <p:nvSpPr>
          <p:cNvPr id="24" name="Shape 22"/>
          <p:cNvSpPr/>
          <p:nvPr/>
        </p:nvSpPr>
        <p:spPr>
          <a:xfrm>
            <a:off x="256032" y="3182112"/>
            <a:ext cx="4151376" cy="274320"/>
          </a:xfrm>
          <a:prstGeom prst="rect">
            <a:avLst/>
          </a:prstGeom>
          <a:solidFill>
            <a:srgbClr val="F59E0B"/>
          </a:solidFill>
          <a:ln w="12700">
            <a:solidFill>
              <a:srgbClr val="F59E0B"/>
            </a:solidFill>
            <a:prstDash val="solid"/>
          </a:ln>
        </p:spPr>
        <p:txBody>
          <a:bodyPr/>
          <a:lstStyle/>
          <a:p>
            <a:endParaRPr lang="en-SG"/>
          </a:p>
        </p:txBody>
      </p:sp>
      <p:sp>
        <p:nvSpPr>
          <p:cNvPr id="25" name="Text 23"/>
          <p:cNvSpPr/>
          <p:nvPr/>
        </p:nvSpPr>
        <p:spPr>
          <a:xfrm>
            <a:off x="365760" y="3200400"/>
            <a:ext cx="3931920" cy="237744"/>
          </a:xfrm>
          <a:prstGeom prst="rect">
            <a:avLst/>
          </a:prstGeom>
          <a:noFill/>
        </p:spPr>
        <p:txBody>
          <a:bodyPr wrap="square" lIns="0" tIns="0" rIns="0" bIns="0" rtlCol="0" anchor="ctr"/>
          <a:lstStyle/>
          <a:p>
            <a:pPr marL="0" indent="0">
              <a:buNone/>
            </a:pPr>
            <a:r>
              <a:rPr lang="en-US" sz="11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Fixed Header &amp; Variable Attributes</a:t>
            </a:r>
            <a:endParaRPr lang="en-US" sz="1100" dirty="0"/>
          </a:p>
        </p:txBody>
      </p:sp>
      <p:sp>
        <p:nvSpPr>
          <p:cNvPr id="26" name="Shape 24"/>
          <p:cNvSpPr/>
          <p:nvPr/>
        </p:nvSpPr>
        <p:spPr>
          <a:xfrm>
            <a:off x="347472" y="3547872"/>
            <a:ext cx="128016" cy="128016"/>
          </a:xfrm>
          <a:prstGeom prst="line">
            <a:avLst/>
          </a:prstGeom>
          <a:solidFill>
            <a:srgbClr val="F59E0B"/>
          </a:solidFill>
          <a:ln w="12700">
            <a:solidFill>
              <a:srgbClr val="F59E0B"/>
            </a:solidFill>
            <a:prstDash val="solid"/>
          </a:ln>
        </p:spPr>
        <p:txBody>
          <a:bodyPr/>
          <a:lstStyle/>
          <a:p>
            <a:endParaRPr lang="en-SG"/>
          </a:p>
        </p:txBody>
      </p:sp>
      <p:sp>
        <p:nvSpPr>
          <p:cNvPr id="27" name="Text 25"/>
          <p:cNvSpPr/>
          <p:nvPr/>
        </p:nvSpPr>
        <p:spPr>
          <a:xfrm>
            <a:off x="530352" y="3529584"/>
            <a:ext cx="3785616" cy="292608"/>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MFT record starts with 'FILE' signature (4 bytes) + fixed header</a:t>
            </a:r>
            <a:endParaRPr lang="en-US" sz="900" dirty="0"/>
          </a:p>
        </p:txBody>
      </p:sp>
      <p:sp>
        <p:nvSpPr>
          <p:cNvPr id="28" name="Shape 26"/>
          <p:cNvSpPr/>
          <p:nvPr/>
        </p:nvSpPr>
        <p:spPr>
          <a:xfrm>
            <a:off x="347472" y="3895344"/>
            <a:ext cx="128016" cy="128016"/>
          </a:xfrm>
          <a:prstGeom prst="line">
            <a:avLst/>
          </a:prstGeom>
          <a:solidFill>
            <a:srgbClr val="F59E0B"/>
          </a:solidFill>
          <a:ln w="12700">
            <a:solidFill>
              <a:srgbClr val="F59E0B"/>
            </a:solidFill>
            <a:prstDash val="solid"/>
          </a:ln>
        </p:spPr>
        <p:txBody>
          <a:bodyPr/>
          <a:lstStyle/>
          <a:p>
            <a:endParaRPr lang="en-SG"/>
          </a:p>
        </p:txBody>
      </p:sp>
      <p:sp>
        <p:nvSpPr>
          <p:cNvPr id="29" name="Text 27"/>
          <p:cNvSpPr/>
          <p:nvPr/>
        </p:nvSpPr>
        <p:spPr>
          <a:xfrm>
            <a:off x="530352" y="3877056"/>
            <a:ext cx="3785616" cy="292608"/>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Attributes follow in order: $STANDARD_INFORMATION, $FILE_NAME, $DATA</a:t>
            </a:r>
            <a:endParaRPr lang="en-US" sz="900" dirty="0"/>
          </a:p>
        </p:txBody>
      </p:sp>
      <p:sp>
        <p:nvSpPr>
          <p:cNvPr id="30" name="Shape 28"/>
          <p:cNvSpPr/>
          <p:nvPr/>
        </p:nvSpPr>
        <p:spPr>
          <a:xfrm>
            <a:off x="347472" y="4242816"/>
            <a:ext cx="128016" cy="128016"/>
          </a:xfrm>
          <a:prstGeom prst="line">
            <a:avLst/>
          </a:prstGeom>
          <a:solidFill>
            <a:srgbClr val="F59E0B"/>
          </a:solidFill>
          <a:ln w="12700">
            <a:solidFill>
              <a:srgbClr val="F59E0B"/>
            </a:solidFill>
            <a:prstDash val="solid"/>
          </a:ln>
        </p:spPr>
        <p:txBody>
          <a:bodyPr/>
          <a:lstStyle/>
          <a:p>
            <a:endParaRPr lang="en-SG"/>
          </a:p>
        </p:txBody>
      </p:sp>
      <p:sp>
        <p:nvSpPr>
          <p:cNvPr id="31" name="Text 29"/>
          <p:cNvSpPr/>
          <p:nvPr/>
        </p:nvSpPr>
        <p:spPr>
          <a:xfrm>
            <a:off x="530352" y="4224528"/>
            <a:ext cx="3785616" cy="292608"/>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Variable-length attribute list; terminated by 0xFFFFFFFF end marker</a:t>
            </a:r>
            <a:endParaRPr lang="en-US" sz="900" dirty="0"/>
          </a:p>
        </p:txBody>
      </p:sp>
      <p:sp>
        <p:nvSpPr>
          <p:cNvPr id="32" name="Shape 30"/>
          <p:cNvSpPr/>
          <p:nvPr/>
        </p:nvSpPr>
        <p:spPr>
          <a:xfrm>
            <a:off x="4663440" y="1353312"/>
            <a:ext cx="4224528" cy="3328416"/>
          </a:xfrm>
          <a:prstGeom prst="rect">
            <a:avLst/>
          </a:prstGeom>
          <a:solidFill>
            <a:srgbClr val="EEF6FB"/>
          </a:solidFill>
          <a:ln w="12700">
            <a:solidFill>
              <a:srgbClr val="10B981"/>
            </a:solidFill>
            <a:prstDash val="solid"/>
          </a:ln>
          <a:effectLst>
            <a:outerShdw blurRad="127000" dist="38100" dir="8100000" algn="bl" rotWithShape="0">
              <a:srgbClr val="000000">
                <a:alpha val="22000"/>
              </a:srgbClr>
            </a:outerShdw>
          </a:effectLst>
        </p:spPr>
        <p:txBody>
          <a:bodyPr/>
          <a:lstStyle/>
          <a:p>
            <a:endParaRPr lang="en-SG"/>
          </a:p>
        </p:txBody>
      </p:sp>
      <p:sp>
        <p:nvSpPr>
          <p:cNvPr id="33" name="Shape 31"/>
          <p:cNvSpPr/>
          <p:nvPr/>
        </p:nvSpPr>
        <p:spPr>
          <a:xfrm>
            <a:off x="4663440" y="1353312"/>
            <a:ext cx="4224528" cy="274320"/>
          </a:xfrm>
          <a:prstGeom prst="rect">
            <a:avLst/>
          </a:prstGeom>
          <a:solidFill>
            <a:srgbClr val="10B981"/>
          </a:solidFill>
          <a:ln w="12700">
            <a:solidFill>
              <a:srgbClr val="10B981"/>
            </a:solidFill>
            <a:prstDash val="solid"/>
          </a:ln>
        </p:spPr>
        <p:txBody>
          <a:bodyPr/>
          <a:lstStyle/>
          <a:p>
            <a:endParaRPr lang="en-SG"/>
          </a:p>
        </p:txBody>
      </p:sp>
      <p:sp>
        <p:nvSpPr>
          <p:cNvPr id="34" name="Text 32"/>
          <p:cNvSpPr/>
          <p:nvPr/>
        </p:nvSpPr>
        <p:spPr>
          <a:xfrm>
            <a:off x="4773168" y="1371600"/>
            <a:ext cx="4005072" cy="237744"/>
          </a:xfrm>
          <a:prstGeom prst="rect">
            <a:avLst/>
          </a:prstGeom>
          <a:noFill/>
        </p:spPr>
        <p:txBody>
          <a:bodyPr wrap="square" lIns="0" tIns="0" rIns="0" bIns="0" rtlCol="0" anchor="ctr"/>
          <a:lstStyle/>
          <a:p>
            <a:pPr marL="0" indent="0">
              <a:buNone/>
            </a:pPr>
            <a:r>
              <a:rPr lang="en-US" sz="11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Why the MFT Matters in Investigations</a:t>
            </a:r>
            <a:endParaRPr lang="en-US" sz="1100" dirty="0"/>
          </a:p>
        </p:txBody>
      </p:sp>
      <p:sp>
        <p:nvSpPr>
          <p:cNvPr id="35" name="Text 33"/>
          <p:cNvSpPr/>
          <p:nvPr/>
        </p:nvSpPr>
        <p:spPr>
          <a:xfrm>
            <a:off x="4773168" y="1719072"/>
            <a:ext cx="1188720" cy="201168"/>
          </a:xfrm>
          <a:prstGeom prst="rect">
            <a:avLst/>
          </a:prstGeom>
          <a:noFill/>
        </p:spPr>
        <p:txBody>
          <a:bodyPr wrap="square" lIns="0" tIns="0" rIns="0" bIns="0" rtlCol="0" anchor="ctr"/>
          <a:lstStyle/>
          <a:p>
            <a:pPr marL="0" indent="0">
              <a:buNone/>
            </a:pPr>
            <a:r>
              <a:rPr lang="en-US" sz="950" b="1" dirty="0">
                <a:solidFill>
                  <a:srgbClr val="10B981"/>
                </a:solidFill>
                <a:latin typeface="Trebuchet MS" panose="020B0603020202020204" pitchFamily="34" charset="0"/>
                <a:ea typeface="Trebuchet MS" panose="020B0603020202020204" pitchFamily="34" charset="-122"/>
                <a:cs typeface="Trebuchet MS" panose="020B0603020202020204" pitchFamily="34" charset="-120"/>
              </a:rPr>
              <a:t>Timeline analysis:</a:t>
            </a:r>
            <a:endParaRPr lang="en-US" sz="950" dirty="0"/>
          </a:p>
        </p:txBody>
      </p:sp>
      <p:sp>
        <p:nvSpPr>
          <p:cNvPr id="36" name="Text 34"/>
          <p:cNvSpPr/>
          <p:nvPr/>
        </p:nvSpPr>
        <p:spPr>
          <a:xfrm>
            <a:off x="5998464" y="1700784"/>
            <a:ext cx="2798064" cy="402336"/>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$STANDARD_INFORMATION holds 4 MACB timestamps. $FILE_NAME holds a second set. Discrepancies indicate timestomping.</a:t>
            </a:r>
            <a:endParaRPr lang="en-US" sz="900" dirty="0"/>
          </a:p>
        </p:txBody>
      </p:sp>
      <p:sp>
        <p:nvSpPr>
          <p:cNvPr id="37" name="Text 35"/>
          <p:cNvSpPr/>
          <p:nvPr/>
        </p:nvSpPr>
        <p:spPr>
          <a:xfrm>
            <a:off x="4773168" y="2194560"/>
            <a:ext cx="1188720" cy="201168"/>
          </a:xfrm>
          <a:prstGeom prst="rect">
            <a:avLst/>
          </a:prstGeom>
          <a:noFill/>
        </p:spPr>
        <p:txBody>
          <a:bodyPr wrap="square" lIns="0" tIns="0" rIns="0" bIns="0" rtlCol="0" anchor="ctr"/>
          <a:lstStyle/>
          <a:p>
            <a:pPr marL="0" indent="0">
              <a:buNone/>
            </a:pPr>
            <a:r>
              <a:rPr lang="en-US" sz="950" b="1" dirty="0">
                <a:solidFill>
                  <a:srgbClr val="10B981"/>
                </a:solidFill>
                <a:latin typeface="Trebuchet MS" panose="020B0603020202020204" pitchFamily="34" charset="0"/>
                <a:ea typeface="Trebuchet MS" panose="020B0603020202020204" pitchFamily="34" charset="-122"/>
                <a:cs typeface="Trebuchet MS" panose="020B0603020202020204" pitchFamily="34" charset="-120"/>
              </a:rPr>
              <a:t>Deleted file metadata:</a:t>
            </a:r>
            <a:endParaRPr lang="en-US" sz="950" dirty="0"/>
          </a:p>
        </p:txBody>
      </p:sp>
      <p:sp>
        <p:nvSpPr>
          <p:cNvPr id="38" name="Text 36"/>
          <p:cNvSpPr/>
          <p:nvPr/>
        </p:nvSpPr>
        <p:spPr>
          <a:xfrm>
            <a:off x="5998464" y="2176272"/>
            <a:ext cx="2798064" cy="402336"/>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Deleted MFT records are not immediately erased — only flagged as reusable. All metadata remains until the record is allocated to a new file.</a:t>
            </a:r>
            <a:endParaRPr lang="en-US" sz="900" dirty="0"/>
          </a:p>
        </p:txBody>
      </p:sp>
      <p:sp>
        <p:nvSpPr>
          <p:cNvPr id="39" name="Text 37"/>
          <p:cNvSpPr/>
          <p:nvPr/>
        </p:nvSpPr>
        <p:spPr>
          <a:xfrm>
            <a:off x="4773168" y="2670048"/>
            <a:ext cx="1188720" cy="201168"/>
          </a:xfrm>
          <a:prstGeom prst="rect">
            <a:avLst/>
          </a:prstGeom>
          <a:noFill/>
        </p:spPr>
        <p:txBody>
          <a:bodyPr wrap="square" lIns="0" tIns="0" rIns="0" bIns="0" rtlCol="0" anchor="ctr"/>
          <a:lstStyle/>
          <a:p>
            <a:pPr marL="0" indent="0">
              <a:buNone/>
            </a:pPr>
            <a:r>
              <a:rPr lang="en-US" sz="950" b="1" dirty="0">
                <a:solidFill>
                  <a:srgbClr val="10B981"/>
                </a:solidFill>
                <a:latin typeface="Trebuchet MS" panose="020B0603020202020204" pitchFamily="34" charset="0"/>
                <a:ea typeface="Trebuchet MS" panose="020B0603020202020204" pitchFamily="34" charset="-122"/>
                <a:cs typeface="Trebuchet MS" panose="020B0603020202020204" pitchFamily="34" charset="-120"/>
              </a:rPr>
              <a:t>Resident data recovery:</a:t>
            </a:r>
            <a:endParaRPr lang="en-US" sz="950" dirty="0"/>
          </a:p>
        </p:txBody>
      </p:sp>
      <p:sp>
        <p:nvSpPr>
          <p:cNvPr id="40" name="Text 38"/>
          <p:cNvSpPr/>
          <p:nvPr/>
        </p:nvSpPr>
        <p:spPr>
          <a:xfrm>
            <a:off x="5998464" y="2651760"/>
            <a:ext cx="2798064" cy="402336"/>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Small files (&lt; ~700 bytes) are stored inside the MFT record itself. Recovering the MFT recovers these files directly.</a:t>
            </a:r>
            <a:endParaRPr lang="en-US" sz="900" dirty="0"/>
          </a:p>
        </p:txBody>
      </p:sp>
      <p:sp>
        <p:nvSpPr>
          <p:cNvPr id="41" name="Text 39"/>
          <p:cNvSpPr/>
          <p:nvPr/>
        </p:nvSpPr>
        <p:spPr>
          <a:xfrm>
            <a:off x="4773168" y="3145536"/>
            <a:ext cx="1188720" cy="201168"/>
          </a:xfrm>
          <a:prstGeom prst="rect">
            <a:avLst/>
          </a:prstGeom>
          <a:noFill/>
        </p:spPr>
        <p:txBody>
          <a:bodyPr wrap="square" lIns="0" tIns="0" rIns="0" bIns="0" rtlCol="0" anchor="ctr"/>
          <a:lstStyle/>
          <a:p>
            <a:pPr marL="0" indent="0">
              <a:buNone/>
            </a:pPr>
            <a:r>
              <a:rPr lang="en-US" sz="950" b="1" dirty="0">
                <a:solidFill>
                  <a:srgbClr val="10B981"/>
                </a:solidFill>
                <a:latin typeface="Trebuchet MS" panose="020B0603020202020204" pitchFamily="34" charset="0"/>
                <a:ea typeface="Trebuchet MS" panose="020B0603020202020204" pitchFamily="34" charset="-122"/>
                <a:cs typeface="Trebuchet MS" panose="020B0603020202020204" pitchFamily="34" charset="-120"/>
              </a:rPr>
              <a:t>File names &amp; paths:</a:t>
            </a:r>
            <a:endParaRPr lang="en-US" sz="950" dirty="0"/>
          </a:p>
        </p:txBody>
      </p:sp>
      <p:sp>
        <p:nvSpPr>
          <p:cNvPr id="42" name="Text 40"/>
          <p:cNvSpPr/>
          <p:nvPr/>
        </p:nvSpPr>
        <p:spPr>
          <a:xfrm>
            <a:off x="5998464" y="3127248"/>
            <a:ext cx="2798064" cy="402336"/>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$FILE_NAME attribute stores filename and parent MFT reference. Examiners reconstruct full paths even for deleted files.</a:t>
            </a:r>
            <a:endParaRPr lang="en-US" sz="900" dirty="0"/>
          </a:p>
        </p:txBody>
      </p:sp>
      <p:sp>
        <p:nvSpPr>
          <p:cNvPr id="43" name="Text 41"/>
          <p:cNvSpPr/>
          <p:nvPr/>
        </p:nvSpPr>
        <p:spPr>
          <a:xfrm>
            <a:off x="4773168" y="3621024"/>
            <a:ext cx="1188720" cy="201168"/>
          </a:xfrm>
          <a:prstGeom prst="rect">
            <a:avLst/>
          </a:prstGeom>
          <a:noFill/>
        </p:spPr>
        <p:txBody>
          <a:bodyPr wrap="square" lIns="0" tIns="0" rIns="0" bIns="0" rtlCol="0" anchor="ctr"/>
          <a:lstStyle/>
          <a:p>
            <a:pPr marL="0" indent="0">
              <a:buNone/>
            </a:pPr>
            <a:r>
              <a:rPr lang="en-US" sz="950" b="1" dirty="0">
                <a:solidFill>
                  <a:srgbClr val="10B981"/>
                </a:solidFill>
                <a:latin typeface="Trebuchet MS" panose="020B0603020202020204" pitchFamily="34" charset="0"/>
                <a:ea typeface="Trebuchet MS" panose="020B0603020202020204" pitchFamily="34" charset="-122"/>
                <a:cs typeface="Trebuchet MS" panose="020B0603020202020204" pitchFamily="34" charset="-120"/>
              </a:rPr>
              <a:t>ADS detection:</a:t>
            </a:r>
            <a:endParaRPr lang="en-US" sz="950" dirty="0"/>
          </a:p>
        </p:txBody>
      </p:sp>
      <p:sp>
        <p:nvSpPr>
          <p:cNvPr id="44" name="Text 42"/>
          <p:cNvSpPr/>
          <p:nvPr/>
        </p:nvSpPr>
        <p:spPr>
          <a:xfrm>
            <a:off x="5998464" y="3602736"/>
            <a:ext cx="2798064" cy="402336"/>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$DATA attribute can appear multiple times — each instance is a data stream. Multiple $DATA attributes = Alternate Data Streams.</a:t>
            </a:r>
            <a:endParaRPr lang="en-US" sz="900" dirty="0"/>
          </a:p>
        </p:txBody>
      </p:sp>
      <p:sp>
        <p:nvSpPr>
          <p:cNvPr id="45" name="Text 43"/>
          <p:cNvSpPr/>
          <p:nvPr/>
        </p:nvSpPr>
        <p:spPr>
          <a:xfrm>
            <a:off x="4773168" y="4096512"/>
            <a:ext cx="1188720" cy="201168"/>
          </a:xfrm>
          <a:prstGeom prst="rect">
            <a:avLst/>
          </a:prstGeom>
          <a:noFill/>
        </p:spPr>
        <p:txBody>
          <a:bodyPr wrap="square" lIns="0" tIns="0" rIns="0" bIns="0" rtlCol="0" anchor="ctr"/>
          <a:lstStyle/>
          <a:p>
            <a:pPr marL="0" indent="0">
              <a:buNone/>
            </a:pPr>
            <a:r>
              <a:rPr lang="en-US" sz="950" b="1" dirty="0">
                <a:solidFill>
                  <a:srgbClr val="10B981"/>
                </a:solidFill>
                <a:latin typeface="Trebuchet MS" panose="020B0603020202020204" pitchFamily="34" charset="0"/>
                <a:ea typeface="Trebuchet MS" panose="020B0603020202020204" pitchFamily="34" charset="-122"/>
                <a:cs typeface="Trebuchet MS" panose="020B0603020202020204" pitchFamily="34" charset="-120"/>
              </a:rPr>
              <a:t>MFT zone size:</a:t>
            </a:r>
            <a:endParaRPr lang="en-US" sz="950" dirty="0"/>
          </a:p>
        </p:txBody>
      </p:sp>
      <p:sp>
        <p:nvSpPr>
          <p:cNvPr id="46" name="Text 44"/>
          <p:cNvSpPr/>
          <p:nvPr/>
        </p:nvSpPr>
        <p:spPr>
          <a:xfrm>
            <a:off x="5998464" y="4078224"/>
            <a:ext cx="2798064" cy="402336"/>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NTFS reserves 12.5% of the volume for MFT expansion to avoid fragmentation. This zone is visible in $Bitmap as allocated.</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EA5E9"/>
          </a:solidFill>
          <a:ln w="12700">
            <a:solidFill>
              <a:srgbClr val="0EA5E9"/>
            </a:solidFill>
            <a:prstDash val="solid"/>
          </a:ln>
        </p:spPr>
        <p:txBody>
          <a:bodyPr/>
          <a:lstStyle/>
          <a:p>
            <a:endParaRPr lang="en-SG"/>
          </a:p>
        </p:txBody>
      </p:sp>
      <p:sp>
        <p:nvSpPr>
          <p:cNvPr id="3" name="Text 1"/>
          <p:cNvSpPr/>
          <p:nvPr/>
        </p:nvSpPr>
        <p:spPr>
          <a:xfrm>
            <a:off x="256032" y="186690"/>
            <a:ext cx="8631936" cy="548640"/>
          </a:xfrm>
          <a:prstGeom prst="rect">
            <a:avLst/>
          </a:prstGeom>
          <a:noFill/>
        </p:spPr>
        <p:txBody>
          <a:bodyPr wrap="square" lIns="0" tIns="0" rIns="0" bIns="0" rtlCol="0" anchor="ctr"/>
          <a:lstStyle/>
          <a:p>
            <a:pPr marL="0" indent="0">
              <a:buNone/>
            </a:pPr>
            <a:r>
              <a:rPr lang="en-US" sz="16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NTFS MFT — Reserved System Records (Records 0–15)</a:t>
            </a:r>
            <a:endParaRPr lang="en-US" sz="1600" dirty="0"/>
          </a:p>
        </p:txBody>
      </p:sp>
      <p:sp>
        <p:nvSpPr>
          <p:cNvPr id="4" name="Shape 2"/>
          <p:cNvSpPr/>
          <p:nvPr/>
        </p:nvSpPr>
        <p:spPr>
          <a:xfrm>
            <a:off x="256032" y="73152"/>
            <a:ext cx="1463040" cy="219456"/>
          </a:xfrm>
          <a:prstGeom prst="rect">
            <a:avLst/>
          </a:prstGeom>
          <a:solidFill>
            <a:srgbClr val="0EA5E9"/>
          </a:solidFill>
          <a:ln w="12700">
            <a:solidFill>
              <a:srgbClr val="0EA5E9"/>
            </a:solidFill>
            <a:prstDash val="solid"/>
          </a:ln>
        </p:spPr>
        <p:txBody>
          <a:bodyPr/>
          <a:lstStyle/>
          <a:p>
            <a:endParaRPr lang="en-SG"/>
          </a:p>
        </p:txBody>
      </p:sp>
      <p:sp>
        <p:nvSpPr>
          <p:cNvPr id="5" name="Text 3"/>
          <p:cNvSpPr/>
          <p:nvPr/>
        </p:nvSpPr>
        <p:spPr>
          <a:xfrm>
            <a:off x="256032" y="73152"/>
            <a:ext cx="1463040" cy="219456"/>
          </a:xfrm>
          <a:prstGeom prst="rect">
            <a:avLst/>
          </a:prstGeom>
          <a:noFill/>
        </p:spPr>
        <p:txBody>
          <a:bodyPr wrap="square" lIns="0" tIns="0" rIns="0" bIns="0" rtlCol="0" anchor="ctr"/>
          <a:lstStyle/>
          <a:p>
            <a:pPr marL="0" indent="0" algn="ctr">
              <a:buNone/>
            </a:pPr>
            <a:r>
              <a:rPr lang="en-US" sz="800" b="1" kern="0" spc="100"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SECTION 03 — NTFS</a:t>
            </a:r>
            <a:endParaRPr lang="en-US" sz="800" dirty="0"/>
          </a:p>
        </p:txBody>
      </p:sp>
      <p:sp>
        <p:nvSpPr>
          <p:cNvPr id="10" name="Text 8"/>
          <p:cNvSpPr/>
          <p:nvPr/>
        </p:nvSpPr>
        <p:spPr>
          <a:xfrm>
            <a:off x="256032" y="822960"/>
            <a:ext cx="8631936" cy="274320"/>
          </a:xfrm>
          <a:prstGeom prst="rect">
            <a:avLst/>
          </a:prstGeom>
          <a:noFill/>
        </p:spPr>
        <p:txBody>
          <a:bodyPr wrap="square" rtlCol="0" anchor="ctr"/>
          <a:lstStyle/>
          <a:p>
            <a:pPr marL="0" indent="0">
              <a:buNone/>
            </a:pPr>
            <a:r>
              <a:rPr lang="en-US" sz="950" i="1" dirty="0">
                <a:solidFill>
                  <a:srgbClr val="475569"/>
                </a:solidFill>
                <a:latin typeface="Calibri" panose="020F0502020204030204" pitchFamily="34" charset="0"/>
                <a:ea typeface="Calibri" panose="020F0502020204030204" pitchFamily="34" charset="-122"/>
                <a:cs typeface="Calibri" panose="020F0502020204030204" pitchFamily="34" charset="-120"/>
              </a:rPr>
              <a:t>The first 16 MFT records are permanently reserved for NTFS metadata files. These system files describe the file system itself and are critical during forensic analysis.</a:t>
            </a:r>
            <a:endParaRPr lang="en-US" sz="950" dirty="0"/>
          </a:p>
        </p:txBody>
      </p:sp>
      <p:sp>
        <p:nvSpPr>
          <p:cNvPr id="11" name="Shape 9"/>
          <p:cNvSpPr/>
          <p:nvPr/>
        </p:nvSpPr>
        <p:spPr>
          <a:xfrm>
            <a:off x="256032" y="1133856"/>
            <a:ext cx="2761488" cy="804672"/>
          </a:xfrm>
          <a:prstGeom prst="rect">
            <a:avLst/>
          </a:prstGeom>
          <a:solidFill>
            <a:srgbClr val="EEF6FB"/>
          </a:solidFill>
          <a:ln w="12700">
            <a:solidFill>
              <a:srgbClr val="0EA5E9"/>
            </a:solidFill>
            <a:prstDash val="solid"/>
          </a:ln>
          <a:effectLst>
            <a:outerShdw blurRad="127000" dist="38100" dir="8100000" algn="bl" rotWithShape="0">
              <a:srgbClr val="000000">
                <a:alpha val="22000"/>
              </a:srgbClr>
            </a:outerShdw>
          </a:effectLst>
        </p:spPr>
        <p:txBody>
          <a:bodyPr/>
          <a:lstStyle/>
          <a:p>
            <a:endParaRPr lang="en-SG"/>
          </a:p>
        </p:txBody>
      </p:sp>
      <p:sp>
        <p:nvSpPr>
          <p:cNvPr id="12" name="Shape 10"/>
          <p:cNvSpPr/>
          <p:nvPr/>
        </p:nvSpPr>
        <p:spPr>
          <a:xfrm>
            <a:off x="347472" y="1225296"/>
            <a:ext cx="256032" cy="256032"/>
          </a:xfrm>
          <a:prstGeom prst="line">
            <a:avLst/>
          </a:prstGeom>
          <a:solidFill>
            <a:srgbClr val="0EA5E9"/>
          </a:solidFill>
          <a:ln w="12700">
            <a:solidFill>
              <a:srgbClr val="0EA5E9"/>
            </a:solidFill>
            <a:prstDash val="solid"/>
          </a:ln>
        </p:spPr>
        <p:txBody>
          <a:bodyPr/>
          <a:lstStyle/>
          <a:p>
            <a:endParaRPr lang="en-SG"/>
          </a:p>
        </p:txBody>
      </p:sp>
      <p:sp>
        <p:nvSpPr>
          <p:cNvPr id="13" name="Text 11"/>
          <p:cNvSpPr/>
          <p:nvPr/>
        </p:nvSpPr>
        <p:spPr>
          <a:xfrm>
            <a:off x="347472" y="1243584"/>
            <a:ext cx="256032" cy="201168"/>
          </a:xfrm>
          <a:prstGeom prst="rect">
            <a:avLst/>
          </a:prstGeom>
          <a:noFill/>
        </p:spPr>
        <p:txBody>
          <a:bodyPr wrap="square" lIns="0" tIns="0" rIns="0" bIns="0" rtlCol="0" anchor="ctr"/>
          <a:lstStyle/>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a:t>
            </a:r>
            <a:endParaRPr lang="en-US" sz="850" dirty="0"/>
          </a:p>
        </p:txBody>
      </p:sp>
      <p:sp>
        <p:nvSpPr>
          <p:cNvPr id="14" name="Text 12"/>
          <p:cNvSpPr/>
          <p:nvPr/>
        </p:nvSpPr>
        <p:spPr>
          <a:xfrm>
            <a:off x="658368" y="1207008"/>
            <a:ext cx="2267712" cy="256032"/>
          </a:xfrm>
          <a:prstGeom prst="rect">
            <a:avLst/>
          </a:prstGeom>
          <a:noFill/>
        </p:spPr>
        <p:txBody>
          <a:bodyPr wrap="square" lIns="0" tIns="0" rIns="0" bIns="0" rtlCol="0" anchor="ctr"/>
          <a:lstStyle/>
          <a:p>
            <a:pPr marL="0" indent="0">
              <a:buNone/>
            </a:pPr>
            <a:r>
              <a:rPr lang="en-US" sz="1050" b="1" dirty="0">
                <a:solidFill>
                  <a:srgbClr val="0EA5E9"/>
                </a:solidFill>
                <a:latin typeface="Consolas" panose="020B0609020204030204" pitchFamily="34" charset="0"/>
                <a:ea typeface="Consolas" panose="020B0609020204030204" pitchFamily="34" charset="-122"/>
                <a:cs typeface="Consolas" panose="020B0609020204030204" pitchFamily="34" charset="-120"/>
              </a:rPr>
              <a:t>$MFT</a:t>
            </a:r>
            <a:endParaRPr lang="en-US" sz="1050" dirty="0"/>
          </a:p>
        </p:txBody>
      </p:sp>
      <p:sp>
        <p:nvSpPr>
          <p:cNvPr id="15" name="Text 13"/>
          <p:cNvSpPr/>
          <p:nvPr/>
        </p:nvSpPr>
        <p:spPr>
          <a:xfrm>
            <a:off x="365760" y="1499616"/>
            <a:ext cx="2578608" cy="384048"/>
          </a:xfrm>
          <a:prstGeom prst="rect">
            <a:avLst/>
          </a:prstGeom>
          <a:noFill/>
        </p:spPr>
        <p:txBody>
          <a:bodyPr wrap="square" rtlCol="0" anchor="t"/>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The Master File Table itself. If damaged, recovery relies on $MFTMirr.</a:t>
            </a:r>
            <a:endParaRPr lang="en-US" sz="850" dirty="0"/>
          </a:p>
        </p:txBody>
      </p:sp>
      <p:sp>
        <p:nvSpPr>
          <p:cNvPr id="16" name="Shape 14"/>
          <p:cNvSpPr/>
          <p:nvPr/>
        </p:nvSpPr>
        <p:spPr>
          <a:xfrm>
            <a:off x="3182112" y="1133856"/>
            <a:ext cx="2761488" cy="804672"/>
          </a:xfrm>
          <a:prstGeom prst="rect">
            <a:avLst/>
          </a:prstGeom>
          <a:solidFill>
            <a:srgbClr val="EEF6FB"/>
          </a:solidFill>
          <a:ln w="12700">
            <a:solidFill>
              <a:srgbClr val="6366F1"/>
            </a:solidFill>
            <a:prstDash val="solid"/>
          </a:ln>
          <a:effectLst>
            <a:outerShdw blurRad="127000" dist="38100" dir="8100000" algn="bl" rotWithShape="0">
              <a:srgbClr val="000000">
                <a:alpha val="22000"/>
              </a:srgbClr>
            </a:outerShdw>
          </a:effectLst>
        </p:spPr>
        <p:txBody>
          <a:bodyPr/>
          <a:lstStyle/>
          <a:p>
            <a:endParaRPr lang="en-SG"/>
          </a:p>
        </p:txBody>
      </p:sp>
      <p:sp>
        <p:nvSpPr>
          <p:cNvPr id="17" name="Shape 15"/>
          <p:cNvSpPr/>
          <p:nvPr/>
        </p:nvSpPr>
        <p:spPr>
          <a:xfrm>
            <a:off x="3273552" y="1225296"/>
            <a:ext cx="256032" cy="256032"/>
          </a:xfrm>
          <a:prstGeom prst="line">
            <a:avLst/>
          </a:prstGeom>
          <a:solidFill>
            <a:srgbClr val="6366F1"/>
          </a:solidFill>
          <a:ln w="12700">
            <a:solidFill>
              <a:srgbClr val="6366F1"/>
            </a:solidFill>
            <a:prstDash val="solid"/>
          </a:ln>
        </p:spPr>
        <p:txBody>
          <a:bodyPr/>
          <a:lstStyle/>
          <a:p>
            <a:endParaRPr lang="en-SG"/>
          </a:p>
        </p:txBody>
      </p:sp>
      <p:sp>
        <p:nvSpPr>
          <p:cNvPr id="18" name="Text 16"/>
          <p:cNvSpPr/>
          <p:nvPr/>
        </p:nvSpPr>
        <p:spPr>
          <a:xfrm>
            <a:off x="3273552" y="1243584"/>
            <a:ext cx="256032" cy="201168"/>
          </a:xfrm>
          <a:prstGeom prst="rect">
            <a:avLst/>
          </a:prstGeom>
          <a:noFill/>
        </p:spPr>
        <p:txBody>
          <a:bodyPr wrap="square" lIns="0" tIns="0" rIns="0" bIns="0" rtlCol="0" anchor="ctr"/>
          <a:lstStyle/>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1</a:t>
            </a:r>
            <a:endParaRPr lang="en-US" sz="850" dirty="0"/>
          </a:p>
        </p:txBody>
      </p:sp>
      <p:sp>
        <p:nvSpPr>
          <p:cNvPr id="19" name="Text 17"/>
          <p:cNvSpPr/>
          <p:nvPr/>
        </p:nvSpPr>
        <p:spPr>
          <a:xfrm>
            <a:off x="3584448" y="1207008"/>
            <a:ext cx="2267712" cy="256032"/>
          </a:xfrm>
          <a:prstGeom prst="rect">
            <a:avLst/>
          </a:prstGeom>
          <a:noFill/>
        </p:spPr>
        <p:txBody>
          <a:bodyPr wrap="square" lIns="0" tIns="0" rIns="0" bIns="0" rtlCol="0" anchor="ctr"/>
          <a:lstStyle/>
          <a:p>
            <a:pPr marL="0" indent="0">
              <a:buNone/>
            </a:pPr>
            <a:r>
              <a:rPr lang="en-US" sz="1050" b="1" dirty="0">
                <a:solidFill>
                  <a:srgbClr val="6366F1"/>
                </a:solidFill>
                <a:latin typeface="Consolas" panose="020B0609020204030204" pitchFamily="34" charset="0"/>
                <a:ea typeface="Consolas" panose="020B0609020204030204" pitchFamily="34" charset="-122"/>
                <a:cs typeface="Consolas" panose="020B0609020204030204" pitchFamily="34" charset="-120"/>
              </a:rPr>
              <a:t>$MFTMirr</a:t>
            </a:r>
            <a:endParaRPr lang="en-US" sz="1050" dirty="0"/>
          </a:p>
        </p:txBody>
      </p:sp>
      <p:sp>
        <p:nvSpPr>
          <p:cNvPr id="20" name="Text 18"/>
          <p:cNvSpPr/>
          <p:nvPr/>
        </p:nvSpPr>
        <p:spPr>
          <a:xfrm>
            <a:off x="3291840" y="1499616"/>
            <a:ext cx="2578608" cy="384048"/>
          </a:xfrm>
          <a:prstGeom prst="rect">
            <a:avLst/>
          </a:prstGeom>
          <a:noFill/>
        </p:spPr>
        <p:txBody>
          <a:bodyPr wrap="square" rtlCol="0" anchor="t"/>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Backup of the first 4 MFT records. Stored at the volume midpoint for recovery.</a:t>
            </a:r>
            <a:endParaRPr lang="en-US" sz="850" dirty="0"/>
          </a:p>
        </p:txBody>
      </p:sp>
      <p:sp>
        <p:nvSpPr>
          <p:cNvPr id="21" name="Shape 19"/>
          <p:cNvSpPr/>
          <p:nvPr/>
        </p:nvSpPr>
        <p:spPr>
          <a:xfrm>
            <a:off x="6108192" y="1133856"/>
            <a:ext cx="2761488" cy="804672"/>
          </a:xfrm>
          <a:prstGeom prst="rect">
            <a:avLst/>
          </a:prstGeom>
          <a:solidFill>
            <a:srgbClr val="EEF6FB"/>
          </a:solidFill>
          <a:ln w="12700">
            <a:solidFill>
              <a:srgbClr val="F59E0B"/>
            </a:solidFill>
            <a:prstDash val="solid"/>
          </a:ln>
          <a:effectLst>
            <a:outerShdw blurRad="127000" dist="38100" dir="8100000" algn="bl" rotWithShape="0">
              <a:srgbClr val="000000">
                <a:alpha val="22000"/>
              </a:srgbClr>
            </a:outerShdw>
          </a:effectLst>
        </p:spPr>
        <p:txBody>
          <a:bodyPr/>
          <a:lstStyle/>
          <a:p>
            <a:endParaRPr lang="en-SG"/>
          </a:p>
        </p:txBody>
      </p:sp>
      <p:sp>
        <p:nvSpPr>
          <p:cNvPr id="22" name="Shape 20"/>
          <p:cNvSpPr/>
          <p:nvPr/>
        </p:nvSpPr>
        <p:spPr>
          <a:xfrm>
            <a:off x="6199632" y="1225296"/>
            <a:ext cx="256032" cy="256032"/>
          </a:xfrm>
          <a:prstGeom prst="line">
            <a:avLst/>
          </a:prstGeom>
          <a:solidFill>
            <a:srgbClr val="F59E0B"/>
          </a:solidFill>
          <a:ln w="12700">
            <a:solidFill>
              <a:srgbClr val="F59E0B"/>
            </a:solidFill>
            <a:prstDash val="solid"/>
          </a:ln>
        </p:spPr>
        <p:txBody>
          <a:bodyPr/>
          <a:lstStyle/>
          <a:p>
            <a:endParaRPr lang="en-SG"/>
          </a:p>
        </p:txBody>
      </p:sp>
      <p:sp>
        <p:nvSpPr>
          <p:cNvPr id="23" name="Text 21"/>
          <p:cNvSpPr/>
          <p:nvPr/>
        </p:nvSpPr>
        <p:spPr>
          <a:xfrm>
            <a:off x="6199632" y="1243584"/>
            <a:ext cx="256032" cy="201168"/>
          </a:xfrm>
          <a:prstGeom prst="rect">
            <a:avLst/>
          </a:prstGeom>
          <a:noFill/>
        </p:spPr>
        <p:txBody>
          <a:bodyPr wrap="square" lIns="0" tIns="0" rIns="0" bIns="0" rtlCol="0" anchor="ctr"/>
          <a:lstStyle/>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2</a:t>
            </a:r>
            <a:endParaRPr lang="en-US" sz="850" dirty="0"/>
          </a:p>
        </p:txBody>
      </p:sp>
      <p:sp>
        <p:nvSpPr>
          <p:cNvPr id="24" name="Text 22"/>
          <p:cNvSpPr/>
          <p:nvPr/>
        </p:nvSpPr>
        <p:spPr>
          <a:xfrm>
            <a:off x="6510528" y="1207008"/>
            <a:ext cx="2267712" cy="256032"/>
          </a:xfrm>
          <a:prstGeom prst="rect">
            <a:avLst/>
          </a:prstGeom>
          <a:noFill/>
        </p:spPr>
        <p:txBody>
          <a:bodyPr wrap="square" lIns="0" tIns="0" rIns="0" bIns="0" rtlCol="0" anchor="ctr"/>
          <a:lstStyle/>
          <a:p>
            <a:pPr marL="0" indent="0">
              <a:buNone/>
            </a:pPr>
            <a:r>
              <a:rPr lang="en-US" sz="1050" b="1" dirty="0">
                <a:solidFill>
                  <a:srgbClr val="F59E0B"/>
                </a:solidFill>
                <a:latin typeface="Consolas" panose="020B0609020204030204" pitchFamily="34" charset="0"/>
                <a:ea typeface="Consolas" panose="020B0609020204030204" pitchFamily="34" charset="-122"/>
                <a:cs typeface="Consolas" panose="020B0609020204030204" pitchFamily="34" charset="-120"/>
              </a:rPr>
              <a:t>$LogFile</a:t>
            </a:r>
            <a:endParaRPr lang="en-US" sz="1050" dirty="0"/>
          </a:p>
        </p:txBody>
      </p:sp>
      <p:sp>
        <p:nvSpPr>
          <p:cNvPr id="25" name="Text 23"/>
          <p:cNvSpPr/>
          <p:nvPr/>
        </p:nvSpPr>
        <p:spPr>
          <a:xfrm>
            <a:off x="6217920" y="1499616"/>
            <a:ext cx="2578608" cy="384048"/>
          </a:xfrm>
          <a:prstGeom prst="rect">
            <a:avLst/>
          </a:prstGeom>
          <a:noFill/>
        </p:spPr>
        <p:txBody>
          <a:bodyPr wrap="square" rtlCol="0" anchor="t"/>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Transaction journal. Records recent metadata changes — forensically valuable.</a:t>
            </a:r>
            <a:endParaRPr lang="en-US" sz="850" dirty="0"/>
          </a:p>
        </p:txBody>
      </p:sp>
      <p:sp>
        <p:nvSpPr>
          <p:cNvPr id="26" name="Shape 24"/>
          <p:cNvSpPr/>
          <p:nvPr/>
        </p:nvSpPr>
        <p:spPr>
          <a:xfrm>
            <a:off x="256032" y="2011680"/>
            <a:ext cx="2761488" cy="804672"/>
          </a:xfrm>
          <a:prstGeom prst="rect">
            <a:avLst/>
          </a:prstGeom>
          <a:solidFill>
            <a:srgbClr val="EEF6FB"/>
          </a:solidFill>
          <a:ln w="12700">
            <a:solidFill>
              <a:srgbClr val="10B981"/>
            </a:solidFill>
            <a:prstDash val="solid"/>
          </a:ln>
          <a:effectLst>
            <a:outerShdw blurRad="127000" dist="38100" dir="8100000" algn="bl" rotWithShape="0">
              <a:srgbClr val="000000">
                <a:alpha val="22000"/>
              </a:srgbClr>
            </a:outerShdw>
          </a:effectLst>
        </p:spPr>
        <p:txBody>
          <a:bodyPr/>
          <a:lstStyle/>
          <a:p>
            <a:endParaRPr lang="en-SG"/>
          </a:p>
        </p:txBody>
      </p:sp>
      <p:sp>
        <p:nvSpPr>
          <p:cNvPr id="27" name="Shape 25"/>
          <p:cNvSpPr/>
          <p:nvPr/>
        </p:nvSpPr>
        <p:spPr>
          <a:xfrm>
            <a:off x="347472" y="2103120"/>
            <a:ext cx="256032" cy="256032"/>
          </a:xfrm>
          <a:prstGeom prst="line">
            <a:avLst/>
          </a:prstGeom>
          <a:solidFill>
            <a:srgbClr val="10B981"/>
          </a:solidFill>
          <a:ln w="12700">
            <a:solidFill>
              <a:srgbClr val="10B981"/>
            </a:solidFill>
            <a:prstDash val="solid"/>
          </a:ln>
        </p:spPr>
        <p:txBody>
          <a:bodyPr/>
          <a:lstStyle/>
          <a:p>
            <a:endParaRPr lang="en-SG"/>
          </a:p>
        </p:txBody>
      </p:sp>
      <p:sp>
        <p:nvSpPr>
          <p:cNvPr id="28" name="Text 26"/>
          <p:cNvSpPr/>
          <p:nvPr/>
        </p:nvSpPr>
        <p:spPr>
          <a:xfrm>
            <a:off x="347472" y="2121408"/>
            <a:ext cx="256032" cy="201168"/>
          </a:xfrm>
          <a:prstGeom prst="rect">
            <a:avLst/>
          </a:prstGeom>
          <a:noFill/>
        </p:spPr>
        <p:txBody>
          <a:bodyPr wrap="square" lIns="0" tIns="0" rIns="0" bIns="0" rtlCol="0" anchor="ctr"/>
          <a:lstStyle/>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3</a:t>
            </a:r>
            <a:endParaRPr lang="en-US" sz="850" dirty="0"/>
          </a:p>
        </p:txBody>
      </p:sp>
      <p:sp>
        <p:nvSpPr>
          <p:cNvPr id="29" name="Text 27"/>
          <p:cNvSpPr/>
          <p:nvPr/>
        </p:nvSpPr>
        <p:spPr>
          <a:xfrm>
            <a:off x="658368" y="2084832"/>
            <a:ext cx="2267712" cy="256032"/>
          </a:xfrm>
          <a:prstGeom prst="rect">
            <a:avLst/>
          </a:prstGeom>
          <a:noFill/>
        </p:spPr>
        <p:txBody>
          <a:bodyPr wrap="square" lIns="0" tIns="0" rIns="0" bIns="0" rtlCol="0" anchor="ctr"/>
          <a:lstStyle/>
          <a:p>
            <a:pPr marL="0" indent="0">
              <a:buNone/>
            </a:pPr>
            <a:r>
              <a:rPr lang="en-US" sz="1050" b="1" dirty="0">
                <a:solidFill>
                  <a:srgbClr val="10B981"/>
                </a:solidFill>
                <a:latin typeface="Consolas" panose="020B0609020204030204" pitchFamily="34" charset="0"/>
                <a:ea typeface="Consolas" panose="020B0609020204030204" pitchFamily="34" charset="-122"/>
                <a:cs typeface="Consolas" panose="020B0609020204030204" pitchFamily="34" charset="-120"/>
              </a:rPr>
              <a:t>$Volume</a:t>
            </a:r>
            <a:endParaRPr lang="en-US" sz="1050" dirty="0"/>
          </a:p>
        </p:txBody>
      </p:sp>
      <p:sp>
        <p:nvSpPr>
          <p:cNvPr id="30" name="Text 28"/>
          <p:cNvSpPr/>
          <p:nvPr/>
        </p:nvSpPr>
        <p:spPr>
          <a:xfrm>
            <a:off x="365760" y="2377440"/>
            <a:ext cx="2578608" cy="384048"/>
          </a:xfrm>
          <a:prstGeom prst="rect">
            <a:avLst/>
          </a:prstGeom>
          <a:noFill/>
        </p:spPr>
        <p:txBody>
          <a:bodyPr wrap="square" rtlCol="0" anchor="t"/>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Volume name, NTFS version, dirty flag (improper dismount indicator).</a:t>
            </a:r>
            <a:endParaRPr lang="en-US" sz="850" dirty="0"/>
          </a:p>
        </p:txBody>
      </p:sp>
      <p:sp>
        <p:nvSpPr>
          <p:cNvPr id="31" name="Shape 29"/>
          <p:cNvSpPr/>
          <p:nvPr/>
        </p:nvSpPr>
        <p:spPr>
          <a:xfrm>
            <a:off x="3182112" y="2011680"/>
            <a:ext cx="2761488" cy="804672"/>
          </a:xfrm>
          <a:prstGeom prst="rect">
            <a:avLst/>
          </a:prstGeom>
          <a:solidFill>
            <a:srgbClr val="EEF6FB"/>
          </a:solidFill>
          <a:ln w="12700">
            <a:solidFill>
              <a:srgbClr val="EF4444"/>
            </a:solidFill>
            <a:prstDash val="solid"/>
          </a:ln>
          <a:effectLst>
            <a:outerShdw blurRad="127000" dist="38100" dir="8100000" algn="bl" rotWithShape="0">
              <a:srgbClr val="000000">
                <a:alpha val="22000"/>
              </a:srgbClr>
            </a:outerShdw>
          </a:effectLst>
        </p:spPr>
        <p:txBody>
          <a:bodyPr/>
          <a:lstStyle/>
          <a:p>
            <a:endParaRPr lang="en-SG"/>
          </a:p>
        </p:txBody>
      </p:sp>
      <p:sp>
        <p:nvSpPr>
          <p:cNvPr id="32" name="Shape 30"/>
          <p:cNvSpPr/>
          <p:nvPr/>
        </p:nvSpPr>
        <p:spPr>
          <a:xfrm>
            <a:off x="3273552" y="2103120"/>
            <a:ext cx="256032" cy="256032"/>
          </a:xfrm>
          <a:prstGeom prst="line">
            <a:avLst/>
          </a:prstGeom>
          <a:solidFill>
            <a:srgbClr val="EF4444"/>
          </a:solidFill>
          <a:ln w="12700">
            <a:solidFill>
              <a:srgbClr val="EF4444"/>
            </a:solidFill>
            <a:prstDash val="solid"/>
          </a:ln>
        </p:spPr>
        <p:txBody>
          <a:bodyPr/>
          <a:lstStyle/>
          <a:p>
            <a:endParaRPr lang="en-SG"/>
          </a:p>
        </p:txBody>
      </p:sp>
      <p:sp>
        <p:nvSpPr>
          <p:cNvPr id="33" name="Text 31"/>
          <p:cNvSpPr/>
          <p:nvPr/>
        </p:nvSpPr>
        <p:spPr>
          <a:xfrm>
            <a:off x="3273552" y="2121408"/>
            <a:ext cx="256032" cy="201168"/>
          </a:xfrm>
          <a:prstGeom prst="rect">
            <a:avLst/>
          </a:prstGeom>
          <a:noFill/>
        </p:spPr>
        <p:txBody>
          <a:bodyPr wrap="square" lIns="0" tIns="0" rIns="0" bIns="0" rtlCol="0" anchor="ctr"/>
          <a:lstStyle/>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4</a:t>
            </a:r>
            <a:endParaRPr lang="en-US" sz="850" dirty="0"/>
          </a:p>
        </p:txBody>
      </p:sp>
      <p:sp>
        <p:nvSpPr>
          <p:cNvPr id="34" name="Text 32"/>
          <p:cNvSpPr/>
          <p:nvPr/>
        </p:nvSpPr>
        <p:spPr>
          <a:xfrm>
            <a:off x="3584448" y="2084832"/>
            <a:ext cx="2267712" cy="256032"/>
          </a:xfrm>
          <a:prstGeom prst="rect">
            <a:avLst/>
          </a:prstGeom>
          <a:noFill/>
        </p:spPr>
        <p:txBody>
          <a:bodyPr wrap="square" lIns="0" tIns="0" rIns="0" bIns="0" rtlCol="0" anchor="ctr"/>
          <a:lstStyle/>
          <a:p>
            <a:pPr marL="0" indent="0">
              <a:buNone/>
            </a:pPr>
            <a:r>
              <a:rPr lang="en-US" sz="1050" b="1" dirty="0">
                <a:solidFill>
                  <a:srgbClr val="EF4444"/>
                </a:solidFill>
                <a:latin typeface="Consolas" panose="020B0609020204030204" pitchFamily="34" charset="0"/>
                <a:ea typeface="Consolas" panose="020B0609020204030204" pitchFamily="34" charset="-122"/>
                <a:cs typeface="Consolas" panose="020B0609020204030204" pitchFamily="34" charset="-120"/>
              </a:rPr>
              <a:t>$AttrDef</a:t>
            </a:r>
            <a:endParaRPr lang="en-US" sz="1050" dirty="0"/>
          </a:p>
        </p:txBody>
      </p:sp>
      <p:sp>
        <p:nvSpPr>
          <p:cNvPr id="35" name="Text 33"/>
          <p:cNvSpPr/>
          <p:nvPr/>
        </p:nvSpPr>
        <p:spPr>
          <a:xfrm>
            <a:off x="3291840" y="2377440"/>
            <a:ext cx="2578608" cy="384048"/>
          </a:xfrm>
          <a:prstGeom prst="rect">
            <a:avLst/>
          </a:prstGeom>
          <a:noFill/>
        </p:spPr>
        <p:txBody>
          <a:bodyPr wrap="square" rtlCol="0" anchor="t"/>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Defines all attribute types used in this volume (type codes, sizes, constraints).</a:t>
            </a:r>
            <a:endParaRPr lang="en-US" sz="850" dirty="0"/>
          </a:p>
        </p:txBody>
      </p:sp>
      <p:sp>
        <p:nvSpPr>
          <p:cNvPr id="36" name="Shape 34"/>
          <p:cNvSpPr/>
          <p:nvPr/>
        </p:nvSpPr>
        <p:spPr>
          <a:xfrm>
            <a:off x="6108192" y="2011680"/>
            <a:ext cx="2761488" cy="804672"/>
          </a:xfrm>
          <a:prstGeom prst="rect">
            <a:avLst/>
          </a:prstGeom>
          <a:solidFill>
            <a:srgbClr val="EEF6FB"/>
          </a:solidFill>
          <a:ln w="12700">
            <a:solidFill>
              <a:srgbClr val="A855F7"/>
            </a:solidFill>
            <a:prstDash val="solid"/>
          </a:ln>
          <a:effectLst>
            <a:outerShdw blurRad="127000" dist="38100" dir="8100000" algn="bl" rotWithShape="0">
              <a:srgbClr val="000000">
                <a:alpha val="22000"/>
              </a:srgbClr>
            </a:outerShdw>
          </a:effectLst>
        </p:spPr>
        <p:txBody>
          <a:bodyPr/>
          <a:lstStyle/>
          <a:p>
            <a:endParaRPr lang="en-SG"/>
          </a:p>
        </p:txBody>
      </p:sp>
      <p:sp>
        <p:nvSpPr>
          <p:cNvPr id="37" name="Shape 35"/>
          <p:cNvSpPr/>
          <p:nvPr/>
        </p:nvSpPr>
        <p:spPr>
          <a:xfrm>
            <a:off x="6199632" y="2103120"/>
            <a:ext cx="256032" cy="256032"/>
          </a:xfrm>
          <a:prstGeom prst="line">
            <a:avLst/>
          </a:prstGeom>
          <a:solidFill>
            <a:srgbClr val="A855F7"/>
          </a:solidFill>
          <a:ln w="12700">
            <a:solidFill>
              <a:srgbClr val="A855F7"/>
            </a:solidFill>
            <a:prstDash val="solid"/>
          </a:ln>
        </p:spPr>
        <p:txBody>
          <a:bodyPr/>
          <a:lstStyle/>
          <a:p>
            <a:endParaRPr lang="en-SG"/>
          </a:p>
        </p:txBody>
      </p:sp>
      <p:sp>
        <p:nvSpPr>
          <p:cNvPr id="38" name="Text 36"/>
          <p:cNvSpPr/>
          <p:nvPr/>
        </p:nvSpPr>
        <p:spPr>
          <a:xfrm>
            <a:off x="6199632" y="2121408"/>
            <a:ext cx="256032" cy="201168"/>
          </a:xfrm>
          <a:prstGeom prst="rect">
            <a:avLst/>
          </a:prstGeom>
          <a:noFill/>
        </p:spPr>
        <p:txBody>
          <a:bodyPr wrap="square" lIns="0" tIns="0" rIns="0" bIns="0" rtlCol="0" anchor="ctr"/>
          <a:lstStyle/>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5</a:t>
            </a:r>
            <a:endParaRPr lang="en-US" sz="850" dirty="0"/>
          </a:p>
        </p:txBody>
      </p:sp>
      <p:sp>
        <p:nvSpPr>
          <p:cNvPr id="39" name="Text 37"/>
          <p:cNvSpPr/>
          <p:nvPr/>
        </p:nvSpPr>
        <p:spPr>
          <a:xfrm>
            <a:off x="6510528" y="2084832"/>
            <a:ext cx="2267712" cy="256032"/>
          </a:xfrm>
          <a:prstGeom prst="rect">
            <a:avLst/>
          </a:prstGeom>
          <a:noFill/>
        </p:spPr>
        <p:txBody>
          <a:bodyPr wrap="square" lIns="0" tIns="0" rIns="0" bIns="0" rtlCol="0" anchor="ctr"/>
          <a:lstStyle/>
          <a:p>
            <a:pPr marL="0" indent="0">
              <a:buNone/>
            </a:pPr>
            <a:r>
              <a:rPr lang="en-US" sz="1050" b="1" dirty="0">
                <a:solidFill>
                  <a:srgbClr val="A855F7"/>
                </a:solidFill>
                <a:latin typeface="Consolas" panose="020B0609020204030204" pitchFamily="34" charset="0"/>
                <a:ea typeface="Consolas" panose="020B0609020204030204" pitchFamily="34" charset="-122"/>
                <a:cs typeface="Consolas" panose="020B0609020204030204" pitchFamily="34" charset="-120"/>
              </a:rPr>
              <a:t>$. (Root)</a:t>
            </a:r>
            <a:endParaRPr lang="en-US" sz="1050" dirty="0"/>
          </a:p>
        </p:txBody>
      </p:sp>
      <p:sp>
        <p:nvSpPr>
          <p:cNvPr id="40" name="Text 38"/>
          <p:cNvSpPr/>
          <p:nvPr/>
        </p:nvSpPr>
        <p:spPr>
          <a:xfrm>
            <a:off x="6217920" y="2377440"/>
            <a:ext cx="2578608" cy="384048"/>
          </a:xfrm>
          <a:prstGeom prst="rect">
            <a:avLst/>
          </a:prstGeom>
          <a:noFill/>
        </p:spPr>
        <p:txBody>
          <a:bodyPr wrap="square" rtlCol="0" anchor="t"/>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The root directory (\). All other files and folders are reachable from here.</a:t>
            </a:r>
            <a:endParaRPr lang="en-US" sz="850" dirty="0"/>
          </a:p>
        </p:txBody>
      </p:sp>
      <p:sp>
        <p:nvSpPr>
          <p:cNvPr id="41" name="Shape 39"/>
          <p:cNvSpPr/>
          <p:nvPr/>
        </p:nvSpPr>
        <p:spPr>
          <a:xfrm>
            <a:off x="256032" y="2889504"/>
            <a:ext cx="2761488" cy="804672"/>
          </a:xfrm>
          <a:prstGeom prst="rect">
            <a:avLst/>
          </a:prstGeom>
          <a:solidFill>
            <a:srgbClr val="EEF6FB"/>
          </a:solidFill>
          <a:ln w="12700">
            <a:solidFill>
              <a:srgbClr val="0EA5E9"/>
            </a:solidFill>
            <a:prstDash val="solid"/>
          </a:ln>
          <a:effectLst>
            <a:outerShdw blurRad="127000" dist="38100" dir="8100000" algn="bl" rotWithShape="0">
              <a:srgbClr val="000000">
                <a:alpha val="22000"/>
              </a:srgbClr>
            </a:outerShdw>
          </a:effectLst>
        </p:spPr>
        <p:txBody>
          <a:bodyPr/>
          <a:lstStyle/>
          <a:p>
            <a:endParaRPr lang="en-SG"/>
          </a:p>
        </p:txBody>
      </p:sp>
      <p:sp>
        <p:nvSpPr>
          <p:cNvPr id="42" name="Shape 40"/>
          <p:cNvSpPr/>
          <p:nvPr/>
        </p:nvSpPr>
        <p:spPr>
          <a:xfrm>
            <a:off x="347472" y="2980944"/>
            <a:ext cx="256032" cy="256032"/>
          </a:xfrm>
          <a:prstGeom prst="line">
            <a:avLst/>
          </a:prstGeom>
          <a:solidFill>
            <a:srgbClr val="0EA5E9"/>
          </a:solidFill>
          <a:ln w="12700">
            <a:solidFill>
              <a:srgbClr val="0EA5E9"/>
            </a:solidFill>
            <a:prstDash val="solid"/>
          </a:ln>
        </p:spPr>
        <p:txBody>
          <a:bodyPr/>
          <a:lstStyle/>
          <a:p>
            <a:endParaRPr lang="en-SG"/>
          </a:p>
        </p:txBody>
      </p:sp>
      <p:sp>
        <p:nvSpPr>
          <p:cNvPr id="43" name="Text 41"/>
          <p:cNvSpPr/>
          <p:nvPr/>
        </p:nvSpPr>
        <p:spPr>
          <a:xfrm>
            <a:off x="347472" y="2999232"/>
            <a:ext cx="256032" cy="201168"/>
          </a:xfrm>
          <a:prstGeom prst="rect">
            <a:avLst/>
          </a:prstGeom>
          <a:noFill/>
        </p:spPr>
        <p:txBody>
          <a:bodyPr wrap="square" lIns="0" tIns="0" rIns="0" bIns="0" rtlCol="0" anchor="ctr"/>
          <a:lstStyle/>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6</a:t>
            </a:r>
            <a:endParaRPr lang="en-US" sz="850" dirty="0"/>
          </a:p>
        </p:txBody>
      </p:sp>
      <p:sp>
        <p:nvSpPr>
          <p:cNvPr id="44" name="Text 42"/>
          <p:cNvSpPr/>
          <p:nvPr/>
        </p:nvSpPr>
        <p:spPr>
          <a:xfrm>
            <a:off x="658368" y="2962656"/>
            <a:ext cx="2267712" cy="256032"/>
          </a:xfrm>
          <a:prstGeom prst="rect">
            <a:avLst/>
          </a:prstGeom>
          <a:noFill/>
        </p:spPr>
        <p:txBody>
          <a:bodyPr wrap="square" lIns="0" tIns="0" rIns="0" bIns="0" rtlCol="0" anchor="ctr"/>
          <a:lstStyle/>
          <a:p>
            <a:pPr marL="0" indent="0">
              <a:buNone/>
            </a:pPr>
            <a:r>
              <a:rPr lang="en-US" sz="1050" b="1" dirty="0">
                <a:solidFill>
                  <a:srgbClr val="0EA5E9"/>
                </a:solidFill>
                <a:latin typeface="Consolas" panose="020B0609020204030204" pitchFamily="34" charset="0"/>
                <a:ea typeface="Consolas" panose="020B0609020204030204" pitchFamily="34" charset="-122"/>
                <a:cs typeface="Consolas" panose="020B0609020204030204" pitchFamily="34" charset="-120"/>
              </a:rPr>
              <a:t>$Bitmap</a:t>
            </a:r>
            <a:endParaRPr lang="en-US" sz="1050" dirty="0"/>
          </a:p>
        </p:txBody>
      </p:sp>
      <p:sp>
        <p:nvSpPr>
          <p:cNvPr id="45" name="Text 43"/>
          <p:cNvSpPr/>
          <p:nvPr/>
        </p:nvSpPr>
        <p:spPr>
          <a:xfrm>
            <a:off x="365760" y="3255264"/>
            <a:ext cx="2578608" cy="384048"/>
          </a:xfrm>
          <a:prstGeom prst="rect">
            <a:avLst/>
          </a:prstGeom>
          <a:noFill/>
        </p:spPr>
        <p:txBody>
          <a:bodyPr wrap="square" rtlCol="0" anchor="t"/>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One bit per cluster. 1=allocated, 0=free. Key for identifying unallocated space.</a:t>
            </a:r>
            <a:endParaRPr lang="en-US" sz="850" dirty="0"/>
          </a:p>
        </p:txBody>
      </p:sp>
      <p:sp>
        <p:nvSpPr>
          <p:cNvPr id="46" name="Shape 44"/>
          <p:cNvSpPr/>
          <p:nvPr/>
        </p:nvSpPr>
        <p:spPr>
          <a:xfrm>
            <a:off x="3182112" y="2889504"/>
            <a:ext cx="2761488" cy="804672"/>
          </a:xfrm>
          <a:prstGeom prst="rect">
            <a:avLst/>
          </a:prstGeom>
          <a:solidFill>
            <a:srgbClr val="EEF6FB"/>
          </a:solidFill>
          <a:ln w="12700">
            <a:solidFill>
              <a:srgbClr val="6366F1"/>
            </a:solidFill>
            <a:prstDash val="solid"/>
          </a:ln>
          <a:effectLst>
            <a:outerShdw blurRad="127000" dist="38100" dir="8100000" algn="bl" rotWithShape="0">
              <a:srgbClr val="000000">
                <a:alpha val="22000"/>
              </a:srgbClr>
            </a:outerShdw>
          </a:effectLst>
        </p:spPr>
        <p:txBody>
          <a:bodyPr/>
          <a:lstStyle/>
          <a:p>
            <a:endParaRPr lang="en-SG"/>
          </a:p>
        </p:txBody>
      </p:sp>
      <p:sp>
        <p:nvSpPr>
          <p:cNvPr id="47" name="Shape 45"/>
          <p:cNvSpPr/>
          <p:nvPr/>
        </p:nvSpPr>
        <p:spPr>
          <a:xfrm>
            <a:off x="3273552" y="2980944"/>
            <a:ext cx="256032" cy="256032"/>
          </a:xfrm>
          <a:prstGeom prst="line">
            <a:avLst/>
          </a:prstGeom>
          <a:solidFill>
            <a:srgbClr val="6366F1"/>
          </a:solidFill>
          <a:ln w="12700">
            <a:solidFill>
              <a:srgbClr val="6366F1"/>
            </a:solidFill>
            <a:prstDash val="solid"/>
          </a:ln>
        </p:spPr>
        <p:txBody>
          <a:bodyPr/>
          <a:lstStyle/>
          <a:p>
            <a:endParaRPr lang="en-SG"/>
          </a:p>
        </p:txBody>
      </p:sp>
      <p:sp>
        <p:nvSpPr>
          <p:cNvPr id="48" name="Text 46"/>
          <p:cNvSpPr/>
          <p:nvPr/>
        </p:nvSpPr>
        <p:spPr>
          <a:xfrm>
            <a:off x="3273552" y="2999232"/>
            <a:ext cx="256032" cy="201168"/>
          </a:xfrm>
          <a:prstGeom prst="rect">
            <a:avLst/>
          </a:prstGeom>
          <a:noFill/>
        </p:spPr>
        <p:txBody>
          <a:bodyPr wrap="square" lIns="0" tIns="0" rIns="0" bIns="0" rtlCol="0" anchor="ctr"/>
          <a:lstStyle/>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7</a:t>
            </a:r>
            <a:endParaRPr lang="en-US" sz="850" dirty="0"/>
          </a:p>
        </p:txBody>
      </p:sp>
      <p:sp>
        <p:nvSpPr>
          <p:cNvPr id="49" name="Text 47"/>
          <p:cNvSpPr/>
          <p:nvPr/>
        </p:nvSpPr>
        <p:spPr>
          <a:xfrm>
            <a:off x="3584448" y="2962656"/>
            <a:ext cx="2267712" cy="256032"/>
          </a:xfrm>
          <a:prstGeom prst="rect">
            <a:avLst/>
          </a:prstGeom>
          <a:noFill/>
        </p:spPr>
        <p:txBody>
          <a:bodyPr wrap="square" lIns="0" tIns="0" rIns="0" bIns="0" rtlCol="0" anchor="ctr"/>
          <a:lstStyle/>
          <a:p>
            <a:pPr marL="0" indent="0">
              <a:buNone/>
            </a:pPr>
            <a:r>
              <a:rPr lang="en-US" sz="1050" b="1" dirty="0">
                <a:solidFill>
                  <a:srgbClr val="6366F1"/>
                </a:solidFill>
                <a:latin typeface="Consolas" panose="020B0609020204030204" pitchFamily="34" charset="0"/>
                <a:ea typeface="Consolas" panose="020B0609020204030204" pitchFamily="34" charset="-122"/>
                <a:cs typeface="Consolas" panose="020B0609020204030204" pitchFamily="34" charset="-120"/>
              </a:rPr>
              <a:t>$Boot</a:t>
            </a:r>
            <a:endParaRPr lang="en-US" sz="1050" dirty="0"/>
          </a:p>
        </p:txBody>
      </p:sp>
      <p:sp>
        <p:nvSpPr>
          <p:cNvPr id="50" name="Text 48"/>
          <p:cNvSpPr/>
          <p:nvPr/>
        </p:nvSpPr>
        <p:spPr>
          <a:xfrm>
            <a:off x="3291840" y="3255264"/>
            <a:ext cx="2578608" cy="384048"/>
          </a:xfrm>
          <a:prstGeom prst="rect">
            <a:avLst/>
          </a:prstGeom>
          <a:noFill/>
        </p:spPr>
        <p:txBody>
          <a:bodyPr wrap="square" rtlCol="0" anchor="t"/>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The Volume Boot Record (VBR). Contains the BPB and boot code.</a:t>
            </a:r>
            <a:endParaRPr lang="en-US" sz="850" dirty="0"/>
          </a:p>
        </p:txBody>
      </p:sp>
      <p:sp>
        <p:nvSpPr>
          <p:cNvPr id="51" name="Shape 49"/>
          <p:cNvSpPr/>
          <p:nvPr/>
        </p:nvSpPr>
        <p:spPr>
          <a:xfrm>
            <a:off x="6108192" y="2889504"/>
            <a:ext cx="2761488" cy="804672"/>
          </a:xfrm>
          <a:prstGeom prst="rect">
            <a:avLst/>
          </a:prstGeom>
          <a:solidFill>
            <a:srgbClr val="EEF6FB"/>
          </a:solidFill>
          <a:ln w="12700">
            <a:solidFill>
              <a:srgbClr val="EF4444"/>
            </a:solidFill>
            <a:prstDash val="solid"/>
          </a:ln>
          <a:effectLst>
            <a:outerShdw blurRad="127000" dist="38100" dir="8100000" algn="bl" rotWithShape="0">
              <a:srgbClr val="000000">
                <a:alpha val="22000"/>
              </a:srgbClr>
            </a:outerShdw>
          </a:effectLst>
        </p:spPr>
        <p:txBody>
          <a:bodyPr/>
          <a:lstStyle/>
          <a:p>
            <a:endParaRPr lang="en-SG"/>
          </a:p>
        </p:txBody>
      </p:sp>
      <p:sp>
        <p:nvSpPr>
          <p:cNvPr id="52" name="Shape 50"/>
          <p:cNvSpPr/>
          <p:nvPr/>
        </p:nvSpPr>
        <p:spPr>
          <a:xfrm>
            <a:off x="6199632" y="2980944"/>
            <a:ext cx="256032" cy="256032"/>
          </a:xfrm>
          <a:prstGeom prst="line">
            <a:avLst/>
          </a:prstGeom>
          <a:solidFill>
            <a:srgbClr val="EF4444"/>
          </a:solidFill>
          <a:ln w="12700">
            <a:solidFill>
              <a:srgbClr val="EF4444"/>
            </a:solidFill>
            <a:prstDash val="solid"/>
          </a:ln>
        </p:spPr>
        <p:txBody>
          <a:bodyPr/>
          <a:lstStyle/>
          <a:p>
            <a:endParaRPr lang="en-SG"/>
          </a:p>
        </p:txBody>
      </p:sp>
      <p:sp>
        <p:nvSpPr>
          <p:cNvPr id="53" name="Text 51"/>
          <p:cNvSpPr/>
          <p:nvPr/>
        </p:nvSpPr>
        <p:spPr>
          <a:xfrm>
            <a:off x="6199632" y="2999232"/>
            <a:ext cx="256032" cy="201168"/>
          </a:xfrm>
          <a:prstGeom prst="rect">
            <a:avLst/>
          </a:prstGeom>
          <a:noFill/>
        </p:spPr>
        <p:txBody>
          <a:bodyPr wrap="square" lIns="0" tIns="0" rIns="0" bIns="0" rtlCol="0" anchor="ctr"/>
          <a:lstStyle/>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8</a:t>
            </a:r>
            <a:endParaRPr lang="en-US" sz="850" dirty="0"/>
          </a:p>
        </p:txBody>
      </p:sp>
      <p:sp>
        <p:nvSpPr>
          <p:cNvPr id="54" name="Text 52"/>
          <p:cNvSpPr/>
          <p:nvPr/>
        </p:nvSpPr>
        <p:spPr>
          <a:xfrm>
            <a:off x="6510528" y="2962656"/>
            <a:ext cx="2267712" cy="256032"/>
          </a:xfrm>
          <a:prstGeom prst="rect">
            <a:avLst/>
          </a:prstGeom>
          <a:noFill/>
        </p:spPr>
        <p:txBody>
          <a:bodyPr wrap="square" lIns="0" tIns="0" rIns="0" bIns="0" rtlCol="0" anchor="ctr"/>
          <a:lstStyle/>
          <a:p>
            <a:pPr marL="0" indent="0">
              <a:buNone/>
            </a:pPr>
            <a:r>
              <a:rPr lang="en-US" sz="1050" b="1" dirty="0">
                <a:solidFill>
                  <a:srgbClr val="EF4444"/>
                </a:solidFill>
                <a:latin typeface="Consolas" panose="020B0609020204030204" pitchFamily="34" charset="0"/>
                <a:ea typeface="Consolas" panose="020B0609020204030204" pitchFamily="34" charset="-122"/>
                <a:cs typeface="Consolas" panose="020B0609020204030204" pitchFamily="34" charset="-120"/>
              </a:rPr>
              <a:t>$BadClus</a:t>
            </a:r>
            <a:endParaRPr lang="en-US" sz="1050" dirty="0"/>
          </a:p>
        </p:txBody>
      </p:sp>
      <p:sp>
        <p:nvSpPr>
          <p:cNvPr id="55" name="Text 53"/>
          <p:cNvSpPr/>
          <p:nvPr/>
        </p:nvSpPr>
        <p:spPr>
          <a:xfrm>
            <a:off x="6217920" y="3255264"/>
            <a:ext cx="2578608" cy="384048"/>
          </a:xfrm>
          <a:prstGeom prst="rect">
            <a:avLst/>
          </a:prstGeom>
          <a:noFill/>
        </p:spPr>
        <p:txBody>
          <a:bodyPr wrap="square" rtlCol="0" anchor="t"/>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Lists bad clusters. Forensic note: data can be hidden in falsely bad clusters.</a:t>
            </a:r>
            <a:endParaRPr lang="en-US" sz="850" dirty="0"/>
          </a:p>
        </p:txBody>
      </p:sp>
      <p:sp>
        <p:nvSpPr>
          <p:cNvPr id="56" name="Shape 54"/>
          <p:cNvSpPr/>
          <p:nvPr/>
        </p:nvSpPr>
        <p:spPr>
          <a:xfrm>
            <a:off x="256032" y="3767328"/>
            <a:ext cx="2761488" cy="804672"/>
          </a:xfrm>
          <a:prstGeom prst="rect">
            <a:avLst/>
          </a:prstGeom>
          <a:solidFill>
            <a:srgbClr val="EEF6FB"/>
          </a:solidFill>
          <a:ln w="12700">
            <a:solidFill>
              <a:srgbClr val="10B981"/>
            </a:solidFill>
            <a:prstDash val="solid"/>
          </a:ln>
          <a:effectLst>
            <a:outerShdw blurRad="127000" dist="38100" dir="8100000" algn="bl" rotWithShape="0">
              <a:srgbClr val="000000">
                <a:alpha val="22000"/>
              </a:srgbClr>
            </a:outerShdw>
          </a:effectLst>
        </p:spPr>
        <p:txBody>
          <a:bodyPr/>
          <a:lstStyle/>
          <a:p>
            <a:endParaRPr lang="en-SG"/>
          </a:p>
        </p:txBody>
      </p:sp>
      <p:sp>
        <p:nvSpPr>
          <p:cNvPr id="57" name="Shape 55"/>
          <p:cNvSpPr/>
          <p:nvPr/>
        </p:nvSpPr>
        <p:spPr>
          <a:xfrm>
            <a:off x="347472" y="3858768"/>
            <a:ext cx="256032" cy="256032"/>
          </a:xfrm>
          <a:prstGeom prst="line">
            <a:avLst/>
          </a:prstGeom>
          <a:solidFill>
            <a:srgbClr val="10B981"/>
          </a:solidFill>
          <a:ln w="12700">
            <a:solidFill>
              <a:srgbClr val="10B981"/>
            </a:solidFill>
            <a:prstDash val="solid"/>
          </a:ln>
        </p:spPr>
        <p:txBody>
          <a:bodyPr/>
          <a:lstStyle/>
          <a:p>
            <a:endParaRPr lang="en-SG"/>
          </a:p>
        </p:txBody>
      </p:sp>
      <p:sp>
        <p:nvSpPr>
          <p:cNvPr id="58" name="Text 56"/>
          <p:cNvSpPr/>
          <p:nvPr/>
        </p:nvSpPr>
        <p:spPr>
          <a:xfrm>
            <a:off x="347472" y="3877056"/>
            <a:ext cx="256032" cy="201168"/>
          </a:xfrm>
          <a:prstGeom prst="rect">
            <a:avLst/>
          </a:prstGeom>
          <a:noFill/>
        </p:spPr>
        <p:txBody>
          <a:bodyPr wrap="square" lIns="0" tIns="0" rIns="0" bIns="0" rtlCol="0" anchor="ctr"/>
          <a:lstStyle/>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9</a:t>
            </a:r>
            <a:endParaRPr lang="en-US" sz="850" dirty="0"/>
          </a:p>
        </p:txBody>
      </p:sp>
      <p:sp>
        <p:nvSpPr>
          <p:cNvPr id="59" name="Text 57"/>
          <p:cNvSpPr/>
          <p:nvPr/>
        </p:nvSpPr>
        <p:spPr>
          <a:xfrm>
            <a:off x="658368" y="3840480"/>
            <a:ext cx="2267712" cy="256032"/>
          </a:xfrm>
          <a:prstGeom prst="rect">
            <a:avLst/>
          </a:prstGeom>
          <a:noFill/>
        </p:spPr>
        <p:txBody>
          <a:bodyPr wrap="square" lIns="0" tIns="0" rIns="0" bIns="0" rtlCol="0" anchor="ctr"/>
          <a:lstStyle/>
          <a:p>
            <a:pPr marL="0" indent="0">
              <a:buNone/>
            </a:pPr>
            <a:r>
              <a:rPr lang="en-US" sz="1050" b="1" dirty="0">
                <a:solidFill>
                  <a:srgbClr val="10B981"/>
                </a:solidFill>
                <a:latin typeface="Consolas" panose="020B0609020204030204" pitchFamily="34" charset="0"/>
                <a:ea typeface="Consolas" panose="020B0609020204030204" pitchFamily="34" charset="-122"/>
                <a:cs typeface="Consolas" panose="020B0609020204030204" pitchFamily="34" charset="-120"/>
              </a:rPr>
              <a:t>$Secure</a:t>
            </a:r>
            <a:endParaRPr lang="en-US" sz="1050" dirty="0"/>
          </a:p>
        </p:txBody>
      </p:sp>
      <p:sp>
        <p:nvSpPr>
          <p:cNvPr id="60" name="Text 58"/>
          <p:cNvSpPr/>
          <p:nvPr/>
        </p:nvSpPr>
        <p:spPr>
          <a:xfrm>
            <a:off x="365760" y="4133088"/>
            <a:ext cx="2578608" cy="384048"/>
          </a:xfrm>
          <a:prstGeom prst="rect">
            <a:avLst/>
          </a:prstGeom>
          <a:noFill/>
        </p:spPr>
        <p:txBody>
          <a:bodyPr wrap="square" rtlCol="0" anchor="t"/>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All security descriptors (ACL permissions) shared across the volume.</a:t>
            </a:r>
            <a:endParaRPr lang="en-US" sz="850" dirty="0"/>
          </a:p>
        </p:txBody>
      </p:sp>
      <p:sp>
        <p:nvSpPr>
          <p:cNvPr id="61" name="Shape 59"/>
          <p:cNvSpPr/>
          <p:nvPr/>
        </p:nvSpPr>
        <p:spPr>
          <a:xfrm>
            <a:off x="3182112" y="3767328"/>
            <a:ext cx="2761488" cy="804672"/>
          </a:xfrm>
          <a:prstGeom prst="rect">
            <a:avLst/>
          </a:prstGeom>
          <a:solidFill>
            <a:srgbClr val="EEF6FB"/>
          </a:solidFill>
          <a:ln w="12700">
            <a:solidFill>
              <a:srgbClr val="A855F7"/>
            </a:solidFill>
            <a:prstDash val="solid"/>
          </a:ln>
          <a:effectLst>
            <a:outerShdw blurRad="127000" dist="38100" dir="8100000" algn="bl" rotWithShape="0">
              <a:srgbClr val="000000">
                <a:alpha val="22000"/>
              </a:srgbClr>
            </a:outerShdw>
          </a:effectLst>
        </p:spPr>
        <p:txBody>
          <a:bodyPr/>
          <a:lstStyle/>
          <a:p>
            <a:endParaRPr lang="en-SG"/>
          </a:p>
        </p:txBody>
      </p:sp>
      <p:sp>
        <p:nvSpPr>
          <p:cNvPr id="62" name="Shape 60"/>
          <p:cNvSpPr/>
          <p:nvPr/>
        </p:nvSpPr>
        <p:spPr>
          <a:xfrm>
            <a:off x="3273552" y="3858768"/>
            <a:ext cx="256032" cy="256032"/>
          </a:xfrm>
          <a:prstGeom prst="line">
            <a:avLst/>
          </a:prstGeom>
          <a:solidFill>
            <a:srgbClr val="A855F7"/>
          </a:solidFill>
          <a:ln w="12700">
            <a:solidFill>
              <a:srgbClr val="A855F7"/>
            </a:solidFill>
            <a:prstDash val="solid"/>
          </a:ln>
        </p:spPr>
        <p:txBody>
          <a:bodyPr/>
          <a:lstStyle/>
          <a:p>
            <a:endParaRPr lang="en-SG"/>
          </a:p>
        </p:txBody>
      </p:sp>
      <p:sp>
        <p:nvSpPr>
          <p:cNvPr id="63" name="Text 61"/>
          <p:cNvSpPr/>
          <p:nvPr/>
        </p:nvSpPr>
        <p:spPr>
          <a:xfrm>
            <a:off x="3273552" y="3877056"/>
            <a:ext cx="256032" cy="201168"/>
          </a:xfrm>
          <a:prstGeom prst="rect">
            <a:avLst/>
          </a:prstGeom>
          <a:noFill/>
        </p:spPr>
        <p:txBody>
          <a:bodyPr wrap="square" lIns="0" tIns="0" rIns="0" bIns="0" rtlCol="0" anchor="ctr"/>
          <a:lstStyle/>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10</a:t>
            </a:r>
            <a:endParaRPr lang="en-US" sz="850" dirty="0"/>
          </a:p>
        </p:txBody>
      </p:sp>
      <p:sp>
        <p:nvSpPr>
          <p:cNvPr id="64" name="Text 62"/>
          <p:cNvSpPr/>
          <p:nvPr/>
        </p:nvSpPr>
        <p:spPr>
          <a:xfrm>
            <a:off x="3584448" y="3840480"/>
            <a:ext cx="2267712" cy="256032"/>
          </a:xfrm>
          <a:prstGeom prst="rect">
            <a:avLst/>
          </a:prstGeom>
          <a:noFill/>
        </p:spPr>
        <p:txBody>
          <a:bodyPr wrap="square" lIns="0" tIns="0" rIns="0" bIns="0" rtlCol="0" anchor="ctr"/>
          <a:lstStyle/>
          <a:p>
            <a:pPr marL="0" indent="0">
              <a:buNone/>
            </a:pPr>
            <a:r>
              <a:rPr lang="en-US" sz="1050" b="1" dirty="0">
                <a:solidFill>
                  <a:srgbClr val="A855F7"/>
                </a:solidFill>
                <a:latin typeface="Consolas" panose="020B0609020204030204" pitchFamily="34" charset="0"/>
                <a:ea typeface="Consolas" panose="020B0609020204030204" pitchFamily="34" charset="-122"/>
                <a:cs typeface="Consolas" panose="020B0609020204030204" pitchFamily="34" charset="-120"/>
              </a:rPr>
              <a:t>$UpCase</a:t>
            </a:r>
            <a:endParaRPr lang="en-US" sz="1050" dirty="0"/>
          </a:p>
        </p:txBody>
      </p:sp>
      <p:sp>
        <p:nvSpPr>
          <p:cNvPr id="65" name="Text 63"/>
          <p:cNvSpPr/>
          <p:nvPr/>
        </p:nvSpPr>
        <p:spPr>
          <a:xfrm>
            <a:off x="3291840" y="4133088"/>
            <a:ext cx="2578608" cy="384048"/>
          </a:xfrm>
          <a:prstGeom prst="rect">
            <a:avLst/>
          </a:prstGeom>
          <a:noFill/>
        </p:spPr>
        <p:txBody>
          <a:bodyPr wrap="square" rtlCol="0" anchor="t"/>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Unicode uppercase table for case-insensitive filename comparisons.</a:t>
            </a:r>
            <a:endParaRPr lang="en-US" sz="850" dirty="0"/>
          </a:p>
        </p:txBody>
      </p:sp>
      <p:sp>
        <p:nvSpPr>
          <p:cNvPr id="66" name="Shape 64"/>
          <p:cNvSpPr/>
          <p:nvPr/>
        </p:nvSpPr>
        <p:spPr>
          <a:xfrm>
            <a:off x="6108192" y="3767328"/>
            <a:ext cx="2761488" cy="804672"/>
          </a:xfrm>
          <a:prstGeom prst="rect">
            <a:avLst/>
          </a:prstGeom>
          <a:solidFill>
            <a:srgbClr val="EEF6FB"/>
          </a:solidFill>
          <a:ln w="12700">
            <a:solidFill>
              <a:srgbClr val="F59E0B"/>
            </a:solidFill>
            <a:prstDash val="solid"/>
          </a:ln>
          <a:effectLst>
            <a:outerShdw blurRad="127000" dist="38100" dir="8100000" algn="bl" rotWithShape="0">
              <a:srgbClr val="000000">
                <a:alpha val="22000"/>
              </a:srgbClr>
            </a:outerShdw>
          </a:effectLst>
        </p:spPr>
        <p:txBody>
          <a:bodyPr/>
          <a:lstStyle/>
          <a:p>
            <a:endParaRPr lang="en-SG"/>
          </a:p>
        </p:txBody>
      </p:sp>
      <p:sp>
        <p:nvSpPr>
          <p:cNvPr id="67" name="Shape 65"/>
          <p:cNvSpPr/>
          <p:nvPr/>
        </p:nvSpPr>
        <p:spPr>
          <a:xfrm>
            <a:off x="6199632" y="3858768"/>
            <a:ext cx="256032" cy="256032"/>
          </a:xfrm>
          <a:prstGeom prst="line">
            <a:avLst/>
          </a:prstGeom>
          <a:solidFill>
            <a:srgbClr val="F59E0B"/>
          </a:solidFill>
          <a:ln w="12700">
            <a:solidFill>
              <a:srgbClr val="F59E0B"/>
            </a:solidFill>
            <a:prstDash val="solid"/>
          </a:ln>
        </p:spPr>
        <p:txBody>
          <a:bodyPr/>
          <a:lstStyle/>
          <a:p>
            <a:endParaRPr lang="en-SG"/>
          </a:p>
        </p:txBody>
      </p:sp>
      <p:sp>
        <p:nvSpPr>
          <p:cNvPr id="68" name="Text 66"/>
          <p:cNvSpPr/>
          <p:nvPr/>
        </p:nvSpPr>
        <p:spPr>
          <a:xfrm>
            <a:off x="6199632" y="3877056"/>
            <a:ext cx="256032" cy="201168"/>
          </a:xfrm>
          <a:prstGeom prst="rect">
            <a:avLst/>
          </a:prstGeom>
          <a:noFill/>
        </p:spPr>
        <p:txBody>
          <a:bodyPr wrap="square" lIns="0" tIns="0" rIns="0" bIns="0" rtlCol="0" anchor="ctr"/>
          <a:lstStyle/>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11</a:t>
            </a:r>
            <a:endParaRPr lang="en-US" sz="850" dirty="0"/>
          </a:p>
        </p:txBody>
      </p:sp>
      <p:sp>
        <p:nvSpPr>
          <p:cNvPr id="69" name="Text 67"/>
          <p:cNvSpPr/>
          <p:nvPr/>
        </p:nvSpPr>
        <p:spPr>
          <a:xfrm>
            <a:off x="6510528" y="3840480"/>
            <a:ext cx="2267712" cy="256032"/>
          </a:xfrm>
          <a:prstGeom prst="rect">
            <a:avLst/>
          </a:prstGeom>
          <a:noFill/>
        </p:spPr>
        <p:txBody>
          <a:bodyPr wrap="square" lIns="0" tIns="0" rIns="0" bIns="0" rtlCol="0" anchor="ctr"/>
          <a:lstStyle/>
          <a:p>
            <a:pPr marL="0" indent="0">
              <a:buNone/>
            </a:pPr>
            <a:r>
              <a:rPr lang="en-US" sz="1050" b="1" dirty="0">
                <a:solidFill>
                  <a:srgbClr val="F59E0B"/>
                </a:solidFill>
                <a:latin typeface="Consolas" panose="020B0609020204030204" pitchFamily="34" charset="0"/>
                <a:ea typeface="Consolas" panose="020B0609020204030204" pitchFamily="34" charset="-122"/>
                <a:cs typeface="Consolas" panose="020B0609020204030204" pitchFamily="34" charset="-120"/>
              </a:rPr>
              <a:t>$Extend</a:t>
            </a:r>
            <a:endParaRPr lang="en-US" sz="1050" dirty="0"/>
          </a:p>
        </p:txBody>
      </p:sp>
      <p:sp>
        <p:nvSpPr>
          <p:cNvPr id="70" name="Text 68"/>
          <p:cNvSpPr/>
          <p:nvPr/>
        </p:nvSpPr>
        <p:spPr>
          <a:xfrm>
            <a:off x="6217920" y="4133088"/>
            <a:ext cx="2578608" cy="384048"/>
          </a:xfrm>
          <a:prstGeom prst="rect">
            <a:avLst/>
          </a:prstGeom>
          <a:noFill/>
        </p:spPr>
        <p:txBody>
          <a:bodyPr wrap="square" rtlCol="0" anchor="t"/>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Optional extensions: $Quota, $ObjId, $Reparse, $UsnJrnl (change journal).</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EA5E9"/>
          </a:solidFill>
          <a:ln w="12700">
            <a:solidFill>
              <a:srgbClr val="0EA5E9"/>
            </a:solidFill>
            <a:prstDash val="solid"/>
          </a:ln>
        </p:spPr>
        <p:txBody>
          <a:bodyPr/>
          <a:lstStyle/>
          <a:p>
            <a:endParaRPr lang="en-SG"/>
          </a:p>
        </p:txBody>
      </p:sp>
      <p:sp>
        <p:nvSpPr>
          <p:cNvPr id="3" name="Text 1"/>
          <p:cNvSpPr/>
          <p:nvPr/>
        </p:nvSpPr>
        <p:spPr>
          <a:xfrm>
            <a:off x="256032" y="186690"/>
            <a:ext cx="8631936" cy="548640"/>
          </a:xfrm>
          <a:prstGeom prst="rect">
            <a:avLst/>
          </a:prstGeom>
          <a:noFill/>
        </p:spPr>
        <p:txBody>
          <a:bodyPr wrap="square" lIns="0" tIns="0" rIns="0" bIns="0" rtlCol="0" anchor="ctr"/>
          <a:lstStyle/>
          <a:p>
            <a:pPr marL="0" indent="0">
              <a:buNone/>
            </a:pPr>
            <a:r>
              <a:rPr lang="en-US" sz="16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NTFS MFT Record — Byte Offset Reference</a:t>
            </a:r>
            <a:endParaRPr lang="en-US" sz="1600" dirty="0"/>
          </a:p>
        </p:txBody>
      </p:sp>
      <p:sp>
        <p:nvSpPr>
          <p:cNvPr id="4" name="Shape 2"/>
          <p:cNvSpPr/>
          <p:nvPr/>
        </p:nvSpPr>
        <p:spPr>
          <a:xfrm>
            <a:off x="256032" y="73152"/>
            <a:ext cx="1463040" cy="219456"/>
          </a:xfrm>
          <a:prstGeom prst="rect">
            <a:avLst/>
          </a:prstGeom>
          <a:solidFill>
            <a:srgbClr val="0EA5E9"/>
          </a:solidFill>
          <a:ln w="12700">
            <a:solidFill>
              <a:srgbClr val="0EA5E9"/>
            </a:solidFill>
            <a:prstDash val="solid"/>
          </a:ln>
        </p:spPr>
        <p:txBody>
          <a:bodyPr/>
          <a:lstStyle/>
          <a:p>
            <a:endParaRPr lang="en-SG"/>
          </a:p>
        </p:txBody>
      </p:sp>
      <p:sp>
        <p:nvSpPr>
          <p:cNvPr id="5" name="Text 3"/>
          <p:cNvSpPr/>
          <p:nvPr/>
        </p:nvSpPr>
        <p:spPr>
          <a:xfrm>
            <a:off x="256032" y="73152"/>
            <a:ext cx="1463040" cy="219456"/>
          </a:xfrm>
          <a:prstGeom prst="rect">
            <a:avLst/>
          </a:prstGeom>
          <a:noFill/>
        </p:spPr>
        <p:txBody>
          <a:bodyPr wrap="square" lIns="0" tIns="0" rIns="0" bIns="0" rtlCol="0" anchor="ctr"/>
          <a:lstStyle/>
          <a:p>
            <a:pPr marL="0" indent="0" algn="ctr">
              <a:buNone/>
            </a:pPr>
            <a:r>
              <a:rPr lang="en-US" sz="800" b="1" kern="0" spc="100"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SECTION 03 — NTFS</a:t>
            </a:r>
            <a:endParaRPr lang="en-US" sz="800" dirty="0"/>
          </a:p>
        </p:txBody>
      </p:sp>
      <p:sp>
        <p:nvSpPr>
          <p:cNvPr id="10" name="Text 8"/>
          <p:cNvSpPr/>
          <p:nvPr/>
        </p:nvSpPr>
        <p:spPr>
          <a:xfrm>
            <a:off x="256032" y="822960"/>
            <a:ext cx="8631936" cy="274320"/>
          </a:xfrm>
          <a:prstGeom prst="rect">
            <a:avLst/>
          </a:prstGeom>
          <a:noFill/>
        </p:spPr>
        <p:txBody>
          <a:bodyPr wrap="square" rtlCol="0" anchor="ctr"/>
          <a:lstStyle/>
          <a:p>
            <a:pPr marL="0" indent="0">
              <a:buNone/>
            </a:pPr>
            <a:r>
              <a:rPr lang="en-US" sz="950" i="1" dirty="0">
                <a:solidFill>
                  <a:srgbClr val="475569"/>
                </a:solidFill>
                <a:latin typeface="Calibri" panose="020F0502020204030204" pitchFamily="34" charset="0"/>
                <a:ea typeface="Calibri" panose="020F0502020204030204" pitchFamily="34" charset="-122"/>
                <a:cs typeface="Calibri" panose="020F0502020204030204" pitchFamily="34" charset="-120"/>
              </a:rPr>
              <a:t>Every MFT record is exactly 1,024 bytes and begins with a fixed-size header. Knowing these offsets allows forensic examiners to decode MFT records directly from a hex editor — just like the FAT directory entry.</a:t>
            </a:r>
            <a:endParaRPr lang="en-US" sz="950" dirty="0"/>
          </a:p>
        </p:txBody>
      </p:sp>
      <p:graphicFrame>
        <p:nvGraphicFramePr>
          <p:cNvPr id="28" name="Table 0"/>
          <p:cNvGraphicFramePr>
            <a:graphicFrameLocks noGrp="1"/>
          </p:cNvGraphicFramePr>
          <p:nvPr/>
        </p:nvGraphicFramePr>
        <p:xfrm>
          <a:off x="256032" y="1133856"/>
          <a:ext cx="8631936" cy="3773424"/>
        </p:xfrm>
        <a:graphic>
          <a:graphicData uri="http://schemas.openxmlformats.org/drawingml/2006/table">
            <a:tbl>
              <a:tblPr/>
              <a:tblGrid>
                <a:gridCol w="1371600"/>
                <a:gridCol w="566928"/>
                <a:gridCol w="1645920"/>
                <a:gridCol w="5047488"/>
              </a:tblGrid>
              <a:tr h="256032">
                <a:tc>
                  <a:txBody>
                    <a:bodyPr/>
                    <a:lstStyle/>
                    <a:p>
                      <a:pPr marL="0" indent="0">
                        <a:buNone/>
                      </a:pPr>
                      <a:r>
                        <a:rPr lang="en-US" sz="850" b="1" dirty="0">
                          <a:solidFill>
                            <a:srgbClr val="FFFFFF"/>
                          </a:solidFill>
                          <a:latin typeface="Calibri" panose="020F0502020204030204" pitchFamily="34" charset="0"/>
                          <a:ea typeface="Calibri" panose="020F0502020204030204" pitchFamily="34" charset="-122"/>
                          <a:cs typeface="Calibri" panose="020F0502020204030204" pitchFamily="34" charset="-120"/>
                        </a:rPr>
                        <a:t>Offset (Hex)</a:t>
                      </a:r>
                      <a:endParaRPr lang="en-US" sz="8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solidFill>
                      <a:srgbClr val="0EA5E9"/>
                    </a:solidFill>
                  </a:tcPr>
                </a:tc>
                <a:tc>
                  <a:txBody>
                    <a:bodyPr/>
                    <a:lstStyle/>
                    <a:p>
                      <a:pPr marL="0" indent="0">
                        <a:buNone/>
                      </a:pPr>
                      <a:r>
                        <a:rPr lang="en-US" sz="850" b="1" dirty="0">
                          <a:solidFill>
                            <a:srgbClr val="FFFFFF"/>
                          </a:solidFill>
                          <a:latin typeface="Calibri" panose="020F0502020204030204" pitchFamily="34" charset="0"/>
                          <a:ea typeface="Calibri" panose="020F0502020204030204" pitchFamily="34" charset="-122"/>
                          <a:cs typeface="Calibri" panose="020F0502020204030204" pitchFamily="34" charset="-120"/>
                        </a:rPr>
                        <a:t>Size (B)</a:t>
                      </a:r>
                      <a:endParaRPr lang="en-US" sz="8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solidFill>
                      <a:srgbClr val="0EA5E9"/>
                    </a:solidFill>
                  </a:tcPr>
                </a:tc>
                <a:tc>
                  <a:txBody>
                    <a:bodyPr/>
                    <a:lstStyle/>
                    <a:p>
                      <a:pPr marL="0" indent="0">
                        <a:buNone/>
                      </a:pPr>
                      <a:r>
                        <a:rPr lang="en-US" sz="850" b="1" dirty="0">
                          <a:solidFill>
                            <a:srgbClr val="FFFFFF"/>
                          </a:solidFill>
                          <a:latin typeface="Calibri" panose="020F0502020204030204" pitchFamily="34" charset="0"/>
                          <a:ea typeface="Calibri" panose="020F0502020204030204" pitchFamily="34" charset="-122"/>
                          <a:cs typeface="Calibri" panose="020F0502020204030204" pitchFamily="34" charset="-120"/>
                        </a:rPr>
                        <a:t>Field Name</a:t>
                      </a:r>
                      <a:endParaRPr lang="en-US" sz="8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solidFill>
                      <a:srgbClr val="0EA5E9"/>
                    </a:solidFill>
                  </a:tcPr>
                </a:tc>
                <a:tc>
                  <a:txBody>
                    <a:bodyPr/>
                    <a:lstStyle/>
                    <a:p>
                      <a:pPr marL="0" indent="0">
                        <a:buNone/>
                      </a:pPr>
                      <a:r>
                        <a:rPr lang="en-US" sz="850" b="1" dirty="0">
                          <a:solidFill>
                            <a:srgbClr val="FFFFFF"/>
                          </a:solidFill>
                          <a:latin typeface="Calibri" panose="020F0502020204030204" pitchFamily="34" charset="0"/>
                          <a:ea typeface="Calibri" panose="020F0502020204030204" pitchFamily="34" charset="-122"/>
                          <a:cs typeface="Calibri" panose="020F0502020204030204" pitchFamily="34" charset="-120"/>
                        </a:rPr>
                        <a:t>Description</a:t>
                      </a:r>
                      <a:endParaRPr lang="en-US" sz="8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solidFill>
                      <a:srgbClr val="0EA5E9"/>
                    </a:solidFill>
                  </a:tcPr>
                </a:tc>
              </a:tr>
              <a:tr h="256032">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0x00–0x03</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4</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Signature</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'FILE' in ASCII (46 49 4C 45). Required for every valid MFT record. Missing = record damaged or unallocated.</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256032">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0x04–0x05</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2</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Update Sequence Offset</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Offset from start of record to the Update Sequence Array (USA). Typically 0x0030 (48 decimal).</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256032">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0x06–0x07</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2</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Update Sequence Size</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Number of entries in the USA (usually 3 for 1024-byte records). Used for fixup verification.</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256032">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0x08–0x0F</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8</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Log Sequence Number</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64-bit counter. Increments with each change. Forensically: lower LSN = earlier event. Helps reconstruct operation order.</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256032">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0x10–0x11</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2</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Sequence Number</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Increments each time this record is reused. Used to verify file references (MFT record index + sequence number).</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256032">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0x12–0x13</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2</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Hard Link Count</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Number of directory entries (hard links) pointing to this file. 0 = deleted.</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256032">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0x14–0x15</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2</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Attributes Offset</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Offset from start of record to first attribute. Typically 0x0038 (56 bytes).</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256032">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0x16–0x17</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2</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Flags</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0x0000 = Deleted, 0x0001 = In Use (file), 0x0002 = In Use (directory), 0x0003 = In Use + Directory.</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256032">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0x18–0x1B</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4</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Used Size</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Number of bytes used in this record (from start to end of last attribute).</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256032">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0x1C–0x1F</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4</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Allocated Size</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Allocated size of the record. Always 1,024 bytes for standard records.</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256032">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0x20–0x27</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8</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Base MFT Reference</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For extension records: reference to base (first) MFT record. Zero for primary records.</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256032">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0x28–0x29</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2</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Next Attribute ID</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ID to assign to the next attribute added to this record. Auto-increments.</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256032">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0x2C–0x2F</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4</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MFT Record Number</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850" dirty="0">
                          <a:solidFill>
                            <a:schemeClr val="tx1">
                              <a:lumMod val="95000"/>
                              <a:lumOff val="5000"/>
                            </a:schemeClr>
                          </a:solidFill>
                          <a:latin typeface="Calibri" panose="020F0502020204030204"/>
                          <a:ea typeface="Calibri" panose="020F0502020204030204"/>
                          <a:cs typeface="Calibri" panose="020F0502020204030204"/>
                        </a:rPr>
                        <a:t>The record's own index in the MFT. Useful for verifying the record matches its position.</a:t>
                      </a:r>
                      <a:endParaRPr lang="en-US" sz="8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bl>
          </a:graphicData>
        </a:graphic>
      </p:graphicFrame>
      <p:sp>
        <p:nvSpPr>
          <p:cNvPr id="12" name="Text 9"/>
          <p:cNvSpPr/>
          <p:nvPr/>
        </p:nvSpPr>
        <p:spPr>
          <a:xfrm>
            <a:off x="182763" y="4901418"/>
            <a:ext cx="8631936" cy="146304"/>
          </a:xfrm>
          <a:prstGeom prst="rect">
            <a:avLst/>
          </a:prstGeom>
          <a:noFill/>
        </p:spPr>
        <p:txBody>
          <a:bodyPr wrap="square" rtlCol="0" anchor="ctr"/>
          <a:lstStyle/>
          <a:p>
            <a:pPr marL="0" indent="0">
              <a:buNone/>
            </a:pPr>
            <a:r>
              <a:rPr lang="en-US" sz="750" i="1" dirty="0">
                <a:solidFill>
                  <a:srgbClr val="475569"/>
                </a:solidFill>
                <a:latin typeface="Calibri" panose="020F0502020204030204" pitchFamily="34" charset="0"/>
                <a:ea typeface="Calibri" panose="020F0502020204030204" pitchFamily="34" charset="-122"/>
                <a:cs typeface="Calibri" panose="020F0502020204030204" pitchFamily="34" charset="-120"/>
              </a:rPr>
              <a:t>After offset 0x30: Variable-length attribute list begins. Each attribute has its own type code and length. The list ends with a terminator value of 0xFFFFFFFF.</a:t>
            </a:r>
            <a:endParaRPr lang="en-US" sz="7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EA5E9"/>
          </a:solidFill>
          <a:ln w="12700">
            <a:solidFill>
              <a:srgbClr val="0EA5E9"/>
            </a:solidFill>
            <a:prstDash val="solid"/>
          </a:ln>
        </p:spPr>
        <p:txBody>
          <a:bodyPr/>
          <a:lstStyle/>
          <a:p>
            <a:endParaRPr lang="en-SG"/>
          </a:p>
        </p:txBody>
      </p:sp>
      <p:sp>
        <p:nvSpPr>
          <p:cNvPr id="3" name="Text 1"/>
          <p:cNvSpPr/>
          <p:nvPr/>
        </p:nvSpPr>
        <p:spPr>
          <a:xfrm>
            <a:off x="248705" y="186690"/>
            <a:ext cx="8631936" cy="548640"/>
          </a:xfrm>
          <a:prstGeom prst="rect">
            <a:avLst/>
          </a:prstGeom>
          <a:noFill/>
        </p:spPr>
        <p:txBody>
          <a:bodyPr wrap="square" lIns="0" tIns="0" rIns="0" bIns="0" rtlCol="0" anchor="ctr"/>
          <a:lstStyle/>
          <a:p>
            <a:pPr marL="0" indent="0">
              <a:buNone/>
            </a:pPr>
            <a:r>
              <a:rPr lang="en-US" sz="16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NTFS VBR — Locating Key Fields in Hex (Part 1 of 2)</a:t>
            </a:r>
            <a:endParaRPr lang="en-US" sz="1600" dirty="0"/>
          </a:p>
        </p:txBody>
      </p:sp>
      <p:sp>
        <p:nvSpPr>
          <p:cNvPr id="4" name="Shape 2"/>
          <p:cNvSpPr/>
          <p:nvPr/>
        </p:nvSpPr>
        <p:spPr>
          <a:xfrm>
            <a:off x="256032" y="73152"/>
            <a:ext cx="1463040" cy="219456"/>
          </a:xfrm>
          <a:prstGeom prst="rect">
            <a:avLst/>
          </a:prstGeom>
          <a:solidFill>
            <a:srgbClr val="0EA5E9"/>
          </a:solidFill>
          <a:ln w="12700">
            <a:solidFill>
              <a:srgbClr val="0EA5E9"/>
            </a:solidFill>
            <a:prstDash val="solid"/>
          </a:ln>
        </p:spPr>
        <p:txBody>
          <a:bodyPr/>
          <a:lstStyle/>
          <a:p>
            <a:endParaRPr lang="en-SG"/>
          </a:p>
        </p:txBody>
      </p:sp>
      <p:sp>
        <p:nvSpPr>
          <p:cNvPr id="5" name="Text 3"/>
          <p:cNvSpPr/>
          <p:nvPr/>
        </p:nvSpPr>
        <p:spPr>
          <a:xfrm>
            <a:off x="256032" y="73152"/>
            <a:ext cx="1463040" cy="219456"/>
          </a:xfrm>
          <a:prstGeom prst="rect">
            <a:avLst/>
          </a:prstGeom>
          <a:noFill/>
        </p:spPr>
        <p:txBody>
          <a:bodyPr wrap="square" lIns="0" tIns="0" rIns="0" bIns="0" rtlCol="0" anchor="ctr"/>
          <a:lstStyle/>
          <a:p>
            <a:pPr marL="0" indent="0" algn="ctr">
              <a:buNone/>
            </a:pPr>
            <a:r>
              <a:rPr lang="en-US" sz="800" b="1" kern="0" spc="100"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SECTION 03 — NTFS</a:t>
            </a:r>
            <a:endParaRPr lang="en-US" sz="800" dirty="0"/>
          </a:p>
        </p:txBody>
      </p:sp>
      <p:sp>
        <p:nvSpPr>
          <p:cNvPr id="10" name="Text 8"/>
          <p:cNvSpPr/>
          <p:nvPr/>
        </p:nvSpPr>
        <p:spPr>
          <a:xfrm>
            <a:off x="256032" y="822960"/>
            <a:ext cx="8631936" cy="256032"/>
          </a:xfrm>
          <a:prstGeom prst="rect">
            <a:avLst/>
          </a:prstGeom>
          <a:noFill/>
        </p:spPr>
        <p:txBody>
          <a:bodyPr wrap="square" rtlCol="0" anchor="ctr"/>
          <a:lstStyle/>
          <a:p>
            <a:pPr marL="0" indent="0">
              <a:buNone/>
            </a:pPr>
            <a:r>
              <a:rPr lang="en-US" sz="950" i="1" dirty="0">
                <a:solidFill>
                  <a:srgbClr val="475569"/>
                </a:solidFill>
                <a:latin typeface="Calibri" panose="020F0502020204030204" pitchFamily="34" charset="0"/>
                <a:ea typeface="Calibri" panose="020F0502020204030204" pitchFamily="34" charset="-122"/>
                <a:cs typeface="Calibri" panose="020F0502020204030204" pitchFamily="34" charset="-120"/>
              </a:rPr>
              <a:t>The Volume Boot Record (VBR) at sector 0 contains the BPB. This slide focuses on three critical fields: Bytes Per Sector, Sectors Per Cluster, and Total Sectors.</a:t>
            </a:r>
            <a:endParaRPr lang="en-US" sz="950" dirty="0"/>
          </a:p>
        </p:txBody>
      </p:sp>
      <p:sp>
        <p:nvSpPr>
          <p:cNvPr id="11" name="Shape 9"/>
          <p:cNvSpPr/>
          <p:nvPr/>
        </p:nvSpPr>
        <p:spPr>
          <a:xfrm>
            <a:off x="256032" y="1115568"/>
            <a:ext cx="8631936" cy="1901952"/>
          </a:xfrm>
          <a:prstGeom prst="rect">
            <a:avLst/>
          </a:prstGeom>
          <a:solidFill>
            <a:srgbClr val="FFFFFF"/>
          </a:solidFill>
          <a:ln w="12700">
            <a:solidFill>
              <a:srgbClr val="2E4068"/>
            </a:solidFill>
            <a:prstDash val="solid"/>
          </a:ln>
          <a:effectLst>
            <a:outerShdw blurRad="127000" dist="38100" dir="8100000" algn="bl" rotWithShape="0">
              <a:srgbClr val="000000">
                <a:alpha val="22000"/>
              </a:srgbClr>
            </a:outerShdw>
          </a:effectLst>
        </p:spPr>
        <p:txBody>
          <a:bodyPr/>
          <a:lstStyle/>
          <a:p>
            <a:endParaRPr lang="en-SG"/>
          </a:p>
        </p:txBody>
      </p:sp>
      <p:sp>
        <p:nvSpPr>
          <p:cNvPr id="12" name="Text 10"/>
          <p:cNvSpPr/>
          <p:nvPr/>
        </p:nvSpPr>
        <p:spPr>
          <a:xfrm>
            <a:off x="347472" y="1152144"/>
            <a:ext cx="731520" cy="182880"/>
          </a:xfrm>
          <a:prstGeom prst="rect">
            <a:avLst/>
          </a:prstGeom>
          <a:noFill/>
        </p:spPr>
        <p:txBody>
          <a:bodyPr wrap="square" lIns="0" tIns="0" rIns="0" bIns="0" rtlCol="0" anchor="ctr"/>
          <a:lstStyle/>
          <a:p>
            <a:pPr marL="0" indent="0">
              <a:buNone/>
            </a:pPr>
            <a:r>
              <a:rPr lang="en-US" sz="800" b="1" dirty="0">
                <a:solidFill>
                  <a:srgbClr val="94A3B8"/>
                </a:solidFill>
                <a:latin typeface="Consolas" panose="020B0609020204030204" pitchFamily="34" charset="0"/>
                <a:ea typeface="Consolas" panose="020B0609020204030204" pitchFamily="34" charset="-122"/>
                <a:cs typeface="Consolas" panose="020B0609020204030204" pitchFamily="34" charset="-120"/>
              </a:rPr>
              <a:t>Offset  </a:t>
            </a:r>
            <a:endParaRPr lang="en-US" sz="800" dirty="0"/>
          </a:p>
        </p:txBody>
      </p:sp>
      <p:sp>
        <p:nvSpPr>
          <p:cNvPr id="13" name="Text 11"/>
          <p:cNvSpPr/>
          <p:nvPr/>
        </p:nvSpPr>
        <p:spPr>
          <a:xfrm>
            <a:off x="1115568" y="1152144"/>
            <a:ext cx="5961888" cy="182880"/>
          </a:xfrm>
          <a:prstGeom prst="rect">
            <a:avLst/>
          </a:prstGeom>
          <a:noFill/>
        </p:spPr>
        <p:txBody>
          <a:bodyPr wrap="square" lIns="0" tIns="0" rIns="0" bIns="0" rtlCol="0" anchor="ctr"/>
          <a:lstStyle/>
          <a:p>
            <a:pPr marL="0" indent="0">
              <a:buNone/>
            </a:pPr>
            <a:r>
              <a:rPr lang="en-US" sz="750" b="1" dirty="0">
                <a:solidFill>
                  <a:srgbClr val="0EA5E9"/>
                </a:solidFill>
                <a:latin typeface="Consolas" panose="020B0609020204030204" pitchFamily="34" charset="0"/>
                <a:ea typeface="Consolas" panose="020B0609020204030204" pitchFamily="34" charset="-122"/>
                <a:cs typeface="Consolas" panose="020B0609020204030204" pitchFamily="34" charset="-120"/>
              </a:rPr>
              <a:t>00  01  02  03  04  05  06  07    08  09  0A  0B  0C  0D  0E  0F</a:t>
            </a:r>
            <a:endParaRPr lang="en-US" sz="750" dirty="0"/>
          </a:p>
        </p:txBody>
      </p:sp>
      <p:sp>
        <p:nvSpPr>
          <p:cNvPr id="14" name="Text 12"/>
          <p:cNvSpPr/>
          <p:nvPr/>
        </p:nvSpPr>
        <p:spPr>
          <a:xfrm>
            <a:off x="7114032" y="1152144"/>
            <a:ext cx="1645920" cy="182880"/>
          </a:xfrm>
          <a:prstGeom prst="rect">
            <a:avLst/>
          </a:prstGeom>
          <a:noFill/>
        </p:spPr>
        <p:txBody>
          <a:bodyPr wrap="square" lIns="0" tIns="0" rIns="0" bIns="0" rtlCol="0" anchor="ctr"/>
          <a:lstStyle/>
          <a:p>
            <a:pPr marL="0" indent="0">
              <a:buNone/>
            </a:pPr>
            <a:r>
              <a:rPr lang="en-US" sz="800" b="1" dirty="0">
                <a:solidFill>
                  <a:srgbClr val="0EA5E9"/>
                </a:solidFill>
                <a:latin typeface="Consolas" panose="020B0609020204030204" pitchFamily="34" charset="0"/>
                <a:ea typeface="Consolas" panose="020B0609020204030204" pitchFamily="34" charset="-122"/>
                <a:cs typeface="Consolas" panose="020B0609020204030204" pitchFamily="34" charset="-120"/>
              </a:rPr>
              <a:t>ASCII</a:t>
            </a:r>
            <a:endParaRPr lang="en-US" sz="800" dirty="0"/>
          </a:p>
        </p:txBody>
      </p:sp>
      <p:sp>
        <p:nvSpPr>
          <p:cNvPr id="15" name="Shape 13"/>
          <p:cNvSpPr/>
          <p:nvPr/>
        </p:nvSpPr>
        <p:spPr>
          <a:xfrm>
            <a:off x="347472" y="1353312"/>
            <a:ext cx="8357616" cy="9144"/>
          </a:xfrm>
          <a:prstGeom prst="rect">
            <a:avLst/>
          </a:prstGeom>
          <a:solidFill>
            <a:srgbClr val="2E4068"/>
          </a:solidFill>
          <a:ln w="12700">
            <a:solidFill>
              <a:srgbClr val="2E4068"/>
            </a:solidFill>
            <a:prstDash val="solid"/>
          </a:ln>
        </p:spPr>
        <p:txBody>
          <a:bodyPr/>
          <a:lstStyle/>
          <a:p>
            <a:endParaRPr lang="en-SG"/>
          </a:p>
        </p:txBody>
      </p:sp>
      <p:sp>
        <p:nvSpPr>
          <p:cNvPr id="16" name="Text 14"/>
          <p:cNvSpPr/>
          <p:nvPr/>
        </p:nvSpPr>
        <p:spPr>
          <a:xfrm>
            <a:off x="347472" y="1389888"/>
            <a:ext cx="731520" cy="219456"/>
          </a:xfrm>
          <a:prstGeom prst="rect">
            <a:avLst/>
          </a:prstGeom>
          <a:noFill/>
        </p:spPr>
        <p:txBody>
          <a:bodyPr wrap="square" lIns="0" tIns="0" rIns="0" bIns="0" rtlCol="0" anchor="ctr"/>
          <a:lstStyle/>
          <a:p>
            <a:pPr marL="0" indent="0">
              <a:buNone/>
            </a:pPr>
            <a:r>
              <a:rPr lang="en-US" sz="850" dirty="0">
                <a:solidFill>
                  <a:srgbClr val="475569"/>
                </a:solidFill>
                <a:latin typeface="Consolas" panose="020B0609020204030204" pitchFamily="34" charset="0"/>
                <a:ea typeface="Consolas" panose="020B0609020204030204" pitchFamily="34" charset="-122"/>
                <a:cs typeface="Consolas" panose="020B0609020204030204" pitchFamily="34" charset="-120"/>
              </a:rPr>
              <a:t>0x0000</a:t>
            </a:r>
            <a:endParaRPr lang="en-US" sz="850" dirty="0"/>
          </a:p>
        </p:txBody>
      </p:sp>
      <p:sp>
        <p:nvSpPr>
          <p:cNvPr id="22" name="Text 20"/>
          <p:cNvSpPr/>
          <p:nvPr/>
        </p:nvSpPr>
        <p:spPr>
          <a:xfrm>
            <a:off x="7114032" y="1389888"/>
            <a:ext cx="1737360" cy="219456"/>
          </a:xfrm>
          <a:prstGeom prst="rect">
            <a:avLst/>
          </a:prstGeom>
          <a:noFill/>
        </p:spPr>
        <p:txBody>
          <a:bodyPr wrap="square" lIns="0" tIns="0" rIns="0" bIns="0" rtlCol="0" anchor="ctr"/>
          <a:lstStyle/>
          <a:p>
            <a:pPr marL="0" indent="0">
              <a:buNone/>
            </a:pPr>
            <a:r>
              <a:rPr lang="en-US" sz="850" dirty="0">
                <a:solidFill>
                  <a:srgbClr val="475569"/>
                </a:solidFill>
                <a:latin typeface="Consolas" panose="020B0609020204030204" pitchFamily="34" charset="0"/>
                <a:ea typeface="Consolas" panose="020B0609020204030204" pitchFamily="34" charset="-122"/>
                <a:cs typeface="Consolas" panose="020B0609020204030204" pitchFamily="34" charset="-120"/>
              </a:rPr>
              <a:t>.. NTFS        ..  .  ..</a:t>
            </a:r>
            <a:endParaRPr lang="en-US" sz="850" dirty="0"/>
          </a:p>
        </p:txBody>
      </p:sp>
      <p:sp>
        <p:nvSpPr>
          <p:cNvPr id="23" name="Text 21"/>
          <p:cNvSpPr/>
          <p:nvPr/>
        </p:nvSpPr>
        <p:spPr>
          <a:xfrm>
            <a:off x="347472" y="1645920"/>
            <a:ext cx="731520" cy="219456"/>
          </a:xfrm>
          <a:prstGeom prst="rect">
            <a:avLst/>
          </a:prstGeom>
          <a:noFill/>
        </p:spPr>
        <p:txBody>
          <a:bodyPr wrap="square" lIns="0" tIns="0" rIns="0" bIns="0" rtlCol="0" anchor="ctr"/>
          <a:lstStyle/>
          <a:p>
            <a:pPr marL="0" indent="0">
              <a:buNone/>
            </a:pPr>
            <a:r>
              <a:rPr lang="en-US" sz="850" dirty="0">
                <a:solidFill>
                  <a:srgbClr val="475569"/>
                </a:solidFill>
                <a:latin typeface="Consolas" panose="020B0609020204030204" pitchFamily="34" charset="0"/>
                <a:ea typeface="Consolas" panose="020B0609020204030204" pitchFamily="34" charset="-122"/>
                <a:cs typeface="Consolas" panose="020B0609020204030204" pitchFamily="34" charset="-120"/>
              </a:rPr>
              <a:t>0x0010</a:t>
            </a:r>
            <a:endParaRPr lang="en-US" sz="850" dirty="0"/>
          </a:p>
        </p:txBody>
      </p:sp>
      <p:sp>
        <p:nvSpPr>
          <p:cNvPr id="30" name="Text 28"/>
          <p:cNvSpPr/>
          <p:nvPr/>
        </p:nvSpPr>
        <p:spPr>
          <a:xfrm>
            <a:off x="7114032" y="1645920"/>
            <a:ext cx="1737360" cy="219456"/>
          </a:xfrm>
          <a:prstGeom prst="rect">
            <a:avLst/>
          </a:prstGeom>
          <a:noFill/>
        </p:spPr>
        <p:txBody>
          <a:bodyPr wrap="square" lIns="0" tIns="0" rIns="0" bIns="0" rtlCol="0" anchor="ctr"/>
          <a:lstStyle/>
          <a:p>
            <a:pPr marL="0" indent="0">
              <a:buNone/>
            </a:pPr>
            <a:r>
              <a:rPr lang="en-US" sz="850" dirty="0">
                <a:solidFill>
                  <a:srgbClr val="475569"/>
                </a:solidFill>
                <a:latin typeface="Consolas" panose="020B0609020204030204" pitchFamily="34" charset="0"/>
                <a:ea typeface="Consolas" panose="020B0609020204030204" pitchFamily="34" charset="-122"/>
                <a:cs typeface="Consolas" panose="020B0609020204030204" pitchFamily="34" charset="-120"/>
              </a:rPr>
              <a:t>..  ..  ..  ..  ?...  ....  ..</a:t>
            </a:r>
            <a:endParaRPr lang="en-US" sz="850" dirty="0"/>
          </a:p>
        </p:txBody>
      </p:sp>
      <p:sp>
        <p:nvSpPr>
          <p:cNvPr id="31" name="Text 29"/>
          <p:cNvSpPr/>
          <p:nvPr/>
        </p:nvSpPr>
        <p:spPr>
          <a:xfrm>
            <a:off x="347472" y="1901952"/>
            <a:ext cx="731520" cy="219456"/>
          </a:xfrm>
          <a:prstGeom prst="rect">
            <a:avLst/>
          </a:prstGeom>
          <a:noFill/>
        </p:spPr>
        <p:txBody>
          <a:bodyPr wrap="square" lIns="0" tIns="0" rIns="0" bIns="0" rtlCol="0" anchor="ctr"/>
          <a:lstStyle/>
          <a:p>
            <a:pPr marL="0" indent="0">
              <a:buNone/>
            </a:pPr>
            <a:r>
              <a:rPr lang="en-US" sz="850" dirty="0">
                <a:solidFill>
                  <a:srgbClr val="475569"/>
                </a:solidFill>
                <a:latin typeface="Consolas" panose="020B0609020204030204" pitchFamily="34" charset="0"/>
                <a:ea typeface="Consolas" panose="020B0609020204030204" pitchFamily="34" charset="-122"/>
                <a:cs typeface="Consolas" panose="020B0609020204030204" pitchFamily="34" charset="-120"/>
              </a:rPr>
              <a:t>0x0020</a:t>
            </a:r>
            <a:endParaRPr lang="en-US" sz="850" dirty="0"/>
          </a:p>
        </p:txBody>
      </p:sp>
      <p:sp>
        <p:nvSpPr>
          <p:cNvPr id="35" name="Text 33"/>
          <p:cNvSpPr/>
          <p:nvPr/>
        </p:nvSpPr>
        <p:spPr>
          <a:xfrm>
            <a:off x="7114032" y="1901952"/>
            <a:ext cx="1737360" cy="219456"/>
          </a:xfrm>
          <a:prstGeom prst="rect">
            <a:avLst/>
          </a:prstGeom>
          <a:noFill/>
        </p:spPr>
        <p:txBody>
          <a:bodyPr wrap="square" lIns="0" tIns="0" rIns="0" bIns="0" rtlCol="0" anchor="ctr"/>
          <a:lstStyle/>
          <a:p>
            <a:pPr marL="0" indent="0">
              <a:buNone/>
            </a:pPr>
            <a:r>
              <a:rPr lang="en-US" sz="850" dirty="0">
                <a:solidFill>
                  <a:srgbClr val="475569"/>
                </a:solidFill>
                <a:latin typeface="Consolas" panose="020B0609020204030204" pitchFamily="34" charset="0"/>
                <a:ea typeface="Consolas" panose="020B0609020204030204" pitchFamily="34" charset="-122"/>
                <a:cs typeface="Consolas" panose="020B0609020204030204" pitchFamily="34" charset="-120"/>
              </a:rPr>
              <a:t>....  .?......  ....</a:t>
            </a:r>
            <a:endParaRPr lang="en-US" sz="850" dirty="0"/>
          </a:p>
        </p:txBody>
      </p:sp>
      <p:sp>
        <p:nvSpPr>
          <p:cNvPr id="36" name="Shape 34"/>
          <p:cNvSpPr/>
          <p:nvPr/>
        </p:nvSpPr>
        <p:spPr>
          <a:xfrm>
            <a:off x="256032" y="3090672"/>
            <a:ext cx="2761488" cy="1481328"/>
          </a:xfrm>
          <a:prstGeom prst="rect">
            <a:avLst/>
          </a:prstGeom>
          <a:solidFill>
            <a:srgbClr val="EEF6FB"/>
          </a:solidFill>
          <a:ln w="12700">
            <a:solidFill>
              <a:srgbClr val="F59E0B"/>
            </a:solidFill>
            <a:prstDash val="solid"/>
          </a:ln>
          <a:effectLst>
            <a:outerShdw blurRad="127000" dist="38100" dir="8100000" algn="bl" rotWithShape="0">
              <a:srgbClr val="000000">
                <a:alpha val="22000"/>
              </a:srgbClr>
            </a:outerShdw>
          </a:effectLst>
        </p:spPr>
        <p:txBody>
          <a:bodyPr/>
          <a:lstStyle/>
          <a:p>
            <a:endParaRPr lang="en-SG"/>
          </a:p>
        </p:txBody>
      </p:sp>
      <p:sp>
        <p:nvSpPr>
          <p:cNvPr id="37" name="Shape 35"/>
          <p:cNvSpPr/>
          <p:nvPr/>
        </p:nvSpPr>
        <p:spPr>
          <a:xfrm>
            <a:off x="256032" y="3090672"/>
            <a:ext cx="2761488" cy="274320"/>
          </a:xfrm>
          <a:prstGeom prst="rect">
            <a:avLst/>
          </a:prstGeom>
          <a:solidFill>
            <a:srgbClr val="F59E0B"/>
          </a:solidFill>
          <a:ln w="12700">
            <a:solidFill>
              <a:srgbClr val="F59E0B"/>
            </a:solidFill>
            <a:prstDash val="solid"/>
          </a:ln>
        </p:spPr>
        <p:txBody>
          <a:bodyPr/>
          <a:lstStyle/>
          <a:p>
            <a:endParaRPr lang="en-SG"/>
          </a:p>
        </p:txBody>
      </p:sp>
      <p:sp>
        <p:nvSpPr>
          <p:cNvPr id="38" name="Text 36"/>
          <p:cNvSpPr/>
          <p:nvPr/>
        </p:nvSpPr>
        <p:spPr>
          <a:xfrm>
            <a:off x="347472" y="3127248"/>
            <a:ext cx="2615184" cy="219456"/>
          </a:xfrm>
          <a:prstGeom prst="rect">
            <a:avLst/>
          </a:prstGeom>
          <a:noFill/>
        </p:spPr>
        <p:txBody>
          <a:bodyPr wrap="square" lIns="0" tIns="0" rIns="0" bIns="0" rtlCol="0" anchor="ctr"/>
          <a:lstStyle/>
          <a:p>
            <a:pPr marL="0" indent="0">
              <a:buNone/>
            </a:pPr>
            <a:r>
              <a:rPr lang="en-US" sz="9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Bytes Per Sector (0x0B–0x0C)</a:t>
            </a:r>
            <a:endParaRPr lang="en-US" sz="950" dirty="0"/>
          </a:p>
        </p:txBody>
      </p:sp>
      <p:sp>
        <p:nvSpPr>
          <p:cNvPr id="39" name="Text 37"/>
          <p:cNvSpPr/>
          <p:nvPr/>
        </p:nvSpPr>
        <p:spPr>
          <a:xfrm>
            <a:off x="347472" y="3401568"/>
            <a:ext cx="2596896" cy="859536"/>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'00 02' → little-endian: 0x0200 = 512 bytes. This is the base unit for all size calculations in NTFS. Almost always 512 on physical drives; 4096 on Advanced Format drives.</a:t>
            </a:r>
            <a:endParaRPr lang="en-US" sz="900" dirty="0"/>
          </a:p>
        </p:txBody>
      </p:sp>
      <p:sp>
        <p:nvSpPr>
          <p:cNvPr id="40" name="Shape 38"/>
          <p:cNvSpPr/>
          <p:nvPr/>
        </p:nvSpPr>
        <p:spPr>
          <a:xfrm>
            <a:off x="347472" y="4187952"/>
            <a:ext cx="2596896" cy="9144"/>
          </a:xfrm>
          <a:prstGeom prst="rect">
            <a:avLst/>
          </a:prstGeom>
          <a:solidFill>
            <a:srgbClr val="2E4068"/>
          </a:solidFill>
          <a:ln w="12700">
            <a:solidFill>
              <a:srgbClr val="2E4068"/>
            </a:solidFill>
            <a:prstDash val="solid"/>
          </a:ln>
        </p:spPr>
        <p:txBody>
          <a:bodyPr/>
          <a:lstStyle/>
          <a:p>
            <a:endParaRPr lang="en-SG"/>
          </a:p>
        </p:txBody>
      </p:sp>
      <p:sp>
        <p:nvSpPr>
          <p:cNvPr id="41" name="Text 39"/>
          <p:cNvSpPr/>
          <p:nvPr/>
        </p:nvSpPr>
        <p:spPr>
          <a:xfrm>
            <a:off x="347472" y="4206240"/>
            <a:ext cx="2596896" cy="292608"/>
          </a:xfrm>
          <a:prstGeom prst="rect">
            <a:avLst/>
          </a:prstGeom>
          <a:noFill/>
        </p:spPr>
        <p:txBody>
          <a:bodyPr wrap="square" rtlCol="0" anchor="t"/>
          <a:lstStyle/>
          <a:p>
            <a:pPr marL="0" indent="0">
              <a:buNone/>
            </a:pPr>
            <a:r>
              <a:rPr lang="en-US" sz="850" i="1" dirty="0">
                <a:solidFill>
                  <a:srgbClr val="F59E0B"/>
                </a:solidFill>
                <a:latin typeface="Consolas" panose="020B0609020204030204" pitchFamily="34" charset="0"/>
                <a:ea typeface="Consolas" panose="020B0609020204030204" pitchFamily="34" charset="-122"/>
                <a:cs typeface="Consolas" panose="020B0609020204030204" pitchFamily="34" charset="-120"/>
              </a:rPr>
              <a:t>How to read: reverse bytes → 02 00 → 0x0200 = 512</a:t>
            </a:r>
            <a:endParaRPr lang="en-US" sz="850" dirty="0"/>
          </a:p>
        </p:txBody>
      </p:sp>
      <p:sp>
        <p:nvSpPr>
          <p:cNvPr id="42" name="Shape 40"/>
          <p:cNvSpPr/>
          <p:nvPr/>
        </p:nvSpPr>
        <p:spPr>
          <a:xfrm>
            <a:off x="3182112" y="3090672"/>
            <a:ext cx="2761488" cy="1481328"/>
          </a:xfrm>
          <a:prstGeom prst="rect">
            <a:avLst/>
          </a:prstGeom>
          <a:solidFill>
            <a:srgbClr val="EEF6FB"/>
          </a:solidFill>
          <a:ln w="12700">
            <a:solidFill>
              <a:srgbClr val="0EA5E9"/>
            </a:solidFill>
            <a:prstDash val="solid"/>
          </a:ln>
          <a:effectLst>
            <a:outerShdw blurRad="127000" dist="38100" dir="8100000" algn="bl" rotWithShape="0">
              <a:srgbClr val="000000">
                <a:alpha val="22000"/>
              </a:srgbClr>
            </a:outerShdw>
          </a:effectLst>
        </p:spPr>
        <p:txBody>
          <a:bodyPr/>
          <a:lstStyle/>
          <a:p>
            <a:endParaRPr lang="en-SG"/>
          </a:p>
        </p:txBody>
      </p:sp>
      <p:sp>
        <p:nvSpPr>
          <p:cNvPr id="43" name="Shape 41"/>
          <p:cNvSpPr/>
          <p:nvPr/>
        </p:nvSpPr>
        <p:spPr>
          <a:xfrm>
            <a:off x="3182112" y="3090672"/>
            <a:ext cx="2761488" cy="274320"/>
          </a:xfrm>
          <a:prstGeom prst="rect">
            <a:avLst/>
          </a:prstGeom>
          <a:solidFill>
            <a:srgbClr val="0EA5E9"/>
          </a:solidFill>
          <a:ln w="12700">
            <a:solidFill>
              <a:srgbClr val="0EA5E9"/>
            </a:solidFill>
            <a:prstDash val="solid"/>
          </a:ln>
        </p:spPr>
        <p:txBody>
          <a:bodyPr/>
          <a:lstStyle/>
          <a:p>
            <a:endParaRPr lang="en-SG"/>
          </a:p>
        </p:txBody>
      </p:sp>
      <p:sp>
        <p:nvSpPr>
          <p:cNvPr id="44" name="Text 42"/>
          <p:cNvSpPr/>
          <p:nvPr/>
        </p:nvSpPr>
        <p:spPr>
          <a:xfrm>
            <a:off x="3273552" y="3127248"/>
            <a:ext cx="2615184" cy="219456"/>
          </a:xfrm>
          <a:prstGeom prst="rect">
            <a:avLst/>
          </a:prstGeom>
          <a:noFill/>
        </p:spPr>
        <p:txBody>
          <a:bodyPr wrap="square" lIns="0" tIns="0" rIns="0" bIns="0" rtlCol="0" anchor="ctr"/>
          <a:lstStyle/>
          <a:p>
            <a:pPr marL="0" indent="0">
              <a:buNone/>
            </a:pPr>
            <a:r>
              <a:rPr lang="en-US" sz="9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Sectors Per Cluster (0x0D)</a:t>
            </a:r>
            <a:endParaRPr lang="en-US" sz="950" dirty="0"/>
          </a:p>
        </p:txBody>
      </p:sp>
      <p:sp>
        <p:nvSpPr>
          <p:cNvPr id="45" name="Text 43"/>
          <p:cNvSpPr/>
          <p:nvPr/>
        </p:nvSpPr>
        <p:spPr>
          <a:xfrm>
            <a:off x="3273552" y="3401568"/>
            <a:ext cx="2596896" cy="859536"/>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'08' = 8 sectors × 512 bytes = 4,096-byte clusters. This sets the minimum allocation unit. Larger = less fragmentation but more potential slack space per file.</a:t>
            </a:r>
            <a:endParaRPr lang="en-US" sz="900" dirty="0"/>
          </a:p>
        </p:txBody>
      </p:sp>
      <p:sp>
        <p:nvSpPr>
          <p:cNvPr id="46" name="Shape 44"/>
          <p:cNvSpPr/>
          <p:nvPr/>
        </p:nvSpPr>
        <p:spPr>
          <a:xfrm>
            <a:off x="3273552" y="4187952"/>
            <a:ext cx="2596896" cy="9144"/>
          </a:xfrm>
          <a:prstGeom prst="rect">
            <a:avLst/>
          </a:prstGeom>
          <a:solidFill>
            <a:srgbClr val="2E4068"/>
          </a:solidFill>
          <a:ln w="12700">
            <a:solidFill>
              <a:srgbClr val="2E4068"/>
            </a:solidFill>
            <a:prstDash val="solid"/>
          </a:ln>
        </p:spPr>
        <p:txBody>
          <a:bodyPr/>
          <a:lstStyle/>
          <a:p>
            <a:endParaRPr lang="en-SG"/>
          </a:p>
        </p:txBody>
      </p:sp>
      <p:sp>
        <p:nvSpPr>
          <p:cNvPr id="47" name="Text 45"/>
          <p:cNvSpPr/>
          <p:nvPr/>
        </p:nvSpPr>
        <p:spPr>
          <a:xfrm>
            <a:off x="3273552" y="4206240"/>
            <a:ext cx="2596896" cy="292608"/>
          </a:xfrm>
          <a:prstGeom prst="rect">
            <a:avLst/>
          </a:prstGeom>
          <a:noFill/>
        </p:spPr>
        <p:txBody>
          <a:bodyPr wrap="square" rtlCol="0" anchor="t"/>
          <a:lstStyle/>
          <a:p>
            <a:pPr marL="0" indent="0">
              <a:buNone/>
            </a:pPr>
            <a:r>
              <a:rPr lang="en-US" sz="850" i="1" dirty="0">
                <a:solidFill>
                  <a:srgbClr val="0EA5E9"/>
                </a:solidFill>
                <a:latin typeface="Consolas" panose="020B0609020204030204" pitchFamily="34" charset="0"/>
                <a:ea typeface="Consolas" panose="020B0609020204030204" pitchFamily="34" charset="-122"/>
                <a:cs typeface="Consolas" panose="020B0609020204030204" pitchFamily="34" charset="-120"/>
              </a:rPr>
              <a:t>Single byte: no reversal needed. 0x08 = 8 decimal</a:t>
            </a:r>
            <a:endParaRPr lang="en-US" sz="850" dirty="0"/>
          </a:p>
        </p:txBody>
      </p:sp>
      <p:sp>
        <p:nvSpPr>
          <p:cNvPr id="48" name="Shape 46"/>
          <p:cNvSpPr/>
          <p:nvPr/>
        </p:nvSpPr>
        <p:spPr>
          <a:xfrm>
            <a:off x="6108192" y="3090672"/>
            <a:ext cx="2761488" cy="1481328"/>
          </a:xfrm>
          <a:prstGeom prst="rect">
            <a:avLst/>
          </a:prstGeom>
          <a:solidFill>
            <a:srgbClr val="EEF6FB"/>
          </a:solidFill>
          <a:ln w="12700">
            <a:solidFill>
              <a:srgbClr val="EF4444"/>
            </a:solidFill>
            <a:prstDash val="solid"/>
          </a:ln>
          <a:effectLst>
            <a:outerShdw blurRad="127000" dist="38100" dir="8100000" algn="bl" rotWithShape="0">
              <a:srgbClr val="000000">
                <a:alpha val="22000"/>
              </a:srgbClr>
            </a:outerShdw>
          </a:effectLst>
        </p:spPr>
        <p:txBody>
          <a:bodyPr/>
          <a:lstStyle/>
          <a:p>
            <a:endParaRPr lang="en-SG"/>
          </a:p>
        </p:txBody>
      </p:sp>
      <p:sp>
        <p:nvSpPr>
          <p:cNvPr id="49" name="Shape 47"/>
          <p:cNvSpPr/>
          <p:nvPr/>
        </p:nvSpPr>
        <p:spPr>
          <a:xfrm>
            <a:off x="6108192" y="3090672"/>
            <a:ext cx="2761488" cy="274320"/>
          </a:xfrm>
          <a:prstGeom prst="rect">
            <a:avLst/>
          </a:prstGeom>
          <a:solidFill>
            <a:srgbClr val="EF4444"/>
          </a:solidFill>
          <a:ln w="12700">
            <a:solidFill>
              <a:srgbClr val="EF4444"/>
            </a:solidFill>
            <a:prstDash val="solid"/>
          </a:ln>
        </p:spPr>
        <p:txBody>
          <a:bodyPr/>
          <a:lstStyle/>
          <a:p>
            <a:endParaRPr lang="en-SG"/>
          </a:p>
        </p:txBody>
      </p:sp>
      <p:sp>
        <p:nvSpPr>
          <p:cNvPr id="50" name="Text 48"/>
          <p:cNvSpPr/>
          <p:nvPr/>
        </p:nvSpPr>
        <p:spPr>
          <a:xfrm>
            <a:off x="6199632" y="3127248"/>
            <a:ext cx="2615184" cy="219456"/>
          </a:xfrm>
          <a:prstGeom prst="rect">
            <a:avLst/>
          </a:prstGeom>
          <a:noFill/>
        </p:spPr>
        <p:txBody>
          <a:bodyPr wrap="square" lIns="0" tIns="0" rIns="0" bIns="0" rtlCol="0" anchor="ctr"/>
          <a:lstStyle/>
          <a:p>
            <a:pPr marL="0" indent="0">
              <a:buNone/>
            </a:pPr>
            <a:r>
              <a:rPr lang="en-US" sz="9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Total Sectors (0x28–0x2F)</a:t>
            </a:r>
            <a:endParaRPr lang="en-US" sz="950" dirty="0"/>
          </a:p>
        </p:txBody>
      </p:sp>
      <p:sp>
        <p:nvSpPr>
          <p:cNvPr id="51" name="Text 49"/>
          <p:cNvSpPr/>
          <p:nvPr/>
        </p:nvSpPr>
        <p:spPr>
          <a:xfrm>
            <a:off x="6199632" y="3401568"/>
            <a:ext cx="2596896" cy="859536"/>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64-bit little-endian at offset 0x28. 'FF 3F 00 00 00 00 00 00' → 0x0000000000003FFF = 16,383 sectors. Multiply by Bytes/Sector for volume size.</a:t>
            </a:r>
            <a:endParaRPr lang="en-US" sz="900" dirty="0"/>
          </a:p>
        </p:txBody>
      </p:sp>
      <p:sp>
        <p:nvSpPr>
          <p:cNvPr id="52" name="Shape 50"/>
          <p:cNvSpPr/>
          <p:nvPr/>
        </p:nvSpPr>
        <p:spPr>
          <a:xfrm>
            <a:off x="6199632" y="4187952"/>
            <a:ext cx="2596896" cy="9144"/>
          </a:xfrm>
          <a:prstGeom prst="rect">
            <a:avLst/>
          </a:prstGeom>
          <a:solidFill>
            <a:srgbClr val="2E4068"/>
          </a:solidFill>
          <a:ln w="12700">
            <a:solidFill>
              <a:srgbClr val="2E4068"/>
            </a:solidFill>
            <a:prstDash val="solid"/>
          </a:ln>
        </p:spPr>
        <p:txBody>
          <a:bodyPr/>
          <a:lstStyle/>
          <a:p>
            <a:endParaRPr lang="en-SG"/>
          </a:p>
        </p:txBody>
      </p:sp>
      <p:sp>
        <p:nvSpPr>
          <p:cNvPr id="53" name="Text 51"/>
          <p:cNvSpPr/>
          <p:nvPr/>
        </p:nvSpPr>
        <p:spPr>
          <a:xfrm>
            <a:off x="6199632" y="4206240"/>
            <a:ext cx="2596896" cy="292608"/>
          </a:xfrm>
          <a:prstGeom prst="rect">
            <a:avLst/>
          </a:prstGeom>
          <a:noFill/>
        </p:spPr>
        <p:txBody>
          <a:bodyPr wrap="square" rtlCol="0" anchor="t"/>
          <a:lstStyle/>
          <a:p>
            <a:pPr marL="0" indent="0">
              <a:buNone/>
            </a:pPr>
            <a:r>
              <a:rPr lang="en-US" sz="850" i="1" dirty="0">
                <a:solidFill>
                  <a:srgbClr val="EF4444"/>
                </a:solidFill>
                <a:latin typeface="Consolas" panose="020B0609020204030204" pitchFamily="34" charset="0"/>
                <a:ea typeface="Consolas" panose="020B0609020204030204" pitchFamily="34" charset="-122"/>
                <a:cs typeface="Consolas" panose="020B0609020204030204" pitchFamily="34" charset="-120"/>
              </a:rPr>
              <a:t>8 bytes: reverse all → 00 00 00 00 00 00 3F FF = 16,383</a:t>
            </a:r>
            <a:endParaRPr lang="en-US" sz="850" dirty="0"/>
          </a:p>
        </p:txBody>
      </p:sp>
      <p:sp>
        <p:nvSpPr>
          <p:cNvPr id="54" name="TextBox 53"/>
          <p:cNvSpPr txBox="1"/>
          <p:nvPr/>
        </p:nvSpPr>
        <p:spPr>
          <a:xfrm>
            <a:off x="1115568" y="1389888"/>
            <a:ext cx="5943600" cy="182880"/>
          </a:xfrm>
          <a:prstGeom prst="rect">
            <a:avLst/>
          </a:prstGeom>
          <a:noFill/>
        </p:spPr>
        <p:txBody>
          <a:bodyPr wrap="none" lIns="0" tIns="0" rIns="0" bIns="0">
            <a:spAutoFit/>
          </a:bodyPr>
          <a:lstStyle/>
          <a:p>
            <a:r>
              <a:rPr sz="800">
                <a:solidFill>
                  <a:srgbClr val="94A3B8"/>
                </a:solidFill>
                <a:latin typeface="Consolas" panose="020B0609020204030204" pitchFamily="34" charset="0"/>
              </a:rPr>
              <a:t>EB  52  90  4E  54  46  53  20    20  20  20  </a:t>
            </a:r>
            <a:r>
              <a:rPr sz="800">
                <a:solidFill>
                  <a:srgbClr val="F59E0B"/>
                </a:solidFill>
                <a:latin typeface="Consolas" panose="020B0609020204030204" pitchFamily="34" charset="0"/>
              </a:rPr>
              <a:t>00  02  </a:t>
            </a:r>
            <a:r>
              <a:rPr sz="800">
                <a:solidFill>
                  <a:srgbClr val="0EA5E9"/>
                </a:solidFill>
                <a:latin typeface="Consolas" panose="020B0609020204030204" pitchFamily="34" charset="0"/>
              </a:rPr>
              <a:t>08  </a:t>
            </a:r>
            <a:r>
              <a:rPr sz="800">
                <a:solidFill>
                  <a:srgbClr val="94A3B8"/>
                </a:solidFill>
                <a:latin typeface="Consolas" panose="020B0609020204030204" pitchFamily="34" charset="0"/>
              </a:rPr>
              <a:t>00  00</a:t>
            </a:r>
            <a:endParaRPr sz="800">
              <a:solidFill>
                <a:srgbClr val="94A3B8"/>
              </a:solidFill>
              <a:latin typeface="Consolas" panose="020B0609020204030204" pitchFamily="34" charset="0"/>
            </a:endParaRPr>
          </a:p>
        </p:txBody>
      </p:sp>
      <p:sp>
        <p:nvSpPr>
          <p:cNvPr id="55" name="TextBox 54"/>
          <p:cNvSpPr txBox="1"/>
          <p:nvPr/>
        </p:nvSpPr>
        <p:spPr>
          <a:xfrm>
            <a:off x="1115568" y="1645920"/>
            <a:ext cx="5943600" cy="182880"/>
          </a:xfrm>
          <a:prstGeom prst="rect">
            <a:avLst/>
          </a:prstGeom>
          <a:noFill/>
        </p:spPr>
        <p:txBody>
          <a:bodyPr wrap="none" lIns="0" tIns="0" rIns="0" bIns="0">
            <a:spAutoFit/>
          </a:bodyPr>
          <a:lstStyle/>
          <a:p>
            <a:r>
              <a:rPr sz="800">
                <a:solidFill>
                  <a:srgbClr val="94A3B8"/>
                </a:solidFill>
                <a:latin typeface="Consolas" panose="020B0609020204030204" pitchFamily="34" charset="0"/>
              </a:rPr>
              <a:t>00  00  00  00  F8  00  00  00    3F  00  FF  00  00  00  00  00</a:t>
            </a:r>
            <a:endParaRPr sz="800">
              <a:solidFill>
                <a:srgbClr val="94A3B8"/>
              </a:solidFill>
              <a:latin typeface="Consolas" panose="020B0609020204030204" pitchFamily="34" charset="0"/>
            </a:endParaRPr>
          </a:p>
        </p:txBody>
      </p:sp>
      <p:sp>
        <p:nvSpPr>
          <p:cNvPr id="56" name="TextBox 55"/>
          <p:cNvSpPr txBox="1"/>
          <p:nvPr/>
        </p:nvSpPr>
        <p:spPr>
          <a:xfrm>
            <a:off x="1115568" y="1901952"/>
            <a:ext cx="5943600" cy="182880"/>
          </a:xfrm>
          <a:prstGeom prst="rect">
            <a:avLst/>
          </a:prstGeom>
          <a:noFill/>
        </p:spPr>
        <p:txBody>
          <a:bodyPr wrap="none" lIns="0" tIns="0" rIns="0" bIns="0">
            <a:spAutoFit/>
          </a:bodyPr>
          <a:lstStyle/>
          <a:p>
            <a:r>
              <a:rPr sz="800">
                <a:solidFill>
                  <a:srgbClr val="94A3B8"/>
                </a:solidFill>
                <a:latin typeface="Consolas" panose="020B0609020204030204" pitchFamily="34" charset="0"/>
              </a:rPr>
              <a:t>00  00  00  00  </a:t>
            </a:r>
            <a:r>
              <a:rPr sz="800">
                <a:solidFill>
                  <a:srgbClr val="EF4444"/>
                </a:solidFill>
                <a:latin typeface="Consolas" panose="020B0609020204030204" pitchFamily="34" charset="0"/>
              </a:rPr>
              <a:t>FF  3F  00  00    00  00  00  00  </a:t>
            </a:r>
            <a:r>
              <a:rPr sz="800">
                <a:solidFill>
                  <a:srgbClr val="94A3B8"/>
                </a:solidFill>
                <a:latin typeface="Consolas" panose="020B0609020204030204" pitchFamily="34" charset="0"/>
              </a:rPr>
              <a:t>00  00  00  00</a:t>
            </a:r>
            <a:endParaRPr sz="800">
              <a:solidFill>
                <a:srgbClr val="94A3B8"/>
              </a:solidFill>
              <a:latin typeface="Consolas" panose="020B0609020204030204" pitchFamily="3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EA5E9"/>
          </a:solidFill>
          <a:ln w="12700">
            <a:solidFill>
              <a:srgbClr val="0EA5E9"/>
            </a:solidFill>
            <a:prstDash val="solid"/>
          </a:ln>
        </p:spPr>
        <p:txBody>
          <a:bodyPr/>
          <a:lstStyle/>
          <a:p>
            <a:endParaRPr lang="en-SG"/>
          </a:p>
        </p:txBody>
      </p:sp>
      <p:sp>
        <p:nvSpPr>
          <p:cNvPr id="3" name="Text 1"/>
          <p:cNvSpPr/>
          <p:nvPr/>
        </p:nvSpPr>
        <p:spPr>
          <a:xfrm>
            <a:off x="256032" y="186690"/>
            <a:ext cx="8631936" cy="548640"/>
          </a:xfrm>
          <a:prstGeom prst="rect">
            <a:avLst/>
          </a:prstGeom>
          <a:noFill/>
        </p:spPr>
        <p:txBody>
          <a:bodyPr wrap="square" lIns="0" tIns="0" rIns="0" bIns="0" rtlCol="0" anchor="ctr"/>
          <a:lstStyle/>
          <a:p>
            <a:pPr marL="0" indent="0">
              <a:buNone/>
            </a:pPr>
            <a:r>
              <a:rPr lang="en-US" sz="16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NTFS VBR — Locating Key Fields in Hex (Part 2 of 2)</a:t>
            </a:r>
            <a:endParaRPr lang="en-US" sz="1600" dirty="0"/>
          </a:p>
        </p:txBody>
      </p:sp>
      <p:sp>
        <p:nvSpPr>
          <p:cNvPr id="4" name="Shape 2"/>
          <p:cNvSpPr/>
          <p:nvPr/>
        </p:nvSpPr>
        <p:spPr>
          <a:xfrm>
            <a:off x="256032" y="73152"/>
            <a:ext cx="1463040" cy="219456"/>
          </a:xfrm>
          <a:prstGeom prst="rect">
            <a:avLst/>
          </a:prstGeom>
          <a:solidFill>
            <a:srgbClr val="0EA5E9"/>
          </a:solidFill>
          <a:ln w="12700">
            <a:solidFill>
              <a:srgbClr val="0EA5E9"/>
            </a:solidFill>
            <a:prstDash val="solid"/>
          </a:ln>
        </p:spPr>
        <p:txBody>
          <a:bodyPr/>
          <a:lstStyle/>
          <a:p>
            <a:endParaRPr lang="en-SG"/>
          </a:p>
        </p:txBody>
      </p:sp>
      <p:sp>
        <p:nvSpPr>
          <p:cNvPr id="5" name="Text 3"/>
          <p:cNvSpPr/>
          <p:nvPr/>
        </p:nvSpPr>
        <p:spPr>
          <a:xfrm>
            <a:off x="256032" y="73152"/>
            <a:ext cx="1463040" cy="219456"/>
          </a:xfrm>
          <a:prstGeom prst="rect">
            <a:avLst/>
          </a:prstGeom>
          <a:noFill/>
        </p:spPr>
        <p:txBody>
          <a:bodyPr wrap="square" lIns="0" tIns="0" rIns="0" bIns="0" rtlCol="0" anchor="ctr"/>
          <a:lstStyle/>
          <a:p>
            <a:pPr marL="0" indent="0" algn="ctr">
              <a:buNone/>
            </a:pPr>
            <a:r>
              <a:rPr lang="en-US" sz="800" b="1" kern="0" spc="100"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SECTION 03 — NTFS</a:t>
            </a:r>
            <a:endParaRPr lang="en-US" sz="800" dirty="0"/>
          </a:p>
        </p:txBody>
      </p:sp>
      <p:sp>
        <p:nvSpPr>
          <p:cNvPr id="10" name="Text 8"/>
          <p:cNvSpPr/>
          <p:nvPr/>
        </p:nvSpPr>
        <p:spPr>
          <a:xfrm>
            <a:off x="256032" y="822960"/>
            <a:ext cx="8631936" cy="274320"/>
          </a:xfrm>
          <a:prstGeom prst="rect">
            <a:avLst/>
          </a:prstGeom>
          <a:noFill/>
        </p:spPr>
        <p:txBody>
          <a:bodyPr wrap="square" rtlCol="0" anchor="ctr"/>
          <a:lstStyle/>
          <a:p>
            <a:pPr marL="0" indent="0">
              <a:buNone/>
            </a:pPr>
            <a:r>
              <a:rPr lang="en-US" sz="950" i="1" dirty="0">
                <a:solidFill>
                  <a:srgbClr val="475569"/>
                </a:solidFill>
                <a:latin typeface="Calibri" panose="020F0502020204030204" pitchFamily="34" charset="0"/>
                <a:ea typeface="Calibri" panose="020F0502020204030204" pitchFamily="34" charset="-122"/>
                <a:cs typeface="Calibri" panose="020F0502020204030204" pitchFamily="34" charset="-120"/>
              </a:rPr>
              <a:t>Continuing from the VBR — this slide focuses on the LCN (Logical Cluster Number) of $MFT and $MFTMirr, and the Clusters Per MFT Record field, all of which are essential for locating the file table.</a:t>
            </a:r>
            <a:endParaRPr lang="en-US" sz="950" dirty="0"/>
          </a:p>
        </p:txBody>
      </p:sp>
      <p:sp>
        <p:nvSpPr>
          <p:cNvPr id="11" name="Shape 9"/>
          <p:cNvSpPr/>
          <p:nvPr/>
        </p:nvSpPr>
        <p:spPr>
          <a:xfrm>
            <a:off x="256032" y="1115568"/>
            <a:ext cx="8631936" cy="1682496"/>
          </a:xfrm>
          <a:prstGeom prst="rect">
            <a:avLst/>
          </a:prstGeom>
          <a:solidFill>
            <a:srgbClr val="FFFFFF"/>
          </a:solidFill>
          <a:ln w="12700">
            <a:solidFill>
              <a:srgbClr val="2E4068"/>
            </a:solidFill>
            <a:prstDash val="solid"/>
          </a:ln>
          <a:effectLst>
            <a:outerShdw blurRad="127000" dist="38100" dir="8100000" algn="bl" rotWithShape="0">
              <a:srgbClr val="000000">
                <a:alpha val="22000"/>
              </a:srgbClr>
            </a:outerShdw>
          </a:effectLst>
        </p:spPr>
        <p:txBody>
          <a:bodyPr/>
          <a:lstStyle/>
          <a:p>
            <a:endParaRPr lang="en-SG"/>
          </a:p>
        </p:txBody>
      </p:sp>
      <p:sp>
        <p:nvSpPr>
          <p:cNvPr id="12" name="Text 10"/>
          <p:cNvSpPr/>
          <p:nvPr/>
        </p:nvSpPr>
        <p:spPr>
          <a:xfrm>
            <a:off x="347472" y="1152144"/>
            <a:ext cx="731520" cy="182880"/>
          </a:xfrm>
          <a:prstGeom prst="rect">
            <a:avLst/>
          </a:prstGeom>
          <a:noFill/>
        </p:spPr>
        <p:txBody>
          <a:bodyPr wrap="square" lIns="0" tIns="0" rIns="0" bIns="0" rtlCol="0" anchor="ctr"/>
          <a:lstStyle/>
          <a:p>
            <a:pPr marL="0" indent="0">
              <a:buNone/>
            </a:pPr>
            <a:r>
              <a:rPr lang="en-US" sz="800" b="1" dirty="0">
                <a:solidFill>
                  <a:srgbClr val="94A3B8"/>
                </a:solidFill>
                <a:latin typeface="Consolas" panose="020B0609020204030204" pitchFamily="34" charset="0"/>
                <a:ea typeface="Consolas" panose="020B0609020204030204" pitchFamily="34" charset="-122"/>
                <a:cs typeface="Consolas" panose="020B0609020204030204" pitchFamily="34" charset="-120"/>
              </a:rPr>
              <a:t>Offset  </a:t>
            </a:r>
            <a:endParaRPr lang="en-US" sz="800" dirty="0"/>
          </a:p>
        </p:txBody>
      </p:sp>
      <p:sp>
        <p:nvSpPr>
          <p:cNvPr id="13" name="Text 11"/>
          <p:cNvSpPr/>
          <p:nvPr/>
        </p:nvSpPr>
        <p:spPr>
          <a:xfrm>
            <a:off x="1115568" y="1152144"/>
            <a:ext cx="5961888" cy="182880"/>
          </a:xfrm>
          <a:prstGeom prst="rect">
            <a:avLst/>
          </a:prstGeom>
          <a:noFill/>
        </p:spPr>
        <p:txBody>
          <a:bodyPr wrap="square" lIns="0" tIns="0" rIns="0" bIns="0" rtlCol="0" anchor="ctr"/>
          <a:lstStyle/>
          <a:p>
            <a:pPr marL="0" indent="0">
              <a:buNone/>
            </a:pPr>
            <a:r>
              <a:rPr lang="en-US" sz="750" b="1" dirty="0">
                <a:solidFill>
                  <a:srgbClr val="0EA5E9"/>
                </a:solidFill>
                <a:latin typeface="Consolas" panose="020B0609020204030204" pitchFamily="34" charset="0"/>
                <a:ea typeface="Consolas" panose="020B0609020204030204" pitchFamily="34" charset="-122"/>
                <a:cs typeface="Consolas" panose="020B0609020204030204" pitchFamily="34" charset="-120"/>
              </a:rPr>
              <a:t>00  01  02  03  04  05  06  07    08  09  0A  0B  0C  0D  0E  0F</a:t>
            </a:r>
            <a:endParaRPr lang="en-US" sz="750" dirty="0"/>
          </a:p>
        </p:txBody>
      </p:sp>
      <p:sp>
        <p:nvSpPr>
          <p:cNvPr id="14" name="Text 12"/>
          <p:cNvSpPr/>
          <p:nvPr/>
        </p:nvSpPr>
        <p:spPr>
          <a:xfrm>
            <a:off x="7114032" y="1152144"/>
            <a:ext cx="1645920" cy="182880"/>
          </a:xfrm>
          <a:prstGeom prst="rect">
            <a:avLst/>
          </a:prstGeom>
          <a:noFill/>
        </p:spPr>
        <p:txBody>
          <a:bodyPr wrap="square" lIns="0" tIns="0" rIns="0" bIns="0" rtlCol="0" anchor="ctr"/>
          <a:lstStyle/>
          <a:p>
            <a:pPr marL="0" indent="0">
              <a:buNone/>
            </a:pPr>
            <a:r>
              <a:rPr lang="en-US" sz="800" b="1" dirty="0">
                <a:solidFill>
                  <a:srgbClr val="0EA5E9"/>
                </a:solidFill>
                <a:latin typeface="Consolas" panose="020B0609020204030204" pitchFamily="34" charset="0"/>
                <a:ea typeface="Consolas" panose="020B0609020204030204" pitchFamily="34" charset="-122"/>
                <a:cs typeface="Consolas" panose="020B0609020204030204" pitchFamily="34" charset="-120"/>
              </a:rPr>
              <a:t>ASCII</a:t>
            </a:r>
            <a:endParaRPr lang="en-US" sz="800" dirty="0"/>
          </a:p>
        </p:txBody>
      </p:sp>
      <p:sp>
        <p:nvSpPr>
          <p:cNvPr id="15" name="Shape 13"/>
          <p:cNvSpPr/>
          <p:nvPr/>
        </p:nvSpPr>
        <p:spPr>
          <a:xfrm>
            <a:off x="347472" y="1353312"/>
            <a:ext cx="8357616" cy="9144"/>
          </a:xfrm>
          <a:prstGeom prst="rect">
            <a:avLst/>
          </a:prstGeom>
          <a:solidFill>
            <a:srgbClr val="2E4068"/>
          </a:solidFill>
          <a:ln w="12700">
            <a:solidFill>
              <a:srgbClr val="2E4068"/>
            </a:solidFill>
            <a:prstDash val="solid"/>
          </a:ln>
        </p:spPr>
        <p:txBody>
          <a:bodyPr/>
          <a:lstStyle/>
          <a:p>
            <a:endParaRPr lang="en-SG"/>
          </a:p>
        </p:txBody>
      </p:sp>
      <p:sp>
        <p:nvSpPr>
          <p:cNvPr id="16" name="Text 14"/>
          <p:cNvSpPr/>
          <p:nvPr/>
        </p:nvSpPr>
        <p:spPr>
          <a:xfrm>
            <a:off x="347472" y="1389888"/>
            <a:ext cx="731520" cy="219456"/>
          </a:xfrm>
          <a:prstGeom prst="rect">
            <a:avLst/>
          </a:prstGeom>
          <a:noFill/>
        </p:spPr>
        <p:txBody>
          <a:bodyPr wrap="square" lIns="0" tIns="0" rIns="0" bIns="0" rtlCol="0" anchor="ctr"/>
          <a:lstStyle/>
          <a:p>
            <a:pPr marL="0" indent="0">
              <a:buNone/>
            </a:pPr>
            <a:r>
              <a:rPr lang="en-US" sz="850" dirty="0">
                <a:solidFill>
                  <a:srgbClr val="475569"/>
                </a:solidFill>
                <a:latin typeface="Consolas" panose="020B0609020204030204" pitchFamily="34" charset="0"/>
                <a:ea typeface="Consolas" panose="020B0609020204030204" pitchFamily="34" charset="-122"/>
                <a:cs typeface="Consolas" panose="020B0609020204030204" pitchFamily="34" charset="-120"/>
              </a:rPr>
              <a:t>0x0030</a:t>
            </a:r>
            <a:endParaRPr lang="en-US" sz="850" dirty="0"/>
          </a:p>
        </p:txBody>
      </p:sp>
      <p:sp>
        <p:nvSpPr>
          <p:cNvPr id="19" name="Text 17"/>
          <p:cNvSpPr/>
          <p:nvPr/>
        </p:nvSpPr>
        <p:spPr>
          <a:xfrm>
            <a:off x="7114032" y="1389888"/>
            <a:ext cx="1737360" cy="219456"/>
          </a:xfrm>
          <a:prstGeom prst="rect">
            <a:avLst/>
          </a:prstGeom>
          <a:noFill/>
        </p:spPr>
        <p:txBody>
          <a:bodyPr wrap="square" lIns="0" tIns="0" rIns="0" bIns="0" rtlCol="0" anchor="ctr"/>
          <a:lstStyle/>
          <a:p>
            <a:pPr marL="0" indent="0">
              <a:buNone/>
            </a:pPr>
            <a:r>
              <a:rPr lang="en-US" sz="850" dirty="0">
                <a:solidFill>
                  <a:srgbClr val="475569"/>
                </a:solidFill>
                <a:latin typeface="Consolas" panose="020B0609020204030204" pitchFamily="34" charset="0"/>
                <a:ea typeface="Consolas" panose="020B0609020204030204" pitchFamily="34" charset="-122"/>
                <a:cs typeface="Consolas" panose="020B0609020204030204" pitchFamily="34" charset="-120"/>
              </a:rPr>
              <a:t>....        ....      </a:t>
            </a:r>
            <a:endParaRPr lang="en-US" sz="850" dirty="0"/>
          </a:p>
        </p:txBody>
      </p:sp>
      <p:sp>
        <p:nvSpPr>
          <p:cNvPr id="20" name="Text 18"/>
          <p:cNvSpPr/>
          <p:nvPr/>
        </p:nvSpPr>
        <p:spPr>
          <a:xfrm>
            <a:off x="347472" y="1645920"/>
            <a:ext cx="731520" cy="219456"/>
          </a:xfrm>
          <a:prstGeom prst="rect">
            <a:avLst/>
          </a:prstGeom>
          <a:noFill/>
        </p:spPr>
        <p:txBody>
          <a:bodyPr wrap="square" lIns="0" tIns="0" rIns="0" bIns="0" rtlCol="0" anchor="ctr"/>
          <a:lstStyle/>
          <a:p>
            <a:pPr marL="0" indent="0">
              <a:buNone/>
            </a:pPr>
            <a:r>
              <a:rPr lang="en-US" sz="850" dirty="0">
                <a:solidFill>
                  <a:srgbClr val="475569"/>
                </a:solidFill>
                <a:latin typeface="Consolas" panose="020B0609020204030204" pitchFamily="34" charset="0"/>
                <a:ea typeface="Consolas" panose="020B0609020204030204" pitchFamily="34" charset="-122"/>
                <a:cs typeface="Consolas" panose="020B0609020204030204" pitchFamily="34" charset="-120"/>
              </a:rPr>
              <a:t>0x0040</a:t>
            </a:r>
            <a:endParaRPr lang="en-US" sz="850" dirty="0"/>
          </a:p>
        </p:txBody>
      </p:sp>
      <p:sp>
        <p:nvSpPr>
          <p:cNvPr id="24" name="Text 22"/>
          <p:cNvSpPr/>
          <p:nvPr/>
        </p:nvSpPr>
        <p:spPr>
          <a:xfrm>
            <a:off x="7114032" y="1645920"/>
            <a:ext cx="1737360" cy="219456"/>
          </a:xfrm>
          <a:prstGeom prst="rect">
            <a:avLst/>
          </a:prstGeom>
          <a:noFill/>
        </p:spPr>
        <p:txBody>
          <a:bodyPr wrap="square" lIns="0" tIns="0" rIns="0" bIns="0" rtlCol="0" anchor="ctr"/>
          <a:lstStyle/>
          <a:p>
            <a:pPr marL="0" indent="0">
              <a:buNone/>
            </a:pPr>
            <a:r>
              <a:rPr lang="en-US" sz="850" dirty="0">
                <a:solidFill>
                  <a:srgbClr val="475569"/>
                </a:solidFill>
                <a:latin typeface="Consolas" panose="020B0609020204030204" pitchFamily="34" charset="0"/>
                <a:ea typeface="Consolas" panose="020B0609020204030204" pitchFamily="34" charset="-122"/>
                <a:cs typeface="Consolas" panose="020B0609020204030204" pitchFamily="34" charset="-120"/>
              </a:rPr>
              <a:t>....  ....  ........</a:t>
            </a:r>
            <a:endParaRPr lang="en-US" sz="850" dirty="0"/>
          </a:p>
        </p:txBody>
      </p:sp>
      <p:sp>
        <p:nvSpPr>
          <p:cNvPr id="25" name="Text 23"/>
          <p:cNvSpPr/>
          <p:nvPr/>
        </p:nvSpPr>
        <p:spPr>
          <a:xfrm>
            <a:off x="347472" y="1901952"/>
            <a:ext cx="731520" cy="219456"/>
          </a:xfrm>
          <a:prstGeom prst="rect">
            <a:avLst/>
          </a:prstGeom>
          <a:noFill/>
        </p:spPr>
        <p:txBody>
          <a:bodyPr wrap="square" lIns="0" tIns="0" rIns="0" bIns="0" rtlCol="0" anchor="ctr"/>
          <a:lstStyle/>
          <a:p>
            <a:pPr marL="0" indent="0">
              <a:buNone/>
            </a:pPr>
            <a:r>
              <a:rPr lang="en-US" sz="850" dirty="0">
                <a:solidFill>
                  <a:srgbClr val="475569"/>
                </a:solidFill>
                <a:latin typeface="Consolas" panose="020B0609020204030204" pitchFamily="34" charset="0"/>
                <a:ea typeface="Consolas" panose="020B0609020204030204" pitchFamily="34" charset="-122"/>
                <a:cs typeface="Consolas" panose="020B0609020204030204" pitchFamily="34" charset="-120"/>
              </a:rPr>
              <a:t>0x0050</a:t>
            </a:r>
            <a:endParaRPr lang="en-US" sz="850" dirty="0"/>
          </a:p>
        </p:txBody>
      </p:sp>
      <p:sp>
        <p:nvSpPr>
          <p:cNvPr id="29" name="Text 27"/>
          <p:cNvSpPr/>
          <p:nvPr/>
        </p:nvSpPr>
        <p:spPr>
          <a:xfrm>
            <a:off x="7114032" y="1901952"/>
            <a:ext cx="1737360" cy="219456"/>
          </a:xfrm>
          <a:prstGeom prst="rect">
            <a:avLst/>
          </a:prstGeom>
          <a:noFill/>
        </p:spPr>
        <p:txBody>
          <a:bodyPr wrap="square" lIns="0" tIns="0" rIns="0" bIns="0" rtlCol="0" anchor="ctr"/>
          <a:lstStyle/>
          <a:p>
            <a:pPr marL="0" indent="0">
              <a:buNone/>
            </a:pPr>
            <a:r>
              <a:rPr lang="en-US" sz="850" dirty="0">
                <a:solidFill>
                  <a:srgbClr val="475569"/>
                </a:solidFill>
                <a:latin typeface="Consolas" panose="020B0609020204030204" pitchFamily="34" charset="0"/>
                <a:ea typeface="Consolas" panose="020B0609020204030204" pitchFamily="34" charset="-122"/>
                <a:cs typeface="Consolas" panose="020B0609020204030204" pitchFamily="34" charset="-120"/>
              </a:rPr>
              <a:t>........  ..  ......</a:t>
            </a:r>
            <a:endParaRPr lang="en-US" sz="850" dirty="0"/>
          </a:p>
        </p:txBody>
      </p:sp>
      <p:sp>
        <p:nvSpPr>
          <p:cNvPr id="30" name="Shape 28"/>
          <p:cNvSpPr/>
          <p:nvPr/>
        </p:nvSpPr>
        <p:spPr>
          <a:xfrm>
            <a:off x="256032" y="2889504"/>
            <a:ext cx="2761488" cy="1645920"/>
          </a:xfrm>
          <a:prstGeom prst="rect">
            <a:avLst/>
          </a:prstGeom>
          <a:solidFill>
            <a:srgbClr val="EEF6FB"/>
          </a:solidFill>
          <a:ln w="12700">
            <a:solidFill>
              <a:srgbClr val="6366F1"/>
            </a:solidFill>
            <a:prstDash val="solid"/>
          </a:ln>
          <a:effectLst>
            <a:outerShdw blurRad="127000" dist="38100" dir="8100000" algn="bl" rotWithShape="0">
              <a:srgbClr val="000000">
                <a:alpha val="22000"/>
              </a:srgbClr>
            </a:outerShdw>
          </a:effectLst>
        </p:spPr>
        <p:txBody>
          <a:bodyPr/>
          <a:lstStyle/>
          <a:p>
            <a:endParaRPr lang="en-SG"/>
          </a:p>
        </p:txBody>
      </p:sp>
      <p:sp>
        <p:nvSpPr>
          <p:cNvPr id="31" name="Shape 29"/>
          <p:cNvSpPr/>
          <p:nvPr/>
        </p:nvSpPr>
        <p:spPr>
          <a:xfrm>
            <a:off x="256032" y="2889504"/>
            <a:ext cx="2761488" cy="274320"/>
          </a:xfrm>
          <a:prstGeom prst="rect">
            <a:avLst/>
          </a:prstGeom>
          <a:solidFill>
            <a:srgbClr val="6366F1"/>
          </a:solidFill>
          <a:ln w="12700">
            <a:solidFill>
              <a:srgbClr val="6366F1"/>
            </a:solidFill>
            <a:prstDash val="solid"/>
          </a:ln>
        </p:spPr>
        <p:txBody>
          <a:bodyPr/>
          <a:lstStyle/>
          <a:p>
            <a:endParaRPr lang="en-SG"/>
          </a:p>
        </p:txBody>
      </p:sp>
      <p:sp>
        <p:nvSpPr>
          <p:cNvPr id="32" name="Text 30"/>
          <p:cNvSpPr/>
          <p:nvPr/>
        </p:nvSpPr>
        <p:spPr>
          <a:xfrm>
            <a:off x="347472" y="2926080"/>
            <a:ext cx="2615184" cy="219456"/>
          </a:xfrm>
          <a:prstGeom prst="rect">
            <a:avLst/>
          </a:prstGeom>
          <a:noFill/>
        </p:spPr>
        <p:txBody>
          <a:bodyPr wrap="square" lIns="0" tIns="0" rIns="0" bIns="0" rtlCol="0" anchor="ctr"/>
          <a:lstStyle/>
          <a:p>
            <a:pPr marL="0" indent="0">
              <a:buNone/>
            </a:pPr>
            <a:r>
              <a:rPr lang="en-US" sz="9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LCN of $MFT (0x30–0x37)</a:t>
            </a:r>
            <a:endParaRPr lang="en-US" sz="950" dirty="0"/>
          </a:p>
        </p:txBody>
      </p:sp>
      <p:sp>
        <p:nvSpPr>
          <p:cNvPr id="33" name="Text 31"/>
          <p:cNvSpPr/>
          <p:nvPr/>
        </p:nvSpPr>
        <p:spPr>
          <a:xfrm>
            <a:off x="347472" y="3200400"/>
            <a:ext cx="2596896" cy="969264"/>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64-bit LE at offset 0x30. '04 00 00 00 00 00 00 00' → LCN 4. To find $MFT on disk: LCN × Sectors/Cluster × Bytes/Sector. This gives the absolute byte offset of the MFT on the volume.</a:t>
            </a:r>
            <a:endParaRPr lang="en-US" sz="900" dirty="0"/>
          </a:p>
        </p:txBody>
      </p:sp>
      <p:sp>
        <p:nvSpPr>
          <p:cNvPr id="34" name="Shape 32"/>
          <p:cNvSpPr/>
          <p:nvPr/>
        </p:nvSpPr>
        <p:spPr>
          <a:xfrm>
            <a:off x="347472" y="4151376"/>
            <a:ext cx="2596896" cy="9144"/>
          </a:xfrm>
          <a:prstGeom prst="rect">
            <a:avLst/>
          </a:prstGeom>
          <a:solidFill>
            <a:srgbClr val="2E4068"/>
          </a:solidFill>
          <a:ln w="12700">
            <a:solidFill>
              <a:srgbClr val="2E4068"/>
            </a:solidFill>
            <a:prstDash val="solid"/>
          </a:ln>
        </p:spPr>
        <p:txBody>
          <a:bodyPr/>
          <a:lstStyle/>
          <a:p>
            <a:endParaRPr lang="en-SG"/>
          </a:p>
        </p:txBody>
      </p:sp>
      <p:sp>
        <p:nvSpPr>
          <p:cNvPr id="35" name="Text 33"/>
          <p:cNvSpPr/>
          <p:nvPr/>
        </p:nvSpPr>
        <p:spPr>
          <a:xfrm>
            <a:off x="347472" y="4169664"/>
            <a:ext cx="2596896" cy="292608"/>
          </a:xfrm>
          <a:prstGeom prst="rect">
            <a:avLst/>
          </a:prstGeom>
          <a:noFill/>
        </p:spPr>
        <p:txBody>
          <a:bodyPr wrap="square" rtlCol="0" anchor="t"/>
          <a:lstStyle/>
          <a:p>
            <a:pPr marL="0" indent="0">
              <a:buNone/>
            </a:pPr>
            <a:r>
              <a:rPr lang="en-US" sz="850" i="1" dirty="0">
                <a:solidFill>
                  <a:srgbClr val="6366F1"/>
                </a:solidFill>
                <a:latin typeface="Consolas" panose="020B0609020204030204" pitchFamily="34" charset="0"/>
                <a:ea typeface="Consolas" panose="020B0609020204030204" pitchFamily="34" charset="-122"/>
                <a:cs typeface="Consolas" panose="020B0609020204030204" pitchFamily="34" charset="-120"/>
              </a:rPr>
              <a:t>0x04 = cluster 4 → sector 4×8=32 → byte 32×512=16,384</a:t>
            </a:r>
            <a:endParaRPr lang="en-US" sz="850" dirty="0"/>
          </a:p>
        </p:txBody>
      </p:sp>
      <p:sp>
        <p:nvSpPr>
          <p:cNvPr id="36" name="Shape 34"/>
          <p:cNvSpPr/>
          <p:nvPr/>
        </p:nvSpPr>
        <p:spPr>
          <a:xfrm>
            <a:off x="3182112" y="2889504"/>
            <a:ext cx="2761488" cy="1645920"/>
          </a:xfrm>
          <a:prstGeom prst="rect">
            <a:avLst/>
          </a:prstGeom>
          <a:solidFill>
            <a:srgbClr val="EEF6FB"/>
          </a:solidFill>
          <a:ln w="12700">
            <a:solidFill>
              <a:srgbClr val="A855F7"/>
            </a:solidFill>
            <a:prstDash val="solid"/>
          </a:ln>
          <a:effectLst>
            <a:outerShdw blurRad="127000" dist="38100" dir="8100000" algn="bl" rotWithShape="0">
              <a:srgbClr val="000000">
                <a:alpha val="22000"/>
              </a:srgbClr>
            </a:outerShdw>
          </a:effectLst>
        </p:spPr>
        <p:txBody>
          <a:bodyPr/>
          <a:lstStyle/>
          <a:p>
            <a:endParaRPr lang="en-SG"/>
          </a:p>
        </p:txBody>
      </p:sp>
      <p:sp>
        <p:nvSpPr>
          <p:cNvPr id="37" name="Shape 35"/>
          <p:cNvSpPr/>
          <p:nvPr/>
        </p:nvSpPr>
        <p:spPr>
          <a:xfrm>
            <a:off x="3182112" y="2889504"/>
            <a:ext cx="2761488" cy="274320"/>
          </a:xfrm>
          <a:prstGeom prst="rect">
            <a:avLst/>
          </a:prstGeom>
          <a:solidFill>
            <a:srgbClr val="A855F7"/>
          </a:solidFill>
          <a:ln w="12700">
            <a:solidFill>
              <a:srgbClr val="A855F7"/>
            </a:solidFill>
            <a:prstDash val="solid"/>
          </a:ln>
        </p:spPr>
        <p:txBody>
          <a:bodyPr/>
          <a:lstStyle/>
          <a:p>
            <a:endParaRPr lang="en-SG"/>
          </a:p>
        </p:txBody>
      </p:sp>
      <p:sp>
        <p:nvSpPr>
          <p:cNvPr id="38" name="Text 36"/>
          <p:cNvSpPr/>
          <p:nvPr/>
        </p:nvSpPr>
        <p:spPr>
          <a:xfrm>
            <a:off x="3273552" y="2926080"/>
            <a:ext cx="2615184" cy="219456"/>
          </a:xfrm>
          <a:prstGeom prst="rect">
            <a:avLst/>
          </a:prstGeom>
          <a:noFill/>
        </p:spPr>
        <p:txBody>
          <a:bodyPr wrap="square" lIns="0" tIns="0" rIns="0" bIns="0" rtlCol="0" anchor="ctr"/>
          <a:lstStyle/>
          <a:p>
            <a:pPr marL="0" indent="0">
              <a:buNone/>
            </a:pPr>
            <a:r>
              <a:rPr lang="en-US" sz="9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LCN of $MFTMirr (0x38–0x3F)</a:t>
            </a:r>
            <a:endParaRPr lang="en-US" sz="950" dirty="0"/>
          </a:p>
        </p:txBody>
      </p:sp>
      <p:sp>
        <p:nvSpPr>
          <p:cNvPr id="39" name="Text 37"/>
          <p:cNvSpPr/>
          <p:nvPr/>
        </p:nvSpPr>
        <p:spPr>
          <a:xfrm>
            <a:off x="3273552" y="3200400"/>
            <a:ext cx="2596896" cy="969264"/>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64-bit LE at offset 0x38. '$MFTMirr' stores a backup of the first 4 MFT records. If $MFT is damaged, forensic tools use $MFTMirr to begin recovery. Usually located near the midpoint of the volume.</a:t>
            </a:r>
            <a:endParaRPr lang="en-US" sz="900" dirty="0"/>
          </a:p>
        </p:txBody>
      </p:sp>
      <p:sp>
        <p:nvSpPr>
          <p:cNvPr id="40" name="Shape 38"/>
          <p:cNvSpPr/>
          <p:nvPr/>
        </p:nvSpPr>
        <p:spPr>
          <a:xfrm>
            <a:off x="3273552" y="4151376"/>
            <a:ext cx="2596896" cy="9144"/>
          </a:xfrm>
          <a:prstGeom prst="rect">
            <a:avLst/>
          </a:prstGeom>
          <a:solidFill>
            <a:srgbClr val="2E4068"/>
          </a:solidFill>
          <a:ln w="12700">
            <a:solidFill>
              <a:srgbClr val="2E4068"/>
            </a:solidFill>
            <a:prstDash val="solid"/>
          </a:ln>
        </p:spPr>
        <p:txBody>
          <a:bodyPr/>
          <a:lstStyle/>
          <a:p>
            <a:endParaRPr lang="en-SG"/>
          </a:p>
        </p:txBody>
      </p:sp>
      <p:sp>
        <p:nvSpPr>
          <p:cNvPr id="41" name="Text 39"/>
          <p:cNvSpPr/>
          <p:nvPr/>
        </p:nvSpPr>
        <p:spPr>
          <a:xfrm>
            <a:off x="3273552" y="4169664"/>
            <a:ext cx="2596896" cy="292608"/>
          </a:xfrm>
          <a:prstGeom prst="rect">
            <a:avLst/>
          </a:prstGeom>
          <a:noFill/>
        </p:spPr>
        <p:txBody>
          <a:bodyPr wrap="square" rtlCol="0" anchor="t"/>
          <a:lstStyle/>
          <a:p>
            <a:pPr marL="0" indent="0">
              <a:buNone/>
            </a:pPr>
            <a:r>
              <a:rPr lang="en-US" sz="850" i="1" dirty="0">
                <a:solidFill>
                  <a:srgbClr val="A855F7"/>
                </a:solidFill>
                <a:latin typeface="Consolas" panose="020B0609020204030204" pitchFamily="34" charset="0"/>
                <a:ea typeface="Consolas" panose="020B0609020204030204" pitchFamily="34" charset="-122"/>
                <a:cs typeface="Consolas" panose="020B0609020204030204" pitchFamily="34" charset="-120"/>
              </a:rPr>
              <a:t>F0 1F 00 00 00 00 00 00 → 0x1FF0 = cluster 8,176</a:t>
            </a:r>
            <a:endParaRPr lang="en-US" sz="850" dirty="0"/>
          </a:p>
        </p:txBody>
      </p:sp>
      <p:sp>
        <p:nvSpPr>
          <p:cNvPr id="42" name="Shape 40"/>
          <p:cNvSpPr/>
          <p:nvPr/>
        </p:nvSpPr>
        <p:spPr>
          <a:xfrm>
            <a:off x="6108192" y="2889504"/>
            <a:ext cx="2761488" cy="1645920"/>
          </a:xfrm>
          <a:prstGeom prst="rect">
            <a:avLst/>
          </a:prstGeom>
          <a:solidFill>
            <a:srgbClr val="EEF6FB"/>
          </a:solidFill>
          <a:ln w="12700">
            <a:solidFill>
              <a:srgbClr val="10B981"/>
            </a:solidFill>
            <a:prstDash val="solid"/>
          </a:ln>
          <a:effectLst>
            <a:outerShdw blurRad="127000" dist="38100" dir="8100000" algn="bl" rotWithShape="0">
              <a:srgbClr val="000000">
                <a:alpha val="22000"/>
              </a:srgbClr>
            </a:outerShdw>
          </a:effectLst>
        </p:spPr>
        <p:txBody>
          <a:bodyPr/>
          <a:lstStyle/>
          <a:p>
            <a:endParaRPr lang="en-SG"/>
          </a:p>
        </p:txBody>
      </p:sp>
      <p:sp>
        <p:nvSpPr>
          <p:cNvPr id="43" name="Shape 41"/>
          <p:cNvSpPr/>
          <p:nvPr/>
        </p:nvSpPr>
        <p:spPr>
          <a:xfrm>
            <a:off x="6108192" y="2889504"/>
            <a:ext cx="2761488" cy="274320"/>
          </a:xfrm>
          <a:prstGeom prst="rect">
            <a:avLst/>
          </a:prstGeom>
          <a:solidFill>
            <a:srgbClr val="10B981"/>
          </a:solidFill>
          <a:ln w="12700">
            <a:solidFill>
              <a:srgbClr val="10B981"/>
            </a:solidFill>
            <a:prstDash val="solid"/>
          </a:ln>
        </p:spPr>
        <p:txBody>
          <a:bodyPr/>
          <a:lstStyle/>
          <a:p>
            <a:endParaRPr lang="en-SG"/>
          </a:p>
        </p:txBody>
      </p:sp>
      <p:sp>
        <p:nvSpPr>
          <p:cNvPr id="44" name="Text 42"/>
          <p:cNvSpPr/>
          <p:nvPr/>
        </p:nvSpPr>
        <p:spPr>
          <a:xfrm>
            <a:off x="6199632" y="2926080"/>
            <a:ext cx="2615184" cy="219456"/>
          </a:xfrm>
          <a:prstGeom prst="rect">
            <a:avLst/>
          </a:prstGeom>
          <a:noFill/>
        </p:spPr>
        <p:txBody>
          <a:bodyPr wrap="square" lIns="0" tIns="0" rIns="0" bIns="0" rtlCol="0" anchor="ctr"/>
          <a:lstStyle/>
          <a:p>
            <a:pPr marL="0" indent="0">
              <a:buNone/>
            </a:pPr>
            <a:r>
              <a:rPr lang="en-US" sz="9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Clusters Per MFT Record (0x40–0x43)</a:t>
            </a:r>
            <a:endParaRPr lang="en-US" sz="950" dirty="0"/>
          </a:p>
        </p:txBody>
      </p:sp>
      <p:sp>
        <p:nvSpPr>
          <p:cNvPr id="45" name="Text 43"/>
          <p:cNvSpPr/>
          <p:nvPr/>
        </p:nvSpPr>
        <p:spPr>
          <a:xfrm>
            <a:off x="6199632" y="3200400"/>
            <a:ext cx="2596896" cy="969264"/>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4-byte signed integer. Positive value = clusters per record. Negative value (stored as 2's complement) means the record size is 2^|value| bytes. 0xF6 = –10 in signed byte → 2^10 = 1,024 bytes per MFT record.</a:t>
            </a:r>
            <a:endParaRPr lang="en-US" sz="900" dirty="0"/>
          </a:p>
        </p:txBody>
      </p:sp>
      <p:sp>
        <p:nvSpPr>
          <p:cNvPr id="46" name="Shape 44"/>
          <p:cNvSpPr/>
          <p:nvPr/>
        </p:nvSpPr>
        <p:spPr>
          <a:xfrm>
            <a:off x="6199632" y="4151376"/>
            <a:ext cx="2596896" cy="9144"/>
          </a:xfrm>
          <a:prstGeom prst="rect">
            <a:avLst/>
          </a:prstGeom>
          <a:solidFill>
            <a:srgbClr val="2E4068"/>
          </a:solidFill>
          <a:ln w="12700">
            <a:solidFill>
              <a:srgbClr val="2E4068"/>
            </a:solidFill>
            <a:prstDash val="solid"/>
          </a:ln>
        </p:spPr>
        <p:txBody>
          <a:bodyPr/>
          <a:lstStyle/>
          <a:p>
            <a:endParaRPr lang="en-SG"/>
          </a:p>
        </p:txBody>
      </p:sp>
      <p:sp>
        <p:nvSpPr>
          <p:cNvPr id="47" name="Text 45"/>
          <p:cNvSpPr/>
          <p:nvPr/>
        </p:nvSpPr>
        <p:spPr>
          <a:xfrm>
            <a:off x="6199632" y="4169664"/>
            <a:ext cx="2596896" cy="292608"/>
          </a:xfrm>
          <a:prstGeom prst="rect">
            <a:avLst/>
          </a:prstGeom>
          <a:noFill/>
        </p:spPr>
        <p:txBody>
          <a:bodyPr wrap="square" rtlCol="0" anchor="t"/>
          <a:lstStyle/>
          <a:p>
            <a:pPr marL="0" indent="0">
              <a:buNone/>
            </a:pPr>
            <a:r>
              <a:rPr lang="en-US" sz="850" i="1" dirty="0">
                <a:solidFill>
                  <a:srgbClr val="10B981"/>
                </a:solidFill>
                <a:latin typeface="Consolas" panose="020B0609020204030204" pitchFamily="34" charset="0"/>
                <a:ea typeface="Consolas" panose="020B0609020204030204" pitchFamily="34" charset="-122"/>
                <a:cs typeface="Consolas" panose="020B0609020204030204" pitchFamily="34" charset="-120"/>
              </a:rPr>
              <a:t>F6 = –10 signed → 2^10 = 1024 bytes per record</a:t>
            </a:r>
            <a:endParaRPr lang="en-US" sz="850" dirty="0"/>
          </a:p>
        </p:txBody>
      </p:sp>
      <p:sp>
        <p:nvSpPr>
          <p:cNvPr id="48" name="Shape 46"/>
          <p:cNvSpPr/>
          <p:nvPr/>
        </p:nvSpPr>
        <p:spPr>
          <a:xfrm>
            <a:off x="256032" y="4608576"/>
            <a:ext cx="8631936" cy="256032"/>
          </a:xfrm>
          <a:prstGeom prst="rect">
            <a:avLst/>
          </a:prstGeom>
          <a:solidFill>
            <a:srgbClr val="0EA5E9">
              <a:alpha val="80000"/>
            </a:srgbClr>
          </a:solidFill>
          <a:ln w="12700">
            <a:solidFill>
              <a:srgbClr val="0EA5E9"/>
            </a:solidFill>
            <a:prstDash val="solid"/>
          </a:ln>
        </p:spPr>
        <p:txBody>
          <a:bodyPr/>
          <a:lstStyle/>
          <a:p>
            <a:endParaRPr lang="en-SG"/>
          </a:p>
        </p:txBody>
      </p:sp>
      <p:sp>
        <p:nvSpPr>
          <p:cNvPr id="49" name="Text 47"/>
          <p:cNvSpPr/>
          <p:nvPr/>
        </p:nvSpPr>
        <p:spPr>
          <a:xfrm>
            <a:off x="347472" y="4626864"/>
            <a:ext cx="8321040" cy="201168"/>
          </a:xfrm>
          <a:prstGeom prst="rect">
            <a:avLst/>
          </a:prstGeom>
          <a:noFill/>
        </p:spPr>
        <p:txBody>
          <a:bodyPr wrap="square" lIns="0" tIns="0" rIns="0" bIns="0" rtlCol="0" anchor="ctr"/>
          <a:lstStyle/>
          <a:p>
            <a:pPr marL="0" indent="0">
              <a:buNone/>
            </a:pPr>
            <a:r>
              <a:rPr lang="en-US" sz="900" b="1" dirty="0">
                <a:solidFill>
                  <a:srgbClr val="000000"/>
                </a:solidFill>
                <a:latin typeface="Consolas" panose="020B0609020204030204" pitchFamily="34" charset="0"/>
                <a:ea typeface="Consolas" panose="020B0609020204030204" pitchFamily="34" charset="-122"/>
                <a:cs typeface="Consolas" panose="020B0609020204030204" pitchFamily="34" charset="-120"/>
              </a:rPr>
              <a:t>To locate $MFT: byte_offset = LCN($MFT) × SectorsPerCluster × BytesPerSector.  E.g. cluster 4 × 8 × 512 = 16,384 bytes from start of volume.</a:t>
            </a:r>
            <a:endParaRPr lang="en-US" sz="900" dirty="0"/>
          </a:p>
        </p:txBody>
      </p:sp>
      <p:sp>
        <p:nvSpPr>
          <p:cNvPr id="50" name="TextBox 49"/>
          <p:cNvSpPr txBox="1"/>
          <p:nvPr/>
        </p:nvSpPr>
        <p:spPr>
          <a:xfrm>
            <a:off x="1115568" y="1389888"/>
            <a:ext cx="5943600" cy="182880"/>
          </a:xfrm>
          <a:prstGeom prst="rect">
            <a:avLst/>
          </a:prstGeom>
          <a:noFill/>
        </p:spPr>
        <p:txBody>
          <a:bodyPr wrap="none" lIns="0" tIns="0" rIns="0" bIns="0">
            <a:spAutoFit/>
          </a:bodyPr>
          <a:lstStyle/>
          <a:p>
            <a:r>
              <a:rPr sz="800">
                <a:solidFill>
                  <a:srgbClr val="6366F1"/>
                </a:solidFill>
                <a:latin typeface="Consolas" panose="020B0609020204030204" pitchFamily="34" charset="0"/>
              </a:rPr>
              <a:t>04  00  00  00  00  00  00  00    </a:t>
            </a:r>
            <a:r>
              <a:rPr sz="800">
                <a:solidFill>
                  <a:srgbClr val="A855F7"/>
                </a:solidFill>
                <a:latin typeface="Consolas" panose="020B0609020204030204" pitchFamily="34" charset="0"/>
              </a:rPr>
              <a:t>F0  1F  00  00  00  00  00  00</a:t>
            </a:r>
            <a:endParaRPr sz="800">
              <a:solidFill>
                <a:srgbClr val="A855F7"/>
              </a:solidFill>
              <a:latin typeface="Consolas" panose="020B0609020204030204" pitchFamily="34" charset="0"/>
            </a:endParaRPr>
          </a:p>
        </p:txBody>
      </p:sp>
      <p:sp>
        <p:nvSpPr>
          <p:cNvPr id="51" name="TextBox 50"/>
          <p:cNvSpPr txBox="1"/>
          <p:nvPr/>
        </p:nvSpPr>
        <p:spPr>
          <a:xfrm>
            <a:off x="1115568" y="1645920"/>
            <a:ext cx="5943600" cy="182880"/>
          </a:xfrm>
          <a:prstGeom prst="rect">
            <a:avLst/>
          </a:prstGeom>
          <a:noFill/>
        </p:spPr>
        <p:txBody>
          <a:bodyPr wrap="none" lIns="0" tIns="0" rIns="0" bIns="0">
            <a:spAutoFit/>
          </a:bodyPr>
          <a:lstStyle/>
          <a:p>
            <a:r>
              <a:rPr sz="800">
                <a:solidFill>
                  <a:srgbClr val="10B981"/>
                </a:solidFill>
                <a:latin typeface="Consolas" panose="020B0609020204030204" pitchFamily="34" charset="0"/>
              </a:rPr>
              <a:t>F6  00  00  00  </a:t>
            </a:r>
            <a:r>
              <a:rPr sz="800">
                <a:solidFill>
                  <a:srgbClr val="94A3B8"/>
                </a:solidFill>
                <a:latin typeface="Consolas" panose="020B0609020204030204" pitchFamily="34" charset="0"/>
              </a:rPr>
              <a:t>01  00  00  00    A8  8F  B8  03  00  00  00  00</a:t>
            </a:r>
            <a:endParaRPr sz="800">
              <a:solidFill>
                <a:srgbClr val="94A3B8"/>
              </a:solidFill>
              <a:latin typeface="Consolas" panose="020B0609020204030204" pitchFamily="34" charset="0"/>
            </a:endParaRPr>
          </a:p>
        </p:txBody>
      </p:sp>
      <p:sp>
        <p:nvSpPr>
          <p:cNvPr id="52" name="TextBox 51"/>
          <p:cNvSpPr txBox="1"/>
          <p:nvPr/>
        </p:nvSpPr>
        <p:spPr>
          <a:xfrm>
            <a:off x="1115568" y="1901952"/>
            <a:ext cx="5943600" cy="182880"/>
          </a:xfrm>
          <a:prstGeom prst="rect">
            <a:avLst/>
          </a:prstGeom>
          <a:noFill/>
        </p:spPr>
        <p:txBody>
          <a:bodyPr wrap="none" lIns="0" tIns="0" rIns="0" bIns="0">
            <a:spAutoFit/>
          </a:bodyPr>
          <a:lstStyle/>
          <a:p>
            <a:r>
              <a:rPr sz="800">
                <a:solidFill>
                  <a:srgbClr val="94A3B8"/>
                </a:solidFill>
                <a:latin typeface="Consolas" panose="020B0609020204030204" pitchFamily="34" charset="0"/>
              </a:rPr>
              <a:t>00  00  00  00  00  00  00  00    00  00  00  00  00  00  00  00</a:t>
            </a:r>
            <a:endParaRPr sz="800">
              <a:solidFill>
                <a:srgbClr val="94A3B8"/>
              </a:solidFill>
              <a:latin typeface="Consolas" panose="020B0609020204030204" pitchFamily="34"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EA5E9"/>
          </a:solidFill>
          <a:ln w="12700">
            <a:solidFill>
              <a:srgbClr val="0EA5E9"/>
            </a:solidFill>
            <a:prstDash val="solid"/>
          </a:ln>
        </p:spPr>
        <p:txBody>
          <a:bodyPr/>
          <a:lstStyle/>
          <a:p>
            <a:endParaRPr lang="en-SG"/>
          </a:p>
        </p:txBody>
      </p:sp>
      <p:sp>
        <p:nvSpPr>
          <p:cNvPr id="3" name="Text 1"/>
          <p:cNvSpPr/>
          <p:nvPr/>
        </p:nvSpPr>
        <p:spPr>
          <a:xfrm>
            <a:off x="256032" y="186690"/>
            <a:ext cx="8631936" cy="548640"/>
          </a:xfrm>
          <a:prstGeom prst="rect">
            <a:avLst/>
          </a:prstGeom>
          <a:noFill/>
        </p:spPr>
        <p:txBody>
          <a:bodyPr wrap="square" lIns="0" tIns="0" rIns="0" bIns="0" rtlCol="0" anchor="ctr"/>
          <a:lstStyle/>
          <a:p>
            <a:pPr marL="0" indent="0">
              <a:buNone/>
            </a:pPr>
            <a:r>
              <a:rPr lang="en-US" sz="1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NTFS VBR Fields — What Each Field Means</a:t>
            </a:r>
            <a:endParaRPr lang="en-US" sz="1800" dirty="0"/>
          </a:p>
        </p:txBody>
      </p:sp>
      <p:sp>
        <p:nvSpPr>
          <p:cNvPr id="4" name="Shape 2"/>
          <p:cNvSpPr/>
          <p:nvPr/>
        </p:nvSpPr>
        <p:spPr>
          <a:xfrm>
            <a:off x="256032" y="73152"/>
            <a:ext cx="1463040" cy="219456"/>
          </a:xfrm>
          <a:prstGeom prst="rect">
            <a:avLst/>
          </a:prstGeom>
          <a:solidFill>
            <a:srgbClr val="0EA5E9"/>
          </a:solidFill>
          <a:ln w="12700">
            <a:solidFill>
              <a:srgbClr val="0EA5E9"/>
            </a:solidFill>
            <a:prstDash val="solid"/>
          </a:ln>
        </p:spPr>
        <p:txBody>
          <a:bodyPr/>
          <a:lstStyle/>
          <a:p>
            <a:endParaRPr lang="en-SG"/>
          </a:p>
        </p:txBody>
      </p:sp>
      <p:sp>
        <p:nvSpPr>
          <p:cNvPr id="5" name="Text 3"/>
          <p:cNvSpPr/>
          <p:nvPr/>
        </p:nvSpPr>
        <p:spPr>
          <a:xfrm>
            <a:off x="256032" y="73152"/>
            <a:ext cx="1463040" cy="219456"/>
          </a:xfrm>
          <a:prstGeom prst="rect">
            <a:avLst/>
          </a:prstGeom>
          <a:noFill/>
        </p:spPr>
        <p:txBody>
          <a:bodyPr wrap="square" lIns="0" tIns="0" rIns="0" bIns="0" rtlCol="0" anchor="ctr"/>
          <a:lstStyle/>
          <a:p>
            <a:pPr marL="0" indent="0" algn="ctr">
              <a:buNone/>
            </a:pPr>
            <a:r>
              <a:rPr lang="en-US" sz="800" b="1" kern="0" spc="100"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SECTION 03 — NTFS</a:t>
            </a:r>
            <a:endParaRPr lang="en-US" sz="800" dirty="0"/>
          </a:p>
        </p:txBody>
      </p:sp>
      <p:sp>
        <p:nvSpPr>
          <p:cNvPr id="10" name="Text 8"/>
          <p:cNvSpPr/>
          <p:nvPr/>
        </p:nvSpPr>
        <p:spPr>
          <a:xfrm>
            <a:off x="256032" y="822960"/>
            <a:ext cx="8631936" cy="274320"/>
          </a:xfrm>
          <a:prstGeom prst="rect">
            <a:avLst/>
          </a:prstGeom>
          <a:noFill/>
        </p:spPr>
        <p:txBody>
          <a:bodyPr wrap="square" rtlCol="0" anchor="ctr"/>
          <a:lstStyle/>
          <a:p>
            <a:pPr marL="0" indent="0">
              <a:buNone/>
            </a:pPr>
            <a:r>
              <a:rPr lang="en-US" sz="950" i="1" dirty="0">
                <a:solidFill>
                  <a:srgbClr val="475569"/>
                </a:solidFill>
                <a:latin typeface="Calibri" panose="020F0502020204030204" pitchFamily="34" charset="0"/>
                <a:ea typeface="Calibri" panose="020F0502020204030204" pitchFamily="34" charset="-122"/>
                <a:cs typeface="Calibri" panose="020F0502020204030204" pitchFamily="34" charset="-120"/>
              </a:rPr>
              <a:t>Understanding what each VBR field means — and why it matters — helps forensic examiners locate and parse NTFS structures from any disk image, regardless of volume size.</a:t>
            </a:r>
            <a:endParaRPr lang="en-US" sz="950" dirty="0"/>
          </a:p>
        </p:txBody>
      </p:sp>
      <p:sp>
        <p:nvSpPr>
          <p:cNvPr id="11" name="Shape 9"/>
          <p:cNvSpPr/>
          <p:nvPr/>
        </p:nvSpPr>
        <p:spPr>
          <a:xfrm>
            <a:off x="256032" y="1170432"/>
            <a:ext cx="4187952" cy="1700784"/>
          </a:xfrm>
          <a:prstGeom prst="rect">
            <a:avLst/>
          </a:prstGeom>
          <a:solidFill>
            <a:srgbClr val="EEF6FB"/>
          </a:solidFill>
          <a:ln w="12700">
            <a:solidFill>
              <a:srgbClr val="F59E0B"/>
            </a:solidFill>
            <a:prstDash val="solid"/>
          </a:ln>
          <a:effectLst>
            <a:outerShdw blurRad="127000" dist="38100" dir="8100000" algn="bl" rotWithShape="0">
              <a:srgbClr val="000000">
                <a:alpha val="22000"/>
              </a:srgbClr>
            </a:outerShdw>
          </a:effectLst>
        </p:spPr>
        <p:txBody>
          <a:bodyPr/>
          <a:lstStyle/>
          <a:p>
            <a:endParaRPr lang="en-SG"/>
          </a:p>
        </p:txBody>
      </p:sp>
      <p:sp>
        <p:nvSpPr>
          <p:cNvPr id="12" name="Shape 10"/>
          <p:cNvSpPr/>
          <p:nvPr/>
        </p:nvSpPr>
        <p:spPr>
          <a:xfrm>
            <a:off x="256032" y="1170432"/>
            <a:ext cx="182880" cy="1700784"/>
          </a:xfrm>
          <a:prstGeom prst="rect">
            <a:avLst/>
          </a:prstGeom>
          <a:solidFill>
            <a:srgbClr val="F59E0B"/>
          </a:solidFill>
          <a:ln w="12700">
            <a:solidFill>
              <a:srgbClr val="F59E0B"/>
            </a:solidFill>
            <a:prstDash val="solid"/>
          </a:ln>
        </p:spPr>
        <p:txBody>
          <a:bodyPr/>
          <a:lstStyle/>
          <a:p>
            <a:endParaRPr lang="en-SG"/>
          </a:p>
        </p:txBody>
      </p:sp>
      <p:sp>
        <p:nvSpPr>
          <p:cNvPr id="13" name="Shape 11"/>
          <p:cNvSpPr/>
          <p:nvPr/>
        </p:nvSpPr>
        <p:spPr>
          <a:xfrm>
            <a:off x="512064" y="1261872"/>
            <a:ext cx="274320" cy="274320"/>
          </a:xfrm>
          <a:prstGeom prst="line">
            <a:avLst/>
          </a:prstGeom>
          <a:solidFill>
            <a:srgbClr val="F59E0B">
              <a:alpha val="80000"/>
            </a:srgbClr>
          </a:solidFill>
          <a:ln w="12700">
            <a:solidFill>
              <a:srgbClr val="F59E0B"/>
            </a:solidFill>
            <a:prstDash val="solid"/>
          </a:ln>
        </p:spPr>
        <p:txBody>
          <a:bodyPr/>
          <a:lstStyle/>
          <a:p>
            <a:endParaRPr lang="en-SG"/>
          </a:p>
        </p:txBody>
      </p:sp>
      <p:sp>
        <p:nvSpPr>
          <p:cNvPr id="14" name="Text 12"/>
          <p:cNvSpPr/>
          <p:nvPr/>
        </p:nvSpPr>
        <p:spPr>
          <a:xfrm>
            <a:off x="512064" y="1298448"/>
            <a:ext cx="274320" cy="201168"/>
          </a:xfrm>
          <a:prstGeom prst="rect">
            <a:avLst/>
          </a:prstGeom>
          <a:noFill/>
        </p:spPr>
        <p:txBody>
          <a:bodyPr wrap="square" lIns="0" tIns="0" rIns="0" bIns="0" rtlCol="0" anchor="ctr"/>
          <a:lstStyle/>
          <a:p>
            <a:pPr marL="0" indent="0" algn="ctr">
              <a:buNone/>
            </a:pPr>
            <a:r>
              <a:rPr lang="en-US" sz="9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01</a:t>
            </a:r>
            <a:endParaRPr lang="en-US" sz="900" dirty="0"/>
          </a:p>
        </p:txBody>
      </p:sp>
      <p:sp>
        <p:nvSpPr>
          <p:cNvPr id="15" name="Text 13"/>
          <p:cNvSpPr/>
          <p:nvPr/>
        </p:nvSpPr>
        <p:spPr>
          <a:xfrm>
            <a:off x="841248" y="1243584"/>
            <a:ext cx="3493008" cy="237744"/>
          </a:xfrm>
          <a:prstGeom prst="rect">
            <a:avLst/>
          </a:prstGeom>
          <a:noFill/>
        </p:spPr>
        <p:txBody>
          <a:bodyPr wrap="square" lIns="0" tIns="0" rIns="0" bIns="0" rtlCol="0" anchor="ctr"/>
          <a:lstStyle/>
          <a:p>
            <a:pPr marL="0" indent="0">
              <a:buNone/>
            </a:pPr>
            <a:r>
              <a:rPr lang="en-US" sz="11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Bytes Per Sector</a:t>
            </a:r>
            <a:endParaRPr lang="en-US" sz="1100" dirty="0"/>
          </a:p>
        </p:txBody>
      </p:sp>
      <p:sp>
        <p:nvSpPr>
          <p:cNvPr id="16" name="Text 14"/>
          <p:cNvSpPr/>
          <p:nvPr/>
        </p:nvSpPr>
        <p:spPr>
          <a:xfrm>
            <a:off x="512064" y="1554480"/>
            <a:ext cx="3840480" cy="292608"/>
          </a:xfrm>
          <a:prstGeom prst="rect">
            <a:avLst/>
          </a:prstGeom>
          <a:noFill/>
        </p:spPr>
        <p:txBody>
          <a:bodyPr wrap="square" rtlCol="0" anchor="t"/>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What: The size of one physical disk sector in bytes.</a:t>
            </a:r>
            <a:endParaRPr lang="en-US" sz="850" dirty="0"/>
          </a:p>
        </p:txBody>
      </p:sp>
      <p:sp>
        <p:nvSpPr>
          <p:cNvPr id="17" name="Text 15"/>
          <p:cNvSpPr/>
          <p:nvPr/>
        </p:nvSpPr>
        <p:spPr>
          <a:xfrm>
            <a:off x="512064" y="1865376"/>
            <a:ext cx="3840480" cy="457200"/>
          </a:xfrm>
          <a:prstGeom prst="rect">
            <a:avLst/>
          </a:prstGeom>
          <a:noFill/>
        </p:spPr>
        <p:txBody>
          <a:bodyPr wrap="square" rtlCol="0" anchor="t"/>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Why it matters: All other offsets and sizes in the BPB are expressed as multiples of this value. It is the base unit for calculating actual byte positions on disk.</a:t>
            </a:r>
            <a:endParaRPr lang="en-US" sz="850" dirty="0"/>
          </a:p>
        </p:txBody>
      </p:sp>
      <p:sp>
        <p:nvSpPr>
          <p:cNvPr id="18" name="Text 16"/>
          <p:cNvSpPr/>
          <p:nvPr/>
        </p:nvSpPr>
        <p:spPr>
          <a:xfrm>
            <a:off x="512064" y="2359152"/>
            <a:ext cx="3840480" cy="438912"/>
          </a:xfrm>
          <a:prstGeom prst="rect">
            <a:avLst/>
          </a:prstGeom>
          <a:noFill/>
        </p:spPr>
        <p:txBody>
          <a:bodyPr wrap="square" rtlCol="0" anchor="t"/>
          <a:lstStyle/>
          <a:p>
            <a:pPr marL="0" indent="0">
              <a:buNone/>
            </a:pPr>
            <a:r>
              <a:rPr lang="en-US" sz="800" i="1" dirty="0">
                <a:solidFill>
                  <a:srgbClr val="F59E0B"/>
                </a:solidFill>
                <a:latin typeface="Calibri" panose="020F0502020204030204" pitchFamily="34" charset="0"/>
                <a:ea typeface="Calibri" panose="020F0502020204030204" pitchFamily="34" charset="-122"/>
                <a:cs typeface="Calibri" panose="020F0502020204030204" pitchFamily="34" charset="-120"/>
              </a:rPr>
              <a:t>Typical: 512 bytes (standard drives); 4096 bytes (Advanced Format / 4Kn drives).</a:t>
            </a:r>
            <a:endParaRPr lang="en-US" sz="800" dirty="0"/>
          </a:p>
        </p:txBody>
      </p:sp>
      <p:sp>
        <p:nvSpPr>
          <p:cNvPr id="19" name="Shape 17"/>
          <p:cNvSpPr/>
          <p:nvPr/>
        </p:nvSpPr>
        <p:spPr>
          <a:xfrm>
            <a:off x="4590288" y="1170432"/>
            <a:ext cx="4187952" cy="1700784"/>
          </a:xfrm>
          <a:prstGeom prst="rect">
            <a:avLst/>
          </a:prstGeom>
          <a:solidFill>
            <a:srgbClr val="EEF6FB"/>
          </a:solidFill>
          <a:ln w="12700">
            <a:solidFill>
              <a:srgbClr val="0EA5E9"/>
            </a:solidFill>
            <a:prstDash val="solid"/>
          </a:ln>
          <a:effectLst>
            <a:outerShdw blurRad="127000" dist="38100" dir="8100000" algn="bl" rotWithShape="0">
              <a:srgbClr val="000000">
                <a:alpha val="22000"/>
              </a:srgbClr>
            </a:outerShdw>
          </a:effectLst>
        </p:spPr>
        <p:txBody>
          <a:bodyPr/>
          <a:lstStyle/>
          <a:p>
            <a:endParaRPr lang="en-SG"/>
          </a:p>
        </p:txBody>
      </p:sp>
      <p:sp>
        <p:nvSpPr>
          <p:cNvPr id="20" name="Shape 18"/>
          <p:cNvSpPr/>
          <p:nvPr/>
        </p:nvSpPr>
        <p:spPr>
          <a:xfrm>
            <a:off x="4590288" y="1170432"/>
            <a:ext cx="182880" cy="1700784"/>
          </a:xfrm>
          <a:prstGeom prst="rect">
            <a:avLst/>
          </a:prstGeom>
          <a:solidFill>
            <a:srgbClr val="0EA5E9"/>
          </a:solidFill>
          <a:ln w="12700">
            <a:solidFill>
              <a:srgbClr val="0EA5E9"/>
            </a:solidFill>
            <a:prstDash val="solid"/>
          </a:ln>
        </p:spPr>
        <p:txBody>
          <a:bodyPr/>
          <a:lstStyle/>
          <a:p>
            <a:endParaRPr lang="en-SG"/>
          </a:p>
        </p:txBody>
      </p:sp>
      <p:sp>
        <p:nvSpPr>
          <p:cNvPr id="21" name="Shape 19"/>
          <p:cNvSpPr/>
          <p:nvPr/>
        </p:nvSpPr>
        <p:spPr>
          <a:xfrm>
            <a:off x="4846320" y="1261872"/>
            <a:ext cx="274320" cy="274320"/>
          </a:xfrm>
          <a:prstGeom prst="line">
            <a:avLst/>
          </a:prstGeom>
          <a:solidFill>
            <a:srgbClr val="0EA5E9">
              <a:alpha val="80000"/>
            </a:srgbClr>
          </a:solidFill>
          <a:ln w="12700">
            <a:solidFill>
              <a:srgbClr val="0EA5E9"/>
            </a:solidFill>
            <a:prstDash val="solid"/>
          </a:ln>
        </p:spPr>
        <p:txBody>
          <a:bodyPr/>
          <a:lstStyle/>
          <a:p>
            <a:endParaRPr lang="en-SG"/>
          </a:p>
        </p:txBody>
      </p:sp>
      <p:sp>
        <p:nvSpPr>
          <p:cNvPr id="22" name="Text 20"/>
          <p:cNvSpPr/>
          <p:nvPr/>
        </p:nvSpPr>
        <p:spPr>
          <a:xfrm>
            <a:off x="4846320" y="1298448"/>
            <a:ext cx="274320" cy="201168"/>
          </a:xfrm>
          <a:prstGeom prst="rect">
            <a:avLst/>
          </a:prstGeom>
          <a:noFill/>
        </p:spPr>
        <p:txBody>
          <a:bodyPr wrap="square" lIns="0" tIns="0" rIns="0" bIns="0" rtlCol="0" anchor="ctr"/>
          <a:lstStyle/>
          <a:p>
            <a:pPr marL="0" indent="0" algn="ctr">
              <a:buNone/>
            </a:pPr>
            <a:r>
              <a:rPr lang="en-US" sz="9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02</a:t>
            </a:r>
            <a:endParaRPr lang="en-US" sz="900" dirty="0"/>
          </a:p>
        </p:txBody>
      </p:sp>
      <p:sp>
        <p:nvSpPr>
          <p:cNvPr id="23" name="Text 21"/>
          <p:cNvSpPr/>
          <p:nvPr/>
        </p:nvSpPr>
        <p:spPr>
          <a:xfrm>
            <a:off x="5175504" y="1243584"/>
            <a:ext cx="3493008" cy="237744"/>
          </a:xfrm>
          <a:prstGeom prst="rect">
            <a:avLst/>
          </a:prstGeom>
          <a:noFill/>
        </p:spPr>
        <p:txBody>
          <a:bodyPr wrap="square" lIns="0" tIns="0" rIns="0" bIns="0" rtlCol="0" anchor="ctr"/>
          <a:lstStyle/>
          <a:p>
            <a:pPr marL="0" indent="0">
              <a:buNone/>
            </a:pPr>
            <a:r>
              <a:rPr lang="en-US" sz="11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Sectors Per Cluster</a:t>
            </a:r>
            <a:endParaRPr lang="en-US" sz="1100" dirty="0"/>
          </a:p>
        </p:txBody>
      </p:sp>
      <p:sp>
        <p:nvSpPr>
          <p:cNvPr id="24" name="Text 22"/>
          <p:cNvSpPr/>
          <p:nvPr/>
        </p:nvSpPr>
        <p:spPr>
          <a:xfrm>
            <a:off x="4846320" y="1554480"/>
            <a:ext cx="3840480" cy="292608"/>
          </a:xfrm>
          <a:prstGeom prst="rect">
            <a:avLst/>
          </a:prstGeom>
          <a:noFill/>
        </p:spPr>
        <p:txBody>
          <a:bodyPr wrap="square" rtlCol="0" anchor="t"/>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What: The number of sectors grouped into one cluster — the smallest unit NTFS can allocate.</a:t>
            </a:r>
            <a:endParaRPr lang="en-US" sz="850" dirty="0"/>
          </a:p>
        </p:txBody>
      </p:sp>
      <p:sp>
        <p:nvSpPr>
          <p:cNvPr id="25" name="Text 23"/>
          <p:cNvSpPr/>
          <p:nvPr/>
        </p:nvSpPr>
        <p:spPr>
          <a:xfrm>
            <a:off x="4846320" y="1865376"/>
            <a:ext cx="3840480" cy="457200"/>
          </a:xfrm>
          <a:prstGeom prst="rect">
            <a:avLst/>
          </a:prstGeom>
          <a:noFill/>
        </p:spPr>
        <p:txBody>
          <a:bodyPr wrap="square" rtlCol="0" anchor="t"/>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Why it matters: Determines cluster size = SectorsPerCluster × BytesPerSector. Used to calculate the disk offset of any cluster: offset = clusterNum × clusterSize.</a:t>
            </a:r>
            <a:endParaRPr lang="en-US" sz="850" dirty="0"/>
          </a:p>
        </p:txBody>
      </p:sp>
      <p:sp>
        <p:nvSpPr>
          <p:cNvPr id="26" name="Text 24"/>
          <p:cNvSpPr/>
          <p:nvPr/>
        </p:nvSpPr>
        <p:spPr>
          <a:xfrm>
            <a:off x="4846320" y="2359152"/>
            <a:ext cx="3840480" cy="438912"/>
          </a:xfrm>
          <a:prstGeom prst="rect">
            <a:avLst/>
          </a:prstGeom>
          <a:noFill/>
        </p:spPr>
        <p:txBody>
          <a:bodyPr wrap="square" rtlCol="0" anchor="t"/>
          <a:lstStyle/>
          <a:p>
            <a:pPr marL="0" indent="0">
              <a:buNone/>
            </a:pPr>
            <a:r>
              <a:rPr lang="en-US" sz="800" i="1" dirty="0">
                <a:solidFill>
                  <a:srgbClr val="0EA5E9"/>
                </a:solidFill>
                <a:latin typeface="Calibri" panose="020F0502020204030204" pitchFamily="34" charset="0"/>
                <a:ea typeface="Calibri" panose="020F0502020204030204" pitchFamily="34" charset="-122"/>
                <a:cs typeface="Calibri" panose="020F0502020204030204" pitchFamily="34" charset="-120"/>
              </a:rPr>
              <a:t>Typical: 8 (= 4 KB clusters) on most consumer drives. 1–128 possible.</a:t>
            </a:r>
            <a:endParaRPr lang="en-US" sz="800" dirty="0"/>
          </a:p>
        </p:txBody>
      </p:sp>
      <p:sp>
        <p:nvSpPr>
          <p:cNvPr id="27" name="Shape 25"/>
          <p:cNvSpPr/>
          <p:nvPr/>
        </p:nvSpPr>
        <p:spPr>
          <a:xfrm>
            <a:off x="256032" y="2999232"/>
            <a:ext cx="4187952" cy="1700784"/>
          </a:xfrm>
          <a:prstGeom prst="rect">
            <a:avLst/>
          </a:prstGeom>
          <a:solidFill>
            <a:srgbClr val="EEF6FB"/>
          </a:solidFill>
          <a:ln w="12700">
            <a:solidFill>
              <a:srgbClr val="EF4444"/>
            </a:solidFill>
            <a:prstDash val="solid"/>
          </a:ln>
          <a:effectLst>
            <a:outerShdw blurRad="127000" dist="38100" dir="8100000" algn="bl" rotWithShape="0">
              <a:srgbClr val="000000">
                <a:alpha val="22000"/>
              </a:srgbClr>
            </a:outerShdw>
          </a:effectLst>
        </p:spPr>
        <p:txBody>
          <a:bodyPr/>
          <a:lstStyle/>
          <a:p>
            <a:endParaRPr lang="en-SG"/>
          </a:p>
        </p:txBody>
      </p:sp>
      <p:sp>
        <p:nvSpPr>
          <p:cNvPr id="28" name="Shape 26"/>
          <p:cNvSpPr/>
          <p:nvPr/>
        </p:nvSpPr>
        <p:spPr>
          <a:xfrm>
            <a:off x="256032" y="2999232"/>
            <a:ext cx="182880" cy="1700784"/>
          </a:xfrm>
          <a:prstGeom prst="rect">
            <a:avLst/>
          </a:prstGeom>
          <a:solidFill>
            <a:srgbClr val="EF4444"/>
          </a:solidFill>
          <a:ln w="12700">
            <a:solidFill>
              <a:srgbClr val="EF4444"/>
            </a:solidFill>
            <a:prstDash val="solid"/>
          </a:ln>
        </p:spPr>
        <p:txBody>
          <a:bodyPr/>
          <a:lstStyle/>
          <a:p>
            <a:endParaRPr lang="en-SG"/>
          </a:p>
        </p:txBody>
      </p:sp>
      <p:sp>
        <p:nvSpPr>
          <p:cNvPr id="29" name="Shape 27"/>
          <p:cNvSpPr/>
          <p:nvPr/>
        </p:nvSpPr>
        <p:spPr>
          <a:xfrm>
            <a:off x="512064" y="3090672"/>
            <a:ext cx="274320" cy="274320"/>
          </a:xfrm>
          <a:prstGeom prst="line">
            <a:avLst/>
          </a:prstGeom>
          <a:solidFill>
            <a:srgbClr val="EF4444">
              <a:alpha val="80000"/>
            </a:srgbClr>
          </a:solidFill>
          <a:ln w="12700">
            <a:solidFill>
              <a:srgbClr val="EF4444"/>
            </a:solidFill>
            <a:prstDash val="solid"/>
          </a:ln>
        </p:spPr>
        <p:txBody>
          <a:bodyPr/>
          <a:lstStyle/>
          <a:p>
            <a:endParaRPr lang="en-SG"/>
          </a:p>
        </p:txBody>
      </p:sp>
      <p:sp>
        <p:nvSpPr>
          <p:cNvPr id="30" name="Text 28"/>
          <p:cNvSpPr/>
          <p:nvPr/>
        </p:nvSpPr>
        <p:spPr>
          <a:xfrm>
            <a:off x="512064" y="3127248"/>
            <a:ext cx="274320" cy="201168"/>
          </a:xfrm>
          <a:prstGeom prst="rect">
            <a:avLst/>
          </a:prstGeom>
          <a:noFill/>
        </p:spPr>
        <p:txBody>
          <a:bodyPr wrap="square" lIns="0" tIns="0" rIns="0" bIns="0" rtlCol="0" anchor="ctr"/>
          <a:lstStyle/>
          <a:p>
            <a:pPr marL="0" indent="0" algn="ctr">
              <a:buNone/>
            </a:pPr>
            <a:r>
              <a:rPr lang="en-US" sz="9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03</a:t>
            </a:r>
            <a:endParaRPr lang="en-US" sz="900" dirty="0"/>
          </a:p>
        </p:txBody>
      </p:sp>
      <p:sp>
        <p:nvSpPr>
          <p:cNvPr id="31" name="Text 29"/>
          <p:cNvSpPr/>
          <p:nvPr/>
        </p:nvSpPr>
        <p:spPr>
          <a:xfrm>
            <a:off x="841248" y="3072384"/>
            <a:ext cx="3493008" cy="237744"/>
          </a:xfrm>
          <a:prstGeom prst="rect">
            <a:avLst/>
          </a:prstGeom>
          <a:noFill/>
        </p:spPr>
        <p:txBody>
          <a:bodyPr wrap="square" lIns="0" tIns="0" rIns="0" bIns="0" rtlCol="0" anchor="ctr"/>
          <a:lstStyle/>
          <a:p>
            <a:pPr marL="0" indent="0">
              <a:buNone/>
            </a:pPr>
            <a:r>
              <a:rPr lang="en-US" sz="11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Total Sectors</a:t>
            </a:r>
            <a:endParaRPr lang="en-US" sz="1100" dirty="0"/>
          </a:p>
        </p:txBody>
      </p:sp>
      <p:sp>
        <p:nvSpPr>
          <p:cNvPr id="32" name="Text 30"/>
          <p:cNvSpPr/>
          <p:nvPr/>
        </p:nvSpPr>
        <p:spPr>
          <a:xfrm>
            <a:off x="512064" y="3383280"/>
            <a:ext cx="3840480" cy="292608"/>
          </a:xfrm>
          <a:prstGeom prst="rect">
            <a:avLst/>
          </a:prstGeom>
          <a:noFill/>
        </p:spPr>
        <p:txBody>
          <a:bodyPr wrap="square" rtlCol="0" anchor="t"/>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What: The total number of sectors in the NTFS volume (64-bit).</a:t>
            </a:r>
            <a:endParaRPr lang="en-US" sz="850" dirty="0"/>
          </a:p>
        </p:txBody>
      </p:sp>
      <p:sp>
        <p:nvSpPr>
          <p:cNvPr id="33" name="Text 31"/>
          <p:cNvSpPr/>
          <p:nvPr/>
        </p:nvSpPr>
        <p:spPr>
          <a:xfrm>
            <a:off x="512064" y="3694176"/>
            <a:ext cx="3840480" cy="457200"/>
          </a:xfrm>
          <a:prstGeom prst="rect">
            <a:avLst/>
          </a:prstGeom>
          <a:noFill/>
        </p:spPr>
        <p:txBody>
          <a:bodyPr wrap="square" rtlCol="0" anchor="t"/>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Why it matters: Tells the OS and forensic tools the exact boundary of the volume. Essential for verifying volume size and detecting partition misalignment.</a:t>
            </a:r>
            <a:endParaRPr lang="en-US" sz="850" dirty="0"/>
          </a:p>
        </p:txBody>
      </p:sp>
      <p:sp>
        <p:nvSpPr>
          <p:cNvPr id="34" name="Text 32"/>
          <p:cNvSpPr/>
          <p:nvPr/>
        </p:nvSpPr>
        <p:spPr>
          <a:xfrm>
            <a:off x="512064" y="4187952"/>
            <a:ext cx="3840480" cy="438912"/>
          </a:xfrm>
          <a:prstGeom prst="rect">
            <a:avLst/>
          </a:prstGeom>
          <a:noFill/>
        </p:spPr>
        <p:txBody>
          <a:bodyPr wrap="square" rtlCol="0" anchor="t"/>
          <a:lstStyle/>
          <a:p>
            <a:pPr marL="0" indent="0">
              <a:buNone/>
            </a:pPr>
            <a:r>
              <a:rPr lang="en-US" sz="800" i="1" dirty="0">
                <a:solidFill>
                  <a:srgbClr val="EF4444"/>
                </a:solidFill>
                <a:latin typeface="Calibri" panose="020F0502020204030204" pitchFamily="34" charset="0"/>
                <a:ea typeface="Calibri" panose="020F0502020204030204" pitchFamily="34" charset="-122"/>
                <a:cs typeface="Calibri" panose="020F0502020204030204" pitchFamily="34" charset="-120"/>
              </a:rPr>
              <a:t>Typical: Varies by volume. Multiply by Bytes/Sector for total bytes.</a:t>
            </a:r>
            <a:endParaRPr lang="en-US" sz="800" dirty="0"/>
          </a:p>
        </p:txBody>
      </p:sp>
      <p:sp>
        <p:nvSpPr>
          <p:cNvPr id="35" name="Shape 33"/>
          <p:cNvSpPr/>
          <p:nvPr/>
        </p:nvSpPr>
        <p:spPr>
          <a:xfrm>
            <a:off x="4590288" y="2999232"/>
            <a:ext cx="4187952" cy="1700784"/>
          </a:xfrm>
          <a:prstGeom prst="rect">
            <a:avLst/>
          </a:prstGeom>
          <a:solidFill>
            <a:srgbClr val="EEF6FB"/>
          </a:solidFill>
          <a:ln w="12700">
            <a:solidFill>
              <a:srgbClr val="6366F1"/>
            </a:solidFill>
            <a:prstDash val="solid"/>
          </a:ln>
          <a:effectLst>
            <a:outerShdw blurRad="127000" dist="38100" dir="8100000" algn="bl" rotWithShape="0">
              <a:srgbClr val="000000">
                <a:alpha val="22000"/>
              </a:srgbClr>
            </a:outerShdw>
          </a:effectLst>
        </p:spPr>
        <p:txBody>
          <a:bodyPr/>
          <a:lstStyle/>
          <a:p>
            <a:endParaRPr lang="en-SG"/>
          </a:p>
        </p:txBody>
      </p:sp>
      <p:sp>
        <p:nvSpPr>
          <p:cNvPr id="36" name="Shape 34"/>
          <p:cNvSpPr/>
          <p:nvPr/>
        </p:nvSpPr>
        <p:spPr>
          <a:xfrm>
            <a:off x="4590288" y="2999232"/>
            <a:ext cx="182880" cy="1700784"/>
          </a:xfrm>
          <a:prstGeom prst="rect">
            <a:avLst/>
          </a:prstGeom>
          <a:solidFill>
            <a:srgbClr val="6366F1"/>
          </a:solidFill>
          <a:ln w="12700">
            <a:solidFill>
              <a:srgbClr val="6366F1"/>
            </a:solidFill>
            <a:prstDash val="solid"/>
          </a:ln>
        </p:spPr>
        <p:txBody>
          <a:bodyPr/>
          <a:lstStyle/>
          <a:p>
            <a:endParaRPr lang="en-SG"/>
          </a:p>
        </p:txBody>
      </p:sp>
      <p:sp>
        <p:nvSpPr>
          <p:cNvPr id="37" name="Shape 35"/>
          <p:cNvSpPr/>
          <p:nvPr/>
        </p:nvSpPr>
        <p:spPr>
          <a:xfrm>
            <a:off x="4846320" y="3090672"/>
            <a:ext cx="274320" cy="274320"/>
          </a:xfrm>
          <a:prstGeom prst="line">
            <a:avLst/>
          </a:prstGeom>
          <a:solidFill>
            <a:srgbClr val="6366F1">
              <a:alpha val="80000"/>
            </a:srgbClr>
          </a:solidFill>
          <a:ln w="12700">
            <a:solidFill>
              <a:srgbClr val="6366F1"/>
            </a:solidFill>
            <a:prstDash val="solid"/>
          </a:ln>
        </p:spPr>
        <p:txBody>
          <a:bodyPr/>
          <a:lstStyle/>
          <a:p>
            <a:endParaRPr lang="en-SG"/>
          </a:p>
        </p:txBody>
      </p:sp>
      <p:sp>
        <p:nvSpPr>
          <p:cNvPr id="38" name="Text 36"/>
          <p:cNvSpPr/>
          <p:nvPr/>
        </p:nvSpPr>
        <p:spPr>
          <a:xfrm>
            <a:off x="4846320" y="3127248"/>
            <a:ext cx="274320" cy="201168"/>
          </a:xfrm>
          <a:prstGeom prst="rect">
            <a:avLst/>
          </a:prstGeom>
          <a:noFill/>
        </p:spPr>
        <p:txBody>
          <a:bodyPr wrap="square" lIns="0" tIns="0" rIns="0" bIns="0" rtlCol="0" anchor="ctr"/>
          <a:lstStyle/>
          <a:p>
            <a:pPr marL="0" indent="0" algn="ctr">
              <a:buNone/>
            </a:pPr>
            <a:r>
              <a:rPr lang="en-US" sz="9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04</a:t>
            </a:r>
            <a:endParaRPr lang="en-US" sz="900" dirty="0"/>
          </a:p>
        </p:txBody>
      </p:sp>
      <p:sp>
        <p:nvSpPr>
          <p:cNvPr id="39" name="Text 37"/>
          <p:cNvSpPr/>
          <p:nvPr/>
        </p:nvSpPr>
        <p:spPr>
          <a:xfrm>
            <a:off x="5175504" y="3072384"/>
            <a:ext cx="3493008" cy="237744"/>
          </a:xfrm>
          <a:prstGeom prst="rect">
            <a:avLst/>
          </a:prstGeom>
          <a:noFill/>
        </p:spPr>
        <p:txBody>
          <a:bodyPr wrap="square" lIns="0" tIns="0" rIns="0" bIns="0" rtlCol="0" anchor="ctr"/>
          <a:lstStyle/>
          <a:p>
            <a:pPr marL="0" indent="0">
              <a:buNone/>
            </a:pPr>
            <a:r>
              <a:rPr lang="en-US" sz="11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LCN of $MFT</a:t>
            </a:r>
            <a:endParaRPr lang="en-US" sz="1100" dirty="0"/>
          </a:p>
        </p:txBody>
      </p:sp>
      <p:sp>
        <p:nvSpPr>
          <p:cNvPr id="40" name="Text 38"/>
          <p:cNvSpPr/>
          <p:nvPr/>
        </p:nvSpPr>
        <p:spPr>
          <a:xfrm>
            <a:off x="4846320" y="3383280"/>
            <a:ext cx="3840480" cy="292608"/>
          </a:xfrm>
          <a:prstGeom prst="rect">
            <a:avLst/>
          </a:prstGeom>
          <a:noFill/>
        </p:spPr>
        <p:txBody>
          <a:bodyPr wrap="square" rtlCol="0" anchor="t"/>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What: The Logical Cluster Number (LCN) where the Master File Table begins.</a:t>
            </a:r>
            <a:endParaRPr lang="en-US" sz="850" dirty="0"/>
          </a:p>
        </p:txBody>
      </p:sp>
      <p:sp>
        <p:nvSpPr>
          <p:cNvPr id="41" name="Text 39"/>
          <p:cNvSpPr/>
          <p:nvPr/>
        </p:nvSpPr>
        <p:spPr>
          <a:xfrm>
            <a:off x="4846320" y="3694176"/>
            <a:ext cx="3840480" cy="457200"/>
          </a:xfrm>
          <a:prstGeom prst="rect">
            <a:avLst/>
          </a:prstGeom>
          <a:noFill/>
        </p:spPr>
        <p:txBody>
          <a:bodyPr wrap="square" rtlCol="0" anchor="t"/>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Why it matters: Without this value, there is no way to locate the MFT. All file metadata — names, timestamps, sizes — is stored in the MFT. This is the single most important value for NTFS forensics.</a:t>
            </a:r>
            <a:endParaRPr lang="en-US" sz="850" dirty="0"/>
          </a:p>
        </p:txBody>
      </p:sp>
      <p:sp>
        <p:nvSpPr>
          <p:cNvPr id="42" name="Text 40"/>
          <p:cNvSpPr/>
          <p:nvPr/>
        </p:nvSpPr>
        <p:spPr>
          <a:xfrm>
            <a:off x="4846320" y="4187952"/>
            <a:ext cx="3840480" cy="438912"/>
          </a:xfrm>
          <a:prstGeom prst="rect">
            <a:avLst/>
          </a:prstGeom>
          <a:noFill/>
        </p:spPr>
        <p:txBody>
          <a:bodyPr wrap="square" rtlCol="0" anchor="t"/>
          <a:lstStyle/>
          <a:p>
            <a:pPr marL="0" indent="0">
              <a:buNone/>
            </a:pPr>
            <a:r>
              <a:rPr lang="en-US" sz="800" i="1" dirty="0">
                <a:solidFill>
                  <a:srgbClr val="6366F1"/>
                </a:solidFill>
                <a:latin typeface="Calibri" panose="020F0502020204030204" pitchFamily="34" charset="0"/>
                <a:ea typeface="Calibri" panose="020F0502020204030204" pitchFamily="34" charset="-122"/>
                <a:cs typeface="Calibri" panose="020F0502020204030204" pitchFamily="34" charset="-120"/>
              </a:rPr>
              <a:t>Typical: Often cluster 4 (small volumes) or higher (larger drives).</a:t>
            </a:r>
            <a:endParaRPr lang="en-US" sz="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EA5E9"/>
          </a:solidFill>
          <a:ln w="12700">
            <a:solidFill>
              <a:srgbClr val="0EA5E9"/>
            </a:solidFill>
            <a:prstDash val="solid"/>
          </a:ln>
        </p:spPr>
        <p:txBody>
          <a:bodyPr/>
          <a:lstStyle/>
          <a:p>
            <a:endParaRPr lang="en-SG"/>
          </a:p>
        </p:txBody>
      </p:sp>
      <p:sp>
        <p:nvSpPr>
          <p:cNvPr id="3" name="Text 1"/>
          <p:cNvSpPr/>
          <p:nvPr/>
        </p:nvSpPr>
        <p:spPr>
          <a:xfrm>
            <a:off x="256032" y="201344"/>
            <a:ext cx="8631936" cy="548640"/>
          </a:xfrm>
          <a:prstGeom prst="rect">
            <a:avLst/>
          </a:prstGeom>
          <a:noFill/>
        </p:spPr>
        <p:txBody>
          <a:bodyPr wrap="square" lIns="0" tIns="0" rIns="0" bIns="0" rtlCol="0" anchor="ctr"/>
          <a:lstStyle/>
          <a:p>
            <a:pPr marL="0" indent="0">
              <a:buNone/>
            </a:pPr>
            <a:r>
              <a:rPr lang="en-US" sz="1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NTFS VBR Fields — What Each Field Means</a:t>
            </a:r>
            <a:endParaRPr lang="en-US" sz="1800" dirty="0"/>
          </a:p>
        </p:txBody>
      </p:sp>
      <p:sp>
        <p:nvSpPr>
          <p:cNvPr id="4" name="Shape 2"/>
          <p:cNvSpPr/>
          <p:nvPr/>
        </p:nvSpPr>
        <p:spPr>
          <a:xfrm>
            <a:off x="256032" y="73152"/>
            <a:ext cx="1463040" cy="219456"/>
          </a:xfrm>
          <a:prstGeom prst="rect">
            <a:avLst/>
          </a:prstGeom>
          <a:solidFill>
            <a:srgbClr val="0EA5E9"/>
          </a:solidFill>
          <a:ln w="12700">
            <a:solidFill>
              <a:srgbClr val="0EA5E9"/>
            </a:solidFill>
            <a:prstDash val="solid"/>
          </a:ln>
        </p:spPr>
        <p:txBody>
          <a:bodyPr/>
          <a:lstStyle/>
          <a:p>
            <a:endParaRPr lang="en-SG"/>
          </a:p>
        </p:txBody>
      </p:sp>
      <p:sp>
        <p:nvSpPr>
          <p:cNvPr id="5" name="Text 3"/>
          <p:cNvSpPr/>
          <p:nvPr/>
        </p:nvSpPr>
        <p:spPr>
          <a:xfrm>
            <a:off x="256032" y="73152"/>
            <a:ext cx="1463040" cy="219456"/>
          </a:xfrm>
          <a:prstGeom prst="rect">
            <a:avLst/>
          </a:prstGeom>
          <a:noFill/>
        </p:spPr>
        <p:txBody>
          <a:bodyPr wrap="square" lIns="0" tIns="0" rIns="0" bIns="0" rtlCol="0" anchor="ctr"/>
          <a:lstStyle/>
          <a:p>
            <a:pPr marL="0" indent="0" algn="ctr">
              <a:buNone/>
            </a:pPr>
            <a:r>
              <a:rPr lang="en-US" sz="800" b="1" kern="0" spc="100"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SECTION 03 — NTFS</a:t>
            </a:r>
            <a:endParaRPr lang="en-US" sz="800" dirty="0"/>
          </a:p>
        </p:txBody>
      </p:sp>
      <p:sp>
        <p:nvSpPr>
          <p:cNvPr id="10" name="Text 8"/>
          <p:cNvSpPr/>
          <p:nvPr/>
        </p:nvSpPr>
        <p:spPr>
          <a:xfrm>
            <a:off x="256032" y="822960"/>
            <a:ext cx="8631936" cy="274320"/>
          </a:xfrm>
          <a:prstGeom prst="rect">
            <a:avLst/>
          </a:prstGeom>
          <a:noFill/>
        </p:spPr>
        <p:txBody>
          <a:bodyPr wrap="square" rtlCol="0" anchor="ctr"/>
          <a:lstStyle/>
          <a:p>
            <a:pPr marL="0" indent="0">
              <a:buNone/>
            </a:pPr>
            <a:r>
              <a:rPr lang="en-US" sz="950" i="1" dirty="0">
                <a:solidFill>
                  <a:srgbClr val="475569"/>
                </a:solidFill>
                <a:latin typeface="Calibri" panose="020F0502020204030204" pitchFamily="34" charset="0"/>
                <a:ea typeface="Calibri" panose="020F0502020204030204" pitchFamily="34" charset="-122"/>
                <a:cs typeface="Calibri" panose="020F0502020204030204" pitchFamily="34" charset="-120"/>
              </a:rPr>
              <a:t>Understanding what each VBR field means — and why it matters — helps forensic examiners locate and parse NTFS structures from any disk image, regardless of volume size.</a:t>
            </a:r>
            <a:endParaRPr lang="en-US" sz="950" dirty="0"/>
          </a:p>
        </p:txBody>
      </p:sp>
      <p:sp>
        <p:nvSpPr>
          <p:cNvPr id="11" name="Shape 9"/>
          <p:cNvSpPr/>
          <p:nvPr/>
        </p:nvSpPr>
        <p:spPr>
          <a:xfrm>
            <a:off x="256032" y="1170432"/>
            <a:ext cx="4187952" cy="1700784"/>
          </a:xfrm>
          <a:prstGeom prst="rect">
            <a:avLst/>
          </a:prstGeom>
          <a:solidFill>
            <a:srgbClr val="EEF6FB"/>
          </a:solidFill>
          <a:ln w="12700">
            <a:solidFill>
              <a:srgbClr val="F59E0B"/>
            </a:solidFill>
            <a:prstDash val="solid"/>
          </a:ln>
          <a:effectLst>
            <a:outerShdw blurRad="127000" dist="38100" dir="8100000" algn="bl" rotWithShape="0">
              <a:srgbClr val="000000">
                <a:alpha val="22000"/>
              </a:srgbClr>
            </a:outerShdw>
          </a:effectLst>
        </p:spPr>
        <p:txBody>
          <a:bodyPr/>
          <a:lstStyle/>
          <a:p>
            <a:endParaRPr lang="en-SG"/>
          </a:p>
        </p:txBody>
      </p:sp>
      <p:sp>
        <p:nvSpPr>
          <p:cNvPr id="12" name="Shape 10"/>
          <p:cNvSpPr/>
          <p:nvPr/>
        </p:nvSpPr>
        <p:spPr>
          <a:xfrm>
            <a:off x="256032" y="1170432"/>
            <a:ext cx="182880" cy="1700784"/>
          </a:xfrm>
          <a:prstGeom prst="rect">
            <a:avLst/>
          </a:prstGeom>
          <a:solidFill>
            <a:srgbClr val="F59E0B"/>
          </a:solidFill>
          <a:ln w="12700">
            <a:solidFill>
              <a:srgbClr val="F59E0B"/>
            </a:solidFill>
            <a:prstDash val="solid"/>
          </a:ln>
        </p:spPr>
        <p:txBody>
          <a:bodyPr/>
          <a:lstStyle/>
          <a:p>
            <a:endParaRPr lang="en-SG"/>
          </a:p>
        </p:txBody>
      </p:sp>
      <p:sp>
        <p:nvSpPr>
          <p:cNvPr id="13" name="Shape 11"/>
          <p:cNvSpPr/>
          <p:nvPr/>
        </p:nvSpPr>
        <p:spPr>
          <a:xfrm>
            <a:off x="512064" y="1261872"/>
            <a:ext cx="274320" cy="274320"/>
          </a:xfrm>
          <a:prstGeom prst="line">
            <a:avLst/>
          </a:prstGeom>
          <a:solidFill>
            <a:srgbClr val="F59E0B">
              <a:alpha val="80000"/>
            </a:srgbClr>
          </a:solidFill>
          <a:ln w="12700">
            <a:solidFill>
              <a:srgbClr val="F59E0B"/>
            </a:solidFill>
            <a:prstDash val="solid"/>
          </a:ln>
        </p:spPr>
        <p:txBody>
          <a:bodyPr/>
          <a:lstStyle/>
          <a:p>
            <a:endParaRPr lang="en-SG"/>
          </a:p>
        </p:txBody>
      </p:sp>
      <p:sp>
        <p:nvSpPr>
          <p:cNvPr id="14" name="Text 12"/>
          <p:cNvSpPr/>
          <p:nvPr/>
        </p:nvSpPr>
        <p:spPr>
          <a:xfrm>
            <a:off x="512064" y="1298448"/>
            <a:ext cx="274320" cy="201168"/>
          </a:xfrm>
          <a:prstGeom prst="rect">
            <a:avLst/>
          </a:prstGeom>
          <a:noFill/>
        </p:spPr>
        <p:txBody>
          <a:bodyPr wrap="square" lIns="0" tIns="0" rIns="0" bIns="0" rtlCol="0" anchor="ctr"/>
          <a:lstStyle/>
          <a:p>
            <a:pPr marL="0" indent="0" algn="ctr">
              <a:buNone/>
            </a:pPr>
            <a:r>
              <a:rPr lang="en-US" sz="900" b="1">
                <a:solidFill>
                  <a:srgbClr val="000000"/>
                </a:solidFill>
                <a:latin typeface="Trebuchet MS" panose="020B0603020202020204"/>
              </a:rPr>
              <a:t>05</a:t>
            </a:r>
            <a:endParaRPr lang="en-US" sz="900" dirty="0"/>
          </a:p>
        </p:txBody>
      </p:sp>
      <p:sp>
        <p:nvSpPr>
          <p:cNvPr id="19" name="Shape 17"/>
          <p:cNvSpPr/>
          <p:nvPr/>
        </p:nvSpPr>
        <p:spPr>
          <a:xfrm>
            <a:off x="4590288" y="1170432"/>
            <a:ext cx="4187952" cy="1700784"/>
          </a:xfrm>
          <a:prstGeom prst="rect">
            <a:avLst/>
          </a:prstGeom>
          <a:solidFill>
            <a:srgbClr val="EEF6FB"/>
          </a:solidFill>
          <a:ln w="12700">
            <a:solidFill>
              <a:srgbClr val="0EA5E9"/>
            </a:solidFill>
            <a:prstDash val="solid"/>
          </a:ln>
          <a:effectLst>
            <a:outerShdw blurRad="127000" dist="38100" dir="8100000" algn="bl" rotWithShape="0">
              <a:srgbClr val="000000">
                <a:alpha val="22000"/>
              </a:srgbClr>
            </a:outerShdw>
          </a:effectLst>
        </p:spPr>
        <p:txBody>
          <a:bodyPr/>
          <a:lstStyle/>
          <a:p>
            <a:endParaRPr lang="en-SG"/>
          </a:p>
        </p:txBody>
      </p:sp>
      <p:sp>
        <p:nvSpPr>
          <p:cNvPr id="20" name="Shape 18"/>
          <p:cNvSpPr/>
          <p:nvPr/>
        </p:nvSpPr>
        <p:spPr>
          <a:xfrm>
            <a:off x="4590288" y="1170432"/>
            <a:ext cx="182880" cy="1700784"/>
          </a:xfrm>
          <a:prstGeom prst="rect">
            <a:avLst/>
          </a:prstGeom>
          <a:solidFill>
            <a:srgbClr val="0EA5E9"/>
          </a:solidFill>
          <a:ln w="12700">
            <a:solidFill>
              <a:srgbClr val="0EA5E9"/>
            </a:solidFill>
            <a:prstDash val="solid"/>
          </a:ln>
        </p:spPr>
        <p:txBody>
          <a:bodyPr/>
          <a:lstStyle/>
          <a:p>
            <a:endParaRPr lang="en-SG"/>
          </a:p>
        </p:txBody>
      </p:sp>
      <p:sp>
        <p:nvSpPr>
          <p:cNvPr id="21" name="Shape 19"/>
          <p:cNvSpPr/>
          <p:nvPr/>
        </p:nvSpPr>
        <p:spPr>
          <a:xfrm>
            <a:off x="4846320" y="1261872"/>
            <a:ext cx="274320" cy="274320"/>
          </a:xfrm>
          <a:prstGeom prst="line">
            <a:avLst/>
          </a:prstGeom>
          <a:solidFill>
            <a:srgbClr val="0EA5E9">
              <a:alpha val="80000"/>
            </a:srgbClr>
          </a:solidFill>
          <a:ln w="12700">
            <a:solidFill>
              <a:srgbClr val="0EA5E9"/>
            </a:solidFill>
            <a:prstDash val="solid"/>
          </a:ln>
        </p:spPr>
        <p:txBody>
          <a:bodyPr/>
          <a:lstStyle/>
          <a:p>
            <a:endParaRPr lang="en-SG"/>
          </a:p>
        </p:txBody>
      </p:sp>
      <p:sp>
        <p:nvSpPr>
          <p:cNvPr id="22" name="Text 20"/>
          <p:cNvSpPr/>
          <p:nvPr/>
        </p:nvSpPr>
        <p:spPr>
          <a:xfrm>
            <a:off x="4846320" y="1298448"/>
            <a:ext cx="274320" cy="201168"/>
          </a:xfrm>
          <a:prstGeom prst="rect">
            <a:avLst/>
          </a:prstGeom>
          <a:noFill/>
        </p:spPr>
        <p:txBody>
          <a:bodyPr wrap="square" lIns="0" tIns="0" rIns="0" bIns="0" rtlCol="0" anchor="ctr"/>
          <a:lstStyle/>
          <a:p>
            <a:pPr marL="0" indent="0" algn="ctr">
              <a:buNone/>
            </a:pPr>
            <a:r>
              <a:rPr lang="en-US" sz="900" b="1">
                <a:solidFill>
                  <a:srgbClr val="000000"/>
                </a:solidFill>
                <a:latin typeface="Trebuchet MS" panose="020B0603020202020204"/>
              </a:rPr>
              <a:t>06</a:t>
            </a:r>
            <a:endParaRPr lang="en-US" sz="900" dirty="0"/>
          </a:p>
        </p:txBody>
      </p:sp>
      <p:sp>
        <p:nvSpPr>
          <p:cNvPr id="47" name="Text 45"/>
          <p:cNvSpPr/>
          <p:nvPr/>
        </p:nvSpPr>
        <p:spPr>
          <a:xfrm>
            <a:off x="870556" y="1281684"/>
            <a:ext cx="3493008" cy="237744"/>
          </a:xfrm>
          <a:prstGeom prst="rect">
            <a:avLst/>
          </a:prstGeom>
          <a:noFill/>
        </p:spPr>
        <p:txBody>
          <a:bodyPr wrap="square" lIns="0" tIns="0" rIns="0" bIns="0" rtlCol="0" anchor="ctr"/>
          <a:lstStyle/>
          <a:p>
            <a:pPr marL="0" indent="0">
              <a:buNone/>
            </a:pPr>
            <a:r>
              <a:rPr lang="en-US" sz="11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LCN of $MFTMirr</a:t>
            </a:r>
            <a:endParaRPr lang="en-US" sz="1100" dirty="0"/>
          </a:p>
        </p:txBody>
      </p:sp>
      <p:sp>
        <p:nvSpPr>
          <p:cNvPr id="48" name="Text 46"/>
          <p:cNvSpPr/>
          <p:nvPr/>
        </p:nvSpPr>
        <p:spPr>
          <a:xfrm>
            <a:off x="541372" y="1592580"/>
            <a:ext cx="3840480" cy="292608"/>
          </a:xfrm>
          <a:prstGeom prst="rect">
            <a:avLst/>
          </a:prstGeom>
          <a:noFill/>
        </p:spPr>
        <p:txBody>
          <a:bodyPr wrap="square" rtlCol="0" anchor="t"/>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What: The Logical Cluster Number of the MFT Mirror — a backup of the first 4 MFT records.</a:t>
            </a:r>
            <a:endParaRPr lang="en-US" sz="850" dirty="0"/>
          </a:p>
        </p:txBody>
      </p:sp>
      <p:sp>
        <p:nvSpPr>
          <p:cNvPr id="49" name="Text 47"/>
          <p:cNvSpPr/>
          <p:nvPr/>
        </p:nvSpPr>
        <p:spPr>
          <a:xfrm>
            <a:off x="541372" y="1903476"/>
            <a:ext cx="3840480" cy="457200"/>
          </a:xfrm>
          <a:prstGeom prst="rect">
            <a:avLst/>
          </a:prstGeom>
          <a:noFill/>
        </p:spPr>
        <p:txBody>
          <a:bodyPr wrap="square" rtlCol="0" anchor="t"/>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Why it matters: If $MFT is damaged, the mirror allows partial recovery. Located approximately at the volume midpoint to maximise redundancy against contiguous damage.</a:t>
            </a:r>
            <a:endParaRPr lang="en-US" sz="850" dirty="0"/>
          </a:p>
        </p:txBody>
      </p:sp>
      <p:sp>
        <p:nvSpPr>
          <p:cNvPr id="50" name="Text 48"/>
          <p:cNvSpPr/>
          <p:nvPr/>
        </p:nvSpPr>
        <p:spPr>
          <a:xfrm>
            <a:off x="607314" y="2485175"/>
            <a:ext cx="3840480" cy="438912"/>
          </a:xfrm>
          <a:prstGeom prst="rect">
            <a:avLst/>
          </a:prstGeom>
          <a:noFill/>
        </p:spPr>
        <p:txBody>
          <a:bodyPr wrap="square" rtlCol="0" anchor="t"/>
          <a:lstStyle/>
          <a:p>
            <a:pPr marL="0" indent="0">
              <a:buNone/>
            </a:pPr>
            <a:r>
              <a:rPr lang="en-US" sz="800" i="1" dirty="0">
                <a:solidFill>
                  <a:srgbClr val="A855F7"/>
                </a:solidFill>
                <a:latin typeface="Calibri" panose="020F0502020204030204" pitchFamily="34" charset="0"/>
                <a:ea typeface="Calibri" panose="020F0502020204030204" pitchFamily="34" charset="-122"/>
                <a:cs typeface="Calibri" panose="020F0502020204030204" pitchFamily="34" charset="-120"/>
              </a:rPr>
              <a:t>Typical: Approximately Volume_Clusters ÷ 2.</a:t>
            </a:r>
            <a:endParaRPr lang="en-US" sz="800" dirty="0"/>
          </a:p>
        </p:txBody>
      </p:sp>
      <p:sp>
        <p:nvSpPr>
          <p:cNvPr id="55" name="Text 53"/>
          <p:cNvSpPr/>
          <p:nvPr/>
        </p:nvSpPr>
        <p:spPr>
          <a:xfrm>
            <a:off x="5175504" y="1289011"/>
            <a:ext cx="3493008" cy="237744"/>
          </a:xfrm>
          <a:prstGeom prst="rect">
            <a:avLst/>
          </a:prstGeom>
          <a:noFill/>
        </p:spPr>
        <p:txBody>
          <a:bodyPr wrap="square" lIns="0" tIns="0" rIns="0" bIns="0" rtlCol="0" anchor="ctr"/>
          <a:lstStyle/>
          <a:p>
            <a:pPr marL="0" indent="0">
              <a:buNone/>
            </a:pPr>
            <a:r>
              <a:rPr lang="en-US" sz="11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Clusters Per MFT Record</a:t>
            </a:r>
            <a:endParaRPr lang="en-US" sz="1100" dirty="0"/>
          </a:p>
        </p:txBody>
      </p:sp>
      <p:sp>
        <p:nvSpPr>
          <p:cNvPr id="56" name="Text 54"/>
          <p:cNvSpPr/>
          <p:nvPr/>
        </p:nvSpPr>
        <p:spPr>
          <a:xfrm>
            <a:off x="4846320" y="1599907"/>
            <a:ext cx="3840480" cy="292608"/>
          </a:xfrm>
          <a:prstGeom prst="rect">
            <a:avLst/>
          </a:prstGeom>
          <a:noFill/>
        </p:spPr>
        <p:txBody>
          <a:bodyPr wrap="square" rtlCol="0" anchor="t"/>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What: Defines the size of one MFT record in clusters (or a power of 2 if negative).</a:t>
            </a:r>
            <a:endParaRPr lang="en-US" sz="850" dirty="0"/>
          </a:p>
        </p:txBody>
      </p:sp>
      <p:sp>
        <p:nvSpPr>
          <p:cNvPr id="57" name="Text 55"/>
          <p:cNvSpPr/>
          <p:nvPr/>
        </p:nvSpPr>
        <p:spPr>
          <a:xfrm>
            <a:off x="4846320" y="1910803"/>
            <a:ext cx="3840480" cy="457200"/>
          </a:xfrm>
          <a:prstGeom prst="rect">
            <a:avLst/>
          </a:prstGeom>
          <a:noFill/>
        </p:spPr>
        <p:txBody>
          <a:bodyPr wrap="square" rtlCol="0" anchor="t"/>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Why it matters: Without knowing the record size, forensic tools cannot determine where one record ends and the next begins. Standard size = 1,024 bytes (encoded as 0xF6 = –10 → 2^10 = 1024).</a:t>
            </a:r>
            <a:endParaRPr lang="en-US" sz="850" dirty="0"/>
          </a:p>
        </p:txBody>
      </p:sp>
      <p:sp>
        <p:nvSpPr>
          <p:cNvPr id="58" name="Text 56"/>
          <p:cNvSpPr/>
          <p:nvPr/>
        </p:nvSpPr>
        <p:spPr>
          <a:xfrm>
            <a:off x="4846320" y="2485175"/>
            <a:ext cx="3840480" cy="438912"/>
          </a:xfrm>
          <a:prstGeom prst="rect">
            <a:avLst/>
          </a:prstGeom>
          <a:noFill/>
        </p:spPr>
        <p:txBody>
          <a:bodyPr wrap="square" rtlCol="0" anchor="t"/>
          <a:lstStyle/>
          <a:p>
            <a:pPr marL="0" indent="0">
              <a:buNone/>
            </a:pPr>
            <a:r>
              <a:rPr lang="en-US" sz="800" i="1" dirty="0">
                <a:solidFill>
                  <a:srgbClr val="10B981"/>
                </a:solidFill>
                <a:latin typeface="Calibri" panose="020F0502020204030204" pitchFamily="34" charset="0"/>
                <a:ea typeface="Calibri" panose="020F0502020204030204" pitchFamily="34" charset="-122"/>
                <a:cs typeface="Calibri" panose="020F0502020204030204" pitchFamily="34" charset="-120"/>
              </a:rPr>
              <a:t>Typical: 0xF6 (–10) → 1,024 bytes per record. Standard for all NTFS volumes.</a:t>
            </a:r>
            <a:endParaRPr lang="en-US" sz="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EA5E9"/>
          </a:solidFill>
          <a:ln w="12700">
            <a:solidFill>
              <a:srgbClr val="0EA5E9"/>
            </a:solidFill>
            <a:prstDash val="solid"/>
          </a:ln>
        </p:spPr>
        <p:txBody>
          <a:bodyPr/>
          <a:lstStyle/>
          <a:p>
            <a:endParaRPr lang="en-SG"/>
          </a:p>
        </p:txBody>
      </p:sp>
      <p:sp>
        <p:nvSpPr>
          <p:cNvPr id="3" name="Text 1"/>
          <p:cNvSpPr/>
          <p:nvPr/>
        </p:nvSpPr>
        <p:spPr>
          <a:xfrm>
            <a:off x="256032" y="186690"/>
            <a:ext cx="8631936" cy="548640"/>
          </a:xfrm>
          <a:prstGeom prst="rect">
            <a:avLst/>
          </a:prstGeom>
          <a:noFill/>
        </p:spPr>
        <p:txBody>
          <a:bodyPr wrap="square" lIns="0" tIns="0" rIns="0" bIns="0" rtlCol="0" anchor="ctr"/>
          <a:lstStyle/>
          <a:p>
            <a:pPr marL="0" indent="0">
              <a:buNone/>
            </a:pPr>
            <a:r>
              <a:rPr lang="en-US" sz="16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NTFS VBR — Reading the BPB in Hex (Annotated)</a:t>
            </a:r>
            <a:endParaRPr lang="en-US" sz="1600" dirty="0"/>
          </a:p>
        </p:txBody>
      </p:sp>
      <p:sp>
        <p:nvSpPr>
          <p:cNvPr id="4" name="Shape 2"/>
          <p:cNvSpPr/>
          <p:nvPr/>
        </p:nvSpPr>
        <p:spPr>
          <a:xfrm>
            <a:off x="256032" y="73152"/>
            <a:ext cx="1463040" cy="219456"/>
          </a:xfrm>
          <a:prstGeom prst="rect">
            <a:avLst/>
          </a:prstGeom>
          <a:solidFill>
            <a:srgbClr val="0EA5E9"/>
          </a:solidFill>
          <a:ln w="12700">
            <a:solidFill>
              <a:srgbClr val="0EA5E9"/>
            </a:solidFill>
            <a:prstDash val="solid"/>
          </a:ln>
        </p:spPr>
        <p:txBody>
          <a:bodyPr/>
          <a:lstStyle/>
          <a:p>
            <a:endParaRPr lang="en-SG"/>
          </a:p>
        </p:txBody>
      </p:sp>
      <p:sp>
        <p:nvSpPr>
          <p:cNvPr id="5" name="Text 3"/>
          <p:cNvSpPr/>
          <p:nvPr/>
        </p:nvSpPr>
        <p:spPr>
          <a:xfrm>
            <a:off x="256032" y="73152"/>
            <a:ext cx="1463040" cy="219456"/>
          </a:xfrm>
          <a:prstGeom prst="rect">
            <a:avLst/>
          </a:prstGeom>
          <a:noFill/>
        </p:spPr>
        <p:txBody>
          <a:bodyPr wrap="square" lIns="0" tIns="0" rIns="0" bIns="0" rtlCol="0" anchor="ctr"/>
          <a:lstStyle/>
          <a:p>
            <a:pPr marL="0" indent="0" algn="ctr">
              <a:buNone/>
            </a:pPr>
            <a:r>
              <a:rPr lang="en-US" sz="800" b="1" kern="0" spc="100"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SECTION 03 — NTFS</a:t>
            </a:r>
            <a:endParaRPr lang="en-US" sz="800" dirty="0"/>
          </a:p>
        </p:txBody>
      </p:sp>
      <p:sp>
        <p:nvSpPr>
          <p:cNvPr id="10" name="Text 8"/>
          <p:cNvSpPr/>
          <p:nvPr/>
        </p:nvSpPr>
        <p:spPr>
          <a:xfrm>
            <a:off x="256032" y="822960"/>
            <a:ext cx="8631936" cy="292608"/>
          </a:xfrm>
          <a:prstGeom prst="rect">
            <a:avLst/>
          </a:prstGeom>
          <a:noFill/>
        </p:spPr>
        <p:txBody>
          <a:bodyPr wrap="square" rtlCol="0" anchor="ctr"/>
          <a:lstStyle/>
          <a:p>
            <a:pPr marL="0" indent="0">
              <a:buNone/>
            </a:pPr>
            <a:r>
              <a:rPr lang="en-US" sz="950" i="1" dirty="0">
                <a:solidFill>
                  <a:srgbClr val="475569"/>
                </a:solidFill>
                <a:latin typeface="Calibri" panose="020F0502020204030204" pitchFamily="34" charset="0"/>
                <a:ea typeface="Calibri" panose="020F0502020204030204" pitchFamily="34" charset="-122"/>
                <a:cs typeface="Calibri" panose="020F0502020204030204" pitchFamily="34" charset="-120"/>
              </a:rPr>
              <a:t>The Volume Boot Record (VBR) at sector 0 contains the BIOS Parameter Block (BPB). Forensic examiners parse these fields to determine volume geometry before analysing file system structures.</a:t>
            </a:r>
            <a:endParaRPr lang="en-US" sz="950" dirty="0"/>
          </a:p>
        </p:txBody>
      </p:sp>
      <p:sp>
        <p:nvSpPr>
          <p:cNvPr id="11" name="Shape 9"/>
          <p:cNvSpPr/>
          <p:nvPr/>
        </p:nvSpPr>
        <p:spPr>
          <a:xfrm>
            <a:off x="256032" y="1152144"/>
            <a:ext cx="8631936" cy="1572768"/>
          </a:xfrm>
          <a:prstGeom prst="rect">
            <a:avLst/>
          </a:prstGeom>
          <a:solidFill>
            <a:srgbClr val="FFFFFF"/>
          </a:solidFill>
          <a:ln w="12700">
            <a:solidFill>
              <a:srgbClr val="2E4068"/>
            </a:solidFill>
            <a:prstDash val="solid"/>
          </a:ln>
          <a:effectLst>
            <a:outerShdw blurRad="127000" dist="38100" dir="8100000" algn="bl" rotWithShape="0">
              <a:srgbClr val="000000">
                <a:alpha val="22000"/>
              </a:srgbClr>
            </a:outerShdw>
          </a:effectLst>
        </p:spPr>
        <p:txBody>
          <a:bodyPr/>
          <a:lstStyle/>
          <a:p>
            <a:endParaRPr lang="en-SG"/>
          </a:p>
        </p:txBody>
      </p:sp>
      <p:sp>
        <p:nvSpPr>
          <p:cNvPr id="12" name="Text 10"/>
          <p:cNvSpPr/>
          <p:nvPr/>
        </p:nvSpPr>
        <p:spPr>
          <a:xfrm>
            <a:off x="347472" y="1188720"/>
            <a:ext cx="731520" cy="182880"/>
          </a:xfrm>
          <a:prstGeom prst="rect">
            <a:avLst/>
          </a:prstGeom>
          <a:noFill/>
        </p:spPr>
        <p:txBody>
          <a:bodyPr wrap="square" lIns="0" tIns="0" rIns="0" bIns="0" rtlCol="0" anchor="ctr"/>
          <a:lstStyle/>
          <a:p>
            <a:pPr marL="0" indent="0">
              <a:buNone/>
            </a:pPr>
            <a:r>
              <a:rPr lang="en-US" sz="800" b="1" dirty="0">
                <a:solidFill>
                  <a:srgbClr val="94A3B8"/>
                </a:solidFill>
                <a:latin typeface="Consolas" panose="020B0609020204030204" pitchFamily="34" charset="0"/>
                <a:ea typeface="Consolas" panose="020B0609020204030204" pitchFamily="34" charset="-122"/>
                <a:cs typeface="Consolas" panose="020B0609020204030204" pitchFamily="34" charset="-120"/>
              </a:rPr>
              <a:t>Offset  </a:t>
            </a:r>
            <a:endParaRPr lang="en-US" sz="800" dirty="0"/>
          </a:p>
        </p:txBody>
      </p:sp>
      <p:sp>
        <p:nvSpPr>
          <p:cNvPr id="13" name="Text 11"/>
          <p:cNvSpPr/>
          <p:nvPr/>
        </p:nvSpPr>
        <p:spPr>
          <a:xfrm>
            <a:off x="1115568" y="1188720"/>
            <a:ext cx="5961888" cy="182880"/>
          </a:xfrm>
          <a:prstGeom prst="rect">
            <a:avLst/>
          </a:prstGeom>
          <a:noFill/>
        </p:spPr>
        <p:txBody>
          <a:bodyPr wrap="square" lIns="0" tIns="0" rIns="0" bIns="0" rtlCol="0" anchor="ctr"/>
          <a:lstStyle/>
          <a:p>
            <a:pPr marL="0" indent="0">
              <a:buNone/>
            </a:pPr>
            <a:r>
              <a:rPr lang="en-US" sz="750" b="1" dirty="0">
                <a:solidFill>
                  <a:srgbClr val="0EA5E9"/>
                </a:solidFill>
                <a:latin typeface="Consolas" panose="020B0609020204030204" pitchFamily="34" charset="0"/>
                <a:ea typeface="Consolas" panose="020B0609020204030204" pitchFamily="34" charset="-122"/>
                <a:cs typeface="Consolas" panose="020B0609020204030204" pitchFamily="34" charset="-120"/>
              </a:rPr>
              <a:t>00  01  02  03  04  05  06  07    08  09  0A  0B  0C  0D  0E  0F</a:t>
            </a:r>
            <a:endParaRPr lang="en-US" sz="750" dirty="0"/>
          </a:p>
        </p:txBody>
      </p:sp>
      <p:sp>
        <p:nvSpPr>
          <p:cNvPr id="14" name="Text 12"/>
          <p:cNvSpPr/>
          <p:nvPr/>
        </p:nvSpPr>
        <p:spPr>
          <a:xfrm>
            <a:off x="7114032" y="1188720"/>
            <a:ext cx="1645920" cy="182880"/>
          </a:xfrm>
          <a:prstGeom prst="rect">
            <a:avLst/>
          </a:prstGeom>
          <a:noFill/>
        </p:spPr>
        <p:txBody>
          <a:bodyPr wrap="square" lIns="0" tIns="0" rIns="0" bIns="0" rtlCol="0" anchor="ctr"/>
          <a:lstStyle/>
          <a:p>
            <a:pPr marL="0" indent="0">
              <a:buNone/>
            </a:pPr>
            <a:r>
              <a:rPr lang="en-US" sz="800" b="1" dirty="0">
                <a:solidFill>
                  <a:srgbClr val="0EA5E9"/>
                </a:solidFill>
                <a:latin typeface="Consolas" panose="020B0609020204030204" pitchFamily="34" charset="0"/>
                <a:ea typeface="Consolas" panose="020B0609020204030204" pitchFamily="34" charset="-122"/>
                <a:cs typeface="Consolas" panose="020B0609020204030204" pitchFamily="34" charset="-120"/>
              </a:rPr>
              <a:t>  ASCII</a:t>
            </a:r>
            <a:endParaRPr lang="en-US" sz="800" dirty="0"/>
          </a:p>
        </p:txBody>
      </p:sp>
      <p:sp>
        <p:nvSpPr>
          <p:cNvPr id="15" name="Shape 13"/>
          <p:cNvSpPr/>
          <p:nvPr/>
        </p:nvSpPr>
        <p:spPr>
          <a:xfrm>
            <a:off x="347472" y="1389888"/>
            <a:ext cx="8357616" cy="9144"/>
          </a:xfrm>
          <a:prstGeom prst="rect">
            <a:avLst/>
          </a:prstGeom>
          <a:solidFill>
            <a:srgbClr val="2E4068"/>
          </a:solidFill>
          <a:ln w="12700">
            <a:solidFill>
              <a:srgbClr val="2E4068"/>
            </a:solidFill>
            <a:prstDash val="solid"/>
          </a:ln>
        </p:spPr>
        <p:txBody>
          <a:bodyPr/>
          <a:lstStyle/>
          <a:p>
            <a:endParaRPr lang="en-SG"/>
          </a:p>
        </p:txBody>
      </p:sp>
      <p:sp>
        <p:nvSpPr>
          <p:cNvPr id="16" name="Text 14"/>
          <p:cNvSpPr/>
          <p:nvPr/>
        </p:nvSpPr>
        <p:spPr>
          <a:xfrm>
            <a:off x="347472" y="1426464"/>
            <a:ext cx="731520" cy="219456"/>
          </a:xfrm>
          <a:prstGeom prst="rect">
            <a:avLst/>
          </a:prstGeom>
          <a:noFill/>
        </p:spPr>
        <p:txBody>
          <a:bodyPr wrap="square" lIns="0" tIns="0" rIns="0" bIns="0" rtlCol="0" anchor="ctr"/>
          <a:lstStyle/>
          <a:p>
            <a:pPr marL="0" indent="0">
              <a:buNone/>
            </a:pPr>
            <a:r>
              <a:rPr lang="en-US" sz="850" dirty="0">
                <a:solidFill>
                  <a:srgbClr val="475569"/>
                </a:solidFill>
                <a:latin typeface="Consolas" panose="020B0609020204030204" pitchFamily="34" charset="0"/>
                <a:ea typeface="Consolas" panose="020B0609020204030204" pitchFamily="34" charset="-122"/>
                <a:cs typeface="Consolas" panose="020B0609020204030204" pitchFamily="34" charset="-120"/>
              </a:rPr>
              <a:t>0x0000</a:t>
            </a:r>
            <a:endParaRPr lang="en-US" sz="850" dirty="0"/>
          </a:p>
        </p:txBody>
      </p:sp>
      <p:sp>
        <p:nvSpPr>
          <p:cNvPr id="22" name="Text 20"/>
          <p:cNvSpPr/>
          <p:nvPr/>
        </p:nvSpPr>
        <p:spPr>
          <a:xfrm>
            <a:off x="7114032" y="1426464"/>
            <a:ext cx="1737360" cy="219456"/>
          </a:xfrm>
          <a:prstGeom prst="rect">
            <a:avLst/>
          </a:prstGeom>
          <a:noFill/>
        </p:spPr>
        <p:txBody>
          <a:bodyPr wrap="square" lIns="0" tIns="0" rIns="0" bIns="0" rtlCol="0" anchor="ctr"/>
          <a:lstStyle/>
          <a:p>
            <a:pPr marL="0" indent="0">
              <a:buNone/>
            </a:pPr>
            <a:r>
              <a:rPr lang="en-US" sz="850" dirty="0">
                <a:solidFill>
                  <a:srgbClr val="475569"/>
                </a:solidFill>
                <a:latin typeface="Consolas" panose="020B0609020204030204" pitchFamily="34" charset="0"/>
                <a:ea typeface="Consolas" panose="020B0609020204030204" pitchFamily="34" charset="-122"/>
                <a:cs typeface="Consolas" panose="020B0609020204030204" pitchFamily="34" charset="-120"/>
              </a:rPr>
              <a:t>.R. NTFS       ..  .  .  ..</a:t>
            </a:r>
            <a:endParaRPr lang="en-US" sz="850" dirty="0"/>
          </a:p>
        </p:txBody>
      </p:sp>
      <p:sp>
        <p:nvSpPr>
          <p:cNvPr id="23" name="Text 21"/>
          <p:cNvSpPr/>
          <p:nvPr/>
        </p:nvSpPr>
        <p:spPr>
          <a:xfrm>
            <a:off x="347472" y="1682496"/>
            <a:ext cx="731520" cy="219456"/>
          </a:xfrm>
          <a:prstGeom prst="rect">
            <a:avLst/>
          </a:prstGeom>
          <a:noFill/>
        </p:spPr>
        <p:txBody>
          <a:bodyPr wrap="square" lIns="0" tIns="0" rIns="0" bIns="0" rtlCol="0" anchor="ctr"/>
          <a:lstStyle/>
          <a:p>
            <a:pPr marL="0" indent="0">
              <a:buNone/>
            </a:pPr>
            <a:r>
              <a:rPr lang="en-US" sz="850" dirty="0">
                <a:solidFill>
                  <a:srgbClr val="475569"/>
                </a:solidFill>
                <a:latin typeface="Consolas" panose="020B0609020204030204" pitchFamily="34" charset="0"/>
                <a:ea typeface="Consolas" panose="020B0609020204030204" pitchFamily="34" charset="-122"/>
                <a:cs typeface="Consolas" panose="020B0609020204030204" pitchFamily="34" charset="-120"/>
              </a:rPr>
              <a:t>0x0010</a:t>
            </a:r>
            <a:endParaRPr lang="en-US" sz="850" dirty="0"/>
          </a:p>
        </p:txBody>
      </p:sp>
      <p:sp>
        <p:nvSpPr>
          <p:cNvPr id="29" name="Text 27"/>
          <p:cNvSpPr/>
          <p:nvPr/>
        </p:nvSpPr>
        <p:spPr>
          <a:xfrm>
            <a:off x="7114032" y="1682496"/>
            <a:ext cx="1737360" cy="219456"/>
          </a:xfrm>
          <a:prstGeom prst="rect">
            <a:avLst/>
          </a:prstGeom>
          <a:noFill/>
        </p:spPr>
        <p:txBody>
          <a:bodyPr wrap="square" lIns="0" tIns="0" rIns="0" bIns="0" rtlCol="0" anchor="ctr"/>
          <a:lstStyle/>
          <a:p>
            <a:pPr marL="0" indent="0">
              <a:buNone/>
            </a:pPr>
            <a:r>
              <a:rPr lang="en-US" sz="850" dirty="0">
                <a:solidFill>
                  <a:srgbClr val="475569"/>
                </a:solidFill>
                <a:latin typeface="Consolas" panose="020B0609020204030204" pitchFamily="34" charset="0"/>
                <a:ea typeface="Consolas" panose="020B0609020204030204" pitchFamily="34" charset="-122"/>
                <a:cs typeface="Consolas" panose="020B0609020204030204" pitchFamily="34" charset="-120"/>
              </a:rPr>
              <a:t>?. .. .. .. .. ..?. ..</a:t>
            </a:r>
            <a:endParaRPr lang="en-US" sz="850" dirty="0"/>
          </a:p>
        </p:txBody>
      </p:sp>
      <p:sp>
        <p:nvSpPr>
          <p:cNvPr id="30" name="Shape 28"/>
          <p:cNvSpPr/>
          <p:nvPr/>
        </p:nvSpPr>
        <p:spPr>
          <a:xfrm>
            <a:off x="256032" y="2816352"/>
            <a:ext cx="2029968" cy="1188720"/>
          </a:xfrm>
          <a:prstGeom prst="rect">
            <a:avLst/>
          </a:prstGeom>
          <a:solidFill>
            <a:srgbClr val="EEF6FB"/>
          </a:solidFill>
          <a:ln w="12700">
            <a:solidFill>
              <a:srgbClr val="EF4444"/>
            </a:solidFill>
            <a:prstDash val="solid"/>
          </a:ln>
          <a:effectLst>
            <a:outerShdw blurRad="127000" dist="38100" dir="8100000" algn="bl" rotWithShape="0">
              <a:srgbClr val="000000">
                <a:alpha val="22000"/>
              </a:srgbClr>
            </a:outerShdw>
          </a:effectLst>
        </p:spPr>
        <p:txBody>
          <a:bodyPr/>
          <a:lstStyle/>
          <a:p>
            <a:endParaRPr lang="en-SG"/>
          </a:p>
        </p:txBody>
      </p:sp>
      <p:sp>
        <p:nvSpPr>
          <p:cNvPr id="31" name="Shape 29"/>
          <p:cNvSpPr/>
          <p:nvPr/>
        </p:nvSpPr>
        <p:spPr>
          <a:xfrm>
            <a:off x="256032" y="2816352"/>
            <a:ext cx="2029968" cy="256032"/>
          </a:xfrm>
          <a:prstGeom prst="rect">
            <a:avLst/>
          </a:prstGeom>
          <a:solidFill>
            <a:srgbClr val="EF4444"/>
          </a:solidFill>
          <a:ln w="12700">
            <a:solidFill>
              <a:srgbClr val="EF4444"/>
            </a:solidFill>
            <a:prstDash val="solid"/>
          </a:ln>
        </p:spPr>
        <p:txBody>
          <a:bodyPr/>
          <a:lstStyle/>
          <a:p>
            <a:endParaRPr lang="en-SG"/>
          </a:p>
        </p:txBody>
      </p:sp>
      <p:sp>
        <p:nvSpPr>
          <p:cNvPr id="32" name="Text 30"/>
          <p:cNvSpPr/>
          <p:nvPr/>
        </p:nvSpPr>
        <p:spPr>
          <a:xfrm>
            <a:off x="347472" y="2852928"/>
            <a:ext cx="1883664" cy="201168"/>
          </a:xfrm>
          <a:prstGeom prst="rect">
            <a:avLst/>
          </a:prstGeom>
          <a:noFill/>
        </p:spPr>
        <p:txBody>
          <a:bodyPr wrap="square" lIns="0" tIns="0" rIns="0" bIns="0" rtlCol="0" anchor="ctr"/>
          <a:lstStyle/>
          <a:p>
            <a:pPr marL="0" indent="0">
              <a:buNone/>
            </a:pPr>
            <a:r>
              <a:rPr lang="en-US" sz="9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JMP + NOP (0x00–0x02)</a:t>
            </a:r>
            <a:endParaRPr lang="en-US" sz="900" dirty="0"/>
          </a:p>
        </p:txBody>
      </p:sp>
      <p:sp>
        <p:nvSpPr>
          <p:cNvPr id="33" name="Text 31"/>
          <p:cNvSpPr/>
          <p:nvPr/>
        </p:nvSpPr>
        <p:spPr>
          <a:xfrm>
            <a:off x="347472" y="3108960"/>
            <a:ext cx="1865376" cy="841248"/>
          </a:xfrm>
          <a:prstGeom prst="rect">
            <a:avLst/>
          </a:prstGeom>
          <a:noFill/>
        </p:spPr>
        <p:txBody>
          <a:bodyPr wrap="square" rtlCol="0" anchor="t"/>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EB 52 90 = x86 short jump instruction + NOP. Entry point for boot code execution. All valid boot sectors begin with this signature.</a:t>
            </a:r>
            <a:endParaRPr lang="en-US" sz="850" dirty="0"/>
          </a:p>
        </p:txBody>
      </p:sp>
      <p:sp>
        <p:nvSpPr>
          <p:cNvPr id="34" name="Shape 32"/>
          <p:cNvSpPr/>
          <p:nvPr/>
        </p:nvSpPr>
        <p:spPr>
          <a:xfrm>
            <a:off x="2395728" y="2816352"/>
            <a:ext cx="2029968" cy="1188720"/>
          </a:xfrm>
          <a:prstGeom prst="rect">
            <a:avLst/>
          </a:prstGeom>
          <a:solidFill>
            <a:srgbClr val="EEF6FB"/>
          </a:solidFill>
          <a:ln w="12700">
            <a:solidFill>
              <a:srgbClr val="10B981"/>
            </a:solidFill>
            <a:prstDash val="solid"/>
          </a:ln>
          <a:effectLst>
            <a:outerShdw blurRad="127000" dist="38100" dir="8100000" algn="bl" rotWithShape="0">
              <a:srgbClr val="000000">
                <a:alpha val="22000"/>
              </a:srgbClr>
            </a:outerShdw>
          </a:effectLst>
        </p:spPr>
        <p:txBody>
          <a:bodyPr/>
          <a:lstStyle/>
          <a:p>
            <a:endParaRPr lang="en-SG"/>
          </a:p>
        </p:txBody>
      </p:sp>
      <p:sp>
        <p:nvSpPr>
          <p:cNvPr id="35" name="Shape 33"/>
          <p:cNvSpPr/>
          <p:nvPr/>
        </p:nvSpPr>
        <p:spPr>
          <a:xfrm>
            <a:off x="2395728" y="2816352"/>
            <a:ext cx="2029968" cy="256032"/>
          </a:xfrm>
          <a:prstGeom prst="rect">
            <a:avLst/>
          </a:prstGeom>
          <a:solidFill>
            <a:srgbClr val="10B981"/>
          </a:solidFill>
          <a:ln w="12700">
            <a:solidFill>
              <a:srgbClr val="10B981"/>
            </a:solidFill>
            <a:prstDash val="solid"/>
          </a:ln>
        </p:spPr>
        <p:txBody>
          <a:bodyPr/>
          <a:lstStyle/>
          <a:p>
            <a:endParaRPr lang="en-SG"/>
          </a:p>
        </p:txBody>
      </p:sp>
      <p:sp>
        <p:nvSpPr>
          <p:cNvPr id="36" name="Text 34"/>
          <p:cNvSpPr/>
          <p:nvPr/>
        </p:nvSpPr>
        <p:spPr>
          <a:xfrm>
            <a:off x="2487168" y="2852928"/>
            <a:ext cx="1883664" cy="201168"/>
          </a:xfrm>
          <a:prstGeom prst="rect">
            <a:avLst/>
          </a:prstGeom>
          <a:noFill/>
        </p:spPr>
        <p:txBody>
          <a:bodyPr wrap="square" lIns="0" tIns="0" rIns="0" bIns="0" rtlCol="0" anchor="ctr"/>
          <a:lstStyle/>
          <a:p>
            <a:pPr marL="0" indent="0">
              <a:buNone/>
            </a:pPr>
            <a:r>
              <a:rPr lang="en-US" sz="9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OEM Signature (0x03–0x0A)</a:t>
            </a:r>
            <a:endParaRPr lang="en-US" sz="900" dirty="0"/>
          </a:p>
        </p:txBody>
      </p:sp>
      <p:sp>
        <p:nvSpPr>
          <p:cNvPr id="37" name="Text 35"/>
          <p:cNvSpPr/>
          <p:nvPr/>
        </p:nvSpPr>
        <p:spPr>
          <a:xfrm>
            <a:off x="2487168" y="3108960"/>
            <a:ext cx="1865376" cy="841248"/>
          </a:xfrm>
          <a:prstGeom prst="rect">
            <a:avLst/>
          </a:prstGeom>
          <a:noFill/>
        </p:spPr>
        <p:txBody>
          <a:bodyPr wrap="square" rtlCol="0" anchor="t"/>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4E 54 46 53 20 20 20 20 = 'NTFS    ' (4 trailing spaces). Identifies the volume as NTFS. Forensic tools verify this before parsing the BPB.</a:t>
            </a:r>
            <a:endParaRPr lang="en-US" sz="850" dirty="0"/>
          </a:p>
        </p:txBody>
      </p:sp>
      <p:sp>
        <p:nvSpPr>
          <p:cNvPr id="38" name="Shape 36"/>
          <p:cNvSpPr/>
          <p:nvPr/>
        </p:nvSpPr>
        <p:spPr>
          <a:xfrm>
            <a:off x="4535424" y="2816352"/>
            <a:ext cx="2029968" cy="1188720"/>
          </a:xfrm>
          <a:prstGeom prst="rect">
            <a:avLst/>
          </a:prstGeom>
          <a:solidFill>
            <a:srgbClr val="EEF6FB"/>
          </a:solidFill>
          <a:ln w="12700">
            <a:solidFill>
              <a:srgbClr val="F59E0B"/>
            </a:solidFill>
            <a:prstDash val="solid"/>
          </a:ln>
          <a:effectLst>
            <a:outerShdw blurRad="127000" dist="38100" dir="8100000" algn="bl" rotWithShape="0">
              <a:srgbClr val="000000">
                <a:alpha val="22000"/>
              </a:srgbClr>
            </a:outerShdw>
          </a:effectLst>
        </p:spPr>
        <p:txBody>
          <a:bodyPr/>
          <a:lstStyle/>
          <a:p>
            <a:endParaRPr lang="en-SG"/>
          </a:p>
        </p:txBody>
      </p:sp>
      <p:sp>
        <p:nvSpPr>
          <p:cNvPr id="39" name="Shape 37"/>
          <p:cNvSpPr/>
          <p:nvPr/>
        </p:nvSpPr>
        <p:spPr>
          <a:xfrm>
            <a:off x="4535424" y="2816352"/>
            <a:ext cx="2029968" cy="256032"/>
          </a:xfrm>
          <a:prstGeom prst="rect">
            <a:avLst/>
          </a:prstGeom>
          <a:solidFill>
            <a:srgbClr val="F59E0B"/>
          </a:solidFill>
          <a:ln w="12700">
            <a:solidFill>
              <a:srgbClr val="F59E0B"/>
            </a:solidFill>
            <a:prstDash val="solid"/>
          </a:ln>
        </p:spPr>
        <p:txBody>
          <a:bodyPr/>
          <a:lstStyle/>
          <a:p>
            <a:endParaRPr lang="en-SG"/>
          </a:p>
        </p:txBody>
      </p:sp>
      <p:sp>
        <p:nvSpPr>
          <p:cNvPr id="40" name="Text 38"/>
          <p:cNvSpPr/>
          <p:nvPr/>
        </p:nvSpPr>
        <p:spPr>
          <a:xfrm>
            <a:off x="4626864" y="2852928"/>
            <a:ext cx="1883664" cy="201168"/>
          </a:xfrm>
          <a:prstGeom prst="rect">
            <a:avLst/>
          </a:prstGeom>
          <a:noFill/>
        </p:spPr>
        <p:txBody>
          <a:bodyPr wrap="square" lIns="0" tIns="0" rIns="0" bIns="0" rtlCol="0" anchor="ctr"/>
          <a:lstStyle/>
          <a:p>
            <a:pPr marL="0" indent="0">
              <a:buNone/>
            </a:pPr>
            <a:r>
              <a:rPr lang="en-US" sz="9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Bytes Per Sector (0x0B–0x0C)</a:t>
            </a:r>
            <a:endParaRPr lang="en-US" sz="900" dirty="0"/>
          </a:p>
        </p:txBody>
      </p:sp>
      <p:sp>
        <p:nvSpPr>
          <p:cNvPr id="41" name="Text 39"/>
          <p:cNvSpPr/>
          <p:nvPr/>
        </p:nvSpPr>
        <p:spPr>
          <a:xfrm>
            <a:off x="4626864" y="3108960"/>
            <a:ext cx="1865376" cy="841248"/>
          </a:xfrm>
          <a:prstGeom prst="rect">
            <a:avLst/>
          </a:prstGeom>
          <a:noFill/>
        </p:spPr>
        <p:txBody>
          <a:bodyPr wrap="square" rtlCol="0" anchor="t"/>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00 02 little-endian = 0x0200 = 512 bytes. The smallest unit of disk I/O. Almost always 512 B on standard drives. Base unit for all BPB calculations.</a:t>
            </a:r>
            <a:endParaRPr lang="en-US" sz="850" dirty="0"/>
          </a:p>
        </p:txBody>
      </p:sp>
      <p:sp>
        <p:nvSpPr>
          <p:cNvPr id="42" name="Shape 40"/>
          <p:cNvSpPr/>
          <p:nvPr/>
        </p:nvSpPr>
        <p:spPr>
          <a:xfrm>
            <a:off x="6675120" y="2816352"/>
            <a:ext cx="2029968" cy="1188720"/>
          </a:xfrm>
          <a:prstGeom prst="rect">
            <a:avLst/>
          </a:prstGeom>
          <a:solidFill>
            <a:srgbClr val="EEF6FB"/>
          </a:solidFill>
          <a:ln w="12700">
            <a:solidFill>
              <a:srgbClr val="0EA5E9"/>
            </a:solidFill>
            <a:prstDash val="solid"/>
          </a:ln>
          <a:effectLst>
            <a:outerShdw blurRad="127000" dist="38100" dir="8100000" algn="bl" rotWithShape="0">
              <a:srgbClr val="000000">
                <a:alpha val="22000"/>
              </a:srgbClr>
            </a:outerShdw>
          </a:effectLst>
        </p:spPr>
        <p:txBody>
          <a:bodyPr/>
          <a:lstStyle/>
          <a:p>
            <a:endParaRPr lang="en-SG"/>
          </a:p>
        </p:txBody>
      </p:sp>
      <p:sp>
        <p:nvSpPr>
          <p:cNvPr id="43" name="Shape 41"/>
          <p:cNvSpPr/>
          <p:nvPr/>
        </p:nvSpPr>
        <p:spPr>
          <a:xfrm>
            <a:off x="6675120" y="2816352"/>
            <a:ext cx="2029968" cy="256032"/>
          </a:xfrm>
          <a:prstGeom prst="rect">
            <a:avLst/>
          </a:prstGeom>
          <a:solidFill>
            <a:srgbClr val="0EA5E9"/>
          </a:solidFill>
          <a:ln w="12700">
            <a:solidFill>
              <a:srgbClr val="0EA5E9"/>
            </a:solidFill>
            <a:prstDash val="solid"/>
          </a:ln>
        </p:spPr>
        <p:txBody>
          <a:bodyPr/>
          <a:lstStyle/>
          <a:p>
            <a:endParaRPr lang="en-SG"/>
          </a:p>
        </p:txBody>
      </p:sp>
      <p:sp>
        <p:nvSpPr>
          <p:cNvPr id="44" name="Text 42"/>
          <p:cNvSpPr/>
          <p:nvPr/>
        </p:nvSpPr>
        <p:spPr>
          <a:xfrm>
            <a:off x="6766560" y="2852928"/>
            <a:ext cx="1883664" cy="201168"/>
          </a:xfrm>
          <a:prstGeom prst="rect">
            <a:avLst/>
          </a:prstGeom>
          <a:noFill/>
        </p:spPr>
        <p:txBody>
          <a:bodyPr wrap="square" lIns="0" tIns="0" rIns="0" bIns="0" rtlCol="0" anchor="ctr"/>
          <a:lstStyle/>
          <a:p>
            <a:pPr marL="0" indent="0">
              <a:buNone/>
            </a:pPr>
            <a:r>
              <a:rPr lang="en-US" sz="9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Sectors Per Cluster (0x0D)</a:t>
            </a:r>
            <a:endParaRPr lang="en-US" sz="900" dirty="0"/>
          </a:p>
        </p:txBody>
      </p:sp>
      <p:sp>
        <p:nvSpPr>
          <p:cNvPr id="45" name="Text 43"/>
          <p:cNvSpPr/>
          <p:nvPr/>
        </p:nvSpPr>
        <p:spPr>
          <a:xfrm>
            <a:off x="6766560" y="3108960"/>
            <a:ext cx="1865376" cy="841248"/>
          </a:xfrm>
          <a:prstGeom prst="rect">
            <a:avLst/>
          </a:prstGeom>
          <a:noFill/>
        </p:spPr>
        <p:txBody>
          <a:bodyPr wrap="square" rtlCol="0" anchor="t"/>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08 = 8 sectors × 512 bytes = 4,096-byte clusters. Sets the minimum file allocation unit. Larger clusters = less fragmentation but more potential slack space per file.</a:t>
            </a:r>
            <a:endParaRPr lang="en-US" sz="850" dirty="0"/>
          </a:p>
        </p:txBody>
      </p:sp>
      <p:sp>
        <p:nvSpPr>
          <p:cNvPr id="46" name="TextBox 45"/>
          <p:cNvSpPr txBox="1"/>
          <p:nvPr/>
        </p:nvSpPr>
        <p:spPr>
          <a:xfrm>
            <a:off x="1115568" y="1426464"/>
            <a:ext cx="5943600" cy="182880"/>
          </a:xfrm>
          <a:prstGeom prst="rect">
            <a:avLst/>
          </a:prstGeom>
          <a:noFill/>
        </p:spPr>
        <p:txBody>
          <a:bodyPr wrap="none" lIns="0" tIns="0" rIns="0" bIns="0">
            <a:spAutoFit/>
          </a:bodyPr>
          <a:lstStyle/>
          <a:p>
            <a:r>
              <a:rPr sz="800">
                <a:solidFill>
                  <a:srgbClr val="EF4444"/>
                </a:solidFill>
                <a:latin typeface="Consolas" panose="020B0609020204030204" pitchFamily="34" charset="0"/>
              </a:rPr>
              <a:t>EB  52  90  </a:t>
            </a:r>
            <a:r>
              <a:rPr sz="800">
                <a:solidFill>
                  <a:srgbClr val="10B981"/>
                </a:solidFill>
                <a:latin typeface="Consolas" panose="020B0609020204030204" pitchFamily="34" charset="0"/>
              </a:rPr>
              <a:t>4E  54  46  53  20    20  20  20  </a:t>
            </a:r>
            <a:r>
              <a:rPr sz="800">
                <a:solidFill>
                  <a:srgbClr val="F59E0B"/>
                </a:solidFill>
                <a:latin typeface="Consolas" panose="020B0609020204030204" pitchFamily="34" charset="0"/>
              </a:rPr>
              <a:t>00  02  </a:t>
            </a:r>
            <a:r>
              <a:rPr sz="800">
                <a:solidFill>
                  <a:srgbClr val="0EA5E9"/>
                </a:solidFill>
                <a:latin typeface="Consolas" panose="020B0609020204030204" pitchFamily="34" charset="0"/>
              </a:rPr>
              <a:t>08  </a:t>
            </a:r>
            <a:r>
              <a:rPr sz="800">
                <a:solidFill>
                  <a:srgbClr val="94A3B8"/>
                </a:solidFill>
                <a:latin typeface="Consolas" panose="020B0609020204030204" pitchFamily="34" charset="0"/>
              </a:rPr>
              <a:t>00  00</a:t>
            </a:r>
            <a:endParaRPr sz="800">
              <a:solidFill>
                <a:srgbClr val="94A3B8"/>
              </a:solidFill>
              <a:latin typeface="Consolas" panose="020B0609020204030204" pitchFamily="34" charset="0"/>
            </a:endParaRPr>
          </a:p>
        </p:txBody>
      </p:sp>
      <p:sp>
        <p:nvSpPr>
          <p:cNvPr id="47" name="TextBox 46"/>
          <p:cNvSpPr txBox="1"/>
          <p:nvPr/>
        </p:nvSpPr>
        <p:spPr>
          <a:xfrm>
            <a:off x="1115568" y="1682496"/>
            <a:ext cx="5943600" cy="182880"/>
          </a:xfrm>
          <a:prstGeom prst="rect">
            <a:avLst/>
          </a:prstGeom>
          <a:noFill/>
        </p:spPr>
        <p:txBody>
          <a:bodyPr wrap="none" lIns="0" tIns="0" rIns="0" bIns="0">
            <a:spAutoFit/>
          </a:bodyPr>
          <a:lstStyle/>
          <a:p>
            <a:r>
              <a:rPr sz="800">
                <a:solidFill>
                  <a:srgbClr val="94A3B8"/>
                </a:solidFill>
                <a:latin typeface="Consolas" panose="020B0609020204030204" pitchFamily="34" charset="0"/>
              </a:rPr>
              <a:t>00  00  00  F8  00  00  3F  00    FF  00  00  00  00  00  00  00</a:t>
            </a:r>
            <a:endParaRPr sz="800">
              <a:solidFill>
                <a:srgbClr val="94A3B8"/>
              </a:solidFill>
              <a:latin typeface="Consolas" panose="020B0609020204030204" pitchFamily="34" charset="0"/>
            </a:endParaRPr>
          </a:p>
        </p:txBody>
      </p:sp>
      <p:sp>
        <p:nvSpPr>
          <p:cNvPr id="48" name="TextBox 47"/>
          <p:cNvSpPr txBox="1"/>
          <p:nvPr/>
        </p:nvSpPr>
        <p:spPr>
          <a:xfrm>
            <a:off x="1115568" y="1938528"/>
            <a:ext cx="5943600" cy="182880"/>
          </a:xfrm>
          <a:prstGeom prst="rect">
            <a:avLst/>
          </a:prstGeom>
          <a:noFill/>
        </p:spPr>
        <p:txBody>
          <a:bodyPr wrap="none" lIns="0" tIns="0" rIns="0" bIns="0">
            <a:spAutoFit/>
          </a:bodyPr>
          <a:lstStyle/>
          <a:p>
            <a:r>
              <a:rPr sz="800">
                <a:solidFill>
                  <a:srgbClr val="A855F7"/>
                </a:solidFill>
                <a:latin typeface="Consolas" panose="020B0609020204030204" pitchFamily="34" charset="0"/>
              </a:rPr>
              <a:t>80  00  80  00  </a:t>
            </a:r>
            <a:r>
              <a:rPr sz="800">
                <a:solidFill>
                  <a:srgbClr val="EF4444"/>
                </a:solidFill>
                <a:latin typeface="Consolas" panose="020B0609020204030204" pitchFamily="34" charset="0"/>
              </a:rPr>
              <a:t>FF  3F  00  00    00  00  00  00  </a:t>
            </a:r>
            <a:r>
              <a:rPr sz="800">
                <a:solidFill>
                  <a:srgbClr val="94A3B8"/>
                </a:solidFill>
                <a:latin typeface="Consolas" panose="020B0609020204030204" pitchFamily="34" charset="0"/>
              </a:rPr>
              <a:t>00  00  00  00</a:t>
            </a:r>
            <a:endParaRPr sz="800">
              <a:solidFill>
                <a:srgbClr val="94A3B8"/>
              </a:solidFill>
              <a:latin typeface="Consolas" panose="020B0609020204030204" pitchFamily="34" charset="0"/>
            </a:endParaRPr>
          </a:p>
        </p:txBody>
      </p:sp>
      <p:sp>
        <p:nvSpPr>
          <p:cNvPr id="49" name="TextBox 48"/>
          <p:cNvSpPr txBox="1"/>
          <p:nvPr/>
        </p:nvSpPr>
        <p:spPr>
          <a:xfrm>
            <a:off x="365760" y="1938528"/>
            <a:ext cx="548640" cy="182880"/>
          </a:xfrm>
          <a:prstGeom prst="rect">
            <a:avLst/>
          </a:prstGeom>
          <a:noFill/>
        </p:spPr>
        <p:txBody>
          <a:bodyPr wrap="none" lIns="0" tIns="0" rIns="0" bIns="0">
            <a:spAutoFit/>
          </a:bodyPr>
          <a:lstStyle/>
          <a:p>
            <a:r>
              <a:rPr sz="800">
                <a:solidFill>
                  <a:srgbClr val="475569"/>
                </a:solidFill>
                <a:latin typeface="Consolas" panose="020B0609020204030204"/>
              </a:rPr>
              <a:t>0x0020</a:t>
            </a:r>
            <a:endParaRPr sz="800">
              <a:solidFill>
                <a:srgbClr val="475569"/>
              </a:solidFill>
              <a:latin typeface="Consolas" panose="020B0609020204030204"/>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EA5E9"/>
          </a:solidFill>
          <a:ln w="12700">
            <a:solidFill>
              <a:srgbClr val="0EA5E9"/>
            </a:solidFill>
            <a:prstDash val="solid"/>
          </a:ln>
        </p:spPr>
        <p:txBody>
          <a:bodyPr/>
          <a:lstStyle/>
          <a:p>
            <a:endParaRPr lang="en-SG"/>
          </a:p>
        </p:txBody>
      </p:sp>
      <p:sp>
        <p:nvSpPr>
          <p:cNvPr id="3" name="Text 1"/>
          <p:cNvSpPr/>
          <p:nvPr/>
        </p:nvSpPr>
        <p:spPr>
          <a:xfrm>
            <a:off x="256032" y="186690"/>
            <a:ext cx="8631936" cy="548640"/>
          </a:xfrm>
          <a:prstGeom prst="rect">
            <a:avLst/>
          </a:prstGeom>
          <a:noFill/>
        </p:spPr>
        <p:txBody>
          <a:bodyPr wrap="square" lIns="0" tIns="0" rIns="0" bIns="0" rtlCol="0" anchor="ctr"/>
          <a:lstStyle/>
          <a:p>
            <a:pPr marL="0" indent="0">
              <a:buNone/>
            </a:pPr>
            <a:r>
              <a:rPr lang="en-US" sz="16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NTFS MFT Entry — Hex View (Annotated)</a:t>
            </a:r>
            <a:endParaRPr lang="en-US" sz="1600" dirty="0"/>
          </a:p>
        </p:txBody>
      </p:sp>
      <p:sp>
        <p:nvSpPr>
          <p:cNvPr id="4" name="Shape 2"/>
          <p:cNvSpPr/>
          <p:nvPr/>
        </p:nvSpPr>
        <p:spPr>
          <a:xfrm>
            <a:off x="256032" y="73152"/>
            <a:ext cx="1463040" cy="219456"/>
          </a:xfrm>
          <a:prstGeom prst="rect">
            <a:avLst/>
          </a:prstGeom>
          <a:solidFill>
            <a:srgbClr val="0EA5E9"/>
          </a:solidFill>
          <a:ln w="12700">
            <a:solidFill>
              <a:srgbClr val="0EA5E9"/>
            </a:solidFill>
            <a:prstDash val="solid"/>
          </a:ln>
        </p:spPr>
        <p:txBody>
          <a:bodyPr/>
          <a:lstStyle/>
          <a:p>
            <a:endParaRPr lang="en-SG"/>
          </a:p>
        </p:txBody>
      </p:sp>
      <p:sp>
        <p:nvSpPr>
          <p:cNvPr id="5" name="Text 3"/>
          <p:cNvSpPr/>
          <p:nvPr/>
        </p:nvSpPr>
        <p:spPr>
          <a:xfrm>
            <a:off x="256032" y="73152"/>
            <a:ext cx="1463040" cy="219456"/>
          </a:xfrm>
          <a:prstGeom prst="rect">
            <a:avLst/>
          </a:prstGeom>
          <a:noFill/>
        </p:spPr>
        <p:txBody>
          <a:bodyPr wrap="square" lIns="0" tIns="0" rIns="0" bIns="0" rtlCol="0" anchor="ctr"/>
          <a:lstStyle/>
          <a:p>
            <a:pPr marL="0" indent="0" algn="ctr">
              <a:buNone/>
            </a:pPr>
            <a:r>
              <a:rPr lang="en-US" sz="800" b="1" kern="0" spc="100"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SECTION 03 — NTFS</a:t>
            </a:r>
            <a:endParaRPr lang="en-US" sz="800" dirty="0"/>
          </a:p>
        </p:txBody>
      </p:sp>
      <p:sp>
        <p:nvSpPr>
          <p:cNvPr id="10" name="Text 8"/>
          <p:cNvSpPr/>
          <p:nvPr/>
        </p:nvSpPr>
        <p:spPr>
          <a:xfrm>
            <a:off x="256032" y="822960"/>
            <a:ext cx="8631936" cy="256032"/>
          </a:xfrm>
          <a:prstGeom prst="rect">
            <a:avLst/>
          </a:prstGeom>
          <a:noFill/>
        </p:spPr>
        <p:txBody>
          <a:bodyPr wrap="square" rtlCol="0" anchor="ctr"/>
          <a:lstStyle/>
          <a:p>
            <a:pPr marL="0" indent="0">
              <a:buNone/>
            </a:pPr>
            <a:r>
              <a:rPr lang="en-US" sz="950" i="1" dirty="0">
                <a:solidFill>
                  <a:srgbClr val="475569"/>
                </a:solidFill>
                <a:latin typeface="Calibri" panose="020F0502020204030204" pitchFamily="34" charset="0"/>
                <a:ea typeface="Calibri" panose="020F0502020204030204" pitchFamily="34" charset="-122"/>
                <a:cs typeface="Calibri" panose="020F0502020204030204" pitchFamily="34" charset="-120"/>
              </a:rPr>
              <a:t>MFT Record for a regular file. Each record begins with the 'FILE' signature and a fixed 48-byte header, followed by attribute entries.</a:t>
            </a:r>
            <a:endParaRPr lang="en-US" sz="950" dirty="0"/>
          </a:p>
        </p:txBody>
      </p:sp>
      <p:sp>
        <p:nvSpPr>
          <p:cNvPr id="11" name="Shape 9"/>
          <p:cNvSpPr/>
          <p:nvPr/>
        </p:nvSpPr>
        <p:spPr>
          <a:xfrm>
            <a:off x="256032" y="1115568"/>
            <a:ext cx="8631936" cy="1993392"/>
          </a:xfrm>
          <a:prstGeom prst="rect">
            <a:avLst/>
          </a:prstGeom>
          <a:solidFill>
            <a:srgbClr val="FFFFFF"/>
          </a:solidFill>
          <a:ln w="12700">
            <a:solidFill>
              <a:srgbClr val="2E4068"/>
            </a:solidFill>
            <a:prstDash val="solid"/>
          </a:ln>
          <a:effectLst>
            <a:outerShdw blurRad="127000" dist="38100" dir="8100000" algn="bl" rotWithShape="0">
              <a:srgbClr val="000000">
                <a:alpha val="22000"/>
              </a:srgbClr>
            </a:outerShdw>
          </a:effectLst>
        </p:spPr>
        <p:txBody>
          <a:bodyPr/>
          <a:lstStyle/>
          <a:p>
            <a:endParaRPr lang="en-SG"/>
          </a:p>
        </p:txBody>
      </p:sp>
      <p:sp>
        <p:nvSpPr>
          <p:cNvPr id="12" name="Text 10"/>
          <p:cNvSpPr/>
          <p:nvPr/>
        </p:nvSpPr>
        <p:spPr>
          <a:xfrm>
            <a:off x="347472" y="1152144"/>
            <a:ext cx="731520" cy="182880"/>
          </a:xfrm>
          <a:prstGeom prst="rect">
            <a:avLst/>
          </a:prstGeom>
          <a:noFill/>
        </p:spPr>
        <p:txBody>
          <a:bodyPr wrap="square" lIns="0" tIns="0" rIns="0" bIns="0" rtlCol="0" anchor="ctr"/>
          <a:lstStyle/>
          <a:p>
            <a:pPr marL="0" indent="0">
              <a:buNone/>
            </a:pPr>
            <a:r>
              <a:rPr lang="en-US" sz="800" b="1" dirty="0">
                <a:solidFill>
                  <a:srgbClr val="94A3B8"/>
                </a:solidFill>
                <a:latin typeface="Consolas" panose="020B0609020204030204" pitchFamily="34" charset="0"/>
                <a:ea typeface="Consolas" panose="020B0609020204030204" pitchFamily="34" charset="-122"/>
                <a:cs typeface="Consolas" panose="020B0609020204030204" pitchFamily="34" charset="-120"/>
              </a:rPr>
              <a:t>Offset  </a:t>
            </a:r>
            <a:endParaRPr lang="en-US" sz="800" dirty="0"/>
          </a:p>
        </p:txBody>
      </p:sp>
      <p:sp>
        <p:nvSpPr>
          <p:cNvPr id="13" name="Text 11"/>
          <p:cNvSpPr/>
          <p:nvPr/>
        </p:nvSpPr>
        <p:spPr>
          <a:xfrm>
            <a:off x="1115568" y="1152144"/>
            <a:ext cx="5961888" cy="182880"/>
          </a:xfrm>
          <a:prstGeom prst="rect">
            <a:avLst/>
          </a:prstGeom>
          <a:noFill/>
        </p:spPr>
        <p:txBody>
          <a:bodyPr wrap="square" lIns="0" tIns="0" rIns="0" bIns="0" rtlCol="0" anchor="ctr"/>
          <a:lstStyle/>
          <a:p>
            <a:pPr marL="0" indent="0">
              <a:buNone/>
            </a:pPr>
            <a:r>
              <a:rPr lang="en-US" sz="750" b="1" dirty="0">
                <a:solidFill>
                  <a:srgbClr val="0EA5E9"/>
                </a:solidFill>
                <a:latin typeface="Consolas" panose="020B0609020204030204" pitchFamily="34" charset="0"/>
                <a:ea typeface="Consolas" panose="020B0609020204030204" pitchFamily="34" charset="-122"/>
                <a:cs typeface="Consolas" panose="020B0609020204030204" pitchFamily="34" charset="-120"/>
              </a:rPr>
              <a:t>00  01  02  03  04  05  06  07    08  09  0A  0B  0C  0D  0E  0F</a:t>
            </a:r>
            <a:endParaRPr lang="en-US" sz="750" dirty="0"/>
          </a:p>
        </p:txBody>
      </p:sp>
      <p:sp>
        <p:nvSpPr>
          <p:cNvPr id="14" name="Text 12"/>
          <p:cNvSpPr/>
          <p:nvPr/>
        </p:nvSpPr>
        <p:spPr>
          <a:xfrm>
            <a:off x="7114032" y="1152144"/>
            <a:ext cx="1645920" cy="182880"/>
          </a:xfrm>
          <a:prstGeom prst="rect">
            <a:avLst/>
          </a:prstGeom>
          <a:noFill/>
        </p:spPr>
        <p:txBody>
          <a:bodyPr wrap="square" lIns="0" tIns="0" rIns="0" bIns="0" rtlCol="0" anchor="ctr"/>
          <a:lstStyle/>
          <a:p>
            <a:pPr marL="0" indent="0">
              <a:buNone/>
            </a:pPr>
            <a:r>
              <a:rPr lang="en-US" sz="800" b="1" dirty="0">
                <a:solidFill>
                  <a:srgbClr val="0EA5E9"/>
                </a:solidFill>
                <a:latin typeface="Consolas" panose="020B0609020204030204" pitchFamily="34" charset="0"/>
                <a:ea typeface="Consolas" panose="020B0609020204030204" pitchFamily="34" charset="-122"/>
                <a:cs typeface="Consolas" panose="020B0609020204030204" pitchFamily="34" charset="-120"/>
              </a:rPr>
              <a:t>  ASCII</a:t>
            </a:r>
            <a:endParaRPr lang="en-US" sz="800" dirty="0"/>
          </a:p>
        </p:txBody>
      </p:sp>
      <p:sp>
        <p:nvSpPr>
          <p:cNvPr id="15" name="Shape 13"/>
          <p:cNvSpPr/>
          <p:nvPr/>
        </p:nvSpPr>
        <p:spPr>
          <a:xfrm>
            <a:off x="347472" y="1353312"/>
            <a:ext cx="8357616" cy="9144"/>
          </a:xfrm>
          <a:prstGeom prst="rect">
            <a:avLst/>
          </a:prstGeom>
          <a:solidFill>
            <a:srgbClr val="2E4068"/>
          </a:solidFill>
          <a:ln w="12700">
            <a:solidFill>
              <a:srgbClr val="2E4068"/>
            </a:solidFill>
            <a:prstDash val="solid"/>
          </a:ln>
        </p:spPr>
        <p:txBody>
          <a:bodyPr/>
          <a:lstStyle/>
          <a:p>
            <a:endParaRPr lang="en-SG"/>
          </a:p>
        </p:txBody>
      </p:sp>
      <p:sp>
        <p:nvSpPr>
          <p:cNvPr id="16" name="Text 14"/>
          <p:cNvSpPr/>
          <p:nvPr/>
        </p:nvSpPr>
        <p:spPr>
          <a:xfrm>
            <a:off x="347472" y="1389888"/>
            <a:ext cx="731520" cy="219456"/>
          </a:xfrm>
          <a:prstGeom prst="rect">
            <a:avLst/>
          </a:prstGeom>
          <a:noFill/>
        </p:spPr>
        <p:txBody>
          <a:bodyPr wrap="square" lIns="0" tIns="0" rIns="0" bIns="0" rtlCol="0" anchor="ctr"/>
          <a:lstStyle/>
          <a:p>
            <a:pPr marL="0" indent="0">
              <a:buNone/>
            </a:pPr>
            <a:r>
              <a:rPr lang="en-US" sz="850" dirty="0">
                <a:solidFill>
                  <a:srgbClr val="475569"/>
                </a:solidFill>
                <a:latin typeface="Consolas" panose="020B0609020204030204" pitchFamily="34" charset="0"/>
                <a:ea typeface="Consolas" panose="020B0609020204030204" pitchFamily="34" charset="-122"/>
                <a:cs typeface="Consolas" panose="020B0609020204030204" pitchFamily="34" charset="-120"/>
              </a:rPr>
              <a:t>0x0000</a:t>
            </a:r>
            <a:endParaRPr lang="en-US" sz="850" dirty="0"/>
          </a:p>
        </p:txBody>
      </p:sp>
      <p:sp>
        <p:nvSpPr>
          <p:cNvPr id="23" name="Text 21"/>
          <p:cNvSpPr/>
          <p:nvPr/>
        </p:nvSpPr>
        <p:spPr>
          <a:xfrm>
            <a:off x="7114032" y="1389888"/>
            <a:ext cx="1737360" cy="219456"/>
          </a:xfrm>
          <a:prstGeom prst="rect">
            <a:avLst/>
          </a:prstGeom>
          <a:noFill/>
        </p:spPr>
        <p:txBody>
          <a:bodyPr wrap="square" lIns="0" tIns="0" rIns="0" bIns="0" rtlCol="0" anchor="ctr"/>
          <a:lstStyle/>
          <a:p>
            <a:pPr marL="0" indent="0">
              <a:buNone/>
            </a:pPr>
            <a:r>
              <a:rPr lang="en-US" sz="850" dirty="0">
                <a:solidFill>
                  <a:srgbClr val="475569"/>
                </a:solidFill>
                <a:latin typeface="Consolas" panose="020B0609020204030204" pitchFamily="34" charset="0"/>
                <a:ea typeface="Consolas" panose="020B0609020204030204" pitchFamily="34" charset="-122"/>
                <a:cs typeface="Consolas" panose="020B0609020204030204" pitchFamily="34" charset="-120"/>
              </a:rPr>
              <a:t>FILE 0 . . . .  .L.. .. .. ,. ..</a:t>
            </a:r>
            <a:endParaRPr lang="en-US" sz="850" dirty="0"/>
          </a:p>
        </p:txBody>
      </p:sp>
      <p:sp>
        <p:nvSpPr>
          <p:cNvPr id="24" name="Text 22"/>
          <p:cNvSpPr/>
          <p:nvPr/>
        </p:nvSpPr>
        <p:spPr>
          <a:xfrm>
            <a:off x="347472" y="1645920"/>
            <a:ext cx="731520" cy="219456"/>
          </a:xfrm>
          <a:prstGeom prst="rect">
            <a:avLst/>
          </a:prstGeom>
          <a:noFill/>
        </p:spPr>
        <p:txBody>
          <a:bodyPr wrap="square" lIns="0" tIns="0" rIns="0" bIns="0" rtlCol="0" anchor="ctr"/>
          <a:lstStyle/>
          <a:p>
            <a:pPr marL="0" indent="0">
              <a:buNone/>
            </a:pPr>
            <a:r>
              <a:rPr lang="en-US" sz="850" dirty="0">
                <a:solidFill>
                  <a:srgbClr val="475569"/>
                </a:solidFill>
                <a:latin typeface="Consolas" panose="020B0609020204030204" pitchFamily="34" charset="0"/>
                <a:ea typeface="Consolas" panose="020B0609020204030204" pitchFamily="34" charset="-122"/>
                <a:cs typeface="Consolas" panose="020B0609020204030204" pitchFamily="34" charset="-120"/>
              </a:rPr>
              <a:t>0x0010</a:t>
            </a:r>
            <a:endParaRPr lang="en-US" sz="850" dirty="0"/>
          </a:p>
        </p:txBody>
      </p:sp>
      <p:sp>
        <p:nvSpPr>
          <p:cNvPr id="30" name="Text 28"/>
          <p:cNvSpPr/>
          <p:nvPr/>
        </p:nvSpPr>
        <p:spPr>
          <a:xfrm>
            <a:off x="7114032" y="1645920"/>
            <a:ext cx="1737360" cy="219456"/>
          </a:xfrm>
          <a:prstGeom prst="rect">
            <a:avLst/>
          </a:prstGeom>
          <a:noFill/>
        </p:spPr>
        <p:txBody>
          <a:bodyPr wrap="square" lIns="0" tIns="0" rIns="0" bIns="0" rtlCol="0" anchor="ctr"/>
          <a:lstStyle/>
          <a:p>
            <a:pPr marL="0" indent="0">
              <a:buNone/>
            </a:pPr>
            <a:r>
              <a:rPr lang="en-US" sz="850" dirty="0">
                <a:solidFill>
                  <a:srgbClr val="475569"/>
                </a:solidFill>
                <a:latin typeface="Consolas" panose="020B0609020204030204" pitchFamily="34" charset="0"/>
                <a:ea typeface="Consolas" panose="020B0609020204030204" pitchFamily="34" charset="-122"/>
                <a:cs typeface="Consolas" panose="020B0609020204030204" pitchFamily="34" charset="-120"/>
              </a:rPr>
              <a:t>8.  ..  ....  ....  ....  ....</a:t>
            </a:r>
            <a:endParaRPr lang="en-US" sz="850" dirty="0"/>
          </a:p>
        </p:txBody>
      </p:sp>
      <p:sp>
        <p:nvSpPr>
          <p:cNvPr id="31" name="Text 29"/>
          <p:cNvSpPr/>
          <p:nvPr/>
        </p:nvSpPr>
        <p:spPr>
          <a:xfrm>
            <a:off x="347472" y="1901952"/>
            <a:ext cx="731520" cy="219456"/>
          </a:xfrm>
          <a:prstGeom prst="rect">
            <a:avLst/>
          </a:prstGeom>
          <a:noFill/>
        </p:spPr>
        <p:txBody>
          <a:bodyPr wrap="square" lIns="0" tIns="0" rIns="0" bIns="0" rtlCol="0" anchor="ctr"/>
          <a:lstStyle/>
          <a:p>
            <a:pPr marL="0" indent="0">
              <a:buNone/>
            </a:pPr>
            <a:r>
              <a:rPr lang="en-US" sz="850" dirty="0">
                <a:solidFill>
                  <a:srgbClr val="475569"/>
                </a:solidFill>
                <a:latin typeface="Consolas" panose="020B0609020204030204" pitchFamily="34" charset="0"/>
                <a:ea typeface="Consolas" panose="020B0609020204030204" pitchFamily="34" charset="-122"/>
                <a:cs typeface="Consolas" panose="020B0609020204030204" pitchFamily="34" charset="-120"/>
              </a:rPr>
              <a:t>0x0020</a:t>
            </a:r>
            <a:endParaRPr lang="en-US" sz="850" dirty="0"/>
          </a:p>
        </p:txBody>
      </p:sp>
      <p:sp>
        <p:nvSpPr>
          <p:cNvPr id="37" name="Text 35"/>
          <p:cNvSpPr/>
          <p:nvPr/>
        </p:nvSpPr>
        <p:spPr>
          <a:xfrm>
            <a:off x="7114032" y="1901952"/>
            <a:ext cx="1737360" cy="219456"/>
          </a:xfrm>
          <a:prstGeom prst="rect">
            <a:avLst/>
          </a:prstGeom>
          <a:noFill/>
        </p:spPr>
        <p:txBody>
          <a:bodyPr wrap="square" lIns="0" tIns="0" rIns="0" bIns="0" rtlCol="0" anchor="ctr"/>
          <a:lstStyle/>
          <a:p>
            <a:pPr marL="0" indent="0">
              <a:buNone/>
            </a:pPr>
            <a:r>
              <a:rPr lang="en-US" sz="850" dirty="0">
                <a:solidFill>
                  <a:srgbClr val="475569"/>
                </a:solidFill>
                <a:latin typeface="Consolas" panose="020B0609020204030204" pitchFamily="34" charset="0"/>
                <a:ea typeface="Consolas" panose="020B0609020204030204" pitchFamily="34" charset="-122"/>
                <a:cs typeface="Consolas" panose="020B0609020204030204" pitchFamily="34" charset="-120"/>
              </a:rPr>
              <a:t>..  ....  ....  ....  ..</a:t>
            </a:r>
            <a:endParaRPr lang="en-US" sz="850" dirty="0"/>
          </a:p>
        </p:txBody>
      </p:sp>
      <p:sp>
        <p:nvSpPr>
          <p:cNvPr id="38" name="Shape 36"/>
          <p:cNvSpPr/>
          <p:nvPr/>
        </p:nvSpPr>
        <p:spPr>
          <a:xfrm>
            <a:off x="256032" y="3200400"/>
            <a:ext cx="2029968" cy="1188720"/>
          </a:xfrm>
          <a:prstGeom prst="rect">
            <a:avLst/>
          </a:prstGeom>
          <a:solidFill>
            <a:srgbClr val="EEF6FB"/>
          </a:solidFill>
          <a:ln w="12700">
            <a:solidFill>
              <a:srgbClr val="EF4444"/>
            </a:solidFill>
            <a:prstDash val="solid"/>
          </a:ln>
          <a:effectLst>
            <a:outerShdw blurRad="127000" dist="38100" dir="8100000" algn="bl" rotWithShape="0">
              <a:srgbClr val="000000">
                <a:alpha val="22000"/>
              </a:srgbClr>
            </a:outerShdw>
          </a:effectLst>
        </p:spPr>
        <p:txBody>
          <a:bodyPr/>
          <a:lstStyle/>
          <a:p>
            <a:endParaRPr lang="en-SG"/>
          </a:p>
        </p:txBody>
      </p:sp>
      <p:sp>
        <p:nvSpPr>
          <p:cNvPr id="39" name="Shape 37"/>
          <p:cNvSpPr/>
          <p:nvPr/>
        </p:nvSpPr>
        <p:spPr>
          <a:xfrm>
            <a:off x="256032" y="3200400"/>
            <a:ext cx="2029968" cy="256032"/>
          </a:xfrm>
          <a:prstGeom prst="rect">
            <a:avLst/>
          </a:prstGeom>
          <a:solidFill>
            <a:srgbClr val="EF4444"/>
          </a:solidFill>
          <a:ln w="12700">
            <a:solidFill>
              <a:srgbClr val="EF4444"/>
            </a:solidFill>
            <a:prstDash val="solid"/>
          </a:ln>
        </p:spPr>
        <p:txBody>
          <a:bodyPr/>
          <a:lstStyle/>
          <a:p>
            <a:endParaRPr lang="en-SG"/>
          </a:p>
        </p:txBody>
      </p:sp>
      <p:sp>
        <p:nvSpPr>
          <p:cNvPr id="40" name="Text 38"/>
          <p:cNvSpPr/>
          <p:nvPr/>
        </p:nvSpPr>
        <p:spPr>
          <a:xfrm>
            <a:off x="347472" y="3236976"/>
            <a:ext cx="1883664" cy="201168"/>
          </a:xfrm>
          <a:prstGeom prst="rect">
            <a:avLst/>
          </a:prstGeom>
          <a:noFill/>
        </p:spPr>
        <p:txBody>
          <a:bodyPr wrap="square" lIns="0" tIns="0" rIns="0" bIns="0" rtlCol="0" anchor="ctr"/>
          <a:lstStyle/>
          <a:p>
            <a:pPr marL="0" indent="0">
              <a:buNone/>
            </a:pPr>
            <a:r>
              <a:rPr lang="en-US" sz="9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'FILE' Signature (0x00–0x03)</a:t>
            </a:r>
            <a:endParaRPr lang="en-US" sz="900" dirty="0"/>
          </a:p>
        </p:txBody>
      </p:sp>
      <p:sp>
        <p:nvSpPr>
          <p:cNvPr id="41" name="Text 39"/>
          <p:cNvSpPr/>
          <p:nvPr/>
        </p:nvSpPr>
        <p:spPr>
          <a:xfrm>
            <a:off x="347472" y="3493008"/>
            <a:ext cx="1865376" cy="841248"/>
          </a:xfrm>
          <a:prstGeom prst="rect">
            <a:avLst/>
          </a:prstGeom>
          <a:noFill/>
        </p:spPr>
        <p:txBody>
          <a:bodyPr wrap="square" rtlCol="0" anchor="t"/>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46 49 4C 45 = ASCII 'FILE'. This 4-byte signature marks the start of every valid MFT record. Forensic tools scan for this signature during MFT carving from raw disk images.</a:t>
            </a:r>
            <a:endParaRPr lang="en-US" sz="850" dirty="0"/>
          </a:p>
        </p:txBody>
      </p:sp>
      <p:sp>
        <p:nvSpPr>
          <p:cNvPr id="42" name="Shape 40"/>
          <p:cNvSpPr/>
          <p:nvPr/>
        </p:nvSpPr>
        <p:spPr>
          <a:xfrm>
            <a:off x="2395728" y="3200400"/>
            <a:ext cx="2029968" cy="1188720"/>
          </a:xfrm>
          <a:prstGeom prst="rect">
            <a:avLst/>
          </a:prstGeom>
          <a:solidFill>
            <a:srgbClr val="EEF6FB"/>
          </a:solidFill>
          <a:ln w="12700">
            <a:solidFill>
              <a:srgbClr val="6366F1"/>
            </a:solidFill>
            <a:prstDash val="solid"/>
          </a:ln>
          <a:effectLst>
            <a:outerShdw blurRad="127000" dist="38100" dir="8100000" algn="bl" rotWithShape="0">
              <a:srgbClr val="000000">
                <a:alpha val="22000"/>
              </a:srgbClr>
            </a:outerShdw>
          </a:effectLst>
        </p:spPr>
        <p:txBody>
          <a:bodyPr/>
          <a:lstStyle/>
          <a:p>
            <a:endParaRPr lang="en-SG"/>
          </a:p>
        </p:txBody>
      </p:sp>
      <p:sp>
        <p:nvSpPr>
          <p:cNvPr id="43" name="Shape 41"/>
          <p:cNvSpPr/>
          <p:nvPr/>
        </p:nvSpPr>
        <p:spPr>
          <a:xfrm>
            <a:off x="2395728" y="3200400"/>
            <a:ext cx="2029968" cy="256032"/>
          </a:xfrm>
          <a:prstGeom prst="rect">
            <a:avLst/>
          </a:prstGeom>
          <a:solidFill>
            <a:srgbClr val="6366F1"/>
          </a:solidFill>
          <a:ln w="12700">
            <a:solidFill>
              <a:srgbClr val="6366F1"/>
            </a:solidFill>
            <a:prstDash val="solid"/>
          </a:ln>
        </p:spPr>
        <p:txBody>
          <a:bodyPr/>
          <a:lstStyle/>
          <a:p>
            <a:endParaRPr lang="en-SG"/>
          </a:p>
        </p:txBody>
      </p:sp>
      <p:sp>
        <p:nvSpPr>
          <p:cNvPr id="44" name="Text 42"/>
          <p:cNvSpPr/>
          <p:nvPr/>
        </p:nvSpPr>
        <p:spPr>
          <a:xfrm>
            <a:off x="2487168" y="3236976"/>
            <a:ext cx="1883664" cy="201168"/>
          </a:xfrm>
          <a:prstGeom prst="rect">
            <a:avLst/>
          </a:prstGeom>
          <a:noFill/>
        </p:spPr>
        <p:txBody>
          <a:bodyPr wrap="square" lIns="0" tIns="0" rIns="0" bIns="0" rtlCol="0" anchor="ctr"/>
          <a:lstStyle/>
          <a:p>
            <a:pPr marL="0" indent="0">
              <a:buNone/>
            </a:pPr>
            <a:r>
              <a:rPr lang="en-US" sz="9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Log Sequence Number (0x08–0x0F)</a:t>
            </a:r>
            <a:endParaRPr lang="en-US" sz="900" dirty="0"/>
          </a:p>
        </p:txBody>
      </p:sp>
      <p:sp>
        <p:nvSpPr>
          <p:cNvPr id="45" name="Text 43"/>
          <p:cNvSpPr/>
          <p:nvPr/>
        </p:nvSpPr>
        <p:spPr>
          <a:xfrm>
            <a:off x="2487168" y="3493008"/>
            <a:ext cx="1865376" cy="841248"/>
          </a:xfrm>
          <a:prstGeom prst="rect">
            <a:avLst/>
          </a:prstGeom>
          <a:noFill/>
        </p:spPr>
        <p:txBody>
          <a:bodyPr wrap="square" rtlCol="0" anchor="t"/>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64-bit LSN. Increments with each metadata change. Forensic use: comparing LSNs across records reveals the order of operations — earlier changes have lower LSNs.</a:t>
            </a:r>
            <a:endParaRPr lang="en-US" sz="850" dirty="0"/>
          </a:p>
        </p:txBody>
      </p:sp>
      <p:sp>
        <p:nvSpPr>
          <p:cNvPr id="46" name="Shape 44"/>
          <p:cNvSpPr/>
          <p:nvPr/>
        </p:nvSpPr>
        <p:spPr>
          <a:xfrm>
            <a:off x="4535424" y="3200400"/>
            <a:ext cx="2029968" cy="1188720"/>
          </a:xfrm>
          <a:prstGeom prst="rect">
            <a:avLst/>
          </a:prstGeom>
          <a:solidFill>
            <a:srgbClr val="EEF6FB"/>
          </a:solidFill>
          <a:ln w="12700">
            <a:solidFill>
              <a:srgbClr val="A855F7"/>
            </a:solidFill>
            <a:prstDash val="solid"/>
          </a:ln>
          <a:effectLst>
            <a:outerShdw blurRad="127000" dist="38100" dir="8100000" algn="bl" rotWithShape="0">
              <a:srgbClr val="000000">
                <a:alpha val="22000"/>
              </a:srgbClr>
            </a:outerShdw>
          </a:effectLst>
        </p:spPr>
        <p:txBody>
          <a:bodyPr/>
          <a:lstStyle/>
          <a:p>
            <a:endParaRPr lang="en-SG"/>
          </a:p>
        </p:txBody>
      </p:sp>
      <p:sp>
        <p:nvSpPr>
          <p:cNvPr id="47" name="Shape 45"/>
          <p:cNvSpPr/>
          <p:nvPr/>
        </p:nvSpPr>
        <p:spPr>
          <a:xfrm>
            <a:off x="4535424" y="3200400"/>
            <a:ext cx="2029968" cy="256032"/>
          </a:xfrm>
          <a:prstGeom prst="rect">
            <a:avLst/>
          </a:prstGeom>
          <a:solidFill>
            <a:srgbClr val="A855F7"/>
          </a:solidFill>
          <a:ln w="12700">
            <a:solidFill>
              <a:srgbClr val="A855F7"/>
            </a:solidFill>
            <a:prstDash val="solid"/>
          </a:ln>
        </p:spPr>
        <p:txBody>
          <a:bodyPr/>
          <a:lstStyle/>
          <a:p>
            <a:endParaRPr lang="en-SG"/>
          </a:p>
        </p:txBody>
      </p:sp>
      <p:sp>
        <p:nvSpPr>
          <p:cNvPr id="48" name="Text 46"/>
          <p:cNvSpPr/>
          <p:nvPr/>
        </p:nvSpPr>
        <p:spPr>
          <a:xfrm>
            <a:off x="4626864" y="3236976"/>
            <a:ext cx="1883664" cy="201168"/>
          </a:xfrm>
          <a:prstGeom prst="rect">
            <a:avLst/>
          </a:prstGeom>
          <a:noFill/>
        </p:spPr>
        <p:txBody>
          <a:bodyPr wrap="square" lIns="0" tIns="0" rIns="0" bIns="0" rtlCol="0" anchor="ctr"/>
          <a:lstStyle/>
          <a:p>
            <a:pPr marL="0" indent="0">
              <a:buNone/>
            </a:pPr>
            <a:r>
              <a:rPr lang="en-US" sz="9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Flags (0x16–0x17)</a:t>
            </a:r>
            <a:endParaRPr lang="en-US" sz="900" dirty="0"/>
          </a:p>
        </p:txBody>
      </p:sp>
      <p:sp>
        <p:nvSpPr>
          <p:cNvPr id="49" name="Text 47"/>
          <p:cNvSpPr/>
          <p:nvPr/>
        </p:nvSpPr>
        <p:spPr>
          <a:xfrm>
            <a:off x="4626864" y="3493008"/>
            <a:ext cx="1865376" cy="841248"/>
          </a:xfrm>
          <a:prstGeom prst="rect">
            <a:avLst/>
          </a:prstGeom>
          <a:noFill/>
        </p:spPr>
        <p:txBody>
          <a:bodyPr wrap="square" rtlCol="0" anchor="t"/>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0x0001 = In use (file is active). 0x0002 = Directory. 0x0000 = Deleted record (flag cleared). Examiners check this to confirm whether the record represents a live or deleted file.</a:t>
            </a:r>
            <a:endParaRPr lang="en-US" sz="850" dirty="0"/>
          </a:p>
        </p:txBody>
      </p:sp>
      <p:sp>
        <p:nvSpPr>
          <p:cNvPr id="50" name="Shape 48"/>
          <p:cNvSpPr/>
          <p:nvPr/>
        </p:nvSpPr>
        <p:spPr>
          <a:xfrm>
            <a:off x="6675120" y="3200400"/>
            <a:ext cx="2029968" cy="1188720"/>
          </a:xfrm>
          <a:prstGeom prst="rect">
            <a:avLst/>
          </a:prstGeom>
          <a:solidFill>
            <a:srgbClr val="EEF6FB"/>
          </a:solidFill>
          <a:ln w="12700">
            <a:solidFill>
              <a:srgbClr val="F59E0B"/>
            </a:solidFill>
            <a:prstDash val="solid"/>
          </a:ln>
          <a:effectLst>
            <a:outerShdw blurRad="127000" dist="38100" dir="8100000" algn="bl" rotWithShape="0">
              <a:srgbClr val="000000">
                <a:alpha val="22000"/>
              </a:srgbClr>
            </a:outerShdw>
          </a:effectLst>
        </p:spPr>
        <p:txBody>
          <a:bodyPr/>
          <a:lstStyle/>
          <a:p>
            <a:endParaRPr lang="en-SG"/>
          </a:p>
        </p:txBody>
      </p:sp>
      <p:sp>
        <p:nvSpPr>
          <p:cNvPr id="51" name="Shape 49"/>
          <p:cNvSpPr/>
          <p:nvPr/>
        </p:nvSpPr>
        <p:spPr>
          <a:xfrm>
            <a:off x="6675120" y="3200400"/>
            <a:ext cx="2029968" cy="256032"/>
          </a:xfrm>
          <a:prstGeom prst="rect">
            <a:avLst/>
          </a:prstGeom>
          <a:solidFill>
            <a:srgbClr val="F59E0B"/>
          </a:solidFill>
          <a:ln w="12700">
            <a:solidFill>
              <a:srgbClr val="F59E0B"/>
            </a:solidFill>
            <a:prstDash val="solid"/>
          </a:ln>
        </p:spPr>
        <p:txBody>
          <a:bodyPr/>
          <a:lstStyle/>
          <a:p>
            <a:endParaRPr lang="en-SG"/>
          </a:p>
        </p:txBody>
      </p:sp>
      <p:sp>
        <p:nvSpPr>
          <p:cNvPr id="52" name="Text 50"/>
          <p:cNvSpPr/>
          <p:nvPr/>
        </p:nvSpPr>
        <p:spPr>
          <a:xfrm>
            <a:off x="6766560" y="3236976"/>
            <a:ext cx="1883664" cy="201168"/>
          </a:xfrm>
          <a:prstGeom prst="rect">
            <a:avLst/>
          </a:prstGeom>
          <a:noFill/>
        </p:spPr>
        <p:txBody>
          <a:bodyPr wrap="square" lIns="0" tIns="0" rIns="0" bIns="0" rtlCol="0" anchor="ctr"/>
          <a:lstStyle/>
          <a:p>
            <a:pPr marL="0" indent="0">
              <a:buNone/>
            </a:pPr>
            <a:r>
              <a:rPr lang="en-US" sz="9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Attribute Type 0x10 ($STANDARD_INFORMATION)</a:t>
            </a:r>
            <a:endParaRPr lang="en-US" sz="900" dirty="0"/>
          </a:p>
        </p:txBody>
      </p:sp>
      <p:sp>
        <p:nvSpPr>
          <p:cNvPr id="53" name="Text 51"/>
          <p:cNvSpPr/>
          <p:nvPr/>
        </p:nvSpPr>
        <p:spPr>
          <a:xfrm>
            <a:off x="6766560" y="3493008"/>
            <a:ext cx="1865376" cy="841248"/>
          </a:xfrm>
          <a:prstGeom prst="rect">
            <a:avLst/>
          </a:prstGeom>
          <a:noFill/>
        </p:spPr>
        <p:txBody>
          <a:bodyPr wrap="square" rtlCol="0" anchor="t"/>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The first attribute after the header. Contains file timestamps (MACB), security ID, and archive flag. This is the first place an examiner looks for timestamps.</a:t>
            </a:r>
            <a:endParaRPr lang="en-US" sz="850" dirty="0"/>
          </a:p>
        </p:txBody>
      </p:sp>
      <p:sp>
        <p:nvSpPr>
          <p:cNvPr id="54" name="TextBox 53"/>
          <p:cNvSpPr txBox="1"/>
          <p:nvPr/>
        </p:nvSpPr>
        <p:spPr>
          <a:xfrm>
            <a:off x="1115568" y="1389888"/>
            <a:ext cx="5943600" cy="182880"/>
          </a:xfrm>
          <a:prstGeom prst="rect">
            <a:avLst/>
          </a:prstGeom>
          <a:noFill/>
        </p:spPr>
        <p:txBody>
          <a:bodyPr wrap="none" lIns="0" tIns="0" rIns="0" bIns="0">
            <a:spAutoFit/>
          </a:bodyPr>
          <a:lstStyle/>
          <a:p>
            <a:r>
              <a:rPr sz="800">
                <a:solidFill>
                  <a:srgbClr val="EF4444"/>
                </a:solidFill>
                <a:latin typeface="Consolas" panose="020B0609020204030204" pitchFamily="34" charset="0"/>
              </a:rPr>
              <a:t>46  49  4C  45  </a:t>
            </a:r>
            <a:r>
              <a:rPr sz="800">
                <a:solidFill>
                  <a:srgbClr val="F59E0B"/>
                </a:solidFill>
                <a:latin typeface="Consolas" panose="020B0609020204030204" pitchFamily="34" charset="0"/>
              </a:rPr>
              <a:t>30  00  </a:t>
            </a:r>
            <a:r>
              <a:rPr sz="800">
                <a:solidFill>
                  <a:srgbClr val="94A3B8"/>
                </a:solidFill>
                <a:latin typeface="Consolas" panose="020B0609020204030204" pitchFamily="34" charset="0"/>
              </a:rPr>
              <a:t>03  00    </a:t>
            </a:r>
            <a:r>
              <a:rPr sz="800">
                <a:solidFill>
                  <a:srgbClr val="6366F1"/>
                </a:solidFill>
                <a:latin typeface="Consolas" panose="020B0609020204030204" pitchFamily="34" charset="0"/>
              </a:rPr>
              <a:t>8A  4C  B2  00  00  00  00  00</a:t>
            </a:r>
            <a:endParaRPr sz="800">
              <a:solidFill>
                <a:srgbClr val="6366F1"/>
              </a:solidFill>
              <a:latin typeface="Consolas" panose="020B0609020204030204" pitchFamily="34" charset="0"/>
            </a:endParaRPr>
          </a:p>
        </p:txBody>
      </p:sp>
      <p:sp>
        <p:nvSpPr>
          <p:cNvPr id="55" name="TextBox 54"/>
          <p:cNvSpPr txBox="1"/>
          <p:nvPr/>
        </p:nvSpPr>
        <p:spPr>
          <a:xfrm>
            <a:off x="1115568" y="1645920"/>
            <a:ext cx="5943600" cy="182880"/>
          </a:xfrm>
          <a:prstGeom prst="rect">
            <a:avLst/>
          </a:prstGeom>
          <a:noFill/>
        </p:spPr>
        <p:txBody>
          <a:bodyPr wrap="none" lIns="0" tIns="0" rIns="0" bIns="0">
            <a:spAutoFit/>
          </a:bodyPr>
          <a:lstStyle/>
          <a:p>
            <a:r>
              <a:rPr sz="800">
                <a:solidFill>
                  <a:srgbClr val="10B981"/>
                </a:solidFill>
                <a:latin typeface="Consolas" panose="020B0609020204030204" pitchFamily="34" charset="0"/>
              </a:rPr>
              <a:t>2C  00  </a:t>
            </a:r>
            <a:r>
              <a:rPr sz="800">
                <a:solidFill>
                  <a:srgbClr val="A855F7"/>
                </a:solidFill>
                <a:latin typeface="Consolas" panose="020B0609020204030204" pitchFamily="34" charset="0"/>
              </a:rPr>
              <a:t>01  00  </a:t>
            </a:r>
            <a:r>
              <a:rPr sz="800">
                <a:solidFill>
                  <a:srgbClr val="F59E0B"/>
                </a:solidFill>
                <a:latin typeface="Consolas" panose="020B0609020204030204" pitchFamily="34" charset="0"/>
              </a:rPr>
              <a:t>38  00  </a:t>
            </a:r>
            <a:r>
              <a:rPr sz="800">
                <a:solidFill>
                  <a:srgbClr val="A855F7"/>
                </a:solidFill>
                <a:latin typeface="Consolas" panose="020B0609020204030204" pitchFamily="34" charset="0"/>
              </a:rPr>
              <a:t>01  00    </a:t>
            </a:r>
            <a:r>
              <a:rPr sz="800">
                <a:solidFill>
                  <a:srgbClr val="94A3B8"/>
                </a:solidFill>
                <a:latin typeface="Consolas" panose="020B0609020204030204" pitchFamily="34" charset="0"/>
              </a:rPr>
              <a:t>00  04  00  00  00  00  00  00</a:t>
            </a:r>
            <a:endParaRPr sz="800">
              <a:solidFill>
                <a:srgbClr val="94A3B8"/>
              </a:solidFill>
              <a:latin typeface="Consolas" panose="020B0609020204030204" pitchFamily="34" charset="0"/>
            </a:endParaRPr>
          </a:p>
        </p:txBody>
      </p:sp>
      <p:sp>
        <p:nvSpPr>
          <p:cNvPr id="56" name="TextBox 55"/>
          <p:cNvSpPr txBox="1"/>
          <p:nvPr/>
        </p:nvSpPr>
        <p:spPr>
          <a:xfrm>
            <a:off x="1115568" y="1901952"/>
            <a:ext cx="5943600" cy="182880"/>
          </a:xfrm>
          <a:prstGeom prst="rect">
            <a:avLst/>
          </a:prstGeom>
          <a:noFill/>
        </p:spPr>
        <p:txBody>
          <a:bodyPr wrap="none" lIns="0" tIns="0" rIns="0" bIns="0">
            <a:spAutoFit/>
          </a:bodyPr>
          <a:lstStyle/>
          <a:p>
            <a:r>
              <a:rPr sz="800">
                <a:solidFill>
                  <a:srgbClr val="0EA5E9"/>
                </a:solidFill>
                <a:latin typeface="Consolas" panose="020B0609020204030204" pitchFamily="34" charset="0"/>
              </a:rPr>
              <a:t>03  00  00  00  00  00  00  00    </a:t>
            </a:r>
            <a:r>
              <a:rPr sz="800">
                <a:solidFill>
                  <a:srgbClr val="94A3B8"/>
                </a:solidFill>
                <a:latin typeface="Consolas" panose="020B0609020204030204" pitchFamily="34" charset="0"/>
              </a:rPr>
              <a:t>02  00  </a:t>
            </a:r>
            <a:r>
              <a:rPr sz="800">
                <a:solidFill>
                  <a:srgbClr val="F59E0B"/>
                </a:solidFill>
                <a:latin typeface="Consolas" panose="020B0609020204030204" pitchFamily="34" charset="0"/>
              </a:rPr>
              <a:t>10  00  00  00  </a:t>
            </a:r>
            <a:r>
              <a:rPr sz="800">
                <a:solidFill>
                  <a:srgbClr val="94A3B8"/>
                </a:solidFill>
                <a:latin typeface="Consolas" panose="020B0609020204030204" pitchFamily="34" charset="0"/>
              </a:rPr>
              <a:t>60  00</a:t>
            </a:r>
            <a:endParaRPr sz="800">
              <a:solidFill>
                <a:srgbClr val="94A3B8"/>
              </a:solidFill>
              <a:latin typeface="Consolas" panose="020B0609020204030204" pitchFamily="3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EA5E9"/>
          </a:solidFill>
          <a:ln w="12700">
            <a:solidFill>
              <a:srgbClr val="0EA5E9"/>
            </a:solidFill>
            <a:prstDash val="solid"/>
          </a:ln>
        </p:spPr>
        <p:txBody>
          <a:bodyPr/>
          <a:lstStyle/>
          <a:p>
            <a:endParaRPr lang="en-SG"/>
          </a:p>
        </p:txBody>
      </p:sp>
      <p:sp>
        <p:nvSpPr>
          <p:cNvPr id="3" name="Text 1"/>
          <p:cNvSpPr/>
          <p:nvPr/>
        </p:nvSpPr>
        <p:spPr>
          <a:xfrm>
            <a:off x="256032" y="201344"/>
            <a:ext cx="8631936" cy="548640"/>
          </a:xfrm>
          <a:prstGeom prst="rect">
            <a:avLst/>
          </a:prstGeom>
          <a:noFill/>
        </p:spPr>
        <p:txBody>
          <a:bodyPr wrap="square" lIns="0" tIns="0" rIns="0" bIns="0" rtlCol="0" anchor="ctr"/>
          <a:lstStyle/>
          <a:p>
            <a:pPr marL="0" indent="0">
              <a:buNone/>
            </a:pPr>
            <a:r>
              <a:rPr lang="en-US" sz="1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NTFS — Maximum Volume &amp; File Size Limits</a:t>
            </a:r>
            <a:endParaRPr lang="en-US" sz="1800" dirty="0"/>
          </a:p>
        </p:txBody>
      </p:sp>
      <p:sp>
        <p:nvSpPr>
          <p:cNvPr id="4" name="Shape 2"/>
          <p:cNvSpPr/>
          <p:nvPr/>
        </p:nvSpPr>
        <p:spPr>
          <a:xfrm>
            <a:off x="256032" y="73152"/>
            <a:ext cx="1463040" cy="219456"/>
          </a:xfrm>
          <a:prstGeom prst="rect">
            <a:avLst/>
          </a:prstGeom>
          <a:solidFill>
            <a:srgbClr val="0EA5E9"/>
          </a:solidFill>
          <a:ln w="12700">
            <a:solidFill>
              <a:srgbClr val="0EA5E9"/>
            </a:solidFill>
            <a:prstDash val="solid"/>
          </a:ln>
        </p:spPr>
        <p:txBody>
          <a:bodyPr/>
          <a:lstStyle/>
          <a:p>
            <a:endParaRPr lang="en-SG"/>
          </a:p>
        </p:txBody>
      </p:sp>
      <p:sp>
        <p:nvSpPr>
          <p:cNvPr id="5" name="Text 3"/>
          <p:cNvSpPr/>
          <p:nvPr/>
        </p:nvSpPr>
        <p:spPr>
          <a:xfrm>
            <a:off x="256032" y="73152"/>
            <a:ext cx="1463040" cy="219456"/>
          </a:xfrm>
          <a:prstGeom prst="rect">
            <a:avLst/>
          </a:prstGeom>
          <a:noFill/>
        </p:spPr>
        <p:txBody>
          <a:bodyPr wrap="square" lIns="0" tIns="0" rIns="0" bIns="0" rtlCol="0" anchor="ctr"/>
          <a:lstStyle/>
          <a:p>
            <a:pPr marL="0" indent="0" algn="ctr">
              <a:buNone/>
            </a:pPr>
            <a:r>
              <a:rPr lang="en-US" sz="800" b="1" kern="0" spc="100"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SECTION 03 — NTFS</a:t>
            </a:r>
            <a:endParaRPr lang="en-US" sz="800" dirty="0"/>
          </a:p>
        </p:txBody>
      </p:sp>
      <p:sp>
        <p:nvSpPr>
          <p:cNvPr id="10" name="Shape 8"/>
          <p:cNvSpPr/>
          <p:nvPr/>
        </p:nvSpPr>
        <p:spPr>
          <a:xfrm>
            <a:off x="256032" y="822960"/>
            <a:ext cx="2798064" cy="1316736"/>
          </a:xfrm>
          <a:prstGeom prst="rect">
            <a:avLst/>
          </a:prstGeom>
          <a:solidFill>
            <a:srgbClr val="EEF6FB"/>
          </a:solidFill>
          <a:ln w="12700">
            <a:solidFill>
              <a:srgbClr val="0EA5E9"/>
            </a:solidFill>
            <a:prstDash val="solid"/>
          </a:ln>
          <a:effectLst>
            <a:outerShdw blurRad="127000" dist="38100" dir="8100000" algn="bl" rotWithShape="0">
              <a:srgbClr val="000000">
                <a:alpha val="22000"/>
              </a:srgbClr>
            </a:outerShdw>
          </a:effectLst>
        </p:spPr>
        <p:txBody>
          <a:bodyPr/>
          <a:lstStyle/>
          <a:p>
            <a:endParaRPr lang="en-SG"/>
          </a:p>
        </p:txBody>
      </p:sp>
      <p:sp>
        <p:nvSpPr>
          <p:cNvPr id="11" name="Shape 9"/>
          <p:cNvSpPr/>
          <p:nvPr/>
        </p:nvSpPr>
        <p:spPr>
          <a:xfrm>
            <a:off x="256032" y="822960"/>
            <a:ext cx="2798064" cy="274320"/>
          </a:xfrm>
          <a:prstGeom prst="rect">
            <a:avLst/>
          </a:prstGeom>
          <a:solidFill>
            <a:srgbClr val="0EA5E9"/>
          </a:solidFill>
          <a:ln w="12700">
            <a:solidFill>
              <a:srgbClr val="0EA5E9"/>
            </a:solidFill>
            <a:prstDash val="solid"/>
          </a:ln>
        </p:spPr>
        <p:txBody>
          <a:bodyPr/>
          <a:lstStyle/>
          <a:p>
            <a:endParaRPr lang="en-SG"/>
          </a:p>
        </p:txBody>
      </p:sp>
      <p:sp>
        <p:nvSpPr>
          <p:cNvPr id="12" name="Text 10"/>
          <p:cNvSpPr/>
          <p:nvPr/>
        </p:nvSpPr>
        <p:spPr>
          <a:xfrm>
            <a:off x="347472" y="841248"/>
            <a:ext cx="2615184" cy="237744"/>
          </a:xfrm>
          <a:prstGeom prst="rect">
            <a:avLst/>
          </a:prstGeom>
          <a:noFill/>
        </p:spPr>
        <p:txBody>
          <a:bodyPr wrap="square" lIns="0" tIns="0" rIns="0" bIns="0" rtlCol="0" anchor="ctr"/>
          <a:lstStyle/>
          <a:p>
            <a:pPr marL="0" indent="0">
              <a:buNone/>
            </a:pPr>
            <a:r>
              <a:rPr lang="en-US" sz="9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Maximum Volume Size</a:t>
            </a:r>
            <a:endParaRPr lang="en-US" sz="900" dirty="0"/>
          </a:p>
          <a:p>
            <a:pPr marL="0" indent="0">
              <a:buNone/>
            </a:pPr>
            <a:r>
              <a:rPr lang="en-US" sz="9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(Windows limit)</a:t>
            </a:r>
            <a:endParaRPr lang="en-US" sz="900" dirty="0"/>
          </a:p>
        </p:txBody>
      </p:sp>
      <p:sp>
        <p:nvSpPr>
          <p:cNvPr id="13" name="Text 11"/>
          <p:cNvSpPr/>
          <p:nvPr/>
        </p:nvSpPr>
        <p:spPr>
          <a:xfrm>
            <a:off x="347472" y="1133856"/>
            <a:ext cx="2615184" cy="475488"/>
          </a:xfrm>
          <a:prstGeom prst="rect">
            <a:avLst/>
          </a:prstGeom>
          <a:noFill/>
        </p:spPr>
        <p:txBody>
          <a:bodyPr wrap="square" lIns="0" tIns="0" rIns="0" bIns="0" rtlCol="0" anchor="ctr"/>
          <a:lstStyle/>
          <a:p>
            <a:pPr marL="0" indent="0">
              <a:buNone/>
            </a:pPr>
            <a:r>
              <a:rPr lang="en-US" sz="2600" b="1" dirty="0">
                <a:solidFill>
                  <a:srgbClr val="0EA5E9"/>
                </a:solidFill>
                <a:latin typeface="Trebuchet MS" panose="020B0603020202020204" pitchFamily="34" charset="0"/>
                <a:ea typeface="Trebuchet MS" panose="020B0603020202020204" pitchFamily="34" charset="-122"/>
                <a:cs typeface="Trebuchet MS" panose="020B0603020202020204" pitchFamily="34" charset="-120"/>
              </a:rPr>
              <a:t>256 TiB</a:t>
            </a:r>
            <a:endParaRPr lang="en-US" sz="2600" dirty="0"/>
          </a:p>
        </p:txBody>
      </p:sp>
      <p:sp>
        <p:nvSpPr>
          <p:cNvPr id="14" name="Text 12"/>
          <p:cNvSpPr/>
          <p:nvPr/>
        </p:nvSpPr>
        <p:spPr>
          <a:xfrm>
            <a:off x="347472" y="1627632"/>
            <a:ext cx="2615184" cy="438912"/>
          </a:xfrm>
          <a:prstGeom prst="rect">
            <a:avLst/>
          </a:prstGeom>
          <a:noFill/>
        </p:spPr>
        <p:txBody>
          <a:bodyPr wrap="square" rtlCol="0" anchor="t"/>
          <a:lstStyle/>
          <a:p>
            <a:pPr marL="0" indent="0">
              <a:buNone/>
            </a:pPr>
            <a:r>
              <a:rPr lang="en-US" sz="850" dirty="0">
                <a:solidFill>
                  <a:srgbClr val="475569"/>
                </a:solidFill>
                <a:latin typeface="Calibri" panose="020F0502020204030204" pitchFamily="34" charset="0"/>
                <a:ea typeface="Calibri" panose="020F0502020204030204" pitchFamily="34" charset="-122"/>
                <a:cs typeface="Calibri" panose="020F0502020204030204" pitchFamily="34" charset="-120"/>
              </a:rPr>
              <a:t>Theoretical NTFS max: 16 EiB. Windows restricts this to 256 TiB in practice.</a:t>
            </a:r>
            <a:endParaRPr lang="en-US" sz="850" dirty="0"/>
          </a:p>
        </p:txBody>
      </p:sp>
      <p:sp>
        <p:nvSpPr>
          <p:cNvPr id="15" name="Shape 13"/>
          <p:cNvSpPr/>
          <p:nvPr/>
        </p:nvSpPr>
        <p:spPr>
          <a:xfrm>
            <a:off x="3218688" y="822960"/>
            <a:ext cx="2798064" cy="1316736"/>
          </a:xfrm>
          <a:prstGeom prst="rect">
            <a:avLst/>
          </a:prstGeom>
          <a:solidFill>
            <a:srgbClr val="EEF6FB"/>
          </a:solidFill>
          <a:ln w="12700">
            <a:solidFill>
              <a:srgbClr val="6366F1"/>
            </a:solidFill>
            <a:prstDash val="solid"/>
          </a:ln>
          <a:effectLst>
            <a:outerShdw blurRad="127000" dist="38100" dir="8100000" algn="bl" rotWithShape="0">
              <a:srgbClr val="000000">
                <a:alpha val="22000"/>
              </a:srgbClr>
            </a:outerShdw>
          </a:effectLst>
        </p:spPr>
        <p:txBody>
          <a:bodyPr/>
          <a:lstStyle/>
          <a:p>
            <a:endParaRPr lang="en-SG"/>
          </a:p>
        </p:txBody>
      </p:sp>
      <p:sp>
        <p:nvSpPr>
          <p:cNvPr id="16" name="Shape 14"/>
          <p:cNvSpPr/>
          <p:nvPr/>
        </p:nvSpPr>
        <p:spPr>
          <a:xfrm>
            <a:off x="3218688" y="822960"/>
            <a:ext cx="2798064" cy="274320"/>
          </a:xfrm>
          <a:prstGeom prst="rect">
            <a:avLst/>
          </a:prstGeom>
          <a:solidFill>
            <a:srgbClr val="6366F1"/>
          </a:solidFill>
          <a:ln w="12700">
            <a:solidFill>
              <a:srgbClr val="6366F1"/>
            </a:solidFill>
            <a:prstDash val="solid"/>
          </a:ln>
        </p:spPr>
        <p:txBody>
          <a:bodyPr/>
          <a:lstStyle/>
          <a:p>
            <a:endParaRPr lang="en-SG"/>
          </a:p>
        </p:txBody>
      </p:sp>
      <p:sp>
        <p:nvSpPr>
          <p:cNvPr id="17" name="Text 15"/>
          <p:cNvSpPr/>
          <p:nvPr/>
        </p:nvSpPr>
        <p:spPr>
          <a:xfrm>
            <a:off x="3310128" y="841248"/>
            <a:ext cx="2615184" cy="237744"/>
          </a:xfrm>
          <a:prstGeom prst="rect">
            <a:avLst/>
          </a:prstGeom>
          <a:noFill/>
        </p:spPr>
        <p:txBody>
          <a:bodyPr wrap="square" lIns="0" tIns="0" rIns="0" bIns="0" rtlCol="0" anchor="ctr"/>
          <a:lstStyle/>
          <a:p>
            <a:pPr marL="0" indent="0">
              <a:buNone/>
            </a:pPr>
            <a:r>
              <a:rPr lang="en-US" sz="9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Maximum File Size</a:t>
            </a:r>
            <a:endParaRPr lang="en-US" sz="900" dirty="0"/>
          </a:p>
        </p:txBody>
      </p:sp>
      <p:sp>
        <p:nvSpPr>
          <p:cNvPr id="18" name="Text 16"/>
          <p:cNvSpPr/>
          <p:nvPr/>
        </p:nvSpPr>
        <p:spPr>
          <a:xfrm>
            <a:off x="3310128" y="1133856"/>
            <a:ext cx="2615184" cy="475488"/>
          </a:xfrm>
          <a:prstGeom prst="rect">
            <a:avLst/>
          </a:prstGeom>
          <a:noFill/>
        </p:spPr>
        <p:txBody>
          <a:bodyPr wrap="square" lIns="0" tIns="0" rIns="0" bIns="0" rtlCol="0" anchor="ctr"/>
          <a:lstStyle/>
          <a:p>
            <a:pPr marL="0" indent="0">
              <a:buNone/>
            </a:pPr>
            <a:r>
              <a:rPr lang="en-US" sz="2600" b="1" dirty="0">
                <a:solidFill>
                  <a:srgbClr val="6366F1"/>
                </a:solidFill>
                <a:latin typeface="Trebuchet MS" panose="020B0603020202020204" pitchFamily="34" charset="0"/>
                <a:ea typeface="Trebuchet MS" panose="020B0603020202020204" pitchFamily="34" charset="-122"/>
                <a:cs typeface="Trebuchet MS" panose="020B0603020202020204" pitchFamily="34" charset="-120"/>
              </a:rPr>
              <a:t>~16 TiB</a:t>
            </a:r>
            <a:endParaRPr lang="en-US" sz="2600" dirty="0"/>
          </a:p>
        </p:txBody>
      </p:sp>
      <p:sp>
        <p:nvSpPr>
          <p:cNvPr id="19" name="Text 17"/>
          <p:cNvSpPr/>
          <p:nvPr/>
        </p:nvSpPr>
        <p:spPr>
          <a:xfrm>
            <a:off x="3310128" y="1627632"/>
            <a:ext cx="2615184" cy="438912"/>
          </a:xfrm>
          <a:prstGeom prst="rect">
            <a:avLst/>
          </a:prstGeom>
          <a:noFill/>
        </p:spPr>
        <p:txBody>
          <a:bodyPr wrap="square" rtlCol="0" anchor="t"/>
          <a:lstStyle/>
          <a:p>
            <a:pPr marL="0" indent="0">
              <a:buNone/>
            </a:pPr>
            <a:r>
              <a:rPr lang="en-US" sz="850" dirty="0">
                <a:solidFill>
                  <a:srgbClr val="475569"/>
                </a:solidFill>
                <a:latin typeface="Calibri" panose="020F0502020204030204" pitchFamily="34" charset="0"/>
                <a:ea typeface="Calibri" panose="020F0502020204030204" pitchFamily="34" charset="-122"/>
                <a:cs typeface="Calibri" panose="020F0502020204030204" pitchFamily="34" charset="-120"/>
              </a:rPr>
              <a:t>Limited by the maximum data run size. In practice, OS and hardware limits apply first.</a:t>
            </a:r>
            <a:endParaRPr lang="en-US" sz="850" dirty="0"/>
          </a:p>
        </p:txBody>
      </p:sp>
      <p:sp>
        <p:nvSpPr>
          <p:cNvPr id="20" name="Shape 18"/>
          <p:cNvSpPr/>
          <p:nvPr/>
        </p:nvSpPr>
        <p:spPr>
          <a:xfrm>
            <a:off x="6181344" y="822960"/>
            <a:ext cx="2798064" cy="1316736"/>
          </a:xfrm>
          <a:prstGeom prst="rect">
            <a:avLst/>
          </a:prstGeom>
          <a:solidFill>
            <a:srgbClr val="EEF6FB"/>
          </a:solidFill>
          <a:ln w="12700">
            <a:solidFill>
              <a:srgbClr val="F59E0B"/>
            </a:solidFill>
            <a:prstDash val="solid"/>
          </a:ln>
          <a:effectLst>
            <a:outerShdw blurRad="127000" dist="38100" dir="8100000" algn="bl" rotWithShape="0">
              <a:srgbClr val="000000">
                <a:alpha val="22000"/>
              </a:srgbClr>
            </a:outerShdw>
          </a:effectLst>
        </p:spPr>
        <p:txBody>
          <a:bodyPr/>
          <a:lstStyle/>
          <a:p>
            <a:endParaRPr lang="en-SG"/>
          </a:p>
        </p:txBody>
      </p:sp>
      <p:sp>
        <p:nvSpPr>
          <p:cNvPr id="21" name="Shape 19"/>
          <p:cNvSpPr/>
          <p:nvPr/>
        </p:nvSpPr>
        <p:spPr>
          <a:xfrm>
            <a:off x="6181344" y="822960"/>
            <a:ext cx="2798064" cy="274320"/>
          </a:xfrm>
          <a:prstGeom prst="rect">
            <a:avLst/>
          </a:prstGeom>
          <a:solidFill>
            <a:srgbClr val="F59E0B"/>
          </a:solidFill>
          <a:ln w="12700">
            <a:solidFill>
              <a:srgbClr val="F59E0B"/>
            </a:solidFill>
            <a:prstDash val="solid"/>
          </a:ln>
        </p:spPr>
        <p:txBody>
          <a:bodyPr/>
          <a:lstStyle/>
          <a:p>
            <a:endParaRPr lang="en-SG"/>
          </a:p>
        </p:txBody>
      </p:sp>
      <p:sp>
        <p:nvSpPr>
          <p:cNvPr id="22" name="Text 20"/>
          <p:cNvSpPr/>
          <p:nvPr/>
        </p:nvSpPr>
        <p:spPr>
          <a:xfrm>
            <a:off x="6272784" y="841248"/>
            <a:ext cx="2615184" cy="237744"/>
          </a:xfrm>
          <a:prstGeom prst="rect">
            <a:avLst/>
          </a:prstGeom>
          <a:noFill/>
        </p:spPr>
        <p:txBody>
          <a:bodyPr wrap="square" lIns="0" tIns="0" rIns="0" bIns="0" rtlCol="0" anchor="ctr"/>
          <a:lstStyle/>
          <a:p>
            <a:pPr marL="0" indent="0">
              <a:buNone/>
            </a:pPr>
            <a:r>
              <a:rPr lang="en-US" sz="9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FAT32 Maximum File Size</a:t>
            </a:r>
            <a:endParaRPr lang="en-US" sz="900" dirty="0"/>
          </a:p>
          <a:p>
            <a:pPr marL="0" indent="0">
              <a:buNone/>
            </a:pPr>
            <a:r>
              <a:rPr lang="en-US" sz="9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(for comparison)</a:t>
            </a:r>
            <a:endParaRPr lang="en-US" sz="900" dirty="0"/>
          </a:p>
        </p:txBody>
      </p:sp>
      <p:sp>
        <p:nvSpPr>
          <p:cNvPr id="23" name="Text 21"/>
          <p:cNvSpPr/>
          <p:nvPr/>
        </p:nvSpPr>
        <p:spPr>
          <a:xfrm>
            <a:off x="6272784" y="1133856"/>
            <a:ext cx="2615184" cy="475488"/>
          </a:xfrm>
          <a:prstGeom prst="rect">
            <a:avLst/>
          </a:prstGeom>
          <a:noFill/>
        </p:spPr>
        <p:txBody>
          <a:bodyPr wrap="square" lIns="0" tIns="0" rIns="0" bIns="0" rtlCol="0" anchor="ctr"/>
          <a:lstStyle/>
          <a:p>
            <a:pPr marL="0" indent="0">
              <a:buNone/>
            </a:pPr>
            <a:r>
              <a:rPr lang="en-US" sz="2600" b="1" dirty="0">
                <a:solidFill>
                  <a:srgbClr val="F59E0B"/>
                </a:solidFill>
                <a:latin typeface="Trebuchet MS" panose="020B0603020202020204" pitchFamily="34" charset="0"/>
                <a:ea typeface="Trebuchet MS" panose="020B0603020202020204" pitchFamily="34" charset="-122"/>
                <a:cs typeface="Trebuchet MS" panose="020B0603020202020204" pitchFamily="34" charset="-120"/>
              </a:rPr>
              <a:t>4 GB</a:t>
            </a:r>
            <a:endParaRPr lang="en-US" sz="2600" dirty="0"/>
          </a:p>
        </p:txBody>
      </p:sp>
      <p:sp>
        <p:nvSpPr>
          <p:cNvPr id="24" name="Text 22"/>
          <p:cNvSpPr/>
          <p:nvPr/>
        </p:nvSpPr>
        <p:spPr>
          <a:xfrm>
            <a:off x="6272784" y="1627632"/>
            <a:ext cx="2615184" cy="438912"/>
          </a:xfrm>
          <a:prstGeom prst="rect">
            <a:avLst/>
          </a:prstGeom>
          <a:noFill/>
        </p:spPr>
        <p:txBody>
          <a:bodyPr wrap="square" rtlCol="0" anchor="t"/>
          <a:lstStyle/>
          <a:p>
            <a:pPr marL="0" indent="0">
              <a:buNone/>
            </a:pPr>
            <a:r>
              <a:rPr lang="en-US" sz="850" dirty="0">
                <a:solidFill>
                  <a:srgbClr val="475569"/>
                </a:solidFill>
                <a:latin typeface="Calibri" panose="020F0502020204030204" pitchFamily="34" charset="0"/>
                <a:ea typeface="Calibri" panose="020F0502020204030204" pitchFamily="34" charset="-122"/>
                <a:cs typeface="Calibri" panose="020F0502020204030204" pitchFamily="34" charset="-120"/>
              </a:rPr>
              <a:t>FAT32 uses a 32-bit file size field. Any file over 4 GB – 1 byte cannot be stored.</a:t>
            </a:r>
            <a:endParaRPr lang="en-US" sz="850" dirty="0"/>
          </a:p>
        </p:txBody>
      </p:sp>
      <p:graphicFrame>
        <p:nvGraphicFramePr>
          <p:cNvPr id="34" name="Table 0"/>
          <p:cNvGraphicFramePr>
            <a:graphicFrameLocks noGrp="1"/>
          </p:cNvGraphicFramePr>
          <p:nvPr/>
        </p:nvGraphicFramePr>
        <p:xfrm>
          <a:off x="256032" y="2212848"/>
          <a:ext cx="8631936" cy="2514600"/>
        </p:xfrm>
        <a:graphic>
          <a:graphicData uri="http://schemas.openxmlformats.org/drawingml/2006/table">
            <a:tbl>
              <a:tblPr/>
              <a:tblGrid>
                <a:gridCol w="2944368"/>
                <a:gridCol w="2834640"/>
                <a:gridCol w="2852928"/>
              </a:tblGrid>
              <a:tr h="228600">
                <a:tc>
                  <a:txBody>
                    <a:bodyPr/>
                    <a:lstStyle/>
                    <a:p>
                      <a:pPr marL="0" indent="0">
                        <a:buNone/>
                      </a:pPr>
                      <a:r>
                        <a:rPr lang="en-US" sz="900" b="1" dirty="0">
                          <a:solidFill>
                            <a:srgbClr val="FFFFFF"/>
                          </a:solidFill>
                          <a:latin typeface="Calibri" panose="020F0502020204030204" pitchFamily="34" charset="0"/>
                          <a:ea typeface="Calibri" panose="020F0502020204030204" pitchFamily="34" charset="-122"/>
                          <a:cs typeface="Calibri" panose="020F0502020204030204" pitchFamily="34" charset="-120"/>
                        </a:rPr>
                        <a:t>Feature</a:t>
                      </a:r>
                      <a:endParaRPr lang="en-US" sz="9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solidFill>
                      <a:srgbClr val="1E293B"/>
                    </a:solidFill>
                  </a:tcPr>
                </a:tc>
                <a:tc>
                  <a:txBody>
                    <a:bodyPr/>
                    <a:lstStyle/>
                    <a:p>
                      <a:pPr marL="0" indent="0">
                        <a:buNone/>
                      </a:pPr>
                      <a:r>
                        <a:rPr lang="en-US" sz="900" b="1" dirty="0">
                          <a:solidFill>
                            <a:srgbClr val="000000"/>
                          </a:solidFill>
                          <a:latin typeface="Calibri" panose="020F0502020204030204" pitchFamily="34" charset="0"/>
                          <a:ea typeface="Calibri" panose="020F0502020204030204" pitchFamily="34" charset="-122"/>
                          <a:cs typeface="Calibri" panose="020F0502020204030204" pitchFamily="34" charset="-120"/>
                        </a:rPr>
                        <a:t>FAT32</a:t>
                      </a:r>
                      <a:endParaRPr lang="en-US" sz="9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solidFill>
                      <a:srgbClr val="F59E0B"/>
                    </a:solidFill>
                  </a:tcPr>
                </a:tc>
                <a:tc>
                  <a:txBody>
                    <a:bodyPr/>
                    <a:lstStyle/>
                    <a:p>
                      <a:pPr marL="0" indent="0">
                        <a:buNone/>
                      </a:pPr>
                      <a:r>
                        <a:rPr lang="en-US" sz="900" b="1" dirty="0">
                          <a:solidFill>
                            <a:srgbClr val="000000"/>
                          </a:solidFill>
                          <a:latin typeface="Calibri" panose="020F0502020204030204" pitchFamily="34" charset="0"/>
                          <a:ea typeface="Calibri" panose="020F0502020204030204" pitchFamily="34" charset="-122"/>
                          <a:cs typeface="Calibri" panose="020F0502020204030204" pitchFamily="34" charset="-120"/>
                        </a:rPr>
                        <a:t>NTFS</a:t>
                      </a:r>
                      <a:endParaRPr lang="en-US" sz="9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solidFill>
                      <a:srgbClr val="0EA5E9"/>
                    </a:solidFill>
                  </a:tcPr>
                </a:tc>
              </a:tr>
              <a:tr h="228600">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Maximum Volume Size</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2 TB (MBR) / 8 TB (GPT)</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256 TiB (Windows) / 16 EiB (spec)</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228600">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Maximum File Size</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4 GB – 1 byte</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~16 TiB</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228600">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Maximum Filename Length</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255 chars (LFN)</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255 UTF-16 chars</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228600">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Journalling</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None</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Yes — $</a:t>
                      </a:r>
                      <a:r>
                        <a:rPr lang="en-US" sz="900" dirty="0" err="1">
                          <a:solidFill>
                            <a:schemeClr val="tx1">
                              <a:lumMod val="95000"/>
                              <a:lumOff val="5000"/>
                            </a:schemeClr>
                          </a:solidFill>
                          <a:latin typeface="Calibri" panose="020F0502020204030204"/>
                          <a:ea typeface="Calibri" panose="020F0502020204030204"/>
                          <a:cs typeface="Calibri" panose="020F0502020204030204"/>
                        </a:rPr>
                        <a:t>LogFile</a:t>
                      </a:r>
                      <a:endParaRPr lang="en-US" sz="900" err="1">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228600">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Permissions (ACL)</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None</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Full per-file/folder ACL</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228600">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Compression</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None</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Yes (native)</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228600">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Encryption</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None</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Yes (EFS)</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228600">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Alternate Data Streams</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None</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Yes ($DATA attribute)</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228600">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Timestamps</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4 timestamps (FAT format)</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8 timestamps (FILETIME, 100ns)</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228600">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Forensic Tool Support</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Excellent</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00" dirty="0">
                          <a:solidFill>
                            <a:schemeClr val="tx1">
                              <a:lumMod val="95000"/>
                              <a:lumOff val="5000"/>
                            </a:schemeClr>
                          </a:solidFill>
                          <a:latin typeface="Calibri" panose="020F0502020204030204"/>
                          <a:ea typeface="Calibri" panose="020F0502020204030204"/>
                          <a:cs typeface="Calibri" panose="020F0502020204030204"/>
                        </a:rPr>
                        <a:t>Excellent</a:t>
                      </a:r>
                      <a:endParaRPr lang="en-US" sz="90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389120" cy="5143500"/>
          </a:xfrm>
          <a:prstGeom prst="rect">
            <a:avLst/>
          </a:prstGeom>
          <a:solidFill>
            <a:srgbClr val="10B981"/>
          </a:solidFill>
          <a:ln w="12700">
            <a:solidFill>
              <a:srgbClr val="10B981"/>
            </a:solidFill>
            <a:prstDash val="solid"/>
          </a:ln>
        </p:spPr>
        <p:txBody>
          <a:bodyPr/>
          <a:lstStyle/>
          <a:p>
            <a:endParaRPr lang="en-SG"/>
          </a:p>
        </p:txBody>
      </p:sp>
      <p:sp>
        <p:nvSpPr>
          <p:cNvPr id="3" name="Text 1"/>
          <p:cNvSpPr/>
          <p:nvPr/>
        </p:nvSpPr>
        <p:spPr>
          <a:xfrm>
            <a:off x="91440" y="182880"/>
            <a:ext cx="4206240" cy="2926080"/>
          </a:xfrm>
          <a:prstGeom prst="rect">
            <a:avLst/>
          </a:prstGeom>
          <a:noFill/>
        </p:spPr>
        <p:txBody>
          <a:bodyPr wrap="square" lIns="0" tIns="0" rIns="0" bIns="0" rtlCol="0" anchor="ctr"/>
          <a:lstStyle/>
          <a:p>
            <a:pPr marL="0" indent="0" algn="ctr">
              <a:buNone/>
            </a:pPr>
            <a:r>
              <a:rPr lang="en-US" sz="12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04</a:t>
            </a:r>
            <a:endParaRPr lang="en-US" sz="12800" dirty="0"/>
          </a:p>
        </p:txBody>
      </p:sp>
      <p:sp>
        <p:nvSpPr>
          <p:cNvPr id="4" name="Shape 2"/>
          <p:cNvSpPr/>
          <p:nvPr/>
        </p:nvSpPr>
        <p:spPr>
          <a:xfrm>
            <a:off x="256032" y="3108960"/>
            <a:ext cx="3877056" cy="347472"/>
          </a:xfrm>
          <a:prstGeom prst="rect">
            <a:avLst/>
          </a:prstGeom>
          <a:solidFill>
            <a:srgbClr val="FFFFFF">
              <a:alpha val="80000"/>
            </a:srgbClr>
          </a:solidFill>
          <a:ln w="12700">
            <a:solidFill>
              <a:srgbClr val="FFFFFF">
                <a:alpha val="50000"/>
              </a:srgbClr>
            </a:solidFill>
            <a:prstDash val="solid"/>
          </a:ln>
        </p:spPr>
        <p:txBody>
          <a:bodyPr/>
          <a:lstStyle/>
          <a:p>
            <a:endParaRPr lang="en-SG"/>
          </a:p>
        </p:txBody>
      </p:sp>
      <p:sp>
        <p:nvSpPr>
          <p:cNvPr id="5" name="Text 3"/>
          <p:cNvSpPr/>
          <p:nvPr/>
        </p:nvSpPr>
        <p:spPr>
          <a:xfrm>
            <a:off x="256032" y="3108960"/>
            <a:ext cx="3877056" cy="347472"/>
          </a:xfrm>
          <a:prstGeom prst="rect">
            <a:avLst/>
          </a:prstGeom>
          <a:noFill/>
        </p:spPr>
        <p:txBody>
          <a:bodyPr wrap="square" lIns="0" tIns="0" rIns="0" bIns="0" rtlCol="0" anchor="ctr"/>
          <a:lstStyle/>
          <a:p>
            <a:pPr marL="0" indent="0" algn="ctr">
              <a:buNone/>
            </a:pPr>
            <a:r>
              <a:rPr lang="en-US" sz="1000" b="1" kern="0" spc="300"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SECTION 04</a:t>
            </a:r>
            <a:endParaRPr lang="en-US" sz="1000" dirty="0"/>
          </a:p>
        </p:txBody>
      </p:sp>
      <p:sp>
        <p:nvSpPr>
          <p:cNvPr id="6" name="Text 4"/>
          <p:cNvSpPr/>
          <p:nvPr/>
        </p:nvSpPr>
        <p:spPr>
          <a:xfrm>
            <a:off x="256032" y="3529584"/>
            <a:ext cx="3877056" cy="402336"/>
          </a:xfrm>
          <a:prstGeom prst="rect">
            <a:avLst/>
          </a:prstGeom>
          <a:noFill/>
        </p:spPr>
        <p:txBody>
          <a:bodyPr wrap="square" lIns="0" tIns="0" rIns="0" bIns="0" rtlCol="0" anchor="ctr"/>
          <a:lstStyle/>
          <a:p>
            <a:pPr marL="0" indent="0" algn="ctr">
              <a:buNone/>
            </a:pPr>
            <a:r>
              <a:rPr lang="en-US" sz="20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Other File Systems</a:t>
            </a:r>
            <a:endParaRPr lang="en-US" sz="2000" dirty="0"/>
          </a:p>
        </p:txBody>
      </p:sp>
      <p:sp>
        <p:nvSpPr>
          <p:cNvPr id="7" name="Text 5"/>
          <p:cNvSpPr/>
          <p:nvPr/>
        </p:nvSpPr>
        <p:spPr>
          <a:xfrm>
            <a:off x="256032" y="3986784"/>
            <a:ext cx="3877056" cy="512064"/>
          </a:xfrm>
          <a:prstGeom prst="rect">
            <a:avLst/>
          </a:prstGeom>
          <a:noFill/>
        </p:spPr>
        <p:txBody>
          <a:bodyPr wrap="square" lIns="0" tIns="0" rIns="0" bIns="0" rtlCol="0" anchor="ctr"/>
          <a:lstStyle/>
          <a:p>
            <a:pPr marL="0" indent="0" algn="ctr">
              <a:buNone/>
            </a:pPr>
            <a:r>
              <a:rPr lang="en-US" sz="1100" i="1" dirty="0">
                <a:solidFill>
                  <a:srgbClr val="1A1A2E"/>
                </a:solidFill>
                <a:latin typeface="Calibri" panose="020F0502020204030204" pitchFamily="34" charset="0"/>
                <a:ea typeface="Calibri" panose="020F0502020204030204" pitchFamily="34" charset="-122"/>
                <a:cs typeface="Calibri" panose="020F0502020204030204" pitchFamily="34" charset="-120"/>
              </a:rPr>
              <a:t>High-level overview of ReFS, Linux EXT4, and Apple file systems.</a:t>
            </a:r>
            <a:endParaRPr lang="en-US" sz="1100" dirty="0"/>
          </a:p>
        </p:txBody>
      </p:sp>
      <p:sp>
        <p:nvSpPr>
          <p:cNvPr id="8" name="Text 6"/>
          <p:cNvSpPr/>
          <p:nvPr/>
        </p:nvSpPr>
        <p:spPr>
          <a:xfrm>
            <a:off x="4754880" y="457200"/>
            <a:ext cx="4114800" cy="292608"/>
          </a:xfrm>
          <a:prstGeom prst="rect">
            <a:avLst/>
          </a:prstGeom>
          <a:noFill/>
        </p:spPr>
        <p:txBody>
          <a:bodyPr wrap="square" rtlCol="0" anchor="ctr"/>
          <a:lstStyle/>
          <a:p>
            <a:pPr marL="0" indent="0">
              <a:buNone/>
            </a:pPr>
            <a:r>
              <a:rPr lang="en-US" sz="13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In this section:</a:t>
            </a:r>
            <a:endParaRPr lang="en-US" sz="1300" dirty="0"/>
          </a:p>
        </p:txBody>
      </p:sp>
      <p:sp>
        <p:nvSpPr>
          <p:cNvPr id="9" name="Shape 7"/>
          <p:cNvSpPr/>
          <p:nvPr/>
        </p:nvSpPr>
        <p:spPr>
          <a:xfrm>
            <a:off x="4754880" y="877824"/>
            <a:ext cx="4114800" cy="566928"/>
          </a:xfrm>
          <a:prstGeom prst="rect">
            <a:avLst/>
          </a:prstGeom>
          <a:noFill/>
          <a:ln w="12700">
            <a:solidFill>
              <a:srgbClr val="FFFFFF">
                <a:alpha val="20000"/>
              </a:srgbClr>
            </a:solidFill>
            <a:prstDash val="solid"/>
          </a:ln>
        </p:spPr>
        <p:txBody>
          <a:bodyPr/>
          <a:lstStyle/>
          <a:p>
            <a:endParaRPr lang="en-SG"/>
          </a:p>
        </p:txBody>
      </p:sp>
      <p:sp>
        <p:nvSpPr>
          <p:cNvPr id="10" name="Shape 8"/>
          <p:cNvSpPr/>
          <p:nvPr/>
        </p:nvSpPr>
        <p:spPr>
          <a:xfrm>
            <a:off x="4864608" y="950976"/>
            <a:ext cx="347472" cy="347472"/>
          </a:xfrm>
          <a:prstGeom prst="line">
            <a:avLst/>
          </a:prstGeom>
          <a:solidFill>
            <a:srgbClr val="10B981"/>
          </a:solidFill>
          <a:ln w="12700">
            <a:solidFill>
              <a:srgbClr val="10B981"/>
            </a:solidFill>
            <a:prstDash val="solid"/>
          </a:ln>
        </p:spPr>
        <p:txBody>
          <a:bodyPr/>
          <a:lstStyle/>
          <a:p>
            <a:endParaRPr lang="en-SG"/>
          </a:p>
        </p:txBody>
      </p:sp>
      <p:sp>
        <p:nvSpPr>
          <p:cNvPr id="11" name="Text 9"/>
          <p:cNvSpPr/>
          <p:nvPr/>
        </p:nvSpPr>
        <p:spPr>
          <a:xfrm>
            <a:off x="4864608" y="987552"/>
            <a:ext cx="347472" cy="237744"/>
          </a:xfrm>
          <a:prstGeom prst="rect">
            <a:avLst/>
          </a:prstGeom>
          <a:noFill/>
        </p:spPr>
        <p:txBody>
          <a:bodyPr wrap="square" lIns="0" tIns="0" rIns="0" bIns="0" rtlCol="0" anchor="ctr"/>
          <a:lstStyle/>
          <a:p>
            <a:pPr marL="0" indent="0" algn="ctr">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1</a:t>
            </a:r>
            <a:endParaRPr lang="en-US" sz="1000" dirty="0"/>
          </a:p>
        </p:txBody>
      </p:sp>
      <p:sp>
        <p:nvSpPr>
          <p:cNvPr id="12" name="Text 10"/>
          <p:cNvSpPr/>
          <p:nvPr/>
        </p:nvSpPr>
        <p:spPr>
          <a:xfrm>
            <a:off x="5266944" y="950976"/>
            <a:ext cx="3529584" cy="365760"/>
          </a:xfrm>
          <a:prstGeom prst="rect">
            <a:avLst/>
          </a:prstGeom>
          <a:noFill/>
        </p:spPr>
        <p:txBody>
          <a:bodyPr wrap="square" rtlCol="0" anchor="ctr"/>
          <a:lstStyle/>
          <a:p>
            <a:pPr marL="0" indent="0">
              <a:buNone/>
            </a:pPr>
            <a:r>
              <a:rPr lang="en-US" sz="1150" dirty="0">
                <a:solidFill>
                  <a:srgbClr val="1A1A2E"/>
                </a:solidFill>
                <a:latin typeface="Calibri" panose="020F0502020204030204" pitchFamily="34" charset="0"/>
                <a:ea typeface="Calibri" panose="020F0502020204030204" pitchFamily="34" charset="-122"/>
                <a:cs typeface="Calibri" panose="020F0502020204030204" pitchFamily="34" charset="-120"/>
              </a:rPr>
              <a:t>ReFS — purpose, features, and NTFS differences</a:t>
            </a:r>
            <a:endParaRPr lang="en-US" sz="1150" dirty="0"/>
          </a:p>
        </p:txBody>
      </p:sp>
      <p:sp>
        <p:nvSpPr>
          <p:cNvPr id="13" name="Shape 11"/>
          <p:cNvSpPr/>
          <p:nvPr/>
        </p:nvSpPr>
        <p:spPr>
          <a:xfrm>
            <a:off x="4754880" y="1536192"/>
            <a:ext cx="4114800" cy="566928"/>
          </a:xfrm>
          <a:prstGeom prst="rect">
            <a:avLst/>
          </a:prstGeom>
          <a:noFill/>
          <a:ln w="12700">
            <a:solidFill>
              <a:srgbClr val="FFFFFF">
                <a:alpha val="20000"/>
              </a:srgbClr>
            </a:solidFill>
            <a:prstDash val="solid"/>
          </a:ln>
        </p:spPr>
        <p:txBody>
          <a:bodyPr/>
          <a:lstStyle/>
          <a:p>
            <a:endParaRPr lang="en-SG"/>
          </a:p>
        </p:txBody>
      </p:sp>
      <p:sp>
        <p:nvSpPr>
          <p:cNvPr id="14" name="Shape 12"/>
          <p:cNvSpPr/>
          <p:nvPr/>
        </p:nvSpPr>
        <p:spPr>
          <a:xfrm>
            <a:off x="4864608" y="1609344"/>
            <a:ext cx="347472" cy="347472"/>
          </a:xfrm>
          <a:prstGeom prst="line">
            <a:avLst/>
          </a:prstGeom>
          <a:solidFill>
            <a:srgbClr val="10B981"/>
          </a:solidFill>
          <a:ln w="12700">
            <a:solidFill>
              <a:srgbClr val="10B981"/>
            </a:solidFill>
            <a:prstDash val="solid"/>
          </a:ln>
        </p:spPr>
        <p:txBody>
          <a:bodyPr/>
          <a:lstStyle/>
          <a:p>
            <a:endParaRPr lang="en-SG"/>
          </a:p>
        </p:txBody>
      </p:sp>
      <p:sp>
        <p:nvSpPr>
          <p:cNvPr id="15" name="Text 13"/>
          <p:cNvSpPr/>
          <p:nvPr/>
        </p:nvSpPr>
        <p:spPr>
          <a:xfrm>
            <a:off x="4864608" y="1645920"/>
            <a:ext cx="347472" cy="237744"/>
          </a:xfrm>
          <a:prstGeom prst="rect">
            <a:avLst/>
          </a:prstGeom>
          <a:noFill/>
        </p:spPr>
        <p:txBody>
          <a:bodyPr wrap="square" lIns="0" tIns="0" rIns="0" bIns="0" rtlCol="0" anchor="ctr"/>
          <a:lstStyle/>
          <a:p>
            <a:pPr marL="0" indent="0" algn="ctr">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2</a:t>
            </a:r>
            <a:endParaRPr lang="en-US" sz="1000" dirty="0"/>
          </a:p>
        </p:txBody>
      </p:sp>
      <p:sp>
        <p:nvSpPr>
          <p:cNvPr id="16" name="Text 14"/>
          <p:cNvSpPr/>
          <p:nvPr/>
        </p:nvSpPr>
        <p:spPr>
          <a:xfrm>
            <a:off x="5266944" y="1609344"/>
            <a:ext cx="3529584" cy="365760"/>
          </a:xfrm>
          <a:prstGeom prst="rect">
            <a:avLst/>
          </a:prstGeom>
          <a:noFill/>
        </p:spPr>
        <p:txBody>
          <a:bodyPr wrap="square" rtlCol="0" anchor="ctr"/>
          <a:lstStyle/>
          <a:p>
            <a:pPr marL="0" indent="0">
              <a:buNone/>
            </a:pPr>
            <a:r>
              <a:rPr lang="en-US" sz="1150" dirty="0">
                <a:solidFill>
                  <a:srgbClr val="1A1A2E"/>
                </a:solidFill>
                <a:latin typeface="Calibri" panose="020F0502020204030204" pitchFamily="34" charset="0"/>
                <a:ea typeface="Calibri" panose="020F0502020204030204" pitchFamily="34" charset="-122"/>
                <a:cs typeface="Calibri" panose="020F0502020204030204" pitchFamily="34" charset="-120"/>
              </a:rPr>
              <a:t>Linux EXT family history &amp; EXT4 structure</a:t>
            </a:r>
            <a:endParaRPr lang="en-US" sz="1150" dirty="0"/>
          </a:p>
        </p:txBody>
      </p:sp>
      <p:sp>
        <p:nvSpPr>
          <p:cNvPr id="17" name="Shape 15"/>
          <p:cNvSpPr/>
          <p:nvPr/>
        </p:nvSpPr>
        <p:spPr>
          <a:xfrm>
            <a:off x="4754880" y="2194560"/>
            <a:ext cx="4114800" cy="566928"/>
          </a:xfrm>
          <a:prstGeom prst="rect">
            <a:avLst/>
          </a:prstGeom>
          <a:noFill/>
          <a:ln w="12700">
            <a:solidFill>
              <a:srgbClr val="FFFFFF">
                <a:alpha val="20000"/>
              </a:srgbClr>
            </a:solidFill>
            <a:prstDash val="solid"/>
          </a:ln>
        </p:spPr>
        <p:txBody>
          <a:bodyPr/>
          <a:lstStyle/>
          <a:p>
            <a:endParaRPr lang="en-SG"/>
          </a:p>
        </p:txBody>
      </p:sp>
      <p:sp>
        <p:nvSpPr>
          <p:cNvPr id="18" name="Shape 16"/>
          <p:cNvSpPr/>
          <p:nvPr/>
        </p:nvSpPr>
        <p:spPr>
          <a:xfrm>
            <a:off x="4864608" y="2267712"/>
            <a:ext cx="347472" cy="347472"/>
          </a:xfrm>
          <a:prstGeom prst="line">
            <a:avLst/>
          </a:prstGeom>
          <a:solidFill>
            <a:srgbClr val="10B981"/>
          </a:solidFill>
          <a:ln w="12700">
            <a:solidFill>
              <a:srgbClr val="10B981"/>
            </a:solidFill>
            <a:prstDash val="solid"/>
          </a:ln>
        </p:spPr>
        <p:txBody>
          <a:bodyPr/>
          <a:lstStyle/>
          <a:p>
            <a:endParaRPr lang="en-SG"/>
          </a:p>
        </p:txBody>
      </p:sp>
      <p:sp>
        <p:nvSpPr>
          <p:cNvPr id="19" name="Text 17"/>
          <p:cNvSpPr/>
          <p:nvPr/>
        </p:nvSpPr>
        <p:spPr>
          <a:xfrm>
            <a:off x="4864608" y="2304288"/>
            <a:ext cx="347472" cy="237744"/>
          </a:xfrm>
          <a:prstGeom prst="rect">
            <a:avLst/>
          </a:prstGeom>
          <a:noFill/>
        </p:spPr>
        <p:txBody>
          <a:bodyPr wrap="square" lIns="0" tIns="0" rIns="0" bIns="0" rtlCol="0" anchor="ctr"/>
          <a:lstStyle/>
          <a:p>
            <a:pPr marL="0" indent="0" algn="ctr">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3</a:t>
            </a:r>
            <a:endParaRPr lang="en-US" sz="1000" dirty="0"/>
          </a:p>
        </p:txBody>
      </p:sp>
      <p:sp>
        <p:nvSpPr>
          <p:cNvPr id="20" name="Text 18"/>
          <p:cNvSpPr/>
          <p:nvPr/>
        </p:nvSpPr>
        <p:spPr>
          <a:xfrm>
            <a:off x="5266944" y="2267712"/>
            <a:ext cx="3529584" cy="365760"/>
          </a:xfrm>
          <a:prstGeom prst="rect">
            <a:avLst/>
          </a:prstGeom>
          <a:noFill/>
        </p:spPr>
        <p:txBody>
          <a:bodyPr wrap="square" rtlCol="0" anchor="ctr"/>
          <a:lstStyle/>
          <a:p>
            <a:pPr marL="0" indent="0">
              <a:buNone/>
            </a:pPr>
            <a:r>
              <a:rPr lang="en-US" sz="1150" dirty="0">
                <a:solidFill>
                  <a:srgbClr val="1A1A2E"/>
                </a:solidFill>
                <a:latin typeface="Calibri" panose="020F0502020204030204" pitchFamily="34" charset="0"/>
                <a:ea typeface="Calibri" panose="020F0502020204030204" pitchFamily="34" charset="-122"/>
                <a:cs typeface="Calibri" panose="020F0502020204030204" pitchFamily="34" charset="-120"/>
              </a:rPr>
              <a:t>Annotated `ls -l` terminal output</a:t>
            </a:r>
            <a:endParaRPr lang="en-US" sz="1150" dirty="0"/>
          </a:p>
        </p:txBody>
      </p:sp>
      <p:sp>
        <p:nvSpPr>
          <p:cNvPr id="21" name="Shape 19"/>
          <p:cNvSpPr/>
          <p:nvPr/>
        </p:nvSpPr>
        <p:spPr>
          <a:xfrm>
            <a:off x="4754880" y="2852928"/>
            <a:ext cx="4114800" cy="566928"/>
          </a:xfrm>
          <a:prstGeom prst="rect">
            <a:avLst/>
          </a:prstGeom>
          <a:noFill/>
          <a:ln w="12700">
            <a:solidFill>
              <a:srgbClr val="FFFFFF">
                <a:alpha val="20000"/>
              </a:srgbClr>
            </a:solidFill>
            <a:prstDash val="solid"/>
          </a:ln>
        </p:spPr>
        <p:txBody>
          <a:bodyPr/>
          <a:lstStyle/>
          <a:p>
            <a:endParaRPr lang="en-SG"/>
          </a:p>
        </p:txBody>
      </p:sp>
      <p:sp>
        <p:nvSpPr>
          <p:cNvPr id="22" name="Shape 20"/>
          <p:cNvSpPr/>
          <p:nvPr/>
        </p:nvSpPr>
        <p:spPr>
          <a:xfrm>
            <a:off x="4864608" y="2926080"/>
            <a:ext cx="347472" cy="347472"/>
          </a:xfrm>
          <a:prstGeom prst="line">
            <a:avLst/>
          </a:prstGeom>
          <a:solidFill>
            <a:srgbClr val="10B981"/>
          </a:solidFill>
          <a:ln w="12700">
            <a:solidFill>
              <a:srgbClr val="10B981"/>
            </a:solidFill>
            <a:prstDash val="solid"/>
          </a:ln>
        </p:spPr>
        <p:txBody>
          <a:bodyPr/>
          <a:lstStyle/>
          <a:p>
            <a:endParaRPr lang="en-SG"/>
          </a:p>
        </p:txBody>
      </p:sp>
      <p:sp>
        <p:nvSpPr>
          <p:cNvPr id="23" name="Text 21"/>
          <p:cNvSpPr/>
          <p:nvPr/>
        </p:nvSpPr>
        <p:spPr>
          <a:xfrm>
            <a:off x="4864608" y="2962656"/>
            <a:ext cx="347472" cy="237744"/>
          </a:xfrm>
          <a:prstGeom prst="rect">
            <a:avLst/>
          </a:prstGeom>
          <a:noFill/>
        </p:spPr>
        <p:txBody>
          <a:bodyPr wrap="square" lIns="0" tIns="0" rIns="0" bIns="0" rtlCol="0" anchor="ctr"/>
          <a:lstStyle/>
          <a:p>
            <a:pPr marL="0" indent="0" algn="ctr">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4</a:t>
            </a:r>
            <a:endParaRPr lang="en-US" sz="1000" dirty="0"/>
          </a:p>
        </p:txBody>
      </p:sp>
      <p:sp>
        <p:nvSpPr>
          <p:cNvPr id="24" name="Text 22"/>
          <p:cNvSpPr/>
          <p:nvPr/>
        </p:nvSpPr>
        <p:spPr>
          <a:xfrm>
            <a:off x="5266944" y="2926080"/>
            <a:ext cx="3529584" cy="365760"/>
          </a:xfrm>
          <a:prstGeom prst="rect">
            <a:avLst/>
          </a:prstGeom>
          <a:noFill/>
        </p:spPr>
        <p:txBody>
          <a:bodyPr wrap="square" rtlCol="0" anchor="ctr"/>
          <a:lstStyle/>
          <a:p>
            <a:pPr marL="0" indent="0">
              <a:buNone/>
            </a:pPr>
            <a:r>
              <a:rPr lang="en-US" sz="1150" dirty="0">
                <a:solidFill>
                  <a:srgbClr val="1A1A2E"/>
                </a:solidFill>
                <a:latin typeface="Calibri" panose="020F0502020204030204" pitchFamily="34" charset="0"/>
                <a:ea typeface="Calibri" panose="020F0502020204030204" pitchFamily="34" charset="-122"/>
                <a:cs typeface="Calibri" panose="020F0502020204030204" pitchFamily="34" charset="-120"/>
              </a:rPr>
              <a:t>Apple file systems — MFS to APFS</a:t>
            </a:r>
            <a:endParaRPr lang="en-US" sz="1150" dirty="0"/>
          </a:p>
        </p:txBody>
      </p:sp>
      <p:sp>
        <p:nvSpPr>
          <p:cNvPr id="25" name="Shape 23"/>
          <p:cNvSpPr/>
          <p:nvPr/>
        </p:nvSpPr>
        <p:spPr>
          <a:xfrm>
            <a:off x="4754880" y="3511296"/>
            <a:ext cx="4114800" cy="566928"/>
          </a:xfrm>
          <a:prstGeom prst="rect">
            <a:avLst/>
          </a:prstGeom>
          <a:noFill/>
          <a:ln w="12700">
            <a:solidFill>
              <a:srgbClr val="FFFFFF">
                <a:alpha val="20000"/>
              </a:srgbClr>
            </a:solidFill>
            <a:prstDash val="solid"/>
          </a:ln>
        </p:spPr>
        <p:txBody>
          <a:bodyPr/>
          <a:lstStyle/>
          <a:p>
            <a:endParaRPr lang="en-SG"/>
          </a:p>
        </p:txBody>
      </p:sp>
      <p:sp>
        <p:nvSpPr>
          <p:cNvPr id="26" name="Shape 24"/>
          <p:cNvSpPr/>
          <p:nvPr/>
        </p:nvSpPr>
        <p:spPr>
          <a:xfrm>
            <a:off x="4864608" y="3584448"/>
            <a:ext cx="347472" cy="347472"/>
          </a:xfrm>
          <a:prstGeom prst="line">
            <a:avLst/>
          </a:prstGeom>
          <a:solidFill>
            <a:srgbClr val="10B981"/>
          </a:solidFill>
          <a:ln w="12700">
            <a:solidFill>
              <a:srgbClr val="10B981"/>
            </a:solidFill>
            <a:prstDash val="solid"/>
          </a:ln>
        </p:spPr>
        <p:txBody>
          <a:bodyPr/>
          <a:lstStyle/>
          <a:p>
            <a:endParaRPr lang="en-SG"/>
          </a:p>
        </p:txBody>
      </p:sp>
      <p:sp>
        <p:nvSpPr>
          <p:cNvPr id="27" name="Text 25"/>
          <p:cNvSpPr/>
          <p:nvPr/>
        </p:nvSpPr>
        <p:spPr>
          <a:xfrm>
            <a:off x="4864608" y="3621024"/>
            <a:ext cx="347472" cy="237744"/>
          </a:xfrm>
          <a:prstGeom prst="rect">
            <a:avLst/>
          </a:prstGeom>
          <a:noFill/>
        </p:spPr>
        <p:txBody>
          <a:bodyPr wrap="square" lIns="0" tIns="0" rIns="0" bIns="0" rtlCol="0" anchor="ctr"/>
          <a:lstStyle/>
          <a:p>
            <a:pPr marL="0" indent="0" algn="ctr">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5</a:t>
            </a:r>
            <a:endParaRPr lang="en-US" sz="1000" dirty="0"/>
          </a:p>
        </p:txBody>
      </p:sp>
      <p:sp>
        <p:nvSpPr>
          <p:cNvPr id="28" name="Text 26"/>
          <p:cNvSpPr/>
          <p:nvPr/>
        </p:nvSpPr>
        <p:spPr>
          <a:xfrm>
            <a:off x="5266944" y="3584448"/>
            <a:ext cx="3529584" cy="365760"/>
          </a:xfrm>
          <a:prstGeom prst="rect">
            <a:avLst/>
          </a:prstGeom>
          <a:noFill/>
        </p:spPr>
        <p:txBody>
          <a:bodyPr wrap="square" rtlCol="0" anchor="ctr"/>
          <a:lstStyle/>
          <a:p>
            <a:pPr marL="0" indent="0">
              <a:buNone/>
            </a:pPr>
            <a:r>
              <a:rPr lang="en-US" sz="1150" dirty="0">
                <a:solidFill>
                  <a:srgbClr val="1A1A2E"/>
                </a:solidFill>
                <a:latin typeface="Calibri" panose="020F0502020204030204" pitchFamily="34" charset="0"/>
                <a:ea typeface="Calibri" panose="020F0502020204030204" pitchFamily="34" charset="-122"/>
                <a:cs typeface="Calibri" panose="020F0502020204030204" pitchFamily="34" charset="-120"/>
              </a:rPr>
              <a:t>APFS traits &amp; structure</a:t>
            </a:r>
            <a:endParaRPr lang="en-US" sz="11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0B981"/>
          </a:solidFill>
          <a:ln w="12700">
            <a:solidFill>
              <a:srgbClr val="10B981"/>
            </a:solidFill>
            <a:prstDash val="solid"/>
          </a:ln>
        </p:spPr>
        <p:txBody>
          <a:bodyPr/>
          <a:lstStyle/>
          <a:p>
            <a:endParaRPr lang="en-SG"/>
          </a:p>
        </p:txBody>
      </p:sp>
      <p:sp>
        <p:nvSpPr>
          <p:cNvPr id="3" name="Text 1"/>
          <p:cNvSpPr/>
          <p:nvPr/>
        </p:nvSpPr>
        <p:spPr>
          <a:xfrm>
            <a:off x="256032" y="186690"/>
            <a:ext cx="8631936" cy="548640"/>
          </a:xfrm>
          <a:prstGeom prst="rect">
            <a:avLst/>
          </a:prstGeom>
          <a:noFill/>
        </p:spPr>
        <p:txBody>
          <a:bodyPr wrap="square" lIns="0" tIns="0" rIns="0" bIns="0" rtlCol="0" anchor="ctr"/>
          <a:lstStyle/>
          <a:p>
            <a:pPr marL="0" indent="0">
              <a:buNone/>
            </a:pPr>
            <a:r>
              <a:rPr lang="en-US" sz="1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ReFS — Resilient File System Overview</a:t>
            </a:r>
            <a:endParaRPr lang="en-US" sz="1800" dirty="0"/>
          </a:p>
        </p:txBody>
      </p:sp>
      <p:sp>
        <p:nvSpPr>
          <p:cNvPr id="4" name="Shape 2"/>
          <p:cNvSpPr/>
          <p:nvPr/>
        </p:nvSpPr>
        <p:spPr>
          <a:xfrm>
            <a:off x="256032" y="73152"/>
            <a:ext cx="1463040" cy="219456"/>
          </a:xfrm>
          <a:prstGeom prst="rect">
            <a:avLst/>
          </a:prstGeom>
          <a:solidFill>
            <a:srgbClr val="10B981"/>
          </a:solidFill>
          <a:ln w="12700">
            <a:solidFill>
              <a:srgbClr val="10B981"/>
            </a:solidFill>
            <a:prstDash val="solid"/>
          </a:ln>
        </p:spPr>
        <p:txBody>
          <a:bodyPr/>
          <a:lstStyle/>
          <a:p>
            <a:endParaRPr lang="en-SG"/>
          </a:p>
        </p:txBody>
      </p:sp>
      <p:sp>
        <p:nvSpPr>
          <p:cNvPr id="5" name="Text 3"/>
          <p:cNvSpPr/>
          <p:nvPr/>
        </p:nvSpPr>
        <p:spPr>
          <a:xfrm>
            <a:off x="256032" y="73152"/>
            <a:ext cx="1463040" cy="219456"/>
          </a:xfrm>
          <a:prstGeom prst="rect">
            <a:avLst/>
          </a:prstGeom>
          <a:noFill/>
        </p:spPr>
        <p:txBody>
          <a:bodyPr wrap="square" lIns="0" tIns="0" rIns="0" bIns="0" rtlCol="0" anchor="ctr"/>
          <a:lstStyle/>
          <a:p>
            <a:pPr marL="0" indent="0" algn="ctr">
              <a:buNone/>
            </a:pPr>
            <a:r>
              <a:rPr lang="en-US" sz="800" b="1" kern="0" spc="100"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SECTION 04 — OTHER</a:t>
            </a:r>
            <a:endParaRPr lang="en-US" sz="800" dirty="0"/>
          </a:p>
        </p:txBody>
      </p:sp>
      <p:sp>
        <p:nvSpPr>
          <p:cNvPr id="10" name="Shape 8"/>
          <p:cNvSpPr/>
          <p:nvPr/>
        </p:nvSpPr>
        <p:spPr>
          <a:xfrm>
            <a:off x="256032" y="822960"/>
            <a:ext cx="8631936" cy="457200"/>
          </a:xfrm>
          <a:prstGeom prst="rect">
            <a:avLst/>
          </a:prstGeom>
          <a:solidFill>
            <a:srgbClr val="10B981">
              <a:alpha val="85000"/>
            </a:srgbClr>
          </a:solidFill>
          <a:ln w="12700">
            <a:solidFill>
              <a:srgbClr val="10B981"/>
            </a:solidFill>
            <a:prstDash val="solid"/>
          </a:ln>
        </p:spPr>
        <p:txBody>
          <a:bodyPr/>
          <a:lstStyle/>
          <a:p>
            <a:endParaRPr lang="en-SG"/>
          </a:p>
        </p:txBody>
      </p:sp>
      <p:sp>
        <p:nvSpPr>
          <p:cNvPr id="11" name="Text 9"/>
          <p:cNvSpPr/>
          <p:nvPr/>
        </p:nvSpPr>
        <p:spPr>
          <a:xfrm>
            <a:off x="402336" y="850392"/>
            <a:ext cx="8339328" cy="402336"/>
          </a:xfrm>
          <a:prstGeom prst="rect">
            <a:avLst/>
          </a:prstGeom>
          <a:noFill/>
        </p:spPr>
        <p:txBody>
          <a:bodyPr wrap="square" lIns="0" tIns="0" rIns="0" bIns="0" rtlCol="0" anchor="ctr"/>
          <a:lstStyle/>
          <a:p>
            <a:pPr marL="0" indent="0">
              <a:buNone/>
            </a:pPr>
            <a:r>
              <a:rPr lang="en-US" sz="10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ReFS (Resilient File System) was introduced by Microsoft in Windows Server 2012 to address NTFS limitations in large-scale enterprise storage environments.</a:t>
            </a:r>
            <a:endParaRPr lang="en-US" sz="1050" dirty="0"/>
          </a:p>
        </p:txBody>
      </p:sp>
      <p:sp>
        <p:nvSpPr>
          <p:cNvPr id="12" name="Shape 10"/>
          <p:cNvSpPr/>
          <p:nvPr/>
        </p:nvSpPr>
        <p:spPr>
          <a:xfrm>
            <a:off x="256032" y="1371600"/>
            <a:ext cx="2761488" cy="1591056"/>
          </a:xfrm>
          <a:prstGeom prst="rect">
            <a:avLst/>
          </a:prstGeom>
          <a:solidFill>
            <a:srgbClr val="EEF6FB"/>
          </a:solidFill>
          <a:ln w="12700">
            <a:solidFill>
              <a:srgbClr val="10B981"/>
            </a:solidFill>
            <a:prstDash val="solid"/>
          </a:ln>
          <a:effectLst>
            <a:outerShdw blurRad="127000" dist="38100" dir="8100000" algn="bl" rotWithShape="0">
              <a:srgbClr val="000000">
                <a:alpha val="22000"/>
              </a:srgbClr>
            </a:outerShdw>
          </a:effectLst>
        </p:spPr>
        <p:txBody>
          <a:bodyPr/>
          <a:lstStyle/>
          <a:p>
            <a:endParaRPr lang="en-SG"/>
          </a:p>
        </p:txBody>
      </p:sp>
      <p:sp>
        <p:nvSpPr>
          <p:cNvPr id="13" name="Shape 11"/>
          <p:cNvSpPr/>
          <p:nvPr/>
        </p:nvSpPr>
        <p:spPr>
          <a:xfrm>
            <a:off x="256032" y="1371600"/>
            <a:ext cx="2761488" cy="274320"/>
          </a:xfrm>
          <a:prstGeom prst="rect">
            <a:avLst/>
          </a:prstGeom>
          <a:solidFill>
            <a:srgbClr val="10B981"/>
          </a:solidFill>
          <a:ln w="12700">
            <a:solidFill>
              <a:srgbClr val="10B981"/>
            </a:solidFill>
            <a:prstDash val="solid"/>
          </a:ln>
        </p:spPr>
        <p:txBody>
          <a:bodyPr/>
          <a:lstStyle/>
          <a:p>
            <a:endParaRPr lang="en-SG"/>
          </a:p>
        </p:txBody>
      </p:sp>
      <p:sp>
        <p:nvSpPr>
          <p:cNvPr id="14" name="Shape 12"/>
          <p:cNvSpPr/>
          <p:nvPr/>
        </p:nvSpPr>
        <p:spPr>
          <a:xfrm>
            <a:off x="347472" y="1408176"/>
            <a:ext cx="201168" cy="201168"/>
          </a:xfrm>
          <a:prstGeom prst="line">
            <a:avLst/>
          </a:prstGeom>
          <a:noFill/>
          <a:ln w="12700">
            <a:solidFill>
              <a:srgbClr val="000000">
                <a:alpha val="70000"/>
              </a:srgbClr>
            </a:solidFill>
            <a:prstDash val="solid"/>
          </a:ln>
        </p:spPr>
        <p:txBody>
          <a:bodyPr/>
          <a:lstStyle/>
          <a:p>
            <a:endParaRPr lang="en-SG"/>
          </a:p>
        </p:txBody>
      </p:sp>
      <p:sp>
        <p:nvSpPr>
          <p:cNvPr id="15" name="Text 13"/>
          <p:cNvSpPr/>
          <p:nvPr/>
        </p:nvSpPr>
        <p:spPr>
          <a:xfrm>
            <a:off x="347472" y="1417320"/>
            <a:ext cx="201168" cy="182880"/>
          </a:xfrm>
          <a:prstGeom prst="rect">
            <a:avLst/>
          </a:prstGeom>
          <a:noFill/>
        </p:spPr>
        <p:txBody>
          <a:bodyPr wrap="square" lIns="0" tIns="0" rIns="0" bIns="0" rtlCol="0" anchor="ctr"/>
          <a:lstStyle/>
          <a:p>
            <a:pPr marL="0" indent="0" algn="ctr">
              <a:buNone/>
            </a:pPr>
            <a:r>
              <a:rPr lang="en-US" sz="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01</a:t>
            </a:r>
            <a:endParaRPr lang="en-US" sz="800" dirty="0"/>
          </a:p>
        </p:txBody>
      </p:sp>
      <p:sp>
        <p:nvSpPr>
          <p:cNvPr id="16" name="Text 14"/>
          <p:cNvSpPr/>
          <p:nvPr/>
        </p:nvSpPr>
        <p:spPr>
          <a:xfrm>
            <a:off x="603504" y="1408176"/>
            <a:ext cx="2322576" cy="219456"/>
          </a:xfrm>
          <a:prstGeom prst="rect">
            <a:avLst/>
          </a:prstGeom>
          <a:noFill/>
        </p:spPr>
        <p:txBody>
          <a:bodyPr wrap="square" lIns="0" tIns="0" rIns="0" bIns="0" rtlCol="0" anchor="ctr"/>
          <a:lstStyle/>
          <a:p>
            <a:pPr marL="0" indent="0">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Integrity Streams</a:t>
            </a:r>
            <a:endParaRPr lang="en-US" sz="1000" dirty="0"/>
          </a:p>
        </p:txBody>
      </p:sp>
      <p:sp>
        <p:nvSpPr>
          <p:cNvPr id="17" name="Text 15"/>
          <p:cNvSpPr/>
          <p:nvPr/>
        </p:nvSpPr>
        <p:spPr>
          <a:xfrm>
            <a:off x="365760" y="1682496"/>
            <a:ext cx="2560320" cy="1225296"/>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Each block has a checksum stored separately. When data is read, ReFS verifies and auto-repairs corruption using a mirrored storage pool. Prevents silent data corruption.</a:t>
            </a:r>
            <a:endParaRPr lang="en-US" sz="900" dirty="0"/>
          </a:p>
        </p:txBody>
      </p:sp>
      <p:sp>
        <p:nvSpPr>
          <p:cNvPr id="18" name="Shape 16"/>
          <p:cNvSpPr/>
          <p:nvPr/>
        </p:nvSpPr>
        <p:spPr>
          <a:xfrm>
            <a:off x="3182112" y="1371600"/>
            <a:ext cx="2761488" cy="1591056"/>
          </a:xfrm>
          <a:prstGeom prst="rect">
            <a:avLst/>
          </a:prstGeom>
          <a:solidFill>
            <a:srgbClr val="EEF6FB"/>
          </a:solidFill>
          <a:ln w="12700">
            <a:solidFill>
              <a:srgbClr val="6366F1"/>
            </a:solidFill>
            <a:prstDash val="solid"/>
          </a:ln>
          <a:effectLst>
            <a:outerShdw blurRad="127000" dist="38100" dir="8100000" algn="bl" rotWithShape="0">
              <a:srgbClr val="000000">
                <a:alpha val="22000"/>
              </a:srgbClr>
            </a:outerShdw>
          </a:effectLst>
        </p:spPr>
        <p:txBody>
          <a:bodyPr/>
          <a:lstStyle/>
          <a:p>
            <a:endParaRPr lang="en-SG"/>
          </a:p>
        </p:txBody>
      </p:sp>
      <p:sp>
        <p:nvSpPr>
          <p:cNvPr id="19" name="Shape 17"/>
          <p:cNvSpPr/>
          <p:nvPr/>
        </p:nvSpPr>
        <p:spPr>
          <a:xfrm>
            <a:off x="3182112" y="1371600"/>
            <a:ext cx="2761488" cy="274320"/>
          </a:xfrm>
          <a:prstGeom prst="rect">
            <a:avLst/>
          </a:prstGeom>
          <a:solidFill>
            <a:srgbClr val="6366F1"/>
          </a:solidFill>
          <a:ln w="12700">
            <a:solidFill>
              <a:srgbClr val="6366F1"/>
            </a:solidFill>
            <a:prstDash val="solid"/>
          </a:ln>
        </p:spPr>
        <p:txBody>
          <a:bodyPr/>
          <a:lstStyle/>
          <a:p>
            <a:endParaRPr lang="en-SG"/>
          </a:p>
        </p:txBody>
      </p:sp>
      <p:sp>
        <p:nvSpPr>
          <p:cNvPr id="20" name="Shape 18"/>
          <p:cNvSpPr/>
          <p:nvPr/>
        </p:nvSpPr>
        <p:spPr>
          <a:xfrm>
            <a:off x="3273552" y="1408176"/>
            <a:ext cx="201168" cy="201168"/>
          </a:xfrm>
          <a:prstGeom prst="line">
            <a:avLst/>
          </a:prstGeom>
          <a:noFill/>
          <a:ln w="12700">
            <a:solidFill>
              <a:srgbClr val="000000">
                <a:alpha val="70000"/>
              </a:srgbClr>
            </a:solidFill>
            <a:prstDash val="solid"/>
          </a:ln>
        </p:spPr>
        <p:txBody>
          <a:bodyPr/>
          <a:lstStyle/>
          <a:p>
            <a:endParaRPr lang="en-SG"/>
          </a:p>
        </p:txBody>
      </p:sp>
      <p:sp>
        <p:nvSpPr>
          <p:cNvPr id="21" name="Text 19"/>
          <p:cNvSpPr/>
          <p:nvPr/>
        </p:nvSpPr>
        <p:spPr>
          <a:xfrm>
            <a:off x="3273552" y="1417320"/>
            <a:ext cx="201168" cy="182880"/>
          </a:xfrm>
          <a:prstGeom prst="rect">
            <a:avLst/>
          </a:prstGeom>
          <a:noFill/>
        </p:spPr>
        <p:txBody>
          <a:bodyPr wrap="square" lIns="0" tIns="0" rIns="0" bIns="0" rtlCol="0" anchor="ctr"/>
          <a:lstStyle/>
          <a:p>
            <a:pPr marL="0" indent="0" algn="ctr">
              <a:buNone/>
            </a:pPr>
            <a:r>
              <a:rPr lang="en-US" sz="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02</a:t>
            </a:r>
            <a:endParaRPr lang="en-US" sz="800" dirty="0"/>
          </a:p>
        </p:txBody>
      </p:sp>
      <p:sp>
        <p:nvSpPr>
          <p:cNvPr id="22" name="Text 20"/>
          <p:cNvSpPr/>
          <p:nvPr/>
        </p:nvSpPr>
        <p:spPr>
          <a:xfrm>
            <a:off x="3529584" y="1408176"/>
            <a:ext cx="2322576" cy="219456"/>
          </a:xfrm>
          <a:prstGeom prst="rect">
            <a:avLst/>
          </a:prstGeom>
          <a:noFill/>
        </p:spPr>
        <p:txBody>
          <a:bodyPr wrap="square" lIns="0" tIns="0" rIns="0" bIns="0" rtlCol="0" anchor="ctr"/>
          <a:lstStyle/>
          <a:p>
            <a:pPr marL="0" indent="0">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Massive Scale</a:t>
            </a:r>
            <a:endParaRPr lang="en-US" sz="1000" dirty="0"/>
          </a:p>
        </p:txBody>
      </p:sp>
      <p:sp>
        <p:nvSpPr>
          <p:cNvPr id="23" name="Text 21"/>
          <p:cNvSpPr/>
          <p:nvPr/>
        </p:nvSpPr>
        <p:spPr>
          <a:xfrm>
            <a:off x="3291840" y="1682496"/>
            <a:ext cx="2560320" cy="1225296"/>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Max volume: 1 YiB (theoretical). Max file: 16 ExB. Designed for petabyte-scale enterprise storage, data centre NAS, and cloud deployments.</a:t>
            </a:r>
            <a:endParaRPr lang="en-US" sz="900" dirty="0"/>
          </a:p>
        </p:txBody>
      </p:sp>
      <p:sp>
        <p:nvSpPr>
          <p:cNvPr id="24" name="Shape 22"/>
          <p:cNvSpPr/>
          <p:nvPr/>
        </p:nvSpPr>
        <p:spPr>
          <a:xfrm>
            <a:off x="6108192" y="1371600"/>
            <a:ext cx="2761488" cy="1591056"/>
          </a:xfrm>
          <a:prstGeom prst="rect">
            <a:avLst/>
          </a:prstGeom>
          <a:solidFill>
            <a:srgbClr val="EEF6FB"/>
          </a:solidFill>
          <a:ln w="12700">
            <a:solidFill>
              <a:srgbClr val="F59E0B"/>
            </a:solidFill>
            <a:prstDash val="solid"/>
          </a:ln>
          <a:effectLst>
            <a:outerShdw blurRad="127000" dist="38100" dir="8100000" algn="bl" rotWithShape="0">
              <a:srgbClr val="000000">
                <a:alpha val="22000"/>
              </a:srgbClr>
            </a:outerShdw>
          </a:effectLst>
        </p:spPr>
        <p:txBody>
          <a:bodyPr/>
          <a:lstStyle/>
          <a:p>
            <a:endParaRPr lang="en-SG"/>
          </a:p>
        </p:txBody>
      </p:sp>
      <p:sp>
        <p:nvSpPr>
          <p:cNvPr id="25" name="Shape 23"/>
          <p:cNvSpPr/>
          <p:nvPr/>
        </p:nvSpPr>
        <p:spPr>
          <a:xfrm>
            <a:off x="6108192" y="1371600"/>
            <a:ext cx="2761488" cy="274320"/>
          </a:xfrm>
          <a:prstGeom prst="rect">
            <a:avLst/>
          </a:prstGeom>
          <a:solidFill>
            <a:srgbClr val="F59E0B"/>
          </a:solidFill>
          <a:ln w="12700">
            <a:solidFill>
              <a:srgbClr val="F59E0B"/>
            </a:solidFill>
            <a:prstDash val="solid"/>
          </a:ln>
        </p:spPr>
        <p:txBody>
          <a:bodyPr/>
          <a:lstStyle/>
          <a:p>
            <a:endParaRPr lang="en-SG"/>
          </a:p>
        </p:txBody>
      </p:sp>
      <p:sp>
        <p:nvSpPr>
          <p:cNvPr id="26" name="Shape 24"/>
          <p:cNvSpPr/>
          <p:nvPr/>
        </p:nvSpPr>
        <p:spPr>
          <a:xfrm>
            <a:off x="6199632" y="1408176"/>
            <a:ext cx="201168" cy="201168"/>
          </a:xfrm>
          <a:prstGeom prst="line">
            <a:avLst/>
          </a:prstGeom>
          <a:noFill/>
          <a:ln w="12700">
            <a:solidFill>
              <a:srgbClr val="000000">
                <a:alpha val="70000"/>
              </a:srgbClr>
            </a:solidFill>
            <a:prstDash val="solid"/>
          </a:ln>
        </p:spPr>
        <p:txBody>
          <a:bodyPr/>
          <a:lstStyle/>
          <a:p>
            <a:endParaRPr lang="en-SG"/>
          </a:p>
        </p:txBody>
      </p:sp>
      <p:sp>
        <p:nvSpPr>
          <p:cNvPr id="27" name="Text 25"/>
          <p:cNvSpPr/>
          <p:nvPr/>
        </p:nvSpPr>
        <p:spPr>
          <a:xfrm>
            <a:off x="6199632" y="1417320"/>
            <a:ext cx="201168" cy="182880"/>
          </a:xfrm>
          <a:prstGeom prst="rect">
            <a:avLst/>
          </a:prstGeom>
          <a:noFill/>
        </p:spPr>
        <p:txBody>
          <a:bodyPr wrap="square" lIns="0" tIns="0" rIns="0" bIns="0" rtlCol="0" anchor="ctr"/>
          <a:lstStyle/>
          <a:p>
            <a:pPr marL="0" indent="0" algn="ctr">
              <a:buNone/>
            </a:pPr>
            <a:r>
              <a:rPr lang="en-US" sz="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03</a:t>
            </a:r>
            <a:endParaRPr lang="en-US" sz="800" dirty="0"/>
          </a:p>
        </p:txBody>
      </p:sp>
      <p:sp>
        <p:nvSpPr>
          <p:cNvPr id="28" name="Text 26"/>
          <p:cNvSpPr/>
          <p:nvPr/>
        </p:nvSpPr>
        <p:spPr>
          <a:xfrm>
            <a:off x="6455664" y="1408176"/>
            <a:ext cx="2322576" cy="219456"/>
          </a:xfrm>
          <a:prstGeom prst="rect">
            <a:avLst/>
          </a:prstGeom>
          <a:noFill/>
        </p:spPr>
        <p:txBody>
          <a:bodyPr wrap="square" lIns="0" tIns="0" rIns="0" bIns="0" rtlCol="0" anchor="ctr"/>
          <a:lstStyle/>
          <a:p>
            <a:pPr marL="0" indent="0">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Redirect-on-Write</a:t>
            </a:r>
            <a:endParaRPr lang="en-US" sz="1000" dirty="0"/>
          </a:p>
        </p:txBody>
      </p:sp>
      <p:sp>
        <p:nvSpPr>
          <p:cNvPr id="29" name="Text 27"/>
          <p:cNvSpPr/>
          <p:nvPr/>
        </p:nvSpPr>
        <p:spPr>
          <a:xfrm>
            <a:off x="6217920" y="1682496"/>
            <a:ext cx="2560320" cy="1225296"/>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New data is written to a new location before old data is released. Prevents in-place overwrites. Protects metadata integrity during unexpected power loss.</a:t>
            </a:r>
            <a:endParaRPr lang="en-US" sz="900" dirty="0"/>
          </a:p>
        </p:txBody>
      </p:sp>
      <p:sp>
        <p:nvSpPr>
          <p:cNvPr id="30" name="Shape 28"/>
          <p:cNvSpPr/>
          <p:nvPr/>
        </p:nvSpPr>
        <p:spPr>
          <a:xfrm>
            <a:off x="256032" y="3090672"/>
            <a:ext cx="2761488" cy="1591056"/>
          </a:xfrm>
          <a:prstGeom prst="rect">
            <a:avLst/>
          </a:prstGeom>
          <a:solidFill>
            <a:srgbClr val="EEF6FB"/>
          </a:solidFill>
          <a:ln w="12700">
            <a:solidFill>
              <a:srgbClr val="EF4444"/>
            </a:solidFill>
            <a:prstDash val="solid"/>
          </a:ln>
          <a:effectLst>
            <a:outerShdw blurRad="127000" dist="38100" dir="8100000" algn="bl" rotWithShape="0">
              <a:srgbClr val="000000">
                <a:alpha val="22000"/>
              </a:srgbClr>
            </a:outerShdw>
          </a:effectLst>
        </p:spPr>
        <p:txBody>
          <a:bodyPr/>
          <a:lstStyle/>
          <a:p>
            <a:endParaRPr lang="en-SG"/>
          </a:p>
        </p:txBody>
      </p:sp>
      <p:sp>
        <p:nvSpPr>
          <p:cNvPr id="31" name="Shape 29"/>
          <p:cNvSpPr/>
          <p:nvPr/>
        </p:nvSpPr>
        <p:spPr>
          <a:xfrm>
            <a:off x="256032" y="3090672"/>
            <a:ext cx="2761488" cy="274320"/>
          </a:xfrm>
          <a:prstGeom prst="rect">
            <a:avLst/>
          </a:prstGeom>
          <a:solidFill>
            <a:srgbClr val="EF4444"/>
          </a:solidFill>
          <a:ln w="12700">
            <a:solidFill>
              <a:srgbClr val="EF4444"/>
            </a:solidFill>
            <a:prstDash val="solid"/>
          </a:ln>
        </p:spPr>
        <p:txBody>
          <a:bodyPr/>
          <a:lstStyle/>
          <a:p>
            <a:endParaRPr lang="en-SG"/>
          </a:p>
        </p:txBody>
      </p:sp>
      <p:sp>
        <p:nvSpPr>
          <p:cNvPr id="32" name="Shape 30"/>
          <p:cNvSpPr/>
          <p:nvPr/>
        </p:nvSpPr>
        <p:spPr>
          <a:xfrm>
            <a:off x="347472" y="3127248"/>
            <a:ext cx="201168" cy="201168"/>
          </a:xfrm>
          <a:prstGeom prst="line">
            <a:avLst/>
          </a:prstGeom>
          <a:noFill/>
          <a:ln w="12700">
            <a:solidFill>
              <a:srgbClr val="000000">
                <a:alpha val="70000"/>
              </a:srgbClr>
            </a:solidFill>
            <a:prstDash val="solid"/>
          </a:ln>
        </p:spPr>
        <p:txBody>
          <a:bodyPr/>
          <a:lstStyle/>
          <a:p>
            <a:endParaRPr lang="en-SG"/>
          </a:p>
        </p:txBody>
      </p:sp>
      <p:sp>
        <p:nvSpPr>
          <p:cNvPr id="33" name="Text 31"/>
          <p:cNvSpPr/>
          <p:nvPr/>
        </p:nvSpPr>
        <p:spPr>
          <a:xfrm>
            <a:off x="347472" y="3136392"/>
            <a:ext cx="201168" cy="182880"/>
          </a:xfrm>
          <a:prstGeom prst="rect">
            <a:avLst/>
          </a:prstGeom>
          <a:noFill/>
        </p:spPr>
        <p:txBody>
          <a:bodyPr wrap="square" lIns="0" tIns="0" rIns="0" bIns="0" rtlCol="0" anchor="ctr"/>
          <a:lstStyle/>
          <a:p>
            <a:pPr marL="0" indent="0" algn="ctr">
              <a:buNone/>
            </a:pPr>
            <a:r>
              <a:rPr lang="en-US" sz="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04</a:t>
            </a:r>
            <a:endParaRPr lang="en-US" sz="800" dirty="0"/>
          </a:p>
        </p:txBody>
      </p:sp>
      <p:sp>
        <p:nvSpPr>
          <p:cNvPr id="34" name="Text 32"/>
          <p:cNvSpPr/>
          <p:nvPr/>
        </p:nvSpPr>
        <p:spPr>
          <a:xfrm>
            <a:off x="603504" y="3127248"/>
            <a:ext cx="2322576" cy="219456"/>
          </a:xfrm>
          <a:prstGeom prst="rect">
            <a:avLst/>
          </a:prstGeom>
          <a:noFill/>
        </p:spPr>
        <p:txBody>
          <a:bodyPr wrap="square" lIns="0" tIns="0" rIns="0" bIns="0" rtlCol="0" anchor="ctr"/>
          <a:lstStyle/>
          <a:p>
            <a:pPr marL="0" indent="0">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Online Self-Healing</a:t>
            </a:r>
            <a:endParaRPr lang="en-US" sz="1000" dirty="0"/>
          </a:p>
        </p:txBody>
      </p:sp>
      <p:sp>
        <p:nvSpPr>
          <p:cNvPr id="35" name="Text 33"/>
          <p:cNvSpPr/>
          <p:nvPr/>
        </p:nvSpPr>
        <p:spPr>
          <a:xfrm>
            <a:off x="365760" y="3401568"/>
            <a:ext cx="2560320" cy="1225296"/>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ReFS detects and corrects errors during normal operation — no CHKDSK required. Requires Storage Spaces (RAID-like mirroring) for automatic repair capability.</a:t>
            </a:r>
            <a:endParaRPr lang="en-US" sz="900" dirty="0"/>
          </a:p>
        </p:txBody>
      </p:sp>
      <p:sp>
        <p:nvSpPr>
          <p:cNvPr id="36" name="Shape 34"/>
          <p:cNvSpPr/>
          <p:nvPr/>
        </p:nvSpPr>
        <p:spPr>
          <a:xfrm>
            <a:off x="3182112" y="3090672"/>
            <a:ext cx="2761488" cy="1591056"/>
          </a:xfrm>
          <a:prstGeom prst="rect">
            <a:avLst/>
          </a:prstGeom>
          <a:solidFill>
            <a:srgbClr val="EEF6FB"/>
          </a:solidFill>
          <a:ln w="12700">
            <a:solidFill>
              <a:srgbClr val="A855F7"/>
            </a:solidFill>
            <a:prstDash val="solid"/>
          </a:ln>
          <a:effectLst>
            <a:outerShdw blurRad="127000" dist="38100" dir="8100000" algn="bl" rotWithShape="0">
              <a:srgbClr val="000000">
                <a:alpha val="22000"/>
              </a:srgbClr>
            </a:outerShdw>
          </a:effectLst>
        </p:spPr>
        <p:txBody>
          <a:bodyPr/>
          <a:lstStyle/>
          <a:p>
            <a:endParaRPr lang="en-SG"/>
          </a:p>
        </p:txBody>
      </p:sp>
      <p:sp>
        <p:nvSpPr>
          <p:cNvPr id="37" name="Shape 35"/>
          <p:cNvSpPr/>
          <p:nvPr/>
        </p:nvSpPr>
        <p:spPr>
          <a:xfrm>
            <a:off x="3182112" y="3090672"/>
            <a:ext cx="2761488" cy="274320"/>
          </a:xfrm>
          <a:prstGeom prst="rect">
            <a:avLst/>
          </a:prstGeom>
          <a:solidFill>
            <a:srgbClr val="A855F7"/>
          </a:solidFill>
          <a:ln w="12700">
            <a:solidFill>
              <a:srgbClr val="A855F7"/>
            </a:solidFill>
            <a:prstDash val="solid"/>
          </a:ln>
        </p:spPr>
        <p:txBody>
          <a:bodyPr/>
          <a:lstStyle/>
          <a:p>
            <a:endParaRPr lang="en-SG"/>
          </a:p>
        </p:txBody>
      </p:sp>
      <p:sp>
        <p:nvSpPr>
          <p:cNvPr id="38" name="Shape 36"/>
          <p:cNvSpPr/>
          <p:nvPr/>
        </p:nvSpPr>
        <p:spPr>
          <a:xfrm>
            <a:off x="3273552" y="3127248"/>
            <a:ext cx="201168" cy="201168"/>
          </a:xfrm>
          <a:prstGeom prst="line">
            <a:avLst/>
          </a:prstGeom>
          <a:noFill/>
          <a:ln w="12700">
            <a:solidFill>
              <a:srgbClr val="000000">
                <a:alpha val="70000"/>
              </a:srgbClr>
            </a:solidFill>
            <a:prstDash val="solid"/>
          </a:ln>
        </p:spPr>
        <p:txBody>
          <a:bodyPr/>
          <a:lstStyle/>
          <a:p>
            <a:endParaRPr lang="en-SG"/>
          </a:p>
        </p:txBody>
      </p:sp>
      <p:sp>
        <p:nvSpPr>
          <p:cNvPr id="39" name="Text 37"/>
          <p:cNvSpPr/>
          <p:nvPr/>
        </p:nvSpPr>
        <p:spPr>
          <a:xfrm>
            <a:off x="3273552" y="3136392"/>
            <a:ext cx="201168" cy="182880"/>
          </a:xfrm>
          <a:prstGeom prst="rect">
            <a:avLst/>
          </a:prstGeom>
          <a:noFill/>
        </p:spPr>
        <p:txBody>
          <a:bodyPr wrap="square" lIns="0" tIns="0" rIns="0" bIns="0" rtlCol="0" anchor="ctr"/>
          <a:lstStyle/>
          <a:p>
            <a:pPr marL="0" indent="0" algn="ctr">
              <a:buNone/>
            </a:pPr>
            <a:r>
              <a:rPr lang="en-US" sz="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05</a:t>
            </a:r>
            <a:endParaRPr lang="en-US" sz="800" dirty="0"/>
          </a:p>
        </p:txBody>
      </p:sp>
      <p:sp>
        <p:nvSpPr>
          <p:cNvPr id="40" name="Text 38"/>
          <p:cNvSpPr/>
          <p:nvPr/>
        </p:nvSpPr>
        <p:spPr>
          <a:xfrm>
            <a:off x="3529584" y="3127248"/>
            <a:ext cx="2322576" cy="219456"/>
          </a:xfrm>
          <a:prstGeom prst="rect">
            <a:avLst/>
          </a:prstGeom>
          <a:noFill/>
        </p:spPr>
        <p:txBody>
          <a:bodyPr wrap="square" lIns="0" tIns="0" rIns="0" bIns="0" rtlCol="0" anchor="ctr"/>
          <a:lstStyle/>
          <a:p>
            <a:pPr marL="0" indent="0">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Storage Spaces Integration</a:t>
            </a:r>
            <a:endParaRPr lang="en-US" sz="1000" dirty="0"/>
          </a:p>
        </p:txBody>
      </p:sp>
      <p:sp>
        <p:nvSpPr>
          <p:cNvPr id="41" name="Text 39"/>
          <p:cNvSpPr/>
          <p:nvPr/>
        </p:nvSpPr>
        <p:spPr>
          <a:xfrm>
            <a:off x="3291840" y="3401568"/>
            <a:ext cx="2560320" cy="1225296"/>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Works natively with Windows Storage Spaces (mirror/parity). Real-time data scrubbing and mirror-based repair without taking the volume offline.</a:t>
            </a:r>
            <a:endParaRPr lang="en-US" sz="900" dirty="0"/>
          </a:p>
        </p:txBody>
      </p:sp>
      <p:sp>
        <p:nvSpPr>
          <p:cNvPr id="42" name="Shape 40"/>
          <p:cNvSpPr/>
          <p:nvPr/>
        </p:nvSpPr>
        <p:spPr>
          <a:xfrm>
            <a:off x="6108192" y="3090672"/>
            <a:ext cx="2761488" cy="1591056"/>
          </a:xfrm>
          <a:prstGeom prst="rect">
            <a:avLst/>
          </a:prstGeom>
          <a:solidFill>
            <a:srgbClr val="EEF6FB"/>
          </a:solidFill>
          <a:ln w="12700">
            <a:solidFill>
              <a:srgbClr val="0EA5E9"/>
            </a:solidFill>
            <a:prstDash val="solid"/>
          </a:ln>
          <a:effectLst>
            <a:outerShdw blurRad="127000" dist="38100" dir="8100000" algn="bl" rotWithShape="0">
              <a:srgbClr val="000000">
                <a:alpha val="22000"/>
              </a:srgbClr>
            </a:outerShdw>
          </a:effectLst>
        </p:spPr>
        <p:txBody>
          <a:bodyPr/>
          <a:lstStyle/>
          <a:p>
            <a:endParaRPr lang="en-SG"/>
          </a:p>
        </p:txBody>
      </p:sp>
      <p:sp>
        <p:nvSpPr>
          <p:cNvPr id="43" name="Shape 41"/>
          <p:cNvSpPr/>
          <p:nvPr/>
        </p:nvSpPr>
        <p:spPr>
          <a:xfrm>
            <a:off x="6108192" y="3090672"/>
            <a:ext cx="2761488" cy="274320"/>
          </a:xfrm>
          <a:prstGeom prst="rect">
            <a:avLst/>
          </a:prstGeom>
          <a:solidFill>
            <a:srgbClr val="0EA5E9"/>
          </a:solidFill>
          <a:ln w="12700">
            <a:solidFill>
              <a:srgbClr val="0EA5E9"/>
            </a:solidFill>
            <a:prstDash val="solid"/>
          </a:ln>
        </p:spPr>
        <p:txBody>
          <a:bodyPr/>
          <a:lstStyle/>
          <a:p>
            <a:endParaRPr lang="en-SG"/>
          </a:p>
        </p:txBody>
      </p:sp>
      <p:sp>
        <p:nvSpPr>
          <p:cNvPr id="44" name="Shape 42"/>
          <p:cNvSpPr/>
          <p:nvPr/>
        </p:nvSpPr>
        <p:spPr>
          <a:xfrm>
            <a:off x="6199632" y="3127248"/>
            <a:ext cx="201168" cy="201168"/>
          </a:xfrm>
          <a:prstGeom prst="line">
            <a:avLst/>
          </a:prstGeom>
          <a:noFill/>
          <a:ln w="12700">
            <a:solidFill>
              <a:srgbClr val="000000">
                <a:alpha val="70000"/>
              </a:srgbClr>
            </a:solidFill>
            <a:prstDash val="solid"/>
          </a:ln>
        </p:spPr>
        <p:txBody>
          <a:bodyPr/>
          <a:lstStyle/>
          <a:p>
            <a:endParaRPr lang="en-SG"/>
          </a:p>
        </p:txBody>
      </p:sp>
      <p:sp>
        <p:nvSpPr>
          <p:cNvPr id="45" name="Text 43"/>
          <p:cNvSpPr/>
          <p:nvPr/>
        </p:nvSpPr>
        <p:spPr>
          <a:xfrm>
            <a:off x="6199632" y="3136392"/>
            <a:ext cx="201168" cy="182880"/>
          </a:xfrm>
          <a:prstGeom prst="rect">
            <a:avLst/>
          </a:prstGeom>
          <a:noFill/>
        </p:spPr>
        <p:txBody>
          <a:bodyPr wrap="square" lIns="0" tIns="0" rIns="0" bIns="0" rtlCol="0" anchor="ctr"/>
          <a:lstStyle/>
          <a:p>
            <a:pPr marL="0" indent="0" algn="ctr">
              <a:buNone/>
            </a:pPr>
            <a:r>
              <a:rPr lang="en-US" sz="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06</a:t>
            </a:r>
            <a:endParaRPr lang="en-US" sz="800" dirty="0"/>
          </a:p>
        </p:txBody>
      </p:sp>
      <p:sp>
        <p:nvSpPr>
          <p:cNvPr id="46" name="Text 44"/>
          <p:cNvSpPr/>
          <p:nvPr/>
        </p:nvSpPr>
        <p:spPr>
          <a:xfrm>
            <a:off x="6455664" y="3127248"/>
            <a:ext cx="2322576" cy="219456"/>
          </a:xfrm>
          <a:prstGeom prst="rect">
            <a:avLst/>
          </a:prstGeom>
          <a:noFill/>
        </p:spPr>
        <p:txBody>
          <a:bodyPr wrap="square" lIns="0" tIns="0" rIns="0" bIns="0" rtlCol="0" anchor="ctr"/>
          <a:lstStyle/>
          <a:p>
            <a:pPr marL="0" indent="0">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Limitations vs NTFS</a:t>
            </a:r>
            <a:endParaRPr lang="en-US" sz="1000" dirty="0"/>
          </a:p>
        </p:txBody>
      </p:sp>
      <p:sp>
        <p:nvSpPr>
          <p:cNvPr id="47" name="Text 45"/>
          <p:cNvSpPr/>
          <p:nvPr/>
        </p:nvSpPr>
        <p:spPr>
          <a:xfrm>
            <a:off x="6217920" y="3401568"/>
            <a:ext cx="2560320" cy="1225296"/>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No bootable volumes, no EFS encryption, no compression, no symbolic links. Limited forensic tool support compared to NTFS. Not suitable for OS drives.</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0B981"/>
          </a:solidFill>
          <a:ln w="12700">
            <a:solidFill>
              <a:srgbClr val="10B981"/>
            </a:solidFill>
            <a:prstDash val="solid"/>
          </a:ln>
        </p:spPr>
        <p:txBody>
          <a:bodyPr/>
          <a:lstStyle/>
          <a:p>
            <a:endParaRPr lang="en-SG"/>
          </a:p>
        </p:txBody>
      </p:sp>
      <p:sp>
        <p:nvSpPr>
          <p:cNvPr id="3" name="Text 1"/>
          <p:cNvSpPr/>
          <p:nvPr/>
        </p:nvSpPr>
        <p:spPr>
          <a:xfrm>
            <a:off x="256032" y="201344"/>
            <a:ext cx="8631936" cy="548640"/>
          </a:xfrm>
          <a:prstGeom prst="rect">
            <a:avLst/>
          </a:prstGeom>
          <a:noFill/>
        </p:spPr>
        <p:txBody>
          <a:bodyPr wrap="square" lIns="0" tIns="0" rIns="0" bIns="0" rtlCol="0" anchor="ctr"/>
          <a:lstStyle/>
          <a:p>
            <a:pPr marL="0" indent="0">
              <a:buNone/>
            </a:pPr>
            <a:r>
              <a:rPr lang="en-US" sz="1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ReFS vs NTFS — Key Differences</a:t>
            </a:r>
            <a:endParaRPr lang="en-US" sz="1800" dirty="0"/>
          </a:p>
        </p:txBody>
      </p:sp>
      <p:sp>
        <p:nvSpPr>
          <p:cNvPr id="4" name="Shape 2"/>
          <p:cNvSpPr/>
          <p:nvPr/>
        </p:nvSpPr>
        <p:spPr>
          <a:xfrm>
            <a:off x="256032" y="73152"/>
            <a:ext cx="1463040" cy="219456"/>
          </a:xfrm>
          <a:prstGeom prst="rect">
            <a:avLst/>
          </a:prstGeom>
          <a:solidFill>
            <a:srgbClr val="10B981"/>
          </a:solidFill>
          <a:ln w="12700">
            <a:solidFill>
              <a:srgbClr val="10B981"/>
            </a:solidFill>
            <a:prstDash val="solid"/>
          </a:ln>
        </p:spPr>
        <p:txBody>
          <a:bodyPr/>
          <a:lstStyle/>
          <a:p>
            <a:endParaRPr lang="en-SG"/>
          </a:p>
        </p:txBody>
      </p:sp>
      <p:sp>
        <p:nvSpPr>
          <p:cNvPr id="5" name="Text 3"/>
          <p:cNvSpPr/>
          <p:nvPr/>
        </p:nvSpPr>
        <p:spPr>
          <a:xfrm>
            <a:off x="256032" y="73152"/>
            <a:ext cx="1463040" cy="219456"/>
          </a:xfrm>
          <a:prstGeom prst="rect">
            <a:avLst/>
          </a:prstGeom>
          <a:noFill/>
        </p:spPr>
        <p:txBody>
          <a:bodyPr wrap="square" lIns="0" tIns="0" rIns="0" bIns="0" rtlCol="0" anchor="ctr"/>
          <a:lstStyle/>
          <a:p>
            <a:pPr marL="0" indent="0" algn="ctr">
              <a:buNone/>
            </a:pPr>
            <a:r>
              <a:rPr lang="en-US" sz="800" b="1" kern="0" spc="100"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SECTION 04 — OTHER</a:t>
            </a:r>
            <a:endParaRPr lang="en-US" sz="800" dirty="0"/>
          </a:p>
        </p:txBody>
      </p:sp>
      <p:sp>
        <p:nvSpPr>
          <p:cNvPr id="10" name="Text 8"/>
          <p:cNvSpPr/>
          <p:nvPr/>
        </p:nvSpPr>
        <p:spPr>
          <a:xfrm>
            <a:off x="256032" y="822960"/>
            <a:ext cx="8631936" cy="256032"/>
          </a:xfrm>
          <a:prstGeom prst="rect">
            <a:avLst/>
          </a:prstGeom>
          <a:noFill/>
        </p:spPr>
        <p:txBody>
          <a:bodyPr wrap="square" rtlCol="0" anchor="ctr"/>
          <a:lstStyle/>
          <a:p>
            <a:pPr marL="0" indent="0">
              <a:buNone/>
            </a:pPr>
            <a:r>
              <a:rPr lang="en-US" sz="950" i="1" dirty="0">
                <a:solidFill>
                  <a:srgbClr val="475569"/>
                </a:solidFill>
                <a:latin typeface="Calibri" panose="020F0502020204030204" pitchFamily="34" charset="0"/>
                <a:ea typeface="Calibri" panose="020F0502020204030204" pitchFamily="34" charset="-122"/>
                <a:cs typeface="Calibri" panose="020F0502020204030204" pitchFamily="34" charset="-120"/>
              </a:rPr>
              <a:t>ReFS is designed to complement NTFS in enterprise storage — not replace it on desktop or OS drives. Choose based on the primary need: NTFS for flexibility; ReFS for large-scale integrity.</a:t>
            </a:r>
            <a:endParaRPr lang="en-US" sz="950" dirty="0"/>
          </a:p>
        </p:txBody>
      </p:sp>
      <p:graphicFrame>
        <p:nvGraphicFramePr>
          <p:cNvPr id="37" name="Table 0"/>
          <p:cNvGraphicFramePr>
            <a:graphicFrameLocks noGrp="1"/>
          </p:cNvGraphicFramePr>
          <p:nvPr/>
        </p:nvGraphicFramePr>
        <p:xfrm>
          <a:off x="256032" y="1133856"/>
          <a:ext cx="8631936" cy="3566160"/>
        </p:xfrm>
        <a:graphic>
          <a:graphicData uri="http://schemas.openxmlformats.org/drawingml/2006/table">
            <a:tbl>
              <a:tblPr/>
              <a:tblGrid>
                <a:gridCol w="2560320"/>
                <a:gridCol w="2944368"/>
                <a:gridCol w="3127248"/>
              </a:tblGrid>
              <a:tr h="274320">
                <a:tc>
                  <a:txBody>
                    <a:bodyPr/>
                    <a:lstStyle/>
                    <a:p>
                      <a:pPr marL="0" indent="0">
                        <a:buNone/>
                      </a:pPr>
                      <a:r>
                        <a:rPr lang="en-US" sz="950" b="1" dirty="0">
                          <a:solidFill>
                            <a:srgbClr val="FFFFFF"/>
                          </a:solidFill>
                          <a:latin typeface="Calibri" panose="020F0502020204030204" pitchFamily="34" charset="0"/>
                          <a:ea typeface="Calibri" panose="020F0502020204030204" pitchFamily="34" charset="-122"/>
                          <a:cs typeface="Calibri" panose="020F0502020204030204" pitchFamily="34" charset="-120"/>
                        </a:rPr>
                        <a:t>Feature</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solidFill>
                      <a:srgbClr val="1E293B"/>
                    </a:solidFill>
                  </a:tcPr>
                </a:tc>
                <a:tc>
                  <a:txBody>
                    <a:bodyPr/>
                    <a:lstStyle/>
                    <a:p>
                      <a:pPr marL="0" indent="0">
                        <a:buNone/>
                      </a:pPr>
                      <a:r>
                        <a:rPr lang="en-US" sz="950" b="1" dirty="0">
                          <a:solidFill>
                            <a:srgbClr val="000000"/>
                          </a:solidFill>
                          <a:latin typeface="Calibri" panose="020F0502020204030204" pitchFamily="34" charset="0"/>
                          <a:ea typeface="Calibri" panose="020F0502020204030204" pitchFamily="34" charset="-122"/>
                          <a:cs typeface="Calibri" panose="020F0502020204030204" pitchFamily="34" charset="-120"/>
                        </a:rPr>
                        <a:t>NTFS</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solidFill>
                      <a:srgbClr val="0EA5E9"/>
                    </a:solidFill>
                  </a:tcPr>
                </a:tc>
                <a:tc>
                  <a:txBody>
                    <a:bodyPr/>
                    <a:lstStyle/>
                    <a:p>
                      <a:pPr marL="0" indent="0">
                        <a:buNone/>
                      </a:pPr>
                      <a:r>
                        <a:rPr lang="en-US" sz="950" b="1" dirty="0">
                          <a:solidFill>
                            <a:srgbClr val="000000"/>
                          </a:solidFill>
                          <a:latin typeface="Calibri" panose="020F0502020204030204" pitchFamily="34" charset="0"/>
                          <a:ea typeface="Calibri" panose="020F0502020204030204" pitchFamily="34" charset="-122"/>
                          <a:cs typeface="Calibri" panose="020F0502020204030204" pitchFamily="34" charset="-120"/>
                        </a:rPr>
                        <a:t>ReFS</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solidFill>
                      <a:srgbClr val="10B981"/>
                    </a:solidFill>
                  </a:tcPr>
                </a:tc>
              </a:tr>
              <a:tr h="274320">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Introduced</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Windows NT 3.1 (1993)</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Windows Server 2012</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274320">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Max Volume</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~256 TiB (Windows)</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1 YiB (theoretical)</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274320">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Max File Size</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~16 TiB</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16 </a:t>
                      </a:r>
                      <a:r>
                        <a:rPr lang="en-US" sz="950" dirty="0" err="1">
                          <a:solidFill>
                            <a:schemeClr val="tx1">
                              <a:lumMod val="95000"/>
                              <a:lumOff val="5000"/>
                            </a:schemeClr>
                          </a:solidFill>
                          <a:latin typeface="Calibri" panose="020F0502020204030204"/>
                          <a:ea typeface="Calibri" panose="020F0502020204030204"/>
                          <a:cs typeface="Calibri" panose="020F0502020204030204"/>
                        </a:rPr>
                        <a:t>ExB</a:t>
                      </a:r>
                      <a:r>
                        <a:rPr lang="en-US" sz="950" dirty="0">
                          <a:solidFill>
                            <a:schemeClr val="tx1">
                              <a:lumMod val="95000"/>
                              <a:lumOff val="5000"/>
                            </a:schemeClr>
                          </a:solidFill>
                          <a:latin typeface="Calibri" panose="020F0502020204030204"/>
                          <a:ea typeface="Calibri" panose="020F0502020204030204"/>
                          <a:cs typeface="Calibri" panose="020F0502020204030204"/>
                        </a:rPr>
                        <a:t> (theoretical)</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274320">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Journalling</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a:t>
                      </a:r>
                      <a:r>
                        <a:rPr lang="en-US" sz="950" dirty="0" err="1">
                          <a:solidFill>
                            <a:schemeClr val="tx1">
                              <a:lumMod val="95000"/>
                              <a:lumOff val="5000"/>
                            </a:schemeClr>
                          </a:solidFill>
                          <a:latin typeface="Calibri" panose="020F0502020204030204"/>
                          <a:ea typeface="Calibri" panose="020F0502020204030204"/>
                          <a:cs typeface="Calibri" panose="020F0502020204030204"/>
                        </a:rPr>
                        <a:t>LogFile</a:t>
                      </a:r>
                      <a:r>
                        <a:rPr lang="en-US" sz="950" dirty="0">
                          <a:solidFill>
                            <a:schemeClr val="tx1">
                              <a:lumMod val="95000"/>
                              <a:lumOff val="5000"/>
                            </a:schemeClr>
                          </a:solidFill>
                          <a:latin typeface="Calibri" panose="020F0502020204030204"/>
                          <a:ea typeface="Calibri" panose="020F0502020204030204"/>
                          <a:cs typeface="Calibri" panose="020F0502020204030204"/>
                        </a:rPr>
                        <a:t> (metadata only)</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Redirect-on-write (all data)</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274320">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Data Integrity</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No checksums</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Per-block integrity streams + checksums</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274320">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Self-Healing</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Manual CHKDSK</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Online, automatic with Storage Spaces</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274320">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Compression</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Yes (built-in)</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No</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274320">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Encryption (EFS)</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Yes</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No</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274320">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Bootable Volume</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Yes</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No</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274320">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File Permissions</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Full NTFS ACL</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Full NTFS ACL (inherited)</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274320">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Forensic Tool Support</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Excellent (all tools)</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Limited (growing)</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r h="274320">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Primary Use Case</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OS drives, general storage</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c>
                  <a:txBody>
                    <a:bodyPr/>
                    <a:lstStyle/>
                    <a:p>
                      <a:pPr marL="0" indent="0">
                        <a:buNone/>
                      </a:pPr>
                      <a:r>
                        <a:rPr lang="en-US" sz="950" dirty="0">
                          <a:solidFill>
                            <a:schemeClr val="tx1">
                              <a:lumMod val="95000"/>
                              <a:lumOff val="5000"/>
                            </a:schemeClr>
                          </a:solidFill>
                          <a:latin typeface="Calibri" panose="020F0502020204030204"/>
                          <a:ea typeface="Calibri" panose="020F0502020204030204"/>
                          <a:cs typeface="Calibri" panose="020F0502020204030204"/>
                        </a:rPr>
                        <a:t>Enterprise NAS, Storage Spaces, cloud</a:t>
                      </a:r>
                      <a:endParaRPr lang="en-US" sz="950">
                        <a:solidFill>
                          <a:schemeClr val="tx1">
                            <a:lumMod val="95000"/>
                            <a:lumOff val="5000"/>
                          </a:schemeClr>
                        </a:solidFill>
                        <a:latin typeface="Calibri" panose="020F0502020204030204"/>
                        <a:ea typeface="Calibri" panose="020F0502020204030204"/>
                        <a:cs typeface="Calibri" panose="020F0502020204030204"/>
                      </a:endParaRPr>
                    </a:p>
                  </a:txBody>
                  <a:tcPr anchor="ctr">
                    <a:lnL w="6350" cap="flat" cmpd="sng" algn="ctr">
                      <a:solidFill>
                        <a:srgbClr val="2E4068"/>
                      </a:solidFill>
                      <a:prstDash val="solid"/>
                      <a:round/>
                      <a:headEnd type="none" w="med" len="med"/>
                      <a:tailEnd type="none" w="med" len="med"/>
                    </a:lnL>
                    <a:lnR w="6350" cap="flat" cmpd="sng" algn="ctr">
                      <a:solidFill>
                        <a:srgbClr val="2E4068"/>
                      </a:solidFill>
                      <a:prstDash val="solid"/>
                      <a:round/>
                      <a:headEnd type="none" w="med" len="med"/>
                      <a:tailEnd type="none" w="med" len="med"/>
                    </a:lnR>
                    <a:lnT w="6350" cap="flat" cmpd="sng" algn="ctr">
                      <a:solidFill>
                        <a:srgbClr val="2E4068"/>
                      </a:solidFill>
                      <a:prstDash val="solid"/>
                      <a:round/>
                      <a:headEnd type="none" w="med" len="med"/>
                      <a:tailEnd type="none" w="med" len="med"/>
                    </a:lnT>
                    <a:lnB w="6350" cap="flat" cmpd="sng" algn="ctr">
                      <a:solidFill>
                        <a:srgbClr val="2E4068"/>
                      </a:solidFill>
                      <a:prstDash val="solid"/>
                      <a:round/>
                      <a:headEnd type="none" w="med" len="med"/>
                      <a:tailEnd type="none" w="med" len="med"/>
                    </a:lnB>
                  </a:tcPr>
                </a:tc>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0B981"/>
          </a:solidFill>
          <a:ln w="12700">
            <a:solidFill>
              <a:srgbClr val="10B981"/>
            </a:solidFill>
            <a:prstDash val="solid"/>
          </a:ln>
        </p:spPr>
        <p:txBody>
          <a:bodyPr/>
          <a:lstStyle/>
          <a:p>
            <a:endParaRPr lang="en-SG"/>
          </a:p>
        </p:txBody>
      </p:sp>
      <p:sp>
        <p:nvSpPr>
          <p:cNvPr id="3" name="Text 1"/>
          <p:cNvSpPr/>
          <p:nvPr/>
        </p:nvSpPr>
        <p:spPr>
          <a:xfrm>
            <a:off x="256032" y="186690"/>
            <a:ext cx="8631936" cy="548640"/>
          </a:xfrm>
          <a:prstGeom prst="rect">
            <a:avLst/>
          </a:prstGeom>
          <a:noFill/>
        </p:spPr>
        <p:txBody>
          <a:bodyPr wrap="square" lIns="0" tIns="0" rIns="0" bIns="0" rtlCol="0" anchor="ctr"/>
          <a:lstStyle/>
          <a:p>
            <a:pPr marL="0" indent="0">
              <a:buNone/>
            </a:pPr>
            <a:r>
              <a:rPr lang="en-US" sz="1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Linux EXT File Systems — History &amp; EXT4 Traits</a:t>
            </a:r>
            <a:endParaRPr lang="en-US" sz="1800" dirty="0"/>
          </a:p>
        </p:txBody>
      </p:sp>
      <p:sp>
        <p:nvSpPr>
          <p:cNvPr id="4" name="Shape 2"/>
          <p:cNvSpPr/>
          <p:nvPr/>
        </p:nvSpPr>
        <p:spPr>
          <a:xfrm>
            <a:off x="256032" y="73152"/>
            <a:ext cx="1463040" cy="219456"/>
          </a:xfrm>
          <a:prstGeom prst="rect">
            <a:avLst/>
          </a:prstGeom>
          <a:solidFill>
            <a:srgbClr val="10B981"/>
          </a:solidFill>
          <a:ln w="12700">
            <a:solidFill>
              <a:srgbClr val="10B981"/>
            </a:solidFill>
            <a:prstDash val="solid"/>
          </a:ln>
        </p:spPr>
        <p:txBody>
          <a:bodyPr/>
          <a:lstStyle/>
          <a:p>
            <a:endParaRPr lang="en-SG"/>
          </a:p>
        </p:txBody>
      </p:sp>
      <p:sp>
        <p:nvSpPr>
          <p:cNvPr id="5" name="Text 3"/>
          <p:cNvSpPr/>
          <p:nvPr/>
        </p:nvSpPr>
        <p:spPr>
          <a:xfrm>
            <a:off x="256032" y="73152"/>
            <a:ext cx="1463040" cy="219456"/>
          </a:xfrm>
          <a:prstGeom prst="rect">
            <a:avLst/>
          </a:prstGeom>
          <a:noFill/>
        </p:spPr>
        <p:txBody>
          <a:bodyPr wrap="square" lIns="0" tIns="0" rIns="0" bIns="0" rtlCol="0" anchor="ctr"/>
          <a:lstStyle/>
          <a:p>
            <a:pPr marL="0" indent="0" algn="ctr">
              <a:buNone/>
            </a:pPr>
            <a:r>
              <a:rPr lang="en-US" sz="800" b="1" kern="0" spc="100"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SECTION 04 — OTHER</a:t>
            </a:r>
            <a:endParaRPr lang="en-US" sz="800" dirty="0"/>
          </a:p>
        </p:txBody>
      </p:sp>
      <p:sp>
        <p:nvSpPr>
          <p:cNvPr id="10" name="Shape 8"/>
          <p:cNvSpPr/>
          <p:nvPr/>
        </p:nvSpPr>
        <p:spPr>
          <a:xfrm>
            <a:off x="365760" y="2249424"/>
            <a:ext cx="8412480" cy="54864"/>
          </a:xfrm>
          <a:prstGeom prst="rect">
            <a:avLst/>
          </a:prstGeom>
          <a:solidFill>
            <a:srgbClr val="2E4068"/>
          </a:solidFill>
          <a:ln w="12700">
            <a:solidFill>
              <a:srgbClr val="2E4068"/>
            </a:solidFill>
            <a:prstDash val="solid"/>
          </a:ln>
        </p:spPr>
        <p:txBody>
          <a:bodyPr/>
          <a:lstStyle/>
          <a:p>
            <a:endParaRPr lang="en-SG"/>
          </a:p>
        </p:txBody>
      </p:sp>
      <p:sp>
        <p:nvSpPr>
          <p:cNvPr id="11" name="Shape 9"/>
          <p:cNvSpPr/>
          <p:nvPr/>
        </p:nvSpPr>
        <p:spPr>
          <a:xfrm>
            <a:off x="365760" y="822960"/>
            <a:ext cx="2029968" cy="1316736"/>
          </a:xfrm>
          <a:prstGeom prst="rect">
            <a:avLst/>
          </a:prstGeom>
          <a:solidFill>
            <a:srgbClr val="EEF6FB"/>
          </a:solidFill>
          <a:ln w="12700">
            <a:solidFill>
              <a:srgbClr val="6366F1"/>
            </a:solidFill>
            <a:prstDash val="solid"/>
          </a:ln>
          <a:effectLst>
            <a:outerShdw blurRad="127000" dist="38100" dir="8100000" algn="bl" rotWithShape="0">
              <a:srgbClr val="000000">
                <a:alpha val="22000"/>
              </a:srgbClr>
            </a:outerShdw>
          </a:effectLst>
        </p:spPr>
        <p:txBody>
          <a:bodyPr/>
          <a:lstStyle/>
          <a:p>
            <a:endParaRPr lang="en-SG"/>
          </a:p>
        </p:txBody>
      </p:sp>
      <p:sp>
        <p:nvSpPr>
          <p:cNvPr id="12" name="Shape 10"/>
          <p:cNvSpPr/>
          <p:nvPr/>
        </p:nvSpPr>
        <p:spPr>
          <a:xfrm>
            <a:off x="365760" y="822960"/>
            <a:ext cx="2029968" cy="292608"/>
          </a:xfrm>
          <a:prstGeom prst="rect">
            <a:avLst/>
          </a:prstGeom>
          <a:solidFill>
            <a:srgbClr val="6366F1"/>
          </a:solidFill>
          <a:ln w="12700">
            <a:solidFill>
              <a:srgbClr val="6366F1"/>
            </a:solidFill>
            <a:prstDash val="solid"/>
          </a:ln>
        </p:spPr>
        <p:txBody>
          <a:bodyPr/>
          <a:lstStyle/>
          <a:p>
            <a:endParaRPr lang="en-SG"/>
          </a:p>
        </p:txBody>
      </p:sp>
      <p:sp>
        <p:nvSpPr>
          <p:cNvPr id="13" name="Text 11"/>
          <p:cNvSpPr/>
          <p:nvPr/>
        </p:nvSpPr>
        <p:spPr>
          <a:xfrm>
            <a:off x="457200" y="850392"/>
            <a:ext cx="731520" cy="237744"/>
          </a:xfrm>
          <a:prstGeom prst="rect">
            <a:avLst/>
          </a:prstGeom>
          <a:noFill/>
        </p:spPr>
        <p:txBody>
          <a:bodyPr wrap="square" lIns="0" tIns="0" rIns="0" bIns="0" rtlCol="0" anchor="ctr"/>
          <a:lstStyle/>
          <a:p>
            <a:pPr marL="0" indent="0">
              <a:buNone/>
            </a:pPr>
            <a:r>
              <a:rPr lang="en-US" sz="1400" b="1" dirty="0">
                <a:solidFill>
                  <a:srgbClr val="000000"/>
                </a:solidFill>
                <a:latin typeface="Consolas" panose="020B0609020204030204" pitchFamily="34" charset="0"/>
                <a:ea typeface="Consolas" panose="020B0609020204030204" pitchFamily="34" charset="-122"/>
                <a:cs typeface="Consolas" panose="020B0609020204030204" pitchFamily="34" charset="-120"/>
              </a:rPr>
              <a:t>ext</a:t>
            </a:r>
            <a:endParaRPr lang="en-US" sz="1400" dirty="0"/>
          </a:p>
        </p:txBody>
      </p:sp>
      <p:sp>
        <p:nvSpPr>
          <p:cNvPr id="14" name="Text 12"/>
          <p:cNvSpPr/>
          <p:nvPr/>
        </p:nvSpPr>
        <p:spPr>
          <a:xfrm>
            <a:off x="1664208" y="877824"/>
            <a:ext cx="658368" cy="182880"/>
          </a:xfrm>
          <a:prstGeom prst="rect">
            <a:avLst/>
          </a:prstGeom>
          <a:noFill/>
        </p:spPr>
        <p:txBody>
          <a:bodyPr wrap="square" lIns="0" tIns="0" rIns="0" bIns="0" rtlCol="0" anchor="ctr"/>
          <a:lstStyle/>
          <a:p>
            <a:pPr marL="0" indent="0" algn="r">
              <a:buNone/>
            </a:pPr>
            <a:r>
              <a:rPr lang="en-US" sz="11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1992</a:t>
            </a:r>
            <a:endParaRPr lang="en-US" sz="1100" dirty="0"/>
          </a:p>
        </p:txBody>
      </p:sp>
      <p:sp>
        <p:nvSpPr>
          <p:cNvPr id="15" name="Text 13"/>
          <p:cNvSpPr/>
          <p:nvPr/>
        </p:nvSpPr>
        <p:spPr>
          <a:xfrm>
            <a:off x="457200" y="1152144"/>
            <a:ext cx="1865376" cy="950976"/>
          </a:xfrm>
          <a:prstGeom prst="rect">
            <a:avLst/>
          </a:prstGeom>
          <a:noFill/>
        </p:spPr>
        <p:txBody>
          <a:bodyPr wrap="square" rtlCol="0" anchor="t"/>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First Linux filesystem. 2 GB volume limit, 255-char names. No separate access/modification timestamps. Quickly replaced.</a:t>
            </a:r>
            <a:endParaRPr lang="en-US" sz="850" dirty="0"/>
          </a:p>
        </p:txBody>
      </p:sp>
      <p:sp>
        <p:nvSpPr>
          <p:cNvPr id="16" name="Shape 14"/>
          <p:cNvSpPr/>
          <p:nvPr/>
        </p:nvSpPr>
        <p:spPr>
          <a:xfrm>
            <a:off x="1271016" y="2157984"/>
            <a:ext cx="219456" cy="219456"/>
          </a:xfrm>
          <a:prstGeom prst="line">
            <a:avLst/>
          </a:prstGeom>
          <a:solidFill>
            <a:srgbClr val="6366F1"/>
          </a:solidFill>
          <a:ln w="12700">
            <a:solidFill>
              <a:srgbClr val="6366F1"/>
            </a:solidFill>
            <a:prstDash val="solid"/>
          </a:ln>
        </p:spPr>
        <p:txBody>
          <a:bodyPr/>
          <a:lstStyle/>
          <a:p>
            <a:endParaRPr lang="en-SG"/>
          </a:p>
        </p:txBody>
      </p:sp>
      <p:sp>
        <p:nvSpPr>
          <p:cNvPr id="17" name="Text 15"/>
          <p:cNvSpPr/>
          <p:nvPr/>
        </p:nvSpPr>
        <p:spPr>
          <a:xfrm>
            <a:off x="1051560" y="2322576"/>
            <a:ext cx="658368" cy="201168"/>
          </a:xfrm>
          <a:prstGeom prst="rect">
            <a:avLst/>
          </a:prstGeom>
          <a:noFill/>
        </p:spPr>
        <p:txBody>
          <a:bodyPr wrap="square" lIns="0" tIns="0" rIns="0" bIns="0" rtlCol="0" anchor="ctr"/>
          <a:lstStyle/>
          <a:p>
            <a:pPr marL="0" indent="0" algn="ctr">
              <a:buNone/>
            </a:pPr>
            <a:r>
              <a:rPr lang="en-US" sz="900" b="1" dirty="0">
                <a:solidFill>
                  <a:srgbClr val="475569"/>
                </a:solidFill>
                <a:latin typeface="Calibri" panose="020F0502020204030204" pitchFamily="34" charset="0"/>
                <a:ea typeface="Calibri" panose="020F0502020204030204" pitchFamily="34" charset="-122"/>
                <a:cs typeface="Calibri" panose="020F0502020204030204" pitchFamily="34" charset="-120"/>
              </a:rPr>
              <a:t>1992</a:t>
            </a:r>
            <a:endParaRPr lang="en-US" sz="900" dirty="0"/>
          </a:p>
        </p:txBody>
      </p:sp>
      <p:sp>
        <p:nvSpPr>
          <p:cNvPr id="18" name="Shape 16"/>
          <p:cNvSpPr/>
          <p:nvPr/>
        </p:nvSpPr>
        <p:spPr>
          <a:xfrm>
            <a:off x="2523744" y="822960"/>
            <a:ext cx="2029968" cy="1316736"/>
          </a:xfrm>
          <a:prstGeom prst="rect">
            <a:avLst/>
          </a:prstGeom>
          <a:solidFill>
            <a:srgbClr val="EEF6FB"/>
          </a:solidFill>
          <a:ln w="12700">
            <a:solidFill>
              <a:srgbClr val="0EA5E9"/>
            </a:solidFill>
            <a:prstDash val="solid"/>
          </a:ln>
          <a:effectLst>
            <a:outerShdw blurRad="127000" dist="38100" dir="8100000" algn="bl" rotWithShape="0">
              <a:srgbClr val="000000">
                <a:alpha val="22000"/>
              </a:srgbClr>
            </a:outerShdw>
          </a:effectLst>
        </p:spPr>
        <p:txBody>
          <a:bodyPr/>
          <a:lstStyle/>
          <a:p>
            <a:endParaRPr lang="en-SG"/>
          </a:p>
        </p:txBody>
      </p:sp>
      <p:sp>
        <p:nvSpPr>
          <p:cNvPr id="19" name="Shape 17"/>
          <p:cNvSpPr/>
          <p:nvPr/>
        </p:nvSpPr>
        <p:spPr>
          <a:xfrm>
            <a:off x="2523744" y="822960"/>
            <a:ext cx="2029968" cy="292608"/>
          </a:xfrm>
          <a:prstGeom prst="rect">
            <a:avLst/>
          </a:prstGeom>
          <a:solidFill>
            <a:srgbClr val="0EA5E9"/>
          </a:solidFill>
          <a:ln w="12700">
            <a:solidFill>
              <a:srgbClr val="0EA5E9"/>
            </a:solidFill>
            <a:prstDash val="solid"/>
          </a:ln>
        </p:spPr>
        <p:txBody>
          <a:bodyPr/>
          <a:lstStyle/>
          <a:p>
            <a:endParaRPr lang="en-SG"/>
          </a:p>
        </p:txBody>
      </p:sp>
      <p:sp>
        <p:nvSpPr>
          <p:cNvPr id="20" name="Text 18"/>
          <p:cNvSpPr/>
          <p:nvPr/>
        </p:nvSpPr>
        <p:spPr>
          <a:xfrm>
            <a:off x="2615184" y="850392"/>
            <a:ext cx="731520" cy="237744"/>
          </a:xfrm>
          <a:prstGeom prst="rect">
            <a:avLst/>
          </a:prstGeom>
          <a:noFill/>
        </p:spPr>
        <p:txBody>
          <a:bodyPr wrap="square" lIns="0" tIns="0" rIns="0" bIns="0" rtlCol="0" anchor="ctr"/>
          <a:lstStyle/>
          <a:p>
            <a:pPr marL="0" indent="0">
              <a:buNone/>
            </a:pPr>
            <a:r>
              <a:rPr lang="en-US" sz="1400" b="1" dirty="0">
                <a:solidFill>
                  <a:srgbClr val="000000"/>
                </a:solidFill>
                <a:latin typeface="Consolas" panose="020B0609020204030204" pitchFamily="34" charset="0"/>
                <a:ea typeface="Consolas" panose="020B0609020204030204" pitchFamily="34" charset="-122"/>
                <a:cs typeface="Consolas" panose="020B0609020204030204" pitchFamily="34" charset="-120"/>
              </a:rPr>
              <a:t>ext2</a:t>
            </a:r>
            <a:endParaRPr lang="en-US" sz="1400" dirty="0"/>
          </a:p>
        </p:txBody>
      </p:sp>
      <p:sp>
        <p:nvSpPr>
          <p:cNvPr id="21" name="Text 19"/>
          <p:cNvSpPr/>
          <p:nvPr/>
        </p:nvSpPr>
        <p:spPr>
          <a:xfrm>
            <a:off x="3822192" y="877824"/>
            <a:ext cx="658368" cy="182880"/>
          </a:xfrm>
          <a:prstGeom prst="rect">
            <a:avLst/>
          </a:prstGeom>
          <a:noFill/>
        </p:spPr>
        <p:txBody>
          <a:bodyPr wrap="square" lIns="0" tIns="0" rIns="0" bIns="0" rtlCol="0" anchor="ctr"/>
          <a:lstStyle/>
          <a:p>
            <a:pPr marL="0" indent="0" algn="r">
              <a:buNone/>
            </a:pPr>
            <a:r>
              <a:rPr lang="en-US" sz="11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1993</a:t>
            </a:r>
            <a:endParaRPr lang="en-US" sz="1100" dirty="0"/>
          </a:p>
        </p:txBody>
      </p:sp>
      <p:sp>
        <p:nvSpPr>
          <p:cNvPr id="22" name="Text 20"/>
          <p:cNvSpPr/>
          <p:nvPr/>
        </p:nvSpPr>
        <p:spPr>
          <a:xfrm>
            <a:off x="2615184" y="1152144"/>
            <a:ext cx="1865376" cy="950976"/>
          </a:xfrm>
          <a:prstGeom prst="rect">
            <a:avLst/>
          </a:prstGeom>
          <a:noFill/>
        </p:spPr>
        <p:txBody>
          <a:bodyPr wrap="square" rtlCol="0" anchor="t"/>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Extended timestamps. Max 32 TiB volume. No journalling — vulnerable to corruption on crash. Still used on flash media (no journal write wear).</a:t>
            </a:r>
            <a:endParaRPr lang="en-US" sz="850" dirty="0"/>
          </a:p>
        </p:txBody>
      </p:sp>
      <p:sp>
        <p:nvSpPr>
          <p:cNvPr id="23" name="Shape 21"/>
          <p:cNvSpPr/>
          <p:nvPr/>
        </p:nvSpPr>
        <p:spPr>
          <a:xfrm>
            <a:off x="3429000" y="2157984"/>
            <a:ext cx="219456" cy="219456"/>
          </a:xfrm>
          <a:prstGeom prst="line">
            <a:avLst/>
          </a:prstGeom>
          <a:solidFill>
            <a:srgbClr val="0EA5E9"/>
          </a:solidFill>
          <a:ln w="12700">
            <a:solidFill>
              <a:srgbClr val="0EA5E9"/>
            </a:solidFill>
            <a:prstDash val="solid"/>
          </a:ln>
        </p:spPr>
        <p:txBody>
          <a:bodyPr/>
          <a:lstStyle/>
          <a:p>
            <a:endParaRPr lang="en-SG"/>
          </a:p>
        </p:txBody>
      </p:sp>
      <p:sp>
        <p:nvSpPr>
          <p:cNvPr id="24" name="Text 22"/>
          <p:cNvSpPr/>
          <p:nvPr/>
        </p:nvSpPr>
        <p:spPr>
          <a:xfrm>
            <a:off x="3209544" y="2322576"/>
            <a:ext cx="658368" cy="201168"/>
          </a:xfrm>
          <a:prstGeom prst="rect">
            <a:avLst/>
          </a:prstGeom>
          <a:noFill/>
        </p:spPr>
        <p:txBody>
          <a:bodyPr wrap="square" lIns="0" tIns="0" rIns="0" bIns="0" rtlCol="0" anchor="ctr"/>
          <a:lstStyle/>
          <a:p>
            <a:pPr marL="0" indent="0" algn="ctr">
              <a:buNone/>
            </a:pPr>
            <a:r>
              <a:rPr lang="en-US" sz="900" b="1" dirty="0">
                <a:solidFill>
                  <a:srgbClr val="475569"/>
                </a:solidFill>
                <a:latin typeface="Calibri" panose="020F0502020204030204" pitchFamily="34" charset="0"/>
                <a:ea typeface="Calibri" panose="020F0502020204030204" pitchFamily="34" charset="-122"/>
                <a:cs typeface="Calibri" panose="020F0502020204030204" pitchFamily="34" charset="-120"/>
              </a:rPr>
              <a:t>1993</a:t>
            </a:r>
            <a:endParaRPr lang="en-US" sz="900" dirty="0"/>
          </a:p>
        </p:txBody>
      </p:sp>
      <p:sp>
        <p:nvSpPr>
          <p:cNvPr id="25" name="Shape 23"/>
          <p:cNvSpPr/>
          <p:nvPr/>
        </p:nvSpPr>
        <p:spPr>
          <a:xfrm>
            <a:off x="4681728" y="822960"/>
            <a:ext cx="2029968" cy="1316736"/>
          </a:xfrm>
          <a:prstGeom prst="rect">
            <a:avLst/>
          </a:prstGeom>
          <a:solidFill>
            <a:srgbClr val="EEF6FB"/>
          </a:solidFill>
          <a:ln w="12700">
            <a:solidFill>
              <a:srgbClr val="F59E0B"/>
            </a:solidFill>
            <a:prstDash val="solid"/>
          </a:ln>
          <a:effectLst>
            <a:outerShdw blurRad="127000" dist="38100" dir="8100000" algn="bl" rotWithShape="0">
              <a:srgbClr val="000000">
                <a:alpha val="22000"/>
              </a:srgbClr>
            </a:outerShdw>
          </a:effectLst>
        </p:spPr>
        <p:txBody>
          <a:bodyPr/>
          <a:lstStyle/>
          <a:p>
            <a:endParaRPr lang="en-SG"/>
          </a:p>
        </p:txBody>
      </p:sp>
      <p:sp>
        <p:nvSpPr>
          <p:cNvPr id="26" name="Shape 24"/>
          <p:cNvSpPr/>
          <p:nvPr/>
        </p:nvSpPr>
        <p:spPr>
          <a:xfrm>
            <a:off x="4681728" y="822960"/>
            <a:ext cx="2029968" cy="292608"/>
          </a:xfrm>
          <a:prstGeom prst="rect">
            <a:avLst/>
          </a:prstGeom>
          <a:solidFill>
            <a:srgbClr val="F59E0B"/>
          </a:solidFill>
          <a:ln w="12700">
            <a:solidFill>
              <a:srgbClr val="F59E0B"/>
            </a:solidFill>
            <a:prstDash val="solid"/>
          </a:ln>
        </p:spPr>
        <p:txBody>
          <a:bodyPr/>
          <a:lstStyle/>
          <a:p>
            <a:endParaRPr lang="en-SG"/>
          </a:p>
        </p:txBody>
      </p:sp>
      <p:sp>
        <p:nvSpPr>
          <p:cNvPr id="27" name="Text 25"/>
          <p:cNvSpPr/>
          <p:nvPr/>
        </p:nvSpPr>
        <p:spPr>
          <a:xfrm>
            <a:off x="4773168" y="850392"/>
            <a:ext cx="731520" cy="237744"/>
          </a:xfrm>
          <a:prstGeom prst="rect">
            <a:avLst/>
          </a:prstGeom>
          <a:noFill/>
        </p:spPr>
        <p:txBody>
          <a:bodyPr wrap="square" lIns="0" tIns="0" rIns="0" bIns="0" rtlCol="0" anchor="ctr"/>
          <a:lstStyle/>
          <a:p>
            <a:pPr marL="0" indent="0">
              <a:buNone/>
            </a:pPr>
            <a:r>
              <a:rPr lang="en-US" sz="1400" b="1" dirty="0">
                <a:solidFill>
                  <a:srgbClr val="000000"/>
                </a:solidFill>
                <a:latin typeface="Consolas" panose="020B0609020204030204" pitchFamily="34" charset="0"/>
                <a:ea typeface="Consolas" panose="020B0609020204030204" pitchFamily="34" charset="-122"/>
                <a:cs typeface="Consolas" panose="020B0609020204030204" pitchFamily="34" charset="-120"/>
              </a:rPr>
              <a:t>ext3</a:t>
            </a:r>
            <a:endParaRPr lang="en-US" sz="1400" dirty="0"/>
          </a:p>
        </p:txBody>
      </p:sp>
      <p:sp>
        <p:nvSpPr>
          <p:cNvPr id="28" name="Text 26"/>
          <p:cNvSpPr/>
          <p:nvPr/>
        </p:nvSpPr>
        <p:spPr>
          <a:xfrm>
            <a:off x="5980176" y="877824"/>
            <a:ext cx="658368" cy="182880"/>
          </a:xfrm>
          <a:prstGeom prst="rect">
            <a:avLst/>
          </a:prstGeom>
          <a:noFill/>
        </p:spPr>
        <p:txBody>
          <a:bodyPr wrap="square" lIns="0" tIns="0" rIns="0" bIns="0" rtlCol="0" anchor="ctr"/>
          <a:lstStyle/>
          <a:p>
            <a:pPr marL="0" indent="0" algn="r">
              <a:buNone/>
            </a:pPr>
            <a:r>
              <a:rPr lang="en-US" sz="11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1999</a:t>
            </a:r>
            <a:endParaRPr lang="en-US" sz="1100" dirty="0"/>
          </a:p>
        </p:txBody>
      </p:sp>
      <p:sp>
        <p:nvSpPr>
          <p:cNvPr id="29" name="Text 27"/>
          <p:cNvSpPr/>
          <p:nvPr/>
        </p:nvSpPr>
        <p:spPr>
          <a:xfrm>
            <a:off x="4773168" y="1152144"/>
            <a:ext cx="1865376" cy="950976"/>
          </a:xfrm>
          <a:prstGeom prst="rect">
            <a:avLst/>
          </a:prstGeom>
          <a:noFill/>
        </p:spPr>
        <p:txBody>
          <a:bodyPr wrap="square" rtlCol="0" anchor="t"/>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Added journalling (3 modes: journal, ordered, writeback). Backward compatible with ext2. Max 32 TiB / 2 TiB file. Major stability improvement.</a:t>
            </a:r>
            <a:endParaRPr lang="en-US" sz="850" dirty="0"/>
          </a:p>
        </p:txBody>
      </p:sp>
      <p:sp>
        <p:nvSpPr>
          <p:cNvPr id="30" name="Shape 28"/>
          <p:cNvSpPr/>
          <p:nvPr/>
        </p:nvSpPr>
        <p:spPr>
          <a:xfrm>
            <a:off x="5586984" y="2157984"/>
            <a:ext cx="219456" cy="219456"/>
          </a:xfrm>
          <a:prstGeom prst="line">
            <a:avLst/>
          </a:prstGeom>
          <a:solidFill>
            <a:srgbClr val="F59E0B"/>
          </a:solidFill>
          <a:ln w="12700">
            <a:solidFill>
              <a:srgbClr val="F59E0B"/>
            </a:solidFill>
            <a:prstDash val="solid"/>
          </a:ln>
        </p:spPr>
        <p:txBody>
          <a:bodyPr/>
          <a:lstStyle/>
          <a:p>
            <a:endParaRPr lang="en-SG"/>
          </a:p>
        </p:txBody>
      </p:sp>
      <p:sp>
        <p:nvSpPr>
          <p:cNvPr id="31" name="Text 29"/>
          <p:cNvSpPr/>
          <p:nvPr/>
        </p:nvSpPr>
        <p:spPr>
          <a:xfrm>
            <a:off x="5367528" y="2322576"/>
            <a:ext cx="658368" cy="201168"/>
          </a:xfrm>
          <a:prstGeom prst="rect">
            <a:avLst/>
          </a:prstGeom>
          <a:noFill/>
        </p:spPr>
        <p:txBody>
          <a:bodyPr wrap="square" lIns="0" tIns="0" rIns="0" bIns="0" rtlCol="0" anchor="ctr"/>
          <a:lstStyle/>
          <a:p>
            <a:pPr marL="0" indent="0" algn="ctr">
              <a:buNone/>
            </a:pPr>
            <a:r>
              <a:rPr lang="en-US" sz="900" b="1" dirty="0">
                <a:solidFill>
                  <a:srgbClr val="475569"/>
                </a:solidFill>
                <a:latin typeface="Calibri" panose="020F0502020204030204" pitchFamily="34" charset="0"/>
                <a:ea typeface="Calibri" panose="020F0502020204030204" pitchFamily="34" charset="-122"/>
                <a:cs typeface="Calibri" panose="020F0502020204030204" pitchFamily="34" charset="-120"/>
              </a:rPr>
              <a:t>1999</a:t>
            </a:r>
            <a:endParaRPr lang="en-US" sz="900" dirty="0"/>
          </a:p>
        </p:txBody>
      </p:sp>
      <p:sp>
        <p:nvSpPr>
          <p:cNvPr id="32" name="Shape 30"/>
          <p:cNvSpPr/>
          <p:nvPr/>
        </p:nvSpPr>
        <p:spPr>
          <a:xfrm>
            <a:off x="6839712" y="822960"/>
            <a:ext cx="2029968" cy="1316736"/>
          </a:xfrm>
          <a:prstGeom prst="rect">
            <a:avLst/>
          </a:prstGeom>
          <a:solidFill>
            <a:srgbClr val="EEF6FB"/>
          </a:solidFill>
          <a:ln w="12700">
            <a:solidFill>
              <a:srgbClr val="10B981"/>
            </a:solidFill>
            <a:prstDash val="solid"/>
          </a:ln>
          <a:effectLst>
            <a:outerShdw blurRad="127000" dist="38100" dir="8100000" algn="bl" rotWithShape="0">
              <a:srgbClr val="000000">
                <a:alpha val="22000"/>
              </a:srgbClr>
            </a:outerShdw>
          </a:effectLst>
        </p:spPr>
        <p:txBody>
          <a:bodyPr/>
          <a:lstStyle/>
          <a:p>
            <a:endParaRPr lang="en-SG"/>
          </a:p>
        </p:txBody>
      </p:sp>
      <p:sp>
        <p:nvSpPr>
          <p:cNvPr id="33" name="Shape 31"/>
          <p:cNvSpPr/>
          <p:nvPr/>
        </p:nvSpPr>
        <p:spPr>
          <a:xfrm>
            <a:off x="6839712" y="822960"/>
            <a:ext cx="2029968" cy="292608"/>
          </a:xfrm>
          <a:prstGeom prst="rect">
            <a:avLst/>
          </a:prstGeom>
          <a:solidFill>
            <a:srgbClr val="10B981"/>
          </a:solidFill>
          <a:ln w="12700">
            <a:solidFill>
              <a:srgbClr val="10B981"/>
            </a:solidFill>
            <a:prstDash val="solid"/>
          </a:ln>
        </p:spPr>
        <p:txBody>
          <a:bodyPr/>
          <a:lstStyle/>
          <a:p>
            <a:endParaRPr lang="en-SG"/>
          </a:p>
        </p:txBody>
      </p:sp>
      <p:sp>
        <p:nvSpPr>
          <p:cNvPr id="34" name="Text 32"/>
          <p:cNvSpPr/>
          <p:nvPr/>
        </p:nvSpPr>
        <p:spPr>
          <a:xfrm>
            <a:off x="6931152" y="850392"/>
            <a:ext cx="731520" cy="237744"/>
          </a:xfrm>
          <a:prstGeom prst="rect">
            <a:avLst/>
          </a:prstGeom>
          <a:noFill/>
        </p:spPr>
        <p:txBody>
          <a:bodyPr wrap="square" lIns="0" tIns="0" rIns="0" bIns="0" rtlCol="0" anchor="ctr"/>
          <a:lstStyle/>
          <a:p>
            <a:pPr marL="0" indent="0">
              <a:buNone/>
            </a:pPr>
            <a:r>
              <a:rPr lang="en-US" sz="1400" b="1" dirty="0">
                <a:solidFill>
                  <a:srgbClr val="000000"/>
                </a:solidFill>
                <a:latin typeface="Consolas" panose="020B0609020204030204" pitchFamily="34" charset="0"/>
                <a:ea typeface="Consolas" panose="020B0609020204030204" pitchFamily="34" charset="-122"/>
                <a:cs typeface="Consolas" panose="020B0609020204030204" pitchFamily="34" charset="-120"/>
              </a:rPr>
              <a:t>ext4</a:t>
            </a:r>
            <a:endParaRPr lang="en-US" sz="1400" dirty="0"/>
          </a:p>
        </p:txBody>
      </p:sp>
      <p:sp>
        <p:nvSpPr>
          <p:cNvPr id="35" name="Text 33"/>
          <p:cNvSpPr/>
          <p:nvPr/>
        </p:nvSpPr>
        <p:spPr>
          <a:xfrm>
            <a:off x="8138160" y="877824"/>
            <a:ext cx="658368" cy="182880"/>
          </a:xfrm>
          <a:prstGeom prst="rect">
            <a:avLst/>
          </a:prstGeom>
          <a:noFill/>
        </p:spPr>
        <p:txBody>
          <a:bodyPr wrap="square" lIns="0" tIns="0" rIns="0" bIns="0" rtlCol="0" anchor="ctr"/>
          <a:lstStyle/>
          <a:p>
            <a:pPr marL="0" indent="0" algn="r">
              <a:buNone/>
            </a:pPr>
            <a:r>
              <a:rPr lang="en-US" sz="11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2008</a:t>
            </a:r>
            <a:endParaRPr lang="en-US" sz="1100" dirty="0"/>
          </a:p>
        </p:txBody>
      </p:sp>
      <p:sp>
        <p:nvSpPr>
          <p:cNvPr id="36" name="Text 34"/>
          <p:cNvSpPr/>
          <p:nvPr/>
        </p:nvSpPr>
        <p:spPr>
          <a:xfrm>
            <a:off x="6931152" y="1152144"/>
            <a:ext cx="1865376" cy="950976"/>
          </a:xfrm>
          <a:prstGeom prst="rect">
            <a:avLst/>
          </a:prstGeom>
          <a:noFill/>
        </p:spPr>
        <p:txBody>
          <a:bodyPr wrap="square" rtlCol="0" anchor="t"/>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Current default for Linux. 1 EiB volume, 16 TiB file, nanosecond timestamps, extents, fast fsck. Used by Android, Raspberry Pi, servers.</a:t>
            </a:r>
            <a:endParaRPr lang="en-US" sz="850" dirty="0"/>
          </a:p>
        </p:txBody>
      </p:sp>
      <p:sp>
        <p:nvSpPr>
          <p:cNvPr id="37" name="Shape 35"/>
          <p:cNvSpPr/>
          <p:nvPr/>
        </p:nvSpPr>
        <p:spPr>
          <a:xfrm>
            <a:off x="7744968" y="2157984"/>
            <a:ext cx="219456" cy="219456"/>
          </a:xfrm>
          <a:prstGeom prst="line">
            <a:avLst/>
          </a:prstGeom>
          <a:solidFill>
            <a:srgbClr val="10B981"/>
          </a:solidFill>
          <a:ln w="12700">
            <a:solidFill>
              <a:srgbClr val="10B981"/>
            </a:solidFill>
            <a:prstDash val="solid"/>
          </a:ln>
        </p:spPr>
        <p:txBody>
          <a:bodyPr/>
          <a:lstStyle/>
          <a:p>
            <a:endParaRPr lang="en-SG"/>
          </a:p>
        </p:txBody>
      </p:sp>
      <p:sp>
        <p:nvSpPr>
          <p:cNvPr id="38" name="Text 36"/>
          <p:cNvSpPr/>
          <p:nvPr/>
        </p:nvSpPr>
        <p:spPr>
          <a:xfrm>
            <a:off x="7525512" y="2322576"/>
            <a:ext cx="658368" cy="201168"/>
          </a:xfrm>
          <a:prstGeom prst="rect">
            <a:avLst/>
          </a:prstGeom>
          <a:noFill/>
        </p:spPr>
        <p:txBody>
          <a:bodyPr wrap="square" lIns="0" tIns="0" rIns="0" bIns="0" rtlCol="0" anchor="ctr"/>
          <a:lstStyle/>
          <a:p>
            <a:pPr marL="0" indent="0" algn="ctr">
              <a:buNone/>
            </a:pPr>
            <a:r>
              <a:rPr lang="en-US" sz="900" b="1" dirty="0">
                <a:solidFill>
                  <a:srgbClr val="475569"/>
                </a:solidFill>
                <a:latin typeface="Calibri" panose="020F0502020204030204" pitchFamily="34" charset="0"/>
                <a:ea typeface="Calibri" panose="020F0502020204030204" pitchFamily="34" charset="-122"/>
                <a:cs typeface="Calibri" panose="020F0502020204030204" pitchFamily="34" charset="-120"/>
              </a:rPr>
              <a:t>2008</a:t>
            </a:r>
            <a:endParaRPr lang="en-US" sz="900" dirty="0"/>
          </a:p>
        </p:txBody>
      </p:sp>
      <p:sp>
        <p:nvSpPr>
          <p:cNvPr id="39" name="Shape 37"/>
          <p:cNvSpPr/>
          <p:nvPr/>
        </p:nvSpPr>
        <p:spPr>
          <a:xfrm>
            <a:off x="256032" y="2578608"/>
            <a:ext cx="8631936" cy="237744"/>
          </a:xfrm>
          <a:prstGeom prst="rect">
            <a:avLst/>
          </a:prstGeom>
          <a:solidFill>
            <a:srgbClr val="EEF6FB"/>
          </a:solidFill>
          <a:ln w="12700">
            <a:solidFill>
              <a:srgbClr val="10B981"/>
            </a:solidFill>
            <a:prstDash val="solid"/>
          </a:ln>
        </p:spPr>
        <p:txBody>
          <a:bodyPr/>
          <a:lstStyle/>
          <a:p>
            <a:endParaRPr lang="en-SG"/>
          </a:p>
        </p:txBody>
      </p:sp>
      <p:sp>
        <p:nvSpPr>
          <p:cNvPr id="40" name="Text 38"/>
          <p:cNvSpPr/>
          <p:nvPr/>
        </p:nvSpPr>
        <p:spPr>
          <a:xfrm>
            <a:off x="329184" y="2596896"/>
            <a:ext cx="8412480" cy="182880"/>
          </a:xfrm>
          <a:prstGeom prst="rect">
            <a:avLst/>
          </a:prstGeom>
          <a:noFill/>
        </p:spPr>
        <p:txBody>
          <a:bodyPr wrap="square" lIns="0" tIns="0" rIns="0" bIns="0" rtlCol="0" anchor="ctr"/>
          <a:lstStyle/>
          <a:p>
            <a:pPr marL="0" indent="0">
              <a:buNone/>
            </a:pPr>
            <a:r>
              <a:rPr lang="en-US" sz="10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EXT4 — Key Traits for Forensic Investigators</a:t>
            </a:r>
            <a:endParaRPr lang="en-US" sz="1000" dirty="0"/>
          </a:p>
        </p:txBody>
      </p:sp>
      <p:sp>
        <p:nvSpPr>
          <p:cNvPr id="41" name="Shape 39"/>
          <p:cNvSpPr/>
          <p:nvPr/>
        </p:nvSpPr>
        <p:spPr>
          <a:xfrm>
            <a:off x="256032" y="2852928"/>
            <a:ext cx="2029968" cy="1280160"/>
          </a:xfrm>
          <a:prstGeom prst="rect">
            <a:avLst/>
          </a:prstGeom>
          <a:solidFill>
            <a:srgbClr val="EEF6FB"/>
          </a:solidFill>
          <a:ln w="12700">
            <a:solidFill>
              <a:srgbClr val="10B981"/>
            </a:solidFill>
            <a:prstDash val="solid"/>
          </a:ln>
          <a:effectLst>
            <a:outerShdw blurRad="127000" dist="38100" dir="8100000" algn="bl" rotWithShape="0">
              <a:srgbClr val="000000">
                <a:alpha val="22000"/>
              </a:srgbClr>
            </a:outerShdw>
          </a:effectLst>
        </p:spPr>
        <p:txBody>
          <a:bodyPr/>
          <a:lstStyle/>
          <a:p>
            <a:endParaRPr lang="en-SG"/>
          </a:p>
        </p:txBody>
      </p:sp>
      <p:sp>
        <p:nvSpPr>
          <p:cNvPr id="42" name="Shape 40"/>
          <p:cNvSpPr/>
          <p:nvPr/>
        </p:nvSpPr>
        <p:spPr>
          <a:xfrm>
            <a:off x="256032" y="2852928"/>
            <a:ext cx="2029968" cy="256032"/>
          </a:xfrm>
          <a:prstGeom prst="rect">
            <a:avLst/>
          </a:prstGeom>
          <a:solidFill>
            <a:srgbClr val="10B981"/>
          </a:solidFill>
          <a:ln w="12700">
            <a:solidFill>
              <a:srgbClr val="10B981"/>
            </a:solidFill>
            <a:prstDash val="solid"/>
          </a:ln>
        </p:spPr>
        <p:txBody>
          <a:bodyPr/>
          <a:lstStyle/>
          <a:p>
            <a:endParaRPr lang="en-SG"/>
          </a:p>
        </p:txBody>
      </p:sp>
      <p:sp>
        <p:nvSpPr>
          <p:cNvPr id="43" name="Text 41"/>
          <p:cNvSpPr/>
          <p:nvPr/>
        </p:nvSpPr>
        <p:spPr>
          <a:xfrm>
            <a:off x="347472" y="2889504"/>
            <a:ext cx="1883664" cy="201168"/>
          </a:xfrm>
          <a:prstGeom prst="rect">
            <a:avLst/>
          </a:prstGeom>
          <a:noFill/>
        </p:spPr>
        <p:txBody>
          <a:bodyPr wrap="square" lIns="0" tIns="0" rIns="0" bIns="0" rtlCol="0" anchor="ctr"/>
          <a:lstStyle/>
          <a:p>
            <a:pPr marL="0" indent="0">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Extents</a:t>
            </a:r>
            <a:endParaRPr lang="en-US" sz="1000" dirty="0"/>
          </a:p>
        </p:txBody>
      </p:sp>
      <p:sp>
        <p:nvSpPr>
          <p:cNvPr id="44" name="Text 42"/>
          <p:cNvSpPr/>
          <p:nvPr/>
        </p:nvSpPr>
        <p:spPr>
          <a:xfrm>
            <a:off x="347472" y="3145536"/>
            <a:ext cx="1865376" cy="932688"/>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Replaces block maps. One extent = start + length. Efficient for large files; reduces metadata overhead.</a:t>
            </a:r>
            <a:endParaRPr lang="en-US" sz="900" dirty="0"/>
          </a:p>
        </p:txBody>
      </p:sp>
      <p:sp>
        <p:nvSpPr>
          <p:cNvPr id="45" name="Shape 43"/>
          <p:cNvSpPr/>
          <p:nvPr/>
        </p:nvSpPr>
        <p:spPr>
          <a:xfrm>
            <a:off x="2395728" y="2852928"/>
            <a:ext cx="2029968" cy="1280160"/>
          </a:xfrm>
          <a:prstGeom prst="rect">
            <a:avLst/>
          </a:prstGeom>
          <a:solidFill>
            <a:srgbClr val="EEF6FB"/>
          </a:solidFill>
          <a:ln w="12700">
            <a:solidFill>
              <a:srgbClr val="6366F1"/>
            </a:solidFill>
            <a:prstDash val="solid"/>
          </a:ln>
          <a:effectLst>
            <a:outerShdw blurRad="127000" dist="38100" dir="8100000" algn="bl" rotWithShape="0">
              <a:srgbClr val="000000">
                <a:alpha val="22000"/>
              </a:srgbClr>
            </a:outerShdw>
          </a:effectLst>
        </p:spPr>
        <p:txBody>
          <a:bodyPr/>
          <a:lstStyle/>
          <a:p>
            <a:endParaRPr lang="en-SG"/>
          </a:p>
        </p:txBody>
      </p:sp>
      <p:sp>
        <p:nvSpPr>
          <p:cNvPr id="46" name="Shape 44"/>
          <p:cNvSpPr/>
          <p:nvPr/>
        </p:nvSpPr>
        <p:spPr>
          <a:xfrm>
            <a:off x="2395728" y="2852928"/>
            <a:ext cx="2029968" cy="256032"/>
          </a:xfrm>
          <a:prstGeom prst="rect">
            <a:avLst/>
          </a:prstGeom>
          <a:solidFill>
            <a:srgbClr val="6366F1"/>
          </a:solidFill>
          <a:ln w="12700">
            <a:solidFill>
              <a:srgbClr val="6366F1"/>
            </a:solidFill>
            <a:prstDash val="solid"/>
          </a:ln>
        </p:spPr>
        <p:txBody>
          <a:bodyPr/>
          <a:lstStyle/>
          <a:p>
            <a:endParaRPr lang="en-SG"/>
          </a:p>
        </p:txBody>
      </p:sp>
      <p:sp>
        <p:nvSpPr>
          <p:cNvPr id="47" name="Text 45"/>
          <p:cNvSpPr/>
          <p:nvPr/>
        </p:nvSpPr>
        <p:spPr>
          <a:xfrm>
            <a:off x="2487168" y="2889504"/>
            <a:ext cx="1883664" cy="201168"/>
          </a:xfrm>
          <a:prstGeom prst="rect">
            <a:avLst/>
          </a:prstGeom>
          <a:noFill/>
        </p:spPr>
        <p:txBody>
          <a:bodyPr wrap="square" lIns="0" tIns="0" rIns="0" bIns="0" rtlCol="0" anchor="ctr"/>
          <a:lstStyle/>
          <a:p>
            <a:pPr marL="0" indent="0">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Nanosecond Timestamps</a:t>
            </a:r>
            <a:endParaRPr lang="en-US" sz="1000" dirty="0"/>
          </a:p>
        </p:txBody>
      </p:sp>
      <p:sp>
        <p:nvSpPr>
          <p:cNvPr id="48" name="Text 46"/>
          <p:cNvSpPr/>
          <p:nvPr/>
        </p:nvSpPr>
        <p:spPr>
          <a:xfrm>
            <a:off x="2487168" y="3145536"/>
            <a:ext cx="1865376" cy="932688"/>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MACB stored with nanosecond precision — far more granular than FAT's 2-second resolution. Ideal for tight timeline reconstruction.</a:t>
            </a:r>
            <a:endParaRPr lang="en-US" sz="900" dirty="0"/>
          </a:p>
        </p:txBody>
      </p:sp>
      <p:sp>
        <p:nvSpPr>
          <p:cNvPr id="49" name="Shape 47"/>
          <p:cNvSpPr/>
          <p:nvPr/>
        </p:nvSpPr>
        <p:spPr>
          <a:xfrm>
            <a:off x="4535424" y="2852928"/>
            <a:ext cx="2029968" cy="1280160"/>
          </a:xfrm>
          <a:prstGeom prst="rect">
            <a:avLst/>
          </a:prstGeom>
          <a:solidFill>
            <a:srgbClr val="EEF6FB"/>
          </a:solidFill>
          <a:ln w="12700">
            <a:solidFill>
              <a:srgbClr val="F59E0B"/>
            </a:solidFill>
            <a:prstDash val="solid"/>
          </a:ln>
          <a:effectLst>
            <a:outerShdw blurRad="127000" dist="38100" dir="8100000" algn="bl" rotWithShape="0">
              <a:srgbClr val="000000">
                <a:alpha val="22000"/>
              </a:srgbClr>
            </a:outerShdw>
          </a:effectLst>
        </p:spPr>
        <p:txBody>
          <a:bodyPr/>
          <a:lstStyle/>
          <a:p>
            <a:endParaRPr lang="en-SG"/>
          </a:p>
        </p:txBody>
      </p:sp>
      <p:sp>
        <p:nvSpPr>
          <p:cNvPr id="50" name="Shape 48"/>
          <p:cNvSpPr/>
          <p:nvPr/>
        </p:nvSpPr>
        <p:spPr>
          <a:xfrm>
            <a:off x="4535424" y="2852928"/>
            <a:ext cx="2029968" cy="256032"/>
          </a:xfrm>
          <a:prstGeom prst="rect">
            <a:avLst/>
          </a:prstGeom>
          <a:solidFill>
            <a:srgbClr val="F59E0B"/>
          </a:solidFill>
          <a:ln w="12700">
            <a:solidFill>
              <a:srgbClr val="F59E0B"/>
            </a:solidFill>
            <a:prstDash val="solid"/>
          </a:ln>
        </p:spPr>
        <p:txBody>
          <a:bodyPr/>
          <a:lstStyle/>
          <a:p>
            <a:endParaRPr lang="en-SG"/>
          </a:p>
        </p:txBody>
      </p:sp>
      <p:sp>
        <p:nvSpPr>
          <p:cNvPr id="51" name="Text 49"/>
          <p:cNvSpPr/>
          <p:nvPr/>
        </p:nvSpPr>
        <p:spPr>
          <a:xfrm>
            <a:off x="4626864" y="2889504"/>
            <a:ext cx="1883664" cy="201168"/>
          </a:xfrm>
          <a:prstGeom prst="rect">
            <a:avLst/>
          </a:prstGeom>
          <a:noFill/>
        </p:spPr>
        <p:txBody>
          <a:bodyPr wrap="square" lIns="0" tIns="0" rIns="0" bIns="0" rtlCol="0" anchor="ctr"/>
          <a:lstStyle/>
          <a:p>
            <a:pPr marL="0" indent="0">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Journalling (Ordered mode)</a:t>
            </a:r>
            <a:endParaRPr lang="en-US" sz="1000" dirty="0"/>
          </a:p>
        </p:txBody>
      </p:sp>
      <p:sp>
        <p:nvSpPr>
          <p:cNvPr id="52" name="Text 50"/>
          <p:cNvSpPr/>
          <p:nvPr/>
        </p:nvSpPr>
        <p:spPr>
          <a:xfrm>
            <a:off x="4626864" y="3145536"/>
            <a:ext cx="1865376" cy="932688"/>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Metadata journalled; data written before journal commit. Prevents metadata corruption without full data journalling overhead.</a:t>
            </a:r>
            <a:endParaRPr lang="en-US" sz="900" dirty="0"/>
          </a:p>
        </p:txBody>
      </p:sp>
      <p:sp>
        <p:nvSpPr>
          <p:cNvPr id="53" name="Shape 51"/>
          <p:cNvSpPr/>
          <p:nvPr/>
        </p:nvSpPr>
        <p:spPr>
          <a:xfrm>
            <a:off x="6675120" y="2852928"/>
            <a:ext cx="2029968" cy="1280160"/>
          </a:xfrm>
          <a:prstGeom prst="rect">
            <a:avLst/>
          </a:prstGeom>
          <a:solidFill>
            <a:srgbClr val="EEF6FB"/>
          </a:solidFill>
          <a:ln w="12700">
            <a:solidFill>
              <a:srgbClr val="EF4444"/>
            </a:solidFill>
            <a:prstDash val="solid"/>
          </a:ln>
          <a:effectLst>
            <a:outerShdw blurRad="127000" dist="38100" dir="8100000" algn="bl" rotWithShape="0">
              <a:srgbClr val="000000">
                <a:alpha val="22000"/>
              </a:srgbClr>
            </a:outerShdw>
          </a:effectLst>
        </p:spPr>
        <p:txBody>
          <a:bodyPr/>
          <a:lstStyle/>
          <a:p>
            <a:endParaRPr lang="en-SG"/>
          </a:p>
        </p:txBody>
      </p:sp>
      <p:sp>
        <p:nvSpPr>
          <p:cNvPr id="54" name="Shape 52"/>
          <p:cNvSpPr/>
          <p:nvPr/>
        </p:nvSpPr>
        <p:spPr>
          <a:xfrm>
            <a:off x="6675120" y="2852928"/>
            <a:ext cx="2029968" cy="256032"/>
          </a:xfrm>
          <a:prstGeom prst="rect">
            <a:avLst/>
          </a:prstGeom>
          <a:solidFill>
            <a:srgbClr val="EF4444"/>
          </a:solidFill>
          <a:ln w="12700">
            <a:solidFill>
              <a:srgbClr val="EF4444"/>
            </a:solidFill>
            <a:prstDash val="solid"/>
          </a:ln>
        </p:spPr>
        <p:txBody>
          <a:bodyPr/>
          <a:lstStyle/>
          <a:p>
            <a:endParaRPr lang="en-SG"/>
          </a:p>
        </p:txBody>
      </p:sp>
      <p:sp>
        <p:nvSpPr>
          <p:cNvPr id="55" name="Text 53"/>
          <p:cNvSpPr/>
          <p:nvPr/>
        </p:nvSpPr>
        <p:spPr>
          <a:xfrm>
            <a:off x="6766560" y="2889504"/>
            <a:ext cx="1883664" cy="201168"/>
          </a:xfrm>
          <a:prstGeom prst="rect">
            <a:avLst/>
          </a:prstGeom>
          <a:noFill/>
        </p:spPr>
        <p:txBody>
          <a:bodyPr wrap="square" lIns="0" tIns="0" rIns="0" bIns="0" rtlCol="0" anchor="ctr"/>
          <a:lstStyle/>
          <a:p>
            <a:pPr marL="0" indent="0">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Forensic Recovery</a:t>
            </a:r>
            <a:endParaRPr lang="en-US" sz="1000" dirty="0"/>
          </a:p>
        </p:txBody>
      </p:sp>
      <p:sp>
        <p:nvSpPr>
          <p:cNvPr id="56" name="Text 54"/>
          <p:cNvSpPr/>
          <p:nvPr/>
        </p:nvSpPr>
        <p:spPr>
          <a:xfrm>
            <a:off x="6766560" y="3145536"/>
            <a:ext cx="1865376" cy="932688"/>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Deleted inodes keep metadata. $LogFile equivalent journal may reveal deleted filenames. Tools: Autopsy, TSK, ext4magic.</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0B981"/>
          </a:solidFill>
          <a:ln w="12700">
            <a:solidFill>
              <a:srgbClr val="10B981"/>
            </a:solidFill>
            <a:prstDash val="solid"/>
          </a:ln>
        </p:spPr>
        <p:txBody>
          <a:bodyPr/>
          <a:lstStyle/>
          <a:p>
            <a:endParaRPr lang="en-SG"/>
          </a:p>
        </p:txBody>
      </p:sp>
      <p:sp>
        <p:nvSpPr>
          <p:cNvPr id="3" name="Text 1"/>
          <p:cNvSpPr/>
          <p:nvPr/>
        </p:nvSpPr>
        <p:spPr>
          <a:xfrm>
            <a:off x="256032" y="201344"/>
            <a:ext cx="8631936" cy="548640"/>
          </a:xfrm>
          <a:prstGeom prst="rect">
            <a:avLst/>
          </a:prstGeom>
          <a:noFill/>
        </p:spPr>
        <p:txBody>
          <a:bodyPr wrap="square" lIns="0" tIns="0" rIns="0" bIns="0" rtlCol="0" anchor="ctr"/>
          <a:lstStyle/>
          <a:p>
            <a:pPr marL="0" indent="0">
              <a:buNone/>
            </a:pPr>
            <a:r>
              <a:rPr lang="en-US" sz="1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EXT4 File System Structure — Block Groups</a:t>
            </a:r>
            <a:endParaRPr lang="en-US" sz="1800" dirty="0"/>
          </a:p>
        </p:txBody>
      </p:sp>
      <p:sp>
        <p:nvSpPr>
          <p:cNvPr id="4" name="Shape 2"/>
          <p:cNvSpPr/>
          <p:nvPr/>
        </p:nvSpPr>
        <p:spPr>
          <a:xfrm>
            <a:off x="256032" y="73152"/>
            <a:ext cx="1463040" cy="219456"/>
          </a:xfrm>
          <a:prstGeom prst="rect">
            <a:avLst/>
          </a:prstGeom>
          <a:solidFill>
            <a:srgbClr val="10B981"/>
          </a:solidFill>
          <a:ln w="12700">
            <a:solidFill>
              <a:srgbClr val="10B981"/>
            </a:solidFill>
            <a:prstDash val="solid"/>
          </a:ln>
        </p:spPr>
        <p:txBody>
          <a:bodyPr/>
          <a:lstStyle/>
          <a:p>
            <a:endParaRPr lang="en-SG"/>
          </a:p>
        </p:txBody>
      </p:sp>
      <p:sp>
        <p:nvSpPr>
          <p:cNvPr id="5" name="Text 3"/>
          <p:cNvSpPr/>
          <p:nvPr/>
        </p:nvSpPr>
        <p:spPr>
          <a:xfrm>
            <a:off x="256032" y="73152"/>
            <a:ext cx="1463040" cy="219456"/>
          </a:xfrm>
          <a:prstGeom prst="rect">
            <a:avLst/>
          </a:prstGeom>
          <a:noFill/>
        </p:spPr>
        <p:txBody>
          <a:bodyPr wrap="square" lIns="0" tIns="0" rIns="0" bIns="0" rtlCol="0" anchor="ctr"/>
          <a:lstStyle/>
          <a:p>
            <a:pPr marL="0" indent="0" algn="ctr">
              <a:buNone/>
            </a:pPr>
            <a:r>
              <a:rPr lang="en-US" sz="800" b="1" kern="0" spc="100"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SECTION 04 — OTHER</a:t>
            </a:r>
            <a:endParaRPr lang="en-US" sz="800" dirty="0"/>
          </a:p>
        </p:txBody>
      </p:sp>
      <p:sp>
        <p:nvSpPr>
          <p:cNvPr id="10" name="Shape 8"/>
          <p:cNvSpPr/>
          <p:nvPr/>
        </p:nvSpPr>
        <p:spPr>
          <a:xfrm>
            <a:off x="256032" y="822960"/>
            <a:ext cx="731520" cy="548640"/>
          </a:xfrm>
          <a:prstGeom prst="rect">
            <a:avLst/>
          </a:prstGeom>
          <a:solidFill>
            <a:srgbClr val="6366F1"/>
          </a:solidFill>
          <a:ln w="12700">
            <a:solidFill>
              <a:srgbClr val="6366F1"/>
            </a:solidFill>
            <a:prstDash val="solid"/>
          </a:ln>
        </p:spPr>
        <p:txBody>
          <a:bodyPr/>
          <a:lstStyle/>
          <a:p>
            <a:endParaRPr lang="en-SG"/>
          </a:p>
        </p:txBody>
      </p:sp>
      <p:sp>
        <p:nvSpPr>
          <p:cNvPr id="11" name="Text 9"/>
          <p:cNvSpPr/>
          <p:nvPr/>
        </p:nvSpPr>
        <p:spPr>
          <a:xfrm>
            <a:off x="256032" y="822960"/>
            <a:ext cx="731520" cy="548640"/>
          </a:xfrm>
          <a:prstGeom prst="rect">
            <a:avLst/>
          </a:prstGeom>
          <a:noFill/>
        </p:spPr>
        <p:txBody>
          <a:bodyPr wrap="square" lIns="0" tIns="0" rIns="0" bIns="0" rtlCol="0" anchor="ctr"/>
          <a:lstStyle/>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Boot</a:t>
            </a:r>
            <a:endParaRPr lang="en-US" sz="850" dirty="0"/>
          </a:p>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Block</a:t>
            </a:r>
            <a:endParaRPr lang="en-US" sz="850" dirty="0"/>
          </a:p>
        </p:txBody>
      </p:sp>
      <p:sp>
        <p:nvSpPr>
          <p:cNvPr id="12" name="Shape 10"/>
          <p:cNvSpPr/>
          <p:nvPr/>
        </p:nvSpPr>
        <p:spPr>
          <a:xfrm>
            <a:off x="1024128" y="822960"/>
            <a:ext cx="1481328" cy="548640"/>
          </a:xfrm>
          <a:prstGeom prst="rect">
            <a:avLst/>
          </a:prstGeom>
          <a:solidFill>
            <a:srgbClr val="10B981"/>
          </a:solidFill>
          <a:ln w="12700">
            <a:solidFill>
              <a:srgbClr val="10B981"/>
            </a:solidFill>
            <a:prstDash val="solid"/>
          </a:ln>
        </p:spPr>
        <p:txBody>
          <a:bodyPr/>
          <a:lstStyle/>
          <a:p>
            <a:endParaRPr lang="en-SG"/>
          </a:p>
        </p:txBody>
      </p:sp>
      <p:sp>
        <p:nvSpPr>
          <p:cNvPr id="13" name="Text 11"/>
          <p:cNvSpPr/>
          <p:nvPr/>
        </p:nvSpPr>
        <p:spPr>
          <a:xfrm>
            <a:off x="1024128" y="822960"/>
            <a:ext cx="1481328" cy="548640"/>
          </a:xfrm>
          <a:prstGeom prst="rect">
            <a:avLst/>
          </a:prstGeom>
          <a:noFill/>
        </p:spPr>
        <p:txBody>
          <a:bodyPr wrap="square" lIns="0" tIns="0" rIns="0" bIns="0" rtlCol="0" anchor="ctr"/>
          <a:lstStyle/>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Block</a:t>
            </a:r>
            <a:endParaRPr lang="en-US" sz="850" dirty="0"/>
          </a:p>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Group 0</a:t>
            </a:r>
            <a:endParaRPr lang="en-US" sz="850" dirty="0"/>
          </a:p>
        </p:txBody>
      </p:sp>
      <p:sp>
        <p:nvSpPr>
          <p:cNvPr id="14" name="Shape 12"/>
          <p:cNvSpPr/>
          <p:nvPr/>
        </p:nvSpPr>
        <p:spPr>
          <a:xfrm>
            <a:off x="2542032" y="822960"/>
            <a:ext cx="1481328" cy="548640"/>
          </a:xfrm>
          <a:prstGeom prst="rect">
            <a:avLst/>
          </a:prstGeom>
          <a:solidFill>
            <a:srgbClr val="34D399"/>
          </a:solidFill>
          <a:ln w="12700">
            <a:solidFill>
              <a:srgbClr val="34D399"/>
            </a:solidFill>
            <a:prstDash val="solid"/>
          </a:ln>
        </p:spPr>
        <p:txBody>
          <a:bodyPr/>
          <a:lstStyle/>
          <a:p>
            <a:endParaRPr lang="en-SG"/>
          </a:p>
        </p:txBody>
      </p:sp>
      <p:sp>
        <p:nvSpPr>
          <p:cNvPr id="15" name="Text 13"/>
          <p:cNvSpPr/>
          <p:nvPr/>
        </p:nvSpPr>
        <p:spPr>
          <a:xfrm>
            <a:off x="2542032" y="822960"/>
            <a:ext cx="1481328" cy="548640"/>
          </a:xfrm>
          <a:prstGeom prst="rect">
            <a:avLst/>
          </a:prstGeom>
          <a:noFill/>
        </p:spPr>
        <p:txBody>
          <a:bodyPr wrap="square" lIns="0" tIns="0" rIns="0" bIns="0" rtlCol="0" anchor="ctr"/>
          <a:lstStyle/>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Block</a:t>
            </a:r>
            <a:endParaRPr lang="en-US" sz="850" dirty="0"/>
          </a:p>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Group 1</a:t>
            </a:r>
            <a:endParaRPr lang="en-US" sz="850" dirty="0"/>
          </a:p>
        </p:txBody>
      </p:sp>
      <p:sp>
        <p:nvSpPr>
          <p:cNvPr id="16" name="Shape 14"/>
          <p:cNvSpPr/>
          <p:nvPr/>
        </p:nvSpPr>
        <p:spPr>
          <a:xfrm>
            <a:off x="4059936" y="822960"/>
            <a:ext cx="1481328" cy="548640"/>
          </a:xfrm>
          <a:prstGeom prst="rect">
            <a:avLst/>
          </a:prstGeom>
          <a:solidFill>
            <a:srgbClr val="6EE7B7"/>
          </a:solidFill>
          <a:ln w="12700">
            <a:solidFill>
              <a:srgbClr val="6EE7B7"/>
            </a:solidFill>
            <a:prstDash val="solid"/>
          </a:ln>
        </p:spPr>
        <p:txBody>
          <a:bodyPr/>
          <a:lstStyle/>
          <a:p>
            <a:endParaRPr lang="en-SG"/>
          </a:p>
        </p:txBody>
      </p:sp>
      <p:sp>
        <p:nvSpPr>
          <p:cNvPr id="17" name="Text 15"/>
          <p:cNvSpPr/>
          <p:nvPr/>
        </p:nvSpPr>
        <p:spPr>
          <a:xfrm>
            <a:off x="4059936" y="822960"/>
            <a:ext cx="1481328" cy="548640"/>
          </a:xfrm>
          <a:prstGeom prst="rect">
            <a:avLst/>
          </a:prstGeom>
          <a:noFill/>
        </p:spPr>
        <p:txBody>
          <a:bodyPr wrap="square" lIns="0" tIns="0" rIns="0" bIns="0" rtlCol="0" anchor="ctr"/>
          <a:lstStyle/>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Block</a:t>
            </a:r>
            <a:endParaRPr lang="en-US" sz="850" dirty="0"/>
          </a:p>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Group 2</a:t>
            </a:r>
            <a:endParaRPr lang="en-US" sz="850" dirty="0"/>
          </a:p>
        </p:txBody>
      </p:sp>
      <p:sp>
        <p:nvSpPr>
          <p:cNvPr id="18" name="Shape 16"/>
          <p:cNvSpPr/>
          <p:nvPr/>
        </p:nvSpPr>
        <p:spPr>
          <a:xfrm>
            <a:off x="5577840" y="822960"/>
            <a:ext cx="658368" cy="548640"/>
          </a:xfrm>
          <a:prstGeom prst="rect">
            <a:avLst/>
          </a:prstGeom>
          <a:solidFill>
            <a:srgbClr val="2E4068"/>
          </a:solidFill>
          <a:ln w="12700">
            <a:solidFill>
              <a:srgbClr val="2E4068"/>
            </a:solidFill>
            <a:prstDash val="solid"/>
          </a:ln>
        </p:spPr>
        <p:txBody>
          <a:bodyPr/>
          <a:lstStyle/>
          <a:p>
            <a:endParaRPr lang="en-SG"/>
          </a:p>
        </p:txBody>
      </p:sp>
      <p:sp>
        <p:nvSpPr>
          <p:cNvPr id="19" name="Text 17"/>
          <p:cNvSpPr/>
          <p:nvPr/>
        </p:nvSpPr>
        <p:spPr>
          <a:xfrm>
            <a:off x="5577840" y="822960"/>
            <a:ext cx="658368" cy="548640"/>
          </a:xfrm>
          <a:prstGeom prst="rect">
            <a:avLst/>
          </a:prstGeom>
          <a:noFill/>
        </p:spPr>
        <p:txBody>
          <a:bodyPr wrap="square" lIns="0" tIns="0" rIns="0" bIns="0" rtlCol="0" anchor="ctr"/>
          <a:lstStyle/>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a:t>
            </a:r>
            <a:endParaRPr lang="en-US" sz="850" dirty="0"/>
          </a:p>
        </p:txBody>
      </p:sp>
      <p:sp>
        <p:nvSpPr>
          <p:cNvPr id="20" name="Shape 18"/>
          <p:cNvSpPr/>
          <p:nvPr/>
        </p:nvSpPr>
        <p:spPr>
          <a:xfrm>
            <a:off x="6272784" y="822960"/>
            <a:ext cx="1481328" cy="548640"/>
          </a:xfrm>
          <a:prstGeom prst="rect">
            <a:avLst/>
          </a:prstGeom>
          <a:solidFill>
            <a:srgbClr val="10B981"/>
          </a:solidFill>
          <a:ln w="12700">
            <a:solidFill>
              <a:srgbClr val="10B981"/>
            </a:solidFill>
            <a:prstDash val="solid"/>
          </a:ln>
        </p:spPr>
        <p:txBody>
          <a:bodyPr/>
          <a:lstStyle/>
          <a:p>
            <a:endParaRPr lang="en-SG"/>
          </a:p>
        </p:txBody>
      </p:sp>
      <p:sp>
        <p:nvSpPr>
          <p:cNvPr id="21" name="Text 19"/>
          <p:cNvSpPr/>
          <p:nvPr/>
        </p:nvSpPr>
        <p:spPr>
          <a:xfrm>
            <a:off x="6272784" y="822960"/>
            <a:ext cx="1481328" cy="548640"/>
          </a:xfrm>
          <a:prstGeom prst="rect">
            <a:avLst/>
          </a:prstGeom>
          <a:noFill/>
        </p:spPr>
        <p:txBody>
          <a:bodyPr wrap="square" lIns="0" tIns="0" rIns="0" bIns="0" rtlCol="0" anchor="ctr"/>
          <a:lstStyle/>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Block</a:t>
            </a:r>
            <a:endParaRPr lang="en-US" sz="850" dirty="0"/>
          </a:p>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Group N</a:t>
            </a:r>
            <a:endParaRPr lang="en-US" sz="850" dirty="0"/>
          </a:p>
        </p:txBody>
      </p:sp>
      <p:sp>
        <p:nvSpPr>
          <p:cNvPr id="22" name="Shape 20"/>
          <p:cNvSpPr/>
          <p:nvPr/>
        </p:nvSpPr>
        <p:spPr>
          <a:xfrm>
            <a:off x="7790688" y="822960"/>
            <a:ext cx="896112" cy="548640"/>
          </a:xfrm>
          <a:prstGeom prst="rect">
            <a:avLst/>
          </a:prstGeom>
          <a:solidFill>
            <a:srgbClr val="0EA5E9"/>
          </a:solidFill>
          <a:ln w="12700">
            <a:solidFill>
              <a:srgbClr val="0EA5E9"/>
            </a:solidFill>
            <a:prstDash val="solid"/>
          </a:ln>
        </p:spPr>
        <p:txBody>
          <a:bodyPr/>
          <a:lstStyle/>
          <a:p>
            <a:endParaRPr lang="en-SG"/>
          </a:p>
        </p:txBody>
      </p:sp>
      <p:sp>
        <p:nvSpPr>
          <p:cNvPr id="23" name="Text 21"/>
          <p:cNvSpPr/>
          <p:nvPr/>
        </p:nvSpPr>
        <p:spPr>
          <a:xfrm>
            <a:off x="7790688" y="822960"/>
            <a:ext cx="896112" cy="548640"/>
          </a:xfrm>
          <a:prstGeom prst="rect">
            <a:avLst/>
          </a:prstGeom>
          <a:noFill/>
        </p:spPr>
        <p:txBody>
          <a:bodyPr wrap="square" lIns="0" tIns="0" rIns="0" bIns="0" rtlCol="0" anchor="ctr"/>
          <a:lstStyle/>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Flex</a:t>
            </a:r>
            <a:endParaRPr lang="en-US" sz="850" dirty="0"/>
          </a:p>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Groups</a:t>
            </a:r>
            <a:endParaRPr lang="en-US" sz="850" dirty="0"/>
          </a:p>
        </p:txBody>
      </p:sp>
      <p:sp>
        <p:nvSpPr>
          <p:cNvPr id="24" name="Text 22"/>
          <p:cNvSpPr/>
          <p:nvPr/>
        </p:nvSpPr>
        <p:spPr>
          <a:xfrm>
            <a:off x="256032" y="1408176"/>
            <a:ext cx="8631936" cy="182880"/>
          </a:xfrm>
          <a:prstGeom prst="rect">
            <a:avLst/>
          </a:prstGeom>
          <a:noFill/>
        </p:spPr>
        <p:txBody>
          <a:bodyPr wrap="square" rtlCol="0" anchor="ctr"/>
          <a:lstStyle/>
          <a:p>
            <a:pPr marL="0" indent="0" algn="ctr">
              <a:buNone/>
            </a:pPr>
            <a:r>
              <a:rPr lang="en-US" sz="900" i="1" dirty="0">
                <a:solidFill>
                  <a:srgbClr val="475569"/>
                </a:solidFill>
                <a:latin typeface="Calibri" panose="020F0502020204030204" pitchFamily="34" charset="0"/>
                <a:ea typeface="Calibri" panose="020F0502020204030204" pitchFamily="34" charset="-122"/>
                <a:cs typeface="Calibri" panose="020F0502020204030204" pitchFamily="34" charset="-120"/>
              </a:rPr>
              <a:t>↑  EXT4 Volume — divided into equal-sized Block Groups  ↑</a:t>
            </a:r>
            <a:endParaRPr lang="en-US" sz="900" dirty="0"/>
          </a:p>
        </p:txBody>
      </p:sp>
      <p:sp>
        <p:nvSpPr>
          <p:cNvPr id="25" name="Shape 23"/>
          <p:cNvSpPr/>
          <p:nvPr/>
        </p:nvSpPr>
        <p:spPr>
          <a:xfrm>
            <a:off x="256032" y="1627632"/>
            <a:ext cx="8631936" cy="219456"/>
          </a:xfrm>
          <a:prstGeom prst="rect">
            <a:avLst/>
          </a:prstGeom>
          <a:solidFill>
            <a:srgbClr val="EEF6FB"/>
          </a:solidFill>
          <a:ln w="12700">
            <a:solidFill>
              <a:srgbClr val="2E4068"/>
            </a:solidFill>
            <a:prstDash val="solid"/>
          </a:ln>
        </p:spPr>
        <p:txBody>
          <a:bodyPr/>
          <a:lstStyle/>
          <a:p>
            <a:endParaRPr lang="en-SG"/>
          </a:p>
        </p:txBody>
      </p:sp>
      <p:sp>
        <p:nvSpPr>
          <p:cNvPr id="26" name="Text 24"/>
          <p:cNvSpPr/>
          <p:nvPr/>
        </p:nvSpPr>
        <p:spPr>
          <a:xfrm>
            <a:off x="329184" y="1636776"/>
            <a:ext cx="8412480" cy="182880"/>
          </a:xfrm>
          <a:prstGeom prst="rect">
            <a:avLst/>
          </a:prstGeom>
          <a:noFill/>
        </p:spPr>
        <p:txBody>
          <a:bodyPr wrap="square" lIns="0" tIns="0" rIns="0" bIns="0" rtlCol="0" anchor="ctr"/>
          <a:lstStyle/>
          <a:p>
            <a:pPr marL="0" indent="0">
              <a:buNone/>
            </a:pPr>
            <a:r>
              <a:rPr lang="en-US" sz="9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Inside each Block Group:</a:t>
            </a:r>
            <a:endParaRPr lang="en-US" sz="950" dirty="0"/>
          </a:p>
        </p:txBody>
      </p:sp>
      <p:sp>
        <p:nvSpPr>
          <p:cNvPr id="27" name="Shape 25"/>
          <p:cNvSpPr/>
          <p:nvPr/>
        </p:nvSpPr>
        <p:spPr>
          <a:xfrm>
            <a:off x="256032" y="1883664"/>
            <a:ext cx="1097280" cy="475488"/>
          </a:xfrm>
          <a:prstGeom prst="rect">
            <a:avLst/>
          </a:prstGeom>
          <a:solidFill>
            <a:srgbClr val="10B981"/>
          </a:solidFill>
          <a:ln w="12700">
            <a:solidFill>
              <a:srgbClr val="10B981"/>
            </a:solidFill>
            <a:prstDash val="solid"/>
          </a:ln>
        </p:spPr>
        <p:txBody>
          <a:bodyPr/>
          <a:lstStyle/>
          <a:p>
            <a:endParaRPr lang="en-SG"/>
          </a:p>
        </p:txBody>
      </p:sp>
      <p:sp>
        <p:nvSpPr>
          <p:cNvPr id="28" name="Text 26"/>
          <p:cNvSpPr/>
          <p:nvPr/>
        </p:nvSpPr>
        <p:spPr>
          <a:xfrm>
            <a:off x="256032" y="1883664"/>
            <a:ext cx="1097280" cy="475488"/>
          </a:xfrm>
          <a:prstGeom prst="rect">
            <a:avLst/>
          </a:prstGeom>
          <a:noFill/>
        </p:spPr>
        <p:txBody>
          <a:bodyPr wrap="square" lIns="0" tIns="0" rIns="0" bIns="0" rtlCol="0" anchor="ctr"/>
          <a:lstStyle/>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Superblock</a:t>
            </a:r>
            <a:endParaRPr lang="en-US" sz="850" dirty="0"/>
          </a:p>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(copy)</a:t>
            </a:r>
            <a:endParaRPr lang="en-US" sz="850" dirty="0"/>
          </a:p>
        </p:txBody>
      </p:sp>
      <p:sp>
        <p:nvSpPr>
          <p:cNvPr id="29" name="Shape 27"/>
          <p:cNvSpPr/>
          <p:nvPr/>
        </p:nvSpPr>
        <p:spPr>
          <a:xfrm>
            <a:off x="1389888" y="1883664"/>
            <a:ext cx="1097280" cy="475488"/>
          </a:xfrm>
          <a:prstGeom prst="rect">
            <a:avLst/>
          </a:prstGeom>
          <a:solidFill>
            <a:srgbClr val="6366F1"/>
          </a:solidFill>
          <a:ln w="12700">
            <a:solidFill>
              <a:srgbClr val="6366F1"/>
            </a:solidFill>
            <a:prstDash val="solid"/>
          </a:ln>
        </p:spPr>
        <p:txBody>
          <a:bodyPr/>
          <a:lstStyle/>
          <a:p>
            <a:endParaRPr lang="en-SG"/>
          </a:p>
        </p:txBody>
      </p:sp>
      <p:sp>
        <p:nvSpPr>
          <p:cNvPr id="30" name="Text 28"/>
          <p:cNvSpPr/>
          <p:nvPr/>
        </p:nvSpPr>
        <p:spPr>
          <a:xfrm>
            <a:off x="1389888" y="1883664"/>
            <a:ext cx="1097280" cy="475488"/>
          </a:xfrm>
          <a:prstGeom prst="rect">
            <a:avLst/>
          </a:prstGeom>
          <a:noFill/>
        </p:spPr>
        <p:txBody>
          <a:bodyPr wrap="square" lIns="0" tIns="0" rIns="0" bIns="0" rtlCol="0" anchor="ctr"/>
          <a:lstStyle/>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Group</a:t>
            </a:r>
            <a:endParaRPr lang="en-US" sz="850" dirty="0"/>
          </a:p>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Descriptor</a:t>
            </a:r>
            <a:endParaRPr lang="en-US" sz="850" dirty="0"/>
          </a:p>
        </p:txBody>
      </p:sp>
      <p:sp>
        <p:nvSpPr>
          <p:cNvPr id="31" name="Shape 29"/>
          <p:cNvSpPr/>
          <p:nvPr/>
        </p:nvSpPr>
        <p:spPr>
          <a:xfrm>
            <a:off x="2523744" y="1883664"/>
            <a:ext cx="1097280" cy="475488"/>
          </a:xfrm>
          <a:prstGeom prst="rect">
            <a:avLst/>
          </a:prstGeom>
          <a:solidFill>
            <a:srgbClr val="F59E0B"/>
          </a:solidFill>
          <a:ln w="12700">
            <a:solidFill>
              <a:srgbClr val="F59E0B"/>
            </a:solidFill>
            <a:prstDash val="solid"/>
          </a:ln>
        </p:spPr>
        <p:txBody>
          <a:bodyPr/>
          <a:lstStyle/>
          <a:p>
            <a:endParaRPr lang="en-SG"/>
          </a:p>
        </p:txBody>
      </p:sp>
      <p:sp>
        <p:nvSpPr>
          <p:cNvPr id="32" name="Text 30"/>
          <p:cNvSpPr/>
          <p:nvPr/>
        </p:nvSpPr>
        <p:spPr>
          <a:xfrm>
            <a:off x="2523744" y="1883664"/>
            <a:ext cx="1097280" cy="475488"/>
          </a:xfrm>
          <a:prstGeom prst="rect">
            <a:avLst/>
          </a:prstGeom>
          <a:noFill/>
        </p:spPr>
        <p:txBody>
          <a:bodyPr wrap="square" lIns="0" tIns="0" rIns="0" bIns="0" rtlCol="0" anchor="ctr"/>
          <a:lstStyle/>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Block</a:t>
            </a:r>
            <a:endParaRPr lang="en-US" sz="850" dirty="0"/>
          </a:p>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Bitmap</a:t>
            </a:r>
            <a:endParaRPr lang="en-US" sz="850" dirty="0"/>
          </a:p>
        </p:txBody>
      </p:sp>
      <p:sp>
        <p:nvSpPr>
          <p:cNvPr id="33" name="Shape 31"/>
          <p:cNvSpPr/>
          <p:nvPr/>
        </p:nvSpPr>
        <p:spPr>
          <a:xfrm>
            <a:off x="3657600" y="1883664"/>
            <a:ext cx="1097280" cy="475488"/>
          </a:xfrm>
          <a:prstGeom prst="rect">
            <a:avLst/>
          </a:prstGeom>
          <a:solidFill>
            <a:srgbClr val="EF4444"/>
          </a:solidFill>
          <a:ln w="12700">
            <a:solidFill>
              <a:srgbClr val="EF4444"/>
            </a:solidFill>
            <a:prstDash val="solid"/>
          </a:ln>
        </p:spPr>
        <p:txBody>
          <a:bodyPr/>
          <a:lstStyle/>
          <a:p>
            <a:endParaRPr lang="en-SG"/>
          </a:p>
        </p:txBody>
      </p:sp>
      <p:sp>
        <p:nvSpPr>
          <p:cNvPr id="34" name="Text 32"/>
          <p:cNvSpPr/>
          <p:nvPr/>
        </p:nvSpPr>
        <p:spPr>
          <a:xfrm>
            <a:off x="3657600" y="1883664"/>
            <a:ext cx="1097280" cy="475488"/>
          </a:xfrm>
          <a:prstGeom prst="rect">
            <a:avLst/>
          </a:prstGeom>
          <a:noFill/>
        </p:spPr>
        <p:txBody>
          <a:bodyPr wrap="square" lIns="0" tIns="0" rIns="0" bIns="0" rtlCol="0" anchor="ctr"/>
          <a:lstStyle/>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Inode</a:t>
            </a:r>
            <a:endParaRPr lang="en-US" sz="850" dirty="0"/>
          </a:p>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Bitmap</a:t>
            </a:r>
            <a:endParaRPr lang="en-US" sz="850" dirty="0"/>
          </a:p>
        </p:txBody>
      </p:sp>
      <p:sp>
        <p:nvSpPr>
          <p:cNvPr id="35" name="Shape 33"/>
          <p:cNvSpPr/>
          <p:nvPr/>
        </p:nvSpPr>
        <p:spPr>
          <a:xfrm>
            <a:off x="4791456" y="1883664"/>
            <a:ext cx="1097280" cy="475488"/>
          </a:xfrm>
          <a:prstGeom prst="rect">
            <a:avLst/>
          </a:prstGeom>
          <a:solidFill>
            <a:srgbClr val="A855F7"/>
          </a:solidFill>
          <a:ln w="12700">
            <a:solidFill>
              <a:srgbClr val="A855F7"/>
            </a:solidFill>
            <a:prstDash val="solid"/>
          </a:ln>
        </p:spPr>
        <p:txBody>
          <a:bodyPr/>
          <a:lstStyle/>
          <a:p>
            <a:endParaRPr lang="en-SG"/>
          </a:p>
        </p:txBody>
      </p:sp>
      <p:sp>
        <p:nvSpPr>
          <p:cNvPr id="36" name="Text 34"/>
          <p:cNvSpPr/>
          <p:nvPr/>
        </p:nvSpPr>
        <p:spPr>
          <a:xfrm>
            <a:off x="4791456" y="1883664"/>
            <a:ext cx="1097280" cy="475488"/>
          </a:xfrm>
          <a:prstGeom prst="rect">
            <a:avLst/>
          </a:prstGeom>
          <a:noFill/>
        </p:spPr>
        <p:txBody>
          <a:bodyPr wrap="square" lIns="0" tIns="0" rIns="0" bIns="0" rtlCol="0" anchor="ctr"/>
          <a:lstStyle/>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Inode</a:t>
            </a:r>
            <a:endParaRPr lang="en-US" sz="850" dirty="0"/>
          </a:p>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Table</a:t>
            </a:r>
            <a:endParaRPr lang="en-US" sz="850" dirty="0"/>
          </a:p>
        </p:txBody>
      </p:sp>
      <p:sp>
        <p:nvSpPr>
          <p:cNvPr id="37" name="Shape 35"/>
          <p:cNvSpPr/>
          <p:nvPr/>
        </p:nvSpPr>
        <p:spPr>
          <a:xfrm>
            <a:off x="5925312" y="1883664"/>
            <a:ext cx="3145536" cy="475488"/>
          </a:xfrm>
          <a:prstGeom prst="rect">
            <a:avLst/>
          </a:prstGeom>
          <a:solidFill>
            <a:srgbClr val="94A3B8"/>
          </a:solidFill>
          <a:ln w="12700">
            <a:solidFill>
              <a:srgbClr val="94A3B8"/>
            </a:solidFill>
            <a:prstDash val="solid"/>
          </a:ln>
        </p:spPr>
        <p:txBody>
          <a:bodyPr/>
          <a:lstStyle/>
          <a:p>
            <a:endParaRPr lang="en-SG"/>
          </a:p>
        </p:txBody>
      </p:sp>
      <p:sp>
        <p:nvSpPr>
          <p:cNvPr id="38" name="Text 36"/>
          <p:cNvSpPr/>
          <p:nvPr/>
        </p:nvSpPr>
        <p:spPr>
          <a:xfrm>
            <a:off x="5925312" y="1883664"/>
            <a:ext cx="3145536" cy="475488"/>
          </a:xfrm>
          <a:prstGeom prst="rect">
            <a:avLst/>
          </a:prstGeom>
          <a:noFill/>
        </p:spPr>
        <p:txBody>
          <a:bodyPr wrap="square" lIns="0" tIns="0" rIns="0" bIns="0" rtlCol="0" anchor="ctr"/>
          <a:lstStyle/>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Data Blocks</a:t>
            </a:r>
            <a:endParaRPr lang="en-US" sz="850" dirty="0"/>
          </a:p>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(file content)</a:t>
            </a:r>
            <a:endParaRPr lang="en-US" sz="850" dirty="0"/>
          </a:p>
        </p:txBody>
      </p:sp>
      <p:sp>
        <p:nvSpPr>
          <p:cNvPr id="39" name="Shape 37"/>
          <p:cNvSpPr/>
          <p:nvPr/>
        </p:nvSpPr>
        <p:spPr>
          <a:xfrm>
            <a:off x="256032" y="2468880"/>
            <a:ext cx="1645920" cy="1261872"/>
          </a:xfrm>
          <a:prstGeom prst="rect">
            <a:avLst/>
          </a:prstGeom>
          <a:solidFill>
            <a:srgbClr val="EEF6FB"/>
          </a:solidFill>
          <a:ln w="12700">
            <a:solidFill>
              <a:srgbClr val="10B981"/>
            </a:solidFill>
            <a:prstDash val="solid"/>
          </a:ln>
          <a:effectLst>
            <a:outerShdw blurRad="127000" dist="38100" dir="8100000" algn="bl" rotWithShape="0">
              <a:srgbClr val="000000">
                <a:alpha val="22000"/>
              </a:srgbClr>
            </a:outerShdw>
          </a:effectLst>
        </p:spPr>
        <p:txBody>
          <a:bodyPr/>
          <a:lstStyle/>
          <a:p>
            <a:endParaRPr lang="en-SG"/>
          </a:p>
        </p:txBody>
      </p:sp>
      <p:sp>
        <p:nvSpPr>
          <p:cNvPr id="40" name="Shape 38"/>
          <p:cNvSpPr/>
          <p:nvPr/>
        </p:nvSpPr>
        <p:spPr>
          <a:xfrm>
            <a:off x="256032" y="2468880"/>
            <a:ext cx="1645920" cy="237744"/>
          </a:xfrm>
          <a:prstGeom prst="rect">
            <a:avLst/>
          </a:prstGeom>
          <a:solidFill>
            <a:srgbClr val="10B981"/>
          </a:solidFill>
          <a:ln w="12700">
            <a:solidFill>
              <a:srgbClr val="10B981"/>
            </a:solidFill>
            <a:prstDash val="solid"/>
          </a:ln>
        </p:spPr>
        <p:txBody>
          <a:bodyPr/>
          <a:lstStyle/>
          <a:p>
            <a:endParaRPr lang="en-SG"/>
          </a:p>
        </p:txBody>
      </p:sp>
      <p:sp>
        <p:nvSpPr>
          <p:cNvPr id="41" name="Text 39"/>
          <p:cNvSpPr/>
          <p:nvPr/>
        </p:nvSpPr>
        <p:spPr>
          <a:xfrm>
            <a:off x="329184" y="2496312"/>
            <a:ext cx="1517904" cy="201168"/>
          </a:xfrm>
          <a:prstGeom prst="rect">
            <a:avLst/>
          </a:prstGeom>
          <a:noFill/>
        </p:spPr>
        <p:txBody>
          <a:bodyPr wrap="square" lIns="0" tIns="0" rIns="0" bIns="0" rtlCol="0" anchor="ctr"/>
          <a:lstStyle/>
          <a:p>
            <a:pPr marL="0" indent="0">
              <a:buNone/>
            </a:pPr>
            <a:r>
              <a:rPr lang="en-US" sz="9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Superblock</a:t>
            </a:r>
            <a:endParaRPr lang="en-US" sz="900" dirty="0"/>
          </a:p>
        </p:txBody>
      </p:sp>
      <p:sp>
        <p:nvSpPr>
          <p:cNvPr id="42" name="Text 40"/>
          <p:cNvSpPr/>
          <p:nvPr/>
        </p:nvSpPr>
        <p:spPr>
          <a:xfrm>
            <a:off x="329184" y="2743200"/>
            <a:ext cx="1517904" cy="932688"/>
          </a:xfrm>
          <a:prstGeom prst="rect">
            <a:avLst/>
          </a:prstGeom>
          <a:noFill/>
        </p:spPr>
        <p:txBody>
          <a:bodyPr wrap="square" rtlCol="0" anchor="t"/>
          <a:lstStyle/>
          <a:p>
            <a:pPr marL="0" indent="0">
              <a:buNone/>
            </a:pPr>
            <a:r>
              <a:rPr lang="en-US" sz="800" dirty="0">
                <a:solidFill>
                  <a:srgbClr val="1A1A2E"/>
                </a:solidFill>
                <a:latin typeface="Calibri" panose="020F0502020204030204" pitchFamily="34" charset="0"/>
                <a:ea typeface="Calibri" panose="020F0502020204030204" pitchFamily="34" charset="-122"/>
                <a:cs typeface="Calibri" panose="020F0502020204030204" pitchFamily="34" charset="-120"/>
              </a:rPr>
              <a:t>Stored at offset 1,024 in group 0 with copies in select groups. Contains total inode/block count, block size, mount count, last check time, volume UUID. Verified first during any EXT4 analysis.</a:t>
            </a:r>
            <a:endParaRPr lang="en-US" sz="800" dirty="0"/>
          </a:p>
        </p:txBody>
      </p:sp>
      <p:sp>
        <p:nvSpPr>
          <p:cNvPr id="43" name="Shape 41"/>
          <p:cNvSpPr/>
          <p:nvPr/>
        </p:nvSpPr>
        <p:spPr>
          <a:xfrm>
            <a:off x="1993392" y="2468880"/>
            <a:ext cx="1645920" cy="1261872"/>
          </a:xfrm>
          <a:prstGeom prst="rect">
            <a:avLst/>
          </a:prstGeom>
          <a:solidFill>
            <a:srgbClr val="EEF6FB"/>
          </a:solidFill>
          <a:ln w="12700">
            <a:solidFill>
              <a:srgbClr val="6366F1"/>
            </a:solidFill>
            <a:prstDash val="solid"/>
          </a:ln>
          <a:effectLst>
            <a:outerShdw blurRad="127000" dist="38100" dir="8100000" algn="bl" rotWithShape="0">
              <a:srgbClr val="000000">
                <a:alpha val="22000"/>
              </a:srgbClr>
            </a:outerShdw>
          </a:effectLst>
        </p:spPr>
        <p:txBody>
          <a:bodyPr/>
          <a:lstStyle/>
          <a:p>
            <a:endParaRPr lang="en-SG"/>
          </a:p>
        </p:txBody>
      </p:sp>
      <p:sp>
        <p:nvSpPr>
          <p:cNvPr id="44" name="Shape 42"/>
          <p:cNvSpPr/>
          <p:nvPr/>
        </p:nvSpPr>
        <p:spPr>
          <a:xfrm>
            <a:off x="1993392" y="2468880"/>
            <a:ext cx="1645920" cy="237744"/>
          </a:xfrm>
          <a:prstGeom prst="rect">
            <a:avLst/>
          </a:prstGeom>
          <a:solidFill>
            <a:srgbClr val="6366F1"/>
          </a:solidFill>
          <a:ln w="12700">
            <a:solidFill>
              <a:srgbClr val="6366F1"/>
            </a:solidFill>
            <a:prstDash val="solid"/>
          </a:ln>
        </p:spPr>
        <p:txBody>
          <a:bodyPr/>
          <a:lstStyle/>
          <a:p>
            <a:endParaRPr lang="en-SG"/>
          </a:p>
        </p:txBody>
      </p:sp>
      <p:sp>
        <p:nvSpPr>
          <p:cNvPr id="45" name="Text 43"/>
          <p:cNvSpPr/>
          <p:nvPr/>
        </p:nvSpPr>
        <p:spPr>
          <a:xfrm>
            <a:off x="2066544" y="2496312"/>
            <a:ext cx="1517904" cy="201168"/>
          </a:xfrm>
          <a:prstGeom prst="rect">
            <a:avLst/>
          </a:prstGeom>
          <a:noFill/>
        </p:spPr>
        <p:txBody>
          <a:bodyPr wrap="square" lIns="0" tIns="0" rIns="0" bIns="0" rtlCol="0" anchor="ctr"/>
          <a:lstStyle/>
          <a:p>
            <a:pPr marL="0" indent="0">
              <a:buNone/>
            </a:pPr>
            <a:r>
              <a:rPr lang="en-US" sz="9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Group Descriptor</a:t>
            </a:r>
            <a:endParaRPr lang="en-US" sz="900" dirty="0"/>
          </a:p>
        </p:txBody>
      </p:sp>
      <p:sp>
        <p:nvSpPr>
          <p:cNvPr id="46" name="Text 44"/>
          <p:cNvSpPr/>
          <p:nvPr/>
        </p:nvSpPr>
        <p:spPr>
          <a:xfrm>
            <a:off x="2066544" y="2743200"/>
            <a:ext cx="1517904" cy="932688"/>
          </a:xfrm>
          <a:prstGeom prst="rect">
            <a:avLst/>
          </a:prstGeom>
          <a:noFill/>
        </p:spPr>
        <p:txBody>
          <a:bodyPr wrap="square" rtlCol="0" anchor="t"/>
          <a:lstStyle/>
          <a:p>
            <a:pPr marL="0" indent="0">
              <a:buNone/>
            </a:pPr>
            <a:r>
              <a:rPr lang="en-US" sz="800" dirty="0">
                <a:solidFill>
                  <a:srgbClr val="1A1A2E"/>
                </a:solidFill>
                <a:latin typeface="Calibri" panose="020F0502020204030204" pitchFamily="34" charset="0"/>
                <a:ea typeface="Calibri" panose="020F0502020204030204" pitchFamily="34" charset="-122"/>
                <a:cs typeface="Calibri" panose="020F0502020204030204" pitchFamily="34" charset="-120"/>
              </a:rPr>
              <a:t>One entry per block group. Stores the location of the block bitmap, inode bitmap, and inode table for that group. Backed up in alternate groups for redundancy.</a:t>
            </a:r>
            <a:endParaRPr lang="en-US" sz="800" dirty="0"/>
          </a:p>
        </p:txBody>
      </p:sp>
      <p:sp>
        <p:nvSpPr>
          <p:cNvPr id="47" name="Shape 45"/>
          <p:cNvSpPr/>
          <p:nvPr/>
        </p:nvSpPr>
        <p:spPr>
          <a:xfrm>
            <a:off x="3730752" y="2468880"/>
            <a:ext cx="1645920" cy="1261872"/>
          </a:xfrm>
          <a:prstGeom prst="rect">
            <a:avLst/>
          </a:prstGeom>
          <a:solidFill>
            <a:srgbClr val="EEF6FB"/>
          </a:solidFill>
          <a:ln w="12700">
            <a:solidFill>
              <a:srgbClr val="F59E0B"/>
            </a:solidFill>
            <a:prstDash val="solid"/>
          </a:ln>
          <a:effectLst>
            <a:outerShdw blurRad="127000" dist="38100" dir="8100000" algn="bl" rotWithShape="0">
              <a:srgbClr val="000000">
                <a:alpha val="22000"/>
              </a:srgbClr>
            </a:outerShdw>
          </a:effectLst>
        </p:spPr>
        <p:txBody>
          <a:bodyPr/>
          <a:lstStyle/>
          <a:p>
            <a:endParaRPr lang="en-SG"/>
          </a:p>
        </p:txBody>
      </p:sp>
      <p:sp>
        <p:nvSpPr>
          <p:cNvPr id="48" name="Shape 46"/>
          <p:cNvSpPr/>
          <p:nvPr/>
        </p:nvSpPr>
        <p:spPr>
          <a:xfrm>
            <a:off x="3730752" y="2468880"/>
            <a:ext cx="1645920" cy="237744"/>
          </a:xfrm>
          <a:prstGeom prst="rect">
            <a:avLst/>
          </a:prstGeom>
          <a:solidFill>
            <a:srgbClr val="F59E0B"/>
          </a:solidFill>
          <a:ln w="12700">
            <a:solidFill>
              <a:srgbClr val="F59E0B"/>
            </a:solidFill>
            <a:prstDash val="solid"/>
          </a:ln>
        </p:spPr>
        <p:txBody>
          <a:bodyPr/>
          <a:lstStyle/>
          <a:p>
            <a:endParaRPr lang="en-SG"/>
          </a:p>
        </p:txBody>
      </p:sp>
      <p:sp>
        <p:nvSpPr>
          <p:cNvPr id="49" name="Text 47"/>
          <p:cNvSpPr/>
          <p:nvPr/>
        </p:nvSpPr>
        <p:spPr>
          <a:xfrm>
            <a:off x="3803904" y="2496312"/>
            <a:ext cx="1517904" cy="201168"/>
          </a:xfrm>
          <a:prstGeom prst="rect">
            <a:avLst/>
          </a:prstGeom>
          <a:noFill/>
        </p:spPr>
        <p:txBody>
          <a:bodyPr wrap="square" lIns="0" tIns="0" rIns="0" bIns="0" rtlCol="0" anchor="ctr"/>
          <a:lstStyle/>
          <a:p>
            <a:pPr marL="0" indent="0">
              <a:buNone/>
            </a:pPr>
            <a:r>
              <a:rPr lang="en-US" sz="9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Block &amp; Inode Bitmaps</a:t>
            </a:r>
            <a:endParaRPr lang="en-US" sz="900" dirty="0"/>
          </a:p>
        </p:txBody>
      </p:sp>
      <p:sp>
        <p:nvSpPr>
          <p:cNvPr id="50" name="Text 48"/>
          <p:cNvSpPr/>
          <p:nvPr/>
        </p:nvSpPr>
        <p:spPr>
          <a:xfrm>
            <a:off x="3803904" y="2743200"/>
            <a:ext cx="1517904" cy="932688"/>
          </a:xfrm>
          <a:prstGeom prst="rect">
            <a:avLst/>
          </a:prstGeom>
          <a:noFill/>
        </p:spPr>
        <p:txBody>
          <a:bodyPr wrap="square" rtlCol="0" anchor="t"/>
          <a:lstStyle/>
          <a:p>
            <a:pPr marL="0" indent="0">
              <a:buNone/>
            </a:pPr>
            <a:r>
              <a:rPr lang="en-US" sz="800" dirty="0">
                <a:solidFill>
                  <a:srgbClr val="1A1A2E"/>
                </a:solidFill>
                <a:latin typeface="Calibri" panose="020F0502020204030204" pitchFamily="34" charset="0"/>
                <a:ea typeface="Calibri" panose="020F0502020204030204" pitchFamily="34" charset="-122"/>
                <a:cs typeface="Calibri" panose="020F0502020204030204" pitchFamily="34" charset="-120"/>
              </a:rPr>
              <a:t>One bit per block/inode. 1=in use, 0=free. Scanning for 0-bits reveals unallocated space for file carving. Key for locating deleted file content.</a:t>
            </a:r>
            <a:endParaRPr lang="en-US" sz="800" dirty="0"/>
          </a:p>
        </p:txBody>
      </p:sp>
      <p:sp>
        <p:nvSpPr>
          <p:cNvPr id="51" name="Shape 49"/>
          <p:cNvSpPr/>
          <p:nvPr/>
        </p:nvSpPr>
        <p:spPr>
          <a:xfrm>
            <a:off x="5468112" y="2468880"/>
            <a:ext cx="1645920" cy="1261872"/>
          </a:xfrm>
          <a:prstGeom prst="rect">
            <a:avLst/>
          </a:prstGeom>
          <a:solidFill>
            <a:srgbClr val="EEF6FB"/>
          </a:solidFill>
          <a:ln w="12700">
            <a:solidFill>
              <a:srgbClr val="A855F7"/>
            </a:solidFill>
            <a:prstDash val="solid"/>
          </a:ln>
          <a:effectLst>
            <a:outerShdw blurRad="127000" dist="38100" dir="8100000" algn="bl" rotWithShape="0">
              <a:srgbClr val="000000">
                <a:alpha val="22000"/>
              </a:srgbClr>
            </a:outerShdw>
          </a:effectLst>
        </p:spPr>
        <p:txBody>
          <a:bodyPr/>
          <a:lstStyle/>
          <a:p>
            <a:endParaRPr lang="en-SG"/>
          </a:p>
        </p:txBody>
      </p:sp>
      <p:sp>
        <p:nvSpPr>
          <p:cNvPr id="52" name="Shape 50"/>
          <p:cNvSpPr/>
          <p:nvPr/>
        </p:nvSpPr>
        <p:spPr>
          <a:xfrm>
            <a:off x="5468112" y="2468880"/>
            <a:ext cx="1645920" cy="237744"/>
          </a:xfrm>
          <a:prstGeom prst="rect">
            <a:avLst/>
          </a:prstGeom>
          <a:solidFill>
            <a:srgbClr val="A855F7"/>
          </a:solidFill>
          <a:ln w="12700">
            <a:solidFill>
              <a:srgbClr val="A855F7"/>
            </a:solidFill>
            <a:prstDash val="solid"/>
          </a:ln>
        </p:spPr>
        <p:txBody>
          <a:bodyPr/>
          <a:lstStyle/>
          <a:p>
            <a:endParaRPr lang="en-SG"/>
          </a:p>
        </p:txBody>
      </p:sp>
      <p:sp>
        <p:nvSpPr>
          <p:cNvPr id="53" name="Text 51"/>
          <p:cNvSpPr/>
          <p:nvPr/>
        </p:nvSpPr>
        <p:spPr>
          <a:xfrm>
            <a:off x="5541264" y="2496312"/>
            <a:ext cx="1517904" cy="201168"/>
          </a:xfrm>
          <a:prstGeom prst="rect">
            <a:avLst/>
          </a:prstGeom>
          <a:noFill/>
        </p:spPr>
        <p:txBody>
          <a:bodyPr wrap="square" lIns="0" tIns="0" rIns="0" bIns="0" rtlCol="0" anchor="ctr"/>
          <a:lstStyle/>
          <a:p>
            <a:pPr marL="0" indent="0">
              <a:buNone/>
            </a:pPr>
            <a:r>
              <a:rPr lang="en-US" sz="9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Inode Table</a:t>
            </a:r>
            <a:endParaRPr lang="en-US" sz="900" dirty="0"/>
          </a:p>
        </p:txBody>
      </p:sp>
      <p:sp>
        <p:nvSpPr>
          <p:cNvPr id="54" name="Text 52"/>
          <p:cNvSpPr/>
          <p:nvPr/>
        </p:nvSpPr>
        <p:spPr>
          <a:xfrm>
            <a:off x="5541264" y="2743200"/>
            <a:ext cx="1517904" cy="932688"/>
          </a:xfrm>
          <a:prstGeom prst="rect">
            <a:avLst/>
          </a:prstGeom>
          <a:noFill/>
        </p:spPr>
        <p:txBody>
          <a:bodyPr wrap="square" rtlCol="0" anchor="t"/>
          <a:lstStyle/>
          <a:p>
            <a:pPr marL="0" indent="0">
              <a:buNone/>
            </a:pPr>
            <a:r>
              <a:rPr lang="en-US" sz="800" dirty="0">
                <a:solidFill>
                  <a:srgbClr val="1A1A2E"/>
                </a:solidFill>
                <a:latin typeface="Calibri" panose="020F0502020204030204" pitchFamily="34" charset="0"/>
                <a:ea typeface="Calibri" panose="020F0502020204030204" pitchFamily="34" charset="-122"/>
                <a:cs typeface="Calibri" panose="020F0502020204030204" pitchFamily="34" charset="-120"/>
              </a:rPr>
              <a:t>Fixed array of 256-byte inodes — one per file/directory. Each inode stores: file type, permissions, UID/GID, size, timestamps (MACB), extent tree pointer, link count.</a:t>
            </a:r>
            <a:endParaRPr lang="en-US" sz="800" dirty="0"/>
          </a:p>
        </p:txBody>
      </p:sp>
      <p:sp>
        <p:nvSpPr>
          <p:cNvPr id="55" name="Shape 53"/>
          <p:cNvSpPr/>
          <p:nvPr/>
        </p:nvSpPr>
        <p:spPr>
          <a:xfrm>
            <a:off x="7205472" y="2468880"/>
            <a:ext cx="1645920" cy="1261872"/>
          </a:xfrm>
          <a:prstGeom prst="rect">
            <a:avLst/>
          </a:prstGeom>
          <a:solidFill>
            <a:srgbClr val="EEF6FB"/>
          </a:solidFill>
          <a:ln w="12700">
            <a:solidFill>
              <a:srgbClr val="94A3B8"/>
            </a:solidFill>
            <a:prstDash val="solid"/>
          </a:ln>
          <a:effectLst>
            <a:outerShdw blurRad="127000" dist="38100" dir="8100000" algn="bl" rotWithShape="0">
              <a:srgbClr val="000000">
                <a:alpha val="22000"/>
              </a:srgbClr>
            </a:outerShdw>
          </a:effectLst>
        </p:spPr>
        <p:txBody>
          <a:bodyPr/>
          <a:lstStyle/>
          <a:p>
            <a:endParaRPr lang="en-SG"/>
          </a:p>
        </p:txBody>
      </p:sp>
      <p:sp>
        <p:nvSpPr>
          <p:cNvPr id="56" name="Shape 54"/>
          <p:cNvSpPr/>
          <p:nvPr/>
        </p:nvSpPr>
        <p:spPr>
          <a:xfrm>
            <a:off x="7205472" y="2468880"/>
            <a:ext cx="1645920" cy="237744"/>
          </a:xfrm>
          <a:prstGeom prst="rect">
            <a:avLst/>
          </a:prstGeom>
          <a:solidFill>
            <a:srgbClr val="94A3B8"/>
          </a:solidFill>
          <a:ln w="12700">
            <a:solidFill>
              <a:srgbClr val="94A3B8"/>
            </a:solidFill>
            <a:prstDash val="solid"/>
          </a:ln>
        </p:spPr>
        <p:txBody>
          <a:bodyPr/>
          <a:lstStyle/>
          <a:p>
            <a:endParaRPr lang="en-SG"/>
          </a:p>
        </p:txBody>
      </p:sp>
      <p:sp>
        <p:nvSpPr>
          <p:cNvPr id="57" name="Text 55"/>
          <p:cNvSpPr/>
          <p:nvPr/>
        </p:nvSpPr>
        <p:spPr>
          <a:xfrm>
            <a:off x="7278624" y="2496312"/>
            <a:ext cx="1517904" cy="201168"/>
          </a:xfrm>
          <a:prstGeom prst="rect">
            <a:avLst/>
          </a:prstGeom>
          <a:noFill/>
        </p:spPr>
        <p:txBody>
          <a:bodyPr wrap="square" lIns="0" tIns="0" rIns="0" bIns="0" rtlCol="0" anchor="ctr"/>
          <a:lstStyle/>
          <a:p>
            <a:pPr marL="0" indent="0">
              <a:buNone/>
            </a:pPr>
            <a:r>
              <a:rPr lang="en-US" sz="9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Data Blocks / Extents</a:t>
            </a:r>
            <a:endParaRPr lang="en-US" sz="900" dirty="0"/>
          </a:p>
        </p:txBody>
      </p:sp>
      <p:sp>
        <p:nvSpPr>
          <p:cNvPr id="58" name="Text 56"/>
          <p:cNvSpPr/>
          <p:nvPr/>
        </p:nvSpPr>
        <p:spPr>
          <a:xfrm>
            <a:off x="7278624" y="2743200"/>
            <a:ext cx="1517904" cy="932688"/>
          </a:xfrm>
          <a:prstGeom prst="rect">
            <a:avLst/>
          </a:prstGeom>
          <a:noFill/>
        </p:spPr>
        <p:txBody>
          <a:bodyPr wrap="square" rtlCol="0" anchor="t"/>
          <a:lstStyle/>
          <a:p>
            <a:pPr marL="0" indent="0">
              <a:buNone/>
            </a:pPr>
            <a:r>
              <a:rPr lang="en-US" sz="800" dirty="0">
                <a:solidFill>
                  <a:srgbClr val="1A1A2E"/>
                </a:solidFill>
                <a:latin typeface="Calibri" panose="020F0502020204030204" pitchFamily="34" charset="0"/>
                <a:ea typeface="Calibri" panose="020F0502020204030204" pitchFamily="34" charset="-122"/>
                <a:cs typeface="Calibri" panose="020F0502020204030204" pitchFamily="34" charset="-120"/>
              </a:rPr>
              <a:t>File and directory content. EXT4 extents (start + length) replace individual block maps. A single extent can span millions of contiguous blocks for large files.</a:t>
            </a:r>
            <a:endParaRPr lang="en-US" sz="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0B981"/>
          </a:solidFill>
          <a:ln w="12700">
            <a:solidFill>
              <a:srgbClr val="10B981"/>
            </a:solidFill>
            <a:prstDash val="solid"/>
          </a:ln>
        </p:spPr>
        <p:txBody>
          <a:bodyPr/>
          <a:lstStyle/>
          <a:p>
            <a:endParaRPr lang="en-SG"/>
          </a:p>
        </p:txBody>
      </p:sp>
      <p:sp>
        <p:nvSpPr>
          <p:cNvPr id="3" name="Text 1"/>
          <p:cNvSpPr/>
          <p:nvPr/>
        </p:nvSpPr>
        <p:spPr>
          <a:xfrm>
            <a:off x="256032" y="186690"/>
            <a:ext cx="8631936" cy="548640"/>
          </a:xfrm>
          <a:prstGeom prst="rect">
            <a:avLst/>
          </a:prstGeom>
          <a:noFill/>
        </p:spPr>
        <p:txBody>
          <a:bodyPr wrap="square" lIns="0" tIns="0" rIns="0" bIns="0" rtlCol="0" anchor="ctr"/>
          <a:lstStyle/>
          <a:p>
            <a:pPr marL="0" indent="0">
              <a:buNone/>
            </a:pPr>
            <a:r>
              <a:rPr lang="en-US" sz="16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EXT4 — Annotated `ls -l` Terminal Output</a:t>
            </a:r>
            <a:endParaRPr lang="en-US" sz="1600" dirty="0"/>
          </a:p>
        </p:txBody>
      </p:sp>
      <p:sp>
        <p:nvSpPr>
          <p:cNvPr id="4" name="Shape 2"/>
          <p:cNvSpPr/>
          <p:nvPr/>
        </p:nvSpPr>
        <p:spPr>
          <a:xfrm>
            <a:off x="256032" y="73152"/>
            <a:ext cx="1463040" cy="219456"/>
          </a:xfrm>
          <a:prstGeom prst="rect">
            <a:avLst/>
          </a:prstGeom>
          <a:solidFill>
            <a:srgbClr val="10B981"/>
          </a:solidFill>
          <a:ln w="12700">
            <a:solidFill>
              <a:srgbClr val="10B981"/>
            </a:solidFill>
            <a:prstDash val="solid"/>
          </a:ln>
        </p:spPr>
        <p:txBody>
          <a:bodyPr/>
          <a:lstStyle/>
          <a:p>
            <a:endParaRPr lang="en-SG"/>
          </a:p>
        </p:txBody>
      </p:sp>
      <p:sp>
        <p:nvSpPr>
          <p:cNvPr id="5" name="Text 3"/>
          <p:cNvSpPr/>
          <p:nvPr/>
        </p:nvSpPr>
        <p:spPr>
          <a:xfrm>
            <a:off x="256032" y="73152"/>
            <a:ext cx="1463040" cy="219456"/>
          </a:xfrm>
          <a:prstGeom prst="rect">
            <a:avLst/>
          </a:prstGeom>
          <a:noFill/>
        </p:spPr>
        <p:txBody>
          <a:bodyPr wrap="square" lIns="0" tIns="0" rIns="0" bIns="0" rtlCol="0" anchor="ctr"/>
          <a:lstStyle/>
          <a:p>
            <a:pPr marL="0" indent="0" algn="ctr">
              <a:buNone/>
            </a:pPr>
            <a:r>
              <a:rPr lang="en-US" sz="800" b="1" kern="0" spc="100"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SECTION 04 — OTHER</a:t>
            </a:r>
            <a:endParaRPr lang="en-US" sz="800" dirty="0"/>
          </a:p>
        </p:txBody>
      </p:sp>
      <p:sp>
        <p:nvSpPr>
          <p:cNvPr id="10" name="Text 8"/>
          <p:cNvSpPr/>
          <p:nvPr/>
        </p:nvSpPr>
        <p:spPr>
          <a:xfrm>
            <a:off x="256032" y="822960"/>
            <a:ext cx="8631936" cy="274320"/>
          </a:xfrm>
          <a:prstGeom prst="rect">
            <a:avLst/>
          </a:prstGeom>
          <a:noFill/>
        </p:spPr>
        <p:txBody>
          <a:bodyPr wrap="square" rtlCol="0" anchor="ctr"/>
          <a:lstStyle/>
          <a:p>
            <a:pPr marL="0" indent="0">
              <a:buNone/>
            </a:pPr>
            <a:r>
              <a:rPr lang="en-US" sz="950" i="1" dirty="0">
                <a:solidFill>
                  <a:srgbClr val="475569"/>
                </a:solidFill>
                <a:latin typeface="Calibri" panose="020F0502020204030204" pitchFamily="34" charset="0"/>
                <a:ea typeface="Calibri" panose="020F0502020204030204" pitchFamily="34" charset="-122"/>
                <a:cs typeface="Calibri" panose="020F0502020204030204" pitchFamily="34" charset="-120"/>
              </a:rPr>
              <a:t>The `ls -l` command in Linux displays file metadata sourced directly from the inode. Forensic examiners use this to quickly read permissions, ownership, and timestamps without a specialist tool.</a:t>
            </a:r>
            <a:endParaRPr lang="en-US" sz="950" dirty="0"/>
          </a:p>
        </p:txBody>
      </p:sp>
      <p:sp>
        <p:nvSpPr>
          <p:cNvPr id="11" name="Shape 9"/>
          <p:cNvSpPr/>
          <p:nvPr/>
        </p:nvSpPr>
        <p:spPr>
          <a:xfrm>
            <a:off x="256032" y="1115568"/>
            <a:ext cx="8631936" cy="1207008"/>
          </a:xfrm>
          <a:prstGeom prst="rect">
            <a:avLst/>
          </a:prstGeom>
          <a:solidFill>
            <a:srgbClr val="FFFFFF"/>
          </a:solidFill>
          <a:ln w="12700">
            <a:solidFill>
              <a:srgbClr val="2E4068"/>
            </a:solidFill>
            <a:prstDash val="solid"/>
          </a:ln>
          <a:effectLst>
            <a:outerShdw blurRad="127000" dist="38100" dir="8100000" algn="bl" rotWithShape="0">
              <a:srgbClr val="000000">
                <a:alpha val="22000"/>
              </a:srgbClr>
            </a:outerShdw>
          </a:effectLst>
        </p:spPr>
        <p:txBody>
          <a:bodyPr/>
          <a:lstStyle/>
          <a:p>
            <a:endParaRPr lang="en-SG"/>
          </a:p>
        </p:txBody>
      </p:sp>
      <p:sp>
        <p:nvSpPr>
          <p:cNvPr id="12" name="Text 10"/>
          <p:cNvSpPr/>
          <p:nvPr/>
        </p:nvSpPr>
        <p:spPr>
          <a:xfrm>
            <a:off x="365760" y="1152144"/>
            <a:ext cx="1463040" cy="201168"/>
          </a:xfrm>
          <a:prstGeom prst="rect">
            <a:avLst/>
          </a:prstGeom>
          <a:noFill/>
        </p:spPr>
        <p:txBody>
          <a:bodyPr wrap="square" lIns="0" tIns="0" rIns="0" bIns="0" rtlCol="0" anchor="ctr"/>
          <a:lstStyle/>
          <a:p>
            <a:pPr marL="0" indent="0">
              <a:buNone/>
            </a:pPr>
            <a:r>
              <a:rPr lang="en-US" sz="900" b="1" dirty="0">
                <a:solidFill>
                  <a:srgbClr val="10B981"/>
                </a:solidFill>
                <a:latin typeface="Consolas" panose="020B0609020204030204" pitchFamily="34" charset="0"/>
                <a:ea typeface="Consolas" panose="020B0609020204030204" pitchFamily="34" charset="-122"/>
                <a:cs typeface="Consolas" panose="020B0609020204030204" pitchFamily="34" charset="-120"/>
              </a:rPr>
              <a:t>forensics@lab:~$</a:t>
            </a:r>
            <a:endParaRPr lang="en-US" sz="900" dirty="0"/>
          </a:p>
        </p:txBody>
      </p:sp>
      <p:sp>
        <p:nvSpPr>
          <p:cNvPr id="13" name="Text 11"/>
          <p:cNvSpPr/>
          <p:nvPr/>
        </p:nvSpPr>
        <p:spPr>
          <a:xfrm>
            <a:off x="1847088" y="1152144"/>
            <a:ext cx="2194560" cy="201168"/>
          </a:xfrm>
          <a:prstGeom prst="rect">
            <a:avLst/>
          </a:prstGeom>
          <a:noFill/>
        </p:spPr>
        <p:txBody>
          <a:bodyPr wrap="square" lIns="0" tIns="0" rIns="0" bIns="0" rtlCol="0" anchor="ctr"/>
          <a:lstStyle/>
          <a:p>
            <a:pPr marL="0" indent="0">
              <a:buNone/>
            </a:pPr>
            <a:r>
              <a:rPr lang="en-US" sz="900" dirty="0">
                <a:solidFill>
                  <a:srgbClr val="1A1A2E"/>
                </a:solidFill>
                <a:latin typeface="Consolas" panose="020B0609020204030204" pitchFamily="34" charset="0"/>
                <a:ea typeface="Consolas" panose="020B0609020204030204" pitchFamily="34" charset="-122"/>
                <a:cs typeface="Consolas" panose="020B0609020204030204" pitchFamily="34" charset="-120"/>
              </a:rPr>
              <a:t>ls -l /home/suspect/</a:t>
            </a:r>
            <a:endParaRPr lang="en-US" sz="900" dirty="0"/>
          </a:p>
        </p:txBody>
      </p:sp>
      <p:sp>
        <p:nvSpPr>
          <p:cNvPr id="14" name="Text 12"/>
          <p:cNvSpPr/>
          <p:nvPr/>
        </p:nvSpPr>
        <p:spPr>
          <a:xfrm>
            <a:off x="365760" y="1371600"/>
            <a:ext cx="1280160" cy="182880"/>
          </a:xfrm>
          <a:prstGeom prst="rect">
            <a:avLst/>
          </a:prstGeom>
          <a:noFill/>
        </p:spPr>
        <p:txBody>
          <a:bodyPr wrap="square" lIns="0" tIns="0" rIns="0" bIns="0" rtlCol="0" anchor="ctr"/>
          <a:lstStyle/>
          <a:p>
            <a:pPr marL="0" indent="0">
              <a:buNone/>
            </a:pPr>
            <a:r>
              <a:rPr lang="en-US" sz="900" dirty="0">
                <a:solidFill>
                  <a:srgbClr val="475569"/>
                </a:solidFill>
                <a:latin typeface="Consolas" panose="020B0609020204030204" pitchFamily="34" charset="0"/>
                <a:ea typeface="Consolas" panose="020B0609020204030204" pitchFamily="34" charset="-122"/>
                <a:cs typeface="Consolas" panose="020B0609020204030204" pitchFamily="34" charset="-120"/>
              </a:rPr>
              <a:t>total 24</a:t>
            </a:r>
            <a:endParaRPr lang="en-US" sz="900" dirty="0"/>
          </a:p>
        </p:txBody>
      </p:sp>
      <p:sp>
        <p:nvSpPr>
          <p:cNvPr id="15" name="Text 13"/>
          <p:cNvSpPr/>
          <p:nvPr/>
        </p:nvSpPr>
        <p:spPr>
          <a:xfrm>
            <a:off x="365760" y="1591056"/>
            <a:ext cx="969264" cy="237744"/>
          </a:xfrm>
          <a:prstGeom prst="rect">
            <a:avLst/>
          </a:prstGeom>
          <a:noFill/>
        </p:spPr>
        <p:txBody>
          <a:bodyPr wrap="square" lIns="0" tIns="0" rIns="0" bIns="0" rtlCol="0" anchor="ctr"/>
          <a:lstStyle/>
          <a:p>
            <a:pPr marL="0" indent="0">
              <a:buNone/>
            </a:pPr>
            <a:r>
              <a:rPr lang="en-US" sz="900" dirty="0">
                <a:solidFill>
                  <a:srgbClr val="F59E0B"/>
                </a:solidFill>
                <a:latin typeface="Consolas" panose="020B0609020204030204" pitchFamily="34" charset="0"/>
                <a:ea typeface="Consolas" panose="020B0609020204030204" pitchFamily="34" charset="-122"/>
                <a:cs typeface="Consolas" panose="020B0609020204030204" pitchFamily="34" charset="-120"/>
              </a:rPr>
              <a:t>-rw-r--r--</a:t>
            </a:r>
            <a:endParaRPr lang="en-US" sz="900" dirty="0"/>
          </a:p>
        </p:txBody>
      </p:sp>
      <p:sp>
        <p:nvSpPr>
          <p:cNvPr id="16" name="Text 14"/>
          <p:cNvSpPr/>
          <p:nvPr/>
        </p:nvSpPr>
        <p:spPr>
          <a:xfrm>
            <a:off x="1371600" y="1591056"/>
            <a:ext cx="201168" cy="237744"/>
          </a:xfrm>
          <a:prstGeom prst="rect">
            <a:avLst/>
          </a:prstGeom>
          <a:noFill/>
        </p:spPr>
        <p:txBody>
          <a:bodyPr wrap="square" lIns="0" tIns="0" rIns="0" bIns="0" rtlCol="0" anchor="ctr"/>
          <a:lstStyle/>
          <a:p>
            <a:pPr marL="0" indent="0">
              <a:buNone/>
            </a:pPr>
            <a:r>
              <a:rPr lang="en-US" sz="900" dirty="0">
                <a:solidFill>
                  <a:srgbClr val="A855F7"/>
                </a:solidFill>
                <a:latin typeface="Consolas" panose="020B0609020204030204" pitchFamily="34" charset="0"/>
                <a:ea typeface="Consolas" panose="020B0609020204030204" pitchFamily="34" charset="-122"/>
                <a:cs typeface="Consolas" panose="020B0609020204030204" pitchFamily="34" charset="-120"/>
              </a:rPr>
              <a:t>1</a:t>
            </a:r>
            <a:endParaRPr lang="en-US" sz="900" dirty="0"/>
          </a:p>
        </p:txBody>
      </p:sp>
      <p:sp>
        <p:nvSpPr>
          <p:cNvPr id="17" name="Text 15"/>
          <p:cNvSpPr/>
          <p:nvPr/>
        </p:nvSpPr>
        <p:spPr>
          <a:xfrm>
            <a:off x="1609344" y="1591056"/>
            <a:ext cx="694944" cy="237744"/>
          </a:xfrm>
          <a:prstGeom prst="rect">
            <a:avLst/>
          </a:prstGeom>
          <a:noFill/>
        </p:spPr>
        <p:txBody>
          <a:bodyPr wrap="square" lIns="0" tIns="0" rIns="0" bIns="0" rtlCol="0" anchor="ctr"/>
          <a:lstStyle/>
          <a:p>
            <a:pPr marL="0" indent="0">
              <a:buNone/>
            </a:pPr>
            <a:r>
              <a:rPr lang="en-US" sz="900" dirty="0">
                <a:solidFill>
                  <a:srgbClr val="10B981"/>
                </a:solidFill>
                <a:latin typeface="Consolas" panose="020B0609020204030204" pitchFamily="34" charset="0"/>
                <a:ea typeface="Consolas" panose="020B0609020204030204" pitchFamily="34" charset="-122"/>
                <a:cs typeface="Consolas" panose="020B0609020204030204" pitchFamily="34" charset="-120"/>
              </a:rPr>
              <a:t>suspect</a:t>
            </a:r>
            <a:endParaRPr lang="en-US" sz="900" dirty="0"/>
          </a:p>
        </p:txBody>
      </p:sp>
      <p:sp>
        <p:nvSpPr>
          <p:cNvPr id="18" name="Text 16"/>
          <p:cNvSpPr/>
          <p:nvPr/>
        </p:nvSpPr>
        <p:spPr>
          <a:xfrm>
            <a:off x="2340864" y="1591056"/>
            <a:ext cx="768096" cy="237744"/>
          </a:xfrm>
          <a:prstGeom prst="rect">
            <a:avLst/>
          </a:prstGeom>
          <a:noFill/>
        </p:spPr>
        <p:txBody>
          <a:bodyPr wrap="square" lIns="0" tIns="0" rIns="0" bIns="0" rtlCol="0" anchor="ctr"/>
          <a:lstStyle/>
          <a:p>
            <a:pPr marL="0" indent="0">
              <a:buNone/>
            </a:pPr>
            <a:r>
              <a:rPr lang="en-US" sz="900" dirty="0">
                <a:solidFill>
                  <a:srgbClr val="0EA5E9"/>
                </a:solidFill>
                <a:latin typeface="Consolas" panose="020B0609020204030204" pitchFamily="34" charset="0"/>
                <a:ea typeface="Consolas" panose="020B0609020204030204" pitchFamily="34" charset="-122"/>
                <a:cs typeface="Consolas" panose="020B0609020204030204" pitchFamily="34" charset="-120"/>
              </a:rPr>
              <a:t>evidence</a:t>
            </a:r>
            <a:endParaRPr lang="en-US" sz="900" dirty="0"/>
          </a:p>
        </p:txBody>
      </p:sp>
      <p:sp>
        <p:nvSpPr>
          <p:cNvPr id="19" name="Text 17"/>
          <p:cNvSpPr/>
          <p:nvPr/>
        </p:nvSpPr>
        <p:spPr>
          <a:xfrm>
            <a:off x="3145536" y="1591056"/>
            <a:ext cx="475488" cy="237744"/>
          </a:xfrm>
          <a:prstGeom prst="rect">
            <a:avLst/>
          </a:prstGeom>
          <a:noFill/>
        </p:spPr>
        <p:txBody>
          <a:bodyPr wrap="square" lIns="0" tIns="0" rIns="0" bIns="0" rtlCol="0" anchor="ctr"/>
          <a:lstStyle/>
          <a:p>
            <a:pPr marL="0" indent="0">
              <a:buNone/>
            </a:pPr>
            <a:r>
              <a:rPr lang="en-US" sz="900" dirty="0">
                <a:solidFill>
                  <a:srgbClr val="F97316"/>
                </a:solidFill>
                <a:latin typeface="Consolas" panose="020B0609020204030204" pitchFamily="34" charset="0"/>
                <a:ea typeface="Consolas" panose="020B0609020204030204" pitchFamily="34" charset="-122"/>
                <a:cs typeface="Consolas" panose="020B0609020204030204" pitchFamily="34" charset="-120"/>
              </a:rPr>
              <a:t>8689</a:t>
            </a:r>
            <a:endParaRPr lang="en-US" sz="900" dirty="0"/>
          </a:p>
        </p:txBody>
      </p:sp>
      <p:sp>
        <p:nvSpPr>
          <p:cNvPr id="20" name="Text 18"/>
          <p:cNvSpPr/>
          <p:nvPr/>
        </p:nvSpPr>
        <p:spPr>
          <a:xfrm>
            <a:off x="3657600" y="1591056"/>
            <a:ext cx="1097280" cy="237744"/>
          </a:xfrm>
          <a:prstGeom prst="rect">
            <a:avLst/>
          </a:prstGeom>
          <a:noFill/>
        </p:spPr>
        <p:txBody>
          <a:bodyPr wrap="square" lIns="0" tIns="0" rIns="0" bIns="0" rtlCol="0" anchor="ctr"/>
          <a:lstStyle/>
          <a:p>
            <a:pPr marL="0" indent="0">
              <a:buNone/>
            </a:pPr>
            <a:r>
              <a:rPr lang="en-US" sz="900" dirty="0">
                <a:solidFill>
                  <a:srgbClr val="EF4444"/>
                </a:solidFill>
                <a:latin typeface="Consolas" panose="020B0609020204030204" pitchFamily="34" charset="0"/>
                <a:ea typeface="Consolas" panose="020B0609020204030204" pitchFamily="34" charset="-122"/>
                <a:cs typeface="Consolas" panose="020B0609020204030204" pitchFamily="34" charset="-120"/>
              </a:rPr>
              <a:t>Jan 25 06:37</a:t>
            </a:r>
            <a:endParaRPr lang="en-US" sz="900" dirty="0"/>
          </a:p>
        </p:txBody>
      </p:sp>
      <p:sp>
        <p:nvSpPr>
          <p:cNvPr id="21" name="Text 19"/>
          <p:cNvSpPr/>
          <p:nvPr/>
        </p:nvSpPr>
        <p:spPr>
          <a:xfrm>
            <a:off x="4791456" y="1591056"/>
            <a:ext cx="1005840" cy="237744"/>
          </a:xfrm>
          <a:prstGeom prst="rect">
            <a:avLst/>
          </a:prstGeom>
          <a:noFill/>
        </p:spPr>
        <p:txBody>
          <a:bodyPr wrap="square" lIns="0" tIns="0" rIns="0" bIns="0" rtlCol="0" anchor="ctr"/>
          <a:lstStyle/>
          <a:p>
            <a:pPr marL="0" indent="0">
              <a:buNone/>
            </a:pPr>
            <a:r>
              <a:rPr lang="en-US" sz="900" dirty="0">
                <a:solidFill>
                  <a:srgbClr val="1A1A2E"/>
                </a:solidFill>
                <a:latin typeface="Consolas" panose="020B0609020204030204" pitchFamily="34" charset="0"/>
                <a:ea typeface="Consolas" panose="020B0609020204030204" pitchFamily="34" charset="-122"/>
                <a:cs typeface="Consolas" panose="020B0609020204030204" pitchFamily="34" charset="-120"/>
              </a:rPr>
              <a:t>RESUME.rtf</a:t>
            </a:r>
            <a:endParaRPr lang="en-US" sz="900" dirty="0"/>
          </a:p>
        </p:txBody>
      </p:sp>
      <p:sp>
        <p:nvSpPr>
          <p:cNvPr id="22" name="Shape 20"/>
          <p:cNvSpPr/>
          <p:nvPr/>
        </p:nvSpPr>
        <p:spPr>
          <a:xfrm>
            <a:off x="365760" y="2340864"/>
            <a:ext cx="969264" cy="36576"/>
          </a:xfrm>
          <a:prstGeom prst="rect">
            <a:avLst/>
          </a:prstGeom>
          <a:solidFill>
            <a:srgbClr val="F59E0B"/>
          </a:solidFill>
          <a:ln w="12700">
            <a:solidFill>
              <a:srgbClr val="F59E0B"/>
            </a:solidFill>
            <a:prstDash val="solid"/>
          </a:ln>
        </p:spPr>
        <p:txBody>
          <a:bodyPr/>
          <a:lstStyle/>
          <a:p>
            <a:endParaRPr lang="en-SG"/>
          </a:p>
        </p:txBody>
      </p:sp>
      <p:sp>
        <p:nvSpPr>
          <p:cNvPr id="23" name="Text 21"/>
          <p:cNvSpPr/>
          <p:nvPr/>
        </p:nvSpPr>
        <p:spPr>
          <a:xfrm>
            <a:off x="256032" y="2395728"/>
            <a:ext cx="1188720" cy="274320"/>
          </a:xfrm>
          <a:prstGeom prst="rect">
            <a:avLst/>
          </a:prstGeom>
          <a:noFill/>
        </p:spPr>
        <p:txBody>
          <a:bodyPr wrap="square" lIns="0" tIns="0" rIns="0" bIns="0" rtlCol="0" anchor="ctr"/>
          <a:lstStyle/>
          <a:p>
            <a:pPr marL="0" indent="0" algn="ctr">
              <a:buNone/>
            </a:pPr>
            <a:r>
              <a:rPr lang="en-US" sz="750" dirty="0">
                <a:solidFill>
                  <a:srgbClr val="F59E0B"/>
                </a:solidFill>
                <a:latin typeface="Calibri" panose="020F0502020204030204" pitchFamily="34" charset="0"/>
                <a:ea typeface="Calibri" panose="020F0502020204030204" pitchFamily="34" charset="-122"/>
                <a:cs typeface="Calibri" panose="020F0502020204030204" pitchFamily="34" charset="-120"/>
              </a:rPr>
              <a:t>File Type &amp;</a:t>
            </a:r>
            <a:endParaRPr lang="en-US" sz="750" dirty="0"/>
          </a:p>
          <a:p>
            <a:pPr marL="0" indent="0" algn="ctr">
              <a:buNone/>
            </a:pPr>
            <a:r>
              <a:rPr lang="en-US" sz="750" dirty="0">
                <a:solidFill>
                  <a:srgbClr val="F59E0B"/>
                </a:solidFill>
                <a:latin typeface="Calibri" panose="020F0502020204030204" pitchFamily="34" charset="0"/>
                <a:ea typeface="Calibri" panose="020F0502020204030204" pitchFamily="34" charset="-122"/>
                <a:cs typeface="Calibri" panose="020F0502020204030204" pitchFamily="34" charset="-120"/>
              </a:rPr>
              <a:t>Permissions</a:t>
            </a:r>
            <a:endParaRPr lang="en-US" sz="750" dirty="0"/>
          </a:p>
        </p:txBody>
      </p:sp>
      <p:sp>
        <p:nvSpPr>
          <p:cNvPr id="24" name="Shape 22"/>
          <p:cNvSpPr/>
          <p:nvPr/>
        </p:nvSpPr>
        <p:spPr>
          <a:xfrm>
            <a:off x="1371600" y="2340864"/>
            <a:ext cx="201168" cy="36576"/>
          </a:xfrm>
          <a:prstGeom prst="rect">
            <a:avLst/>
          </a:prstGeom>
          <a:solidFill>
            <a:srgbClr val="A855F7"/>
          </a:solidFill>
          <a:ln w="12700">
            <a:solidFill>
              <a:srgbClr val="A855F7"/>
            </a:solidFill>
            <a:prstDash val="solid"/>
          </a:ln>
        </p:spPr>
        <p:txBody>
          <a:bodyPr/>
          <a:lstStyle/>
          <a:p>
            <a:endParaRPr lang="en-SG"/>
          </a:p>
        </p:txBody>
      </p:sp>
      <p:sp>
        <p:nvSpPr>
          <p:cNvPr id="25" name="Text 23"/>
          <p:cNvSpPr/>
          <p:nvPr/>
        </p:nvSpPr>
        <p:spPr>
          <a:xfrm>
            <a:off x="1261872" y="2395728"/>
            <a:ext cx="420624" cy="274320"/>
          </a:xfrm>
          <a:prstGeom prst="rect">
            <a:avLst/>
          </a:prstGeom>
          <a:noFill/>
        </p:spPr>
        <p:txBody>
          <a:bodyPr wrap="square" lIns="0" tIns="0" rIns="0" bIns="0" rtlCol="0" anchor="ctr"/>
          <a:lstStyle/>
          <a:p>
            <a:pPr marL="0" indent="0" algn="ctr">
              <a:buNone/>
            </a:pPr>
            <a:r>
              <a:rPr lang="en-US" sz="750" dirty="0">
                <a:solidFill>
                  <a:srgbClr val="A855F7"/>
                </a:solidFill>
                <a:latin typeface="Calibri" panose="020F0502020204030204" pitchFamily="34" charset="0"/>
                <a:ea typeface="Calibri" panose="020F0502020204030204" pitchFamily="34" charset="-122"/>
                <a:cs typeface="Calibri" panose="020F0502020204030204" pitchFamily="34" charset="-120"/>
              </a:rPr>
              <a:t>Link</a:t>
            </a:r>
            <a:endParaRPr lang="en-US" sz="750" dirty="0"/>
          </a:p>
          <a:p>
            <a:pPr marL="0" indent="0" algn="ctr">
              <a:buNone/>
            </a:pPr>
            <a:r>
              <a:rPr lang="en-US" sz="750" dirty="0">
                <a:solidFill>
                  <a:srgbClr val="A855F7"/>
                </a:solidFill>
                <a:latin typeface="Calibri" panose="020F0502020204030204" pitchFamily="34" charset="0"/>
                <a:ea typeface="Calibri" panose="020F0502020204030204" pitchFamily="34" charset="-122"/>
                <a:cs typeface="Calibri" panose="020F0502020204030204" pitchFamily="34" charset="-120"/>
              </a:rPr>
              <a:t>Count</a:t>
            </a:r>
            <a:endParaRPr lang="en-US" sz="750" dirty="0"/>
          </a:p>
        </p:txBody>
      </p:sp>
      <p:sp>
        <p:nvSpPr>
          <p:cNvPr id="26" name="Shape 24"/>
          <p:cNvSpPr/>
          <p:nvPr/>
        </p:nvSpPr>
        <p:spPr>
          <a:xfrm>
            <a:off x="1609344" y="2340864"/>
            <a:ext cx="694944" cy="36576"/>
          </a:xfrm>
          <a:prstGeom prst="rect">
            <a:avLst/>
          </a:prstGeom>
          <a:solidFill>
            <a:srgbClr val="10B981"/>
          </a:solidFill>
          <a:ln w="12700">
            <a:solidFill>
              <a:srgbClr val="10B981"/>
            </a:solidFill>
            <a:prstDash val="solid"/>
          </a:ln>
        </p:spPr>
        <p:txBody>
          <a:bodyPr/>
          <a:lstStyle/>
          <a:p>
            <a:endParaRPr lang="en-SG"/>
          </a:p>
        </p:txBody>
      </p:sp>
      <p:sp>
        <p:nvSpPr>
          <p:cNvPr id="27" name="Text 25"/>
          <p:cNvSpPr/>
          <p:nvPr/>
        </p:nvSpPr>
        <p:spPr>
          <a:xfrm>
            <a:off x="1499616" y="2395728"/>
            <a:ext cx="914400" cy="274320"/>
          </a:xfrm>
          <a:prstGeom prst="rect">
            <a:avLst/>
          </a:prstGeom>
          <a:noFill/>
        </p:spPr>
        <p:txBody>
          <a:bodyPr wrap="square" lIns="0" tIns="0" rIns="0" bIns="0" rtlCol="0" anchor="ctr"/>
          <a:lstStyle/>
          <a:p>
            <a:pPr marL="0" indent="0" algn="ctr">
              <a:buNone/>
            </a:pPr>
            <a:r>
              <a:rPr lang="en-US" sz="750" dirty="0">
                <a:solidFill>
                  <a:srgbClr val="10B981"/>
                </a:solidFill>
                <a:latin typeface="Calibri" panose="020F0502020204030204" pitchFamily="34" charset="0"/>
                <a:ea typeface="Calibri" panose="020F0502020204030204" pitchFamily="34" charset="-122"/>
                <a:cs typeface="Calibri" panose="020F0502020204030204" pitchFamily="34" charset="-120"/>
              </a:rPr>
              <a:t>Owner</a:t>
            </a:r>
            <a:endParaRPr lang="en-US" sz="750" dirty="0"/>
          </a:p>
          <a:p>
            <a:pPr marL="0" indent="0" algn="ctr">
              <a:buNone/>
            </a:pPr>
            <a:r>
              <a:rPr lang="en-US" sz="750" dirty="0">
                <a:solidFill>
                  <a:srgbClr val="10B981"/>
                </a:solidFill>
                <a:latin typeface="Calibri" panose="020F0502020204030204" pitchFamily="34" charset="0"/>
                <a:ea typeface="Calibri" panose="020F0502020204030204" pitchFamily="34" charset="-122"/>
                <a:cs typeface="Calibri" panose="020F0502020204030204" pitchFamily="34" charset="-120"/>
              </a:rPr>
              <a:t>(UID)</a:t>
            </a:r>
            <a:endParaRPr lang="en-US" sz="750" dirty="0"/>
          </a:p>
        </p:txBody>
      </p:sp>
      <p:sp>
        <p:nvSpPr>
          <p:cNvPr id="28" name="Shape 26"/>
          <p:cNvSpPr/>
          <p:nvPr/>
        </p:nvSpPr>
        <p:spPr>
          <a:xfrm>
            <a:off x="2340864" y="2340864"/>
            <a:ext cx="768096" cy="36576"/>
          </a:xfrm>
          <a:prstGeom prst="rect">
            <a:avLst/>
          </a:prstGeom>
          <a:solidFill>
            <a:srgbClr val="0EA5E9"/>
          </a:solidFill>
          <a:ln w="12700">
            <a:solidFill>
              <a:srgbClr val="0EA5E9"/>
            </a:solidFill>
            <a:prstDash val="solid"/>
          </a:ln>
        </p:spPr>
        <p:txBody>
          <a:bodyPr/>
          <a:lstStyle/>
          <a:p>
            <a:endParaRPr lang="en-SG"/>
          </a:p>
        </p:txBody>
      </p:sp>
      <p:sp>
        <p:nvSpPr>
          <p:cNvPr id="29" name="Text 27"/>
          <p:cNvSpPr/>
          <p:nvPr/>
        </p:nvSpPr>
        <p:spPr>
          <a:xfrm>
            <a:off x="2231136" y="2395728"/>
            <a:ext cx="987552" cy="274320"/>
          </a:xfrm>
          <a:prstGeom prst="rect">
            <a:avLst/>
          </a:prstGeom>
          <a:noFill/>
        </p:spPr>
        <p:txBody>
          <a:bodyPr wrap="square" lIns="0" tIns="0" rIns="0" bIns="0" rtlCol="0" anchor="ctr"/>
          <a:lstStyle/>
          <a:p>
            <a:pPr marL="0" indent="0" algn="ctr">
              <a:buNone/>
            </a:pPr>
            <a:r>
              <a:rPr lang="en-US" sz="750" dirty="0">
                <a:solidFill>
                  <a:srgbClr val="0EA5E9"/>
                </a:solidFill>
                <a:latin typeface="Calibri" panose="020F0502020204030204" pitchFamily="34" charset="0"/>
                <a:ea typeface="Calibri" panose="020F0502020204030204" pitchFamily="34" charset="-122"/>
                <a:cs typeface="Calibri" panose="020F0502020204030204" pitchFamily="34" charset="-120"/>
              </a:rPr>
              <a:t>Group</a:t>
            </a:r>
            <a:endParaRPr lang="en-US" sz="750" dirty="0"/>
          </a:p>
          <a:p>
            <a:pPr marL="0" indent="0" algn="ctr">
              <a:buNone/>
            </a:pPr>
            <a:r>
              <a:rPr lang="en-US" sz="750" dirty="0">
                <a:solidFill>
                  <a:srgbClr val="0EA5E9"/>
                </a:solidFill>
                <a:latin typeface="Calibri" panose="020F0502020204030204" pitchFamily="34" charset="0"/>
                <a:ea typeface="Calibri" panose="020F0502020204030204" pitchFamily="34" charset="-122"/>
                <a:cs typeface="Calibri" panose="020F0502020204030204" pitchFamily="34" charset="-120"/>
              </a:rPr>
              <a:t>(GID)</a:t>
            </a:r>
            <a:endParaRPr lang="en-US" sz="750" dirty="0"/>
          </a:p>
        </p:txBody>
      </p:sp>
      <p:sp>
        <p:nvSpPr>
          <p:cNvPr id="30" name="Shape 28"/>
          <p:cNvSpPr/>
          <p:nvPr/>
        </p:nvSpPr>
        <p:spPr>
          <a:xfrm>
            <a:off x="3145536" y="2340864"/>
            <a:ext cx="475488" cy="36576"/>
          </a:xfrm>
          <a:prstGeom prst="rect">
            <a:avLst/>
          </a:prstGeom>
          <a:solidFill>
            <a:srgbClr val="F97316"/>
          </a:solidFill>
          <a:ln w="12700">
            <a:solidFill>
              <a:srgbClr val="F97316"/>
            </a:solidFill>
            <a:prstDash val="solid"/>
          </a:ln>
        </p:spPr>
        <p:txBody>
          <a:bodyPr/>
          <a:lstStyle/>
          <a:p>
            <a:endParaRPr lang="en-SG"/>
          </a:p>
        </p:txBody>
      </p:sp>
      <p:sp>
        <p:nvSpPr>
          <p:cNvPr id="31" name="Text 29"/>
          <p:cNvSpPr/>
          <p:nvPr/>
        </p:nvSpPr>
        <p:spPr>
          <a:xfrm>
            <a:off x="3035808" y="2395728"/>
            <a:ext cx="694944" cy="274320"/>
          </a:xfrm>
          <a:prstGeom prst="rect">
            <a:avLst/>
          </a:prstGeom>
          <a:noFill/>
        </p:spPr>
        <p:txBody>
          <a:bodyPr wrap="square" lIns="0" tIns="0" rIns="0" bIns="0" rtlCol="0" anchor="ctr"/>
          <a:lstStyle/>
          <a:p>
            <a:pPr marL="0" indent="0" algn="ctr">
              <a:buNone/>
            </a:pPr>
            <a:r>
              <a:rPr lang="en-US" sz="750" dirty="0">
                <a:solidFill>
                  <a:srgbClr val="F97316"/>
                </a:solidFill>
                <a:latin typeface="Calibri" panose="020F0502020204030204" pitchFamily="34" charset="0"/>
                <a:ea typeface="Calibri" panose="020F0502020204030204" pitchFamily="34" charset="-122"/>
                <a:cs typeface="Calibri" panose="020F0502020204030204" pitchFamily="34" charset="-120"/>
              </a:rPr>
              <a:t>Size</a:t>
            </a:r>
            <a:endParaRPr lang="en-US" sz="750" dirty="0"/>
          </a:p>
          <a:p>
            <a:pPr marL="0" indent="0" algn="ctr">
              <a:buNone/>
            </a:pPr>
            <a:r>
              <a:rPr lang="en-US" sz="750" dirty="0">
                <a:solidFill>
                  <a:srgbClr val="F97316"/>
                </a:solidFill>
                <a:latin typeface="Calibri" panose="020F0502020204030204" pitchFamily="34" charset="0"/>
                <a:ea typeface="Calibri" panose="020F0502020204030204" pitchFamily="34" charset="-122"/>
                <a:cs typeface="Calibri" panose="020F0502020204030204" pitchFamily="34" charset="-120"/>
              </a:rPr>
              <a:t>(bytes)</a:t>
            </a:r>
            <a:endParaRPr lang="en-US" sz="750" dirty="0"/>
          </a:p>
        </p:txBody>
      </p:sp>
      <p:sp>
        <p:nvSpPr>
          <p:cNvPr id="32" name="Shape 30"/>
          <p:cNvSpPr/>
          <p:nvPr/>
        </p:nvSpPr>
        <p:spPr>
          <a:xfrm>
            <a:off x="3657600" y="2340864"/>
            <a:ext cx="1097280" cy="36576"/>
          </a:xfrm>
          <a:prstGeom prst="rect">
            <a:avLst/>
          </a:prstGeom>
          <a:solidFill>
            <a:srgbClr val="EF4444"/>
          </a:solidFill>
          <a:ln w="12700">
            <a:solidFill>
              <a:srgbClr val="EF4444"/>
            </a:solidFill>
            <a:prstDash val="solid"/>
          </a:ln>
        </p:spPr>
        <p:txBody>
          <a:bodyPr/>
          <a:lstStyle/>
          <a:p>
            <a:endParaRPr lang="en-SG"/>
          </a:p>
        </p:txBody>
      </p:sp>
      <p:sp>
        <p:nvSpPr>
          <p:cNvPr id="33" name="Text 31"/>
          <p:cNvSpPr/>
          <p:nvPr/>
        </p:nvSpPr>
        <p:spPr>
          <a:xfrm>
            <a:off x="3547872" y="2395728"/>
            <a:ext cx="1316736" cy="274320"/>
          </a:xfrm>
          <a:prstGeom prst="rect">
            <a:avLst/>
          </a:prstGeom>
          <a:noFill/>
        </p:spPr>
        <p:txBody>
          <a:bodyPr wrap="square" lIns="0" tIns="0" rIns="0" bIns="0" rtlCol="0" anchor="ctr"/>
          <a:lstStyle/>
          <a:p>
            <a:pPr marL="0" indent="0" algn="ctr">
              <a:buNone/>
            </a:pPr>
            <a:r>
              <a:rPr lang="en-US" sz="750" dirty="0">
                <a:solidFill>
                  <a:srgbClr val="EF4444"/>
                </a:solidFill>
                <a:latin typeface="Calibri" panose="020F0502020204030204" pitchFamily="34" charset="0"/>
                <a:ea typeface="Calibri" panose="020F0502020204030204" pitchFamily="34" charset="-122"/>
                <a:cs typeface="Calibri" panose="020F0502020204030204" pitchFamily="34" charset="-120"/>
              </a:rPr>
              <a:t>Last Modified</a:t>
            </a:r>
            <a:endParaRPr lang="en-US" sz="750" dirty="0"/>
          </a:p>
          <a:p>
            <a:pPr marL="0" indent="0" algn="ctr">
              <a:buNone/>
            </a:pPr>
            <a:r>
              <a:rPr lang="en-US" sz="750" dirty="0">
                <a:solidFill>
                  <a:srgbClr val="EF4444"/>
                </a:solidFill>
                <a:latin typeface="Calibri" panose="020F0502020204030204" pitchFamily="34" charset="0"/>
                <a:ea typeface="Calibri" panose="020F0502020204030204" pitchFamily="34" charset="-122"/>
                <a:cs typeface="Calibri" panose="020F0502020204030204" pitchFamily="34" charset="-120"/>
              </a:rPr>
              <a:t>Timestamp</a:t>
            </a:r>
            <a:endParaRPr lang="en-US" sz="750" dirty="0"/>
          </a:p>
        </p:txBody>
      </p:sp>
      <p:sp>
        <p:nvSpPr>
          <p:cNvPr id="34" name="Shape 32"/>
          <p:cNvSpPr/>
          <p:nvPr/>
        </p:nvSpPr>
        <p:spPr>
          <a:xfrm>
            <a:off x="4791456" y="2340864"/>
            <a:ext cx="1005840" cy="36576"/>
          </a:xfrm>
          <a:prstGeom prst="rect">
            <a:avLst/>
          </a:prstGeom>
          <a:solidFill>
            <a:srgbClr val="F8FAFC"/>
          </a:solidFill>
          <a:ln w="12700">
            <a:solidFill>
              <a:srgbClr val="F8FAFC"/>
            </a:solidFill>
            <a:prstDash val="solid"/>
          </a:ln>
        </p:spPr>
        <p:txBody>
          <a:bodyPr/>
          <a:lstStyle/>
          <a:p>
            <a:endParaRPr lang="en-SG"/>
          </a:p>
        </p:txBody>
      </p:sp>
      <p:sp>
        <p:nvSpPr>
          <p:cNvPr id="35" name="Text 33"/>
          <p:cNvSpPr/>
          <p:nvPr/>
        </p:nvSpPr>
        <p:spPr>
          <a:xfrm>
            <a:off x="4681728" y="2395728"/>
            <a:ext cx="1225296" cy="274320"/>
          </a:xfrm>
          <a:prstGeom prst="rect">
            <a:avLst/>
          </a:prstGeom>
          <a:noFill/>
        </p:spPr>
        <p:txBody>
          <a:bodyPr wrap="square" lIns="0" tIns="0" rIns="0" bIns="0" rtlCol="0" anchor="ctr"/>
          <a:lstStyle/>
          <a:p>
            <a:pPr marL="0" indent="0" algn="ctr">
              <a:buNone/>
            </a:pPr>
            <a:r>
              <a:rPr lang="en-US" sz="750" dirty="0">
                <a:solidFill>
                  <a:srgbClr val="1A1A2E"/>
                </a:solidFill>
                <a:latin typeface="Calibri" panose="020F0502020204030204" pitchFamily="34" charset="0"/>
                <a:ea typeface="Calibri" panose="020F0502020204030204" pitchFamily="34" charset="-122"/>
                <a:cs typeface="Calibri" panose="020F0502020204030204" pitchFamily="34" charset="-120"/>
              </a:rPr>
              <a:t>File</a:t>
            </a:r>
            <a:endParaRPr lang="en-US" sz="750" dirty="0"/>
          </a:p>
          <a:p>
            <a:pPr marL="0" indent="0" algn="ctr">
              <a:buNone/>
            </a:pPr>
            <a:r>
              <a:rPr lang="en-US" sz="750" dirty="0">
                <a:solidFill>
                  <a:srgbClr val="1A1A2E"/>
                </a:solidFill>
                <a:latin typeface="Calibri" panose="020F0502020204030204" pitchFamily="34" charset="0"/>
                <a:ea typeface="Calibri" panose="020F0502020204030204" pitchFamily="34" charset="-122"/>
                <a:cs typeface="Calibri" panose="020F0502020204030204" pitchFamily="34" charset="-120"/>
              </a:rPr>
              <a:t>Name</a:t>
            </a:r>
            <a:endParaRPr lang="en-US" sz="750" dirty="0"/>
          </a:p>
        </p:txBody>
      </p:sp>
      <p:sp>
        <p:nvSpPr>
          <p:cNvPr id="36" name="Shape 34"/>
          <p:cNvSpPr/>
          <p:nvPr/>
        </p:nvSpPr>
        <p:spPr>
          <a:xfrm>
            <a:off x="256032" y="2743200"/>
            <a:ext cx="4151376" cy="1975104"/>
          </a:xfrm>
          <a:prstGeom prst="rect">
            <a:avLst/>
          </a:prstGeom>
          <a:solidFill>
            <a:srgbClr val="EEF6FB"/>
          </a:solidFill>
          <a:ln w="12700">
            <a:solidFill>
              <a:srgbClr val="F59E0B"/>
            </a:solidFill>
            <a:prstDash val="solid"/>
          </a:ln>
          <a:effectLst>
            <a:outerShdw blurRad="127000" dist="38100" dir="8100000" algn="bl" rotWithShape="0">
              <a:srgbClr val="000000">
                <a:alpha val="22000"/>
              </a:srgbClr>
            </a:outerShdw>
          </a:effectLst>
        </p:spPr>
        <p:txBody>
          <a:bodyPr/>
          <a:lstStyle/>
          <a:p>
            <a:endParaRPr lang="en-SG"/>
          </a:p>
        </p:txBody>
      </p:sp>
      <p:sp>
        <p:nvSpPr>
          <p:cNvPr id="37" name="Shape 35"/>
          <p:cNvSpPr/>
          <p:nvPr/>
        </p:nvSpPr>
        <p:spPr>
          <a:xfrm>
            <a:off x="256032" y="2743200"/>
            <a:ext cx="4151376" cy="274320"/>
          </a:xfrm>
          <a:prstGeom prst="rect">
            <a:avLst/>
          </a:prstGeom>
          <a:solidFill>
            <a:srgbClr val="F59E0B"/>
          </a:solidFill>
          <a:ln w="12700">
            <a:solidFill>
              <a:srgbClr val="F59E0B"/>
            </a:solidFill>
            <a:prstDash val="solid"/>
          </a:ln>
        </p:spPr>
        <p:txBody>
          <a:bodyPr/>
          <a:lstStyle/>
          <a:p>
            <a:endParaRPr lang="en-SG"/>
          </a:p>
        </p:txBody>
      </p:sp>
      <p:sp>
        <p:nvSpPr>
          <p:cNvPr id="38" name="Text 36"/>
          <p:cNvSpPr/>
          <p:nvPr/>
        </p:nvSpPr>
        <p:spPr>
          <a:xfrm>
            <a:off x="365760" y="2761488"/>
            <a:ext cx="3931920" cy="237744"/>
          </a:xfrm>
          <a:prstGeom prst="rect">
            <a:avLst/>
          </a:prstGeom>
          <a:noFill/>
        </p:spPr>
        <p:txBody>
          <a:bodyPr wrap="square" lIns="0" tIns="0" rIns="0" bIns="0" rtlCol="0" anchor="ctr"/>
          <a:lstStyle/>
          <a:p>
            <a:pPr marL="0" indent="0">
              <a:buNone/>
            </a:pPr>
            <a:r>
              <a:rPr lang="en-US" sz="11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Permissions Breakdown: -rw-r--r--</a:t>
            </a:r>
            <a:endParaRPr lang="en-US" sz="1100" dirty="0"/>
          </a:p>
        </p:txBody>
      </p:sp>
      <p:sp>
        <p:nvSpPr>
          <p:cNvPr id="39" name="Shape 37"/>
          <p:cNvSpPr/>
          <p:nvPr/>
        </p:nvSpPr>
        <p:spPr>
          <a:xfrm>
            <a:off x="365760" y="3090672"/>
            <a:ext cx="347472" cy="274320"/>
          </a:xfrm>
          <a:prstGeom prst="rect">
            <a:avLst/>
          </a:prstGeom>
          <a:solidFill>
            <a:srgbClr val="EEF6FB"/>
          </a:solidFill>
          <a:ln w="12700">
            <a:solidFill>
              <a:srgbClr val="F59E0B"/>
            </a:solidFill>
            <a:prstDash val="solid"/>
          </a:ln>
        </p:spPr>
        <p:txBody>
          <a:bodyPr/>
          <a:lstStyle/>
          <a:p>
            <a:endParaRPr lang="en-SG"/>
          </a:p>
        </p:txBody>
      </p:sp>
      <p:sp>
        <p:nvSpPr>
          <p:cNvPr id="40" name="Text 38"/>
          <p:cNvSpPr/>
          <p:nvPr/>
        </p:nvSpPr>
        <p:spPr>
          <a:xfrm>
            <a:off x="365760" y="3090672"/>
            <a:ext cx="347472" cy="274320"/>
          </a:xfrm>
          <a:prstGeom prst="rect">
            <a:avLst/>
          </a:prstGeom>
          <a:noFill/>
        </p:spPr>
        <p:txBody>
          <a:bodyPr wrap="square" lIns="0" tIns="0" rIns="0" bIns="0" rtlCol="0" anchor="ctr"/>
          <a:lstStyle/>
          <a:p>
            <a:pPr marL="0" indent="0" algn="ctr">
              <a:buNone/>
            </a:pPr>
            <a:r>
              <a:rPr lang="en-US" sz="900" b="1" dirty="0">
                <a:solidFill>
                  <a:srgbClr val="F59E0B"/>
                </a:solidFill>
                <a:latin typeface="Consolas" panose="020B0609020204030204" pitchFamily="34" charset="0"/>
                <a:ea typeface="Consolas" panose="020B0609020204030204" pitchFamily="34" charset="-122"/>
                <a:cs typeface="Consolas" panose="020B0609020204030204" pitchFamily="34" charset="-120"/>
              </a:rPr>
              <a:t>-</a:t>
            </a:r>
            <a:endParaRPr lang="en-US" sz="900" dirty="0"/>
          </a:p>
        </p:txBody>
      </p:sp>
      <p:sp>
        <p:nvSpPr>
          <p:cNvPr id="41" name="Text 39"/>
          <p:cNvSpPr/>
          <p:nvPr/>
        </p:nvSpPr>
        <p:spPr>
          <a:xfrm>
            <a:off x="768096" y="3072384"/>
            <a:ext cx="3547872" cy="310896"/>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File type: - = regular file, d = directory, l = symlink, b = block device</a:t>
            </a:r>
            <a:endParaRPr lang="en-US" sz="900" dirty="0"/>
          </a:p>
        </p:txBody>
      </p:sp>
      <p:sp>
        <p:nvSpPr>
          <p:cNvPr id="42" name="Shape 40"/>
          <p:cNvSpPr/>
          <p:nvPr/>
        </p:nvSpPr>
        <p:spPr>
          <a:xfrm>
            <a:off x="365760" y="3474720"/>
            <a:ext cx="347472" cy="274320"/>
          </a:xfrm>
          <a:prstGeom prst="rect">
            <a:avLst/>
          </a:prstGeom>
          <a:solidFill>
            <a:srgbClr val="EEF6FB"/>
          </a:solidFill>
          <a:ln w="12700">
            <a:solidFill>
              <a:srgbClr val="F59E0B"/>
            </a:solidFill>
            <a:prstDash val="solid"/>
          </a:ln>
        </p:spPr>
        <p:txBody>
          <a:bodyPr/>
          <a:lstStyle/>
          <a:p>
            <a:endParaRPr lang="en-SG"/>
          </a:p>
        </p:txBody>
      </p:sp>
      <p:sp>
        <p:nvSpPr>
          <p:cNvPr id="43" name="Text 41"/>
          <p:cNvSpPr/>
          <p:nvPr/>
        </p:nvSpPr>
        <p:spPr>
          <a:xfrm>
            <a:off x="365760" y="3474720"/>
            <a:ext cx="347472" cy="274320"/>
          </a:xfrm>
          <a:prstGeom prst="rect">
            <a:avLst/>
          </a:prstGeom>
          <a:noFill/>
        </p:spPr>
        <p:txBody>
          <a:bodyPr wrap="square" lIns="0" tIns="0" rIns="0" bIns="0" rtlCol="0" anchor="ctr"/>
          <a:lstStyle/>
          <a:p>
            <a:pPr marL="0" indent="0" algn="ctr">
              <a:buNone/>
            </a:pPr>
            <a:r>
              <a:rPr lang="en-US" sz="900" b="1" dirty="0">
                <a:solidFill>
                  <a:srgbClr val="F59E0B"/>
                </a:solidFill>
                <a:latin typeface="Consolas" panose="020B0609020204030204" pitchFamily="34" charset="0"/>
                <a:ea typeface="Consolas" panose="020B0609020204030204" pitchFamily="34" charset="-122"/>
                <a:cs typeface="Consolas" panose="020B0609020204030204" pitchFamily="34" charset="-120"/>
              </a:rPr>
              <a:t>rw-</a:t>
            </a:r>
            <a:endParaRPr lang="en-US" sz="900" dirty="0"/>
          </a:p>
        </p:txBody>
      </p:sp>
      <p:sp>
        <p:nvSpPr>
          <p:cNvPr id="44" name="Text 42"/>
          <p:cNvSpPr/>
          <p:nvPr/>
        </p:nvSpPr>
        <p:spPr>
          <a:xfrm>
            <a:off x="768096" y="3456432"/>
            <a:ext cx="3547872" cy="310896"/>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Owner (suspect): read + write. No execute.</a:t>
            </a:r>
            <a:endParaRPr lang="en-US" sz="900" dirty="0"/>
          </a:p>
        </p:txBody>
      </p:sp>
      <p:sp>
        <p:nvSpPr>
          <p:cNvPr id="45" name="Shape 43"/>
          <p:cNvSpPr/>
          <p:nvPr/>
        </p:nvSpPr>
        <p:spPr>
          <a:xfrm>
            <a:off x="365760" y="3858768"/>
            <a:ext cx="347472" cy="274320"/>
          </a:xfrm>
          <a:prstGeom prst="rect">
            <a:avLst/>
          </a:prstGeom>
          <a:solidFill>
            <a:srgbClr val="EEF6FB"/>
          </a:solidFill>
          <a:ln w="12700">
            <a:solidFill>
              <a:srgbClr val="F59E0B"/>
            </a:solidFill>
            <a:prstDash val="solid"/>
          </a:ln>
        </p:spPr>
        <p:txBody>
          <a:bodyPr/>
          <a:lstStyle/>
          <a:p>
            <a:endParaRPr lang="en-SG"/>
          </a:p>
        </p:txBody>
      </p:sp>
      <p:sp>
        <p:nvSpPr>
          <p:cNvPr id="46" name="Text 44"/>
          <p:cNvSpPr/>
          <p:nvPr/>
        </p:nvSpPr>
        <p:spPr>
          <a:xfrm>
            <a:off x="365760" y="3858768"/>
            <a:ext cx="347472" cy="274320"/>
          </a:xfrm>
          <a:prstGeom prst="rect">
            <a:avLst/>
          </a:prstGeom>
          <a:noFill/>
        </p:spPr>
        <p:txBody>
          <a:bodyPr wrap="square" lIns="0" tIns="0" rIns="0" bIns="0" rtlCol="0" anchor="ctr"/>
          <a:lstStyle/>
          <a:p>
            <a:pPr marL="0" indent="0" algn="ctr">
              <a:buNone/>
            </a:pPr>
            <a:r>
              <a:rPr lang="en-US" sz="900" b="1" dirty="0">
                <a:solidFill>
                  <a:srgbClr val="F59E0B"/>
                </a:solidFill>
                <a:latin typeface="Consolas" panose="020B0609020204030204" pitchFamily="34" charset="0"/>
                <a:ea typeface="Consolas" panose="020B0609020204030204" pitchFamily="34" charset="-122"/>
                <a:cs typeface="Consolas" panose="020B0609020204030204" pitchFamily="34" charset="-120"/>
              </a:rPr>
              <a:t>r--</a:t>
            </a:r>
            <a:endParaRPr lang="en-US" sz="900" dirty="0"/>
          </a:p>
        </p:txBody>
      </p:sp>
      <p:sp>
        <p:nvSpPr>
          <p:cNvPr id="47" name="Text 45"/>
          <p:cNvSpPr/>
          <p:nvPr/>
        </p:nvSpPr>
        <p:spPr>
          <a:xfrm>
            <a:off x="768096" y="3840480"/>
            <a:ext cx="3547872" cy="310896"/>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Group (evidence): read only. No write or execute.</a:t>
            </a:r>
            <a:endParaRPr lang="en-US" sz="900" dirty="0"/>
          </a:p>
        </p:txBody>
      </p:sp>
      <p:sp>
        <p:nvSpPr>
          <p:cNvPr id="48" name="Shape 46"/>
          <p:cNvSpPr/>
          <p:nvPr/>
        </p:nvSpPr>
        <p:spPr>
          <a:xfrm>
            <a:off x="365760" y="4242816"/>
            <a:ext cx="347472" cy="274320"/>
          </a:xfrm>
          <a:prstGeom prst="rect">
            <a:avLst/>
          </a:prstGeom>
          <a:solidFill>
            <a:srgbClr val="EEF6FB"/>
          </a:solidFill>
          <a:ln w="12700">
            <a:solidFill>
              <a:srgbClr val="F59E0B"/>
            </a:solidFill>
            <a:prstDash val="solid"/>
          </a:ln>
        </p:spPr>
        <p:txBody>
          <a:bodyPr/>
          <a:lstStyle/>
          <a:p>
            <a:endParaRPr lang="en-SG"/>
          </a:p>
        </p:txBody>
      </p:sp>
      <p:sp>
        <p:nvSpPr>
          <p:cNvPr id="49" name="Text 47"/>
          <p:cNvSpPr/>
          <p:nvPr/>
        </p:nvSpPr>
        <p:spPr>
          <a:xfrm>
            <a:off x="365760" y="4242816"/>
            <a:ext cx="347472" cy="274320"/>
          </a:xfrm>
          <a:prstGeom prst="rect">
            <a:avLst/>
          </a:prstGeom>
          <a:noFill/>
        </p:spPr>
        <p:txBody>
          <a:bodyPr wrap="square" lIns="0" tIns="0" rIns="0" bIns="0" rtlCol="0" anchor="ctr"/>
          <a:lstStyle/>
          <a:p>
            <a:pPr marL="0" indent="0" algn="ctr">
              <a:buNone/>
            </a:pPr>
            <a:r>
              <a:rPr lang="en-US" sz="900" b="1" dirty="0">
                <a:solidFill>
                  <a:srgbClr val="F59E0B"/>
                </a:solidFill>
                <a:latin typeface="Consolas" panose="020B0609020204030204" pitchFamily="34" charset="0"/>
                <a:ea typeface="Consolas" panose="020B0609020204030204" pitchFamily="34" charset="-122"/>
                <a:cs typeface="Consolas" panose="020B0609020204030204" pitchFamily="34" charset="-120"/>
              </a:rPr>
              <a:t>r--</a:t>
            </a:r>
            <a:endParaRPr lang="en-US" sz="900" dirty="0"/>
          </a:p>
        </p:txBody>
      </p:sp>
      <p:sp>
        <p:nvSpPr>
          <p:cNvPr id="50" name="Text 48"/>
          <p:cNvSpPr/>
          <p:nvPr/>
        </p:nvSpPr>
        <p:spPr>
          <a:xfrm>
            <a:off x="768096" y="4224528"/>
            <a:ext cx="3547872" cy="310896"/>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Others (world): read only. No write or execute.</a:t>
            </a:r>
            <a:endParaRPr lang="en-US" sz="900" dirty="0"/>
          </a:p>
        </p:txBody>
      </p:sp>
      <p:sp>
        <p:nvSpPr>
          <p:cNvPr id="51" name="Shape 49"/>
          <p:cNvSpPr/>
          <p:nvPr/>
        </p:nvSpPr>
        <p:spPr>
          <a:xfrm>
            <a:off x="4736592" y="2743200"/>
            <a:ext cx="4151376" cy="1975104"/>
          </a:xfrm>
          <a:prstGeom prst="rect">
            <a:avLst/>
          </a:prstGeom>
          <a:solidFill>
            <a:srgbClr val="EEF6FB"/>
          </a:solidFill>
          <a:ln w="12700">
            <a:solidFill>
              <a:srgbClr val="10B981"/>
            </a:solidFill>
            <a:prstDash val="solid"/>
          </a:ln>
          <a:effectLst>
            <a:outerShdw blurRad="127000" dist="38100" dir="8100000" algn="bl" rotWithShape="0">
              <a:srgbClr val="000000">
                <a:alpha val="22000"/>
              </a:srgbClr>
            </a:outerShdw>
          </a:effectLst>
        </p:spPr>
        <p:txBody>
          <a:bodyPr/>
          <a:lstStyle/>
          <a:p>
            <a:endParaRPr lang="en-SG"/>
          </a:p>
        </p:txBody>
      </p:sp>
      <p:sp>
        <p:nvSpPr>
          <p:cNvPr id="52" name="Shape 50"/>
          <p:cNvSpPr/>
          <p:nvPr/>
        </p:nvSpPr>
        <p:spPr>
          <a:xfrm>
            <a:off x="4736592" y="2743200"/>
            <a:ext cx="4151376" cy="274320"/>
          </a:xfrm>
          <a:prstGeom prst="rect">
            <a:avLst/>
          </a:prstGeom>
          <a:solidFill>
            <a:srgbClr val="10B981"/>
          </a:solidFill>
          <a:ln w="12700">
            <a:solidFill>
              <a:srgbClr val="10B981"/>
            </a:solidFill>
            <a:prstDash val="solid"/>
          </a:ln>
        </p:spPr>
        <p:txBody>
          <a:bodyPr/>
          <a:lstStyle/>
          <a:p>
            <a:endParaRPr lang="en-SG"/>
          </a:p>
        </p:txBody>
      </p:sp>
      <p:sp>
        <p:nvSpPr>
          <p:cNvPr id="53" name="Text 51"/>
          <p:cNvSpPr/>
          <p:nvPr/>
        </p:nvSpPr>
        <p:spPr>
          <a:xfrm>
            <a:off x="4846320" y="2761488"/>
            <a:ext cx="3931920" cy="237744"/>
          </a:xfrm>
          <a:prstGeom prst="rect">
            <a:avLst/>
          </a:prstGeom>
          <a:noFill/>
        </p:spPr>
        <p:txBody>
          <a:bodyPr wrap="square" lIns="0" tIns="0" rIns="0" bIns="0" rtlCol="0" anchor="ctr"/>
          <a:lstStyle/>
          <a:p>
            <a:pPr marL="0" indent="0">
              <a:buNone/>
            </a:pPr>
            <a:r>
              <a:rPr lang="en-US" sz="11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Forensic Significance</a:t>
            </a:r>
            <a:endParaRPr lang="en-US" sz="1100" dirty="0"/>
          </a:p>
        </p:txBody>
      </p:sp>
      <p:sp>
        <p:nvSpPr>
          <p:cNvPr id="54" name="Shape 52"/>
          <p:cNvSpPr/>
          <p:nvPr/>
        </p:nvSpPr>
        <p:spPr>
          <a:xfrm>
            <a:off x="4846320" y="3108960"/>
            <a:ext cx="128016" cy="128016"/>
          </a:xfrm>
          <a:prstGeom prst="line">
            <a:avLst/>
          </a:prstGeom>
          <a:solidFill>
            <a:srgbClr val="10B981"/>
          </a:solidFill>
          <a:ln w="12700">
            <a:solidFill>
              <a:srgbClr val="10B981"/>
            </a:solidFill>
            <a:prstDash val="solid"/>
          </a:ln>
        </p:spPr>
        <p:txBody>
          <a:bodyPr/>
          <a:lstStyle/>
          <a:p>
            <a:endParaRPr lang="en-SG"/>
          </a:p>
        </p:txBody>
      </p:sp>
      <p:sp>
        <p:nvSpPr>
          <p:cNvPr id="55" name="Text 53"/>
          <p:cNvSpPr/>
          <p:nvPr/>
        </p:nvSpPr>
        <p:spPr>
          <a:xfrm>
            <a:off x="5029200" y="3072384"/>
            <a:ext cx="3767328" cy="274320"/>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Permissions reveal access controls — who could read, write, or execute this file.</a:t>
            </a:r>
            <a:endParaRPr lang="en-US" sz="900" dirty="0"/>
          </a:p>
        </p:txBody>
      </p:sp>
      <p:sp>
        <p:nvSpPr>
          <p:cNvPr id="56" name="Shape 54"/>
          <p:cNvSpPr/>
          <p:nvPr/>
        </p:nvSpPr>
        <p:spPr>
          <a:xfrm>
            <a:off x="4846320" y="3438144"/>
            <a:ext cx="128016" cy="128016"/>
          </a:xfrm>
          <a:prstGeom prst="line">
            <a:avLst/>
          </a:prstGeom>
          <a:solidFill>
            <a:srgbClr val="10B981"/>
          </a:solidFill>
          <a:ln w="12700">
            <a:solidFill>
              <a:srgbClr val="10B981"/>
            </a:solidFill>
            <a:prstDash val="solid"/>
          </a:ln>
        </p:spPr>
        <p:txBody>
          <a:bodyPr/>
          <a:lstStyle/>
          <a:p>
            <a:endParaRPr lang="en-SG"/>
          </a:p>
        </p:txBody>
      </p:sp>
      <p:sp>
        <p:nvSpPr>
          <p:cNvPr id="57" name="Text 55"/>
          <p:cNvSpPr/>
          <p:nvPr/>
        </p:nvSpPr>
        <p:spPr>
          <a:xfrm>
            <a:off x="5029200" y="3401568"/>
            <a:ext cx="3767328" cy="274320"/>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Owner UID and Group GID link the file to a user account. Cross-reference /etc/passwd.</a:t>
            </a:r>
            <a:endParaRPr lang="en-US" sz="900" dirty="0"/>
          </a:p>
        </p:txBody>
      </p:sp>
      <p:sp>
        <p:nvSpPr>
          <p:cNvPr id="58" name="Shape 56"/>
          <p:cNvSpPr/>
          <p:nvPr/>
        </p:nvSpPr>
        <p:spPr>
          <a:xfrm>
            <a:off x="4846320" y="3767328"/>
            <a:ext cx="128016" cy="128016"/>
          </a:xfrm>
          <a:prstGeom prst="line">
            <a:avLst/>
          </a:prstGeom>
          <a:solidFill>
            <a:srgbClr val="10B981"/>
          </a:solidFill>
          <a:ln w="12700">
            <a:solidFill>
              <a:srgbClr val="10B981"/>
            </a:solidFill>
            <a:prstDash val="solid"/>
          </a:ln>
        </p:spPr>
        <p:txBody>
          <a:bodyPr/>
          <a:lstStyle/>
          <a:p>
            <a:endParaRPr lang="en-SG"/>
          </a:p>
        </p:txBody>
      </p:sp>
      <p:sp>
        <p:nvSpPr>
          <p:cNvPr id="59" name="Text 57"/>
          <p:cNvSpPr/>
          <p:nvPr/>
        </p:nvSpPr>
        <p:spPr>
          <a:xfrm>
            <a:off x="5029200" y="3730752"/>
            <a:ext cx="3767328" cy="274320"/>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Last modified = when file content last changed. Does NOT update on read (noatime).</a:t>
            </a:r>
            <a:endParaRPr lang="en-US" sz="900" dirty="0"/>
          </a:p>
        </p:txBody>
      </p:sp>
      <p:sp>
        <p:nvSpPr>
          <p:cNvPr id="60" name="Shape 58"/>
          <p:cNvSpPr/>
          <p:nvPr/>
        </p:nvSpPr>
        <p:spPr>
          <a:xfrm>
            <a:off x="4846320" y="4096512"/>
            <a:ext cx="128016" cy="128016"/>
          </a:xfrm>
          <a:prstGeom prst="line">
            <a:avLst/>
          </a:prstGeom>
          <a:solidFill>
            <a:srgbClr val="10B981"/>
          </a:solidFill>
          <a:ln w="12700">
            <a:solidFill>
              <a:srgbClr val="10B981"/>
            </a:solidFill>
            <a:prstDash val="solid"/>
          </a:ln>
        </p:spPr>
        <p:txBody>
          <a:bodyPr/>
          <a:lstStyle/>
          <a:p>
            <a:endParaRPr lang="en-SG"/>
          </a:p>
        </p:txBody>
      </p:sp>
      <p:sp>
        <p:nvSpPr>
          <p:cNvPr id="61" name="Text 59"/>
          <p:cNvSpPr/>
          <p:nvPr/>
        </p:nvSpPr>
        <p:spPr>
          <a:xfrm>
            <a:off x="5029200" y="4059936"/>
            <a:ext cx="3767328" cy="274320"/>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Link count &gt; 1 = hard links. Same inode referenced from multiple directory entries.</a:t>
            </a:r>
            <a:endParaRPr lang="en-US" sz="900" dirty="0"/>
          </a:p>
        </p:txBody>
      </p:sp>
      <p:sp>
        <p:nvSpPr>
          <p:cNvPr id="62" name="Shape 60"/>
          <p:cNvSpPr/>
          <p:nvPr/>
        </p:nvSpPr>
        <p:spPr>
          <a:xfrm>
            <a:off x="4846320" y="4425696"/>
            <a:ext cx="128016" cy="128016"/>
          </a:xfrm>
          <a:prstGeom prst="line">
            <a:avLst/>
          </a:prstGeom>
          <a:solidFill>
            <a:srgbClr val="10B981"/>
          </a:solidFill>
          <a:ln w="12700">
            <a:solidFill>
              <a:srgbClr val="10B981"/>
            </a:solidFill>
            <a:prstDash val="solid"/>
          </a:ln>
        </p:spPr>
        <p:txBody>
          <a:bodyPr/>
          <a:lstStyle/>
          <a:p>
            <a:endParaRPr lang="en-SG"/>
          </a:p>
        </p:txBody>
      </p:sp>
      <p:sp>
        <p:nvSpPr>
          <p:cNvPr id="63" name="Text 61"/>
          <p:cNvSpPr/>
          <p:nvPr/>
        </p:nvSpPr>
        <p:spPr>
          <a:xfrm>
            <a:off x="5029200" y="4389120"/>
            <a:ext cx="3767328" cy="274320"/>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Use `stat filename` for all four EXT4 timestamps: Access, Modify, Change, Birth.</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0B981"/>
          </a:solidFill>
          <a:ln w="12700">
            <a:solidFill>
              <a:srgbClr val="10B981"/>
            </a:solidFill>
            <a:prstDash val="solid"/>
          </a:ln>
        </p:spPr>
        <p:txBody>
          <a:bodyPr/>
          <a:lstStyle/>
          <a:p>
            <a:endParaRPr lang="en-SG"/>
          </a:p>
        </p:txBody>
      </p:sp>
      <p:sp>
        <p:nvSpPr>
          <p:cNvPr id="3" name="Text 1"/>
          <p:cNvSpPr/>
          <p:nvPr/>
        </p:nvSpPr>
        <p:spPr>
          <a:xfrm>
            <a:off x="248705" y="186690"/>
            <a:ext cx="8631936" cy="548640"/>
          </a:xfrm>
          <a:prstGeom prst="rect">
            <a:avLst/>
          </a:prstGeom>
          <a:noFill/>
        </p:spPr>
        <p:txBody>
          <a:bodyPr wrap="square" lIns="0" tIns="0" rIns="0" bIns="0" rtlCol="0" anchor="ctr"/>
          <a:lstStyle/>
          <a:p>
            <a:pPr marL="0" indent="0">
              <a:buNone/>
            </a:pPr>
            <a:r>
              <a:rPr lang="en-US" sz="15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Apple File Systems — History: MFS → HFS → HFS+ → APFS</a:t>
            </a:r>
            <a:endParaRPr lang="en-US" sz="1500" dirty="0"/>
          </a:p>
        </p:txBody>
      </p:sp>
      <p:sp>
        <p:nvSpPr>
          <p:cNvPr id="4" name="Shape 2"/>
          <p:cNvSpPr/>
          <p:nvPr/>
        </p:nvSpPr>
        <p:spPr>
          <a:xfrm>
            <a:off x="256032" y="73152"/>
            <a:ext cx="1463040" cy="219456"/>
          </a:xfrm>
          <a:prstGeom prst="rect">
            <a:avLst/>
          </a:prstGeom>
          <a:solidFill>
            <a:srgbClr val="10B981"/>
          </a:solidFill>
          <a:ln w="12700">
            <a:solidFill>
              <a:srgbClr val="10B981"/>
            </a:solidFill>
            <a:prstDash val="solid"/>
          </a:ln>
        </p:spPr>
        <p:txBody>
          <a:bodyPr/>
          <a:lstStyle/>
          <a:p>
            <a:endParaRPr lang="en-SG"/>
          </a:p>
        </p:txBody>
      </p:sp>
      <p:sp>
        <p:nvSpPr>
          <p:cNvPr id="5" name="Text 3"/>
          <p:cNvSpPr/>
          <p:nvPr/>
        </p:nvSpPr>
        <p:spPr>
          <a:xfrm>
            <a:off x="256032" y="73152"/>
            <a:ext cx="1463040" cy="219456"/>
          </a:xfrm>
          <a:prstGeom prst="rect">
            <a:avLst/>
          </a:prstGeom>
          <a:noFill/>
        </p:spPr>
        <p:txBody>
          <a:bodyPr wrap="square" lIns="0" tIns="0" rIns="0" bIns="0" rtlCol="0" anchor="ctr"/>
          <a:lstStyle/>
          <a:p>
            <a:pPr marL="0" indent="0" algn="ctr">
              <a:buNone/>
            </a:pPr>
            <a:r>
              <a:rPr lang="en-US" sz="800" b="1" kern="0" spc="100"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SECTION 04 — OTHER</a:t>
            </a:r>
            <a:endParaRPr lang="en-US" sz="800" dirty="0"/>
          </a:p>
        </p:txBody>
      </p:sp>
      <p:sp>
        <p:nvSpPr>
          <p:cNvPr id="10" name="Shape 8"/>
          <p:cNvSpPr/>
          <p:nvPr/>
        </p:nvSpPr>
        <p:spPr>
          <a:xfrm>
            <a:off x="365760" y="2084832"/>
            <a:ext cx="8412480" cy="54864"/>
          </a:xfrm>
          <a:prstGeom prst="rect">
            <a:avLst/>
          </a:prstGeom>
          <a:solidFill>
            <a:srgbClr val="2E4068"/>
          </a:solidFill>
          <a:ln w="12700">
            <a:solidFill>
              <a:srgbClr val="2E4068"/>
            </a:solidFill>
            <a:prstDash val="solid"/>
          </a:ln>
        </p:spPr>
        <p:txBody>
          <a:bodyPr/>
          <a:lstStyle/>
          <a:p>
            <a:endParaRPr lang="en-SG"/>
          </a:p>
        </p:txBody>
      </p:sp>
      <p:sp>
        <p:nvSpPr>
          <p:cNvPr id="11" name="Shape 9"/>
          <p:cNvSpPr/>
          <p:nvPr/>
        </p:nvSpPr>
        <p:spPr>
          <a:xfrm>
            <a:off x="365760" y="822960"/>
            <a:ext cx="2029968" cy="1170432"/>
          </a:xfrm>
          <a:prstGeom prst="rect">
            <a:avLst/>
          </a:prstGeom>
          <a:solidFill>
            <a:srgbClr val="EEF6FB"/>
          </a:solidFill>
          <a:ln w="12700">
            <a:solidFill>
              <a:srgbClr val="6366F1"/>
            </a:solidFill>
            <a:prstDash val="solid"/>
          </a:ln>
          <a:effectLst>
            <a:outerShdw blurRad="127000" dist="38100" dir="8100000" algn="bl" rotWithShape="0">
              <a:srgbClr val="000000">
                <a:alpha val="22000"/>
              </a:srgbClr>
            </a:outerShdw>
          </a:effectLst>
        </p:spPr>
        <p:txBody>
          <a:bodyPr/>
          <a:lstStyle/>
          <a:p>
            <a:endParaRPr lang="en-SG"/>
          </a:p>
        </p:txBody>
      </p:sp>
      <p:sp>
        <p:nvSpPr>
          <p:cNvPr id="12" name="Shape 10"/>
          <p:cNvSpPr/>
          <p:nvPr/>
        </p:nvSpPr>
        <p:spPr>
          <a:xfrm>
            <a:off x="365760" y="822960"/>
            <a:ext cx="2029968" cy="292608"/>
          </a:xfrm>
          <a:prstGeom prst="rect">
            <a:avLst/>
          </a:prstGeom>
          <a:solidFill>
            <a:srgbClr val="6366F1"/>
          </a:solidFill>
          <a:ln w="12700">
            <a:solidFill>
              <a:srgbClr val="6366F1"/>
            </a:solidFill>
            <a:prstDash val="solid"/>
          </a:ln>
        </p:spPr>
        <p:txBody>
          <a:bodyPr/>
          <a:lstStyle/>
          <a:p>
            <a:endParaRPr lang="en-SG"/>
          </a:p>
        </p:txBody>
      </p:sp>
      <p:sp>
        <p:nvSpPr>
          <p:cNvPr id="13" name="Text 11"/>
          <p:cNvSpPr/>
          <p:nvPr/>
        </p:nvSpPr>
        <p:spPr>
          <a:xfrm>
            <a:off x="457200" y="850392"/>
            <a:ext cx="731520" cy="237744"/>
          </a:xfrm>
          <a:prstGeom prst="rect">
            <a:avLst/>
          </a:prstGeom>
          <a:noFill/>
        </p:spPr>
        <p:txBody>
          <a:bodyPr wrap="square" lIns="0" tIns="0" rIns="0" bIns="0" rtlCol="0" anchor="ctr"/>
          <a:lstStyle/>
          <a:p>
            <a:pPr marL="0" indent="0">
              <a:buNone/>
            </a:pPr>
            <a:r>
              <a:rPr lang="en-US" sz="1400" b="1" dirty="0">
                <a:solidFill>
                  <a:srgbClr val="000000"/>
                </a:solidFill>
                <a:latin typeface="Consolas" panose="020B0609020204030204" pitchFamily="34" charset="0"/>
                <a:ea typeface="Consolas" panose="020B0609020204030204" pitchFamily="34" charset="-122"/>
                <a:cs typeface="Consolas" panose="020B0609020204030204" pitchFamily="34" charset="-120"/>
              </a:rPr>
              <a:t>MFS</a:t>
            </a:r>
            <a:endParaRPr lang="en-US" sz="1400" dirty="0"/>
          </a:p>
        </p:txBody>
      </p:sp>
      <p:sp>
        <p:nvSpPr>
          <p:cNvPr id="14" name="Text 12"/>
          <p:cNvSpPr/>
          <p:nvPr/>
        </p:nvSpPr>
        <p:spPr>
          <a:xfrm>
            <a:off x="1664208" y="877824"/>
            <a:ext cx="658368" cy="182880"/>
          </a:xfrm>
          <a:prstGeom prst="rect">
            <a:avLst/>
          </a:prstGeom>
          <a:noFill/>
        </p:spPr>
        <p:txBody>
          <a:bodyPr wrap="square" lIns="0" tIns="0" rIns="0" bIns="0" rtlCol="0" anchor="ctr"/>
          <a:lstStyle/>
          <a:p>
            <a:pPr marL="0" indent="0" algn="r">
              <a:buNone/>
            </a:pPr>
            <a:r>
              <a:rPr lang="en-US" sz="11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1984</a:t>
            </a:r>
            <a:endParaRPr lang="en-US" sz="1100" dirty="0"/>
          </a:p>
        </p:txBody>
      </p:sp>
      <p:sp>
        <p:nvSpPr>
          <p:cNvPr id="15" name="Text 13"/>
          <p:cNvSpPr/>
          <p:nvPr/>
        </p:nvSpPr>
        <p:spPr>
          <a:xfrm>
            <a:off x="457200" y="1152144"/>
            <a:ext cx="1865376" cy="786384"/>
          </a:xfrm>
          <a:prstGeom prst="rect">
            <a:avLst/>
          </a:prstGeom>
          <a:noFill/>
        </p:spPr>
        <p:txBody>
          <a:bodyPr wrap="square" rtlCol="0" anchor="t"/>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Original Mac file system. Flat structure — no nested folders. 12-bit volume. Max 20 MB. Folders were visual only.</a:t>
            </a:r>
            <a:endParaRPr lang="en-US" sz="850" dirty="0"/>
          </a:p>
        </p:txBody>
      </p:sp>
      <p:sp>
        <p:nvSpPr>
          <p:cNvPr id="16" name="Shape 14"/>
          <p:cNvSpPr/>
          <p:nvPr/>
        </p:nvSpPr>
        <p:spPr>
          <a:xfrm>
            <a:off x="1271016" y="1993392"/>
            <a:ext cx="219456" cy="219456"/>
          </a:xfrm>
          <a:prstGeom prst="line">
            <a:avLst/>
          </a:prstGeom>
          <a:solidFill>
            <a:srgbClr val="6366F1"/>
          </a:solidFill>
          <a:ln w="12700">
            <a:solidFill>
              <a:srgbClr val="6366F1"/>
            </a:solidFill>
            <a:prstDash val="solid"/>
          </a:ln>
        </p:spPr>
        <p:txBody>
          <a:bodyPr/>
          <a:lstStyle/>
          <a:p>
            <a:endParaRPr lang="en-SG"/>
          </a:p>
        </p:txBody>
      </p:sp>
      <p:sp>
        <p:nvSpPr>
          <p:cNvPr id="17" name="Text 15"/>
          <p:cNvSpPr/>
          <p:nvPr/>
        </p:nvSpPr>
        <p:spPr>
          <a:xfrm>
            <a:off x="1051560" y="2176272"/>
            <a:ext cx="658368" cy="201168"/>
          </a:xfrm>
          <a:prstGeom prst="rect">
            <a:avLst/>
          </a:prstGeom>
          <a:noFill/>
        </p:spPr>
        <p:txBody>
          <a:bodyPr wrap="square" lIns="0" tIns="0" rIns="0" bIns="0" rtlCol="0" anchor="ctr"/>
          <a:lstStyle/>
          <a:p>
            <a:pPr marL="0" indent="0" algn="ctr">
              <a:buNone/>
            </a:pPr>
            <a:r>
              <a:rPr lang="en-US" sz="900" b="1" dirty="0">
                <a:solidFill>
                  <a:srgbClr val="475569"/>
                </a:solidFill>
                <a:latin typeface="Calibri" panose="020F0502020204030204" pitchFamily="34" charset="0"/>
                <a:ea typeface="Calibri" panose="020F0502020204030204" pitchFamily="34" charset="-122"/>
                <a:cs typeface="Calibri" panose="020F0502020204030204" pitchFamily="34" charset="-120"/>
              </a:rPr>
              <a:t>1984</a:t>
            </a:r>
            <a:endParaRPr lang="en-US" sz="900" dirty="0"/>
          </a:p>
        </p:txBody>
      </p:sp>
      <p:sp>
        <p:nvSpPr>
          <p:cNvPr id="18" name="Shape 16"/>
          <p:cNvSpPr/>
          <p:nvPr/>
        </p:nvSpPr>
        <p:spPr>
          <a:xfrm>
            <a:off x="2523744" y="822960"/>
            <a:ext cx="2029968" cy="1170432"/>
          </a:xfrm>
          <a:prstGeom prst="rect">
            <a:avLst/>
          </a:prstGeom>
          <a:solidFill>
            <a:srgbClr val="EEF6FB"/>
          </a:solidFill>
          <a:ln w="12700">
            <a:solidFill>
              <a:srgbClr val="F59E0B"/>
            </a:solidFill>
            <a:prstDash val="solid"/>
          </a:ln>
          <a:effectLst>
            <a:outerShdw blurRad="127000" dist="38100" dir="8100000" algn="bl" rotWithShape="0">
              <a:srgbClr val="000000">
                <a:alpha val="22000"/>
              </a:srgbClr>
            </a:outerShdw>
          </a:effectLst>
        </p:spPr>
        <p:txBody>
          <a:bodyPr/>
          <a:lstStyle/>
          <a:p>
            <a:endParaRPr lang="en-SG"/>
          </a:p>
        </p:txBody>
      </p:sp>
      <p:sp>
        <p:nvSpPr>
          <p:cNvPr id="19" name="Shape 17"/>
          <p:cNvSpPr/>
          <p:nvPr/>
        </p:nvSpPr>
        <p:spPr>
          <a:xfrm>
            <a:off x="2523744" y="822960"/>
            <a:ext cx="2029968" cy="292608"/>
          </a:xfrm>
          <a:prstGeom prst="rect">
            <a:avLst/>
          </a:prstGeom>
          <a:solidFill>
            <a:srgbClr val="F59E0B"/>
          </a:solidFill>
          <a:ln w="12700">
            <a:solidFill>
              <a:srgbClr val="F59E0B"/>
            </a:solidFill>
            <a:prstDash val="solid"/>
          </a:ln>
        </p:spPr>
        <p:txBody>
          <a:bodyPr/>
          <a:lstStyle/>
          <a:p>
            <a:endParaRPr lang="en-SG"/>
          </a:p>
        </p:txBody>
      </p:sp>
      <p:sp>
        <p:nvSpPr>
          <p:cNvPr id="20" name="Text 18"/>
          <p:cNvSpPr/>
          <p:nvPr/>
        </p:nvSpPr>
        <p:spPr>
          <a:xfrm>
            <a:off x="2615184" y="850392"/>
            <a:ext cx="731520" cy="237744"/>
          </a:xfrm>
          <a:prstGeom prst="rect">
            <a:avLst/>
          </a:prstGeom>
          <a:noFill/>
        </p:spPr>
        <p:txBody>
          <a:bodyPr wrap="square" lIns="0" tIns="0" rIns="0" bIns="0" rtlCol="0" anchor="ctr"/>
          <a:lstStyle/>
          <a:p>
            <a:pPr marL="0" indent="0">
              <a:buNone/>
            </a:pPr>
            <a:r>
              <a:rPr lang="en-US" sz="1400" b="1" dirty="0">
                <a:solidFill>
                  <a:srgbClr val="000000"/>
                </a:solidFill>
                <a:latin typeface="Consolas" panose="020B0609020204030204" pitchFamily="34" charset="0"/>
                <a:ea typeface="Consolas" panose="020B0609020204030204" pitchFamily="34" charset="-122"/>
                <a:cs typeface="Consolas" panose="020B0609020204030204" pitchFamily="34" charset="-120"/>
              </a:rPr>
              <a:t>HFS</a:t>
            </a:r>
            <a:endParaRPr lang="en-US" sz="1400" dirty="0"/>
          </a:p>
        </p:txBody>
      </p:sp>
      <p:sp>
        <p:nvSpPr>
          <p:cNvPr id="21" name="Text 19"/>
          <p:cNvSpPr/>
          <p:nvPr/>
        </p:nvSpPr>
        <p:spPr>
          <a:xfrm>
            <a:off x="3822192" y="877824"/>
            <a:ext cx="658368" cy="182880"/>
          </a:xfrm>
          <a:prstGeom prst="rect">
            <a:avLst/>
          </a:prstGeom>
          <a:noFill/>
        </p:spPr>
        <p:txBody>
          <a:bodyPr wrap="square" lIns="0" tIns="0" rIns="0" bIns="0" rtlCol="0" anchor="ctr"/>
          <a:lstStyle/>
          <a:p>
            <a:pPr marL="0" indent="0" algn="r">
              <a:buNone/>
            </a:pPr>
            <a:r>
              <a:rPr lang="en-US" sz="11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1985</a:t>
            </a:r>
            <a:endParaRPr lang="en-US" sz="1100" dirty="0"/>
          </a:p>
        </p:txBody>
      </p:sp>
      <p:sp>
        <p:nvSpPr>
          <p:cNvPr id="22" name="Text 20"/>
          <p:cNvSpPr/>
          <p:nvPr/>
        </p:nvSpPr>
        <p:spPr>
          <a:xfrm>
            <a:off x="2615184" y="1152144"/>
            <a:ext cx="1865376" cy="786384"/>
          </a:xfrm>
          <a:prstGeom prst="rect">
            <a:avLst/>
          </a:prstGeom>
          <a:noFill/>
        </p:spPr>
        <p:txBody>
          <a:bodyPr wrap="square" rtlCol="0" anchor="t"/>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Hierarchical directories using B-tree catalog. 16-bit allocation. Max 2 GB volume. Foundation for later versions.</a:t>
            </a:r>
            <a:endParaRPr lang="en-US" sz="850" dirty="0"/>
          </a:p>
        </p:txBody>
      </p:sp>
      <p:sp>
        <p:nvSpPr>
          <p:cNvPr id="23" name="Shape 21"/>
          <p:cNvSpPr/>
          <p:nvPr/>
        </p:nvSpPr>
        <p:spPr>
          <a:xfrm>
            <a:off x="3429000" y="1993392"/>
            <a:ext cx="219456" cy="219456"/>
          </a:xfrm>
          <a:prstGeom prst="line">
            <a:avLst/>
          </a:prstGeom>
          <a:solidFill>
            <a:srgbClr val="F59E0B"/>
          </a:solidFill>
          <a:ln w="12700">
            <a:solidFill>
              <a:srgbClr val="F59E0B"/>
            </a:solidFill>
            <a:prstDash val="solid"/>
          </a:ln>
        </p:spPr>
        <p:txBody>
          <a:bodyPr/>
          <a:lstStyle/>
          <a:p>
            <a:endParaRPr lang="en-SG"/>
          </a:p>
        </p:txBody>
      </p:sp>
      <p:sp>
        <p:nvSpPr>
          <p:cNvPr id="24" name="Text 22"/>
          <p:cNvSpPr/>
          <p:nvPr/>
        </p:nvSpPr>
        <p:spPr>
          <a:xfrm>
            <a:off x="3209544" y="2176272"/>
            <a:ext cx="658368" cy="201168"/>
          </a:xfrm>
          <a:prstGeom prst="rect">
            <a:avLst/>
          </a:prstGeom>
          <a:noFill/>
        </p:spPr>
        <p:txBody>
          <a:bodyPr wrap="square" lIns="0" tIns="0" rIns="0" bIns="0" rtlCol="0" anchor="ctr"/>
          <a:lstStyle/>
          <a:p>
            <a:pPr marL="0" indent="0" algn="ctr">
              <a:buNone/>
            </a:pPr>
            <a:r>
              <a:rPr lang="en-US" sz="900" b="1" dirty="0">
                <a:solidFill>
                  <a:srgbClr val="475569"/>
                </a:solidFill>
                <a:latin typeface="Calibri" panose="020F0502020204030204" pitchFamily="34" charset="0"/>
                <a:ea typeface="Calibri" panose="020F0502020204030204" pitchFamily="34" charset="-122"/>
                <a:cs typeface="Calibri" panose="020F0502020204030204" pitchFamily="34" charset="-120"/>
              </a:rPr>
              <a:t>1985</a:t>
            </a:r>
            <a:endParaRPr lang="en-US" sz="900" dirty="0"/>
          </a:p>
        </p:txBody>
      </p:sp>
      <p:sp>
        <p:nvSpPr>
          <p:cNvPr id="25" name="Shape 23"/>
          <p:cNvSpPr/>
          <p:nvPr/>
        </p:nvSpPr>
        <p:spPr>
          <a:xfrm>
            <a:off x="4681728" y="822960"/>
            <a:ext cx="2029968" cy="1170432"/>
          </a:xfrm>
          <a:prstGeom prst="rect">
            <a:avLst/>
          </a:prstGeom>
          <a:solidFill>
            <a:srgbClr val="EEF6FB"/>
          </a:solidFill>
          <a:ln w="12700">
            <a:solidFill>
              <a:srgbClr val="EF4444"/>
            </a:solidFill>
            <a:prstDash val="solid"/>
          </a:ln>
          <a:effectLst>
            <a:outerShdw blurRad="127000" dist="38100" dir="8100000" algn="bl" rotWithShape="0">
              <a:srgbClr val="000000">
                <a:alpha val="22000"/>
              </a:srgbClr>
            </a:outerShdw>
          </a:effectLst>
        </p:spPr>
        <p:txBody>
          <a:bodyPr/>
          <a:lstStyle/>
          <a:p>
            <a:endParaRPr lang="en-SG"/>
          </a:p>
        </p:txBody>
      </p:sp>
      <p:sp>
        <p:nvSpPr>
          <p:cNvPr id="26" name="Shape 24"/>
          <p:cNvSpPr/>
          <p:nvPr/>
        </p:nvSpPr>
        <p:spPr>
          <a:xfrm>
            <a:off x="4681728" y="822960"/>
            <a:ext cx="2029968" cy="292608"/>
          </a:xfrm>
          <a:prstGeom prst="rect">
            <a:avLst/>
          </a:prstGeom>
          <a:solidFill>
            <a:srgbClr val="EF4444"/>
          </a:solidFill>
          <a:ln w="12700">
            <a:solidFill>
              <a:srgbClr val="EF4444"/>
            </a:solidFill>
            <a:prstDash val="solid"/>
          </a:ln>
        </p:spPr>
        <p:txBody>
          <a:bodyPr/>
          <a:lstStyle/>
          <a:p>
            <a:endParaRPr lang="en-SG"/>
          </a:p>
        </p:txBody>
      </p:sp>
      <p:sp>
        <p:nvSpPr>
          <p:cNvPr id="27" name="Text 25"/>
          <p:cNvSpPr/>
          <p:nvPr/>
        </p:nvSpPr>
        <p:spPr>
          <a:xfrm>
            <a:off x="4773168" y="850392"/>
            <a:ext cx="731520" cy="237744"/>
          </a:xfrm>
          <a:prstGeom prst="rect">
            <a:avLst/>
          </a:prstGeom>
          <a:noFill/>
        </p:spPr>
        <p:txBody>
          <a:bodyPr wrap="square" lIns="0" tIns="0" rIns="0" bIns="0" rtlCol="0" anchor="ctr"/>
          <a:lstStyle/>
          <a:p>
            <a:pPr marL="0" indent="0">
              <a:buNone/>
            </a:pPr>
            <a:r>
              <a:rPr lang="en-US" sz="1400" b="1" dirty="0">
                <a:solidFill>
                  <a:srgbClr val="000000"/>
                </a:solidFill>
                <a:latin typeface="Consolas" panose="020B0609020204030204" pitchFamily="34" charset="0"/>
                <a:ea typeface="Consolas" panose="020B0609020204030204" pitchFamily="34" charset="-122"/>
                <a:cs typeface="Consolas" panose="020B0609020204030204" pitchFamily="34" charset="-120"/>
              </a:rPr>
              <a:t>HFS+</a:t>
            </a:r>
            <a:endParaRPr lang="en-US" sz="1400" dirty="0"/>
          </a:p>
        </p:txBody>
      </p:sp>
      <p:sp>
        <p:nvSpPr>
          <p:cNvPr id="28" name="Text 26"/>
          <p:cNvSpPr/>
          <p:nvPr/>
        </p:nvSpPr>
        <p:spPr>
          <a:xfrm>
            <a:off x="5980176" y="877824"/>
            <a:ext cx="658368" cy="182880"/>
          </a:xfrm>
          <a:prstGeom prst="rect">
            <a:avLst/>
          </a:prstGeom>
          <a:noFill/>
        </p:spPr>
        <p:txBody>
          <a:bodyPr wrap="square" lIns="0" tIns="0" rIns="0" bIns="0" rtlCol="0" anchor="ctr"/>
          <a:lstStyle/>
          <a:p>
            <a:pPr marL="0" indent="0" algn="r">
              <a:buNone/>
            </a:pPr>
            <a:r>
              <a:rPr lang="en-US" sz="11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1998</a:t>
            </a:r>
            <a:endParaRPr lang="en-US" sz="1100" dirty="0"/>
          </a:p>
        </p:txBody>
      </p:sp>
      <p:sp>
        <p:nvSpPr>
          <p:cNvPr id="29" name="Text 27"/>
          <p:cNvSpPr/>
          <p:nvPr/>
        </p:nvSpPr>
        <p:spPr>
          <a:xfrm>
            <a:off x="4773168" y="1152144"/>
            <a:ext cx="1865376" cy="786384"/>
          </a:xfrm>
          <a:prstGeom prst="rect">
            <a:avLst/>
          </a:prstGeom>
          <a:noFill/>
        </p:spPr>
        <p:txBody>
          <a:bodyPr wrap="square" rtlCol="0" anchor="t"/>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32-bit allocation. Unicode filenames. Journalling added in 2002. Used through macOS Catalina on HDDs/HDDs.</a:t>
            </a:r>
            <a:endParaRPr lang="en-US" sz="850" dirty="0"/>
          </a:p>
        </p:txBody>
      </p:sp>
      <p:sp>
        <p:nvSpPr>
          <p:cNvPr id="30" name="Shape 28"/>
          <p:cNvSpPr/>
          <p:nvPr/>
        </p:nvSpPr>
        <p:spPr>
          <a:xfrm>
            <a:off x="5586984" y="1993392"/>
            <a:ext cx="219456" cy="219456"/>
          </a:xfrm>
          <a:prstGeom prst="line">
            <a:avLst/>
          </a:prstGeom>
          <a:solidFill>
            <a:srgbClr val="EF4444"/>
          </a:solidFill>
          <a:ln w="12700">
            <a:solidFill>
              <a:srgbClr val="EF4444"/>
            </a:solidFill>
            <a:prstDash val="solid"/>
          </a:ln>
        </p:spPr>
        <p:txBody>
          <a:bodyPr/>
          <a:lstStyle/>
          <a:p>
            <a:endParaRPr lang="en-SG"/>
          </a:p>
        </p:txBody>
      </p:sp>
      <p:sp>
        <p:nvSpPr>
          <p:cNvPr id="31" name="Text 29"/>
          <p:cNvSpPr/>
          <p:nvPr/>
        </p:nvSpPr>
        <p:spPr>
          <a:xfrm>
            <a:off x="5367528" y="2176272"/>
            <a:ext cx="658368" cy="201168"/>
          </a:xfrm>
          <a:prstGeom prst="rect">
            <a:avLst/>
          </a:prstGeom>
          <a:noFill/>
        </p:spPr>
        <p:txBody>
          <a:bodyPr wrap="square" lIns="0" tIns="0" rIns="0" bIns="0" rtlCol="0" anchor="ctr"/>
          <a:lstStyle/>
          <a:p>
            <a:pPr marL="0" indent="0" algn="ctr">
              <a:buNone/>
            </a:pPr>
            <a:r>
              <a:rPr lang="en-US" sz="900" b="1" dirty="0">
                <a:solidFill>
                  <a:srgbClr val="475569"/>
                </a:solidFill>
                <a:latin typeface="Calibri" panose="020F0502020204030204" pitchFamily="34" charset="0"/>
                <a:ea typeface="Calibri" panose="020F0502020204030204" pitchFamily="34" charset="-122"/>
                <a:cs typeface="Calibri" panose="020F0502020204030204" pitchFamily="34" charset="-120"/>
              </a:rPr>
              <a:t>1998</a:t>
            </a:r>
            <a:endParaRPr lang="en-US" sz="900" dirty="0"/>
          </a:p>
        </p:txBody>
      </p:sp>
      <p:sp>
        <p:nvSpPr>
          <p:cNvPr id="32" name="Shape 30"/>
          <p:cNvSpPr/>
          <p:nvPr/>
        </p:nvSpPr>
        <p:spPr>
          <a:xfrm>
            <a:off x="6839712" y="822960"/>
            <a:ext cx="2029968" cy="1170432"/>
          </a:xfrm>
          <a:prstGeom prst="rect">
            <a:avLst/>
          </a:prstGeom>
          <a:solidFill>
            <a:srgbClr val="EEF6FB"/>
          </a:solidFill>
          <a:ln w="12700">
            <a:solidFill>
              <a:srgbClr val="10B981"/>
            </a:solidFill>
            <a:prstDash val="solid"/>
          </a:ln>
          <a:effectLst>
            <a:outerShdw blurRad="127000" dist="38100" dir="8100000" algn="bl" rotWithShape="0">
              <a:srgbClr val="000000">
                <a:alpha val="22000"/>
              </a:srgbClr>
            </a:outerShdw>
          </a:effectLst>
        </p:spPr>
        <p:txBody>
          <a:bodyPr/>
          <a:lstStyle/>
          <a:p>
            <a:endParaRPr lang="en-SG"/>
          </a:p>
        </p:txBody>
      </p:sp>
      <p:sp>
        <p:nvSpPr>
          <p:cNvPr id="33" name="Shape 31"/>
          <p:cNvSpPr/>
          <p:nvPr/>
        </p:nvSpPr>
        <p:spPr>
          <a:xfrm>
            <a:off x="6839712" y="822960"/>
            <a:ext cx="2029968" cy="292608"/>
          </a:xfrm>
          <a:prstGeom prst="rect">
            <a:avLst/>
          </a:prstGeom>
          <a:solidFill>
            <a:srgbClr val="10B981"/>
          </a:solidFill>
          <a:ln w="12700">
            <a:solidFill>
              <a:srgbClr val="10B981"/>
            </a:solidFill>
            <a:prstDash val="solid"/>
          </a:ln>
        </p:spPr>
        <p:txBody>
          <a:bodyPr/>
          <a:lstStyle/>
          <a:p>
            <a:endParaRPr lang="en-SG"/>
          </a:p>
        </p:txBody>
      </p:sp>
      <p:sp>
        <p:nvSpPr>
          <p:cNvPr id="34" name="Text 32"/>
          <p:cNvSpPr/>
          <p:nvPr/>
        </p:nvSpPr>
        <p:spPr>
          <a:xfrm>
            <a:off x="6931152" y="850392"/>
            <a:ext cx="731520" cy="237744"/>
          </a:xfrm>
          <a:prstGeom prst="rect">
            <a:avLst/>
          </a:prstGeom>
          <a:noFill/>
        </p:spPr>
        <p:txBody>
          <a:bodyPr wrap="square" lIns="0" tIns="0" rIns="0" bIns="0" rtlCol="0" anchor="ctr"/>
          <a:lstStyle/>
          <a:p>
            <a:pPr marL="0" indent="0">
              <a:buNone/>
            </a:pPr>
            <a:r>
              <a:rPr lang="en-US" sz="1400" b="1" dirty="0">
                <a:solidFill>
                  <a:srgbClr val="000000"/>
                </a:solidFill>
                <a:latin typeface="Consolas" panose="020B0609020204030204" pitchFamily="34" charset="0"/>
                <a:ea typeface="Consolas" panose="020B0609020204030204" pitchFamily="34" charset="-122"/>
                <a:cs typeface="Consolas" panose="020B0609020204030204" pitchFamily="34" charset="-120"/>
              </a:rPr>
              <a:t>APFS</a:t>
            </a:r>
            <a:endParaRPr lang="en-US" sz="1400" dirty="0"/>
          </a:p>
        </p:txBody>
      </p:sp>
      <p:sp>
        <p:nvSpPr>
          <p:cNvPr id="35" name="Text 33"/>
          <p:cNvSpPr/>
          <p:nvPr/>
        </p:nvSpPr>
        <p:spPr>
          <a:xfrm>
            <a:off x="8138160" y="877824"/>
            <a:ext cx="658368" cy="182880"/>
          </a:xfrm>
          <a:prstGeom prst="rect">
            <a:avLst/>
          </a:prstGeom>
          <a:noFill/>
        </p:spPr>
        <p:txBody>
          <a:bodyPr wrap="square" lIns="0" tIns="0" rIns="0" bIns="0" rtlCol="0" anchor="ctr"/>
          <a:lstStyle/>
          <a:p>
            <a:pPr marL="0" indent="0" algn="r">
              <a:buNone/>
            </a:pPr>
            <a:r>
              <a:rPr lang="en-US" sz="11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2017</a:t>
            </a:r>
            <a:endParaRPr lang="en-US" sz="1100" dirty="0"/>
          </a:p>
        </p:txBody>
      </p:sp>
      <p:sp>
        <p:nvSpPr>
          <p:cNvPr id="36" name="Text 34"/>
          <p:cNvSpPr/>
          <p:nvPr/>
        </p:nvSpPr>
        <p:spPr>
          <a:xfrm>
            <a:off x="6931152" y="1152144"/>
            <a:ext cx="1865376" cy="786384"/>
          </a:xfrm>
          <a:prstGeom prst="rect">
            <a:avLst/>
          </a:prstGeom>
          <a:noFill/>
        </p:spPr>
        <p:txBody>
          <a:bodyPr wrap="square" rtlCol="0" anchor="t"/>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SSD-optimised. Copy-on-write. Native encryption. Snapshots. Clones. 64-bit inodes. Default on all Apple platforms.</a:t>
            </a:r>
            <a:endParaRPr lang="en-US" sz="850" dirty="0"/>
          </a:p>
        </p:txBody>
      </p:sp>
      <p:sp>
        <p:nvSpPr>
          <p:cNvPr id="37" name="Shape 35"/>
          <p:cNvSpPr/>
          <p:nvPr/>
        </p:nvSpPr>
        <p:spPr>
          <a:xfrm>
            <a:off x="7744968" y="1993392"/>
            <a:ext cx="219456" cy="219456"/>
          </a:xfrm>
          <a:prstGeom prst="line">
            <a:avLst/>
          </a:prstGeom>
          <a:solidFill>
            <a:srgbClr val="10B981"/>
          </a:solidFill>
          <a:ln w="12700">
            <a:solidFill>
              <a:srgbClr val="10B981"/>
            </a:solidFill>
            <a:prstDash val="solid"/>
          </a:ln>
        </p:spPr>
        <p:txBody>
          <a:bodyPr/>
          <a:lstStyle/>
          <a:p>
            <a:endParaRPr lang="en-SG"/>
          </a:p>
        </p:txBody>
      </p:sp>
      <p:sp>
        <p:nvSpPr>
          <p:cNvPr id="38" name="Text 36"/>
          <p:cNvSpPr/>
          <p:nvPr/>
        </p:nvSpPr>
        <p:spPr>
          <a:xfrm>
            <a:off x="7525512" y="2176272"/>
            <a:ext cx="658368" cy="201168"/>
          </a:xfrm>
          <a:prstGeom prst="rect">
            <a:avLst/>
          </a:prstGeom>
          <a:noFill/>
        </p:spPr>
        <p:txBody>
          <a:bodyPr wrap="square" lIns="0" tIns="0" rIns="0" bIns="0" rtlCol="0" anchor="ctr"/>
          <a:lstStyle/>
          <a:p>
            <a:pPr marL="0" indent="0" algn="ctr">
              <a:buNone/>
            </a:pPr>
            <a:r>
              <a:rPr lang="en-US" sz="900" b="1" dirty="0">
                <a:solidFill>
                  <a:srgbClr val="475569"/>
                </a:solidFill>
                <a:latin typeface="Calibri" panose="020F0502020204030204" pitchFamily="34" charset="0"/>
                <a:ea typeface="Calibri" panose="020F0502020204030204" pitchFamily="34" charset="-122"/>
                <a:cs typeface="Calibri" panose="020F0502020204030204" pitchFamily="34" charset="-120"/>
              </a:rPr>
              <a:t>2017</a:t>
            </a:r>
            <a:endParaRPr lang="en-US" sz="900" dirty="0"/>
          </a:p>
        </p:txBody>
      </p:sp>
      <p:sp>
        <p:nvSpPr>
          <p:cNvPr id="39" name="Shape 37"/>
          <p:cNvSpPr/>
          <p:nvPr/>
        </p:nvSpPr>
        <p:spPr>
          <a:xfrm>
            <a:off x="256032" y="2450592"/>
            <a:ext cx="8631936" cy="2267712"/>
          </a:xfrm>
          <a:prstGeom prst="rect">
            <a:avLst/>
          </a:prstGeom>
          <a:solidFill>
            <a:srgbClr val="EEF6FB"/>
          </a:solidFill>
          <a:ln w="12700">
            <a:solidFill>
              <a:srgbClr val="2E4068"/>
            </a:solidFill>
            <a:prstDash val="solid"/>
          </a:ln>
          <a:effectLst>
            <a:outerShdw blurRad="127000" dist="38100" dir="8100000" algn="bl" rotWithShape="0">
              <a:srgbClr val="000000">
                <a:alpha val="22000"/>
              </a:srgbClr>
            </a:outerShdw>
          </a:effectLst>
        </p:spPr>
        <p:txBody>
          <a:bodyPr/>
          <a:lstStyle/>
          <a:p>
            <a:endParaRPr lang="en-SG"/>
          </a:p>
        </p:txBody>
      </p:sp>
      <p:sp>
        <p:nvSpPr>
          <p:cNvPr id="40" name="Shape 38"/>
          <p:cNvSpPr/>
          <p:nvPr/>
        </p:nvSpPr>
        <p:spPr>
          <a:xfrm>
            <a:off x="256032" y="2450592"/>
            <a:ext cx="164592" cy="2267712"/>
          </a:xfrm>
          <a:prstGeom prst="rect">
            <a:avLst/>
          </a:prstGeom>
          <a:solidFill>
            <a:srgbClr val="10B981"/>
          </a:solidFill>
          <a:ln w="12700">
            <a:solidFill>
              <a:srgbClr val="10B981"/>
            </a:solidFill>
            <a:prstDash val="solid"/>
          </a:ln>
        </p:spPr>
        <p:txBody>
          <a:bodyPr/>
          <a:lstStyle/>
          <a:p>
            <a:endParaRPr lang="en-SG"/>
          </a:p>
        </p:txBody>
      </p:sp>
      <p:sp>
        <p:nvSpPr>
          <p:cNvPr id="41" name="Text 39"/>
          <p:cNvSpPr/>
          <p:nvPr/>
        </p:nvSpPr>
        <p:spPr>
          <a:xfrm>
            <a:off x="475488" y="2487168"/>
            <a:ext cx="8229600" cy="256032"/>
          </a:xfrm>
          <a:prstGeom prst="rect">
            <a:avLst/>
          </a:prstGeom>
          <a:noFill/>
        </p:spPr>
        <p:txBody>
          <a:bodyPr wrap="square" lIns="0" tIns="0" rIns="0" bIns="0" rtlCol="0" anchor="ctr"/>
          <a:lstStyle/>
          <a:p>
            <a:pPr marL="0" indent="0">
              <a:buNone/>
            </a:pPr>
            <a:r>
              <a:rPr lang="en-US" sz="11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Apple File Systems in Forensic Investigations</a:t>
            </a:r>
            <a:endParaRPr lang="en-US" sz="1100" dirty="0"/>
          </a:p>
        </p:txBody>
      </p:sp>
      <p:sp>
        <p:nvSpPr>
          <p:cNvPr id="42" name="Text 40"/>
          <p:cNvSpPr/>
          <p:nvPr/>
        </p:nvSpPr>
        <p:spPr>
          <a:xfrm>
            <a:off x="475488" y="2816352"/>
            <a:ext cx="1261872" cy="347472"/>
          </a:xfrm>
          <a:prstGeom prst="rect">
            <a:avLst/>
          </a:prstGeom>
          <a:noFill/>
        </p:spPr>
        <p:txBody>
          <a:bodyPr wrap="square" lIns="0" tIns="0" rIns="0" bIns="0" rtlCol="0" anchor="ctr"/>
          <a:lstStyle/>
          <a:p>
            <a:pPr marL="0" indent="0">
              <a:buNone/>
            </a:pPr>
            <a:r>
              <a:rPr lang="en-US" sz="9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HFS+ artefacts:</a:t>
            </a:r>
            <a:endParaRPr lang="en-US" sz="950" dirty="0"/>
          </a:p>
        </p:txBody>
      </p:sp>
      <p:sp>
        <p:nvSpPr>
          <p:cNvPr id="43" name="Text 41"/>
          <p:cNvSpPr/>
          <p:nvPr/>
        </p:nvSpPr>
        <p:spPr>
          <a:xfrm>
            <a:off x="1773936" y="2816352"/>
            <a:ext cx="7022592" cy="365760"/>
          </a:xfrm>
          <a:prstGeom prst="rect">
            <a:avLst/>
          </a:prstGeom>
          <a:noFill/>
        </p:spPr>
        <p:txBody>
          <a:bodyPr wrap="square" rtlCol="0" anchor="ctr"/>
          <a:lstStyle/>
          <a:p>
            <a:pPr marL="0" indent="0">
              <a:buNone/>
            </a:pPr>
            <a:r>
              <a:rPr lang="en-US" sz="950" dirty="0">
                <a:solidFill>
                  <a:srgbClr val="1A1A2E"/>
                </a:solidFill>
                <a:latin typeface="Calibri" panose="020F0502020204030204" pitchFamily="34" charset="0"/>
                <a:ea typeface="Calibri" panose="020F0502020204030204" pitchFamily="34" charset="-122"/>
                <a:cs typeface="Calibri" panose="020F0502020204030204" pitchFamily="34" charset="-120"/>
              </a:rPr>
              <a:t>Still found on older Macs, Time Machine backups. Autopsy and TSK support HFS+. Deleted files traceable via HFS+ journal and catalog B-tree.</a:t>
            </a:r>
            <a:endParaRPr lang="en-US" sz="950" dirty="0"/>
          </a:p>
        </p:txBody>
      </p:sp>
      <p:sp>
        <p:nvSpPr>
          <p:cNvPr id="44" name="Text 42"/>
          <p:cNvSpPr/>
          <p:nvPr/>
        </p:nvSpPr>
        <p:spPr>
          <a:xfrm>
            <a:off x="475488" y="3255264"/>
            <a:ext cx="1261872" cy="347472"/>
          </a:xfrm>
          <a:prstGeom prst="rect">
            <a:avLst/>
          </a:prstGeom>
          <a:noFill/>
        </p:spPr>
        <p:txBody>
          <a:bodyPr wrap="square" lIns="0" tIns="0" rIns="0" bIns="0" rtlCol="0" anchor="ctr"/>
          <a:lstStyle/>
          <a:p>
            <a:pPr marL="0" indent="0">
              <a:buNone/>
            </a:pPr>
            <a:r>
              <a:rPr lang="en-US" sz="9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APFS artefacts:</a:t>
            </a:r>
            <a:endParaRPr lang="en-US" sz="950" dirty="0"/>
          </a:p>
        </p:txBody>
      </p:sp>
      <p:sp>
        <p:nvSpPr>
          <p:cNvPr id="45" name="Text 43"/>
          <p:cNvSpPr/>
          <p:nvPr/>
        </p:nvSpPr>
        <p:spPr>
          <a:xfrm>
            <a:off x="1773936" y="3255264"/>
            <a:ext cx="7022592" cy="365760"/>
          </a:xfrm>
          <a:prstGeom prst="rect">
            <a:avLst/>
          </a:prstGeom>
          <a:noFill/>
        </p:spPr>
        <p:txBody>
          <a:bodyPr wrap="square" rtlCol="0" anchor="ctr"/>
          <a:lstStyle/>
          <a:p>
            <a:pPr marL="0" indent="0">
              <a:buNone/>
            </a:pPr>
            <a:r>
              <a:rPr lang="en-US" sz="950" dirty="0">
                <a:solidFill>
                  <a:srgbClr val="1A1A2E"/>
                </a:solidFill>
                <a:latin typeface="Calibri" panose="020F0502020204030204" pitchFamily="34" charset="0"/>
                <a:ea typeface="Calibri" panose="020F0502020204030204" pitchFamily="34" charset="-122"/>
                <a:cs typeface="Calibri" panose="020F0502020204030204" pitchFamily="34" charset="-120"/>
              </a:rPr>
              <a:t>All iOS, macOS, tvOS, watchOS devices since 2017. 64-bit inodes, CoW, and snapshots generate rich forensic artefacts. Snapshot analysis can recover deleted data.</a:t>
            </a:r>
            <a:endParaRPr lang="en-US" sz="950" dirty="0"/>
          </a:p>
        </p:txBody>
      </p:sp>
      <p:sp>
        <p:nvSpPr>
          <p:cNvPr id="46" name="Text 44"/>
          <p:cNvSpPr/>
          <p:nvPr/>
        </p:nvSpPr>
        <p:spPr>
          <a:xfrm>
            <a:off x="475488" y="3694176"/>
            <a:ext cx="1261872" cy="347472"/>
          </a:xfrm>
          <a:prstGeom prst="rect">
            <a:avLst/>
          </a:prstGeom>
          <a:noFill/>
        </p:spPr>
        <p:txBody>
          <a:bodyPr wrap="square" lIns="0" tIns="0" rIns="0" bIns="0" rtlCol="0" anchor="ctr"/>
          <a:lstStyle/>
          <a:p>
            <a:pPr marL="0" indent="0">
              <a:buNone/>
            </a:pPr>
            <a:r>
              <a:rPr lang="en-US" sz="9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Encryption:</a:t>
            </a:r>
            <a:endParaRPr lang="en-US" sz="950" dirty="0"/>
          </a:p>
        </p:txBody>
      </p:sp>
      <p:sp>
        <p:nvSpPr>
          <p:cNvPr id="47" name="Text 45"/>
          <p:cNvSpPr/>
          <p:nvPr/>
        </p:nvSpPr>
        <p:spPr>
          <a:xfrm>
            <a:off x="1773936" y="3694176"/>
            <a:ext cx="7022592" cy="365760"/>
          </a:xfrm>
          <a:prstGeom prst="rect">
            <a:avLst/>
          </a:prstGeom>
          <a:noFill/>
        </p:spPr>
        <p:txBody>
          <a:bodyPr wrap="square" rtlCol="0" anchor="ctr"/>
          <a:lstStyle/>
          <a:p>
            <a:pPr marL="0" indent="0">
              <a:buNone/>
            </a:pPr>
            <a:r>
              <a:rPr lang="en-US" sz="950" dirty="0">
                <a:solidFill>
                  <a:srgbClr val="1A1A2E"/>
                </a:solidFill>
                <a:latin typeface="Calibri" panose="020F0502020204030204" pitchFamily="34" charset="0"/>
                <a:ea typeface="Calibri" panose="020F0502020204030204" pitchFamily="34" charset="-122"/>
                <a:cs typeface="Calibri" panose="020F0502020204030204" pitchFamily="34" charset="-120"/>
              </a:rPr>
              <a:t>APFS supports per-file and full-volume encryption. iOS uses hardware-backed keys via Secure Enclave — data may be inaccessible without the device passcode.</a:t>
            </a:r>
            <a:endParaRPr lang="en-US" sz="950" dirty="0"/>
          </a:p>
        </p:txBody>
      </p:sp>
      <p:sp>
        <p:nvSpPr>
          <p:cNvPr id="48" name="Text 46"/>
          <p:cNvSpPr/>
          <p:nvPr/>
        </p:nvSpPr>
        <p:spPr>
          <a:xfrm>
            <a:off x="475488" y="4133088"/>
            <a:ext cx="1261872" cy="347472"/>
          </a:xfrm>
          <a:prstGeom prst="rect">
            <a:avLst/>
          </a:prstGeom>
          <a:noFill/>
        </p:spPr>
        <p:txBody>
          <a:bodyPr wrap="square" lIns="0" tIns="0" rIns="0" bIns="0" rtlCol="0" anchor="ctr"/>
          <a:lstStyle/>
          <a:p>
            <a:pPr marL="0" indent="0">
              <a:buNone/>
            </a:pPr>
            <a:r>
              <a:rPr lang="en-US" sz="9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Tool support:</a:t>
            </a:r>
            <a:endParaRPr lang="en-US" sz="950" dirty="0"/>
          </a:p>
        </p:txBody>
      </p:sp>
      <p:sp>
        <p:nvSpPr>
          <p:cNvPr id="49" name="Text 47"/>
          <p:cNvSpPr/>
          <p:nvPr/>
        </p:nvSpPr>
        <p:spPr>
          <a:xfrm>
            <a:off x="1773936" y="4133088"/>
            <a:ext cx="7022592" cy="365760"/>
          </a:xfrm>
          <a:prstGeom prst="rect">
            <a:avLst/>
          </a:prstGeom>
          <a:noFill/>
        </p:spPr>
        <p:txBody>
          <a:bodyPr wrap="square" rtlCol="0" anchor="ctr"/>
          <a:lstStyle/>
          <a:p>
            <a:pPr marL="0" indent="0">
              <a:buNone/>
            </a:pPr>
            <a:r>
              <a:rPr lang="en-US" sz="950" dirty="0">
                <a:solidFill>
                  <a:srgbClr val="1A1A2E"/>
                </a:solidFill>
                <a:latin typeface="Calibri" panose="020F0502020204030204" pitchFamily="34" charset="0"/>
                <a:ea typeface="Calibri" panose="020F0502020204030204" pitchFamily="34" charset="-122"/>
                <a:cs typeface="Calibri" panose="020F0502020204030204" pitchFamily="34" charset="-120"/>
              </a:rPr>
              <a:t>Cellebrite, Magnet AXIOM, BlackLight, APOLLO support APFS. Open-source: apfs-fuse, libapfs. Autopsy via The Sleuth Kit plugin.</a:t>
            </a:r>
            <a:endParaRPr lang="en-US" sz="9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0B981"/>
          </a:solidFill>
          <a:ln w="12700">
            <a:solidFill>
              <a:srgbClr val="10B981"/>
            </a:solidFill>
            <a:prstDash val="solid"/>
          </a:ln>
        </p:spPr>
        <p:txBody>
          <a:bodyPr/>
          <a:lstStyle/>
          <a:p>
            <a:endParaRPr lang="en-SG"/>
          </a:p>
        </p:txBody>
      </p:sp>
      <p:sp>
        <p:nvSpPr>
          <p:cNvPr id="3" name="Text 1"/>
          <p:cNvSpPr/>
          <p:nvPr/>
        </p:nvSpPr>
        <p:spPr>
          <a:xfrm>
            <a:off x="248705" y="186690"/>
            <a:ext cx="8631936" cy="548640"/>
          </a:xfrm>
          <a:prstGeom prst="rect">
            <a:avLst/>
          </a:prstGeom>
          <a:noFill/>
        </p:spPr>
        <p:txBody>
          <a:bodyPr wrap="square" lIns="0" tIns="0" rIns="0" bIns="0" rtlCol="0" anchor="ctr"/>
          <a:lstStyle/>
          <a:p>
            <a:pPr marL="0" indent="0">
              <a:buNone/>
            </a:pPr>
            <a:r>
              <a:rPr lang="en-US" sz="18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APFS — Unique Traits &amp; Forensic Characteristics</a:t>
            </a:r>
            <a:endParaRPr lang="en-US" sz="1800" dirty="0"/>
          </a:p>
        </p:txBody>
      </p:sp>
      <p:sp>
        <p:nvSpPr>
          <p:cNvPr id="4" name="Shape 2"/>
          <p:cNvSpPr/>
          <p:nvPr/>
        </p:nvSpPr>
        <p:spPr>
          <a:xfrm>
            <a:off x="256032" y="73152"/>
            <a:ext cx="1463040" cy="219456"/>
          </a:xfrm>
          <a:prstGeom prst="rect">
            <a:avLst/>
          </a:prstGeom>
          <a:solidFill>
            <a:srgbClr val="10B981"/>
          </a:solidFill>
          <a:ln w="12700">
            <a:solidFill>
              <a:srgbClr val="10B981"/>
            </a:solidFill>
            <a:prstDash val="solid"/>
          </a:ln>
        </p:spPr>
        <p:txBody>
          <a:bodyPr/>
          <a:lstStyle/>
          <a:p>
            <a:endParaRPr lang="en-SG"/>
          </a:p>
        </p:txBody>
      </p:sp>
      <p:sp>
        <p:nvSpPr>
          <p:cNvPr id="5" name="Text 3"/>
          <p:cNvSpPr/>
          <p:nvPr/>
        </p:nvSpPr>
        <p:spPr>
          <a:xfrm>
            <a:off x="256032" y="73152"/>
            <a:ext cx="1463040" cy="219456"/>
          </a:xfrm>
          <a:prstGeom prst="rect">
            <a:avLst/>
          </a:prstGeom>
          <a:noFill/>
        </p:spPr>
        <p:txBody>
          <a:bodyPr wrap="square" lIns="0" tIns="0" rIns="0" bIns="0" rtlCol="0" anchor="ctr"/>
          <a:lstStyle/>
          <a:p>
            <a:pPr marL="0" indent="0" algn="ctr">
              <a:buNone/>
            </a:pPr>
            <a:r>
              <a:rPr lang="en-US" sz="800" b="1" kern="0" spc="100"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SECTION 04 — OTHER</a:t>
            </a:r>
            <a:endParaRPr lang="en-US" sz="800" dirty="0"/>
          </a:p>
        </p:txBody>
      </p:sp>
      <p:sp>
        <p:nvSpPr>
          <p:cNvPr id="10" name="Shape 8"/>
          <p:cNvSpPr/>
          <p:nvPr/>
        </p:nvSpPr>
        <p:spPr>
          <a:xfrm>
            <a:off x="256032" y="822960"/>
            <a:ext cx="2761488" cy="1792224"/>
          </a:xfrm>
          <a:prstGeom prst="rect">
            <a:avLst/>
          </a:prstGeom>
          <a:solidFill>
            <a:srgbClr val="EEF6FB"/>
          </a:solidFill>
          <a:ln w="12700">
            <a:solidFill>
              <a:srgbClr val="10B981"/>
            </a:solidFill>
            <a:prstDash val="solid"/>
          </a:ln>
          <a:effectLst>
            <a:outerShdw blurRad="127000" dist="38100" dir="8100000" algn="bl" rotWithShape="0">
              <a:srgbClr val="000000">
                <a:alpha val="22000"/>
              </a:srgbClr>
            </a:outerShdw>
          </a:effectLst>
        </p:spPr>
        <p:txBody>
          <a:bodyPr/>
          <a:lstStyle/>
          <a:p>
            <a:endParaRPr lang="en-SG"/>
          </a:p>
        </p:txBody>
      </p:sp>
      <p:sp>
        <p:nvSpPr>
          <p:cNvPr id="11" name="Shape 9"/>
          <p:cNvSpPr/>
          <p:nvPr/>
        </p:nvSpPr>
        <p:spPr>
          <a:xfrm>
            <a:off x="256032" y="822960"/>
            <a:ext cx="164592" cy="1792224"/>
          </a:xfrm>
          <a:prstGeom prst="rect">
            <a:avLst/>
          </a:prstGeom>
          <a:solidFill>
            <a:srgbClr val="10B981"/>
          </a:solidFill>
          <a:ln w="12700">
            <a:solidFill>
              <a:srgbClr val="10B981"/>
            </a:solidFill>
            <a:prstDash val="solid"/>
          </a:ln>
        </p:spPr>
        <p:txBody>
          <a:bodyPr/>
          <a:lstStyle/>
          <a:p>
            <a:endParaRPr lang="en-SG"/>
          </a:p>
        </p:txBody>
      </p:sp>
      <p:sp>
        <p:nvSpPr>
          <p:cNvPr id="12" name="Shape 10"/>
          <p:cNvSpPr/>
          <p:nvPr/>
        </p:nvSpPr>
        <p:spPr>
          <a:xfrm>
            <a:off x="493776" y="932688"/>
            <a:ext cx="274320" cy="274320"/>
          </a:xfrm>
          <a:prstGeom prst="line">
            <a:avLst/>
          </a:prstGeom>
          <a:solidFill>
            <a:srgbClr val="10B981">
              <a:alpha val="80000"/>
            </a:srgbClr>
          </a:solidFill>
          <a:ln w="12700">
            <a:solidFill>
              <a:srgbClr val="10B981"/>
            </a:solidFill>
            <a:prstDash val="solid"/>
          </a:ln>
        </p:spPr>
        <p:txBody>
          <a:bodyPr/>
          <a:lstStyle/>
          <a:p>
            <a:endParaRPr lang="en-SG"/>
          </a:p>
        </p:txBody>
      </p:sp>
      <p:sp>
        <p:nvSpPr>
          <p:cNvPr id="13" name="Text 11"/>
          <p:cNvSpPr/>
          <p:nvPr/>
        </p:nvSpPr>
        <p:spPr>
          <a:xfrm>
            <a:off x="493776" y="950976"/>
            <a:ext cx="274320" cy="201168"/>
          </a:xfrm>
          <a:prstGeom prst="rect">
            <a:avLst/>
          </a:prstGeom>
          <a:noFill/>
        </p:spPr>
        <p:txBody>
          <a:bodyPr wrap="square" lIns="0" tIns="0" rIns="0" bIns="0" rtlCol="0" anchor="ctr"/>
          <a:lstStyle/>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01</a:t>
            </a:r>
            <a:endParaRPr lang="en-US" sz="850" dirty="0"/>
          </a:p>
        </p:txBody>
      </p:sp>
      <p:sp>
        <p:nvSpPr>
          <p:cNvPr id="14" name="Text 12"/>
          <p:cNvSpPr/>
          <p:nvPr/>
        </p:nvSpPr>
        <p:spPr>
          <a:xfrm>
            <a:off x="822960" y="914400"/>
            <a:ext cx="2066544" cy="256032"/>
          </a:xfrm>
          <a:prstGeom prst="rect">
            <a:avLst/>
          </a:prstGeom>
          <a:noFill/>
        </p:spPr>
        <p:txBody>
          <a:bodyPr wrap="square" lIns="0" tIns="0" rIns="0" bIns="0" rtlCol="0" anchor="ctr"/>
          <a:lstStyle/>
          <a:p>
            <a:pPr marL="0" indent="0">
              <a:buNone/>
            </a:pPr>
            <a:r>
              <a:rPr lang="en-US" sz="10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Copy-on-Write (CoW)</a:t>
            </a:r>
            <a:endParaRPr lang="en-US" sz="1050" dirty="0"/>
          </a:p>
        </p:txBody>
      </p:sp>
      <p:sp>
        <p:nvSpPr>
          <p:cNvPr id="15" name="Text 13"/>
          <p:cNvSpPr/>
          <p:nvPr/>
        </p:nvSpPr>
        <p:spPr>
          <a:xfrm>
            <a:off x="475488" y="1243584"/>
            <a:ext cx="2450592" cy="1316736"/>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Metadata is never overwritten in place. Previous versions persist until reclaimed. CoW is a forensic goldmine — older states may be recoverable from the checkpoint chain.</a:t>
            </a:r>
            <a:endParaRPr lang="en-US" sz="900" dirty="0"/>
          </a:p>
        </p:txBody>
      </p:sp>
      <p:sp>
        <p:nvSpPr>
          <p:cNvPr id="16" name="Shape 14"/>
          <p:cNvSpPr/>
          <p:nvPr/>
        </p:nvSpPr>
        <p:spPr>
          <a:xfrm>
            <a:off x="3182112" y="822960"/>
            <a:ext cx="2761488" cy="1792224"/>
          </a:xfrm>
          <a:prstGeom prst="rect">
            <a:avLst/>
          </a:prstGeom>
          <a:solidFill>
            <a:srgbClr val="EEF6FB"/>
          </a:solidFill>
          <a:ln w="12700">
            <a:solidFill>
              <a:srgbClr val="6366F1"/>
            </a:solidFill>
            <a:prstDash val="solid"/>
          </a:ln>
          <a:effectLst>
            <a:outerShdw blurRad="127000" dist="38100" dir="8100000" algn="bl" rotWithShape="0">
              <a:srgbClr val="000000">
                <a:alpha val="22000"/>
              </a:srgbClr>
            </a:outerShdw>
          </a:effectLst>
        </p:spPr>
        <p:txBody>
          <a:bodyPr/>
          <a:lstStyle/>
          <a:p>
            <a:endParaRPr lang="en-SG"/>
          </a:p>
        </p:txBody>
      </p:sp>
      <p:sp>
        <p:nvSpPr>
          <p:cNvPr id="17" name="Shape 15"/>
          <p:cNvSpPr/>
          <p:nvPr/>
        </p:nvSpPr>
        <p:spPr>
          <a:xfrm>
            <a:off x="3182112" y="822960"/>
            <a:ext cx="164592" cy="1792224"/>
          </a:xfrm>
          <a:prstGeom prst="rect">
            <a:avLst/>
          </a:prstGeom>
          <a:solidFill>
            <a:srgbClr val="6366F1"/>
          </a:solidFill>
          <a:ln w="12700">
            <a:solidFill>
              <a:srgbClr val="6366F1"/>
            </a:solidFill>
            <a:prstDash val="solid"/>
          </a:ln>
        </p:spPr>
        <p:txBody>
          <a:bodyPr/>
          <a:lstStyle/>
          <a:p>
            <a:endParaRPr lang="en-SG"/>
          </a:p>
        </p:txBody>
      </p:sp>
      <p:sp>
        <p:nvSpPr>
          <p:cNvPr id="18" name="Shape 16"/>
          <p:cNvSpPr/>
          <p:nvPr/>
        </p:nvSpPr>
        <p:spPr>
          <a:xfrm>
            <a:off x="3419856" y="932688"/>
            <a:ext cx="274320" cy="274320"/>
          </a:xfrm>
          <a:prstGeom prst="line">
            <a:avLst/>
          </a:prstGeom>
          <a:solidFill>
            <a:srgbClr val="6366F1">
              <a:alpha val="80000"/>
            </a:srgbClr>
          </a:solidFill>
          <a:ln w="12700">
            <a:solidFill>
              <a:srgbClr val="6366F1"/>
            </a:solidFill>
            <a:prstDash val="solid"/>
          </a:ln>
        </p:spPr>
        <p:txBody>
          <a:bodyPr/>
          <a:lstStyle/>
          <a:p>
            <a:endParaRPr lang="en-SG"/>
          </a:p>
        </p:txBody>
      </p:sp>
      <p:sp>
        <p:nvSpPr>
          <p:cNvPr id="19" name="Text 17"/>
          <p:cNvSpPr/>
          <p:nvPr/>
        </p:nvSpPr>
        <p:spPr>
          <a:xfrm>
            <a:off x="3419856" y="950976"/>
            <a:ext cx="274320" cy="201168"/>
          </a:xfrm>
          <a:prstGeom prst="rect">
            <a:avLst/>
          </a:prstGeom>
          <a:noFill/>
        </p:spPr>
        <p:txBody>
          <a:bodyPr wrap="square" lIns="0" tIns="0" rIns="0" bIns="0" rtlCol="0" anchor="ctr"/>
          <a:lstStyle/>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02</a:t>
            </a:r>
            <a:endParaRPr lang="en-US" sz="850" dirty="0"/>
          </a:p>
        </p:txBody>
      </p:sp>
      <p:sp>
        <p:nvSpPr>
          <p:cNvPr id="20" name="Text 18"/>
          <p:cNvSpPr/>
          <p:nvPr/>
        </p:nvSpPr>
        <p:spPr>
          <a:xfrm>
            <a:off x="3749040" y="914400"/>
            <a:ext cx="2066544" cy="256032"/>
          </a:xfrm>
          <a:prstGeom prst="rect">
            <a:avLst/>
          </a:prstGeom>
          <a:noFill/>
        </p:spPr>
        <p:txBody>
          <a:bodyPr wrap="square" lIns="0" tIns="0" rIns="0" bIns="0" rtlCol="0" anchor="ctr"/>
          <a:lstStyle/>
          <a:p>
            <a:pPr marL="0" indent="0">
              <a:buNone/>
            </a:pPr>
            <a:r>
              <a:rPr lang="en-US" sz="10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Snapshots</a:t>
            </a:r>
            <a:endParaRPr lang="en-US" sz="1050" dirty="0"/>
          </a:p>
        </p:txBody>
      </p:sp>
      <p:sp>
        <p:nvSpPr>
          <p:cNvPr id="21" name="Text 19"/>
          <p:cNvSpPr/>
          <p:nvPr/>
        </p:nvSpPr>
        <p:spPr>
          <a:xfrm>
            <a:off x="3401568" y="1243584"/>
            <a:ext cx="2450592" cy="1316736"/>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Point-in-time read-only snapshots. Used by Time Machine on macOS. Snapshot metadata and content survive deletion — critical for forensic recovery of deleted files.</a:t>
            </a:r>
            <a:endParaRPr lang="en-US" sz="900" dirty="0"/>
          </a:p>
        </p:txBody>
      </p:sp>
      <p:sp>
        <p:nvSpPr>
          <p:cNvPr id="22" name="Shape 20"/>
          <p:cNvSpPr/>
          <p:nvPr/>
        </p:nvSpPr>
        <p:spPr>
          <a:xfrm>
            <a:off x="6108192" y="822960"/>
            <a:ext cx="2761488" cy="1792224"/>
          </a:xfrm>
          <a:prstGeom prst="rect">
            <a:avLst/>
          </a:prstGeom>
          <a:solidFill>
            <a:srgbClr val="EEF6FB"/>
          </a:solidFill>
          <a:ln w="12700">
            <a:solidFill>
              <a:srgbClr val="F59E0B"/>
            </a:solidFill>
            <a:prstDash val="solid"/>
          </a:ln>
          <a:effectLst>
            <a:outerShdw blurRad="127000" dist="38100" dir="8100000" algn="bl" rotWithShape="0">
              <a:srgbClr val="000000">
                <a:alpha val="22000"/>
              </a:srgbClr>
            </a:outerShdw>
          </a:effectLst>
        </p:spPr>
        <p:txBody>
          <a:bodyPr/>
          <a:lstStyle/>
          <a:p>
            <a:endParaRPr lang="en-SG"/>
          </a:p>
        </p:txBody>
      </p:sp>
      <p:sp>
        <p:nvSpPr>
          <p:cNvPr id="23" name="Shape 21"/>
          <p:cNvSpPr/>
          <p:nvPr/>
        </p:nvSpPr>
        <p:spPr>
          <a:xfrm>
            <a:off x="6108192" y="822960"/>
            <a:ext cx="164592" cy="1792224"/>
          </a:xfrm>
          <a:prstGeom prst="rect">
            <a:avLst/>
          </a:prstGeom>
          <a:solidFill>
            <a:srgbClr val="F59E0B"/>
          </a:solidFill>
          <a:ln w="12700">
            <a:solidFill>
              <a:srgbClr val="F59E0B"/>
            </a:solidFill>
            <a:prstDash val="solid"/>
          </a:ln>
        </p:spPr>
        <p:txBody>
          <a:bodyPr/>
          <a:lstStyle/>
          <a:p>
            <a:endParaRPr lang="en-SG"/>
          </a:p>
        </p:txBody>
      </p:sp>
      <p:sp>
        <p:nvSpPr>
          <p:cNvPr id="24" name="Shape 22"/>
          <p:cNvSpPr/>
          <p:nvPr/>
        </p:nvSpPr>
        <p:spPr>
          <a:xfrm>
            <a:off x="6345936" y="932688"/>
            <a:ext cx="274320" cy="274320"/>
          </a:xfrm>
          <a:prstGeom prst="line">
            <a:avLst/>
          </a:prstGeom>
          <a:solidFill>
            <a:srgbClr val="F59E0B">
              <a:alpha val="80000"/>
            </a:srgbClr>
          </a:solidFill>
          <a:ln w="12700">
            <a:solidFill>
              <a:srgbClr val="F59E0B"/>
            </a:solidFill>
            <a:prstDash val="solid"/>
          </a:ln>
        </p:spPr>
        <p:txBody>
          <a:bodyPr/>
          <a:lstStyle/>
          <a:p>
            <a:endParaRPr lang="en-SG"/>
          </a:p>
        </p:txBody>
      </p:sp>
      <p:sp>
        <p:nvSpPr>
          <p:cNvPr id="25" name="Text 23"/>
          <p:cNvSpPr/>
          <p:nvPr/>
        </p:nvSpPr>
        <p:spPr>
          <a:xfrm>
            <a:off x="6345936" y="950976"/>
            <a:ext cx="274320" cy="201168"/>
          </a:xfrm>
          <a:prstGeom prst="rect">
            <a:avLst/>
          </a:prstGeom>
          <a:noFill/>
        </p:spPr>
        <p:txBody>
          <a:bodyPr wrap="square" lIns="0" tIns="0" rIns="0" bIns="0" rtlCol="0" anchor="ctr"/>
          <a:lstStyle/>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03</a:t>
            </a:r>
            <a:endParaRPr lang="en-US" sz="850" dirty="0"/>
          </a:p>
        </p:txBody>
      </p:sp>
      <p:sp>
        <p:nvSpPr>
          <p:cNvPr id="26" name="Text 24"/>
          <p:cNvSpPr/>
          <p:nvPr/>
        </p:nvSpPr>
        <p:spPr>
          <a:xfrm>
            <a:off x="6675120" y="914400"/>
            <a:ext cx="2066544" cy="256032"/>
          </a:xfrm>
          <a:prstGeom prst="rect">
            <a:avLst/>
          </a:prstGeom>
          <a:noFill/>
        </p:spPr>
        <p:txBody>
          <a:bodyPr wrap="square" lIns="0" tIns="0" rIns="0" bIns="0" rtlCol="0" anchor="ctr"/>
          <a:lstStyle/>
          <a:p>
            <a:pPr marL="0" indent="0">
              <a:buNone/>
            </a:pPr>
            <a:r>
              <a:rPr lang="en-US" sz="10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Clones (Zero-Copy)</a:t>
            </a:r>
            <a:endParaRPr lang="en-US" sz="1050" dirty="0"/>
          </a:p>
        </p:txBody>
      </p:sp>
      <p:sp>
        <p:nvSpPr>
          <p:cNvPr id="27" name="Text 25"/>
          <p:cNvSpPr/>
          <p:nvPr/>
        </p:nvSpPr>
        <p:spPr>
          <a:xfrm>
            <a:off x="6327648" y="1243584"/>
            <a:ext cx="2450592" cy="1316736"/>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Files clone instantly. Both reference the same blocks. Changes create new extents (CoW). Cloning is near-instant regardless of file size.</a:t>
            </a:r>
            <a:endParaRPr lang="en-US" sz="900" dirty="0"/>
          </a:p>
        </p:txBody>
      </p:sp>
      <p:sp>
        <p:nvSpPr>
          <p:cNvPr id="28" name="Shape 26"/>
          <p:cNvSpPr/>
          <p:nvPr/>
        </p:nvSpPr>
        <p:spPr>
          <a:xfrm>
            <a:off x="256032" y="2779776"/>
            <a:ext cx="2761488" cy="1792224"/>
          </a:xfrm>
          <a:prstGeom prst="rect">
            <a:avLst/>
          </a:prstGeom>
          <a:solidFill>
            <a:srgbClr val="EEF6FB"/>
          </a:solidFill>
          <a:ln w="12700">
            <a:solidFill>
              <a:srgbClr val="EF4444"/>
            </a:solidFill>
            <a:prstDash val="solid"/>
          </a:ln>
          <a:effectLst>
            <a:outerShdw blurRad="127000" dist="38100" dir="8100000" algn="bl" rotWithShape="0">
              <a:srgbClr val="000000">
                <a:alpha val="22000"/>
              </a:srgbClr>
            </a:outerShdw>
          </a:effectLst>
        </p:spPr>
        <p:txBody>
          <a:bodyPr/>
          <a:lstStyle/>
          <a:p>
            <a:endParaRPr lang="en-SG"/>
          </a:p>
        </p:txBody>
      </p:sp>
      <p:sp>
        <p:nvSpPr>
          <p:cNvPr id="29" name="Shape 27"/>
          <p:cNvSpPr/>
          <p:nvPr/>
        </p:nvSpPr>
        <p:spPr>
          <a:xfrm>
            <a:off x="256032" y="2779776"/>
            <a:ext cx="164592" cy="1792224"/>
          </a:xfrm>
          <a:prstGeom prst="rect">
            <a:avLst/>
          </a:prstGeom>
          <a:solidFill>
            <a:srgbClr val="EF4444"/>
          </a:solidFill>
          <a:ln w="12700">
            <a:solidFill>
              <a:srgbClr val="EF4444"/>
            </a:solidFill>
            <a:prstDash val="solid"/>
          </a:ln>
        </p:spPr>
        <p:txBody>
          <a:bodyPr/>
          <a:lstStyle/>
          <a:p>
            <a:endParaRPr lang="en-SG"/>
          </a:p>
        </p:txBody>
      </p:sp>
      <p:sp>
        <p:nvSpPr>
          <p:cNvPr id="30" name="Shape 28"/>
          <p:cNvSpPr/>
          <p:nvPr/>
        </p:nvSpPr>
        <p:spPr>
          <a:xfrm>
            <a:off x="493776" y="2889504"/>
            <a:ext cx="274320" cy="274320"/>
          </a:xfrm>
          <a:prstGeom prst="line">
            <a:avLst/>
          </a:prstGeom>
          <a:solidFill>
            <a:srgbClr val="EF4444">
              <a:alpha val="80000"/>
            </a:srgbClr>
          </a:solidFill>
          <a:ln w="12700">
            <a:solidFill>
              <a:srgbClr val="EF4444"/>
            </a:solidFill>
            <a:prstDash val="solid"/>
          </a:ln>
        </p:spPr>
        <p:txBody>
          <a:bodyPr/>
          <a:lstStyle/>
          <a:p>
            <a:endParaRPr lang="en-SG"/>
          </a:p>
        </p:txBody>
      </p:sp>
      <p:sp>
        <p:nvSpPr>
          <p:cNvPr id="31" name="Text 29"/>
          <p:cNvSpPr/>
          <p:nvPr/>
        </p:nvSpPr>
        <p:spPr>
          <a:xfrm>
            <a:off x="493776" y="2907792"/>
            <a:ext cx="274320" cy="201168"/>
          </a:xfrm>
          <a:prstGeom prst="rect">
            <a:avLst/>
          </a:prstGeom>
          <a:noFill/>
        </p:spPr>
        <p:txBody>
          <a:bodyPr wrap="square" lIns="0" tIns="0" rIns="0" bIns="0" rtlCol="0" anchor="ctr"/>
          <a:lstStyle/>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04</a:t>
            </a:r>
            <a:endParaRPr lang="en-US" sz="850" dirty="0"/>
          </a:p>
        </p:txBody>
      </p:sp>
      <p:sp>
        <p:nvSpPr>
          <p:cNvPr id="32" name="Text 30"/>
          <p:cNvSpPr/>
          <p:nvPr/>
        </p:nvSpPr>
        <p:spPr>
          <a:xfrm>
            <a:off x="822960" y="2871216"/>
            <a:ext cx="2066544" cy="256032"/>
          </a:xfrm>
          <a:prstGeom prst="rect">
            <a:avLst/>
          </a:prstGeom>
          <a:noFill/>
        </p:spPr>
        <p:txBody>
          <a:bodyPr wrap="square" lIns="0" tIns="0" rIns="0" bIns="0" rtlCol="0" anchor="ctr"/>
          <a:lstStyle/>
          <a:p>
            <a:pPr marL="0" indent="0">
              <a:buNone/>
            </a:pPr>
            <a:r>
              <a:rPr lang="en-US" sz="10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Native Encryption</a:t>
            </a:r>
            <a:endParaRPr lang="en-US" sz="1050" dirty="0"/>
          </a:p>
        </p:txBody>
      </p:sp>
      <p:sp>
        <p:nvSpPr>
          <p:cNvPr id="33" name="Text 31"/>
          <p:cNvSpPr/>
          <p:nvPr/>
        </p:nvSpPr>
        <p:spPr>
          <a:xfrm>
            <a:off x="475488" y="3200400"/>
            <a:ext cx="2450592" cy="1316736"/>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Three modes: none, single-key, multi-key. iOS: per-file keys backed by Secure Enclave. Without the key, data is inaccessible — major forensic challenge on modern iPhones.</a:t>
            </a:r>
            <a:endParaRPr lang="en-US" sz="900" dirty="0"/>
          </a:p>
        </p:txBody>
      </p:sp>
      <p:sp>
        <p:nvSpPr>
          <p:cNvPr id="34" name="Shape 32"/>
          <p:cNvSpPr/>
          <p:nvPr/>
        </p:nvSpPr>
        <p:spPr>
          <a:xfrm>
            <a:off x="3182112" y="2779776"/>
            <a:ext cx="2761488" cy="1792224"/>
          </a:xfrm>
          <a:prstGeom prst="rect">
            <a:avLst/>
          </a:prstGeom>
          <a:solidFill>
            <a:srgbClr val="EEF6FB"/>
          </a:solidFill>
          <a:ln w="12700">
            <a:solidFill>
              <a:srgbClr val="A855F7"/>
            </a:solidFill>
            <a:prstDash val="solid"/>
          </a:ln>
          <a:effectLst>
            <a:outerShdw blurRad="127000" dist="38100" dir="8100000" algn="bl" rotWithShape="0">
              <a:srgbClr val="000000">
                <a:alpha val="22000"/>
              </a:srgbClr>
            </a:outerShdw>
          </a:effectLst>
        </p:spPr>
        <p:txBody>
          <a:bodyPr/>
          <a:lstStyle/>
          <a:p>
            <a:endParaRPr lang="en-SG"/>
          </a:p>
        </p:txBody>
      </p:sp>
      <p:sp>
        <p:nvSpPr>
          <p:cNvPr id="35" name="Shape 33"/>
          <p:cNvSpPr/>
          <p:nvPr/>
        </p:nvSpPr>
        <p:spPr>
          <a:xfrm>
            <a:off x="3182112" y="2779776"/>
            <a:ext cx="164592" cy="1792224"/>
          </a:xfrm>
          <a:prstGeom prst="rect">
            <a:avLst/>
          </a:prstGeom>
          <a:solidFill>
            <a:srgbClr val="A855F7"/>
          </a:solidFill>
          <a:ln w="12700">
            <a:solidFill>
              <a:srgbClr val="A855F7"/>
            </a:solidFill>
            <a:prstDash val="solid"/>
          </a:ln>
        </p:spPr>
        <p:txBody>
          <a:bodyPr/>
          <a:lstStyle/>
          <a:p>
            <a:endParaRPr lang="en-SG"/>
          </a:p>
        </p:txBody>
      </p:sp>
      <p:sp>
        <p:nvSpPr>
          <p:cNvPr id="36" name="Shape 34"/>
          <p:cNvSpPr/>
          <p:nvPr/>
        </p:nvSpPr>
        <p:spPr>
          <a:xfrm>
            <a:off x="3419856" y="2889504"/>
            <a:ext cx="274320" cy="274320"/>
          </a:xfrm>
          <a:prstGeom prst="line">
            <a:avLst/>
          </a:prstGeom>
          <a:solidFill>
            <a:srgbClr val="A855F7">
              <a:alpha val="80000"/>
            </a:srgbClr>
          </a:solidFill>
          <a:ln w="12700">
            <a:solidFill>
              <a:srgbClr val="A855F7"/>
            </a:solidFill>
            <a:prstDash val="solid"/>
          </a:ln>
        </p:spPr>
        <p:txBody>
          <a:bodyPr/>
          <a:lstStyle/>
          <a:p>
            <a:endParaRPr lang="en-SG"/>
          </a:p>
        </p:txBody>
      </p:sp>
      <p:sp>
        <p:nvSpPr>
          <p:cNvPr id="37" name="Text 35"/>
          <p:cNvSpPr/>
          <p:nvPr/>
        </p:nvSpPr>
        <p:spPr>
          <a:xfrm>
            <a:off x="3419856" y="2907792"/>
            <a:ext cx="274320" cy="201168"/>
          </a:xfrm>
          <a:prstGeom prst="rect">
            <a:avLst/>
          </a:prstGeom>
          <a:noFill/>
        </p:spPr>
        <p:txBody>
          <a:bodyPr wrap="square" lIns="0" tIns="0" rIns="0" bIns="0" rtlCol="0" anchor="ctr"/>
          <a:lstStyle/>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05</a:t>
            </a:r>
            <a:endParaRPr lang="en-US" sz="850" dirty="0"/>
          </a:p>
        </p:txBody>
      </p:sp>
      <p:sp>
        <p:nvSpPr>
          <p:cNvPr id="38" name="Text 36"/>
          <p:cNvSpPr/>
          <p:nvPr/>
        </p:nvSpPr>
        <p:spPr>
          <a:xfrm>
            <a:off x="3749040" y="2871216"/>
            <a:ext cx="2066544" cy="256032"/>
          </a:xfrm>
          <a:prstGeom prst="rect">
            <a:avLst/>
          </a:prstGeom>
          <a:noFill/>
        </p:spPr>
        <p:txBody>
          <a:bodyPr wrap="square" lIns="0" tIns="0" rIns="0" bIns="0" rtlCol="0" anchor="ctr"/>
          <a:lstStyle/>
          <a:p>
            <a:pPr marL="0" indent="0">
              <a:buNone/>
            </a:pPr>
            <a:r>
              <a:rPr lang="en-US" sz="10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64-bit Inodes &amp; Space Sharing</a:t>
            </a:r>
            <a:endParaRPr lang="en-US" sz="1050" dirty="0"/>
          </a:p>
        </p:txBody>
      </p:sp>
      <p:sp>
        <p:nvSpPr>
          <p:cNvPr id="39" name="Text 37"/>
          <p:cNvSpPr/>
          <p:nvPr/>
        </p:nvSpPr>
        <p:spPr>
          <a:xfrm>
            <a:off x="3401568" y="3200400"/>
            <a:ext cx="2450592" cy="1316736"/>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Over 9 quintillion files per volume (2⁶³). Multiple volumes share a container's free space dynamically — no fixed partition sizes, unlike HFS+.</a:t>
            </a:r>
            <a:endParaRPr lang="en-US" sz="900" dirty="0"/>
          </a:p>
        </p:txBody>
      </p:sp>
      <p:sp>
        <p:nvSpPr>
          <p:cNvPr id="40" name="Shape 38"/>
          <p:cNvSpPr/>
          <p:nvPr/>
        </p:nvSpPr>
        <p:spPr>
          <a:xfrm>
            <a:off x="6108192" y="2779776"/>
            <a:ext cx="2761488" cy="1792224"/>
          </a:xfrm>
          <a:prstGeom prst="rect">
            <a:avLst/>
          </a:prstGeom>
          <a:solidFill>
            <a:srgbClr val="EEF6FB"/>
          </a:solidFill>
          <a:ln w="12700">
            <a:solidFill>
              <a:srgbClr val="0EA5E9"/>
            </a:solidFill>
            <a:prstDash val="solid"/>
          </a:ln>
          <a:effectLst>
            <a:outerShdw blurRad="127000" dist="38100" dir="8100000" algn="bl" rotWithShape="0">
              <a:srgbClr val="000000">
                <a:alpha val="22000"/>
              </a:srgbClr>
            </a:outerShdw>
          </a:effectLst>
        </p:spPr>
        <p:txBody>
          <a:bodyPr/>
          <a:lstStyle/>
          <a:p>
            <a:endParaRPr lang="en-SG"/>
          </a:p>
        </p:txBody>
      </p:sp>
      <p:sp>
        <p:nvSpPr>
          <p:cNvPr id="41" name="Shape 39"/>
          <p:cNvSpPr/>
          <p:nvPr/>
        </p:nvSpPr>
        <p:spPr>
          <a:xfrm>
            <a:off x="6108192" y="2779776"/>
            <a:ext cx="164592" cy="1792224"/>
          </a:xfrm>
          <a:prstGeom prst="rect">
            <a:avLst/>
          </a:prstGeom>
          <a:solidFill>
            <a:srgbClr val="0EA5E9"/>
          </a:solidFill>
          <a:ln w="12700">
            <a:solidFill>
              <a:srgbClr val="0EA5E9"/>
            </a:solidFill>
            <a:prstDash val="solid"/>
          </a:ln>
        </p:spPr>
        <p:txBody>
          <a:bodyPr/>
          <a:lstStyle/>
          <a:p>
            <a:endParaRPr lang="en-SG"/>
          </a:p>
        </p:txBody>
      </p:sp>
      <p:sp>
        <p:nvSpPr>
          <p:cNvPr id="42" name="Shape 40"/>
          <p:cNvSpPr/>
          <p:nvPr/>
        </p:nvSpPr>
        <p:spPr>
          <a:xfrm>
            <a:off x="6345936" y="2889504"/>
            <a:ext cx="274320" cy="274320"/>
          </a:xfrm>
          <a:prstGeom prst="line">
            <a:avLst/>
          </a:prstGeom>
          <a:solidFill>
            <a:srgbClr val="0EA5E9">
              <a:alpha val="80000"/>
            </a:srgbClr>
          </a:solidFill>
          <a:ln w="12700">
            <a:solidFill>
              <a:srgbClr val="0EA5E9"/>
            </a:solidFill>
            <a:prstDash val="solid"/>
          </a:ln>
        </p:spPr>
        <p:txBody>
          <a:bodyPr/>
          <a:lstStyle/>
          <a:p>
            <a:endParaRPr lang="en-SG"/>
          </a:p>
        </p:txBody>
      </p:sp>
      <p:sp>
        <p:nvSpPr>
          <p:cNvPr id="43" name="Text 41"/>
          <p:cNvSpPr/>
          <p:nvPr/>
        </p:nvSpPr>
        <p:spPr>
          <a:xfrm>
            <a:off x="6345936" y="2907792"/>
            <a:ext cx="274320" cy="201168"/>
          </a:xfrm>
          <a:prstGeom prst="rect">
            <a:avLst/>
          </a:prstGeom>
          <a:noFill/>
        </p:spPr>
        <p:txBody>
          <a:bodyPr wrap="square" lIns="0" tIns="0" rIns="0" bIns="0" rtlCol="0" anchor="ctr"/>
          <a:lstStyle/>
          <a:p>
            <a:pPr marL="0" indent="0" algn="ctr">
              <a:buNone/>
            </a:pPr>
            <a:r>
              <a:rPr lang="en-US" sz="8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06</a:t>
            </a:r>
            <a:endParaRPr lang="en-US" sz="850" dirty="0"/>
          </a:p>
        </p:txBody>
      </p:sp>
      <p:sp>
        <p:nvSpPr>
          <p:cNvPr id="44" name="Text 42"/>
          <p:cNvSpPr/>
          <p:nvPr/>
        </p:nvSpPr>
        <p:spPr>
          <a:xfrm>
            <a:off x="6675120" y="2871216"/>
            <a:ext cx="2066544" cy="256032"/>
          </a:xfrm>
          <a:prstGeom prst="rect">
            <a:avLst/>
          </a:prstGeom>
          <a:noFill/>
        </p:spPr>
        <p:txBody>
          <a:bodyPr wrap="square" lIns="0" tIns="0" rIns="0" bIns="0" rtlCol="0" anchor="ctr"/>
          <a:lstStyle/>
          <a:p>
            <a:pPr marL="0" indent="0">
              <a:buNone/>
            </a:pPr>
            <a:r>
              <a:rPr lang="en-US" sz="10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Nanosecond Timestamps</a:t>
            </a:r>
            <a:endParaRPr lang="en-US" sz="1050" dirty="0"/>
          </a:p>
        </p:txBody>
      </p:sp>
      <p:sp>
        <p:nvSpPr>
          <p:cNvPr id="45" name="Text 43"/>
          <p:cNvSpPr/>
          <p:nvPr/>
        </p:nvSpPr>
        <p:spPr>
          <a:xfrm>
            <a:off x="6327648" y="3200400"/>
            <a:ext cx="2450592" cy="1316736"/>
          </a:xfrm>
          <a:prstGeom prst="rect">
            <a:avLst/>
          </a:prstGeom>
          <a:noFill/>
        </p:spPr>
        <p:txBody>
          <a:bodyPr wrap="square" rtlCol="0" anchor="t"/>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All four MACB timestamps stored as 64-bit nanoseconds from Unix epoch (1 Jan 1970). Far more granular than HFS+ (1-second precision) for timeline analysis.</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0B981"/>
          </a:solidFill>
          <a:ln w="12700">
            <a:solidFill>
              <a:srgbClr val="10B981"/>
            </a:solidFill>
            <a:prstDash val="solid"/>
          </a:ln>
        </p:spPr>
        <p:txBody>
          <a:bodyPr/>
          <a:lstStyle/>
          <a:p>
            <a:endParaRPr lang="en-SG"/>
          </a:p>
        </p:txBody>
      </p:sp>
      <p:sp>
        <p:nvSpPr>
          <p:cNvPr id="3" name="Text 1"/>
          <p:cNvSpPr/>
          <p:nvPr/>
        </p:nvSpPr>
        <p:spPr>
          <a:xfrm>
            <a:off x="256032" y="186690"/>
            <a:ext cx="8631936" cy="548640"/>
          </a:xfrm>
          <a:prstGeom prst="rect">
            <a:avLst/>
          </a:prstGeom>
          <a:noFill/>
        </p:spPr>
        <p:txBody>
          <a:bodyPr wrap="square" lIns="0" tIns="0" rIns="0" bIns="0" rtlCol="0" anchor="ctr"/>
          <a:lstStyle/>
          <a:p>
            <a:pPr marL="0" indent="0">
              <a:buNone/>
            </a:pPr>
            <a:r>
              <a:rPr lang="en-US" sz="15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APFS File System Structure — Container, Volumes &amp; B-Trees</a:t>
            </a:r>
            <a:endParaRPr lang="en-US" sz="1500" dirty="0"/>
          </a:p>
        </p:txBody>
      </p:sp>
      <p:sp>
        <p:nvSpPr>
          <p:cNvPr id="4" name="Shape 2"/>
          <p:cNvSpPr/>
          <p:nvPr/>
        </p:nvSpPr>
        <p:spPr>
          <a:xfrm>
            <a:off x="256032" y="73152"/>
            <a:ext cx="1463040" cy="219456"/>
          </a:xfrm>
          <a:prstGeom prst="rect">
            <a:avLst/>
          </a:prstGeom>
          <a:solidFill>
            <a:srgbClr val="10B981"/>
          </a:solidFill>
          <a:ln w="12700">
            <a:solidFill>
              <a:srgbClr val="10B981"/>
            </a:solidFill>
            <a:prstDash val="solid"/>
          </a:ln>
        </p:spPr>
        <p:txBody>
          <a:bodyPr/>
          <a:lstStyle/>
          <a:p>
            <a:endParaRPr lang="en-SG"/>
          </a:p>
        </p:txBody>
      </p:sp>
      <p:sp>
        <p:nvSpPr>
          <p:cNvPr id="5" name="Text 3"/>
          <p:cNvSpPr/>
          <p:nvPr/>
        </p:nvSpPr>
        <p:spPr>
          <a:xfrm>
            <a:off x="256032" y="73152"/>
            <a:ext cx="1463040" cy="219456"/>
          </a:xfrm>
          <a:prstGeom prst="rect">
            <a:avLst/>
          </a:prstGeom>
          <a:noFill/>
        </p:spPr>
        <p:txBody>
          <a:bodyPr wrap="square" lIns="0" tIns="0" rIns="0" bIns="0" rtlCol="0" anchor="ctr"/>
          <a:lstStyle/>
          <a:p>
            <a:pPr marL="0" indent="0" algn="ctr">
              <a:buNone/>
            </a:pPr>
            <a:r>
              <a:rPr lang="en-US" sz="800" b="1" kern="0" spc="100"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SECTION 04 — OTHER</a:t>
            </a:r>
            <a:endParaRPr lang="en-US" sz="800" dirty="0"/>
          </a:p>
        </p:txBody>
      </p:sp>
      <p:sp>
        <p:nvSpPr>
          <p:cNvPr id="10" name="Shape 8"/>
          <p:cNvSpPr/>
          <p:nvPr/>
        </p:nvSpPr>
        <p:spPr>
          <a:xfrm>
            <a:off x="256032" y="822960"/>
            <a:ext cx="8631936" cy="2761488"/>
          </a:xfrm>
          <a:prstGeom prst="rect">
            <a:avLst/>
          </a:prstGeom>
          <a:solidFill>
            <a:srgbClr val="EEF6FB"/>
          </a:solidFill>
          <a:ln w="12700">
            <a:solidFill>
              <a:srgbClr val="6366F1"/>
            </a:solidFill>
            <a:prstDash val="solid"/>
          </a:ln>
          <a:effectLst>
            <a:outerShdw blurRad="127000" dist="38100" dir="8100000" algn="bl" rotWithShape="0">
              <a:srgbClr val="000000">
                <a:alpha val="22000"/>
              </a:srgbClr>
            </a:outerShdw>
          </a:effectLst>
        </p:spPr>
        <p:txBody>
          <a:bodyPr/>
          <a:lstStyle/>
          <a:p>
            <a:endParaRPr lang="en-SG"/>
          </a:p>
        </p:txBody>
      </p:sp>
      <p:sp>
        <p:nvSpPr>
          <p:cNvPr id="11" name="Shape 9"/>
          <p:cNvSpPr/>
          <p:nvPr/>
        </p:nvSpPr>
        <p:spPr>
          <a:xfrm>
            <a:off x="256032" y="822960"/>
            <a:ext cx="8631936" cy="256032"/>
          </a:xfrm>
          <a:prstGeom prst="rect">
            <a:avLst/>
          </a:prstGeom>
          <a:solidFill>
            <a:srgbClr val="6366F1"/>
          </a:solidFill>
          <a:ln w="12700">
            <a:solidFill>
              <a:srgbClr val="6366F1"/>
            </a:solidFill>
            <a:prstDash val="solid"/>
          </a:ln>
        </p:spPr>
        <p:txBody>
          <a:bodyPr/>
          <a:lstStyle/>
          <a:p>
            <a:endParaRPr lang="en-SG"/>
          </a:p>
        </p:txBody>
      </p:sp>
      <p:sp>
        <p:nvSpPr>
          <p:cNvPr id="12" name="Text 10"/>
          <p:cNvSpPr/>
          <p:nvPr/>
        </p:nvSpPr>
        <p:spPr>
          <a:xfrm>
            <a:off x="365760" y="832104"/>
            <a:ext cx="8412480" cy="219456"/>
          </a:xfrm>
          <a:prstGeom prst="rect">
            <a:avLst/>
          </a:prstGeom>
          <a:noFill/>
        </p:spPr>
        <p:txBody>
          <a:bodyPr wrap="square" lIns="0" tIns="0" rIns="0" bIns="0" rtlCol="0" anchor="ctr"/>
          <a:lstStyle/>
          <a:p>
            <a:pPr marL="0" indent="0">
              <a:buNone/>
            </a:pPr>
            <a:r>
              <a:rPr lang="en-US" sz="10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APFS Container  (= one GPT partition — shared storage pool for all volumes)</a:t>
            </a:r>
            <a:endParaRPr lang="en-US" sz="1000" dirty="0"/>
          </a:p>
        </p:txBody>
      </p:sp>
      <p:sp>
        <p:nvSpPr>
          <p:cNvPr id="13" name="Shape 11"/>
          <p:cNvSpPr/>
          <p:nvPr/>
        </p:nvSpPr>
        <p:spPr>
          <a:xfrm>
            <a:off x="365760" y="1133856"/>
            <a:ext cx="2048256" cy="493776"/>
          </a:xfrm>
          <a:prstGeom prst="rect">
            <a:avLst/>
          </a:prstGeom>
          <a:solidFill>
            <a:srgbClr val="0EA5E9">
              <a:alpha val="75000"/>
            </a:srgbClr>
          </a:solidFill>
          <a:ln w="12700">
            <a:solidFill>
              <a:srgbClr val="0EA5E9"/>
            </a:solidFill>
            <a:prstDash val="solid"/>
          </a:ln>
        </p:spPr>
        <p:txBody>
          <a:bodyPr/>
          <a:lstStyle/>
          <a:p>
            <a:endParaRPr lang="en-SG"/>
          </a:p>
        </p:txBody>
      </p:sp>
      <p:sp>
        <p:nvSpPr>
          <p:cNvPr id="14" name="Text 12"/>
          <p:cNvSpPr/>
          <p:nvPr/>
        </p:nvSpPr>
        <p:spPr>
          <a:xfrm>
            <a:off x="365760" y="1133856"/>
            <a:ext cx="2048256" cy="493776"/>
          </a:xfrm>
          <a:prstGeom prst="rect">
            <a:avLst/>
          </a:prstGeom>
          <a:noFill/>
        </p:spPr>
        <p:txBody>
          <a:bodyPr wrap="square" lIns="0" tIns="0" rIns="0" bIns="0" rtlCol="0" anchor="ctr"/>
          <a:lstStyle/>
          <a:p>
            <a:pPr marL="0" indent="0" algn="ctr">
              <a:buNone/>
            </a:pPr>
            <a:r>
              <a:rPr lang="en-US" sz="8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Container</a:t>
            </a:r>
            <a:endParaRPr lang="en-US" sz="850" dirty="0"/>
          </a:p>
          <a:p>
            <a:pPr marL="0" indent="0" algn="ctr">
              <a:buNone/>
            </a:pPr>
            <a:r>
              <a:rPr lang="en-US" sz="8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Superblock</a:t>
            </a:r>
            <a:endParaRPr lang="en-US" sz="850" dirty="0"/>
          </a:p>
        </p:txBody>
      </p:sp>
      <p:sp>
        <p:nvSpPr>
          <p:cNvPr id="15" name="Shape 13"/>
          <p:cNvSpPr/>
          <p:nvPr/>
        </p:nvSpPr>
        <p:spPr>
          <a:xfrm>
            <a:off x="2487168" y="1133856"/>
            <a:ext cx="2048256" cy="493776"/>
          </a:xfrm>
          <a:prstGeom prst="rect">
            <a:avLst/>
          </a:prstGeom>
          <a:solidFill>
            <a:srgbClr val="F59E0B">
              <a:alpha val="75000"/>
            </a:srgbClr>
          </a:solidFill>
          <a:ln w="12700">
            <a:solidFill>
              <a:srgbClr val="F59E0B"/>
            </a:solidFill>
            <a:prstDash val="solid"/>
          </a:ln>
        </p:spPr>
        <p:txBody>
          <a:bodyPr/>
          <a:lstStyle/>
          <a:p>
            <a:endParaRPr lang="en-SG"/>
          </a:p>
        </p:txBody>
      </p:sp>
      <p:sp>
        <p:nvSpPr>
          <p:cNvPr id="16" name="Text 14"/>
          <p:cNvSpPr/>
          <p:nvPr/>
        </p:nvSpPr>
        <p:spPr>
          <a:xfrm>
            <a:off x="2487168" y="1133856"/>
            <a:ext cx="2048256" cy="493776"/>
          </a:xfrm>
          <a:prstGeom prst="rect">
            <a:avLst/>
          </a:prstGeom>
          <a:noFill/>
        </p:spPr>
        <p:txBody>
          <a:bodyPr wrap="square" lIns="0" tIns="0" rIns="0" bIns="0" rtlCol="0" anchor="ctr"/>
          <a:lstStyle/>
          <a:p>
            <a:pPr marL="0" indent="0" algn="ctr">
              <a:buNone/>
            </a:pPr>
            <a:r>
              <a:rPr lang="en-US" sz="8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Object Map</a:t>
            </a:r>
            <a:endParaRPr lang="en-US" sz="850" dirty="0"/>
          </a:p>
          <a:p>
            <a:pPr marL="0" indent="0" algn="ctr">
              <a:buNone/>
            </a:pPr>
            <a:r>
              <a:rPr lang="en-US" sz="8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(ID → offset)</a:t>
            </a:r>
            <a:endParaRPr lang="en-US" sz="850" dirty="0"/>
          </a:p>
        </p:txBody>
      </p:sp>
      <p:sp>
        <p:nvSpPr>
          <p:cNvPr id="17" name="Shape 15"/>
          <p:cNvSpPr/>
          <p:nvPr/>
        </p:nvSpPr>
        <p:spPr>
          <a:xfrm>
            <a:off x="4608576" y="1133856"/>
            <a:ext cx="2048256" cy="493776"/>
          </a:xfrm>
          <a:prstGeom prst="rect">
            <a:avLst/>
          </a:prstGeom>
          <a:solidFill>
            <a:srgbClr val="10B981">
              <a:alpha val="75000"/>
            </a:srgbClr>
          </a:solidFill>
          <a:ln w="12700">
            <a:solidFill>
              <a:srgbClr val="10B981"/>
            </a:solidFill>
            <a:prstDash val="solid"/>
          </a:ln>
        </p:spPr>
        <p:txBody>
          <a:bodyPr/>
          <a:lstStyle/>
          <a:p>
            <a:endParaRPr lang="en-SG"/>
          </a:p>
        </p:txBody>
      </p:sp>
      <p:sp>
        <p:nvSpPr>
          <p:cNvPr id="18" name="Text 16"/>
          <p:cNvSpPr/>
          <p:nvPr/>
        </p:nvSpPr>
        <p:spPr>
          <a:xfrm>
            <a:off x="4608576" y="1133856"/>
            <a:ext cx="2048256" cy="493776"/>
          </a:xfrm>
          <a:prstGeom prst="rect">
            <a:avLst/>
          </a:prstGeom>
          <a:noFill/>
        </p:spPr>
        <p:txBody>
          <a:bodyPr wrap="square" lIns="0" tIns="0" rIns="0" bIns="0" rtlCol="0" anchor="ctr"/>
          <a:lstStyle/>
          <a:p>
            <a:pPr marL="0" indent="0" algn="ctr">
              <a:buNone/>
            </a:pPr>
            <a:r>
              <a:rPr lang="en-US" sz="8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Space Manager</a:t>
            </a:r>
            <a:endParaRPr lang="en-US" sz="850" dirty="0"/>
          </a:p>
          <a:p>
            <a:pPr marL="0" indent="0" algn="ctr">
              <a:buNone/>
            </a:pPr>
            <a:r>
              <a:rPr lang="en-US" sz="8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(free blocks)</a:t>
            </a:r>
            <a:endParaRPr lang="en-US" sz="850" dirty="0"/>
          </a:p>
        </p:txBody>
      </p:sp>
      <p:sp>
        <p:nvSpPr>
          <p:cNvPr id="19" name="Shape 17"/>
          <p:cNvSpPr/>
          <p:nvPr/>
        </p:nvSpPr>
        <p:spPr>
          <a:xfrm>
            <a:off x="6729984" y="1133856"/>
            <a:ext cx="2048256" cy="493776"/>
          </a:xfrm>
          <a:prstGeom prst="rect">
            <a:avLst/>
          </a:prstGeom>
          <a:solidFill>
            <a:srgbClr val="A855F7">
              <a:alpha val="75000"/>
            </a:srgbClr>
          </a:solidFill>
          <a:ln w="12700">
            <a:solidFill>
              <a:srgbClr val="A855F7"/>
            </a:solidFill>
            <a:prstDash val="solid"/>
          </a:ln>
        </p:spPr>
        <p:txBody>
          <a:bodyPr/>
          <a:lstStyle/>
          <a:p>
            <a:endParaRPr lang="en-SG"/>
          </a:p>
        </p:txBody>
      </p:sp>
      <p:sp>
        <p:nvSpPr>
          <p:cNvPr id="20" name="Text 18"/>
          <p:cNvSpPr/>
          <p:nvPr/>
        </p:nvSpPr>
        <p:spPr>
          <a:xfrm>
            <a:off x="6729984" y="1133856"/>
            <a:ext cx="2048256" cy="493776"/>
          </a:xfrm>
          <a:prstGeom prst="rect">
            <a:avLst/>
          </a:prstGeom>
          <a:noFill/>
        </p:spPr>
        <p:txBody>
          <a:bodyPr wrap="square" lIns="0" tIns="0" rIns="0" bIns="0" rtlCol="0" anchor="ctr"/>
          <a:lstStyle/>
          <a:p>
            <a:pPr marL="0" indent="0" algn="ctr">
              <a:buNone/>
            </a:pPr>
            <a:r>
              <a:rPr lang="en-US" sz="8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Checkpoint</a:t>
            </a:r>
            <a:endParaRPr lang="en-US" sz="850" dirty="0"/>
          </a:p>
          <a:p>
            <a:pPr marL="0" indent="0" algn="ctr">
              <a:buNone/>
            </a:pPr>
            <a:r>
              <a:rPr lang="en-US" sz="85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 EFI Boot</a:t>
            </a:r>
            <a:endParaRPr lang="en-US" sz="850" dirty="0"/>
          </a:p>
        </p:txBody>
      </p:sp>
      <p:sp>
        <p:nvSpPr>
          <p:cNvPr id="21" name="Shape 19"/>
          <p:cNvSpPr/>
          <p:nvPr/>
        </p:nvSpPr>
        <p:spPr>
          <a:xfrm>
            <a:off x="365760" y="1700784"/>
            <a:ext cx="2048256" cy="713232"/>
          </a:xfrm>
          <a:prstGeom prst="rect">
            <a:avLst/>
          </a:prstGeom>
          <a:solidFill>
            <a:srgbClr val="EEF6FB"/>
          </a:solidFill>
          <a:ln w="12700">
            <a:solidFill>
              <a:srgbClr val="0EA5E9"/>
            </a:solidFill>
            <a:prstDash val="solid"/>
          </a:ln>
        </p:spPr>
        <p:txBody>
          <a:bodyPr/>
          <a:lstStyle/>
          <a:p>
            <a:endParaRPr lang="en-SG"/>
          </a:p>
        </p:txBody>
      </p:sp>
      <p:sp>
        <p:nvSpPr>
          <p:cNvPr id="22" name="Shape 20"/>
          <p:cNvSpPr/>
          <p:nvPr/>
        </p:nvSpPr>
        <p:spPr>
          <a:xfrm>
            <a:off x="365760" y="1700784"/>
            <a:ext cx="2048256" cy="201168"/>
          </a:xfrm>
          <a:prstGeom prst="rect">
            <a:avLst/>
          </a:prstGeom>
          <a:solidFill>
            <a:srgbClr val="0EA5E9"/>
          </a:solidFill>
          <a:ln w="12700">
            <a:solidFill>
              <a:srgbClr val="0EA5E9"/>
            </a:solidFill>
            <a:prstDash val="solid"/>
          </a:ln>
        </p:spPr>
        <p:txBody>
          <a:bodyPr/>
          <a:lstStyle/>
          <a:p>
            <a:endParaRPr lang="en-SG"/>
          </a:p>
        </p:txBody>
      </p:sp>
      <p:sp>
        <p:nvSpPr>
          <p:cNvPr id="23" name="Text 21"/>
          <p:cNvSpPr/>
          <p:nvPr/>
        </p:nvSpPr>
        <p:spPr>
          <a:xfrm>
            <a:off x="365760" y="1700784"/>
            <a:ext cx="2048256" cy="201168"/>
          </a:xfrm>
          <a:prstGeom prst="rect">
            <a:avLst/>
          </a:prstGeom>
          <a:noFill/>
        </p:spPr>
        <p:txBody>
          <a:bodyPr wrap="square" lIns="0" tIns="0" rIns="0" bIns="0" rtlCol="0" anchor="ctr"/>
          <a:lstStyle/>
          <a:p>
            <a:pPr marL="0" indent="0" algn="ctr">
              <a:buNone/>
            </a:pPr>
            <a:r>
              <a:rPr lang="en-US" sz="7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Volume</a:t>
            </a:r>
            <a:endParaRPr lang="en-US" sz="750" dirty="0"/>
          </a:p>
        </p:txBody>
      </p:sp>
      <p:sp>
        <p:nvSpPr>
          <p:cNvPr id="24" name="Text 22"/>
          <p:cNvSpPr/>
          <p:nvPr/>
        </p:nvSpPr>
        <p:spPr>
          <a:xfrm>
            <a:off x="365760" y="1920240"/>
            <a:ext cx="2048256" cy="457200"/>
          </a:xfrm>
          <a:prstGeom prst="rect">
            <a:avLst/>
          </a:prstGeom>
          <a:noFill/>
        </p:spPr>
        <p:txBody>
          <a:bodyPr wrap="square" lIns="0" tIns="0" rIns="0" bIns="0" rtlCol="0" anchor="ctr"/>
          <a:lstStyle/>
          <a:p>
            <a:pPr marL="0" indent="0" algn="ctr">
              <a:buNone/>
            </a:pPr>
            <a:r>
              <a:rPr lang="en-US" sz="950" b="1" dirty="0">
                <a:solidFill>
                  <a:srgbClr val="0EA5E9"/>
                </a:solidFill>
                <a:latin typeface="Calibri" panose="020F0502020204030204" pitchFamily="34" charset="0"/>
                <a:ea typeface="Calibri" panose="020F0502020204030204" pitchFamily="34" charset="-122"/>
                <a:cs typeface="Calibri" panose="020F0502020204030204" pitchFamily="34" charset="-120"/>
              </a:rPr>
              <a:t>System</a:t>
            </a:r>
            <a:endParaRPr lang="en-US" sz="950" dirty="0"/>
          </a:p>
          <a:p>
            <a:pPr marL="0" indent="0" algn="ctr">
              <a:buNone/>
            </a:pPr>
            <a:r>
              <a:rPr lang="en-US" sz="950" b="1" dirty="0">
                <a:solidFill>
                  <a:srgbClr val="0EA5E9"/>
                </a:solidFill>
                <a:latin typeface="Calibri" panose="020F0502020204030204" pitchFamily="34" charset="0"/>
                <a:ea typeface="Calibri" panose="020F0502020204030204" pitchFamily="34" charset="-122"/>
                <a:cs typeface="Calibri" panose="020F0502020204030204" pitchFamily="34" charset="-120"/>
              </a:rPr>
              <a:t>Volume</a:t>
            </a:r>
            <a:endParaRPr lang="en-US" sz="950" dirty="0"/>
          </a:p>
        </p:txBody>
      </p:sp>
      <p:sp>
        <p:nvSpPr>
          <p:cNvPr id="25" name="Shape 23"/>
          <p:cNvSpPr/>
          <p:nvPr/>
        </p:nvSpPr>
        <p:spPr>
          <a:xfrm>
            <a:off x="2487168" y="1700784"/>
            <a:ext cx="2048256" cy="713232"/>
          </a:xfrm>
          <a:prstGeom prst="rect">
            <a:avLst/>
          </a:prstGeom>
          <a:solidFill>
            <a:srgbClr val="EEF6FB"/>
          </a:solidFill>
          <a:ln w="12700">
            <a:solidFill>
              <a:srgbClr val="6366F1"/>
            </a:solidFill>
            <a:prstDash val="solid"/>
          </a:ln>
        </p:spPr>
        <p:txBody>
          <a:bodyPr/>
          <a:lstStyle/>
          <a:p>
            <a:endParaRPr lang="en-SG"/>
          </a:p>
        </p:txBody>
      </p:sp>
      <p:sp>
        <p:nvSpPr>
          <p:cNvPr id="26" name="Shape 24"/>
          <p:cNvSpPr/>
          <p:nvPr/>
        </p:nvSpPr>
        <p:spPr>
          <a:xfrm>
            <a:off x="2487168" y="1700784"/>
            <a:ext cx="2048256" cy="201168"/>
          </a:xfrm>
          <a:prstGeom prst="rect">
            <a:avLst/>
          </a:prstGeom>
          <a:solidFill>
            <a:srgbClr val="6366F1"/>
          </a:solidFill>
          <a:ln w="12700">
            <a:solidFill>
              <a:srgbClr val="6366F1"/>
            </a:solidFill>
            <a:prstDash val="solid"/>
          </a:ln>
        </p:spPr>
        <p:txBody>
          <a:bodyPr/>
          <a:lstStyle/>
          <a:p>
            <a:endParaRPr lang="en-SG"/>
          </a:p>
        </p:txBody>
      </p:sp>
      <p:sp>
        <p:nvSpPr>
          <p:cNvPr id="27" name="Text 25"/>
          <p:cNvSpPr/>
          <p:nvPr/>
        </p:nvSpPr>
        <p:spPr>
          <a:xfrm>
            <a:off x="2487168" y="1700784"/>
            <a:ext cx="2048256" cy="201168"/>
          </a:xfrm>
          <a:prstGeom prst="rect">
            <a:avLst/>
          </a:prstGeom>
          <a:noFill/>
        </p:spPr>
        <p:txBody>
          <a:bodyPr wrap="square" lIns="0" tIns="0" rIns="0" bIns="0" rtlCol="0" anchor="ctr"/>
          <a:lstStyle/>
          <a:p>
            <a:pPr marL="0" indent="0" algn="ctr">
              <a:buNone/>
            </a:pPr>
            <a:r>
              <a:rPr lang="en-US" sz="7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Volume</a:t>
            </a:r>
            <a:endParaRPr lang="en-US" sz="750" dirty="0"/>
          </a:p>
        </p:txBody>
      </p:sp>
      <p:sp>
        <p:nvSpPr>
          <p:cNvPr id="28" name="Text 26"/>
          <p:cNvSpPr/>
          <p:nvPr/>
        </p:nvSpPr>
        <p:spPr>
          <a:xfrm>
            <a:off x="2487168" y="1920240"/>
            <a:ext cx="2048256" cy="457200"/>
          </a:xfrm>
          <a:prstGeom prst="rect">
            <a:avLst/>
          </a:prstGeom>
          <a:noFill/>
        </p:spPr>
        <p:txBody>
          <a:bodyPr wrap="square" lIns="0" tIns="0" rIns="0" bIns="0" rtlCol="0" anchor="ctr"/>
          <a:lstStyle/>
          <a:p>
            <a:pPr marL="0" indent="0" algn="ctr">
              <a:buNone/>
            </a:pPr>
            <a:r>
              <a:rPr lang="en-US" sz="950" b="1" dirty="0">
                <a:solidFill>
                  <a:srgbClr val="6366F1"/>
                </a:solidFill>
                <a:latin typeface="Calibri" panose="020F0502020204030204" pitchFamily="34" charset="0"/>
                <a:ea typeface="Calibri" panose="020F0502020204030204" pitchFamily="34" charset="-122"/>
                <a:cs typeface="Calibri" panose="020F0502020204030204" pitchFamily="34" charset="-120"/>
              </a:rPr>
              <a:t>Data</a:t>
            </a:r>
            <a:endParaRPr lang="en-US" sz="950" dirty="0"/>
          </a:p>
          <a:p>
            <a:pPr marL="0" indent="0" algn="ctr">
              <a:buNone/>
            </a:pPr>
            <a:r>
              <a:rPr lang="en-US" sz="950" b="1" dirty="0">
                <a:solidFill>
                  <a:srgbClr val="6366F1"/>
                </a:solidFill>
                <a:latin typeface="Calibri" panose="020F0502020204030204" pitchFamily="34" charset="0"/>
                <a:ea typeface="Calibri" panose="020F0502020204030204" pitchFamily="34" charset="-122"/>
                <a:cs typeface="Calibri" panose="020F0502020204030204" pitchFamily="34" charset="-120"/>
              </a:rPr>
              <a:t>Volume</a:t>
            </a:r>
            <a:endParaRPr lang="en-US" sz="950" dirty="0"/>
          </a:p>
        </p:txBody>
      </p:sp>
      <p:sp>
        <p:nvSpPr>
          <p:cNvPr id="29" name="Shape 27"/>
          <p:cNvSpPr/>
          <p:nvPr/>
        </p:nvSpPr>
        <p:spPr>
          <a:xfrm>
            <a:off x="4608576" y="1700784"/>
            <a:ext cx="2048256" cy="713232"/>
          </a:xfrm>
          <a:prstGeom prst="rect">
            <a:avLst/>
          </a:prstGeom>
          <a:solidFill>
            <a:srgbClr val="EEF6FB"/>
          </a:solidFill>
          <a:ln w="12700">
            <a:solidFill>
              <a:srgbClr val="10B981"/>
            </a:solidFill>
            <a:prstDash val="solid"/>
          </a:ln>
        </p:spPr>
        <p:txBody>
          <a:bodyPr/>
          <a:lstStyle/>
          <a:p>
            <a:endParaRPr lang="en-SG"/>
          </a:p>
        </p:txBody>
      </p:sp>
      <p:sp>
        <p:nvSpPr>
          <p:cNvPr id="30" name="Shape 28"/>
          <p:cNvSpPr/>
          <p:nvPr/>
        </p:nvSpPr>
        <p:spPr>
          <a:xfrm>
            <a:off x="4608576" y="1700784"/>
            <a:ext cx="2048256" cy="201168"/>
          </a:xfrm>
          <a:prstGeom prst="rect">
            <a:avLst/>
          </a:prstGeom>
          <a:solidFill>
            <a:srgbClr val="10B981"/>
          </a:solidFill>
          <a:ln w="12700">
            <a:solidFill>
              <a:srgbClr val="10B981"/>
            </a:solidFill>
            <a:prstDash val="solid"/>
          </a:ln>
        </p:spPr>
        <p:txBody>
          <a:bodyPr/>
          <a:lstStyle/>
          <a:p>
            <a:endParaRPr lang="en-SG"/>
          </a:p>
        </p:txBody>
      </p:sp>
      <p:sp>
        <p:nvSpPr>
          <p:cNvPr id="31" name="Text 29"/>
          <p:cNvSpPr/>
          <p:nvPr/>
        </p:nvSpPr>
        <p:spPr>
          <a:xfrm>
            <a:off x="4608576" y="1700784"/>
            <a:ext cx="2048256" cy="201168"/>
          </a:xfrm>
          <a:prstGeom prst="rect">
            <a:avLst/>
          </a:prstGeom>
          <a:noFill/>
        </p:spPr>
        <p:txBody>
          <a:bodyPr wrap="square" lIns="0" tIns="0" rIns="0" bIns="0" rtlCol="0" anchor="ctr"/>
          <a:lstStyle/>
          <a:p>
            <a:pPr marL="0" indent="0" algn="ctr">
              <a:buNone/>
            </a:pPr>
            <a:r>
              <a:rPr lang="en-US" sz="7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Volume</a:t>
            </a:r>
            <a:endParaRPr lang="en-US" sz="750" dirty="0"/>
          </a:p>
        </p:txBody>
      </p:sp>
      <p:sp>
        <p:nvSpPr>
          <p:cNvPr id="32" name="Text 30"/>
          <p:cNvSpPr/>
          <p:nvPr/>
        </p:nvSpPr>
        <p:spPr>
          <a:xfrm>
            <a:off x="4608576" y="1920240"/>
            <a:ext cx="2048256" cy="457200"/>
          </a:xfrm>
          <a:prstGeom prst="rect">
            <a:avLst/>
          </a:prstGeom>
          <a:noFill/>
        </p:spPr>
        <p:txBody>
          <a:bodyPr wrap="square" lIns="0" tIns="0" rIns="0" bIns="0" rtlCol="0" anchor="ctr"/>
          <a:lstStyle/>
          <a:p>
            <a:pPr marL="0" indent="0" algn="ctr">
              <a:buNone/>
            </a:pPr>
            <a:r>
              <a:rPr lang="en-US" sz="950" b="1" dirty="0">
                <a:solidFill>
                  <a:srgbClr val="10B981"/>
                </a:solidFill>
                <a:latin typeface="Calibri" panose="020F0502020204030204" pitchFamily="34" charset="0"/>
                <a:ea typeface="Calibri" panose="020F0502020204030204" pitchFamily="34" charset="-122"/>
                <a:cs typeface="Calibri" panose="020F0502020204030204" pitchFamily="34" charset="-120"/>
              </a:rPr>
              <a:t>Preboot</a:t>
            </a:r>
            <a:endParaRPr lang="en-US" sz="950" dirty="0"/>
          </a:p>
          <a:p>
            <a:pPr marL="0" indent="0" algn="ctr">
              <a:buNone/>
            </a:pPr>
            <a:r>
              <a:rPr lang="en-US" sz="950" b="1" dirty="0">
                <a:solidFill>
                  <a:srgbClr val="10B981"/>
                </a:solidFill>
                <a:latin typeface="Calibri" panose="020F0502020204030204" pitchFamily="34" charset="0"/>
                <a:ea typeface="Calibri" panose="020F0502020204030204" pitchFamily="34" charset="-122"/>
                <a:cs typeface="Calibri" panose="020F0502020204030204" pitchFamily="34" charset="-120"/>
              </a:rPr>
              <a:t>Volume</a:t>
            </a:r>
            <a:endParaRPr lang="en-US" sz="950" dirty="0"/>
          </a:p>
        </p:txBody>
      </p:sp>
      <p:sp>
        <p:nvSpPr>
          <p:cNvPr id="33" name="Shape 31"/>
          <p:cNvSpPr/>
          <p:nvPr/>
        </p:nvSpPr>
        <p:spPr>
          <a:xfrm>
            <a:off x="6729984" y="1700784"/>
            <a:ext cx="2048256" cy="713232"/>
          </a:xfrm>
          <a:prstGeom prst="rect">
            <a:avLst/>
          </a:prstGeom>
          <a:solidFill>
            <a:srgbClr val="EEF6FB"/>
          </a:solidFill>
          <a:ln w="12700">
            <a:solidFill>
              <a:srgbClr val="EF4444"/>
            </a:solidFill>
            <a:prstDash val="solid"/>
          </a:ln>
        </p:spPr>
        <p:txBody>
          <a:bodyPr/>
          <a:lstStyle/>
          <a:p>
            <a:endParaRPr lang="en-SG"/>
          </a:p>
        </p:txBody>
      </p:sp>
      <p:sp>
        <p:nvSpPr>
          <p:cNvPr id="34" name="Shape 32"/>
          <p:cNvSpPr/>
          <p:nvPr/>
        </p:nvSpPr>
        <p:spPr>
          <a:xfrm>
            <a:off x="6729984" y="1700784"/>
            <a:ext cx="2048256" cy="201168"/>
          </a:xfrm>
          <a:prstGeom prst="rect">
            <a:avLst/>
          </a:prstGeom>
          <a:solidFill>
            <a:srgbClr val="EF4444"/>
          </a:solidFill>
          <a:ln w="12700">
            <a:solidFill>
              <a:srgbClr val="EF4444"/>
            </a:solidFill>
            <a:prstDash val="solid"/>
          </a:ln>
        </p:spPr>
        <p:txBody>
          <a:bodyPr/>
          <a:lstStyle/>
          <a:p>
            <a:endParaRPr lang="en-SG"/>
          </a:p>
        </p:txBody>
      </p:sp>
      <p:sp>
        <p:nvSpPr>
          <p:cNvPr id="35" name="Text 33"/>
          <p:cNvSpPr/>
          <p:nvPr/>
        </p:nvSpPr>
        <p:spPr>
          <a:xfrm>
            <a:off x="6729984" y="1700784"/>
            <a:ext cx="2048256" cy="201168"/>
          </a:xfrm>
          <a:prstGeom prst="rect">
            <a:avLst/>
          </a:prstGeom>
          <a:noFill/>
        </p:spPr>
        <p:txBody>
          <a:bodyPr wrap="square" lIns="0" tIns="0" rIns="0" bIns="0" rtlCol="0" anchor="ctr"/>
          <a:lstStyle/>
          <a:p>
            <a:pPr marL="0" indent="0" algn="ctr">
              <a:buNone/>
            </a:pPr>
            <a:r>
              <a:rPr lang="en-US" sz="7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Volume</a:t>
            </a:r>
            <a:endParaRPr lang="en-US" sz="750" dirty="0"/>
          </a:p>
        </p:txBody>
      </p:sp>
      <p:sp>
        <p:nvSpPr>
          <p:cNvPr id="36" name="Text 34"/>
          <p:cNvSpPr/>
          <p:nvPr/>
        </p:nvSpPr>
        <p:spPr>
          <a:xfrm>
            <a:off x="6729984" y="1920240"/>
            <a:ext cx="2048256" cy="457200"/>
          </a:xfrm>
          <a:prstGeom prst="rect">
            <a:avLst/>
          </a:prstGeom>
          <a:noFill/>
        </p:spPr>
        <p:txBody>
          <a:bodyPr wrap="square" lIns="0" tIns="0" rIns="0" bIns="0" rtlCol="0" anchor="ctr"/>
          <a:lstStyle/>
          <a:p>
            <a:pPr marL="0" indent="0" algn="ctr">
              <a:buNone/>
            </a:pPr>
            <a:r>
              <a:rPr lang="en-US" sz="950" b="1" dirty="0">
                <a:solidFill>
                  <a:srgbClr val="EF4444"/>
                </a:solidFill>
                <a:latin typeface="Calibri" panose="020F0502020204030204" pitchFamily="34" charset="0"/>
                <a:ea typeface="Calibri" panose="020F0502020204030204" pitchFamily="34" charset="-122"/>
                <a:cs typeface="Calibri" panose="020F0502020204030204" pitchFamily="34" charset="-120"/>
              </a:rPr>
              <a:t>Recovery</a:t>
            </a:r>
            <a:endParaRPr lang="en-US" sz="950" dirty="0"/>
          </a:p>
          <a:p>
            <a:pPr marL="0" indent="0" algn="ctr">
              <a:buNone/>
            </a:pPr>
            <a:r>
              <a:rPr lang="en-US" sz="950" b="1" dirty="0">
                <a:solidFill>
                  <a:srgbClr val="EF4444"/>
                </a:solidFill>
                <a:latin typeface="Calibri" panose="020F0502020204030204" pitchFamily="34" charset="0"/>
                <a:ea typeface="Calibri" panose="020F0502020204030204" pitchFamily="34" charset="-122"/>
                <a:cs typeface="Calibri" panose="020F0502020204030204" pitchFamily="34" charset="-120"/>
              </a:rPr>
              <a:t>Volume</a:t>
            </a:r>
            <a:endParaRPr lang="en-US" sz="950" dirty="0"/>
          </a:p>
        </p:txBody>
      </p:sp>
      <p:sp>
        <p:nvSpPr>
          <p:cNvPr id="37" name="Text 35"/>
          <p:cNvSpPr/>
          <p:nvPr/>
        </p:nvSpPr>
        <p:spPr>
          <a:xfrm>
            <a:off x="256032" y="2468880"/>
            <a:ext cx="8631936" cy="182880"/>
          </a:xfrm>
          <a:prstGeom prst="rect">
            <a:avLst/>
          </a:prstGeom>
          <a:noFill/>
        </p:spPr>
        <p:txBody>
          <a:bodyPr wrap="square" rtlCol="0" anchor="ctr"/>
          <a:lstStyle/>
          <a:p>
            <a:pPr marL="0" indent="0" algn="ctr">
              <a:buNone/>
            </a:pPr>
            <a:r>
              <a:rPr lang="en-US" sz="850" i="1" dirty="0">
                <a:solidFill>
                  <a:srgbClr val="475569"/>
                </a:solidFill>
                <a:latin typeface="Calibri" panose="020F0502020204030204" pitchFamily="34" charset="0"/>
                <a:ea typeface="Calibri" panose="020F0502020204030204" pitchFamily="34" charset="-122"/>
                <a:cs typeface="Calibri" panose="020F0502020204030204" pitchFamily="34" charset="-120"/>
              </a:rPr>
              <a:t>↑  All volumes share the container's free space — no fixed sizes required  ↑</a:t>
            </a:r>
            <a:endParaRPr lang="en-US" sz="850" dirty="0"/>
          </a:p>
        </p:txBody>
      </p:sp>
      <p:sp>
        <p:nvSpPr>
          <p:cNvPr id="38" name="Shape 36"/>
          <p:cNvSpPr/>
          <p:nvPr/>
        </p:nvSpPr>
        <p:spPr>
          <a:xfrm>
            <a:off x="256032" y="3657600"/>
            <a:ext cx="2029968" cy="1133856"/>
          </a:xfrm>
          <a:prstGeom prst="rect">
            <a:avLst/>
          </a:prstGeom>
          <a:solidFill>
            <a:srgbClr val="EEF6FB"/>
          </a:solidFill>
          <a:ln w="12700">
            <a:solidFill>
              <a:srgbClr val="6366F1"/>
            </a:solidFill>
            <a:prstDash val="solid"/>
          </a:ln>
          <a:effectLst>
            <a:outerShdw blurRad="127000" dist="38100" dir="8100000" algn="bl" rotWithShape="0">
              <a:srgbClr val="000000">
                <a:alpha val="22000"/>
              </a:srgbClr>
            </a:outerShdw>
          </a:effectLst>
        </p:spPr>
        <p:txBody>
          <a:bodyPr/>
          <a:lstStyle/>
          <a:p>
            <a:endParaRPr lang="en-SG"/>
          </a:p>
        </p:txBody>
      </p:sp>
      <p:sp>
        <p:nvSpPr>
          <p:cNvPr id="39" name="Shape 37"/>
          <p:cNvSpPr/>
          <p:nvPr/>
        </p:nvSpPr>
        <p:spPr>
          <a:xfrm>
            <a:off x="256032" y="3657600"/>
            <a:ext cx="2029968" cy="237744"/>
          </a:xfrm>
          <a:prstGeom prst="rect">
            <a:avLst/>
          </a:prstGeom>
          <a:solidFill>
            <a:srgbClr val="6366F1"/>
          </a:solidFill>
          <a:ln w="12700">
            <a:solidFill>
              <a:srgbClr val="6366F1"/>
            </a:solidFill>
            <a:prstDash val="solid"/>
          </a:ln>
        </p:spPr>
        <p:txBody>
          <a:bodyPr/>
          <a:lstStyle/>
          <a:p>
            <a:endParaRPr lang="en-SG"/>
          </a:p>
        </p:txBody>
      </p:sp>
      <p:sp>
        <p:nvSpPr>
          <p:cNvPr id="40" name="Text 38"/>
          <p:cNvSpPr/>
          <p:nvPr/>
        </p:nvSpPr>
        <p:spPr>
          <a:xfrm>
            <a:off x="347472" y="3685032"/>
            <a:ext cx="1883664" cy="201168"/>
          </a:xfrm>
          <a:prstGeom prst="rect">
            <a:avLst/>
          </a:prstGeom>
          <a:noFill/>
        </p:spPr>
        <p:txBody>
          <a:bodyPr wrap="square" lIns="0" tIns="0" rIns="0" bIns="0" rtlCol="0" anchor="ctr"/>
          <a:lstStyle/>
          <a:p>
            <a:pPr marL="0" indent="0">
              <a:buNone/>
            </a:pPr>
            <a:r>
              <a:rPr lang="en-US" sz="9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Container Superblock</a:t>
            </a:r>
            <a:endParaRPr lang="en-US" sz="950" dirty="0"/>
          </a:p>
        </p:txBody>
      </p:sp>
      <p:sp>
        <p:nvSpPr>
          <p:cNvPr id="41" name="Text 39"/>
          <p:cNvSpPr/>
          <p:nvPr/>
        </p:nvSpPr>
        <p:spPr>
          <a:xfrm>
            <a:off x="347472" y="3931920"/>
            <a:ext cx="1865376" cy="804672"/>
          </a:xfrm>
          <a:prstGeom prst="rect">
            <a:avLst/>
          </a:prstGeom>
          <a:noFill/>
        </p:spPr>
        <p:txBody>
          <a:bodyPr wrap="square" rtlCol="0" anchor="t"/>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Entry point to APFS. Stores block size, total block count, volume list, and pointer to the Checkpoint area. Multiple copies held in the Checkpoint buffer.</a:t>
            </a:r>
            <a:endParaRPr lang="en-US" sz="850" dirty="0"/>
          </a:p>
        </p:txBody>
      </p:sp>
      <p:sp>
        <p:nvSpPr>
          <p:cNvPr id="42" name="Shape 40"/>
          <p:cNvSpPr/>
          <p:nvPr/>
        </p:nvSpPr>
        <p:spPr>
          <a:xfrm>
            <a:off x="2395728" y="3657600"/>
            <a:ext cx="2029968" cy="1133856"/>
          </a:xfrm>
          <a:prstGeom prst="rect">
            <a:avLst/>
          </a:prstGeom>
          <a:solidFill>
            <a:srgbClr val="EEF6FB"/>
          </a:solidFill>
          <a:ln w="12700">
            <a:solidFill>
              <a:srgbClr val="10B981"/>
            </a:solidFill>
            <a:prstDash val="solid"/>
          </a:ln>
          <a:effectLst>
            <a:outerShdw blurRad="127000" dist="38100" dir="8100000" algn="bl" rotWithShape="0">
              <a:srgbClr val="000000">
                <a:alpha val="22000"/>
              </a:srgbClr>
            </a:outerShdw>
          </a:effectLst>
        </p:spPr>
        <p:txBody>
          <a:bodyPr/>
          <a:lstStyle/>
          <a:p>
            <a:endParaRPr lang="en-SG"/>
          </a:p>
        </p:txBody>
      </p:sp>
      <p:sp>
        <p:nvSpPr>
          <p:cNvPr id="43" name="Shape 41"/>
          <p:cNvSpPr/>
          <p:nvPr/>
        </p:nvSpPr>
        <p:spPr>
          <a:xfrm>
            <a:off x="2395728" y="3657600"/>
            <a:ext cx="2029968" cy="237744"/>
          </a:xfrm>
          <a:prstGeom prst="rect">
            <a:avLst/>
          </a:prstGeom>
          <a:solidFill>
            <a:srgbClr val="10B981"/>
          </a:solidFill>
          <a:ln w="12700">
            <a:solidFill>
              <a:srgbClr val="10B981"/>
            </a:solidFill>
            <a:prstDash val="solid"/>
          </a:ln>
        </p:spPr>
        <p:txBody>
          <a:bodyPr/>
          <a:lstStyle/>
          <a:p>
            <a:endParaRPr lang="en-SG"/>
          </a:p>
        </p:txBody>
      </p:sp>
      <p:sp>
        <p:nvSpPr>
          <p:cNvPr id="44" name="Text 42"/>
          <p:cNvSpPr/>
          <p:nvPr/>
        </p:nvSpPr>
        <p:spPr>
          <a:xfrm>
            <a:off x="2487168" y="3685032"/>
            <a:ext cx="1883664" cy="201168"/>
          </a:xfrm>
          <a:prstGeom prst="rect">
            <a:avLst/>
          </a:prstGeom>
          <a:noFill/>
        </p:spPr>
        <p:txBody>
          <a:bodyPr wrap="square" lIns="0" tIns="0" rIns="0" bIns="0" rtlCol="0" anchor="ctr"/>
          <a:lstStyle/>
          <a:p>
            <a:pPr marL="0" indent="0">
              <a:buNone/>
            </a:pPr>
            <a:r>
              <a:rPr lang="en-US" sz="9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Volume Superblock</a:t>
            </a:r>
            <a:endParaRPr lang="en-US" sz="950" dirty="0"/>
          </a:p>
        </p:txBody>
      </p:sp>
      <p:sp>
        <p:nvSpPr>
          <p:cNvPr id="45" name="Text 43"/>
          <p:cNvSpPr/>
          <p:nvPr/>
        </p:nvSpPr>
        <p:spPr>
          <a:xfrm>
            <a:off x="2487168" y="3931920"/>
            <a:ext cx="1865376" cy="804672"/>
          </a:xfrm>
          <a:prstGeom prst="rect">
            <a:avLst/>
          </a:prstGeom>
          <a:noFill/>
        </p:spPr>
        <p:txBody>
          <a:bodyPr wrap="square" rtlCol="0" anchor="t"/>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One per APFS volume. Stores volume name, UUID, timestamps, root B-tree location, extent ref tree, and snapshot metadata tree. Mounted independently.</a:t>
            </a:r>
            <a:endParaRPr lang="en-US" sz="850" dirty="0"/>
          </a:p>
        </p:txBody>
      </p:sp>
      <p:sp>
        <p:nvSpPr>
          <p:cNvPr id="46" name="Shape 44"/>
          <p:cNvSpPr/>
          <p:nvPr/>
        </p:nvSpPr>
        <p:spPr>
          <a:xfrm>
            <a:off x="4535424" y="3657600"/>
            <a:ext cx="2029968" cy="1133856"/>
          </a:xfrm>
          <a:prstGeom prst="rect">
            <a:avLst/>
          </a:prstGeom>
          <a:solidFill>
            <a:srgbClr val="EEF6FB"/>
          </a:solidFill>
          <a:ln w="12700">
            <a:solidFill>
              <a:srgbClr val="F59E0B"/>
            </a:solidFill>
            <a:prstDash val="solid"/>
          </a:ln>
          <a:effectLst>
            <a:outerShdw blurRad="127000" dist="38100" dir="8100000" algn="bl" rotWithShape="0">
              <a:srgbClr val="000000">
                <a:alpha val="22000"/>
              </a:srgbClr>
            </a:outerShdw>
          </a:effectLst>
        </p:spPr>
        <p:txBody>
          <a:bodyPr/>
          <a:lstStyle/>
          <a:p>
            <a:endParaRPr lang="en-SG"/>
          </a:p>
        </p:txBody>
      </p:sp>
      <p:sp>
        <p:nvSpPr>
          <p:cNvPr id="47" name="Shape 45"/>
          <p:cNvSpPr/>
          <p:nvPr/>
        </p:nvSpPr>
        <p:spPr>
          <a:xfrm>
            <a:off x="4535424" y="3657600"/>
            <a:ext cx="2029968" cy="237744"/>
          </a:xfrm>
          <a:prstGeom prst="rect">
            <a:avLst/>
          </a:prstGeom>
          <a:solidFill>
            <a:srgbClr val="F59E0B"/>
          </a:solidFill>
          <a:ln w="12700">
            <a:solidFill>
              <a:srgbClr val="F59E0B"/>
            </a:solidFill>
            <a:prstDash val="solid"/>
          </a:ln>
        </p:spPr>
        <p:txBody>
          <a:bodyPr/>
          <a:lstStyle/>
          <a:p>
            <a:endParaRPr lang="en-SG"/>
          </a:p>
        </p:txBody>
      </p:sp>
      <p:sp>
        <p:nvSpPr>
          <p:cNvPr id="48" name="Text 46"/>
          <p:cNvSpPr/>
          <p:nvPr/>
        </p:nvSpPr>
        <p:spPr>
          <a:xfrm>
            <a:off x="4626864" y="3685032"/>
            <a:ext cx="1883664" cy="201168"/>
          </a:xfrm>
          <a:prstGeom prst="rect">
            <a:avLst/>
          </a:prstGeom>
          <a:noFill/>
        </p:spPr>
        <p:txBody>
          <a:bodyPr wrap="square" lIns="0" tIns="0" rIns="0" bIns="0" rtlCol="0" anchor="ctr"/>
          <a:lstStyle/>
          <a:p>
            <a:pPr marL="0" indent="0">
              <a:buNone/>
            </a:pPr>
            <a:r>
              <a:rPr lang="en-US" sz="9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B-Tree (File System Tree)</a:t>
            </a:r>
            <a:endParaRPr lang="en-US" sz="950" dirty="0"/>
          </a:p>
        </p:txBody>
      </p:sp>
      <p:sp>
        <p:nvSpPr>
          <p:cNvPr id="49" name="Text 47"/>
          <p:cNvSpPr/>
          <p:nvPr/>
        </p:nvSpPr>
        <p:spPr>
          <a:xfrm>
            <a:off x="4626864" y="3931920"/>
            <a:ext cx="1865376" cy="804672"/>
          </a:xfrm>
          <a:prstGeom prst="rect">
            <a:avLst/>
          </a:prstGeom>
          <a:noFill/>
        </p:spPr>
        <p:txBody>
          <a:bodyPr wrap="square" rtlCol="0" anchor="t"/>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All file metadata (inodes, directory entries, extended attributes, extents) stored in a B-tree keyed by object ID. Leaf nodes hold file/directory records.</a:t>
            </a:r>
            <a:endParaRPr lang="en-US" sz="850" dirty="0"/>
          </a:p>
        </p:txBody>
      </p:sp>
      <p:sp>
        <p:nvSpPr>
          <p:cNvPr id="50" name="Shape 48"/>
          <p:cNvSpPr/>
          <p:nvPr/>
        </p:nvSpPr>
        <p:spPr>
          <a:xfrm>
            <a:off x="6675120" y="3657600"/>
            <a:ext cx="2029968" cy="1133856"/>
          </a:xfrm>
          <a:prstGeom prst="rect">
            <a:avLst/>
          </a:prstGeom>
          <a:solidFill>
            <a:srgbClr val="EEF6FB"/>
          </a:solidFill>
          <a:ln w="12700">
            <a:solidFill>
              <a:srgbClr val="0EA5E9"/>
            </a:solidFill>
            <a:prstDash val="solid"/>
          </a:ln>
          <a:effectLst>
            <a:outerShdw blurRad="127000" dist="38100" dir="8100000" algn="bl" rotWithShape="0">
              <a:srgbClr val="000000">
                <a:alpha val="22000"/>
              </a:srgbClr>
            </a:outerShdw>
          </a:effectLst>
        </p:spPr>
        <p:txBody>
          <a:bodyPr/>
          <a:lstStyle/>
          <a:p>
            <a:endParaRPr lang="en-SG"/>
          </a:p>
        </p:txBody>
      </p:sp>
      <p:sp>
        <p:nvSpPr>
          <p:cNvPr id="51" name="Shape 49"/>
          <p:cNvSpPr/>
          <p:nvPr/>
        </p:nvSpPr>
        <p:spPr>
          <a:xfrm>
            <a:off x="6675120" y="3657600"/>
            <a:ext cx="2029968" cy="237744"/>
          </a:xfrm>
          <a:prstGeom prst="rect">
            <a:avLst/>
          </a:prstGeom>
          <a:solidFill>
            <a:srgbClr val="0EA5E9"/>
          </a:solidFill>
          <a:ln w="12700">
            <a:solidFill>
              <a:srgbClr val="0EA5E9"/>
            </a:solidFill>
            <a:prstDash val="solid"/>
          </a:ln>
        </p:spPr>
        <p:txBody>
          <a:bodyPr/>
          <a:lstStyle/>
          <a:p>
            <a:endParaRPr lang="en-SG"/>
          </a:p>
        </p:txBody>
      </p:sp>
      <p:sp>
        <p:nvSpPr>
          <p:cNvPr id="52" name="Text 50"/>
          <p:cNvSpPr/>
          <p:nvPr/>
        </p:nvSpPr>
        <p:spPr>
          <a:xfrm>
            <a:off x="6766560" y="3685032"/>
            <a:ext cx="1883664" cy="201168"/>
          </a:xfrm>
          <a:prstGeom prst="rect">
            <a:avLst/>
          </a:prstGeom>
          <a:noFill/>
        </p:spPr>
        <p:txBody>
          <a:bodyPr wrap="square" lIns="0" tIns="0" rIns="0" bIns="0" rtlCol="0" anchor="ctr"/>
          <a:lstStyle/>
          <a:p>
            <a:pPr marL="0" indent="0">
              <a:buNone/>
            </a:pPr>
            <a:r>
              <a:rPr lang="en-US" sz="95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Space Manager &amp; Bitmaps</a:t>
            </a:r>
            <a:endParaRPr lang="en-US" sz="950" dirty="0"/>
          </a:p>
        </p:txBody>
      </p:sp>
      <p:sp>
        <p:nvSpPr>
          <p:cNvPr id="53" name="Text 51"/>
          <p:cNvSpPr/>
          <p:nvPr/>
        </p:nvSpPr>
        <p:spPr>
          <a:xfrm>
            <a:off x="6766560" y="3931920"/>
            <a:ext cx="1865376" cy="804672"/>
          </a:xfrm>
          <a:prstGeom prst="rect">
            <a:avLst/>
          </a:prstGeom>
          <a:noFill/>
        </p:spPr>
        <p:txBody>
          <a:bodyPr wrap="square" rtlCol="0" anchor="t"/>
          <a:lstStyle/>
          <a:p>
            <a:pPr marL="0" indent="0">
              <a:buNone/>
            </a:pPr>
            <a:r>
              <a:rPr lang="en-US" sz="850" dirty="0">
                <a:solidFill>
                  <a:srgbClr val="1A1A2E"/>
                </a:solidFill>
                <a:latin typeface="Calibri" panose="020F0502020204030204" pitchFamily="34" charset="0"/>
                <a:ea typeface="Calibri" panose="020F0502020204030204" pitchFamily="34" charset="-122"/>
                <a:cs typeface="Calibri" panose="020F0502020204030204" pitchFamily="34" charset="-120"/>
              </a:rPr>
              <a:t>Shared bitmap across all volumes. Space is pooled — volumes grow and shrink as needed. No repartitioning required. Bitmap covers the entire container.</a:t>
            </a:r>
            <a:endParaRPr lang="en-US" sz="8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94944"/>
          </a:xfrm>
          <a:prstGeom prst="rect">
            <a:avLst/>
          </a:prstGeom>
          <a:solidFill>
            <a:srgbClr val="FFFFFF"/>
          </a:solidFill>
          <a:ln w="12700">
            <a:solidFill>
              <a:srgbClr val="E2E8F0"/>
            </a:solidFill>
            <a:prstDash val="solid"/>
          </a:ln>
        </p:spPr>
        <p:txBody>
          <a:bodyPr/>
          <a:lstStyle/>
          <a:p>
            <a:endParaRPr lang="en-SG"/>
          </a:p>
        </p:txBody>
      </p:sp>
      <p:sp>
        <p:nvSpPr>
          <p:cNvPr id="3" name="Text 1"/>
          <p:cNvSpPr/>
          <p:nvPr/>
        </p:nvSpPr>
        <p:spPr>
          <a:xfrm>
            <a:off x="256032" y="73152"/>
            <a:ext cx="8631936" cy="530352"/>
          </a:xfrm>
          <a:prstGeom prst="rect">
            <a:avLst/>
          </a:prstGeom>
          <a:noFill/>
        </p:spPr>
        <p:txBody>
          <a:bodyPr wrap="square" lIns="0" tIns="0" rIns="0" bIns="0" rtlCol="0" anchor="ctr"/>
          <a:lstStyle/>
          <a:p>
            <a:pPr marL="0" indent="0">
              <a:buNone/>
            </a:pPr>
            <a:r>
              <a:rPr lang="en-US" sz="1800" b="1" dirty="0">
                <a:solidFill>
                  <a:srgbClr val="1A1A2E"/>
                </a:solidFill>
                <a:latin typeface="Trebuchet MS" panose="020B0603020202020204" pitchFamily="34" charset="0"/>
                <a:ea typeface="Trebuchet MS" panose="020B0603020202020204" pitchFamily="34" charset="-122"/>
                <a:cs typeface="Trebuchet MS" panose="020B0603020202020204" pitchFamily="34" charset="-120"/>
              </a:rPr>
              <a:t>Week 3 — Full Summary: File Systems</a:t>
            </a:r>
            <a:endParaRPr lang="en-US" sz="1800" dirty="0"/>
          </a:p>
        </p:txBody>
      </p:sp>
      <p:sp>
        <p:nvSpPr>
          <p:cNvPr id="4" name="Shape 2"/>
          <p:cNvSpPr/>
          <p:nvPr/>
        </p:nvSpPr>
        <p:spPr>
          <a:xfrm>
            <a:off x="256032" y="768096"/>
            <a:ext cx="2029968" cy="1280160"/>
          </a:xfrm>
          <a:prstGeom prst="rect">
            <a:avLst/>
          </a:prstGeom>
          <a:noFill/>
          <a:ln w="12700">
            <a:solidFill>
              <a:srgbClr val="6366F1"/>
            </a:solidFill>
            <a:prstDash val="solid"/>
          </a:ln>
        </p:spPr>
        <p:txBody>
          <a:bodyPr/>
          <a:lstStyle/>
          <a:p>
            <a:endParaRPr lang="en-SG"/>
          </a:p>
        </p:txBody>
      </p:sp>
      <p:sp>
        <p:nvSpPr>
          <p:cNvPr id="5" name="Shape 3"/>
          <p:cNvSpPr/>
          <p:nvPr/>
        </p:nvSpPr>
        <p:spPr>
          <a:xfrm>
            <a:off x="256032" y="768096"/>
            <a:ext cx="2029968" cy="237744"/>
          </a:xfrm>
          <a:prstGeom prst="rect">
            <a:avLst/>
          </a:prstGeom>
          <a:solidFill>
            <a:srgbClr val="6366F1"/>
          </a:solidFill>
          <a:ln w="12700">
            <a:solidFill>
              <a:srgbClr val="6366F1"/>
            </a:solidFill>
            <a:prstDash val="solid"/>
          </a:ln>
        </p:spPr>
        <p:txBody>
          <a:bodyPr/>
          <a:lstStyle/>
          <a:p>
            <a:endParaRPr lang="en-SG"/>
          </a:p>
        </p:txBody>
      </p:sp>
      <p:sp>
        <p:nvSpPr>
          <p:cNvPr id="6" name="Text 4"/>
          <p:cNvSpPr/>
          <p:nvPr/>
        </p:nvSpPr>
        <p:spPr>
          <a:xfrm>
            <a:off x="347472" y="795528"/>
            <a:ext cx="1883664" cy="201168"/>
          </a:xfrm>
          <a:prstGeom prst="rect">
            <a:avLst/>
          </a:prstGeom>
          <a:noFill/>
        </p:spPr>
        <p:txBody>
          <a:bodyPr wrap="square" lIns="0" tIns="0" rIns="0" bIns="0" rtlCol="0" anchor="ctr"/>
          <a:lstStyle/>
          <a:p>
            <a:pPr marL="0" indent="0">
              <a:buNone/>
            </a:pPr>
            <a:r>
              <a:rPr lang="en-US" sz="9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Intro</a:t>
            </a:r>
            <a:endParaRPr lang="en-US" sz="900" dirty="0"/>
          </a:p>
        </p:txBody>
      </p:sp>
      <p:sp>
        <p:nvSpPr>
          <p:cNvPr id="7" name="Shape 5"/>
          <p:cNvSpPr/>
          <p:nvPr/>
        </p:nvSpPr>
        <p:spPr>
          <a:xfrm>
            <a:off x="347472" y="1060704"/>
            <a:ext cx="91440" cy="91440"/>
          </a:xfrm>
          <a:prstGeom prst="line">
            <a:avLst/>
          </a:prstGeom>
          <a:solidFill>
            <a:srgbClr val="6366F1"/>
          </a:solidFill>
          <a:ln w="12700">
            <a:solidFill>
              <a:srgbClr val="6366F1"/>
            </a:solidFill>
            <a:prstDash val="solid"/>
          </a:ln>
        </p:spPr>
        <p:txBody>
          <a:bodyPr/>
          <a:lstStyle/>
          <a:p>
            <a:endParaRPr lang="en-SG"/>
          </a:p>
        </p:txBody>
      </p:sp>
      <p:sp>
        <p:nvSpPr>
          <p:cNvPr id="8" name="Text 6"/>
          <p:cNvSpPr/>
          <p:nvPr/>
        </p:nvSpPr>
        <p:spPr>
          <a:xfrm>
            <a:off x="493776" y="1042416"/>
            <a:ext cx="1737360" cy="237744"/>
          </a:xfrm>
          <a:prstGeom prst="rect">
            <a:avLst/>
          </a:prstGeom>
          <a:noFill/>
        </p:spPr>
        <p:txBody>
          <a:bodyPr wrap="square" rtlCol="0" anchor="ctr"/>
          <a:lstStyle/>
          <a:p>
            <a:pPr marL="0" indent="0">
              <a:buNone/>
            </a:pPr>
            <a:r>
              <a:rPr lang="en-US" sz="800" dirty="0">
                <a:solidFill>
                  <a:srgbClr val="1A1A2E"/>
                </a:solidFill>
                <a:latin typeface="Calibri" panose="020F0502020204030204" pitchFamily="34" charset="0"/>
                <a:ea typeface="Calibri" panose="020F0502020204030204" pitchFamily="34" charset="-122"/>
                <a:cs typeface="Calibri" panose="020F0502020204030204" pitchFamily="34" charset="-120"/>
              </a:rPr>
              <a:t>File system definition — organise, store, retrieve data</a:t>
            </a:r>
            <a:endParaRPr lang="en-US" sz="800" dirty="0"/>
          </a:p>
        </p:txBody>
      </p:sp>
      <p:sp>
        <p:nvSpPr>
          <p:cNvPr id="9" name="Shape 7"/>
          <p:cNvSpPr/>
          <p:nvPr/>
        </p:nvSpPr>
        <p:spPr>
          <a:xfrm>
            <a:off x="347472" y="1298448"/>
            <a:ext cx="91440" cy="91440"/>
          </a:xfrm>
          <a:prstGeom prst="line">
            <a:avLst/>
          </a:prstGeom>
          <a:solidFill>
            <a:srgbClr val="6366F1"/>
          </a:solidFill>
          <a:ln w="12700">
            <a:solidFill>
              <a:srgbClr val="6366F1"/>
            </a:solidFill>
            <a:prstDash val="solid"/>
          </a:ln>
        </p:spPr>
        <p:txBody>
          <a:bodyPr/>
          <a:lstStyle/>
          <a:p>
            <a:endParaRPr lang="en-SG"/>
          </a:p>
        </p:txBody>
      </p:sp>
      <p:sp>
        <p:nvSpPr>
          <p:cNvPr id="10" name="Text 8"/>
          <p:cNvSpPr/>
          <p:nvPr/>
        </p:nvSpPr>
        <p:spPr>
          <a:xfrm>
            <a:off x="493776" y="1280160"/>
            <a:ext cx="1737360" cy="237744"/>
          </a:xfrm>
          <a:prstGeom prst="rect">
            <a:avLst/>
          </a:prstGeom>
          <a:noFill/>
        </p:spPr>
        <p:txBody>
          <a:bodyPr wrap="square" rtlCol="0" anchor="ctr"/>
          <a:lstStyle/>
          <a:p>
            <a:pPr marL="0" indent="0">
              <a:buNone/>
            </a:pPr>
            <a:r>
              <a:rPr lang="en-US" sz="800" dirty="0">
                <a:solidFill>
                  <a:srgbClr val="1A1A2E"/>
                </a:solidFill>
                <a:latin typeface="Calibri" panose="020F0502020204030204" pitchFamily="34" charset="0"/>
                <a:ea typeface="Calibri" panose="020F0502020204030204" pitchFamily="34" charset="-122"/>
                <a:cs typeface="Calibri" panose="020F0502020204030204" pitchFamily="34" charset="-120"/>
              </a:rPr>
              <a:t>Main components: Content, Name, Metadata, Application layer</a:t>
            </a:r>
            <a:endParaRPr lang="en-US" sz="800" dirty="0"/>
          </a:p>
        </p:txBody>
      </p:sp>
      <p:sp>
        <p:nvSpPr>
          <p:cNvPr id="11" name="Shape 9"/>
          <p:cNvSpPr/>
          <p:nvPr/>
        </p:nvSpPr>
        <p:spPr>
          <a:xfrm>
            <a:off x="347472" y="1536192"/>
            <a:ext cx="91440" cy="91440"/>
          </a:xfrm>
          <a:prstGeom prst="line">
            <a:avLst/>
          </a:prstGeom>
          <a:solidFill>
            <a:srgbClr val="6366F1"/>
          </a:solidFill>
          <a:ln w="12700">
            <a:solidFill>
              <a:srgbClr val="6366F1"/>
            </a:solidFill>
            <a:prstDash val="solid"/>
          </a:ln>
        </p:spPr>
        <p:txBody>
          <a:bodyPr/>
          <a:lstStyle/>
          <a:p>
            <a:endParaRPr lang="en-SG"/>
          </a:p>
        </p:txBody>
      </p:sp>
      <p:sp>
        <p:nvSpPr>
          <p:cNvPr id="12" name="Text 10"/>
          <p:cNvSpPr/>
          <p:nvPr/>
        </p:nvSpPr>
        <p:spPr>
          <a:xfrm>
            <a:off x="493776" y="1517904"/>
            <a:ext cx="1737360" cy="237744"/>
          </a:xfrm>
          <a:prstGeom prst="rect">
            <a:avLst/>
          </a:prstGeom>
          <a:noFill/>
        </p:spPr>
        <p:txBody>
          <a:bodyPr wrap="square" rtlCol="0" anchor="ctr"/>
          <a:lstStyle/>
          <a:p>
            <a:pPr marL="0" indent="0">
              <a:buNone/>
            </a:pPr>
            <a:r>
              <a:rPr lang="en-US" sz="800" dirty="0">
                <a:solidFill>
                  <a:srgbClr val="1A1A2E"/>
                </a:solidFill>
                <a:latin typeface="Calibri" panose="020F0502020204030204" pitchFamily="34" charset="0"/>
                <a:ea typeface="Calibri" panose="020F0502020204030204" pitchFamily="34" charset="-122"/>
                <a:cs typeface="Calibri" panose="020F0502020204030204" pitchFamily="34" charset="-120"/>
              </a:rPr>
              <a:t>MACB timestamps: Modified, Accessed, Changed, Birth</a:t>
            </a:r>
            <a:endParaRPr lang="en-US" sz="800" dirty="0"/>
          </a:p>
        </p:txBody>
      </p:sp>
      <p:sp>
        <p:nvSpPr>
          <p:cNvPr id="13" name="Shape 11"/>
          <p:cNvSpPr/>
          <p:nvPr/>
        </p:nvSpPr>
        <p:spPr>
          <a:xfrm>
            <a:off x="2395728" y="768096"/>
            <a:ext cx="2029968" cy="1280160"/>
          </a:xfrm>
          <a:prstGeom prst="rect">
            <a:avLst/>
          </a:prstGeom>
          <a:noFill/>
          <a:ln w="12700">
            <a:solidFill>
              <a:srgbClr val="F59E0B"/>
            </a:solidFill>
            <a:prstDash val="solid"/>
          </a:ln>
        </p:spPr>
        <p:txBody>
          <a:bodyPr/>
          <a:lstStyle/>
          <a:p>
            <a:endParaRPr lang="en-SG"/>
          </a:p>
        </p:txBody>
      </p:sp>
      <p:sp>
        <p:nvSpPr>
          <p:cNvPr id="14" name="Shape 12"/>
          <p:cNvSpPr/>
          <p:nvPr/>
        </p:nvSpPr>
        <p:spPr>
          <a:xfrm>
            <a:off x="2395728" y="768096"/>
            <a:ext cx="2029968" cy="237744"/>
          </a:xfrm>
          <a:prstGeom prst="rect">
            <a:avLst/>
          </a:prstGeom>
          <a:solidFill>
            <a:srgbClr val="F59E0B"/>
          </a:solidFill>
          <a:ln w="12700">
            <a:solidFill>
              <a:srgbClr val="F59E0B"/>
            </a:solidFill>
            <a:prstDash val="solid"/>
          </a:ln>
        </p:spPr>
        <p:txBody>
          <a:bodyPr/>
          <a:lstStyle/>
          <a:p>
            <a:endParaRPr lang="en-SG"/>
          </a:p>
        </p:txBody>
      </p:sp>
      <p:sp>
        <p:nvSpPr>
          <p:cNvPr id="15" name="Text 13"/>
          <p:cNvSpPr/>
          <p:nvPr/>
        </p:nvSpPr>
        <p:spPr>
          <a:xfrm>
            <a:off x="2487168" y="795528"/>
            <a:ext cx="1883664" cy="201168"/>
          </a:xfrm>
          <a:prstGeom prst="rect">
            <a:avLst/>
          </a:prstGeom>
          <a:noFill/>
        </p:spPr>
        <p:txBody>
          <a:bodyPr wrap="square" lIns="0" tIns="0" rIns="0" bIns="0" rtlCol="0" anchor="ctr"/>
          <a:lstStyle/>
          <a:p>
            <a:pPr marL="0" indent="0">
              <a:buNone/>
            </a:pPr>
            <a:r>
              <a:rPr lang="en-US" sz="9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FAT File System</a:t>
            </a:r>
            <a:endParaRPr lang="en-US" sz="900" dirty="0"/>
          </a:p>
        </p:txBody>
      </p:sp>
      <p:sp>
        <p:nvSpPr>
          <p:cNvPr id="16" name="Shape 14"/>
          <p:cNvSpPr/>
          <p:nvPr/>
        </p:nvSpPr>
        <p:spPr>
          <a:xfrm>
            <a:off x="2487168" y="1060704"/>
            <a:ext cx="91440" cy="91440"/>
          </a:xfrm>
          <a:prstGeom prst="line">
            <a:avLst/>
          </a:prstGeom>
          <a:solidFill>
            <a:srgbClr val="F59E0B"/>
          </a:solidFill>
          <a:ln w="12700">
            <a:solidFill>
              <a:srgbClr val="F59E0B"/>
            </a:solidFill>
            <a:prstDash val="solid"/>
          </a:ln>
        </p:spPr>
        <p:txBody>
          <a:bodyPr/>
          <a:lstStyle/>
          <a:p>
            <a:endParaRPr lang="en-SG"/>
          </a:p>
        </p:txBody>
      </p:sp>
      <p:sp>
        <p:nvSpPr>
          <p:cNvPr id="17" name="Text 15"/>
          <p:cNvSpPr/>
          <p:nvPr/>
        </p:nvSpPr>
        <p:spPr>
          <a:xfrm>
            <a:off x="2633472" y="1042416"/>
            <a:ext cx="1737360" cy="237744"/>
          </a:xfrm>
          <a:prstGeom prst="rect">
            <a:avLst/>
          </a:prstGeom>
          <a:noFill/>
        </p:spPr>
        <p:txBody>
          <a:bodyPr wrap="square" rtlCol="0" anchor="ctr"/>
          <a:lstStyle/>
          <a:p>
            <a:pPr marL="0" indent="0">
              <a:buNone/>
            </a:pPr>
            <a:r>
              <a:rPr lang="en-US" sz="800" dirty="0">
                <a:solidFill>
                  <a:srgbClr val="1A1A2E"/>
                </a:solidFill>
                <a:latin typeface="Calibri" panose="020F0502020204030204" pitchFamily="34" charset="0"/>
                <a:ea typeface="Calibri" panose="020F0502020204030204" pitchFamily="34" charset="-122"/>
                <a:cs typeface="Calibri" panose="020F0502020204030204" pitchFamily="34" charset="-120"/>
              </a:rPr>
              <a:t>FAT12/16/32 comparison — versions and use cases</a:t>
            </a:r>
            <a:endParaRPr lang="en-US" sz="800" dirty="0"/>
          </a:p>
        </p:txBody>
      </p:sp>
      <p:sp>
        <p:nvSpPr>
          <p:cNvPr id="18" name="Shape 16"/>
          <p:cNvSpPr/>
          <p:nvPr/>
        </p:nvSpPr>
        <p:spPr>
          <a:xfrm>
            <a:off x="2487168" y="1298448"/>
            <a:ext cx="91440" cy="91440"/>
          </a:xfrm>
          <a:prstGeom prst="line">
            <a:avLst/>
          </a:prstGeom>
          <a:solidFill>
            <a:srgbClr val="F59E0B"/>
          </a:solidFill>
          <a:ln w="12700">
            <a:solidFill>
              <a:srgbClr val="F59E0B"/>
            </a:solidFill>
            <a:prstDash val="solid"/>
          </a:ln>
        </p:spPr>
        <p:txBody>
          <a:bodyPr/>
          <a:lstStyle/>
          <a:p>
            <a:endParaRPr lang="en-SG"/>
          </a:p>
        </p:txBody>
      </p:sp>
      <p:sp>
        <p:nvSpPr>
          <p:cNvPr id="19" name="Text 17"/>
          <p:cNvSpPr/>
          <p:nvPr/>
        </p:nvSpPr>
        <p:spPr>
          <a:xfrm>
            <a:off x="2633472" y="1280160"/>
            <a:ext cx="1737360" cy="237744"/>
          </a:xfrm>
          <a:prstGeom prst="rect">
            <a:avLst/>
          </a:prstGeom>
          <a:noFill/>
        </p:spPr>
        <p:txBody>
          <a:bodyPr wrap="square" rtlCol="0" anchor="ctr"/>
          <a:lstStyle/>
          <a:p>
            <a:pPr marL="0" indent="0">
              <a:buNone/>
            </a:pPr>
            <a:r>
              <a:rPr lang="en-US" sz="800" dirty="0">
                <a:solidFill>
                  <a:srgbClr val="1A1A2E"/>
                </a:solidFill>
                <a:latin typeface="Calibri" panose="020F0502020204030204" pitchFamily="34" charset="0"/>
                <a:ea typeface="Calibri" panose="020F0502020204030204" pitchFamily="34" charset="-122"/>
                <a:cs typeface="Calibri" panose="020F0502020204030204" pitchFamily="34" charset="-120"/>
              </a:rPr>
              <a:t>Volume structure: Boot Sector, FAT×2, Root Dir, Data</a:t>
            </a:r>
            <a:endParaRPr lang="en-US" sz="800" dirty="0"/>
          </a:p>
        </p:txBody>
      </p:sp>
      <p:sp>
        <p:nvSpPr>
          <p:cNvPr id="20" name="Shape 18"/>
          <p:cNvSpPr/>
          <p:nvPr/>
        </p:nvSpPr>
        <p:spPr>
          <a:xfrm>
            <a:off x="2487168" y="1536192"/>
            <a:ext cx="91440" cy="91440"/>
          </a:xfrm>
          <a:prstGeom prst="line">
            <a:avLst/>
          </a:prstGeom>
          <a:solidFill>
            <a:srgbClr val="F59E0B"/>
          </a:solidFill>
          <a:ln w="12700">
            <a:solidFill>
              <a:srgbClr val="F59E0B"/>
            </a:solidFill>
            <a:prstDash val="solid"/>
          </a:ln>
        </p:spPr>
        <p:txBody>
          <a:bodyPr/>
          <a:lstStyle/>
          <a:p>
            <a:endParaRPr lang="en-SG"/>
          </a:p>
        </p:txBody>
      </p:sp>
      <p:sp>
        <p:nvSpPr>
          <p:cNvPr id="21" name="Text 19"/>
          <p:cNvSpPr/>
          <p:nvPr/>
        </p:nvSpPr>
        <p:spPr>
          <a:xfrm>
            <a:off x="2633472" y="1517904"/>
            <a:ext cx="1737360" cy="237744"/>
          </a:xfrm>
          <a:prstGeom prst="rect">
            <a:avLst/>
          </a:prstGeom>
          <a:noFill/>
        </p:spPr>
        <p:txBody>
          <a:bodyPr wrap="square" rtlCol="0" anchor="ctr"/>
          <a:lstStyle/>
          <a:p>
            <a:pPr marL="0" indent="0">
              <a:buNone/>
            </a:pPr>
            <a:r>
              <a:rPr lang="en-US" sz="800" dirty="0">
                <a:solidFill>
                  <a:srgbClr val="1A1A2E"/>
                </a:solidFill>
                <a:latin typeface="Calibri" panose="020F0502020204030204" pitchFamily="34" charset="0"/>
                <a:ea typeface="Calibri" panose="020F0502020204030204" pitchFamily="34" charset="-122"/>
                <a:cs typeface="Calibri" panose="020F0502020204030204" pitchFamily="34" charset="-120"/>
              </a:rPr>
              <a:t>Boot Sector BPB — bytes/sector, cluster size, FAT size</a:t>
            </a:r>
            <a:endParaRPr lang="en-US" sz="800" dirty="0"/>
          </a:p>
        </p:txBody>
      </p:sp>
      <p:sp>
        <p:nvSpPr>
          <p:cNvPr id="22" name="Shape 20"/>
          <p:cNvSpPr/>
          <p:nvPr/>
        </p:nvSpPr>
        <p:spPr>
          <a:xfrm>
            <a:off x="4535424" y="768096"/>
            <a:ext cx="2029968" cy="1280160"/>
          </a:xfrm>
          <a:prstGeom prst="rect">
            <a:avLst/>
          </a:prstGeom>
          <a:noFill/>
          <a:ln w="12700">
            <a:solidFill>
              <a:srgbClr val="F59E0B"/>
            </a:solidFill>
            <a:prstDash val="solid"/>
          </a:ln>
        </p:spPr>
        <p:txBody>
          <a:bodyPr/>
          <a:lstStyle/>
          <a:p>
            <a:endParaRPr lang="en-SG"/>
          </a:p>
        </p:txBody>
      </p:sp>
      <p:sp>
        <p:nvSpPr>
          <p:cNvPr id="23" name="Shape 21"/>
          <p:cNvSpPr/>
          <p:nvPr/>
        </p:nvSpPr>
        <p:spPr>
          <a:xfrm>
            <a:off x="4535424" y="768096"/>
            <a:ext cx="2029968" cy="237744"/>
          </a:xfrm>
          <a:prstGeom prst="rect">
            <a:avLst/>
          </a:prstGeom>
          <a:solidFill>
            <a:srgbClr val="F59E0B"/>
          </a:solidFill>
          <a:ln w="12700">
            <a:solidFill>
              <a:srgbClr val="F59E0B"/>
            </a:solidFill>
            <a:prstDash val="solid"/>
          </a:ln>
        </p:spPr>
        <p:txBody>
          <a:bodyPr/>
          <a:lstStyle/>
          <a:p>
            <a:endParaRPr lang="en-SG"/>
          </a:p>
        </p:txBody>
      </p:sp>
      <p:sp>
        <p:nvSpPr>
          <p:cNvPr id="24" name="Text 22"/>
          <p:cNvSpPr/>
          <p:nvPr/>
        </p:nvSpPr>
        <p:spPr>
          <a:xfrm>
            <a:off x="4626864" y="795528"/>
            <a:ext cx="1883664" cy="201168"/>
          </a:xfrm>
          <a:prstGeom prst="rect">
            <a:avLst/>
          </a:prstGeom>
          <a:noFill/>
        </p:spPr>
        <p:txBody>
          <a:bodyPr wrap="square" lIns="0" tIns="0" rIns="0" bIns="0" rtlCol="0" anchor="ctr"/>
          <a:lstStyle/>
          <a:p>
            <a:pPr marL="0" indent="0">
              <a:buNone/>
            </a:pPr>
            <a:r>
              <a:rPr lang="en-US" sz="9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FAT Analysis</a:t>
            </a:r>
            <a:endParaRPr lang="en-US" sz="900" dirty="0"/>
          </a:p>
        </p:txBody>
      </p:sp>
      <p:sp>
        <p:nvSpPr>
          <p:cNvPr id="25" name="Shape 23"/>
          <p:cNvSpPr/>
          <p:nvPr/>
        </p:nvSpPr>
        <p:spPr>
          <a:xfrm>
            <a:off x="4626864" y="1060704"/>
            <a:ext cx="91440" cy="91440"/>
          </a:xfrm>
          <a:prstGeom prst="line">
            <a:avLst/>
          </a:prstGeom>
          <a:solidFill>
            <a:srgbClr val="F59E0B"/>
          </a:solidFill>
          <a:ln w="12700">
            <a:solidFill>
              <a:srgbClr val="F59E0B"/>
            </a:solidFill>
            <a:prstDash val="solid"/>
          </a:ln>
        </p:spPr>
        <p:txBody>
          <a:bodyPr/>
          <a:lstStyle/>
          <a:p>
            <a:endParaRPr lang="en-SG"/>
          </a:p>
        </p:txBody>
      </p:sp>
      <p:sp>
        <p:nvSpPr>
          <p:cNvPr id="26" name="Text 24"/>
          <p:cNvSpPr/>
          <p:nvPr/>
        </p:nvSpPr>
        <p:spPr>
          <a:xfrm>
            <a:off x="4773168" y="1042416"/>
            <a:ext cx="1737360" cy="237744"/>
          </a:xfrm>
          <a:prstGeom prst="rect">
            <a:avLst/>
          </a:prstGeom>
          <a:noFill/>
        </p:spPr>
        <p:txBody>
          <a:bodyPr wrap="square" rtlCol="0" anchor="ctr"/>
          <a:lstStyle/>
          <a:p>
            <a:pPr marL="0" indent="0">
              <a:buNone/>
            </a:pPr>
            <a:r>
              <a:rPr lang="en-US" sz="800" dirty="0">
                <a:solidFill>
                  <a:srgbClr val="1A1A2E"/>
                </a:solidFill>
                <a:latin typeface="Calibri" panose="020F0502020204030204" pitchFamily="34" charset="0"/>
                <a:ea typeface="Calibri" panose="020F0502020204030204" pitchFamily="34" charset="-122"/>
                <a:cs typeface="Calibri" panose="020F0502020204030204" pitchFamily="34" charset="-120"/>
              </a:rPr>
              <a:t>EOF (0x0FFFFFF8+) &amp; bad cluster (0x0FFFFFF7) markers</a:t>
            </a:r>
            <a:endParaRPr lang="en-US" sz="800" dirty="0"/>
          </a:p>
        </p:txBody>
      </p:sp>
      <p:sp>
        <p:nvSpPr>
          <p:cNvPr id="27" name="Shape 25"/>
          <p:cNvSpPr/>
          <p:nvPr/>
        </p:nvSpPr>
        <p:spPr>
          <a:xfrm>
            <a:off x="4626864" y="1298448"/>
            <a:ext cx="91440" cy="91440"/>
          </a:xfrm>
          <a:prstGeom prst="line">
            <a:avLst/>
          </a:prstGeom>
          <a:solidFill>
            <a:srgbClr val="F59E0B"/>
          </a:solidFill>
          <a:ln w="12700">
            <a:solidFill>
              <a:srgbClr val="F59E0B"/>
            </a:solidFill>
            <a:prstDash val="solid"/>
          </a:ln>
        </p:spPr>
        <p:txBody>
          <a:bodyPr/>
          <a:lstStyle/>
          <a:p>
            <a:endParaRPr lang="en-SG"/>
          </a:p>
        </p:txBody>
      </p:sp>
      <p:sp>
        <p:nvSpPr>
          <p:cNvPr id="28" name="Text 26"/>
          <p:cNvSpPr/>
          <p:nvPr/>
        </p:nvSpPr>
        <p:spPr>
          <a:xfrm>
            <a:off x="4773168" y="1280160"/>
            <a:ext cx="1737360" cy="237744"/>
          </a:xfrm>
          <a:prstGeom prst="rect">
            <a:avLst/>
          </a:prstGeom>
          <a:noFill/>
        </p:spPr>
        <p:txBody>
          <a:bodyPr wrap="square" rtlCol="0" anchor="ctr"/>
          <a:lstStyle/>
          <a:p>
            <a:pPr marL="0" indent="0">
              <a:buNone/>
            </a:pPr>
            <a:r>
              <a:rPr lang="en-US" sz="800" dirty="0">
                <a:solidFill>
                  <a:srgbClr val="1A1A2E"/>
                </a:solidFill>
                <a:latin typeface="Calibri" panose="020F0502020204030204" pitchFamily="34" charset="0"/>
                <a:ea typeface="Calibri" panose="020F0502020204030204" pitchFamily="34" charset="-122"/>
                <a:cs typeface="Calibri" panose="020F0502020204030204" pitchFamily="34" charset="-120"/>
              </a:rPr>
              <a:t>Cluster chains — following entries to reconstruct files</a:t>
            </a:r>
            <a:endParaRPr lang="en-US" sz="800" dirty="0"/>
          </a:p>
        </p:txBody>
      </p:sp>
      <p:sp>
        <p:nvSpPr>
          <p:cNvPr id="29" name="Shape 27"/>
          <p:cNvSpPr/>
          <p:nvPr/>
        </p:nvSpPr>
        <p:spPr>
          <a:xfrm>
            <a:off x="4626864" y="1536192"/>
            <a:ext cx="91440" cy="91440"/>
          </a:xfrm>
          <a:prstGeom prst="line">
            <a:avLst/>
          </a:prstGeom>
          <a:solidFill>
            <a:srgbClr val="F59E0B"/>
          </a:solidFill>
          <a:ln w="12700">
            <a:solidFill>
              <a:srgbClr val="F59E0B"/>
            </a:solidFill>
            <a:prstDash val="solid"/>
          </a:ln>
        </p:spPr>
        <p:txBody>
          <a:bodyPr/>
          <a:lstStyle/>
          <a:p>
            <a:endParaRPr lang="en-SG"/>
          </a:p>
        </p:txBody>
      </p:sp>
      <p:sp>
        <p:nvSpPr>
          <p:cNvPr id="30" name="Text 28"/>
          <p:cNvSpPr/>
          <p:nvPr/>
        </p:nvSpPr>
        <p:spPr>
          <a:xfrm>
            <a:off x="4773168" y="1517904"/>
            <a:ext cx="1737360" cy="237744"/>
          </a:xfrm>
          <a:prstGeom prst="rect">
            <a:avLst/>
          </a:prstGeom>
          <a:noFill/>
        </p:spPr>
        <p:txBody>
          <a:bodyPr wrap="square" rtlCol="0" anchor="ctr"/>
          <a:lstStyle/>
          <a:p>
            <a:pPr marL="0" indent="0">
              <a:buNone/>
            </a:pPr>
            <a:r>
              <a:rPr lang="en-US" sz="800" dirty="0">
                <a:solidFill>
                  <a:srgbClr val="1A1A2E"/>
                </a:solidFill>
                <a:latin typeface="Calibri" panose="020F0502020204030204" pitchFamily="34" charset="0"/>
                <a:ea typeface="Calibri" panose="020F0502020204030204" pitchFamily="34" charset="-122"/>
                <a:cs typeface="Calibri" panose="020F0502020204030204" pitchFamily="34" charset="-120"/>
              </a:rPr>
              <a:t>SFN (8.3) vs LFN (VFAT) directory entries &amp; structure</a:t>
            </a:r>
            <a:endParaRPr lang="en-US" sz="800" dirty="0"/>
          </a:p>
        </p:txBody>
      </p:sp>
      <p:sp>
        <p:nvSpPr>
          <p:cNvPr id="31" name="Shape 29"/>
          <p:cNvSpPr/>
          <p:nvPr/>
        </p:nvSpPr>
        <p:spPr>
          <a:xfrm>
            <a:off x="6675120" y="768096"/>
            <a:ext cx="2029968" cy="1280160"/>
          </a:xfrm>
          <a:prstGeom prst="rect">
            <a:avLst/>
          </a:prstGeom>
          <a:noFill/>
          <a:ln w="12700">
            <a:solidFill>
              <a:srgbClr val="F59E0B"/>
            </a:solidFill>
            <a:prstDash val="solid"/>
          </a:ln>
        </p:spPr>
        <p:txBody>
          <a:bodyPr/>
          <a:lstStyle/>
          <a:p>
            <a:endParaRPr lang="en-SG"/>
          </a:p>
        </p:txBody>
      </p:sp>
      <p:sp>
        <p:nvSpPr>
          <p:cNvPr id="32" name="Shape 30"/>
          <p:cNvSpPr/>
          <p:nvPr/>
        </p:nvSpPr>
        <p:spPr>
          <a:xfrm>
            <a:off x="6675120" y="768096"/>
            <a:ext cx="2029968" cy="237744"/>
          </a:xfrm>
          <a:prstGeom prst="rect">
            <a:avLst/>
          </a:prstGeom>
          <a:solidFill>
            <a:srgbClr val="F59E0B"/>
          </a:solidFill>
          <a:ln w="12700">
            <a:solidFill>
              <a:srgbClr val="F59E0B"/>
            </a:solidFill>
            <a:prstDash val="solid"/>
          </a:ln>
        </p:spPr>
        <p:txBody>
          <a:bodyPr/>
          <a:lstStyle/>
          <a:p>
            <a:endParaRPr lang="en-SG"/>
          </a:p>
        </p:txBody>
      </p:sp>
      <p:sp>
        <p:nvSpPr>
          <p:cNvPr id="33" name="Text 31"/>
          <p:cNvSpPr/>
          <p:nvPr/>
        </p:nvSpPr>
        <p:spPr>
          <a:xfrm>
            <a:off x="6766560" y="795528"/>
            <a:ext cx="1883664" cy="201168"/>
          </a:xfrm>
          <a:prstGeom prst="rect">
            <a:avLst/>
          </a:prstGeom>
          <a:noFill/>
        </p:spPr>
        <p:txBody>
          <a:bodyPr wrap="square" lIns="0" tIns="0" rIns="0" bIns="0" rtlCol="0" anchor="ctr"/>
          <a:lstStyle/>
          <a:p>
            <a:pPr marL="0" indent="0">
              <a:buNone/>
            </a:pPr>
            <a:r>
              <a:rPr lang="en-US" sz="9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FAT Forensics</a:t>
            </a:r>
            <a:endParaRPr lang="en-US" sz="900" dirty="0"/>
          </a:p>
        </p:txBody>
      </p:sp>
      <p:sp>
        <p:nvSpPr>
          <p:cNvPr id="34" name="Shape 32"/>
          <p:cNvSpPr/>
          <p:nvPr/>
        </p:nvSpPr>
        <p:spPr>
          <a:xfrm>
            <a:off x="6766560" y="1060704"/>
            <a:ext cx="91440" cy="91440"/>
          </a:xfrm>
          <a:prstGeom prst="line">
            <a:avLst/>
          </a:prstGeom>
          <a:solidFill>
            <a:srgbClr val="F59E0B"/>
          </a:solidFill>
          <a:ln w="12700">
            <a:solidFill>
              <a:srgbClr val="F59E0B"/>
            </a:solidFill>
            <a:prstDash val="solid"/>
          </a:ln>
        </p:spPr>
        <p:txBody>
          <a:bodyPr/>
          <a:lstStyle/>
          <a:p>
            <a:endParaRPr lang="en-SG"/>
          </a:p>
        </p:txBody>
      </p:sp>
      <p:sp>
        <p:nvSpPr>
          <p:cNvPr id="35" name="Text 33"/>
          <p:cNvSpPr/>
          <p:nvPr/>
        </p:nvSpPr>
        <p:spPr>
          <a:xfrm>
            <a:off x="6912864" y="1042416"/>
            <a:ext cx="1737360" cy="237744"/>
          </a:xfrm>
          <a:prstGeom prst="rect">
            <a:avLst/>
          </a:prstGeom>
          <a:noFill/>
        </p:spPr>
        <p:txBody>
          <a:bodyPr wrap="square" rtlCol="0" anchor="ctr"/>
          <a:lstStyle/>
          <a:p>
            <a:pPr marL="0" indent="0">
              <a:buNone/>
            </a:pPr>
            <a:r>
              <a:rPr lang="en-US" sz="800" dirty="0">
                <a:solidFill>
                  <a:srgbClr val="1A1A2E"/>
                </a:solidFill>
                <a:latin typeface="Calibri" panose="020F0502020204030204" pitchFamily="34" charset="0"/>
                <a:ea typeface="Calibri" panose="020F0502020204030204" pitchFamily="34" charset="-122"/>
                <a:cs typeface="Calibri" panose="020F0502020204030204" pitchFamily="34" charset="-120"/>
              </a:rPr>
              <a:t>32-byte directory entry byte-offset reference</a:t>
            </a:r>
            <a:endParaRPr lang="en-US" sz="800" dirty="0"/>
          </a:p>
        </p:txBody>
      </p:sp>
      <p:sp>
        <p:nvSpPr>
          <p:cNvPr id="36" name="Shape 34"/>
          <p:cNvSpPr/>
          <p:nvPr/>
        </p:nvSpPr>
        <p:spPr>
          <a:xfrm>
            <a:off x="6766560" y="1298448"/>
            <a:ext cx="91440" cy="91440"/>
          </a:xfrm>
          <a:prstGeom prst="line">
            <a:avLst/>
          </a:prstGeom>
          <a:solidFill>
            <a:srgbClr val="F59E0B"/>
          </a:solidFill>
          <a:ln w="12700">
            <a:solidFill>
              <a:srgbClr val="F59E0B"/>
            </a:solidFill>
            <a:prstDash val="solid"/>
          </a:ln>
        </p:spPr>
        <p:txBody>
          <a:bodyPr/>
          <a:lstStyle/>
          <a:p>
            <a:endParaRPr lang="en-SG"/>
          </a:p>
        </p:txBody>
      </p:sp>
      <p:sp>
        <p:nvSpPr>
          <p:cNvPr id="37" name="Text 35"/>
          <p:cNvSpPr/>
          <p:nvPr/>
        </p:nvSpPr>
        <p:spPr>
          <a:xfrm>
            <a:off x="6912864" y="1280160"/>
            <a:ext cx="1737360" cy="237744"/>
          </a:xfrm>
          <a:prstGeom prst="rect">
            <a:avLst/>
          </a:prstGeom>
          <a:noFill/>
        </p:spPr>
        <p:txBody>
          <a:bodyPr wrap="square" rtlCol="0" anchor="ctr"/>
          <a:lstStyle/>
          <a:p>
            <a:pPr marL="0" indent="0">
              <a:buNone/>
            </a:pPr>
            <a:r>
              <a:rPr lang="en-US" sz="800" dirty="0">
                <a:solidFill>
                  <a:srgbClr val="1A1A2E"/>
                </a:solidFill>
                <a:latin typeface="Calibri" panose="020F0502020204030204" pitchFamily="34" charset="0"/>
                <a:ea typeface="Calibri" panose="020F0502020204030204" pitchFamily="34" charset="-122"/>
                <a:cs typeface="Calibri" panose="020F0502020204030204" pitchFamily="34" charset="-120"/>
              </a:rPr>
              <a:t>SFN hex+ASCII decode — timestamps, cluster, size</a:t>
            </a:r>
            <a:endParaRPr lang="en-US" sz="800" dirty="0"/>
          </a:p>
        </p:txBody>
      </p:sp>
      <p:sp>
        <p:nvSpPr>
          <p:cNvPr id="38" name="Shape 36"/>
          <p:cNvSpPr/>
          <p:nvPr/>
        </p:nvSpPr>
        <p:spPr>
          <a:xfrm>
            <a:off x="6766560" y="1536192"/>
            <a:ext cx="91440" cy="91440"/>
          </a:xfrm>
          <a:prstGeom prst="line">
            <a:avLst/>
          </a:prstGeom>
          <a:solidFill>
            <a:srgbClr val="F59E0B"/>
          </a:solidFill>
          <a:ln w="12700">
            <a:solidFill>
              <a:srgbClr val="F59E0B"/>
            </a:solidFill>
            <a:prstDash val="solid"/>
          </a:ln>
        </p:spPr>
        <p:txBody>
          <a:bodyPr/>
          <a:lstStyle/>
          <a:p>
            <a:endParaRPr lang="en-SG"/>
          </a:p>
        </p:txBody>
      </p:sp>
      <p:sp>
        <p:nvSpPr>
          <p:cNvPr id="39" name="Text 37"/>
          <p:cNvSpPr/>
          <p:nvPr/>
        </p:nvSpPr>
        <p:spPr>
          <a:xfrm>
            <a:off x="6912864" y="1517904"/>
            <a:ext cx="1737360" cy="237744"/>
          </a:xfrm>
          <a:prstGeom prst="rect">
            <a:avLst/>
          </a:prstGeom>
          <a:noFill/>
        </p:spPr>
        <p:txBody>
          <a:bodyPr wrap="square" rtlCol="0" anchor="ctr"/>
          <a:lstStyle/>
          <a:p>
            <a:pPr marL="0" indent="0">
              <a:buNone/>
            </a:pPr>
            <a:r>
              <a:rPr lang="en-US" sz="800" dirty="0">
                <a:solidFill>
                  <a:srgbClr val="1A1A2E"/>
                </a:solidFill>
                <a:latin typeface="Calibri" panose="020F0502020204030204" pitchFamily="34" charset="0"/>
                <a:ea typeface="Calibri" panose="020F0502020204030204" pitchFamily="34" charset="-122"/>
                <a:cs typeface="Calibri" panose="020F0502020204030204" pitchFamily="34" charset="-120"/>
              </a:rPr>
              <a:t>Deleted entry 0xE5 — metadata survives deletion</a:t>
            </a:r>
            <a:endParaRPr lang="en-US" sz="800" dirty="0"/>
          </a:p>
        </p:txBody>
      </p:sp>
      <p:sp>
        <p:nvSpPr>
          <p:cNvPr id="40" name="Shape 38"/>
          <p:cNvSpPr/>
          <p:nvPr/>
        </p:nvSpPr>
        <p:spPr>
          <a:xfrm>
            <a:off x="6766560" y="1773936"/>
            <a:ext cx="91440" cy="91440"/>
          </a:xfrm>
          <a:prstGeom prst="line">
            <a:avLst/>
          </a:prstGeom>
          <a:solidFill>
            <a:srgbClr val="F59E0B"/>
          </a:solidFill>
          <a:ln w="12700">
            <a:solidFill>
              <a:srgbClr val="F59E0B"/>
            </a:solidFill>
            <a:prstDash val="solid"/>
          </a:ln>
        </p:spPr>
        <p:txBody>
          <a:bodyPr/>
          <a:lstStyle/>
          <a:p>
            <a:endParaRPr lang="en-SG"/>
          </a:p>
        </p:txBody>
      </p:sp>
      <p:sp>
        <p:nvSpPr>
          <p:cNvPr id="41" name="Text 39"/>
          <p:cNvSpPr/>
          <p:nvPr/>
        </p:nvSpPr>
        <p:spPr>
          <a:xfrm>
            <a:off x="6912864" y="1755648"/>
            <a:ext cx="1737360" cy="237744"/>
          </a:xfrm>
          <a:prstGeom prst="rect">
            <a:avLst/>
          </a:prstGeom>
          <a:noFill/>
        </p:spPr>
        <p:txBody>
          <a:bodyPr wrap="square" rtlCol="0" anchor="ctr"/>
          <a:lstStyle/>
          <a:p>
            <a:pPr marL="0" indent="0">
              <a:buNone/>
            </a:pPr>
            <a:r>
              <a:rPr lang="en-US" sz="800" dirty="0">
                <a:solidFill>
                  <a:srgbClr val="1A1A2E"/>
                </a:solidFill>
                <a:latin typeface="Calibri" panose="020F0502020204030204" pitchFamily="34" charset="0"/>
                <a:ea typeface="Calibri" panose="020F0502020204030204" pitchFamily="34" charset="-122"/>
                <a:cs typeface="Calibri" panose="020F0502020204030204" pitchFamily="34" charset="-120"/>
              </a:rPr>
              <a:t>DCODE tool — hex timestamp decoding</a:t>
            </a:r>
            <a:endParaRPr lang="en-US" sz="800" dirty="0"/>
          </a:p>
        </p:txBody>
      </p:sp>
      <p:sp>
        <p:nvSpPr>
          <p:cNvPr id="42" name="Shape 40"/>
          <p:cNvSpPr/>
          <p:nvPr/>
        </p:nvSpPr>
        <p:spPr>
          <a:xfrm>
            <a:off x="256032" y="2103120"/>
            <a:ext cx="2029968" cy="1280160"/>
          </a:xfrm>
          <a:prstGeom prst="rect">
            <a:avLst/>
          </a:prstGeom>
          <a:noFill/>
          <a:ln w="12700">
            <a:solidFill>
              <a:srgbClr val="0EA5E9"/>
            </a:solidFill>
            <a:prstDash val="solid"/>
          </a:ln>
        </p:spPr>
        <p:txBody>
          <a:bodyPr/>
          <a:lstStyle/>
          <a:p>
            <a:endParaRPr lang="en-SG"/>
          </a:p>
        </p:txBody>
      </p:sp>
      <p:sp>
        <p:nvSpPr>
          <p:cNvPr id="43" name="Shape 41"/>
          <p:cNvSpPr/>
          <p:nvPr/>
        </p:nvSpPr>
        <p:spPr>
          <a:xfrm>
            <a:off x="256032" y="2103120"/>
            <a:ext cx="2029968" cy="237744"/>
          </a:xfrm>
          <a:prstGeom prst="rect">
            <a:avLst/>
          </a:prstGeom>
          <a:solidFill>
            <a:srgbClr val="0EA5E9"/>
          </a:solidFill>
          <a:ln w="12700">
            <a:solidFill>
              <a:srgbClr val="0EA5E9"/>
            </a:solidFill>
            <a:prstDash val="solid"/>
          </a:ln>
        </p:spPr>
        <p:txBody>
          <a:bodyPr/>
          <a:lstStyle/>
          <a:p>
            <a:endParaRPr lang="en-SG"/>
          </a:p>
        </p:txBody>
      </p:sp>
      <p:sp>
        <p:nvSpPr>
          <p:cNvPr id="44" name="Text 42"/>
          <p:cNvSpPr/>
          <p:nvPr/>
        </p:nvSpPr>
        <p:spPr>
          <a:xfrm>
            <a:off x="347472" y="2130552"/>
            <a:ext cx="1883664" cy="201168"/>
          </a:xfrm>
          <a:prstGeom prst="rect">
            <a:avLst/>
          </a:prstGeom>
          <a:noFill/>
        </p:spPr>
        <p:txBody>
          <a:bodyPr wrap="square" lIns="0" tIns="0" rIns="0" bIns="0" rtlCol="0" anchor="ctr"/>
          <a:lstStyle/>
          <a:p>
            <a:pPr marL="0" indent="0">
              <a:buNone/>
            </a:pPr>
            <a:r>
              <a:rPr lang="en-US" sz="9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NTFS File System</a:t>
            </a:r>
            <a:endParaRPr lang="en-US" sz="900" dirty="0"/>
          </a:p>
        </p:txBody>
      </p:sp>
      <p:sp>
        <p:nvSpPr>
          <p:cNvPr id="45" name="Shape 43"/>
          <p:cNvSpPr/>
          <p:nvPr/>
        </p:nvSpPr>
        <p:spPr>
          <a:xfrm>
            <a:off x="347472" y="2395728"/>
            <a:ext cx="91440" cy="91440"/>
          </a:xfrm>
          <a:prstGeom prst="line">
            <a:avLst/>
          </a:prstGeom>
          <a:solidFill>
            <a:srgbClr val="0EA5E9"/>
          </a:solidFill>
          <a:ln w="12700">
            <a:solidFill>
              <a:srgbClr val="0EA5E9"/>
            </a:solidFill>
            <a:prstDash val="solid"/>
          </a:ln>
        </p:spPr>
        <p:txBody>
          <a:bodyPr/>
          <a:lstStyle/>
          <a:p>
            <a:endParaRPr lang="en-SG"/>
          </a:p>
        </p:txBody>
      </p:sp>
      <p:sp>
        <p:nvSpPr>
          <p:cNvPr id="46" name="Text 44"/>
          <p:cNvSpPr/>
          <p:nvPr/>
        </p:nvSpPr>
        <p:spPr>
          <a:xfrm>
            <a:off x="493776" y="2377440"/>
            <a:ext cx="1737360" cy="237744"/>
          </a:xfrm>
          <a:prstGeom prst="rect">
            <a:avLst/>
          </a:prstGeom>
          <a:noFill/>
        </p:spPr>
        <p:txBody>
          <a:bodyPr wrap="square" rtlCol="0" anchor="ctr"/>
          <a:lstStyle/>
          <a:p>
            <a:pPr marL="0" indent="0">
              <a:buNone/>
            </a:pPr>
            <a:r>
              <a:rPr lang="en-US" sz="800" dirty="0">
                <a:solidFill>
                  <a:srgbClr val="1A1A2E"/>
                </a:solidFill>
                <a:latin typeface="Calibri" panose="020F0502020204030204" pitchFamily="34" charset="0"/>
                <a:ea typeface="Calibri" panose="020F0502020204030204" pitchFamily="34" charset="-122"/>
                <a:cs typeface="Calibri" panose="020F0502020204030204" pitchFamily="34" charset="-120"/>
              </a:rPr>
              <a:t>NTFS traits — journalling, ACL, ADS, encryption</a:t>
            </a:r>
            <a:endParaRPr lang="en-US" sz="800" dirty="0"/>
          </a:p>
        </p:txBody>
      </p:sp>
      <p:sp>
        <p:nvSpPr>
          <p:cNvPr id="47" name="Shape 45"/>
          <p:cNvSpPr/>
          <p:nvPr/>
        </p:nvSpPr>
        <p:spPr>
          <a:xfrm>
            <a:off x="347472" y="2633472"/>
            <a:ext cx="91440" cy="91440"/>
          </a:xfrm>
          <a:prstGeom prst="line">
            <a:avLst/>
          </a:prstGeom>
          <a:solidFill>
            <a:srgbClr val="0EA5E9"/>
          </a:solidFill>
          <a:ln w="12700">
            <a:solidFill>
              <a:srgbClr val="0EA5E9"/>
            </a:solidFill>
            <a:prstDash val="solid"/>
          </a:ln>
        </p:spPr>
        <p:txBody>
          <a:bodyPr/>
          <a:lstStyle/>
          <a:p>
            <a:endParaRPr lang="en-SG"/>
          </a:p>
        </p:txBody>
      </p:sp>
      <p:sp>
        <p:nvSpPr>
          <p:cNvPr id="48" name="Text 46"/>
          <p:cNvSpPr/>
          <p:nvPr/>
        </p:nvSpPr>
        <p:spPr>
          <a:xfrm>
            <a:off x="493776" y="2615184"/>
            <a:ext cx="1737360" cy="237744"/>
          </a:xfrm>
          <a:prstGeom prst="rect">
            <a:avLst/>
          </a:prstGeom>
          <a:noFill/>
        </p:spPr>
        <p:txBody>
          <a:bodyPr wrap="square" rtlCol="0" anchor="ctr"/>
          <a:lstStyle/>
          <a:p>
            <a:pPr marL="0" indent="0">
              <a:buNone/>
            </a:pPr>
            <a:r>
              <a:rPr lang="en-US" sz="800" dirty="0">
                <a:solidFill>
                  <a:srgbClr val="1A1A2E"/>
                </a:solidFill>
                <a:latin typeface="Calibri" panose="020F0502020204030204" pitchFamily="34" charset="0"/>
                <a:ea typeface="Calibri" panose="020F0502020204030204" pitchFamily="34" charset="-122"/>
                <a:cs typeface="Calibri" panose="020F0502020204030204" pitchFamily="34" charset="-120"/>
              </a:rPr>
              <a:t>Volume structure — VBR, MFT, $LogFile, $Bitmap</a:t>
            </a:r>
            <a:endParaRPr lang="en-US" sz="800" dirty="0"/>
          </a:p>
        </p:txBody>
      </p:sp>
      <p:sp>
        <p:nvSpPr>
          <p:cNvPr id="49" name="Shape 47"/>
          <p:cNvSpPr/>
          <p:nvPr/>
        </p:nvSpPr>
        <p:spPr>
          <a:xfrm>
            <a:off x="347472" y="2871216"/>
            <a:ext cx="91440" cy="91440"/>
          </a:xfrm>
          <a:prstGeom prst="line">
            <a:avLst/>
          </a:prstGeom>
          <a:solidFill>
            <a:srgbClr val="0EA5E9"/>
          </a:solidFill>
          <a:ln w="12700">
            <a:solidFill>
              <a:srgbClr val="0EA5E9"/>
            </a:solidFill>
            <a:prstDash val="solid"/>
          </a:ln>
        </p:spPr>
        <p:txBody>
          <a:bodyPr/>
          <a:lstStyle/>
          <a:p>
            <a:endParaRPr lang="en-SG"/>
          </a:p>
        </p:txBody>
      </p:sp>
      <p:sp>
        <p:nvSpPr>
          <p:cNvPr id="50" name="Text 48"/>
          <p:cNvSpPr/>
          <p:nvPr/>
        </p:nvSpPr>
        <p:spPr>
          <a:xfrm>
            <a:off x="493776" y="2852928"/>
            <a:ext cx="1737360" cy="237744"/>
          </a:xfrm>
          <a:prstGeom prst="rect">
            <a:avLst/>
          </a:prstGeom>
          <a:noFill/>
        </p:spPr>
        <p:txBody>
          <a:bodyPr wrap="square" rtlCol="0" anchor="ctr"/>
          <a:lstStyle/>
          <a:p>
            <a:pPr marL="0" indent="0">
              <a:buNone/>
            </a:pPr>
            <a:r>
              <a:rPr lang="en-US" sz="800" dirty="0">
                <a:solidFill>
                  <a:srgbClr val="1A1A2E"/>
                </a:solidFill>
                <a:latin typeface="Calibri" panose="020F0502020204030204" pitchFamily="34" charset="0"/>
                <a:ea typeface="Calibri" panose="020F0502020204030204" pitchFamily="34" charset="-122"/>
                <a:cs typeface="Calibri" panose="020F0502020204030204" pitchFamily="34" charset="-120"/>
              </a:rPr>
              <a:t>MFT system records 0–15 (from $MFT to $Extend)</a:t>
            </a:r>
            <a:endParaRPr lang="en-US" sz="800" dirty="0"/>
          </a:p>
        </p:txBody>
      </p:sp>
      <p:sp>
        <p:nvSpPr>
          <p:cNvPr id="51" name="Shape 49"/>
          <p:cNvSpPr/>
          <p:nvPr/>
        </p:nvSpPr>
        <p:spPr>
          <a:xfrm>
            <a:off x="2395728" y="2103120"/>
            <a:ext cx="2029968" cy="1280160"/>
          </a:xfrm>
          <a:prstGeom prst="rect">
            <a:avLst/>
          </a:prstGeom>
          <a:noFill/>
          <a:ln w="12700">
            <a:solidFill>
              <a:srgbClr val="0EA5E9"/>
            </a:solidFill>
            <a:prstDash val="solid"/>
          </a:ln>
        </p:spPr>
        <p:txBody>
          <a:bodyPr/>
          <a:lstStyle/>
          <a:p>
            <a:endParaRPr lang="en-SG"/>
          </a:p>
        </p:txBody>
      </p:sp>
      <p:sp>
        <p:nvSpPr>
          <p:cNvPr id="52" name="Shape 50"/>
          <p:cNvSpPr/>
          <p:nvPr/>
        </p:nvSpPr>
        <p:spPr>
          <a:xfrm>
            <a:off x="2395728" y="2103120"/>
            <a:ext cx="2029968" cy="237744"/>
          </a:xfrm>
          <a:prstGeom prst="rect">
            <a:avLst/>
          </a:prstGeom>
          <a:solidFill>
            <a:srgbClr val="0EA5E9"/>
          </a:solidFill>
          <a:ln w="12700">
            <a:solidFill>
              <a:srgbClr val="0EA5E9"/>
            </a:solidFill>
            <a:prstDash val="solid"/>
          </a:ln>
        </p:spPr>
        <p:txBody>
          <a:bodyPr/>
          <a:lstStyle/>
          <a:p>
            <a:endParaRPr lang="en-SG"/>
          </a:p>
        </p:txBody>
      </p:sp>
      <p:sp>
        <p:nvSpPr>
          <p:cNvPr id="53" name="Text 51"/>
          <p:cNvSpPr/>
          <p:nvPr/>
        </p:nvSpPr>
        <p:spPr>
          <a:xfrm>
            <a:off x="2487168" y="2130552"/>
            <a:ext cx="1883664" cy="201168"/>
          </a:xfrm>
          <a:prstGeom prst="rect">
            <a:avLst/>
          </a:prstGeom>
          <a:noFill/>
        </p:spPr>
        <p:txBody>
          <a:bodyPr wrap="square" lIns="0" tIns="0" rIns="0" bIns="0" rtlCol="0" anchor="ctr"/>
          <a:lstStyle/>
          <a:p>
            <a:pPr marL="0" indent="0">
              <a:buNone/>
            </a:pPr>
            <a:r>
              <a:rPr lang="en-US" sz="9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NTFS Analysis</a:t>
            </a:r>
            <a:endParaRPr lang="en-US" sz="900" dirty="0"/>
          </a:p>
        </p:txBody>
      </p:sp>
      <p:sp>
        <p:nvSpPr>
          <p:cNvPr id="54" name="Shape 52"/>
          <p:cNvSpPr/>
          <p:nvPr/>
        </p:nvSpPr>
        <p:spPr>
          <a:xfrm>
            <a:off x="2487168" y="2395728"/>
            <a:ext cx="91440" cy="91440"/>
          </a:xfrm>
          <a:prstGeom prst="line">
            <a:avLst/>
          </a:prstGeom>
          <a:solidFill>
            <a:srgbClr val="0EA5E9"/>
          </a:solidFill>
          <a:ln w="12700">
            <a:solidFill>
              <a:srgbClr val="0EA5E9"/>
            </a:solidFill>
            <a:prstDash val="solid"/>
          </a:ln>
        </p:spPr>
        <p:txBody>
          <a:bodyPr/>
          <a:lstStyle/>
          <a:p>
            <a:endParaRPr lang="en-SG"/>
          </a:p>
        </p:txBody>
      </p:sp>
      <p:sp>
        <p:nvSpPr>
          <p:cNvPr id="55" name="Text 53"/>
          <p:cNvSpPr/>
          <p:nvPr/>
        </p:nvSpPr>
        <p:spPr>
          <a:xfrm>
            <a:off x="2633472" y="2377440"/>
            <a:ext cx="1737360" cy="237744"/>
          </a:xfrm>
          <a:prstGeom prst="rect">
            <a:avLst/>
          </a:prstGeom>
          <a:noFill/>
        </p:spPr>
        <p:txBody>
          <a:bodyPr wrap="square" rtlCol="0" anchor="ctr"/>
          <a:lstStyle/>
          <a:p>
            <a:pPr marL="0" indent="0">
              <a:buNone/>
            </a:pPr>
            <a:r>
              <a:rPr lang="en-US" sz="800" dirty="0">
                <a:solidFill>
                  <a:srgbClr val="1A1A2E"/>
                </a:solidFill>
                <a:latin typeface="Calibri" panose="020F0502020204030204" pitchFamily="34" charset="0"/>
                <a:ea typeface="Calibri" panose="020F0502020204030204" pitchFamily="34" charset="-122"/>
                <a:cs typeface="Calibri" panose="020F0502020204030204" pitchFamily="34" charset="-120"/>
              </a:rPr>
              <a:t>VBR/BPB hex — OEM signature, bytes/sector, clusters</a:t>
            </a:r>
            <a:endParaRPr lang="en-US" sz="800" dirty="0"/>
          </a:p>
        </p:txBody>
      </p:sp>
      <p:sp>
        <p:nvSpPr>
          <p:cNvPr id="56" name="Shape 54"/>
          <p:cNvSpPr/>
          <p:nvPr/>
        </p:nvSpPr>
        <p:spPr>
          <a:xfrm>
            <a:off x="2487168" y="2633472"/>
            <a:ext cx="91440" cy="91440"/>
          </a:xfrm>
          <a:prstGeom prst="line">
            <a:avLst/>
          </a:prstGeom>
          <a:solidFill>
            <a:srgbClr val="0EA5E9"/>
          </a:solidFill>
          <a:ln w="12700">
            <a:solidFill>
              <a:srgbClr val="0EA5E9"/>
            </a:solidFill>
            <a:prstDash val="solid"/>
          </a:ln>
        </p:spPr>
        <p:txBody>
          <a:bodyPr/>
          <a:lstStyle/>
          <a:p>
            <a:endParaRPr lang="en-SG"/>
          </a:p>
        </p:txBody>
      </p:sp>
      <p:sp>
        <p:nvSpPr>
          <p:cNvPr id="57" name="Text 55"/>
          <p:cNvSpPr/>
          <p:nvPr/>
        </p:nvSpPr>
        <p:spPr>
          <a:xfrm>
            <a:off x="2633472" y="2615184"/>
            <a:ext cx="1737360" cy="237744"/>
          </a:xfrm>
          <a:prstGeom prst="rect">
            <a:avLst/>
          </a:prstGeom>
          <a:noFill/>
        </p:spPr>
        <p:txBody>
          <a:bodyPr wrap="square" rtlCol="0" anchor="ctr"/>
          <a:lstStyle/>
          <a:p>
            <a:pPr marL="0" indent="0">
              <a:buNone/>
            </a:pPr>
            <a:r>
              <a:rPr lang="en-US" sz="800" dirty="0">
                <a:solidFill>
                  <a:srgbClr val="1A1A2E"/>
                </a:solidFill>
                <a:latin typeface="Calibri" panose="020F0502020204030204" pitchFamily="34" charset="0"/>
                <a:ea typeface="Calibri" panose="020F0502020204030204" pitchFamily="34" charset="-122"/>
                <a:cs typeface="Calibri" panose="020F0502020204030204" pitchFamily="34" charset="-120"/>
              </a:rPr>
              <a:t>MFT hex — FILE signature, flags, attribute types</a:t>
            </a:r>
            <a:endParaRPr lang="en-US" sz="800" dirty="0"/>
          </a:p>
        </p:txBody>
      </p:sp>
      <p:sp>
        <p:nvSpPr>
          <p:cNvPr id="58" name="Shape 56"/>
          <p:cNvSpPr/>
          <p:nvPr/>
        </p:nvSpPr>
        <p:spPr>
          <a:xfrm>
            <a:off x="2487168" y="2871216"/>
            <a:ext cx="91440" cy="91440"/>
          </a:xfrm>
          <a:prstGeom prst="line">
            <a:avLst/>
          </a:prstGeom>
          <a:solidFill>
            <a:srgbClr val="0EA5E9"/>
          </a:solidFill>
          <a:ln w="12700">
            <a:solidFill>
              <a:srgbClr val="0EA5E9"/>
            </a:solidFill>
            <a:prstDash val="solid"/>
          </a:ln>
        </p:spPr>
        <p:txBody>
          <a:bodyPr/>
          <a:lstStyle/>
          <a:p>
            <a:endParaRPr lang="en-SG"/>
          </a:p>
        </p:txBody>
      </p:sp>
      <p:sp>
        <p:nvSpPr>
          <p:cNvPr id="59" name="Text 57"/>
          <p:cNvSpPr/>
          <p:nvPr/>
        </p:nvSpPr>
        <p:spPr>
          <a:xfrm>
            <a:off x="2633472" y="2852928"/>
            <a:ext cx="1737360" cy="237744"/>
          </a:xfrm>
          <a:prstGeom prst="rect">
            <a:avLst/>
          </a:prstGeom>
          <a:noFill/>
        </p:spPr>
        <p:txBody>
          <a:bodyPr wrap="square" rtlCol="0" anchor="ctr"/>
          <a:lstStyle/>
          <a:p>
            <a:pPr marL="0" indent="0">
              <a:buNone/>
            </a:pPr>
            <a:r>
              <a:rPr lang="en-US" sz="800" dirty="0">
                <a:solidFill>
                  <a:srgbClr val="1A1A2E"/>
                </a:solidFill>
                <a:latin typeface="Calibri" panose="020F0502020204030204" pitchFamily="34" charset="0"/>
                <a:ea typeface="Calibri" panose="020F0502020204030204" pitchFamily="34" charset="-122"/>
                <a:cs typeface="Calibri" panose="020F0502020204030204" pitchFamily="34" charset="-120"/>
              </a:rPr>
              <a:t>NTFS limits — 256 TiB volume, ~16 TiB file size</a:t>
            </a:r>
            <a:endParaRPr lang="en-US" sz="800" dirty="0"/>
          </a:p>
        </p:txBody>
      </p:sp>
      <p:sp>
        <p:nvSpPr>
          <p:cNvPr id="60" name="Shape 58"/>
          <p:cNvSpPr/>
          <p:nvPr/>
        </p:nvSpPr>
        <p:spPr>
          <a:xfrm>
            <a:off x="4535424" y="2103120"/>
            <a:ext cx="2029968" cy="1280160"/>
          </a:xfrm>
          <a:prstGeom prst="rect">
            <a:avLst/>
          </a:prstGeom>
          <a:noFill/>
          <a:ln w="12700">
            <a:solidFill>
              <a:srgbClr val="10B981"/>
            </a:solidFill>
            <a:prstDash val="solid"/>
          </a:ln>
        </p:spPr>
        <p:txBody>
          <a:bodyPr/>
          <a:lstStyle/>
          <a:p>
            <a:endParaRPr lang="en-SG"/>
          </a:p>
        </p:txBody>
      </p:sp>
      <p:sp>
        <p:nvSpPr>
          <p:cNvPr id="61" name="Shape 59"/>
          <p:cNvSpPr/>
          <p:nvPr/>
        </p:nvSpPr>
        <p:spPr>
          <a:xfrm>
            <a:off x="4535424" y="2103120"/>
            <a:ext cx="2029968" cy="237744"/>
          </a:xfrm>
          <a:prstGeom prst="rect">
            <a:avLst/>
          </a:prstGeom>
          <a:solidFill>
            <a:srgbClr val="10B981"/>
          </a:solidFill>
          <a:ln w="12700">
            <a:solidFill>
              <a:srgbClr val="10B981"/>
            </a:solidFill>
            <a:prstDash val="solid"/>
          </a:ln>
        </p:spPr>
        <p:txBody>
          <a:bodyPr/>
          <a:lstStyle/>
          <a:p>
            <a:endParaRPr lang="en-SG"/>
          </a:p>
        </p:txBody>
      </p:sp>
      <p:sp>
        <p:nvSpPr>
          <p:cNvPr id="62" name="Text 60"/>
          <p:cNvSpPr/>
          <p:nvPr/>
        </p:nvSpPr>
        <p:spPr>
          <a:xfrm>
            <a:off x="4626864" y="2130552"/>
            <a:ext cx="1883664" cy="201168"/>
          </a:xfrm>
          <a:prstGeom prst="rect">
            <a:avLst/>
          </a:prstGeom>
          <a:noFill/>
        </p:spPr>
        <p:txBody>
          <a:bodyPr wrap="square" lIns="0" tIns="0" rIns="0" bIns="0" rtlCol="0" anchor="ctr"/>
          <a:lstStyle/>
          <a:p>
            <a:pPr marL="0" indent="0">
              <a:buNone/>
            </a:pPr>
            <a:r>
              <a:rPr lang="en-US" sz="9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Other: ReFS &amp; Linux</a:t>
            </a:r>
            <a:endParaRPr lang="en-US" sz="900" dirty="0"/>
          </a:p>
        </p:txBody>
      </p:sp>
      <p:sp>
        <p:nvSpPr>
          <p:cNvPr id="63" name="Shape 61"/>
          <p:cNvSpPr/>
          <p:nvPr/>
        </p:nvSpPr>
        <p:spPr>
          <a:xfrm>
            <a:off x="4626864" y="2395728"/>
            <a:ext cx="91440" cy="91440"/>
          </a:xfrm>
          <a:prstGeom prst="line">
            <a:avLst/>
          </a:prstGeom>
          <a:solidFill>
            <a:srgbClr val="10B981"/>
          </a:solidFill>
          <a:ln w="12700">
            <a:solidFill>
              <a:srgbClr val="10B981"/>
            </a:solidFill>
            <a:prstDash val="solid"/>
          </a:ln>
        </p:spPr>
        <p:txBody>
          <a:bodyPr/>
          <a:lstStyle/>
          <a:p>
            <a:endParaRPr lang="en-SG"/>
          </a:p>
        </p:txBody>
      </p:sp>
      <p:sp>
        <p:nvSpPr>
          <p:cNvPr id="64" name="Text 62"/>
          <p:cNvSpPr/>
          <p:nvPr/>
        </p:nvSpPr>
        <p:spPr>
          <a:xfrm>
            <a:off x="4773168" y="2377440"/>
            <a:ext cx="1737360" cy="237744"/>
          </a:xfrm>
          <a:prstGeom prst="rect">
            <a:avLst/>
          </a:prstGeom>
          <a:noFill/>
        </p:spPr>
        <p:txBody>
          <a:bodyPr wrap="square" rtlCol="0" anchor="ctr"/>
          <a:lstStyle/>
          <a:p>
            <a:pPr marL="0" indent="0">
              <a:buNone/>
            </a:pPr>
            <a:r>
              <a:rPr lang="en-US" sz="800" dirty="0">
                <a:solidFill>
                  <a:srgbClr val="1A1A2E"/>
                </a:solidFill>
                <a:latin typeface="Calibri" panose="020F0502020204030204" pitchFamily="34" charset="0"/>
                <a:ea typeface="Calibri" panose="020F0502020204030204" pitchFamily="34" charset="-122"/>
                <a:cs typeface="Calibri" panose="020F0502020204030204" pitchFamily="34" charset="-120"/>
              </a:rPr>
              <a:t>ReFS — integrity streams, redirect-on-write, self-healing</a:t>
            </a:r>
            <a:endParaRPr lang="en-US" sz="800" dirty="0"/>
          </a:p>
        </p:txBody>
      </p:sp>
      <p:sp>
        <p:nvSpPr>
          <p:cNvPr id="65" name="Shape 63"/>
          <p:cNvSpPr/>
          <p:nvPr/>
        </p:nvSpPr>
        <p:spPr>
          <a:xfrm>
            <a:off x="4626864" y="2633472"/>
            <a:ext cx="91440" cy="91440"/>
          </a:xfrm>
          <a:prstGeom prst="line">
            <a:avLst/>
          </a:prstGeom>
          <a:solidFill>
            <a:srgbClr val="10B981"/>
          </a:solidFill>
          <a:ln w="12700">
            <a:solidFill>
              <a:srgbClr val="10B981"/>
            </a:solidFill>
            <a:prstDash val="solid"/>
          </a:ln>
        </p:spPr>
        <p:txBody>
          <a:bodyPr/>
          <a:lstStyle/>
          <a:p>
            <a:endParaRPr lang="en-SG"/>
          </a:p>
        </p:txBody>
      </p:sp>
      <p:sp>
        <p:nvSpPr>
          <p:cNvPr id="66" name="Text 64"/>
          <p:cNvSpPr/>
          <p:nvPr/>
        </p:nvSpPr>
        <p:spPr>
          <a:xfrm>
            <a:off x="4773168" y="2615184"/>
            <a:ext cx="1737360" cy="237744"/>
          </a:xfrm>
          <a:prstGeom prst="rect">
            <a:avLst/>
          </a:prstGeom>
          <a:noFill/>
        </p:spPr>
        <p:txBody>
          <a:bodyPr wrap="square" rtlCol="0" anchor="ctr"/>
          <a:lstStyle/>
          <a:p>
            <a:pPr marL="0" indent="0">
              <a:buNone/>
            </a:pPr>
            <a:r>
              <a:rPr lang="en-US" sz="800" dirty="0">
                <a:solidFill>
                  <a:srgbClr val="1A1A2E"/>
                </a:solidFill>
                <a:latin typeface="Calibri" panose="020F0502020204030204" pitchFamily="34" charset="0"/>
                <a:ea typeface="Calibri" panose="020F0502020204030204" pitchFamily="34" charset="-122"/>
                <a:cs typeface="Calibri" panose="020F0502020204030204" pitchFamily="34" charset="-120"/>
              </a:rPr>
              <a:t>ReFS vs NTFS feature comparison</a:t>
            </a:r>
            <a:endParaRPr lang="en-US" sz="800" dirty="0"/>
          </a:p>
        </p:txBody>
      </p:sp>
      <p:sp>
        <p:nvSpPr>
          <p:cNvPr id="67" name="Shape 65"/>
          <p:cNvSpPr/>
          <p:nvPr/>
        </p:nvSpPr>
        <p:spPr>
          <a:xfrm>
            <a:off x="4626864" y="2871216"/>
            <a:ext cx="91440" cy="91440"/>
          </a:xfrm>
          <a:prstGeom prst="line">
            <a:avLst/>
          </a:prstGeom>
          <a:solidFill>
            <a:srgbClr val="10B981"/>
          </a:solidFill>
          <a:ln w="12700">
            <a:solidFill>
              <a:srgbClr val="10B981"/>
            </a:solidFill>
            <a:prstDash val="solid"/>
          </a:ln>
        </p:spPr>
        <p:txBody>
          <a:bodyPr/>
          <a:lstStyle/>
          <a:p>
            <a:endParaRPr lang="en-SG"/>
          </a:p>
        </p:txBody>
      </p:sp>
      <p:sp>
        <p:nvSpPr>
          <p:cNvPr id="68" name="Text 66"/>
          <p:cNvSpPr/>
          <p:nvPr/>
        </p:nvSpPr>
        <p:spPr>
          <a:xfrm>
            <a:off x="4773168" y="2852928"/>
            <a:ext cx="1737360" cy="237744"/>
          </a:xfrm>
          <a:prstGeom prst="rect">
            <a:avLst/>
          </a:prstGeom>
          <a:noFill/>
        </p:spPr>
        <p:txBody>
          <a:bodyPr wrap="square" rtlCol="0" anchor="ctr"/>
          <a:lstStyle/>
          <a:p>
            <a:pPr marL="0" indent="0">
              <a:buNone/>
            </a:pPr>
            <a:r>
              <a:rPr lang="en-US" sz="800" dirty="0">
                <a:solidFill>
                  <a:srgbClr val="1A1A2E"/>
                </a:solidFill>
                <a:latin typeface="Calibri" panose="020F0502020204030204" pitchFamily="34" charset="0"/>
                <a:ea typeface="Calibri" panose="020F0502020204030204" pitchFamily="34" charset="-122"/>
                <a:cs typeface="Calibri" panose="020F0502020204030204" pitchFamily="34" charset="-120"/>
              </a:rPr>
              <a:t>EXT family history — ext → ext4 evolution</a:t>
            </a:r>
            <a:endParaRPr lang="en-US" sz="800" dirty="0"/>
          </a:p>
        </p:txBody>
      </p:sp>
      <p:sp>
        <p:nvSpPr>
          <p:cNvPr id="69" name="Shape 67"/>
          <p:cNvSpPr/>
          <p:nvPr/>
        </p:nvSpPr>
        <p:spPr>
          <a:xfrm>
            <a:off x="4626864" y="3108960"/>
            <a:ext cx="91440" cy="91440"/>
          </a:xfrm>
          <a:prstGeom prst="line">
            <a:avLst/>
          </a:prstGeom>
          <a:solidFill>
            <a:srgbClr val="10B981"/>
          </a:solidFill>
          <a:ln w="12700">
            <a:solidFill>
              <a:srgbClr val="10B981"/>
            </a:solidFill>
            <a:prstDash val="solid"/>
          </a:ln>
        </p:spPr>
        <p:txBody>
          <a:bodyPr/>
          <a:lstStyle/>
          <a:p>
            <a:endParaRPr lang="en-SG"/>
          </a:p>
        </p:txBody>
      </p:sp>
      <p:sp>
        <p:nvSpPr>
          <p:cNvPr id="70" name="Text 68"/>
          <p:cNvSpPr/>
          <p:nvPr/>
        </p:nvSpPr>
        <p:spPr>
          <a:xfrm>
            <a:off x="4773168" y="3090672"/>
            <a:ext cx="1737360" cy="237744"/>
          </a:xfrm>
          <a:prstGeom prst="rect">
            <a:avLst/>
          </a:prstGeom>
          <a:noFill/>
        </p:spPr>
        <p:txBody>
          <a:bodyPr wrap="square" rtlCol="0" anchor="ctr"/>
          <a:lstStyle/>
          <a:p>
            <a:pPr marL="0" indent="0">
              <a:buNone/>
            </a:pPr>
            <a:r>
              <a:rPr lang="en-US" sz="800" dirty="0">
                <a:solidFill>
                  <a:srgbClr val="1A1A2E"/>
                </a:solidFill>
                <a:latin typeface="Calibri" panose="020F0502020204030204" pitchFamily="34" charset="0"/>
                <a:ea typeface="Calibri" panose="020F0502020204030204" pitchFamily="34" charset="-122"/>
                <a:cs typeface="Calibri" panose="020F0502020204030204" pitchFamily="34" charset="-120"/>
              </a:rPr>
              <a:t>EXT4 structure — superblock, inodes, bitmaps, extents</a:t>
            </a:r>
            <a:endParaRPr lang="en-US" sz="800" dirty="0"/>
          </a:p>
        </p:txBody>
      </p:sp>
      <p:sp>
        <p:nvSpPr>
          <p:cNvPr id="71" name="Shape 69"/>
          <p:cNvSpPr/>
          <p:nvPr/>
        </p:nvSpPr>
        <p:spPr>
          <a:xfrm>
            <a:off x="6675120" y="2103120"/>
            <a:ext cx="2029968" cy="1280160"/>
          </a:xfrm>
          <a:prstGeom prst="rect">
            <a:avLst/>
          </a:prstGeom>
          <a:noFill/>
          <a:ln w="12700">
            <a:solidFill>
              <a:srgbClr val="10B981"/>
            </a:solidFill>
            <a:prstDash val="solid"/>
          </a:ln>
        </p:spPr>
        <p:txBody>
          <a:bodyPr/>
          <a:lstStyle/>
          <a:p>
            <a:endParaRPr lang="en-SG"/>
          </a:p>
        </p:txBody>
      </p:sp>
      <p:sp>
        <p:nvSpPr>
          <p:cNvPr id="72" name="Shape 70"/>
          <p:cNvSpPr/>
          <p:nvPr/>
        </p:nvSpPr>
        <p:spPr>
          <a:xfrm>
            <a:off x="6675120" y="2103120"/>
            <a:ext cx="2029968" cy="237744"/>
          </a:xfrm>
          <a:prstGeom prst="rect">
            <a:avLst/>
          </a:prstGeom>
          <a:solidFill>
            <a:srgbClr val="10B981"/>
          </a:solidFill>
          <a:ln w="12700">
            <a:solidFill>
              <a:srgbClr val="10B981"/>
            </a:solidFill>
            <a:prstDash val="solid"/>
          </a:ln>
        </p:spPr>
        <p:txBody>
          <a:bodyPr/>
          <a:lstStyle/>
          <a:p>
            <a:endParaRPr lang="en-SG"/>
          </a:p>
        </p:txBody>
      </p:sp>
      <p:sp>
        <p:nvSpPr>
          <p:cNvPr id="73" name="Text 71"/>
          <p:cNvSpPr/>
          <p:nvPr/>
        </p:nvSpPr>
        <p:spPr>
          <a:xfrm>
            <a:off x="6766560" y="2130552"/>
            <a:ext cx="1883664" cy="201168"/>
          </a:xfrm>
          <a:prstGeom prst="rect">
            <a:avLst/>
          </a:prstGeom>
          <a:noFill/>
        </p:spPr>
        <p:txBody>
          <a:bodyPr wrap="square" lIns="0" tIns="0" rIns="0" bIns="0" rtlCol="0" anchor="ctr"/>
          <a:lstStyle/>
          <a:p>
            <a:pPr marL="0" indent="0">
              <a:buNone/>
            </a:pPr>
            <a:r>
              <a:rPr lang="en-US" sz="900" b="1" dirty="0">
                <a:solidFill>
                  <a:srgbClr val="000000"/>
                </a:solidFill>
                <a:latin typeface="Trebuchet MS" panose="020B0603020202020204" pitchFamily="34" charset="0"/>
                <a:ea typeface="Trebuchet MS" panose="020B0603020202020204" pitchFamily="34" charset="-122"/>
                <a:cs typeface="Trebuchet MS" panose="020B0603020202020204" pitchFamily="34" charset="-120"/>
              </a:rPr>
              <a:t>Other: Apple FS</a:t>
            </a:r>
            <a:endParaRPr lang="en-US" sz="900" dirty="0"/>
          </a:p>
        </p:txBody>
      </p:sp>
      <p:sp>
        <p:nvSpPr>
          <p:cNvPr id="74" name="Shape 72"/>
          <p:cNvSpPr/>
          <p:nvPr/>
        </p:nvSpPr>
        <p:spPr>
          <a:xfrm>
            <a:off x="6766560" y="2395728"/>
            <a:ext cx="91440" cy="91440"/>
          </a:xfrm>
          <a:prstGeom prst="line">
            <a:avLst/>
          </a:prstGeom>
          <a:solidFill>
            <a:srgbClr val="10B981"/>
          </a:solidFill>
          <a:ln w="12700">
            <a:solidFill>
              <a:srgbClr val="10B981"/>
            </a:solidFill>
            <a:prstDash val="solid"/>
          </a:ln>
        </p:spPr>
        <p:txBody>
          <a:bodyPr/>
          <a:lstStyle/>
          <a:p>
            <a:endParaRPr lang="en-SG"/>
          </a:p>
        </p:txBody>
      </p:sp>
      <p:sp>
        <p:nvSpPr>
          <p:cNvPr id="75" name="Text 73"/>
          <p:cNvSpPr/>
          <p:nvPr/>
        </p:nvSpPr>
        <p:spPr>
          <a:xfrm>
            <a:off x="6912864" y="2377440"/>
            <a:ext cx="1737360" cy="237744"/>
          </a:xfrm>
          <a:prstGeom prst="rect">
            <a:avLst/>
          </a:prstGeom>
          <a:noFill/>
        </p:spPr>
        <p:txBody>
          <a:bodyPr wrap="square" rtlCol="0" anchor="ctr"/>
          <a:lstStyle/>
          <a:p>
            <a:pPr marL="0" indent="0">
              <a:buNone/>
            </a:pPr>
            <a:r>
              <a:rPr lang="en-US" sz="800" dirty="0">
                <a:solidFill>
                  <a:srgbClr val="1A1A2E"/>
                </a:solidFill>
                <a:latin typeface="Calibri" panose="020F0502020204030204" pitchFamily="34" charset="0"/>
                <a:ea typeface="Calibri" panose="020F0502020204030204" pitchFamily="34" charset="-122"/>
                <a:cs typeface="Calibri" panose="020F0502020204030204" pitchFamily="34" charset="-120"/>
              </a:rPr>
              <a:t>Apple FS history — MFS, HFS, HFS+, APFS</a:t>
            </a:r>
            <a:endParaRPr lang="en-US" sz="800" dirty="0"/>
          </a:p>
        </p:txBody>
      </p:sp>
      <p:sp>
        <p:nvSpPr>
          <p:cNvPr id="76" name="Shape 74"/>
          <p:cNvSpPr/>
          <p:nvPr/>
        </p:nvSpPr>
        <p:spPr>
          <a:xfrm>
            <a:off x="6766560" y="2633472"/>
            <a:ext cx="91440" cy="91440"/>
          </a:xfrm>
          <a:prstGeom prst="line">
            <a:avLst/>
          </a:prstGeom>
          <a:solidFill>
            <a:srgbClr val="10B981"/>
          </a:solidFill>
          <a:ln w="12700">
            <a:solidFill>
              <a:srgbClr val="10B981"/>
            </a:solidFill>
            <a:prstDash val="solid"/>
          </a:ln>
        </p:spPr>
        <p:txBody>
          <a:bodyPr/>
          <a:lstStyle/>
          <a:p>
            <a:endParaRPr lang="en-SG"/>
          </a:p>
        </p:txBody>
      </p:sp>
      <p:sp>
        <p:nvSpPr>
          <p:cNvPr id="77" name="Text 75"/>
          <p:cNvSpPr/>
          <p:nvPr/>
        </p:nvSpPr>
        <p:spPr>
          <a:xfrm>
            <a:off x="6912864" y="2615184"/>
            <a:ext cx="1737360" cy="237744"/>
          </a:xfrm>
          <a:prstGeom prst="rect">
            <a:avLst/>
          </a:prstGeom>
          <a:noFill/>
        </p:spPr>
        <p:txBody>
          <a:bodyPr wrap="square" rtlCol="0" anchor="ctr"/>
          <a:lstStyle/>
          <a:p>
            <a:pPr marL="0" indent="0">
              <a:buNone/>
            </a:pPr>
            <a:r>
              <a:rPr lang="en-US" sz="800" dirty="0">
                <a:solidFill>
                  <a:srgbClr val="1A1A2E"/>
                </a:solidFill>
                <a:latin typeface="Calibri" panose="020F0502020204030204" pitchFamily="34" charset="0"/>
                <a:ea typeface="Calibri" panose="020F0502020204030204" pitchFamily="34" charset="-122"/>
                <a:cs typeface="Calibri" panose="020F0502020204030204" pitchFamily="34" charset="-120"/>
              </a:rPr>
              <a:t>APFS traits — CoW, snapshots, encryption, 64-bit inodes</a:t>
            </a:r>
            <a:endParaRPr lang="en-US" sz="800" dirty="0"/>
          </a:p>
        </p:txBody>
      </p:sp>
      <p:sp>
        <p:nvSpPr>
          <p:cNvPr id="78" name="Shape 76"/>
          <p:cNvSpPr/>
          <p:nvPr/>
        </p:nvSpPr>
        <p:spPr>
          <a:xfrm>
            <a:off x="6766560" y="2871216"/>
            <a:ext cx="91440" cy="91440"/>
          </a:xfrm>
          <a:prstGeom prst="line">
            <a:avLst/>
          </a:prstGeom>
          <a:solidFill>
            <a:srgbClr val="10B981"/>
          </a:solidFill>
          <a:ln w="12700">
            <a:solidFill>
              <a:srgbClr val="10B981"/>
            </a:solidFill>
            <a:prstDash val="solid"/>
          </a:ln>
        </p:spPr>
        <p:txBody>
          <a:bodyPr/>
          <a:lstStyle/>
          <a:p>
            <a:endParaRPr lang="en-SG"/>
          </a:p>
        </p:txBody>
      </p:sp>
      <p:sp>
        <p:nvSpPr>
          <p:cNvPr id="79" name="Text 77"/>
          <p:cNvSpPr/>
          <p:nvPr/>
        </p:nvSpPr>
        <p:spPr>
          <a:xfrm>
            <a:off x="6912864" y="2852928"/>
            <a:ext cx="1737360" cy="237744"/>
          </a:xfrm>
          <a:prstGeom prst="rect">
            <a:avLst/>
          </a:prstGeom>
          <a:noFill/>
        </p:spPr>
        <p:txBody>
          <a:bodyPr wrap="square" rtlCol="0" anchor="ctr"/>
          <a:lstStyle/>
          <a:p>
            <a:pPr marL="0" indent="0">
              <a:buNone/>
            </a:pPr>
            <a:r>
              <a:rPr lang="en-US" sz="800" dirty="0">
                <a:solidFill>
                  <a:srgbClr val="1A1A2E"/>
                </a:solidFill>
                <a:latin typeface="Calibri" panose="020F0502020204030204" pitchFamily="34" charset="0"/>
                <a:ea typeface="Calibri" panose="020F0502020204030204" pitchFamily="34" charset="-122"/>
                <a:cs typeface="Calibri" panose="020F0502020204030204" pitchFamily="34" charset="-120"/>
              </a:rPr>
              <a:t>APFS structure — container, volumes, B-trees, space manager</a:t>
            </a:r>
            <a:endParaRPr lang="en-US" sz="800" dirty="0"/>
          </a:p>
        </p:txBody>
      </p:sp>
    </p:spTree>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6.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C85D73463E13146A026C420CFCA0B8D" ma:contentTypeVersion="13" ma:contentTypeDescription="Create a new document." ma:contentTypeScope="" ma:versionID="72647a53e9d900a1bbaf538e06315963">
  <xsd:schema xmlns:xsd="http://www.w3.org/2001/XMLSchema" xmlns:xs="http://www.w3.org/2001/XMLSchema" xmlns:p="http://schemas.microsoft.com/office/2006/metadata/properties" xmlns:ns1="http://schemas.microsoft.com/sharepoint/v3" xmlns:ns3="3e3fafd7-318f-4e4d-809b-9691c39d9c6f" targetNamespace="http://schemas.microsoft.com/office/2006/metadata/properties" ma:root="true" ma:fieldsID="f8a5936e1e0e4a70562e4b08d344c2af" ns1:_="" ns3:_="">
    <xsd:import namespace="http://schemas.microsoft.com/sharepoint/v3"/>
    <xsd:import namespace="3e3fafd7-318f-4e4d-809b-9691c39d9c6f"/>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OCR" minOccurs="0"/>
                <xsd:element ref="ns3:MediaServiceGenerationTime" minOccurs="0"/>
                <xsd:element ref="ns3:MediaServiceEventHashCode" minOccurs="0"/>
                <xsd:element ref="ns3:MediaLengthInSeconds" minOccurs="0"/>
                <xsd:element ref="ns1:_ip_UnifiedCompliancePolicyProperties" minOccurs="0"/>
                <xsd:element ref="ns1:_ip_UnifiedCompliancePolicyUIAction"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8" nillable="true" ma:displayName="Unified Compliance Policy Properties" ma:hidden="true" ma:internalName="_ip_UnifiedCompliancePolicyProperties">
      <xsd:simpleType>
        <xsd:restriction base="dms:Note"/>
      </xsd:simpleType>
    </xsd:element>
    <xsd:element name="_ip_UnifiedCompliancePolicyUIAction" ma:index="1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e3fafd7-318f-4e4d-809b-9691c39d9c6f"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BillingMetadata" ma:index="20"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_activity xmlns="3e3fafd7-318f-4e4d-809b-9691c39d9c6f" xsi:nil="true"/>
  </documentManagement>
</p:properties>
</file>

<file path=customXml/itemProps1.xml><?xml version="1.0" encoding="utf-8"?>
<ds:datastoreItem xmlns:ds="http://schemas.openxmlformats.org/officeDocument/2006/customXml" ds:itemID="{73447A10-5FAA-49AB-9B71-50B364591D23}">
  <ds:schemaRefs/>
</ds:datastoreItem>
</file>

<file path=customXml/itemProps2.xml><?xml version="1.0" encoding="utf-8"?>
<ds:datastoreItem xmlns:ds="http://schemas.openxmlformats.org/officeDocument/2006/customXml" ds:itemID="{BD5DBC53-4D10-42AE-9CC0-0A544EA32417}">
  <ds:schemaRefs/>
</ds:datastoreItem>
</file>

<file path=customXml/itemProps3.xml><?xml version="1.0" encoding="utf-8"?>
<ds:datastoreItem xmlns:ds="http://schemas.openxmlformats.org/officeDocument/2006/customXml" ds:itemID="{717FBA75-7069-4A2D-B515-889AAC8213F6}">
  <ds:schemaRefs/>
</ds:datastoreItem>
</file>

<file path=docProps/app.xml><?xml version="1.0" encoding="utf-8"?>
<Properties xmlns="http://schemas.openxmlformats.org/officeDocument/2006/extended-properties" xmlns:vt="http://schemas.openxmlformats.org/officeDocument/2006/docPropsVTypes">
  <TotalTime>0</TotalTime>
  <Words>60267</Words>
  <Application>WPS Presentation</Application>
  <PresentationFormat>On-screen Show (16:9)</PresentationFormat>
  <Paragraphs>3014</Paragraphs>
  <Slides>58</Slides>
  <Notes>53</Notes>
  <HiddenSlides>0</HiddenSlides>
  <MMClips>0</MMClips>
  <ScaleCrop>false</ScaleCrop>
  <HeadingPairs>
    <vt:vector size="6" baseType="variant">
      <vt:variant>
        <vt:lpstr>已用的字体</vt:lpstr>
      </vt:variant>
      <vt:variant>
        <vt:i4>26</vt:i4>
      </vt:variant>
      <vt:variant>
        <vt:lpstr>主题</vt:lpstr>
      </vt:variant>
      <vt:variant>
        <vt:i4>2</vt:i4>
      </vt:variant>
      <vt:variant>
        <vt:lpstr>幻灯片标题</vt:lpstr>
      </vt:variant>
      <vt:variant>
        <vt:i4>58</vt:i4>
      </vt:variant>
    </vt:vector>
  </HeadingPairs>
  <TitlesOfParts>
    <vt:vector size="86" baseType="lpstr">
      <vt:lpstr>Arial</vt:lpstr>
      <vt:lpstr>SimSun</vt:lpstr>
      <vt:lpstr>Wingdings</vt:lpstr>
      <vt:lpstr>Candara</vt:lpstr>
      <vt:lpstr>Trebuchet MS</vt:lpstr>
      <vt:lpstr>Trebuchet MS</vt:lpstr>
      <vt:lpstr>Trebuchet MS</vt:lpstr>
      <vt:lpstr>Calibri</vt:lpstr>
      <vt:lpstr>Calibri</vt:lpstr>
      <vt:lpstr>Calibri</vt:lpstr>
      <vt:lpstr>Rockwell</vt:lpstr>
      <vt:lpstr>Calibri</vt:lpstr>
      <vt:lpstr>Rockwell Extra Bold</vt:lpstr>
      <vt:lpstr>Microsoft YaHei</vt:lpstr>
      <vt:lpstr>Arial Unicode MS</vt:lpstr>
      <vt:lpstr>Aptos</vt:lpstr>
      <vt:lpstr>Segoe UI</vt:lpstr>
      <vt:lpstr>Courier New</vt:lpstr>
      <vt:lpstr>Consolas</vt:lpstr>
      <vt:lpstr>Consolas</vt:lpstr>
      <vt:lpstr>Consolas</vt:lpstr>
      <vt:lpstr>Times New Roman</vt:lpstr>
      <vt:lpstr>Georgia</vt:lpstr>
      <vt:lpstr>Trebuchet MS</vt:lpstr>
      <vt:lpstr>Consolas</vt:lpstr>
      <vt:lpstr>Rockwell Condensed</vt:lpstr>
      <vt:lpstr>Office Theme</vt:lpstr>
      <vt:lpstr>Wood Type</vt:lpstr>
      <vt:lpstr>PowerPoint 演示文稿</vt:lpstr>
      <vt:lpstr>Basics of computer (Storage DISK)</vt:lpstr>
      <vt:lpstr>Basics of computer (Disk Geometry - HDD)</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3 — File Systems: FAT, NTFS, ReFS, EXT4, APFS (v6)</dc:title>
  <dc:creator>Nur Shuhadah</dc:creator>
  <dc:subject>PptxGenJS Presentation</dc:subject>
  <cp:lastModifiedBy>Yaohan</cp:lastModifiedBy>
  <cp:revision>99</cp:revision>
  <dcterms:created xsi:type="dcterms:W3CDTF">2026-03-12T06:01:00Z</dcterms:created>
  <dcterms:modified xsi:type="dcterms:W3CDTF">2026-05-28T13:59:41Z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0x010100EC85D73463E13146A026C420CFCA0B8D</vt:lpwstr>
  </property>
  <property fmtid="{D5CDD505-2E9C-101B-9397-08002B2CF9AE}" pid="3" name="MSIP_Label_d528611d-fe69-484f-b56b-0db8a0d79612_Enabled">
    <vt:lpwstr>true</vt:lpwstr>
  </property>
  <property fmtid="{D5CDD505-2E9C-101B-9397-08002B2CF9AE}" pid="4" name="MSIP_Label_d528611d-fe69-484f-b56b-0db8a0d79612_SetDate">
    <vt:lpwstr>2026-04-09T03:12:29Z</vt:lpwstr>
  </property>
  <property fmtid="{D5CDD505-2E9C-101B-9397-08002B2CF9AE}" pid="5" name="MSIP_Label_d528611d-fe69-484f-b56b-0db8a0d79612_Method">
    <vt:lpwstr>Privileged</vt:lpwstr>
  </property>
  <property fmtid="{D5CDD505-2E9C-101B-9397-08002B2CF9AE}" pid="6" name="MSIP_Label_d528611d-fe69-484f-b56b-0db8a0d79612_Name">
    <vt:lpwstr>Public</vt:lpwstr>
  </property>
  <property fmtid="{D5CDD505-2E9C-101B-9397-08002B2CF9AE}" pid="7" name="MSIP_Label_d528611d-fe69-484f-b56b-0db8a0d79612_SiteId">
    <vt:lpwstr>25a99bf0-8e72-472a-ae50-adfbdf0df6f1</vt:lpwstr>
  </property>
  <property fmtid="{D5CDD505-2E9C-101B-9397-08002B2CF9AE}" pid="8" name="MSIP_Label_d528611d-fe69-484f-b56b-0db8a0d79612_ActionId">
    <vt:lpwstr>e2e770d1-e6d7-4d58-b8a5-f1e777305337</vt:lpwstr>
  </property>
  <property fmtid="{D5CDD505-2E9C-101B-9397-08002B2CF9AE}" pid="9" name="MSIP_Label_d528611d-fe69-484f-b56b-0db8a0d79612_ContentBits">
    <vt:lpwstr>0</vt:lpwstr>
  </property>
  <property fmtid="{D5CDD505-2E9C-101B-9397-08002B2CF9AE}" pid="10" name="MSIP_Label_d528611d-fe69-484f-b56b-0db8a0d79612_Tag">
    <vt:lpwstr>10, 0, 1, 1</vt:lpwstr>
  </property>
  <property fmtid="{D5CDD505-2E9C-101B-9397-08002B2CF9AE}" pid="11" name="ICV">
    <vt:lpwstr>6764C28EE37C4C3AAFCFC5C98F6C6F33_12</vt:lpwstr>
  </property>
  <property fmtid="{D5CDD505-2E9C-101B-9397-08002B2CF9AE}" pid="12" name="KSOProductBuildVer">
    <vt:lpwstr>1033-12.1.0.25180</vt:lpwstr>
  </property>
</Properties>
</file>