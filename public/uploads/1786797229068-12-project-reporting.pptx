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312" r:id="rId3"/>
    <p:sldId id="313" r:id="rId4"/>
    <p:sldId id="327" r:id="rId5"/>
    <p:sldId id="330" r:id="rId6"/>
    <p:sldId id="393" r:id="rId7"/>
    <p:sldId id="382" r:id="rId8"/>
    <p:sldId id="420" r:id="rId9"/>
    <p:sldId id="421" r:id="rId10"/>
    <p:sldId id="426" r:id="rId11"/>
    <p:sldId id="428" r:id="rId12"/>
    <p:sldId id="430" r:id="rId13"/>
    <p:sldId id="431" r:id="rId14"/>
    <p:sldId id="429" r:id="rId15"/>
    <p:sldId id="402" r:id="rId16"/>
    <p:sldId id="404" r:id="rId17"/>
    <p:sldId id="432" r:id="rId18"/>
    <p:sldId id="433" r:id="rId19"/>
    <p:sldId id="43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4E90C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 autoAdjust="0"/>
    <p:restoredTop sz="74975" autoAdjust="0"/>
  </p:normalViewPr>
  <p:slideViewPr>
    <p:cSldViewPr>
      <p:cViewPr varScale="1">
        <p:scale>
          <a:sx n="66" d="100"/>
          <a:sy n="66" d="100"/>
        </p:scale>
        <p:origin x="1445" y="62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modSld modMainMaster modNotesMaster">
      <pc:chgData name="Edmund WEE (TP)" userId="1aeff9e9-75c8-437e-9382-defeb26b795c" providerId="ADAL" clId="{114014A8-C605-4144-AADB-3E73113CE3EA}" dt="2026-03-23T02:58:59.882" v="0"/>
      <pc:docMkLst>
        <pc:docMk/>
      </pc:docMkLst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0" sldId="258"/>
            <ac:spMk id="5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0" sldId="258"/>
            <ac:spMk id="614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0" sldId="258"/>
            <ac:spMk id="444418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1380857081" sldId="312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6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10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16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20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21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2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3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34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36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80857081" sldId="312"/>
            <ac:spMk id="13315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793767278" sldId="313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793767278" sldId="313"/>
            <ac:spMk id="24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678273263" sldId="327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678273263" sldId="327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678273263" sldId="327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4161012470" sldId="330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161012470" sldId="330"/>
            <ac:spMk id="5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161012470" sldId="330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161012470" sldId="330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161012470" sldId="330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799677040" sldId="382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799677040" sldId="382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799677040" sldId="382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799677040" sldId="382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1330978708" sldId="393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30978708" sldId="393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30978708" sldId="393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330978708" sldId="393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42765210" sldId="402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2765210" sldId="402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2765210" sldId="402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2765210" sldId="402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1488081650" sldId="404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88081650" sldId="404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88081650" sldId="404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88081650" sldId="404"/>
            <ac:spMk id="16389" creationId="{00000000-0000-0000-0000-000000000000}"/>
          </ac:spMkLst>
        </pc:spChg>
      </pc:sldChg>
      <pc:sldChg chg="modSp">
        <pc:chgData name="Edmund WEE (TP)" userId="1aeff9e9-75c8-437e-9382-defeb26b795c" providerId="ADAL" clId="{114014A8-C605-4144-AADB-3E73113CE3EA}" dt="2026-03-23T02:58:59.882" v="0"/>
        <pc:sldMkLst>
          <pc:docMk/>
          <pc:sldMk cId="394392851" sldId="421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94392851" sldId="421"/>
            <ac:spMk id="3" creationId="{00000000-0000-0000-0000-000000000000}"/>
          </ac:spMkLst>
        </pc:spChg>
        <pc:picChg chg="mod">
          <ac:chgData name="Edmund WEE (TP)" userId="1aeff9e9-75c8-437e-9382-defeb26b795c" providerId="ADAL" clId="{114014A8-C605-4144-AADB-3E73113CE3EA}" dt="2026-03-23T02:58:59.882" v="0"/>
          <ac:picMkLst>
            <pc:docMk/>
            <pc:sldMk cId="394392851" sldId="421"/>
            <ac:picMk id="1028" creationId="{00000000-0000-0000-0000-000000000000}"/>
          </ac:picMkLst>
        </pc:pic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4039809968" sldId="426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039809968" sldId="426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039809968" sldId="426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4039809968" sldId="426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1493299340" sldId="428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93299340" sldId="428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93299340" sldId="428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1493299340" sldId="428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368700560" sldId="429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368700560" sldId="429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368700560" sldId="429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368700560" sldId="429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2479998641" sldId="430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2479998641" sldId="430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2479998641" sldId="430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2479998641" sldId="430"/>
            <ac:spMk id="16389" creationId="{00000000-0000-0000-0000-000000000000}"/>
          </ac:spMkLst>
        </pc:spChg>
        <pc:picChg chg="mod">
          <ac:chgData name="Edmund WEE (TP)" userId="1aeff9e9-75c8-437e-9382-defeb26b795c" providerId="ADAL" clId="{114014A8-C605-4144-AADB-3E73113CE3EA}" dt="2026-03-23T02:58:59.882" v="0"/>
          <ac:picMkLst>
            <pc:docMk/>
            <pc:sldMk cId="2479998641" sldId="430"/>
            <ac:picMk id="4" creationId="{29BF576C-009B-B5C5-C5E8-3E690C0F2EA5}"/>
          </ac:picMkLst>
        </pc:pic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475072746" sldId="431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475072746" sldId="431"/>
            <ac:spMk id="6" creationId="{29536329-E11A-CFCB-EA6E-ABB1CA47C5BB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475072746" sldId="431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475072746" sldId="431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475072746" sldId="431"/>
            <ac:spMk id="16389" creationId="{00000000-0000-0000-0000-000000000000}"/>
          </ac:spMkLst>
        </pc:spChg>
        <pc:grpChg chg="mod">
          <ac:chgData name="Edmund WEE (TP)" userId="1aeff9e9-75c8-437e-9382-defeb26b795c" providerId="ADAL" clId="{114014A8-C605-4144-AADB-3E73113CE3EA}" dt="2026-03-23T02:58:59.882" v="0"/>
          <ac:grpSpMkLst>
            <pc:docMk/>
            <pc:sldMk cId="3475072746" sldId="431"/>
            <ac:grpSpMk id="7" creationId="{B5B4FF04-7ED4-0A6E-F0AF-A7E04D0ECAEA}"/>
          </ac:grpSpMkLst>
        </pc:grpChg>
        <pc:picChg chg="mod">
          <ac:chgData name="Edmund WEE (TP)" userId="1aeff9e9-75c8-437e-9382-defeb26b795c" providerId="ADAL" clId="{114014A8-C605-4144-AADB-3E73113CE3EA}" dt="2026-03-23T02:58:59.882" v="0"/>
          <ac:picMkLst>
            <pc:docMk/>
            <pc:sldMk cId="3475072746" sldId="431"/>
            <ac:picMk id="5" creationId="{2975D2F6-710D-6143-8C9A-31DA37401AED}"/>
          </ac:picMkLst>
        </pc:pic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545120996" sldId="432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545120996" sldId="432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545120996" sldId="432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545120996" sldId="432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87292422" sldId="433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87292422" sldId="433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87292422" sldId="433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87292422" sldId="433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59.882" v="0"/>
          <ac:graphicFrameMkLst>
            <pc:docMk/>
            <pc:sldMk cId="387292422" sldId="433"/>
            <ac:graphicFrameMk id="3" creationId="{C1FBECC3-B665-73AE-1AA9-3AC2E31CF9DD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2:58:59.882" v="0"/>
        <pc:sldMkLst>
          <pc:docMk/>
          <pc:sldMk cId="3275854675" sldId="434"/>
        </pc:sld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275854675" sldId="434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275854675" sldId="434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k cId="3275854675" sldId="434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59.882" v="0"/>
          <ac:graphicFrameMkLst>
            <pc:docMk/>
            <pc:sldMk cId="3275854675" sldId="434"/>
            <ac:graphicFrameMk id="3" creationId="{C1FBECC3-B665-73AE-1AA9-3AC2E31CF9DD}"/>
          </ac:graphicFrameMkLst>
        </pc:graphicFrameChg>
      </pc:sldChg>
      <pc:sldMasterChg chg="modSp modSldLayout">
        <pc:chgData name="Edmund WEE (TP)" userId="1aeff9e9-75c8-437e-9382-defeb26b795c" providerId="ADAL" clId="{114014A8-C605-4144-AADB-3E73113CE3EA}" dt="2026-03-23T02:58:59.882" v="0"/>
        <pc:sldMasterMkLst>
          <pc:docMk/>
          <pc:sldMasterMk cId="3405395716" sldId="2147483648"/>
        </pc:sldMasterMkLst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asterMk cId="3405395716" sldId="2147483648"/>
            <ac:spMk id="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59.882" v="0"/>
          <ac:spMkLst>
            <pc:docMk/>
            <pc:sldMasterMk cId="3405395716" sldId="2147483648"/>
            <ac:spMk id="3" creationId="{00000000-0000-0000-0000-000000000000}"/>
          </ac:spMkLst>
        </pc:sp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1315035339" sldId="2147483649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315035339" sldId="214748364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315035339" sldId="214748364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315035339" sldId="214748364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315035339" sldId="2147483649"/>
              <ac:spMk id="11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315035339" sldId="2147483649"/>
              <ac:spMk id="12" creationId="{00000000-0000-0000-0000-000000000000}"/>
            </ac:spMkLst>
          </pc:spChg>
          <pc:picChg chg="mod">
            <ac:chgData name="Edmund WEE (TP)" userId="1aeff9e9-75c8-437e-9382-defeb26b795c" providerId="ADAL" clId="{114014A8-C605-4144-AADB-3E73113CE3EA}" dt="2026-03-23T02:58:59.882" v="0"/>
            <ac:picMkLst>
              <pc:docMk/>
              <pc:sldMasterMk cId="3405395716" sldId="2147483648"/>
              <pc:sldLayoutMk cId="1315035339" sldId="2147483649"/>
              <ac:picMk id="8" creationId="{00000000-0000-0000-0000-000000000000}"/>
            </ac:picMkLst>
          </pc:pic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2872698530" sldId="2147483650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872698530" sldId="2147483650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872698530" sldId="2147483650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872698530" sldId="2147483650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872698530" sldId="2147483650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872698530" sldId="2147483650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1545594437" sldId="2147483651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45594437" sldId="2147483651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45594437" sldId="2147483651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45594437" sldId="2147483651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45594437" sldId="2147483651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45594437" sldId="2147483651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1153945775" sldId="2147483652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153945775" sldId="2147483652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153945775" sldId="2147483652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153945775" sldId="2147483652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153945775" sldId="2147483652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153945775" sldId="2147483652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3407038121" sldId="2147483653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7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8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407038121" sldId="2147483653"/>
              <ac:spMk id="9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2689683986" sldId="2147483654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689683986" sldId="2147483654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689683986" sldId="2147483654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2689683986" sldId="2147483654"/>
              <ac:spMk id="5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3609554422" sldId="2147483655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609554422" sldId="2147483655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609554422" sldId="2147483655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609554422" sldId="2147483655"/>
              <ac:spMk id="4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3163389207" sldId="2147483656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3163389207" sldId="2147483656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1536513844" sldId="2147483657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536513844" sldId="2147483657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1266679997" sldId="2147483658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266679997" sldId="2147483658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266679997" sldId="2147483658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1266679997" sldId="2147483658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59.882" v="0"/>
          <pc:sldLayoutMkLst>
            <pc:docMk/>
            <pc:sldMasterMk cId="3405395716" sldId="2147483648"/>
            <pc:sldLayoutMk cId="737882095" sldId="2147483659"/>
          </pc:sldLayoutMkLst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737882095" sldId="214748365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737882095" sldId="214748365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737882095" sldId="2147483659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737882095" sldId="214748365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59.882" v="0"/>
            <ac:spMkLst>
              <pc:docMk/>
              <pc:sldMasterMk cId="3405395716" sldId="2147483648"/>
              <pc:sldLayoutMk cId="737882095" sldId="2147483659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baseline="0" dirty="0"/>
              <a:t>Consultant touches base with the client to understand the pre-requisites before the testing starts (</a:t>
            </a:r>
            <a:r>
              <a:rPr lang="en-US" baseline="0" dirty="0" err="1"/>
              <a:t>e.g</a:t>
            </a:r>
            <a:r>
              <a:rPr lang="en-US" baseline="0" dirty="0"/>
              <a:t> user credentials, application system ready before start of testing)</a:t>
            </a:r>
          </a:p>
          <a:p>
            <a:pPr marL="228600" indent="-228600">
              <a:buAutoNum type="arabicParenBoth"/>
            </a:pPr>
            <a:endParaRPr lang="en-US" baseline="0" dirty="0"/>
          </a:p>
          <a:p>
            <a:pPr marL="228600" indent="-228600">
              <a:buAutoNum type="arabicParenBoth"/>
            </a:pPr>
            <a:r>
              <a:rPr lang="en-US" baseline="0" dirty="0"/>
              <a:t>When testing starts, it is a matter of performing the penetration testing based on the various penetration testing methodologies, as listed in the examples below:</a:t>
            </a:r>
            <a:endParaRPr lang="en-US" dirty="0"/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PCI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(Penetration Test Guidance Special Interest Group, PCI Security Standards Council, 2015)</a:t>
            </a:r>
            <a:endParaRPr lang="en-US" dirty="0"/>
          </a:p>
          <a:p>
            <a:r>
              <a:rPr lang="en-US" dirty="0"/>
              <a:t>	-</a:t>
            </a:r>
            <a:r>
              <a:rPr lang="en-US" baseline="0" dirty="0"/>
              <a:t> 4.1 Pre-Engagement: Scoping, Documentation, Rules of Engagement, Third-Party-Hosted / Cloud Environments, Success Criteria, Review of Past Threats and Vulnerabilities, Avoid scan interference on security appliances.</a:t>
            </a:r>
          </a:p>
          <a:p>
            <a:r>
              <a:rPr lang="en-US" baseline="0" dirty="0"/>
              <a:t>	- 4.2 Engagement: Penetration Testing: Application, Network, Segmentation, Sensitive Data handling upon discovery, Post-exploitation</a:t>
            </a:r>
          </a:p>
          <a:p>
            <a:r>
              <a:rPr lang="en-US" baseline="0" dirty="0"/>
              <a:t>	- 4.3 Post-Engagement: Remediation Best Practices, Retesting Identified Vulnerabilities, Cleaning up the Environment</a:t>
            </a:r>
          </a:p>
          <a:p>
            <a:r>
              <a:rPr lang="en-US" baseline="0" dirty="0"/>
              <a:t>	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SANS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Application Penetration Testing Course | Ethical Hacking Training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date)</a:t>
            </a:r>
            <a:endParaRPr lang="en-US" baseline="0" dirty="0"/>
          </a:p>
          <a:p>
            <a:r>
              <a:rPr lang="en-US" baseline="0" dirty="0"/>
              <a:t>	- Recon -&gt; Map -&gt; Discovery -&gt; Exploit -&gt; Reporting</a:t>
            </a:r>
          </a:p>
          <a:p>
            <a:r>
              <a:rPr lang="en-US" baseline="0" dirty="0"/>
              <a:t>	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Source Security Testing Methodology Manual (“OSSTMM”) 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Source Security Testing Methodology Manual (OSSTMM)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date)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	- Summary: Recon</a:t>
            </a:r>
            <a:r>
              <a:rPr lang="en-US" baseline="0" dirty="0"/>
              <a:t> -&gt; Discover -&gt; Exploit -&gt; Reporting</a:t>
            </a:r>
          </a:p>
          <a:p>
            <a:endParaRPr lang="en-US" baseline="0" dirty="0"/>
          </a:p>
          <a:p>
            <a:r>
              <a:rPr lang="en-US" baseline="0" dirty="0"/>
              <a:t>OWASP Testing Guide (https://</a:t>
            </a:r>
            <a:r>
              <a:rPr lang="en-US" baseline="0" dirty="0" err="1"/>
              <a:t>www.owasp.org</a:t>
            </a:r>
            <a:r>
              <a:rPr lang="en-US" baseline="0" dirty="0"/>
              <a:t>/</a:t>
            </a:r>
            <a:r>
              <a:rPr lang="en-US" baseline="0" dirty="0" err="1"/>
              <a:t>index.php</a:t>
            </a:r>
            <a:r>
              <a:rPr lang="en-US" baseline="0" dirty="0"/>
              <a:t>/</a:t>
            </a:r>
            <a:r>
              <a:rPr lang="en-US" baseline="0" dirty="0" err="1"/>
              <a:t>Testing_Guide_Frontispiece</a:t>
            </a:r>
            <a:r>
              <a:rPr lang="en-US" baseline="0" dirty="0"/>
              <a:t>) – “With V4 we realized a new guide that will be the standard de-facto guide to perform Web Application Penetration Testing. -- Matteo </a:t>
            </a:r>
            <a:r>
              <a:rPr lang="en-US" baseline="0" dirty="0" err="1"/>
              <a:t>Meucci</a:t>
            </a:r>
            <a:r>
              <a:rPr lang="en-US" baseline="0" dirty="0"/>
              <a:t>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PTES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(no date) Available at: http://www.pentest-standard.org/index.php/Main_Page (Accessed: 17 October 2015).)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Pre-engagement Interactions, Intelligence Gathering, Threat Modeling, Vulnerability Analysis, Exploitation, Post Exploitation, Reporting</a:t>
            </a:r>
            <a:endParaRPr lang="en-US" dirty="0"/>
          </a:p>
          <a:p>
            <a:r>
              <a:rPr lang="en-US" dirty="0"/>
              <a:t>	</a:t>
            </a:r>
          </a:p>
          <a:p>
            <a:r>
              <a:rPr lang="en-US" dirty="0"/>
              <a:t>(3) Generate a report and present it</a:t>
            </a:r>
            <a:r>
              <a:rPr lang="en-US" baseline="0" dirty="0"/>
              <a:t> to the client (mostly a mix of management + technical personnel)</a:t>
            </a:r>
          </a:p>
          <a:p>
            <a:endParaRPr lang="en-US" baseline="0" dirty="0"/>
          </a:p>
          <a:p>
            <a:r>
              <a:rPr lang="en-US" baseline="0" dirty="0"/>
              <a:t>(4) Client takes the report and performs the fixes. Once they are ready, they will call down the consultant to verify the fixes and update the report.</a:t>
            </a:r>
          </a:p>
          <a:p>
            <a:endParaRPr lang="en-US" baseline="0" dirty="0"/>
          </a:p>
          <a:p>
            <a:r>
              <a:rPr lang="en-US" baseline="0" dirty="0"/>
              <a:t>(5) Once it is okay, then environment needs </a:t>
            </a:r>
            <a:r>
              <a:rPr lang="en-US" baseline="0"/>
              <a:t>to clean up.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1778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Rules of Engagement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"Pen Test Rules of Engagement Worksheet"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SANS List of Penetration Testing Tips Sheets, Downloads and pdfs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2015))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Need a SANS account to login and then download the file.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good reference is NIST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800-115 (2008) Available at http://csrc.nist.gov/publications/nistpubs/800-115/SP800-115.pdf (Accessed: 17 October 2015).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“</a:t>
            </a:r>
            <a:r>
              <a:rPr lang="en-US" dirty="0"/>
              <a:t>Rules of Engagement (ROE): Detailed guidelines and constraints regarding the execution of information security testing. The ROE is  established before the start of a security test, and gives the test team authority to conduct defined activities without the need for additional permissions.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pPr eaLnBrk="1" hangingPunct="1">
              <a:lnSpc>
                <a:spcPct val="90000"/>
              </a:lnSpc>
            </a:pP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1. Purpose: Names of parties involved and purpose of test.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2. Scope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3. Assumptions and limitations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4. Risks and mitigations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5. Schedule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6. Test site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7. Test equipment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8. Communication during normal and during crisis. 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9. Test plan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10. Data handling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11. Reporting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12. Signed by client authorizing the test</a:t>
            </a:r>
          </a:p>
          <a:p>
            <a:pPr eaLnBrk="1" hangingPunct="1">
              <a:lnSpc>
                <a:spcPct val="90000"/>
              </a:lnSpc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 from external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e.g.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"AWS Penetration Testing"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Penetration Testing - Amazon Web Services (AWS)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2010)</a:t>
            </a:r>
          </a:p>
          <a:p>
            <a:pPr eaLnBrk="1" hangingPunct="1">
              <a:lnSpc>
                <a:spcPct val="90000"/>
              </a:lnSpc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Ref: 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SANS List of Penetration Testing Tips Sheets, Downloads and pdfs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(2015) Available at: https://pen-testing.sans.org/resources/downloads#rules (Accessed: 17 October 2015).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Penetration Testing - Amazon Web Services (AWS)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(2010) Available at: https://aws.amazon.com/security/penetration-testing/ (Accessed: 17 October 2015).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9077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7961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Reports to</a:t>
            </a:r>
            <a:r>
              <a:rPr lang="en-US" baseline="0" dirty="0"/>
              <a:t> compare and contrast</a:t>
            </a:r>
          </a:p>
          <a:p>
            <a:endParaRPr lang="en-US" dirty="0"/>
          </a:p>
          <a:p>
            <a:r>
              <a:rPr lang="en-US" dirty="0"/>
              <a:t>Ref:</a:t>
            </a:r>
          </a:p>
          <a:p>
            <a:r>
              <a:rPr lang="en-US" dirty="0" err="1"/>
              <a:t>Offsec</a:t>
            </a:r>
            <a:r>
              <a:rPr lang="en-US" dirty="0"/>
              <a:t>,</a:t>
            </a:r>
            <a:r>
              <a:rPr lang="en-US" baseline="0" dirty="0"/>
              <a:t> </a:t>
            </a:r>
            <a:r>
              <a:rPr lang="en-US" dirty="0"/>
              <a:t>https://</a:t>
            </a:r>
            <a:r>
              <a:rPr lang="en-US" dirty="0" err="1"/>
              <a:t>www.offensive-security.com</a:t>
            </a:r>
            <a:r>
              <a:rPr lang="en-US" dirty="0"/>
              <a:t>/reports/sample-penetration-testing-</a:t>
            </a:r>
            <a:r>
              <a:rPr lang="en-US" dirty="0" err="1"/>
              <a:t>report.pdf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Writing a Penetration Testing Report (SANS), https://</a:t>
            </a:r>
            <a:r>
              <a:rPr lang="en-US" dirty="0" err="1"/>
              <a:t>www.sans.org</a:t>
            </a:r>
            <a:r>
              <a:rPr lang="en-US" dirty="0"/>
              <a:t>/reading-room/whitepapers/testing/writing-penetration-testing-report-33343</a:t>
            </a:r>
          </a:p>
          <a:p>
            <a:endParaRPr lang="en-US" dirty="0"/>
          </a:p>
          <a:p>
            <a:r>
              <a:rPr lang="en-US" dirty="0"/>
              <a:t>ABS, http://</a:t>
            </a:r>
            <a:r>
              <a:rPr lang="en-US" dirty="0" err="1"/>
              <a:t>abs.org.sg</a:t>
            </a:r>
            <a:r>
              <a:rPr lang="en-US" dirty="0"/>
              <a:t>/docs/library/abs-pen-test-</a:t>
            </a:r>
            <a:r>
              <a:rPr lang="en-US" dirty="0" err="1"/>
              <a:t>guidelines.pdf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1426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5187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6383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98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9177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9193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5421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9476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5546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1334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141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0035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107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Penetration Testing Process</a:t>
            </a:r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/>
              <a:t>Hands-On Ethical Hacking and Network Defense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4919FE-15B6-4B6E-986E-EF8C746CB5B9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3" name="Pentagon 2"/>
          <p:cNvSpPr/>
          <p:nvPr/>
        </p:nvSpPr>
        <p:spPr>
          <a:xfrm>
            <a:off x="3581401" y="2209800"/>
            <a:ext cx="1666875" cy="1219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Identify possible attack vector in app/system</a:t>
            </a:r>
          </a:p>
        </p:txBody>
      </p:sp>
      <p:sp>
        <p:nvSpPr>
          <p:cNvPr id="7" name="Pentagon 6"/>
          <p:cNvSpPr/>
          <p:nvPr/>
        </p:nvSpPr>
        <p:spPr>
          <a:xfrm>
            <a:off x="1828801" y="2233612"/>
            <a:ext cx="1666875" cy="1219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Kick-off + Start testing</a:t>
            </a:r>
          </a:p>
        </p:txBody>
      </p:sp>
      <p:sp>
        <p:nvSpPr>
          <p:cNvPr id="8" name="Pentagon 7"/>
          <p:cNvSpPr/>
          <p:nvPr/>
        </p:nvSpPr>
        <p:spPr>
          <a:xfrm>
            <a:off x="5338763" y="2209800"/>
            <a:ext cx="1666875" cy="1219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Verify if attack vector can demonstrate impact</a:t>
            </a:r>
          </a:p>
        </p:txBody>
      </p:sp>
      <p:sp>
        <p:nvSpPr>
          <p:cNvPr id="9" name="Pentagon 8"/>
          <p:cNvSpPr/>
          <p:nvPr/>
        </p:nvSpPr>
        <p:spPr>
          <a:xfrm>
            <a:off x="7096125" y="2233612"/>
            <a:ext cx="1666875" cy="1219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Calculate CVSS rating of vulnerability </a:t>
            </a:r>
          </a:p>
        </p:txBody>
      </p:sp>
      <p:sp>
        <p:nvSpPr>
          <p:cNvPr id="10" name="Pentagon 9"/>
          <p:cNvSpPr/>
          <p:nvPr/>
        </p:nvSpPr>
        <p:spPr>
          <a:xfrm>
            <a:off x="8848726" y="2209800"/>
            <a:ext cx="1757361" cy="1219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Suggest recommendation to remediate the vulnerability </a:t>
            </a:r>
          </a:p>
        </p:txBody>
      </p:sp>
      <p:sp>
        <p:nvSpPr>
          <p:cNvPr id="4" name="Right Brace 3"/>
          <p:cNvSpPr/>
          <p:nvPr/>
        </p:nvSpPr>
        <p:spPr>
          <a:xfrm rot="5400000">
            <a:off x="6431755" y="1002506"/>
            <a:ext cx="461964" cy="63341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rved Up Arrow 5"/>
          <p:cNvSpPr/>
          <p:nvPr/>
        </p:nvSpPr>
        <p:spPr>
          <a:xfrm rot="10800000">
            <a:off x="4031453" y="1016793"/>
            <a:ext cx="5493546" cy="1066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269" y="4802979"/>
            <a:ext cx="1643063" cy="15754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713" y="4296371"/>
            <a:ext cx="1154775" cy="77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4174" y="3786786"/>
            <a:ext cx="113712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Report</a:t>
            </a:r>
          </a:p>
        </p:txBody>
      </p:sp>
      <p:cxnSp>
        <p:nvCxnSpPr>
          <p:cNvPr id="18" name="Elbow Connector 17"/>
          <p:cNvCxnSpPr>
            <a:stCxn id="15" idx="2"/>
            <a:endCxn id="14" idx="1"/>
          </p:cNvCxnSpPr>
          <p:nvPr/>
        </p:nvCxnSpPr>
        <p:spPr>
          <a:xfrm rot="16200000" flipH="1">
            <a:off x="6943510" y="4287961"/>
            <a:ext cx="518348" cy="20871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03205" y="5215735"/>
            <a:ext cx="1489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Communicate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6692" y="5886210"/>
            <a:ext cx="2062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Clean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1284" y="4569405"/>
            <a:ext cx="72469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Verify 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3776" y="1150829"/>
            <a:ext cx="1545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Feedback loop</a:t>
            </a:r>
          </a:p>
          <a:p>
            <a:endParaRPr lang="en-US" dirty="0"/>
          </a:p>
        </p:txBody>
      </p:sp>
      <p:cxnSp>
        <p:nvCxnSpPr>
          <p:cNvPr id="28" name="Elbow Connector 27"/>
          <p:cNvCxnSpPr/>
          <p:nvPr/>
        </p:nvCxnSpPr>
        <p:spPr>
          <a:xfrm rot="10800000">
            <a:off x="5248275" y="4937548"/>
            <a:ext cx="3400430" cy="982645"/>
          </a:xfrm>
          <a:prstGeom prst="bentConnector3">
            <a:avLst>
              <a:gd name="adj1" fmla="val 896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46255" y="4419600"/>
            <a:ext cx="176647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Attempt to fix vulnerabilities based on fixes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2402670" y="4558099"/>
            <a:ext cx="1043584" cy="2448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Right Arrow 34"/>
          <p:cNvSpPr/>
          <p:nvPr/>
        </p:nvSpPr>
        <p:spPr>
          <a:xfrm>
            <a:off x="2402670" y="5072370"/>
            <a:ext cx="1043584" cy="25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Down Arrow 35"/>
          <p:cNvSpPr/>
          <p:nvPr/>
        </p:nvSpPr>
        <p:spPr>
          <a:xfrm>
            <a:off x="1993629" y="5326837"/>
            <a:ext cx="157631" cy="4482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Oval 36"/>
          <p:cNvSpPr/>
          <p:nvPr/>
        </p:nvSpPr>
        <p:spPr>
          <a:xfrm>
            <a:off x="2551815" y="1993626"/>
            <a:ext cx="518357" cy="45720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40" name="Oval 39"/>
          <p:cNvSpPr/>
          <p:nvPr/>
        </p:nvSpPr>
        <p:spPr>
          <a:xfrm>
            <a:off x="6110901" y="1576987"/>
            <a:ext cx="518357" cy="45720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41" name="Oval 40"/>
          <p:cNvSpPr/>
          <p:nvPr/>
        </p:nvSpPr>
        <p:spPr>
          <a:xfrm>
            <a:off x="7951545" y="4618537"/>
            <a:ext cx="518357" cy="45720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42" name="Oval 41"/>
          <p:cNvSpPr/>
          <p:nvPr/>
        </p:nvSpPr>
        <p:spPr>
          <a:xfrm>
            <a:off x="2382758" y="4010024"/>
            <a:ext cx="518357" cy="45720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43" name="Oval 42"/>
          <p:cNvSpPr/>
          <p:nvPr/>
        </p:nvSpPr>
        <p:spPr>
          <a:xfrm>
            <a:off x="2253215" y="5476823"/>
            <a:ext cx="518357" cy="45720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085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Penetration Testing Methodology</a:t>
            </a:r>
            <a:br>
              <a:rPr lang="en-US" dirty="0"/>
            </a:br>
            <a:r>
              <a:rPr lang="en-US" dirty="0"/>
              <a:t>(continued)</a:t>
            </a:r>
          </a:p>
        </p:txBody>
      </p:sp>
      <p:sp>
        <p:nvSpPr>
          <p:cNvPr id="24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8229600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Rule of Engagement (ROE)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Guidelines / Constraints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Assets within scope of testing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Don’t have to keep asking Client for permissions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Permissions (from client, cloud or hosting)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Normally for clients who </a:t>
            </a:r>
            <a:r>
              <a:rPr lang="en-US" b="1" dirty="0"/>
              <a:t>host</a:t>
            </a:r>
            <a:r>
              <a:rPr lang="en-US" dirty="0"/>
              <a:t> their applications on </a:t>
            </a:r>
            <a:r>
              <a:rPr lang="en-US" b="1" dirty="0"/>
              <a:t>third-party</a:t>
            </a:r>
            <a:r>
              <a:rPr lang="en-US" dirty="0"/>
              <a:t> services (</a:t>
            </a:r>
            <a:r>
              <a:rPr lang="en-US" dirty="0" err="1"/>
              <a:t>e.g</a:t>
            </a:r>
            <a:r>
              <a:rPr lang="en-US" dirty="0"/>
              <a:t> security clearance)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Written authorization is </a:t>
            </a:r>
            <a:r>
              <a:rPr lang="en-US" b="1" dirty="0"/>
              <a:t>required</a:t>
            </a:r>
          </a:p>
        </p:txBody>
      </p:sp>
    </p:spTree>
    <p:extLst>
      <p:ext uri="{BB962C8B-B14F-4D97-AF65-F5344CB8AC3E}">
        <p14:creationId xmlns:p14="http://schemas.microsoft.com/office/powerpoint/2010/main" val="379376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Penetration Testing Methodology</a:t>
            </a:r>
            <a:br>
              <a:rPr lang="en-US" dirty="0"/>
            </a:br>
            <a:r>
              <a:rPr lang="en-US" dirty="0"/>
              <a:t>(continued)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Tools and Techniques (Bulk of work)</a:t>
            </a:r>
          </a:p>
          <a:p>
            <a:pPr lvl="1"/>
            <a:r>
              <a:rPr lang="en-US" dirty="0"/>
              <a:t>80% effort during engagement</a:t>
            </a:r>
          </a:p>
          <a:p>
            <a:endParaRPr lang="en-US" dirty="0"/>
          </a:p>
          <a:p>
            <a:r>
              <a:rPr lang="en-US" b="1" dirty="0"/>
              <a:t>Document</a:t>
            </a:r>
            <a:r>
              <a:rPr lang="en-US" dirty="0"/>
              <a:t> regularly</a:t>
            </a:r>
          </a:p>
          <a:p>
            <a:pPr lvl="1"/>
            <a:r>
              <a:rPr lang="en-US" dirty="0"/>
              <a:t>Walkthrough / step-by-step process to replicate exploit</a:t>
            </a:r>
          </a:p>
          <a:p>
            <a:pPr lvl="1"/>
            <a:r>
              <a:rPr lang="en-US" dirty="0"/>
              <a:t>20% effort, IF documentation is properly done</a:t>
            </a:r>
          </a:p>
          <a:p>
            <a:pPr lvl="1"/>
            <a:r>
              <a:rPr lang="en-US" b="1" u="sng" dirty="0">
                <a:solidFill>
                  <a:srgbClr val="FF0000"/>
                </a:solidFill>
              </a:rPr>
              <a:t>Do not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leave this as the last minute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Communicate (issues, material findings)</a:t>
            </a: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4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7827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Penetration Testing Reporting (continued)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5791199" cy="4724400"/>
          </a:xfrm>
        </p:spPr>
        <p:txBody>
          <a:bodyPr>
            <a:normAutofit fontScale="92500"/>
          </a:bodyPr>
          <a:lstStyle/>
          <a:p>
            <a:r>
              <a:rPr lang="en-US" dirty="0"/>
              <a:t>Tangible IP of the engagement</a:t>
            </a:r>
          </a:p>
          <a:p>
            <a:r>
              <a:rPr lang="en-US" dirty="0"/>
              <a:t>Presentation meeting to client</a:t>
            </a:r>
          </a:p>
          <a:p>
            <a:r>
              <a:rPr lang="en-US" dirty="0"/>
              <a:t>Key attributes</a:t>
            </a:r>
          </a:p>
          <a:p>
            <a:pPr lvl="1"/>
            <a:r>
              <a:rPr lang="en-US" dirty="0"/>
              <a:t>Target the right audience</a:t>
            </a:r>
          </a:p>
          <a:p>
            <a:pPr lvl="2"/>
            <a:r>
              <a:rPr lang="en-US" dirty="0"/>
              <a:t>Executive</a:t>
            </a:r>
          </a:p>
          <a:p>
            <a:pPr lvl="2"/>
            <a:r>
              <a:rPr lang="en-US" dirty="0"/>
              <a:t>Technical</a:t>
            </a:r>
          </a:p>
          <a:p>
            <a:pPr lvl="1"/>
            <a:r>
              <a:rPr lang="en-US" dirty="0"/>
              <a:t>Objective (factual, observed, detected)</a:t>
            </a:r>
          </a:p>
          <a:p>
            <a:pPr lvl="1"/>
            <a:r>
              <a:rPr lang="en-US" dirty="0"/>
              <a:t>Repeatable steps (Technical Details)</a:t>
            </a:r>
          </a:p>
          <a:p>
            <a:pPr lvl="1"/>
            <a:r>
              <a:rPr lang="en-US" dirty="0"/>
              <a:t>Practical </a:t>
            </a:r>
            <a:r>
              <a:rPr lang="en-US" b="1" dirty="0"/>
              <a:t>recommendations</a:t>
            </a:r>
          </a:p>
          <a:p>
            <a:pPr lvl="1"/>
            <a:r>
              <a:rPr lang="en-US" dirty="0"/>
              <a:t>Confidential and protected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5" name="Left Arrow Callout 4"/>
          <p:cNvSpPr/>
          <p:nvPr/>
        </p:nvSpPr>
        <p:spPr>
          <a:xfrm>
            <a:off x="6248400" y="1716450"/>
            <a:ext cx="3962400" cy="1938337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will have opportunities to document your PT  throughout the course module</a:t>
            </a:r>
          </a:p>
        </p:txBody>
      </p:sp>
    </p:spTree>
    <p:extLst>
      <p:ext uri="{BB962C8B-B14F-4D97-AF65-F5344CB8AC3E}">
        <p14:creationId xmlns:p14="http://schemas.microsoft.com/office/powerpoint/2010/main" val="416101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828800"/>
            <a:ext cx="8381999" cy="4114800"/>
          </a:xfrm>
        </p:spPr>
        <p:txBody>
          <a:bodyPr>
            <a:normAutofit/>
          </a:bodyPr>
          <a:lstStyle/>
          <a:p>
            <a:r>
              <a:rPr lang="en-US" dirty="0"/>
              <a:t>Project Scope (NOT COVERED)</a:t>
            </a:r>
          </a:p>
          <a:p>
            <a:r>
              <a:rPr lang="en-US" dirty="0"/>
              <a:t>Executive Summary</a:t>
            </a:r>
          </a:p>
          <a:p>
            <a:r>
              <a:rPr lang="en-US" dirty="0"/>
              <a:t>Findings Overview</a:t>
            </a:r>
          </a:p>
          <a:p>
            <a:r>
              <a:rPr lang="en-US" dirty="0"/>
              <a:t>Findings Details</a:t>
            </a:r>
          </a:p>
          <a:p>
            <a:r>
              <a:rPr lang="en-US" dirty="0"/>
              <a:t>Testing Methodology and Vulnerabilities Coverage</a:t>
            </a:r>
          </a:p>
          <a:p>
            <a:r>
              <a:rPr lang="en-US" dirty="0"/>
              <a:t>Limitations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097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524000"/>
            <a:ext cx="8381999" cy="4419600"/>
          </a:xfrm>
        </p:spPr>
        <p:txBody>
          <a:bodyPr>
            <a:normAutofit/>
          </a:bodyPr>
          <a:lstStyle/>
          <a:p>
            <a:r>
              <a:rPr lang="en-US" dirty="0"/>
              <a:t>Project Scope (NOT COVERED)</a:t>
            </a:r>
          </a:p>
          <a:p>
            <a:pPr lvl="1"/>
            <a:r>
              <a:rPr lang="en-US" dirty="0"/>
              <a:t>Type of Engagement 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White|Black|Grey</a:t>
            </a:r>
            <a:r>
              <a:rPr lang="en-US" dirty="0"/>
              <a:t>) Box Testing</a:t>
            </a:r>
          </a:p>
          <a:p>
            <a:pPr lvl="1"/>
            <a:r>
              <a:rPr lang="en-US" dirty="0"/>
              <a:t>Testing Duration</a:t>
            </a:r>
          </a:p>
          <a:p>
            <a:pPr lvl="1"/>
            <a:r>
              <a:rPr lang="en-US" dirty="0"/>
              <a:t>IP addresses and URLs</a:t>
            </a:r>
          </a:p>
          <a:p>
            <a:pPr lvl="1"/>
            <a:r>
              <a:rPr lang="en-US" dirty="0"/>
              <a:t>Credentials provided (if possible)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967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  <a:p>
            <a:pPr lvl="1"/>
            <a:r>
              <a:rPr lang="en-US" b="1" dirty="0"/>
              <a:t>Duration </a:t>
            </a:r>
            <a:r>
              <a:rPr lang="en-US" dirty="0"/>
              <a:t>of the assessment</a:t>
            </a:r>
          </a:p>
          <a:p>
            <a:pPr lvl="1"/>
            <a:r>
              <a:rPr lang="en-US" b="1" dirty="0"/>
              <a:t>Brief</a:t>
            </a:r>
            <a:r>
              <a:rPr lang="en-US" dirty="0"/>
              <a:t> description of the findings</a:t>
            </a:r>
          </a:p>
          <a:p>
            <a:pPr lvl="2"/>
            <a:r>
              <a:rPr lang="en-US" b="1" dirty="0"/>
              <a:t>Impact</a:t>
            </a:r>
            <a:r>
              <a:rPr lang="en-US" dirty="0"/>
              <a:t> for each finding</a:t>
            </a:r>
          </a:p>
          <a:p>
            <a:pPr lvl="2"/>
            <a:r>
              <a:rPr lang="en-US" b="1" dirty="0"/>
              <a:t>Recommendation</a:t>
            </a:r>
            <a:r>
              <a:rPr lang="en-US" dirty="0"/>
              <a:t> for each finding</a:t>
            </a:r>
          </a:p>
          <a:p>
            <a:pPr lvl="2"/>
            <a:r>
              <a:rPr lang="en-US" dirty="0"/>
              <a:t>Possible to chain </a:t>
            </a:r>
            <a:r>
              <a:rPr lang="en-US" b="1" dirty="0"/>
              <a:t>two findings </a:t>
            </a:r>
            <a:r>
              <a:rPr lang="en-US" dirty="0"/>
              <a:t>to show a bigger </a:t>
            </a:r>
            <a:r>
              <a:rPr lang="en-US" b="1" dirty="0"/>
              <a:t>impact</a:t>
            </a:r>
          </a:p>
          <a:p>
            <a:pPr lvl="3"/>
            <a:r>
              <a:rPr lang="en-US" dirty="0" err="1"/>
              <a:t>e.g</a:t>
            </a:r>
            <a:r>
              <a:rPr lang="en-US" dirty="0"/>
              <a:t> Unpatched Software + Weak Administrator Password</a:t>
            </a:r>
          </a:p>
          <a:p>
            <a:pPr lvl="3"/>
            <a:r>
              <a:rPr lang="en-US" dirty="0"/>
              <a:t>User able to run commands on the server, able to elevate to administrator privileges.</a:t>
            </a:r>
          </a:p>
          <a:p>
            <a:pPr lvl="1"/>
            <a:r>
              <a:rPr lang="en-US" dirty="0"/>
              <a:t>Provide advice on overall security posture of the organization.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462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7400" y="1676400"/>
            <a:ext cx="4572000" cy="4800600"/>
          </a:xfrm>
        </p:spPr>
        <p:txBody>
          <a:bodyPr>
            <a:normAutofit/>
          </a:bodyPr>
          <a:lstStyle/>
          <a:p>
            <a:r>
              <a:rPr lang="en-US" sz="2400" dirty="0"/>
              <a:t>Findings Overview</a:t>
            </a:r>
          </a:p>
          <a:p>
            <a:pPr lvl="1"/>
            <a:r>
              <a:rPr lang="en-US" sz="2000" b="1" dirty="0"/>
              <a:t>Total</a:t>
            </a:r>
            <a:r>
              <a:rPr lang="en-US" sz="2000" dirty="0"/>
              <a:t> number of Critical, High, Medium, Low, Advisory/Informational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Make sure that findings are ordered in </a:t>
            </a:r>
            <a:r>
              <a:rPr lang="en-US" sz="2000" b="1" dirty="0">
                <a:highlight>
                  <a:srgbClr val="FFFF00"/>
                </a:highlight>
              </a:rPr>
              <a:t>level of score and severity.</a:t>
            </a:r>
            <a:r>
              <a:rPr lang="en-US" sz="2000" dirty="0"/>
              <a:t> (Critical/High first, followed by the rest).</a:t>
            </a:r>
          </a:p>
          <a:p>
            <a:pPr lvl="2"/>
            <a:r>
              <a:rPr lang="en-US" sz="1600" dirty="0"/>
              <a:t>Make sure the order of findings is the same for BOTH the Findings Overview and the report.</a:t>
            </a:r>
          </a:p>
          <a:p>
            <a:pPr lvl="1"/>
            <a:endParaRPr lang="en-US" sz="2000" dirty="0"/>
          </a:p>
          <a:p>
            <a:pPr lvl="1"/>
            <a:endParaRPr lang="en-SG" sz="2000" dirty="0"/>
          </a:p>
        </p:txBody>
      </p:sp>
      <p:pic>
        <p:nvPicPr>
          <p:cNvPr id="1028" name="Picture 4" descr="https://blog.rapid7.com/content/images/post-images/38798/pastedImage_8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17"/>
          <a:stretch/>
        </p:blipFill>
        <p:spPr bwMode="auto">
          <a:xfrm>
            <a:off x="6229400" y="2209800"/>
            <a:ext cx="420413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9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Findings Details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CVSSv3.1 Details</a:t>
            </a:r>
          </a:p>
          <a:p>
            <a:pPr lvl="2"/>
            <a:r>
              <a:rPr lang="en-US" dirty="0"/>
              <a:t>Risk Rating</a:t>
            </a:r>
          </a:p>
          <a:p>
            <a:pPr lvl="2"/>
            <a:r>
              <a:rPr lang="en-US" dirty="0"/>
              <a:t>Score</a:t>
            </a:r>
          </a:p>
          <a:p>
            <a:pPr lvl="2"/>
            <a:r>
              <a:rPr lang="en-US" dirty="0"/>
              <a:t>Vector String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r>
              <a:rPr lang="en-US" dirty="0"/>
              <a:t>Technical Details</a:t>
            </a:r>
          </a:p>
          <a:p>
            <a:pPr lvl="1"/>
            <a:r>
              <a:rPr lang="en-US" dirty="0"/>
              <a:t>Recommendations</a:t>
            </a:r>
          </a:p>
          <a:p>
            <a:pPr lvl="1"/>
            <a:r>
              <a:rPr lang="en-US" dirty="0"/>
              <a:t>Affected Assets</a:t>
            </a:r>
          </a:p>
          <a:p>
            <a:pPr lvl="1"/>
            <a:r>
              <a:rPr lang="en-US" dirty="0"/>
              <a:t>References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980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r>
              <a:rPr lang="en-US" dirty="0"/>
              <a:t>Findings Details</a:t>
            </a:r>
          </a:p>
          <a:p>
            <a:pPr lvl="1"/>
            <a:r>
              <a:rPr lang="en-US" dirty="0"/>
              <a:t>CVSSv3.1</a:t>
            </a:r>
          </a:p>
          <a:p>
            <a:pPr lvl="2"/>
            <a:r>
              <a:rPr lang="en-US" dirty="0"/>
              <a:t>Kindly refer to </a:t>
            </a:r>
            <a:r>
              <a:rPr lang="en-US" b="1" dirty="0"/>
              <a:t>C1 – Security Vulnerabilities.pptx </a:t>
            </a:r>
            <a:r>
              <a:rPr lang="en-US" dirty="0"/>
              <a:t>for a comprehensive writeup.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Ensure that the risk rating, risk score and vector string details are correct by using the CVSSv3.1 calculator. An example will be as follows:</a:t>
            </a:r>
          </a:p>
          <a:p>
            <a:pPr lvl="3"/>
            <a:r>
              <a:rPr lang="en-US" dirty="0"/>
              <a:t>Risk Rating: Medium</a:t>
            </a:r>
          </a:p>
          <a:p>
            <a:pPr lvl="3"/>
            <a:r>
              <a:rPr lang="en-US" dirty="0"/>
              <a:t>Risk Score: 6.3</a:t>
            </a:r>
          </a:p>
          <a:p>
            <a:pPr lvl="3"/>
            <a:r>
              <a:rPr lang="en-US" dirty="0"/>
              <a:t>Vector String: </a:t>
            </a:r>
            <a:r>
              <a:rPr lang="pt-BR" dirty="0"/>
              <a:t>CVSS:3.1/AV:N/AC:L/PR:L/UI:N/S:U/C:L/I:L/A:L</a:t>
            </a:r>
            <a:endParaRPr lang="en-US" dirty="0"/>
          </a:p>
          <a:p>
            <a:pPr lvl="2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9329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r>
              <a:rPr lang="en-US" dirty="0"/>
              <a:t>Findings Details</a:t>
            </a:r>
          </a:p>
          <a:p>
            <a:pPr lvl="1"/>
            <a:r>
              <a:rPr lang="en-US" dirty="0"/>
              <a:t>CVSSv3.1</a:t>
            </a:r>
          </a:p>
          <a:p>
            <a:pPr lvl="2"/>
            <a:r>
              <a:rPr lang="en-SG" dirty="0"/>
              <a:t>Note: To get the vector string, it is located at the bottom of the base score calculator:</a:t>
            </a:r>
          </a:p>
          <a:p>
            <a:pPr marL="114300" indent="0">
              <a:buNone/>
            </a:pPr>
            <a:endParaRPr lang="en-SG" dirty="0"/>
          </a:p>
          <a:p>
            <a:pPr marL="114300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12</a:t>
            </a:fld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F576C-009B-B5C5-C5E8-3E690C0F2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526"/>
          <a:stretch/>
        </p:blipFill>
        <p:spPr>
          <a:xfrm>
            <a:off x="3048000" y="3048000"/>
            <a:ext cx="6096000" cy="336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98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r>
              <a:rPr lang="en-US" dirty="0"/>
              <a:t>Findings Details</a:t>
            </a:r>
          </a:p>
          <a:p>
            <a:pPr lvl="1"/>
            <a:r>
              <a:rPr lang="en-US" dirty="0"/>
              <a:t>CVSSv3.1</a:t>
            </a:r>
          </a:p>
          <a:p>
            <a:pPr lvl="2" algn="just"/>
            <a:r>
              <a:rPr lang="en-SG" dirty="0"/>
              <a:t>Note: Alternatively, you can get it on the Web Browser Address Bar (copy the contents after the ‘#’ symbol).</a:t>
            </a:r>
          </a:p>
          <a:p>
            <a:pPr lvl="2" algn="just"/>
            <a:endParaRPr lang="en-SG" dirty="0"/>
          </a:p>
          <a:p>
            <a:pPr lvl="2" algn="just"/>
            <a:r>
              <a:rPr lang="en-SG" dirty="0"/>
              <a:t>To verify scores, you can copy a vector string from a known report and replace it (but make sure it’s using the same CVSS version)</a:t>
            </a:r>
          </a:p>
          <a:p>
            <a:pPr marL="114300" indent="0">
              <a:buNone/>
            </a:pPr>
            <a:endParaRPr lang="en-SG" dirty="0"/>
          </a:p>
          <a:p>
            <a:pPr marL="114300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13</a:t>
            </a:fld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B4FF04-7ED4-0A6E-F0AF-A7E04D0ECAEA}"/>
              </a:ext>
            </a:extLst>
          </p:cNvPr>
          <p:cNvGrpSpPr/>
          <p:nvPr/>
        </p:nvGrpSpPr>
        <p:grpSpPr>
          <a:xfrm>
            <a:off x="2223515" y="4724400"/>
            <a:ext cx="8063484" cy="838200"/>
            <a:chOff x="699515" y="5249008"/>
            <a:chExt cx="8063484" cy="8382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75D2F6-710D-6143-8C9A-31DA37401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515" y="5249008"/>
              <a:ext cx="8063484" cy="838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536329-E11A-CFCB-EA6E-ABB1CA47C5BB}"/>
                </a:ext>
              </a:extLst>
            </p:cNvPr>
            <p:cNvSpPr/>
            <p:nvPr/>
          </p:nvSpPr>
          <p:spPr>
            <a:xfrm>
              <a:off x="3864541" y="5462954"/>
              <a:ext cx="4822259" cy="457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475072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r>
              <a:rPr lang="en-US" dirty="0"/>
              <a:t>Findings Details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endParaRPr lang="en-US" dirty="0"/>
          </a:p>
          <a:p>
            <a:pPr lvl="2"/>
            <a:r>
              <a:rPr lang="en-US" sz="2800" dirty="0"/>
              <a:t>What can an attacker do with the exploited vulnerability?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This section should describe the </a:t>
            </a:r>
            <a:r>
              <a:rPr lang="en-US" sz="2800" b="1" dirty="0">
                <a:highlight>
                  <a:srgbClr val="FFFF00"/>
                </a:highlight>
              </a:rPr>
              <a:t>CIA impacts </a:t>
            </a:r>
            <a:r>
              <a:rPr lang="en-US" sz="2800" dirty="0"/>
              <a:t>listed in your </a:t>
            </a:r>
            <a:r>
              <a:rPr lang="en-US" sz="2800" b="1" dirty="0">
                <a:highlight>
                  <a:srgbClr val="FFFF00"/>
                </a:highlight>
              </a:rPr>
              <a:t>CVSSv3.1 risk rating.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68700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381999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Finding Details</a:t>
            </a:r>
            <a:endParaRPr lang="en-US" dirty="0"/>
          </a:p>
          <a:p>
            <a:pPr lvl="1" algn="just"/>
            <a:r>
              <a:rPr lang="en-US" dirty="0"/>
              <a:t>Technical Details</a:t>
            </a:r>
          </a:p>
          <a:p>
            <a:pPr lvl="2" algn="just"/>
            <a:r>
              <a:rPr lang="en-US" b="1" dirty="0"/>
              <a:t>Step by step </a:t>
            </a:r>
            <a:r>
              <a:rPr lang="en-US" dirty="0"/>
              <a:t>process of exploiting the vulnerability</a:t>
            </a:r>
          </a:p>
          <a:p>
            <a:pPr lvl="3" algn="just"/>
            <a:r>
              <a:rPr lang="en-US" dirty="0"/>
              <a:t>Screenshots to indicate expected outcomes.</a:t>
            </a:r>
          </a:p>
          <a:p>
            <a:pPr lvl="3" algn="just"/>
            <a:r>
              <a:rPr lang="en-US" dirty="0"/>
              <a:t>Commands used for the exploitation.</a:t>
            </a:r>
          </a:p>
          <a:p>
            <a:pPr lvl="3" algn="just"/>
            <a:endParaRPr lang="en-US" dirty="0"/>
          </a:p>
          <a:p>
            <a:pPr lvl="2" algn="just"/>
            <a:r>
              <a:rPr lang="en-US" dirty="0"/>
              <a:t>Take note that as part of the Technical Details, you are supposed to ensure that what was written earlier in CVSSv3.1 and Impact section is </a:t>
            </a:r>
            <a:r>
              <a:rPr lang="en-US" b="1" u="sng" dirty="0">
                <a:highlight>
                  <a:srgbClr val="FFFF00"/>
                </a:highlight>
              </a:rPr>
              <a:t>demonstrated</a:t>
            </a:r>
            <a:r>
              <a:rPr lang="en-US" dirty="0"/>
              <a:t> here.</a:t>
            </a:r>
          </a:p>
          <a:p>
            <a:pPr lvl="2" algn="just"/>
            <a:endParaRPr lang="en-US" dirty="0"/>
          </a:p>
          <a:p>
            <a:pPr lvl="2" algn="just"/>
            <a:r>
              <a:rPr lang="en-US" dirty="0"/>
              <a:t>NOT REQUIRED to show the information gathering process (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scans, port discovery, </a:t>
            </a:r>
            <a:r>
              <a:rPr lang="en-US" dirty="0" err="1"/>
              <a:t>etc</a:t>
            </a:r>
            <a:r>
              <a:rPr lang="en-US" dirty="0"/>
              <a:t>). Immediately document the steps that lead to the </a:t>
            </a:r>
            <a:r>
              <a:rPr lang="en-US" b="1" u="sng" dirty="0">
                <a:highlight>
                  <a:srgbClr val="FFFF00"/>
                </a:highlight>
              </a:rPr>
              <a:t>execution of the exploit based on the vulnerability</a:t>
            </a:r>
            <a:r>
              <a:rPr lang="en-US" b="1" dirty="0">
                <a:highlight>
                  <a:srgbClr val="FFFF00"/>
                </a:highlight>
              </a:rPr>
              <a:t>.</a:t>
            </a:r>
          </a:p>
          <a:p>
            <a:pPr marL="1371600" lvl="3" indent="0" algn="just">
              <a:buNone/>
            </a:pPr>
            <a:endParaRPr lang="en-US" dirty="0"/>
          </a:p>
          <a:p>
            <a:pPr lvl="2" algn="just"/>
            <a:r>
              <a:rPr lang="en-US" dirty="0"/>
              <a:t>Write-up of technical details must be in “Active voice”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76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u="sng" dirty="0"/>
              <a:t>Finding Details</a:t>
            </a:r>
            <a:endParaRPr lang="en-US" sz="3200" dirty="0"/>
          </a:p>
          <a:p>
            <a:pPr lvl="1"/>
            <a:r>
              <a:rPr lang="en-US" sz="2800" dirty="0"/>
              <a:t>Recommendations</a:t>
            </a:r>
          </a:p>
          <a:p>
            <a:pPr lvl="1"/>
            <a:endParaRPr lang="en-US" sz="2800" dirty="0"/>
          </a:p>
          <a:p>
            <a:pPr lvl="2"/>
            <a:r>
              <a:rPr lang="en-US" sz="2400" dirty="0"/>
              <a:t>How can the </a:t>
            </a:r>
            <a:r>
              <a:rPr lang="en-US" sz="2400" b="1" dirty="0"/>
              <a:t>finding</a:t>
            </a:r>
            <a:r>
              <a:rPr lang="en-US" sz="2400" dirty="0"/>
              <a:t> be </a:t>
            </a:r>
            <a:r>
              <a:rPr lang="en-US" sz="2400" b="1" dirty="0"/>
              <a:t>resolved</a:t>
            </a:r>
            <a:r>
              <a:rPr lang="en-US" sz="2400" dirty="0"/>
              <a:t>?</a:t>
            </a:r>
          </a:p>
          <a:p>
            <a:pPr lvl="1"/>
            <a:endParaRPr lang="en-US" sz="2800" dirty="0"/>
          </a:p>
          <a:p>
            <a:pPr lvl="2"/>
            <a:r>
              <a:rPr lang="en-US" sz="2400" dirty="0"/>
              <a:t>If possible, provide a </a:t>
            </a:r>
            <a:r>
              <a:rPr lang="en-US" sz="2400" b="1" dirty="0">
                <a:highlight>
                  <a:srgbClr val="FFFF00"/>
                </a:highlight>
              </a:rPr>
              <a:t>technical solution (steps to fix the vulnerability)</a:t>
            </a:r>
            <a:endParaRPr lang="en-US" sz="2400" dirty="0">
              <a:highlight>
                <a:srgbClr val="FFFF00"/>
              </a:highlight>
            </a:endParaRPr>
          </a:p>
          <a:p>
            <a:pPr lvl="3"/>
            <a:r>
              <a:rPr lang="en-US" dirty="0"/>
              <a:t>Technical solution != buy new products (</a:t>
            </a:r>
            <a:r>
              <a:rPr lang="en-US" dirty="0" err="1"/>
              <a:t>e.g</a:t>
            </a:r>
            <a:r>
              <a:rPr lang="en-US" dirty="0"/>
              <a:t> putting a WAF in place)</a:t>
            </a:r>
          </a:p>
          <a:p>
            <a:pPr lvl="3"/>
            <a:r>
              <a:rPr lang="en-US" dirty="0"/>
              <a:t>Technical solution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b="1" dirty="0"/>
              <a:t>options to configure </a:t>
            </a:r>
            <a:r>
              <a:rPr lang="en-US" dirty="0"/>
              <a:t>for specific configuration files, etc.</a:t>
            </a:r>
          </a:p>
          <a:p>
            <a:pPr lvl="3"/>
            <a:r>
              <a:rPr lang="en-US" dirty="0"/>
              <a:t>If not, provide a </a:t>
            </a:r>
            <a:r>
              <a:rPr lang="en-US" b="1" dirty="0"/>
              <a:t>general approach </a:t>
            </a:r>
            <a:r>
              <a:rPr lang="en-US" dirty="0"/>
              <a:t>of the solution.</a:t>
            </a:r>
          </a:p>
          <a:p>
            <a:pPr lvl="4"/>
            <a:r>
              <a:rPr lang="en-US" dirty="0"/>
              <a:t>Example 1: VSFTPD 2.3.4 vulnerability</a:t>
            </a:r>
          </a:p>
          <a:p>
            <a:pPr lvl="4"/>
            <a:endParaRPr lang="en-US" dirty="0"/>
          </a:p>
          <a:p>
            <a:pPr lvl="5"/>
            <a:r>
              <a:rPr lang="en-US" dirty="0"/>
              <a:t>Fix: Update VSTPD to version 3.0.5. If there is no such option available, do reconsider utilizing another FTP service.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88081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Finding Details</a:t>
            </a:r>
            <a:endParaRPr lang="en-US" sz="3200" dirty="0"/>
          </a:p>
          <a:p>
            <a:pPr lvl="1"/>
            <a:r>
              <a:rPr lang="en-US" sz="2800" dirty="0"/>
              <a:t>References</a:t>
            </a:r>
            <a:endParaRPr lang="en-US" dirty="0"/>
          </a:p>
          <a:p>
            <a:pPr lvl="2"/>
            <a:r>
              <a:rPr lang="en-US" dirty="0"/>
              <a:t>Any links or resources that will be useful to understanding the finding and the recommendations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For your case study, you are required to find reference numbers for the following:</a:t>
            </a:r>
          </a:p>
          <a:p>
            <a:pPr lvl="3"/>
            <a:r>
              <a:rPr lang="en-US" dirty="0"/>
              <a:t>Common Attack Pattern Enumerations and Classifications (CAPEC)</a:t>
            </a:r>
          </a:p>
          <a:p>
            <a:pPr lvl="3"/>
            <a:r>
              <a:rPr lang="en-US" dirty="0"/>
              <a:t>Common Weakness Enumeration (CWE)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Put BOTH the reference number title and the link in the References table.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5120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Finding Details</a:t>
            </a:r>
            <a:endParaRPr lang="en-US" sz="3200" dirty="0"/>
          </a:p>
          <a:p>
            <a:pPr lvl="1"/>
            <a:r>
              <a:rPr lang="en-US" sz="2800" dirty="0"/>
              <a:t>References</a:t>
            </a: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18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1FBECC3-B665-73AE-1AA9-3AC2E31CF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60659"/>
              </p:ext>
            </p:extLst>
          </p:nvPr>
        </p:nvGraphicFramePr>
        <p:xfrm>
          <a:off x="1905001" y="2468880"/>
          <a:ext cx="83058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413632817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608209925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431359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600" dirty="0"/>
                        <a:t>Reference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Example (both related)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830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CAPEC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Community-developed list of known attack patterns based on software and hardware weaknesses.</a:t>
                      </a:r>
                    </a:p>
                    <a:p>
                      <a:pPr algn="ctr"/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CAPEC-66: SQL Injection</a:t>
                      </a:r>
                    </a:p>
                    <a:p>
                      <a:pPr algn="ctr"/>
                      <a:endParaRPr lang="en-SG" sz="1600" dirty="0"/>
                    </a:p>
                    <a:p>
                      <a:pPr algn="ctr"/>
                      <a:r>
                        <a:rPr lang="en-SG" sz="1600" dirty="0"/>
                        <a:t>https://capec.mitre.org/data/definitions/66.html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Community-developed list of common software and hardware weaknesses.</a:t>
                      </a:r>
                    </a:p>
                    <a:p>
                      <a:pPr algn="ctr"/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CWE-89: Improper Neutralization of Special Elements used in an SQL Command ('SQL Injection’)</a:t>
                      </a:r>
                    </a:p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SG" sz="1600" dirty="0"/>
                        <a:t>https://cwe.mitre.org/data/definitions/89.html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92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Record Keeping (Final Report)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Finding Details</a:t>
            </a:r>
            <a:endParaRPr lang="en-US" sz="3200" dirty="0"/>
          </a:p>
          <a:p>
            <a:pPr lvl="1"/>
            <a:r>
              <a:rPr lang="en-US" sz="2800" dirty="0"/>
              <a:t>Reference Table Example</a:t>
            </a: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19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1FBECC3-B665-73AE-1AA9-3AC2E31CF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542275"/>
              </p:ext>
            </p:extLst>
          </p:nvPr>
        </p:nvGraphicFramePr>
        <p:xfrm>
          <a:off x="1957753" y="2768600"/>
          <a:ext cx="830580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247">
                  <a:extLst>
                    <a:ext uri="{9D8B030D-6E8A-4147-A177-3AD203B41FA5}">
                      <a16:colId xmlns:a16="http://schemas.microsoft.com/office/drawing/2014/main" val="4136328172"/>
                    </a:ext>
                  </a:extLst>
                </a:gridCol>
                <a:gridCol w="7215553">
                  <a:extLst>
                    <a:ext uri="{9D8B030D-6E8A-4147-A177-3AD203B41FA5}">
                      <a16:colId xmlns:a16="http://schemas.microsoft.com/office/drawing/2014/main" val="608209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600" dirty="0"/>
                        <a:t>Reference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Example (both related)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830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SG" sz="1600" dirty="0"/>
                        <a:t>CAPEC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600" dirty="0"/>
                        <a:t>CAPEC-591: Reflected XSS - https://capec.mitre.org/data/definitions/591.html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SG" sz="1600" dirty="0"/>
                        <a:t>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CWE-79: Improper Neutralization of Input During Web Page Generation ('Cross-site Scripting’) - https://cwe.mitre.org/data/definitions/79.html</a:t>
                      </a:r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85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6450</TotalTime>
  <Words>1975</Words>
  <Application>Microsoft Office PowerPoint</Application>
  <PresentationFormat>Widescreen</PresentationFormat>
  <Paragraphs>295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Calibri</vt:lpstr>
      <vt:lpstr>Office Theme</vt:lpstr>
      <vt:lpstr>PowerPoint Presentation</vt:lpstr>
      <vt:lpstr>Penetration Testing Process</vt:lpstr>
      <vt:lpstr>Penetration Testing Methodology (continued)</vt:lpstr>
      <vt:lpstr>Penetration Testing Methodology (continued)</vt:lpstr>
      <vt:lpstr>Penetration Testing Reporting (continued)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  <vt:lpstr>Record Keeping (Final Report)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771</cp:revision>
  <dcterms:created xsi:type="dcterms:W3CDTF">2012-02-09T05:42:03Z</dcterms:created>
  <dcterms:modified xsi:type="dcterms:W3CDTF">2026-03-23T02:59:02Z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