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1" r:id="rId2"/>
    <p:sldId id="270" r:id="rId3"/>
    <p:sldId id="272" r:id="rId4"/>
    <p:sldId id="273" r:id="rId5"/>
    <p:sldId id="276" r:id="rId6"/>
    <p:sldId id="274" r:id="rId7"/>
    <p:sldId id="27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214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KL Lee" userId="3f5f33d4-5cce-4f90-a6d8-c799bb48f4ce" providerId="ADAL" clId="{28D53883-6FB9-40CB-ADD6-A89B6A9224C4}"/>
    <pc:docChg chg="delSld">
      <pc:chgData name="Jason KL Lee" userId="3f5f33d4-5cce-4f90-a6d8-c799bb48f4ce" providerId="ADAL" clId="{28D53883-6FB9-40CB-ADD6-A89B6A9224C4}" dt="2026-04-20T07:28:06.778" v="0" actId="2696"/>
      <pc:docMkLst>
        <pc:docMk/>
      </pc:docMkLst>
      <pc:sldChg chg="del">
        <pc:chgData name="Jason KL Lee" userId="3f5f33d4-5cce-4f90-a6d8-c799bb48f4ce" providerId="ADAL" clId="{28D53883-6FB9-40CB-ADD6-A89B6A9224C4}" dt="2026-04-20T07:28:06.778" v="0" actId="2696"/>
        <pc:sldMkLst>
          <pc:docMk/>
          <pc:sldMk cId="0" sldId="256"/>
        </pc:sldMkLst>
      </pc:sldChg>
      <pc:sldChg chg="del">
        <pc:chgData name="Jason KL Lee" userId="3f5f33d4-5cce-4f90-a6d8-c799bb48f4ce" providerId="ADAL" clId="{28D53883-6FB9-40CB-ADD6-A89B6A9224C4}" dt="2026-04-20T07:28:06.778" v="0" actId="2696"/>
        <pc:sldMkLst>
          <pc:docMk/>
          <pc:sldMk cId="0" sldId="258"/>
        </pc:sldMkLst>
      </pc:sldChg>
      <pc:sldChg chg="del">
        <pc:chgData name="Jason KL Lee" userId="3f5f33d4-5cce-4f90-a6d8-c799bb48f4ce" providerId="ADAL" clId="{28D53883-6FB9-40CB-ADD6-A89B6A9224C4}" dt="2026-04-20T07:28:06.778" v="0" actId="2696"/>
        <pc:sldMkLst>
          <pc:docMk/>
          <pc:sldMk cId="3261347874" sldId="262"/>
        </pc:sldMkLst>
      </pc:sldChg>
      <pc:sldChg chg="del">
        <pc:chgData name="Jason KL Lee" userId="3f5f33d4-5cce-4f90-a6d8-c799bb48f4ce" providerId="ADAL" clId="{28D53883-6FB9-40CB-ADD6-A89B6A9224C4}" dt="2026-04-20T07:28:06.778" v="0" actId="2696"/>
        <pc:sldMkLst>
          <pc:docMk/>
          <pc:sldMk cId="2515316828" sldId="263"/>
        </pc:sldMkLst>
      </pc:sldChg>
      <pc:sldChg chg="del">
        <pc:chgData name="Jason KL Lee" userId="3f5f33d4-5cce-4f90-a6d8-c799bb48f4ce" providerId="ADAL" clId="{28D53883-6FB9-40CB-ADD6-A89B6A9224C4}" dt="2026-04-20T07:28:06.778" v="0" actId="2696"/>
        <pc:sldMkLst>
          <pc:docMk/>
          <pc:sldMk cId="1054040997" sldId="264"/>
        </pc:sldMkLst>
      </pc:sldChg>
      <pc:sldChg chg="del">
        <pc:chgData name="Jason KL Lee" userId="3f5f33d4-5cce-4f90-a6d8-c799bb48f4ce" providerId="ADAL" clId="{28D53883-6FB9-40CB-ADD6-A89B6A9224C4}" dt="2026-04-20T07:28:06.778" v="0" actId="2696"/>
        <pc:sldMkLst>
          <pc:docMk/>
          <pc:sldMk cId="1968151423" sldId="266"/>
        </pc:sldMkLst>
      </pc:sldChg>
      <pc:sldChg chg="del">
        <pc:chgData name="Jason KL Lee" userId="3f5f33d4-5cce-4f90-a6d8-c799bb48f4ce" providerId="ADAL" clId="{28D53883-6FB9-40CB-ADD6-A89B6A9224C4}" dt="2026-04-20T07:28:06.778" v="0" actId="2696"/>
        <pc:sldMkLst>
          <pc:docMk/>
          <pc:sldMk cId="206990810" sldId="267"/>
        </pc:sldMkLst>
      </pc:sldChg>
      <pc:sldChg chg="del">
        <pc:chgData name="Jason KL Lee" userId="3f5f33d4-5cce-4f90-a6d8-c799bb48f4ce" providerId="ADAL" clId="{28D53883-6FB9-40CB-ADD6-A89B6A9224C4}" dt="2026-04-20T07:28:06.778" v="0" actId="2696"/>
        <pc:sldMkLst>
          <pc:docMk/>
          <pc:sldMk cId="387553429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24853-FF7F-479A-B091-8D3B9EA4499F}" type="datetimeFigureOut">
              <a:rPr lang="en-SG" smtClean="0"/>
              <a:t>20 Apr 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A95C9-D0D6-49F7-B4C5-7338556B959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0255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1F63A-48F1-F059-F1F6-CBB53719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80976-F25C-66AE-C446-5DB2E4D91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260EB-7B30-97C8-43CC-286D833D4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Two interfaces: GUI (Graphical) and CLI (Command Line Interface).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GUI is user-friendly; </a:t>
            </a:r>
            <a:r>
              <a:rPr lang="en-US" sz="1200" b="1" dirty="0"/>
              <a:t>CLI is powerful, fast, and scriptable</a:t>
            </a:r>
            <a:r>
              <a:rPr lang="en-US" sz="12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ability to accomplish a vast array of tasks with a single command line instruction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requires learning commands, file locations, and navigation. (</a:t>
            </a:r>
            <a:r>
              <a:rPr lang="en-US" dirty="0">
                <a:effectLst/>
              </a:rPr>
              <a:t>challenging because it requires memorizing a dizzying amount of commands and their options.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Mastery of CLI enables productivity across all Linux distributions. (</a:t>
            </a:r>
            <a:r>
              <a:rPr lang="en-US" dirty="0">
                <a:effectLst/>
              </a:rPr>
              <a:t>easily be productive almost instantly on ANY distribution of Linux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reduces reliance on GUIs and enhances automation.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950CA-EA03-257F-FC6E-8A9B9A6A5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080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FAD-5B81-B7B5-808A-6D970AA6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648CD-1CA6-70EC-ED29-B93D13DA6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1522B-2004-82E5-2831-9F98E3849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Two interfaces: GUI (Graphical) and CLI (Command Line Interface).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GUI is user-friendly; </a:t>
            </a:r>
            <a:r>
              <a:rPr lang="en-US" sz="1200" b="1" dirty="0"/>
              <a:t>CLI is powerful, fast, and scriptable</a:t>
            </a:r>
            <a:r>
              <a:rPr lang="en-US" sz="12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ability to accomplish a vast array of tasks with a single command line instruction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requires learning commands, file locations, and navigation. (</a:t>
            </a:r>
            <a:r>
              <a:rPr lang="en-US" dirty="0">
                <a:effectLst/>
              </a:rPr>
              <a:t>challenging because it requires memorizing a dizzying amount of commands and their options.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Mastery of CLI enables productivity across all Linux distributions. (</a:t>
            </a:r>
            <a:r>
              <a:rPr lang="en-US" dirty="0">
                <a:effectLst/>
              </a:rPr>
              <a:t>easily be productive almost instantly on ANY distribution of Linux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reduces reliance on GUIs and enhances automation.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4C6A8-1BD5-4DC8-1B11-A30EB16CB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9486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5EE7-1458-F727-5ED5-9ADEBAA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DE65C-1E22-BFEC-66C1-9BE46FD11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21AF8-37F4-B0B9-4A71-C198FD640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Two interfaces: GUI (Graphical) and CLI (Command Line Interface).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GUI is user-friendly; </a:t>
            </a:r>
            <a:r>
              <a:rPr lang="en-US" sz="1200" b="1" dirty="0"/>
              <a:t>CLI is powerful, fast, and scriptable</a:t>
            </a:r>
            <a:r>
              <a:rPr lang="en-US" sz="12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ability to accomplish a vast array of tasks with a single command line instruction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requires learning commands, file locations, and navigation. (</a:t>
            </a:r>
            <a:r>
              <a:rPr lang="en-US" dirty="0">
                <a:effectLst/>
              </a:rPr>
              <a:t>challenging because it requires memorizing a dizzying amount of commands and their options.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Mastery of CLI enables productivity across all Linux distributions. (</a:t>
            </a:r>
            <a:r>
              <a:rPr lang="en-US" dirty="0">
                <a:effectLst/>
              </a:rPr>
              <a:t>easily be productive almost instantly on ANY distribution of Linux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reduces reliance on GUIs and enhances automation.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69206-62A6-F76D-BD50-F9FAD54DD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4637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7953-5281-D1F6-75A5-7D1687C2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4A3B-BB7C-A25A-0E32-E68CFCD24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A5663-983D-DD5C-A93D-6011E4C61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Two interfaces: GUI (Graphical) and CLI (Command Line Interface).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GUI is user-friendly; </a:t>
            </a:r>
            <a:r>
              <a:rPr lang="en-US" sz="1200" b="1" dirty="0"/>
              <a:t>CLI is powerful, fast, and scriptable</a:t>
            </a:r>
            <a:r>
              <a:rPr lang="en-US" sz="12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ability to accomplish a vast array of tasks with a single command line instruction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requires learning commands, file locations, and navigation. (</a:t>
            </a:r>
            <a:r>
              <a:rPr lang="en-US" dirty="0">
                <a:effectLst/>
              </a:rPr>
              <a:t>challenging because it requires memorizing a dizzying amount of commands and their options.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Mastery of CLI enables productivity across all Linux distributions. (</a:t>
            </a:r>
            <a:r>
              <a:rPr lang="en-US" dirty="0">
                <a:effectLst/>
              </a:rPr>
              <a:t>easily be productive almost instantly on ANY distribution of Linux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reduces reliance on GUIs and enhances automation.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C6419-448E-0C2E-AE21-CFED888B6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6374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10DF9-ED71-6441-8CD4-FE8ACD03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055AD-8E2C-31F1-8247-1E13D8ACE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C0FCB-272E-6005-FDC7-09F43080A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Two interfaces: GUI (Graphical) and CLI (Command Line Interface).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GUI is user-friendly; </a:t>
            </a:r>
            <a:r>
              <a:rPr lang="en-US" sz="1200" b="1" dirty="0"/>
              <a:t>CLI is powerful, fast, and scriptable</a:t>
            </a:r>
            <a:r>
              <a:rPr lang="en-US" sz="12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ability to accomplish a vast array of tasks with a single command line instruction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requires learning commands, file locations, and navigation. (</a:t>
            </a:r>
            <a:r>
              <a:rPr lang="en-US" dirty="0">
                <a:effectLst/>
              </a:rPr>
              <a:t>challenging because it requires memorizing a dizzying amount of commands and their options.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Mastery of CLI enables productivity across all Linux distributions. (</a:t>
            </a:r>
            <a:r>
              <a:rPr lang="en-US" dirty="0">
                <a:effectLst/>
              </a:rPr>
              <a:t>easily be productive almost instantly on ANY distribution of Linux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reduces reliance on GUIs and enhances automation.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9E11E-E3D3-41B7-7916-D1DEA6402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3169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828E-D56D-1C76-81D1-52C1C7CD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BCD1B-3EBD-8FCF-2852-A4A60073C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FED2DB-A66A-261B-C004-0CF9BDC0E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Two interfaces: GUI (Graphical) and CLI (Command Line Interface).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GUI is user-friendly; </a:t>
            </a:r>
            <a:r>
              <a:rPr lang="en-US" sz="1200" b="1" dirty="0"/>
              <a:t>CLI is powerful, fast, and scriptable</a:t>
            </a:r>
            <a:r>
              <a:rPr lang="en-US" sz="12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ability to accomplish a vast array of tasks with a single command line instruction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requires learning commands, file locations, and navigation. (</a:t>
            </a:r>
            <a:r>
              <a:rPr lang="en-US" dirty="0">
                <a:effectLst/>
              </a:rPr>
              <a:t>challenging because it requires memorizing a dizzying amount of commands and their options.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Mastery of CLI enables productivity across all Linux distributions. (</a:t>
            </a:r>
            <a:r>
              <a:rPr lang="en-US" dirty="0">
                <a:effectLst/>
              </a:rPr>
              <a:t>easily be productive almost instantly on ANY distribution of Linux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reduces reliance on GUIs and enhances automation.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41203-5A30-7E7A-CC62-65FDC6578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1312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46B5-F9DA-B1E6-C9A2-E7B2DF8A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7C09B-F32F-DEA4-2369-FD0DE45AD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38967-6874-D17C-59FA-369F3506F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Two interfaces: GUI (Graphical) and CLI (Command Line Interface).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GUI is user-friendly; </a:t>
            </a:r>
            <a:r>
              <a:rPr lang="en-US" sz="1200" b="1" dirty="0"/>
              <a:t>CLI is powerful, fast, and scriptable</a:t>
            </a:r>
            <a:r>
              <a:rPr lang="en-US" sz="1200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ability to accomplish a vast array of tasks with a single command line instruction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requires learning commands, file locations, and navigation. (</a:t>
            </a:r>
            <a:r>
              <a:rPr lang="en-US" dirty="0">
                <a:effectLst/>
              </a:rPr>
              <a:t>challenging because it requires memorizing a dizzying amount of commands and their options.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Mastery of CLI enables productivity across all Linux distributions. (</a:t>
            </a:r>
            <a:r>
              <a:rPr lang="en-US" dirty="0">
                <a:effectLst/>
              </a:rPr>
              <a:t>easily be productive almost instantly on ANY distribution of Linux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 reduces reliance on GUIs and enhances automation.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E4B6B-C714-64A6-8D8C-0BFEB1333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A95C9-D0D6-49F7-B4C5-7338556B959F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3567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ccouncil.learnondemand.net/User/Login?ReturnUrl=%2F" TargetMode="External"/><Relationship Id="rId4" Type="http://schemas.openxmlformats.org/officeDocument/2006/relationships/hyperlink" Target="https://eccouncil.learnondemand.net/User/Register?OrganizationId=113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eccouncil.learnondemand.net/User/Register?OrganizationId=113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ED252-EED7-14A3-B8B8-085E5F35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1" name="Rectangle 4120">
            <a:extLst>
              <a:ext uri="{FF2B5EF4-FFF2-40B4-BE49-F238E27FC236}">
                <a16:creationId xmlns:a16="http://schemas.microsoft.com/office/drawing/2014/main" id="{EB5233FA-B85C-5467-97ED-75284E0DA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EE1B8C-57CB-F784-C7FA-26CCF67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1388356"/>
          </a:xfrm>
        </p:spPr>
        <p:txBody>
          <a:bodyPr anchor="b">
            <a:normAutofit/>
          </a:bodyPr>
          <a:lstStyle/>
          <a:p>
            <a:r>
              <a:rPr lang="en-US" sz="4000" dirty="0"/>
              <a:t>Lab Overview: Practical Ethical Hacking</a:t>
            </a:r>
            <a:endParaRPr lang="en-SG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151960-B77E-CD2B-422D-B872ED438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519" y="2280757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400" b="1" dirty="0"/>
              <a:t>Real-World Simulation</a:t>
            </a:r>
            <a:r>
              <a:rPr lang="en-US" sz="2400" dirty="0"/>
              <a:t>: Meticulously designed environments featuring diverse operating systems and configurations to mirror industry scenarios.</a:t>
            </a:r>
          </a:p>
          <a:p>
            <a:r>
              <a:rPr lang="en-US" sz="2400" b="1" dirty="0"/>
              <a:t>Proactive Security</a:t>
            </a:r>
            <a:r>
              <a:rPr lang="en-US" sz="2400" dirty="0"/>
              <a:t>: Focuses on ethical hacking to identify and remediate vulnerabilities before they can be exploited by malicious actors.</a:t>
            </a:r>
          </a:p>
          <a:p>
            <a:r>
              <a:rPr lang="en-US" sz="2400" b="1" dirty="0"/>
              <a:t>Immersive Learning</a:t>
            </a:r>
            <a:r>
              <a:rPr lang="en-US" sz="2400" dirty="0"/>
              <a:t>: Hands-on application of hacking techniques to understand and anticipate cybercriminal methodologies.</a:t>
            </a:r>
          </a:p>
          <a:p>
            <a:r>
              <a:rPr lang="en-US" sz="2400" b="1" dirty="0"/>
              <a:t>Bridging the Gap</a:t>
            </a:r>
            <a:r>
              <a:rPr lang="en-US" sz="2400" dirty="0"/>
              <a:t>: Transitions theoretical knowledge into practical expertise, preparing students to defend complex digital infrastructures.</a:t>
            </a:r>
            <a:endParaRPr lang="en-SG" sz="2400" dirty="0"/>
          </a:p>
        </p:txBody>
      </p:sp>
      <p:sp>
        <p:nvSpPr>
          <p:cNvPr id="4123" name="Rectangle 4122">
            <a:extLst>
              <a:ext uri="{FF2B5EF4-FFF2-40B4-BE49-F238E27FC236}">
                <a16:creationId xmlns:a16="http://schemas.microsoft.com/office/drawing/2014/main" id="{D844A917-F867-2AF6-0964-0FC7179E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ABE3DB64-534D-D971-A245-F20B4F3F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BA92AB-4987-C688-03BE-EDAA71BE0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19" y="502022"/>
            <a:ext cx="10274828" cy="53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56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03BE3-22B2-802E-3E44-9436A3D5E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1" name="Rectangle 4120">
            <a:extLst>
              <a:ext uri="{FF2B5EF4-FFF2-40B4-BE49-F238E27FC236}">
                <a16:creationId xmlns:a16="http://schemas.microsoft.com/office/drawing/2014/main" id="{E9383BCA-2578-E97E-3766-258BE8CA3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688398-247B-D149-C48A-AF6F1A122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1388356"/>
          </a:xfrm>
        </p:spPr>
        <p:txBody>
          <a:bodyPr anchor="b">
            <a:normAutofit/>
          </a:bodyPr>
          <a:lstStyle/>
          <a:p>
            <a:r>
              <a:rPr lang="en-US" sz="4000" dirty="0"/>
              <a:t>Skill Development &amp; Course Outcomes</a:t>
            </a:r>
            <a:endParaRPr lang="en-SG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68F568-FC6F-30D2-A5F1-032310F3F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064446"/>
            <a:ext cx="10042880" cy="4100379"/>
          </a:xfrm>
        </p:spPr>
        <p:txBody>
          <a:bodyPr anchor="t">
            <a:noAutofit/>
          </a:bodyPr>
          <a:lstStyle/>
          <a:p>
            <a:r>
              <a:rPr lang="en-US" sz="2400" b="1" dirty="0"/>
              <a:t>Industry-Standard Tooling</a:t>
            </a:r>
            <a:r>
              <a:rPr lang="en-US" sz="2400" dirty="0"/>
              <a:t>: Hands-on experience with the specific software and tools utilized by modern penetration testers.</a:t>
            </a:r>
          </a:p>
          <a:p>
            <a:r>
              <a:rPr lang="en-US" sz="2400" b="1" dirty="0"/>
              <a:t>End-to-End Penetration Testing</a:t>
            </a:r>
            <a:r>
              <a:rPr lang="en-US" sz="2400" dirty="0"/>
              <a:t>: Mastery of the full security lifecycle, from vulnerability exploitation to the implementation of robust defense measures.</a:t>
            </a:r>
          </a:p>
          <a:p>
            <a:r>
              <a:rPr lang="en-US" sz="2400" b="1" dirty="0"/>
              <a:t>Structured Progression</a:t>
            </a:r>
            <a:r>
              <a:rPr lang="en-US" sz="2400" dirty="0"/>
              <a:t>: Lab sessions utilize a step-by-step framework designed to build technical confidence and practical skill depth.</a:t>
            </a:r>
          </a:p>
          <a:p>
            <a:r>
              <a:rPr lang="en-US" sz="2400" b="1" dirty="0"/>
              <a:t>Organizational Readiness</a:t>
            </a:r>
            <a:r>
              <a:rPr lang="en-US" sz="2400" dirty="0"/>
              <a:t>: Graduates emerge with a comprehensive skill set capable of safeguarding sensitive data and maintaining secure digital environments.</a:t>
            </a:r>
            <a:endParaRPr lang="en-SG" sz="2400" dirty="0"/>
          </a:p>
        </p:txBody>
      </p:sp>
      <p:sp>
        <p:nvSpPr>
          <p:cNvPr id="4123" name="Rectangle 4122">
            <a:extLst>
              <a:ext uri="{FF2B5EF4-FFF2-40B4-BE49-F238E27FC236}">
                <a16:creationId xmlns:a16="http://schemas.microsoft.com/office/drawing/2014/main" id="{64EBB7B3-805A-F0B5-BF02-1089B830A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EE08000D-75A9-B52D-5893-A16E35931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29870-DB43-38BF-9DDF-CB42C1979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41" y="502022"/>
            <a:ext cx="10274828" cy="53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91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B0587-3EE9-AF91-6C21-54D12B9D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1" name="Rectangle 4120">
            <a:extLst>
              <a:ext uri="{FF2B5EF4-FFF2-40B4-BE49-F238E27FC236}">
                <a16:creationId xmlns:a16="http://schemas.microsoft.com/office/drawing/2014/main" id="{9CDAEC5D-25AC-FA67-4FE3-A511D040F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2EF2E3-C04A-3DAD-8DE4-CBCFC1306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1388356"/>
          </a:xfrm>
        </p:spPr>
        <p:txBody>
          <a:bodyPr anchor="b">
            <a:normAutofit/>
          </a:bodyPr>
          <a:lstStyle/>
          <a:p>
            <a:r>
              <a:rPr lang="en-SG" sz="4000" dirty="0"/>
              <a:t>Third-Party &amp; Cloud Resources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92196A-7CBD-25CC-2F0A-0A203E1AC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49" y="1909714"/>
            <a:ext cx="10511812" cy="4446264"/>
          </a:xfrm>
        </p:spPr>
        <p:txBody>
          <a:bodyPr anchor="t">
            <a:noAutofit/>
          </a:bodyPr>
          <a:lstStyle/>
          <a:p>
            <a:r>
              <a:rPr lang="en-US" sz="2400" b="1" dirty="0"/>
              <a:t>Service Requirements</a:t>
            </a:r>
            <a:r>
              <a:rPr lang="en-US" sz="2400" dirty="0"/>
              <a:t>: Certain labs utilize open-source or trial-licensed software that may require the creation of live accounts and the review of third-party service agreements.</a:t>
            </a:r>
          </a:p>
          <a:p>
            <a:r>
              <a:rPr lang="en-US" sz="2400" b="1" dirty="0"/>
              <a:t>Cloud Integration</a:t>
            </a:r>
            <a:r>
              <a:rPr lang="en-US" sz="2400" dirty="0"/>
              <a:t>: Exercises may connect to major providers like AWS, Google Cloud, or Microsoft Azure via </a:t>
            </a:r>
            <a:r>
              <a:rPr lang="en-US" sz="2400" dirty="0">
                <a:solidFill>
                  <a:srgbClr val="C00000"/>
                </a:solidFill>
              </a:rPr>
              <a:t>free-tier, educational, or promotional credit accounts</a:t>
            </a:r>
            <a:r>
              <a:rPr lang="en-US" sz="2400" dirty="0"/>
              <a:t>.</a:t>
            </a:r>
          </a:p>
          <a:p>
            <a:r>
              <a:rPr lang="en-US" sz="2400" b="1" dirty="0"/>
              <a:t>Cost Management</a:t>
            </a:r>
            <a:r>
              <a:rPr lang="en-US" sz="2400" dirty="0"/>
              <a:t>: </a:t>
            </a:r>
            <a:r>
              <a:rPr lang="en-US" sz="2400" dirty="0">
                <a:highlight>
                  <a:srgbClr val="FFFF00"/>
                </a:highlight>
              </a:rPr>
              <a:t>While most labs are designed to be completed within free-tier limits, users are responsible for monitoring their third-party accounts to avoid unintended usage fees</a:t>
            </a:r>
            <a:r>
              <a:rPr lang="en-US" sz="2400" dirty="0"/>
              <a:t>.</a:t>
            </a:r>
          </a:p>
          <a:p>
            <a:r>
              <a:rPr lang="en-US" sz="2400" b="1" dirty="0"/>
              <a:t>Data Privacy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C00000"/>
                </a:solidFill>
              </a:rPr>
              <a:t>EC-Council will never request personal payment details or sensitive credentials</a:t>
            </a:r>
            <a:r>
              <a:rPr lang="en-US" sz="2400" dirty="0"/>
              <a:t>; all third-party sign-ups are managed independently by the student.</a:t>
            </a:r>
            <a:endParaRPr lang="en-SG" sz="2400" dirty="0"/>
          </a:p>
        </p:txBody>
      </p:sp>
      <p:sp>
        <p:nvSpPr>
          <p:cNvPr id="4123" name="Rectangle 4122">
            <a:extLst>
              <a:ext uri="{FF2B5EF4-FFF2-40B4-BE49-F238E27FC236}">
                <a16:creationId xmlns:a16="http://schemas.microsoft.com/office/drawing/2014/main" id="{6EC05961-F3C1-F30D-00B9-7C34FB8F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B6D675D6-7F1B-CC89-8D21-A26FBBD73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A5E58B-AABF-EA48-03F0-D58021C9B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41" y="502022"/>
            <a:ext cx="10274828" cy="53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4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44A95-7583-0CDB-3D0B-B5D076A03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1" name="Rectangle 4120">
            <a:extLst>
              <a:ext uri="{FF2B5EF4-FFF2-40B4-BE49-F238E27FC236}">
                <a16:creationId xmlns:a16="http://schemas.microsoft.com/office/drawing/2014/main" id="{0163ECBA-BBCF-8A72-5C3E-1F858AC99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EA928D-0A7C-6B83-C7EF-AA4175F1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1388356"/>
          </a:xfrm>
        </p:spPr>
        <p:txBody>
          <a:bodyPr anchor="b">
            <a:normAutofit/>
          </a:bodyPr>
          <a:lstStyle/>
          <a:p>
            <a:r>
              <a:rPr lang="en-SG" sz="4000" dirty="0"/>
              <a:t>EC-Council Portal &amp; Lab Account</a:t>
            </a:r>
          </a:p>
        </p:txBody>
      </p:sp>
      <p:sp>
        <p:nvSpPr>
          <p:cNvPr id="4123" name="Rectangle 4122">
            <a:extLst>
              <a:ext uri="{FF2B5EF4-FFF2-40B4-BE49-F238E27FC236}">
                <a16:creationId xmlns:a16="http://schemas.microsoft.com/office/drawing/2014/main" id="{0E8C433C-B0F5-77B5-97E4-4F5730831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3C1BCD1E-C6D2-049D-924C-A312EDB28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E0BF2-E0A3-7565-01A9-B7D9AE0D1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41" y="502022"/>
            <a:ext cx="10274828" cy="53342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22C4A6-3C24-CCB3-0538-78D64DC97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483427"/>
            <a:ext cx="11257935" cy="3642737"/>
          </a:xfrm>
        </p:spPr>
        <p:txBody>
          <a:bodyPr>
            <a:normAutofit/>
          </a:bodyPr>
          <a:lstStyle/>
          <a:p>
            <a:r>
              <a:rPr lang="en-US" sz="2800" dirty="0"/>
              <a:t>Register with lab code </a:t>
            </a:r>
            <a:r>
              <a:rPr lang="en-US" sz="2800" dirty="0">
                <a:hlinkClick r:id="rId4"/>
              </a:rPr>
              <a:t>https://eccouncil.learnondemand.net/User/Register?OrganizationId=1133</a:t>
            </a:r>
            <a:endParaRPr lang="en-US" sz="2800" dirty="0"/>
          </a:p>
          <a:p>
            <a:r>
              <a:rPr lang="en-US" sz="2800" dirty="0"/>
              <a:t>Lab codes has been sent via </a:t>
            </a:r>
            <a:r>
              <a:rPr lang="en-US" sz="2800" dirty="0">
                <a:solidFill>
                  <a:srgbClr val="C00000"/>
                </a:solidFill>
              </a:rPr>
              <a:t>email</a:t>
            </a:r>
            <a:r>
              <a:rPr lang="en-US" sz="2800" dirty="0"/>
              <a:t> to our students</a:t>
            </a:r>
          </a:p>
          <a:p>
            <a:pPr marL="457200" lvl="1" indent="0">
              <a:buNone/>
            </a:pPr>
            <a:r>
              <a:rPr lang="en-SG" dirty="0"/>
              <a:t>E.g. of lab code </a:t>
            </a:r>
            <a:r>
              <a:rPr lang="en-SG" dirty="0">
                <a:highlight>
                  <a:srgbClr val="FFFF00"/>
                </a:highlight>
              </a:rPr>
              <a:t>CEHV99ILYIACKXKGXSUV99HZ9</a:t>
            </a:r>
          </a:p>
          <a:p>
            <a:pPr lvl="1"/>
            <a:endParaRPr lang="en-SG" sz="2400" dirty="0"/>
          </a:p>
          <a:p>
            <a:r>
              <a:rPr lang="en-US" sz="2800" dirty="0">
                <a:hlinkClick r:id="rId5"/>
              </a:rPr>
              <a:t>https://eccouncil.learnondemand.net/User/Login?ReturnUrl=%2F</a:t>
            </a:r>
            <a:endParaRPr lang="en-US" sz="2800" dirty="0"/>
          </a:p>
          <a:p>
            <a:endParaRPr lang="en-US" sz="2800" dirty="0"/>
          </a:p>
          <a:p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9870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D7FA6-CA4F-E153-B74A-B2126CAA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1" name="Rectangle 4120">
            <a:extLst>
              <a:ext uri="{FF2B5EF4-FFF2-40B4-BE49-F238E27FC236}">
                <a16:creationId xmlns:a16="http://schemas.microsoft.com/office/drawing/2014/main" id="{AC88D537-1BEF-FC90-91F9-3F9D4AC22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610421-5251-B645-E795-573CD37E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1230002"/>
          </a:xfrm>
        </p:spPr>
        <p:txBody>
          <a:bodyPr anchor="b">
            <a:normAutofit/>
          </a:bodyPr>
          <a:lstStyle/>
          <a:p>
            <a:r>
              <a:rPr lang="en-SG" sz="4000" dirty="0"/>
              <a:t>EC-Council Portal &amp; Lab Account</a:t>
            </a:r>
          </a:p>
        </p:txBody>
      </p:sp>
      <p:sp>
        <p:nvSpPr>
          <p:cNvPr id="4123" name="Rectangle 4122">
            <a:extLst>
              <a:ext uri="{FF2B5EF4-FFF2-40B4-BE49-F238E27FC236}">
                <a16:creationId xmlns:a16="http://schemas.microsoft.com/office/drawing/2014/main" id="{BE5FBF8E-0515-9EB7-B171-7DEC2C5B8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345B0EAF-9BBA-2F8E-A960-E3D85EB6F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F8B0E8-8D7E-14D3-8384-FBA5622B4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41" y="502022"/>
            <a:ext cx="10274828" cy="53342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918B82-1124-563B-5EDC-9E2F3F8D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883" y="1798950"/>
            <a:ext cx="5775481" cy="4349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hlinkClick r:id="rId4"/>
              </a:rPr>
              <a:t>https://eccouncil.learnondemand.net/User/Register?OrganizationId=1133 </a:t>
            </a:r>
            <a:endParaRPr lang="en-US" sz="2400" dirty="0"/>
          </a:p>
          <a:p>
            <a:pPr marL="0" indent="0">
              <a:buNone/>
            </a:pPr>
            <a:r>
              <a:rPr lang="en-US" sz="2800" dirty="0"/>
              <a:t>Register your lab account</a:t>
            </a:r>
            <a:endParaRPr lang="en-SG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56F0F-BBAD-D877-1A13-C92AF9192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09" y="1776845"/>
            <a:ext cx="4202752" cy="462415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E17F582-1328-266A-3B96-31C9F76A0AB9}"/>
              </a:ext>
            </a:extLst>
          </p:cNvPr>
          <p:cNvGrpSpPr/>
          <p:nvPr/>
        </p:nvGrpSpPr>
        <p:grpSpPr>
          <a:xfrm>
            <a:off x="1623440" y="3866111"/>
            <a:ext cx="5283721" cy="2347667"/>
            <a:chOff x="1623440" y="3866111"/>
            <a:chExt cx="5283721" cy="234766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E0F52F-0419-51C5-7ECC-5B41A3DB690D}"/>
                </a:ext>
              </a:extLst>
            </p:cNvPr>
            <p:cNvSpPr txBox="1"/>
            <p:nvPr/>
          </p:nvSpPr>
          <p:spPr>
            <a:xfrm>
              <a:off x="4657306" y="3866111"/>
              <a:ext cx="2249855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Password Policy</a:t>
              </a:r>
            </a:p>
            <a:p>
              <a:r>
                <a:rPr lang="en-US" sz="1400" dirty="0"/>
                <a:t>Requires at least: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8 characters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1 numbers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1 letters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1 lower-case letters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1 special characters</a:t>
              </a:r>
              <a:endParaRPr lang="en-SG" sz="1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2BC16C-7A20-2047-FB4C-E7619EEFA4DD}"/>
                </a:ext>
              </a:extLst>
            </p:cNvPr>
            <p:cNvSpPr/>
            <p:nvPr/>
          </p:nvSpPr>
          <p:spPr>
            <a:xfrm>
              <a:off x="1623440" y="5674666"/>
              <a:ext cx="3443021" cy="53911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A32C18-EA47-B38E-219E-F56140405ABC}"/>
              </a:ext>
            </a:extLst>
          </p:cNvPr>
          <p:cNvGrpSpPr/>
          <p:nvPr/>
        </p:nvGrpSpPr>
        <p:grpSpPr>
          <a:xfrm>
            <a:off x="863709" y="1164228"/>
            <a:ext cx="10477860" cy="5191750"/>
            <a:chOff x="863709" y="1071732"/>
            <a:chExt cx="10477860" cy="51917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E6BD2A8-0C53-56E3-FDCB-FCE722843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709" y="1071732"/>
              <a:ext cx="10477860" cy="519175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F3823F6-D551-A556-F859-08369B0654BA}"/>
                </a:ext>
              </a:extLst>
            </p:cNvPr>
            <p:cNvSpPr/>
            <p:nvPr/>
          </p:nvSpPr>
          <p:spPr>
            <a:xfrm>
              <a:off x="7784723" y="4827639"/>
              <a:ext cx="3443021" cy="717755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B5F548C-11A6-22D5-55B6-9F66E5DB9502}"/>
              </a:ext>
            </a:extLst>
          </p:cNvPr>
          <p:cNvSpPr txBox="1"/>
          <p:nvPr/>
        </p:nvSpPr>
        <p:spPr>
          <a:xfrm>
            <a:off x="7944481" y="5225215"/>
            <a:ext cx="3124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>
                <a:solidFill>
                  <a:srgbClr val="C00000"/>
                </a:solidFill>
              </a:rPr>
              <a:t>CEHV99ILYIACKXKGXSUV99HZ9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161280F-9E91-94CB-574B-61DBB7D5CB28}"/>
              </a:ext>
            </a:extLst>
          </p:cNvPr>
          <p:cNvSpPr/>
          <p:nvPr/>
        </p:nvSpPr>
        <p:spPr>
          <a:xfrm>
            <a:off x="863709" y="2234046"/>
            <a:ext cx="2213788" cy="172835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732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023A2-1247-15B4-64BD-BA5BEA12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1" name="Rectangle 4120">
            <a:extLst>
              <a:ext uri="{FF2B5EF4-FFF2-40B4-BE49-F238E27FC236}">
                <a16:creationId xmlns:a16="http://schemas.microsoft.com/office/drawing/2014/main" id="{BDB625D6-2122-AAE6-3B4C-2FAF1E28C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CEE519-FF66-B77B-C86E-89702FEB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1388356"/>
          </a:xfrm>
        </p:spPr>
        <p:txBody>
          <a:bodyPr anchor="b">
            <a:normAutofit/>
          </a:bodyPr>
          <a:lstStyle/>
          <a:p>
            <a:r>
              <a:rPr lang="en-US" sz="4000" dirty="0"/>
              <a:t>Save &amp; Exit </a:t>
            </a:r>
            <a:r>
              <a:rPr lang="en-SG" sz="4000" dirty="0"/>
              <a:t>Lab exercises</a:t>
            </a:r>
          </a:p>
        </p:txBody>
      </p:sp>
      <p:sp>
        <p:nvSpPr>
          <p:cNvPr id="4123" name="Rectangle 4122">
            <a:extLst>
              <a:ext uri="{FF2B5EF4-FFF2-40B4-BE49-F238E27FC236}">
                <a16:creationId xmlns:a16="http://schemas.microsoft.com/office/drawing/2014/main" id="{85F2A028-7103-7D19-1FC2-1FFF4E4F0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29029F5C-B69C-290A-9082-36D742755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5D7CF-C957-9F56-50C2-4B555C511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41" y="502022"/>
            <a:ext cx="10274828" cy="533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541E75-A0AE-BD8A-2DA3-4530A7124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797" y="1890378"/>
            <a:ext cx="7108287" cy="44118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C603B1-8CFB-D90B-C228-D378F896E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804" y="2905707"/>
            <a:ext cx="8401482" cy="166378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98CAEE7-445C-F654-2C71-E25DC30D472A}"/>
              </a:ext>
            </a:extLst>
          </p:cNvPr>
          <p:cNvSpPr/>
          <p:nvPr/>
        </p:nvSpPr>
        <p:spPr>
          <a:xfrm>
            <a:off x="8268929" y="2392400"/>
            <a:ext cx="1773494" cy="4443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877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18868-0DDF-E21D-30F9-34A476D4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1" name="Rectangle 4120">
            <a:extLst>
              <a:ext uri="{FF2B5EF4-FFF2-40B4-BE49-F238E27FC236}">
                <a16:creationId xmlns:a16="http://schemas.microsoft.com/office/drawing/2014/main" id="{A0932643-BC88-66EB-C150-D2DFF9C63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10C780-29D5-1FAC-92AE-DBF96675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1388356"/>
          </a:xfrm>
        </p:spPr>
        <p:txBody>
          <a:bodyPr anchor="b">
            <a:normAutofit/>
          </a:bodyPr>
          <a:lstStyle/>
          <a:p>
            <a:r>
              <a:rPr lang="en-US" sz="4000" dirty="0"/>
              <a:t>O</a:t>
            </a:r>
            <a:r>
              <a:rPr lang="en-SG" sz="4000" dirty="0" err="1"/>
              <a:t>ptional</a:t>
            </a:r>
            <a:r>
              <a:rPr lang="en-SG" sz="4000" dirty="0"/>
              <a:t> Lab exercises</a:t>
            </a:r>
          </a:p>
        </p:txBody>
      </p:sp>
      <p:sp>
        <p:nvSpPr>
          <p:cNvPr id="4123" name="Rectangle 4122">
            <a:extLst>
              <a:ext uri="{FF2B5EF4-FFF2-40B4-BE49-F238E27FC236}">
                <a16:creationId xmlns:a16="http://schemas.microsoft.com/office/drawing/2014/main" id="{FBE058F5-8082-6FBC-BAF1-076C52D27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1E9DE428-8D32-F2F7-CAA4-98FA63BE5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DD3F1-6756-8D90-ABEB-29C4940E9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41" y="502022"/>
            <a:ext cx="10274828" cy="53342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13A60-B61C-1E8E-52BA-1CFD38AA7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1714243"/>
            <a:ext cx="8632723" cy="3642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E.g. </a:t>
            </a:r>
          </a:p>
          <a:p>
            <a:pPr marL="0" indent="0">
              <a:buNone/>
            </a:pPr>
            <a:r>
              <a:rPr lang="en-US" sz="2800" dirty="0"/>
              <a:t>Lab 9: Perform </a:t>
            </a:r>
            <a:r>
              <a:rPr lang="en-US" sz="2800" dirty="0" err="1"/>
              <a:t>Footprinting</a:t>
            </a:r>
            <a:r>
              <a:rPr lang="en-US" sz="2800" dirty="0"/>
              <a:t> </a:t>
            </a:r>
            <a:r>
              <a:rPr lang="en-US" sz="2800" dirty="0">
                <a:highlight>
                  <a:srgbClr val="FFFF00"/>
                </a:highlight>
              </a:rPr>
              <a:t>using AI</a:t>
            </a:r>
            <a:endParaRPr lang="en-SG" sz="2400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597D6-5D7E-9B8A-0A60-CCDD0301E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617" y="2934197"/>
            <a:ext cx="7838353" cy="327709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3FF4C00-FE7B-B5DB-4BF9-369F28BF6353}"/>
              </a:ext>
            </a:extLst>
          </p:cNvPr>
          <p:cNvSpPr/>
          <p:nvPr/>
        </p:nvSpPr>
        <p:spPr>
          <a:xfrm>
            <a:off x="7408717" y="3233212"/>
            <a:ext cx="1744332" cy="111182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6700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53A14166A49D4CB3396C0E8042B07B" ma:contentTypeVersion="7" ma:contentTypeDescription="Create a new document." ma:contentTypeScope="" ma:versionID="2f75d335fe72e3ac8cc97ccf49899921">
  <xsd:schema xmlns:xsd="http://www.w3.org/2001/XMLSchema" xmlns:xs="http://www.w3.org/2001/XMLSchema" xmlns:p="http://schemas.microsoft.com/office/2006/metadata/properties" xmlns:ns2="e87f8e2f-eef8-445e-8e18-4d4c58edfa4f" targetNamespace="http://schemas.microsoft.com/office/2006/metadata/properties" ma:root="true" ma:fieldsID="6df954926bbdd3aa731af5ec1b2f07c3" ns2:_="">
    <xsd:import namespace="e87f8e2f-eef8-445e-8e18-4d4c58edfa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7f8e2f-eef8-445e-8e18-4d4c58edfa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AE9354-762D-4235-BA0E-2AF17F26AEC7}"/>
</file>

<file path=customXml/itemProps2.xml><?xml version="1.0" encoding="utf-8"?>
<ds:datastoreItem xmlns:ds="http://schemas.openxmlformats.org/officeDocument/2006/customXml" ds:itemID="{D6E0FDE1-1E64-42FA-9B83-D9ED98B05820}"/>
</file>

<file path=customXml/itemProps3.xml><?xml version="1.0" encoding="utf-8"?>
<ds:datastoreItem xmlns:ds="http://schemas.openxmlformats.org/officeDocument/2006/customXml" ds:itemID="{94EC2366-F52E-4382-A6EB-3402242875FA}"/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1086</Words>
  <Application>Microsoft Office PowerPoint</Application>
  <PresentationFormat>Widescreen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Lab Overview: Practical Ethical Hacking</vt:lpstr>
      <vt:lpstr>Skill Development &amp; Course Outcomes</vt:lpstr>
      <vt:lpstr>Third-Party &amp; Cloud Resources</vt:lpstr>
      <vt:lpstr>EC-Council Portal &amp; Lab Account</vt:lpstr>
      <vt:lpstr>EC-Council Portal &amp; Lab Account</vt:lpstr>
      <vt:lpstr>Save &amp; Exit Lab exercises</vt:lpstr>
      <vt:lpstr>Optional Lab exercises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jason</dc:creator>
  <cp:keywords/>
  <dc:description>generated using python-pptx</dc:description>
  <cp:lastModifiedBy>Jason KL Lee</cp:lastModifiedBy>
  <cp:revision>11</cp:revision>
  <dcterms:created xsi:type="dcterms:W3CDTF">2013-01-27T09:14:16Z</dcterms:created>
  <dcterms:modified xsi:type="dcterms:W3CDTF">2026-04-20T07:28:13Z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b68b73-d603-4e7f-85b0-08f331d65276_Enabled">
    <vt:lpwstr>true</vt:lpwstr>
  </property>
  <property fmtid="{D5CDD505-2E9C-101B-9397-08002B2CF9AE}" pid="3" name="MSIP_Label_23b68b73-d603-4e7f-85b0-08f331d65276_SetDate">
    <vt:lpwstr>2026-04-16T07:45:23Z</vt:lpwstr>
  </property>
  <property fmtid="{D5CDD505-2E9C-101B-9397-08002B2CF9AE}" pid="4" name="MSIP_Label_23b68b73-d603-4e7f-85b0-08f331d65276_Method">
    <vt:lpwstr>Privileged</vt:lpwstr>
  </property>
  <property fmtid="{D5CDD505-2E9C-101B-9397-08002B2CF9AE}" pid="5" name="MSIP_Label_23b68b73-d603-4e7f-85b0-08f331d65276_Name">
    <vt:lpwstr>Sensitive Normal</vt:lpwstr>
  </property>
  <property fmtid="{D5CDD505-2E9C-101B-9397-08002B2CF9AE}" pid="6" name="MSIP_Label_23b68b73-d603-4e7f-85b0-08f331d65276_SiteId">
    <vt:lpwstr>25a99bf0-8e72-472a-ae50-adfbdf0df6f1</vt:lpwstr>
  </property>
  <property fmtid="{D5CDD505-2E9C-101B-9397-08002B2CF9AE}" pid="7" name="MSIP_Label_23b68b73-d603-4e7f-85b0-08f331d65276_ActionId">
    <vt:lpwstr>a502b788-9413-4dab-a49a-93214dfd02c5</vt:lpwstr>
  </property>
  <property fmtid="{D5CDD505-2E9C-101B-9397-08002B2CF9AE}" pid="8" name="MSIP_Label_23b68b73-d603-4e7f-85b0-08f331d65276_ContentBits">
    <vt:lpwstr>0</vt:lpwstr>
  </property>
  <property fmtid="{D5CDD505-2E9C-101B-9397-08002B2CF9AE}" pid="9" name="MSIP_Label_23b68b73-d603-4e7f-85b0-08f331d65276_Tag">
    <vt:lpwstr>10, 0, 1, 1</vt:lpwstr>
  </property>
  <property fmtid="{D5CDD505-2E9C-101B-9397-08002B2CF9AE}" pid="10" name="ContentTypeId">
    <vt:lpwstr>0x010100B353A14166A49D4CB3396C0E8042B07B</vt:lpwstr>
  </property>
</Properties>
</file>