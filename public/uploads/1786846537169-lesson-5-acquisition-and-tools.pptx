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92B977-CD26-812D-FB92-94184BA25F8E}" v="6" dt="2026-04-12T23:30:29.7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p:scale>
          <a:sx n="82" d="100"/>
          <a:sy n="82" d="100"/>
        </p:scale>
        <p:origin x="4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Shuhadah BINTE JALIL (TP)" userId="6a975622-816e-4480-9323-6edcbb1b288f" providerId="ADAL" clId="{99A77B70-6630-4305-B260-DF09FCBD32FD}"/>
    <pc:docChg chg="undo custSel mod modSld">
      <pc:chgData name="Nur Shuhadah BINTE JALIL (TP)" userId="6a975622-816e-4480-9323-6edcbb1b288f" providerId="ADAL" clId="{99A77B70-6630-4305-B260-DF09FCBD32FD}" dt="2026-04-09T02:50:23.333" v="280" actId="14100"/>
      <pc:docMkLst>
        <pc:docMk/>
      </pc:docMkLst>
      <pc:sldChg chg="delSp mod">
        <pc:chgData name="Nur Shuhadah BINTE JALIL (TP)" userId="6a975622-816e-4480-9323-6edcbb1b288f" providerId="ADAL" clId="{99A77B70-6630-4305-B260-DF09FCBD32FD}" dt="2026-04-09T02:19:18.228" v="1" actId="478"/>
        <pc:sldMkLst>
          <pc:docMk/>
          <pc:sldMk cId="0" sldId="256"/>
        </pc:sldMkLst>
      </pc:sldChg>
      <pc:sldChg chg="modSp mod">
        <pc:chgData name="Nur Shuhadah BINTE JALIL (TP)" userId="6a975622-816e-4480-9323-6edcbb1b288f" providerId="ADAL" clId="{99A77B70-6630-4305-B260-DF09FCBD32FD}" dt="2026-04-09T02:20:27.810" v="2" actId="1076"/>
        <pc:sldMkLst>
          <pc:docMk/>
          <pc:sldMk cId="0" sldId="260"/>
        </pc:sldMkLst>
        <pc:spChg chg="mod">
          <ac:chgData name="Nur Shuhadah BINTE JALIL (TP)" userId="6a975622-816e-4480-9323-6edcbb1b288f" providerId="ADAL" clId="{99A77B70-6630-4305-B260-DF09FCBD32FD}" dt="2026-04-09T02:20:27.810" v="2" actId="1076"/>
          <ac:spMkLst>
            <pc:docMk/>
            <pc:sldMk cId="0" sldId="260"/>
            <ac:spMk id="35" creationId="{00000000-0000-0000-0000-000000000000}"/>
          </ac:spMkLst>
        </pc:spChg>
      </pc:sldChg>
      <pc:sldChg chg="modSp mod">
        <pc:chgData name="Nur Shuhadah BINTE JALIL (TP)" userId="6a975622-816e-4480-9323-6edcbb1b288f" providerId="ADAL" clId="{99A77B70-6630-4305-B260-DF09FCBD32FD}" dt="2026-04-09T02:21:01.760" v="20" actId="1076"/>
        <pc:sldMkLst>
          <pc:docMk/>
          <pc:sldMk cId="0" sldId="264"/>
        </pc:sldMkLst>
        <pc:spChg chg="mod">
          <ac:chgData name="Nur Shuhadah BINTE JALIL (TP)" userId="6a975622-816e-4480-9323-6edcbb1b288f" providerId="ADAL" clId="{99A77B70-6630-4305-B260-DF09FCBD32FD}" dt="2026-04-09T02:20:56.250" v="19" actId="1036"/>
          <ac:spMkLst>
            <pc:docMk/>
            <pc:sldMk cId="0" sldId="264"/>
            <ac:spMk id="17" creationId="{00000000-0000-0000-0000-000000000000}"/>
          </ac:spMkLst>
        </pc:spChg>
        <pc:spChg chg="mod">
          <ac:chgData name="Nur Shuhadah BINTE JALIL (TP)" userId="6a975622-816e-4480-9323-6edcbb1b288f" providerId="ADAL" clId="{99A77B70-6630-4305-B260-DF09FCBD32FD}" dt="2026-04-09T02:20:40.178" v="4" actId="1076"/>
          <ac:spMkLst>
            <pc:docMk/>
            <pc:sldMk cId="0" sldId="264"/>
            <ac:spMk id="18" creationId="{00000000-0000-0000-0000-000000000000}"/>
          </ac:spMkLst>
        </pc:spChg>
        <pc:spChg chg="mod">
          <ac:chgData name="Nur Shuhadah BINTE JALIL (TP)" userId="6a975622-816e-4480-9323-6edcbb1b288f" providerId="ADAL" clId="{99A77B70-6630-4305-B260-DF09FCBD32FD}" dt="2026-04-09T02:20:56.250" v="19" actId="1036"/>
          <ac:spMkLst>
            <pc:docMk/>
            <pc:sldMk cId="0" sldId="264"/>
            <ac:spMk id="19" creationId="{00000000-0000-0000-0000-000000000000}"/>
          </ac:spMkLst>
        </pc:spChg>
        <pc:spChg chg="mod">
          <ac:chgData name="Nur Shuhadah BINTE JALIL (TP)" userId="6a975622-816e-4480-9323-6edcbb1b288f" providerId="ADAL" clId="{99A77B70-6630-4305-B260-DF09FCBD32FD}" dt="2026-04-09T02:20:56.250" v="19" actId="1036"/>
          <ac:spMkLst>
            <pc:docMk/>
            <pc:sldMk cId="0" sldId="264"/>
            <ac:spMk id="20" creationId="{00000000-0000-0000-0000-000000000000}"/>
          </ac:spMkLst>
        </pc:spChg>
        <pc:spChg chg="mod">
          <ac:chgData name="Nur Shuhadah BINTE JALIL (TP)" userId="6a975622-816e-4480-9323-6edcbb1b288f" providerId="ADAL" clId="{99A77B70-6630-4305-B260-DF09FCBD32FD}" dt="2026-04-09T02:20:56.250" v="19" actId="1036"/>
          <ac:spMkLst>
            <pc:docMk/>
            <pc:sldMk cId="0" sldId="264"/>
            <ac:spMk id="21" creationId="{00000000-0000-0000-0000-000000000000}"/>
          </ac:spMkLst>
        </pc:spChg>
        <pc:spChg chg="mod">
          <ac:chgData name="Nur Shuhadah BINTE JALIL (TP)" userId="6a975622-816e-4480-9323-6edcbb1b288f" providerId="ADAL" clId="{99A77B70-6630-4305-B260-DF09FCBD32FD}" dt="2026-04-09T02:20:56.250" v="19" actId="1036"/>
          <ac:spMkLst>
            <pc:docMk/>
            <pc:sldMk cId="0" sldId="264"/>
            <ac:spMk id="22" creationId="{00000000-0000-0000-0000-000000000000}"/>
          </ac:spMkLst>
        </pc:spChg>
        <pc:spChg chg="mod">
          <ac:chgData name="Nur Shuhadah BINTE JALIL (TP)" userId="6a975622-816e-4480-9323-6edcbb1b288f" providerId="ADAL" clId="{99A77B70-6630-4305-B260-DF09FCBD32FD}" dt="2026-04-09T02:20:56.250" v="19" actId="1036"/>
          <ac:spMkLst>
            <pc:docMk/>
            <pc:sldMk cId="0" sldId="264"/>
            <ac:spMk id="23" creationId="{00000000-0000-0000-0000-000000000000}"/>
          </ac:spMkLst>
        </pc:spChg>
        <pc:spChg chg="mod">
          <ac:chgData name="Nur Shuhadah BINTE JALIL (TP)" userId="6a975622-816e-4480-9323-6edcbb1b288f" providerId="ADAL" clId="{99A77B70-6630-4305-B260-DF09FCBD32FD}" dt="2026-04-09T02:20:56.250" v="19" actId="1036"/>
          <ac:spMkLst>
            <pc:docMk/>
            <pc:sldMk cId="0" sldId="264"/>
            <ac:spMk id="24" creationId="{00000000-0000-0000-0000-000000000000}"/>
          </ac:spMkLst>
        </pc:spChg>
        <pc:spChg chg="mod">
          <ac:chgData name="Nur Shuhadah BINTE JALIL (TP)" userId="6a975622-816e-4480-9323-6edcbb1b288f" providerId="ADAL" clId="{99A77B70-6630-4305-B260-DF09FCBD32FD}" dt="2026-04-09T02:20:56.250" v="19" actId="1036"/>
          <ac:spMkLst>
            <pc:docMk/>
            <pc:sldMk cId="0" sldId="264"/>
            <ac:spMk id="25" creationId="{00000000-0000-0000-0000-000000000000}"/>
          </ac:spMkLst>
        </pc:spChg>
        <pc:spChg chg="mod">
          <ac:chgData name="Nur Shuhadah BINTE JALIL (TP)" userId="6a975622-816e-4480-9323-6edcbb1b288f" providerId="ADAL" clId="{99A77B70-6630-4305-B260-DF09FCBD32FD}" dt="2026-04-09T02:21:01.760" v="20" actId="1076"/>
          <ac:spMkLst>
            <pc:docMk/>
            <pc:sldMk cId="0" sldId="264"/>
            <ac:spMk id="26" creationId="{00000000-0000-0000-0000-000000000000}"/>
          </ac:spMkLst>
        </pc:spChg>
      </pc:sldChg>
      <pc:sldChg chg="modSp mod">
        <pc:chgData name="Nur Shuhadah BINTE JALIL (TP)" userId="6a975622-816e-4480-9323-6edcbb1b288f" providerId="ADAL" clId="{99A77B70-6630-4305-B260-DF09FCBD32FD}" dt="2026-04-09T02:48:17.498" v="160" actId="1076"/>
        <pc:sldMkLst>
          <pc:docMk/>
          <pc:sldMk cId="0" sldId="266"/>
        </pc:sldMkLst>
        <pc:spChg chg="mod">
          <ac:chgData name="Nur Shuhadah BINTE JALIL (TP)" userId="6a975622-816e-4480-9323-6edcbb1b288f" providerId="ADAL" clId="{99A77B70-6630-4305-B260-DF09FCBD32FD}" dt="2026-04-09T02:48:00.665" v="158" actId="1076"/>
          <ac:spMkLst>
            <pc:docMk/>
            <pc:sldMk cId="0" sldId="266"/>
            <ac:spMk id="17" creationId="{00000000-0000-0000-0000-000000000000}"/>
          </ac:spMkLst>
        </pc:spChg>
        <pc:spChg chg="mod">
          <ac:chgData name="Nur Shuhadah BINTE JALIL (TP)" userId="6a975622-816e-4480-9323-6edcbb1b288f" providerId="ADAL" clId="{99A77B70-6630-4305-B260-DF09FCBD32FD}" dt="2026-04-09T02:47:18.691" v="151" actId="1076"/>
          <ac:spMkLst>
            <pc:docMk/>
            <pc:sldMk cId="0" sldId="266"/>
            <ac:spMk id="22" creationId="{00000000-0000-0000-0000-000000000000}"/>
          </ac:spMkLst>
        </pc:spChg>
        <pc:spChg chg="mod">
          <ac:chgData name="Nur Shuhadah BINTE JALIL (TP)" userId="6a975622-816e-4480-9323-6edcbb1b288f" providerId="ADAL" clId="{99A77B70-6630-4305-B260-DF09FCBD32FD}" dt="2026-04-09T02:47:08.604" v="149" actId="1076"/>
          <ac:spMkLst>
            <pc:docMk/>
            <pc:sldMk cId="0" sldId="266"/>
            <ac:spMk id="23" creationId="{00000000-0000-0000-0000-000000000000}"/>
          </ac:spMkLst>
        </pc:spChg>
        <pc:spChg chg="mod">
          <ac:chgData name="Nur Shuhadah BINTE JALIL (TP)" userId="6a975622-816e-4480-9323-6edcbb1b288f" providerId="ADAL" clId="{99A77B70-6630-4305-B260-DF09FCBD32FD}" dt="2026-04-09T02:47:12.823" v="150" actId="1076"/>
          <ac:spMkLst>
            <pc:docMk/>
            <pc:sldMk cId="0" sldId="266"/>
            <ac:spMk id="24" creationId="{00000000-0000-0000-0000-000000000000}"/>
          </ac:spMkLst>
        </pc:spChg>
        <pc:spChg chg="mod">
          <ac:chgData name="Nur Shuhadah BINTE JALIL (TP)" userId="6a975622-816e-4480-9323-6edcbb1b288f" providerId="ADAL" clId="{99A77B70-6630-4305-B260-DF09FCBD32FD}" dt="2026-04-09T02:47:47.197" v="155" actId="1076"/>
          <ac:spMkLst>
            <pc:docMk/>
            <pc:sldMk cId="0" sldId="266"/>
            <ac:spMk id="27" creationId="{00000000-0000-0000-0000-000000000000}"/>
          </ac:spMkLst>
        </pc:spChg>
        <pc:spChg chg="mod">
          <ac:chgData name="Nur Shuhadah BINTE JALIL (TP)" userId="6a975622-816e-4480-9323-6edcbb1b288f" providerId="ADAL" clId="{99A77B70-6630-4305-B260-DF09FCBD32FD}" dt="2026-04-09T02:47:01.305" v="147" actId="1076"/>
          <ac:spMkLst>
            <pc:docMk/>
            <pc:sldMk cId="0" sldId="266"/>
            <ac:spMk id="28" creationId="{00000000-0000-0000-0000-000000000000}"/>
          </ac:spMkLst>
        </pc:spChg>
        <pc:spChg chg="mod">
          <ac:chgData name="Nur Shuhadah BINTE JALIL (TP)" userId="6a975622-816e-4480-9323-6edcbb1b288f" providerId="ADAL" clId="{99A77B70-6630-4305-B260-DF09FCBD32FD}" dt="2026-04-09T02:46:52.874" v="146" actId="1076"/>
          <ac:spMkLst>
            <pc:docMk/>
            <pc:sldMk cId="0" sldId="266"/>
            <ac:spMk id="29" creationId="{00000000-0000-0000-0000-000000000000}"/>
          </ac:spMkLst>
        </pc:spChg>
        <pc:spChg chg="mod">
          <ac:chgData name="Nur Shuhadah BINTE JALIL (TP)" userId="6a975622-816e-4480-9323-6edcbb1b288f" providerId="ADAL" clId="{99A77B70-6630-4305-B260-DF09FCBD32FD}" dt="2026-04-09T02:47:55.671" v="157" actId="1076"/>
          <ac:spMkLst>
            <pc:docMk/>
            <pc:sldMk cId="0" sldId="266"/>
            <ac:spMk id="32" creationId="{00000000-0000-0000-0000-000000000000}"/>
          </ac:spMkLst>
        </pc:spChg>
        <pc:spChg chg="mod">
          <ac:chgData name="Nur Shuhadah BINTE JALIL (TP)" userId="6a975622-816e-4480-9323-6edcbb1b288f" providerId="ADAL" clId="{99A77B70-6630-4305-B260-DF09FCBD32FD}" dt="2026-04-09T02:45:07.919" v="74" actId="1037"/>
          <ac:spMkLst>
            <pc:docMk/>
            <pc:sldMk cId="0" sldId="266"/>
            <ac:spMk id="33" creationId="{00000000-0000-0000-0000-000000000000}"/>
          </ac:spMkLst>
        </pc:spChg>
        <pc:spChg chg="mod">
          <ac:chgData name="Nur Shuhadah BINTE JALIL (TP)" userId="6a975622-816e-4480-9323-6edcbb1b288f" providerId="ADAL" clId="{99A77B70-6630-4305-B260-DF09FCBD32FD}" dt="2026-04-09T02:46:03.497" v="123" actId="1038"/>
          <ac:spMkLst>
            <pc:docMk/>
            <pc:sldMk cId="0" sldId="266"/>
            <ac:spMk id="34" creationId="{00000000-0000-0000-0000-000000000000}"/>
          </ac:spMkLst>
        </pc:spChg>
        <pc:spChg chg="mod">
          <ac:chgData name="Nur Shuhadah BINTE JALIL (TP)" userId="6a975622-816e-4480-9323-6edcbb1b288f" providerId="ADAL" clId="{99A77B70-6630-4305-B260-DF09FCBD32FD}" dt="2026-04-09T02:48:06.945" v="159" actId="1076"/>
          <ac:spMkLst>
            <pc:docMk/>
            <pc:sldMk cId="0" sldId="266"/>
            <ac:spMk id="37" creationId="{00000000-0000-0000-0000-000000000000}"/>
          </ac:spMkLst>
        </pc:spChg>
        <pc:spChg chg="mod">
          <ac:chgData name="Nur Shuhadah BINTE JALIL (TP)" userId="6a975622-816e-4480-9323-6edcbb1b288f" providerId="ADAL" clId="{99A77B70-6630-4305-B260-DF09FCBD32FD}" dt="2026-04-09T02:45:07.919" v="74" actId="1037"/>
          <ac:spMkLst>
            <pc:docMk/>
            <pc:sldMk cId="0" sldId="266"/>
            <ac:spMk id="38" creationId="{00000000-0000-0000-0000-000000000000}"/>
          </ac:spMkLst>
        </pc:spChg>
        <pc:spChg chg="mod">
          <ac:chgData name="Nur Shuhadah BINTE JALIL (TP)" userId="6a975622-816e-4480-9323-6edcbb1b288f" providerId="ADAL" clId="{99A77B70-6630-4305-B260-DF09FCBD32FD}" dt="2026-04-09T02:46:41.290" v="143" actId="1038"/>
          <ac:spMkLst>
            <pc:docMk/>
            <pc:sldMk cId="0" sldId="266"/>
            <ac:spMk id="39" creationId="{00000000-0000-0000-0000-000000000000}"/>
          </ac:spMkLst>
        </pc:spChg>
        <pc:spChg chg="mod">
          <ac:chgData name="Nur Shuhadah BINTE JALIL (TP)" userId="6a975622-816e-4480-9323-6edcbb1b288f" providerId="ADAL" clId="{99A77B70-6630-4305-B260-DF09FCBD32FD}" dt="2026-04-09T02:48:17.498" v="160" actId="1076"/>
          <ac:spMkLst>
            <pc:docMk/>
            <pc:sldMk cId="0" sldId="266"/>
            <ac:spMk id="42" creationId="{00000000-0000-0000-0000-000000000000}"/>
          </ac:spMkLst>
        </pc:spChg>
        <pc:spChg chg="mod">
          <ac:chgData name="Nur Shuhadah BINTE JALIL (TP)" userId="6a975622-816e-4480-9323-6edcbb1b288f" providerId="ADAL" clId="{99A77B70-6630-4305-B260-DF09FCBD32FD}" dt="2026-04-09T02:46:03.075" v="122" actId="1037"/>
          <ac:spMkLst>
            <pc:docMk/>
            <pc:sldMk cId="0" sldId="266"/>
            <ac:spMk id="43" creationId="{00000000-0000-0000-0000-000000000000}"/>
          </ac:spMkLst>
        </pc:spChg>
        <pc:spChg chg="mod">
          <ac:chgData name="Nur Shuhadah BINTE JALIL (TP)" userId="6a975622-816e-4480-9323-6edcbb1b288f" providerId="ADAL" clId="{99A77B70-6630-4305-B260-DF09FCBD32FD}" dt="2026-04-09T02:46:19.490" v="136" actId="1037"/>
          <ac:spMkLst>
            <pc:docMk/>
            <pc:sldMk cId="0" sldId="266"/>
            <ac:spMk id="44" creationId="{00000000-0000-0000-0000-000000000000}"/>
          </ac:spMkLst>
        </pc:spChg>
      </pc:sldChg>
      <pc:sldChg chg="modSp mod">
        <pc:chgData name="Nur Shuhadah BINTE JALIL (TP)" userId="6a975622-816e-4480-9323-6edcbb1b288f" providerId="ADAL" clId="{99A77B70-6630-4305-B260-DF09FCBD32FD}" dt="2026-04-09T02:48:48.381" v="161" actId="1076"/>
        <pc:sldMkLst>
          <pc:docMk/>
          <pc:sldMk cId="0" sldId="267"/>
        </pc:sldMkLst>
        <pc:spChg chg="mod">
          <ac:chgData name="Nur Shuhadah BINTE JALIL (TP)" userId="6a975622-816e-4480-9323-6edcbb1b288f" providerId="ADAL" clId="{99A77B70-6630-4305-B260-DF09FCBD32FD}" dt="2026-04-09T02:48:48.381" v="161" actId="1076"/>
          <ac:spMkLst>
            <pc:docMk/>
            <pc:sldMk cId="0" sldId="267"/>
            <ac:spMk id="35" creationId="{00000000-0000-0000-0000-000000000000}"/>
          </ac:spMkLst>
        </pc:spChg>
      </pc:sldChg>
      <pc:sldChg chg="modSp mod">
        <pc:chgData name="Nur Shuhadah BINTE JALIL (TP)" userId="6a975622-816e-4480-9323-6edcbb1b288f" providerId="ADAL" clId="{99A77B70-6630-4305-B260-DF09FCBD32FD}" dt="2026-04-09T02:49:05.261" v="163" actId="1076"/>
        <pc:sldMkLst>
          <pc:docMk/>
          <pc:sldMk cId="0" sldId="271"/>
        </pc:sldMkLst>
        <pc:spChg chg="mod">
          <ac:chgData name="Nur Shuhadah BINTE JALIL (TP)" userId="6a975622-816e-4480-9323-6edcbb1b288f" providerId="ADAL" clId="{99A77B70-6630-4305-B260-DF09FCBD32FD}" dt="2026-04-09T02:49:05.261" v="163" actId="1076"/>
          <ac:spMkLst>
            <pc:docMk/>
            <pc:sldMk cId="0" sldId="271"/>
            <ac:spMk id="41" creationId="{00000000-0000-0000-0000-000000000000}"/>
          </ac:spMkLst>
        </pc:spChg>
      </pc:sldChg>
      <pc:sldChg chg="modSp mod">
        <pc:chgData name="Nur Shuhadah BINTE JALIL (TP)" userId="6a975622-816e-4480-9323-6edcbb1b288f" providerId="ADAL" clId="{99A77B70-6630-4305-B260-DF09FCBD32FD}" dt="2026-04-09T02:49:27.327" v="164" actId="1076"/>
        <pc:sldMkLst>
          <pc:docMk/>
          <pc:sldMk cId="0" sldId="275"/>
        </pc:sldMkLst>
        <pc:spChg chg="mod">
          <ac:chgData name="Nur Shuhadah BINTE JALIL (TP)" userId="6a975622-816e-4480-9323-6edcbb1b288f" providerId="ADAL" clId="{99A77B70-6630-4305-B260-DF09FCBD32FD}" dt="2026-04-09T02:49:27.327" v="164" actId="1076"/>
          <ac:spMkLst>
            <pc:docMk/>
            <pc:sldMk cId="0" sldId="275"/>
            <ac:spMk id="73" creationId="{00000000-0000-0000-0000-000000000000}"/>
          </ac:spMkLst>
        </pc:spChg>
      </pc:sldChg>
      <pc:sldChg chg="modSp mod">
        <pc:chgData name="Nur Shuhadah BINTE JALIL (TP)" userId="6a975622-816e-4480-9323-6edcbb1b288f" providerId="ADAL" clId="{99A77B70-6630-4305-B260-DF09FCBD32FD}" dt="2026-04-09T02:49:37.969" v="165" actId="1076"/>
        <pc:sldMkLst>
          <pc:docMk/>
          <pc:sldMk cId="0" sldId="277"/>
        </pc:sldMkLst>
        <pc:spChg chg="mod">
          <ac:chgData name="Nur Shuhadah BINTE JALIL (TP)" userId="6a975622-816e-4480-9323-6edcbb1b288f" providerId="ADAL" clId="{99A77B70-6630-4305-B260-DF09FCBD32FD}" dt="2026-04-09T02:49:37.969" v="165" actId="1076"/>
          <ac:spMkLst>
            <pc:docMk/>
            <pc:sldMk cId="0" sldId="277"/>
            <ac:spMk id="36" creationId="{00000000-0000-0000-0000-000000000000}"/>
          </ac:spMkLst>
        </pc:spChg>
      </pc:sldChg>
      <pc:sldChg chg="modSp mod">
        <pc:chgData name="Nur Shuhadah BINTE JALIL (TP)" userId="6a975622-816e-4480-9323-6edcbb1b288f" providerId="ADAL" clId="{99A77B70-6630-4305-B260-DF09FCBD32FD}" dt="2026-04-09T02:50:23.333" v="280" actId="14100"/>
        <pc:sldMkLst>
          <pc:docMk/>
          <pc:sldMk cId="0" sldId="280"/>
        </pc:sldMkLst>
        <pc:spChg chg="mod">
          <ac:chgData name="Nur Shuhadah BINTE JALIL (TP)" userId="6a975622-816e-4480-9323-6edcbb1b288f" providerId="ADAL" clId="{99A77B70-6630-4305-B260-DF09FCBD32FD}" dt="2026-04-09T02:50:23.333" v="280" actId="14100"/>
          <ac:spMkLst>
            <pc:docMk/>
            <pc:sldMk cId="0" sldId="280"/>
            <ac:spMk id="16" creationId="{00000000-0000-0000-0000-000000000000}"/>
          </ac:spMkLst>
        </pc:spChg>
        <pc:spChg chg="mod">
          <ac:chgData name="Nur Shuhadah BINTE JALIL (TP)" userId="6a975622-816e-4480-9323-6edcbb1b288f" providerId="ADAL" clId="{99A77B70-6630-4305-B260-DF09FCBD32FD}" dt="2026-04-09T02:50:12.971" v="279" actId="1038"/>
          <ac:spMkLst>
            <pc:docMk/>
            <pc:sldMk cId="0" sldId="280"/>
            <ac:spMk id="22" creationId="{00000000-0000-0000-0000-000000000000}"/>
          </ac:spMkLst>
        </pc:spChg>
      </pc:sldChg>
    </pc:docChg>
  </pc:docChgLst>
  <pc:docChgLst>
    <pc:chgData name="Nur Shuhadah BINTE JALIL (TP)" userId="S::nurshuha@tp.edu.sg::6a975622-816e-4480-9323-6edcbb1b288f" providerId="AD" clId="Web-{8692B977-CD26-812D-FB92-94184BA25F8E}"/>
    <pc:docChg chg="modSld">
      <pc:chgData name="Nur Shuhadah BINTE JALIL (TP)" userId="S::nurshuha@tp.edu.sg::6a975622-816e-4480-9323-6edcbb1b288f" providerId="AD" clId="Web-{8692B977-CD26-812D-FB92-94184BA25F8E}" dt="2026-04-12T23:30:29.715" v="5" actId="20577"/>
      <pc:docMkLst>
        <pc:docMk/>
      </pc:docMkLst>
      <pc:sldChg chg="modSp">
        <pc:chgData name="Nur Shuhadah BINTE JALIL (TP)" userId="S::nurshuha@tp.edu.sg::6a975622-816e-4480-9323-6edcbb1b288f" providerId="AD" clId="Web-{8692B977-CD26-812D-FB92-94184BA25F8E}" dt="2026-04-12T23:30:29.715" v="5" actId="20577"/>
        <pc:sldMkLst>
          <pc:docMk/>
          <pc:sldMk cId="0" sldId="276"/>
        </pc:sldMkLst>
        <pc:spChg chg="mod">
          <ac:chgData name="Nur Shuhadah BINTE JALIL (TP)" userId="S::nurshuha@tp.edu.sg::6a975622-816e-4480-9323-6edcbb1b288f" providerId="AD" clId="Web-{8692B977-CD26-812D-FB92-94184BA25F8E}" dt="2026-04-12T23:30:29.715" v="5" actId="20577"/>
          <ac:spMkLst>
            <pc:docMk/>
            <pc:sldMk cId="0" sldId="276"/>
            <ac:spMk id="7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5890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00B4D8"/>
          </a:solidFill>
          <a:ln w="12700">
            <a:solidFill>
              <a:srgbClr val="00B4D8"/>
            </a:solidFill>
            <a:prstDash val="solid"/>
          </a:ln>
        </p:spPr>
        <p:txBody>
          <a:bodyPr/>
          <a:lstStyle/>
          <a:p>
            <a:endParaRPr lang="en-SG"/>
          </a:p>
        </p:txBody>
      </p:sp>
      <p:sp>
        <p:nvSpPr>
          <p:cNvPr id="3" name="Shape 1"/>
          <p:cNvSpPr/>
          <p:nvPr/>
        </p:nvSpPr>
        <p:spPr>
          <a:xfrm>
            <a:off x="6583680" y="0"/>
            <a:ext cx="2560320" cy="5148072"/>
          </a:xfrm>
          <a:prstGeom prst="rect">
            <a:avLst/>
          </a:prstGeom>
          <a:solidFill>
            <a:srgbClr val="FFFFFF"/>
          </a:solidFill>
          <a:ln w="12700">
            <a:solidFill>
              <a:srgbClr val="FFFFFF"/>
            </a:solidFill>
            <a:prstDash val="solid"/>
          </a:ln>
        </p:spPr>
        <p:txBody>
          <a:bodyPr/>
          <a:lstStyle/>
          <a:p>
            <a:endParaRPr lang="en-SG"/>
          </a:p>
        </p:txBody>
      </p:sp>
      <p:sp>
        <p:nvSpPr>
          <p:cNvPr id="4" name="Shape 2"/>
          <p:cNvSpPr/>
          <p:nvPr/>
        </p:nvSpPr>
        <p:spPr>
          <a:xfrm>
            <a:off x="6583680" y="0"/>
            <a:ext cx="54864" cy="5148072"/>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6675120" y="54864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ACQUIRE</a:t>
            </a:r>
            <a:endParaRPr lang="en-US" sz="1100" dirty="0"/>
          </a:p>
        </p:txBody>
      </p:sp>
      <p:sp>
        <p:nvSpPr>
          <p:cNvPr id="6" name="Text 4"/>
          <p:cNvSpPr/>
          <p:nvPr/>
        </p:nvSpPr>
        <p:spPr>
          <a:xfrm>
            <a:off x="6675120" y="132588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VALIDATE</a:t>
            </a:r>
            <a:endParaRPr lang="en-US" sz="1100" dirty="0"/>
          </a:p>
        </p:txBody>
      </p:sp>
      <p:sp>
        <p:nvSpPr>
          <p:cNvPr id="7" name="Text 5"/>
          <p:cNvSpPr/>
          <p:nvPr/>
        </p:nvSpPr>
        <p:spPr>
          <a:xfrm>
            <a:off x="6675120" y="210312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EXTRACT</a:t>
            </a:r>
            <a:endParaRPr lang="en-US" sz="1100" dirty="0"/>
          </a:p>
        </p:txBody>
      </p:sp>
      <p:sp>
        <p:nvSpPr>
          <p:cNvPr id="8" name="Text 6"/>
          <p:cNvSpPr/>
          <p:nvPr/>
        </p:nvSpPr>
        <p:spPr>
          <a:xfrm>
            <a:off x="6675120" y="288036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RECONSTRUCT</a:t>
            </a:r>
            <a:endParaRPr lang="en-US" sz="1100" dirty="0"/>
          </a:p>
        </p:txBody>
      </p:sp>
      <p:sp>
        <p:nvSpPr>
          <p:cNvPr id="9" name="Text 7"/>
          <p:cNvSpPr/>
          <p:nvPr/>
        </p:nvSpPr>
        <p:spPr>
          <a:xfrm>
            <a:off x="6675120" y="3657600"/>
            <a:ext cx="2286000" cy="457200"/>
          </a:xfrm>
          <a:prstGeom prst="rect">
            <a:avLst/>
          </a:prstGeom>
          <a:noFill/>
          <a:ln/>
        </p:spPr>
        <p:txBody>
          <a:bodyPr wrap="square" lIns="0" tIns="0" rIns="0" bIns="0" rtlCol="0" anchor="ctr"/>
          <a:lstStyle/>
          <a:p>
            <a:pPr marL="0" indent="0">
              <a:buNone/>
            </a:pPr>
            <a:r>
              <a:rPr lang="en-US" sz="1100" b="1" kern="0" spc="300" dirty="0">
                <a:solidFill>
                  <a:srgbClr val="00B4D8"/>
                </a:solidFill>
              </a:rPr>
              <a:t>REPORT</a:t>
            </a:r>
            <a:endParaRPr lang="en-US" sz="1100" dirty="0"/>
          </a:p>
        </p:txBody>
      </p:sp>
      <p:sp>
        <p:nvSpPr>
          <p:cNvPr id="10" name="Text 8"/>
          <p:cNvSpPr/>
          <p:nvPr/>
        </p:nvSpPr>
        <p:spPr>
          <a:xfrm>
            <a:off x="347472" y="960120"/>
            <a:ext cx="6126480" cy="347472"/>
          </a:xfrm>
          <a:prstGeom prst="rect">
            <a:avLst/>
          </a:prstGeom>
          <a:noFill/>
          <a:ln/>
        </p:spPr>
        <p:txBody>
          <a:bodyPr wrap="square" lIns="0" tIns="0" rIns="0" bIns="0" rtlCol="0" anchor="ctr"/>
          <a:lstStyle/>
          <a:p>
            <a:pPr marL="0" indent="0">
              <a:buNone/>
            </a:pPr>
            <a:r>
              <a:rPr lang="en-US" sz="1300" b="1" kern="0" spc="800" dirty="0">
                <a:solidFill>
                  <a:srgbClr val="00B4D8"/>
                </a:solidFill>
              </a:rPr>
              <a:t>LESSON 5</a:t>
            </a:r>
            <a:endParaRPr lang="en-US" sz="1300" dirty="0"/>
          </a:p>
        </p:txBody>
      </p:sp>
      <p:sp>
        <p:nvSpPr>
          <p:cNvPr id="11" name="Text 9"/>
          <p:cNvSpPr/>
          <p:nvPr/>
        </p:nvSpPr>
        <p:spPr>
          <a:xfrm>
            <a:off x="347472" y="1353312"/>
            <a:ext cx="6035040" cy="2286000"/>
          </a:xfrm>
          <a:prstGeom prst="rect">
            <a:avLst/>
          </a:prstGeom>
          <a:noFill/>
          <a:ln/>
        </p:spPr>
        <p:txBody>
          <a:bodyPr wrap="square" lIns="0" tIns="0" rIns="0" bIns="0" rtlCol="0" anchor="ctr"/>
          <a:lstStyle/>
          <a:p>
            <a:pPr marL="0" indent="0">
              <a:buNone/>
            </a:pPr>
            <a:r>
              <a:rPr lang="en-US" sz="4200" b="1" dirty="0">
                <a:solidFill>
                  <a:srgbClr val="1A1A2E"/>
                </a:solidFill>
              </a:rPr>
              <a:t>Forensic</a:t>
            </a:r>
            <a:endParaRPr lang="en-US" sz="4200" dirty="0"/>
          </a:p>
          <a:p>
            <a:pPr marL="0" indent="0">
              <a:buNone/>
            </a:pPr>
            <a:r>
              <a:rPr lang="en-US" sz="4200" b="1" dirty="0">
                <a:solidFill>
                  <a:srgbClr val="1A1A2E"/>
                </a:solidFill>
              </a:rPr>
              <a:t>Acquisitions</a:t>
            </a:r>
            <a:endParaRPr lang="en-US" sz="4200" dirty="0"/>
          </a:p>
          <a:p>
            <a:pPr marL="0" indent="0">
              <a:buNone/>
            </a:pPr>
            <a:r>
              <a:rPr lang="en-US" sz="4200" b="1" dirty="0">
                <a:solidFill>
                  <a:srgbClr val="1A1A2E"/>
                </a:solidFill>
              </a:rPr>
              <a:t>&amp; Tools</a:t>
            </a:r>
            <a:endParaRPr lang="en-US" sz="4200" dirty="0"/>
          </a:p>
        </p:txBody>
      </p:sp>
      <p:sp>
        <p:nvSpPr>
          <p:cNvPr id="12" name="Shape 10"/>
          <p:cNvSpPr/>
          <p:nvPr/>
        </p:nvSpPr>
        <p:spPr>
          <a:xfrm>
            <a:off x="347472" y="3694176"/>
            <a:ext cx="5029200" cy="45720"/>
          </a:xfrm>
          <a:prstGeom prst="rect">
            <a:avLst/>
          </a:prstGeom>
          <a:solidFill>
            <a:srgbClr val="F4A261"/>
          </a:solidFill>
          <a:ln w="12700">
            <a:solidFill>
              <a:srgbClr val="F4A261"/>
            </a:solidFill>
            <a:prstDash val="solid"/>
          </a:ln>
        </p:spPr>
        <p:txBody>
          <a:bodyPr/>
          <a:lstStyle/>
          <a:p>
            <a:endParaRPr lang="en-SG"/>
          </a:p>
        </p:txBody>
      </p:sp>
      <p:sp>
        <p:nvSpPr>
          <p:cNvPr id="13" name="Text 11"/>
          <p:cNvSpPr/>
          <p:nvPr/>
        </p:nvSpPr>
        <p:spPr>
          <a:xfrm>
            <a:off x="347472" y="3822192"/>
            <a:ext cx="6126480" cy="310896"/>
          </a:xfrm>
          <a:prstGeom prst="rect">
            <a:avLst/>
          </a:prstGeom>
          <a:noFill/>
          <a:ln/>
        </p:spPr>
        <p:txBody>
          <a:bodyPr wrap="square" lIns="0" tIns="0" rIns="0" bIns="0" rtlCol="0" anchor="ctr"/>
          <a:lstStyle/>
          <a:p>
            <a:pPr marL="0" indent="0">
              <a:buNone/>
            </a:pPr>
            <a:r>
              <a:rPr lang="en-US" sz="1100" i="1" dirty="0">
                <a:solidFill>
                  <a:srgbClr val="8899AA"/>
                </a:solidFill>
              </a:rPr>
              <a:t>Diploma in Digital Forensics  ·  Tools, Acquisition Methods &amp; Data Recovery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307592"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124712" cy="256032"/>
          </a:xfrm>
          <a:prstGeom prst="rect">
            <a:avLst/>
          </a:prstGeom>
          <a:noFill/>
          <a:ln/>
        </p:spPr>
        <p:txBody>
          <a:bodyPr wrap="square" lIns="0" tIns="0" rIns="0" bIns="0" rtlCol="0" anchor="ctr"/>
          <a:lstStyle/>
          <a:p>
            <a:pPr marL="0" indent="0">
              <a:buNone/>
            </a:pPr>
            <a:r>
              <a:rPr lang="en-US" sz="850" b="1" dirty="0">
                <a:solidFill>
                  <a:srgbClr val="0D1B2A"/>
                </a:solidFill>
              </a:rPr>
              <a:t>LESSON OVERVIEW</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Lesson Objectives</a:t>
            </a:r>
            <a:endParaRPr lang="en-US" sz="2800" dirty="0"/>
          </a:p>
        </p:txBody>
      </p:sp>
      <p:sp>
        <p:nvSpPr>
          <p:cNvPr id="5" name="Shape 3"/>
          <p:cNvSpPr/>
          <p:nvPr/>
        </p:nvSpPr>
        <p:spPr>
          <a:xfrm>
            <a:off x="320040" y="1298448"/>
            <a:ext cx="4251960" cy="1024128"/>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411480" cy="1024128"/>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320040" y="1298448"/>
            <a:ext cx="411480" cy="1024128"/>
          </a:xfrm>
          <a:prstGeom prst="rect">
            <a:avLst/>
          </a:prstGeom>
          <a:noFill/>
          <a:ln/>
        </p:spPr>
        <p:txBody>
          <a:bodyPr wrap="square" lIns="0" tIns="0" rIns="0" bIns="0" rtlCol="0" anchor="ctr"/>
          <a:lstStyle/>
          <a:p>
            <a:pPr marL="0" indent="0" algn="ctr">
              <a:buNone/>
            </a:pPr>
            <a:r>
              <a:rPr lang="en-US" sz="1300" b="1" dirty="0">
                <a:solidFill>
                  <a:srgbClr val="0D1B2A"/>
                </a:solidFill>
              </a:rPr>
              <a:t>01</a:t>
            </a:r>
            <a:endParaRPr lang="en-US" sz="1300" dirty="0"/>
          </a:p>
        </p:txBody>
      </p:sp>
      <p:sp>
        <p:nvSpPr>
          <p:cNvPr id="8" name="Text 6"/>
          <p:cNvSpPr/>
          <p:nvPr/>
        </p:nvSpPr>
        <p:spPr>
          <a:xfrm>
            <a:off x="822960" y="1463040"/>
            <a:ext cx="3657600" cy="694944"/>
          </a:xfrm>
          <a:prstGeom prst="rect">
            <a:avLst/>
          </a:prstGeom>
          <a:noFill/>
          <a:ln/>
        </p:spPr>
        <p:txBody>
          <a:bodyPr wrap="square" lIns="0" tIns="0" rIns="0" bIns="0" rtlCol="0" anchor="ctr"/>
          <a:lstStyle/>
          <a:p>
            <a:pPr marL="0" indent="0">
              <a:buNone/>
            </a:pPr>
            <a:r>
              <a:rPr lang="en-US" sz="950" dirty="0">
                <a:solidFill>
                  <a:srgbClr val="1A1A2E"/>
                </a:solidFill>
              </a:rPr>
              <a:t>Evaluate the needs for computer forensics tools and match them to appropriate forensic phases.</a:t>
            </a:r>
            <a:endParaRPr lang="en-US" sz="950" dirty="0"/>
          </a:p>
        </p:txBody>
      </p:sp>
      <p:sp>
        <p:nvSpPr>
          <p:cNvPr id="9" name="Shape 7"/>
          <p:cNvSpPr/>
          <p:nvPr/>
        </p:nvSpPr>
        <p:spPr>
          <a:xfrm>
            <a:off x="4754880" y="1298448"/>
            <a:ext cx="4251960" cy="1024128"/>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4754880" y="1298448"/>
            <a:ext cx="411480" cy="1024128"/>
          </a:xfrm>
          <a:prstGeom prst="rect">
            <a:avLst/>
          </a:prstGeom>
          <a:solidFill>
            <a:srgbClr val="F4A261"/>
          </a:solidFill>
          <a:ln w="12700">
            <a:solidFill>
              <a:srgbClr val="F4A261"/>
            </a:solidFill>
            <a:prstDash val="solid"/>
          </a:ln>
        </p:spPr>
        <p:txBody>
          <a:bodyPr/>
          <a:lstStyle/>
          <a:p>
            <a:endParaRPr lang="en-SG"/>
          </a:p>
        </p:txBody>
      </p:sp>
      <p:sp>
        <p:nvSpPr>
          <p:cNvPr id="11" name="Text 9"/>
          <p:cNvSpPr/>
          <p:nvPr/>
        </p:nvSpPr>
        <p:spPr>
          <a:xfrm>
            <a:off x="4754880" y="1298448"/>
            <a:ext cx="411480" cy="1024128"/>
          </a:xfrm>
          <a:prstGeom prst="rect">
            <a:avLst/>
          </a:prstGeom>
          <a:noFill/>
          <a:ln/>
        </p:spPr>
        <p:txBody>
          <a:bodyPr wrap="square" lIns="0" tIns="0" rIns="0" bIns="0" rtlCol="0" anchor="ctr"/>
          <a:lstStyle/>
          <a:p>
            <a:pPr marL="0" indent="0" algn="ctr">
              <a:buNone/>
            </a:pPr>
            <a:r>
              <a:rPr lang="en-US" sz="1300" b="1" dirty="0">
                <a:solidFill>
                  <a:srgbClr val="0D1B2A"/>
                </a:solidFill>
              </a:rPr>
              <a:t>02</a:t>
            </a:r>
            <a:endParaRPr lang="en-US" sz="1300" dirty="0"/>
          </a:p>
        </p:txBody>
      </p:sp>
      <p:sp>
        <p:nvSpPr>
          <p:cNvPr id="12" name="Text 10"/>
          <p:cNvSpPr/>
          <p:nvPr/>
        </p:nvSpPr>
        <p:spPr>
          <a:xfrm>
            <a:off x="5257800" y="1463040"/>
            <a:ext cx="3657600" cy="694944"/>
          </a:xfrm>
          <a:prstGeom prst="rect">
            <a:avLst/>
          </a:prstGeom>
          <a:noFill/>
          <a:ln/>
        </p:spPr>
        <p:txBody>
          <a:bodyPr wrap="square" lIns="0" tIns="0" rIns="0" bIns="0" rtlCol="0" anchor="ctr"/>
          <a:lstStyle/>
          <a:p>
            <a:pPr marL="0" indent="0">
              <a:buNone/>
            </a:pPr>
            <a:r>
              <a:rPr lang="en-US" sz="950" dirty="0">
                <a:solidFill>
                  <a:srgbClr val="1A1A2E"/>
                </a:solidFill>
              </a:rPr>
              <a:t>Describe available forensics software tools — command-line, GUI, and Linux/Windows-based suites.</a:t>
            </a:r>
            <a:endParaRPr lang="en-US" sz="950" dirty="0"/>
          </a:p>
        </p:txBody>
      </p:sp>
      <p:sp>
        <p:nvSpPr>
          <p:cNvPr id="13" name="Shape 11"/>
          <p:cNvSpPr/>
          <p:nvPr/>
        </p:nvSpPr>
        <p:spPr>
          <a:xfrm>
            <a:off x="320040" y="2432304"/>
            <a:ext cx="4251960" cy="1024128"/>
          </a:xfrm>
          <a:prstGeom prst="rect">
            <a:avLst/>
          </a:prstGeom>
          <a:solidFill>
            <a:srgbClr val="EEF6FB"/>
          </a:solidFill>
          <a:ln w="12700">
            <a:solidFill>
              <a:srgbClr val="EEF6FB"/>
            </a:solidFill>
            <a:prstDash val="solid"/>
          </a:ln>
        </p:spPr>
        <p:txBody>
          <a:bodyPr/>
          <a:lstStyle/>
          <a:p>
            <a:endParaRPr lang="en-SG"/>
          </a:p>
        </p:txBody>
      </p:sp>
      <p:sp>
        <p:nvSpPr>
          <p:cNvPr id="14" name="Shape 12"/>
          <p:cNvSpPr/>
          <p:nvPr/>
        </p:nvSpPr>
        <p:spPr>
          <a:xfrm>
            <a:off x="320040" y="2432304"/>
            <a:ext cx="411480" cy="1024128"/>
          </a:xfrm>
          <a:prstGeom prst="rect">
            <a:avLst/>
          </a:prstGeom>
          <a:solidFill>
            <a:srgbClr val="2ECC71"/>
          </a:solidFill>
          <a:ln w="12700">
            <a:solidFill>
              <a:srgbClr val="2ECC71"/>
            </a:solidFill>
            <a:prstDash val="solid"/>
          </a:ln>
        </p:spPr>
        <p:txBody>
          <a:bodyPr/>
          <a:lstStyle/>
          <a:p>
            <a:endParaRPr lang="en-SG"/>
          </a:p>
        </p:txBody>
      </p:sp>
      <p:sp>
        <p:nvSpPr>
          <p:cNvPr id="15" name="Text 13"/>
          <p:cNvSpPr/>
          <p:nvPr/>
        </p:nvSpPr>
        <p:spPr>
          <a:xfrm>
            <a:off x="320040" y="2432304"/>
            <a:ext cx="411480" cy="1024128"/>
          </a:xfrm>
          <a:prstGeom prst="rect">
            <a:avLst/>
          </a:prstGeom>
          <a:noFill/>
          <a:ln/>
        </p:spPr>
        <p:txBody>
          <a:bodyPr wrap="square" lIns="0" tIns="0" rIns="0" bIns="0" rtlCol="0" anchor="ctr"/>
          <a:lstStyle/>
          <a:p>
            <a:pPr marL="0" indent="0" algn="ctr">
              <a:buNone/>
            </a:pPr>
            <a:r>
              <a:rPr lang="en-US" sz="1300" b="1" dirty="0">
                <a:solidFill>
                  <a:srgbClr val="0D1B2A"/>
                </a:solidFill>
              </a:rPr>
              <a:t>03</a:t>
            </a:r>
            <a:endParaRPr lang="en-US" sz="1300" dirty="0"/>
          </a:p>
        </p:txBody>
      </p:sp>
      <p:sp>
        <p:nvSpPr>
          <p:cNvPr id="16" name="Text 14"/>
          <p:cNvSpPr/>
          <p:nvPr/>
        </p:nvSpPr>
        <p:spPr>
          <a:xfrm>
            <a:off x="822960" y="2596896"/>
            <a:ext cx="3657600" cy="694944"/>
          </a:xfrm>
          <a:prstGeom prst="rect">
            <a:avLst/>
          </a:prstGeom>
          <a:noFill/>
          <a:ln/>
        </p:spPr>
        <p:txBody>
          <a:bodyPr wrap="square" lIns="0" tIns="0" rIns="0" bIns="0" rtlCol="0" anchor="ctr"/>
          <a:lstStyle/>
          <a:p>
            <a:pPr marL="0" indent="0">
              <a:buNone/>
            </a:pPr>
            <a:r>
              <a:rPr lang="en-US" sz="950" dirty="0">
                <a:solidFill>
                  <a:srgbClr val="1A1A2E"/>
                </a:solidFill>
              </a:rPr>
              <a:t>Understand the five forensic task categories: Acquisition, Validation, Extraction, Reconstruction, and Reporting.</a:t>
            </a:r>
            <a:endParaRPr lang="en-US" sz="950" dirty="0"/>
          </a:p>
        </p:txBody>
      </p:sp>
      <p:sp>
        <p:nvSpPr>
          <p:cNvPr id="17" name="Shape 15"/>
          <p:cNvSpPr/>
          <p:nvPr/>
        </p:nvSpPr>
        <p:spPr>
          <a:xfrm>
            <a:off x="4754880" y="2432304"/>
            <a:ext cx="4251960" cy="1024128"/>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4754880" y="2432304"/>
            <a:ext cx="411480" cy="1024128"/>
          </a:xfrm>
          <a:prstGeom prst="rect">
            <a:avLst/>
          </a:prstGeom>
          <a:solidFill>
            <a:srgbClr val="F1C40F"/>
          </a:solidFill>
          <a:ln w="12700">
            <a:solidFill>
              <a:srgbClr val="F1C40F"/>
            </a:solidFill>
            <a:prstDash val="solid"/>
          </a:ln>
        </p:spPr>
        <p:txBody>
          <a:bodyPr/>
          <a:lstStyle/>
          <a:p>
            <a:endParaRPr lang="en-SG"/>
          </a:p>
        </p:txBody>
      </p:sp>
      <p:sp>
        <p:nvSpPr>
          <p:cNvPr id="19" name="Text 17"/>
          <p:cNvSpPr/>
          <p:nvPr/>
        </p:nvSpPr>
        <p:spPr>
          <a:xfrm>
            <a:off x="4754880" y="2432304"/>
            <a:ext cx="411480" cy="1024128"/>
          </a:xfrm>
          <a:prstGeom prst="rect">
            <a:avLst/>
          </a:prstGeom>
          <a:noFill/>
          <a:ln/>
        </p:spPr>
        <p:txBody>
          <a:bodyPr wrap="square" lIns="0" tIns="0" rIns="0" bIns="0" rtlCol="0" anchor="ctr"/>
          <a:lstStyle/>
          <a:p>
            <a:pPr marL="0" indent="0" algn="ctr">
              <a:buNone/>
            </a:pPr>
            <a:r>
              <a:rPr lang="en-US" sz="1300" b="1" dirty="0">
                <a:solidFill>
                  <a:srgbClr val="0D1B2A"/>
                </a:solidFill>
              </a:rPr>
              <a:t>04</a:t>
            </a:r>
            <a:endParaRPr lang="en-US" sz="1300" dirty="0"/>
          </a:p>
        </p:txBody>
      </p:sp>
      <p:sp>
        <p:nvSpPr>
          <p:cNvPr id="20" name="Text 18"/>
          <p:cNvSpPr/>
          <p:nvPr/>
        </p:nvSpPr>
        <p:spPr>
          <a:xfrm>
            <a:off x="5257800" y="2596896"/>
            <a:ext cx="3657600" cy="694944"/>
          </a:xfrm>
          <a:prstGeom prst="rect">
            <a:avLst/>
          </a:prstGeom>
          <a:noFill/>
          <a:ln/>
        </p:spPr>
        <p:txBody>
          <a:bodyPr wrap="square" lIns="0" tIns="0" rIns="0" bIns="0" rtlCol="0" anchor="ctr"/>
          <a:lstStyle/>
          <a:p>
            <a:pPr marL="0" indent="0">
              <a:buNone/>
            </a:pPr>
            <a:r>
              <a:rPr lang="en-US" sz="950" dirty="0">
                <a:solidFill>
                  <a:srgbClr val="1A1A2E"/>
                </a:solidFill>
              </a:rPr>
              <a:t>Apply Linux acquisition techniques using dd, md5sum, split, mount, and netcat.</a:t>
            </a:r>
            <a:endParaRPr lang="en-US" sz="950" dirty="0"/>
          </a:p>
        </p:txBody>
      </p:sp>
      <p:sp>
        <p:nvSpPr>
          <p:cNvPr id="21" name="Shape 19"/>
          <p:cNvSpPr/>
          <p:nvPr/>
        </p:nvSpPr>
        <p:spPr>
          <a:xfrm>
            <a:off x="320040" y="3566160"/>
            <a:ext cx="4251960" cy="1024128"/>
          </a:xfrm>
          <a:prstGeom prst="rect">
            <a:avLst/>
          </a:prstGeom>
          <a:solidFill>
            <a:srgbClr val="EEF6FB"/>
          </a:solidFill>
          <a:ln w="12700">
            <a:solidFill>
              <a:srgbClr val="EEF6FB"/>
            </a:solidFill>
            <a:prstDash val="solid"/>
          </a:ln>
        </p:spPr>
        <p:txBody>
          <a:bodyPr/>
          <a:lstStyle/>
          <a:p>
            <a:endParaRPr lang="en-SG"/>
          </a:p>
        </p:txBody>
      </p:sp>
      <p:sp>
        <p:nvSpPr>
          <p:cNvPr id="22" name="Shape 20"/>
          <p:cNvSpPr/>
          <p:nvPr/>
        </p:nvSpPr>
        <p:spPr>
          <a:xfrm>
            <a:off x="320040" y="3566160"/>
            <a:ext cx="411480" cy="1024128"/>
          </a:xfrm>
          <a:prstGeom prst="rect">
            <a:avLst/>
          </a:prstGeom>
          <a:solidFill>
            <a:srgbClr val="A855F7"/>
          </a:solidFill>
          <a:ln w="12700">
            <a:solidFill>
              <a:srgbClr val="A855F7"/>
            </a:solidFill>
            <a:prstDash val="solid"/>
          </a:ln>
        </p:spPr>
        <p:txBody>
          <a:bodyPr/>
          <a:lstStyle/>
          <a:p>
            <a:endParaRPr lang="en-SG"/>
          </a:p>
        </p:txBody>
      </p:sp>
      <p:sp>
        <p:nvSpPr>
          <p:cNvPr id="23" name="Text 21"/>
          <p:cNvSpPr/>
          <p:nvPr/>
        </p:nvSpPr>
        <p:spPr>
          <a:xfrm>
            <a:off x="320040" y="3566160"/>
            <a:ext cx="411480" cy="1024128"/>
          </a:xfrm>
          <a:prstGeom prst="rect">
            <a:avLst/>
          </a:prstGeom>
          <a:noFill/>
          <a:ln/>
        </p:spPr>
        <p:txBody>
          <a:bodyPr wrap="square" lIns="0" tIns="0" rIns="0" bIns="0" rtlCol="0" anchor="ctr"/>
          <a:lstStyle/>
          <a:p>
            <a:pPr marL="0" indent="0" algn="ctr">
              <a:buNone/>
            </a:pPr>
            <a:r>
              <a:rPr lang="en-US" sz="1300" b="1" dirty="0">
                <a:solidFill>
                  <a:srgbClr val="0D1B2A"/>
                </a:solidFill>
              </a:rPr>
              <a:t>05</a:t>
            </a:r>
            <a:endParaRPr lang="en-US" sz="1300" dirty="0"/>
          </a:p>
        </p:txBody>
      </p:sp>
      <p:sp>
        <p:nvSpPr>
          <p:cNvPr id="24" name="Text 22"/>
          <p:cNvSpPr/>
          <p:nvPr/>
        </p:nvSpPr>
        <p:spPr>
          <a:xfrm>
            <a:off x="822960" y="3730752"/>
            <a:ext cx="3657600" cy="694944"/>
          </a:xfrm>
          <a:prstGeom prst="rect">
            <a:avLst/>
          </a:prstGeom>
          <a:noFill/>
          <a:ln/>
        </p:spPr>
        <p:txBody>
          <a:bodyPr wrap="square" lIns="0" tIns="0" rIns="0" bIns="0" rtlCol="0" anchor="ctr"/>
          <a:lstStyle/>
          <a:p>
            <a:pPr marL="0" indent="0">
              <a:buNone/>
            </a:pPr>
            <a:r>
              <a:rPr lang="en-US" sz="950" dirty="0">
                <a:solidFill>
                  <a:srgbClr val="1A1A2E"/>
                </a:solidFill>
              </a:rPr>
              <a:t>Explain data carving principles — using file signatures and hex analysis to recover files from raw images.</a:t>
            </a:r>
            <a:endParaRPr lang="en-US" sz="950" dirty="0"/>
          </a:p>
        </p:txBody>
      </p:sp>
      <p:sp>
        <p:nvSpPr>
          <p:cNvPr id="25" name="Shape 23"/>
          <p:cNvSpPr/>
          <p:nvPr/>
        </p:nvSpPr>
        <p:spPr>
          <a:xfrm>
            <a:off x="4754880" y="3566160"/>
            <a:ext cx="4251960" cy="1024128"/>
          </a:xfrm>
          <a:prstGeom prst="rect">
            <a:avLst/>
          </a:prstGeom>
          <a:solidFill>
            <a:srgbClr val="EEF6FB"/>
          </a:solidFill>
          <a:ln w="12700">
            <a:solidFill>
              <a:srgbClr val="EEF6FB"/>
            </a:solidFill>
            <a:prstDash val="solid"/>
          </a:ln>
        </p:spPr>
        <p:txBody>
          <a:bodyPr/>
          <a:lstStyle/>
          <a:p>
            <a:endParaRPr lang="en-SG"/>
          </a:p>
        </p:txBody>
      </p:sp>
      <p:sp>
        <p:nvSpPr>
          <p:cNvPr id="26" name="Shape 24"/>
          <p:cNvSpPr/>
          <p:nvPr/>
        </p:nvSpPr>
        <p:spPr>
          <a:xfrm>
            <a:off x="4754880" y="3566160"/>
            <a:ext cx="411480" cy="1024128"/>
          </a:xfrm>
          <a:prstGeom prst="rect">
            <a:avLst/>
          </a:prstGeom>
          <a:solidFill>
            <a:srgbClr val="48CAE4"/>
          </a:solidFill>
          <a:ln w="12700">
            <a:solidFill>
              <a:srgbClr val="48CAE4"/>
            </a:solidFill>
            <a:prstDash val="solid"/>
          </a:ln>
        </p:spPr>
        <p:txBody>
          <a:bodyPr/>
          <a:lstStyle/>
          <a:p>
            <a:endParaRPr lang="en-SG"/>
          </a:p>
        </p:txBody>
      </p:sp>
      <p:sp>
        <p:nvSpPr>
          <p:cNvPr id="27" name="Text 25"/>
          <p:cNvSpPr/>
          <p:nvPr/>
        </p:nvSpPr>
        <p:spPr>
          <a:xfrm>
            <a:off x="4754880" y="3566160"/>
            <a:ext cx="411480" cy="1024128"/>
          </a:xfrm>
          <a:prstGeom prst="rect">
            <a:avLst/>
          </a:prstGeom>
          <a:noFill/>
          <a:ln/>
        </p:spPr>
        <p:txBody>
          <a:bodyPr wrap="square" lIns="0" tIns="0" rIns="0" bIns="0" rtlCol="0" anchor="ctr"/>
          <a:lstStyle/>
          <a:p>
            <a:pPr marL="0" indent="0" algn="ctr">
              <a:buNone/>
            </a:pPr>
            <a:r>
              <a:rPr lang="en-US" sz="1300" b="1" dirty="0">
                <a:solidFill>
                  <a:srgbClr val="0D1B2A"/>
                </a:solidFill>
              </a:rPr>
              <a:t>06</a:t>
            </a:r>
            <a:endParaRPr lang="en-US" sz="1300" dirty="0"/>
          </a:p>
        </p:txBody>
      </p:sp>
      <p:sp>
        <p:nvSpPr>
          <p:cNvPr id="28" name="Text 26"/>
          <p:cNvSpPr/>
          <p:nvPr/>
        </p:nvSpPr>
        <p:spPr>
          <a:xfrm>
            <a:off x="5257800" y="3730752"/>
            <a:ext cx="3657600" cy="694944"/>
          </a:xfrm>
          <a:prstGeom prst="rect">
            <a:avLst/>
          </a:prstGeom>
          <a:noFill/>
          <a:ln/>
        </p:spPr>
        <p:txBody>
          <a:bodyPr wrap="square" lIns="0" tIns="0" rIns="0" bIns="0" rtlCol="0" anchor="ctr"/>
          <a:lstStyle/>
          <a:p>
            <a:pPr marL="0" indent="0">
              <a:buNone/>
            </a:pPr>
            <a:r>
              <a:rPr lang="en-US" sz="950" dirty="0">
                <a:solidFill>
                  <a:srgbClr val="1A1A2E"/>
                </a:solidFill>
              </a:rPr>
              <a:t>Describe validation methods including hashing (MD5, SHA-256) and the NSRL known-file database.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857707"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674827" cy="256032"/>
          </a:xfrm>
          <a:prstGeom prst="rect">
            <a:avLst/>
          </a:prstGeom>
          <a:noFill/>
          <a:ln/>
        </p:spPr>
        <p:txBody>
          <a:bodyPr wrap="square" lIns="0" tIns="0" rIns="0" bIns="0" rtlCol="0" anchor="ctr"/>
          <a:lstStyle/>
          <a:p>
            <a:pPr marL="0" indent="0">
              <a:buNone/>
            </a:pPr>
            <a:r>
              <a:rPr lang="en-US" sz="850" b="1" dirty="0">
                <a:solidFill>
                  <a:srgbClr val="0D1B2A"/>
                </a:solidFill>
              </a:rPr>
              <a:t>FRAMEWORK</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The Five Forensic Task Categories</a:t>
            </a:r>
            <a:endParaRPr lang="en-US" sz="2800" dirty="0"/>
          </a:p>
        </p:txBody>
      </p:sp>
      <p:sp>
        <p:nvSpPr>
          <p:cNvPr id="5" name="Shape 3"/>
          <p:cNvSpPr/>
          <p:nvPr/>
        </p:nvSpPr>
        <p:spPr>
          <a:xfrm>
            <a:off x="320040" y="1261872"/>
            <a:ext cx="1600200" cy="3493008"/>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61872"/>
            <a:ext cx="1600200" cy="91440"/>
          </a:xfrm>
          <a:prstGeom prst="rect">
            <a:avLst/>
          </a:prstGeom>
          <a:solidFill>
            <a:srgbClr val="00B4D8"/>
          </a:solidFill>
          <a:ln w="12700">
            <a:solidFill>
              <a:srgbClr val="00B4D8"/>
            </a:solidFill>
            <a:prstDash val="solid"/>
          </a:ln>
        </p:spPr>
        <p:txBody>
          <a:bodyPr/>
          <a:lstStyle/>
          <a:p>
            <a:endParaRPr lang="en-SG"/>
          </a:p>
        </p:txBody>
      </p:sp>
      <p:sp>
        <p:nvSpPr>
          <p:cNvPr id="7" name="Shape 5"/>
          <p:cNvSpPr/>
          <p:nvPr/>
        </p:nvSpPr>
        <p:spPr>
          <a:xfrm>
            <a:off x="822960" y="1426464"/>
            <a:ext cx="594360" cy="594360"/>
          </a:xfrm>
          <a:prstGeom prst="line">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822960" y="1426464"/>
            <a:ext cx="594360" cy="594360"/>
          </a:xfrm>
          <a:prstGeom prst="rect">
            <a:avLst/>
          </a:prstGeom>
          <a:noFill/>
          <a:ln/>
        </p:spPr>
        <p:txBody>
          <a:bodyPr wrap="square" lIns="0" tIns="0" rIns="0" bIns="0" rtlCol="0" anchor="ctr"/>
          <a:lstStyle/>
          <a:p>
            <a:pPr marL="0" indent="0" algn="ctr">
              <a:buNone/>
            </a:pPr>
            <a:r>
              <a:rPr lang="en-US" sz="1600" b="1" dirty="0">
                <a:solidFill>
                  <a:srgbClr val="0D1B2A"/>
                </a:solidFill>
              </a:rPr>
              <a:t>1</a:t>
            </a:r>
            <a:endParaRPr lang="en-US" sz="1600" dirty="0"/>
          </a:p>
        </p:txBody>
      </p:sp>
      <p:sp>
        <p:nvSpPr>
          <p:cNvPr id="9" name="Text 7"/>
          <p:cNvSpPr/>
          <p:nvPr/>
        </p:nvSpPr>
        <p:spPr>
          <a:xfrm>
            <a:off x="411480" y="2157984"/>
            <a:ext cx="141732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93192" y="2615184"/>
            <a:ext cx="1463040" cy="475488"/>
          </a:xfrm>
          <a:prstGeom prst="rect">
            <a:avLst/>
          </a:prstGeom>
          <a:noFill/>
          <a:ln/>
        </p:spPr>
        <p:txBody>
          <a:bodyPr wrap="square" lIns="0" tIns="0" rIns="0" bIns="0" rtlCol="0" anchor="ctr"/>
          <a:lstStyle/>
          <a:p>
            <a:pPr marL="0" indent="0" algn="ctr">
              <a:buNone/>
            </a:pPr>
            <a:r>
              <a:rPr lang="en-US" sz="1050" b="1" dirty="0">
                <a:solidFill>
                  <a:srgbClr val="00B4D8"/>
                </a:solidFill>
              </a:rPr>
              <a:t>Acquisition</a:t>
            </a:r>
            <a:endParaRPr lang="en-US" sz="1050" dirty="0"/>
          </a:p>
        </p:txBody>
      </p:sp>
      <p:sp>
        <p:nvSpPr>
          <p:cNvPr id="11" name="Text 9"/>
          <p:cNvSpPr/>
          <p:nvPr/>
        </p:nvSpPr>
        <p:spPr>
          <a:xfrm>
            <a:off x="411480" y="3145536"/>
            <a:ext cx="1417320" cy="1517904"/>
          </a:xfrm>
          <a:prstGeom prst="rect">
            <a:avLst/>
          </a:prstGeom>
          <a:noFill/>
          <a:ln/>
        </p:spPr>
        <p:txBody>
          <a:bodyPr wrap="square" lIns="0" tIns="0" rIns="0" bIns="0" rtlCol="0" anchor="ctr"/>
          <a:lstStyle/>
          <a:p>
            <a:pPr marL="0" indent="0" algn="ctr">
              <a:buNone/>
            </a:pPr>
            <a:r>
              <a:rPr lang="en-US" sz="800" dirty="0">
                <a:solidFill>
                  <a:srgbClr val="1A1A2E"/>
                </a:solidFill>
              </a:rPr>
              <a:t>Copying evidence from source media in a forensically sound manner without altering the original.</a:t>
            </a:r>
            <a:endParaRPr lang="en-US" sz="800" dirty="0"/>
          </a:p>
        </p:txBody>
      </p:sp>
      <p:sp>
        <p:nvSpPr>
          <p:cNvPr id="12" name="Text 10"/>
          <p:cNvSpPr/>
          <p:nvPr/>
        </p:nvSpPr>
        <p:spPr>
          <a:xfrm>
            <a:off x="1984248" y="2596896"/>
            <a:ext cx="182880" cy="201168"/>
          </a:xfrm>
          <a:prstGeom prst="rect">
            <a:avLst/>
          </a:prstGeom>
          <a:noFill/>
          <a:ln/>
        </p:spPr>
        <p:txBody>
          <a:bodyPr wrap="square" lIns="0" tIns="0" rIns="0" bIns="0" rtlCol="0" anchor="ctr"/>
          <a:lstStyle/>
          <a:p>
            <a:pPr marL="0" indent="0" algn="ctr">
              <a:buNone/>
            </a:pPr>
            <a:r>
              <a:rPr lang="en-US" sz="1400" dirty="0">
                <a:solidFill>
                  <a:srgbClr val="8899AA"/>
                </a:solidFill>
              </a:rPr>
              <a:t>›</a:t>
            </a:r>
            <a:endParaRPr lang="en-US" sz="1400" dirty="0"/>
          </a:p>
        </p:txBody>
      </p:sp>
      <p:sp>
        <p:nvSpPr>
          <p:cNvPr id="13" name="Shape 11"/>
          <p:cNvSpPr/>
          <p:nvPr/>
        </p:nvSpPr>
        <p:spPr>
          <a:xfrm>
            <a:off x="2057400" y="1261872"/>
            <a:ext cx="1600200" cy="3493008"/>
          </a:xfrm>
          <a:prstGeom prst="rect">
            <a:avLst/>
          </a:prstGeom>
          <a:solidFill>
            <a:srgbClr val="EEF6FB"/>
          </a:solidFill>
          <a:ln w="12700">
            <a:solidFill>
              <a:srgbClr val="EEF6FB"/>
            </a:solidFill>
            <a:prstDash val="solid"/>
          </a:ln>
        </p:spPr>
        <p:txBody>
          <a:bodyPr/>
          <a:lstStyle/>
          <a:p>
            <a:endParaRPr lang="en-SG"/>
          </a:p>
        </p:txBody>
      </p:sp>
      <p:sp>
        <p:nvSpPr>
          <p:cNvPr id="14" name="Shape 12"/>
          <p:cNvSpPr/>
          <p:nvPr/>
        </p:nvSpPr>
        <p:spPr>
          <a:xfrm>
            <a:off x="2057400" y="1261872"/>
            <a:ext cx="1600200" cy="91440"/>
          </a:xfrm>
          <a:prstGeom prst="rect">
            <a:avLst/>
          </a:prstGeom>
          <a:solidFill>
            <a:srgbClr val="F4A261"/>
          </a:solidFill>
          <a:ln w="12700">
            <a:solidFill>
              <a:srgbClr val="F4A261"/>
            </a:solidFill>
            <a:prstDash val="solid"/>
          </a:ln>
        </p:spPr>
        <p:txBody>
          <a:bodyPr/>
          <a:lstStyle/>
          <a:p>
            <a:endParaRPr lang="en-SG"/>
          </a:p>
        </p:txBody>
      </p:sp>
      <p:sp>
        <p:nvSpPr>
          <p:cNvPr id="15" name="Shape 13"/>
          <p:cNvSpPr/>
          <p:nvPr/>
        </p:nvSpPr>
        <p:spPr>
          <a:xfrm>
            <a:off x="2560320" y="1426464"/>
            <a:ext cx="594360" cy="594360"/>
          </a:xfrm>
          <a:prstGeom prst="line">
            <a:avLst/>
          </a:prstGeom>
          <a:solidFill>
            <a:srgbClr val="F4A261"/>
          </a:solidFill>
          <a:ln w="12700">
            <a:solidFill>
              <a:srgbClr val="F4A261"/>
            </a:solidFill>
            <a:prstDash val="solid"/>
          </a:ln>
        </p:spPr>
        <p:txBody>
          <a:bodyPr/>
          <a:lstStyle/>
          <a:p>
            <a:endParaRPr lang="en-SG"/>
          </a:p>
        </p:txBody>
      </p:sp>
      <p:sp>
        <p:nvSpPr>
          <p:cNvPr id="16" name="Text 14"/>
          <p:cNvSpPr/>
          <p:nvPr/>
        </p:nvSpPr>
        <p:spPr>
          <a:xfrm>
            <a:off x="2560320" y="1426464"/>
            <a:ext cx="594360" cy="594360"/>
          </a:xfrm>
          <a:prstGeom prst="rect">
            <a:avLst/>
          </a:prstGeom>
          <a:noFill/>
          <a:ln/>
        </p:spPr>
        <p:txBody>
          <a:bodyPr wrap="square" lIns="0" tIns="0" rIns="0" bIns="0" rtlCol="0" anchor="ctr"/>
          <a:lstStyle/>
          <a:p>
            <a:pPr marL="0" indent="0" algn="ctr">
              <a:buNone/>
            </a:pPr>
            <a:r>
              <a:rPr lang="en-US" sz="1600" b="1" dirty="0">
                <a:solidFill>
                  <a:srgbClr val="0D1B2A"/>
                </a:solidFill>
              </a:rPr>
              <a:t>2</a:t>
            </a:r>
            <a:endParaRPr lang="en-US" sz="1600" dirty="0"/>
          </a:p>
        </p:txBody>
      </p:sp>
      <p:sp>
        <p:nvSpPr>
          <p:cNvPr id="17" name="Text 15"/>
          <p:cNvSpPr/>
          <p:nvPr/>
        </p:nvSpPr>
        <p:spPr>
          <a:xfrm>
            <a:off x="2148840" y="2157984"/>
            <a:ext cx="141732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2130552" y="2615184"/>
            <a:ext cx="1463040" cy="475488"/>
          </a:xfrm>
          <a:prstGeom prst="rect">
            <a:avLst/>
          </a:prstGeom>
          <a:noFill/>
          <a:ln/>
        </p:spPr>
        <p:txBody>
          <a:bodyPr wrap="square" lIns="0" tIns="0" rIns="0" bIns="0" rtlCol="0" anchor="ctr"/>
          <a:lstStyle/>
          <a:p>
            <a:pPr marL="0" indent="0" algn="ctr">
              <a:buNone/>
            </a:pPr>
            <a:r>
              <a:rPr lang="en-US" sz="1050" b="1" dirty="0">
                <a:solidFill>
                  <a:srgbClr val="F4A261"/>
                </a:solidFill>
              </a:rPr>
              <a:t>Validation &amp;</a:t>
            </a:r>
            <a:endParaRPr lang="en-US" sz="1050" dirty="0"/>
          </a:p>
          <a:p>
            <a:pPr marL="0" indent="0" algn="ctr">
              <a:buNone/>
            </a:pPr>
            <a:r>
              <a:rPr lang="en-US" sz="1050" b="1" dirty="0">
                <a:solidFill>
                  <a:srgbClr val="F4A261"/>
                </a:solidFill>
              </a:rPr>
              <a:t>Discrimination</a:t>
            </a:r>
            <a:endParaRPr lang="en-US" sz="1050" dirty="0"/>
          </a:p>
        </p:txBody>
      </p:sp>
      <p:sp>
        <p:nvSpPr>
          <p:cNvPr id="19" name="Text 17"/>
          <p:cNvSpPr/>
          <p:nvPr/>
        </p:nvSpPr>
        <p:spPr>
          <a:xfrm>
            <a:off x="2148840" y="3145536"/>
            <a:ext cx="1417320" cy="1517904"/>
          </a:xfrm>
          <a:prstGeom prst="rect">
            <a:avLst/>
          </a:prstGeom>
          <a:noFill/>
          <a:ln/>
        </p:spPr>
        <p:txBody>
          <a:bodyPr wrap="square" lIns="0" tIns="0" rIns="0" bIns="0" rtlCol="0" anchor="ctr"/>
          <a:lstStyle/>
          <a:p>
            <a:pPr marL="0" indent="0" algn="ctr">
              <a:buNone/>
            </a:pPr>
            <a:r>
              <a:rPr lang="en-US" sz="800" dirty="0">
                <a:solidFill>
                  <a:srgbClr val="1A1A2E"/>
                </a:solidFill>
              </a:rPr>
              <a:t>Verifying data integrity via hashing; filtering known-good/known-bad files using NSRL.</a:t>
            </a:r>
            <a:endParaRPr lang="en-US" sz="800" dirty="0"/>
          </a:p>
        </p:txBody>
      </p:sp>
      <p:sp>
        <p:nvSpPr>
          <p:cNvPr id="20" name="Text 18"/>
          <p:cNvSpPr/>
          <p:nvPr/>
        </p:nvSpPr>
        <p:spPr>
          <a:xfrm>
            <a:off x="3721608" y="2596896"/>
            <a:ext cx="182880" cy="201168"/>
          </a:xfrm>
          <a:prstGeom prst="rect">
            <a:avLst/>
          </a:prstGeom>
          <a:noFill/>
          <a:ln/>
        </p:spPr>
        <p:txBody>
          <a:bodyPr wrap="square" lIns="0" tIns="0" rIns="0" bIns="0" rtlCol="0" anchor="ctr"/>
          <a:lstStyle/>
          <a:p>
            <a:pPr marL="0" indent="0" algn="ctr">
              <a:buNone/>
            </a:pPr>
            <a:r>
              <a:rPr lang="en-US" sz="1400" dirty="0">
                <a:solidFill>
                  <a:srgbClr val="8899AA"/>
                </a:solidFill>
              </a:rPr>
              <a:t>›</a:t>
            </a:r>
            <a:endParaRPr lang="en-US" sz="1400" dirty="0"/>
          </a:p>
        </p:txBody>
      </p:sp>
      <p:sp>
        <p:nvSpPr>
          <p:cNvPr id="21" name="Shape 19"/>
          <p:cNvSpPr/>
          <p:nvPr/>
        </p:nvSpPr>
        <p:spPr>
          <a:xfrm>
            <a:off x="3794760" y="1261872"/>
            <a:ext cx="1600200" cy="3493008"/>
          </a:xfrm>
          <a:prstGeom prst="rect">
            <a:avLst/>
          </a:prstGeom>
          <a:solidFill>
            <a:srgbClr val="EEF6FB"/>
          </a:solidFill>
          <a:ln w="12700">
            <a:solidFill>
              <a:srgbClr val="EEF6FB"/>
            </a:solidFill>
            <a:prstDash val="solid"/>
          </a:ln>
        </p:spPr>
        <p:txBody>
          <a:bodyPr/>
          <a:lstStyle/>
          <a:p>
            <a:endParaRPr lang="en-SG"/>
          </a:p>
        </p:txBody>
      </p:sp>
      <p:sp>
        <p:nvSpPr>
          <p:cNvPr id="22" name="Shape 20"/>
          <p:cNvSpPr/>
          <p:nvPr/>
        </p:nvSpPr>
        <p:spPr>
          <a:xfrm>
            <a:off x="3794760" y="1261872"/>
            <a:ext cx="1600200" cy="91440"/>
          </a:xfrm>
          <a:prstGeom prst="rect">
            <a:avLst/>
          </a:prstGeom>
          <a:solidFill>
            <a:srgbClr val="2ECC71"/>
          </a:solidFill>
          <a:ln w="12700">
            <a:solidFill>
              <a:srgbClr val="2ECC71"/>
            </a:solidFill>
            <a:prstDash val="solid"/>
          </a:ln>
        </p:spPr>
        <p:txBody>
          <a:bodyPr/>
          <a:lstStyle/>
          <a:p>
            <a:endParaRPr lang="en-SG"/>
          </a:p>
        </p:txBody>
      </p:sp>
      <p:sp>
        <p:nvSpPr>
          <p:cNvPr id="23" name="Shape 21"/>
          <p:cNvSpPr/>
          <p:nvPr/>
        </p:nvSpPr>
        <p:spPr>
          <a:xfrm>
            <a:off x="4297680" y="1426464"/>
            <a:ext cx="594360" cy="594360"/>
          </a:xfrm>
          <a:prstGeom prst="line">
            <a:avLst/>
          </a:prstGeom>
          <a:solidFill>
            <a:srgbClr val="2ECC71"/>
          </a:solidFill>
          <a:ln w="12700">
            <a:solidFill>
              <a:srgbClr val="2ECC71"/>
            </a:solidFill>
            <a:prstDash val="solid"/>
          </a:ln>
        </p:spPr>
        <p:txBody>
          <a:bodyPr/>
          <a:lstStyle/>
          <a:p>
            <a:endParaRPr lang="en-SG"/>
          </a:p>
        </p:txBody>
      </p:sp>
      <p:sp>
        <p:nvSpPr>
          <p:cNvPr id="24" name="Text 22"/>
          <p:cNvSpPr/>
          <p:nvPr/>
        </p:nvSpPr>
        <p:spPr>
          <a:xfrm>
            <a:off x="4297680" y="1426464"/>
            <a:ext cx="594360" cy="594360"/>
          </a:xfrm>
          <a:prstGeom prst="rect">
            <a:avLst/>
          </a:prstGeom>
          <a:noFill/>
          <a:ln/>
        </p:spPr>
        <p:txBody>
          <a:bodyPr wrap="square" lIns="0" tIns="0" rIns="0" bIns="0" rtlCol="0" anchor="ctr"/>
          <a:lstStyle/>
          <a:p>
            <a:pPr marL="0" indent="0" algn="ctr">
              <a:buNone/>
            </a:pPr>
            <a:r>
              <a:rPr lang="en-US" sz="1600" b="1" dirty="0">
                <a:solidFill>
                  <a:srgbClr val="0D1B2A"/>
                </a:solidFill>
              </a:rPr>
              <a:t>3</a:t>
            </a:r>
            <a:endParaRPr lang="en-US" sz="1600" dirty="0"/>
          </a:p>
        </p:txBody>
      </p:sp>
      <p:sp>
        <p:nvSpPr>
          <p:cNvPr id="25" name="Text 23"/>
          <p:cNvSpPr/>
          <p:nvPr/>
        </p:nvSpPr>
        <p:spPr>
          <a:xfrm>
            <a:off x="3886200" y="2157984"/>
            <a:ext cx="141732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3867912" y="2615184"/>
            <a:ext cx="1463040" cy="475488"/>
          </a:xfrm>
          <a:prstGeom prst="rect">
            <a:avLst/>
          </a:prstGeom>
          <a:noFill/>
          <a:ln/>
        </p:spPr>
        <p:txBody>
          <a:bodyPr wrap="square" lIns="0" tIns="0" rIns="0" bIns="0" rtlCol="0" anchor="ctr"/>
          <a:lstStyle/>
          <a:p>
            <a:pPr marL="0" indent="0" algn="ctr">
              <a:buNone/>
            </a:pPr>
            <a:r>
              <a:rPr lang="en-US" sz="1050" b="1" dirty="0">
                <a:solidFill>
                  <a:srgbClr val="2ECC71"/>
                </a:solidFill>
              </a:rPr>
              <a:t>Extraction</a:t>
            </a:r>
            <a:endParaRPr lang="en-US" sz="1050" dirty="0"/>
          </a:p>
        </p:txBody>
      </p:sp>
      <p:sp>
        <p:nvSpPr>
          <p:cNvPr id="27" name="Text 25"/>
          <p:cNvSpPr/>
          <p:nvPr/>
        </p:nvSpPr>
        <p:spPr>
          <a:xfrm>
            <a:off x="3886200" y="3145536"/>
            <a:ext cx="1417320" cy="1517904"/>
          </a:xfrm>
          <a:prstGeom prst="rect">
            <a:avLst/>
          </a:prstGeom>
          <a:noFill/>
          <a:ln/>
        </p:spPr>
        <p:txBody>
          <a:bodyPr wrap="square" lIns="0" tIns="0" rIns="0" bIns="0" rtlCol="0" anchor="ctr"/>
          <a:lstStyle/>
          <a:p>
            <a:pPr marL="0" indent="0" algn="ctr">
              <a:buNone/>
            </a:pPr>
            <a:r>
              <a:rPr lang="en-US" sz="800" dirty="0">
                <a:solidFill>
                  <a:srgbClr val="1A1A2E"/>
                </a:solidFill>
              </a:rPr>
              <a:t>Recovering data: keyword search, decompression, carving, decryption, bookmarking.</a:t>
            </a:r>
            <a:endParaRPr lang="en-US" sz="800" dirty="0"/>
          </a:p>
        </p:txBody>
      </p:sp>
      <p:sp>
        <p:nvSpPr>
          <p:cNvPr id="28" name="Text 26"/>
          <p:cNvSpPr/>
          <p:nvPr/>
        </p:nvSpPr>
        <p:spPr>
          <a:xfrm>
            <a:off x="5458968" y="2596896"/>
            <a:ext cx="182880" cy="201168"/>
          </a:xfrm>
          <a:prstGeom prst="rect">
            <a:avLst/>
          </a:prstGeom>
          <a:noFill/>
          <a:ln/>
        </p:spPr>
        <p:txBody>
          <a:bodyPr wrap="square" lIns="0" tIns="0" rIns="0" bIns="0" rtlCol="0" anchor="ctr"/>
          <a:lstStyle/>
          <a:p>
            <a:pPr marL="0" indent="0" algn="ctr">
              <a:buNone/>
            </a:pPr>
            <a:r>
              <a:rPr lang="en-US" sz="1400" dirty="0">
                <a:solidFill>
                  <a:srgbClr val="8899AA"/>
                </a:solidFill>
              </a:rPr>
              <a:t>›</a:t>
            </a:r>
            <a:endParaRPr lang="en-US" sz="1400" dirty="0"/>
          </a:p>
        </p:txBody>
      </p:sp>
      <p:sp>
        <p:nvSpPr>
          <p:cNvPr id="29" name="Shape 27"/>
          <p:cNvSpPr/>
          <p:nvPr/>
        </p:nvSpPr>
        <p:spPr>
          <a:xfrm>
            <a:off x="5532120" y="1261872"/>
            <a:ext cx="1600200" cy="3493008"/>
          </a:xfrm>
          <a:prstGeom prst="rect">
            <a:avLst/>
          </a:prstGeom>
          <a:solidFill>
            <a:srgbClr val="EEF6FB"/>
          </a:solidFill>
          <a:ln w="12700">
            <a:solidFill>
              <a:srgbClr val="EEF6FB"/>
            </a:solidFill>
            <a:prstDash val="solid"/>
          </a:ln>
        </p:spPr>
        <p:txBody>
          <a:bodyPr/>
          <a:lstStyle/>
          <a:p>
            <a:endParaRPr lang="en-SG"/>
          </a:p>
        </p:txBody>
      </p:sp>
      <p:sp>
        <p:nvSpPr>
          <p:cNvPr id="30" name="Shape 28"/>
          <p:cNvSpPr/>
          <p:nvPr/>
        </p:nvSpPr>
        <p:spPr>
          <a:xfrm>
            <a:off x="5532120" y="1261872"/>
            <a:ext cx="1600200" cy="91440"/>
          </a:xfrm>
          <a:prstGeom prst="rect">
            <a:avLst/>
          </a:prstGeom>
          <a:solidFill>
            <a:srgbClr val="F1C40F"/>
          </a:solidFill>
          <a:ln w="12700">
            <a:solidFill>
              <a:srgbClr val="F1C40F"/>
            </a:solidFill>
            <a:prstDash val="solid"/>
          </a:ln>
        </p:spPr>
        <p:txBody>
          <a:bodyPr/>
          <a:lstStyle/>
          <a:p>
            <a:endParaRPr lang="en-SG"/>
          </a:p>
        </p:txBody>
      </p:sp>
      <p:sp>
        <p:nvSpPr>
          <p:cNvPr id="31" name="Shape 29"/>
          <p:cNvSpPr/>
          <p:nvPr/>
        </p:nvSpPr>
        <p:spPr>
          <a:xfrm>
            <a:off x="6035040" y="1426464"/>
            <a:ext cx="594360" cy="594360"/>
          </a:xfrm>
          <a:prstGeom prst="line">
            <a:avLst/>
          </a:prstGeom>
          <a:solidFill>
            <a:srgbClr val="F1C40F"/>
          </a:solidFill>
          <a:ln w="12700">
            <a:solidFill>
              <a:srgbClr val="F1C40F"/>
            </a:solidFill>
            <a:prstDash val="solid"/>
          </a:ln>
        </p:spPr>
        <p:txBody>
          <a:bodyPr/>
          <a:lstStyle/>
          <a:p>
            <a:endParaRPr lang="en-SG"/>
          </a:p>
        </p:txBody>
      </p:sp>
      <p:sp>
        <p:nvSpPr>
          <p:cNvPr id="32" name="Text 30"/>
          <p:cNvSpPr/>
          <p:nvPr/>
        </p:nvSpPr>
        <p:spPr>
          <a:xfrm>
            <a:off x="6035040" y="1426464"/>
            <a:ext cx="594360" cy="594360"/>
          </a:xfrm>
          <a:prstGeom prst="rect">
            <a:avLst/>
          </a:prstGeom>
          <a:noFill/>
          <a:ln/>
        </p:spPr>
        <p:txBody>
          <a:bodyPr wrap="square" lIns="0" tIns="0" rIns="0" bIns="0" rtlCol="0" anchor="ctr"/>
          <a:lstStyle/>
          <a:p>
            <a:pPr marL="0" indent="0" algn="ctr">
              <a:buNone/>
            </a:pPr>
            <a:r>
              <a:rPr lang="en-US" sz="1600" b="1" dirty="0">
                <a:solidFill>
                  <a:srgbClr val="0D1B2A"/>
                </a:solidFill>
              </a:rPr>
              <a:t>4</a:t>
            </a:r>
            <a:endParaRPr lang="en-US" sz="1600" dirty="0"/>
          </a:p>
        </p:txBody>
      </p:sp>
      <p:sp>
        <p:nvSpPr>
          <p:cNvPr id="33" name="Text 31"/>
          <p:cNvSpPr/>
          <p:nvPr/>
        </p:nvSpPr>
        <p:spPr>
          <a:xfrm>
            <a:off x="5623560" y="2157984"/>
            <a:ext cx="141732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4" name="Text 32"/>
          <p:cNvSpPr/>
          <p:nvPr/>
        </p:nvSpPr>
        <p:spPr>
          <a:xfrm>
            <a:off x="5605272" y="2615184"/>
            <a:ext cx="1463040" cy="475488"/>
          </a:xfrm>
          <a:prstGeom prst="rect">
            <a:avLst/>
          </a:prstGeom>
          <a:noFill/>
          <a:ln/>
        </p:spPr>
        <p:txBody>
          <a:bodyPr wrap="square" lIns="0" tIns="0" rIns="0" bIns="0" rtlCol="0" anchor="ctr"/>
          <a:lstStyle/>
          <a:p>
            <a:pPr marL="0" indent="0" algn="ctr">
              <a:buNone/>
            </a:pPr>
            <a:r>
              <a:rPr lang="en-US" sz="1050" b="1" dirty="0">
                <a:solidFill>
                  <a:srgbClr val="F1C40F"/>
                </a:solidFill>
              </a:rPr>
              <a:t>Reconstruction</a:t>
            </a:r>
            <a:endParaRPr lang="en-US" sz="1050" dirty="0"/>
          </a:p>
        </p:txBody>
      </p:sp>
      <p:sp>
        <p:nvSpPr>
          <p:cNvPr id="35" name="Text 33"/>
          <p:cNvSpPr/>
          <p:nvPr/>
        </p:nvSpPr>
        <p:spPr>
          <a:xfrm>
            <a:off x="5623560" y="3145536"/>
            <a:ext cx="1417320" cy="1517904"/>
          </a:xfrm>
          <a:prstGeom prst="rect">
            <a:avLst/>
          </a:prstGeom>
          <a:noFill/>
          <a:ln/>
        </p:spPr>
        <p:txBody>
          <a:bodyPr wrap="square" lIns="0" tIns="0" rIns="0" bIns="0" rtlCol="0" anchor="ctr"/>
          <a:lstStyle/>
          <a:p>
            <a:pPr marL="0" indent="0" algn="ctr">
              <a:buNone/>
            </a:pPr>
            <a:r>
              <a:rPr lang="en-US" sz="800" dirty="0">
                <a:solidFill>
                  <a:srgbClr val="1A1A2E"/>
                </a:solidFill>
              </a:rPr>
              <a:t>Re-creating a suspect drive image to establish a timeline of events during an incident.</a:t>
            </a:r>
            <a:endParaRPr lang="en-US" sz="800" dirty="0"/>
          </a:p>
        </p:txBody>
      </p:sp>
      <p:sp>
        <p:nvSpPr>
          <p:cNvPr id="36" name="Text 34"/>
          <p:cNvSpPr/>
          <p:nvPr/>
        </p:nvSpPr>
        <p:spPr>
          <a:xfrm>
            <a:off x="7196328" y="2596896"/>
            <a:ext cx="182880" cy="201168"/>
          </a:xfrm>
          <a:prstGeom prst="rect">
            <a:avLst/>
          </a:prstGeom>
          <a:noFill/>
          <a:ln/>
        </p:spPr>
        <p:txBody>
          <a:bodyPr wrap="square" lIns="0" tIns="0" rIns="0" bIns="0" rtlCol="0" anchor="ctr"/>
          <a:lstStyle/>
          <a:p>
            <a:pPr marL="0" indent="0" algn="ctr">
              <a:buNone/>
            </a:pPr>
            <a:r>
              <a:rPr lang="en-US" sz="1400" dirty="0">
                <a:solidFill>
                  <a:srgbClr val="8899AA"/>
                </a:solidFill>
              </a:rPr>
              <a:t>›</a:t>
            </a:r>
            <a:endParaRPr lang="en-US" sz="1400" dirty="0"/>
          </a:p>
        </p:txBody>
      </p:sp>
      <p:sp>
        <p:nvSpPr>
          <p:cNvPr id="37" name="Shape 35"/>
          <p:cNvSpPr/>
          <p:nvPr/>
        </p:nvSpPr>
        <p:spPr>
          <a:xfrm>
            <a:off x="7269480" y="1261872"/>
            <a:ext cx="1600200" cy="3493008"/>
          </a:xfrm>
          <a:prstGeom prst="rect">
            <a:avLst/>
          </a:prstGeom>
          <a:solidFill>
            <a:srgbClr val="EEF6FB"/>
          </a:solidFill>
          <a:ln w="12700">
            <a:solidFill>
              <a:srgbClr val="EEF6FB"/>
            </a:solidFill>
            <a:prstDash val="solid"/>
          </a:ln>
        </p:spPr>
        <p:txBody>
          <a:bodyPr/>
          <a:lstStyle/>
          <a:p>
            <a:endParaRPr lang="en-SG"/>
          </a:p>
        </p:txBody>
      </p:sp>
      <p:sp>
        <p:nvSpPr>
          <p:cNvPr id="38" name="Shape 36"/>
          <p:cNvSpPr/>
          <p:nvPr/>
        </p:nvSpPr>
        <p:spPr>
          <a:xfrm>
            <a:off x="7269480" y="1261872"/>
            <a:ext cx="1600200" cy="91440"/>
          </a:xfrm>
          <a:prstGeom prst="rect">
            <a:avLst/>
          </a:prstGeom>
          <a:solidFill>
            <a:srgbClr val="48CAE4"/>
          </a:solidFill>
          <a:ln w="12700">
            <a:solidFill>
              <a:srgbClr val="48CAE4"/>
            </a:solidFill>
            <a:prstDash val="solid"/>
          </a:ln>
        </p:spPr>
        <p:txBody>
          <a:bodyPr/>
          <a:lstStyle/>
          <a:p>
            <a:endParaRPr lang="en-SG"/>
          </a:p>
        </p:txBody>
      </p:sp>
      <p:sp>
        <p:nvSpPr>
          <p:cNvPr id="39" name="Shape 37"/>
          <p:cNvSpPr/>
          <p:nvPr/>
        </p:nvSpPr>
        <p:spPr>
          <a:xfrm>
            <a:off x="7772400" y="1426464"/>
            <a:ext cx="594360" cy="594360"/>
          </a:xfrm>
          <a:prstGeom prst="line">
            <a:avLst/>
          </a:prstGeom>
          <a:solidFill>
            <a:srgbClr val="48CAE4"/>
          </a:solidFill>
          <a:ln w="12700">
            <a:solidFill>
              <a:srgbClr val="48CAE4"/>
            </a:solidFill>
            <a:prstDash val="solid"/>
          </a:ln>
        </p:spPr>
        <p:txBody>
          <a:bodyPr/>
          <a:lstStyle/>
          <a:p>
            <a:endParaRPr lang="en-SG"/>
          </a:p>
        </p:txBody>
      </p:sp>
      <p:sp>
        <p:nvSpPr>
          <p:cNvPr id="40" name="Text 38"/>
          <p:cNvSpPr/>
          <p:nvPr/>
        </p:nvSpPr>
        <p:spPr>
          <a:xfrm>
            <a:off x="7772400" y="1426464"/>
            <a:ext cx="594360" cy="594360"/>
          </a:xfrm>
          <a:prstGeom prst="rect">
            <a:avLst/>
          </a:prstGeom>
          <a:noFill/>
          <a:ln/>
        </p:spPr>
        <p:txBody>
          <a:bodyPr wrap="square" lIns="0" tIns="0" rIns="0" bIns="0" rtlCol="0" anchor="ctr"/>
          <a:lstStyle/>
          <a:p>
            <a:pPr marL="0" indent="0" algn="ctr">
              <a:buNone/>
            </a:pPr>
            <a:r>
              <a:rPr lang="en-US" sz="1600" b="1" dirty="0">
                <a:solidFill>
                  <a:srgbClr val="0D1B2A"/>
                </a:solidFill>
              </a:rPr>
              <a:t>5</a:t>
            </a:r>
            <a:endParaRPr lang="en-US" sz="1600" dirty="0"/>
          </a:p>
        </p:txBody>
      </p:sp>
      <p:sp>
        <p:nvSpPr>
          <p:cNvPr id="41" name="Text 39"/>
          <p:cNvSpPr/>
          <p:nvPr/>
        </p:nvSpPr>
        <p:spPr>
          <a:xfrm>
            <a:off x="7360920" y="2157984"/>
            <a:ext cx="1417320" cy="4114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42" name="Text 40"/>
          <p:cNvSpPr/>
          <p:nvPr/>
        </p:nvSpPr>
        <p:spPr>
          <a:xfrm>
            <a:off x="7342632" y="2615184"/>
            <a:ext cx="1463040" cy="475488"/>
          </a:xfrm>
          <a:prstGeom prst="rect">
            <a:avLst/>
          </a:prstGeom>
          <a:noFill/>
          <a:ln/>
        </p:spPr>
        <p:txBody>
          <a:bodyPr wrap="square" lIns="0" tIns="0" rIns="0" bIns="0" rtlCol="0" anchor="ctr"/>
          <a:lstStyle/>
          <a:p>
            <a:pPr marL="0" indent="0" algn="ctr">
              <a:buNone/>
            </a:pPr>
            <a:r>
              <a:rPr lang="en-US" sz="1050" b="1" dirty="0">
                <a:solidFill>
                  <a:srgbClr val="48CAE4"/>
                </a:solidFill>
              </a:rPr>
              <a:t>Reporting</a:t>
            </a:r>
            <a:endParaRPr lang="en-US" sz="1050" dirty="0"/>
          </a:p>
        </p:txBody>
      </p:sp>
      <p:sp>
        <p:nvSpPr>
          <p:cNvPr id="43" name="Text 41"/>
          <p:cNvSpPr/>
          <p:nvPr/>
        </p:nvSpPr>
        <p:spPr>
          <a:xfrm>
            <a:off x="7360920" y="3145536"/>
            <a:ext cx="1417320" cy="1517904"/>
          </a:xfrm>
          <a:prstGeom prst="rect">
            <a:avLst/>
          </a:prstGeom>
          <a:noFill/>
          <a:ln/>
        </p:spPr>
        <p:txBody>
          <a:bodyPr wrap="square" lIns="0" tIns="0" rIns="0" bIns="0" rtlCol="0" anchor="ctr"/>
          <a:lstStyle/>
          <a:p>
            <a:pPr marL="0" indent="0" algn="ctr">
              <a:buNone/>
            </a:pPr>
            <a:r>
              <a:rPr lang="en-US" sz="800" dirty="0">
                <a:solidFill>
                  <a:srgbClr val="1A1A2E"/>
                </a:solidFill>
              </a:rPr>
              <a:t>Producing comprehensive, court-ready logs and reports summarising findings and methodology.</a:t>
            </a:r>
            <a:endParaRPr lang="en-US" sz="800" dirty="0"/>
          </a:p>
        </p:txBody>
      </p:sp>
      <p:sp>
        <p:nvSpPr>
          <p:cNvPr id="44" name="Text 42"/>
          <p:cNvSpPr/>
          <p:nvPr/>
        </p:nvSpPr>
        <p:spPr>
          <a:xfrm>
            <a:off x="320040" y="4754880"/>
            <a:ext cx="8503920" cy="201168"/>
          </a:xfrm>
          <a:prstGeom prst="rect">
            <a:avLst/>
          </a:prstGeom>
          <a:noFill/>
          <a:ln/>
        </p:spPr>
        <p:txBody>
          <a:bodyPr wrap="square" lIns="0" tIns="0" rIns="0" bIns="0" rtlCol="0" anchor="ctr"/>
          <a:lstStyle/>
          <a:p>
            <a:pPr marL="0" indent="0">
              <a:buNone/>
            </a:pPr>
            <a:r>
              <a:rPr lang="en-US" sz="850" i="1" dirty="0">
                <a:solidFill>
                  <a:srgbClr val="8899AA"/>
                </a:solidFill>
              </a:rPr>
              <a:t>Every forensic investigation must move through all five phases — each phase depends on the integrity of the one before it.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682496"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499616" cy="256032"/>
          </a:xfrm>
          <a:prstGeom prst="rect">
            <a:avLst/>
          </a:prstGeom>
          <a:noFill/>
          <a:ln/>
        </p:spPr>
        <p:txBody>
          <a:bodyPr wrap="square" lIns="0" tIns="0" rIns="0" bIns="0" rtlCol="0" anchor="ctr"/>
          <a:lstStyle/>
          <a:p>
            <a:pPr marL="0" indent="0">
              <a:buNone/>
            </a:pPr>
            <a:r>
              <a:rPr lang="en-US" sz="850" b="1" dirty="0">
                <a:solidFill>
                  <a:srgbClr val="0D1B2A"/>
                </a:solidFill>
              </a:rPr>
              <a:t>TASK 1 · ACQUISITION</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Data Acquisition: Formats &amp; Copying Methods</a:t>
            </a:r>
            <a:endParaRPr lang="en-US" sz="2800" dirty="0"/>
          </a:p>
        </p:txBody>
      </p:sp>
      <p:sp>
        <p:nvSpPr>
          <p:cNvPr id="5" name="Shape 3"/>
          <p:cNvSpPr/>
          <p:nvPr/>
        </p:nvSpPr>
        <p:spPr>
          <a:xfrm>
            <a:off x="320040" y="1261872"/>
            <a:ext cx="4160520" cy="3547872"/>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61872"/>
            <a:ext cx="4160520" cy="91440"/>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57200" y="1389888"/>
            <a:ext cx="3840480" cy="347472"/>
          </a:xfrm>
          <a:prstGeom prst="rect">
            <a:avLst/>
          </a:prstGeom>
          <a:noFill/>
          <a:ln/>
        </p:spPr>
        <p:txBody>
          <a:bodyPr wrap="square" lIns="0" tIns="0" rIns="0" bIns="0" rtlCol="0" anchor="ctr"/>
          <a:lstStyle/>
          <a:p>
            <a:pPr marL="0" indent="0">
              <a:buNone/>
            </a:pPr>
            <a:r>
              <a:rPr lang="en-US" sz="1400" b="1" dirty="0">
                <a:solidFill>
                  <a:srgbClr val="00B4D8"/>
                </a:solidFill>
              </a:rPr>
              <a:t>💾  Two Copying Methods</a:t>
            </a:r>
            <a:endParaRPr lang="en-US" sz="1400" dirty="0"/>
          </a:p>
        </p:txBody>
      </p:sp>
      <p:sp>
        <p:nvSpPr>
          <p:cNvPr id="8" name="Shape 6"/>
          <p:cNvSpPr/>
          <p:nvPr/>
        </p:nvSpPr>
        <p:spPr>
          <a:xfrm>
            <a:off x="411480" y="1847088"/>
            <a:ext cx="3977640" cy="1243584"/>
          </a:xfrm>
          <a:prstGeom prst="rect">
            <a:avLst/>
          </a:prstGeom>
          <a:solidFill>
            <a:srgbClr val="FFFFFF"/>
          </a:solidFill>
          <a:ln w="6350">
            <a:solidFill>
              <a:srgbClr val="00B4D8"/>
            </a:solidFill>
            <a:prstDash val="solid"/>
          </a:ln>
        </p:spPr>
        <p:txBody>
          <a:bodyPr/>
          <a:lstStyle/>
          <a:p>
            <a:endParaRPr lang="en-SG"/>
          </a:p>
        </p:txBody>
      </p:sp>
      <p:sp>
        <p:nvSpPr>
          <p:cNvPr id="9" name="Text 7"/>
          <p:cNvSpPr/>
          <p:nvPr/>
        </p:nvSpPr>
        <p:spPr>
          <a:xfrm>
            <a:off x="530352" y="1938528"/>
            <a:ext cx="3749040" cy="274320"/>
          </a:xfrm>
          <a:prstGeom prst="rect">
            <a:avLst/>
          </a:prstGeom>
          <a:noFill/>
          <a:ln/>
        </p:spPr>
        <p:txBody>
          <a:bodyPr wrap="square" lIns="0" tIns="0" rIns="0" bIns="0" rtlCol="0" anchor="ctr"/>
          <a:lstStyle/>
          <a:p>
            <a:pPr marL="0" indent="0">
              <a:buNone/>
            </a:pPr>
            <a:r>
              <a:rPr lang="en-US" sz="1150" b="1" dirty="0">
                <a:solidFill>
                  <a:srgbClr val="1A1A2E"/>
                </a:solidFill>
              </a:rPr>
              <a:t>🖥️ Physical Copy</a:t>
            </a:r>
            <a:endParaRPr lang="en-US" sz="1150" dirty="0"/>
          </a:p>
        </p:txBody>
      </p:sp>
      <p:sp>
        <p:nvSpPr>
          <p:cNvPr id="10" name="Text 8"/>
          <p:cNvSpPr/>
          <p:nvPr/>
        </p:nvSpPr>
        <p:spPr>
          <a:xfrm>
            <a:off x="530352" y="2267712"/>
            <a:ext cx="3749040" cy="749808"/>
          </a:xfrm>
          <a:prstGeom prst="rect">
            <a:avLst/>
          </a:prstGeom>
          <a:noFill/>
          <a:ln/>
        </p:spPr>
        <p:txBody>
          <a:bodyPr wrap="square" lIns="0" tIns="0" rIns="0" bIns="0" rtlCol="0" anchor="ctr"/>
          <a:lstStyle/>
          <a:p>
            <a:pPr marL="0" indent="0">
              <a:buNone/>
            </a:pPr>
            <a:r>
              <a:rPr lang="en-US" sz="900" dirty="0">
                <a:solidFill>
                  <a:srgbClr val="1A1A2E"/>
                </a:solidFill>
              </a:rPr>
              <a:t>Copies every sector of the entire drive — including deleted files, slack space, unallocated space, and hidden partitions. Produces a bit-for-bit replica. Required for most criminal investigations.</a:t>
            </a:r>
            <a:endParaRPr lang="en-US" sz="900" dirty="0"/>
          </a:p>
        </p:txBody>
      </p:sp>
      <p:sp>
        <p:nvSpPr>
          <p:cNvPr id="11" name="Shape 9"/>
          <p:cNvSpPr/>
          <p:nvPr/>
        </p:nvSpPr>
        <p:spPr>
          <a:xfrm>
            <a:off x="411480" y="3236976"/>
            <a:ext cx="3977640" cy="1243584"/>
          </a:xfrm>
          <a:prstGeom prst="rect">
            <a:avLst/>
          </a:prstGeom>
          <a:solidFill>
            <a:srgbClr val="FFFFFF"/>
          </a:solidFill>
          <a:ln w="6350">
            <a:solidFill>
              <a:srgbClr val="00B4D8"/>
            </a:solidFill>
            <a:prstDash val="solid"/>
          </a:ln>
        </p:spPr>
        <p:txBody>
          <a:bodyPr/>
          <a:lstStyle/>
          <a:p>
            <a:endParaRPr lang="en-SG"/>
          </a:p>
        </p:txBody>
      </p:sp>
      <p:sp>
        <p:nvSpPr>
          <p:cNvPr id="12" name="Text 10"/>
          <p:cNvSpPr/>
          <p:nvPr/>
        </p:nvSpPr>
        <p:spPr>
          <a:xfrm>
            <a:off x="530352" y="3328416"/>
            <a:ext cx="3749040" cy="274320"/>
          </a:xfrm>
          <a:prstGeom prst="rect">
            <a:avLst/>
          </a:prstGeom>
          <a:noFill/>
          <a:ln/>
        </p:spPr>
        <p:txBody>
          <a:bodyPr wrap="square" lIns="0" tIns="0" rIns="0" bIns="0" rtlCol="0" anchor="ctr"/>
          <a:lstStyle/>
          <a:p>
            <a:pPr marL="0" indent="0">
              <a:buNone/>
            </a:pPr>
            <a:r>
              <a:rPr lang="en-US" sz="1150" b="1" dirty="0">
                <a:solidFill>
                  <a:srgbClr val="1A1A2E"/>
                </a:solidFill>
              </a:rPr>
              <a:t>📁 Logical Copy</a:t>
            </a:r>
            <a:endParaRPr lang="en-US" sz="1150" dirty="0"/>
          </a:p>
        </p:txBody>
      </p:sp>
      <p:sp>
        <p:nvSpPr>
          <p:cNvPr id="13" name="Text 11"/>
          <p:cNvSpPr/>
          <p:nvPr/>
        </p:nvSpPr>
        <p:spPr>
          <a:xfrm>
            <a:off x="530352" y="3657600"/>
            <a:ext cx="3749040" cy="749808"/>
          </a:xfrm>
          <a:prstGeom prst="rect">
            <a:avLst/>
          </a:prstGeom>
          <a:noFill/>
          <a:ln/>
        </p:spPr>
        <p:txBody>
          <a:bodyPr wrap="square" lIns="0" tIns="0" rIns="0" bIns="0" rtlCol="0" anchor="ctr"/>
          <a:lstStyle/>
          <a:p>
            <a:pPr marL="0" indent="0">
              <a:buNone/>
            </a:pPr>
            <a:r>
              <a:rPr lang="en-US" sz="900" dirty="0">
                <a:solidFill>
                  <a:srgbClr val="1A1A2E"/>
                </a:solidFill>
              </a:rPr>
              <a:t>Copies only active files within a specific partition or folder. Faster and smaller, but misses deleted data and unallocated space. Used when physical access is impractical or time-constrained.</a:t>
            </a:r>
            <a:endParaRPr lang="en-US" sz="900" dirty="0"/>
          </a:p>
        </p:txBody>
      </p:sp>
      <p:sp>
        <p:nvSpPr>
          <p:cNvPr id="14" name="Text 12"/>
          <p:cNvSpPr/>
          <p:nvPr/>
        </p:nvSpPr>
        <p:spPr>
          <a:xfrm>
            <a:off x="411480" y="4608576"/>
            <a:ext cx="3977640" cy="219456"/>
          </a:xfrm>
          <a:prstGeom prst="rect">
            <a:avLst/>
          </a:prstGeom>
          <a:noFill/>
          <a:ln/>
        </p:spPr>
        <p:txBody>
          <a:bodyPr wrap="square" lIns="0" tIns="0" rIns="0" bIns="0" rtlCol="0" anchor="ctr"/>
          <a:lstStyle/>
          <a:p>
            <a:pPr marL="0" indent="0">
              <a:buNone/>
            </a:pPr>
            <a:r>
              <a:rPr lang="en-US" sz="850" i="1" dirty="0">
                <a:solidFill>
                  <a:srgbClr val="F1C40F"/>
                </a:solidFill>
              </a:rPr>
              <a:t>All acquisition tools must verify the copying process by comparing source and image hashes.</a:t>
            </a:r>
            <a:endParaRPr lang="en-US" sz="850" dirty="0"/>
          </a:p>
        </p:txBody>
      </p:sp>
      <p:sp>
        <p:nvSpPr>
          <p:cNvPr id="15" name="Shape 13"/>
          <p:cNvSpPr/>
          <p:nvPr/>
        </p:nvSpPr>
        <p:spPr>
          <a:xfrm>
            <a:off x="4663440" y="1261872"/>
            <a:ext cx="4160520" cy="3547872"/>
          </a:xfrm>
          <a:prstGeom prst="rect">
            <a:avLst/>
          </a:prstGeom>
          <a:solidFill>
            <a:srgbClr val="EEF6FB"/>
          </a:solidFill>
          <a:ln w="12700">
            <a:solidFill>
              <a:srgbClr val="EEF6FB"/>
            </a:solidFill>
            <a:prstDash val="solid"/>
          </a:ln>
        </p:spPr>
        <p:txBody>
          <a:bodyPr/>
          <a:lstStyle/>
          <a:p>
            <a:endParaRPr lang="en-SG"/>
          </a:p>
        </p:txBody>
      </p:sp>
      <p:sp>
        <p:nvSpPr>
          <p:cNvPr id="16" name="Shape 14"/>
          <p:cNvSpPr/>
          <p:nvPr/>
        </p:nvSpPr>
        <p:spPr>
          <a:xfrm>
            <a:off x="4663440" y="1261872"/>
            <a:ext cx="4160520" cy="91440"/>
          </a:xfrm>
          <a:prstGeom prst="rect">
            <a:avLst/>
          </a:prstGeom>
          <a:solidFill>
            <a:srgbClr val="F4A261"/>
          </a:solidFill>
          <a:ln w="12700">
            <a:solidFill>
              <a:srgbClr val="F4A261"/>
            </a:solidFill>
            <a:prstDash val="solid"/>
          </a:ln>
        </p:spPr>
        <p:txBody>
          <a:bodyPr/>
          <a:lstStyle/>
          <a:p>
            <a:endParaRPr lang="en-SG"/>
          </a:p>
        </p:txBody>
      </p:sp>
      <p:sp>
        <p:nvSpPr>
          <p:cNvPr id="17" name="Text 15"/>
          <p:cNvSpPr/>
          <p:nvPr/>
        </p:nvSpPr>
        <p:spPr>
          <a:xfrm>
            <a:off x="4800600" y="1389888"/>
            <a:ext cx="3840480" cy="347472"/>
          </a:xfrm>
          <a:prstGeom prst="rect">
            <a:avLst/>
          </a:prstGeom>
          <a:noFill/>
          <a:ln/>
        </p:spPr>
        <p:txBody>
          <a:bodyPr wrap="square" lIns="0" tIns="0" rIns="0" bIns="0" rtlCol="0" anchor="ctr"/>
          <a:lstStyle/>
          <a:p>
            <a:pPr marL="0" indent="0">
              <a:buNone/>
            </a:pPr>
            <a:r>
              <a:rPr lang="en-US" sz="1400" b="1" dirty="0">
                <a:solidFill>
                  <a:srgbClr val="F4A261"/>
                </a:solidFill>
              </a:rPr>
              <a:t>📦  Image File Formats</a:t>
            </a:r>
            <a:endParaRPr lang="en-US" sz="1400" dirty="0"/>
          </a:p>
        </p:txBody>
      </p:sp>
      <p:sp>
        <p:nvSpPr>
          <p:cNvPr id="18" name="Shape 16"/>
          <p:cNvSpPr/>
          <p:nvPr/>
        </p:nvSpPr>
        <p:spPr>
          <a:xfrm>
            <a:off x="4754880" y="1847088"/>
            <a:ext cx="3977640" cy="1298448"/>
          </a:xfrm>
          <a:prstGeom prst="rect">
            <a:avLst/>
          </a:prstGeom>
          <a:solidFill>
            <a:srgbClr val="FFFFFF"/>
          </a:solidFill>
          <a:ln w="12700">
            <a:solidFill>
              <a:srgbClr val="FFFFFF"/>
            </a:solidFill>
            <a:prstDash val="solid"/>
          </a:ln>
        </p:spPr>
        <p:txBody>
          <a:bodyPr/>
          <a:lstStyle/>
          <a:p>
            <a:endParaRPr lang="en-SG"/>
          </a:p>
        </p:txBody>
      </p:sp>
      <p:sp>
        <p:nvSpPr>
          <p:cNvPr id="19" name="Shape 17"/>
          <p:cNvSpPr/>
          <p:nvPr/>
        </p:nvSpPr>
        <p:spPr>
          <a:xfrm>
            <a:off x="4754880" y="1847088"/>
            <a:ext cx="109728" cy="1298448"/>
          </a:xfrm>
          <a:prstGeom prst="rect">
            <a:avLst/>
          </a:prstGeom>
          <a:solidFill>
            <a:srgbClr val="00B4D8"/>
          </a:solidFill>
          <a:ln w="12700">
            <a:solidFill>
              <a:srgbClr val="00B4D8"/>
            </a:solidFill>
            <a:prstDash val="solid"/>
          </a:ln>
        </p:spPr>
        <p:txBody>
          <a:bodyPr/>
          <a:lstStyle/>
          <a:p>
            <a:endParaRPr lang="en-SG"/>
          </a:p>
        </p:txBody>
      </p:sp>
      <p:sp>
        <p:nvSpPr>
          <p:cNvPr id="20" name="Text 18"/>
          <p:cNvSpPr/>
          <p:nvPr/>
        </p:nvSpPr>
        <p:spPr>
          <a:xfrm>
            <a:off x="4937760" y="1938528"/>
            <a:ext cx="3657600" cy="256032"/>
          </a:xfrm>
          <a:prstGeom prst="rect">
            <a:avLst/>
          </a:prstGeom>
          <a:noFill/>
          <a:ln/>
        </p:spPr>
        <p:txBody>
          <a:bodyPr wrap="square" lIns="0" tIns="0" rIns="0" bIns="0" rtlCol="0" anchor="ctr"/>
          <a:lstStyle/>
          <a:p>
            <a:pPr marL="0" indent="0">
              <a:buNone/>
            </a:pPr>
            <a:r>
              <a:rPr lang="en-US" sz="1050" b="1" dirty="0">
                <a:solidFill>
                  <a:srgbClr val="00B4D8"/>
                </a:solidFill>
              </a:rPr>
              <a:t>Raw Format (.dd / .img)</a:t>
            </a:r>
            <a:endParaRPr lang="en-US" sz="1050" dirty="0"/>
          </a:p>
        </p:txBody>
      </p:sp>
      <p:sp>
        <p:nvSpPr>
          <p:cNvPr id="21" name="Text 19"/>
          <p:cNvSpPr/>
          <p:nvPr/>
        </p:nvSpPr>
        <p:spPr>
          <a:xfrm>
            <a:off x="4937760" y="2249424"/>
            <a:ext cx="3657600" cy="164592"/>
          </a:xfrm>
          <a:prstGeom prst="rect">
            <a:avLst/>
          </a:prstGeom>
          <a:noFill/>
          <a:ln/>
        </p:spPr>
        <p:txBody>
          <a:bodyPr wrap="square" lIns="0" tIns="0" rIns="0" bIns="0" rtlCol="0" anchor="ctr"/>
          <a:lstStyle/>
          <a:p>
            <a:pPr marL="0" indent="0">
              <a:buNone/>
            </a:pPr>
            <a:r>
              <a:rPr lang="en-US" sz="850" dirty="0">
                <a:solidFill>
                  <a:srgbClr val="1A1A2E"/>
                </a:solidFill>
              </a:rPr>
              <a:t>• Bit-for-bit copy with no added metadata</a:t>
            </a:r>
            <a:endParaRPr lang="en-US" sz="850" dirty="0"/>
          </a:p>
        </p:txBody>
      </p:sp>
      <p:sp>
        <p:nvSpPr>
          <p:cNvPr id="22" name="Text 20"/>
          <p:cNvSpPr/>
          <p:nvPr/>
        </p:nvSpPr>
        <p:spPr>
          <a:xfrm>
            <a:off x="4937760" y="2423160"/>
            <a:ext cx="3657600" cy="164592"/>
          </a:xfrm>
          <a:prstGeom prst="rect">
            <a:avLst/>
          </a:prstGeom>
          <a:noFill/>
          <a:ln/>
        </p:spPr>
        <p:txBody>
          <a:bodyPr wrap="square" lIns="0" tIns="0" rIns="0" bIns="0" rtlCol="0" anchor="ctr"/>
          <a:lstStyle/>
          <a:p>
            <a:pPr marL="0" indent="0">
              <a:buNone/>
            </a:pPr>
            <a:r>
              <a:rPr lang="en-US" sz="850" dirty="0">
                <a:solidFill>
                  <a:srgbClr val="1A1A2E"/>
                </a:solidFill>
              </a:rPr>
              <a:t>• Viewable by any hex editor</a:t>
            </a:r>
            <a:endParaRPr lang="en-US" sz="850" dirty="0"/>
          </a:p>
        </p:txBody>
      </p:sp>
      <p:sp>
        <p:nvSpPr>
          <p:cNvPr id="23" name="Text 21"/>
          <p:cNvSpPr/>
          <p:nvPr/>
        </p:nvSpPr>
        <p:spPr>
          <a:xfrm>
            <a:off x="4937760" y="2596896"/>
            <a:ext cx="3657600" cy="164592"/>
          </a:xfrm>
          <a:prstGeom prst="rect">
            <a:avLst/>
          </a:prstGeom>
          <a:noFill/>
          <a:ln/>
        </p:spPr>
        <p:txBody>
          <a:bodyPr wrap="square" lIns="0" tIns="0" rIns="0" bIns="0" rtlCol="0" anchor="ctr"/>
          <a:lstStyle/>
          <a:p>
            <a:pPr marL="0" indent="0">
              <a:buNone/>
            </a:pPr>
            <a:r>
              <a:rPr lang="en-US" sz="850" dirty="0">
                <a:solidFill>
                  <a:srgbClr val="1A1A2E"/>
                </a:solidFill>
              </a:rPr>
              <a:t>• Maximum tool compatibility</a:t>
            </a:r>
            <a:endParaRPr lang="en-US" sz="850" dirty="0"/>
          </a:p>
        </p:txBody>
      </p:sp>
      <p:sp>
        <p:nvSpPr>
          <p:cNvPr id="24" name="Text 22"/>
          <p:cNvSpPr/>
          <p:nvPr/>
        </p:nvSpPr>
        <p:spPr>
          <a:xfrm>
            <a:off x="4937760" y="2770632"/>
            <a:ext cx="3657600" cy="164592"/>
          </a:xfrm>
          <a:prstGeom prst="rect">
            <a:avLst/>
          </a:prstGeom>
          <a:noFill/>
          <a:ln/>
        </p:spPr>
        <p:txBody>
          <a:bodyPr wrap="square" lIns="0" tIns="0" rIns="0" bIns="0" rtlCol="0" anchor="ctr"/>
          <a:lstStyle/>
          <a:p>
            <a:pPr marL="0" indent="0">
              <a:buNone/>
            </a:pPr>
            <a:r>
              <a:rPr lang="en-US" sz="850" dirty="0">
                <a:solidFill>
                  <a:srgbClr val="1A1A2E"/>
                </a:solidFill>
              </a:rPr>
              <a:t>• Large file size — no compression</a:t>
            </a:r>
            <a:endParaRPr lang="en-US" sz="850" dirty="0"/>
          </a:p>
        </p:txBody>
      </p:sp>
      <p:sp>
        <p:nvSpPr>
          <p:cNvPr id="25" name="Text 23"/>
          <p:cNvSpPr/>
          <p:nvPr/>
        </p:nvSpPr>
        <p:spPr>
          <a:xfrm>
            <a:off x="4937760" y="2944368"/>
            <a:ext cx="3657600" cy="164592"/>
          </a:xfrm>
          <a:prstGeom prst="rect">
            <a:avLst/>
          </a:prstGeom>
          <a:noFill/>
          <a:ln/>
        </p:spPr>
        <p:txBody>
          <a:bodyPr wrap="square" lIns="0" tIns="0" rIns="0" bIns="0" rtlCol="0" anchor="ctr"/>
          <a:lstStyle/>
          <a:p>
            <a:pPr marL="0" indent="0">
              <a:buNone/>
            </a:pPr>
            <a:r>
              <a:rPr lang="en-US" sz="850" dirty="0">
                <a:solidFill>
                  <a:srgbClr val="1A1A2E"/>
                </a:solidFill>
              </a:rPr>
              <a:t>• Easily split across volumes</a:t>
            </a:r>
            <a:endParaRPr lang="en-US" sz="850" dirty="0"/>
          </a:p>
        </p:txBody>
      </p:sp>
      <p:sp>
        <p:nvSpPr>
          <p:cNvPr id="26" name="Shape 24"/>
          <p:cNvSpPr/>
          <p:nvPr/>
        </p:nvSpPr>
        <p:spPr>
          <a:xfrm>
            <a:off x="4754880" y="3273552"/>
            <a:ext cx="3977640" cy="1298448"/>
          </a:xfrm>
          <a:prstGeom prst="rect">
            <a:avLst/>
          </a:prstGeom>
          <a:solidFill>
            <a:srgbClr val="FFFFFF"/>
          </a:solidFill>
          <a:ln w="12700">
            <a:solidFill>
              <a:srgbClr val="FFFFFF"/>
            </a:solidFill>
            <a:prstDash val="solid"/>
          </a:ln>
        </p:spPr>
        <p:txBody>
          <a:bodyPr/>
          <a:lstStyle/>
          <a:p>
            <a:endParaRPr lang="en-SG"/>
          </a:p>
        </p:txBody>
      </p:sp>
      <p:sp>
        <p:nvSpPr>
          <p:cNvPr id="27" name="Shape 25"/>
          <p:cNvSpPr/>
          <p:nvPr/>
        </p:nvSpPr>
        <p:spPr>
          <a:xfrm>
            <a:off x="4754880" y="3273552"/>
            <a:ext cx="109728" cy="1298448"/>
          </a:xfrm>
          <a:prstGeom prst="rect">
            <a:avLst/>
          </a:prstGeom>
          <a:solidFill>
            <a:srgbClr val="F4A261"/>
          </a:solidFill>
          <a:ln w="12700">
            <a:solidFill>
              <a:srgbClr val="F4A261"/>
            </a:solidFill>
            <a:prstDash val="solid"/>
          </a:ln>
        </p:spPr>
        <p:txBody>
          <a:bodyPr/>
          <a:lstStyle/>
          <a:p>
            <a:endParaRPr lang="en-SG"/>
          </a:p>
        </p:txBody>
      </p:sp>
      <p:sp>
        <p:nvSpPr>
          <p:cNvPr id="28" name="Text 26"/>
          <p:cNvSpPr/>
          <p:nvPr/>
        </p:nvSpPr>
        <p:spPr>
          <a:xfrm>
            <a:off x="4937760" y="3364992"/>
            <a:ext cx="3657600" cy="256032"/>
          </a:xfrm>
          <a:prstGeom prst="rect">
            <a:avLst/>
          </a:prstGeom>
          <a:noFill/>
          <a:ln/>
        </p:spPr>
        <p:txBody>
          <a:bodyPr wrap="square" lIns="0" tIns="0" rIns="0" bIns="0" rtlCol="0" anchor="ctr"/>
          <a:lstStyle/>
          <a:p>
            <a:pPr marL="0" indent="0">
              <a:buNone/>
            </a:pPr>
            <a:r>
              <a:rPr lang="en-US" sz="1050" b="1" dirty="0">
                <a:solidFill>
                  <a:srgbClr val="F4A261"/>
                </a:solidFill>
              </a:rPr>
              <a:t>Vendor Proprietary (.E01, .AD1)</a:t>
            </a:r>
            <a:endParaRPr lang="en-US" sz="1050" dirty="0"/>
          </a:p>
        </p:txBody>
      </p:sp>
      <p:sp>
        <p:nvSpPr>
          <p:cNvPr id="29" name="Text 27"/>
          <p:cNvSpPr/>
          <p:nvPr/>
        </p:nvSpPr>
        <p:spPr>
          <a:xfrm>
            <a:off x="4937760" y="3675888"/>
            <a:ext cx="3657600" cy="164592"/>
          </a:xfrm>
          <a:prstGeom prst="rect">
            <a:avLst/>
          </a:prstGeom>
          <a:noFill/>
          <a:ln/>
        </p:spPr>
        <p:txBody>
          <a:bodyPr wrap="square" lIns="0" tIns="0" rIns="0" bIns="0" rtlCol="0" anchor="ctr"/>
          <a:lstStyle/>
          <a:p>
            <a:pPr marL="0" indent="0">
              <a:buNone/>
            </a:pPr>
            <a:r>
              <a:rPr lang="en-US" sz="850" dirty="0">
                <a:solidFill>
                  <a:srgbClr val="1A1A2E"/>
                </a:solidFill>
              </a:rPr>
              <a:t>• Compressed — significantly smaller files</a:t>
            </a:r>
            <a:endParaRPr lang="en-US" sz="850" dirty="0"/>
          </a:p>
        </p:txBody>
      </p:sp>
      <p:sp>
        <p:nvSpPr>
          <p:cNvPr id="30" name="Text 28"/>
          <p:cNvSpPr/>
          <p:nvPr/>
        </p:nvSpPr>
        <p:spPr>
          <a:xfrm>
            <a:off x="4937760" y="3849624"/>
            <a:ext cx="3657600" cy="164592"/>
          </a:xfrm>
          <a:prstGeom prst="rect">
            <a:avLst/>
          </a:prstGeom>
          <a:noFill/>
          <a:ln/>
        </p:spPr>
        <p:txBody>
          <a:bodyPr wrap="square" lIns="0" tIns="0" rIns="0" bIns="0" rtlCol="0" anchor="ctr"/>
          <a:lstStyle/>
          <a:p>
            <a:pPr marL="0" indent="0">
              <a:buNone/>
            </a:pPr>
            <a:r>
              <a:rPr lang="en-US" sz="850" dirty="0">
                <a:solidFill>
                  <a:srgbClr val="1A1A2E"/>
                </a:solidFill>
              </a:rPr>
              <a:t>• Embedded metadata and case information</a:t>
            </a:r>
            <a:endParaRPr lang="en-US" sz="850" dirty="0"/>
          </a:p>
        </p:txBody>
      </p:sp>
      <p:sp>
        <p:nvSpPr>
          <p:cNvPr id="31" name="Text 29"/>
          <p:cNvSpPr/>
          <p:nvPr/>
        </p:nvSpPr>
        <p:spPr>
          <a:xfrm>
            <a:off x="4937760" y="4023360"/>
            <a:ext cx="3657600" cy="164592"/>
          </a:xfrm>
          <a:prstGeom prst="rect">
            <a:avLst/>
          </a:prstGeom>
          <a:noFill/>
          <a:ln/>
        </p:spPr>
        <p:txBody>
          <a:bodyPr wrap="square" lIns="0" tIns="0" rIns="0" bIns="0" rtlCol="0" anchor="ctr"/>
          <a:lstStyle/>
          <a:p>
            <a:pPr marL="0" indent="0">
              <a:buNone/>
            </a:pPr>
            <a:r>
              <a:rPr lang="en-US" sz="850" dirty="0">
                <a:solidFill>
                  <a:srgbClr val="1A1A2E"/>
                </a:solidFill>
              </a:rPr>
              <a:t>• Built-in hash verification on read</a:t>
            </a:r>
            <a:endParaRPr lang="en-US" sz="850" dirty="0"/>
          </a:p>
        </p:txBody>
      </p:sp>
      <p:sp>
        <p:nvSpPr>
          <p:cNvPr id="32" name="Text 30"/>
          <p:cNvSpPr/>
          <p:nvPr/>
        </p:nvSpPr>
        <p:spPr>
          <a:xfrm>
            <a:off x="4937760" y="4197096"/>
            <a:ext cx="3657600" cy="164592"/>
          </a:xfrm>
          <a:prstGeom prst="rect">
            <a:avLst/>
          </a:prstGeom>
          <a:noFill/>
          <a:ln/>
        </p:spPr>
        <p:txBody>
          <a:bodyPr wrap="square" lIns="0" tIns="0" rIns="0" bIns="0" rtlCol="0" anchor="ctr"/>
          <a:lstStyle/>
          <a:p>
            <a:pPr marL="0" indent="0">
              <a:buNone/>
            </a:pPr>
            <a:r>
              <a:rPr lang="en-US" sz="850" dirty="0">
                <a:solidFill>
                  <a:srgbClr val="1A1A2E"/>
                </a:solidFill>
              </a:rPr>
              <a:t>• Segmented automatically (e.g. 2 GB parts)</a:t>
            </a:r>
            <a:endParaRPr lang="en-US" sz="850" dirty="0"/>
          </a:p>
        </p:txBody>
      </p:sp>
      <p:sp>
        <p:nvSpPr>
          <p:cNvPr id="33" name="Text 31"/>
          <p:cNvSpPr/>
          <p:nvPr/>
        </p:nvSpPr>
        <p:spPr>
          <a:xfrm>
            <a:off x="4937760" y="4370832"/>
            <a:ext cx="3657600" cy="164592"/>
          </a:xfrm>
          <a:prstGeom prst="rect">
            <a:avLst/>
          </a:prstGeom>
          <a:noFill/>
          <a:ln/>
        </p:spPr>
        <p:txBody>
          <a:bodyPr wrap="square" lIns="0" tIns="0" rIns="0" bIns="0" rtlCol="0" anchor="ctr"/>
          <a:lstStyle/>
          <a:p>
            <a:pPr marL="0" indent="0">
              <a:buNone/>
            </a:pPr>
            <a:r>
              <a:rPr lang="en-US" sz="850" dirty="0">
                <a:solidFill>
                  <a:srgbClr val="1A1A2E"/>
                </a:solidFill>
              </a:rPr>
              <a:t>• Requires compatible software to open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882189"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699309" cy="256032"/>
          </a:xfrm>
          <a:prstGeom prst="rect">
            <a:avLst/>
          </a:prstGeom>
          <a:noFill/>
          <a:ln/>
        </p:spPr>
        <p:txBody>
          <a:bodyPr wrap="square" lIns="0" tIns="0" rIns="0" bIns="0" rtlCol="0" anchor="ctr"/>
          <a:lstStyle/>
          <a:p>
            <a:pPr marL="0" indent="0">
              <a:buNone/>
            </a:pPr>
            <a:r>
              <a:rPr lang="en-US" sz="850" b="1" dirty="0">
                <a:solidFill>
                  <a:srgbClr val="0D1B2A"/>
                </a:solidFill>
              </a:rPr>
              <a:t>TASK 2 · VALIDATION &amp; DISCRIMINATION</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Validation &amp; Discrimination</a:t>
            </a:r>
            <a:endParaRPr lang="en-US" sz="2800" dirty="0"/>
          </a:p>
        </p:txBody>
      </p:sp>
      <p:sp>
        <p:nvSpPr>
          <p:cNvPr id="5" name="Shape 3"/>
          <p:cNvSpPr/>
          <p:nvPr/>
        </p:nvSpPr>
        <p:spPr>
          <a:xfrm>
            <a:off x="320040" y="1261872"/>
            <a:ext cx="8503920" cy="640080"/>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61872"/>
            <a:ext cx="109728" cy="640080"/>
          </a:xfrm>
          <a:prstGeom prst="rect">
            <a:avLst/>
          </a:prstGeom>
          <a:solidFill>
            <a:srgbClr val="F4A261"/>
          </a:solidFill>
          <a:ln w="12700">
            <a:solidFill>
              <a:srgbClr val="F4A261"/>
            </a:solidFill>
            <a:prstDash val="solid"/>
          </a:ln>
        </p:spPr>
        <p:txBody>
          <a:bodyPr/>
          <a:lstStyle/>
          <a:p>
            <a:endParaRPr lang="en-SG"/>
          </a:p>
        </p:txBody>
      </p:sp>
      <p:sp>
        <p:nvSpPr>
          <p:cNvPr id="7" name="Text 5"/>
          <p:cNvSpPr/>
          <p:nvPr/>
        </p:nvSpPr>
        <p:spPr>
          <a:xfrm>
            <a:off x="512064" y="1344168"/>
            <a:ext cx="8229600" cy="512064"/>
          </a:xfrm>
          <a:prstGeom prst="rect">
            <a:avLst/>
          </a:prstGeom>
          <a:noFill/>
          <a:ln/>
        </p:spPr>
        <p:txBody>
          <a:bodyPr wrap="square" lIns="0" tIns="0" rIns="0" bIns="0" rtlCol="0" anchor="ctr"/>
          <a:lstStyle/>
          <a:p>
            <a:pPr marL="0" indent="0">
              <a:buNone/>
            </a:pPr>
            <a:r>
              <a:rPr lang="en-US" sz="1000" dirty="0">
                <a:solidFill>
                  <a:srgbClr val="1A1A2E"/>
                </a:solidFill>
              </a:rPr>
              <a:t>Validation ensures the integrity of data during and after copying. Discrimination filters and classifies evidence to focus investigative effort on what matters most.</a:t>
            </a:r>
            <a:endParaRPr lang="en-US" sz="1000" dirty="0"/>
          </a:p>
        </p:txBody>
      </p:sp>
      <p:sp>
        <p:nvSpPr>
          <p:cNvPr id="8" name="Shape 6"/>
          <p:cNvSpPr/>
          <p:nvPr/>
        </p:nvSpPr>
        <p:spPr>
          <a:xfrm>
            <a:off x="320040" y="2029968"/>
            <a:ext cx="2788920" cy="2761488"/>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2029968"/>
            <a:ext cx="2788920" cy="7315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411480" y="2139696"/>
            <a:ext cx="2606040" cy="329184"/>
          </a:xfrm>
          <a:prstGeom prst="rect">
            <a:avLst/>
          </a:prstGeom>
          <a:noFill/>
          <a:ln/>
        </p:spPr>
        <p:txBody>
          <a:bodyPr wrap="square" lIns="0" tIns="0" rIns="0" bIns="0" rtlCol="0" anchor="ctr"/>
          <a:lstStyle/>
          <a:p>
            <a:pPr marL="0" indent="0">
              <a:buNone/>
            </a:pPr>
            <a:r>
              <a:rPr lang="en-US" sz="1100" b="1" dirty="0">
                <a:solidFill>
                  <a:srgbClr val="00B4D8"/>
                </a:solidFill>
              </a:rPr>
              <a:t>🔑  Hashing Algorithms</a:t>
            </a:r>
            <a:endParaRPr lang="en-US" sz="1100" dirty="0"/>
          </a:p>
        </p:txBody>
      </p:sp>
      <p:sp>
        <p:nvSpPr>
          <p:cNvPr id="11" name="Text 9"/>
          <p:cNvSpPr/>
          <p:nvPr/>
        </p:nvSpPr>
        <p:spPr>
          <a:xfrm>
            <a:off x="411480" y="2523744"/>
            <a:ext cx="2606040" cy="329184"/>
          </a:xfrm>
          <a:prstGeom prst="rect">
            <a:avLst/>
          </a:prstGeom>
          <a:noFill/>
          <a:ln/>
        </p:spPr>
        <p:txBody>
          <a:bodyPr wrap="square" lIns="0" tIns="0" rIns="0" bIns="0" rtlCol="0" anchor="ctr"/>
          <a:lstStyle/>
          <a:p>
            <a:pPr marL="0" indent="0">
              <a:buNone/>
            </a:pPr>
            <a:r>
              <a:rPr lang="en-US" sz="820" dirty="0">
                <a:solidFill>
                  <a:srgbClr val="1A1A2E"/>
                </a:solidFill>
              </a:rPr>
              <a:t>• CRC-32: Fast, lightweight integrity check — early corruption detection</a:t>
            </a:r>
            <a:endParaRPr lang="en-US" sz="820" dirty="0"/>
          </a:p>
        </p:txBody>
      </p:sp>
      <p:sp>
        <p:nvSpPr>
          <p:cNvPr id="12" name="Text 10"/>
          <p:cNvSpPr/>
          <p:nvPr/>
        </p:nvSpPr>
        <p:spPr>
          <a:xfrm>
            <a:off x="411480" y="2898648"/>
            <a:ext cx="2606040" cy="329184"/>
          </a:xfrm>
          <a:prstGeom prst="rect">
            <a:avLst/>
          </a:prstGeom>
          <a:noFill/>
          <a:ln/>
        </p:spPr>
        <p:txBody>
          <a:bodyPr wrap="square" lIns="0" tIns="0" rIns="0" bIns="0" rtlCol="0" anchor="ctr"/>
          <a:lstStyle/>
          <a:p>
            <a:pPr marL="0" indent="0">
              <a:buNone/>
            </a:pPr>
            <a:r>
              <a:rPr lang="en-US" sz="820" dirty="0">
                <a:solidFill>
                  <a:srgbClr val="1A1A2E"/>
                </a:solidFill>
              </a:rPr>
              <a:t>• MD5 (128-bit): Standard forensic hash — widely accepted in court</a:t>
            </a:r>
            <a:endParaRPr lang="en-US" sz="820" dirty="0"/>
          </a:p>
        </p:txBody>
      </p:sp>
      <p:sp>
        <p:nvSpPr>
          <p:cNvPr id="13" name="Text 11"/>
          <p:cNvSpPr/>
          <p:nvPr/>
        </p:nvSpPr>
        <p:spPr>
          <a:xfrm>
            <a:off x="411480" y="3273552"/>
            <a:ext cx="2606040" cy="329184"/>
          </a:xfrm>
          <a:prstGeom prst="rect">
            <a:avLst/>
          </a:prstGeom>
          <a:noFill/>
          <a:ln/>
        </p:spPr>
        <p:txBody>
          <a:bodyPr wrap="square" lIns="0" tIns="0" rIns="0" bIns="0" rtlCol="0" anchor="ctr"/>
          <a:lstStyle/>
          <a:p>
            <a:pPr marL="0" indent="0">
              <a:buNone/>
            </a:pPr>
            <a:r>
              <a:rPr lang="en-US" sz="820" dirty="0">
                <a:solidFill>
                  <a:srgbClr val="1A1A2E"/>
                </a:solidFill>
              </a:rPr>
              <a:t>• SHA-1 (160-bit): Stronger than MD5 but now considered weak</a:t>
            </a:r>
            <a:endParaRPr lang="en-US" sz="820" dirty="0"/>
          </a:p>
        </p:txBody>
      </p:sp>
      <p:sp>
        <p:nvSpPr>
          <p:cNvPr id="14" name="Text 12"/>
          <p:cNvSpPr/>
          <p:nvPr/>
        </p:nvSpPr>
        <p:spPr>
          <a:xfrm>
            <a:off x="411480" y="3648456"/>
            <a:ext cx="2606040" cy="329184"/>
          </a:xfrm>
          <a:prstGeom prst="rect">
            <a:avLst/>
          </a:prstGeom>
          <a:noFill/>
          <a:ln/>
        </p:spPr>
        <p:txBody>
          <a:bodyPr wrap="square" lIns="0" tIns="0" rIns="0" bIns="0" rtlCol="0" anchor="ctr"/>
          <a:lstStyle/>
          <a:p>
            <a:pPr marL="0" indent="0">
              <a:buNone/>
            </a:pPr>
            <a:r>
              <a:rPr lang="en-US" sz="820" dirty="0">
                <a:solidFill>
                  <a:srgbClr val="1A1A2E"/>
                </a:solidFill>
              </a:rPr>
              <a:t>• SHA-256 (256-bit): Current best practice — collision-resistant</a:t>
            </a:r>
            <a:endParaRPr lang="en-US" sz="820" dirty="0"/>
          </a:p>
        </p:txBody>
      </p:sp>
      <p:sp>
        <p:nvSpPr>
          <p:cNvPr id="15" name="Text 13"/>
          <p:cNvSpPr/>
          <p:nvPr/>
        </p:nvSpPr>
        <p:spPr>
          <a:xfrm>
            <a:off x="411480" y="4023360"/>
            <a:ext cx="2606040" cy="329184"/>
          </a:xfrm>
          <a:prstGeom prst="rect">
            <a:avLst/>
          </a:prstGeom>
          <a:noFill/>
          <a:ln/>
        </p:spPr>
        <p:txBody>
          <a:bodyPr wrap="square" lIns="0" tIns="0" rIns="0" bIns="0" rtlCol="0" anchor="ctr"/>
          <a:lstStyle/>
          <a:p>
            <a:pPr marL="0" indent="0">
              <a:buNone/>
            </a:pPr>
            <a:r>
              <a:rPr lang="en-US" sz="820" dirty="0">
                <a:solidFill>
                  <a:srgbClr val="1A1A2E"/>
                </a:solidFill>
              </a:rPr>
              <a:t>• Hash source → Acquire image → Hash image → Values must match</a:t>
            </a:r>
            <a:endParaRPr lang="en-US" sz="820" dirty="0"/>
          </a:p>
        </p:txBody>
      </p:sp>
      <p:sp>
        <p:nvSpPr>
          <p:cNvPr id="16" name="Text 14"/>
          <p:cNvSpPr/>
          <p:nvPr/>
        </p:nvSpPr>
        <p:spPr>
          <a:xfrm>
            <a:off x="411480" y="4398264"/>
            <a:ext cx="2606040" cy="329184"/>
          </a:xfrm>
          <a:prstGeom prst="rect">
            <a:avLst/>
          </a:prstGeom>
          <a:noFill/>
          <a:ln/>
        </p:spPr>
        <p:txBody>
          <a:bodyPr wrap="square" lIns="0" tIns="0" rIns="0" bIns="0" rtlCol="0" anchor="ctr"/>
          <a:lstStyle/>
          <a:p>
            <a:pPr marL="0" indent="0">
              <a:buNone/>
            </a:pPr>
            <a:r>
              <a:rPr lang="en-US" sz="820" dirty="0">
                <a:solidFill>
                  <a:srgbClr val="1A1A2E"/>
                </a:solidFill>
              </a:rPr>
              <a:t>• Any mismatch = tampering or corruption — evidence inadmissible</a:t>
            </a:r>
            <a:endParaRPr lang="en-US" sz="820" dirty="0"/>
          </a:p>
        </p:txBody>
      </p:sp>
      <p:sp>
        <p:nvSpPr>
          <p:cNvPr id="17" name="Shape 15"/>
          <p:cNvSpPr/>
          <p:nvPr/>
        </p:nvSpPr>
        <p:spPr>
          <a:xfrm>
            <a:off x="3227832" y="2029968"/>
            <a:ext cx="2788920" cy="2761488"/>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227832" y="2029968"/>
            <a:ext cx="2788920" cy="73152"/>
          </a:xfrm>
          <a:prstGeom prst="rect">
            <a:avLst/>
          </a:prstGeom>
          <a:solidFill>
            <a:srgbClr val="F4A261"/>
          </a:solidFill>
          <a:ln w="12700">
            <a:solidFill>
              <a:srgbClr val="F4A261"/>
            </a:solidFill>
            <a:prstDash val="solid"/>
          </a:ln>
        </p:spPr>
        <p:txBody>
          <a:bodyPr/>
          <a:lstStyle/>
          <a:p>
            <a:endParaRPr lang="en-SG"/>
          </a:p>
        </p:txBody>
      </p:sp>
      <p:sp>
        <p:nvSpPr>
          <p:cNvPr id="19" name="Text 17"/>
          <p:cNvSpPr/>
          <p:nvPr/>
        </p:nvSpPr>
        <p:spPr>
          <a:xfrm>
            <a:off x="3319272" y="2139696"/>
            <a:ext cx="2606040" cy="329184"/>
          </a:xfrm>
          <a:prstGeom prst="rect">
            <a:avLst/>
          </a:prstGeom>
          <a:noFill/>
          <a:ln/>
        </p:spPr>
        <p:txBody>
          <a:bodyPr wrap="square" lIns="0" tIns="0" rIns="0" bIns="0" rtlCol="0" anchor="ctr"/>
          <a:lstStyle/>
          <a:p>
            <a:pPr marL="0" indent="0">
              <a:buNone/>
            </a:pPr>
            <a:r>
              <a:rPr lang="en-US" sz="1100" b="1" dirty="0">
                <a:solidFill>
                  <a:srgbClr val="F4A261"/>
                </a:solidFill>
              </a:rPr>
              <a:t>📄  File Header Analysis</a:t>
            </a:r>
            <a:endParaRPr lang="en-US" sz="1100" dirty="0"/>
          </a:p>
        </p:txBody>
      </p:sp>
      <p:sp>
        <p:nvSpPr>
          <p:cNvPr id="20" name="Text 18"/>
          <p:cNvSpPr/>
          <p:nvPr/>
        </p:nvSpPr>
        <p:spPr>
          <a:xfrm>
            <a:off x="3319272" y="2523744"/>
            <a:ext cx="2606040" cy="329184"/>
          </a:xfrm>
          <a:prstGeom prst="rect">
            <a:avLst/>
          </a:prstGeom>
          <a:noFill/>
          <a:ln/>
        </p:spPr>
        <p:txBody>
          <a:bodyPr wrap="square" lIns="0" tIns="0" rIns="0" bIns="0" rtlCol="0" anchor="ctr"/>
          <a:lstStyle/>
          <a:p>
            <a:pPr marL="0" indent="0">
              <a:buNone/>
            </a:pPr>
            <a:r>
              <a:rPr lang="en-US" sz="820" dirty="0">
                <a:solidFill>
                  <a:srgbClr val="1A1A2E"/>
                </a:solidFill>
              </a:rPr>
              <a:t>• Every file type has a unique magic byte signature at its start</a:t>
            </a:r>
            <a:endParaRPr lang="en-US" sz="820" dirty="0"/>
          </a:p>
        </p:txBody>
      </p:sp>
      <p:sp>
        <p:nvSpPr>
          <p:cNvPr id="21" name="Text 19"/>
          <p:cNvSpPr/>
          <p:nvPr/>
        </p:nvSpPr>
        <p:spPr>
          <a:xfrm>
            <a:off x="3319272" y="2898648"/>
            <a:ext cx="2606040" cy="329184"/>
          </a:xfrm>
          <a:prstGeom prst="rect">
            <a:avLst/>
          </a:prstGeom>
          <a:noFill/>
          <a:ln/>
        </p:spPr>
        <p:txBody>
          <a:bodyPr wrap="square" lIns="0" tIns="0" rIns="0" bIns="0" rtlCol="0" anchor="ctr"/>
          <a:lstStyle/>
          <a:p>
            <a:pPr marL="0" indent="0">
              <a:buNone/>
            </a:pPr>
            <a:r>
              <a:rPr lang="en-US" sz="820" dirty="0">
                <a:solidFill>
                  <a:srgbClr val="1A1A2E"/>
                </a:solidFill>
              </a:rPr>
              <a:t>• Header reveals the true file type regardless of extension</a:t>
            </a:r>
            <a:endParaRPr lang="en-US" sz="820" dirty="0"/>
          </a:p>
        </p:txBody>
      </p:sp>
      <p:sp>
        <p:nvSpPr>
          <p:cNvPr id="22" name="Text 20"/>
          <p:cNvSpPr/>
          <p:nvPr/>
        </p:nvSpPr>
        <p:spPr>
          <a:xfrm>
            <a:off x="3319272" y="3273552"/>
            <a:ext cx="2606040" cy="329184"/>
          </a:xfrm>
          <a:prstGeom prst="rect">
            <a:avLst/>
          </a:prstGeom>
          <a:noFill/>
          <a:ln/>
        </p:spPr>
        <p:txBody>
          <a:bodyPr wrap="square" lIns="0" tIns="0" rIns="0" bIns="0" rtlCol="0" anchor="ctr"/>
          <a:lstStyle/>
          <a:p>
            <a:pPr marL="0" indent="0">
              <a:buNone/>
            </a:pPr>
            <a:r>
              <a:rPr lang="en-US" sz="820" dirty="0">
                <a:solidFill>
                  <a:srgbClr val="1A1A2E"/>
                </a:solidFill>
              </a:rPr>
              <a:t>• Tools compare file extension against the detected header type</a:t>
            </a:r>
            <a:endParaRPr lang="en-US" sz="820" dirty="0"/>
          </a:p>
        </p:txBody>
      </p:sp>
      <p:sp>
        <p:nvSpPr>
          <p:cNvPr id="23" name="Text 21"/>
          <p:cNvSpPr/>
          <p:nvPr/>
        </p:nvSpPr>
        <p:spPr>
          <a:xfrm>
            <a:off x="3319272" y="3648456"/>
            <a:ext cx="2606040" cy="329184"/>
          </a:xfrm>
          <a:prstGeom prst="rect">
            <a:avLst/>
          </a:prstGeom>
          <a:noFill/>
          <a:ln/>
        </p:spPr>
        <p:txBody>
          <a:bodyPr wrap="square" lIns="0" tIns="0" rIns="0" bIns="0" rtlCol="0" anchor="ctr"/>
          <a:lstStyle/>
          <a:p>
            <a:pPr marL="0" indent="0">
              <a:buNone/>
            </a:pPr>
            <a:r>
              <a:rPr lang="en-US" sz="820" dirty="0">
                <a:solidFill>
                  <a:srgbClr val="1A1A2E"/>
                </a:solidFill>
              </a:rPr>
              <a:t>• Example: A .docx whose header reads FFD8FFE0 is actually a JPEG</a:t>
            </a:r>
            <a:endParaRPr lang="en-US" sz="820" dirty="0"/>
          </a:p>
        </p:txBody>
      </p:sp>
      <p:sp>
        <p:nvSpPr>
          <p:cNvPr id="24" name="Text 22"/>
          <p:cNvSpPr/>
          <p:nvPr/>
        </p:nvSpPr>
        <p:spPr>
          <a:xfrm>
            <a:off x="3319272" y="4023360"/>
            <a:ext cx="2606040" cy="329184"/>
          </a:xfrm>
          <a:prstGeom prst="rect">
            <a:avLst/>
          </a:prstGeom>
          <a:noFill/>
          <a:ln/>
        </p:spPr>
        <p:txBody>
          <a:bodyPr wrap="square" lIns="0" tIns="0" rIns="0" bIns="0" rtlCol="0" anchor="ctr"/>
          <a:lstStyle/>
          <a:p>
            <a:pPr marL="0" indent="0">
              <a:buNone/>
            </a:pPr>
            <a:r>
              <a:rPr lang="en-US" sz="820" dirty="0">
                <a:solidFill>
                  <a:srgbClr val="1A1A2E"/>
                </a:solidFill>
              </a:rPr>
              <a:t>• Extension mismatches indicate deliberate obfuscation</a:t>
            </a:r>
            <a:endParaRPr lang="en-US" sz="820" dirty="0"/>
          </a:p>
        </p:txBody>
      </p:sp>
      <p:sp>
        <p:nvSpPr>
          <p:cNvPr id="25" name="Text 23"/>
          <p:cNvSpPr/>
          <p:nvPr/>
        </p:nvSpPr>
        <p:spPr>
          <a:xfrm>
            <a:off x="3319272" y="4398264"/>
            <a:ext cx="2606040" cy="329184"/>
          </a:xfrm>
          <a:prstGeom prst="rect">
            <a:avLst/>
          </a:prstGeom>
          <a:noFill/>
          <a:ln/>
        </p:spPr>
        <p:txBody>
          <a:bodyPr wrap="square" lIns="0" tIns="0" rIns="0" bIns="0" rtlCol="0" anchor="ctr"/>
          <a:lstStyle/>
          <a:p>
            <a:pPr marL="0" indent="0">
              <a:buNone/>
            </a:pPr>
            <a:r>
              <a:rPr lang="en-US" sz="820" dirty="0">
                <a:solidFill>
                  <a:srgbClr val="1A1A2E"/>
                </a:solidFill>
              </a:rPr>
              <a:t>• Most forensic tools flag these mismatches automatically</a:t>
            </a:r>
            <a:endParaRPr lang="en-US" sz="820" dirty="0"/>
          </a:p>
        </p:txBody>
      </p:sp>
      <p:sp>
        <p:nvSpPr>
          <p:cNvPr id="26" name="Shape 24"/>
          <p:cNvSpPr/>
          <p:nvPr/>
        </p:nvSpPr>
        <p:spPr>
          <a:xfrm>
            <a:off x="6135624" y="2029968"/>
            <a:ext cx="2788920" cy="2761488"/>
          </a:xfrm>
          <a:prstGeom prst="rect">
            <a:avLst/>
          </a:prstGeom>
          <a:solidFill>
            <a:srgbClr val="EEF6FB"/>
          </a:solidFill>
          <a:ln w="12700">
            <a:solidFill>
              <a:srgbClr val="EEF6FB"/>
            </a:solidFill>
            <a:prstDash val="solid"/>
          </a:ln>
        </p:spPr>
        <p:txBody>
          <a:bodyPr/>
          <a:lstStyle/>
          <a:p>
            <a:endParaRPr lang="en-SG"/>
          </a:p>
        </p:txBody>
      </p:sp>
      <p:sp>
        <p:nvSpPr>
          <p:cNvPr id="27" name="Shape 25"/>
          <p:cNvSpPr/>
          <p:nvPr/>
        </p:nvSpPr>
        <p:spPr>
          <a:xfrm>
            <a:off x="6135624" y="2029968"/>
            <a:ext cx="2788920" cy="73152"/>
          </a:xfrm>
          <a:prstGeom prst="rect">
            <a:avLst/>
          </a:prstGeom>
          <a:solidFill>
            <a:srgbClr val="2ECC71"/>
          </a:solidFill>
          <a:ln w="12700">
            <a:solidFill>
              <a:srgbClr val="2ECC71"/>
            </a:solidFill>
            <a:prstDash val="solid"/>
          </a:ln>
        </p:spPr>
        <p:txBody>
          <a:bodyPr/>
          <a:lstStyle/>
          <a:p>
            <a:endParaRPr lang="en-SG"/>
          </a:p>
        </p:txBody>
      </p:sp>
      <p:sp>
        <p:nvSpPr>
          <p:cNvPr id="28" name="Text 26"/>
          <p:cNvSpPr/>
          <p:nvPr/>
        </p:nvSpPr>
        <p:spPr>
          <a:xfrm>
            <a:off x="6227064" y="2139696"/>
            <a:ext cx="2606040" cy="329184"/>
          </a:xfrm>
          <a:prstGeom prst="rect">
            <a:avLst/>
          </a:prstGeom>
          <a:noFill/>
          <a:ln/>
        </p:spPr>
        <p:txBody>
          <a:bodyPr wrap="square" lIns="0" tIns="0" rIns="0" bIns="0" rtlCol="0" anchor="ctr"/>
          <a:lstStyle/>
          <a:p>
            <a:pPr marL="0" indent="0">
              <a:buNone/>
            </a:pPr>
            <a:r>
              <a:rPr lang="en-US" sz="1100" b="1" dirty="0">
                <a:solidFill>
                  <a:srgbClr val="2ECC71"/>
                </a:solidFill>
              </a:rPr>
              <a:t>🗂️  NSRL &amp; KFF Filtering</a:t>
            </a:r>
            <a:endParaRPr lang="en-US" sz="1100" dirty="0"/>
          </a:p>
        </p:txBody>
      </p:sp>
      <p:sp>
        <p:nvSpPr>
          <p:cNvPr id="29" name="Text 27"/>
          <p:cNvSpPr/>
          <p:nvPr/>
        </p:nvSpPr>
        <p:spPr>
          <a:xfrm>
            <a:off x="6227064" y="2523744"/>
            <a:ext cx="2606040" cy="329184"/>
          </a:xfrm>
          <a:prstGeom prst="rect">
            <a:avLst/>
          </a:prstGeom>
          <a:noFill/>
          <a:ln/>
        </p:spPr>
        <p:txBody>
          <a:bodyPr wrap="square" lIns="0" tIns="0" rIns="0" bIns="0" rtlCol="0" anchor="ctr"/>
          <a:lstStyle/>
          <a:p>
            <a:pPr marL="0" indent="0">
              <a:buNone/>
            </a:pPr>
            <a:r>
              <a:rPr lang="en-US" sz="820" dirty="0">
                <a:solidFill>
                  <a:srgbClr val="1A1A2E"/>
                </a:solidFill>
              </a:rPr>
              <a:t>• NSRL: National Software Reference Library, maintained by NIST</a:t>
            </a:r>
            <a:endParaRPr lang="en-US" sz="820" dirty="0"/>
          </a:p>
        </p:txBody>
      </p:sp>
      <p:sp>
        <p:nvSpPr>
          <p:cNvPr id="30" name="Text 28"/>
          <p:cNvSpPr/>
          <p:nvPr/>
        </p:nvSpPr>
        <p:spPr>
          <a:xfrm>
            <a:off x="6227064" y="2898648"/>
            <a:ext cx="2606040" cy="329184"/>
          </a:xfrm>
          <a:prstGeom prst="rect">
            <a:avLst/>
          </a:prstGeom>
          <a:noFill/>
          <a:ln/>
        </p:spPr>
        <p:txBody>
          <a:bodyPr wrap="square" lIns="0" tIns="0" rIns="0" bIns="0" rtlCol="0" anchor="ctr"/>
          <a:lstStyle/>
          <a:p>
            <a:pPr marL="0" indent="0">
              <a:buNone/>
            </a:pPr>
            <a:r>
              <a:rPr lang="en-US" sz="820" dirty="0">
                <a:solidFill>
                  <a:srgbClr val="1A1A2E"/>
                </a:solidFill>
              </a:rPr>
              <a:t>• Contains hash values for millions of legitimate OS/app files</a:t>
            </a:r>
            <a:endParaRPr lang="en-US" sz="820" dirty="0"/>
          </a:p>
        </p:txBody>
      </p:sp>
      <p:sp>
        <p:nvSpPr>
          <p:cNvPr id="31" name="Text 29"/>
          <p:cNvSpPr/>
          <p:nvPr/>
        </p:nvSpPr>
        <p:spPr>
          <a:xfrm>
            <a:off x="6227064" y="3273552"/>
            <a:ext cx="2606040" cy="329184"/>
          </a:xfrm>
          <a:prstGeom prst="rect">
            <a:avLst/>
          </a:prstGeom>
          <a:noFill/>
          <a:ln/>
        </p:spPr>
        <p:txBody>
          <a:bodyPr wrap="square" lIns="0" tIns="0" rIns="0" bIns="0" rtlCol="0" anchor="ctr"/>
          <a:lstStyle/>
          <a:p>
            <a:pPr marL="0" indent="0">
              <a:buNone/>
            </a:pPr>
            <a:r>
              <a:rPr lang="en-US" sz="820" dirty="0">
                <a:solidFill>
                  <a:srgbClr val="1A1A2E"/>
                </a:solidFill>
              </a:rPr>
              <a:t>• KFF uses NSRL to classify files during analysis</a:t>
            </a:r>
            <a:endParaRPr lang="en-US" sz="820" dirty="0"/>
          </a:p>
        </p:txBody>
      </p:sp>
      <p:sp>
        <p:nvSpPr>
          <p:cNvPr id="32" name="Text 30"/>
          <p:cNvSpPr/>
          <p:nvPr/>
        </p:nvSpPr>
        <p:spPr>
          <a:xfrm>
            <a:off x="6227064" y="3648456"/>
            <a:ext cx="2606040" cy="329184"/>
          </a:xfrm>
          <a:prstGeom prst="rect">
            <a:avLst/>
          </a:prstGeom>
          <a:noFill/>
          <a:ln/>
        </p:spPr>
        <p:txBody>
          <a:bodyPr wrap="square" lIns="0" tIns="0" rIns="0" bIns="0" rtlCol="0" anchor="ctr"/>
          <a:lstStyle/>
          <a:p>
            <a:pPr marL="0" indent="0">
              <a:buNone/>
            </a:pPr>
            <a:r>
              <a:rPr lang="en-US" sz="820" dirty="0">
                <a:solidFill>
                  <a:srgbClr val="1A1A2E"/>
                </a:solidFill>
              </a:rPr>
              <a:t>• Known Good: OS/app files — auto-excluded from review</a:t>
            </a:r>
            <a:endParaRPr lang="en-US" sz="820" dirty="0"/>
          </a:p>
        </p:txBody>
      </p:sp>
      <p:sp>
        <p:nvSpPr>
          <p:cNvPr id="33" name="Text 31"/>
          <p:cNvSpPr/>
          <p:nvPr/>
        </p:nvSpPr>
        <p:spPr>
          <a:xfrm>
            <a:off x="6227064" y="4023360"/>
            <a:ext cx="2606040" cy="329184"/>
          </a:xfrm>
          <a:prstGeom prst="rect">
            <a:avLst/>
          </a:prstGeom>
          <a:noFill/>
          <a:ln/>
        </p:spPr>
        <p:txBody>
          <a:bodyPr wrap="square" lIns="0" tIns="0" rIns="0" bIns="0" rtlCol="0" anchor="ctr"/>
          <a:lstStyle/>
          <a:p>
            <a:pPr marL="0" indent="0">
              <a:buNone/>
            </a:pPr>
            <a:r>
              <a:rPr lang="en-US" sz="820" dirty="0">
                <a:solidFill>
                  <a:srgbClr val="1A1A2E"/>
                </a:solidFill>
              </a:rPr>
              <a:t>• Known Bad: Malware/contraband — immediately flagged</a:t>
            </a:r>
            <a:endParaRPr lang="en-US" sz="820" dirty="0"/>
          </a:p>
        </p:txBody>
      </p:sp>
      <p:sp>
        <p:nvSpPr>
          <p:cNvPr id="34" name="Text 32"/>
          <p:cNvSpPr/>
          <p:nvPr/>
        </p:nvSpPr>
        <p:spPr>
          <a:xfrm>
            <a:off x="6227064" y="4398264"/>
            <a:ext cx="2606040" cy="329184"/>
          </a:xfrm>
          <a:prstGeom prst="rect">
            <a:avLst/>
          </a:prstGeom>
          <a:noFill/>
          <a:ln/>
        </p:spPr>
        <p:txBody>
          <a:bodyPr wrap="square" lIns="0" tIns="0" rIns="0" bIns="0" rtlCol="0" anchor="ctr"/>
          <a:lstStyle/>
          <a:p>
            <a:pPr marL="0" indent="0">
              <a:buNone/>
            </a:pPr>
            <a:r>
              <a:rPr lang="en-US" sz="820" dirty="0">
                <a:solidFill>
                  <a:srgbClr val="1A1A2E"/>
                </a:solidFill>
              </a:rPr>
              <a:t>• Unknown: Not in database — highest investigative priority</a:t>
            </a:r>
            <a:endParaRPr lang="en-US" sz="820" dirty="0"/>
          </a:p>
        </p:txBody>
      </p:sp>
      <p:sp>
        <p:nvSpPr>
          <p:cNvPr id="35" name="Text 33"/>
          <p:cNvSpPr/>
          <p:nvPr/>
        </p:nvSpPr>
        <p:spPr>
          <a:xfrm>
            <a:off x="365760" y="4736592"/>
            <a:ext cx="8503920" cy="201168"/>
          </a:xfrm>
          <a:prstGeom prst="rect">
            <a:avLst/>
          </a:prstGeom>
          <a:noFill/>
          <a:ln/>
        </p:spPr>
        <p:txBody>
          <a:bodyPr wrap="square" lIns="0" tIns="0" rIns="0" bIns="0" rtlCol="0" anchor="ctr"/>
          <a:lstStyle/>
          <a:p>
            <a:pPr marL="0" indent="0">
              <a:buNone/>
            </a:pPr>
            <a:r>
              <a:rPr lang="en-US" sz="850" i="1" dirty="0">
                <a:solidFill>
                  <a:srgbClr val="8899AA"/>
                </a:solidFill>
              </a:rPr>
              <a:t>Tools: Autopsy, FTK, and Sleuth Kit all integrate NSRL hash sets and support MD5/SHA-256 verification natively.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607515"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424635" cy="256032"/>
          </a:xfrm>
          <a:prstGeom prst="rect">
            <a:avLst/>
          </a:prstGeom>
          <a:noFill/>
          <a:ln/>
        </p:spPr>
        <p:txBody>
          <a:bodyPr wrap="square" lIns="0" tIns="0" rIns="0" bIns="0" rtlCol="0" anchor="ctr"/>
          <a:lstStyle/>
          <a:p>
            <a:pPr marL="0" indent="0">
              <a:buNone/>
            </a:pPr>
            <a:r>
              <a:rPr lang="en-US" sz="850" b="1" dirty="0">
                <a:solidFill>
                  <a:srgbClr val="0D1B2A"/>
                </a:solidFill>
              </a:rPr>
              <a:t>TASK 3 · EXTRACTION</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Extraction: Recovering Evidence from Images</a:t>
            </a:r>
            <a:endParaRPr lang="en-US" sz="2800" dirty="0"/>
          </a:p>
        </p:txBody>
      </p:sp>
      <p:sp>
        <p:nvSpPr>
          <p:cNvPr id="5" name="Shape 3"/>
          <p:cNvSpPr/>
          <p:nvPr/>
        </p:nvSpPr>
        <p:spPr>
          <a:xfrm>
            <a:off x="320040" y="1261872"/>
            <a:ext cx="8503920" cy="566928"/>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61872"/>
            <a:ext cx="109728" cy="566928"/>
          </a:xfrm>
          <a:prstGeom prst="rect">
            <a:avLst/>
          </a:prstGeom>
          <a:solidFill>
            <a:srgbClr val="2ECC71"/>
          </a:solidFill>
          <a:ln w="12700">
            <a:solidFill>
              <a:srgbClr val="2ECC71"/>
            </a:solidFill>
            <a:prstDash val="solid"/>
          </a:ln>
        </p:spPr>
        <p:txBody>
          <a:bodyPr/>
          <a:lstStyle/>
          <a:p>
            <a:endParaRPr lang="en-SG"/>
          </a:p>
        </p:txBody>
      </p:sp>
      <p:sp>
        <p:nvSpPr>
          <p:cNvPr id="7" name="Text 5"/>
          <p:cNvSpPr/>
          <p:nvPr/>
        </p:nvSpPr>
        <p:spPr>
          <a:xfrm>
            <a:off x="512064" y="1335024"/>
            <a:ext cx="8229600" cy="420624"/>
          </a:xfrm>
          <a:prstGeom prst="rect">
            <a:avLst/>
          </a:prstGeom>
          <a:noFill/>
          <a:ln/>
        </p:spPr>
        <p:txBody>
          <a:bodyPr wrap="square" lIns="0" tIns="0" rIns="0" bIns="0" rtlCol="0" anchor="ctr"/>
          <a:lstStyle/>
          <a:p>
            <a:pPr marL="0" indent="0">
              <a:buNone/>
            </a:pPr>
            <a:r>
              <a:rPr lang="en-US" sz="950" dirty="0">
                <a:solidFill>
                  <a:srgbClr val="1A1A2E"/>
                </a:solidFill>
              </a:rPr>
              <a:t>Extraction is the most demanding forensic task — it involves locating, recovering, and preparing evidence for analysis. Keyword searching dramatically narrows the time required.</a:t>
            </a:r>
            <a:endParaRPr lang="en-US" sz="950" dirty="0"/>
          </a:p>
        </p:txBody>
      </p:sp>
      <p:sp>
        <p:nvSpPr>
          <p:cNvPr id="8" name="Shape 6"/>
          <p:cNvSpPr/>
          <p:nvPr/>
        </p:nvSpPr>
        <p:spPr>
          <a:xfrm>
            <a:off x="320040" y="1956816"/>
            <a:ext cx="2788920" cy="1261872"/>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956816"/>
            <a:ext cx="109728" cy="126187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521208" y="2048256"/>
            <a:ext cx="2505456" cy="292608"/>
          </a:xfrm>
          <a:prstGeom prst="rect">
            <a:avLst/>
          </a:prstGeom>
          <a:noFill/>
          <a:ln/>
        </p:spPr>
        <p:txBody>
          <a:bodyPr wrap="square" lIns="0" tIns="0" rIns="0" bIns="0" rtlCol="0" anchor="ctr"/>
          <a:lstStyle/>
          <a:p>
            <a:pPr marL="0" indent="0">
              <a:buNone/>
            </a:pPr>
            <a:r>
              <a:rPr lang="en-US" sz="1100" b="1" dirty="0">
                <a:solidFill>
                  <a:srgbClr val="00B4D8"/>
                </a:solidFill>
              </a:rPr>
              <a:t>🔎  Data Viewing</a:t>
            </a:r>
            <a:endParaRPr lang="en-US" sz="1100" dirty="0"/>
          </a:p>
        </p:txBody>
      </p:sp>
      <p:sp>
        <p:nvSpPr>
          <p:cNvPr id="11" name="Text 9"/>
          <p:cNvSpPr/>
          <p:nvPr/>
        </p:nvSpPr>
        <p:spPr>
          <a:xfrm>
            <a:off x="521208" y="2395728"/>
            <a:ext cx="2505456" cy="749808"/>
          </a:xfrm>
          <a:prstGeom prst="rect">
            <a:avLst/>
          </a:prstGeom>
          <a:noFill/>
          <a:ln/>
        </p:spPr>
        <p:txBody>
          <a:bodyPr wrap="square" lIns="0" tIns="0" rIns="0" bIns="0" rtlCol="0" anchor="ctr"/>
          <a:lstStyle/>
          <a:p>
            <a:pPr marL="0" indent="0">
              <a:buNone/>
            </a:pPr>
            <a:r>
              <a:rPr lang="en-US" sz="880" dirty="0">
                <a:solidFill>
                  <a:srgbClr val="1A1A2E"/>
                </a:solidFill>
              </a:rPr>
              <a:t>Examining raw content of files, unallocated space, slack space, and file system metadata using hex editors and forensic viewers.</a:t>
            </a:r>
            <a:endParaRPr lang="en-US" sz="880" dirty="0"/>
          </a:p>
        </p:txBody>
      </p:sp>
      <p:sp>
        <p:nvSpPr>
          <p:cNvPr id="12" name="Shape 10"/>
          <p:cNvSpPr/>
          <p:nvPr/>
        </p:nvSpPr>
        <p:spPr>
          <a:xfrm>
            <a:off x="3227832" y="1956816"/>
            <a:ext cx="2788920" cy="1261872"/>
          </a:xfrm>
          <a:prstGeom prst="rect">
            <a:avLst/>
          </a:prstGeom>
          <a:solidFill>
            <a:srgbClr val="EEF6FB"/>
          </a:solidFill>
          <a:ln w="12700">
            <a:solidFill>
              <a:srgbClr val="EEF6FB"/>
            </a:solidFill>
            <a:prstDash val="solid"/>
          </a:ln>
        </p:spPr>
        <p:txBody>
          <a:bodyPr/>
          <a:lstStyle/>
          <a:p>
            <a:endParaRPr lang="en-SG"/>
          </a:p>
        </p:txBody>
      </p:sp>
      <p:sp>
        <p:nvSpPr>
          <p:cNvPr id="13" name="Shape 11"/>
          <p:cNvSpPr/>
          <p:nvPr/>
        </p:nvSpPr>
        <p:spPr>
          <a:xfrm>
            <a:off x="3227832" y="1956816"/>
            <a:ext cx="109728" cy="1261872"/>
          </a:xfrm>
          <a:prstGeom prst="rect">
            <a:avLst/>
          </a:prstGeom>
          <a:solidFill>
            <a:srgbClr val="F4A261"/>
          </a:solidFill>
          <a:ln w="12700">
            <a:solidFill>
              <a:srgbClr val="F4A261"/>
            </a:solidFill>
            <a:prstDash val="solid"/>
          </a:ln>
        </p:spPr>
        <p:txBody>
          <a:bodyPr/>
          <a:lstStyle/>
          <a:p>
            <a:endParaRPr lang="en-SG"/>
          </a:p>
        </p:txBody>
      </p:sp>
      <p:sp>
        <p:nvSpPr>
          <p:cNvPr id="14" name="Text 12"/>
          <p:cNvSpPr/>
          <p:nvPr/>
        </p:nvSpPr>
        <p:spPr>
          <a:xfrm>
            <a:off x="3429000" y="2048256"/>
            <a:ext cx="2505456" cy="292608"/>
          </a:xfrm>
          <a:prstGeom prst="rect">
            <a:avLst/>
          </a:prstGeom>
          <a:noFill/>
          <a:ln/>
        </p:spPr>
        <p:txBody>
          <a:bodyPr wrap="square" lIns="0" tIns="0" rIns="0" bIns="0" rtlCol="0" anchor="ctr"/>
          <a:lstStyle/>
          <a:p>
            <a:pPr marL="0" indent="0">
              <a:buNone/>
            </a:pPr>
            <a:r>
              <a:rPr lang="en-US" sz="1100" b="1" dirty="0">
                <a:solidFill>
                  <a:srgbClr val="F4A261"/>
                </a:solidFill>
              </a:rPr>
              <a:t>🔤  Keyword Searching</a:t>
            </a:r>
            <a:endParaRPr lang="en-US" sz="1100" dirty="0"/>
          </a:p>
        </p:txBody>
      </p:sp>
      <p:sp>
        <p:nvSpPr>
          <p:cNvPr id="15" name="Text 13"/>
          <p:cNvSpPr/>
          <p:nvPr/>
        </p:nvSpPr>
        <p:spPr>
          <a:xfrm>
            <a:off x="3429000" y="2395728"/>
            <a:ext cx="2505456" cy="749808"/>
          </a:xfrm>
          <a:prstGeom prst="rect">
            <a:avLst/>
          </a:prstGeom>
          <a:noFill/>
          <a:ln/>
        </p:spPr>
        <p:txBody>
          <a:bodyPr wrap="square" lIns="0" tIns="0" rIns="0" bIns="0" rtlCol="0" anchor="ctr"/>
          <a:lstStyle/>
          <a:p>
            <a:pPr marL="0" indent="0">
              <a:buNone/>
            </a:pPr>
            <a:r>
              <a:rPr lang="en-US" sz="880" dirty="0">
                <a:solidFill>
                  <a:srgbClr val="1A1A2E"/>
                </a:solidFill>
              </a:rPr>
              <a:t>Pre-indexed or live searches across the full image for terms, email addresses, file names, or patterns. Indexed search in FTK enables near-instant results across millions of files.</a:t>
            </a:r>
            <a:endParaRPr lang="en-US" sz="880" dirty="0"/>
          </a:p>
        </p:txBody>
      </p:sp>
      <p:sp>
        <p:nvSpPr>
          <p:cNvPr id="16" name="Shape 14"/>
          <p:cNvSpPr/>
          <p:nvPr/>
        </p:nvSpPr>
        <p:spPr>
          <a:xfrm>
            <a:off x="6135624" y="1956816"/>
            <a:ext cx="2788920" cy="1261872"/>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6135624" y="1956816"/>
            <a:ext cx="109728" cy="1261872"/>
          </a:xfrm>
          <a:prstGeom prst="rect">
            <a:avLst/>
          </a:prstGeom>
          <a:solidFill>
            <a:srgbClr val="2ECC71"/>
          </a:solidFill>
          <a:ln w="12700">
            <a:solidFill>
              <a:srgbClr val="2ECC71"/>
            </a:solidFill>
            <a:prstDash val="solid"/>
          </a:ln>
        </p:spPr>
        <p:txBody>
          <a:bodyPr/>
          <a:lstStyle/>
          <a:p>
            <a:endParaRPr lang="en-SG"/>
          </a:p>
        </p:txBody>
      </p:sp>
      <p:sp>
        <p:nvSpPr>
          <p:cNvPr id="18" name="Text 16"/>
          <p:cNvSpPr/>
          <p:nvPr/>
        </p:nvSpPr>
        <p:spPr>
          <a:xfrm>
            <a:off x="6336792" y="2048256"/>
            <a:ext cx="2505456" cy="292608"/>
          </a:xfrm>
          <a:prstGeom prst="rect">
            <a:avLst/>
          </a:prstGeom>
          <a:noFill/>
          <a:ln/>
        </p:spPr>
        <p:txBody>
          <a:bodyPr wrap="square" lIns="0" tIns="0" rIns="0" bIns="0" rtlCol="0" anchor="ctr"/>
          <a:lstStyle/>
          <a:p>
            <a:pPr marL="0" indent="0">
              <a:buNone/>
            </a:pPr>
            <a:r>
              <a:rPr lang="en-US" sz="1100" b="1" dirty="0">
                <a:solidFill>
                  <a:srgbClr val="2ECC71"/>
                </a:solidFill>
              </a:rPr>
              <a:t>📦  Decompression &amp; Carving</a:t>
            </a:r>
            <a:endParaRPr lang="en-US" sz="1100" dirty="0"/>
          </a:p>
        </p:txBody>
      </p:sp>
      <p:sp>
        <p:nvSpPr>
          <p:cNvPr id="19" name="Text 17"/>
          <p:cNvSpPr/>
          <p:nvPr/>
        </p:nvSpPr>
        <p:spPr>
          <a:xfrm>
            <a:off x="6336792" y="2395728"/>
            <a:ext cx="2505456" cy="749808"/>
          </a:xfrm>
          <a:prstGeom prst="rect">
            <a:avLst/>
          </a:prstGeom>
          <a:noFill/>
          <a:ln/>
        </p:spPr>
        <p:txBody>
          <a:bodyPr wrap="square" lIns="0" tIns="0" rIns="0" bIns="0" rtlCol="0" anchor="ctr"/>
          <a:lstStyle/>
          <a:p>
            <a:pPr marL="0" indent="0">
              <a:buNone/>
            </a:pPr>
            <a:r>
              <a:rPr lang="en-US" sz="880" dirty="0">
                <a:solidFill>
                  <a:srgbClr val="1A1A2E"/>
                </a:solidFill>
              </a:rPr>
              <a:t>Extracting files from archives (ZIP, RAR, 7-Zip). Data carving recovers files from raw images using file signatures — even when directory entries are deleted.</a:t>
            </a:r>
            <a:endParaRPr lang="en-US" sz="880" dirty="0"/>
          </a:p>
        </p:txBody>
      </p:sp>
      <p:sp>
        <p:nvSpPr>
          <p:cNvPr id="20" name="Shape 18"/>
          <p:cNvSpPr/>
          <p:nvPr/>
        </p:nvSpPr>
        <p:spPr>
          <a:xfrm>
            <a:off x="320040" y="3346704"/>
            <a:ext cx="2788920" cy="1298448"/>
          </a:xfrm>
          <a:prstGeom prst="rect">
            <a:avLst/>
          </a:prstGeom>
          <a:solidFill>
            <a:srgbClr val="EEF6FB"/>
          </a:solidFill>
          <a:ln w="12700">
            <a:solidFill>
              <a:srgbClr val="EEF6FB"/>
            </a:solidFill>
            <a:prstDash val="solid"/>
          </a:ln>
        </p:spPr>
        <p:txBody>
          <a:bodyPr/>
          <a:lstStyle/>
          <a:p>
            <a:endParaRPr lang="en-SG"/>
          </a:p>
        </p:txBody>
      </p:sp>
      <p:sp>
        <p:nvSpPr>
          <p:cNvPr id="21" name="Shape 19"/>
          <p:cNvSpPr/>
          <p:nvPr/>
        </p:nvSpPr>
        <p:spPr>
          <a:xfrm>
            <a:off x="320040" y="3346704"/>
            <a:ext cx="109728" cy="1298448"/>
          </a:xfrm>
          <a:prstGeom prst="rect">
            <a:avLst/>
          </a:prstGeom>
          <a:solidFill>
            <a:srgbClr val="F1C40F"/>
          </a:solidFill>
          <a:ln w="12700">
            <a:solidFill>
              <a:srgbClr val="F1C40F"/>
            </a:solidFill>
            <a:prstDash val="solid"/>
          </a:ln>
        </p:spPr>
        <p:txBody>
          <a:bodyPr/>
          <a:lstStyle/>
          <a:p>
            <a:endParaRPr lang="en-SG"/>
          </a:p>
        </p:txBody>
      </p:sp>
      <p:sp>
        <p:nvSpPr>
          <p:cNvPr id="22" name="Text 20"/>
          <p:cNvSpPr/>
          <p:nvPr/>
        </p:nvSpPr>
        <p:spPr>
          <a:xfrm>
            <a:off x="521208" y="3438144"/>
            <a:ext cx="2505456" cy="292608"/>
          </a:xfrm>
          <a:prstGeom prst="rect">
            <a:avLst/>
          </a:prstGeom>
          <a:noFill/>
          <a:ln/>
        </p:spPr>
        <p:txBody>
          <a:bodyPr wrap="square" lIns="0" tIns="0" rIns="0" bIns="0" rtlCol="0" anchor="ctr"/>
          <a:lstStyle/>
          <a:p>
            <a:pPr marL="0" indent="0">
              <a:buNone/>
            </a:pPr>
            <a:r>
              <a:rPr lang="en-US" sz="1100" b="1" dirty="0">
                <a:solidFill>
                  <a:srgbClr val="F1C40F"/>
                </a:solidFill>
              </a:rPr>
              <a:t>🔓  Decryption</a:t>
            </a:r>
            <a:endParaRPr lang="en-US" sz="1100" dirty="0"/>
          </a:p>
        </p:txBody>
      </p:sp>
      <p:sp>
        <p:nvSpPr>
          <p:cNvPr id="23" name="Text 21"/>
          <p:cNvSpPr/>
          <p:nvPr/>
        </p:nvSpPr>
        <p:spPr>
          <a:xfrm>
            <a:off x="521208" y="3785616"/>
            <a:ext cx="2505456" cy="786384"/>
          </a:xfrm>
          <a:prstGeom prst="rect">
            <a:avLst/>
          </a:prstGeom>
          <a:noFill/>
          <a:ln/>
        </p:spPr>
        <p:txBody>
          <a:bodyPr wrap="square" lIns="0" tIns="0" rIns="0" bIns="0" rtlCol="0" anchor="ctr"/>
          <a:lstStyle/>
          <a:p>
            <a:pPr marL="0" indent="0">
              <a:buNone/>
            </a:pPr>
            <a:r>
              <a:rPr lang="en-US" sz="880" dirty="0">
                <a:solidFill>
                  <a:srgbClr val="1A1A2E"/>
                </a:solidFill>
              </a:rPr>
              <a:t>Recovering access to encrypted files and containers. Requires the passphrase or key. Password recovery tools (dictionary, brute force, profiling) support this step.</a:t>
            </a:r>
            <a:endParaRPr lang="en-US" sz="880" dirty="0"/>
          </a:p>
        </p:txBody>
      </p:sp>
      <p:sp>
        <p:nvSpPr>
          <p:cNvPr id="24" name="Shape 22"/>
          <p:cNvSpPr/>
          <p:nvPr/>
        </p:nvSpPr>
        <p:spPr>
          <a:xfrm>
            <a:off x="3227832" y="3346704"/>
            <a:ext cx="2788920" cy="1298448"/>
          </a:xfrm>
          <a:prstGeom prst="rect">
            <a:avLst/>
          </a:prstGeom>
          <a:solidFill>
            <a:srgbClr val="EEF6FB"/>
          </a:solidFill>
          <a:ln w="12700">
            <a:solidFill>
              <a:srgbClr val="EEF6FB"/>
            </a:solidFill>
            <a:prstDash val="solid"/>
          </a:ln>
        </p:spPr>
        <p:txBody>
          <a:bodyPr/>
          <a:lstStyle/>
          <a:p>
            <a:endParaRPr lang="en-SG"/>
          </a:p>
        </p:txBody>
      </p:sp>
      <p:sp>
        <p:nvSpPr>
          <p:cNvPr id="25" name="Shape 23"/>
          <p:cNvSpPr/>
          <p:nvPr/>
        </p:nvSpPr>
        <p:spPr>
          <a:xfrm>
            <a:off x="3227832" y="3346704"/>
            <a:ext cx="109728" cy="1298448"/>
          </a:xfrm>
          <a:prstGeom prst="rect">
            <a:avLst/>
          </a:prstGeom>
          <a:solidFill>
            <a:srgbClr val="A855F7"/>
          </a:solidFill>
          <a:ln w="12700">
            <a:solidFill>
              <a:srgbClr val="A855F7"/>
            </a:solidFill>
            <a:prstDash val="solid"/>
          </a:ln>
        </p:spPr>
        <p:txBody>
          <a:bodyPr/>
          <a:lstStyle/>
          <a:p>
            <a:endParaRPr lang="en-SG"/>
          </a:p>
        </p:txBody>
      </p:sp>
      <p:sp>
        <p:nvSpPr>
          <p:cNvPr id="26" name="Text 24"/>
          <p:cNvSpPr/>
          <p:nvPr/>
        </p:nvSpPr>
        <p:spPr>
          <a:xfrm>
            <a:off x="3429000" y="3438144"/>
            <a:ext cx="2505456" cy="292608"/>
          </a:xfrm>
          <a:prstGeom prst="rect">
            <a:avLst/>
          </a:prstGeom>
          <a:noFill/>
          <a:ln/>
        </p:spPr>
        <p:txBody>
          <a:bodyPr wrap="square" lIns="0" tIns="0" rIns="0" bIns="0" rtlCol="0" anchor="ctr"/>
          <a:lstStyle/>
          <a:p>
            <a:pPr marL="0" indent="0">
              <a:buNone/>
            </a:pPr>
            <a:r>
              <a:rPr lang="en-US" sz="1100" b="1" dirty="0">
                <a:solidFill>
                  <a:srgbClr val="A855F7"/>
                </a:solidFill>
              </a:rPr>
              <a:t>📌  Bookmarking</a:t>
            </a:r>
            <a:endParaRPr lang="en-US" sz="1100" dirty="0"/>
          </a:p>
        </p:txBody>
      </p:sp>
      <p:sp>
        <p:nvSpPr>
          <p:cNvPr id="27" name="Text 25"/>
          <p:cNvSpPr/>
          <p:nvPr/>
        </p:nvSpPr>
        <p:spPr>
          <a:xfrm>
            <a:off x="3429000" y="3785616"/>
            <a:ext cx="2505456" cy="786384"/>
          </a:xfrm>
          <a:prstGeom prst="rect">
            <a:avLst/>
          </a:prstGeom>
          <a:noFill/>
          <a:ln/>
        </p:spPr>
        <p:txBody>
          <a:bodyPr wrap="square" lIns="0" tIns="0" rIns="0" bIns="0" rtlCol="0" anchor="ctr"/>
          <a:lstStyle/>
          <a:p>
            <a:pPr marL="0" indent="0">
              <a:buNone/>
            </a:pPr>
            <a:r>
              <a:rPr lang="en-US" sz="880" dirty="0">
                <a:solidFill>
                  <a:srgbClr val="1A1A2E"/>
                </a:solidFill>
              </a:rPr>
              <a:t>Flagging files, strings, and artefacts for inclusion in the final report. Maintains an auditable chain of the evidence selected during analysis.</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3182112"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999232" cy="256032"/>
          </a:xfrm>
          <a:prstGeom prst="rect">
            <a:avLst/>
          </a:prstGeom>
          <a:noFill/>
          <a:ln/>
        </p:spPr>
        <p:txBody>
          <a:bodyPr wrap="square" lIns="0" tIns="0" rIns="0" bIns="0" rtlCol="0" anchor="ctr"/>
          <a:lstStyle/>
          <a:p>
            <a:pPr marL="0" indent="0">
              <a:buNone/>
            </a:pPr>
            <a:r>
              <a:rPr lang="en-US" sz="850" b="1" dirty="0">
                <a:solidFill>
                  <a:srgbClr val="0D1B2A"/>
                </a:solidFill>
              </a:rPr>
              <a:t>TASKS 4 &amp; 5 · RECONSTRUCTION &amp; REPORTING</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Reconstruction &amp; Reporting</a:t>
            </a:r>
            <a:endParaRPr lang="en-US" sz="2800" dirty="0"/>
          </a:p>
        </p:txBody>
      </p:sp>
      <p:sp>
        <p:nvSpPr>
          <p:cNvPr id="5" name="Shape 3"/>
          <p:cNvSpPr/>
          <p:nvPr/>
        </p:nvSpPr>
        <p:spPr>
          <a:xfrm>
            <a:off x="320040" y="1261872"/>
            <a:ext cx="4160520" cy="3547872"/>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61872"/>
            <a:ext cx="4160520" cy="91440"/>
          </a:xfrm>
          <a:prstGeom prst="rect">
            <a:avLst/>
          </a:prstGeom>
          <a:solidFill>
            <a:srgbClr val="F1C40F"/>
          </a:solidFill>
          <a:ln w="12700">
            <a:solidFill>
              <a:srgbClr val="F1C40F"/>
            </a:solidFill>
            <a:prstDash val="solid"/>
          </a:ln>
        </p:spPr>
        <p:txBody>
          <a:bodyPr/>
          <a:lstStyle/>
          <a:p>
            <a:endParaRPr lang="en-SG"/>
          </a:p>
        </p:txBody>
      </p:sp>
      <p:sp>
        <p:nvSpPr>
          <p:cNvPr id="7" name="Text 5"/>
          <p:cNvSpPr/>
          <p:nvPr/>
        </p:nvSpPr>
        <p:spPr>
          <a:xfrm>
            <a:off x="457200" y="1408176"/>
            <a:ext cx="3840480" cy="347472"/>
          </a:xfrm>
          <a:prstGeom prst="rect">
            <a:avLst/>
          </a:prstGeom>
          <a:noFill/>
          <a:ln/>
        </p:spPr>
        <p:txBody>
          <a:bodyPr wrap="square" lIns="0" tIns="0" rIns="0" bIns="0" rtlCol="0" anchor="ctr"/>
          <a:lstStyle/>
          <a:p>
            <a:pPr marL="0" indent="0">
              <a:buNone/>
            </a:pPr>
            <a:r>
              <a:rPr lang="en-US" sz="1600" b="1" dirty="0">
                <a:solidFill>
                  <a:srgbClr val="F1C40F"/>
                </a:solidFill>
              </a:rPr>
              <a:t>🔄  Reconstruction</a:t>
            </a:r>
            <a:endParaRPr lang="en-US" sz="1600" dirty="0"/>
          </a:p>
        </p:txBody>
      </p:sp>
      <p:sp>
        <p:nvSpPr>
          <p:cNvPr id="8" name="Text 6"/>
          <p:cNvSpPr/>
          <p:nvPr/>
        </p:nvSpPr>
        <p:spPr>
          <a:xfrm>
            <a:off x="457200" y="1792224"/>
            <a:ext cx="3840480" cy="585216"/>
          </a:xfrm>
          <a:prstGeom prst="rect">
            <a:avLst/>
          </a:prstGeom>
          <a:noFill/>
          <a:ln/>
        </p:spPr>
        <p:txBody>
          <a:bodyPr wrap="square" lIns="0" tIns="0" rIns="0" bIns="0" rtlCol="0" anchor="ctr"/>
          <a:lstStyle/>
          <a:p>
            <a:pPr marL="0" indent="0">
              <a:buNone/>
            </a:pPr>
            <a:r>
              <a:rPr lang="en-US" sz="900" dirty="0">
                <a:solidFill>
                  <a:srgbClr val="1A1A2E"/>
                </a:solidFill>
              </a:rPr>
              <a:t>Re-creates a suspect drive image to establish what happened on a device during an incident or crime — producing a working replica that can be examined safely.</a:t>
            </a:r>
            <a:endParaRPr lang="en-US" sz="900" dirty="0"/>
          </a:p>
        </p:txBody>
      </p:sp>
      <p:sp>
        <p:nvSpPr>
          <p:cNvPr id="9" name="Text 7"/>
          <p:cNvSpPr/>
          <p:nvPr/>
        </p:nvSpPr>
        <p:spPr>
          <a:xfrm>
            <a:off x="457200" y="2432304"/>
            <a:ext cx="3840480" cy="256032"/>
          </a:xfrm>
          <a:prstGeom prst="rect">
            <a:avLst/>
          </a:prstGeom>
          <a:noFill/>
          <a:ln/>
        </p:spPr>
        <p:txBody>
          <a:bodyPr wrap="square" lIns="0" tIns="0" rIns="0" bIns="0" rtlCol="0" anchor="ctr"/>
          <a:lstStyle/>
          <a:p>
            <a:pPr marL="0" indent="0">
              <a:buNone/>
            </a:pPr>
            <a:r>
              <a:rPr lang="en-US" sz="1000" b="1" dirty="0">
                <a:solidFill>
                  <a:srgbClr val="8899AA"/>
                </a:solidFill>
              </a:rPr>
              <a:t>Subfunctions:</a:t>
            </a:r>
            <a:endParaRPr lang="en-US" sz="1000" dirty="0"/>
          </a:p>
        </p:txBody>
      </p:sp>
      <p:sp>
        <p:nvSpPr>
          <p:cNvPr id="10" name="Text 8"/>
          <p:cNvSpPr/>
          <p:nvPr/>
        </p:nvSpPr>
        <p:spPr>
          <a:xfrm>
            <a:off x="457200" y="2743200"/>
            <a:ext cx="3840480" cy="310896"/>
          </a:xfrm>
          <a:prstGeom prst="rect">
            <a:avLst/>
          </a:prstGeom>
          <a:noFill/>
          <a:ln/>
        </p:spPr>
        <p:txBody>
          <a:bodyPr wrap="square" lIns="0" tIns="0" rIns="0" bIns="0" rtlCol="0" anchor="ctr"/>
          <a:lstStyle/>
          <a:p>
            <a:pPr marL="0" indent="0">
              <a:buNone/>
            </a:pPr>
            <a:r>
              <a:rPr lang="en-US" sz="900" dirty="0">
                <a:solidFill>
                  <a:srgbClr val="1A1A2E"/>
                </a:solidFill>
              </a:rPr>
              <a:t>• Disk-to-disk copy — source drive duplicated to working drive</a:t>
            </a:r>
            <a:endParaRPr lang="en-US" sz="900" dirty="0"/>
          </a:p>
        </p:txBody>
      </p:sp>
      <p:sp>
        <p:nvSpPr>
          <p:cNvPr id="11" name="Text 9"/>
          <p:cNvSpPr/>
          <p:nvPr/>
        </p:nvSpPr>
        <p:spPr>
          <a:xfrm>
            <a:off x="457200" y="3090672"/>
            <a:ext cx="3840480" cy="310896"/>
          </a:xfrm>
          <a:prstGeom prst="rect">
            <a:avLst/>
          </a:prstGeom>
          <a:noFill/>
          <a:ln/>
        </p:spPr>
        <p:txBody>
          <a:bodyPr wrap="square" lIns="0" tIns="0" rIns="0" bIns="0" rtlCol="0" anchor="ctr"/>
          <a:lstStyle/>
          <a:p>
            <a:pPr marL="0" indent="0">
              <a:buNone/>
            </a:pPr>
            <a:r>
              <a:rPr lang="en-US" sz="900" dirty="0">
                <a:solidFill>
                  <a:srgbClr val="1A1A2E"/>
                </a:solidFill>
              </a:rPr>
              <a:t>• Image-to-disk copy — image file written back to blank drive</a:t>
            </a:r>
            <a:endParaRPr lang="en-US" sz="900" dirty="0"/>
          </a:p>
        </p:txBody>
      </p:sp>
      <p:sp>
        <p:nvSpPr>
          <p:cNvPr id="12" name="Text 10"/>
          <p:cNvSpPr/>
          <p:nvPr/>
        </p:nvSpPr>
        <p:spPr>
          <a:xfrm>
            <a:off x="457200" y="3438144"/>
            <a:ext cx="3840480" cy="310896"/>
          </a:xfrm>
          <a:prstGeom prst="rect">
            <a:avLst/>
          </a:prstGeom>
          <a:noFill/>
          <a:ln/>
        </p:spPr>
        <p:txBody>
          <a:bodyPr wrap="square" lIns="0" tIns="0" rIns="0" bIns="0" rtlCol="0" anchor="ctr"/>
          <a:lstStyle/>
          <a:p>
            <a:pPr marL="0" indent="0">
              <a:buNone/>
            </a:pPr>
            <a:r>
              <a:rPr lang="en-US" sz="900" dirty="0">
                <a:solidFill>
                  <a:srgbClr val="1A1A2E"/>
                </a:solidFill>
              </a:rPr>
              <a:t>• Partition-to-partition — individual partition mirrored</a:t>
            </a:r>
            <a:endParaRPr lang="en-US" sz="900" dirty="0"/>
          </a:p>
        </p:txBody>
      </p:sp>
      <p:sp>
        <p:nvSpPr>
          <p:cNvPr id="13" name="Text 11"/>
          <p:cNvSpPr/>
          <p:nvPr/>
        </p:nvSpPr>
        <p:spPr>
          <a:xfrm>
            <a:off x="457200" y="3785616"/>
            <a:ext cx="3840480" cy="310896"/>
          </a:xfrm>
          <a:prstGeom prst="rect">
            <a:avLst/>
          </a:prstGeom>
          <a:noFill/>
          <a:ln/>
        </p:spPr>
        <p:txBody>
          <a:bodyPr wrap="square" lIns="0" tIns="0" rIns="0" bIns="0" rtlCol="0" anchor="ctr"/>
          <a:lstStyle/>
          <a:p>
            <a:pPr marL="0" indent="0">
              <a:buNone/>
            </a:pPr>
            <a:r>
              <a:rPr lang="en-US" sz="900" dirty="0">
                <a:solidFill>
                  <a:srgbClr val="1A1A2E"/>
                </a:solidFill>
              </a:rPr>
              <a:t>• Image-to-partition — restore image to specific partition</a:t>
            </a:r>
            <a:endParaRPr lang="en-US" sz="900" dirty="0"/>
          </a:p>
        </p:txBody>
      </p:sp>
      <p:sp>
        <p:nvSpPr>
          <p:cNvPr id="14" name="Text 12"/>
          <p:cNvSpPr/>
          <p:nvPr/>
        </p:nvSpPr>
        <p:spPr>
          <a:xfrm>
            <a:off x="457200" y="4206240"/>
            <a:ext cx="3840480" cy="530352"/>
          </a:xfrm>
          <a:prstGeom prst="rect">
            <a:avLst/>
          </a:prstGeom>
          <a:noFill/>
          <a:ln/>
        </p:spPr>
        <p:txBody>
          <a:bodyPr wrap="square" lIns="0" tIns="0" rIns="0" bIns="0" rtlCol="0" anchor="ctr"/>
          <a:lstStyle/>
          <a:p>
            <a:pPr marL="0" indent="0">
              <a:buNone/>
            </a:pPr>
            <a:r>
              <a:rPr lang="en-US" sz="900" i="1" dirty="0">
                <a:solidFill>
                  <a:srgbClr val="F1C40F"/>
                </a:solidFill>
              </a:rPr>
              <a:t>Modern tools: FTK Imager, EnCase, Autopsy, dc3dd</a:t>
            </a:r>
            <a:endParaRPr lang="en-US" sz="900" dirty="0"/>
          </a:p>
        </p:txBody>
      </p:sp>
      <p:sp>
        <p:nvSpPr>
          <p:cNvPr id="15" name="Shape 13"/>
          <p:cNvSpPr/>
          <p:nvPr/>
        </p:nvSpPr>
        <p:spPr>
          <a:xfrm>
            <a:off x="4663440" y="1261872"/>
            <a:ext cx="4160520" cy="3547872"/>
          </a:xfrm>
          <a:prstGeom prst="rect">
            <a:avLst/>
          </a:prstGeom>
          <a:solidFill>
            <a:srgbClr val="EEF6FB"/>
          </a:solidFill>
          <a:ln w="12700">
            <a:solidFill>
              <a:srgbClr val="EEF6FB"/>
            </a:solidFill>
            <a:prstDash val="solid"/>
          </a:ln>
        </p:spPr>
        <p:txBody>
          <a:bodyPr/>
          <a:lstStyle/>
          <a:p>
            <a:endParaRPr lang="en-SG"/>
          </a:p>
        </p:txBody>
      </p:sp>
      <p:sp>
        <p:nvSpPr>
          <p:cNvPr id="16" name="Shape 14"/>
          <p:cNvSpPr/>
          <p:nvPr/>
        </p:nvSpPr>
        <p:spPr>
          <a:xfrm>
            <a:off x="4663440" y="1261872"/>
            <a:ext cx="4160520" cy="91440"/>
          </a:xfrm>
          <a:prstGeom prst="rect">
            <a:avLst/>
          </a:prstGeom>
          <a:solidFill>
            <a:srgbClr val="48CAE4"/>
          </a:solidFill>
          <a:ln w="12700">
            <a:solidFill>
              <a:srgbClr val="48CAE4"/>
            </a:solidFill>
            <a:prstDash val="solid"/>
          </a:ln>
        </p:spPr>
        <p:txBody>
          <a:bodyPr/>
          <a:lstStyle/>
          <a:p>
            <a:endParaRPr lang="en-SG"/>
          </a:p>
        </p:txBody>
      </p:sp>
      <p:sp>
        <p:nvSpPr>
          <p:cNvPr id="17" name="Text 15"/>
          <p:cNvSpPr/>
          <p:nvPr/>
        </p:nvSpPr>
        <p:spPr>
          <a:xfrm>
            <a:off x="4800600" y="1408176"/>
            <a:ext cx="3840480" cy="347472"/>
          </a:xfrm>
          <a:prstGeom prst="rect">
            <a:avLst/>
          </a:prstGeom>
          <a:noFill/>
          <a:ln/>
        </p:spPr>
        <p:txBody>
          <a:bodyPr wrap="square" lIns="0" tIns="0" rIns="0" bIns="0" rtlCol="0" anchor="ctr"/>
          <a:lstStyle/>
          <a:p>
            <a:pPr marL="0" indent="0">
              <a:buNone/>
            </a:pPr>
            <a:r>
              <a:rPr lang="en-US" sz="1600" b="1" dirty="0">
                <a:solidFill>
                  <a:srgbClr val="48CAE4"/>
                </a:solidFill>
              </a:rPr>
              <a:t>📋  Reporting</a:t>
            </a:r>
            <a:endParaRPr lang="en-US" sz="1600" dirty="0"/>
          </a:p>
        </p:txBody>
      </p:sp>
      <p:sp>
        <p:nvSpPr>
          <p:cNvPr id="18" name="Text 16"/>
          <p:cNvSpPr/>
          <p:nvPr/>
        </p:nvSpPr>
        <p:spPr>
          <a:xfrm>
            <a:off x="4800600" y="1792224"/>
            <a:ext cx="3840480" cy="585216"/>
          </a:xfrm>
          <a:prstGeom prst="rect">
            <a:avLst/>
          </a:prstGeom>
          <a:noFill/>
          <a:ln/>
        </p:spPr>
        <p:txBody>
          <a:bodyPr wrap="square" lIns="0" tIns="0" rIns="0" bIns="0" rtlCol="0" anchor="ctr"/>
          <a:lstStyle/>
          <a:p>
            <a:pPr marL="0" indent="0">
              <a:buNone/>
            </a:pPr>
            <a:r>
              <a:rPr lang="en-US" sz="900" dirty="0">
                <a:solidFill>
                  <a:srgbClr val="1A1A2E"/>
                </a:solidFill>
              </a:rPr>
              <a:t>The final deliverable — a comprehensive, structured document presentable in legal proceedings or to non-technical stakeholders.</a:t>
            </a:r>
            <a:endParaRPr lang="en-US" sz="900" dirty="0"/>
          </a:p>
        </p:txBody>
      </p:sp>
      <p:sp>
        <p:nvSpPr>
          <p:cNvPr id="19" name="Text 17"/>
          <p:cNvSpPr/>
          <p:nvPr/>
        </p:nvSpPr>
        <p:spPr>
          <a:xfrm>
            <a:off x="4800600" y="2432304"/>
            <a:ext cx="3840480" cy="256032"/>
          </a:xfrm>
          <a:prstGeom prst="rect">
            <a:avLst/>
          </a:prstGeom>
          <a:noFill/>
          <a:ln/>
        </p:spPr>
        <p:txBody>
          <a:bodyPr wrap="square" lIns="0" tIns="0" rIns="0" bIns="0" rtlCol="0" anchor="ctr"/>
          <a:lstStyle/>
          <a:p>
            <a:pPr marL="0" indent="0">
              <a:buNone/>
            </a:pPr>
            <a:r>
              <a:rPr lang="en-US" sz="1000" b="1" dirty="0">
                <a:solidFill>
                  <a:srgbClr val="8899AA"/>
                </a:solidFill>
              </a:rPr>
              <a:t>A good report must include:</a:t>
            </a:r>
            <a:endParaRPr lang="en-US" sz="1000" dirty="0"/>
          </a:p>
        </p:txBody>
      </p:sp>
      <p:sp>
        <p:nvSpPr>
          <p:cNvPr id="20" name="Text 18"/>
          <p:cNvSpPr/>
          <p:nvPr/>
        </p:nvSpPr>
        <p:spPr>
          <a:xfrm>
            <a:off x="4800600" y="2743200"/>
            <a:ext cx="3840480" cy="274320"/>
          </a:xfrm>
          <a:prstGeom prst="rect">
            <a:avLst/>
          </a:prstGeom>
          <a:noFill/>
          <a:ln/>
        </p:spPr>
        <p:txBody>
          <a:bodyPr wrap="square" lIns="0" tIns="0" rIns="0" bIns="0" rtlCol="0" anchor="ctr"/>
          <a:lstStyle/>
          <a:p>
            <a:pPr marL="0" indent="0">
              <a:buNone/>
            </a:pPr>
            <a:r>
              <a:rPr lang="en-US" sz="900" dirty="0">
                <a:solidFill>
                  <a:srgbClr val="1A1A2E"/>
                </a:solidFill>
              </a:rPr>
              <a:t>• Case summary and scope of investigation</a:t>
            </a:r>
            <a:endParaRPr lang="en-US" sz="900" dirty="0"/>
          </a:p>
        </p:txBody>
      </p:sp>
      <p:sp>
        <p:nvSpPr>
          <p:cNvPr id="21" name="Text 19"/>
          <p:cNvSpPr/>
          <p:nvPr/>
        </p:nvSpPr>
        <p:spPr>
          <a:xfrm>
            <a:off x="4800600" y="3044952"/>
            <a:ext cx="3840480" cy="274320"/>
          </a:xfrm>
          <a:prstGeom prst="rect">
            <a:avLst/>
          </a:prstGeom>
          <a:noFill/>
          <a:ln/>
        </p:spPr>
        <p:txBody>
          <a:bodyPr wrap="square" lIns="0" tIns="0" rIns="0" bIns="0" rtlCol="0" anchor="ctr"/>
          <a:lstStyle/>
          <a:p>
            <a:pPr marL="0" indent="0">
              <a:buNone/>
            </a:pPr>
            <a:r>
              <a:rPr lang="en-US" sz="900" dirty="0">
                <a:solidFill>
                  <a:srgbClr val="1A1A2E"/>
                </a:solidFill>
              </a:rPr>
              <a:t>• Methodology — tools used, acquisition process, chain of custody</a:t>
            </a:r>
            <a:endParaRPr lang="en-US" sz="900" dirty="0"/>
          </a:p>
        </p:txBody>
      </p:sp>
      <p:sp>
        <p:nvSpPr>
          <p:cNvPr id="22" name="Text 20"/>
          <p:cNvSpPr/>
          <p:nvPr/>
        </p:nvSpPr>
        <p:spPr>
          <a:xfrm>
            <a:off x="4800600" y="3346704"/>
            <a:ext cx="3840480" cy="274320"/>
          </a:xfrm>
          <a:prstGeom prst="rect">
            <a:avLst/>
          </a:prstGeom>
          <a:noFill/>
          <a:ln/>
        </p:spPr>
        <p:txBody>
          <a:bodyPr wrap="square" lIns="0" tIns="0" rIns="0" bIns="0" rtlCol="0" anchor="ctr"/>
          <a:lstStyle/>
          <a:p>
            <a:pPr marL="0" indent="0">
              <a:buNone/>
            </a:pPr>
            <a:r>
              <a:rPr lang="en-US" sz="900" dirty="0">
                <a:solidFill>
                  <a:srgbClr val="1A1A2E"/>
                </a:solidFill>
              </a:rPr>
              <a:t>• Hash values confirming evidence integrity at every step</a:t>
            </a:r>
            <a:endParaRPr lang="en-US" sz="900" dirty="0"/>
          </a:p>
        </p:txBody>
      </p:sp>
      <p:sp>
        <p:nvSpPr>
          <p:cNvPr id="23" name="Text 21"/>
          <p:cNvSpPr/>
          <p:nvPr/>
        </p:nvSpPr>
        <p:spPr>
          <a:xfrm>
            <a:off x="4800600" y="3648456"/>
            <a:ext cx="3840480" cy="274320"/>
          </a:xfrm>
          <a:prstGeom prst="rect">
            <a:avLst/>
          </a:prstGeom>
          <a:noFill/>
          <a:ln/>
        </p:spPr>
        <p:txBody>
          <a:bodyPr wrap="square" lIns="0" tIns="0" rIns="0" bIns="0" rtlCol="0" anchor="ctr"/>
          <a:lstStyle/>
          <a:p>
            <a:pPr marL="0" indent="0">
              <a:buNone/>
            </a:pPr>
            <a:r>
              <a:rPr lang="en-US" sz="900" dirty="0">
                <a:solidFill>
                  <a:srgbClr val="1A1A2E"/>
                </a:solidFill>
              </a:rPr>
              <a:t>• Findings with evidence artefacts and event timeline</a:t>
            </a:r>
            <a:endParaRPr lang="en-US" sz="900" dirty="0"/>
          </a:p>
        </p:txBody>
      </p:sp>
      <p:sp>
        <p:nvSpPr>
          <p:cNvPr id="24" name="Text 22"/>
          <p:cNvSpPr/>
          <p:nvPr/>
        </p:nvSpPr>
        <p:spPr>
          <a:xfrm>
            <a:off x="4800600" y="3950208"/>
            <a:ext cx="3840480" cy="274320"/>
          </a:xfrm>
          <a:prstGeom prst="rect">
            <a:avLst/>
          </a:prstGeom>
          <a:noFill/>
          <a:ln/>
        </p:spPr>
        <p:txBody>
          <a:bodyPr wrap="square" lIns="0" tIns="0" rIns="0" bIns="0" rtlCol="0" anchor="ctr"/>
          <a:lstStyle/>
          <a:p>
            <a:pPr marL="0" indent="0">
              <a:buNone/>
            </a:pPr>
            <a:r>
              <a:rPr lang="en-US" sz="900" dirty="0">
                <a:solidFill>
                  <a:srgbClr val="1A1A2E"/>
                </a:solidFill>
              </a:rPr>
              <a:t>• Log reports detailing every action taken on the image</a:t>
            </a:r>
            <a:endParaRPr lang="en-US" sz="900" dirty="0"/>
          </a:p>
        </p:txBody>
      </p:sp>
      <p:sp>
        <p:nvSpPr>
          <p:cNvPr id="25" name="Text 23"/>
          <p:cNvSpPr/>
          <p:nvPr/>
        </p:nvSpPr>
        <p:spPr>
          <a:xfrm>
            <a:off x="4800600" y="4251960"/>
            <a:ext cx="3840480" cy="274320"/>
          </a:xfrm>
          <a:prstGeom prst="rect">
            <a:avLst/>
          </a:prstGeom>
          <a:noFill/>
          <a:ln/>
        </p:spPr>
        <p:txBody>
          <a:bodyPr wrap="square" lIns="0" tIns="0" rIns="0" bIns="0" rtlCol="0" anchor="ctr"/>
          <a:lstStyle/>
          <a:p>
            <a:pPr marL="0" indent="0">
              <a:buNone/>
            </a:pPr>
            <a:r>
              <a:rPr lang="en-US" sz="900" dirty="0">
                <a:solidFill>
                  <a:srgbClr val="1A1A2E"/>
                </a:solidFill>
              </a:rPr>
              <a:t>• Conclusions — what the evidence shows, with caveats</a:t>
            </a:r>
            <a:endParaRPr lang="en-US" sz="900" dirty="0"/>
          </a:p>
        </p:txBody>
      </p:sp>
      <p:sp>
        <p:nvSpPr>
          <p:cNvPr id="26" name="Text 24"/>
          <p:cNvSpPr/>
          <p:nvPr/>
        </p:nvSpPr>
        <p:spPr>
          <a:xfrm>
            <a:off x="4800600" y="4535424"/>
            <a:ext cx="3840480" cy="219456"/>
          </a:xfrm>
          <a:prstGeom prst="rect">
            <a:avLst/>
          </a:prstGeom>
          <a:noFill/>
          <a:ln/>
        </p:spPr>
        <p:txBody>
          <a:bodyPr wrap="square" lIns="0" tIns="0" rIns="0" bIns="0" rtlCol="0" anchor="ctr"/>
          <a:lstStyle/>
          <a:p>
            <a:pPr marL="0" indent="0">
              <a:buNone/>
            </a:pPr>
            <a:r>
              <a:rPr lang="en-US" sz="900" i="1" dirty="0">
                <a:solidFill>
                  <a:srgbClr val="48CAE4"/>
                </a:solidFill>
              </a:rPr>
              <a:t>Tools with built-in reporting: FTK, Autopsy, EnCase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67712"/>
            <a:ext cx="9144000" cy="64008"/>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57200" y="1298448"/>
            <a:ext cx="8229600" cy="402336"/>
          </a:xfrm>
          <a:prstGeom prst="rect">
            <a:avLst/>
          </a:prstGeom>
          <a:noFill/>
          <a:ln/>
        </p:spPr>
        <p:txBody>
          <a:bodyPr wrap="square" lIns="0" tIns="0" rIns="0" bIns="0" rtlCol="0" anchor="ctr"/>
          <a:lstStyle/>
          <a:p>
            <a:pPr marL="0" indent="0" algn="ctr">
              <a:buNone/>
            </a:pPr>
            <a:r>
              <a:rPr lang="en-US" sz="1300" b="1" kern="0" spc="800" dirty="0">
                <a:solidFill>
                  <a:srgbClr val="F4A261"/>
                </a:solidFill>
              </a:rPr>
              <a:t>SECTION 2</a:t>
            </a:r>
            <a:endParaRPr lang="en-US" sz="1300" dirty="0"/>
          </a:p>
        </p:txBody>
      </p:sp>
      <p:sp>
        <p:nvSpPr>
          <p:cNvPr id="4" name="Text 2"/>
          <p:cNvSpPr/>
          <p:nvPr/>
        </p:nvSpPr>
        <p:spPr>
          <a:xfrm>
            <a:off x="457200" y="1700784"/>
            <a:ext cx="8229600" cy="1335024"/>
          </a:xfrm>
          <a:prstGeom prst="rect">
            <a:avLst/>
          </a:prstGeom>
          <a:noFill/>
          <a:ln/>
        </p:spPr>
        <p:txBody>
          <a:bodyPr wrap="square" lIns="0" tIns="0" rIns="0" bIns="0" rtlCol="0" anchor="ctr"/>
          <a:lstStyle/>
          <a:p>
            <a:pPr marL="0" indent="0" algn="ctr">
              <a:buNone/>
            </a:pPr>
            <a:r>
              <a:rPr lang="en-US" sz="4600" b="1" dirty="0">
                <a:solidFill>
                  <a:srgbClr val="1A1A2E"/>
                </a:solidFill>
              </a:rPr>
              <a:t>Forensic</a:t>
            </a:r>
            <a:endParaRPr lang="en-US" sz="4600" dirty="0"/>
          </a:p>
          <a:p>
            <a:pPr marL="0" indent="0" algn="ctr">
              <a:buNone/>
            </a:pPr>
            <a:r>
              <a:rPr lang="en-US" sz="4600" b="1" dirty="0">
                <a:solidFill>
                  <a:srgbClr val="1A1A2E"/>
                </a:solidFill>
              </a:rPr>
              <a:t>Software Tools</a:t>
            </a:r>
            <a:endParaRPr lang="en-US" sz="4600" dirty="0"/>
          </a:p>
        </p:txBody>
      </p:sp>
      <p:sp>
        <p:nvSpPr>
          <p:cNvPr id="5" name="Text 3"/>
          <p:cNvSpPr/>
          <p:nvPr/>
        </p:nvSpPr>
        <p:spPr>
          <a:xfrm>
            <a:off x="457200" y="3200400"/>
            <a:ext cx="8229600" cy="402336"/>
          </a:xfrm>
          <a:prstGeom prst="rect">
            <a:avLst/>
          </a:prstGeom>
          <a:noFill/>
          <a:ln/>
        </p:spPr>
        <p:txBody>
          <a:bodyPr wrap="square" lIns="0" tIns="0" rIns="0" bIns="0" rtlCol="0" anchor="ctr"/>
          <a:lstStyle/>
          <a:p>
            <a:pPr marL="0" indent="0" algn="ctr">
              <a:buNone/>
            </a:pPr>
            <a:r>
              <a:rPr lang="en-US" sz="1300" i="1" dirty="0">
                <a:solidFill>
                  <a:srgbClr val="8899AA"/>
                </a:solidFill>
              </a:rPr>
              <a:t>Command-line utilities, Linux suites &amp; GUI platforms for forensic investigation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457554"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274674" cy="256032"/>
          </a:xfrm>
          <a:prstGeom prst="rect">
            <a:avLst/>
          </a:prstGeom>
          <a:noFill/>
          <a:ln/>
        </p:spPr>
        <p:txBody>
          <a:bodyPr wrap="square" lIns="0" tIns="0" rIns="0" bIns="0" rtlCol="0" anchor="ctr"/>
          <a:lstStyle/>
          <a:p>
            <a:pPr marL="0" indent="0">
              <a:buNone/>
            </a:pPr>
            <a:r>
              <a:rPr lang="en-US" sz="850" b="1" dirty="0">
                <a:solidFill>
                  <a:srgbClr val="0D1B2A"/>
                </a:solidFill>
              </a:rPr>
              <a:t>SECTION 2 · TOOLS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Choosing the Right Forensic Tools</a:t>
            </a:r>
            <a:endParaRPr lang="en-US" sz="2800" dirty="0"/>
          </a:p>
        </p:txBody>
      </p:sp>
      <p:sp>
        <p:nvSpPr>
          <p:cNvPr id="5" name="Shape 3"/>
          <p:cNvSpPr/>
          <p:nvPr/>
        </p:nvSpPr>
        <p:spPr>
          <a:xfrm>
            <a:off x="320040" y="1298448"/>
            <a:ext cx="2788920" cy="1828800"/>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2788920" cy="91440"/>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29768" y="1426464"/>
            <a:ext cx="2578608" cy="347472"/>
          </a:xfrm>
          <a:prstGeom prst="rect">
            <a:avLst/>
          </a:prstGeom>
          <a:noFill/>
          <a:ln/>
        </p:spPr>
        <p:txBody>
          <a:bodyPr wrap="square" lIns="0" tIns="0" rIns="0" bIns="0" rtlCol="0" anchor="ctr"/>
          <a:lstStyle/>
          <a:p>
            <a:pPr marL="0" indent="0">
              <a:buNone/>
            </a:pPr>
            <a:r>
              <a:rPr lang="en-US" sz="1400" b="1" dirty="0">
                <a:solidFill>
                  <a:srgbClr val="00B4D8"/>
                </a:solidFill>
              </a:rPr>
              <a:t>🔧  Flexibility</a:t>
            </a:r>
            <a:endParaRPr lang="en-US" sz="1400" dirty="0"/>
          </a:p>
        </p:txBody>
      </p:sp>
      <p:sp>
        <p:nvSpPr>
          <p:cNvPr id="8" name="Text 6"/>
          <p:cNvSpPr/>
          <p:nvPr/>
        </p:nvSpPr>
        <p:spPr>
          <a:xfrm>
            <a:off x="429768" y="1828800"/>
            <a:ext cx="2578608" cy="1243584"/>
          </a:xfrm>
          <a:prstGeom prst="rect">
            <a:avLst/>
          </a:prstGeom>
          <a:noFill/>
          <a:ln/>
        </p:spPr>
        <p:txBody>
          <a:bodyPr wrap="square" lIns="0" tIns="0" rIns="0" bIns="0" rtlCol="0" anchor="ctr"/>
          <a:lstStyle/>
          <a:p>
            <a:pPr marL="0" indent="0">
              <a:buNone/>
            </a:pPr>
            <a:r>
              <a:rPr lang="en-US" sz="900" dirty="0">
                <a:solidFill>
                  <a:srgbClr val="1A1A2E"/>
                </a:solidFill>
              </a:rPr>
              <a:t>Can the tool handle multiple file systems (NTFS, FAT32, ext4, APFS)? Does it support a range of image formats? Flexibility prevents tool-switching mid-investigation.</a:t>
            </a:r>
            <a:endParaRPr lang="en-US" sz="900" dirty="0"/>
          </a:p>
        </p:txBody>
      </p:sp>
      <p:sp>
        <p:nvSpPr>
          <p:cNvPr id="9" name="Shape 7"/>
          <p:cNvSpPr/>
          <p:nvPr/>
        </p:nvSpPr>
        <p:spPr>
          <a:xfrm>
            <a:off x="3227832" y="1298448"/>
            <a:ext cx="2788920" cy="1828800"/>
          </a:xfrm>
          <a:prstGeom prst="rect">
            <a:avLst/>
          </a:prstGeom>
          <a:solidFill>
            <a:srgbClr val="EEF6FB"/>
          </a:solidFill>
          <a:ln w="12700">
            <a:solidFill>
              <a:srgbClr val="EEF6FB"/>
            </a:solidFill>
            <a:prstDash val="solid"/>
          </a:ln>
        </p:spPr>
        <p:txBody>
          <a:bodyPr/>
          <a:lstStyle/>
          <a:p>
            <a:endParaRPr lang="en-SG"/>
          </a:p>
        </p:txBody>
      </p:sp>
      <p:sp>
        <p:nvSpPr>
          <p:cNvPr id="10" name="Shape 8"/>
          <p:cNvSpPr/>
          <p:nvPr/>
        </p:nvSpPr>
        <p:spPr>
          <a:xfrm>
            <a:off x="3227832" y="1298448"/>
            <a:ext cx="2788920" cy="91440"/>
          </a:xfrm>
          <a:prstGeom prst="rect">
            <a:avLst/>
          </a:prstGeom>
          <a:solidFill>
            <a:srgbClr val="2ECC71"/>
          </a:solidFill>
          <a:ln w="12700">
            <a:solidFill>
              <a:srgbClr val="2ECC71"/>
            </a:solidFill>
            <a:prstDash val="solid"/>
          </a:ln>
        </p:spPr>
        <p:txBody>
          <a:bodyPr/>
          <a:lstStyle/>
          <a:p>
            <a:endParaRPr lang="en-SG"/>
          </a:p>
        </p:txBody>
      </p:sp>
      <p:sp>
        <p:nvSpPr>
          <p:cNvPr id="11" name="Text 9"/>
          <p:cNvSpPr/>
          <p:nvPr/>
        </p:nvSpPr>
        <p:spPr>
          <a:xfrm>
            <a:off x="3337560" y="1426464"/>
            <a:ext cx="2578608" cy="347472"/>
          </a:xfrm>
          <a:prstGeom prst="rect">
            <a:avLst/>
          </a:prstGeom>
          <a:noFill/>
          <a:ln/>
        </p:spPr>
        <p:txBody>
          <a:bodyPr wrap="square" lIns="0" tIns="0" rIns="0" bIns="0" rtlCol="0" anchor="ctr"/>
          <a:lstStyle/>
          <a:p>
            <a:pPr marL="0" indent="0">
              <a:buNone/>
            </a:pPr>
            <a:r>
              <a:rPr lang="en-US" sz="1400" b="1" dirty="0">
                <a:solidFill>
                  <a:srgbClr val="2ECC71"/>
                </a:solidFill>
              </a:rPr>
              <a:t>✅  Reliability</a:t>
            </a:r>
            <a:endParaRPr lang="en-US" sz="1400" dirty="0"/>
          </a:p>
        </p:txBody>
      </p:sp>
      <p:sp>
        <p:nvSpPr>
          <p:cNvPr id="12" name="Text 10"/>
          <p:cNvSpPr/>
          <p:nvPr/>
        </p:nvSpPr>
        <p:spPr>
          <a:xfrm>
            <a:off x="3337560" y="1828800"/>
            <a:ext cx="2578608" cy="1243584"/>
          </a:xfrm>
          <a:prstGeom prst="rect">
            <a:avLst/>
          </a:prstGeom>
          <a:noFill/>
          <a:ln/>
        </p:spPr>
        <p:txBody>
          <a:bodyPr wrap="square" lIns="0" tIns="0" rIns="0" bIns="0" rtlCol="0" anchor="ctr"/>
          <a:lstStyle/>
          <a:p>
            <a:pPr marL="0" indent="0">
              <a:buNone/>
            </a:pPr>
            <a:r>
              <a:rPr lang="en-US" sz="900" dirty="0">
                <a:solidFill>
                  <a:srgbClr val="1A1A2E"/>
                </a:solidFill>
              </a:rPr>
              <a:t>Has the tool been validated and accepted in court? Is it actively maintained? Reliability means consistent, reproducible results — critical for evidence admissibility.</a:t>
            </a:r>
            <a:endParaRPr lang="en-US" sz="900" dirty="0"/>
          </a:p>
        </p:txBody>
      </p:sp>
      <p:sp>
        <p:nvSpPr>
          <p:cNvPr id="13" name="Shape 11"/>
          <p:cNvSpPr/>
          <p:nvPr/>
        </p:nvSpPr>
        <p:spPr>
          <a:xfrm>
            <a:off x="6135624" y="1298448"/>
            <a:ext cx="2788920" cy="1828800"/>
          </a:xfrm>
          <a:prstGeom prst="rect">
            <a:avLst/>
          </a:prstGeom>
          <a:solidFill>
            <a:srgbClr val="EEF6FB"/>
          </a:solidFill>
          <a:ln w="12700">
            <a:solidFill>
              <a:srgbClr val="EEF6FB"/>
            </a:solidFill>
            <a:prstDash val="solid"/>
          </a:ln>
        </p:spPr>
        <p:txBody>
          <a:bodyPr/>
          <a:lstStyle/>
          <a:p>
            <a:endParaRPr lang="en-SG"/>
          </a:p>
        </p:txBody>
      </p:sp>
      <p:sp>
        <p:nvSpPr>
          <p:cNvPr id="14" name="Shape 12"/>
          <p:cNvSpPr/>
          <p:nvPr/>
        </p:nvSpPr>
        <p:spPr>
          <a:xfrm>
            <a:off x="6135624" y="1298448"/>
            <a:ext cx="2788920" cy="91440"/>
          </a:xfrm>
          <a:prstGeom prst="rect">
            <a:avLst/>
          </a:prstGeom>
          <a:solidFill>
            <a:srgbClr val="F4A261"/>
          </a:solidFill>
          <a:ln w="12700">
            <a:solidFill>
              <a:srgbClr val="F4A261"/>
            </a:solidFill>
            <a:prstDash val="solid"/>
          </a:ln>
        </p:spPr>
        <p:txBody>
          <a:bodyPr/>
          <a:lstStyle/>
          <a:p>
            <a:endParaRPr lang="en-SG"/>
          </a:p>
        </p:txBody>
      </p:sp>
      <p:sp>
        <p:nvSpPr>
          <p:cNvPr id="15" name="Text 13"/>
          <p:cNvSpPr/>
          <p:nvPr/>
        </p:nvSpPr>
        <p:spPr>
          <a:xfrm>
            <a:off x="6245352" y="1426464"/>
            <a:ext cx="2578608" cy="347472"/>
          </a:xfrm>
          <a:prstGeom prst="rect">
            <a:avLst/>
          </a:prstGeom>
          <a:noFill/>
          <a:ln/>
        </p:spPr>
        <p:txBody>
          <a:bodyPr wrap="square" lIns="0" tIns="0" rIns="0" bIns="0" rtlCol="0" anchor="ctr"/>
          <a:lstStyle/>
          <a:p>
            <a:pPr marL="0" indent="0">
              <a:buNone/>
            </a:pPr>
            <a:r>
              <a:rPr lang="en-US" sz="1400" b="1" dirty="0">
                <a:solidFill>
                  <a:srgbClr val="F4A261"/>
                </a:solidFill>
              </a:rPr>
              <a:t>📦  Expandability</a:t>
            </a:r>
            <a:endParaRPr lang="en-US" sz="1400" dirty="0"/>
          </a:p>
        </p:txBody>
      </p:sp>
      <p:sp>
        <p:nvSpPr>
          <p:cNvPr id="16" name="Text 14"/>
          <p:cNvSpPr/>
          <p:nvPr/>
        </p:nvSpPr>
        <p:spPr>
          <a:xfrm>
            <a:off x="6245352" y="1828800"/>
            <a:ext cx="2578608" cy="1243584"/>
          </a:xfrm>
          <a:prstGeom prst="rect">
            <a:avLst/>
          </a:prstGeom>
          <a:noFill/>
          <a:ln/>
        </p:spPr>
        <p:txBody>
          <a:bodyPr wrap="square" lIns="0" tIns="0" rIns="0" bIns="0" rtlCol="0" anchor="ctr"/>
          <a:lstStyle/>
          <a:p>
            <a:pPr marL="0" indent="0">
              <a:buNone/>
            </a:pPr>
            <a:r>
              <a:rPr lang="en-US" sz="900" dirty="0">
                <a:solidFill>
                  <a:srgbClr val="1A1A2E"/>
                </a:solidFill>
              </a:rPr>
              <a:t>Can new modules or plugins be added as new file types or encryption methods emerge? A tool that cannot adapt will become a liability.</a:t>
            </a:r>
            <a:endParaRPr lang="en-US" sz="900" dirty="0"/>
          </a:p>
        </p:txBody>
      </p:sp>
      <p:sp>
        <p:nvSpPr>
          <p:cNvPr id="17" name="Text 15"/>
          <p:cNvSpPr/>
          <p:nvPr/>
        </p:nvSpPr>
        <p:spPr>
          <a:xfrm>
            <a:off x="320040" y="3134563"/>
            <a:ext cx="8503920" cy="329184"/>
          </a:xfrm>
          <a:prstGeom prst="rect">
            <a:avLst/>
          </a:prstGeom>
          <a:noFill/>
          <a:ln/>
        </p:spPr>
        <p:txBody>
          <a:bodyPr wrap="square" lIns="0" tIns="0" rIns="0" bIns="0" rtlCol="0" anchor="ctr"/>
          <a:lstStyle/>
          <a:p>
            <a:pPr marL="0" indent="0">
              <a:buNone/>
            </a:pPr>
            <a:r>
              <a:rPr lang="en-US" sz="1400" b="1" dirty="0">
                <a:solidFill>
                  <a:srgbClr val="1A1A2E"/>
                </a:solidFill>
              </a:rPr>
              <a:t>Software vs Hardware Tools</a:t>
            </a:r>
            <a:endParaRPr lang="en-US" sz="1400" dirty="0"/>
          </a:p>
        </p:txBody>
      </p:sp>
      <p:sp>
        <p:nvSpPr>
          <p:cNvPr id="18" name="Shape 16"/>
          <p:cNvSpPr/>
          <p:nvPr/>
        </p:nvSpPr>
        <p:spPr>
          <a:xfrm>
            <a:off x="320040" y="3657600"/>
            <a:ext cx="4160520" cy="1115568"/>
          </a:xfrm>
          <a:prstGeom prst="rect">
            <a:avLst/>
          </a:prstGeom>
          <a:solidFill>
            <a:srgbClr val="EEF6FB"/>
          </a:solidFill>
          <a:ln w="12700">
            <a:solidFill>
              <a:srgbClr val="EEF6FB"/>
            </a:solidFill>
            <a:prstDash val="solid"/>
          </a:ln>
        </p:spPr>
        <p:txBody>
          <a:bodyPr/>
          <a:lstStyle/>
          <a:p>
            <a:endParaRPr lang="en-SG"/>
          </a:p>
        </p:txBody>
      </p:sp>
      <p:sp>
        <p:nvSpPr>
          <p:cNvPr id="19" name="Shape 17"/>
          <p:cNvSpPr/>
          <p:nvPr/>
        </p:nvSpPr>
        <p:spPr>
          <a:xfrm>
            <a:off x="320040" y="3518611"/>
            <a:ext cx="109728" cy="1115568"/>
          </a:xfrm>
          <a:prstGeom prst="rect">
            <a:avLst/>
          </a:prstGeom>
          <a:solidFill>
            <a:srgbClr val="00B4D8"/>
          </a:solidFill>
          <a:ln w="12700">
            <a:solidFill>
              <a:srgbClr val="00B4D8"/>
            </a:solidFill>
            <a:prstDash val="solid"/>
          </a:ln>
        </p:spPr>
        <p:txBody>
          <a:bodyPr/>
          <a:lstStyle/>
          <a:p>
            <a:endParaRPr lang="en-SG"/>
          </a:p>
        </p:txBody>
      </p:sp>
      <p:sp>
        <p:nvSpPr>
          <p:cNvPr id="20" name="Text 18"/>
          <p:cNvSpPr/>
          <p:nvPr/>
        </p:nvSpPr>
        <p:spPr>
          <a:xfrm>
            <a:off x="512064" y="3591763"/>
            <a:ext cx="3840480" cy="274320"/>
          </a:xfrm>
          <a:prstGeom prst="rect">
            <a:avLst/>
          </a:prstGeom>
          <a:noFill/>
          <a:ln/>
        </p:spPr>
        <p:txBody>
          <a:bodyPr wrap="square" lIns="0" tIns="0" rIns="0" bIns="0" rtlCol="0" anchor="ctr"/>
          <a:lstStyle/>
          <a:p>
            <a:pPr marL="0" indent="0">
              <a:buNone/>
            </a:pPr>
            <a:r>
              <a:rPr lang="en-US" sz="1100" b="1" dirty="0">
                <a:solidFill>
                  <a:srgbClr val="00B4D8"/>
                </a:solidFill>
              </a:rPr>
              <a:t>💻  Software Tools</a:t>
            </a:r>
            <a:endParaRPr lang="en-US" sz="1100" dirty="0"/>
          </a:p>
        </p:txBody>
      </p:sp>
      <p:sp>
        <p:nvSpPr>
          <p:cNvPr id="21" name="Text 19"/>
          <p:cNvSpPr/>
          <p:nvPr/>
        </p:nvSpPr>
        <p:spPr>
          <a:xfrm>
            <a:off x="512064" y="3920947"/>
            <a:ext cx="3840480" cy="640080"/>
          </a:xfrm>
          <a:prstGeom prst="rect">
            <a:avLst/>
          </a:prstGeom>
          <a:noFill/>
          <a:ln/>
        </p:spPr>
        <p:txBody>
          <a:bodyPr wrap="square" lIns="0" tIns="0" rIns="0" bIns="0" rtlCol="0" anchor="ctr"/>
          <a:lstStyle/>
          <a:p>
            <a:pPr marL="0" indent="0">
              <a:buNone/>
            </a:pPr>
            <a:r>
              <a:rPr lang="en-US" sz="880" dirty="0">
                <a:solidFill>
                  <a:srgbClr val="1A1A2E"/>
                </a:solidFill>
              </a:rPr>
              <a:t>Command-line and GUI applications that run on standard hardware. Lower cost, highly flexible. Examples: Autopsy, FTK, dd, Sleuth Kit, SANS SIFT. Require forensic write blockers when accessing live media.</a:t>
            </a:r>
            <a:endParaRPr lang="en-US" sz="880" dirty="0"/>
          </a:p>
        </p:txBody>
      </p:sp>
      <p:sp>
        <p:nvSpPr>
          <p:cNvPr id="22" name="Shape 20"/>
          <p:cNvSpPr/>
          <p:nvPr/>
        </p:nvSpPr>
        <p:spPr>
          <a:xfrm>
            <a:off x="4663440" y="3518611"/>
            <a:ext cx="4160520" cy="1115568"/>
          </a:xfrm>
          <a:prstGeom prst="rect">
            <a:avLst/>
          </a:prstGeom>
          <a:solidFill>
            <a:srgbClr val="EEF6FB"/>
          </a:solidFill>
          <a:ln w="12700">
            <a:solidFill>
              <a:srgbClr val="EEF6FB"/>
            </a:solidFill>
            <a:prstDash val="solid"/>
          </a:ln>
        </p:spPr>
        <p:txBody>
          <a:bodyPr/>
          <a:lstStyle/>
          <a:p>
            <a:endParaRPr lang="en-SG"/>
          </a:p>
        </p:txBody>
      </p:sp>
      <p:sp>
        <p:nvSpPr>
          <p:cNvPr id="23" name="Shape 21"/>
          <p:cNvSpPr/>
          <p:nvPr/>
        </p:nvSpPr>
        <p:spPr>
          <a:xfrm>
            <a:off x="4663440" y="3518611"/>
            <a:ext cx="109728" cy="1115568"/>
          </a:xfrm>
          <a:prstGeom prst="rect">
            <a:avLst/>
          </a:prstGeom>
          <a:solidFill>
            <a:srgbClr val="F4A261"/>
          </a:solidFill>
          <a:ln w="12700">
            <a:solidFill>
              <a:srgbClr val="F4A261"/>
            </a:solidFill>
            <a:prstDash val="solid"/>
          </a:ln>
        </p:spPr>
        <p:txBody>
          <a:bodyPr/>
          <a:lstStyle/>
          <a:p>
            <a:endParaRPr lang="en-SG"/>
          </a:p>
        </p:txBody>
      </p:sp>
      <p:sp>
        <p:nvSpPr>
          <p:cNvPr id="24" name="Text 22"/>
          <p:cNvSpPr/>
          <p:nvPr/>
        </p:nvSpPr>
        <p:spPr>
          <a:xfrm>
            <a:off x="4846320" y="3591763"/>
            <a:ext cx="3840480" cy="274320"/>
          </a:xfrm>
          <a:prstGeom prst="rect">
            <a:avLst/>
          </a:prstGeom>
          <a:noFill/>
          <a:ln/>
        </p:spPr>
        <p:txBody>
          <a:bodyPr wrap="square" lIns="0" tIns="0" rIns="0" bIns="0" rtlCol="0" anchor="ctr"/>
          <a:lstStyle/>
          <a:p>
            <a:pPr marL="0" indent="0">
              <a:buNone/>
            </a:pPr>
            <a:r>
              <a:rPr lang="en-US" sz="1100" b="1" dirty="0">
                <a:solidFill>
                  <a:srgbClr val="F4A261"/>
                </a:solidFill>
              </a:rPr>
              <a:t>🔧  Hardware Tools</a:t>
            </a:r>
            <a:endParaRPr lang="en-US" sz="1100" dirty="0"/>
          </a:p>
        </p:txBody>
      </p:sp>
      <p:sp>
        <p:nvSpPr>
          <p:cNvPr id="25" name="Text 23"/>
          <p:cNvSpPr/>
          <p:nvPr/>
        </p:nvSpPr>
        <p:spPr>
          <a:xfrm>
            <a:off x="4846320" y="3920947"/>
            <a:ext cx="3840480" cy="640080"/>
          </a:xfrm>
          <a:prstGeom prst="rect">
            <a:avLst/>
          </a:prstGeom>
          <a:noFill/>
          <a:ln/>
        </p:spPr>
        <p:txBody>
          <a:bodyPr wrap="square" lIns="0" tIns="0" rIns="0" bIns="0" rtlCol="0" anchor="ctr"/>
          <a:lstStyle/>
          <a:p>
            <a:pPr marL="0" indent="0">
              <a:buNone/>
            </a:pPr>
            <a:r>
              <a:rPr lang="en-US" sz="880" dirty="0">
                <a:solidFill>
                  <a:srgbClr val="1A1A2E"/>
                </a:solidFill>
              </a:rPr>
              <a:t>Dedicated forensic devices: write blockers (Tableau, WiebeTech), field acquisition units (Logicube Falcon), and forensic duplicators. Hardware-enforced write protection and portable for field work.</a:t>
            </a:r>
            <a:endParaRPr lang="en-US" sz="880" dirty="0"/>
          </a:p>
        </p:txBody>
      </p:sp>
      <p:sp>
        <p:nvSpPr>
          <p:cNvPr id="26" name="Text 24"/>
          <p:cNvSpPr/>
          <p:nvPr/>
        </p:nvSpPr>
        <p:spPr>
          <a:xfrm>
            <a:off x="320040" y="4707331"/>
            <a:ext cx="8503920" cy="201168"/>
          </a:xfrm>
          <a:prstGeom prst="rect">
            <a:avLst/>
          </a:prstGeom>
          <a:noFill/>
          <a:ln/>
        </p:spPr>
        <p:txBody>
          <a:bodyPr wrap="square" lIns="0" tIns="0" rIns="0" bIns="0" rtlCol="0" anchor="ctr"/>
          <a:lstStyle/>
          <a:p>
            <a:pPr marL="0" indent="0">
              <a:buNone/>
            </a:pPr>
            <a:r>
              <a:rPr lang="en-US" sz="850" i="1" dirty="0">
                <a:solidFill>
                  <a:srgbClr val="F1C40F"/>
                </a:solidFill>
              </a:rPr>
              <a:t>Always maintain a software library with older versions of forensic tools — legacy cases may require specific versions for evidence reproducibility.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57323"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174443" cy="256032"/>
          </a:xfrm>
          <a:prstGeom prst="rect">
            <a:avLst/>
          </a:prstGeom>
          <a:noFill/>
          <a:ln/>
        </p:spPr>
        <p:txBody>
          <a:bodyPr wrap="square" lIns="0" tIns="0" rIns="0" bIns="0" rtlCol="0" anchor="ctr"/>
          <a:lstStyle/>
          <a:p>
            <a:pPr marL="0" indent="0">
              <a:buNone/>
            </a:pPr>
            <a:r>
              <a:rPr lang="en-US" sz="850" b="1" dirty="0">
                <a:solidFill>
                  <a:srgbClr val="0D1B2A"/>
                </a:solidFill>
              </a:rPr>
              <a:t>LINUX ACQUISITION · CLI TOOLS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Linux Acquisition: dd &amp; md5sum</a:t>
            </a:r>
            <a:endParaRPr lang="en-US" sz="2800" dirty="0"/>
          </a:p>
        </p:txBody>
      </p:sp>
      <p:sp>
        <p:nvSpPr>
          <p:cNvPr id="5" name="Shape 3"/>
          <p:cNvSpPr/>
          <p:nvPr/>
        </p:nvSpPr>
        <p:spPr>
          <a:xfrm>
            <a:off x="320040" y="1261872"/>
            <a:ext cx="8503920" cy="548640"/>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61872"/>
            <a:ext cx="109728" cy="548640"/>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512064" y="1316736"/>
            <a:ext cx="8229600" cy="438912"/>
          </a:xfrm>
          <a:prstGeom prst="rect">
            <a:avLst/>
          </a:prstGeom>
          <a:noFill/>
          <a:ln/>
        </p:spPr>
        <p:txBody>
          <a:bodyPr wrap="square" lIns="0" tIns="0" rIns="0" bIns="0" rtlCol="0" anchor="ctr"/>
          <a:lstStyle/>
          <a:p>
            <a:pPr marL="0" indent="0">
              <a:buNone/>
            </a:pPr>
            <a:r>
              <a:rPr lang="en-US" sz="950" dirty="0">
                <a:solidFill>
                  <a:srgbClr val="1A1A2E"/>
                </a:solidFill>
              </a:rPr>
              <a:t>Before any acquisition, hash the source drive. After imaging, hash the image — the values must match exactly, proving an unaltered bit-for-bit copy.</a:t>
            </a:r>
            <a:endParaRPr lang="en-US" sz="950" dirty="0"/>
          </a:p>
        </p:txBody>
      </p:sp>
      <p:sp>
        <p:nvSpPr>
          <p:cNvPr id="8" name="Shape 6"/>
          <p:cNvSpPr/>
          <p:nvPr/>
        </p:nvSpPr>
        <p:spPr>
          <a:xfrm>
            <a:off x="320040" y="1920240"/>
            <a:ext cx="4160520" cy="2889504"/>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920240"/>
            <a:ext cx="4160520" cy="73152"/>
          </a:xfrm>
          <a:prstGeom prst="rect">
            <a:avLst/>
          </a:prstGeom>
          <a:solidFill>
            <a:srgbClr val="2ECC71"/>
          </a:solidFill>
          <a:ln w="12700">
            <a:solidFill>
              <a:srgbClr val="2ECC71"/>
            </a:solidFill>
            <a:prstDash val="solid"/>
          </a:ln>
        </p:spPr>
        <p:txBody>
          <a:bodyPr/>
          <a:lstStyle/>
          <a:p>
            <a:endParaRPr lang="en-SG"/>
          </a:p>
        </p:txBody>
      </p:sp>
      <p:sp>
        <p:nvSpPr>
          <p:cNvPr id="10" name="Text 8"/>
          <p:cNvSpPr/>
          <p:nvPr/>
        </p:nvSpPr>
        <p:spPr>
          <a:xfrm>
            <a:off x="457200" y="2048256"/>
            <a:ext cx="3840480" cy="310896"/>
          </a:xfrm>
          <a:prstGeom prst="rect">
            <a:avLst/>
          </a:prstGeom>
          <a:noFill/>
          <a:ln/>
        </p:spPr>
        <p:txBody>
          <a:bodyPr wrap="square" lIns="0" tIns="0" rIns="0" bIns="0" rtlCol="0" anchor="ctr"/>
          <a:lstStyle/>
          <a:p>
            <a:pPr marL="0" indent="0">
              <a:buNone/>
            </a:pPr>
            <a:r>
              <a:rPr lang="en-US" sz="1200" b="1" dirty="0">
                <a:solidFill>
                  <a:srgbClr val="2ECC71"/>
                </a:solidFill>
              </a:rPr>
              <a:t>🔑  md5sum — Hash Verification</a:t>
            </a:r>
            <a:endParaRPr lang="en-US" sz="1200" dirty="0"/>
          </a:p>
        </p:txBody>
      </p:sp>
      <p:sp>
        <p:nvSpPr>
          <p:cNvPr id="11" name="Text 9"/>
          <p:cNvSpPr/>
          <p:nvPr/>
        </p:nvSpPr>
        <p:spPr>
          <a:xfrm>
            <a:off x="457200" y="2450592"/>
            <a:ext cx="3840480" cy="201168"/>
          </a:xfrm>
          <a:prstGeom prst="rect">
            <a:avLst/>
          </a:prstGeom>
          <a:noFill/>
          <a:ln/>
        </p:spPr>
        <p:txBody>
          <a:bodyPr wrap="square" lIns="0" tIns="0" rIns="0" bIns="0" rtlCol="0" anchor="ctr"/>
          <a:lstStyle/>
          <a:p>
            <a:pPr marL="0" indent="0">
              <a:buNone/>
            </a:pPr>
            <a:r>
              <a:rPr lang="en-US" sz="900" dirty="0">
                <a:solidFill>
                  <a:srgbClr val="8899AA"/>
                </a:solidFill>
              </a:rPr>
              <a:t>Step 1: Hash the source device</a:t>
            </a:r>
            <a:endParaRPr lang="en-US" sz="900" dirty="0"/>
          </a:p>
        </p:txBody>
      </p:sp>
      <p:sp>
        <p:nvSpPr>
          <p:cNvPr id="12" name="Shape 10"/>
          <p:cNvSpPr/>
          <p:nvPr/>
        </p:nvSpPr>
        <p:spPr>
          <a:xfrm>
            <a:off x="411480" y="2670048"/>
            <a:ext cx="3977640" cy="219456"/>
          </a:xfrm>
          <a:prstGeom prst="rect">
            <a:avLst/>
          </a:prstGeom>
          <a:solidFill>
            <a:srgbClr val="FFFFFF"/>
          </a:solidFill>
          <a:ln w="12700">
            <a:solidFill>
              <a:srgbClr val="FFFFFF"/>
            </a:solidFill>
            <a:prstDash val="solid"/>
          </a:ln>
        </p:spPr>
        <p:txBody>
          <a:bodyPr/>
          <a:lstStyle/>
          <a:p>
            <a:endParaRPr lang="en-SG"/>
          </a:p>
        </p:txBody>
      </p:sp>
      <p:sp>
        <p:nvSpPr>
          <p:cNvPr id="13" name="Text 11"/>
          <p:cNvSpPr/>
          <p:nvPr/>
        </p:nvSpPr>
        <p:spPr>
          <a:xfrm>
            <a:off x="502920" y="2670048"/>
            <a:ext cx="3794760" cy="219456"/>
          </a:xfrm>
          <a:prstGeom prst="rect">
            <a:avLst/>
          </a:prstGeom>
          <a:noFill/>
          <a:ln/>
        </p:spPr>
        <p:txBody>
          <a:bodyPr wrap="square" lIns="0" tIns="0" rIns="0" bIns="0" rtlCol="0" anchor="ctr"/>
          <a:lstStyle/>
          <a:p>
            <a:pPr marL="0" indent="0">
              <a:buNone/>
            </a:pPr>
            <a:r>
              <a:rPr lang="en-US" sz="950" dirty="0">
                <a:solidFill>
                  <a:srgbClr val="00B4D8"/>
                </a:solidFill>
                <a:latin typeface="Consolas" pitchFamily="34" charset="0"/>
                <a:ea typeface="Consolas" pitchFamily="34" charset="-122"/>
                <a:cs typeface="Consolas" pitchFamily="34" charset="-120"/>
              </a:rPr>
              <a:t>md5sum /dev/sdb</a:t>
            </a:r>
            <a:endParaRPr lang="en-US" sz="950" dirty="0"/>
          </a:p>
        </p:txBody>
      </p:sp>
      <p:sp>
        <p:nvSpPr>
          <p:cNvPr id="14" name="Text 12"/>
          <p:cNvSpPr/>
          <p:nvPr/>
        </p:nvSpPr>
        <p:spPr>
          <a:xfrm>
            <a:off x="457200" y="3017520"/>
            <a:ext cx="3840480" cy="201168"/>
          </a:xfrm>
          <a:prstGeom prst="rect">
            <a:avLst/>
          </a:prstGeom>
          <a:noFill/>
          <a:ln/>
        </p:spPr>
        <p:txBody>
          <a:bodyPr wrap="square" lIns="0" tIns="0" rIns="0" bIns="0" rtlCol="0" anchor="ctr"/>
          <a:lstStyle/>
          <a:p>
            <a:pPr marL="0" indent="0">
              <a:buNone/>
            </a:pPr>
            <a:r>
              <a:rPr lang="en-US" sz="900" dirty="0">
                <a:solidFill>
                  <a:srgbClr val="8899AA"/>
                </a:solidFill>
              </a:rPr>
              <a:t>Step 2: Acquire image with dd</a:t>
            </a:r>
            <a:endParaRPr lang="en-US" sz="900" dirty="0"/>
          </a:p>
        </p:txBody>
      </p:sp>
      <p:sp>
        <p:nvSpPr>
          <p:cNvPr id="15" name="Shape 13"/>
          <p:cNvSpPr/>
          <p:nvPr/>
        </p:nvSpPr>
        <p:spPr>
          <a:xfrm>
            <a:off x="411480" y="3236976"/>
            <a:ext cx="3977640" cy="219456"/>
          </a:xfrm>
          <a:prstGeom prst="rect">
            <a:avLst/>
          </a:prstGeom>
          <a:solidFill>
            <a:srgbClr val="FFFFFF"/>
          </a:solidFill>
          <a:ln w="12700">
            <a:solidFill>
              <a:srgbClr val="FFFFFF"/>
            </a:solidFill>
            <a:prstDash val="solid"/>
          </a:ln>
        </p:spPr>
        <p:txBody>
          <a:bodyPr/>
          <a:lstStyle/>
          <a:p>
            <a:endParaRPr lang="en-SG"/>
          </a:p>
        </p:txBody>
      </p:sp>
      <p:sp>
        <p:nvSpPr>
          <p:cNvPr id="16" name="Text 14"/>
          <p:cNvSpPr/>
          <p:nvPr/>
        </p:nvSpPr>
        <p:spPr>
          <a:xfrm>
            <a:off x="502920" y="3236976"/>
            <a:ext cx="3794760" cy="219456"/>
          </a:xfrm>
          <a:prstGeom prst="rect">
            <a:avLst/>
          </a:prstGeom>
          <a:noFill/>
          <a:ln/>
        </p:spPr>
        <p:txBody>
          <a:bodyPr wrap="square" lIns="0" tIns="0" rIns="0" bIns="0" rtlCol="0" anchor="ctr"/>
          <a:lstStyle/>
          <a:p>
            <a:pPr marL="0" indent="0">
              <a:buNone/>
            </a:pPr>
            <a:r>
              <a:rPr lang="en-US" sz="950" dirty="0">
                <a:solidFill>
                  <a:srgbClr val="00B4D8"/>
                </a:solidFill>
                <a:latin typeface="Consolas" pitchFamily="34" charset="0"/>
                <a:ea typeface="Consolas" pitchFamily="34" charset="-122"/>
                <a:cs typeface="Consolas" pitchFamily="34" charset="-120"/>
              </a:rPr>
              <a:t>dd if=/dev/sdb of=image.dd bs=512</a:t>
            </a:r>
            <a:endParaRPr lang="en-US" sz="950" dirty="0"/>
          </a:p>
        </p:txBody>
      </p:sp>
      <p:sp>
        <p:nvSpPr>
          <p:cNvPr id="17" name="Text 15"/>
          <p:cNvSpPr/>
          <p:nvPr/>
        </p:nvSpPr>
        <p:spPr>
          <a:xfrm>
            <a:off x="457200" y="3584448"/>
            <a:ext cx="3840480" cy="201168"/>
          </a:xfrm>
          <a:prstGeom prst="rect">
            <a:avLst/>
          </a:prstGeom>
          <a:noFill/>
          <a:ln/>
        </p:spPr>
        <p:txBody>
          <a:bodyPr wrap="square" lIns="0" tIns="0" rIns="0" bIns="0" rtlCol="0" anchor="ctr"/>
          <a:lstStyle/>
          <a:p>
            <a:pPr marL="0" indent="0">
              <a:buNone/>
            </a:pPr>
            <a:r>
              <a:rPr lang="en-US" sz="900" dirty="0">
                <a:solidFill>
                  <a:srgbClr val="8899AA"/>
                </a:solidFill>
              </a:rPr>
              <a:t>Step 3: Hash the image file</a:t>
            </a:r>
            <a:endParaRPr lang="en-US" sz="900" dirty="0"/>
          </a:p>
        </p:txBody>
      </p:sp>
      <p:sp>
        <p:nvSpPr>
          <p:cNvPr id="18" name="Shape 16"/>
          <p:cNvSpPr/>
          <p:nvPr/>
        </p:nvSpPr>
        <p:spPr>
          <a:xfrm>
            <a:off x="411480" y="3803904"/>
            <a:ext cx="3977640" cy="219456"/>
          </a:xfrm>
          <a:prstGeom prst="rect">
            <a:avLst/>
          </a:prstGeom>
          <a:solidFill>
            <a:srgbClr val="FFFFFF"/>
          </a:solidFill>
          <a:ln w="12700">
            <a:solidFill>
              <a:srgbClr val="FFFFFF"/>
            </a:solidFill>
            <a:prstDash val="solid"/>
          </a:ln>
        </p:spPr>
        <p:txBody>
          <a:bodyPr/>
          <a:lstStyle/>
          <a:p>
            <a:endParaRPr lang="en-SG"/>
          </a:p>
        </p:txBody>
      </p:sp>
      <p:sp>
        <p:nvSpPr>
          <p:cNvPr id="19" name="Text 17"/>
          <p:cNvSpPr/>
          <p:nvPr/>
        </p:nvSpPr>
        <p:spPr>
          <a:xfrm>
            <a:off x="502920" y="3803904"/>
            <a:ext cx="3794760" cy="219456"/>
          </a:xfrm>
          <a:prstGeom prst="rect">
            <a:avLst/>
          </a:prstGeom>
          <a:noFill/>
          <a:ln/>
        </p:spPr>
        <p:txBody>
          <a:bodyPr wrap="square" lIns="0" tIns="0" rIns="0" bIns="0" rtlCol="0" anchor="ctr"/>
          <a:lstStyle/>
          <a:p>
            <a:pPr marL="0" indent="0">
              <a:buNone/>
            </a:pPr>
            <a:r>
              <a:rPr lang="en-US" sz="950" dirty="0">
                <a:solidFill>
                  <a:srgbClr val="00B4D8"/>
                </a:solidFill>
                <a:latin typeface="Consolas" pitchFamily="34" charset="0"/>
                <a:ea typeface="Consolas" pitchFamily="34" charset="-122"/>
                <a:cs typeface="Consolas" pitchFamily="34" charset="-120"/>
              </a:rPr>
              <a:t>md5sum image.dd</a:t>
            </a:r>
            <a:endParaRPr lang="en-US" sz="950" dirty="0"/>
          </a:p>
        </p:txBody>
      </p:sp>
      <p:sp>
        <p:nvSpPr>
          <p:cNvPr id="20" name="Text 18"/>
          <p:cNvSpPr/>
          <p:nvPr/>
        </p:nvSpPr>
        <p:spPr>
          <a:xfrm>
            <a:off x="457200" y="4151376"/>
            <a:ext cx="3840480" cy="201168"/>
          </a:xfrm>
          <a:prstGeom prst="rect">
            <a:avLst/>
          </a:prstGeom>
          <a:noFill/>
          <a:ln/>
        </p:spPr>
        <p:txBody>
          <a:bodyPr wrap="square" lIns="0" tIns="0" rIns="0" bIns="0" rtlCol="0" anchor="ctr"/>
          <a:lstStyle/>
          <a:p>
            <a:pPr marL="0" indent="0">
              <a:buNone/>
            </a:pPr>
            <a:r>
              <a:rPr lang="en-US" sz="900" dirty="0">
                <a:solidFill>
                  <a:srgbClr val="8899AA"/>
                </a:solidFill>
              </a:rPr>
              <a:t>Step 4: Hashes must match exactly</a:t>
            </a:r>
            <a:endParaRPr lang="en-US" sz="900" dirty="0"/>
          </a:p>
        </p:txBody>
      </p:sp>
      <p:sp>
        <p:nvSpPr>
          <p:cNvPr id="21" name="Shape 19"/>
          <p:cNvSpPr/>
          <p:nvPr/>
        </p:nvSpPr>
        <p:spPr>
          <a:xfrm>
            <a:off x="411480" y="4370832"/>
            <a:ext cx="3977640" cy="219456"/>
          </a:xfrm>
          <a:prstGeom prst="rect">
            <a:avLst/>
          </a:prstGeom>
          <a:solidFill>
            <a:srgbClr val="FFFFFF"/>
          </a:solidFill>
          <a:ln w="12700">
            <a:solidFill>
              <a:srgbClr val="FFFFFF"/>
            </a:solidFill>
            <a:prstDash val="solid"/>
          </a:ln>
        </p:spPr>
        <p:txBody>
          <a:bodyPr/>
          <a:lstStyle/>
          <a:p>
            <a:endParaRPr lang="en-SG"/>
          </a:p>
        </p:txBody>
      </p:sp>
      <p:sp>
        <p:nvSpPr>
          <p:cNvPr id="22" name="Text 20"/>
          <p:cNvSpPr/>
          <p:nvPr/>
        </p:nvSpPr>
        <p:spPr>
          <a:xfrm>
            <a:off x="502920" y="4370832"/>
            <a:ext cx="3794760" cy="219456"/>
          </a:xfrm>
          <a:prstGeom prst="rect">
            <a:avLst/>
          </a:prstGeom>
          <a:noFill/>
          <a:ln/>
        </p:spPr>
        <p:txBody>
          <a:bodyPr wrap="square" lIns="0" tIns="0" rIns="0" bIns="0" rtlCol="0" anchor="ctr"/>
          <a:lstStyle/>
          <a:p>
            <a:pPr marL="0" indent="0">
              <a:buNone/>
            </a:pPr>
            <a:r>
              <a:rPr lang="en-US" sz="950" dirty="0">
                <a:solidFill>
                  <a:srgbClr val="00B4D8"/>
                </a:solidFill>
                <a:latin typeface="Consolas" pitchFamily="34" charset="0"/>
                <a:ea typeface="Consolas" pitchFamily="34" charset="-122"/>
                <a:cs typeface="Consolas" pitchFamily="34" charset="-120"/>
              </a:rPr>
              <a:t>→ Mismatch = imaging failed</a:t>
            </a:r>
            <a:endParaRPr lang="en-US" sz="950" dirty="0"/>
          </a:p>
        </p:txBody>
      </p:sp>
      <p:sp>
        <p:nvSpPr>
          <p:cNvPr id="23" name="Shape 21"/>
          <p:cNvSpPr/>
          <p:nvPr/>
        </p:nvSpPr>
        <p:spPr>
          <a:xfrm>
            <a:off x="4663440" y="1920240"/>
            <a:ext cx="4160520" cy="2889504"/>
          </a:xfrm>
          <a:prstGeom prst="rect">
            <a:avLst/>
          </a:prstGeom>
          <a:solidFill>
            <a:srgbClr val="EEF6FB"/>
          </a:solidFill>
          <a:ln w="12700">
            <a:solidFill>
              <a:srgbClr val="EEF6FB"/>
            </a:solidFill>
            <a:prstDash val="solid"/>
          </a:ln>
        </p:spPr>
        <p:txBody>
          <a:bodyPr/>
          <a:lstStyle/>
          <a:p>
            <a:endParaRPr lang="en-SG"/>
          </a:p>
        </p:txBody>
      </p:sp>
      <p:sp>
        <p:nvSpPr>
          <p:cNvPr id="24" name="Shape 22"/>
          <p:cNvSpPr/>
          <p:nvPr/>
        </p:nvSpPr>
        <p:spPr>
          <a:xfrm>
            <a:off x="4663440" y="1920240"/>
            <a:ext cx="4160520" cy="73152"/>
          </a:xfrm>
          <a:prstGeom prst="rect">
            <a:avLst/>
          </a:prstGeom>
          <a:solidFill>
            <a:srgbClr val="F4A261"/>
          </a:solidFill>
          <a:ln w="12700">
            <a:solidFill>
              <a:srgbClr val="F4A261"/>
            </a:solidFill>
            <a:prstDash val="solid"/>
          </a:ln>
        </p:spPr>
        <p:txBody>
          <a:bodyPr/>
          <a:lstStyle/>
          <a:p>
            <a:endParaRPr lang="en-SG"/>
          </a:p>
        </p:txBody>
      </p:sp>
      <p:sp>
        <p:nvSpPr>
          <p:cNvPr id="25" name="Text 23"/>
          <p:cNvSpPr/>
          <p:nvPr/>
        </p:nvSpPr>
        <p:spPr>
          <a:xfrm>
            <a:off x="4800600" y="2048256"/>
            <a:ext cx="3840480" cy="310896"/>
          </a:xfrm>
          <a:prstGeom prst="rect">
            <a:avLst/>
          </a:prstGeom>
          <a:noFill/>
          <a:ln/>
        </p:spPr>
        <p:txBody>
          <a:bodyPr wrap="square" lIns="0" tIns="0" rIns="0" bIns="0" rtlCol="0" anchor="ctr"/>
          <a:lstStyle/>
          <a:p>
            <a:pPr marL="0" indent="0">
              <a:buNone/>
            </a:pPr>
            <a:r>
              <a:rPr lang="en-US" sz="1200" b="1" dirty="0">
                <a:solidFill>
                  <a:srgbClr val="F4A261"/>
                </a:solidFill>
              </a:rPr>
              <a:t>💾  dd — Disk Duplicator</a:t>
            </a:r>
            <a:endParaRPr lang="en-US" sz="1200" dirty="0"/>
          </a:p>
        </p:txBody>
      </p:sp>
      <p:sp>
        <p:nvSpPr>
          <p:cNvPr id="26" name="Text 24"/>
          <p:cNvSpPr/>
          <p:nvPr/>
        </p:nvSpPr>
        <p:spPr>
          <a:xfrm>
            <a:off x="4800600" y="2414016"/>
            <a:ext cx="3840480" cy="219456"/>
          </a:xfrm>
          <a:prstGeom prst="rect">
            <a:avLst/>
          </a:prstGeom>
          <a:noFill/>
          <a:ln/>
        </p:spPr>
        <p:txBody>
          <a:bodyPr wrap="square" lIns="0" tIns="0" rIns="0" bIns="0" rtlCol="0" anchor="ctr"/>
          <a:lstStyle/>
          <a:p>
            <a:pPr marL="0" indent="0">
              <a:buNone/>
            </a:pPr>
            <a:r>
              <a:rPr lang="en-US" sz="900" dirty="0">
                <a:solidFill>
                  <a:srgbClr val="8899AA"/>
                </a:solidFill>
              </a:rPr>
              <a:t>Core acquisition command:</a:t>
            </a:r>
            <a:endParaRPr lang="en-US" sz="900" dirty="0"/>
          </a:p>
        </p:txBody>
      </p:sp>
      <p:sp>
        <p:nvSpPr>
          <p:cNvPr id="27" name="Shape 25"/>
          <p:cNvSpPr/>
          <p:nvPr/>
        </p:nvSpPr>
        <p:spPr>
          <a:xfrm>
            <a:off x="4754880" y="2688336"/>
            <a:ext cx="3977640" cy="274320"/>
          </a:xfrm>
          <a:prstGeom prst="rect">
            <a:avLst/>
          </a:prstGeom>
          <a:solidFill>
            <a:srgbClr val="FFFFFF"/>
          </a:solidFill>
          <a:ln w="12700">
            <a:solidFill>
              <a:srgbClr val="FFFFFF"/>
            </a:solidFill>
            <a:prstDash val="solid"/>
          </a:ln>
        </p:spPr>
        <p:txBody>
          <a:bodyPr/>
          <a:lstStyle/>
          <a:p>
            <a:endParaRPr lang="en-SG"/>
          </a:p>
        </p:txBody>
      </p:sp>
      <p:sp>
        <p:nvSpPr>
          <p:cNvPr id="28" name="Text 26"/>
          <p:cNvSpPr/>
          <p:nvPr/>
        </p:nvSpPr>
        <p:spPr>
          <a:xfrm>
            <a:off x="4846320" y="2688336"/>
            <a:ext cx="3794760" cy="274320"/>
          </a:xfrm>
          <a:prstGeom prst="rect">
            <a:avLst/>
          </a:prstGeom>
          <a:noFill/>
          <a:ln/>
        </p:spPr>
        <p:txBody>
          <a:bodyPr wrap="square" lIns="0" tIns="0" rIns="0" bIns="0" rtlCol="0" anchor="ctr"/>
          <a:lstStyle/>
          <a:p>
            <a:pPr marL="0" indent="0">
              <a:buNone/>
            </a:pPr>
            <a:r>
              <a:rPr lang="en-US" sz="900" dirty="0">
                <a:solidFill>
                  <a:srgbClr val="00B4D8"/>
                </a:solidFill>
                <a:latin typeface="Consolas" pitchFamily="34" charset="0"/>
                <a:ea typeface="Consolas" pitchFamily="34" charset="-122"/>
                <a:cs typeface="Consolas" pitchFamily="34" charset="-120"/>
              </a:rPr>
              <a:t>dd if=/dev/sdb of=evidence.dd bs=512</a:t>
            </a:r>
            <a:endParaRPr lang="en-US" sz="900" dirty="0"/>
          </a:p>
        </p:txBody>
      </p:sp>
      <p:sp>
        <p:nvSpPr>
          <p:cNvPr id="29" name="Shape 27"/>
          <p:cNvSpPr/>
          <p:nvPr/>
        </p:nvSpPr>
        <p:spPr>
          <a:xfrm>
            <a:off x="4754880" y="3054096"/>
            <a:ext cx="1152144" cy="237744"/>
          </a:xfrm>
          <a:prstGeom prst="rect">
            <a:avLst/>
          </a:prstGeom>
          <a:solidFill>
            <a:srgbClr val="FFFFFF"/>
          </a:solidFill>
          <a:ln w="6350">
            <a:solidFill>
              <a:srgbClr val="F4A261"/>
            </a:solidFill>
            <a:prstDash val="solid"/>
          </a:ln>
        </p:spPr>
        <p:txBody>
          <a:bodyPr/>
          <a:lstStyle/>
          <a:p>
            <a:endParaRPr lang="en-SG"/>
          </a:p>
        </p:txBody>
      </p:sp>
      <p:sp>
        <p:nvSpPr>
          <p:cNvPr id="30" name="Text 28"/>
          <p:cNvSpPr/>
          <p:nvPr/>
        </p:nvSpPr>
        <p:spPr>
          <a:xfrm>
            <a:off x="4754880" y="3054096"/>
            <a:ext cx="1152144" cy="237744"/>
          </a:xfrm>
          <a:prstGeom prst="rect">
            <a:avLst/>
          </a:prstGeom>
          <a:noFill/>
          <a:ln/>
        </p:spPr>
        <p:txBody>
          <a:bodyPr wrap="square" lIns="0" tIns="0" rIns="0" bIns="0" rtlCol="0" anchor="ctr"/>
          <a:lstStyle/>
          <a:p>
            <a:pPr marL="0" indent="0" algn="ctr">
              <a:buNone/>
            </a:pPr>
            <a:r>
              <a:rPr lang="en-US" sz="850" b="1" dirty="0">
                <a:solidFill>
                  <a:srgbClr val="F4A261"/>
                </a:solidFill>
                <a:latin typeface="Consolas" pitchFamily="34" charset="0"/>
                <a:ea typeface="Consolas" pitchFamily="34" charset="-122"/>
                <a:cs typeface="Consolas" pitchFamily="34" charset="-120"/>
              </a:rPr>
              <a:t>if=file</a:t>
            </a:r>
            <a:endParaRPr lang="en-US" sz="850" dirty="0"/>
          </a:p>
        </p:txBody>
      </p:sp>
      <p:sp>
        <p:nvSpPr>
          <p:cNvPr id="31" name="Text 29"/>
          <p:cNvSpPr/>
          <p:nvPr/>
        </p:nvSpPr>
        <p:spPr>
          <a:xfrm>
            <a:off x="5980176" y="3081528"/>
            <a:ext cx="2743200" cy="219456"/>
          </a:xfrm>
          <a:prstGeom prst="rect">
            <a:avLst/>
          </a:prstGeom>
          <a:noFill/>
          <a:ln/>
        </p:spPr>
        <p:txBody>
          <a:bodyPr wrap="square" lIns="0" tIns="0" rIns="0" bIns="0" rtlCol="0" anchor="ctr"/>
          <a:lstStyle/>
          <a:p>
            <a:pPr marL="0" indent="0">
              <a:buNone/>
            </a:pPr>
            <a:r>
              <a:rPr lang="en-US" sz="850" dirty="0">
                <a:solidFill>
                  <a:srgbClr val="1A1A2E"/>
                </a:solidFill>
              </a:rPr>
              <a:t>Input file or device (source)</a:t>
            </a:r>
            <a:endParaRPr lang="en-US" sz="850" dirty="0"/>
          </a:p>
        </p:txBody>
      </p:sp>
      <p:sp>
        <p:nvSpPr>
          <p:cNvPr id="32" name="Shape 30"/>
          <p:cNvSpPr/>
          <p:nvPr/>
        </p:nvSpPr>
        <p:spPr>
          <a:xfrm>
            <a:off x="4754880" y="3337560"/>
            <a:ext cx="1152144" cy="237744"/>
          </a:xfrm>
          <a:prstGeom prst="rect">
            <a:avLst/>
          </a:prstGeom>
          <a:solidFill>
            <a:srgbClr val="FFFFFF"/>
          </a:solidFill>
          <a:ln w="6350">
            <a:solidFill>
              <a:srgbClr val="F4A261"/>
            </a:solidFill>
            <a:prstDash val="solid"/>
          </a:ln>
        </p:spPr>
        <p:txBody>
          <a:bodyPr/>
          <a:lstStyle/>
          <a:p>
            <a:endParaRPr lang="en-SG"/>
          </a:p>
        </p:txBody>
      </p:sp>
      <p:sp>
        <p:nvSpPr>
          <p:cNvPr id="33" name="Text 31"/>
          <p:cNvSpPr/>
          <p:nvPr/>
        </p:nvSpPr>
        <p:spPr>
          <a:xfrm>
            <a:off x="4754880" y="3337560"/>
            <a:ext cx="1152144" cy="237744"/>
          </a:xfrm>
          <a:prstGeom prst="rect">
            <a:avLst/>
          </a:prstGeom>
          <a:noFill/>
          <a:ln/>
        </p:spPr>
        <p:txBody>
          <a:bodyPr wrap="square" lIns="0" tIns="0" rIns="0" bIns="0" rtlCol="0" anchor="ctr"/>
          <a:lstStyle/>
          <a:p>
            <a:pPr marL="0" indent="0" algn="ctr">
              <a:buNone/>
            </a:pPr>
            <a:r>
              <a:rPr lang="en-US" sz="850" b="1" dirty="0">
                <a:solidFill>
                  <a:srgbClr val="F4A261"/>
                </a:solidFill>
                <a:latin typeface="Consolas" pitchFamily="34" charset="0"/>
                <a:ea typeface="Consolas" pitchFamily="34" charset="-122"/>
                <a:cs typeface="Consolas" pitchFamily="34" charset="-120"/>
              </a:rPr>
              <a:t>of=file</a:t>
            </a:r>
            <a:endParaRPr lang="en-US" sz="850" dirty="0"/>
          </a:p>
        </p:txBody>
      </p:sp>
      <p:sp>
        <p:nvSpPr>
          <p:cNvPr id="34" name="Text 32"/>
          <p:cNvSpPr/>
          <p:nvPr/>
        </p:nvSpPr>
        <p:spPr>
          <a:xfrm>
            <a:off x="5980176" y="3364992"/>
            <a:ext cx="2743200" cy="219456"/>
          </a:xfrm>
          <a:prstGeom prst="rect">
            <a:avLst/>
          </a:prstGeom>
          <a:noFill/>
          <a:ln/>
        </p:spPr>
        <p:txBody>
          <a:bodyPr wrap="square" lIns="0" tIns="0" rIns="0" bIns="0" rtlCol="0" anchor="ctr"/>
          <a:lstStyle/>
          <a:p>
            <a:pPr marL="0" indent="0">
              <a:buNone/>
            </a:pPr>
            <a:r>
              <a:rPr lang="en-US" sz="850" dirty="0">
                <a:solidFill>
                  <a:srgbClr val="1A1A2E"/>
                </a:solidFill>
              </a:rPr>
              <a:t>Output file or device (destination)</a:t>
            </a:r>
            <a:endParaRPr lang="en-US" sz="850" dirty="0"/>
          </a:p>
        </p:txBody>
      </p:sp>
      <p:sp>
        <p:nvSpPr>
          <p:cNvPr id="35" name="Shape 33"/>
          <p:cNvSpPr/>
          <p:nvPr/>
        </p:nvSpPr>
        <p:spPr>
          <a:xfrm>
            <a:off x="4754880" y="3621024"/>
            <a:ext cx="1152144" cy="237744"/>
          </a:xfrm>
          <a:prstGeom prst="rect">
            <a:avLst/>
          </a:prstGeom>
          <a:solidFill>
            <a:srgbClr val="FFFFFF"/>
          </a:solidFill>
          <a:ln w="6350">
            <a:solidFill>
              <a:srgbClr val="F4A261"/>
            </a:solidFill>
            <a:prstDash val="solid"/>
          </a:ln>
        </p:spPr>
        <p:txBody>
          <a:bodyPr/>
          <a:lstStyle/>
          <a:p>
            <a:endParaRPr lang="en-SG"/>
          </a:p>
        </p:txBody>
      </p:sp>
      <p:sp>
        <p:nvSpPr>
          <p:cNvPr id="36" name="Text 34"/>
          <p:cNvSpPr/>
          <p:nvPr/>
        </p:nvSpPr>
        <p:spPr>
          <a:xfrm>
            <a:off x="4754880" y="3621024"/>
            <a:ext cx="1152144" cy="237744"/>
          </a:xfrm>
          <a:prstGeom prst="rect">
            <a:avLst/>
          </a:prstGeom>
          <a:noFill/>
          <a:ln/>
        </p:spPr>
        <p:txBody>
          <a:bodyPr wrap="square" lIns="0" tIns="0" rIns="0" bIns="0" rtlCol="0" anchor="ctr"/>
          <a:lstStyle/>
          <a:p>
            <a:pPr marL="0" indent="0" algn="ctr">
              <a:buNone/>
            </a:pPr>
            <a:r>
              <a:rPr lang="en-US" sz="850" b="1" dirty="0">
                <a:solidFill>
                  <a:srgbClr val="F4A261"/>
                </a:solidFill>
                <a:latin typeface="Consolas" pitchFamily="34" charset="0"/>
                <a:ea typeface="Consolas" pitchFamily="34" charset="-122"/>
                <a:cs typeface="Consolas" pitchFamily="34" charset="-120"/>
              </a:rPr>
              <a:t>bs=bytes</a:t>
            </a:r>
            <a:endParaRPr lang="en-US" sz="850" dirty="0"/>
          </a:p>
        </p:txBody>
      </p:sp>
      <p:sp>
        <p:nvSpPr>
          <p:cNvPr id="37" name="Text 35"/>
          <p:cNvSpPr/>
          <p:nvPr/>
        </p:nvSpPr>
        <p:spPr>
          <a:xfrm>
            <a:off x="5980176" y="3648456"/>
            <a:ext cx="2743200" cy="219456"/>
          </a:xfrm>
          <a:prstGeom prst="rect">
            <a:avLst/>
          </a:prstGeom>
          <a:noFill/>
          <a:ln/>
        </p:spPr>
        <p:txBody>
          <a:bodyPr wrap="square" lIns="0" tIns="0" rIns="0" bIns="0" rtlCol="0" anchor="ctr"/>
          <a:lstStyle/>
          <a:p>
            <a:pPr marL="0" indent="0">
              <a:buNone/>
            </a:pPr>
            <a:r>
              <a:rPr lang="en-US" sz="850" dirty="0">
                <a:solidFill>
                  <a:srgbClr val="1A1A2E"/>
                </a:solidFill>
              </a:rPr>
              <a:t>Block size per read/write (e.g. 512, 4096)</a:t>
            </a:r>
            <a:endParaRPr lang="en-US" sz="850" dirty="0"/>
          </a:p>
        </p:txBody>
      </p:sp>
      <p:sp>
        <p:nvSpPr>
          <p:cNvPr id="38" name="Shape 36"/>
          <p:cNvSpPr/>
          <p:nvPr/>
        </p:nvSpPr>
        <p:spPr>
          <a:xfrm>
            <a:off x="4754880" y="3904488"/>
            <a:ext cx="1152144" cy="237744"/>
          </a:xfrm>
          <a:prstGeom prst="rect">
            <a:avLst/>
          </a:prstGeom>
          <a:solidFill>
            <a:srgbClr val="FFFFFF"/>
          </a:solidFill>
          <a:ln w="6350">
            <a:solidFill>
              <a:srgbClr val="F4A261"/>
            </a:solidFill>
            <a:prstDash val="solid"/>
          </a:ln>
        </p:spPr>
        <p:txBody>
          <a:bodyPr/>
          <a:lstStyle/>
          <a:p>
            <a:endParaRPr lang="en-SG"/>
          </a:p>
        </p:txBody>
      </p:sp>
      <p:sp>
        <p:nvSpPr>
          <p:cNvPr id="39" name="Text 37"/>
          <p:cNvSpPr/>
          <p:nvPr/>
        </p:nvSpPr>
        <p:spPr>
          <a:xfrm>
            <a:off x="4754880" y="3904488"/>
            <a:ext cx="1152144" cy="237744"/>
          </a:xfrm>
          <a:prstGeom prst="rect">
            <a:avLst/>
          </a:prstGeom>
          <a:noFill/>
          <a:ln/>
        </p:spPr>
        <p:txBody>
          <a:bodyPr wrap="square" lIns="0" tIns="0" rIns="0" bIns="0" rtlCol="0" anchor="ctr"/>
          <a:lstStyle/>
          <a:p>
            <a:pPr marL="0" indent="0" algn="ctr">
              <a:buNone/>
            </a:pPr>
            <a:r>
              <a:rPr lang="en-US" sz="850" b="1" dirty="0">
                <a:solidFill>
                  <a:srgbClr val="F4A261"/>
                </a:solidFill>
                <a:latin typeface="Consolas" pitchFamily="34" charset="0"/>
                <a:ea typeface="Consolas" pitchFamily="34" charset="-122"/>
                <a:cs typeface="Consolas" pitchFamily="34" charset="-120"/>
              </a:rPr>
              <a:t>count=N</a:t>
            </a:r>
            <a:endParaRPr lang="en-US" sz="850" dirty="0"/>
          </a:p>
        </p:txBody>
      </p:sp>
      <p:sp>
        <p:nvSpPr>
          <p:cNvPr id="40" name="Text 38"/>
          <p:cNvSpPr/>
          <p:nvPr/>
        </p:nvSpPr>
        <p:spPr>
          <a:xfrm>
            <a:off x="5980176" y="3931920"/>
            <a:ext cx="2743200" cy="219456"/>
          </a:xfrm>
          <a:prstGeom prst="rect">
            <a:avLst/>
          </a:prstGeom>
          <a:noFill/>
          <a:ln/>
        </p:spPr>
        <p:txBody>
          <a:bodyPr wrap="square" lIns="0" tIns="0" rIns="0" bIns="0" rtlCol="0" anchor="ctr"/>
          <a:lstStyle/>
          <a:p>
            <a:pPr marL="0" indent="0">
              <a:buNone/>
            </a:pPr>
            <a:r>
              <a:rPr lang="en-US" sz="850" dirty="0">
                <a:solidFill>
                  <a:srgbClr val="1A1A2E"/>
                </a:solidFill>
              </a:rPr>
              <a:t>Number of blocks to copy</a:t>
            </a:r>
            <a:endParaRPr lang="en-US" sz="850" dirty="0"/>
          </a:p>
        </p:txBody>
      </p:sp>
      <p:sp>
        <p:nvSpPr>
          <p:cNvPr id="41" name="Shape 39"/>
          <p:cNvSpPr/>
          <p:nvPr/>
        </p:nvSpPr>
        <p:spPr>
          <a:xfrm>
            <a:off x="4754880" y="4187952"/>
            <a:ext cx="1152144" cy="237744"/>
          </a:xfrm>
          <a:prstGeom prst="rect">
            <a:avLst/>
          </a:prstGeom>
          <a:solidFill>
            <a:srgbClr val="FFFFFF"/>
          </a:solidFill>
          <a:ln w="6350">
            <a:solidFill>
              <a:srgbClr val="F4A261"/>
            </a:solidFill>
            <a:prstDash val="solid"/>
          </a:ln>
        </p:spPr>
        <p:txBody>
          <a:bodyPr/>
          <a:lstStyle/>
          <a:p>
            <a:endParaRPr lang="en-SG"/>
          </a:p>
        </p:txBody>
      </p:sp>
      <p:sp>
        <p:nvSpPr>
          <p:cNvPr id="42" name="Text 40"/>
          <p:cNvSpPr/>
          <p:nvPr/>
        </p:nvSpPr>
        <p:spPr>
          <a:xfrm>
            <a:off x="4754880" y="4187952"/>
            <a:ext cx="1152144" cy="237744"/>
          </a:xfrm>
          <a:prstGeom prst="rect">
            <a:avLst/>
          </a:prstGeom>
          <a:noFill/>
          <a:ln/>
        </p:spPr>
        <p:txBody>
          <a:bodyPr wrap="square" lIns="0" tIns="0" rIns="0" bIns="0" rtlCol="0" anchor="ctr"/>
          <a:lstStyle/>
          <a:p>
            <a:pPr marL="0" indent="0" algn="ctr">
              <a:buNone/>
            </a:pPr>
            <a:r>
              <a:rPr lang="en-US" sz="850" b="1" dirty="0">
                <a:solidFill>
                  <a:srgbClr val="F4A261"/>
                </a:solidFill>
                <a:latin typeface="Consolas" pitchFamily="34" charset="0"/>
                <a:ea typeface="Consolas" pitchFamily="34" charset="-122"/>
                <a:cs typeface="Consolas" pitchFamily="34" charset="-120"/>
              </a:rPr>
              <a:t>skip=N</a:t>
            </a:r>
            <a:endParaRPr lang="en-US" sz="850" dirty="0"/>
          </a:p>
        </p:txBody>
      </p:sp>
      <p:sp>
        <p:nvSpPr>
          <p:cNvPr id="43" name="Text 41"/>
          <p:cNvSpPr/>
          <p:nvPr/>
        </p:nvSpPr>
        <p:spPr>
          <a:xfrm>
            <a:off x="5980176" y="4215384"/>
            <a:ext cx="2743200" cy="219456"/>
          </a:xfrm>
          <a:prstGeom prst="rect">
            <a:avLst/>
          </a:prstGeom>
          <a:noFill/>
          <a:ln/>
        </p:spPr>
        <p:txBody>
          <a:bodyPr wrap="square" lIns="0" tIns="0" rIns="0" bIns="0" rtlCol="0" anchor="ctr"/>
          <a:lstStyle/>
          <a:p>
            <a:pPr marL="0" indent="0">
              <a:buNone/>
            </a:pPr>
            <a:r>
              <a:rPr lang="en-US" sz="850" dirty="0">
                <a:solidFill>
                  <a:srgbClr val="1A1A2E"/>
                </a:solidFill>
              </a:rPr>
              <a:t>Blocks to skip at start of input</a:t>
            </a:r>
            <a:endParaRPr lang="en-US" sz="850" dirty="0"/>
          </a:p>
        </p:txBody>
      </p:sp>
      <p:sp>
        <p:nvSpPr>
          <p:cNvPr id="44" name="Shape 42"/>
          <p:cNvSpPr/>
          <p:nvPr/>
        </p:nvSpPr>
        <p:spPr>
          <a:xfrm>
            <a:off x="4754880" y="4471416"/>
            <a:ext cx="1152144" cy="237744"/>
          </a:xfrm>
          <a:prstGeom prst="rect">
            <a:avLst/>
          </a:prstGeom>
          <a:solidFill>
            <a:srgbClr val="FFFFFF"/>
          </a:solidFill>
          <a:ln w="6350">
            <a:solidFill>
              <a:srgbClr val="F4A261"/>
            </a:solidFill>
            <a:prstDash val="solid"/>
          </a:ln>
        </p:spPr>
        <p:txBody>
          <a:bodyPr/>
          <a:lstStyle/>
          <a:p>
            <a:endParaRPr lang="en-SG"/>
          </a:p>
        </p:txBody>
      </p:sp>
      <p:sp>
        <p:nvSpPr>
          <p:cNvPr id="45" name="Text 43"/>
          <p:cNvSpPr/>
          <p:nvPr/>
        </p:nvSpPr>
        <p:spPr>
          <a:xfrm>
            <a:off x="4754880" y="4471416"/>
            <a:ext cx="1152144" cy="237744"/>
          </a:xfrm>
          <a:prstGeom prst="rect">
            <a:avLst/>
          </a:prstGeom>
          <a:noFill/>
          <a:ln/>
        </p:spPr>
        <p:txBody>
          <a:bodyPr wrap="square" lIns="0" tIns="0" rIns="0" bIns="0" rtlCol="0" anchor="ctr"/>
          <a:lstStyle/>
          <a:p>
            <a:pPr marL="0" indent="0" algn="ctr">
              <a:buNone/>
            </a:pPr>
            <a:r>
              <a:rPr lang="en-US" sz="850" b="1" dirty="0">
                <a:solidFill>
                  <a:srgbClr val="F4A261"/>
                </a:solidFill>
                <a:latin typeface="Consolas" pitchFamily="34" charset="0"/>
                <a:ea typeface="Consolas" pitchFamily="34" charset="-122"/>
                <a:cs typeface="Consolas" pitchFamily="34" charset="-120"/>
              </a:rPr>
              <a:t>conv=noerror,sync</a:t>
            </a:r>
            <a:endParaRPr lang="en-US" sz="850" dirty="0"/>
          </a:p>
        </p:txBody>
      </p:sp>
      <p:sp>
        <p:nvSpPr>
          <p:cNvPr id="46" name="Text 44"/>
          <p:cNvSpPr/>
          <p:nvPr/>
        </p:nvSpPr>
        <p:spPr>
          <a:xfrm>
            <a:off x="5980176" y="4498848"/>
            <a:ext cx="2743200" cy="219456"/>
          </a:xfrm>
          <a:prstGeom prst="rect">
            <a:avLst/>
          </a:prstGeom>
          <a:noFill/>
          <a:ln/>
        </p:spPr>
        <p:txBody>
          <a:bodyPr wrap="square" lIns="0" tIns="0" rIns="0" bIns="0" rtlCol="0" anchor="ctr"/>
          <a:lstStyle/>
          <a:p>
            <a:pPr marL="0" indent="0">
              <a:buNone/>
            </a:pPr>
            <a:r>
              <a:rPr lang="en-US" sz="850" dirty="0">
                <a:solidFill>
                  <a:srgbClr val="1A1A2E"/>
                </a:solidFill>
              </a:rPr>
              <a:t>Continue on error; pad bad blocks with zeros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82342"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099462" cy="256032"/>
          </a:xfrm>
          <a:prstGeom prst="rect">
            <a:avLst/>
          </a:prstGeom>
          <a:noFill/>
          <a:ln/>
        </p:spPr>
        <p:txBody>
          <a:bodyPr wrap="square" lIns="0" tIns="0" rIns="0" bIns="0" rtlCol="0" anchor="ctr"/>
          <a:lstStyle/>
          <a:p>
            <a:pPr marL="0" indent="0">
              <a:buNone/>
            </a:pPr>
            <a:r>
              <a:rPr lang="en-US" sz="850" b="1" dirty="0">
                <a:solidFill>
                  <a:srgbClr val="0D1B2A"/>
                </a:solidFill>
              </a:rPr>
              <a:t>LINUX ACQUISITION · ADVANCED</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Image Splitting, MBR Acquisition &amp; Mounting</a:t>
            </a:r>
            <a:endParaRPr lang="en-US" sz="2800" dirty="0"/>
          </a:p>
        </p:txBody>
      </p:sp>
      <p:sp>
        <p:nvSpPr>
          <p:cNvPr id="5" name="Shape 3"/>
          <p:cNvSpPr/>
          <p:nvPr/>
        </p:nvSpPr>
        <p:spPr>
          <a:xfrm>
            <a:off x="320040" y="1298448"/>
            <a:ext cx="4160520" cy="1353312"/>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4160520" cy="73152"/>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57200" y="1426464"/>
            <a:ext cx="3840480" cy="274320"/>
          </a:xfrm>
          <a:prstGeom prst="rect">
            <a:avLst/>
          </a:prstGeom>
          <a:noFill/>
          <a:ln/>
        </p:spPr>
        <p:txBody>
          <a:bodyPr wrap="square" lIns="0" tIns="0" rIns="0" bIns="0" rtlCol="0" anchor="ctr"/>
          <a:lstStyle/>
          <a:p>
            <a:pPr marL="0" indent="0">
              <a:buNone/>
            </a:pPr>
            <a:r>
              <a:rPr lang="en-US" sz="1200" b="1" dirty="0">
                <a:solidFill>
                  <a:srgbClr val="00B4D8"/>
                </a:solidFill>
              </a:rPr>
              <a:t>💿  Acquiring the MBR</a:t>
            </a:r>
            <a:endParaRPr lang="en-US" sz="1200" dirty="0"/>
          </a:p>
        </p:txBody>
      </p:sp>
      <p:sp>
        <p:nvSpPr>
          <p:cNvPr id="8" name="Text 6"/>
          <p:cNvSpPr/>
          <p:nvPr/>
        </p:nvSpPr>
        <p:spPr>
          <a:xfrm>
            <a:off x="457200" y="1737360"/>
            <a:ext cx="3840480" cy="274320"/>
          </a:xfrm>
          <a:prstGeom prst="rect">
            <a:avLst/>
          </a:prstGeom>
          <a:noFill/>
          <a:ln/>
        </p:spPr>
        <p:txBody>
          <a:bodyPr wrap="square" lIns="0" tIns="0" rIns="0" bIns="0" rtlCol="0" anchor="ctr"/>
          <a:lstStyle/>
          <a:p>
            <a:pPr marL="0" indent="0">
              <a:buNone/>
            </a:pPr>
            <a:r>
              <a:rPr lang="en-US" sz="900" dirty="0">
                <a:solidFill>
                  <a:srgbClr val="1A1A2E"/>
                </a:solidFill>
              </a:rPr>
              <a:t>The Master Boot Record occupies the first 446 bytes of a disk. Acquire it separately:</a:t>
            </a:r>
            <a:endParaRPr lang="en-US" sz="900" dirty="0"/>
          </a:p>
        </p:txBody>
      </p:sp>
      <p:sp>
        <p:nvSpPr>
          <p:cNvPr id="9" name="Shape 7"/>
          <p:cNvSpPr/>
          <p:nvPr/>
        </p:nvSpPr>
        <p:spPr>
          <a:xfrm>
            <a:off x="411480" y="2066544"/>
            <a:ext cx="3977640" cy="493776"/>
          </a:xfrm>
          <a:prstGeom prst="rect">
            <a:avLst/>
          </a:prstGeom>
          <a:solidFill>
            <a:srgbClr val="FFFFFF"/>
          </a:solidFill>
          <a:ln w="12700">
            <a:solidFill>
              <a:srgbClr val="FFFFFF"/>
            </a:solidFill>
            <a:prstDash val="solid"/>
          </a:ln>
        </p:spPr>
        <p:txBody>
          <a:bodyPr/>
          <a:lstStyle/>
          <a:p>
            <a:endParaRPr lang="en-SG"/>
          </a:p>
        </p:txBody>
      </p:sp>
      <p:sp>
        <p:nvSpPr>
          <p:cNvPr id="10" name="Text 8"/>
          <p:cNvSpPr/>
          <p:nvPr/>
        </p:nvSpPr>
        <p:spPr>
          <a:xfrm>
            <a:off x="502920" y="2066544"/>
            <a:ext cx="3794760" cy="493776"/>
          </a:xfrm>
          <a:prstGeom prst="rect">
            <a:avLst/>
          </a:prstGeom>
          <a:noFill/>
          <a:ln/>
        </p:spPr>
        <p:txBody>
          <a:bodyPr wrap="square" lIns="0" tIns="0" rIns="0" bIns="0" rtlCol="0" anchor="ctr"/>
          <a:lstStyle/>
          <a:p>
            <a:pPr marL="0" indent="0">
              <a:buNone/>
            </a:pPr>
            <a:r>
              <a:rPr lang="en-US" sz="880" dirty="0">
                <a:solidFill>
                  <a:srgbClr val="00B4D8"/>
                </a:solidFill>
                <a:latin typeface="Consolas" pitchFamily="34" charset="0"/>
                <a:ea typeface="Consolas" pitchFamily="34" charset="-122"/>
                <a:cs typeface="Consolas" pitchFamily="34" charset="-120"/>
              </a:rPr>
              <a:t>dd if=/dev/sda bs=512 count=1 of=mbr.img</a:t>
            </a:r>
            <a:endParaRPr lang="en-US" sz="880" dirty="0"/>
          </a:p>
          <a:p>
            <a:pPr marL="0" indent="0">
              <a:buNone/>
            </a:pPr>
            <a:r>
              <a:rPr lang="en-US" sz="880" dirty="0">
                <a:solidFill>
                  <a:srgbClr val="00B4D8"/>
                </a:solidFill>
                <a:latin typeface="Consolas" pitchFamily="34" charset="0"/>
                <a:ea typeface="Consolas" pitchFamily="34" charset="-122"/>
                <a:cs typeface="Consolas" pitchFamily="34" charset="-120"/>
              </a:rPr>
              <a:t>dd if=/dev/sda bs=446 count=1 of=mbr_only.img</a:t>
            </a:r>
            <a:endParaRPr lang="en-US" sz="880" dirty="0"/>
          </a:p>
        </p:txBody>
      </p:sp>
      <p:sp>
        <p:nvSpPr>
          <p:cNvPr id="11" name="Shape 9"/>
          <p:cNvSpPr/>
          <p:nvPr/>
        </p:nvSpPr>
        <p:spPr>
          <a:xfrm>
            <a:off x="4663440" y="1298448"/>
            <a:ext cx="4160520" cy="1353312"/>
          </a:xfrm>
          <a:prstGeom prst="rect">
            <a:avLst/>
          </a:prstGeom>
          <a:solidFill>
            <a:srgbClr val="EEF6FB"/>
          </a:solidFill>
          <a:ln w="12700">
            <a:solidFill>
              <a:srgbClr val="EEF6FB"/>
            </a:solidFill>
            <a:prstDash val="solid"/>
          </a:ln>
        </p:spPr>
        <p:txBody>
          <a:bodyPr/>
          <a:lstStyle/>
          <a:p>
            <a:endParaRPr lang="en-SG"/>
          </a:p>
        </p:txBody>
      </p:sp>
      <p:sp>
        <p:nvSpPr>
          <p:cNvPr id="12" name="Shape 10"/>
          <p:cNvSpPr/>
          <p:nvPr/>
        </p:nvSpPr>
        <p:spPr>
          <a:xfrm>
            <a:off x="4663440" y="1298448"/>
            <a:ext cx="4160520" cy="73152"/>
          </a:xfrm>
          <a:prstGeom prst="rect">
            <a:avLst/>
          </a:prstGeom>
          <a:solidFill>
            <a:srgbClr val="F4A261"/>
          </a:solidFill>
          <a:ln w="12700">
            <a:solidFill>
              <a:srgbClr val="F4A261"/>
            </a:solidFill>
            <a:prstDash val="solid"/>
          </a:ln>
        </p:spPr>
        <p:txBody>
          <a:bodyPr/>
          <a:lstStyle/>
          <a:p>
            <a:endParaRPr lang="en-SG"/>
          </a:p>
        </p:txBody>
      </p:sp>
      <p:sp>
        <p:nvSpPr>
          <p:cNvPr id="13" name="Text 11"/>
          <p:cNvSpPr/>
          <p:nvPr/>
        </p:nvSpPr>
        <p:spPr>
          <a:xfrm>
            <a:off x="4800600" y="1426464"/>
            <a:ext cx="3840480" cy="274320"/>
          </a:xfrm>
          <a:prstGeom prst="rect">
            <a:avLst/>
          </a:prstGeom>
          <a:noFill/>
          <a:ln/>
        </p:spPr>
        <p:txBody>
          <a:bodyPr wrap="square" lIns="0" tIns="0" rIns="0" bIns="0" rtlCol="0" anchor="ctr"/>
          <a:lstStyle/>
          <a:p>
            <a:pPr marL="0" indent="0">
              <a:buNone/>
            </a:pPr>
            <a:r>
              <a:rPr lang="en-US" sz="1200" b="1" dirty="0">
                <a:solidFill>
                  <a:srgbClr val="F4A261"/>
                </a:solidFill>
              </a:rPr>
              <a:t>✂️  Splitting Large Images</a:t>
            </a:r>
            <a:endParaRPr lang="en-US" sz="1200" dirty="0"/>
          </a:p>
        </p:txBody>
      </p:sp>
      <p:sp>
        <p:nvSpPr>
          <p:cNvPr id="14" name="Text 12"/>
          <p:cNvSpPr/>
          <p:nvPr/>
        </p:nvSpPr>
        <p:spPr>
          <a:xfrm>
            <a:off x="4800600" y="1737360"/>
            <a:ext cx="3840480" cy="274320"/>
          </a:xfrm>
          <a:prstGeom prst="rect">
            <a:avLst/>
          </a:prstGeom>
          <a:noFill/>
          <a:ln/>
        </p:spPr>
        <p:txBody>
          <a:bodyPr wrap="square" lIns="0" tIns="0" rIns="0" bIns="0" rtlCol="0" anchor="ctr"/>
          <a:lstStyle/>
          <a:p>
            <a:pPr marL="0" indent="0">
              <a:buNone/>
            </a:pPr>
            <a:r>
              <a:rPr lang="en-US" sz="900" dirty="0">
                <a:solidFill>
                  <a:srgbClr val="1A1A2E"/>
                </a:solidFill>
              </a:rPr>
              <a:t>Large images (RAID, backup tapes) may need splitting across multiple volumes:</a:t>
            </a:r>
            <a:endParaRPr lang="en-US" sz="900" dirty="0"/>
          </a:p>
        </p:txBody>
      </p:sp>
      <p:sp>
        <p:nvSpPr>
          <p:cNvPr id="15" name="Shape 13"/>
          <p:cNvSpPr/>
          <p:nvPr/>
        </p:nvSpPr>
        <p:spPr>
          <a:xfrm>
            <a:off x="4754880" y="2066544"/>
            <a:ext cx="3977640" cy="493776"/>
          </a:xfrm>
          <a:prstGeom prst="rect">
            <a:avLst/>
          </a:prstGeom>
          <a:solidFill>
            <a:srgbClr val="FFFFFF"/>
          </a:solidFill>
          <a:ln w="12700">
            <a:solidFill>
              <a:srgbClr val="FFFFFF"/>
            </a:solidFill>
            <a:prstDash val="solid"/>
          </a:ln>
        </p:spPr>
        <p:txBody>
          <a:bodyPr/>
          <a:lstStyle/>
          <a:p>
            <a:endParaRPr lang="en-SG"/>
          </a:p>
        </p:txBody>
      </p:sp>
      <p:sp>
        <p:nvSpPr>
          <p:cNvPr id="16" name="Text 14"/>
          <p:cNvSpPr/>
          <p:nvPr/>
        </p:nvSpPr>
        <p:spPr>
          <a:xfrm>
            <a:off x="4846320" y="2066544"/>
            <a:ext cx="3794760" cy="493776"/>
          </a:xfrm>
          <a:prstGeom prst="rect">
            <a:avLst/>
          </a:prstGeom>
          <a:noFill/>
          <a:ln/>
        </p:spPr>
        <p:txBody>
          <a:bodyPr wrap="square" lIns="0" tIns="0" rIns="0" bIns="0" rtlCol="0" anchor="ctr"/>
          <a:lstStyle/>
          <a:p>
            <a:pPr marL="0" indent="0">
              <a:buNone/>
            </a:pPr>
            <a:r>
              <a:rPr lang="en-US" sz="880" dirty="0">
                <a:solidFill>
                  <a:srgbClr val="00B4D8"/>
                </a:solidFill>
                <a:latin typeface="Consolas" pitchFamily="34" charset="0"/>
                <a:ea typeface="Consolas" pitchFamily="34" charset="-122"/>
                <a:cs typeface="Consolas" pitchFamily="34" charset="-120"/>
              </a:rPr>
              <a:t>dd if=/dev/sdb | split -b 2G - evidence_</a:t>
            </a:r>
            <a:endParaRPr lang="en-US" sz="880" dirty="0"/>
          </a:p>
          <a:p>
            <a:pPr marL="0" indent="0">
              <a:buNone/>
            </a:pPr>
            <a:r>
              <a:rPr lang="en-US" sz="880" dirty="0">
                <a:solidFill>
                  <a:srgbClr val="00B4D8"/>
                </a:solidFill>
                <a:latin typeface="Consolas" pitchFamily="34" charset="0"/>
                <a:ea typeface="Consolas" pitchFamily="34" charset="-122"/>
                <a:cs typeface="Consolas" pitchFamily="34" charset="-120"/>
              </a:rPr>
              <a:t>md5sum evidence_* &gt; evidence_hashes.md5</a:t>
            </a:r>
            <a:endParaRPr lang="en-US" sz="880" dirty="0"/>
          </a:p>
        </p:txBody>
      </p:sp>
      <p:sp>
        <p:nvSpPr>
          <p:cNvPr id="17" name="Shape 15"/>
          <p:cNvSpPr/>
          <p:nvPr/>
        </p:nvSpPr>
        <p:spPr>
          <a:xfrm>
            <a:off x="539957" y="2779776"/>
            <a:ext cx="8503920" cy="1188720"/>
          </a:xfrm>
          <a:prstGeom prst="rect">
            <a:avLst/>
          </a:prstGeom>
          <a:solidFill>
            <a:srgbClr val="EEF6FB"/>
          </a:solidFill>
          <a:ln w="12700">
            <a:solidFill>
              <a:srgbClr val="EEF6FB"/>
            </a:solidFill>
            <a:prstDash val="solid"/>
          </a:ln>
        </p:spPr>
        <p:txBody>
          <a:bodyPr/>
          <a:lstStyle/>
          <a:p>
            <a:endParaRPr lang="en-SG"/>
          </a:p>
        </p:txBody>
      </p:sp>
      <p:sp>
        <p:nvSpPr>
          <p:cNvPr id="18" name="Shape 16"/>
          <p:cNvSpPr/>
          <p:nvPr/>
        </p:nvSpPr>
        <p:spPr>
          <a:xfrm>
            <a:off x="320040" y="2779776"/>
            <a:ext cx="8503920" cy="73152"/>
          </a:xfrm>
          <a:prstGeom prst="rect">
            <a:avLst/>
          </a:prstGeom>
          <a:solidFill>
            <a:srgbClr val="F1C40F"/>
          </a:solidFill>
          <a:ln w="12700">
            <a:solidFill>
              <a:srgbClr val="F1C40F"/>
            </a:solidFill>
            <a:prstDash val="solid"/>
          </a:ln>
        </p:spPr>
        <p:txBody>
          <a:bodyPr/>
          <a:lstStyle/>
          <a:p>
            <a:endParaRPr lang="en-SG"/>
          </a:p>
        </p:txBody>
      </p:sp>
      <p:sp>
        <p:nvSpPr>
          <p:cNvPr id="19" name="Text 17"/>
          <p:cNvSpPr/>
          <p:nvPr/>
        </p:nvSpPr>
        <p:spPr>
          <a:xfrm>
            <a:off x="457200" y="2889504"/>
            <a:ext cx="8229600" cy="274320"/>
          </a:xfrm>
          <a:prstGeom prst="rect">
            <a:avLst/>
          </a:prstGeom>
          <a:noFill/>
          <a:ln/>
        </p:spPr>
        <p:txBody>
          <a:bodyPr wrap="square" lIns="0" tIns="0" rIns="0" bIns="0" rtlCol="0" anchor="ctr"/>
          <a:lstStyle/>
          <a:p>
            <a:pPr marL="0" indent="0">
              <a:buNone/>
            </a:pPr>
            <a:r>
              <a:rPr lang="en-US" sz="1200" b="1" dirty="0">
                <a:solidFill>
                  <a:srgbClr val="F1C40F"/>
                </a:solidFill>
              </a:rPr>
              <a:t>🔐  Integrity Verification Workflow for Split Images</a:t>
            </a:r>
            <a:endParaRPr lang="en-US" sz="1200" dirty="0"/>
          </a:p>
        </p:txBody>
      </p:sp>
      <p:sp>
        <p:nvSpPr>
          <p:cNvPr id="20" name="Shape 18"/>
          <p:cNvSpPr/>
          <p:nvPr/>
        </p:nvSpPr>
        <p:spPr>
          <a:xfrm>
            <a:off x="384048" y="3218688"/>
            <a:ext cx="274320" cy="274320"/>
          </a:xfrm>
          <a:prstGeom prst="line">
            <a:avLst/>
          </a:prstGeom>
          <a:solidFill>
            <a:srgbClr val="F1C40F"/>
          </a:solidFill>
          <a:ln w="12700">
            <a:solidFill>
              <a:srgbClr val="F1C40F"/>
            </a:solidFill>
            <a:prstDash val="solid"/>
          </a:ln>
        </p:spPr>
        <p:txBody>
          <a:bodyPr/>
          <a:lstStyle/>
          <a:p>
            <a:endParaRPr lang="en-SG"/>
          </a:p>
        </p:txBody>
      </p:sp>
      <p:sp>
        <p:nvSpPr>
          <p:cNvPr id="21" name="Text 19"/>
          <p:cNvSpPr/>
          <p:nvPr/>
        </p:nvSpPr>
        <p:spPr>
          <a:xfrm>
            <a:off x="384048" y="3218688"/>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rPr>
              <a:t>1</a:t>
            </a:r>
            <a:endParaRPr lang="en-US" sz="900" dirty="0"/>
          </a:p>
        </p:txBody>
      </p:sp>
      <p:sp>
        <p:nvSpPr>
          <p:cNvPr id="22" name="Text 20"/>
          <p:cNvSpPr/>
          <p:nvPr/>
        </p:nvSpPr>
        <p:spPr>
          <a:xfrm>
            <a:off x="113534" y="3538728"/>
            <a:ext cx="1005840" cy="201168"/>
          </a:xfrm>
          <a:prstGeom prst="rect">
            <a:avLst/>
          </a:prstGeom>
          <a:noFill/>
          <a:ln/>
        </p:spPr>
        <p:txBody>
          <a:bodyPr wrap="square" lIns="0" tIns="0" rIns="0" bIns="0" rtlCol="0" anchor="ctr"/>
          <a:lstStyle/>
          <a:p>
            <a:pPr marL="0" indent="0" algn="ctr">
              <a:buNone/>
            </a:pPr>
            <a:r>
              <a:rPr lang="en-US" sz="750" b="1" dirty="0">
                <a:solidFill>
                  <a:srgbClr val="8899AA"/>
                </a:solidFill>
              </a:rPr>
              <a:t>Hash source</a:t>
            </a:r>
            <a:endParaRPr lang="en-US" sz="750" dirty="0"/>
          </a:p>
        </p:txBody>
      </p:sp>
      <p:sp>
        <p:nvSpPr>
          <p:cNvPr id="23" name="Shape 21"/>
          <p:cNvSpPr/>
          <p:nvPr/>
        </p:nvSpPr>
        <p:spPr>
          <a:xfrm>
            <a:off x="305291" y="3758184"/>
            <a:ext cx="1591056" cy="164592"/>
          </a:xfrm>
          <a:prstGeom prst="rect">
            <a:avLst/>
          </a:prstGeom>
          <a:solidFill>
            <a:srgbClr val="FFFFFF"/>
          </a:solidFill>
          <a:ln w="12700">
            <a:solidFill>
              <a:srgbClr val="FFFFFF"/>
            </a:solidFill>
            <a:prstDash val="solid"/>
          </a:ln>
        </p:spPr>
        <p:txBody>
          <a:bodyPr/>
          <a:lstStyle/>
          <a:p>
            <a:endParaRPr lang="en-SG"/>
          </a:p>
        </p:txBody>
      </p:sp>
      <p:sp>
        <p:nvSpPr>
          <p:cNvPr id="24" name="Text 22"/>
          <p:cNvSpPr/>
          <p:nvPr/>
        </p:nvSpPr>
        <p:spPr>
          <a:xfrm>
            <a:off x="323846" y="3767328"/>
            <a:ext cx="1591056" cy="164592"/>
          </a:xfrm>
          <a:prstGeom prst="rect">
            <a:avLst/>
          </a:prstGeom>
          <a:noFill/>
          <a:ln/>
        </p:spPr>
        <p:txBody>
          <a:bodyPr wrap="square" lIns="0" tIns="0" rIns="0" bIns="0" rtlCol="0" anchor="ctr"/>
          <a:lstStyle/>
          <a:p>
            <a:pPr marL="0" indent="0">
              <a:buNone/>
            </a:pPr>
            <a:r>
              <a:rPr lang="en-US" sz="680" dirty="0">
                <a:solidFill>
                  <a:srgbClr val="00B4D8"/>
                </a:solidFill>
                <a:latin typeface="Consolas" pitchFamily="34" charset="0"/>
                <a:ea typeface="Consolas" pitchFamily="34" charset="-122"/>
                <a:cs typeface="Consolas" pitchFamily="34" charset="-120"/>
              </a:rPr>
              <a:t>md5sum /dev/sdb</a:t>
            </a:r>
            <a:endParaRPr lang="en-US" sz="680" dirty="0"/>
          </a:p>
        </p:txBody>
      </p:sp>
      <p:sp>
        <p:nvSpPr>
          <p:cNvPr id="25" name="Shape 23"/>
          <p:cNvSpPr/>
          <p:nvPr/>
        </p:nvSpPr>
        <p:spPr>
          <a:xfrm>
            <a:off x="2066544" y="3218688"/>
            <a:ext cx="274320" cy="274320"/>
          </a:xfrm>
          <a:prstGeom prst="line">
            <a:avLst/>
          </a:prstGeom>
          <a:solidFill>
            <a:srgbClr val="F1C40F"/>
          </a:solidFill>
          <a:ln w="12700">
            <a:solidFill>
              <a:srgbClr val="F1C40F"/>
            </a:solidFill>
            <a:prstDash val="solid"/>
          </a:ln>
        </p:spPr>
        <p:txBody>
          <a:bodyPr/>
          <a:lstStyle/>
          <a:p>
            <a:endParaRPr lang="en-SG"/>
          </a:p>
        </p:txBody>
      </p:sp>
      <p:sp>
        <p:nvSpPr>
          <p:cNvPr id="26" name="Text 24"/>
          <p:cNvSpPr/>
          <p:nvPr/>
        </p:nvSpPr>
        <p:spPr>
          <a:xfrm>
            <a:off x="2066544" y="3218688"/>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rPr>
              <a:t>2</a:t>
            </a:r>
            <a:endParaRPr lang="en-US" sz="900" dirty="0"/>
          </a:p>
        </p:txBody>
      </p:sp>
      <p:sp>
        <p:nvSpPr>
          <p:cNvPr id="27" name="Text 25"/>
          <p:cNvSpPr/>
          <p:nvPr/>
        </p:nvSpPr>
        <p:spPr>
          <a:xfrm>
            <a:off x="1813803" y="3530155"/>
            <a:ext cx="1005840" cy="201168"/>
          </a:xfrm>
          <a:prstGeom prst="rect">
            <a:avLst/>
          </a:prstGeom>
          <a:noFill/>
          <a:ln/>
        </p:spPr>
        <p:txBody>
          <a:bodyPr wrap="square" lIns="0" tIns="0" rIns="0" bIns="0" rtlCol="0" anchor="ctr"/>
          <a:lstStyle/>
          <a:p>
            <a:pPr marL="0" indent="0" algn="ctr">
              <a:buNone/>
            </a:pPr>
            <a:r>
              <a:rPr lang="en-US" sz="750" b="1" dirty="0">
                <a:solidFill>
                  <a:srgbClr val="8899AA"/>
                </a:solidFill>
              </a:rPr>
              <a:t>Create split</a:t>
            </a:r>
            <a:endParaRPr lang="en-US" sz="750" dirty="0"/>
          </a:p>
        </p:txBody>
      </p:sp>
      <p:sp>
        <p:nvSpPr>
          <p:cNvPr id="28" name="Shape 26"/>
          <p:cNvSpPr/>
          <p:nvPr/>
        </p:nvSpPr>
        <p:spPr>
          <a:xfrm>
            <a:off x="1939197" y="3759581"/>
            <a:ext cx="1591056" cy="164592"/>
          </a:xfrm>
          <a:prstGeom prst="rect">
            <a:avLst/>
          </a:prstGeom>
          <a:solidFill>
            <a:srgbClr val="FFFFFF"/>
          </a:solidFill>
          <a:ln w="12700">
            <a:solidFill>
              <a:srgbClr val="FFFFFF"/>
            </a:solidFill>
            <a:prstDash val="solid"/>
          </a:ln>
        </p:spPr>
        <p:txBody>
          <a:bodyPr/>
          <a:lstStyle/>
          <a:p>
            <a:endParaRPr lang="en-SG"/>
          </a:p>
        </p:txBody>
      </p:sp>
      <p:sp>
        <p:nvSpPr>
          <p:cNvPr id="29" name="Text 27"/>
          <p:cNvSpPr/>
          <p:nvPr/>
        </p:nvSpPr>
        <p:spPr>
          <a:xfrm>
            <a:off x="1987787" y="3767328"/>
            <a:ext cx="1591056" cy="164592"/>
          </a:xfrm>
          <a:prstGeom prst="rect">
            <a:avLst/>
          </a:prstGeom>
          <a:noFill/>
          <a:ln/>
        </p:spPr>
        <p:txBody>
          <a:bodyPr wrap="square" lIns="0" tIns="0" rIns="0" bIns="0" rtlCol="0" anchor="ctr"/>
          <a:lstStyle/>
          <a:p>
            <a:pPr marL="0" indent="0">
              <a:buNone/>
            </a:pPr>
            <a:r>
              <a:rPr lang="en-US" sz="680" dirty="0">
                <a:solidFill>
                  <a:srgbClr val="00B4D8"/>
                </a:solidFill>
                <a:latin typeface="Consolas" pitchFamily="34" charset="0"/>
                <a:ea typeface="Consolas" pitchFamily="34" charset="-122"/>
                <a:cs typeface="Consolas" pitchFamily="34" charset="-120"/>
              </a:rPr>
              <a:t>dd | split -b 2G - img_</a:t>
            </a:r>
            <a:endParaRPr lang="en-US" sz="680" dirty="0"/>
          </a:p>
        </p:txBody>
      </p:sp>
      <p:sp>
        <p:nvSpPr>
          <p:cNvPr id="30" name="Shape 28"/>
          <p:cNvSpPr/>
          <p:nvPr/>
        </p:nvSpPr>
        <p:spPr>
          <a:xfrm>
            <a:off x="3749040" y="3218688"/>
            <a:ext cx="274320" cy="274320"/>
          </a:xfrm>
          <a:prstGeom prst="line">
            <a:avLst/>
          </a:prstGeom>
          <a:solidFill>
            <a:srgbClr val="F1C40F"/>
          </a:solidFill>
          <a:ln w="12700">
            <a:solidFill>
              <a:srgbClr val="F1C40F"/>
            </a:solidFill>
            <a:prstDash val="solid"/>
          </a:ln>
        </p:spPr>
        <p:txBody>
          <a:bodyPr/>
          <a:lstStyle/>
          <a:p>
            <a:endParaRPr lang="en-SG"/>
          </a:p>
        </p:txBody>
      </p:sp>
      <p:sp>
        <p:nvSpPr>
          <p:cNvPr id="31" name="Text 29"/>
          <p:cNvSpPr/>
          <p:nvPr/>
        </p:nvSpPr>
        <p:spPr>
          <a:xfrm>
            <a:off x="3749040" y="3218688"/>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rPr>
              <a:t>3</a:t>
            </a:r>
            <a:endParaRPr lang="en-US" sz="900" dirty="0"/>
          </a:p>
        </p:txBody>
      </p:sp>
      <p:sp>
        <p:nvSpPr>
          <p:cNvPr id="32" name="Text 30"/>
          <p:cNvSpPr/>
          <p:nvPr/>
        </p:nvSpPr>
        <p:spPr>
          <a:xfrm>
            <a:off x="3496299" y="3519011"/>
            <a:ext cx="1005840" cy="201168"/>
          </a:xfrm>
          <a:prstGeom prst="rect">
            <a:avLst/>
          </a:prstGeom>
          <a:noFill/>
          <a:ln/>
        </p:spPr>
        <p:txBody>
          <a:bodyPr wrap="square" lIns="0" tIns="0" rIns="0" bIns="0" rtlCol="0" anchor="ctr"/>
          <a:lstStyle/>
          <a:p>
            <a:pPr marL="0" indent="0" algn="ctr">
              <a:buNone/>
            </a:pPr>
            <a:r>
              <a:rPr lang="en-US" sz="750" b="1" dirty="0">
                <a:solidFill>
                  <a:srgbClr val="8899AA"/>
                </a:solidFill>
              </a:rPr>
              <a:t>Hash parts</a:t>
            </a:r>
            <a:endParaRPr lang="en-US" sz="750" dirty="0"/>
          </a:p>
        </p:txBody>
      </p:sp>
      <p:sp>
        <p:nvSpPr>
          <p:cNvPr id="33" name="Shape 31"/>
          <p:cNvSpPr/>
          <p:nvPr/>
        </p:nvSpPr>
        <p:spPr>
          <a:xfrm>
            <a:off x="3624563" y="3767328"/>
            <a:ext cx="1591056" cy="164592"/>
          </a:xfrm>
          <a:prstGeom prst="rect">
            <a:avLst/>
          </a:prstGeom>
          <a:solidFill>
            <a:srgbClr val="FFFFFF"/>
          </a:solidFill>
          <a:ln w="12700">
            <a:solidFill>
              <a:srgbClr val="FFFFFF"/>
            </a:solidFill>
            <a:prstDash val="solid"/>
          </a:ln>
        </p:spPr>
        <p:txBody>
          <a:bodyPr/>
          <a:lstStyle/>
          <a:p>
            <a:endParaRPr lang="en-SG"/>
          </a:p>
        </p:txBody>
      </p:sp>
      <p:sp>
        <p:nvSpPr>
          <p:cNvPr id="34" name="Text 32"/>
          <p:cNvSpPr/>
          <p:nvPr/>
        </p:nvSpPr>
        <p:spPr>
          <a:xfrm>
            <a:off x="3624563" y="3767328"/>
            <a:ext cx="1591056" cy="164592"/>
          </a:xfrm>
          <a:prstGeom prst="rect">
            <a:avLst/>
          </a:prstGeom>
          <a:noFill/>
          <a:ln/>
        </p:spPr>
        <p:txBody>
          <a:bodyPr wrap="square" lIns="0" tIns="0" rIns="0" bIns="0" rtlCol="0" anchor="ctr"/>
          <a:lstStyle/>
          <a:p>
            <a:pPr marL="0" indent="0">
              <a:buNone/>
            </a:pPr>
            <a:r>
              <a:rPr lang="en-US" sz="680" dirty="0">
                <a:solidFill>
                  <a:srgbClr val="00B4D8"/>
                </a:solidFill>
                <a:latin typeface="Consolas" pitchFamily="34" charset="0"/>
                <a:ea typeface="Consolas" pitchFamily="34" charset="-122"/>
                <a:cs typeface="Consolas" pitchFamily="34" charset="-120"/>
              </a:rPr>
              <a:t>md5sum img_* &gt; parts.md5</a:t>
            </a:r>
            <a:endParaRPr lang="en-US" sz="680" dirty="0"/>
          </a:p>
        </p:txBody>
      </p:sp>
      <p:sp>
        <p:nvSpPr>
          <p:cNvPr id="35" name="Shape 33"/>
          <p:cNvSpPr/>
          <p:nvPr/>
        </p:nvSpPr>
        <p:spPr>
          <a:xfrm>
            <a:off x="5431536" y="3218688"/>
            <a:ext cx="274320" cy="274320"/>
          </a:xfrm>
          <a:prstGeom prst="line">
            <a:avLst/>
          </a:prstGeom>
          <a:solidFill>
            <a:srgbClr val="F1C40F"/>
          </a:solidFill>
          <a:ln w="12700">
            <a:solidFill>
              <a:srgbClr val="F1C40F"/>
            </a:solidFill>
            <a:prstDash val="solid"/>
          </a:ln>
        </p:spPr>
        <p:txBody>
          <a:bodyPr/>
          <a:lstStyle/>
          <a:p>
            <a:endParaRPr lang="en-SG"/>
          </a:p>
        </p:txBody>
      </p:sp>
      <p:sp>
        <p:nvSpPr>
          <p:cNvPr id="36" name="Text 34"/>
          <p:cNvSpPr/>
          <p:nvPr/>
        </p:nvSpPr>
        <p:spPr>
          <a:xfrm>
            <a:off x="5431536" y="3218688"/>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rPr>
              <a:t>4</a:t>
            </a:r>
            <a:endParaRPr lang="en-US" sz="900" dirty="0"/>
          </a:p>
        </p:txBody>
      </p:sp>
      <p:sp>
        <p:nvSpPr>
          <p:cNvPr id="37" name="Text 35"/>
          <p:cNvSpPr/>
          <p:nvPr/>
        </p:nvSpPr>
        <p:spPr>
          <a:xfrm>
            <a:off x="5161558" y="3541585"/>
            <a:ext cx="1005840" cy="201168"/>
          </a:xfrm>
          <a:prstGeom prst="rect">
            <a:avLst/>
          </a:prstGeom>
          <a:noFill/>
          <a:ln/>
        </p:spPr>
        <p:txBody>
          <a:bodyPr wrap="square" lIns="0" tIns="0" rIns="0" bIns="0" rtlCol="0" anchor="ctr"/>
          <a:lstStyle/>
          <a:p>
            <a:pPr marL="0" indent="0" algn="ctr">
              <a:buNone/>
            </a:pPr>
            <a:r>
              <a:rPr lang="en-US" sz="750" b="1" dirty="0">
                <a:solidFill>
                  <a:srgbClr val="8899AA"/>
                </a:solidFill>
              </a:rPr>
              <a:t>Rejoin parts</a:t>
            </a:r>
            <a:endParaRPr lang="en-US" sz="750" dirty="0"/>
          </a:p>
        </p:txBody>
      </p:sp>
      <p:sp>
        <p:nvSpPr>
          <p:cNvPr id="38" name="Shape 36"/>
          <p:cNvSpPr/>
          <p:nvPr/>
        </p:nvSpPr>
        <p:spPr>
          <a:xfrm>
            <a:off x="5307059" y="3767328"/>
            <a:ext cx="1591056" cy="164592"/>
          </a:xfrm>
          <a:prstGeom prst="rect">
            <a:avLst/>
          </a:prstGeom>
          <a:solidFill>
            <a:srgbClr val="FFFFFF"/>
          </a:solidFill>
          <a:ln w="12700">
            <a:solidFill>
              <a:srgbClr val="FFFFFF"/>
            </a:solidFill>
            <a:prstDash val="solid"/>
          </a:ln>
        </p:spPr>
        <p:txBody>
          <a:bodyPr/>
          <a:lstStyle/>
          <a:p>
            <a:endParaRPr lang="en-SG"/>
          </a:p>
        </p:txBody>
      </p:sp>
      <p:sp>
        <p:nvSpPr>
          <p:cNvPr id="39" name="Text 37"/>
          <p:cNvSpPr/>
          <p:nvPr/>
        </p:nvSpPr>
        <p:spPr>
          <a:xfrm>
            <a:off x="5307059" y="3767328"/>
            <a:ext cx="1591056" cy="164592"/>
          </a:xfrm>
          <a:prstGeom prst="rect">
            <a:avLst/>
          </a:prstGeom>
          <a:noFill/>
          <a:ln/>
        </p:spPr>
        <p:txBody>
          <a:bodyPr wrap="square" lIns="0" tIns="0" rIns="0" bIns="0" rtlCol="0" anchor="ctr"/>
          <a:lstStyle/>
          <a:p>
            <a:pPr marL="0" indent="0">
              <a:buNone/>
            </a:pPr>
            <a:r>
              <a:rPr lang="en-US" sz="680" dirty="0">
                <a:solidFill>
                  <a:srgbClr val="00B4D8"/>
                </a:solidFill>
                <a:latin typeface="Consolas" pitchFamily="34" charset="0"/>
                <a:ea typeface="Consolas" pitchFamily="34" charset="-122"/>
                <a:cs typeface="Consolas" pitchFamily="34" charset="-120"/>
              </a:rPr>
              <a:t>cat img_* &gt; full.dd</a:t>
            </a:r>
            <a:endParaRPr lang="en-US" sz="680" dirty="0"/>
          </a:p>
        </p:txBody>
      </p:sp>
      <p:sp>
        <p:nvSpPr>
          <p:cNvPr id="40" name="Shape 38"/>
          <p:cNvSpPr/>
          <p:nvPr/>
        </p:nvSpPr>
        <p:spPr>
          <a:xfrm>
            <a:off x="7114032" y="3218688"/>
            <a:ext cx="274320" cy="274320"/>
          </a:xfrm>
          <a:prstGeom prst="line">
            <a:avLst/>
          </a:prstGeom>
          <a:solidFill>
            <a:srgbClr val="F1C40F"/>
          </a:solidFill>
          <a:ln w="12700">
            <a:solidFill>
              <a:srgbClr val="F1C40F"/>
            </a:solidFill>
            <a:prstDash val="solid"/>
          </a:ln>
        </p:spPr>
        <p:txBody>
          <a:bodyPr/>
          <a:lstStyle/>
          <a:p>
            <a:endParaRPr lang="en-SG"/>
          </a:p>
        </p:txBody>
      </p:sp>
      <p:sp>
        <p:nvSpPr>
          <p:cNvPr id="41" name="Text 39"/>
          <p:cNvSpPr/>
          <p:nvPr/>
        </p:nvSpPr>
        <p:spPr>
          <a:xfrm>
            <a:off x="7114032" y="3218688"/>
            <a:ext cx="274320" cy="274320"/>
          </a:xfrm>
          <a:prstGeom prst="rect">
            <a:avLst/>
          </a:prstGeom>
          <a:noFill/>
          <a:ln/>
        </p:spPr>
        <p:txBody>
          <a:bodyPr wrap="square" lIns="0" tIns="0" rIns="0" bIns="0" rtlCol="0" anchor="ctr"/>
          <a:lstStyle/>
          <a:p>
            <a:pPr marL="0" indent="0" algn="ctr">
              <a:buNone/>
            </a:pPr>
            <a:r>
              <a:rPr lang="en-US" sz="900" b="1" dirty="0">
                <a:solidFill>
                  <a:srgbClr val="0D1B2A"/>
                </a:solidFill>
              </a:rPr>
              <a:t>5</a:t>
            </a:r>
            <a:endParaRPr lang="en-US" sz="900" dirty="0"/>
          </a:p>
        </p:txBody>
      </p:sp>
      <p:sp>
        <p:nvSpPr>
          <p:cNvPr id="42" name="Text 40"/>
          <p:cNvSpPr/>
          <p:nvPr/>
        </p:nvSpPr>
        <p:spPr>
          <a:xfrm>
            <a:off x="6826817" y="3544157"/>
            <a:ext cx="1005840" cy="201168"/>
          </a:xfrm>
          <a:prstGeom prst="rect">
            <a:avLst/>
          </a:prstGeom>
          <a:noFill/>
          <a:ln/>
        </p:spPr>
        <p:txBody>
          <a:bodyPr wrap="square" lIns="0" tIns="0" rIns="0" bIns="0" rtlCol="0" anchor="ctr"/>
          <a:lstStyle/>
          <a:p>
            <a:pPr marL="0" indent="0" algn="ctr">
              <a:buNone/>
            </a:pPr>
            <a:r>
              <a:rPr lang="en-US" sz="750" b="1" dirty="0">
                <a:solidFill>
                  <a:srgbClr val="8899AA"/>
                </a:solidFill>
              </a:rPr>
              <a:t>Verify image</a:t>
            </a:r>
            <a:endParaRPr lang="en-US" sz="750" dirty="0"/>
          </a:p>
        </p:txBody>
      </p:sp>
      <p:sp>
        <p:nvSpPr>
          <p:cNvPr id="43" name="Shape 41"/>
          <p:cNvSpPr/>
          <p:nvPr/>
        </p:nvSpPr>
        <p:spPr>
          <a:xfrm>
            <a:off x="6989555" y="3767328"/>
            <a:ext cx="1591056" cy="164592"/>
          </a:xfrm>
          <a:prstGeom prst="rect">
            <a:avLst/>
          </a:prstGeom>
          <a:solidFill>
            <a:srgbClr val="FFFFFF"/>
          </a:solidFill>
          <a:ln w="12700">
            <a:solidFill>
              <a:srgbClr val="FFFFFF"/>
            </a:solidFill>
            <a:prstDash val="solid"/>
          </a:ln>
        </p:spPr>
        <p:txBody>
          <a:bodyPr/>
          <a:lstStyle/>
          <a:p>
            <a:endParaRPr lang="en-SG"/>
          </a:p>
        </p:txBody>
      </p:sp>
      <p:sp>
        <p:nvSpPr>
          <p:cNvPr id="44" name="Text 42"/>
          <p:cNvSpPr/>
          <p:nvPr/>
        </p:nvSpPr>
        <p:spPr>
          <a:xfrm>
            <a:off x="7078125" y="3767328"/>
            <a:ext cx="1591056" cy="164592"/>
          </a:xfrm>
          <a:prstGeom prst="rect">
            <a:avLst/>
          </a:prstGeom>
          <a:noFill/>
          <a:ln/>
        </p:spPr>
        <p:txBody>
          <a:bodyPr wrap="square" lIns="0" tIns="0" rIns="0" bIns="0" rtlCol="0" anchor="ctr"/>
          <a:lstStyle/>
          <a:p>
            <a:pPr marL="0" indent="0">
              <a:buNone/>
            </a:pPr>
            <a:r>
              <a:rPr lang="en-US" sz="680" dirty="0">
                <a:solidFill>
                  <a:srgbClr val="00B4D8"/>
                </a:solidFill>
                <a:latin typeface="Consolas" pitchFamily="34" charset="0"/>
                <a:ea typeface="Consolas" pitchFamily="34" charset="-122"/>
                <a:cs typeface="Consolas" pitchFamily="34" charset="-120"/>
              </a:rPr>
              <a:t>md5sum full.dd</a:t>
            </a:r>
            <a:endParaRPr lang="en-US" sz="680" dirty="0"/>
          </a:p>
        </p:txBody>
      </p:sp>
      <p:sp>
        <p:nvSpPr>
          <p:cNvPr id="45" name="Shape 43"/>
          <p:cNvSpPr/>
          <p:nvPr/>
        </p:nvSpPr>
        <p:spPr>
          <a:xfrm>
            <a:off x="320040" y="4041648"/>
            <a:ext cx="8503920" cy="731520"/>
          </a:xfrm>
          <a:prstGeom prst="rect">
            <a:avLst/>
          </a:prstGeom>
          <a:solidFill>
            <a:srgbClr val="FFFFFF"/>
          </a:solidFill>
          <a:ln w="12700">
            <a:solidFill>
              <a:srgbClr val="FFFFFF"/>
            </a:solidFill>
            <a:prstDash val="solid"/>
          </a:ln>
        </p:spPr>
        <p:txBody>
          <a:bodyPr/>
          <a:lstStyle/>
          <a:p>
            <a:endParaRPr lang="en-SG"/>
          </a:p>
        </p:txBody>
      </p:sp>
      <p:sp>
        <p:nvSpPr>
          <p:cNvPr id="46" name="Shape 44"/>
          <p:cNvSpPr/>
          <p:nvPr/>
        </p:nvSpPr>
        <p:spPr>
          <a:xfrm>
            <a:off x="320040" y="4041648"/>
            <a:ext cx="109728" cy="731520"/>
          </a:xfrm>
          <a:prstGeom prst="rect">
            <a:avLst/>
          </a:prstGeom>
          <a:solidFill>
            <a:srgbClr val="48CAE4"/>
          </a:solidFill>
          <a:ln w="12700">
            <a:solidFill>
              <a:srgbClr val="48CAE4"/>
            </a:solidFill>
            <a:prstDash val="solid"/>
          </a:ln>
        </p:spPr>
        <p:txBody>
          <a:bodyPr/>
          <a:lstStyle/>
          <a:p>
            <a:endParaRPr lang="en-SG"/>
          </a:p>
        </p:txBody>
      </p:sp>
      <p:sp>
        <p:nvSpPr>
          <p:cNvPr id="47" name="Text 45"/>
          <p:cNvSpPr/>
          <p:nvPr/>
        </p:nvSpPr>
        <p:spPr>
          <a:xfrm>
            <a:off x="512064" y="4096512"/>
            <a:ext cx="4663440" cy="256032"/>
          </a:xfrm>
          <a:prstGeom prst="rect">
            <a:avLst/>
          </a:prstGeom>
          <a:noFill/>
          <a:ln/>
        </p:spPr>
        <p:txBody>
          <a:bodyPr wrap="square" lIns="0" tIns="0" rIns="0" bIns="0" rtlCol="0" anchor="ctr"/>
          <a:lstStyle/>
          <a:p>
            <a:pPr marL="0" indent="0">
              <a:buNone/>
            </a:pPr>
            <a:r>
              <a:rPr lang="en-US" sz="1100" b="1" dirty="0">
                <a:solidFill>
                  <a:srgbClr val="48CAE4"/>
                </a:solidFill>
              </a:rPr>
              <a:t>📂  Mounting an Image Read-Only for Examination</a:t>
            </a:r>
            <a:endParaRPr lang="en-US" sz="1100" dirty="0"/>
          </a:p>
        </p:txBody>
      </p:sp>
      <p:sp>
        <p:nvSpPr>
          <p:cNvPr id="48" name="Shape 46"/>
          <p:cNvSpPr/>
          <p:nvPr/>
        </p:nvSpPr>
        <p:spPr>
          <a:xfrm>
            <a:off x="5303520" y="4096512"/>
            <a:ext cx="3383280" cy="603504"/>
          </a:xfrm>
          <a:prstGeom prst="rect">
            <a:avLst/>
          </a:prstGeom>
          <a:solidFill>
            <a:srgbClr val="FFFFFF"/>
          </a:solidFill>
          <a:ln w="12700">
            <a:solidFill>
              <a:srgbClr val="FFFFFF"/>
            </a:solidFill>
            <a:prstDash val="solid"/>
          </a:ln>
        </p:spPr>
        <p:txBody>
          <a:bodyPr/>
          <a:lstStyle/>
          <a:p>
            <a:endParaRPr lang="en-SG"/>
          </a:p>
        </p:txBody>
      </p:sp>
      <p:sp>
        <p:nvSpPr>
          <p:cNvPr id="49" name="Text 47"/>
          <p:cNvSpPr/>
          <p:nvPr/>
        </p:nvSpPr>
        <p:spPr>
          <a:xfrm>
            <a:off x="5394960" y="4096512"/>
            <a:ext cx="3200400" cy="603504"/>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mount -o loop,ro image.dd /mnt/evidence</a:t>
            </a:r>
            <a:endParaRPr lang="en-US" sz="850" dirty="0"/>
          </a:p>
          <a:p>
            <a:pPr marL="0" indent="0">
              <a:buNone/>
            </a:pPr>
            <a:r>
              <a:rPr lang="en-US" sz="850" dirty="0">
                <a:solidFill>
                  <a:srgbClr val="00B4D8"/>
                </a:solidFill>
                <a:latin typeface="Consolas" pitchFamily="34" charset="0"/>
                <a:ea typeface="Consolas" pitchFamily="34" charset="-122"/>
                <a:cs typeface="Consolas" pitchFamily="34" charset="-120"/>
              </a:rPr>
              <a:t>ls /mnt/evidence  # browse file system</a:t>
            </a:r>
            <a:endParaRPr lang="en-US" sz="850" dirty="0"/>
          </a:p>
        </p:txBody>
      </p:sp>
      <p:sp>
        <p:nvSpPr>
          <p:cNvPr id="50" name="Text 48"/>
          <p:cNvSpPr/>
          <p:nvPr/>
        </p:nvSpPr>
        <p:spPr>
          <a:xfrm>
            <a:off x="512064" y="4370832"/>
            <a:ext cx="4480560" cy="347472"/>
          </a:xfrm>
          <a:prstGeom prst="rect">
            <a:avLst/>
          </a:prstGeom>
          <a:noFill/>
          <a:ln/>
        </p:spPr>
        <p:txBody>
          <a:bodyPr wrap="square" lIns="0" tIns="0" rIns="0" bIns="0" rtlCol="0" anchor="ctr"/>
          <a:lstStyle/>
          <a:p>
            <a:pPr marL="0" indent="0">
              <a:buNone/>
            </a:pPr>
            <a:r>
              <a:rPr lang="en-US" sz="850" dirty="0">
                <a:solidFill>
                  <a:srgbClr val="1A1A2E"/>
                </a:solidFill>
              </a:rPr>
              <a:t>The ro (read-only) flag is critical — it prevents writes to the image, preserving forensic integrity. Always mount evidence images read-only.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07362"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024482" cy="256032"/>
          </a:xfrm>
          <a:prstGeom prst="rect">
            <a:avLst/>
          </a:prstGeom>
          <a:noFill/>
          <a:ln/>
        </p:spPr>
        <p:txBody>
          <a:bodyPr wrap="square" lIns="0" tIns="0" rIns="0" bIns="0" rtlCol="0" anchor="ctr"/>
          <a:lstStyle/>
          <a:p>
            <a:pPr marL="0" indent="0">
              <a:buNone/>
            </a:pPr>
            <a:r>
              <a:rPr lang="en-US" sz="850" b="1" dirty="0">
                <a:solidFill>
                  <a:srgbClr val="0D1B2A"/>
                </a:solidFill>
              </a:rPr>
              <a:t>LINUX ACQUISITION · NETWORK</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Network Acquisition with Netcat &amp; dd</a:t>
            </a:r>
            <a:endParaRPr lang="en-US" sz="2800" dirty="0"/>
          </a:p>
        </p:txBody>
      </p:sp>
      <p:sp>
        <p:nvSpPr>
          <p:cNvPr id="5" name="Shape 3"/>
          <p:cNvSpPr/>
          <p:nvPr/>
        </p:nvSpPr>
        <p:spPr>
          <a:xfrm>
            <a:off x="320040" y="1261872"/>
            <a:ext cx="8503920" cy="512064"/>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61872"/>
            <a:ext cx="109728" cy="512064"/>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512064" y="1316736"/>
            <a:ext cx="8229600" cy="402336"/>
          </a:xfrm>
          <a:prstGeom prst="rect">
            <a:avLst/>
          </a:prstGeom>
          <a:noFill/>
          <a:ln/>
        </p:spPr>
        <p:txBody>
          <a:bodyPr wrap="square" lIns="0" tIns="0" rIns="0" bIns="0" rtlCol="0" anchor="ctr"/>
          <a:lstStyle/>
          <a:p>
            <a:pPr marL="0" indent="0">
              <a:buNone/>
            </a:pPr>
            <a:r>
              <a:rPr lang="en-US" sz="950" dirty="0">
                <a:solidFill>
                  <a:srgbClr val="1A1A2E"/>
                </a:solidFill>
              </a:rPr>
              <a:t>When physical access is unavailable, dd and netcat can be combined to acquire a forensically sound image over a network connection using TCP/IP.</a:t>
            </a:r>
            <a:endParaRPr lang="en-US" sz="950" dirty="0"/>
          </a:p>
        </p:txBody>
      </p:sp>
      <p:sp>
        <p:nvSpPr>
          <p:cNvPr id="8" name="Shape 6"/>
          <p:cNvSpPr/>
          <p:nvPr/>
        </p:nvSpPr>
        <p:spPr>
          <a:xfrm>
            <a:off x="320040" y="1883664"/>
            <a:ext cx="4023360" cy="2907792"/>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883664"/>
            <a:ext cx="4023360" cy="91440"/>
          </a:xfrm>
          <a:prstGeom prst="rect">
            <a:avLst/>
          </a:prstGeom>
          <a:solidFill>
            <a:srgbClr val="E74C3C"/>
          </a:solidFill>
          <a:ln w="12700">
            <a:solidFill>
              <a:srgbClr val="E74C3C"/>
            </a:solidFill>
            <a:prstDash val="solid"/>
          </a:ln>
        </p:spPr>
        <p:txBody>
          <a:bodyPr/>
          <a:lstStyle/>
          <a:p>
            <a:endParaRPr lang="en-SG"/>
          </a:p>
        </p:txBody>
      </p:sp>
      <p:sp>
        <p:nvSpPr>
          <p:cNvPr id="10" name="Text 8"/>
          <p:cNvSpPr/>
          <p:nvPr/>
        </p:nvSpPr>
        <p:spPr>
          <a:xfrm>
            <a:off x="457200" y="2011680"/>
            <a:ext cx="3749040" cy="274320"/>
          </a:xfrm>
          <a:prstGeom prst="rect">
            <a:avLst/>
          </a:prstGeom>
          <a:noFill/>
          <a:ln/>
        </p:spPr>
        <p:txBody>
          <a:bodyPr wrap="square" lIns="0" tIns="0" rIns="0" bIns="0" rtlCol="0" anchor="ctr"/>
          <a:lstStyle/>
          <a:p>
            <a:pPr marL="0" indent="0">
              <a:buNone/>
            </a:pPr>
            <a:r>
              <a:rPr lang="en-US" sz="1100" b="1" dirty="0">
                <a:solidFill>
                  <a:srgbClr val="E74C3C"/>
                </a:solidFill>
              </a:rPr>
              <a:t>🖥️  TARGET MACHINE  (192.168.0.2)</a:t>
            </a:r>
            <a:endParaRPr lang="en-US" sz="1100" dirty="0"/>
          </a:p>
        </p:txBody>
      </p:sp>
      <p:sp>
        <p:nvSpPr>
          <p:cNvPr id="11" name="Shape 9"/>
          <p:cNvSpPr/>
          <p:nvPr/>
        </p:nvSpPr>
        <p:spPr>
          <a:xfrm>
            <a:off x="438912" y="2395728"/>
            <a:ext cx="237744" cy="237744"/>
          </a:xfrm>
          <a:prstGeom prst="line">
            <a:avLst/>
          </a:prstGeom>
          <a:solidFill>
            <a:srgbClr val="E74C3C"/>
          </a:solidFill>
          <a:ln w="12700">
            <a:solidFill>
              <a:srgbClr val="E74C3C"/>
            </a:solidFill>
            <a:prstDash val="solid"/>
          </a:ln>
        </p:spPr>
        <p:txBody>
          <a:bodyPr/>
          <a:lstStyle/>
          <a:p>
            <a:endParaRPr lang="en-SG"/>
          </a:p>
        </p:txBody>
      </p:sp>
      <p:sp>
        <p:nvSpPr>
          <p:cNvPr id="12" name="Text 10"/>
          <p:cNvSpPr/>
          <p:nvPr/>
        </p:nvSpPr>
        <p:spPr>
          <a:xfrm>
            <a:off x="438912" y="2395728"/>
            <a:ext cx="237744" cy="237744"/>
          </a:xfrm>
          <a:prstGeom prst="rect">
            <a:avLst/>
          </a:prstGeom>
          <a:noFill/>
          <a:ln/>
        </p:spPr>
        <p:txBody>
          <a:bodyPr wrap="square" lIns="0" tIns="0" rIns="0" bIns="0" rtlCol="0" anchor="ctr"/>
          <a:lstStyle/>
          <a:p>
            <a:pPr marL="0" indent="0" algn="ctr">
              <a:buNone/>
            </a:pPr>
            <a:r>
              <a:rPr lang="en-US" sz="900" b="1" dirty="0">
                <a:solidFill>
                  <a:srgbClr val="1A1A2E"/>
                </a:solidFill>
              </a:rPr>
              <a:t>1</a:t>
            </a:r>
            <a:endParaRPr lang="en-US" sz="900" dirty="0"/>
          </a:p>
        </p:txBody>
      </p:sp>
      <p:sp>
        <p:nvSpPr>
          <p:cNvPr id="13" name="Text 11"/>
          <p:cNvSpPr/>
          <p:nvPr/>
        </p:nvSpPr>
        <p:spPr>
          <a:xfrm>
            <a:off x="749808" y="2395728"/>
            <a:ext cx="3474720" cy="256032"/>
          </a:xfrm>
          <a:prstGeom prst="rect">
            <a:avLst/>
          </a:prstGeom>
          <a:noFill/>
          <a:ln/>
        </p:spPr>
        <p:txBody>
          <a:bodyPr wrap="square" lIns="0" tIns="0" rIns="0" bIns="0" rtlCol="0" anchor="ctr"/>
          <a:lstStyle/>
          <a:p>
            <a:pPr marL="0" indent="0">
              <a:buNone/>
            </a:pPr>
            <a:r>
              <a:rPr lang="en-US" sz="900" dirty="0">
                <a:solidFill>
                  <a:srgbClr val="8899AA"/>
                </a:solidFill>
              </a:rPr>
              <a:t>Hash the source drive (before acquisition):</a:t>
            </a:r>
            <a:endParaRPr lang="en-US" sz="900" dirty="0"/>
          </a:p>
        </p:txBody>
      </p:sp>
      <p:sp>
        <p:nvSpPr>
          <p:cNvPr id="14" name="Shape 12"/>
          <p:cNvSpPr/>
          <p:nvPr/>
        </p:nvSpPr>
        <p:spPr>
          <a:xfrm>
            <a:off x="411480" y="2706624"/>
            <a:ext cx="3840480" cy="566928"/>
          </a:xfrm>
          <a:prstGeom prst="rect">
            <a:avLst/>
          </a:prstGeom>
          <a:solidFill>
            <a:srgbClr val="FFFFFF"/>
          </a:solidFill>
          <a:ln w="12700">
            <a:solidFill>
              <a:srgbClr val="FFFFFF"/>
            </a:solidFill>
            <a:prstDash val="solid"/>
          </a:ln>
        </p:spPr>
        <p:txBody>
          <a:bodyPr/>
          <a:lstStyle/>
          <a:p>
            <a:endParaRPr lang="en-SG"/>
          </a:p>
        </p:txBody>
      </p:sp>
      <p:sp>
        <p:nvSpPr>
          <p:cNvPr id="15" name="Text 13"/>
          <p:cNvSpPr/>
          <p:nvPr/>
        </p:nvSpPr>
        <p:spPr>
          <a:xfrm>
            <a:off x="502920" y="2706624"/>
            <a:ext cx="3657600" cy="56692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md5sum /dev/sdb &gt; source_hash.txt</a:t>
            </a:r>
            <a:endParaRPr lang="en-US" sz="850" dirty="0"/>
          </a:p>
        </p:txBody>
      </p:sp>
      <p:sp>
        <p:nvSpPr>
          <p:cNvPr id="16" name="Shape 14"/>
          <p:cNvSpPr/>
          <p:nvPr/>
        </p:nvSpPr>
        <p:spPr>
          <a:xfrm>
            <a:off x="438912" y="3438144"/>
            <a:ext cx="237744" cy="237744"/>
          </a:xfrm>
          <a:prstGeom prst="line">
            <a:avLst/>
          </a:prstGeom>
          <a:solidFill>
            <a:srgbClr val="E74C3C"/>
          </a:solidFill>
          <a:ln w="12700">
            <a:solidFill>
              <a:srgbClr val="E74C3C"/>
            </a:solidFill>
            <a:prstDash val="solid"/>
          </a:ln>
        </p:spPr>
        <p:txBody>
          <a:bodyPr/>
          <a:lstStyle/>
          <a:p>
            <a:endParaRPr lang="en-SG"/>
          </a:p>
        </p:txBody>
      </p:sp>
      <p:sp>
        <p:nvSpPr>
          <p:cNvPr id="17" name="Text 15"/>
          <p:cNvSpPr/>
          <p:nvPr/>
        </p:nvSpPr>
        <p:spPr>
          <a:xfrm>
            <a:off x="438912" y="3438144"/>
            <a:ext cx="237744" cy="237744"/>
          </a:xfrm>
          <a:prstGeom prst="rect">
            <a:avLst/>
          </a:prstGeom>
          <a:noFill/>
          <a:ln/>
        </p:spPr>
        <p:txBody>
          <a:bodyPr wrap="square" lIns="0" tIns="0" rIns="0" bIns="0" rtlCol="0" anchor="ctr"/>
          <a:lstStyle/>
          <a:p>
            <a:pPr marL="0" indent="0" algn="ctr">
              <a:buNone/>
            </a:pPr>
            <a:r>
              <a:rPr lang="en-US" sz="900" b="1" dirty="0">
                <a:solidFill>
                  <a:srgbClr val="1A1A2E"/>
                </a:solidFill>
              </a:rPr>
              <a:t>2</a:t>
            </a:r>
            <a:endParaRPr lang="en-US" sz="900" dirty="0"/>
          </a:p>
        </p:txBody>
      </p:sp>
      <p:sp>
        <p:nvSpPr>
          <p:cNvPr id="18" name="Text 16"/>
          <p:cNvSpPr/>
          <p:nvPr/>
        </p:nvSpPr>
        <p:spPr>
          <a:xfrm>
            <a:off x="749808" y="3438144"/>
            <a:ext cx="3474720" cy="256032"/>
          </a:xfrm>
          <a:prstGeom prst="rect">
            <a:avLst/>
          </a:prstGeom>
          <a:noFill/>
          <a:ln/>
        </p:spPr>
        <p:txBody>
          <a:bodyPr wrap="square" lIns="0" tIns="0" rIns="0" bIns="0" rtlCol="0" anchor="ctr"/>
          <a:lstStyle/>
          <a:p>
            <a:pPr marL="0" indent="0">
              <a:buNone/>
            </a:pPr>
            <a:r>
              <a:rPr lang="en-US" sz="900" dirty="0">
                <a:solidFill>
                  <a:srgbClr val="8899AA"/>
                </a:solidFill>
              </a:rPr>
              <a:t>Copy disk to server over the network:</a:t>
            </a:r>
            <a:endParaRPr lang="en-US" sz="900" dirty="0"/>
          </a:p>
        </p:txBody>
      </p:sp>
      <p:sp>
        <p:nvSpPr>
          <p:cNvPr id="19" name="Shape 17"/>
          <p:cNvSpPr/>
          <p:nvPr/>
        </p:nvSpPr>
        <p:spPr>
          <a:xfrm>
            <a:off x="411480" y="3749040"/>
            <a:ext cx="3840480" cy="566928"/>
          </a:xfrm>
          <a:prstGeom prst="rect">
            <a:avLst/>
          </a:prstGeom>
          <a:solidFill>
            <a:srgbClr val="FFFFFF"/>
          </a:solidFill>
          <a:ln w="12700">
            <a:solidFill>
              <a:srgbClr val="FFFFFF"/>
            </a:solidFill>
            <a:prstDash val="solid"/>
          </a:ln>
        </p:spPr>
        <p:txBody>
          <a:bodyPr/>
          <a:lstStyle/>
          <a:p>
            <a:endParaRPr lang="en-SG"/>
          </a:p>
        </p:txBody>
      </p:sp>
      <p:sp>
        <p:nvSpPr>
          <p:cNvPr id="20" name="Text 18"/>
          <p:cNvSpPr/>
          <p:nvPr/>
        </p:nvSpPr>
        <p:spPr>
          <a:xfrm>
            <a:off x="502920" y="3749040"/>
            <a:ext cx="3657600" cy="56692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dd if=/dev/sdb conv=noerror,sync | netcat 192.168.0.1 2000</a:t>
            </a:r>
            <a:endParaRPr lang="en-US" sz="850" dirty="0"/>
          </a:p>
        </p:txBody>
      </p:sp>
      <p:sp>
        <p:nvSpPr>
          <p:cNvPr id="21" name="Text 19"/>
          <p:cNvSpPr/>
          <p:nvPr/>
        </p:nvSpPr>
        <p:spPr>
          <a:xfrm>
            <a:off x="4315968" y="3017520"/>
            <a:ext cx="512064" cy="54864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a:p>
            <a:pPr marL="0" indent="0" algn="ctr">
              <a:buNone/>
            </a:pPr>
            <a:r>
              <a:rPr lang="en-US" sz="1400" dirty="0">
                <a:solidFill>
                  <a:srgbClr val="00B4D8"/>
                </a:solidFill>
              </a:rPr>
              <a:t>TCP/IP</a:t>
            </a:r>
            <a:endParaRPr lang="en-US" sz="1400" dirty="0"/>
          </a:p>
        </p:txBody>
      </p:sp>
      <p:sp>
        <p:nvSpPr>
          <p:cNvPr id="22" name="Shape 20"/>
          <p:cNvSpPr/>
          <p:nvPr/>
        </p:nvSpPr>
        <p:spPr>
          <a:xfrm>
            <a:off x="4892040" y="1883664"/>
            <a:ext cx="3931920" cy="2907792"/>
          </a:xfrm>
          <a:prstGeom prst="rect">
            <a:avLst/>
          </a:prstGeom>
          <a:solidFill>
            <a:srgbClr val="EEF6FB"/>
          </a:solidFill>
          <a:ln w="12700">
            <a:solidFill>
              <a:srgbClr val="EEF6FB"/>
            </a:solidFill>
            <a:prstDash val="solid"/>
          </a:ln>
        </p:spPr>
        <p:txBody>
          <a:bodyPr/>
          <a:lstStyle/>
          <a:p>
            <a:endParaRPr lang="en-SG"/>
          </a:p>
        </p:txBody>
      </p:sp>
      <p:sp>
        <p:nvSpPr>
          <p:cNvPr id="23" name="Shape 21"/>
          <p:cNvSpPr/>
          <p:nvPr/>
        </p:nvSpPr>
        <p:spPr>
          <a:xfrm>
            <a:off x="4892040" y="1883664"/>
            <a:ext cx="3931920" cy="91440"/>
          </a:xfrm>
          <a:prstGeom prst="rect">
            <a:avLst/>
          </a:prstGeom>
          <a:solidFill>
            <a:srgbClr val="2ECC71"/>
          </a:solidFill>
          <a:ln w="12700">
            <a:solidFill>
              <a:srgbClr val="2ECC71"/>
            </a:solidFill>
            <a:prstDash val="solid"/>
          </a:ln>
        </p:spPr>
        <p:txBody>
          <a:bodyPr/>
          <a:lstStyle/>
          <a:p>
            <a:endParaRPr lang="en-SG"/>
          </a:p>
        </p:txBody>
      </p:sp>
      <p:sp>
        <p:nvSpPr>
          <p:cNvPr id="24" name="Text 22"/>
          <p:cNvSpPr/>
          <p:nvPr/>
        </p:nvSpPr>
        <p:spPr>
          <a:xfrm>
            <a:off x="5029200" y="2011680"/>
            <a:ext cx="3657600" cy="274320"/>
          </a:xfrm>
          <a:prstGeom prst="rect">
            <a:avLst/>
          </a:prstGeom>
          <a:noFill/>
          <a:ln/>
        </p:spPr>
        <p:txBody>
          <a:bodyPr wrap="square" lIns="0" tIns="0" rIns="0" bIns="0" rtlCol="0" anchor="ctr"/>
          <a:lstStyle/>
          <a:p>
            <a:pPr marL="0" indent="0">
              <a:buNone/>
            </a:pPr>
            <a:r>
              <a:rPr lang="en-US" sz="1100" b="1" dirty="0">
                <a:solidFill>
                  <a:srgbClr val="2ECC71"/>
                </a:solidFill>
              </a:rPr>
              <a:t>🗄️  FORENSIC SERVER  (192.168.0.1)</a:t>
            </a:r>
            <a:endParaRPr lang="en-US" sz="1100" dirty="0"/>
          </a:p>
        </p:txBody>
      </p:sp>
      <p:sp>
        <p:nvSpPr>
          <p:cNvPr id="25" name="Shape 23"/>
          <p:cNvSpPr/>
          <p:nvPr/>
        </p:nvSpPr>
        <p:spPr>
          <a:xfrm>
            <a:off x="5010912" y="2395728"/>
            <a:ext cx="237744" cy="237744"/>
          </a:xfrm>
          <a:prstGeom prst="line">
            <a:avLst/>
          </a:prstGeom>
          <a:solidFill>
            <a:srgbClr val="2ECC71"/>
          </a:solidFill>
          <a:ln w="12700">
            <a:solidFill>
              <a:srgbClr val="2ECC71"/>
            </a:solidFill>
            <a:prstDash val="solid"/>
          </a:ln>
        </p:spPr>
        <p:txBody>
          <a:bodyPr/>
          <a:lstStyle/>
          <a:p>
            <a:endParaRPr lang="en-SG"/>
          </a:p>
        </p:txBody>
      </p:sp>
      <p:sp>
        <p:nvSpPr>
          <p:cNvPr id="26" name="Text 24"/>
          <p:cNvSpPr/>
          <p:nvPr/>
        </p:nvSpPr>
        <p:spPr>
          <a:xfrm>
            <a:off x="5010912" y="2395728"/>
            <a:ext cx="237744" cy="237744"/>
          </a:xfrm>
          <a:prstGeom prst="rect">
            <a:avLst/>
          </a:prstGeom>
          <a:noFill/>
          <a:ln/>
        </p:spPr>
        <p:txBody>
          <a:bodyPr wrap="square" lIns="0" tIns="0" rIns="0" bIns="0" rtlCol="0" anchor="ctr"/>
          <a:lstStyle/>
          <a:p>
            <a:pPr marL="0" indent="0" algn="ctr">
              <a:buNone/>
            </a:pPr>
            <a:r>
              <a:rPr lang="en-US" sz="900" b="1" dirty="0">
                <a:solidFill>
                  <a:srgbClr val="0D1B2A"/>
                </a:solidFill>
              </a:rPr>
              <a:t>1</a:t>
            </a:r>
            <a:endParaRPr lang="en-US" sz="900" dirty="0"/>
          </a:p>
        </p:txBody>
      </p:sp>
      <p:sp>
        <p:nvSpPr>
          <p:cNvPr id="27" name="Text 25"/>
          <p:cNvSpPr/>
          <p:nvPr/>
        </p:nvSpPr>
        <p:spPr>
          <a:xfrm>
            <a:off x="5321808" y="2395728"/>
            <a:ext cx="3383280" cy="256032"/>
          </a:xfrm>
          <a:prstGeom prst="rect">
            <a:avLst/>
          </a:prstGeom>
          <a:noFill/>
          <a:ln/>
        </p:spPr>
        <p:txBody>
          <a:bodyPr wrap="square" lIns="0" tIns="0" rIns="0" bIns="0" rtlCol="0" anchor="ctr"/>
          <a:lstStyle/>
          <a:p>
            <a:pPr marL="0" indent="0">
              <a:buNone/>
            </a:pPr>
            <a:r>
              <a:rPr lang="en-US" sz="900" dirty="0">
                <a:solidFill>
                  <a:srgbClr val="8899AA"/>
                </a:solidFill>
              </a:rPr>
              <a:t>Start netcat listener BEFORE target sends:</a:t>
            </a:r>
            <a:endParaRPr lang="en-US" sz="900" dirty="0"/>
          </a:p>
        </p:txBody>
      </p:sp>
      <p:sp>
        <p:nvSpPr>
          <p:cNvPr id="28" name="Shape 26"/>
          <p:cNvSpPr/>
          <p:nvPr/>
        </p:nvSpPr>
        <p:spPr>
          <a:xfrm>
            <a:off x="4983480" y="2706624"/>
            <a:ext cx="3749040" cy="566928"/>
          </a:xfrm>
          <a:prstGeom prst="rect">
            <a:avLst/>
          </a:prstGeom>
          <a:solidFill>
            <a:srgbClr val="FFFFFF"/>
          </a:solidFill>
          <a:ln w="12700">
            <a:solidFill>
              <a:srgbClr val="FFFFFF"/>
            </a:solidFill>
            <a:prstDash val="solid"/>
          </a:ln>
        </p:spPr>
        <p:txBody>
          <a:bodyPr/>
          <a:lstStyle/>
          <a:p>
            <a:endParaRPr lang="en-SG"/>
          </a:p>
        </p:txBody>
      </p:sp>
      <p:sp>
        <p:nvSpPr>
          <p:cNvPr id="29" name="Text 27"/>
          <p:cNvSpPr/>
          <p:nvPr/>
        </p:nvSpPr>
        <p:spPr>
          <a:xfrm>
            <a:off x="5074920" y="2706624"/>
            <a:ext cx="3566160" cy="56692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netcat -l -p 2000 -w 5 &gt; /mnt/evidence/image.dd</a:t>
            </a:r>
            <a:endParaRPr lang="en-US" sz="850" dirty="0"/>
          </a:p>
        </p:txBody>
      </p:sp>
      <p:sp>
        <p:nvSpPr>
          <p:cNvPr id="30" name="Shape 28"/>
          <p:cNvSpPr/>
          <p:nvPr/>
        </p:nvSpPr>
        <p:spPr>
          <a:xfrm>
            <a:off x="5010912" y="3438144"/>
            <a:ext cx="237744" cy="237744"/>
          </a:xfrm>
          <a:prstGeom prst="line">
            <a:avLst/>
          </a:prstGeom>
          <a:solidFill>
            <a:srgbClr val="2ECC71"/>
          </a:solidFill>
          <a:ln w="12700">
            <a:solidFill>
              <a:srgbClr val="2ECC71"/>
            </a:solidFill>
            <a:prstDash val="solid"/>
          </a:ln>
        </p:spPr>
        <p:txBody>
          <a:bodyPr/>
          <a:lstStyle/>
          <a:p>
            <a:endParaRPr lang="en-SG"/>
          </a:p>
        </p:txBody>
      </p:sp>
      <p:sp>
        <p:nvSpPr>
          <p:cNvPr id="31" name="Text 29"/>
          <p:cNvSpPr/>
          <p:nvPr/>
        </p:nvSpPr>
        <p:spPr>
          <a:xfrm>
            <a:off x="5010912" y="3438144"/>
            <a:ext cx="237744" cy="237744"/>
          </a:xfrm>
          <a:prstGeom prst="rect">
            <a:avLst/>
          </a:prstGeom>
          <a:noFill/>
          <a:ln/>
        </p:spPr>
        <p:txBody>
          <a:bodyPr wrap="square" lIns="0" tIns="0" rIns="0" bIns="0" rtlCol="0" anchor="ctr"/>
          <a:lstStyle/>
          <a:p>
            <a:pPr marL="0" indent="0" algn="ctr">
              <a:buNone/>
            </a:pPr>
            <a:r>
              <a:rPr lang="en-US" sz="900" b="1" dirty="0">
                <a:solidFill>
                  <a:srgbClr val="0D1B2A"/>
                </a:solidFill>
              </a:rPr>
              <a:t>2</a:t>
            </a:r>
            <a:endParaRPr lang="en-US" sz="900" dirty="0"/>
          </a:p>
        </p:txBody>
      </p:sp>
      <p:sp>
        <p:nvSpPr>
          <p:cNvPr id="32" name="Text 30"/>
          <p:cNvSpPr/>
          <p:nvPr/>
        </p:nvSpPr>
        <p:spPr>
          <a:xfrm>
            <a:off x="5321808" y="3438144"/>
            <a:ext cx="3383280" cy="256032"/>
          </a:xfrm>
          <a:prstGeom prst="rect">
            <a:avLst/>
          </a:prstGeom>
          <a:noFill/>
          <a:ln/>
        </p:spPr>
        <p:txBody>
          <a:bodyPr wrap="square" lIns="0" tIns="0" rIns="0" bIns="0" rtlCol="0" anchor="ctr"/>
          <a:lstStyle/>
          <a:p>
            <a:pPr marL="0" indent="0">
              <a:buNone/>
            </a:pPr>
            <a:r>
              <a:rPr lang="en-US" sz="900" dirty="0">
                <a:solidFill>
                  <a:srgbClr val="8899AA"/>
                </a:solidFill>
              </a:rPr>
              <a:t>Verify received image after transfer:</a:t>
            </a:r>
            <a:endParaRPr lang="en-US" sz="900" dirty="0"/>
          </a:p>
        </p:txBody>
      </p:sp>
      <p:sp>
        <p:nvSpPr>
          <p:cNvPr id="33" name="Shape 31"/>
          <p:cNvSpPr/>
          <p:nvPr/>
        </p:nvSpPr>
        <p:spPr>
          <a:xfrm>
            <a:off x="4983480" y="3749040"/>
            <a:ext cx="3749040" cy="566928"/>
          </a:xfrm>
          <a:prstGeom prst="rect">
            <a:avLst/>
          </a:prstGeom>
          <a:solidFill>
            <a:srgbClr val="FFFFFF"/>
          </a:solidFill>
          <a:ln w="12700">
            <a:solidFill>
              <a:srgbClr val="FFFFFF"/>
            </a:solidFill>
            <a:prstDash val="solid"/>
          </a:ln>
        </p:spPr>
        <p:txBody>
          <a:bodyPr/>
          <a:lstStyle/>
          <a:p>
            <a:endParaRPr lang="en-SG"/>
          </a:p>
        </p:txBody>
      </p:sp>
      <p:sp>
        <p:nvSpPr>
          <p:cNvPr id="34" name="Text 32"/>
          <p:cNvSpPr/>
          <p:nvPr/>
        </p:nvSpPr>
        <p:spPr>
          <a:xfrm>
            <a:off x="5074920" y="3749040"/>
            <a:ext cx="3566160" cy="566928"/>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md5sum /mnt/evidence/image.dd</a:t>
            </a:r>
            <a:endParaRPr lang="en-US" sz="850" dirty="0"/>
          </a:p>
          <a:p>
            <a:pPr marL="0" indent="0">
              <a:buNone/>
            </a:pPr>
            <a:r>
              <a:rPr lang="en-US" sz="850" dirty="0">
                <a:solidFill>
                  <a:srgbClr val="00B4D8"/>
                </a:solidFill>
                <a:latin typeface="Consolas" pitchFamily="34" charset="0"/>
                <a:ea typeface="Consolas" pitchFamily="34" charset="-122"/>
                <a:cs typeface="Consolas" pitchFamily="34" charset="-120"/>
              </a:rPr>
              <a:t># Must match source hash</a:t>
            </a:r>
            <a:endParaRPr lang="en-US" sz="850" dirty="0"/>
          </a:p>
        </p:txBody>
      </p:sp>
      <p:sp>
        <p:nvSpPr>
          <p:cNvPr id="35" name="Text 33"/>
          <p:cNvSpPr/>
          <p:nvPr/>
        </p:nvSpPr>
        <p:spPr>
          <a:xfrm>
            <a:off x="320040" y="4672584"/>
            <a:ext cx="8503920" cy="201168"/>
          </a:xfrm>
          <a:prstGeom prst="rect">
            <a:avLst/>
          </a:prstGeom>
          <a:noFill/>
          <a:ln/>
        </p:spPr>
        <p:txBody>
          <a:bodyPr wrap="square" lIns="0" tIns="0" rIns="0" bIns="0" rtlCol="0" anchor="ctr"/>
          <a:lstStyle/>
          <a:p>
            <a:pPr marL="0" indent="0">
              <a:buNone/>
            </a:pPr>
            <a:r>
              <a:rPr lang="en-US" sz="850" i="1" dirty="0">
                <a:solidFill>
                  <a:srgbClr val="F1C40F"/>
                </a:solidFill>
              </a:rPr>
              <a:t>Always obtain the MD5 hash of the source drive BEFORE starting — then verify the received image matches.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757477"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574597" cy="256032"/>
          </a:xfrm>
          <a:prstGeom prst="rect">
            <a:avLst/>
          </a:prstGeom>
          <a:noFill/>
          <a:ln/>
        </p:spPr>
        <p:txBody>
          <a:bodyPr wrap="square" lIns="0" tIns="0" rIns="0" bIns="0" rtlCol="0" anchor="ctr"/>
          <a:lstStyle/>
          <a:p>
            <a:pPr marL="0" indent="0">
              <a:buNone/>
            </a:pPr>
            <a:r>
              <a:rPr lang="en-US" sz="850" b="1" dirty="0">
                <a:solidFill>
                  <a:srgbClr val="0D1B2A"/>
                </a:solidFill>
              </a:rPr>
              <a:t>LINUX FORENSIC SUITES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Open-Source Linux Forensic Platforms</a:t>
            </a:r>
            <a:endParaRPr lang="en-US" sz="2800" dirty="0"/>
          </a:p>
        </p:txBody>
      </p:sp>
      <p:sp>
        <p:nvSpPr>
          <p:cNvPr id="5" name="Shape 3"/>
          <p:cNvSpPr/>
          <p:nvPr/>
        </p:nvSpPr>
        <p:spPr>
          <a:xfrm>
            <a:off x="320040" y="1298448"/>
            <a:ext cx="2788920" cy="3493008"/>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2788920" cy="73152"/>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411480" y="1408176"/>
            <a:ext cx="2606040" cy="329184"/>
          </a:xfrm>
          <a:prstGeom prst="rect">
            <a:avLst/>
          </a:prstGeom>
          <a:noFill/>
          <a:ln/>
        </p:spPr>
        <p:txBody>
          <a:bodyPr wrap="square" lIns="0" tIns="0" rIns="0" bIns="0" rtlCol="0" anchor="ctr"/>
          <a:lstStyle/>
          <a:p>
            <a:pPr marL="0" indent="0">
              <a:buNone/>
            </a:pPr>
            <a:r>
              <a:rPr lang="en-US" sz="1250" b="1" dirty="0">
                <a:solidFill>
                  <a:srgbClr val="00B4D8"/>
                </a:solidFill>
              </a:rPr>
              <a:t>🔬  Autopsy &amp; Sleuth Kit</a:t>
            </a:r>
            <a:endParaRPr lang="en-US" sz="1250" dirty="0"/>
          </a:p>
        </p:txBody>
      </p:sp>
      <p:sp>
        <p:nvSpPr>
          <p:cNvPr id="8" name="Shape 6"/>
          <p:cNvSpPr/>
          <p:nvPr/>
        </p:nvSpPr>
        <p:spPr>
          <a:xfrm>
            <a:off x="411480" y="1773936"/>
            <a:ext cx="2606040" cy="201168"/>
          </a:xfrm>
          <a:prstGeom prst="rect">
            <a:avLst/>
          </a:prstGeom>
          <a:solidFill>
            <a:srgbClr val="FFFFFF"/>
          </a:solidFill>
          <a:ln w="6350">
            <a:solidFill>
              <a:srgbClr val="00B4D8"/>
            </a:solidFill>
            <a:prstDash val="solid"/>
          </a:ln>
        </p:spPr>
        <p:txBody>
          <a:bodyPr/>
          <a:lstStyle/>
          <a:p>
            <a:endParaRPr lang="en-SG"/>
          </a:p>
        </p:txBody>
      </p:sp>
      <p:sp>
        <p:nvSpPr>
          <p:cNvPr id="9" name="Text 7"/>
          <p:cNvSpPr/>
          <p:nvPr/>
        </p:nvSpPr>
        <p:spPr>
          <a:xfrm>
            <a:off x="411480" y="1773936"/>
            <a:ext cx="2606040" cy="201168"/>
          </a:xfrm>
          <a:prstGeom prst="rect">
            <a:avLst/>
          </a:prstGeom>
          <a:noFill/>
          <a:ln/>
        </p:spPr>
        <p:txBody>
          <a:bodyPr wrap="square" lIns="0" tIns="0" rIns="0" bIns="0" rtlCol="0" anchor="ctr"/>
          <a:lstStyle/>
          <a:p>
            <a:pPr marL="0" indent="0" algn="ctr">
              <a:buNone/>
            </a:pPr>
            <a:r>
              <a:rPr lang="en-US" sz="750" b="1" dirty="0">
                <a:solidFill>
                  <a:srgbClr val="00B4D8"/>
                </a:solidFill>
              </a:rPr>
              <a:t>Industry Standard</a:t>
            </a:r>
            <a:endParaRPr lang="en-US" sz="750" dirty="0"/>
          </a:p>
        </p:txBody>
      </p:sp>
      <p:sp>
        <p:nvSpPr>
          <p:cNvPr id="10" name="Text 8"/>
          <p:cNvSpPr/>
          <p:nvPr/>
        </p:nvSpPr>
        <p:spPr>
          <a:xfrm>
            <a:off x="411480" y="2011680"/>
            <a:ext cx="2606040" cy="182880"/>
          </a:xfrm>
          <a:prstGeom prst="rect">
            <a:avLst/>
          </a:prstGeom>
          <a:noFill/>
          <a:ln/>
        </p:spPr>
        <p:txBody>
          <a:bodyPr wrap="square" lIns="0" tIns="0" rIns="0" bIns="0" rtlCol="0" anchor="ctr"/>
          <a:lstStyle/>
          <a:p>
            <a:pPr marL="0" indent="0">
              <a:buNone/>
            </a:pPr>
            <a:r>
              <a:rPr lang="en-US" sz="700" i="1" dirty="0">
                <a:solidFill>
                  <a:srgbClr val="8899AA"/>
                </a:solidFill>
              </a:rPr>
              <a:t>by Brian Carrier  ·  sleuthkit.org</a:t>
            </a:r>
            <a:endParaRPr lang="en-US" sz="700" dirty="0"/>
          </a:p>
        </p:txBody>
      </p:sp>
      <p:sp>
        <p:nvSpPr>
          <p:cNvPr id="11" name="Text 9"/>
          <p:cNvSpPr/>
          <p:nvPr/>
        </p:nvSpPr>
        <p:spPr>
          <a:xfrm>
            <a:off x="411480" y="2231136"/>
            <a:ext cx="2606040" cy="512064"/>
          </a:xfrm>
          <a:prstGeom prst="rect">
            <a:avLst/>
          </a:prstGeom>
          <a:noFill/>
          <a:ln/>
        </p:spPr>
        <p:txBody>
          <a:bodyPr wrap="square" lIns="0" tIns="0" rIns="0" bIns="0" rtlCol="0" anchor="ctr"/>
          <a:lstStyle/>
          <a:p>
            <a:pPr marL="0" indent="0">
              <a:buNone/>
            </a:pPr>
            <a:r>
              <a:rPr lang="en-US" sz="800" dirty="0">
                <a:solidFill>
                  <a:srgbClr val="1A1A2E"/>
                </a:solidFill>
              </a:rPr>
              <a:t>Autopsy is the GUI front-end for The Sleuth Kit (TSK) — open-source forensic command-line tools. Together they provide a full investigation platform.</a:t>
            </a:r>
            <a:endParaRPr lang="en-US" sz="800" dirty="0"/>
          </a:p>
        </p:txBody>
      </p:sp>
      <p:sp>
        <p:nvSpPr>
          <p:cNvPr id="12" name="Text 10"/>
          <p:cNvSpPr/>
          <p:nvPr/>
        </p:nvSpPr>
        <p:spPr>
          <a:xfrm>
            <a:off x="411480" y="2816352"/>
            <a:ext cx="2606040" cy="237744"/>
          </a:xfrm>
          <a:prstGeom prst="rect">
            <a:avLst/>
          </a:prstGeom>
          <a:noFill/>
          <a:ln/>
        </p:spPr>
        <p:txBody>
          <a:bodyPr wrap="square" lIns="0" tIns="0" rIns="0" bIns="0" rtlCol="0" anchor="ctr"/>
          <a:lstStyle/>
          <a:p>
            <a:pPr marL="0" indent="0">
              <a:buNone/>
            </a:pPr>
            <a:r>
              <a:rPr lang="en-US" sz="800" dirty="0">
                <a:solidFill>
                  <a:srgbClr val="1A1A2E"/>
                </a:solidFill>
              </a:rPr>
              <a:t>• Image formats: dd, E01, AFF</a:t>
            </a:r>
            <a:endParaRPr lang="en-US" sz="800" dirty="0"/>
          </a:p>
        </p:txBody>
      </p:sp>
      <p:sp>
        <p:nvSpPr>
          <p:cNvPr id="13" name="Text 11"/>
          <p:cNvSpPr/>
          <p:nvPr/>
        </p:nvSpPr>
        <p:spPr>
          <a:xfrm>
            <a:off x="411480" y="3090672"/>
            <a:ext cx="2606040" cy="237744"/>
          </a:xfrm>
          <a:prstGeom prst="rect">
            <a:avLst/>
          </a:prstGeom>
          <a:noFill/>
          <a:ln/>
        </p:spPr>
        <p:txBody>
          <a:bodyPr wrap="square" lIns="0" tIns="0" rIns="0" bIns="0" rtlCol="0" anchor="ctr"/>
          <a:lstStyle/>
          <a:p>
            <a:pPr marL="0" indent="0">
              <a:buNone/>
            </a:pPr>
            <a:r>
              <a:rPr lang="en-US" sz="800" dirty="0">
                <a:solidFill>
                  <a:srgbClr val="1A1A2E"/>
                </a:solidFill>
              </a:rPr>
              <a:t>• Filesystems: NTFS, FAT, ext2/3/4, HFS+</a:t>
            </a:r>
            <a:endParaRPr lang="en-US" sz="800" dirty="0"/>
          </a:p>
        </p:txBody>
      </p:sp>
      <p:sp>
        <p:nvSpPr>
          <p:cNvPr id="14" name="Text 12"/>
          <p:cNvSpPr/>
          <p:nvPr/>
        </p:nvSpPr>
        <p:spPr>
          <a:xfrm>
            <a:off x="411480" y="3364992"/>
            <a:ext cx="2606040" cy="237744"/>
          </a:xfrm>
          <a:prstGeom prst="rect">
            <a:avLst/>
          </a:prstGeom>
          <a:noFill/>
          <a:ln/>
        </p:spPr>
        <p:txBody>
          <a:bodyPr wrap="square" lIns="0" tIns="0" rIns="0" bIns="0" rtlCol="0" anchor="ctr"/>
          <a:lstStyle/>
          <a:p>
            <a:pPr marL="0" indent="0">
              <a:buNone/>
            </a:pPr>
            <a:r>
              <a:rPr lang="en-US" sz="800" dirty="0">
                <a:solidFill>
                  <a:srgbClr val="1A1A2E"/>
                </a:solidFill>
              </a:rPr>
              <a:t>• Timeline analysis from MAC timestamps</a:t>
            </a:r>
            <a:endParaRPr lang="en-US" sz="800" dirty="0"/>
          </a:p>
        </p:txBody>
      </p:sp>
      <p:sp>
        <p:nvSpPr>
          <p:cNvPr id="15" name="Text 13"/>
          <p:cNvSpPr/>
          <p:nvPr/>
        </p:nvSpPr>
        <p:spPr>
          <a:xfrm>
            <a:off x="411480" y="3639312"/>
            <a:ext cx="2606040" cy="237744"/>
          </a:xfrm>
          <a:prstGeom prst="rect">
            <a:avLst/>
          </a:prstGeom>
          <a:noFill/>
          <a:ln/>
        </p:spPr>
        <p:txBody>
          <a:bodyPr wrap="square" lIns="0" tIns="0" rIns="0" bIns="0" rtlCol="0" anchor="ctr"/>
          <a:lstStyle/>
          <a:p>
            <a:pPr marL="0" indent="0">
              <a:buNone/>
            </a:pPr>
            <a:r>
              <a:rPr lang="en-US" sz="800" dirty="0">
                <a:solidFill>
                  <a:srgbClr val="1A1A2E"/>
                </a:solidFill>
              </a:rPr>
              <a:t>• NSRL / KFF hash filtering built-in</a:t>
            </a:r>
            <a:endParaRPr lang="en-US" sz="800" dirty="0"/>
          </a:p>
        </p:txBody>
      </p:sp>
      <p:sp>
        <p:nvSpPr>
          <p:cNvPr id="16" name="Text 14"/>
          <p:cNvSpPr/>
          <p:nvPr/>
        </p:nvSpPr>
        <p:spPr>
          <a:xfrm>
            <a:off x="411480" y="3913632"/>
            <a:ext cx="2606040" cy="237744"/>
          </a:xfrm>
          <a:prstGeom prst="rect">
            <a:avLst/>
          </a:prstGeom>
          <a:noFill/>
          <a:ln/>
        </p:spPr>
        <p:txBody>
          <a:bodyPr wrap="square" lIns="0" tIns="0" rIns="0" bIns="0" rtlCol="0" anchor="ctr"/>
          <a:lstStyle/>
          <a:p>
            <a:pPr marL="0" indent="0">
              <a:buNone/>
            </a:pPr>
            <a:r>
              <a:rPr lang="en-US" sz="800" dirty="0">
                <a:solidFill>
                  <a:srgbClr val="1A1A2E"/>
                </a:solidFill>
              </a:rPr>
              <a:t>• Keyword search: indexed or live modes</a:t>
            </a:r>
            <a:endParaRPr lang="en-US" sz="800" dirty="0"/>
          </a:p>
        </p:txBody>
      </p:sp>
      <p:sp>
        <p:nvSpPr>
          <p:cNvPr id="17" name="Text 15"/>
          <p:cNvSpPr/>
          <p:nvPr/>
        </p:nvSpPr>
        <p:spPr>
          <a:xfrm>
            <a:off x="411480" y="4187952"/>
            <a:ext cx="2606040" cy="237744"/>
          </a:xfrm>
          <a:prstGeom prst="rect">
            <a:avLst/>
          </a:prstGeom>
          <a:noFill/>
          <a:ln/>
        </p:spPr>
        <p:txBody>
          <a:bodyPr wrap="square" lIns="0" tIns="0" rIns="0" bIns="0" rtlCol="0" anchor="ctr"/>
          <a:lstStyle/>
          <a:p>
            <a:pPr marL="0" indent="0">
              <a:buNone/>
            </a:pPr>
            <a:r>
              <a:rPr lang="en-US" sz="800" dirty="0">
                <a:solidFill>
                  <a:srgbClr val="1A1A2E"/>
                </a:solidFill>
              </a:rPr>
              <a:t>• Case management and automated reporting</a:t>
            </a:r>
            <a:endParaRPr lang="en-US" sz="800" dirty="0"/>
          </a:p>
        </p:txBody>
      </p:sp>
      <p:sp>
        <p:nvSpPr>
          <p:cNvPr id="18" name="Text 16"/>
          <p:cNvSpPr/>
          <p:nvPr/>
        </p:nvSpPr>
        <p:spPr>
          <a:xfrm>
            <a:off x="411480" y="4462272"/>
            <a:ext cx="2606040" cy="237744"/>
          </a:xfrm>
          <a:prstGeom prst="rect">
            <a:avLst/>
          </a:prstGeom>
          <a:noFill/>
          <a:ln/>
        </p:spPr>
        <p:txBody>
          <a:bodyPr wrap="square" lIns="0" tIns="0" rIns="0" bIns="0" rtlCol="0" anchor="ctr"/>
          <a:lstStyle/>
          <a:p>
            <a:pPr marL="0" indent="0">
              <a:buNone/>
            </a:pPr>
            <a:r>
              <a:rPr lang="en-US" sz="800" dirty="0">
                <a:solidFill>
                  <a:srgbClr val="1A1A2E"/>
                </a:solidFill>
              </a:rPr>
              <a:t>• Plugin architecture for extensibility</a:t>
            </a:r>
            <a:endParaRPr lang="en-US" sz="800" dirty="0"/>
          </a:p>
        </p:txBody>
      </p:sp>
      <p:sp>
        <p:nvSpPr>
          <p:cNvPr id="19" name="Shape 17"/>
          <p:cNvSpPr/>
          <p:nvPr/>
        </p:nvSpPr>
        <p:spPr>
          <a:xfrm>
            <a:off x="3227832" y="1298448"/>
            <a:ext cx="2788920" cy="3493008"/>
          </a:xfrm>
          <a:prstGeom prst="rect">
            <a:avLst/>
          </a:prstGeom>
          <a:solidFill>
            <a:srgbClr val="EEF6FB"/>
          </a:solidFill>
          <a:ln w="12700">
            <a:solidFill>
              <a:srgbClr val="EEF6FB"/>
            </a:solidFill>
            <a:prstDash val="solid"/>
          </a:ln>
        </p:spPr>
        <p:txBody>
          <a:bodyPr/>
          <a:lstStyle/>
          <a:p>
            <a:endParaRPr lang="en-SG"/>
          </a:p>
        </p:txBody>
      </p:sp>
      <p:sp>
        <p:nvSpPr>
          <p:cNvPr id="20" name="Shape 18"/>
          <p:cNvSpPr/>
          <p:nvPr/>
        </p:nvSpPr>
        <p:spPr>
          <a:xfrm>
            <a:off x="3227832" y="1298448"/>
            <a:ext cx="2788920" cy="73152"/>
          </a:xfrm>
          <a:prstGeom prst="rect">
            <a:avLst/>
          </a:prstGeom>
          <a:solidFill>
            <a:srgbClr val="F4A261"/>
          </a:solidFill>
          <a:ln w="12700">
            <a:solidFill>
              <a:srgbClr val="F4A261"/>
            </a:solidFill>
            <a:prstDash val="solid"/>
          </a:ln>
        </p:spPr>
        <p:txBody>
          <a:bodyPr/>
          <a:lstStyle/>
          <a:p>
            <a:endParaRPr lang="en-SG"/>
          </a:p>
        </p:txBody>
      </p:sp>
      <p:sp>
        <p:nvSpPr>
          <p:cNvPr id="21" name="Text 19"/>
          <p:cNvSpPr/>
          <p:nvPr/>
        </p:nvSpPr>
        <p:spPr>
          <a:xfrm>
            <a:off x="3319272" y="1408176"/>
            <a:ext cx="2606040" cy="329184"/>
          </a:xfrm>
          <a:prstGeom prst="rect">
            <a:avLst/>
          </a:prstGeom>
          <a:noFill/>
          <a:ln/>
        </p:spPr>
        <p:txBody>
          <a:bodyPr wrap="square" lIns="0" tIns="0" rIns="0" bIns="0" rtlCol="0" anchor="ctr"/>
          <a:lstStyle/>
          <a:p>
            <a:pPr marL="0" indent="0">
              <a:buNone/>
            </a:pPr>
            <a:r>
              <a:rPr lang="en-US" sz="1250" b="1" dirty="0">
                <a:solidFill>
                  <a:srgbClr val="F4A261"/>
                </a:solidFill>
              </a:rPr>
              <a:t>🛡️  SANS SIFT Workstation</a:t>
            </a:r>
            <a:endParaRPr lang="en-US" sz="1250" dirty="0"/>
          </a:p>
        </p:txBody>
      </p:sp>
      <p:sp>
        <p:nvSpPr>
          <p:cNvPr id="22" name="Shape 20"/>
          <p:cNvSpPr/>
          <p:nvPr/>
        </p:nvSpPr>
        <p:spPr>
          <a:xfrm>
            <a:off x="3319272" y="1773936"/>
            <a:ext cx="2606040" cy="201168"/>
          </a:xfrm>
          <a:prstGeom prst="rect">
            <a:avLst/>
          </a:prstGeom>
          <a:solidFill>
            <a:srgbClr val="FFFFFF"/>
          </a:solidFill>
          <a:ln w="6350">
            <a:solidFill>
              <a:srgbClr val="F4A261"/>
            </a:solidFill>
            <a:prstDash val="solid"/>
          </a:ln>
        </p:spPr>
        <p:txBody>
          <a:bodyPr/>
          <a:lstStyle/>
          <a:p>
            <a:endParaRPr lang="en-SG"/>
          </a:p>
        </p:txBody>
      </p:sp>
      <p:sp>
        <p:nvSpPr>
          <p:cNvPr id="23" name="Text 21"/>
          <p:cNvSpPr/>
          <p:nvPr/>
        </p:nvSpPr>
        <p:spPr>
          <a:xfrm>
            <a:off x="3319272" y="1773936"/>
            <a:ext cx="2606040" cy="201168"/>
          </a:xfrm>
          <a:prstGeom prst="rect">
            <a:avLst/>
          </a:prstGeom>
          <a:noFill/>
          <a:ln/>
        </p:spPr>
        <p:txBody>
          <a:bodyPr wrap="square" lIns="0" tIns="0" rIns="0" bIns="0" rtlCol="0" anchor="ctr"/>
          <a:lstStyle/>
          <a:p>
            <a:pPr marL="0" indent="0" algn="ctr">
              <a:buNone/>
            </a:pPr>
            <a:r>
              <a:rPr lang="en-US" sz="750" b="1" dirty="0">
                <a:solidFill>
                  <a:srgbClr val="F4A261"/>
                </a:solidFill>
              </a:rPr>
              <a:t>Training &amp; Production</a:t>
            </a:r>
            <a:endParaRPr lang="en-US" sz="750" dirty="0"/>
          </a:p>
        </p:txBody>
      </p:sp>
      <p:sp>
        <p:nvSpPr>
          <p:cNvPr id="24" name="Text 22"/>
          <p:cNvSpPr/>
          <p:nvPr/>
        </p:nvSpPr>
        <p:spPr>
          <a:xfrm>
            <a:off x="3319272" y="2011680"/>
            <a:ext cx="2606040" cy="182880"/>
          </a:xfrm>
          <a:prstGeom prst="rect">
            <a:avLst/>
          </a:prstGeom>
          <a:noFill/>
          <a:ln/>
        </p:spPr>
        <p:txBody>
          <a:bodyPr wrap="square" lIns="0" tIns="0" rIns="0" bIns="0" rtlCol="0" anchor="ctr"/>
          <a:lstStyle/>
          <a:p>
            <a:pPr marL="0" indent="0">
              <a:buNone/>
            </a:pPr>
            <a:r>
              <a:rPr lang="en-US" sz="700" i="1" dirty="0">
                <a:solidFill>
                  <a:srgbClr val="8899AA"/>
                </a:solidFill>
              </a:rPr>
              <a:t>SANS Institute  ·  sans.org/tools/sift-workstation</a:t>
            </a:r>
            <a:endParaRPr lang="en-US" sz="700" dirty="0"/>
          </a:p>
        </p:txBody>
      </p:sp>
      <p:sp>
        <p:nvSpPr>
          <p:cNvPr id="25" name="Text 23"/>
          <p:cNvSpPr/>
          <p:nvPr/>
        </p:nvSpPr>
        <p:spPr>
          <a:xfrm>
            <a:off x="3319272" y="2231136"/>
            <a:ext cx="2606040" cy="512064"/>
          </a:xfrm>
          <a:prstGeom prst="rect">
            <a:avLst/>
          </a:prstGeom>
          <a:noFill/>
          <a:ln/>
        </p:spPr>
        <p:txBody>
          <a:bodyPr wrap="square" lIns="0" tIns="0" rIns="0" bIns="0" rtlCol="0" anchor="ctr"/>
          <a:lstStyle/>
          <a:p>
            <a:pPr marL="0" indent="0">
              <a:buNone/>
            </a:pPr>
            <a:r>
              <a:rPr lang="en-US" sz="800" dirty="0">
                <a:solidFill>
                  <a:srgbClr val="1A1A2E"/>
                </a:solidFill>
              </a:rPr>
              <a:t>A freely available Ubuntu-based forensic workstation maintained by the SANS Institute. Pre-loaded with a comprehensive suite of forensic tools ready for deployment.</a:t>
            </a:r>
            <a:endParaRPr lang="en-US" sz="800" dirty="0"/>
          </a:p>
        </p:txBody>
      </p:sp>
      <p:sp>
        <p:nvSpPr>
          <p:cNvPr id="26" name="Text 24"/>
          <p:cNvSpPr/>
          <p:nvPr/>
        </p:nvSpPr>
        <p:spPr>
          <a:xfrm>
            <a:off x="3319272" y="2816352"/>
            <a:ext cx="2606040" cy="237744"/>
          </a:xfrm>
          <a:prstGeom prst="rect">
            <a:avLst/>
          </a:prstGeom>
          <a:noFill/>
          <a:ln/>
        </p:spPr>
        <p:txBody>
          <a:bodyPr wrap="square" lIns="0" tIns="0" rIns="0" bIns="0" rtlCol="0" anchor="ctr"/>
          <a:lstStyle/>
          <a:p>
            <a:pPr marL="0" indent="0">
              <a:buNone/>
            </a:pPr>
            <a:r>
              <a:rPr lang="en-US" sz="800" dirty="0">
                <a:solidFill>
                  <a:srgbClr val="1A1A2E"/>
                </a:solidFill>
              </a:rPr>
              <a:t>• Based on Ubuntu LTS — regularly updated</a:t>
            </a:r>
            <a:endParaRPr lang="en-US" sz="800" dirty="0"/>
          </a:p>
        </p:txBody>
      </p:sp>
      <p:sp>
        <p:nvSpPr>
          <p:cNvPr id="27" name="Text 25"/>
          <p:cNvSpPr/>
          <p:nvPr/>
        </p:nvSpPr>
        <p:spPr>
          <a:xfrm>
            <a:off x="3319272" y="3090672"/>
            <a:ext cx="2606040" cy="237744"/>
          </a:xfrm>
          <a:prstGeom prst="rect">
            <a:avLst/>
          </a:prstGeom>
          <a:noFill/>
          <a:ln/>
        </p:spPr>
        <p:txBody>
          <a:bodyPr wrap="square" lIns="0" tIns="0" rIns="0" bIns="0" rtlCol="0" anchor="ctr"/>
          <a:lstStyle/>
          <a:p>
            <a:pPr marL="0" indent="0">
              <a:buNone/>
            </a:pPr>
            <a:r>
              <a:rPr lang="en-US" sz="800" dirty="0">
                <a:solidFill>
                  <a:srgbClr val="1A1A2E"/>
                </a:solidFill>
              </a:rPr>
              <a:t>• Includes Autopsy, TSK, Volatility, RegRipper</a:t>
            </a:r>
            <a:endParaRPr lang="en-US" sz="800" dirty="0"/>
          </a:p>
        </p:txBody>
      </p:sp>
      <p:sp>
        <p:nvSpPr>
          <p:cNvPr id="28" name="Text 26"/>
          <p:cNvSpPr/>
          <p:nvPr/>
        </p:nvSpPr>
        <p:spPr>
          <a:xfrm>
            <a:off x="3319272" y="3364992"/>
            <a:ext cx="2606040" cy="237744"/>
          </a:xfrm>
          <a:prstGeom prst="rect">
            <a:avLst/>
          </a:prstGeom>
          <a:noFill/>
          <a:ln/>
        </p:spPr>
        <p:txBody>
          <a:bodyPr wrap="square" lIns="0" tIns="0" rIns="0" bIns="0" rtlCol="0" anchor="ctr"/>
          <a:lstStyle/>
          <a:p>
            <a:pPr marL="0" indent="0">
              <a:buNone/>
            </a:pPr>
            <a:r>
              <a:rPr lang="en-US" sz="800" dirty="0">
                <a:solidFill>
                  <a:srgbClr val="1A1A2E"/>
                </a:solidFill>
              </a:rPr>
              <a:t>• Memory forensics and malware analysis</a:t>
            </a:r>
            <a:endParaRPr lang="en-US" sz="800" dirty="0"/>
          </a:p>
        </p:txBody>
      </p:sp>
      <p:sp>
        <p:nvSpPr>
          <p:cNvPr id="29" name="Text 27"/>
          <p:cNvSpPr/>
          <p:nvPr/>
        </p:nvSpPr>
        <p:spPr>
          <a:xfrm>
            <a:off x="3319272" y="3639312"/>
            <a:ext cx="2606040" cy="237744"/>
          </a:xfrm>
          <a:prstGeom prst="rect">
            <a:avLst/>
          </a:prstGeom>
          <a:noFill/>
          <a:ln/>
        </p:spPr>
        <p:txBody>
          <a:bodyPr wrap="square" lIns="0" tIns="0" rIns="0" bIns="0" rtlCol="0" anchor="ctr"/>
          <a:lstStyle/>
          <a:p>
            <a:pPr marL="0" indent="0">
              <a:buNone/>
            </a:pPr>
            <a:r>
              <a:rPr lang="en-US" sz="800" dirty="0">
                <a:solidFill>
                  <a:srgbClr val="1A1A2E"/>
                </a:solidFill>
              </a:rPr>
              <a:t>• File carving: Foremost, Scalpel, bulk_extractor</a:t>
            </a:r>
            <a:endParaRPr lang="en-US" sz="800" dirty="0"/>
          </a:p>
        </p:txBody>
      </p:sp>
      <p:sp>
        <p:nvSpPr>
          <p:cNvPr id="30" name="Text 28"/>
          <p:cNvSpPr/>
          <p:nvPr/>
        </p:nvSpPr>
        <p:spPr>
          <a:xfrm>
            <a:off x="3319272" y="3913632"/>
            <a:ext cx="2606040" cy="237744"/>
          </a:xfrm>
          <a:prstGeom prst="rect">
            <a:avLst/>
          </a:prstGeom>
          <a:noFill/>
          <a:ln/>
        </p:spPr>
        <p:txBody>
          <a:bodyPr wrap="square" lIns="0" tIns="0" rIns="0" bIns="0" rtlCol="0" anchor="ctr"/>
          <a:lstStyle/>
          <a:p>
            <a:pPr marL="0" indent="0">
              <a:buNone/>
            </a:pPr>
            <a:r>
              <a:rPr lang="en-US" sz="800" dirty="0">
                <a:solidFill>
                  <a:srgbClr val="1A1A2E"/>
                </a:solidFill>
              </a:rPr>
              <a:t>• Network analysis: Wireshark, NetworkMiner</a:t>
            </a:r>
            <a:endParaRPr lang="en-US" sz="800" dirty="0"/>
          </a:p>
        </p:txBody>
      </p:sp>
      <p:sp>
        <p:nvSpPr>
          <p:cNvPr id="31" name="Text 29"/>
          <p:cNvSpPr/>
          <p:nvPr/>
        </p:nvSpPr>
        <p:spPr>
          <a:xfrm>
            <a:off x="3319272" y="4187952"/>
            <a:ext cx="2606040" cy="237744"/>
          </a:xfrm>
          <a:prstGeom prst="rect">
            <a:avLst/>
          </a:prstGeom>
          <a:noFill/>
          <a:ln/>
        </p:spPr>
        <p:txBody>
          <a:bodyPr wrap="square" lIns="0" tIns="0" rIns="0" bIns="0" rtlCol="0" anchor="ctr"/>
          <a:lstStyle/>
          <a:p>
            <a:pPr marL="0" indent="0">
              <a:buNone/>
            </a:pPr>
            <a:r>
              <a:rPr lang="en-US" sz="800" dirty="0">
                <a:solidFill>
                  <a:srgbClr val="1A1A2E"/>
                </a:solidFill>
              </a:rPr>
              <a:t>• Supports all major filesystems</a:t>
            </a:r>
            <a:endParaRPr lang="en-US" sz="800" dirty="0"/>
          </a:p>
        </p:txBody>
      </p:sp>
      <p:sp>
        <p:nvSpPr>
          <p:cNvPr id="32" name="Text 30"/>
          <p:cNvSpPr/>
          <p:nvPr/>
        </p:nvSpPr>
        <p:spPr>
          <a:xfrm>
            <a:off x="3319272" y="4462272"/>
            <a:ext cx="2606040" cy="237744"/>
          </a:xfrm>
          <a:prstGeom prst="rect">
            <a:avLst/>
          </a:prstGeom>
          <a:noFill/>
          <a:ln/>
        </p:spPr>
        <p:txBody>
          <a:bodyPr wrap="square" lIns="0" tIns="0" rIns="0" bIns="0" rtlCol="0" anchor="ctr"/>
          <a:lstStyle/>
          <a:p>
            <a:pPr marL="0" indent="0">
              <a:buNone/>
            </a:pPr>
            <a:r>
              <a:rPr lang="en-US" sz="800" dirty="0">
                <a:solidFill>
                  <a:srgbClr val="1A1A2E"/>
                </a:solidFill>
              </a:rPr>
              <a:t>• Available as VM or native install</a:t>
            </a:r>
            <a:endParaRPr lang="en-US" sz="800" dirty="0"/>
          </a:p>
        </p:txBody>
      </p:sp>
      <p:sp>
        <p:nvSpPr>
          <p:cNvPr id="33" name="Shape 31"/>
          <p:cNvSpPr/>
          <p:nvPr/>
        </p:nvSpPr>
        <p:spPr>
          <a:xfrm>
            <a:off x="6135624" y="1298448"/>
            <a:ext cx="2788920" cy="3493008"/>
          </a:xfrm>
          <a:prstGeom prst="rect">
            <a:avLst/>
          </a:prstGeom>
          <a:solidFill>
            <a:srgbClr val="EEF6FB"/>
          </a:solidFill>
          <a:ln w="12700">
            <a:solidFill>
              <a:srgbClr val="EEF6FB"/>
            </a:solidFill>
            <a:prstDash val="solid"/>
          </a:ln>
        </p:spPr>
        <p:txBody>
          <a:bodyPr/>
          <a:lstStyle/>
          <a:p>
            <a:endParaRPr lang="en-SG"/>
          </a:p>
        </p:txBody>
      </p:sp>
      <p:sp>
        <p:nvSpPr>
          <p:cNvPr id="34" name="Shape 32"/>
          <p:cNvSpPr/>
          <p:nvPr/>
        </p:nvSpPr>
        <p:spPr>
          <a:xfrm>
            <a:off x="6135624" y="1298448"/>
            <a:ext cx="2788920" cy="73152"/>
          </a:xfrm>
          <a:prstGeom prst="rect">
            <a:avLst/>
          </a:prstGeom>
          <a:solidFill>
            <a:srgbClr val="2ECC71"/>
          </a:solidFill>
          <a:ln w="12700">
            <a:solidFill>
              <a:srgbClr val="2ECC71"/>
            </a:solidFill>
            <a:prstDash val="solid"/>
          </a:ln>
        </p:spPr>
        <p:txBody>
          <a:bodyPr/>
          <a:lstStyle/>
          <a:p>
            <a:endParaRPr lang="en-SG"/>
          </a:p>
        </p:txBody>
      </p:sp>
      <p:sp>
        <p:nvSpPr>
          <p:cNvPr id="35" name="Text 33"/>
          <p:cNvSpPr/>
          <p:nvPr/>
        </p:nvSpPr>
        <p:spPr>
          <a:xfrm>
            <a:off x="6227064" y="1408176"/>
            <a:ext cx="2606040" cy="329184"/>
          </a:xfrm>
          <a:prstGeom prst="rect">
            <a:avLst/>
          </a:prstGeom>
          <a:noFill/>
          <a:ln/>
        </p:spPr>
        <p:txBody>
          <a:bodyPr wrap="square" lIns="0" tIns="0" rIns="0" bIns="0" rtlCol="0" anchor="ctr"/>
          <a:lstStyle/>
          <a:p>
            <a:pPr marL="0" indent="0">
              <a:buNone/>
            </a:pPr>
            <a:r>
              <a:rPr lang="en-US" sz="1250" b="1" dirty="0">
                <a:solidFill>
                  <a:srgbClr val="2ECC71"/>
                </a:solidFill>
              </a:rPr>
              <a:t>⚙️  CAINE</a:t>
            </a:r>
            <a:endParaRPr lang="en-US" sz="1250" dirty="0"/>
          </a:p>
        </p:txBody>
      </p:sp>
      <p:sp>
        <p:nvSpPr>
          <p:cNvPr id="36" name="Shape 34"/>
          <p:cNvSpPr/>
          <p:nvPr/>
        </p:nvSpPr>
        <p:spPr>
          <a:xfrm>
            <a:off x="6227064" y="1773936"/>
            <a:ext cx="2606040" cy="201168"/>
          </a:xfrm>
          <a:prstGeom prst="rect">
            <a:avLst/>
          </a:prstGeom>
          <a:solidFill>
            <a:srgbClr val="FFFFFF"/>
          </a:solidFill>
          <a:ln w="6350">
            <a:solidFill>
              <a:srgbClr val="2ECC71"/>
            </a:solidFill>
            <a:prstDash val="solid"/>
          </a:ln>
        </p:spPr>
        <p:txBody>
          <a:bodyPr/>
          <a:lstStyle/>
          <a:p>
            <a:endParaRPr lang="en-SG"/>
          </a:p>
        </p:txBody>
      </p:sp>
      <p:sp>
        <p:nvSpPr>
          <p:cNvPr id="37" name="Text 35"/>
          <p:cNvSpPr/>
          <p:nvPr/>
        </p:nvSpPr>
        <p:spPr>
          <a:xfrm>
            <a:off x="6227064" y="1773936"/>
            <a:ext cx="2606040" cy="201168"/>
          </a:xfrm>
          <a:prstGeom prst="rect">
            <a:avLst/>
          </a:prstGeom>
          <a:noFill/>
          <a:ln/>
        </p:spPr>
        <p:txBody>
          <a:bodyPr wrap="square" lIns="0" tIns="0" rIns="0" bIns="0" rtlCol="0" anchor="ctr"/>
          <a:lstStyle/>
          <a:p>
            <a:pPr marL="0" indent="0" algn="ctr">
              <a:buNone/>
            </a:pPr>
            <a:r>
              <a:rPr lang="en-US" sz="750" b="1" dirty="0">
                <a:solidFill>
                  <a:srgbClr val="2ECC71"/>
                </a:solidFill>
              </a:rPr>
              <a:t>Live Boot Forensics</a:t>
            </a:r>
            <a:endParaRPr lang="en-US" sz="750" dirty="0"/>
          </a:p>
        </p:txBody>
      </p:sp>
      <p:sp>
        <p:nvSpPr>
          <p:cNvPr id="38" name="Text 36"/>
          <p:cNvSpPr/>
          <p:nvPr/>
        </p:nvSpPr>
        <p:spPr>
          <a:xfrm>
            <a:off x="6227064" y="2011680"/>
            <a:ext cx="2606040" cy="182880"/>
          </a:xfrm>
          <a:prstGeom prst="rect">
            <a:avLst/>
          </a:prstGeom>
          <a:noFill/>
          <a:ln/>
        </p:spPr>
        <p:txBody>
          <a:bodyPr wrap="square" lIns="0" tIns="0" rIns="0" bIns="0" rtlCol="0" anchor="ctr"/>
          <a:lstStyle/>
          <a:p>
            <a:pPr marL="0" indent="0">
              <a:buNone/>
            </a:pPr>
            <a:r>
              <a:rPr lang="en-US" sz="700" i="1" dirty="0">
                <a:solidFill>
                  <a:srgbClr val="8899AA"/>
                </a:solidFill>
              </a:rPr>
              <a:t>Computer Aided INvestigative Environment  ·  caine-live.net</a:t>
            </a:r>
            <a:endParaRPr lang="en-US" sz="700" dirty="0"/>
          </a:p>
        </p:txBody>
      </p:sp>
      <p:sp>
        <p:nvSpPr>
          <p:cNvPr id="39" name="Text 37"/>
          <p:cNvSpPr/>
          <p:nvPr/>
        </p:nvSpPr>
        <p:spPr>
          <a:xfrm>
            <a:off x="6227064" y="2231136"/>
            <a:ext cx="2606040" cy="512064"/>
          </a:xfrm>
          <a:prstGeom prst="rect">
            <a:avLst/>
          </a:prstGeom>
          <a:noFill/>
          <a:ln/>
        </p:spPr>
        <p:txBody>
          <a:bodyPr wrap="square" lIns="0" tIns="0" rIns="0" bIns="0" rtlCol="0" anchor="ctr"/>
          <a:lstStyle/>
          <a:p>
            <a:pPr marL="0" indent="0">
              <a:buNone/>
            </a:pPr>
            <a:r>
              <a:rPr lang="en-US" sz="800" dirty="0">
                <a:solidFill>
                  <a:srgbClr val="1A1A2E"/>
                </a:solidFill>
              </a:rPr>
              <a:t>A Linux-based live distribution designed for digital forensics. Boots from USB/DVD without installing — ideal for field acquisitions and first-responder scenarios.</a:t>
            </a:r>
            <a:endParaRPr lang="en-US" sz="800" dirty="0"/>
          </a:p>
        </p:txBody>
      </p:sp>
      <p:sp>
        <p:nvSpPr>
          <p:cNvPr id="40" name="Text 38"/>
          <p:cNvSpPr/>
          <p:nvPr/>
        </p:nvSpPr>
        <p:spPr>
          <a:xfrm>
            <a:off x="6227064" y="2816352"/>
            <a:ext cx="2606040" cy="237744"/>
          </a:xfrm>
          <a:prstGeom prst="rect">
            <a:avLst/>
          </a:prstGeom>
          <a:noFill/>
          <a:ln/>
        </p:spPr>
        <p:txBody>
          <a:bodyPr wrap="square" lIns="0" tIns="0" rIns="0" bIns="0" rtlCol="0" anchor="ctr"/>
          <a:lstStyle/>
          <a:p>
            <a:pPr marL="0" indent="0">
              <a:buNone/>
            </a:pPr>
            <a:r>
              <a:rPr lang="en-US" sz="800" dirty="0">
                <a:solidFill>
                  <a:srgbClr val="1A1A2E"/>
                </a:solidFill>
              </a:rPr>
              <a:t>• Live boot — no installation required</a:t>
            </a:r>
            <a:endParaRPr lang="en-US" sz="800" dirty="0"/>
          </a:p>
        </p:txBody>
      </p:sp>
      <p:sp>
        <p:nvSpPr>
          <p:cNvPr id="41" name="Text 39"/>
          <p:cNvSpPr/>
          <p:nvPr/>
        </p:nvSpPr>
        <p:spPr>
          <a:xfrm>
            <a:off x="6227064" y="3090672"/>
            <a:ext cx="2606040" cy="237744"/>
          </a:xfrm>
          <a:prstGeom prst="rect">
            <a:avLst/>
          </a:prstGeom>
          <a:noFill/>
          <a:ln/>
        </p:spPr>
        <p:txBody>
          <a:bodyPr wrap="square" lIns="0" tIns="0" rIns="0" bIns="0" rtlCol="0" anchor="ctr"/>
          <a:lstStyle/>
          <a:p>
            <a:pPr marL="0" indent="0">
              <a:buNone/>
            </a:pPr>
            <a:r>
              <a:rPr lang="en-US" sz="800" dirty="0">
                <a:solidFill>
                  <a:srgbClr val="1A1A2E"/>
                </a:solidFill>
              </a:rPr>
              <a:t>• Forensically safe: no auto-mounting of drives</a:t>
            </a:r>
            <a:endParaRPr lang="en-US" sz="800" dirty="0"/>
          </a:p>
        </p:txBody>
      </p:sp>
      <p:sp>
        <p:nvSpPr>
          <p:cNvPr id="42" name="Text 40"/>
          <p:cNvSpPr/>
          <p:nvPr/>
        </p:nvSpPr>
        <p:spPr>
          <a:xfrm>
            <a:off x="6227064" y="3364992"/>
            <a:ext cx="2606040" cy="237744"/>
          </a:xfrm>
          <a:prstGeom prst="rect">
            <a:avLst/>
          </a:prstGeom>
          <a:noFill/>
          <a:ln/>
        </p:spPr>
        <p:txBody>
          <a:bodyPr wrap="square" lIns="0" tIns="0" rIns="0" bIns="0" rtlCol="0" anchor="ctr"/>
          <a:lstStyle/>
          <a:p>
            <a:pPr marL="0" indent="0">
              <a:buNone/>
            </a:pPr>
            <a:r>
              <a:rPr lang="en-US" sz="800" dirty="0">
                <a:solidFill>
                  <a:srgbClr val="1A1A2E"/>
                </a:solidFill>
              </a:rPr>
              <a:t>• Includes Autopsy, PhotoRec, TestDisk</a:t>
            </a:r>
            <a:endParaRPr lang="en-US" sz="800" dirty="0"/>
          </a:p>
        </p:txBody>
      </p:sp>
      <p:sp>
        <p:nvSpPr>
          <p:cNvPr id="43" name="Text 41"/>
          <p:cNvSpPr/>
          <p:nvPr/>
        </p:nvSpPr>
        <p:spPr>
          <a:xfrm>
            <a:off x="6227064" y="3639312"/>
            <a:ext cx="2606040" cy="237744"/>
          </a:xfrm>
          <a:prstGeom prst="rect">
            <a:avLst/>
          </a:prstGeom>
          <a:noFill/>
          <a:ln/>
        </p:spPr>
        <p:txBody>
          <a:bodyPr wrap="square" lIns="0" tIns="0" rIns="0" bIns="0" rtlCol="0" anchor="ctr"/>
          <a:lstStyle/>
          <a:p>
            <a:pPr marL="0" indent="0">
              <a:buNone/>
            </a:pPr>
            <a:r>
              <a:rPr lang="en-US" sz="800" dirty="0">
                <a:solidFill>
                  <a:srgbClr val="1A1A2E"/>
                </a:solidFill>
              </a:rPr>
              <a:t>• Network forensic tools built-in</a:t>
            </a:r>
            <a:endParaRPr lang="en-US" sz="800" dirty="0"/>
          </a:p>
        </p:txBody>
      </p:sp>
      <p:sp>
        <p:nvSpPr>
          <p:cNvPr id="44" name="Text 42"/>
          <p:cNvSpPr/>
          <p:nvPr/>
        </p:nvSpPr>
        <p:spPr>
          <a:xfrm>
            <a:off x="6227064" y="3913632"/>
            <a:ext cx="2606040" cy="237744"/>
          </a:xfrm>
          <a:prstGeom prst="rect">
            <a:avLst/>
          </a:prstGeom>
          <a:noFill/>
          <a:ln/>
        </p:spPr>
        <p:txBody>
          <a:bodyPr wrap="square" lIns="0" tIns="0" rIns="0" bIns="0" rtlCol="0" anchor="ctr"/>
          <a:lstStyle/>
          <a:p>
            <a:pPr marL="0" indent="0">
              <a:buNone/>
            </a:pPr>
            <a:r>
              <a:rPr lang="en-US" sz="800" dirty="0">
                <a:solidFill>
                  <a:srgbClr val="1A1A2E"/>
                </a:solidFill>
              </a:rPr>
              <a:t>• Write-blocking enforced at boot</a:t>
            </a:r>
            <a:endParaRPr lang="en-US" sz="800" dirty="0"/>
          </a:p>
        </p:txBody>
      </p:sp>
      <p:sp>
        <p:nvSpPr>
          <p:cNvPr id="45" name="Text 43"/>
          <p:cNvSpPr/>
          <p:nvPr/>
        </p:nvSpPr>
        <p:spPr>
          <a:xfrm>
            <a:off x="6227064" y="4187952"/>
            <a:ext cx="2606040" cy="237744"/>
          </a:xfrm>
          <a:prstGeom prst="rect">
            <a:avLst/>
          </a:prstGeom>
          <a:noFill/>
          <a:ln/>
        </p:spPr>
        <p:txBody>
          <a:bodyPr wrap="square" lIns="0" tIns="0" rIns="0" bIns="0" rtlCol="0" anchor="ctr"/>
          <a:lstStyle/>
          <a:p>
            <a:pPr marL="0" indent="0">
              <a:buNone/>
            </a:pPr>
            <a:r>
              <a:rPr lang="en-US" sz="800" dirty="0">
                <a:solidFill>
                  <a:srgbClr val="1A1A2E"/>
                </a:solidFill>
              </a:rPr>
              <a:t>• Suitable for first-responder acquisition</a:t>
            </a:r>
            <a:endParaRPr lang="en-US" sz="800" dirty="0"/>
          </a:p>
        </p:txBody>
      </p:sp>
      <p:sp>
        <p:nvSpPr>
          <p:cNvPr id="46" name="Text 44"/>
          <p:cNvSpPr/>
          <p:nvPr/>
        </p:nvSpPr>
        <p:spPr>
          <a:xfrm>
            <a:off x="6227064" y="4462272"/>
            <a:ext cx="2606040" cy="237744"/>
          </a:xfrm>
          <a:prstGeom prst="rect">
            <a:avLst/>
          </a:prstGeom>
          <a:noFill/>
          <a:ln/>
        </p:spPr>
        <p:txBody>
          <a:bodyPr wrap="square" lIns="0" tIns="0" rIns="0" bIns="0" rtlCol="0" anchor="ctr"/>
          <a:lstStyle/>
          <a:p>
            <a:pPr marL="0" indent="0">
              <a:buNone/>
            </a:pPr>
            <a:r>
              <a:rPr lang="en-US" sz="800" dirty="0">
                <a:solidFill>
                  <a:srgbClr val="1A1A2E"/>
                </a:solidFill>
              </a:rPr>
              <a:t>• Intuitive GUI for non-CLI investigators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32458"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649578" cy="256032"/>
          </a:xfrm>
          <a:prstGeom prst="rect">
            <a:avLst/>
          </a:prstGeom>
          <a:noFill/>
          <a:ln/>
        </p:spPr>
        <p:txBody>
          <a:bodyPr wrap="square" lIns="0" tIns="0" rIns="0" bIns="0" rtlCol="0" anchor="ctr"/>
          <a:lstStyle/>
          <a:p>
            <a:pPr marL="0" indent="0">
              <a:buNone/>
            </a:pPr>
            <a:r>
              <a:rPr lang="en-US" sz="850" b="1" dirty="0">
                <a:solidFill>
                  <a:srgbClr val="0D1B2A"/>
                </a:solidFill>
              </a:rPr>
              <a:t>WINDOWS FORENSIC TOOLS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Windows &amp; GUI-Based Forensic Tools</a:t>
            </a:r>
            <a:endParaRPr lang="en-US" sz="2800" dirty="0"/>
          </a:p>
        </p:txBody>
      </p:sp>
      <p:sp>
        <p:nvSpPr>
          <p:cNvPr id="5" name="Shape 3"/>
          <p:cNvSpPr/>
          <p:nvPr/>
        </p:nvSpPr>
        <p:spPr>
          <a:xfrm>
            <a:off x="320040" y="1298448"/>
            <a:ext cx="8503920" cy="676656"/>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98448"/>
            <a:ext cx="109728" cy="676656"/>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512064" y="1371600"/>
            <a:ext cx="8229600" cy="530352"/>
          </a:xfrm>
          <a:prstGeom prst="rect">
            <a:avLst/>
          </a:prstGeom>
          <a:noFill/>
          <a:ln/>
        </p:spPr>
        <p:txBody>
          <a:bodyPr wrap="square" lIns="0" tIns="0" rIns="0" bIns="0" rtlCol="0" anchor="ctr"/>
          <a:lstStyle/>
          <a:p>
            <a:pPr marL="0" indent="0">
              <a:buNone/>
            </a:pPr>
            <a:r>
              <a:rPr lang="en-US" sz="950" dirty="0">
                <a:solidFill>
                  <a:srgbClr val="1A1A2E"/>
                </a:solidFill>
              </a:rPr>
              <a:t>GUI forensic tools simplify investigations and reduce the learning curve — they do not require deep command-line expertise. However, they demand more system resources and can create tool dependencies if analysts rely on them exclusively.</a:t>
            </a:r>
            <a:endParaRPr lang="en-US" sz="950" dirty="0"/>
          </a:p>
        </p:txBody>
      </p:sp>
      <p:sp>
        <p:nvSpPr>
          <p:cNvPr id="8" name="Shape 6"/>
          <p:cNvSpPr/>
          <p:nvPr/>
        </p:nvSpPr>
        <p:spPr>
          <a:xfrm>
            <a:off x="320040" y="2103120"/>
            <a:ext cx="4251960" cy="1316736"/>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2103120"/>
            <a:ext cx="109728" cy="1316736"/>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521208" y="2194560"/>
            <a:ext cx="2743200" cy="274320"/>
          </a:xfrm>
          <a:prstGeom prst="rect">
            <a:avLst/>
          </a:prstGeom>
          <a:noFill/>
          <a:ln/>
        </p:spPr>
        <p:txBody>
          <a:bodyPr wrap="square" lIns="0" tIns="0" rIns="0" bIns="0" rtlCol="0" anchor="ctr"/>
          <a:lstStyle/>
          <a:p>
            <a:pPr marL="0" indent="0">
              <a:buNone/>
            </a:pPr>
            <a:r>
              <a:rPr lang="en-US" sz="1150" b="1" dirty="0">
                <a:solidFill>
                  <a:srgbClr val="00B4D8"/>
                </a:solidFill>
              </a:rPr>
              <a:t>🔬  Autopsy (Windows)</a:t>
            </a:r>
            <a:endParaRPr lang="en-US" sz="1150" dirty="0"/>
          </a:p>
        </p:txBody>
      </p:sp>
      <p:sp>
        <p:nvSpPr>
          <p:cNvPr id="11" name="Shape 9"/>
          <p:cNvSpPr/>
          <p:nvPr/>
        </p:nvSpPr>
        <p:spPr>
          <a:xfrm>
            <a:off x="3337560" y="2194560"/>
            <a:ext cx="1143000" cy="201168"/>
          </a:xfrm>
          <a:prstGeom prst="rect">
            <a:avLst/>
          </a:prstGeom>
          <a:solidFill>
            <a:srgbClr val="FFFFFF"/>
          </a:solidFill>
          <a:ln w="6350">
            <a:solidFill>
              <a:srgbClr val="00B4D8"/>
            </a:solidFill>
            <a:prstDash val="solid"/>
          </a:ln>
        </p:spPr>
        <p:txBody>
          <a:bodyPr/>
          <a:lstStyle/>
          <a:p>
            <a:endParaRPr lang="en-SG"/>
          </a:p>
        </p:txBody>
      </p:sp>
      <p:sp>
        <p:nvSpPr>
          <p:cNvPr id="12" name="Text 10"/>
          <p:cNvSpPr/>
          <p:nvPr/>
        </p:nvSpPr>
        <p:spPr>
          <a:xfrm>
            <a:off x="3337560" y="2194560"/>
            <a:ext cx="1143000" cy="201168"/>
          </a:xfrm>
          <a:prstGeom prst="rect">
            <a:avLst/>
          </a:prstGeom>
          <a:noFill/>
          <a:ln/>
        </p:spPr>
        <p:txBody>
          <a:bodyPr wrap="square" lIns="0" tIns="0" rIns="0" bIns="0" rtlCol="0" anchor="ctr"/>
          <a:lstStyle/>
          <a:p>
            <a:pPr marL="0" indent="0" algn="ctr">
              <a:buNone/>
            </a:pPr>
            <a:r>
              <a:rPr lang="en-US" sz="650" b="1" dirty="0">
                <a:solidFill>
                  <a:srgbClr val="00B4D8"/>
                </a:solidFill>
              </a:rPr>
              <a:t>Free / Open Source</a:t>
            </a:r>
            <a:endParaRPr lang="en-US" sz="650" dirty="0"/>
          </a:p>
        </p:txBody>
      </p:sp>
      <p:sp>
        <p:nvSpPr>
          <p:cNvPr id="13" name="Text 11"/>
          <p:cNvSpPr/>
          <p:nvPr/>
        </p:nvSpPr>
        <p:spPr>
          <a:xfrm>
            <a:off x="521208" y="2505456"/>
            <a:ext cx="2267712" cy="822960"/>
          </a:xfrm>
          <a:prstGeom prst="rect">
            <a:avLst/>
          </a:prstGeom>
          <a:noFill/>
          <a:ln/>
        </p:spPr>
        <p:txBody>
          <a:bodyPr wrap="square" lIns="0" tIns="0" rIns="0" bIns="0" rtlCol="0" anchor="ctr"/>
          <a:lstStyle/>
          <a:p>
            <a:pPr marL="0" indent="0">
              <a:buNone/>
            </a:pPr>
            <a:r>
              <a:rPr lang="en-US" sz="800" dirty="0">
                <a:solidFill>
                  <a:srgbClr val="1A1A2E"/>
                </a:solidFill>
              </a:rPr>
              <a:t>Full graphical investigation interface: case management, timeline, keyword search, and reporting. Available for Windows, Linux, and macOS.</a:t>
            </a:r>
            <a:endParaRPr lang="en-US" sz="800" dirty="0"/>
          </a:p>
        </p:txBody>
      </p:sp>
      <p:sp>
        <p:nvSpPr>
          <p:cNvPr id="14" name="Text 12"/>
          <p:cNvSpPr/>
          <p:nvPr/>
        </p:nvSpPr>
        <p:spPr>
          <a:xfrm>
            <a:off x="2880360" y="2487168"/>
            <a:ext cx="1600200" cy="201168"/>
          </a:xfrm>
          <a:prstGeom prst="rect">
            <a:avLst/>
          </a:prstGeom>
          <a:noFill/>
          <a:ln/>
        </p:spPr>
        <p:txBody>
          <a:bodyPr wrap="square" lIns="0" tIns="0" rIns="0" bIns="0" rtlCol="0" anchor="ctr"/>
          <a:lstStyle/>
          <a:p>
            <a:pPr marL="0" indent="0">
              <a:buNone/>
            </a:pPr>
            <a:r>
              <a:rPr lang="en-US" sz="750" dirty="0">
                <a:solidFill>
                  <a:srgbClr val="2ECC71"/>
                </a:solidFill>
              </a:rPr>
              <a:t>✓  Free and actively maintained</a:t>
            </a:r>
            <a:endParaRPr lang="en-US" sz="750" dirty="0"/>
          </a:p>
        </p:txBody>
      </p:sp>
      <p:sp>
        <p:nvSpPr>
          <p:cNvPr id="15" name="Text 13"/>
          <p:cNvSpPr/>
          <p:nvPr/>
        </p:nvSpPr>
        <p:spPr>
          <a:xfrm>
            <a:off x="2880360" y="2706624"/>
            <a:ext cx="1600200" cy="201168"/>
          </a:xfrm>
          <a:prstGeom prst="rect">
            <a:avLst/>
          </a:prstGeom>
          <a:noFill/>
          <a:ln/>
        </p:spPr>
        <p:txBody>
          <a:bodyPr wrap="square" lIns="0" tIns="0" rIns="0" bIns="0" rtlCol="0" anchor="ctr"/>
          <a:lstStyle/>
          <a:p>
            <a:pPr marL="0" indent="0">
              <a:buNone/>
            </a:pPr>
            <a:r>
              <a:rPr lang="en-US" sz="750" dirty="0">
                <a:solidFill>
                  <a:srgbClr val="2ECC71"/>
                </a:solidFill>
              </a:rPr>
              <a:t>✓  NSRL and hash filtering built-in</a:t>
            </a:r>
            <a:endParaRPr lang="en-US" sz="750" dirty="0"/>
          </a:p>
        </p:txBody>
      </p:sp>
      <p:sp>
        <p:nvSpPr>
          <p:cNvPr id="16" name="Text 14"/>
          <p:cNvSpPr/>
          <p:nvPr/>
        </p:nvSpPr>
        <p:spPr>
          <a:xfrm>
            <a:off x="2880360" y="2926080"/>
            <a:ext cx="1600200" cy="201168"/>
          </a:xfrm>
          <a:prstGeom prst="rect">
            <a:avLst/>
          </a:prstGeom>
          <a:noFill/>
          <a:ln/>
        </p:spPr>
        <p:txBody>
          <a:bodyPr wrap="square" lIns="0" tIns="0" rIns="0" bIns="0" rtlCol="0" anchor="ctr"/>
          <a:lstStyle/>
          <a:p>
            <a:pPr marL="0" indent="0">
              <a:buNone/>
            </a:pPr>
            <a:r>
              <a:rPr lang="en-US" sz="750" dirty="0">
                <a:solidFill>
                  <a:srgbClr val="2ECC71"/>
                </a:solidFill>
              </a:rPr>
              <a:t>✓  Extensible via modules</a:t>
            </a:r>
            <a:endParaRPr lang="en-US" sz="750" dirty="0"/>
          </a:p>
        </p:txBody>
      </p:sp>
      <p:sp>
        <p:nvSpPr>
          <p:cNvPr id="17" name="Text 15"/>
          <p:cNvSpPr/>
          <p:nvPr/>
        </p:nvSpPr>
        <p:spPr>
          <a:xfrm>
            <a:off x="2880360" y="3145536"/>
            <a:ext cx="1600200" cy="201168"/>
          </a:xfrm>
          <a:prstGeom prst="rect">
            <a:avLst/>
          </a:prstGeom>
          <a:noFill/>
          <a:ln/>
        </p:spPr>
        <p:txBody>
          <a:bodyPr wrap="square" lIns="0" tIns="0" rIns="0" bIns="0" rtlCol="0" anchor="ctr"/>
          <a:lstStyle/>
          <a:p>
            <a:pPr marL="0" indent="0">
              <a:buNone/>
            </a:pPr>
            <a:r>
              <a:rPr lang="en-US" sz="750" dirty="0">
                <a:solidFill>
                  <a:srgbClr val="2ECC71"/>
                </a:solidFill>
              </a:rPr>
              <a:t>✓  Multi-platform</a:t>
            </a:r>
            <a:endParaRPr lang="en-US" sz="750" dirty="0"/>
          </a:p>
        </p:txBody>
      </p:sp>
      <p:sp>
        <p:nvSpPr>
          <p:cNvPr id="18" name="Shape 16"/>
          <p:cNvSpPr/>
          <p:nvPr/>
        </p:nvSpPr>
        <p:spPr>
          <a:xfrm>
            <a:off x="4754880" y="2103120"/>
            <a:ext cx="4251960" cy="1316736"/>
          </a:xfrm>
          <a:prstGeom prst="rect">
            <a:avLst/>
          </a:prstGeom>
          <a:solidFill>
            <a:srgbClr val="EEF6FB"/>
          </a:solidFill>
          <a:ln w="12700">
            <a:solidFill>
              <a:srgbClr val="EEF6FB"/>
            </a:solidFill>
            <a:prstDash val="solid"/>
          </a:ln>
        </p:spPr>
        <p:txBody>
          <a:bodyPr/>
          <a:lstStyle/>
          <a:p>
            <a:endParaRPr lang="en-SG"/>
          </a:p>
        </p:txBody>
      </p:sp>
      <p:sp>
        <p:nvSpPr>
          <p:cNvPr id="19" name="Shape 17"/>
          <p:cNvSpPr/>
          <p:nvPr/>
        </p:nvSpPr>
        <p:spPr>
          <a:xfrm>
            <a:off x="4754880" y="2103120"/>
            <a:ext cx="109728" cy="1316736"/>
          </a:xfrm>
          <a:prstGeom prst="rect">
            <a:avLst/>
          </a:prstGeom>
          <a:solidFill>
            <a:srgbClr val="F4A261"/>
          </a:solidFill>
          <a:ln w="12700">
            <a:solidFill>
              <a:srgbClr val="F4A261"/>
            </a:solidFill>
            <a:prstDash val="solid"/>
          </a:ln>
        </p:spPr>
        <p:txBody>
          <a:bodyPr/>
          <a:lstStyle/>
          <a:p>
            <a:endParaRPr lang="en-SG"/>
          </a:p>
        </p:txBody>
      </p:sp>
      <p:sp>
        <p:nvSpPr>
          <p:cNvPr id="20" name="Text 18"/>
          <p:cNvSpPr/>
          <p:nvPr/>
        </p:nvSpPr>
        <p:spPr>
          <a:xfrm>
            <a:off x="4956048" y="2194560"/>
            <a:ext cx="2743200" cy="274320"/>
          </a:xfrm>
          <a:prstGeom prst="rect">
            <a:avLst/>
          </a:prstGeom>
          <a:noFill/>
          <a:ln/>
        </p:spPr>
        <p:txBody>
          <a:bodyPr wrap="square" lIns="0" tIns="0" rIns="0" bIns="0" rtlCol="0" anchor="ctr"/>
          <a:lstStyle/>
          <a:p>
            <a:pPr marL="0" indent="0">
              <a:buNone/>
            </a:pPr>
            <a:r>
              <a:rPr lang="en-US" sz="1150" b="1" dirty="0">
                <a:solidFill>
                  <a:srgbClr val="F4A261"/>
                </a:solidFill>
              </a:rPr>
              <a:t>🧰  FTK (Forensic Toolkit)</a:t>
            </a:r>
            <a:endParaRPr lang="en-US" sz="1150" dirty="0"/>
          </a:p>
        </p:txBody>
      </p:sp>
      <p:sp>
        <p:nvSpPr>
          <p:cNvPr id="21" name="Shape 19"/>
          <p:cNvSpPr/>
          <p:nvPr/>
        </p:nvSpPr>
        <p:spPr>
          <a:xfrm>
            <a:off x="7772400" y="2194560"/>
            <a:ext cx="1143000" cy="201168"/>
          </a:xfrm>
          <a:prstGeom prst="rect">
            <a:avLst/>
          </a:prstGeom>
          <a:solidFill>
            <a:srgbClr val="FFFFFF"/>
          </a:solidFill>
          <a:ln w="6350">
            <a:solidFill>
              <a:srgbClr val="F4A261"/>
            </a:solidFill>
            <a:prstDash val="solid"/>
          </a:ln>
        </p:spPr>
        <p:txBody>
          <a:bodyPr/>
          <a:lstStyle/>
          <a:p>
            <a:endParaRPr lang="en-SG"/>
          </a:p>
        </p:txBody>
      </p:sp>
      <p:sp>
        <p:nvSpPr>
          <p:cNvPr id="22" name="Text 20"/>
          <p:cNvSpPr/>
          <p:nvPr/>
        </p:nvSpPr>
        <p:spPr>
          <a:xfrm>
            <a:off x="7772400" y="2194560"/>
            <a:ext cx="1143000" cy="201168"/>
          </a:xfrm>
          <a:prstGeom prst="rect">
            <a:avLst/>
          </a:prstGeom>
          <a:noFill/>
          <a:ln/>
        </p:spPr>
        <p:txBody>
          <a:bodyPr wrap="square" lIns="0" tIns="0" rIns="0" bIns="0" rtlCol="0" anchor="ctr"/>
          <a:lstStyle/>
          <a:p>
            <a:pPr marL="0" indent="0" algn="ctr">
              <a:buNone/>
            </a:pPr>
            <a:r>
              <a:rPr lang="en-US" sz="650" b="1" dirty="0">
                <a:solidFill>
                  <a:srgbClr val="F4A261"/>
                </a:solidFill>
              </a:rPr>
              <a:t>Commercial — Exterro</a:t>
            </a:r>
            <a:endParaRPr lang="en-US" sz="650" dirty="0"/>
          </a:p>
        </p:txBody>
      </p:sp>
      <p:sp>
        <p:nvSpPr>
          <p:cNvPr id="23" name="Text 21"/>
          <p:cNvSpPr/>
          <p:nvPr/>
        </p:nvSpPr>
        <p:spPr>
          <a:xfrm>
            <a:off x="4956048" y="2505456"/>
            <a:ext cx="2267712" cy="822960"/>
          </a:xfrm>
          <a:prstGeom prst="rect">
            <a:avLst/>
          </a:prstGeom>
          <a:noFill/>
          <a:ln/>
        </p:spPr>
        <p:txBody>
          <a:bodyPr wrap="square" lIns="0" tIns="0" rIns="0" bIns="0" rtlCol="0" anchor="ctr"/>
          <a:lstStyle/>
          <a:p>
            <a:pPr marL="0" indent="0">
              <a:buNone/>
            </a:pPr>
            <a:r>
              <a:rPr lang="en-US" sz="800" dirty="0">
                <a:solidFill>
                  <a:srgbClr val="1A1A2E"/>
                </a:solidFill>
              </a:rPr>
              <a:t>Industry-leading commercial platform. Pre-indexes entire evidence sets before analysis — enabling near-instant search across massive image files.</a:t>
            </a:r>
            <a:endParaRPr lang="en-US" sz="800" dirty="0"/>
          </a:p>
        </p:txBody>
      </p:sp>
      <p:sp>
        <p:nvSpPr>
          <p:cNvPr id="24" name="Text 22"/>
          <p:cNvSpPr/>
          <p:nvPr/>
        </p:nvSpPr>
        <p:spPr>
          <a:xfrm>
            <a:off x="7315200" y="2487168"/>
            <a:ext cx="1600200" cy="201168"/>
          </a:xfrm>
          <a:prstGeom prst="rect">
            <a:avLst/>
          </a:prstGeom>
          <a:noFill/>
          <a:ln/>
        </p:spPr>
        <p:txBody>
          <a:bodyPr wrap="square" lIns="0" tIns="0" rIns="0" bIns="0" rtlCol="0" anchor="ctr"/>
          <a:lstStyle/>
          <a:p>
            <a:pPr marL="0" indent="0">
              <a:buNone/>
            </a:pPr>
            <a:r>
              <a:rPr lang="en-US" sz="750" dirty="0">
                <a:solidFill>
                  <a:srgbClr val="2ECC71"/>
                </a:solidFill>
              </a:rPr>
              <a:t>✓  Pre-indexed search — fastest in class</a:t>
            </a:r>
            <a:endParaRPr lang="en-US" sz="750" dirty="0"/>
          </a:p>
        </p:txBody>
      </p:sp>
      <p:sp>
        <p:nvSpPr>
          <p:cNvPr id="25" name="Text 23"/>
          <p:cNvSpPr/>
          <p:nvPr/>
        </p:nvSpPr>
        <p:spPr>
          <a:xfrm>
            <a:off x="7315200" y="2706624"/>
            <a:ext cx="1600200" cy="201168"/>
          </a:xfrm>
          <a:prstGeom prst="rect">
            <a:avLst/>
          </a:prstGeom>
          <a:noFill/>
          <a:ln/>
        </p:spPr>
        <p:txBody>
          <a:bodyPr wrap="square" lIns="0" tIns="0" rIns="0" bIns="0" rtlCol="0" anchor="ctr"/>
          <a:lstStyle/>
          <a:p>
            <a:pPr marL="0" indent="0">
              <a:buNone/>
            </a:pPr>
            <a:r>
              <a:rPr lang="en-US" sz="750" dirty="0">
                <a:solidFill>
                  <a:srgbClr val="2ECC71"/>
                </a:solidFill>
              </a:rPr>
              <a:t>✓  300+ file types natively</a:t>
            </a:r>
            <a:endParaRPr lang="en-US" sz="750" dirty="0"/>
          </a:p>
        </p:txBody>
      </p:sp>
      <p:sp>
        <p:nvSpPr>
          <p:cNvPr id="26" name="Text 24"/>
          <p:cNvSpPr/>
          <p:nvPr/>
        </p:nvSpPr>
        <p:spPr>
          <a:xfrm>
            <a:off x="7315200" y="2926080"/>
            <a:ext cx="1600200" cy="201168"/>
          </a:xfrm>
          <a:prstGeom prst="rect">
            <a:avLst/>
          </a:prstGeom>
          <a:noFill/>
          <a:ln/>
        </p:spPr>
        <p:txBody>
          <a:bodyPr wrap="square" lIns="0" tIns="0" rIns="0" bIns="0" rtlCol="0" anchor="ctr"/>
          <a:lstStyle/>
          <a:p>
            <a:pPr marL="0" indent="0">
              <a:buNone/>
            </a:pPr>
            <a:r>
              <a:rPr lang="en-US" sz="750" dirty="0">
                <a:solidFill>
                  <a:srgbClr val="2ECC71"/>
                </a:solidFill>
              </a:rPr>
              <a:t>✓  Integrated password recovery</a:t>
            </a:r>
            <a:endParaRPr lang="en-US" sz="750" dirty="0"/>
          </a:p>
        </p:txBody>
      </p:sp>
      <p:sp>
        <p:nvSpPr>
          <p:cNvPr id="27" name="Text 25"/>
          <p:cNvSpPr/>
          <p:nvPr/>
        </p:nvSpPr>
        <p:spPr>
          <a:xfrm>
            <a:off x="7315200" y="3145536"/>
            <a:ext cx="1600200" cy="201168"/>
          </a:xfrm>
          <a:prstGeom prst="rect">
            <a:avLst/>
          </a:prstGeom>
          <a:noFill/>
          <a:ln/>
        </p:spPr>
        <p:txBody>
          <a:bodyPr wrap="square" lIns="0" tIns="0" rIns="0" bIns="0" rtlCol="0" anchor="ctr"/>
          <a:lstStyle/>
          <a:p>
            <a:pPr marL="0" indent="0">
              <a:buNone/>
            </a:pPr>
            <a:r>
              <a:rPr lang="en-US" sz="750" dirty="0">
                <a:solidFill>
                  <a:srgbClr val="2ECC71"/>
                </a:solidFill>
              </a:rPr>
              <a:t>✓  Court-validated</a:t>
            </a:r>
            <a:endParaRPr lang="en-US" sz="750" dirty="0"/>
          </a:p>
        </p:txBody>
      </p:sp>
      <p:sp>
        <p:nvSpPr>
          <p:cNvPr id="28" name="Shape 26"/>
          <p:cNvSpPr/>
          <p:nvPr/>
        </p:nvSpPr>
        <p:spPr>
          <a:xfrm>
            <a:off x="320040" y="3529584"/>
            <a:ext cx="4251960" cy="1316736"/>
          </a:xfrm>
          <a:prstGeom prst="rect">
            <a:avLst/>
          </a:prstGeom>
          <a:solidFill>
            <a:srgbClr val="EEF6FB"/>
          </a:solidFill>
          <a:ln w="12700">
            <a:solidFill>
              <a:srgbClr val="EEF6FB"/>
            </a:solidFill>
            <a:prstDash val="solid"/>
          </a:ln>
        </p:spPr>
        <p:txBody>
          <a:bodyPr/>
          <a:lstStyle/>
          <a:p>
            <a:endParaRPr lang="en-SG"/>
          </a:p>
        </p:txBody>
      </p:sp>
      <p:sp>
        <p:nvSpPr>
          <p:cNvPr id="29" name="Shape 27"/>
          <p:cNvSpPr/>
          <p:nvPr/>
        </p:nvSpPr>
        <p:spPr>
          <a:xfrm>
            <a:off x="320040" y="3529584"/>
            <a:ext cx="109728" cy="1316736"/>
          </a:xfrm>
          <a:prstGeom prst="rect">
            <a:avLst/>
          </a:prstGeom>
          <a:solidFill>
            <a:srgbClr val="F1C40F"/>
          </a:solidFill>
          <a:ln w="12700">
            <a:solidFill>
              <a:srgbClr val="F1C40F"/>
            </a:solidFill>
            <a:prstDash val="solid"/>
          </a:ln>
        </p:spPr>
        <p:txBody>
          <a:bodyPr/>
          <a:lstStyle/>
          <a:p>
            <a:endParaRPr lang="en-SG"/>
          </a:p>
        </p:txBody>
      </p:sp>
      <p:sp>
        <p:nvSpPr>
          <p:cNvPr id="30" name="Text 28"/>
          <p:cNvSpPr/>
          <p:nvPr/>
        </p:nvSpPr>
        <p:spPr>
          <a:xfrm>
            <a:off x="521208" y="3621024"/>
            <a:ext cx="2743200" cy="274320"/>
          </a:xfrm>
          <a:prstGeom prst="rect">
            <a:avLst/>
          </a:prstGeom>
          <a:noFill/>
          <a:ln/>
        </p:spPr>
        <p:txBody>
          <a:bodyPr wrap="square" lIns="0" tIns="0" rIns="0" bIns="0" rtlCol="0" anchor="ctr"/>
          <a:lstStyle/>
          <a:p>
            <a:pPr marL="0" indent="0">
              <a:buNone/>
            </a:pPr>
            <a:r>
              <a:rPr lang="en-US" sz="1150" b="1" dirty="0">
                <a:solidFill>
                  <a:srgbClr val="F1C40F"/>
                </a:solidFill>
              </a:rPr>
              <a:t>⚖️  EnCase Forensic</a:t>
            </a:r>
            <a:endParaRPr lang="en-US" sz="1150" dirty="0"/>
          </a:p>
        </p:txBody>
      </p:sp>
      <p:sp>
        <p:nvSpPr>
          <p:cNvPr id="31" name="Shape 29"/>
          <p:cNvSpPr/>
          <p:nvPr/>
        </p:nvSpPr>
        <p:spPr>
          <a:xfrm>
            <a:off x="3337560" y="3621024"/>
            <a:ext cx="1143000" cy="201168"/>
          </a:xfrm>
          <a:prstGeom prst="rect">
            <a:avLst/>
          </a:prstGeom>
          <a:solidFill>
            <a:srgbClr val="FFFFFF"/>
          </a:solidFill>
          <a:ln w="6350">
            <a:solidFill>
              <a:srgbClr val="F1C40F"/>
            </a:solidFill>
            <a:prstDash val="solid"/>
          </a:ln>
        </p:spPr>
        <p:txBody>
          <a:bodyPr/>
          <a:lstStyle/>
          <a:p>
            <a:endParaRPr lang="en-SG"/>
          </a:p>
        </p:txBody>
      </p:sp>
      <p:sp>
        <p:nvSpPr>
          <p:cNvPr id="32" name="Text 30"/>
          <p:cNvSpPr/>
          <p:nvPr/>
        </p:nvSpPr>
        <p:spPr>
          <a:xfrm>
            <a:off x="3337560" y="3621024"/>
            <a:ext cx="1143000" cy="201168"/>
          </a:xfrm>
          <a:prstGeom prst="rect">
            <a:avLst/>
          </a:prstGeom>
          <a:noFill/>
          <a:ln/>
        </p:spPr>
        <p:txBody>
          <a:bodyPr wrap="square" lIns="0" tIns="0" rIns="0" bIns="0" rtlCol="0" anchor="ctr"/>
          <a:lstStyle/>
          <a:p>
            <a:pPr marL="0" indent="0" algn="ctr">
              <a:buNone/>
            </a:pPr>
            <a:r>
              <a:rPr lang="en-US" sz="650" b="1" dirty="0">
                <a:solidFill>
                  <a:srgbClr val="F1C40F"/>
                </a:solidFill>
              </a:rPr>
              <a:t>Commercial — OpenText</a:t>
            </a:r>
            <a:endParaRPr lang="en-US" sz="650" dirty="0"/>
          </a:p>
        </p:txBody>
      </p:sp>
      <p:sp>
        <p:nvSpPr>
          <p:cNvPr id="33" name="Text 31"/>
          <p:cNvSpPr/>
          <p:nvPr/>
        </p:nvSpPr>
        <p:spPr>
          <a:xfrm>
            <a:off x="521208" y="3931920"/>
            <a:ext cx="2267712" cy="822960"/>
          </a:xfrm>
          <a:prstGeom prst="rect">
            <a:avLst/>
          </a:prstGeom>
          <a:noFill/>
          <a:ln/>
        </p:spPr>
        <p:txBody>
          <a:bodyPr wrap="square" lIns="0" tIns="0" rIns="0" bIns="0" rtlCol="0" anchor="ctr"/>
          <a:lstStyle/>
          <a:p>
            <a:pPr marL="0" indent="0">
              <a:buNone/>
            </a:pPr>
            <a:r>
              <a:rPr lang="en-US" sz="800" dirty="0">
                <a:solidFill>
                  <a:srgbClr val="1A1A2E"/>
                </a:solidFill>
              </a:rPr>
              <a:t>Widely used in law enforcement globally. Strong evidence management, chain-of-custody tracking, and proprietary E01 image format with embedded verification.</a:t>
            </a:r>
            <a:endParaRPr lang="en-US" sz="800" dirty="0"/>
          </a:p>
        </p:txBody>
      </p:sp>
      <p:sp>
        <p:nvSpPr>
          <p:cNvPr id="34" name="Text 32"/>
          <p:cNvSpPr/>
          <p:nvPr/>
        </p:nvSpPr>
        <p:spPr>
          <a:xfrm>
            <a:off x="2880360" y="3913632"/>
            <a:ext cx="1600200" cy="201168"/>
          </a:xfrm>
          <a:prstGeom prst="rect">
            <a:avLst/>
          </a:prstGeom>
          <a:noFill/>
          <a:ln/>
        </p:spPr>
        <p:txBody>
          <a:bodyPr wrap="square" lIns="0" tIns="0" rIns="0" bIns="0" rtlCol="0" anchor="ctr"/>
          <a:lstStyle/>
          <a:p>
            <a:pPr marL="0" indent="0">
              <a:buNone/>
            </a:pPr>
            <a:r>
              <a:rPr lang="en-US" sz="750" dirty="0">
                <a:solidFill>
                  <a:srgbClr val="2ECC71"/>
                </a:solidFill>
              </a:rPr>
              <a:t>✓  E01 with built-in hash verification</a:t>
            </a:r>
            <a:endParaRPr lang="en-US" sz="750" dirty="0"/>
          </a:p>
        </p:txBody>
      </p:sp>
      <p:sp>
        <p:nvSpPr>
          <p:cNvPr id="35" name="Text 33"/>
          <p:cNvSpPr/>
          <p:nvPr/>
        </p:nvSpPr>
        <p:spPr>
          <a:xfrm>
            <a:off x="2880360" y="4133088"/>
            <a:ext cx="1600200" cy="201168"/>
          </a:xfrm>
          <a:prstGeom prst="rect">
            <a:avLst/>
          </a:prstGeom>
          <a:noFill/>
          <a:ln/>
        </p:spPr>
        <p:txBody>
          <a:bodyPr wrap="square" lIns="0" tIns="0" rIns="0" bIns="0" rtlCol="0" anchor="ctr"/>
          <a:lstStyle/>
          <a:p>
            <a:pPr marL="0" indent="0">
              <a:buNone/>
            </a:pPr>
            <a:r>
              <a:rPr lang="en-US" sz="750" dirty="0">
                <a:solidFill>
                  <a:srgbClr val="2ECC71"/>
                </a:solidFill>
              </a:rPr>
              <a:t>✓  EnScript automation</a:t>
            </a:r>
            <a:endParaRPr lang="en-US" sz="750" dirty="0"/>
          </a:p>
        </p:txBody>
      </p:sp>
      <p:sp>
        <p:nvSpPr>
          <p:cNvPr id="36" name="Text 34"/>
          <p:cNvSpPr/>
          <p:nvPr/>
        </p:nvSpPr>
        <p:spPr>
          <a:xfrm>
            <a:off x="2880360" y="4352544"/>
            <a:ext cx="1600200" cy="201168"/>
          </a:xfrm>
          <a:prstGeom prst="rect">
            <a:avLst/>
          </a:prstGeom>
          <a:noFill/>
          <a:ln/>
        </p:spPr>
        <p:txBody>
          <a:bodyPr wrap="square" lIns="0" tIns="0" rIns="0" bIns="0" rtlCol="0" anchor="ctr"/>
          <a:lstStyle/>
          <a:p>
            <a:pPr marL="0" indent="0">
              <a:buNone/>
            </a:pPr>
            <a:r>
              <a:rPr lang="en-US" sz="750" dirty="0">
                <a:solidFill>
                  <a:srgbClr val="2ECC71"/>
                </a:solidFill>
              </a:rPr>
              <a:t>✓  Chain-of-custody documentation</a:t>
            </a:r>
            <a:endParaRPr lang="en-US" sz="750" dirty="0"/>
          </a:p>
        </p:txBody>
      </p:sp>
      <p:sp>
        <p:nvSpPr>
          <p:cNvPr id="37" name="Text 35"/>
          <p:cNvSpPr/>
          <p:nvPr/>
        </p:nvSpPr>
        <p:spPr>
          <a:xfrm>
            <a:off x="2880360" y="4572000"/>
            <a:ext cx="1600200" cy="201168"/>
          </a:xfrm>
          <a:prstGeom prst="rect">
            <a:avLst/>
          </a:prstGeom>
          <a:noFill/>
          <a:ln/>
        </p:spPr>
        <p:txBody>
          <a:bodyPr wrap="square" lIns="0" tIns="0" rIns="0" bIns="0" rtlCol="0" anchor="ctr"/>
          <a:lstStyle/>
          <a:p>
            <a:pPr marL="0" indent="0">
              <a:buNone/>
            </a:pPr>
            <a:r>
              <a:rPr lang="en-US" sz="750" dirty="0">
                <a:solidFill>
                  <a:srgbClr val="2ECC71"/>
                </a:solidFill>
              </a:rPr>
              <a:t>✓  Accepted by courts worldwide</a:t>
            </a:r>
            <a:endParaRPr lang="en-US" sz="750" dirty="0"/>
          </a:p>
        </p:txBody>
      </p:sp>
      <p:sp>
        <p:nvSpPr>
          <p:cNvPr id="38" name="Shape 36"/>
          <p:cNvSpPr/>
          <p:nvPr/>
        </p:nvSpPr>
        <p:spPr>
          <a:xfrm>
            <a:off x="4754880" y="3529584"/>
            <a:ext cx="4251960" cy="1316736"/>
          </a:xfrm>
          <a:prstGeom prst="rect">
            <a:avLst/>
          </a:prstGeom>
          <a:solidFill>
            <a:srgbClr val="EEF6FB"/>
          </a:solidFill>
          <a:ln w="12700">
            <a:solidFill>
              <a:srgbClr val="EEF6FB"/>
            </a:solidFill>
            <a:prstDash val="solid"/>
          </a:ln>
        </p:spPr>
        <p:txBody>
          <a:bodyPr/>
          <a:lstStyle/>
          <a:p>
            <a:endParaRPr lang="en-SG"/>
          </a:p>
        </p:txBody>
      </p:sp>
      <p:sp>
        <p:nvSpPr>
          <p:cNvPr id="39" name="Shape 37"/>
          <p:cNvSpPr/>
          <p:nvPr/>
        </p:nvSpPr>
        <p:spPr>
          <a:xfrm>
            <a:off x="4754880" y="3529584"/>
            <a:ext cx="109728" cy="1316736"/>
          </a:xfrm>
          <a:prstGeom prst="rect">
            <a:avLst/>
          </a:prstGeom>
          <a:solidFill>
            <a:srgbClr val="2ECC71"/>
          </a:solidFill>
          <a:ln w="12700">
            <a:solidFill>
              <a:srgbClr val="2ECC71"/>
            </a:solidFill>
            <a:prstDash val="solid"/>
          </a:ln>
        </p:spPr>
        <p:txBody>
          <a:bodyPr/>
          <a:lstStyle/>
          <a:p>
            <a:endParaRPr lang="en-SG"/>
          </a:p>
        </p:txBody>
      </p:sp>
      <p:sp>
        <p:nvSpPr>
          <p:cNvPr id="40" name="Text 38"/>
          <p:cNvSpPr/>
          <p:nvPr/>
        </p:nvSpPr>
        <p:spPr>
          <a:xfrm>
            <a:off x="4956048" y="3621024"/>
            <a:ext cx="2743200" cy="274320"/>
          </a:xfrm>
          <a:prstGeom prst="rect">
            <a:avLst/>
          </a:prstGeom>
          <a:noFill/>
          <a:ln/>
        </p:spPr>
        <p:txBody>
          <a:bodyPr wrap="square" lIns="0" tIns="0" rIns="0" bIns="0" rtlCol="0" anchor="ctr"/>
          <a:lstStyle/>
          <a:p>
            <a:pPr marL="0" indent="0">
              <a:buNone/>
            </a:pPr>
            <a:r>
              <a:rPr lang="en-US" sz="1150" b="1" dirty="0">
                <a:solidFill>
                  <a:srgbClr val="2ECC71"/>
                </a:solidFill>
              </a:rPr>
              <a:t>💿  FTK Imager</a:t>
            </a:r>
            <a:endParaRPr lang="en-US" sz="1150" dirty="0"/>
          </a:p>
        </p:txBody>
      </p:sp>
      <p:sp>
        <p:nvSpPr>
          <p:cNvPr id="41" name="Shape 39"/>
          <p:cNvSpPr/>
          <p:nvPr/>
        </p:nvSpPr>
        <p:spPr>
          <a:xfrm>
            <a:off x="7772400" y="3621024"/>
            <a:ext cx="1143000" cy="201168"/>
          </a:xfrm>
          <a:prstGeom prst="rect">
            <a:avLst/>
          </a:prstGeom>
          <a:solidFill>
            <a:srgbClr val="FFFFFF"/>
          </a:solidFill>
          <a:ln w="6350">
            <a:solidFill>
              <a:srgbClr val="2ECC71"/>
            </a:solidFill>
            <a:prstDash val="solid"/>
          </a:ln>
        </p:spPr>
        <p:txBody>
          <a:bodyPr/>
          <a:lstStyle/>
          <a:p>
            <a:endParaRPr lang="en-SG"/>
          </a:p>
        </p:txBody>
      </p:sp>
      <p:sp>
        <p:nvSpPr>
          <p:cNvPr id="42" name="Text 40"/>
          <p:cNvSpPr/>
          <p:nvPr/>
        </p:nvSpPr>
        <p:spPr>
          <a:xfrm>
            <a:off x="7772400" y="3621024"/>
            <a:ext cx="1143000" cy="201168"/>
          </a:xfrm>
          <a:prstGeom prst="rect">
            <a:avLst/>
          </a:prstGeom>
          <a:noFill/>
          <a:ln/>
        </p:spPr>
        <p:txBody>
          <a:bodyPr wrap="square" lIns="0" tIns="0" rIns="0" bIns="0" rtlCol="0" anchor="ctr"/>
          <a:lstStyle/>
          <a:p>
            <a:pPr marL="0" indent="0" algn="ctr">
              <a:buNone/>
            </a:pPr>
            <a:r>
              <a:rPr lang="en-US" sz="650" b="1" dirty="0">
                <a:solidFill>
                  <a:srgbClr val="2ECC71"/>
                </a:solidFill>
              </a:rPr>
              <a:t>Free — Exterro</a:t>
            </a:r>
            <a:endParaRPr lang="en-US" sz="650" dirty="0"/>
          </a:p>
        </p:txBody>
      </p:sp>
      <p:sp>
        <p:nvSpPr>
          <p:cNvPr id="43" name="Text 41"/>
          <p:cNvSpPr/>
          <p:nvPr/>
        </p:nvSpPr>
        <p:spPr>
          <a:xfrm>
            <a:off x="4956048" y="3931920"/>
            <a:ext cx="2267712" cy="822960"/>
          </a:xfrm>
          <a:prstGeom prst="rect">
            <a:avLst/>
          </a:prstGeom>
          <a:noFill/>
          <a:ln/>
        </p:spPr>
        <p:txBody>
          <a:bodyPr wrap="square" lIns="0" tIns="0" rIns="0" bIns="0" rtlCol="0" anchor="ctr"/>
          <a:lstStyle/>
          <a:p>
            <a:pPr marL="0" indent="0">
              <a:buNone/>
            </a:pPr>
            <a:r>
              <a:rPr lang="en-US" sz="800" dirty="0">
                <a:solidFill>
                  <a:srgbClr val="1A1A2E"/>
                </a:solidFill>
              </a:rPr>
              <a:t>A free, portable imaging tool. Creates forensic images in multiple formats and previews evidence without full FTK. Standard in field acquisition kits.</a:t>
            </a:r>
            <a:endParaRPr lang="en-US" sz="800" dirty="0"/>
          </a:p>
        </p:txBody>
      </p:sp>
      <p:sp>
        <p:nvSpPr>
          <p:cNvPr id="44" name="Text 42"/>
          <p:cNvSpPr/>
          <p:nvPr/>
        </p:nvSpPr>
        <p:spPr>
          <a:xfrm>
            <a:off x="7315200" y="3913632"/>
            <a:ext cx="1600200" cy="201168"/>
          </a:xfrm>
          <a:prstGeom prst="rect">
            <a:avLst/>
          </a:prstGeom>
          <a:noFill/>
          <a:ln/>
        </p:spPr>
        <p:txBody>
          <a:bodyPr wrap="square" lIns="0" tIns="0" rIns="0" bIns="0" rtlCol="0" anchor="ctr"/>
          <a:lstStyle/>
          <a:p>
            <a:pPr marL="0" indent="0">
              <a:buNone/>
            </a:pPr>
            <a:r>
              <a:rPr lang="en-US" sz="750" dirty="0">
                <a:solidFill>
                  <a:srgbClr val="2ECC71"/>
                </a:solidFill>
              </a:rPr>
              <a:t>✓  Free and lightweight</a:t>
            </a:r>
            <a:endParaRPr lang="en-US" sz="750" dirty="0"/>
          </a:p>
        </p:txBody>
      </p:sp>
      <p:sp>
        <p:nvSpPr>
          <p:cNvPr id="45" name="Text 43"/>
          <p:cNvSpPr/>
          <p:nvPr/>
        </p:nvSpPr>
        <p:spPr>
          <a:xfrm>
            <a:off x="7315200" y="4133088"/>
            <a:ext cx="1600200" cy="201168"/>
          </a:xfrm>
          <a:prstGeom prst="rect">
            <a:avLst/>
          </a:prstGeom>
          <a:noFill/>
          <a:ln/>
        </p:spPr>
        <p:txBody>
          <a:bodyPr wrap="square" lIns="0" tIns="0" rIns="0" bIns="0" rtlCol="0" anchor="ctr"/>
          <a:lstStyle/>
          <a:p>
            <a:pPr marL="0" indent="0">
              <a:buNone/>
            </a:pPr>
            <a:r>
              <a:rPr lang="en-US" sz="750" dirty="0">
                <a:solidFill>
                  <a:srgbClr val="2ECC71"/>
                </a:solidFill>
              </a:rPr>
              <a:t>✓  Creates E01, raw, AFF images</a:t>
            </a:r>
            <a:endParaRPr lang="en-US" sz="750" dirty="0"/>
          </a:p>
        </p:txBody>
      </p:sp>
      <p:sp>
        <p:nvSpPr>
          <p:cNvPr id="46" name="Text 44"/>
          <p:cNvSpPr/>
          <p:nvPr/>
        </p:nvSpPr>
        <p:spPr>
          <a:xfrm>
            <a:off x="7315200" y="4352544"/>
            <a:ext cx="1600200" cy="201168"/>
          </a:xfrm>
          <a:prstGeom prst="rect">
            <a:avLst/>
          </a:prstGeom>
          <a:noFill/>
          <a:ln/>
        </p:spPr>
        <p:txBody>
          <a:bodyPr wrap="square" lIns="0" tIns="0" rIns="0" bIns="0" rtlCol="0" anchor="ctr"/>
          <a:lstStyle/>
          <a:p>
            <a:pPr marL="0" indent="0">
              <a:buNone/>
            </a:pPr>
            <a:r>
              <a:rPr lang="en-US" sz="750" dirty="0">
                <a:solidFill>
                  <a:srgbClr val="2ECC71"/>
                </a:solidFill>
              </a:rPr>
              <a:t>✓  Live preview available</a:t>
            </a:r>
            <a:endParaRPr lang="en-US" sz="750" dirty="0"/>
          </a:p>
        </p:txBody>
      </p:sp>
      <p:sp>
        <p:nvSpPr>
          <p:cNvPr id="47" name="Text 45"/>
          <p:cNvSpPr/>
          <p:nvPr/>
        </p:nvSpPr>
        <p:spPr>
          <a:xfrm>
            <a:off x="7315200" y="4572000"/>
            <a:ext cx="1600200" cy="201168"/>
          </a:xfrm>
          <a:prstGeom prst="rect">
            <a:avLst/>
          </a:prstGeom>
          <a:noFill/>
          <a:ln/>
        </p:spPr>
        <p:txBody>
          <a:bodyPr wrap="square" lIns="0" tIns="0" rIns="0" bIns="0" rtlCol="0" anchor="ctr"/>
          <a:lstStyle/>
          <a:p>
            <a:pPr marL="0" indent="0">
              <a:buNone/>
            </a:pPr>
            <a:r>
              <a:rPr lang="en-US" sz="750" dirty="0">
                <a:solidFill>
                  <a:srgbClr val="2ECC71"/>
                </a:solidFill>
              </a:rPr>
              <a:t>✓  Verifies integrity on creation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267712"/>
            <a:ext cx="9144000" cy="64008"/>
          </a:xfrm>
          <a:prstGeom prst="rect">
            <a:avLst/>
          </a:prstGeom>
          <a:solidFill>
            <a:srgbClr val="2ECC71"/>
          </a:solidFill>
          <a:ln w="12700">
            <a:solidFill>
              <a:srgbClr val="2ECC71"/>
            </a:solidFill>
            <a:prstDash val="solid"/>
          </a:ln>
        </p:spPr>
        <p:txBody>
          <a:bodyPr/>
          <a:lstStyle/>
          <a:p>
            <a:endParaRPr lang="en-SG"/>
          </a:p>
        </p:txBody>
      </p:sp>
      <p:sp>
        <p:nvSpPr>
          <p:cNvPr id="3" name="Text 1"/>
          <p:cNvSpPr/>
          <p:nvPr/>
        </p:nvSpPr>
        <p:spPr>
          <a:xfrm>
            <a:off x="457200" y="1298448"/>
            <a:ext cx="8229600" cy="402336"/>
          </a:xfrm>
          <a:prstGeom prst="rect">
            <a:avLst/>
          </a:prstGeom>
          <a:noFill/>
          <a:ln/>
        </p:spPr>
        <p:txBody>
          <a:bodyPr wrap="square" lIns="0" tIns="0" rIns="0" bIns="0" rtlCol="0" anchor="ctr"/>
          <a:lstStyle/>
          <a:p>
            <a:pPr marL="0" indent="0" algn="ctr">
              <a:buNone/>
            </a:pPr>
            <a:r>
              <a:rPr lang="en-US" sz="1300" b="1" kern="0" spc="800" dirty="0">
                <a:solidFill>
                  <a:srgbClr val="2ECC71"/>
                </a:solidFill>
              </a:rPr>
              <a:t>SECTION 3</a:t>
            </a:r>
            <a:endParaRPr lang="en-US" sz="1300" dirty="0"/>
          </a:p>
        </p:txBody>
      </p:sp>
      <p:sp>
        <p:nvSpPr>
          <p:cNvPr id="4" name="Text 2"/>
          <p:cNvSpPr/>
          <p:nvPr/>
        </p:nvSpPr>
        <p:spPr>
          <a:xfrm>
            <a:off x="457200" y="1700784"/>
            <a:ext cx="8229600" cy="786384"/>
          </a:xfrm>
          <a:prstGeom prst="rect">
            <a:avLst/>
          </a:prstGeom>
          <a:noFill/>
          <a:ln/>
        </p:spPr>
        <p:txBody>
          <a:bodyPr wrap="square" lIns="0" tIns="0" rIns="0" bIns="0" rtlCol="0" anchor="ctr"/>
          <a:lstStyle/>
          <a:p>
            <a:pPr marL="0" indent="0" algn="ctr">
              <a:buNone/>
            </a:pPr>
            <a:r>
              <a:rPr lang="en-US" sz="5200" b="1" dirty="0">
                <a:solidFill>
                  <a:srgbClr val="1A1A2E"/>
                </a:solidFill>
              </a:rPr>
              <a:t>Data Carving</a:t>
            </a:r>
            <a:endParaRPr lang="en-US" sz="5200" dirty="0"/>
          </a:p>
        </p:txBody>
      </p:sp>
      <p:sp>
        <p:nvSpPr>
          <p:cNvPr id="5" name="Text 3"/>
          <p:cNvSpPr/>
          <p:nvPr/>
        </p:nvSpPr>
        <p:spPr>
          <a:xfrm>
            <a:off x="457200" y="3200400"/>
            <a:ext cx="8229600" cy="402336"/>
          </a:xfrm>
          <a:prstGeom prst="rect">
            <a:avLst/>
          </a:prstGeom>
          <a:noFill/>
          <a:ln/>
        </p:spPr>
        <p:txBody>
          <a:bodyPr wrap="square" lIns="0" tIns="0" rIns="0" bIns="0" rtlCol="0" anchor="ctr"/>
          <a:lstStyle/>
          <a:p>
            <a:pPr marL="0" indent="0" algn="ctr">
              <a:buNone/>
            </a:pPr>
            <a:r>
              <a:rPr lang="en-US" sz="1300" i="1" dirty="0">
                <a:solidFill>
                  <a:srgbClr val="8899AA"/>
                </a:solidFill>
              </a:rPr>
              <a:t>Recovering files from raw images using file signatures — even when directory entries are gone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82419"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799539" cy="256032"/>
          </a:xfrm>
          <a:prstGeom prst="rect">
            <a:avLst/>
          </a:prstGeom>
          <a:noFill/>
          <a:ln/>
        </p:spPr>
        <p:txBody>
          <a:bodyPr wrap="square" lIns="0" tIns="0" rIns="0" bIns="0" rtlCol="0" anchor="ctr"/>
          <a:lstStyle/>
          <a:p>
            <a:pPr marL="0" indent="0">
              <a:buNone/>
            </a:pPr>
            <a:r>
              <a:rPr lang="en-US" sz="850" b="1" dirty="0">
                <a:solidFill>
                  <a:srgbClr val="0D1B2A"/>
                </a:solidFill>
              </a:rPr>
              <a:t>SECTION 3 · DATA CARVING</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Data Carving: How Deletion Really Works</a:t>
            </a:r>
            <a:endParaRPr lang="en-US" sz="2800" dirty="0"/>
          </a:p>
        </p:txBody>
      </p:sp>
      <p:sp>
        <p:nvSpPr>
          <p:cNvPr id="5" name="Shape 3"/>
          <p:cNvSpPr/>
          <p:nvPr/>
        </p:nvSpPr>
        <p:spPr>
          <a:xfrm>
            <a:off x="320040" y="1188720"/>
            <a:ext cx="8503920" cy="36576"/>
          </a:xfrm>
          <a:prstGeom prst="rect">
            <a:avLst/>
          </a:prstGeom>
          <a:solidFill>
            <a:srgbClr val="2ECC71"/>
          </a:solidFill>
          <a:ln w="12700">
            <a:solidFill>
              <a:srgbClr val="2ECC71"/>
            </a:solidFill>
            <a:prstDash val="solid"/>
          </a:ln>
        </p:spPr>
        <p:txBody>
          <a:bodyPr/>
          <a:lstStyle/>
          <a:p>
            <a:endParaRPr lang="en-SG"/>
          </a:p>
        </p:txBody>
      </p:sp>
      <p:sp>
        <p:nvSpPr>
          <p:cNvPr id="6" name="Shape 4"/>
          <p:cNvSpPr/>
          <p:nvPr/>
        </p:nvSpPr>
        <p:spPr>
          <a:xfrm>
            <a:off x="320040" y="1298448"/>
            <a:ext cx="8503920" cy="640080"/>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98448"/>
            <a:ext cx="109728" cy="640080"/>
          </a:xfrm>
          <a:prstGeom prst="rect">
            <a:avLst/>
          </a:prstGeom>
          <a:solidFill>
            <a:srgbClr val="2ECC71"/>
          </a:solidFill>
          <a:ln w="12700">
            <a:solidFill>
              <a:srgbClr val="2ECC71"/>
            </a:solidFill>
            <a:prstDash val="solid"/>
          </a:ln>
        </p:spPr>
        <p:txBody>
          <a:bodyPr/>
          <a:lstStyle/>
          <a:p>
            <a:endParaRPr lang="en-SG"/>
          </a:p>
        </p:txBody>
      </p:sp>
      <p:sp>
        <p:nvSpPr>
          <p:cNvPr id="8" name="Text 6"/>
          <p:cNvSpPr/>
          <p:nvPr/>
        </p:nvSpPr>
        <p:spPr>
          <a:xfrm>
            <a:off x="512064" y="1353312"/>
            <a:ext cx="8229600" cy="237744"/>
          </a:xfrm>
          <a:prstGeom prst="rect">
            <a:avLst/>
          </a:prstGeom>
          <a:noFill/>
          <a:ln/>
        </p:spPr>
        <p:txBody>
          <a:bodyPr wrap="square" lIns="0" tIns="0" rIns="0" bIns="0" rtlCol="0" anchor="ctr"/>
          <a:lstStyle/>
          <a:p>
            <a:pPr marL="0" indent="0">
              <a:buNone/>
            </a:pPr>
            <a:r>
              <a:rPr lang="en-US" sz="1100" b="1" dirty="0">
                <a:solidFill>
                  <a:srgbClr val="2ECC71"/>
                </a:solidFill>
              </a:rPr>
              <a:t>What is Data Carving?</a:t>
            </a:r>
            <a:endParaRPr lang="en-US" sz="1100" dirty="0"/>
          </a:p>
        </p:txBody>
      </p:sp>
      <p:sp>
        <p:nvSpPr>
          <p:cNvPr id="9" name="Text 7"/>
          <p:cNvSpPr/>
          <p:nvPr/>
        </p:nvSpPr>
        <p:spPr>
          <a:xfrm>
            <a:off x="512064" y="1609344"/>
            <a:ext cx="8046720" cy="274320"/>
          </a:xfrm>
          <a:prstGeom prst="rect">
            <a:avLst/>
          </a:prstGeom>
          <a:noFill/>
          <a:ln/>
        </p:spPr>
        <p:txBody>
          <a:bodyPr wrap="square" lIns="0" tIns="0" rIns="0" bIns="0" rtlCol="0" anchor="ctr"/>
          <a:lstStyle/>
          <a:p>
            <a:pPr marL="0" indent="0">
              <a:buNone/>
            </a:pPr>
            <a:r>
              <a:rPr lang="en-US" sz="950" dirty="0">
                <a:solidFill>
                  <a:srgbClr val="1A1A2E"/>
                </a:solidFill>
              </a:rPr>
              <a:t>Data carving reconstructs files from raw disk image bytes using known file signatures (magic numbers) — without needing the file system directory structure. It is the primary technique for recovering deleted files whose directory entries have been removed.</a:t>
            </a:r>
            <a:endParaRPr lang="en-US" sz="950" dirty="0"/>
          </a:p>
        </p:txBody>
      </p:sp>
      <p:sp>
        <p:nvSpPr>
          <p:cNvPr id="10" name="Text 8"/>
          <p:cNvSpPr/>
          <p:nvPr/>
        </p:nvSpPr>
        <p:spPr>
          <a:xfrm>
            <a:off x="320040" y="2048256"/>
            <a:ext cx="8503920" cy="274320"/>
          </a:xfrm>
          <a:prstGeom prst="rect">
            <a:avLst/>
          </a:prstGeom>
          <a:noFill/>
          <a:ln/>
        </p:spPr>
        <p:txBody>
          <a:bodyPr wrap="square" lIns="0" tIns="0" rIns="0" bIns="0" rtlCol="0" anchor="ctr"/>
          <a:lstStyle/>
          <a:p>
            <a:pPr marL="0" indent="0">
              <a:buNone/>
            </a:pPr>
            <a:r>
              <a:rPr lang="en-US" sz="1300" b="1" dirty="0">
                <a:solidFill>
                  <a:srgbClr val="1A1A2E"/>
                </a:solidFill>
              </a:rPr>
              <a:t>Why Deleted Files Remain Recoverable</a:t>
            </a:r>
            <a:endParaRPr lang="en-US" sz="1300" dirty="0"/>
          </a:p>
        </p:txBody>
      </p:sp>
      <p:sp>
        <p:nvSpPr>
          <p:cNvPr id="11" name="Shape 9"/>
          <p:cNvSpPr/>
          <p:nvPr/>
        </p:nvSpPr>
        <p:spPr>
          <a:xfrm>
            <a:off x="320040" y="2395728"/>
            <a:ext cx="4096512" cy="2377440"/>
          </a:xfrm>
          <a:prstGeom prst="rect">
            <a:avLst/>
          </a:prstGeom>
          <a:solidFill>
            <a:srgbClr val="EEF6FB"/>
          </a:solidFill>
          <a:ln w="12700">
            <a:solidFill>
              <a:srgbClr val="EEF6FB"/>
            </a:solidFill>
            <a:prstDash val="solid"/>
          </a:ln>
        </p:spPr>
        <p:txBody>
          <a:bodyPr/>
          <a:lstStyle/>
          <a:p>
            <a:endParaRPr lang="en-SG"/>
          </a:p>
        </p:txBody>
      </p:sp>
      <p:sp>
        <p:nvSpPr>
          <p:cNvPr id="12" name="Shape 10"/>
          <p:cNvSpPr/>
          <p:nvPr/>
        </p:nvSpPr>
        <p:spPr>
          <a:xfrm>
            <a:off x="320040" y="2395728"/>
            <a:ext cx="4096512" cy="64008"/>
          </a:xfrm>
          <a:prstGeom prst="rect">
            <a:avLst/>
          </a:prstGeom>
          <a:solidFill>
            <a:srgbClr val="00B4D8"/>
          </a:solidFill>
          <a:ln w="12700">
            <a:solidFill>
              <a:srgbClr val="00B4D8"/>
            </a:solidFill>
            <a:prstDash val="solid"/>
          </a:ln>
        </p:spPr>
        <p:txBody>
          <a:bodyPr/>
          <a:lstStyle/>
          <a:p>
            <a:endParaRPr lang="en-SG"/>
          </a:p>
        </p:txBody>
      </p:sp>
      <p:sp>
        <p:nvSpPr>
          <p:cNvPr id="13" name="Text 11"/>
          <p:cNvSpPr/>
          <p:nvPr/>
        </p:nvSpPr>
        <p:spPr>
          <a:xfrm>
            <a:off x="457200" y="2505456"/>
            <a:ext cx="3840480" cy="256032"/>
          </a:xfrm>
          <a:prstGeom prst="rect">
            <a:avLst/>
          </a:prstGeom>
          <a:noFill/>
          <a:ln/>
        </p:spPr>
        <p:txBody>
          <a:bodyPr wrap="square" lIns="0" tIns="0" rIns="0" bIns="0" rtlCol="0" anchor="ctr"/>
          <a:lstStyle/>
          <a:p>
            <a:pPr marL="0" indent="0">
              <a:buNone/>
            </a:pPr>
            <a:r>
              <a:rPr lang="en-US" sz="1100" b="1" dirty="0">
                <a:solidFill>
                  <a:srgbClr val="00B4D8"/>
                </a:solidFill>
              </a:rPr>
              <a:t>🖴  Active File System</a:t>
            </a:r>
            <a:endParaRPr lang="en-US" sz="1100" dirty="0"/>
          </a:p>
        </p:txBody>
      </p:sp>
      <p:sp>
        <p:nvSpPr>
          <p:cNvPr id="14" name="Shape 12"/>
          <p:cNvSpPr/>
          <p:nvPr/>
        </p:nvSpPr>
        <p:spPr>
          <a:xfrm>
            <a:off x="457200" y="2834640"/>
            <a:ext cx="3749040" cy="420624"/>
          </a:xfrm>
          <a:prstGeom prst="rect">
            <a:avLst/>
          </a:prstGeom>
          <a:solidFill>
            <a:srgbClr val="FFFFFF"/>
          </a:solidFill>
          <a:ln w="9525">
            <a:solidFill>
              <a:srgbClr val="2ECC71"/>
            </a:solidFill>
            <a:prstDash val="solid"/>
          </a:ln>
        </p:spPr>
        <p:txBody>
          <a:bodyPr/>
          <a:lstStyle/>
          <a:p>
            <a:endParaRPr lang="en-SG"/>
          </a:p>
        </p:txBody>
      </p:sp>
      <p:sp>
        <p:nvSpPr>
          <p:cNvPr id="15" name="Text 13"/>
          <p:cNvSpPr/>
          <p:nvPr/>
        </p:nvSpPr>
        <p:spPr>
          <a:xfrm>
            <a:off x="530352" y="2852928"/>
            <a:ext cx="1645920" cy="182880"/>
          </a:xfrm>
          <a:prstGeom prst="rect">
            <a:avLst/>
          </a:prstGeom>
          <a:noFill/>
          <a:ln/>
        </p:spPr>
        <p:txBody>
          <a:bodyPr wrap="square" lIns="0" tIns="0" rIns="0" bIns="0" rtlCol="0" anchor="ctr"/>
          <a:lstStyle/>
          <a:p>
            <a:pPr marL="0" indent="0">
              <a:buNone/>
            </a:pPr>
            <a:r>
              <a:rPr lang="en-US" sz="800" b="1" dirty="0">
                <a:solidFill>
                  <a:srgbClr val="2ECC71"/>
                </a:solidFill>
              </a:rPr>
              <a:t>MFT / FAT Entry</a:t>
            </a:r>
            <a:endParaRPr lang="en-US" sz="800" dirty="0"/>
          </a:p>
        </p:txBody>
      </p:sp>
      <p:sp>
        <p:nvSpPr>
          <p:cNvPr id="16" name="Text 14"/>
          <p:cNvSpPr/>
          <p:nvPr/>
        </p:nvSpPr>
        <p:spPr>
          <a:xfrm>
            <a:off x="530352" y="3017520"/>
            <a:ext cx="3566160" cy="182880"/>
          </a:xfrm>
          <a:prstGeom prst="rect">
            <a:avLst/>
          </a:prstGeom>
          <a:noFill/>
          <a:ln/>
        </p:spPr>
        <p:txBody>
          <a:bodyPr wrap="square" lIns="0" tIns="0" rIns="0" bIns="0" rtlCol="0" anchor="ctr"/>
          <a:lstStyle/>
          <a:p>
            <a:pPr marL="0" indent="0">
              <a:buNone/>
            </a:pPr>
            <a:r>
              <a:rPr lang="en-US" sz="750" dirty="0">
                <a:solidFill>
                  <a:srgbClr val="1A1A2E"/>
                </a:solidFill>
                <a:latin typeface="Consolas" pitchFamily="34" charset="0"/>
                <a:ea typeface="Consolas" pitchFamily="34" charset="-122"/>
                <a:cs typeface="Consolas" pitchFamily="34" charset="-120"/>
              </a:rPr>
              <a:t>photo.jpg   offset: 0x06946000   size: 2192 bytes</a:t>
            </a:r>
            <a:endParaRPr lang="en-US" sz="750" dirty="0"/>
          </a:p>
        </p:txBody>
      </p:sp>
      <p:sp>
        <p:nvSpPr>
          <p:cNvPr id="17" name="Text 15"/>
          <p:cNvSpPr/>
          <p:nvPr/>
        </p:nvSpPr>
        <p:spPr>
          <a:xfrm>
            <a:off x="2011680" y="3273552"/>
            <a:ext cx="457200" cy="237744"/>
          </a:xfrm>
          <a:prstGeom prst="rect">
            <a:avLst/>
          </a:prstGeom>
          <a:noFill/>
          <a:ln/>
        </p:spPr>
        <p:txBody>
          <a:bodyPr wrap="square" lIns="0" tIns="0" rIns="0" bIns="0" rtlCol="0" anchor="ctr"/>
          <a:lstStyle/>
          <a:p>
            <a:pPr marL="0" indent="0" algn="ctr">
              <a:buNone/>
            </a:pPr>
            <a:r>
              <a:rPr lang="en-US" sz="1400" dirty="0">
                <a:solidFill>
                  <a:srgbClr val="2ECC71"/>
                </a:solidFill>
              </a:rPr>
              <a:t>↓</a:t>
            </a:r>
            <a:endParaRPr lang="en-US" sz="1400" dirty="0"/>
          </a:p>
        </p:txBody>
      </p:sp>
      <p:sp>
        <p:nvSpPr>
          <p:cNvPr id="18" name="Shape 16"/>
          <p:cNvSpPr/>
          <p:nvPr/>
        </p:nvSpPr>
        <p:spPr>
          <a:xfrm>
            <a:off x="457200" y="3529584"/>
            <a:ext cx="3749040" cy="246888"/>
          </a:xfrm>
          <a:prstGeom prst="rect">
            <a:avLst/>
          </a:prstGeom>
          <a:solidFill>
            <a:srgbClr val="FFFFFF"/>
          </a:solidFill>
          <a:ln w="3175">
            <a:solidFill>
              <a:srgbClr val="E2E8F0"/>
            </a:solidFill>
            <a:prstDash val="solid"/>
          </a:ln>
        </p:spPr>
        <p:txBody>
          <a:bodyPr/>
          <a:lstStyle/>
          <a:p>
            <a:endParaRPr lang="en-SG"/>
          </a:p>
        </p:txBody>
      </p:sp>
      <p:sp>
        <p:nvSpPr>
          <p:cNvPr id="19" name="Text 17"/>
          <p:cNvSpPr/>
          <p:nvPr/>
        </p:nvSpPr>
        <p:spPr>
          <a:xfrm>
            <a:off x="566928" y="3547872"/>
            <a:ext cx="3566160" cy="201168"/>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FF D8 FF E0  (JPEG Header)</a:t>
            </a:r>
            <a:endParaRPr lang="en-US" sz="800" dirty="0"/>
          </a:p>
        </p:txBody>
      </p:sp>
      <p:sp>
        <p:nvSpPr>
          <p:cNvPr id="20" name="Shape 18"/>
          <p:cNvSpPr/>
          <p:nvPr/>
        </p:nvSpPr>
        <p:spPr>
          <a:xfrm>
            <a:off x="457200" y="3803904"/>
            <a:ext cx="3749040" cy="246888"/>
          </a:xfrm>
          <a:prstGeom prst="rect">
            <a:avLst/>
          </a:prstGeom>
          <a:solidFill>
            <a:srgbClr val="FFFFFF"/>
          </a:solidFill>
          <a:ln w="3175">
            <a:solidFill>
              <a:srgbClr val="E2E8F0"/>
            </a:solidFill>
            <a:prstDash val="solid"/>
          </a:ln>
        </p:spPr>
        <p:txBody>
          <a:bodyPr/>
          <a:lstStyle/>
          <a:p>
            <a:endParaRPr lang="en-SG"/>
          </a:p>
        </p:txBody>
      </p:sp>
      <p:sp>
        <p:nvSpPr>
          <p:cNvPr id="21" name="Text 19"/>
          <p:cNvSpPr/>
          <p:nvPr/>
        </p:nvSpPr>
        <p:spPr>
          <a:xfrm>
            <a:off x="566928" y="3822192"/>
            <a:ext cx="3566160" cy="201168"/>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 image data bytes ...</a:t>
            </a:r>
            <a:endParaRPr lang="en-US" sz="800" dirty="0"/>
          </a:p>
        </p:txBody>
      </p:sp>
      <p:sp>
        <p:nvSpPr>
          <p:cNvPr id="22" name="Shape 20"/>
          <p:cNvSpPr/>
          <p:nvPr/>
        </p:nvSpPr>
        <p:spPr>
          <a:xfrm>
            <a:off x="457200" y="4078224"/>
            <a:ext cx="3749040" cy="246888"/>
          </a:xfrm>
          <a:prstGeom prst="rect">
            <a:avLst/>
          </a:prstGeom>
          <a:solidFill>
            <a:srgbClr val="FFFFFF"/>
          </a:solidFill>
          <a:ln w="3175">
            <a:solidFill>
              <a:srgbClr val="E2E8F0"/>
            </a:solidFill>
            <a:prstDash val="solid"/>
          </a:ln>
        </p:spPr>
        <p:txBody>
          <a:bodyPr/>
          <a:lstStyle/>
          <a:p>
            <a:endParaRPr lang="en-SG"/>
          </a:p>
        </p:txBody>
      </p:sp>
      <p:sp>
        <p:nvSpPr>
          <p:cNvPr id="23" name="Text 21"/>
          <p:cNvSpPr/>
          <p:nvPr/>
        </p:nvSpPr>
        <p:spPr>
          <a:xfrm>
            <a:off x="566928" y="4096512"/>
            <a:ext cx="3566160" cy="201168"/>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 image data bytes ...</a:t>
            </a:r>
            <a:endParaRPr lang="en-US" sz="800" dirty="0"/>
          </a:p>
        </p:txBody>
      </p:sp>
      <p:sp>
        <p:nvSpPr>
          <p:cNvPr id="24" name="Shape 22"/>
          <p:cNvSpPr/>
          <p:nvPr/>
        </p:nvSpPr>
        <p:spPr>
          <a:xfrm>
            <a:off x="457200" y="4352544"/>
            <a:ext cx="3749040" cy="246888"/>
          </a:xfrm>
          <a:prstGeom prst="rect">
            <a:avLst/>
          </a:prstGeom>
          <a:solidFill>
            <a:srgbClr val="FFFFFF"/>
          </a:solidFill>
          <a:ln w="3175">
            <a:solidFill>
              <a:srgbClr val="E2E8F0"/>
            </a:solidFill>
            <a:prstDash val="solid"/>
          </a:ln>
        </p:spPr>
        <p:txBody>
          <a:bodyPr/>
          <a:lstStyle/>
          <a:p>
            <a:endParaRPr lang="en-SG"/>
          </a:p>
        </p:txBody>
      </p:sp>
      <p:sp>
        <p:nvSpPr>
          <p:cNvPr id="25" name="Text 23"/>
          <p:cNvSpPr/>
          <p:nvPr/>
        </p:nvSpPr>
        <p:spPr>
          <a:xfrm>
            <a:off x="566928" y="4370832"/>
            <a:ext cx="3566160" cy="201168"/>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FF D9  (JPEG Footer)</a:t>
            </a:r>
            <a:endParaRPr lang="en-US" sz="800" dirty="0"/>
          </a:p>
        </p:txBody>
      </p:sp>
      <p:sp>
        <p:nvSpPr>
          <p:cNvPr id="26" name="Shape 24"/>
          <p:cNvSpPr/>
          <p:nvPr/>
        </p:nvSpPr>
        <p:spPr>
          <a:xfrm>
            <a:off x="4681728" y="2395728"/>
            <a:ext cx="4096512" cy="2377440"/>
          </a:xfrm>
          <a:prstGeom prst="rect">
            <a:avLst/>
          </a:prstGeom>
          <a:solidFill>
            <a:srgbClr val="EEF6FB"/>
          </a:solidFill>
          <a:ln w="12700">
            <a:solidFill>
              <a:srgbClr val="EEF6FB"/>
            </a:solidFill>
            <a:prstDash val="solid"/>
          </a:ln>
        </p:spPr>
        <p:txBody>
          <a:bodyPr/>
          <a:lstStyle/>
          <a:p>
            <a:endParaRPr lang="en-SG"/>
          </a:p>
        </p:txBody>
      </p:sp>
      <p:sp>
        <p:nvSpPr>
          <p:cNvPr id="27" name="Shape 25"/>
          <p:cNvSpPr/>
          <p:nvPr/>
        </p:nvSpPr>
        <p:spPr>
          <a:xfrm>
            <a:off x="4681728" y="2395728"/>
            <a:ext cx="4096512" cy="64008"/>
          </a:xfrm>
          <a:prstGeom prst="rect">
            <a:avLst/>
          </a:prstGeom>
          <a:solidFill>
            <a:srgbClr val="F4A261"/>
          </a:solidFill>
          <a:ln w="12700">
            <a:solidFill>
              <a:srgbClr val="F4A261"/>
            </a:solidFill>
            <a:prstDash val="solid"/>
          </a:ln>
        </p:spPr>
        <p:txBody>
          <a:bodyPr/>
          <a:lstStyle/>
          <a:p>
            <a:endParaRPr lang="en-SG"/>
          </a:p>
        </p:txBody>
      </p:sp>
      <p:sp>
        <p:nvSpPr>
          <p:cNvPr id="28" name="Text 26"/>
          <p:cNvSpPr/>
          <p:nvPr/>
        </p:nvSpPr>
        <p:spPr>
          <a:xfrm>
            <a:off x="4818888" y="2505456"/>
            <a:ext cx="3840480" cy="256032"/>
          </a:xfrm>
          <a:prstGeom prst="rect">
            <a:avLst/>
          </a:prstGeom>
          <a:noFill/>
          <a:ln/>
        </p:spPr>
        <p:txBody>
          <a:bodyPr wrap="square" lIns="0" tIns="0" rIns="0" bIns="0" rtlCol="0" anchor="ctr"/>
          <a:lstStyle/>
          <a:p>
            <a:pPr marL="0" indent="0">
              <a:buNone/>
            </a:pPr>
            <a:r>
              <a:rPr lang="en-US" sz="1100" b="1" dirty="0">
                <a:solidFill>
                  <a:srgbClr val="F4A261"/>
                </a:solidFill>
              </a:rPr>
              <a:t>🗑️  After Deletion</a:t>
            </a:r>
            <a:endParaRPr lang="en-US" sz="1100" dirty="0"/>
          </a:p>
        </p:txBody>
      </p:sp>
      <p:sp>
        <p:nvSpPr>
          <p:cNvPr id="29" name="Shape 27"/>
          <p:cNvSpPr/>
          <p:nvPr/>
        </p:nvSpPr>
        <p:spPr>
          <a:xfrm>
            <a:off x="4818888" y="2834640"/>
            <a:ext cx="3749040" cy="420624"/>
          </a:xfrm>
          <a:prstGeom prst="rect">
            <a:avLst/>
          </a:prstGeom>
          <a:solidFill>
            <a:srgbClr val="FFFFFF"/>
          </a:solidFill>
          <a:ln w="9525">
            <a:solidFill>
              <a:srgbClr val="E74C3C"/>
            </a:solidFill>
            <a:prstDash val="solid"/>
          </a:ln>
        </p:spPr>
        <p:txBody>
          <a:bodyPr/>
          <a:lstStyle/>
          <a:p>
            <a:endParaRPr lang="en-SG"/>
          </a:p>
        </p:txBody>
      </p:sp>
      <p:sp>
        <p:nvSpPr>
          <p:cNvPr id="30" name="Text 28"/>
          <p:cNvSpPr/>
          <p:nvPr/>
        </p:nvSpPr>
        <p:spPr>
          <a:xfrm>
            <a:off x="4892040" y="2852928"/>
            <a:ext cx="3566160" cy="182880"/>
          </a:xfrm>
          <a:prstGeom prst="rect">
            <a:avLst/>
          </a:prstGeom>
          <a:noFill/>
          <a:ln/>
        </p:spPr>
        <p:txBody>
          <a:bodyPr wrap="square" lIns="0" tIns="0" rIns="0" bIns="0" rtlCol="0" anchor="ctr"/>
          <a:lstStyle/>
          <a:p>
            <a:pPr marL="0" indent="0">
              <a:buNone/>
            </a:pPr>
            <a:r>
              <a:rPr lang="en-US" sz="800" b="1" dirty="0">
                <a:solidFill>
                  <a:srgbClr val="E74C3C"/>
                </a:solidFill>
              </a:rPr>
              <a:t>MFT / FAT Entry  ✖  DELETED</a:t>
            </a:r>
            <a:endParaRPr lang="en-US" sz="800" dirty="0"/>
          </a:p>
        </p:txBody>
      </p:sp>
      <p:sp>
        <p:nvSpPr>
          <p:cNvPr id="31" name="Text 29"/>
          <p:cNvSpPr/>
          <p:nvPr/>
        </p:nvSpPr>
        <p:spPr>
          <a:xfrm>
            <a:off x="4892040" y="3017520"/>
            <a:ext cx="3566160" cy="182880"/>
          </a:xfrm>
          <a:prstGeom prst="rect">
            <a:avLst/>
          </a:prstGeom>
          <a:noFill/>
          <a:ln/>
        </p:spPr>
        <p:txBody>
          <a:bodyPr wrap="square" lIns="0" tIns="0" rIns="0" bIns="0" rtlCol="0" anchor="ctr"/>
          <a:lstStyle/>
          <a:p>
            <a:pPr marL="0" indent="0">
              <a:buNone/>
            </a:pPr>
            <a:r>
              <a:rPr lang="en-US" sz="750" dirty="0">
                <a:solidFill>
                  <a:srgbClr val="8899AA"/>
                </a:solidFill>
              </a:rPr>
              <a:t>Entry marked free — clusters available for reuse</a:t>
            </a:r>
            <a:endParaRPr lang="en-US" sz="750" dirty="0"/>
          </a:p>
        </p:txBody>
      </p:sp>
      <p:sp>
        <p:nvSpPr>
          <p:cNvPr id="32" name="Text 30"/>
          <p:cNvSpPr/>
          <p:nvPr/>
        </p:nvSpPr>
        <p:spPr>
          <a:xfrm>
            <a:off x="6400800" y="3273552"/>
            <a:ext cx="457200" cy="237744"/>
          </a:xfrm>
          <a:prstGeom prst="rect">
            <a:avLst/>
          </a:prstGeom>
          <a:noFill/>
          <a:ln/>
        </p:spPr>
        <p:txBody>
          <a:bodyPr wrap="square" lIns="0" tIns="0" rIns="0" bIns="0" rtlCol="0" anchor="ctr"/>
          <a:lstStyle/>
          <a:p>
            <a:pPr marL="0" indent="0" algn="ctr">
              <a:buNone/>
            </a:pPr>
            <a:r>
              <a:rPr lang="en-US" sz="1400" dirty="0">
                <a:solidFill>
                  <a:srgbClr val="F4A261"/>
                </a:solidFill>
              </a:rPr>
              <a:t>↓</a:t>
            </a:r>
            <a:endParaRPr lang="en-US" sz="1400" dirty="0"/>
          </a:p>
        </p:txBody>
      </p:sp>
      <p:sp>
        <p:nvSpPr>
          <p:cNvPr id="33" name="Shape 31"/>
          <p:cNvSpPr/>
          <p:nvPr/>
        </p:nvSpPr>
        <p:spPr>
          <a:xfrm>
            <a:off x="4818888" y="3529584"/>
            <a:ext cx="3749040" cy="246888"/>
          </a:xfrm>
          <a:prstGeom prst="rect">
            <a:avLst/>
          </a:prstGeom>
          <a:solidFill>
            <a:srgbClr val="FFFFFF"/>
          </a:solidFill>
          <a:ln w="3175">
            <a:solidFill>
              <a:srgbClr val="E2E8F0"/>
            </a:solidFill>
            <a:prstDash val="solid"/>
          </a:ln>
        </p:spPr>
        <p:txBody>
          <a:bodyPr/>
          <a:lstStyle/>
          <a:p>
            <a:endParaRPr lang="en-SG"/>
          </a:p>
        </p:txBody>
      </p:sp>
      <p:sp>
        <p:nvSpPr>
          <p:cNvPr id="34" name="Text 32"/>
          <p:cNvSpPr/>
          <p:nvPr/>
        </p:nvSpPr>
        <p:spPr>
          <a:xfrm>
            <a:off x="4937760" y="3547872"/>
            <a:ext cx="3566160" cy="201168"/>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FF D8 FF E0  ← still on disk!</a:t>
            </a:r>
            <a:endParaRPr lang="en-US" sz="800" dirty="0"/>
          </a:p>
        </p:txBody>
      </p:sp>
      <p:sp>
        <p:nvSpPr>
          <p:cNvPr id="35" name="Shape 33"/>
          <p:cNvSpPr/>
          <p:nvPr/>
        </p:nvSpPr>
        <p:spPr>
          <a:xfrm>
            <a:off x="4818888" y="3803904"/>
            <a:ext cx="3749040" cy="246888"/>
          </a:xfrm>
          <a:prstGeom prst="rect">
            <a:avLst/>
          </a:prstGeom>
          <a:solidFill>
            <a:srgbClr val="FFFFFF"/>
          </a:solidFill>
          <a:ln w="3175">
            <a:solidFill>
              <a:srgbClr val="E2E8F0"/>
            </a:solidFill>
            <a:prstDash val="solid"/>
          </a:ln>
        </p:spPr>
        <p:txBody>
          <a:bodyPr/>
          <a:lstStyle/>
          <a:p>
            <a:endParaRPr lang="en-SG"/>
          </a:p>
        </p:txBody>
      </p:sp>
      <p:sp>
        <p:nvSpPr>
          <p:cNvPr id="36" name="Text 34"/>
          <p:cNvSpPr/>
          <p:nvPr/>
        </p:nvSpPr>
        <p:spPr>
          <a:xfrm>
            <a:off x="4937760" y="3822192"/>
            <a:ext cx="3566160" cy="201168"/>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 image data bytes ...</a:t>
            </a:r>
            <a:endParaRPr lang="en-US" sz="800" dirty="0"/>
          </a:p>
        </p:txBody>
      </p:sp>
      <p:sp>
        <p:nvSpPr>
          <p:cNvPr id="37" name="Shape 35"/>
          <p:cNvSpPr/>
          <p:nvPr/>
        </p:nvSpPr>
        <p:spPr>
          <a:xfrm>
            <a:off x="4818888" y="4078224"/>
            <a:ext cx="3749040" cy="246888"/>
          </a:xfrm>
          <a:prstGeom prst="rect">
            <a:avLst/>
          </a:prstGeom>
          <a:solidFill>
            <a:srgbClr val="FFFFFF"/>
          </a:solidFill>
          <a:ln w="3175">
            <a:solidFill>
              <a:srgbClr val="E2E8F0"/>
            </a:solidFill>
            <a:prstDash val="solid"/>
          </a:ln>
        </p:spPr>
        <p:txBody>
          <a:bodyPr/>
          <a:lstStyle/>
          <a:p>
            <a:endParaRPr lang="en-SG"/>
          </a:p>
        </p:txBody>
      </p:sp>
      <p:sp>
        <p:nvSpPr>
          <p:cNvPr id="38" name="Text 36"/>
          <p:cNvSpPr/>
          <p:nvPr/>
        </p:nvSpPr>
        <p:spPr>
          <a:xfrm>
            <a:off x="4937760" y="4096512"/>
            <a:ext cx="3566160" cy="201168"/>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 image data bytes ...</a:t>
            </a:r>
            <a:endParaRPr lang="en-US" sz="800" dirty="0"/>
          </a:p>
        </p:txBody>
      </p:sp>
      <p:sp>
        <p:nvSpPr>
          <p:cNvPr id="39" name="Shape 37"/>
          <p:cNvSpPr/>
          <p:nvPr/>
        </p:nvSpPr>
        <p:spPr>
          <a:xfrm>
            <a:off x="4818888" y="4352544"/>
            <a:ext cx="3749040" cy="246888"/>
          </a:xfrm>
          <a:prstGeom prst="rect">
            <a:avLst/>
          </a:prstGeom>
          <a:solidFill>
            <a:srgbClr val="FFFFFF"/>
          </a:solidFill>
          <a:ln w="3175">
            <a:solidFill>
              <a:srgbClr val="E2E8F0"/>
            </a:solidFill>
            <a:prstDash val="solid"/>
          </a:ln>
        </p:spPr>
        <p:txBody>
          <a:bodyPr/>
          <a:lstStyle/>
          <a:p>
            <a:endParaRPr lang="en-SG"/>
          </a:p>
        </p:txBody>
      </p:sp>
      <p:sp>
        <p:nvSpPr>
          <p:cNvPr id="40" name="Text 38"/>
          <p:cNvSpPr/>
          <p:nvPr/>
        </p:nvSpPr>
        <p:spPr>
          <a:xfrm>
            <a:off x="4937760" y="4370832"/>
            <a:ext cx="3566160" cy="201168"/>
          </a:xfrm>
          <a:prstGeom prst="rect">
            <a:avLst/>
          </a:prstGeom>
          <a:noFill/>
          <a:ln/>
        </p:spPr>
        <p:txBody>
          <a:bodyPr wrap="square" lIns="0" tIns="0" rIns="0" bIns="0" rtlCol="0" anchor="ctr"/>
          <a:lstStyle/>
          <a:p>
            <a:pPr marL="0" indent="0">
              <a:buNone/>
            </a:pPr>
            <a:r>
              <a:rPr lang="en-US" sz="800" dirty="0">
                <a:solidFill>
                  <a:srgbClr val="1A1A2E"/>
                </a:solidFill>
                <a:latin typeface="Consolas" pitchFamily="34" charset="0"/>
                <a:ea typeface="Consolas" pitchFamily="34" charset="-122"/>
                <a:cs typeface="Consolas" pitchFamily="34" charset="-120"/>
              </a:rPr>
              <a:t>FF D9  ← footer still present</a:t>
            </a:r>
            <a:endParaRPr lang="en-US" sz="800" dirty="0"/>
          </a:p>
        </p:txBody>
      </p:sp>
      <p:sp>
        <p:nvSpPr>
          <p:cNvPr id="41" name="Text 39"/>
          <p:cNvSpPr/>
          <p:nvPr/>
        </p:nvSpPr>
        <p:spPr>
          <a:xfrm>
            <a:off x="429768" y="4672584"/>
            <a:ext cx="8503920" cy="219456"/>
          </a:xfrm>
          <a:prstGeom prst="rect">
            <a:avLst/>
          </a:prstGeom>
          <a:noFill/>
          <a:ln/>
        </p:spPr>
        <p:txBody>
          <a:bodyPr wrap="square" lIns="0" tIns="0" rIns="0" bIns="0" rtlCol="0" anchor="ctr"/>
          <a:lstStyle/>
          <a:p>
            <a:pPr marL="0" indent="0">
              <a:buNone/>
            </a:pPr>
            <a:r>
              <a:rPr lang="en-US" sz="850" i="1" dirty="0">
                <a:solidFill>
                  <a:srgbClr val="F1C40F"/>
                </a:solidFill>
              </a:rPr>
              <a:t>💡  Deletion only removes the pointer (directory entry) — the actual bytes remain physically on the disk until the sectors are overwritten by new data. Data carving reads the raw sectors directly, bypassing the file system entirely.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82419"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799539" cy="256032"/>
          </a:xfrm>
          <a:prstGeom prst="rect">
            <a:avLst/>
          </a:prstGeom>
          <a:noFill/>
          <a:ln/>
        </p:spPr>
        <p:txBody>
          <a:bodyPr wrap="square" lIns="0" tIns="0" rIns="0" bIns="0" rtlCol="0" anchor="ctr"/>
          <a:lstStyle/>
          <a:p>
            <a:pPr marL="0" indent="0">
              <a:buNone/>
            </a:pPr>
            <a:r>
              <a:rPr lang="en-US" sz="850" b="1" dirty="0">
                <a:solidFill>
                  <a:srgbClr val="0D1B2A"/>
                </a:solidFill>
              </a:rPr>
              <a:t>SECTION 3 · DATA CARVING</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Hex Dump: Inside a JPEG File</a:t>
            </a:r>
            <a:endParaRPr lang="en-US" sz="2800" dirty="0"/>
          </a:p>
        </p:txBody>
      </p:sp>
      <p:sp>
        <p:nvSpPr>
          <p:cNvPr id="5" name="Shape 3"/>
          <p:cNvSpPr/>
          <p:nvPr/>
        </p:nvSpPr>
        <p:spPr>
          <a:xfrm>
            <a:off x="320040" y="1170432"/>
            <a:ext cx="8503920" cy="36576"/>
          </a:xfrm>
          <a:prstGeom prst="rect">
            <a:avLst/>
          </a:prstGeom>
          <a:solidFill>
            <a:srgbClr val="2ECC71"/>
          </a:solidFill>
          <a:ln w="12700">
            <a:solidFill>
              <a:srgbClr val="2ECC71"/>
            </a:solidFill>
            <a:prstDash val="solid"/>
          </a:ln>
        </p:spPr>
        <p:txBody>
          <a:bodyPr/>
          <a:lstStyle/>
          <a:p>
            <a:endParaRPr lang="en-SG"/>
          </a:p>
        </p:txBody>
      </p:sp>
      <p:sp>
        <p:nvSpPr>
          <p:cNvPr id="6" name="Shape 4"/>
          <p:cNvSpPr/>
          <p:nvPr/>
        </p:nvSpPr>
        <p:spPr>
          <a:xfrm>
            <a:off x="320040" y="1243584"/>
            <a:ext cx="8503920" cy="384048"/>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43584"/>
            <a:ext cx="91440" cy="384048"/>
          </a:xfrm>
          <a:prstGeom prst="rect">
            <a:avLst/>
          </a:prstGeom>
          <a:solidFill>
            <a:srgbClr val="2ECC71"/>
          </a:solidFill>
          <a:ln w="12700">
            <a:solidFill>
              <a:srgbClr val="2ECC71"/>
            </a:solidFill>
            <a:prstDash val="solid"/>
          </a:ln>
        </p:spPr>
        <p:txBody>
          <a:bodyPr/>
          <a:lstStyle/>
          <a:p>
            <a:endParaRPr lang="en-SG"/>
          </a:p>
        </p:txBody>
      </p:sp>
      <p:sp>
        <p:nvSpPr>
          <p:cNvPr id="8" name="Text 6"/>
          <p:cNvSpPr/>
          <p:nvPr/>
        </p:nvSpPr>
        <p:spPr>
          <a:xfrm>
            <a:off x="475488" y="1280160"/>
            <a:ext cx="8266176" cy="310896"/>
          </a:xfrm>
          <a:prstGeom prst="rect">
            <a:avLst/>
          </a:prstGeom>
          <a:noFill/>
          <a:ln/>
        </p:spPr>
        <p:txBody>
          <a:bodyPr wrap="square" lIns="0" tIns="0" rIns="0" bIns="0" rtlCol="0" anchor="ctr"/>
          <a:lstStyle/>
          <a:p>
            <a:pPr marL="0" indent="0">
              <a:buNone/>
            </a:pPr>
            <a:r>
              <a:rPr lang="en-US" sz="900" dirty="0">
                <a:solidFill>
                  <a:srgbClr val="1A1A2E"/>
                </a:solidFill>
              </a:rPr>
              <a:t>The command xxd prints a file's raw bytes as hex. Each row shows 16 bytes: a byte offset (left), hex values (centre), and printable ASCII (right). Highlighted bytes below are the critical JPEG markers an investigator reads to locate and carve the file.</a:t>
            </a:r>
            <a:endParaRPr lang="en-US" sz="900" dirty="0"/>
          </a:p>
        </p:txBody>
      </p:sp>
      <p:sp>
        <p:nvSpPr>
          <p:cNvPr id="9" name="Shape 7"/>
          <p:cNvSpPr/>
          <p:nvPr/>
        </p:nvSpPr>
        <p:spPr>
          <a:xfrm>
            <a:off x="320040" y="1664208"/>
            <a:ext cx="8503920" cy="256032"/>
          </a:xfrm>
          <a:prstGeom prst="rect">
            <a:avLst/>
          </a:prstGeom>
          <a:solidFill>
            <a:srgbClr val="FFFFFF"/>
          </a:solidFill>
          <a:ln w="12700">
            <a:solidFill>
              <a:srgbClr val="E2E8F0"/>
            </a:solidFill>
            <a:prstDash val="solid"/>
          </a:ln>
        </p:spPr>
        <p:txBody>
          <a:bodyPr/>
          <a:lstStyle/>
          <a:p>
            <a:endParaRPr lang="en-SG"/>
          </a:p>
        </p:txBody>
      </p:sp>
      <p:sp>
        <p:nvSpPr>
          <p:cNvPr id="10" name="Text 8"/>
          <p:cNvSpPr/>
          <p:nvPr/>
        </p:nvSpPr>
        <p:spPr>
          <a:xfrm>
            <a:off x="411480" y="1673352"/>
            <a:ext cx="1280160" cy="237744"/>
          </a:xfrm>
          <a:prstGeom prst="rect">
            <a:avLst/>
          </a:prstGeom>
          <a:noFill/>
          <a:ln/>
        </p:spPr>
        <p:txBody>
          <a:bodyPr wrap="square" lIns="0" tIns="0" rIns="0" bIns="0" rtlCol="0" anchor="ctr"/>
          <a:lstStyle/>
          <a:p>
            <a:pPr marL="0" indent="0">
              <a:buNone/>
            </a:pPr>
            <a:r>
              <a:rPr lang="en-US" sz="780" b="1" dirty="0">
                <a:solidFill>
                  <a:srgbClr val="00B4D8"/>
                </a:solidFill>
                <a:latin typeface="Consolas" pitchFamily="34" charset="0"/>
                <a:ea typeface="Consolas" pitchFamily="34" charset="-122"/>
                <a:cs typeface="Consolas" pitchFamily="34" charset="-120"/>
              </a:rPr>
              <a:t>OFFSET</a:t>
            </a:r>
            <a:endParaRPr lang="en-US" sz="780" dirty="0"/>
          </a:p>
        </p:txBody>
      </p:sp>
      <p:sp>
        <p:nvSpPr>
          <p:cNvPr id="11" name="Text 9"/>
          <p:cNvSpPr/>
          <p:nvPr/>
        </p:nvSpPr>
        <p:spPr>
          <a:xfrm>
            <a:off x="1737360" y="1673352"/>
            <a:ext cx="5120640" cy="237744"/>
          </a:xfrm>
          <a:prstGeom prst="rect">
            <a:avLst/>
          </a:prstGeom>
          <a:noFill/>
          <a:ln/>
        </p:spPr>
        <p:txBody>
          <a:bodyPr wrap="square" lIns="0" tIns="0" rIns="0" bIns="0" rtlCol="0" anchor="ctr"/>
          <a:lstStyle/>
          <a:p>
            <a:pPr marL="0" indent="0">
              <a:buNone/>
            </a:pPr>
            <a:r>
              <a:rPr lang="en-US" sz="780" b="1" dirty="0">
                <a:solidFill>
                  <a:srgbClr val="F4A261"/>
                </a:solidFill>
                <a:latin typeface="Consolas" pitchFamily="34" charset="0"/>
                <a:ea typeface="Consolas" pitchFamily="34" charset="-122"/>
                <a:cs typeface="Consolas" pitchFamily="34" charset="-120"/>
              </a:rPr>
              <a:t>HEX BYTES — 16 per row, grouped in fours</a:t>
            </a:r>
            <a:endParaRPr lang="en-US" sz="780" dirty="0"/>
          </a:p>
        </p:txBody>
      </p:sp>
      <p:sp>
        <p:nvSpPr>
          <p:cNvPr id="12" name="Text 10"/>
          <p:cNvSpPr/>
          <p:nvPr/>
        </p:nvSpPr>
        <p:spPr>
          <a:xfrm>
            <a:off x="7223760" y="1673352"/>
            <a:ext cx="1508760" cy="237744"/>
          </a:xfrm>
          <a:prstGeom prst="rect">
            <a:avLst/>
          </a:prstGeom>
          <a:noFill/>
          <a:ln/>
        </p:spPr>
        <p:txBody>
          <a:bodyPr wrap="square" lIns="0" tIns="0" rIns="0" bIns="0" rtlCol="0" anchor="ctr"/>
          <a:lstStyle/>
          <a:p>
            <a:pPr marL="0" indent="0">
              <a:buNone/>
            </a:pPr>
            <a:r>
              <a:rPr lang="en-US" sz="780" b="1" dirty="0">
                <a:solidFill>
                  <a:srgbClr val="2ECC71"/>
                </a:solidFill>
                <a:latin typeface="Consolas" pitchFamily="34" charset="0"/>
                <a:ea typeface="Consolas" pitchFamily="34" charset="-122"/>
                <a:cs typeface="Consolas" pitchFamily="34" charset="-120"/>
              </a:rPr>
              <a:t>ASCII</a:t>
            </a:r>
            <a:endParaRPr lang="en-US" sz="780" dirty="0"/>
          </a:p>
        </p:txBody>
      </p:sp>
      <p:sp>
        <p:nvSpPr>
          <p:cNvPr id="13" name="Shape 11"/>
          <p:cNvSpPr/>
          <p:nvPr/>
        </p:nvSpPr>
        <p:spPr>
          <a:xfrm>
            <a:off x="320040" y="1938528"/>
            <a:ext cx="8503920" cy="338328"/>
          </a:xfrm>
          <a:prstGeom prst="rect">
            <a:avLst/>
          </a:prstGeom>
          <a:solidFill>
            <a:srgbClr val="FFFFFF"/>
          </a:solidFill>
          <a:ln w="3810">
            <a:solidFill>
              <a:srgbClr val="E2E8F0"/>
            </a:solidFill>
            <a:prstDash val="solid"/>
          </a:ln>
        </p:spPr>
        <p:txBody>
          <a:bodyPr/>
          <a:lstStyle/>
          <a:p>
            <a:endParaRPr lang="en-SG"/>
          </a:p>
        </p:txBody>
      </p:sp>
      <p:sp>
        <p:nvSpPr>
          <p:cNvPr id="14" name="Text 12"/>
          <p:cNvSpPr/>
          <p:nvPr/>
        </p:nvSpPr>
        <p:spPr>
          <a:xfrm>
            <a:off x="411480" y="1993392"/>
            <a:ext cx="1261872" cy="228600"/>
          </a:xfrm>
          <a:prstGeom prst="rect">
            <a:avLst/>
          </a:prstGeom>
          <a:noFill/>
          <a:ln/>
        </p:spPr>
        <p:txBody>
          <a:bodyPr wrap="square" lIns="0" tIns="0" rIns="0" bIns="0" rtlCol="0" anchor="ctr"/>
          <a:lstStyle/>
          <a:p>
            <a:pPr marL="0" indent="0">
              <a:buNone/>
            </a:pPr>
            <a:r>
              <a:rPr lang="en-US" sz="820" dirty="0">
                <a:solidFill>
                  <a:srgbClr val="506070"/>
                </a:solidFill>
                <a:latin typeface="Consolas" pitchFamily="34" charset="0"/>
                <a:ea typeface="Consolas" pitchFamily="34" charset="-122"/>
                <a:cs typeface="Consolas" pitchFamily="34" charset="-120"/>
              </a:rPr>
              <a:t>00000000:</a:t>
            </a:r>
            <a:endParaRPr lang="en-US" sz="820" dirty="0"/>
          </a:p>
        </p:txBody>
      </p:sp>
      <p:sp>
        <p:nvSpPr>
          <p:cNvPr id="15" name="Shape 13"/>
          <p:cNvSpPr/>
          <p:nvPr/>
        </p:nvSpPr>
        <p:spPr>
          <a:xfrm>
            <a:off x="1691640" y="1965960"/>
            <a:ext cx="791870" cy="283464"/>
          </a:xfrm>
          <a:prstGeom prst="rect">
            <a:avLst/>
          </a:prstGeom>
          <a:solidFill>
            <a:srgbClr val="F4A261">
              <a:alpha val="72000"/>
            </a:srgbClr>
          </a:solidFill>
          <a:ln w="10160">
            <a:solidFill>
              <a:srgbClr val="F4A261">
                <a:alpha val="95000"/>
              </a:srgbClr>
            </a:solidFill>
            <a:prstDash val="solid"/>
          </a:ln>
        </p:spPr>
        <p:txBody>
          <a:bodyPr/>
          <a:lstStyle/>
          <a:p>
            <a:endParaRPr lang="en-SG"/>
          </a:p>
        </p:txBody>
      </p:sp>
      <p:sp>
        <p:nvSpPr>
          <p:cNvPr id="16" name="Text 14"/>
          <p:cNvSpPr/>
          <p:nvPr/>
        </p:nvSpPr>
        <p:spPr>
          <a:xfrm>
            <a:off x="1737360" y="1993392"/>
            <a:ext cx="828446" cy="22860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ff d8</a:t>
            </a:r>
            <a:endParaRPr lang="en-US" sz="850" dirty="0"/>
          </a:p>
        </p:txBody>
      </p:sp>
      <p:sp>
        <p:nvSpPr>
          <p:cNvPr id="17" name="Shape 15"/>
          <p:cNvSpPr/>
          <p:nvPr/>
        </p:nvSpPr>
        <p:spPr>
          <a:xfrm>
            <a:off x="2474366" y="1965960"/>
            <a:ext cx="791870" cy="283464"/>
          </a:xfrm>
          <a:prstGeom prst="rect">
            <a:avLst/>
          </a:prstGeom>
          <a:solidFill>
            <a:srgbClr val="F4A261">
              <a:alpha val="72000"/>
            </a:srgbClr>
          </a:solidFill>
          <a:ln w="10160">
            <a:solidFill>
              <a:srgbClr val="F4A261">
                <a:alpha val="95000"/>
              </a:srgbClr>
            </a:solidFill>
            <a:prstDash val="solid"/>
          </a:ln>
        </p:spPr>
        <p:txBody>
          <a:bodyPr/>
          <a:lstStyle/>
          <a:p>
            <a:endParaRPr lang="en-SG"/>
          </a:p>
        </p:txBody>
      </p:sp>
      <p:sp>
        <p:nvSpPr>
          <p:cNvPr id="18" name="Text 16"/>
          <p:cNvSpPr/>
          <p:nvPr/>
        </p:nvSpPr>
        <p:spPr>
          <a:xfrm>
            <a:off x="2520086" y="1993392"/>
            <a:ext cx="828446" cy="22860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ff e0</a:t>
            </a:r>
            <a:endParaRPr lang="en-US" sz="850" dirty="0"/>
          </a:p>
        </p:txBody>
      </p:sp>
      <p:sp>
        <p:nvSpPr>
          <p:cNvPr id="19" name="Text 17"/>
          <p:cNvSpPr/>
          <p:nvPr/>
        </p:nvSpPr>
        <p:spPr>
          <a:xfrm>
            <a:off x="3421685" y="1993392"/>
            <a:ext cx="828446"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00 10</a:t>
            </a:r>
            <a:endParaRPr lang="en-US" sz="850" dirty="0"/>
          </a:p>
        </p:txBody>
      </p:sp>
      <p:sp>
        <p:nvSpPr>
          <p:cNvPr id="20" name="Shape 18"/>
          <p:cNvSpPr/>
          <p:nvPr/>
        </p:nvSpPr>
        <p:spPr>
          <a:xfrm>
            <a:off x="4277563" y="1965960"/>
            <a:ext cx="1492301" cy="283464"/>
          </a:xfrm>
          <a:prstGeom prst="rect">
            <a:avLst/>
          </a:prstGeom>
          <a:solidFill>
            <a:srgbClr val="2ECC71">
              <a:alpha val="72000"/>
            </a:srgbClr>
          </a:solidFill>
          <a:ln w="10160">
            <a:solidFill>
              <a:srgbClr val="2ECC71">
                <a:alpha val="95000"/>
              </a:srgbClr>
            </a:solidFill>
            <a:prstDash val="solid"/>
          </a:ln>
        </p:spPr>
        <p:txBody>
          <a:bodyPr/>
          <a:lstStyle/>
          <a:p>
            <a:endParaRPr lang="en-SG"/>
          </a:p>
        </p:txBody>
      </p:sp>
      <p:sp>
        <p:nvSpPr>
          <p:cNvPr id="21" name="Text 19"/>
          <p:cNvSpPr/>
          <p:nvPr/>
        </p:nvSpPr>
        <p:spPr>
          <a:xfrm>
            <a:off x="4323283" y="1993392"/>
            <a:ext cx="1528877" cy="228600"/>
          </a:xfrm>
          <a:prstGeom prst="rect">
            <a:avLst/>
          </a:prstGeom>
          <a:noFill/>
          <a:ln/>
        </p:spPr>
        <p:txBody>
          <a:bodyPr wrap="square" lIns="0" tIns="0" rIns="0" bIns="0" rtlCol="0" anchor="ctr"/>
          <a:lstStyle/>
          <a:p>
            <a:pPr marL="0" indent="0">
              <a:buNone/>
            </a:pPr>
            <a:r>
              <a:rPr lang="en-US" sz="850" b="1" dirty="0">
                <a:solidFill>
                  <a:srgbClr val="2ECC71"/>
                </a:solidFill>
                <a:latin typeface="Consolas" pitchFamily="34" charset="0"/>
                <a:ea typeface="Consolas" pitchFamily="34" charset="-122"/>
                <a:cs typeface="Consolas" pitchFamily="34" charset="-120"/>
              </a:rPr>
              <a:t>4a 46 49 46</a:t>
            </a:r>
            <a:endParaRPr lang="en-US" sz="850" dirty="0"/>
          </a:p>
        </p:txBody>
      </p:sp>
      <p:sp>
        <p:nvSpPr>
          <p:cNvPr id="22" name="Text 20"/>
          <p:cNvSpPr/>
          <p:nvPr/>
        </p:nvSpPr>
        <p:spPr>
          <a:xfrm>
            <a:off x="5925312" y="1993392"/>
            <a:ext cx="2229307"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00 01 01 01 00 48</a:t>
            </a:r>
            <a:endParaRPr lang="en-US" sz="850" dirty="0"/>
          </a:p>
        </p:txBody>
      </p:sp>
      <p:sp>
        <p:nvSpPr>
          <p:cNvPr id="23" name="Text 21"/>
          <p:cNvSpPr/>
          <p:nvPr/>
        </p:nvSpPr>
        <p:spPr>
          <a:xfrm>
            <a:off x="7223760" y="1993392"/>
            <a:ext cx="1536192" cy="228600"/>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......JFIF...</a:t>
            </a:r>
            <a:endParaRPr lang="en-US" sz="800" dirty="0"/>
          </a:p>
        </p:txBody>
      </p:sp>
      <p:sp>
        <p:nvSpPr>
          <p:cNvPr id="24" name="Shape 22"/>
          <p:cNvSpPr/>
          <p:nvPr/>
        </p:nvSpPr>
        <p:spPr>
          <a:xfrm>
            <a:off x="320040" y="2295144"/>
            <a:ext cx="8503920" cy="338328"/>
          </a:xfrm>
          <a:prstGeom prst="rect">
            <a:avLst/>
          </a:prstGeom>
          <a:solidFill>
            <a:srgbClr val="FFFFFF"/>
          </a:solidFill>
          <a:ln w="3810">
            <a:solidFill>
              <a:srgbClr val="E2E8F0"/>
            </a:solidFill>
            <a:prstDash val="solid"/>
          </a:ln>
        </p:spPr>
        <p:txBody>
          <a:bodyPr/>
          <a:lstStyle/>
          <a:p>
            <a:endParaRPr lang="en-SG"/>
          </a:p>
        </p:txBody>
      </p:sp>
      <p:sp>
        <p:nvSpPr>
          <p:cNvPr id="25" name="Text 23"/>
          <p:cNvSpPr/>
          <p:nvPr/>
        </p:nvSpPr>
        <p:spPr>
          <a:xfrm>
            <a:off x="411480" y="2350008"/>
            <a:ext cx="1261872" cy="228600"/>
          </a:xfrm>
          <a:prstGeom prst="rect">
            <a:avLst/>
          </a:prstGeom>
          <a:noFill/>
          <a:ln/>
        </p:spPr>
        <p:txBody>
          <a:bodyPr wrap="square" lIns="0" tIns="0" rIns="0" bIns="0" rtlCol="0" anchor="ctr"/>
          <a:lstStyle/>
          <a:p>
            <a:pPr marL="0" indent="0">
              <a:buNone/>
            </a:pPr>
            <a:r>
              <a:rPr lang="en-US" sz="820" dirty="0">
                <a:solidFill>
                  <a:srgbClr val="506070"/>
                </a:solidFill>
                <a:latin typeface="Consolas" pitchFamily="34" charset="0"/>
                <a:ea typeface="Consolas" pitchFamily="34" charset="-122"/>
                <a:cs typeface="Consolas" pitchFamily="34" charset="-120"/>
              </a:rPr>
              <a:t>00000010:</a:t>
            </a:r>
            <a:endParaRPr lang="en-US" sz="820" dirty="0"/>
          </a:p>
        </p:txBody>
      </p:sp>
      <p:sp>
        <p:nvSpPr>
          <p:cNvPr id="26" name="Text 24"/>
          <p:cNvSpPr/>
          <p:nvPr/>
        </p:nvSpPr>
        <p:spPr>
          <a:xfrm>
            <a:off x="1737360" y="2350008"/>
            <a:ext cx="2229307"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00 48 00 01 00 00</a:t>
            </a:r>
            <a:endParaRPr lang="en-US" sz="850" dirty="0"/>
          </a:p>
        </p:txBody>
      </p:sp>
      <p:sp>
        <p:nvSpPr>
          <p:cNvPr id="27" name="Shape 25"/>
          <p:cNvSpPr/>
          <p:nvPr/>
        </p:nvSpPr>
        <p:spPr>
          <a:xfrm>
            <a:off x="3994099" y="2322576"/>
            <a:ext cx="791870" cy="283464"/>
          </a:xfrm>
          <a:prstGeom prst="rect">
            <a:avLst/>
          </a:prstGeom>
          <a:solidFill>
            <a:srgbClr val="A855F7">
              <a:alpha val="72000"/>
            </a:srgbClr>
          </a:solidFill>
          <a:ln w="10160">
            <a:solidFill>
              <a:srgbClr val="A855F7">
                <a:alpha val="95000"/>
              </a:srgbClr>
            </a:solidFill>
            <a:prstDash val="solid"/>
          </a:ln>
        </p:spPr>
        <p:txBody>
          <a:bodyPr/>
          <a:lstStyle/>
          <a:p>
            <a:endParaRPr lang="en-SG"/>
          </a:p>
        </p:txBody>
      </p:sp>
      <p:sp>
        <p:nvSpPr>
          <p:cNvPr id="28" name="Text 26"/>
          <p:cNvSpPr/>
          <p:nvPr/>
        </p:nvSpPr>
        <p:spPr>
          <a:xfrm>
            <a:off x="4039819" y="2350008"/>
            <a:ext cx="828446" cy="228600"/>
          </a:xfrm>
          <a:prstGeom prst="rect">
            <a:avLst/>
          </a:prstGeom>
          <a:noFill/>
          <a:ln/>
        </p:spPr>
        <p:txBody>
          <a:bodyPr wrap="square" lIns="0" tIns="0" rIns="0" bIns="0" rtlCol="0" anchor="ctr"/>
          <a:lstStyle/>
          <a:p>
            <a:pPr marL="0" indent="0">
              <a:buNone/>
            </a:pPr>
            <a:r>
              <a:rPr lang="en-US" sz="850" b="1" dirty="0">
                <a:solidFill>
                  <a:srgbClr val="A855F7"/>
                </a:solidFill>
                <a:latin typeface="Consolas" pitchFamily="34" charset="0"/>
                <a:ea typeface="Consolas" pitchFamily="34" charset="-122"/>
                <a:cs typeface="Consolas" pitchFamily="34" charset="-120"/>
              </a:rPr>
              <a:t>ff e1</a:t>
            </a:r>
            <a:endParaRPr lang="en-US" sz="850" dirty="0"/>
          </a:p>
        </p:txBody>
      </p:sp>
      <p:sp>
        <p:nvSpPr>
          <p:cNvPr id="29" name="Text 27"/>
          <p:cNvSpPr/>
          <p:nvPr/>
        </p:nvSpPr>
        <p:spPr>
          <a:xfrm>
            <a:off x="4941418" y="2350008"/>
            <a:ext cx="828446"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58 38</a:t>
            </a:r>
            <a:endParaRPr lang="en-US" sz="850" dirty="0"/>
          </a:p>
        </p:txBody>
      </p:sp>
      <p:sp>
        <p:nvSpPr>
          <p:cNvPr id="30" name="Shape 28"/>
          <p:cNvSpPr/>
          <p:nvPr/>
        </p:nvSpPr>
        <p:spPr>
          <a:xfrm>
            <a:off x="5797296" y="2322576"/>
            <a:ext cx="1492301" cy="283464"/>
          </a:xfrm>
          <a:prstGeom prst="rect">
            <a:avLst/>
          </a:prstGeom>
          <a:solidFill>
            <a:srgbClr val="A855F7">
              <a:alpha val="72000"/>
            </a:srgbClr>
          </a:solidFill>
          <a:ln w="10160">
            <a:solidFill>
              <a:srgbClr val="A855F7">
                <a:alpha val="95000"/>
              </a:srgbClr>
            </a:solidFill>
            <a:prstDash val="solid"/>
          </a:ln>
        </p:spPr>
        <p:txBody>
          <a:bodyPr/>
          <a:lstStyle/>
          <a:p>
            <a:endParaRPr lang="en-SG"/>
          </a:p>
        </p:txBody>
      </p:sp>
      <p:sp>
        <p:nvSpPr>
          <p:cNvPr id="31" name="Text 29"/>
          <p:cNvSpPr/>
          <p:nvPr/>
        </p:nvSpPr>
        <p:spPr>
          <a:xfrm>
            <a:off x="5843016" y="2350008"/>
            <a:ext cx="1528877" cy="228600"/>
          </a:xfrm>
          <a:prstGeom prst="rect">
            <a:avLst/>
          </a:prstGeom>
          <a:noFill/>
          <a:ln/>
        </p:spPr>
        <p:txBody>
          <a:bodyPr wrap="square" lIns="0" tIns="0" rIns="0" bIns="0" rtlCol="0" anchor="ctr"/>
          <a:lstStyle/>
          <a:p>
            <a:pPr marL="0" indent="0">
              <a:buNone/>
            </a:pPr>
            <a:r>
              <a:rPr lang="en-US" sz="850" b="1" dirty="0">
                <a:solidFill>
                  <a:srgbClr val="A855F7"/>
                </a:solidFill>
                <a:latin typeface="Consolas" pitchFamily="34" charset="0"/>
                <a:ea typeface="Consolas" pitchFamily="34" charset="-122"/>
                <a:cs typeface="Consolas" pitchFamily="34" charset="-120"/>
              </a:rPr>
              <a:t>45 78 69 66</a:t>
            </a:r>
            <a:endParaRPr lang="en-US" sz="850" dirty="0"/>
          </a:p>
        </p:txBody>
      </p:sp>
      <p:sp>
        <p:nvSpPr>
          <p:cNvPr id="32" name="Text 30"/>
          <p:cNvSpPr/>
          <p:nvPr/>
        </p:nvSpPr>
        <p:spPr>
          <a:xfrm>
            <a:off x="7445045" y="2350008"/>
            <a:ext cx="828446"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00 00</a:t>
            </a:r>
            <a:endParaRPr lang="en-US" sz="850" dirty="0"/>
          </a:p>
        </p:txBody>
      </p:sp>
      <p:sp>
        <p:nvSpPr>
          <p:cNvPr id="33" name="Text 31"/>
          <p:cNvSpPr/>
          <p:nvPr/>
        </p:nvSpPr>
        <p:spPr>
          <a:xfrm>
            <a:off x="7223760" y="2350008"/>
            <a:ext cx="1536192" cy="228600"/>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......Exif..</a:t>
            </a:r>
            <a:endParaRPr lang="en-US" sz="800" dirty="0"/>
          </a:p>
        </p:txBody>
      </p:sp>
      <p:sp>
        <p:nvSpPr>
          <p:cNvPr id="34" name="Shape 32"/>
          <p:cNvSpPr/>
          <p:nvPr/>
        </p:nvSpPr>
        <p:spPr>
          <a:xfrm>
            <a:off x="320040" y="2651760"/>
            <a:ext cx="8503920" cy="338328"/>
          </a:xfrm>
          <a:prstGeom prst="rect">
            <a:avLst/>
          </a:prstGeom>
          <a:solidFill>
            <a:srgbClr val="FFFFFF"/>
          </a:solidFill>
          <a:ln w="3810">
            <a:solidFill>
              <a:srgbClr val="E2E8F0"/>
            </a:solidFill>
            <a:prstDash val="solid"/>
          </a:ln>
        </p:spPr>
        <p:txBody>
          <a:bodyPr/>
          <a:lstStyle/>
          <a:p>
            <a:endParaRPr lang="en-SG"/>
          </a:p>
        </p:txBody>
      </p:sp>
      <p:sp>
        <p:nvSpPr>
          <p:cNvPr id="35" name="Text 33"/>
          <p:cNvSpPr/>
          <p:nvPr/>
        </p:nvSpPr>
        <p:spPr>
          <a:xfrm>
            <a:off x="411480" y="2706624"/>
            <a:ext cx="1261872" cy="228600"/>
          </a:xfrm>
          <a:prstGeom prst="rect">
            <a:avLst/>
          </a:prstGeom>
          <a:noFill/>
          <a:ln/>
        </p:spPr>
        <p:txBody>
          <a:bodyPr wrap="square" lIns="0" tIns="0" rIns="0" bIns="0" rtlCol="0" anchor="ctr"/>
          <a:lstStyle/>
          <a:p>
            <a:pPr marL="0" indent="0">
              <a:buNone/>
            </a:pPr>
            <a:r>
              <a:rPr lang="en-US" sz="820" dirty="0">
                <a:solidFill>
                  <a:srgbClr val="506070"/>
                </a:solidFill>
                <a:latin typeface="Consolas" pitchFamily="34" charset="0"/>
                <a:ea typeface="Consolas" pitchFamily="34" charset="-122"/>
                <a:cs typeface="Consolas" pitchFamily="34" charset="-120"/>
              </a:rPr>
              <a:t>00000020:</a:t>
            </a:r>
            <a:endParaRPr lang="en-US" sz="820" dirty="0"/>
          </a:p>
        </p:txBody>
      </p:sp>
      <p:sp>
        <p:nvSpPr>
          <p:cNvPr id="36" name="Text 34"/>
          <p:cNvSpPr/>
          <p:nvPr/>
        </p:nvSpPr>
        <p:spPr>
          <a:xfrm>
            <a:off x="1737360" y="2706624"/>
            <a:ext cx="3630168"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49 49 2a 00 08 00 00 00 00 00</a:t>
            </a:r>
            <a:endParaRPr lang="en-US" sz="850" dirty="0"/>
          </a:p>
        </p:txBody>
      </p:sp>
      <p:sp>
        <p:nvSpPr>
          <p:cNvPr id="37" name="Shape 35"/>
          <p:cNvSpPr/>
          <p:nvPr/>
        </p:nvSpPr>
        <p:spPr>
          <a:xfrm>
            <a:off x="5394960" y="2679192"/>
            <a:ext cx="791870" cy="283464"/>
          </a:xfrm>
          <a:prstGeom prst="rect">
            <a:avLst/>
          </a:prstGeom>
          <a:solidFill>
            <a:srgbClr val="00B4D8">
              <a:alpha val="72000"/>
            </a:srgbClr>
          </a:solidFill>
          <a:ln w="10160">
            <a:solidFill>
              <a:srgbClr val="00B4D8">
                <a:alpha val="95000"/>
              </a:srgbClr>
            </a:solidFill>
            <a:prstDash val="solid"/>
          </a:ln>
        </p:spPr>
        <p:txBody>
          <a:bodyPr/>
          <a:lstStyle/>
          <a:p>
            <a:endParaRPr lang="en-SG"/>
          </a:p>
        </p:txBody>
      </p:sp>
      <p:sp>
        <p:nvSpPr>
          <p:cNvPr id="38" name="Text 36"/>
          <p:cNvSpPr/>
          <p:nvPr/>
        </p:nvSpPr>
        <p:spPr>
          <a:xfrm>
            <a:off x="5440680" y="2706624"/>
            <a:ext cx="828446" cy="228600"/>
          </a:xfrm>
          <a:prstGeom prst="rect">
            <a:avLst/>
          </a:prstGeom>
          <a:noFill/>
          <a:ln/>
        </p:spPr>
        <p:txBody>
          <a:bodyPr wrap="square" lIns="0" tIns="0" rIns="0" bIns="0" rtlCol="0" anchor="ctr"/>
          <a:lstStyle/>
          <a:p>
            <a:pPr marL="0" indent="0">
              <a:buNone/>
            </a:pPr>
            <a:r>
              <a:rPr lang="en-US" sz="850" b="1" dirty="0">
                <a:solidFill>
                  <a:srgbClr val="00B4D8"/>
                </a:solidFill>
                <a:latin typeface="Consolas" pitchFamily="34" charset="0"/>
                <a:ea typeface="Consolas" pitchFamily="34" charset="-122"/>
                <a:cs typeface="Consolas" pitchFamily="34" charset="-120"/>
              </a:rPr>
              <a:t>ff db</a:t>
            </a:r>
            <a:endParaRPr lang="en-US" sz="850" dirty="0"/>
          </a:p>
        </p:txBody>
      </p:sp>
      <p:sp>
        <p:nvSpPr>
          <p:cNvPr id="39" name="Text 37"/>
          <p:cNvSpPr/>
          <p:nvPr/>
        </p:nvSpPr>
        <p:spPr>
          <a:xfrm>
            <a:off x="6342278" y="2706624"/>
            <a:ext cx="1528877"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00 43 00 08</a:t>
            </a:r>
            <a:endParaRPr lang="en-US" sz="850" dirty="0"/>
          </a:p>
        </p:txBody>
      </p:sp>
      <p:sp>
        <p:nvSpPr>
          <p:cNvPr id="40" name="Text 38"/>
          <p:cNvSpPr/>
          <p:nvPr/>
        </p:nvSpPr>
        <p:spPr>
          <a:xfrm>
            <a:off x="7223760" y="2706624"/>
            <a:ext cx="1536192" cy="228600"/>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II*.........C..</a:t>
            </a:r>
            <a:endParaRPr lang="en-US" sz="800" dirty="0"/>
          </a:p>
        </p:txBody>
      </p:sp>
      <p:sp>
        <p:nvSpPr>
          <p:cNvPr id="41" name="Shape 39"/>
          <p:cNvSpPr/>
          <p:nvPr/>
        </p:nvSpPr>
        <p:spPr>
          <a:xfrm>
            <a:off x="320040" y="3008376"/>
            <a:ext cx="8503920" cy="338328"/>
          </a:xfrm>
          <a:prstGeom prst="rect">
            <a:avLst/>
          </a:prstGeom>
          <a:solidFill>
            <a:srgbClr val="FFFFFF"/>
          </a:solidFill>
          <a:ln w="3810">
            <a:solidFill>
              <a:srgbClr val="E2E8F0"/>
            </a:solidFill>
            <a:prstDash val="solid"/>
          </a:ln>
        </p:spPr>
        <p:txBody>
          <a:bodyPr/>
          <a:lstStyle/>
          <a:p>
            <a:endParaRPr lang="en-SG"/>
          </a:p>
        </p:txBody>
      </p:sp>
      <p:sp>
        <p:nvSpPr>
          <p:cNvPr id="42" name="Text 40"/>
          <p:cNvSpPr/>
          <p:nvPr/>
        </p:nvSpPr>
        <p:spPr>
          <a:xfrm>
            <a:off x="411480" y="3063240"/>
            <a:ext cx="1261872" cy="228600"/>
          </a:xfrm>
          <a:prstGeom prst="rect">
            <a:avLst/>
          </a:prstGeom>
          <a:noFill/>
          <a:ln/>
        </p:spPr>
        <p:txBody>
          <a:bodyPr wrap="square" lIns="0" tIns="0" rIns="0" bIns="0" rtlCol="0" anchor="ctr"/>
          <a:lstStyle/>
          <a:p>
            <a:pPr marL="0" indent="0">
              <a:buNone/>
            </a:pPr>
            <a:r>
              <a:rPr lang="en-US" sz="820" dirty="0">
                <a:solidFill>
                  <a:srgbClr val="506070"/>
                </a:solidFill>
                <a:latin typeface="Consolas" pitchFamily="34" charset="0"/>
                <a:ea typeface="Consolas" pitchFamily="34" charset="-122"/>
                <a:cs typeface="Consolas" pitchFamily="34" charset="-120"/>
              </a:rPr>
              <a:t>00000030:</a:t>
            </a:r>
            <a:endParaRPr lang="en-US" sz="820" dirty="0"/>
          </a:p>
        </p:txBody>
      </p:sp>
      <p:sp>
        <p:nvSpPr>
          <p:cNvPr id="43" name="Text 41"/>
          <p:cNvSpPr/>
          <p:nvPr/>
        </p:nvSpPr>
        <p:spPr>
          <a:xfrm>
            <a:off x="1737360" y="3063240"/>
            <a:ext cx="5731459"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06 04 05 06  05 04 08 06  05 06 07 07  08 0a 10 0a</a:t>
            </a:r>
            <a:endParaRPr lang="en-US" sz="850" dirty="0"/>
          </a:p>
        </p:txBody>
      </p:sp>
      <p:sp>
        <p:nvSpPr>
          <p:cNvPr id="44" name="Text 42"/>
          <p:cNvSpPr/>
          <p:nvPr/>
        </p:nvSpPr>
        <p:spPr>
          <a:xfrm>
            <a:off x="7223760" y="3063240"/>
            <a:ext cx="1536192" cy="228600"/>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a:t>
            </a:r>
            <a:endParaRPr lang="en-US" sz="800" dirty="0"/>
          </a:p>
        </p:txBody>
      </p:sp>
      <p:sp>
        <p:nvSpPr>
          <p:cNvPr id="45" name="Shape 43"/>
          <p:cNvSpPr/>
          <p:nvPr/>
        </p:nvSpPr>
        <p:spPr>
          <a:xfrm>
            <a:off x="320040" y="3364992"/>
            <a:ext cx="8503920" cy="256032"/>
          </a:xfrm>
          <a:prstGeom prst="rect">
            <a:avLst/>
          </a:prstGeom>
          <a:solidFill>
            <a:srgbClr val="FFFFFF"/>
          </a:solidFill>
          <a:ln w="3810">
            <a:solidFill>
              <a:srgbClr val="E2E8F0"/>
            </a:solidFill>
            <a:prstDash val="solid"/>
          </a:ln>
        </p:spPr>
        <p:txBody>
          <a:bodyPr/>
          <a:lstStyle/>
          <a:p>
            <a:endParaRPr lang="en-SG"/>
          </a:p>
        </p:txBody>
      </p:sp>
      <p:sp>
        <p:nvSpPr>
          <p:cNvPr id="46" name="Text 44"/>
          <p:cNvSpPr/>
          <p:nvPr/>
        </p:nvSpPr>
        <p:spPr>
          <a:xfrm>
            <a:off x="411480" y="3383280"/>
            <a:ext cx="1261872" cy="201168"/>
          </a:xfrm>
          <a:prstGeom prst="rect">
            <a:avLst/>
          </a:prstGeom>
          <a:noFill/>
          <a:ln/>
        </p:spPr>
        <p:txBody>
          <a:bodyPr wrap="square" lIns="0" tIns="0" rIns="0" bIns="0" rtlCol="0" anchor="ctr"/>
          <a:lstStyle/>
          <a:p>
            <a:pPr marL="0" indent="0">
              <a:buNone/>
            </a:pPr>
            <a:r>
              <a:rPr lang="en-US" sz="800" dirty="0">
                <a:solidFill>
                  <a:srgbClr val="384858"/>
                </a:solidFill>
                <a:latin typeface="Consolas" pitchFamily="34" charset="0"/>
                <a:ea typeface="Consolas" pitchFamily="34" charset="-122"/>
                <a:cs typeface="Consolas" pitchFamily="34" charset="-120"/>
              </a:rPr>
              <a:t>...</a:t>
            </a:r>
            <a:endParaRPr lang="en-US" sz="800" dirty="0"/>
          </a:p>
        </p:txBody>
      </p:sp>
      <p:sp>
        <p:nvSpPr>
          <p:cNvPr id="47" name="Text 45"/>
          <p:cNvSpPr/>
          <p:nvPr/>
        </p:nvSpPr>
        <p:spPr>
          <a:xfrm>
            <a:off x="1737360" y="3383280"/>
            <a:ext cx="6858000" cy="201168"/>
          </a:xfrm>
          <a:prstGeom prst="rect">
            <a:avLst/>
          </a:prstGeom>
          <a:noFill/>
          <a:ln/>
        </p:spPr>
        <p:txBody>
          <a:bodyPr wrap="square" lIns="0" tIns="0" rIns="0" bIns="0" rtlCol="0" anchor="ctr"/>
          <a:lstStyle/>
          <a:p>
            <a:pPr marL="0" indent="0">
              <a:buNone/>
            </a:pPr>
            <a:r>
              <a:rPr lang="en-US" sz="800" i="1" dirty="0">
                <a:solidFill>
                  <a:srgbClr val="384858"/>
                </a:solidFill>
                <a:latin typeface="Consolas" pitchFamily="34" charset="0"/>
                <a:ea typeface="Consolas" pitchFamily="34" charset="-122"/>
                <a:cs typeface="Consolas" pitchFamily="34" charset="-120"/>
              </a:rPr>
              <a:t>[ compressed image data — thousands of bytes omitted ]</a:t>
            </a:r>
            <a:endParaRPr lang="en-US" sz="800" dirty="0"/>
          </a:p>
        </p:txBody>
      </p:sp>
      <p:sp>
        <p:nvSpPr>
          <p:cNvPr id="48" name="Shape 46"/>
          <p:cNvSpPr/>
          <p:nvPr/>
        </p:nvSpPr>
        <p:spPr>
          <a:xfrm>
            <a:off x="320040" y="3639312"/>
            <a:ext cx="8503920" cy="338328"/>
          </a:xfrm>
          <a:prstGeom prst="rect">
            <a:avLst/>
          </a:prstGeom>
          <a:solidFill>
            <a:srgbClr val="FFFFFF"/>
          </a:solidFill>
          <a:ln w="3810">
            <a:solidFill>
              <a:srgbClr val="E2E8F0"/>
            </a:solidFill>
            <a:prstDash val="solid"/>
          </a:ln>
        </p:spPr>
        <p:txBody>
          <a:bodyPr/>
          <a:lstStyle/>
          <a:p>
            <a:endParaRPr lang="en-SG"/>
          </a:p>
        </p:txBody>
      </p:sp>
      <p:sp>
        <p:nvSpPr>
          <p:cNvPr id="49" name="Text 47"/>
          <p:cNvSpPr/>
          <p:nvPr/>
        </p:nvSpPr>
        <p:spPr>
          <a:xfrm>
            <a:off x="411480" y="3694176"/>
            <a:ext cx="1261872" cy="228600"/>
          </a:xfrm>
          <a:prstGeom prst="rect">
            <a:avLst/>
          </a:prstGeom>
          <a:noFill/>
          <a:ln/>
        </p:spPr>
        <p:txBody>
          <a:bodyPr wrap="square" lIns="0" tIns="0" rIns="0" bIns="0" rtlCol="0" anchor="ctr"/>
          <a:lstStyle/>
          <a:p>
            <a:pPr marL="0" indent="0">
              <a:buNone/>
            </a:pPr>
            <a:r>
              <a:rPr lang="en-US" sz="820" dirty="0">
                <a:solidFill>
                  <a:srgbClr val="506070"/>
                </a:solidFill>
                <a:latin typeface="Consolas" pitchFamily="34" charset="0"/>
                <a:ea typeface="Consolas" pitchFamily="34" charset="-122"/>
                <a:cs typeface="Consolas" pitchFamily="34" charset="-120"/>
              </a:rPr>
              <a:t>0006946A:</a:t>
            </a:r>
            <a:endParaRPr lang="en-US" sz="820" dirty="0"/>
          </a:p>
        </p:txBody>
      </p:sp>
      <p:sp>
        <p:nvSpPr>
          <p:cNvPr id="50" name="Text 48"/>
          <p:cNvSpPr/>
          <p:nvPr/>
        </p:nvSpPr>
        <p:spPr>
          <a:xfrm>
            <a:off x="1737360" y="3694176"/>
            <a:ext cx="4330598"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7a 84 5b 92  f4 1c 3d a7  c3 19 8e 2f</a:t>
            </a:r>
            <a:endParaRPr lang="en-US" sz="850" dirty="0"/>
          </a:p>
        </p:txBody>
      </p:sp>
      <p:sp>
        <p:nvSpPr>
          <p:cNvPr id="51" name="Shape 49"/>
          <p:cNvSpPr/>
          <p:nvPr/>
        </p:nvSpPr>
        <p:spPr>
          <a:xfrm>
            <a:off x="6095390" y="3666744"/>
            <a:ext cx="791870" cy="283464"/>
          </a:xfrm>
          <a:prstGeom prst="rect">
            <a:avLst/>
          </a:prstGeom>
          <a:solidFill>
            <a:srgbClr val="E74C3C">
              <a:alpha val="72000"/>
            </a:srgbClr>
          </a:solidFill>
          <a:ln w="10160">
            <a:solidFill>
              <a:srgbClr val="E74C3C">
                <a:alpha val="95000"/>
              </a:srgbClr>
            </a:solidFill>
            <a:prstDash val="solid"/>
          </a:ln>
        </p:spPr>
        <p:txBody>
          <a:bodyPr/>
          <a:lstStyle/>
          <a:p>
            <a:endParaRPr lang="en-SG"/>
          </a:p>
        </p:txBody>
      </p:sp>
      <p:sp>
        <p:nvSpPr>
          <p:cNvPr id="52" name="Text 50"/>
          <p:cNvSpPr/>
          <p:nvPr/>
        </p:nvSpPr>
        <p:spPr>
          <a:xfrm>
            <a:off x="6141110" y="3694176"/>
            <a:ext cx="828446" cy="228600"/>
          </a:xfrm>
          <a:prstGeom prst="rect">
            <a:avLst/>
          </a:prstGeom>
          <a:noFill/>
          <a:ln/>
        </p:spPr>
        <p:txBody>
          <a:bodyPr wrap="square" lIns="0" tIns="0" rIns="0" bIns="0" rtlCol="0" anchor="ctr"/>
          <a:lstStyle/>
          <a:p>
            <a:pPr marL="0" indent="0">
              <a:buNone/>
            </a:pPr>
            <a:r>
              <a:rPr lang="en-US" sz="850" b="1" dirty="0">
                <a:solidFill>
                  <a:srgbClr val="E74C3C"/>
                </a:solidFill>
                <a:latin typeface="Consolas" pitchFamily="34" charset="0"/>
                <a:ea typeface="Consolas" pitchFamily="34" charset="-122"/>
                <a:cs typeface="Consolas" pitchFamily="34" charset="-120"/>
              </a:rPr>
              <a:t>ff d9</a:t>
            </a:r>
            <a:endParaRPr lang="en-US" sz="850" dirty="0"/>
          </a:p>
        </p:txBody>
      </p:sp>
      <p:sp>
        <p:nvSpPr>
          <p:cNvPr id="53" name="Text 51"/>
          <p:cNvSpPr/>
          <p:nvPr/>
        </p:nvSpPr>
        <p:spPr>
          <a:xfrm>
            <a:off x="6923837" y="3694176"/>
            <a:ext cx="828446" cy="22860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00 00</a:t>
            </a:r>
            <a:endParaRPr lang="en-US" sz="850" dirty="0"/>
          </a:p>
        </p:txBody>
      </p:sp>
      <p:sp>
        <p:nvSpPr>
          <p:cNvPr id="54" name="Text 52"/>
          <p:cNvSpPr/>
          <p:nvPr/>
        </p:nvSpPr>
        <p:spPr>
          <a:xfrm>
            <a:off x="7223760" y="3694176"/>
            <a:ext cx="1536192" cy="228600"/>
          </a:xfrm>
          <a:prstGeom prst="rect">
            <a:avLst/>
          </a:prstGeom>
          <a:noFill/>
          <a:ln/>
        </p:spPr>
        <p:txBody>
          <a:bodyPr wrap="square" lIns="0" tIns="0" rIns="0" bIns="0" rtlCol="0" anchor="ctr"/>
          <a:lstStyle/>
          <a:p>
            <a:pPr marL="0" indent="0">
              <a:buNone/>
            </a:pPr>
            <a:r>
              <a:rPr lang="en-US" sz="800" dirty="0">
                <a:solidFill>
                  <a:srgbClr val="2ECC71"/>
                </a:solidFill>
                <a:latin typeface="Consolas" pitchFamily="34" charset="0"/>
                <a:ea typeface="Consolas" pitchFamily="34" charset="-122"/>
                <a:cs typeface="Consolas" pitchFamily="34" charset="-120"/>
              </a:rPr>
              <a:t>z.[...=.../..··</a:t>
            </a:r>
            <a:endParaRPr lang="en-US" sz="800" dirty="0"/>
          </a:p>
        </p:txBody>
      </p:sp>
      <p:sp>
        <p:nvSpPr>
          <p:cNvPr id="55" name="Shape 53"/>
          <p:cNvSpPr/>
          <p:nvPr/>
        </p:nvSpPr>
        <p:spPr>
          <a:xfrm>
            <a:off x="320040" y="4023360"/>
            <a:ext cx="8503920" cy="27432"/>
          </a:xfrm>
          <a:prstGeom prst="rect">
            <a:avLst/>
          </a:prstGeom>
          <a:solidFill>
            <a:srgbClr val="2ECC71"/>
          </a:solidFill>
          <a:ln w="12700">
            <a:solidFill>
              <a:srgbClr val="2ECC71"/>
            </a:solidFill>
            <a:prstDash val="solid"/>
          </a:ln>
        </p:spPr>
        <p:txBody>
          <a:bodyPr/>
          <a:lstStyle/>
          <a:p>
            <a:endParaRPr lang="en-SG"/>
          </a:p>
        </p:txBody>
      </p:sp>
      <p:sp>
        <p:nvSpPr>
          <p:cNvPr id="56" name="Shape 54"/>
          <p:cNvSpPr/>
          <p:nvPr/>
        </p:nvSpPr>
        <p:spPr>
          <a:xfrm>
            <a:off x="320040" y="4096512"/>
            <a:ext cx="1417320" cy="141732"/>
          </a:xfrm>
          <a:prstGeom prst="rect">
            <a:avLst/>
          </a:prstGeom>
          <a:solidFill>
            <a:srgbClr val="F4A261">
              <a:alpha val="75000"/>
            </a:srgbClr>
          </a:solidFill>
          <a:ln w="7620">
            <a:solidFill>
              <a:srgbClr val="F4A261"/>
            </a:solidFill>
            <a:prstDash val="solid"/>
          </a:ln>
        </p:spPr>
        <p:txBody>
          <a:bodyPr/>
          <a:lstStyle/>
          <a:p>
            <a:endParaRPr lang="en-SG"/>
          </a:p>
        </p:txBody>
      </p:sp>
      <p:sp>
        <p:nvSpPr>
          <p:cNvPr id="57" name="Text 55"/>
          <p:cNvSpPr/>
          <p:nvPr/>
        </p:nvSpPr>
        <p:spPr>
          <a:xfrm>
            <a:off x="320040" y="4096512"/>
            <a:ext cx="1417320" cy="141732"/>
          </a:xfrm>
          <a:prstGeom prst="rect">
            <a:avLst/>
          </a:prstGeom>
          <a:noFill/>
          <a:ln/>
        </p:spPr>
        <p:txBody>
          <a:bodyPr wrap="square" lIns="0" tIns="0" rIns="0" bIns="0" rtlCol="0" anchor="ctr"/>
          <a:lstStyle/>
          <a:p>
            <a:pPr marL="0" indent="0" algn="ctr">
              <a:buNone/>
            </a:pPr>
            <a:r>
              <a:rPr lang="en-US" sz="720" b="1" dirty="0">
                <a:solidFill>
                  <a:srgbClr val="1A1A2E"/>
                </a:solidFill>
                <a:latin typeface="Consolas" pitchFamily="34" charset="0"/>
                <a:ea typeface="Consolas" pitchFamily="34" charset="-122"/>
                <a:cs typeface="Consolas" pitchFamily="34" charset="-120"/>
              </a:rPr>
              <a:t>FF D8  FF E0</a:t>
            </a:r>
            <a:endParaRPr lang="en-US" sz="720" dirty="0"/>
          </a:p>
        </p:txBody>
      </p:sp>
      <p:sp>
        <p:nvSpPr>
          <p:cNvPr id="58" name="Text 56"/>
          <p:cNvSpPr/>
          <p:nvPr/>
        </p:nvSpPr>
        <p:spPr>
          <a:xfrm>
            <a:off x="1801368" y="4096512"/>
            <a:ext cx="7296912" cy="141732"/>
          </a:xfrm>
          <a:prstGeom prst="rect">
            <a:avLst/>
          </a:prstGeom>
          <a:noFill/>
          <a:ln/>
        </p:spPr>
        <p:txBody>
          <a:bodyPr wrap="square" lIns="0" tIns="0" rIns="0" bIns="0" rtlCol="0" anchor="ctr"/>
          <a:lstStyle/>
          <a:p>
            <a:pPr marL="0" indent="0">
              <a:buNone/>
            </a:pPr>
            <a:r>
              <a:rPr lang="en-US" sz="850" dirty="0">
                <a:solidFill>
                  <a:srgbClr val="1A1A2E"/>
                </a:solidFill>
              </a:rPr>
              <a:t>SOI + APP0  — JPEG header: every valid JPEG starts here</a:t>
            </a:r>
            <a:endParaRPr lang="en-US" sz="850" dirty="0"/>
          </a:p>
        </p:txBody>
      </p:sp>
      <p:sp>
        <p:nvSpPr>
          <p:cNvPr id="59" name="Shape 57"/>
          <p:cNvSpPr/>
          <p:nvPr/>
        </p:nvSpPr>
        <p:spPr>
          <a:xfrm>
            <a:off x="320040" y="4256532"/>
            <a:ext cx="1417320" cy="141732"/>
          </a:xfrm>
          <a:prstGeom prst="rect">
            <a:avLst/>
          </a:prstGeom>
          <a:solidFill>
            <a:srgbClr val="2ECC71">
              <a:alpha val="75000"/>
            </a:srgbClr>
          </a:solidFill>
          <a:ln w="7620">
            <a:solidFill>
              <a:srgbClr val="2ECC71"/>
            </a:solidFill>
            <a:prstDash val="solid"/>
          </a:ln>
        </p:spPr>
        <p:txBody>
          <a:bodyPr/>
          <a:lstStyle/>
          <a:p>
            <a:endParaRPr lang="en-SG"/>
          </a:p>
        </p:txBody>
      </p:sp>
      <p:sp>
        <p:nvSpPr>
          <p:cNvPr id="60" name="Text 58"/>
          <p:cNvSpPr/>
          <p:nvPr/>
        </p:nvSpPr>
        <p:spPr>
          <a:xfrm>
            <a:off x="320040" y="4256532"/>
            <a:ext cx="1417320" cy="141732"/>
          </a:xfrm>
          <a:prstGeom prst="rect">
            <a:avLst/>
          </a:prstGeom>
          <a:noFill/>
          <a:ln/>
        </p:spPr>
        <p:txBody>
          <a:bodyPr wrap="square" lIns="0" tIns="0" rIns="0" bIns="0" rtlCol="0" anchor="ctr"/>
          <a:lstStyle/>
          <a:p>
            <a:pPr marL="0" indent="0" algn="ctr">
              <a:buNone/>
            </a:pPr>
            <a:r>
              <a:rPr lang="en-US" sz="720" b="1" dirty="0">
                <a:solidFill>
                  <a:srgbClr val="1A1A2E"/>
                </a:solidFill>
                <a:latin typeface="Consolas" pitchFamily="34" charset="0"/>
                <a:ea typeface="Consolas" pitchFamily="34" charset="-122"/>
                <a:cs typeface="Consolas" pitchFamily="34" charset="-120"/>
              </a:rPr>
              <a:t>4A 46 49 46</a:t>
            </a:r>
            <a:endParaRPr lang="en-US" sz="720" dirty="0"/>
          </a:p>
        </p:txBody>
      </p:sp>
      <p:sp>
        <p:nvSpPr>
          <p:cNvPr id="61" name="Text 59"/>
          <p:cNvSpPr/>
          <p:nvPr/>
        </p:nvSpPr>
        <p:spPr>
          <a:xfrm>
            <a:off x="1801368" y="4256532"/>
            <a:ext cx="7296912" cy="141732"/>
          </a:xfrm>
          <a:prstGeom prst="rect">
            <a:avLst/>
          </a:prstGeom>
          <a:noFill/>
          <a:ln/>
        </p:spPr>
        <p:txBody>
          <a:bodyPr wrap="square" lIns="0" tIns="0" rIns="0" bIns="0" rtlCol="0" anchor="ctr"/>
          <a:lstStyle/>
          <a:p>
            <a:pPr marL="0" indent="0">
              <a:buNone/>
            </a:pPr>
            <a:r>
              <a:rPr lang="en-US" sz="850" dirty="0">
                <a:solidFill>
                  <a:srgbClr val="1A1A2E"/>
                </a:solidFill>
              </a:rPr>
              <a:t>JFIF string — ASCII for J·F·I·F confirming JPEG format</a:t>
            </a:r>
            <a:endParaRPr lang="en-US" sz="850" dirty="0"/>
          </a:p>
        </p:txBody>
      </p:sp>
      <p:sp>
        <p:nvSpPr>
          <p:cNvPr id="62" name="Shape 60"/>
          <p:cNvSpPr/>
          <p:nvPr/>
        </p:nvSpPr>
        <p:spPr>
          <a:xfrm>
            <a:off x="320040" y="4416552"/>
            <a:ext cx="1417320" cy="141732"/>
          </a:xfrm>
          <a:prstGeom prst="rect">
            <a:avLst/>
          </a:prstGeom>
          <a:solidFill>
            <a:srgbClr val="A855F7">
              <a:alpha val="75000"/>
            </a:srgbClr>
          </a:solidFill>
          <a:ln w="7620">
            <a:solidFill>
              <a:srgbClr val="A855F7"/>
            </a:solidFill>
            <a:prstDash val="solid"/>
          </a:ln>
        </p:spPr>
        <p:txBody>
          <a:bodyPr/>
          <a:lstStyle/>
          <a:p>
            <a:endParaRPr lang="en-SG"/>
          </a:p>
        </p:txBody>
      </p:sp>
      <p:sp>
        <p:nvSpPr>
          <p:cNvPr id="63" name="Text 61"/>
          <p:cNvSpPr/>
          <p:nvPr/>
        </p:nvSpPr>
        <p:spPr>
          <a:xfrm>
            <a:off x="320040" y="4416552"/>
            <a:ext cx="1417320" cy="141732"/>
          </a:xfrm>
          <a:prstGeom prst="rect">
            <a:avLst/>
          </a:prstGeom>
          <a:noFill/>
          <a:ln/>
        </p:spPr>
        <p:txBody>
          <a:bodyPr wrap="square" lIns="0" tIns="0" rIns="0" bIns="0" rtlCol="0" anchor="ctr"/>
          <a:lstStyle/>
          <a:p>
            <a:pPr marL="0" indent="0" algn="ctr">
              <a:buNone/>
            </a:pPr>
            <a:r>
              <a:rPr lang="en-US" sz="720" b="1" dirty="0">
                <a:solidFill>
                  <a:srgbClr val="1A1A2E"/>
                </a:solidFill>
                <a:latin typeface="Consolas" pitchFamily="34" charset="0"/>
                <a:ea typeface="Consolas" pitchFamily="34" charset="-122"/>
                <a:cs typeface="Consolas" pitchFamily="34" charset="-120"/>
              </a:rPr>
              <a:t>FF E1  Exif</a:t>
            </a:r>
            <a:endParaRPr lang="en-US" sz="720" dirty="0"/>
          </a:p>
        </p:txBody>
      </p:sp>
      <p:sp>
        <p:nvSpPr>
          <p:cNvPr id="64" name="Text 62"/>
          <p:cNvSpPr/>
          <p:nvPr/>
        </p:nvSpPr>
        <p:spPr>
          <a:xfrm>
            <a:off x="1801368" y="4416552"/>
            <a:ext cx="7296912" cy="141732"/>
          </a:xfrm>
          <a:prstGeom prst="rect">
            <a:avLst/>
          </a:prstGeom>
          <a:noFill/>
          <a:ln/>
        </p:spPr>
        <p:txBody>
          <a:bodyPr wrap="square" lIns="0" tIns="0" rIns="0" bIns="0" rtlCol="0" anchor="ctr"/>
          <a:lstStyle/>
          <a:p>
            <a:pPr marL="0" indent="0">
              <a:buNone/>
            </a:pPr>
            <a:r>
              <a:rPr lang="en-US" sz="850" dirty="0">
                <a:solidFill>
                  <a:srgbClr val="1A1A2E"/>
                </a:solidFill>
              </a:rPr>
              <a:t>APP1 + Exif  — EXIF metadata block (camera, GPS, date)</a:t>
            </a:r>
            <a:endParaRPr lang="en-US" sz="850" dirty="0"/>
          </a:p>
        </p:txBody>
      </p:sp>
      <p:sp>
        <p:nvSpPr>
          <p:cNvPr id="65" name="Shape 63"/>
          <p:cNvSpPr/>
          <p:nvPr/>
        </p:nvSpPr>
        <p:spPr>
          <a:xfrm>
            <a:off x="320040" y="4576572"/>
            <a:ext cx="1417320" cy="141732"/>
          </a:xfrm>
          <a:prstGeom prst="rect">
            <a:avLst/>
          </a:prstGeom>
          <a:solidFill>
            <a:srgbClr val="00B4D8">
              <a:alpha val="75000"/>
            </a:srgbClr>
          </a:solidFill>
          <a:ln w="7620">
            <a:solidFill>
              <a:srgbClr val="00B4D8"/>
            </a:solidFill>
            <a:prstDash val="solid"/>
          </a:ln>
        </p:spPr>
        <p:txBody>
          <a:bodyPr/>
          <a:lstStyle/>
          <a:p>
            <a:endParaRPr lang="en-SG"/>
          </a:p>
        </p:txBody>
      </p:sp>
      <p:sp>
        <p:nvSpPr>
          <p:cNvPr id="66" name="Text 64"/>
          <p:cNvSpPr/>
          <p:nvPr/>
        </p:nvSpPr>
        <p:spPr>
          <a:xfrm>
            <a:off x="320040" y="4576572"/>
            <a:ext cx="1417320" cy="141732"/>
          </a:xfrm>
          <a:prstGeom prst="rect">
            <a:avLst/>
          </a:prstGeom>
          <a:noFill/>
          <a:ln/>
        </p:spPr>
        <p:txBody>
          <a:bodyPr wrap="square" lIns="0" tIns="0" rIns="0" bIns="0" rtlCol="0" anchor="ctr"/>
          <a:lstStyle/>
          <a:p>
            <a:pPr marL="0" indent="0" algn="ctr">
              <a:buNone/>
            </a:pPr>
            <a:r>
              <a:rPr lang="en-US" sz="720" b="1" dirty="0">
                <a:solidFill>
                  <a:srgbClr val="1A1A2E"/>
                </a:solidFill>
                <a:latin typeface="Consolas" pitchFamily="34" charset="0"/>
                <a:ea typeface="Consolas" pitchFamily="34" charset="-122"/>
                <a:cs typeface="Consolas" pitchFamily="34" charset="-120"/>
              </a:rPr>
              <a:t>FF DB  DQT</a:t>
            </a:r>
            <a:endParaRPr lang="en-US" sz="720" dirty="0"/>
          </a:p>
        </p:txBody>
      </p:sp>
      <p:sp>
        <p:nvSpPr>
          <p:cNvPr id="67" name="Text 65"/>
          <p:cNvSpPr/>
          <p:nvPr/>
        </p:nvSpPr>
        <p:spPr>
          <a:xfrm>
            <a:off x="1801368" y="4576572"/>
            <a:ext cx="7296912" cy="141732"/>
          </a:xfrm>
          <a:prstGeom prst="rect">
            <a:avLst/>
          </a:prstGeom>
          <a:noFill/>
          <a:ln/>
        </p:spPr>
        <p:txBody>
          <a:bodyPr wrap="square" lIns="0" tIns="0" rIns="0" bIns="0" rtlCol="0" anchor="ctr"/>
          <a:lstStyle/>
          <a:p>
            <a:pPr marL="0" indent="0">
              <a:buNone/>
            </a:pPr>
            <a:r>
              <a:rPr lang="en-US" sz="850" dirty="0">
                <a:solidFill>
                  <a:srgbClr val="1A1A2E"/>
                </a:solidFill>
              </a:rPr>
              <a:t>DQT — quantisation table: controls image compression quality</a:t>
            </a:r>
            <a:endParaRPr lang="en-US" sz="850" dirty="0"/>
          </a:p>
        </p:txBody>
      </p:sp>
      <p:sp>
        <p:nvSpPr>
          <p:cNvPr id="68" name="Shape 66"/>
          <p:cNvSpPr/>
          <p:nvPr/>
        </p:nvSpPr>
        <p:spPr>
          <a:xfrm>
            <a:off x="320040" y="4736592"/>
            <a:ext cx="1417320" cy="141732"/>
          </a:xfrm>
          <a:prstGeom prst="rect">
            <a:avLst/>
          </a:prstGeom>
          <a:solidFill>
            <a:srgbClr val="E74C3C">
              <a:alpha val="75000"/>
            </a:srgbClr>
          </a:solidFill>
          <a:ln w="7620">
            <a:solidFill>
              <a:srgbClr val="E74C3C"/>
            </a:solidFill>
            <a:prstDash val="solid"/>
          </a:ln>
        </p:spPr>
        <p:txBody>
          <a:bodyPr/>
          <a:lstStyle/>
          <a:p>
            <a:endParaRPr lang="en-SG"/>
          </a:p>
        </p:txBody>
      </p:sp>
      <p:sp>
        <p:nvSpPr>
          <p:cNvPr id="69" name="Text 67"/>
          <p:cNvSpPr/>
          <p:nvPr/>
        </p:nvSpPr>
        <p:spPr>
          <a:xfrm>
            <a:off x="320040" y="4736592"/>
            <a:ext cx="1417320" cy="141732"/>
          </a:xfrm>
          <a:prstGeom prst="rect">
            <a:avLst/>
          </a:prstGeom>
          <a:noFill/>
          <a:ln/>
        </p:spPr>
        <p:txBody>
          <a:bodyPr wrap="square" lIns="0" tIns="0" rIns="0" bIns="0" rtlCol="0" anchor="ctr"/>
          <a:lstStyle/>
          <a:p>
            <a:pPr marL="0" indent="0" algn="ctr">
              <a:buNone/>
            </a:pPr>
            <a:r>
              <a:rPr lang="en-US" sz="720" b="1" dirty="0">
                <a:solidFill>
                  <a:srgbClr val="1A1A2E"/>
                </a:solidFill>
                <a:latin typeface="Consolas" pitchFamily="34" charset="0"/>
                <a:ea typeface="Consolas" pitchFamily="34" charset="-122"/>
                <a:cs typeface="Consolas" pitchFamily="34" charset="-120"/>
              </a:rPr>
              <a:t>FF D9</a:t>
            </a:r>
            <a:endParaRPr lang="en-US" sz="720" dirty="0"/>
          </a:p>
        </p:txBody>
      </p:sp>
      <p:sp>
        <p:nvSpPr>
          <p:cNvPr id="70" name="Text 68"/>
          <p:cNvSpPr/>
          <p:nvPr/>
        </p:nvSpPr>
        <p:spPr>
          <a:xfrm>
            <a:off x="1801368" y="4736592"/>
            <a:ext cx="7296912" cy="141732"/>
          </a:xfrm>
          <a:prstGeom prst="rect">
            <a:avLst/>
          </a:prstGeom>
          <a:noFill/>
          <a:ln/>
        </p:spPr>
        <p:txBody>
          <a:bodyPr wrap="square" lIns="0" tIns="0" rIns="0" bIns="0" rtlCol="0" anchor="ctr"/>
          <a:lstStyle/>
          <a:p>
            <a:pPr marL="0" indent="0">
              <a:buNone/>
            </a:pPr>
            <a:r>
              <a:rPr lang="en-US" sz="850" dirty="0">
                <a:solidFill>
                  <a:srgbClr val="1A1A2E"/>
                </a:solidFill>
              </a:rPr>
              <a:t>EOI — End of Image: footer that marks the last byte to carve</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82419"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799539" cy="256032"/>
          </a:xfrm>
          <a:prstGeom prst="rect">
            <a:avLst/>
          </a:prstGeom>
          <a:noFill/>
          <a:ln/>
        </p:spPr>
        <p:txBody>
          <a:bodyPr wrap="square" lIns="0" tIns="0" rIns="0" bIns="0" rtlCol="0" anchor="ctr"/>
          <a:lstStyle/>
          <a:p>
            <a:pPr marL="0" indent="0">
              <a:buNone/>
            </a:pPr>
            <a:r>
              <a:rPr lang="en-US" sz="850" b="1" dirty="0">
                <a:solidFill>
                  <a:srgbClr val="0D1B2A"/>
                </a:solidFill>
              </a:rPr>
              <a:t>SECTION 3 · DATA CARVING</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JPEG Structure &amp; Automated Carving Tools</a:t>
            </a:r>
            <a:endParaRPr lang="en-US" sz="2800" dirty="0"/>
          </a:p>
        </p:txBody>
      </p:sp>
      <p:sp>
        <p:nvSpPr>
          <p:cNvPr id="5" name="Shape 3"/>
          <p:cNvSpPr/>
          <p:nvPr/>
        </p:nvSpPr>
        <p:spPr>
          <a:xfrm>
            <a:off x="320040" y="1170432"/>
            <a:ext cx="8503920" cy="36576"/>
          </a:xfrm>
          <a:prstGeom prst="rect">
            <a:avLst/>
          </a:prstGeom>
          <a:solidFill>
            <a:srgbClr val="2ECC71"/>
          </a:solidFill>
          <a:ln w="12700">
            <a:solidFill>
              <a:srgbClr val="2ECC71"/>
            </a:solidFill>
            <a:prstDash val="solid"/>
          </a:ln>
        </p:spPr>
        <p:txBody>
          <a:bodyPr/>
          <a:lstStyle/>
          <a:p>
            <a:endParaRPr lang="en-SG"/>
          </a:p>
        </p:txBody>
      </p:sp>
      <p:sp>
        <p:nvSpPr>
          <p:cNvPr id="6" name="Text 4"/>
          <p:cNvSpPr/>
          <p:nvPr/>
        </p:nvSpPr>
        <p:spPr>
          <a:xfrm>
            <a:off x="320040" y="1243584"/>
            <a:ext cx="4114800" cy="274320"/>
          </a:xfrm>
          <a:prstGeom prst="rect">
            <a:avLst/>
          </a:prstGeom>
          <a:noFill/>
          <a:ln/>
        </p:spPr>
        <p:txBody>
          <a:bodyPr wrap="square" lIns="0" tIns="0" rIns="0" bIns="0" rtlCol="0" anchor="ctr"/>
          <a:lstStyle/>
          <a:p>
            <a:pPr marL="0" indent="0">
              <a:buNone/>
            </a:pPr>
            <a:r>
              <a:rPr lang="en-US" sz="1300" b="1" dirty="0">
                <a:solidFill>
                  <a:srgbClr val="1A1A2E"/>
                </a:solidFill>
              </a:rPr>
              <a:t>JPEG Marker Structure</a:t>
            </a:r>
            <a:endParaRPr lang="en-US" sz="1300" dirty="0"/>
          </a:p>
        </p:txBody>
      </p:sp>
      <p:sp>
        <p:nvSpPr>
          <p:cNvPr id="7" name="Text 5"/>
          <p:cNvSpPr/>
          <p:nvPr/>
        </p:nvSpPr>
        <p:spPr>
          <a:xfrm>
            <a:off x="320040" y="1536192"/>
            <a:ext cx="4114800" cy="402336"/>
          </a:xfrm>
          <a:prstGeom prst="rect">
            <a:avLst/>
          </a:prstGeom>
          <a:noFill/>
          <a:ln/>
        </p:spPr>
        <p:txBody>
          <a:bodyPr wrap="square" lIns="0" tIns="0" rIns="0" bIns="0" rtlCol="0" anchor="ctr"/>
          <a:lstStyle/>
          <a:p>
            <a:pPr marL="0" indent="0">
              <a:buNone/>
            </a:pPr>
            <a:r>
              <a:rPr lang="en-US" sz="900" dirty="0">
                <a:solidFill>
                  <a:srgbClr val="8899AA"/>
                </a:solidFill>
              </a:rPr>
              <a:t>Every JPEG is built from segments, each introduced by a 2-byte marker. Investigators who understand this structure can verify image integrity, detect corruption, and manually identify carve boundaries.</a:t>
            </a:r>
            <a:endParaRPr lang="en-US" sz="900" dirty="0"/>
          </a:p>
        </p:txBody>
      </p:sp>
      <p:sp>
        <p:nvSpPr>
          <p:cNvPr id="8" name="Shape 6"/>
          <p:cNvSpPr/>
          <p:nvPr/>
        </p:nvSpPr>
        <p:spPr>
          <a:xfrm>
            <a:off x="320040" y="1993392"/>
            <a:ext cx="4114800" cy="384048"/>
          </a:xfrm>
          <a:prstGeom prst="rect">
            <a:avLst/>
          </a:prstGeom>
          <a:solidFill>
            <a:srgbClr val="FFFFFF"/>
          </a:solidFill>
          <a:ln w="12700">
            <a:solidFill>
              <a:srgbClr val="E2E8F0"/>
            </a:solidFill>
            <a:prstDash val="solid"/>
          </a:ln>
        </p:spPr>
        <p:txBody>
          <a:bodyPr/>
          <a:lstStyle/>
          <a:p>
            <a:endParaRPr lang="en-SG"/>
          </a:p>
        </p:txBody>
      </p:sp>
      <p:sp>
        <p:nvSpPr>
          <p:cNvPr id="9" name="Shape 7"/>
          <p:cNvSpPr/>
          <p:nvPr/>
        </p:nvSpPr>
        <p:spPr>
          <a:xfrm>
            <a:off x="320040" y="1993392"/>
            <a:ext cx="713232" cy="384048"/>
          </a:xfrm>
          <a:prstGeom prst="rect">
            <a:avLst/>
          </a:prstGeom>
          <a:solidFill>
            <a:srgbClr val="F4A261">
              <a:alpha val="85000"/>
            </a:srgbClr>
          </a:solidFill>
          <a:ln w="6350">
            <a:solidFill>
              <a:srgbClr val="F4A261"/>
            </a:solidFill>
            <a:prstDash val="solid"/>
          </a:ln>
        </p:spPr>
        <p:txBody>
          <a:bodyPr/>
          <a:lstStyle/>
          <a:p>
            <a:endParaRPr lang="en-SG"/>
          </a:p>
        </p:txBody>
      </p:sp>
      <p:sp>
        <p:nvSpPr>
          <p:cNvPr id="10" name="Text 8"/>
          <p:cNvSpPr/>
          <p:nvPr/>
        </p:nvSpPr>
        <p:spPr>
          <a:xfrm>
            <a:off x="329184" y="1993392"/>
            <a:ext cx="713232" cy="201168"/>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FF D8</a:t>
            </a:r>
            <a:endParaRPr lang="en-US" sz="750" dirty="0"/>
          </a:p>
        </p:txBody>
      </p:sp>
      <p:sp>
        <p:nvSpPr>
          <p:cNvPr id="11" name="Text 9"/>
          <p:cNvSpPr/>
          <p:nvPr/>
        </p:nvSpPr>
        <p:spPr>
          <a:xfrm>
            <a:off x="329184" y="2185416"/>
            <a:ext cx="713232" cy="182880"/>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SOI</a:t>
            </a:r>
            <a:endParaRPr lang="en-US" sz="750" dirty="0"/>
          </a:p>
        </p:txBody>
      </p:sp>
      <p:sp>
        <p:nvSpPr>
          <p:cNvPr id="12" name="Text 10"/>
          <p:cNvSpPr/>
          <p:nvPr/>
        </p:nvSpPr>
        <p:spPr>
          <a:xfrm>
            <a:off x="1097280" y="2029968"/>
            <a:ext cx="3255264" cy="310896"/>
          </a:xfrm>
          <a:prstGeom prst="rect">
            <a:avLst/>
          </a:prstGeom>
          <a:noFill/>
          <a:ln/>
        </p:spPr>
        <p:txBody>
          <a:bodyPr wrap="square" lIns="0" tIns="0" rIns="0" bIns="0" rtlCol="0" anchor="ctr"/>
          <a:lstStyle/>
          <a:p>
            <a:pPr marL="0" indent="0">
              <a:buNone/>
            </a:pPr>
            <a:r>
              <a:rPr lang="en-US" sz="820" dirty="0">
                <a:solidFill>
                  <a:srgbClr val="1A1A2E"/>
                </a:solidFill>
              </a:rPr>
              <a:t>Start of Image. Always the very first two bytes of any JPEG. No valid JPEG can begin elsewhere.</a:t>
            </a:r>
            <a:endParaRPr lang="en-US" sz="820" dirty="0"/>
          </a:p>
        </p:txBody>
      </p:sp>
      <p:sp>
        <p:nvSpPr>
          <p:cNvPr id="13" name="Shape 11"/>
          <p:cNvSpPr/>
          <p:nvPr/>
        </p:nvSpPr>
        <p:spPr>
          <a:xfrm>
            <a:off x="320040" y="2391156"/>
            <a:ext cx="4114800" cy="384048"/>
          </a:xfrm>
          <a:prstGeom prst="rect">
            <a:avLst/>
          </a:prstGeom>
          <a:solidFill>
            <a:srgbClr val="FFFFFF"/>
          </a:solidFill>
          <a:ln w="12700">
            <a:solidFill>
              <a:srgbClr val="E2E8F0"/>
            </a:solidFill>
            <a:prstDash val="solid"/>
          </a:ln>
        </p:spPr>
        <p:txBody>
          <a:bodyPr/>
          <a:lstStyle/>
          <a:p>
            <a:endParaRPr lang="en-SG"/>
          </a:p>
        </p:txBody>
      </p:sp>
      <p:sp>
        <p:nvSpPr>
          <p:cNvPr id="14" name="Shape 12"/>
          <p:cNvSpPr/>
          <p:nvPr/>
        </p:nvSpPr>
        <p:spPr>
          <a:xfrm>
            <a:off x="320040" y="2391156"/>
            <a:ext cx="713232" cy="384048"/>
          </a:xfrm>
          <a:prstGeom prst="rect">
            <a:avLst/>
          </a:prstGeom>
          <a:solidFill>
            <a:srgbClr val="F4A261">
              <a:alpha val="85000"/>
            </a:srgbClr>
          </a:solidFill>
          <a:ln w="6350">
            <a:solidFill>
              <a:srgbClr val="F4A261"/>
            </a:solidFill>
            <a:prstDash val="solid"/>
          </a:ln>
        </p:spPr>
        <p:txBody>
          <a:bodyPr/>
          <a:lstStyle/>
          <a:p>
            <a:endParaRPr lang="en-SG"/>
          </a:p>
        </p:txBody>
      </p:sp>
      <p:sp>
        <p:nvSpPr>
          <p:cNvPr id="15" name="Text 13"/>
          <p:cNvSpPr/>
          <p:nvPr/>
        </p:nvSpPr>
        <p:spPr>
          <a:xfrm>
            <a:off x="329184" y="2391156"/>
            <a:ext cx="713232" cy="201168"/>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FF E0</a:t>
            </a:r>
            <a:endParaRPr lang="en-US" sz="750" dirty="0"/>
          </a:p>
        </p:txBody>
      </p:sp>
      <p:sp>
        <p:nvSpPr>
          <p:cNvPr id="16" name="Text 14"/>
          <p:cNvSpPr/>
          <p:nvPr/>
        </p:nvSpPr>
        <p:spPr>
          <a:xfrm>
            <a:off x="329184" y="2583180"/>
            <a:ext cx="713232" cy="182880"/>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APP0</a:t>
            </a:r>
            <a:endParaRPr lang="en-US" sz="750" dirty="0"/>
          </a:p>
        </p:txBody>
      </p:sp>
      <p:sp>
        <p:nvSpPr>
          <p:cNvPr id="17" name="Text 15"/>
          <p:cNvSpPr/>
          <p:nvPr/>
        </p:nvSpPr>
        <p:spPr>
          <a:xfrm>
            <a:off x="1097280" y="2427732"/>
            <a:ext cx="3255264" cy="310896"/>
          </a:xfrm>
          <a:prstGeom prst="rect">
            <a:avLst/>
          </a:prstGeom>
          <a:noFill/>
          <a:ln/>
        </p:spPr>
        <p:txBody>
          <a:bodyPr wrap="square" lIns="0" tIns="0" rIns="0" bIns="0" rtlCol="0" anchor="ctr"/>
          <a:lstStyle/>
          <a:p>
            <a:pPr marL="0" indent="0">
              <a:buNone/>
            </a:pPr>
            <a:r>
              <a:rPr lang="en-US" sz="820" dirty="0">
                <a:solidFill>
                  <a:srgbClr val="1A1A2E"/>
                </a:solidFill>
              </a:rPr>
              <a:t>Application-specific segment. Contains the JFIF identifier string and image density/aspect ratio data.</a:t>
            </a:r>
            <a:endParaRPr lang="en-US" sz="820" dirty="0"/>
          </a:p>
        </p:txBody>
      </p:sp>
      <p:sp>
        <p:nvSpPr>
          <p:cNvPr id="18" name="Shape 16"/>
          <p:cNvSpPr/>
          <p:nvPr/>
        </p:nvSpPr>
        <p:spPr>
          <a:xfrm>
            <a:off x="320040" y="2788920"/>
            <a:ext cx="4114800" cy="384048"/>
          </a:xfrm>
          <a:prstGeom prst="rect">
            <a:avLst/>
          </a:prstGeom>
          <a:solidFill>
            <a:srgbClr val="FFFFFF"/>
          </a:solidFill>
          <a:ln w="12700">
            <a:solidFill>
              <a:srgbClr val="E2E8F0"/>
            </a:solidFill>
            <a:prstDash val="solid"/>
          </a:ln>
        </p:spPr>
        <p:txBody>
          <a:bodyPr/>
          <a:lstStyle/>
          <a:p>
            <a:endParaRPr lang="en-SG"/>
          </a:p>
        </p:txBody>
      </p:sp>
      <p:sp>
        <p:nvSpPr>
          <p:cNvPr id="19" name="Shape 17"/>
          <p:cNvSpPr/>
          <p:nvPr/>
        </p:nvSpPr>
        <p:spPr>
          <a:xfrm>
            <a:off x="320040" y="2788920"/>
            <a:ext cx="713232" cy="384048"/>
          </a:xfrm>
          <a:prstGeom prst="rect">
            <a:avLst/>
          </a:prstGeom>
          <a:solidFill>
            <a:srgbClr val="A855F7">
              <a:alpha val="85000"/>
            </a:srgbClr>
          </a:solidFill>
          <a:ln w="6350">
            <a:solidFill>
              <a:srgbClr val="A855F7"/>
            </a:solidFill>
            <a:prstDash val="solid"/>
          </a:ln>
        </p:spPr>
        <p:txBody>
          <a:bodyPr/>
          <a:lstStyle/>
          <a:p>
            <a:endParaRPr lang="en-SG"/>
          </a:p>
        </p:txBody>
      </p:sp>
      <p:sp>
        <p:nvSpPr>
          <p:cNvPr id="20" name="Text 18"/>
          <p:cNvSpPr/>
          <p:nvPr/>
        </p:nvSpPr>
        <p:spPr>
          <a:xfrm>
            <a:off x="329184" y="2788920"/>
            <a:ext cx="713232" cy="201168"/>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FF E1</a:t>
            </a:r>
            <a:endParaRPr lang="en-US" sz="750" dirty="0"/>
          </a:p>
        </p:txBody>
      </p:sp>
      <p:sp>
        <p:nvSpPr>
          <p:cNvPr id="21" name="Text 19"/>
          <p:cNvSpPr/>
          <p:nvPr/>
        </p:nvSpPr>
        <p:spPr>
          <a:xfrm>
            <a:off x="329184" y="2980944"/>
            <a:ext cx="713232" cy="182880"/>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APP1</a:t>
            </a:r>
            <a:endParaRPr lang="en-US" sz="750" dirty="0"/>
          </a:p>
        </p:txBody>
      </p:sp>
      <p:sp>
        <p:nvSpPr>
          <p:cNvPr id="22" name="Text 20"/>
          <p:cNvSpPr/>
          <p:nvPr/>
        </p:nvSpPr>
        <p:spPr>
          <a:xfrm>
            <a:off x="1097280" y="2825496"/>
            <a:ext cx="3255264" cy="310896"/>
          </a:xfrm>
          <a:prstGeom prst="rect">
            <a:avLst/>
          </a:prstGeom>
          <a:noFill/>
          <a:ln/>
        </p:spPr>
        <p:txBody>
          <a:bodyPr wrap="square" lIns="0" tIns="0" rIns="0" bIns="0" rtlCol="0" anchor="ctr"/>
          <a:lstStyle/>
          <a:p>
            <a:pPr marL="0" indent="0">
              <a:buNone/>
            </a:pPr>
            <a:r>
              <a:rPr lang="en-US" sz="820" dirty="0">
                <a:solidFill>
                  <a:srgbClr val="1A1A2E"/>
                </a:solidFill>
              </a:rPr>
              <a:t>EXIF data block. Stores camera make/model, GPS coordinates, timestamp, and orientation flags.</a:t>
            </a:r>
            <a:endParaRPr lang="en-US" sz="820" dirty="0"/>
          </a:p>
        </p:txBody>
      </p:sp>
      <p:sp>
        <p:nvSpPr>
          <p:cNvPr id="23" name="Shape 21"/>
          <p:cNvSpPr/>
          <p:nvPr/>
        </p:nvSpPr>
        <p:spPr>
          <a:xfrm>
            <a:off x="320040" y="3186684"/>
            <a:ext cx="4114800" cy="384048"/>
          </a:xfrm>
          <a:prstGeom prst="rect">
            <a:avLst/>
          </a:prstGeom>
          <a:solidFill>
            <a:srgbClr val="FFFFFF"/>
          </a:solidFill>
          <a:ln w="12700">
            <a:solidFill>
              <a:srgbClr val="E2E8F0"/>
            </a:solidFill>
            <a:prstDash val="solid"/>
          </a:ln>
        </p:spPr>
        <p:txBody>
          <a:bodyPr/>
          <a:lstStyle/>
          <a:p>
            <a:endParaRPr lang="en-SG"/>
          </a:p>
        </p:txBody>
      </p:sp>
      <p:sp>
        <p:nvSpPr>
          <p:cNvPr id="24" name="Shape 22"/>
          <p:cNvSpPr/>
          <p:nvPr/>
        </p:nvSpPr>
        <p:spPr>
          <a:xfrm>
            <a:off x="320040" y="3186684"/>
            <a:ext cx="713232" cy="384048"/>
          </a:xfrm>
          <a:prstGeom prst="rect">
            <a:avLst/>
          </a:prstGeom>
          <a:solidFill>
            <a:srgbClr val="00B4D8">
              <a:alpha val="85000"/>
            </a:srgbClr>
          </a:solidFill>
          <a:ln w="6350">
            <a:solidFill>
              <a:srgbClr val="00B4D8"/>
            </a:solidFill>
            <a:prstDash val="solid"/>
          </a:ln>
        </p:spPr>
        <p:txBody>
          <a:bodyPr/>
          <a:lstStyle/>
          <a:p>
            <a:endParaRPr lang="en-SG"/>
          </a:p>
        </p:txBody>
      </p:sp>
      <p:sp>
        <p:nvSpPr>
          <p:cNvPr id="25" name="Text 23"/>
          <p:cNvSpPr/>
          <p:nvPr/>
        </p:nvSpPr>
        <p:spPr>
          <a:xfrm>
            <a:off x="329184" y="3186684"/>
            <a:ext cx="713232" cy="201168"/>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FF DB</a:t>
            </a:r>
            <a:endParaRPr lang="en-US" sz="750" dirty="0"/>
          </a:p>
        </p:txBody>
      </p:sp>
      <p:sp>
        <p:nvSpPr>
          <p:cNvPr id="26" name="Text 24"/>
          <p:cNvSpPr/>
          <p:nvPr/>
        </p:nvSpPr>
        <p:spPr>
          <a:xfrm>
            <a:off x="329184" y="3378708"/>
            <a:ext cx="713232" cy="182880"/>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DQT</a:t>
            </a:r>
            <a:endParaRPr lang="en-US" sz="750" dirty="0"/>
          </a:p>
        </p:txBody>
      </p:sp>
      <p:sp>
        <p:nvSpPr>
          <p:cNvPr id="27" name="Text 25"/>
          <p:cNvSpPr/>
          <p:nvPr/>
        </p:nvSpPr>
        <p:spPr>
          <a:xfrm>
            <a:off x="1097280" y="3223260"/>
            <a:ext cx="3255264" cy="310896"/>
          </a:xfrm>
          <a:prstGeom prst="rect">
            <a:avLst/>
          </a:prstGeom>
          <a:noFill/>
          <a:ln/>
        </p:spPr>
        <p:txBody>
          <a:bodyPr wrap="square" lIns="0" tIns="0" rIns="0" bIns="0" rtlCol="0" anchor="ctr"/>
          <a:lstStyle/>
          <a:p>
            <a:pPr marL="0" indent="0">
              <a:buNone/>
            </a:pPr>
            <a:r>
              <a:rPr lang="en-US" sz="820" dirty="0">
                <a:solidFill>
                  <a:srgbClr val="1A1A2E"/>
                </a:solidFill>
              </a:rPr>
              <a:t>Define Quantisation Table. Sets the quality matrix used during lossy compression of luma and chroma channels.</a:t>
            </a:r>
            <a:endParaRPr lang="en-US" sz="820" dirty="0"/>
          </a:p>
        </p:txBody>
      </p:sp>
      <p:sp>
        <p:nvSpPr>
          <p:cNvPr id="28" name="Shape 26"/>
          <p:cNvSpPr/>
          <p:nvPr/>
        </p:nvSpPr>
        <p:spPr>
          <a:xfrm>
            <a:off x="320040" y="3584448"/>
            <a:ext cx="4114800" cy="384048"/>
          </a:xfrm>
          <a:prstGeom prst="rect">
            <a:avLst/>
          </a:prstGeom>
          <a:solidFill>
            <a:srgbClr val="FFFFFF"/>
          </a:solidFill>
          <a:ln w="12700">
            <a:solidFill>
              <a:srgbClr val="E2E8F0"/>
            </a:solidFill>
            <a:prstDash val="solid"/>
          </a:ln>
        </p:spPr>
        <p:txBody>
          <a:bodyPr/>
          <a:lstStyle/>
          <a:p>
            <a:endParaRPr lang="en-SG"/>
          </a:p>
        </p:txBody>
      </p:sp>
      <p:sp>
        <p:nvSpPr>
          <p:cNvPr id="29" name="Shape 27"/>
          <p:cNvSpPr/>
          <p:nvPr/>
        </p:nvSpPr>
        <p:spPr>
          <a:xfrm>
            <a:off x="320040" y="3584448"/>
            <a:ext cx="713232" cy="384048"/>
          </a:xfrm>
          <a:prstGeom prst="rect">
            <a:avLst/>
          </a:prstGeom>
          <a:solidFill>
            <a:srgbClr val="F1C40F">
              <a:alpha val="85000"/>
            </a:srgbClr>
          </a:solidFill>
          <a:ln w="6350">
            <a:solidFill>
              <a:srgbClr val="F1C40F"/>
            </a:solidFill>
            <a:prstDash val="solid"/>
          </a:ln>
        </p:spPr>
        <p:txBody>
          <a:bodyPr/>
          <a:lstStyle/>
          <a:p>
            <a:endParaRPr lang="en-SG"/>
          </a:p>
        </p:txBody>
      </p:sp>
      <p:sp>
        <p:nvSpPr>
          <p:cNvPr id="30" name="Text 28"/>
          <p:cNvSpPr/>
          <p:nvPr/>
        </p:nvSpPr>
        <p:spPr>
          <a:xfrm>
            <a:off x="329184" y="3584448"/>
            <a:ext cx="713232" cy="201168"/>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FF C0</a:t>
            </a:r>
            <a:endParaRPr lang="en-US" sz="750" dirty="0"/>
          </a:p>
        </p:txBody>
      </p:sp>
      <p:sp>
        <p:nvSpPr>
          <p:cNvPr id="31" name="Text 29"/>
          <p:cNvSpPr/>
          <p:nvPr/>
        </p:nvSpPr>
        <p:spPr>
          <a:xfrm>
            <a:off x="329184" y="3776472"/>
            <a:ext cx="713232" cy="182880"/>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SOF0</a:t>
            </a:r>
            <a:endParaRPr lang="en-US" sz="750" dirty="0"/>
          </a:p>
        </p:txBody>
      </p:sp>
      <p:sp>
        <p:nvSpPr>
          <p:cNvPr id="32" name="Text 30"/>
          <p:cNvSpPr/>
          <p:nvPr/>
        </p:nvSpPr>
        <p:spPr>
          <a:xfrm>
            <a:off x="1097280" y="3621024"/>
            <a:ext cx="3255264" cy="310896"/>
          </a:xfrm>
          <a:prstGeom prst="rect">
            <a:avLst/>
          </a:prstGeom>
          <a:noFill/>
          <a:ln/>
        </p:spPr>
        <p:txBody>
          <a:bodyPr wrap="square" lIns="0" tIns="0" rIns="0" bIns="0" rtlCol="0" anchor="ctr"/>
          <a:lstStyle/>
          <a:p>
            <a:pPr marL="0" indent="0">
              <a:buNone/>
            </a:pPr>
            <a:r>
              <a:rPr lang="en-US" sz="820" dirty="0">
                <a:solidFill>
                  <a:srgbClr val="1A1A2E"/>
                </a:solidFill>
              </a:rPr>
              <a:t>Start of Frame. Defines image dimensions (height × width) and colour components.</a:t>
            </a:r>
            <a:endParaRPr lang="en-US" sz="820" dirty="0"/>
          </a:p>
        </p:txBody>
      </p:sp>
      <p:sp>
        <p:nvSpPr>
          <p:cNvPr id="33" name="Shape 31"/>
          <p:cNvSpPr/>
          <p:nvPr/>
        </p:nvSpPr>
        <p:spPr>
          <a:xfrm>
            <a:off x="320040" y="3982212"/>
            <a:ext cx="4114800" cy="384048"/>
          </a:xfrm>
          <a:prstGeom prst="rect">
            <a:avLst/>
          </a:prstGeom>
          <a:solidFill>
            <a:srgbClr val="FFFFFF"/>
          </a:solidFill>
          <a:ln w="12700">
            <a:solidFill>
              <a:srgbClr val="E2E8F0"/>
            </a:solidFill>
            <a:prstDash val="solid"/>
          </a:ln>
        </p:spPr>
        <p:txBody>
          <a:bodyPr/>
          <a:lstStyle/>
          <a:p>
            <a:endParaRPr lang="en-SG"/>
          </a:p>
        </p:txBody>
      </p:sp>
      <p:sp>
        <p:nvSpPr>
          <p:cNvPr id="34" name="Shape 32"/>
          <p:cNvSpPr/>
          <p:nvPr/>
        </p:nvSpPr>
        <p:spPr>
          <a:xfrm>
            <a:off x="320040" y="3982212"/>
            <a:ext cx="713232" cy="384048"/>
          </a:xfrm>
          <a:prstGeom prst="rect">
            <a:avLst/>
          </a:prstGeom>
          <a:solidFill>
            <a:srgbClr val="2ECC71">
              <a:alpha val="85000"/>
            </a:srgbClr>
          </a:solidFill>
          <a:ln w="6350">
            <a:solidFill>
              <a:srgbClr val="2ECC71"/>
            </a:solidFill>
            <a:prstDash val="solid"/>
          </a:ln>
        </p:spPr>
        <p:txBody>
          <a:bodyPr/>
          <a:lstStyle/>
          <a:p>
            <a:endParaRPr lang="en-SG"/>
          </a:p>
        </p:txBody>
      </p:sp>
      <p:sp>
        <p:nvSpPr>
          <p:cNvPr id="35" name="Text 33"/>
          <p:cNvSpPr/>
          <p:nvPr/>
        </p:nvSpPr>
        <p:spPr>
          <a:xfrm>
            <a:off x="329184" y="3982212"/>
            <a:ext cx="713232" cy="201168"/>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FF DA</a:t>
            </a:r>
            <a:endParaRPr lang="en-US" sz="750" dirty="0"/>
          </a:p>
        </p:txBody>
      </p:sp>
      <p:sp>
        <p:nvSpPr>
          <p:cNvPr id="36" name="Text 34"/>
          <p:cNvSpPr/>
          <p:nvPr/>
        </p:nvSpPr>
        <p:spPr>
          <a:xfrm>
            <a:off x="329184" y="4174236"/>
            <a:ext cx="713232" cy="182880"/>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SOS</a:t>
            </a:r>
            <a:endParaRPr lang="en-US" sz="750" dirty="0"/>
          </a:p>
        </p:txBody>
      </p:sp>
      <p:sp>
        <p:nvSpPr>
          <p:cNvPr id="37" name="Text 35"/>
          <p:cNvSpPr/>
          <p:nvPr/>
        </p:nvSpPr>
        <p:spPr>
          <a:xfrm>
            <a:off x="1097280" y="4018788"/>
            <a:ext cx="3255264" cy="310896"/>
          </a:xfrm>
          <a:prstGeom prst="rect">
            <a:avLst/>
          </a:prstGeom>
          <a:noFill/>
          <a:ln/>
        </p:spPr>
        <p:txBody>
          <a:bodyPr wrap="square" lIns="0" tIns="0" rIns="0" bIns="0" rtlCol="0" anchor="ctr"/>
          <a:lstStyle/>
          <a:p>
            <a:pPr marL="0" indent="0">
              <a:buNone/>
            </a:pPr>
            <a:r>
              <a:rPr lang="en-US" sz="820" dirty="0">
                <a:solidFill>
                  <a:srgbClr val="1A1A2E"/>
                </a:solidFill>
              </a:rPr>
              <a:t>Start of Scan. Precedes the actual compressed pixel data — the bulk of the file.</a:t>
            </a:r>
            <a:endParaRPr lang="en-US" sz="820" dirty="0"/>
          </a:p>
        </p:txBody>
      </p:sp>
      <p:sp>
        <p:nvSpPr>
          <p:cNvPr id="38" name="Shape 36"/>
          <p:cNvSpPr/>
          <p:nvPr/>
        </p:nvSpPr>
        <p:spPr>
          <a:xfrm>
            <a:off x="320040" y="4379976"/>
            <a:ext cx="4114800" cy="384048"/>
          </a:xfrm>
          <a:prstGeom prst="rect">
            <a:avLst/>
          </a:prstGeom>
          <a:solidFill>
            <a:srgbClr val="FFFFFF"/>
          </a:solidFill>
          <a:ln w="12700">
            <a:solidFill>
              <a:srgbClr val="E2E8F0"/>
            </a:solidFill>
            <a:prstDash val="solid"/>
          </a:ln>
        </p:spPr>
        <p:txBody>
          <a:bodyPr/>
          <a:lstStyle/>
          <a:p>
            <a:endParaRPr lang="en-SG"/>
          </a:p>
        </p:txBody>
      </p:sp>
      <p:sp>
        <p:nvSpPr>
          <p:cNvPr id="39" name="Shape 37"/>
          <p:cNvSpPr/>
          <p:nvPr/>
        </p:nvSpPr>
        <p:spPr>
          <a:xfrm>
            <a:off x="320040" y="4379976"/>
            <a:ext cx="713232" cy="384048"/>
          </a:xfrm>
          <a:prstGeom prst="rect">
            <a:avLst/>
          </a:prstGeom>
          <a:solidFill>
            <a:srgbClr val="E74C3C">
              <a:alpha val="85000"/>
            </a:srgbClr>
          </a:solidFill>
          <a:ln w="6350">
            <a:solidFill>
              <a:srgbClr val="E74C3C"/>
            </a:solidFill>
            <a:prstDash val="solid"/>
          </a:ln>
        </p:spPr>
        <p:txBody>
          <a:bodyPr/>
          <a:lstStyle/>
          <a:p>
            <a:endParaRPr lang="en-SG"/>
          </a:p>
        </p:txBody>
      </p:sp>
      <p:sp>
        <p:nvSpPr>
          <p:cNvPr id="40" name="Text 38"/>
          <p:cNvSpPr/>
          <p:nvPr/>
        </p:nvSpPr>
        <p:spPr>
          <a:xfrm>
            <a:off x="329184" y="4379976"/>
            <a:ext cx="713232" cy="201168"/>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FF D9</a:t>
            </a:r>
            <a:endParaRPr lang="en-US" sz="750" dirty="0"/>
          </a:p>
        </p:txBody>
      </p:sp>
      <p:sp>
        <p:nvSpPr>
          <p:cNvPr id="41" name="Text 39"/>
          <p:cNvSpPr/>
          <p:nvPr/>
        </p:nvSpPr>
        <p:spPr>
          <a:xfrm>
            <a:off x="329184" y="4572000"/>
            <a:ext cx="713232" cy="182880"/>
          </a:xfrm>
          <a:prstGeom prst="rect">
            <a:avLst/>
          </a:prstGeom>
          <a:noFill/>
          <a:ln/>
        </p:spPr>
        <p:txBody>
          <a:bodyPr wrap="square" lIns="0" tIns="0" rIns="0" bIns="0" rtlCol="0" anchor="ctr"/>
          <a:lstStyle/>
          <a:p>
            <a:pPr marL="0" indent="0" algn="ctr">
              <a:buNone/>
            </a:pPr>
            <a:r>
              <a:rPr lang="en-US" sz="750" b="1" dirty="0">
                <a:solidFill>
                  <a:srgbClr val="0D1B2A"/>
                </a:solidFill>
                <a:latin typeface="Consolas" pitchFamily="34" charset="0"/>
                <a:ea typeface="Consolas" pitchFamily="34" charset="-122"/>
                <a:cs typeface="Consolas" pitchFamily="34" charset="-120"/>
              </a:rPr>
              <a:t>EOI</a:t>
            </a:r>
            <a:endParaRPr lang="en-US" sz="750" dirty="0"/>
          </a:p>
        </p:txBody>
      </p:sp>
      <p:sp>
        <p:nvSpPr>
          <p:cNvPr id="42" name="Text 40"/>
          <p:cNvSpPr/>
          <p:nvPr/>
        </p:nvSpPr>
        <p:spPr>
          <a:xfrm>
            <a:off x="1097280" y="4416552"/>
            <a:ext cx="3255264" cy="310896"/>
          </a:xfrm>
          <a:prstGeom prst="rect">
            <a:avLst/>
          </a:prstGeom>
          <a:noFill/>
          <a:ln/>
        </p:spPr>
        <p:txBody>
          <a:bodyPr wrap="square" lIns="0" tIns="0" rIns="0" bIns="0" rtlCol="0" anchor="ctr"/>
          <a:lstStyle/>
          <a:p>
            <a:pPr marL="0" indent="0">
              <a:buNone/>
            </a:pPr>
            <a:r>
              <a:rPr lang="en-US" sz="820" dirty="0">
                <a:solidFill>
                  <a:srgbClr val="1A1A2E"/>
                </a:solidFill>
              </a:rPr>
              <a:t>End of Image. The footer — always the final two bytes. Used by dd count to delimit the carve.</a:t>
            </a:r>
            <a:endParaRPr lang="en-US" sz="820" dirty="0"/>
          </a:p>
        </p:txBody>
      </p:sp>
      <p:sp>
        <p:nvSpPr>
          <p:cNvPr id="43" name="Shape 41"/>
          <p:cNvSpPr/>
          <p:nvPr/>
        </p:nvSpPr>
        <p:spPr>
          <a:xfrm>
            <a:off x="4617720" y="1170432"/>
            <a:ext cx="36576" cy="3703320"/>
          </a:xfrm>
          <a:prstGeom prst="rect">
            <a:avLst/>
          </a:prstGeom>
          <a:solidFill>
            <a:srgbClr val="2ECC71"/>
          </a:solidFill>
          <a:ln w="12700">
            <a:solidFill>
              <a:srgbClr val="2ECC71"/>
            </a:solidFill>
            <a:prstDash val="solid"/>
          </a:ln>
        </p:spPr>
        <p:txBody>
          <a:bodyPr/>
          <a:lstStyle/>
          <a:p>
            <a:endParaRPr lang="en-SG"/>
          </a:p>
        </p:txBody>
      </p:sp>
      <p:sp>
        <p:nvSpPr>
          <p:cNvPr id="44" name="Text 42"/>
          <p:cNvSpPr/>
          <p:nvPr/>
        </p:nvSpPr>
        <p:spPr>
          <a:xfrm>
            <a:off x="4736592" y="1243584"/>
            <a:ext cx="4041648" cy="274320"/>
          </a:xfrm>
          <a:prstGeom prst="rect">
            <a:avLst/>
          </a:prstGeom>
          <a:noFill/>
          <a:ln/>
        </p:spPr>
        <p:txBody>
          <a:bodyPr wrap="square" lIns="0" tIns="0" rIns="0" bIns="0" rtlCol="0" anchor="ctr"/>
          <a:lstStyle/>
          <a:p>
            <a:pPr marL="0" indent="0">
              <a:buNone/>
            </a:pPr>
            <a:r>
              <a:rPr lang="en-US" sz="1300" b="1" dirty="0">
                <a:solidFill>
                  <a:srgbClr val="1A1A2E"/>
                </a:solidFill>
              </a:rPr>
              <a:t>Automated Carving Tools</a:t>
            </a:r>
            <a:endParaRPr lang="en-US" sz="1300" dirty="0"/>
          </a:p>
        </p:txBody>
      </p:sp>
      <p:sp>
        <p:nvSpPr>
          <p:cNvPr id="45" name="Text 43"/>
          <p:cNvSpPr/>
          <p:nvPr/>
        </p:nvSpPr>
        <p:spPr>
          <a:xfrm>
            <a:off x="4736592" y="1536192"/>
            <a:ext cx="4041648" cy="402336"/>
          </a:xfrm>
          <a:prstGeom prst="rect">
            <a:avLst/>
          </a:prstGeom>
          <a:noFill/>
          <a:ln/>
        </p:spPr>
        <p:txBody>
          <a:bodyPr wrap="square" lIns="0" tIns="0" rIns="0" bIns="0" rtlCol="0" anchor="ctr"/>
          <a:lstStyle/>
          <a:p>
            <a:pPr marL="0" indent="0">
              <a:buNone/>
            </a:pPr>
            <a:r>
              <a:rPr lang="en-US" sz="900" dirty="0">
                <a:solidFill>
                  <a:srgbClr val="8899AA"/>
                </a:solidFill>
              </a:rPr>
              <a:t>Manual carving with xxd + dd works for single files. These tools automate the process across entire disk images, applying dozens of signatures simultaneously.</a:t>
            </a:r>
            <a:endParaRPr lang="en-US" sz="900" dirty="0"/>
          </a:p>
        </p:txBody>
      </p:sp>
      <p:sp>
        <p:nvSpPr>
          <p:cNvPr id="46" name="Shape 44"/>
          <p:cNvSpPr/>
          <p:nvPr/>
        </p:nvSpPr>
        <p:spPr>
          <a:xfrm>
            <a:off x="4736592" y="1993392"/>
            <a:ext cx="4041648" cy="667512"/>
          </a:xfrm>
          <a:prstGeom prst="rect">
            <a:avLst/>
          </a:prstGeom>
          <a:solidFill>
            <a:srgbClr val="FFFFFF"/>
          </a:solidFill>
          <a:ln w="12700">
            <a:solidFill>
              <a:srgbClr val="E2E8F0"/>
            </a:solidFill>
            <a:prstDash val="solid"/>
          </a:ln>
        </p:spPr>
        <p:txBody>
          <a:bodyPr/>
          <a:lstStyle/>
          <a:p>
            <a:endParaRPr lang="en-SG"/>
          </a:p>
        </p:txBody>
      </p:sp>
      <p:sp>
        <p:nvSpPr>
          <p:cNvPr id="47" name="Shape 45"/>
          <p:cNvSpPr/>
          <p:nvPr/>
        </p:nvSpPr>
        <p:spPr>
          <a:xfrm>
            <a:off x="4736592" y="1993392"/>
            <a:ext cx="4041648" cy="36576"/>
          </a:xfrm>
          <a:prstGeom prst="rect">
            <a:avLst/>
          </a:prstGeom>
          <a:solidFill>
            <a:srgbClr val="00B4D8"/>
          </a:solidFill>
          <a:ln w="12700">
            <a:solidFill>
              <a:srgbClr val="00B4D8"/>
            </a:solidFill>
            <a:prstDash val="solid"/>
          </a:ln>
        </p:spPr>
        <p:txBody>
          <a:bodyPr/>
          <a:lstStyle/>
          <a:p>
            <a:endParaRPr lang="en-SG"/>
          </a:p>
        </p:txBody>
      </p:sp>
      <p:sp>
        <p:nvSpPr>
          <p:cNvPr id="48" name="Text 46"/>
          <p:cNvSpPr/>
          <p:nvPr/>
        </p:nvSpPr>
        <p:spPr>
          <a:xfrm>
            <a:off x="4809744" y="2057400"/>
            <a:ext cx="1920240" cy="201168"/>
          </a:xfrm>
          <a:prstGeom prst="rect">
            <a:avLst/>
          </a:prstGeom>
          <a:noFill/>
          <a:ln/>
        </p:spPr>
        <p:txBody>
          <a:bodyPr wrap="square" lIns="0" tIns="0" rIns="0" bIns="0" rtlCol="0" anchor="ctr"/>
          <a:lstStyle/>
          <a:p>
            <a:pPr marL="0" indent="0">
              <a:buNone/>
            </a:pPr>
            <a:r>
              <a:rPr lang="en-US" sz="1050" b="1" dirty="0">
                <a:solidFill>
                  <a:srgbClr val="00B4D8"/>
                </a:solidFill>
              </a:rPr>
              <a:t>Foremost</a:t>
            </a:r>
            <a:endParaRPr lang="en-US" sz="1050" dirty="0"/>
          </a:p>
        </p:txBody>
      </p:sp>
      <p:sp>
        <p:nvSpPr>
          <p:cNvPr id="49" name="Shape 47"/>
          <p:cNvSpPr/>
          <p:nvPr/>
        </p:nvSpPr>
        <p:spPr>
          <a:xfrm>
            <a:off x="6748272" y="2075688"/>
            <a:ext cx="1956816" cy="155448"/>
          </a:xfrm>
          <a:prstGeom prst="rect">
            <a:avLst/>
          </a:prstGeom>
          <a:solidFill>
            <a:srgbClr val="00B4D8">
              <a:alpha val="22000"/>
            </a:srgbClr>
          </a:solidFill>
          <a:ln w="6350">
            <a:solidFill>
              <a:srgbClr val="00B4D8"/>
            </a:solidFill>
            <a:prstDash val="solid"/>
          </a:ln>
        </p:spPr>
        <p:txBody>
          <a:bodyPr/>
          <a:lstStyle/>
          <a:p>
            <a:endParaRPr lang="en-SG"/>
          </a:p>
        </p:txBody>
      </p:sp>
      <p:sp>
        <p:nvSpPr>
          <p:cNvPr id="50" name="Text 48"/>
          <p:cNvSpPr/>
          <p:nvPr/>
        </p:nvSpPr>
        <p:spPr>
          <a:xfrm>
            <a:off x="6748272" y="2075688"/>
            <a:ext cx="1956816" cy="155448"/>
          </a:xfrm>
          <a:prstGeom prst="rect">
            <a:avLst/>
          </a:prstGeom>
          <a:noFill/>
          <a:ln/>
        </p:spPr>
        <p:txBody>
          <a:bodyPr wrap="square" lIns="0" tIns="0" rIns="0" bIns="0" rtlCol="0" anchor="ctr"/>
          <a:lstStyle/>
          <a:p>
            <a:pPr marL="0" indent="0" algn="ctr">
              <a:buNone/>
            </a:pPr>
            <a:r>
              <a:rPr lang="en-US" sz="620" dirty="0">
                <a:solidFill>
                  <a:srgbClr val="00B4D8"/>
                </a:solidFill>
              </a:rPr>
              <a:t>CLI · Open-source</a:t>
            </a:r>
            <a:endParaRPr lang="en-US" sz="620" dirty="0"/>
          </a:p>
        </p:txBody>
      </p:sp>
      <p:sp>
        <p:nvSpPr>
          <p:cNvPr id="51" name="Text 49"/>
          <p:cNvSpPr/>
          <p:nvPr/>
        </p:nvSpPr>
        <p:spPr>
          <a:xfrm>
            <a:off x="4809744" y="2276856"/>
            <a:ext cx="3895344" cy="237744"/>
          </a:xfrm>
          <a:prstGeom prst="rect">
            <a:avLst/>
          </a:prstGeom>
          <a:noFill/>
          <a:ln/>
        </p:spPr>
        <p:txBody>
          <a:bodyPr wrap="square" lIns="0" tIns="0" rIns="0" bIns="0" rtlCol="0" anchor="ctr"/>
          <a:lstStyle/>
          <a:p>
            <a:pPr marL="0" indent="0">
              <a:buNone/>
            </a:pPr>
            <a:r>
              <a:rPr lang="en-US" sz="800" dirty="0">
                <a:solidFill>
                  <a:srgbClr val="8899AA"/>
                </a:solidFill>
              </a:rPr>
              <a:t>Original Linux carving tool (US Air Force OSI). Reads a header/footer config and scans the image sequentially, placing recovered files into type-named output folders.</a:t>
            </a:r>
            <a:endParaRPr lang="en-US" sz="800" dirty="0"/>
          </a:p>
        </p:txBody>
      </p:sp>
      <p:sp>
        <p:nvSpPr>
          <p:cNvPr id="52" name="Shape 50"/>
          <p:cNvSpPr/>
          <p:nvPr/>
        </p:nvSpPr>
        <p:spPr>
          <a:xfrm>
            <a:off x="4736592" y="2523744"/>
            <a:ext cx="4041648" cy="146304"/>
          </a:xfrm>
          <a:prstGeom prst="rect">
            <a:avLst/>
          </a:prstGeom>
          <a:solidFill>
            <a:srgbClr val="FFFFFF"/>
          </a:solidFill>
          <a:ln w="12700">
            <a:solidFill>
              <a:srgbClr val="E2E8F0"/>
            </a:solidFill>
            <a:prstDash val="solid"/>
          </a:ln>
        </p:spPr>
        <p:txBody>
          <a:bodyPr/>
          <a:lstStyle/>
          <a:p>
            <a:endParaRPr lang="en-SG"/>
          </a:p>
        </p:txBody>
      </p:sp>
      <p:sp>
        <p:nvSpPr>
          <p:cNvPr id="53" name="Text 51"/>
          <p:cNvSpPr/>
          <p:nvPr/>
        </p:nvSpPr>
        <p:spPr>
          <a:xfrm>
            <a:off x="4791456" y="2532888"/>
            <a:ext cx="3931920" cy="128016"/>
          </a:xfrm>
          <a:prstGeom prst="rect">
            <a:avLst/>
          </a:prstGeom>
          <a:noFill/>
          <a:ln/>
        </p:spPr>
        <p:txBody>
          <a:bodyPr wrap="square" lIns="0" tIns="0" rIns="0" bIns="0" rtlCol="0" anchor="ctr"/>
          <a:lstStyle/>
          <a:p>
            <a:pPr marL="0" indent="0">
              <a:buNone/>
            </a:pPr>
            <a:r>
              <a:rPr lang="en-US" sz="720" dirty="0">
                <a:solidFill>
                  <a:srgbClr val="F4A261"/>
                </a:solidFill>
                <a:latin typeface="Consolas" pitchFamily="34" charset="0"/>
                <a:ea typeface="Consolas" pitchFamily="34" charset="-122"/>
                <a:cs typeface="Consolas" pitchFamily="34" charset="-120"/>
              </a:rPr>
              <a:t>foremost -t jpg,pdf,zip -i evidence.img -o ./carved/</a:t>
            </a:r>
            <a:endParaRPr lang="en-US" sz="720" dirty="0"/>
          </a:p>
        </p:txBody>
      </p:sp>
      <p:sp>
        <p:nvSpPr>
          <p:cNvPr id="54" name="Shape 52"/>
          <p:cNvSpPr/>
          <p:nvPr/>
        </p:nvSpPr>
        <p:spPr>
          <a:xfrm>
            <a:off x="4736592" y="2697480"/>
            <a:ext cx="4041648" cy="667512"/>
          </a:xfrm>
          <a:prstGeom prst="rect">
            <a:avLst/>
          </a:prstGeom>
          <a:solidFill>
            <a:srgbClr val="FFFFFF"/>
          </a:solidFill>
          <a:ln w="12700">
            <a:solidFill>
              <a:srgbClr val="E2E8F0"/>
            </a:solidFill>
            <a:prstDash val="solid"/>
          </a:ln>
        </p:spPr>
        <p:txBody>
          <a:bodyPr/>
          <a:lstStyle/>
          <a:p>
            <a:endParaRPr lang="en-SG"/>
          </a:p>
        </p:txBody>
      </p:sp>
      <p:sp>
        <p:nvSpPr>
          <p:cNvPr id="55" name="Shape 53"/>
          <p:cNvSpPr/>
          <p:nvPr/>
        </p:nvSpPr>
        <p:spPr>
          <a:xfrm>
            <a:off x="4736592" y="2697480"/>
            <a:ext cx="4041648" cy="36576"/>
          </a:xfrm>
          <a:prstGeom prst="rect">
            <a:avLst/>
          </a:prstGeom>
          <a:solidFill>
            <a:srgbClr val="F4A261"/>
          </a:solidFill>
          <a:ln w="12700">
            <a:solidFill>
              <a:srgbClr val="F4A261"/>
            </a:solidFill>
            <a:prstDash val="solid"/>
          </a:ln>
        </p:spPr>
        <p:txBody>
          <a:bodyPr/>
          <a:lstStyle/>
          <a:p>
            <a:endParaRPr lang="en-SG"/>
          </a:p>
        </p:txBody>
      </p:sp>
      <p:sp>
        <p:nvSpPr>
          <p:cNvPr id="56" name="Text 54"/>
          <p:cNvSpPr/>
          <p:nvPr/>
        </p:nvSpPr>
        <p:spPr>
          <a:xfrm>
            <a:off x="4809744" y="2761488"/>
            <a:ext cx="1920240" cy="201168"/>
          </a:xfrm>
          <a:prstGeom prst="rect">
            <a:avLst/>
          </a:prstGeom>
          <a:noFill/>
          <a:ln/>
        </p:spPr>
        <p:txBody>
          <a:bodyPr wrap="square" lIns="0" tIns="0" rIns="0" bIns="0" rtlCol="0" anchor="ctr"/>
          <a:lstStyle/>
          <a:p>
            <a:pPr marL="0" indent="0">
              <a:buNone/>
            </a:pPr>
            <a:r>
              <a:rPr lang="en-US" sz="1050" b="1" dirty="0">
                <a:solidFill>
                  <a:srgbClr val="F4A261"/>
                </a:solidFill>
              </a:rPr>
              <a:t>Scalpel</a:t>
            </a:r>
            <a:endParaRPr lang="en-US" sz="1050" dirty="0"/>
          </a:p>
        </p:txBody>
      </p:sp>
      <p:sp>
        <p:nvSpPr>
          <p:cNvPr id="57" name="Shape 55"/>
          <p:cNvSpPr/>
          <p:nvPr/>
        </p:nvSpPr>
        <p:spPr>
          <a:xfrm>
            <a:off x="6748272" y="2779776"/>
            <a:ext cx="1956816" cy="155448"/>
          </a:xfrm>
          <a:prstGeom prst="rect">
            <a:avLst/>
          </a:prstGeom>
          <a:solidFill>
            <a:srgbClr val="F4A261">
              <a:alpha val="22000"/>
            </a:srgbClr>
          </a:solidFill>
          <a:ln w="6350">
            <a:solidFill>
              <a:srgbClr val="F4A261"/>
            </a:solidFill>
            <a:prstDash val="solid"/>
          </a:ln>
        </p:spPr>
        <p:txBody>
          <a:bodyPr/>
          <a:lstStyle/>
          <a:p>
            <a:endParaRPr lang="en-SG"/>
          </a:p>
        </p:txBody>
      </p:sp>
      <p:sp>
        <p:nvSpPr>
          <p:cNvPr id="58" name="Text 56"/>
          <p:cNvSpPr/>
          <p:nvPr/>
        </p:nvSpPr>
        <p:spPr>
          <a:xfrm>
            <a:off x="6748272" y="2779776"/>
            <a:ext cx="1956816" cy="155448"/>
          </a:xfrm>
          <a:prstGeom prst="rect">
            <a:avLst/>
          </a:prstGeom>
          <a:noFill/>
          <a:ln/>
        </p:spPr>
        <p:txBody>
          <a:bodyPr wrap="square" lIns="0" tIns="0" rIns="0" bIns="0" rtlCol="0" anchor="ctr"/>
          <a:lstStyle/>
          <a:p>
            <a:pPr marL="0" indent="0" algn="ctr">
              <a:buNone/>
            </a:pPr>
            <a:r>
              <a:rPr lang="en-US" sz="620" dirty="0">
                <a:solidFill>
                  <a:srgbClr val="F4A261"/>
                </a:solidFill>
              </a:rPr>
              <a:t>CLI · Open-source</a:t>
            </a:r>
            <a:endParaRPr lang="en-US" sz="620" dirty="0"/>
          </a:p>
        </p:txBody>
      </p:sp>
      <p:sp>
        <p:nvSpPr>
          <p:cNvPr id="59" name="Text 57"/>
          <p:cNvSpPr/>
          <p:nvPr/>
        </p:nvSpPr>
        <p:spPr>
          <a:xfrm>
            <a:off x="4809744" y="2980944"/>
            <a:ext cx="3895344" cy="237744"/>
          </a:xfrm>
          <a:prstGeom prst="rect">
            <a:avLst/>
          </a:prstGeom>
          <a:noFill/>
          <a:ln/>
        </p:spPr>
        <p:txBody>
          <a:bodyPr wrap="square" lIns="0" tIns="0" rIns="0" bIns="0" rtlCol="0" anchor="ctr"/>
          <a:lstStyle/>
          <a:p>
            <a:pPr marL="0" indent="0">
              <a:buNone/>
            </a:pPr>
            <a:r>
              <a:rPr lang="en-US" sz="800" dirty="0">
                <a:solidFill>
                  <a:srgbClr val="8899AA"/>
                </a:solidFill>
              </a:rPr>
              <a:t>Multi-threaded rewrite of Foremost. Uses a configurable signature file and is significantly faster on large images. Widely used in Linux DFIR distributions.</a:t>
            </a:r>
            <a:endParaRPr lang="en-US" sz="800" dirty="0"/>
          </a:p>
        </p:txBody>
      </p:sp>
      <p:sp>
        <p:nvSpPr>
          <p:cNvPr id="60" name="Shape 58"/>
          <p:cNvSpPr/>
          <p:nvPr/>
        </p:nvSpPr>
        <p:spPr>
          <a:xfrm>
            <a:off x="4736592" y="3227832"/>
            <a:ext cx="4041648" cy="146304"/>
          </a:xfrm>
          <a:prstGeom prst="rect">
            <a:avLst/>
          </a:prstGeom>
          <a:solidFill>
            <a:srgbClr val="FFFFFF"/>
          </a:solidFill>
          <a:ln w="12700">
            <a:solidFill>
              <a:srgbClr val="E2E8F0"/>
            </a:solidFill>
            <a:prstDash val="solid"/>
          </a:ln>
        </p:spPr>
        <p:txBody>
          <a:bodyPr/>
          <a:lstStyle/>
          <a:p>
            <a:endParaRPr lang="en-SG"/>
          </a:p>
        </p:txBody>
      </p:sp>
      <p:sp>
        <p:nvSpPr>
          <p:cNvPr id="61" name="Text 59"/>
          <p:cNvSpPr/>
          <p:nvPr/>
        </p:nvSpPr>
        <p:spPr>
          <a:xfrm>
            <a:off x="4791456" y="3236976"/>
            <a:ext cx="3931920" cy="128016"/>
          </a:xfrm>
          <a:prstGeom prst="rect">
            <a:avLst/>
          </a:prstGeom>
          <a:noFill/>
          <a:ln/>
        </p:spPr>
        <p:txBody>
          <a:bodyPr wrap="square" lIns="0" tIns="0" rIns="0" bIns="0" rtlCol="0" anchor="ctr"/>
          <a:lstStyle/>
          <a:p>
            <a:pPr marL="0" indent="0">
              <a:buNone/>
            </a:pPr>
            <a:r>
              <a:rPr lang="en-US" sz="720" dirty="0">
                <a:solidFill>
                  <a:srgbClr val="F4A261"/>
                </a:solidFill>
                <a:latin typeface="Consolas" pitchFamily="34" charset="0"/>
                <a:ea typeface="Consolas" pitchFamily="34" charset="-122"/>
                <a:cs typeface="Consolas" pitchFamily="34" charset="-120"/>
              </a:rPr>
              <a:t>scalpel -c /etc/scalpel/scalpel.conf evidence.img -o out/</a:t>
            </a:r>
            <a:endParaRPr lang="en-US" sz="720" dirty="0"/>
          </a:p>
        </p:txBody>
      </p:sp>
      <p:sp>
        <p:nvSpPr>
          <p:cNvPr id="62" name="Shape 60"/>
          <p:cNvSpPr/>
          <p:nvPr/>
        </p:nvSpPr>
        <p:spPr>
          <a:xfrm>
            <a:off x="4736592" y="3401568"/>
            <a:ext cx="4041648" cy="667512"/>
          </a:xfrm>
          <a:prstGeom prst="rect">
            <a:avLst/>
          </a:prstGeom>
          <a:solidFill>
            <a:srgbClr val="FFFFFF"/>
          </a:solidFill>
          <a:ln w="12700">
            <a:solidFill>
              <a:srgbClr val="E2E8F0"/>
            </a:solidFill>
            <a:prstDash val="solid"/>
          </a:ln>
        </p:spPr>
        <p:txBody>
          <a:bodyPr/>
          <a:lstStyle/>
          <a:p>
            <a:endParaRPr lang="en-SG"/>
          </a:p>
        </p:txBody>
      </p:sp>
      <p:sp>
        <p:nvSpPr>
          <p:cNvPr id="63" name="Shape 61"/>
          <p:cNvSpPr/>
          <p:nvPr/>
        </p:nvSpPr>
        <p:spPr>
          <a:xfrm>
            <a:off x="4736592" y="3401568"/>
            <a:ext cx="4041648" cy="36576"/>
          </a:xfrm>
          <a:prstGeom prst="rect">
            <a:avLst/>
          </a:prstGeom>
          <a:solidFill>
            <a:srgbClr val="A855F7"/>
          </a:solidFill>
          <a:ln w="12700">
            <a:solidFill>
              <a:srgbClr val="A855F7"/>
            </a:solidFill>
            <a:prstDash val="solid"/>
          </a:ln>
        </p:spPr>
        <p:txBody>
          <a:bodyPr/>
          <a:lstStyle/>
          <a:p>
            <a:endParaRPr lang="en-SG"/>
          </a:p>
        </p:txBody>
      </p:sp>
      <p:sp>
        <p:nvSpPr>
          <p:cNvPr id="64" name="Text 62"/>
          <p:cNvSpPr/>
          <p:nvPr/>
        </p:nvSpPr>
        <p:spPr>
          <a:xfrm>
            <a:off x="4809744" y="3465576"/>
            <a:ext cx="1920240" cy="201168"/>
          </a:xfrm>
          <a:prstGeom prst="rect">
            <a:avLst/>
          </a:prstGeom>
          <a:noFill/>
          <a:ln/>
        </p:spPr>
        <p:txBody>
          <a:bodyPr wrap="square" lIns="0" tIns="0" rIns="0" bIns="0" rtlCol="0" anchor="ctr"/>
          <a:lstStyle/>
          <a:p>
            <a:pPr marL="0" indent="0">
              <a:buNone/>
            </a:pPr>
            <a:r>
              <a:rPr lang="en-US" sz="1050" b="1" dirty="0">
                <a:solidFill>
                  <a:srgbClr val="A855F7"/>
                </a:solidFill>
              </a:rPr>
              <a:t>bulk_extractor</a:t>
            </a:r>
            <a:endParaRPr lang="en-US" sz="1050" dirty="0"/>
          </a:p>
        </p:txBody>
      </p:sp>
      <p:sp>
        <p:nvSpPr>
          <p:cNvPr id="65" name="Shape 63"/>
          <p:cNvSpPr/>
          <p:nvPr/>
        </p:nvSpPr>
        <p:spPr>
          <a:xfrm>
            <a:off x="6748272" y="3483864"/>
            <a:ext cx="1956816" cy="155448"/>
          </a:xfrm>
          <a:prstGeom prst="rect">
            <a:avLst/>
          </a:prstGeom>
          <a:solidFill>
            <a:srgbClr val="A855F7">
              <a:alpha val="22000"/>
            </a:srgbClr>
          </a:solidFill>
          <a:ln w="6350">
            <a:solidFill>
              <a:srgbClr val="A855F7"/>
            </a:solidFill>
            <a:prstDash val="solid"/>
          </a:ln>
        </p:spPr>
        <p:txBody>
          <a:bodyPr/>
          <a:lstStyle/>
          <a:p>
            <a:endParaRPr lang="en-SG"/>
          </a:p>
        </p:txBody>
      </p:sp>
      <p:sp>
        <p:nvSpPr>
          <p:cNvPr id="66" name="Text 64"/>
          <p:cNvSpPr/>
          <p:nvPr/>
        </p:nvSpPr>
        <p:spPr>
          <a:xfrm>
            <a:off x="6748272" y="3483864"/>
            <a:ext cx="1956816" cy="155448"/>
          </a:xfrm>
          <a:prstGeom prst="rect">
            <a:avLst/>
          </a:prstGeom>
          <a:noFill/>
          <a:ln/>
        </p:spPr>
        <p:txBody>
          <a:bodyPr wrap="square" lIns="0" tIns="0" rIns="0" bIns="0" rtlCol="0" anchor="ctr"/>
          <a:lstStyle/>
          <a:p>
            <a:pPr marL="0" indent="0" algn="ctr">
              <a:buNone/>
            </a:pPr>
            <a:r>
              <a:rPr lang="en-US" sz="620" dirty="0">
                <a:solidFill>
                  <a:srgbClr val="A855F7"/>
                </a:solidFill>
              </a:rPr>
              <a:t>CLI · DFIR standard</a:t>
            </a:r>
            <a:endParaRPr lang="en-US" sz="620" dirty="0"/>
          </a:p>
        </p:txBody>
      </p:sp>
      <p:sp>
        <p:nvSpPr>
          <p:cNvPr id="67" name="Text 65"/>
          <p:cNvSpPr/>
          <p:nvPr/>
        </p:nvSpPr>
        <p:spPr>
          <a:xfrm>
            <a:off x="4809744" y="3685032"/>
            <a:ext cx="3895344" cy="237744"/>
          </a:xfrm>
          <a:prstGeom prst="rect">
            <a:avLst/>
          </a:prstGeom>
          <a:noFill/>
          <a:ln/>
        </p:spPr>
        <p:txBody>
          <a:bodyPr wrap="square" lIns="0" tIns="0" rIns="0" bIns="0" rtlCol="0" anchor="ctr"/>
          <a:lstStyle/>
          <a:p>
            <a:pPr marL="0" indent="0">
              <a:buNone/>
            </a:pPr>
            <a:r>
              <a:rPr lang="en-US" sz="800" dirty="0">
                <a:solidFill>
                  <a:srgbClr val="8899AA"/>
                </a:solidFill>
              </a:rPr>
              <a:t>Scans disk images for emails, URLs, credit cards, GPS and file fragments without parsing the file system. Outputs typed feature files. Used in large-scale DFIR cases.</a:t>
            </a:r>
            <a:endParaRPr lang="en-US" sz="800" dirty="0"/>
          </a:p>
        </p:txBody>
      </p:sp>
      <p:sp>
        <p:nvSpPr>
          <p:cNvPr id="68" name="Shape 66"/>
          <p:cNvSpPr/>
          <p:nvPr/>
        </p:nvSpPr>
        <p:spPr>
          <a:xfrm>
            <a:off x="4736592" y="3931920"/>
            <a:ext cx="4041648" cy="146304"/>
          </a:xfrm>
          <a:prstGeom prst="rect">
            <a:avLst/>
          </a:prstGeom>
          <a:solidFill>
            <a:srgbClr val="FFFFFF"/>
          </a:solidFill>
          <a:ln w="12700">
            <a:solidFill>
              <a:srgbClr val="E2E8F0"/>
            </a:solidFill>
            <a:prstDash val="solid"/>
          </a:ln>
        </p:spPr>
        <p:txBody>
          <a:bodyPr/>
          <a:lstStyle/>
          <a:p>
            <a:endParaRPr lang="en-SG"/>
          </a:p>
        </p:txBody>
      </p:sp>
      <p:sp>
        <p:nvSpPr>
          <p:cNvPr id="69" name="Text 67"/>
          <p:cNvSpPr/>
          <p:nvPr/>
        </p:nvSpPr>
        <p:spPr>
          <a:xfrm>
            <a:off x="4791456" y="3941064"/>
            <a:ext cx="3931920" cy="128016"/>
          </a:xfrm>
          <a:prstGeom prst="rect">
            <a:avLst/>
          </a:prstGeom>
          <a:noFill/>
          <a:ln/>
        </p:spPr>
        <p:txBody>
          <a:bodyPr wrap="square" lIns="0" tIns="0" rIns="0" bIns="0" rtlCol="0" anchor="ctr"/>
          <a:lstStyle/>
          <a:p>
            <a:pPr marL="0" indent="0">
              <a:buNone/>
            </a:pPr>
            <a:r>
              <a:rPr lang="en-US" sz="720" dirty="0">
                <a:solidFill>
                  <a:srgbClr val="F4A261"/>
                </a:solidFill>
                <a:latin typeface="Consolas" pitchFamily="34" charset="0"/>
                <a:ea typeface="Consolas" pitchFamily="34" charset="-122"/>
                <a:cs typeface="Consolas" pitchFamily="34" charset="-120"/>
              </a:rPr>
              <a:t>bulk_extractor -o output/ evidence.img</a:t>
            </a:r>
            <a:endParaRPr lang="en-US" sz="720" dirty="0"/>
          </a:p>
        </p:txBody>
      </p:sp>
      <p:sp>
        <p:nvSpPr>
          <p:cNvPr id="70" name="Shape 68"/>
          <p:cNvSpPr/>
          <p:nvPr/>
        </p:nvSpPr>
        <p:spPr>
          <a:xfrm>
            <a:off x="4736592" y="4105656"/>
            <a:ext cx="4041648" cy="530352"/>
          </a:xfrm>
          <a:prstGeom prst="rect">
            <a:avLst/>
          </a:prstGeom>
          <a:solidFill>
            <a:srgbClr val="FFFFFF"/>
          </a:solidFill>
          <a:ln w="12700">
            <a:solidFill>
              <a:srgbClr val="E2E8F0"/>
            </a:solidFill>
            <a:prstDash val="solid"/>
          </a:ln>
        </p:spPr>
        <p:txBody>
          <a:bodyPr/>
          <a:lstStyle/>
          <a:p>
            <a:endParaRPr lang="en-SG"/>
          </a:p>
        </p:txBody>
      </p:sp>
      <p:sp>
        <p:nvSpPr>
          <p:cNvPr id="71" name="Shape 69"/>
          <p:cNvSpPr/>
          <p:nvPr/>
        </p:nvSpPr>
        <p:spPr>
          <a:xfrm>
            <a:off x="4736592" y="4105656"/>
            <a:ext cx="4041648" cy="36576"/>
          </a:xfrm>
          <a:prstGeom prst="rect">
            <a:avLst/>
          </a:prstGeom>
          <a:solidFill>
            <a:srgbClr val="2ECC71"/>
          </a:solidFill>
          <a:ln w="12700">
            <a:solidFill>
              <a:srgbClr val="2ECC71"/>
            </a:solidFill>
            <a:prstDash val="solid"/>
          </a:ln>
        </p:spPr>
        <p:txBody>
          <a:bodyPr/>
          <a:lstStyle/>
          <a:p>
            <a:endParaRPr lang="en-SG"/>
          </a:p>
        </p:txBody>
      </p:sp>
      <p:sp>
        <p:nvSpPr>
          <p:cNvPr id="72" name="Text 70"/>
          <p:cNvSpPr/>
          <p:nvPr/>
        </p:nvSpPr>
        <p:spPr>
          <a:xfrm>
            <a:off x="4809744" y="4169664"/>
            <a:ext cx="1920240" cy="201168"/>
          </a:xfrm>
          <a:prstGeom prst="rect">
            <a:avLst/>
          </a:prstGeom>
          <a:noFill/>
          <a:ln/>
        </p:spPr>
        <p:txBody>
          <a:bodyPr wrap="square" lIns="0" tIns="0" rIns="0" bIns="0" rtlCol="0" anchor="ctr"/>
          <a:lstStyle/>
          <a:p>
            <a:pPr marL="0" indent="0">
              <a:buNone/>
            </a:pPr>
            <a:r>
              <a:rPr lang="en-US" sz="1050" b="1" dirty="0">
                <a:solidFill>
                  <a:srgbClr val="2ECC71"/>
                </a:solidFill>
              </a:rPr>
              <a:t>Autopsy / TSK</a:t>
            </a:r>
            <a:endParaRPr lang="en-US" sz="1050" dirty="0"/>
          </a:p>
        </p:txBody>
      </p:sp>
      <p:sp>
        <p:nvSpPr>
          <p:cNvPr id="73" name="Shape 71"/>
          <p:cNvSpPr/>
          <p:nvPr/>
        </p:nvSpPr>
        <p:spPr>
          <a:xfrm>
            <a:off x="6748272" y="4187952"/>
            <a:ext cx="1956816" cy="155448"/>
          </a:xfrm>
          <a:prstGeom prst="rect">
            <a:avLst/>
          </a:prstGeom>
          <a:solidFill>
            <a:srgbClr val="2ECC71">
              <a:alpha val="22000"/>
            </a:srgbClr>
          </a:solidFill>
          <a:ln w="6350">
            <a:solidFill>
              <a:srgbClr val="2ECC71"/>
            </a:solidFill>
            <a:prstDash val="solid"/>
          </a:ln>
        </p:spPr>
        <p:txBody>
          <a:bodyPr/>
          <a:lstStyle/>
          <a:p>
            <a:endParaRPr lang="en-SG"/>
          </a:p>
        </p:txBody>
      </p:sp>
      <p:sp>
        <p:nvSpPr>
          <p:cNvPr id="74" name="Text 72"/>
          <p:cNvSpPr/>
          <p:nvPr/>
        </p:nvSpPr>
        <p:spPr>
          <a:xfrm>
            <a:off x="6748272" y="4187952"/>
            <a:ext cx="1956816" cy="155448"/>
          </a:xfrm>
          <a:prstGeom prst="rect">
            <a:avLst/>
          </a:prstGeom>
          <a:noFill/>
          <a:ln/>
        </p:spPr>
        <p:txBody>
          <a:bodyPr wrap="square" lIns="0" tIns="0" rIns="0" bIns="0" rtlCol="0" anchor="ctr"/>
          <a:lstStyle/>
          <a:p>
            <a:pPr marL="0" indent="0" algn="ctr">
              <a:buNone/>
            </a:pPr>
            <a:r>
              <a:rPr lang="en-US" sz="620" dirty="0">
                <a:solidFill>
                  <a:srgbClr val="2ECC71"/>
                </a:solidFill>
              </a:rPr>
              <a:t>GUI + CLI · Cross-platform</a:t>
            </a:r>
            <a:endParaRPr lang="en-US" sz="620" dirty="0"/>
          </a:p>
        </p:txBody>
      </p:sp>
      <p:sp>
        <p:nvSpPr>
          <p:cNvPr id="75" name="Text 73"/>
          <p:cNvSpPr/>
          <p:nvPr/>
        </p:nvSpPr>
        <p:spPr>
          <a:xfrm>
            <a:off x="4809744" y="4389120"/>
            <a:ext cx="3895344" cy="237744"/>
          </a:xfrm>
          <a:prstGeom prst="rect">
            <a:avLst/>
          </a:prstGeom>
          <a:noFill/>
          <a:ln/>
        </p:spPr>
        <p:txBody>
          <a:bodyPr wrap="square" lIns="0" tIns="0" rIns="0" bIns="0" rtlCol="0" anchor="ctr"/>
          <a:lstStyle/>
          <a:p>
            <a:pPr marL="0" indent="0">
              <a:buNone/>
            </a:pPr>
            <a:r>
              <a:rPr lang="en-US" sz="800" dirty="0">
                <a:solidFill>
                  <a:srgbClr val="8899AA"/>
                </a:solidFill>
              </a:rPr>
              <a:t>Autopsy's File Analysis module carves automatically during ingestion. TSK's photorec handles manual recovery. Results appear in the case tree alongside allocated files.</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982419"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799539" cy="256032"/>
          </a:xfrm>
          <a:prstGeom prst="rect">
            <a:avLst/>
          </a:prstGeom>
          <a:noFill/>
          <a:ln/>
        </p:spPr>
        <p:txBody>
          <a:bodyPr wrap="square" lIns="0" tIns="0" rIns="0" bIns="0" rtlCol="0" anchor="ctr"/>
          <a:lstStyle/>
          <a:p>
            <a:pPr marL="0" indent="0">
              <a:buNone/>
            </a:pPr>
            <a:r>
              <a:rPr lang="en-US" sz="850" b="1" dirty="0">
                <a:solidFill>
                  <a:srgbClr val="0D1B2A"/>
                </a:solidFill>
              </a:rPr>
              <a:t>SECTION 3 · DATA CARVING</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Manual Carving Walkthrough: xxd + dd</a:t>
            </a:r>
            <a:endParaRPr lang="en-US" sz="2800" dirty="0"/>
          </a:p>
        </p:txBody>
      </p:sp>
      <p:sp>
        <p:nvSpPr>
          <p:cNvPr id="5" name="Shape 3"/>
          <p:cNvSpPr/>
          <p:nvPr/>
        </p:nvSpPr>
        <p:spPr>
          <a:xfrm>
            <a:off x="320040" y="1188720"/>
            <a:ext cx="8503920" cy="36576"/>
          </a:xfrm>
          <a:prstGeom prst="rect">
            <a:avLst/>
          </a:prstGeom>
          <a:solidFill>
            <a:srgbClr val="2ECC71"/>
          </a:solidFill>
          <a:ln w="12700">
            <a:solidFill>
              <a:srgbClr val="2ECC71"/>
            </a:solidFill>
            <a:prstDash val="solid"/>
          </a:ln>
        </p:spPr>
        <p:txBody>
          <a:bodyPr/>
          <a:lstStyle/>
          <a:p>
            <a:endParaRPr lang="en-SG"/>
          </a:p>
        </p:txBody>
      </p:sp>
      <p:sp>
        <p:nvSpPr>
          <p:cNvPr id="6" name="Shape 4"/>
          <p:cNvSpPr/>
          <p:nvPr/>
        </p:nvSpPr>
        <p:spPr>
          <a:xfrm>
            <a:off x="320040" y="1298448"/>
            <a:ext cx="8503920" cy="475488"/>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298448"/>
            <a:ext cx="109728" cy="475488"/>
          </a:xfrm>
          <a:prstGeom prst="rect">
            <a:avLst/>
          </a:prstGeom>
          <a:solidFill>
            <a:srgbClr val="2ECC71"/>
          </a:solidFill>
          <a:ln w="12700">
            <a:solidFill>
              <a:srgbClr val="2ECC71"/>
            </a:solidFill>
            <a:prstDash val="solid"/>
          </a:ln>
        </p:spPr>
        <p:txBody>
          <a:bodyPr/>
          <a:lstStyle/>
          <a:p>
            <a:endParaRPr lang="en-SG"/>
          </a:p>
        </p:txBody>
      </p:sp>
      <p:sp>
        <p:nvSpPr>
          <p:cNvPr id="8" name="Text 6"/>
          <p:cNvSpPr/>
          <p:nvPr/>
        </p:nvSpPr>
        <p:spPr>
          <a:xfrm>
            <a:off x="512064" y="1371600"/>
            <a:ext cx="8046720" cy="347472"/>
          </a:xfrm>
          <a:prstGeom prst="rect">
            <a:avLst/>
          </a:prstGeom>
          <a:noFill/>
          <a:ln/>
        </p:spPr>
        <p:txBody>
          <a:bodyPr wrap="square" lIns="0" tIns="0" rIns="0" bIns="0" rtlCol="0" anchor="ctr"/>
          <a:lstStyle/>
          <a:p>
            <a:pPr marL="0" indent="0">
              <a:buNone/>
            </a:pPr>
            <a:r>
              <a:rPr lang="en-US" sz="950" dirty="0">
                <a:solidFill>
                  <a:srgbClr val="1A1A2E"/>
                </a:solidFill>
              </a:rPr>
              <a:t>This walkthrough demonstrates how to manually locate and carve a deleted JPEG from a USB drive image using only standard Linux tools. The same logic applies to any file type — just change the header and footer signatures.</a:t>
            </a:r>
            <a:endParaRPr lang="en-US" sz="950" dirty="0"/>
          </a:p>
        </p:txBody>
      </p:sp>
      <p:sp>
        <p:nvSpPr>
          <p:cNvPr id="9" name="Shape 7"/>
          <p:cNvSpPr/>
          <p:nvPr/>
        </p:nvSpPr>
        <p:spPr>
          <a:xfrm>
            <a:off x="320040" y="1865376"/>
            <a:ext cx="402336" cy="402336"/>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320040" y="1865376"/>
            <a:ext cx="402336" cy="402336"/>
          </a:xfrm>
          <a:prstGeom prst="rect">
            <a:avLst/>
          </a:prstGeom>
          <a:noFill/>
          <a:ln/>
        </p:spPr>
        <p:txBody>
          <a:bodyPr wrap="square" lIns="0" tIns="0" rIns="0" bIns="0" rtlCol="0" anchor="ctr"/>
          <a:lstStyle/>
          <a:p>
            <a:pPr marL="0" indent="0" algn="ctr">
              <a:buNone/>
            </a:pPr>
            <a:r>
              <a:rPr lang="en-US" sz="1400" b="1" dirty="0">
                <a:solidFill>
                  <a:srgbClr val="0D1B2A"/>
                </a:solidFill>
              </a:rPr>
              <a:t>1</a:t>
            </a:r>
            <a:endParaRPr lang="en-US" sz="1400" dirty="0"/>
          </a:p>
        </p:txBody>
      </p:sp>
      <p:sp>
        <p:nvSpPr>
          <p:cNvPr id="11" name="Text 9"/>
          <p:cNvSpPr/>
          <p:nvPr/>
        </p:nvSpPr>
        <p:spPr>
          <a:xfrm>
            <a:off x="804672" y="1901952"/>
            <a:ext cx="7973568" cy="329184"/>
          </a:xfrm>
          <a:prstGeom prst="rect">
            <a:avLst/>
          </a:prstGeom>
          <a:noFill/>
          <a:ln/>
        </p:spPr>
        <p:txBody>
          <a:bodyPr wrap="square" lIns="0" tIns="0" rIns="0" bIns="0" rtlCol="0" anchor="ctr"/>
          <a:lstStyle/>
          <a:p>
            <a:pPr marL="0" indent="0">
              <a:buNone/>
            </a:pPr>
            <a:r>
              <a:rPr lang="en-US" sz="1000" b="1" dirty="0">
                <a:solidFill>
                  <a:srgbClr val="00B4D8"/>
                </a:solidFill>
              </a:rPr>
              <a:t>Find the JPEG header — search for FF D8 (Start of Image signature)</a:t>
            </a:r>
            <a:endParaRPr lang="en-US" sz="1000" dirty="0"/>
          </a:p>
        </p:txBody>
      </p:sp>
      <p:sp>
        <p:nvSpPr>
          <p:cNvPr id="12" name="Shape 10"/>
          <p:cNvSpPr/>
          <p:nvPr/>
        </p:nvSpPr>
        <p:spPr>
          <a:xfrm>
            <a:off x="320040" y="2304288"/>
            <a:ext cx="8503920" cy="713232"/>
          </a:xfrm>
          <a:prstGeom prst="rect">
            <a:avLst/>
          </a:prstGeom>
          <a:solidFill>
            <a:srgbClr val="FFFFFF"/>
          </a:solidFill>
          <a:ln w="6350">
            <a:solidFill>
              <a:srgbClr val="00B4D8"/>
            </a:solidFill>
            <a:prstDash val="solid"/>
          </a:ln>
        </p:spPr>
        <p:txBody>
          <a:bodyPr/>
          <a:lstStyle/>
          <a:p>
            <a:endParaRPr lang="en-SG"/>
          </a:p>
        </p:txBody>
      </p:sp>
      <p:sp>
        <p:nvSpPr>
          <p:cNvPr id="13" name="Text 11"/>
          <p:cNvSpPr/>
          <p:nvPr/>
        </p:nvSpPr>
        <p:spPr>
          <a:xfrm>
            <a:off x="429768" y="2377440"/>
            <a:ext cx="8321040" cy="210312"/>
          </a:xfrm>
          <a:prstGeom prst="rect">
            <a:avLst/>
          </a:prstGeom>
          <a:noFill/>
          <a:ln/>
        </p:spPr>
        <p:txBody>
          <a:bodyPr wrap="square" lIns="0" tIns="0" rIns="0" bIns="0" rtlCol="0" anchor="ctr"/>
          <a:lstStyle/>
          <a:p>
            <a:pPr marL="0" indent="0">
              <a:buNone/>
            </a:pPr>
            <a:r>
              <a:rPr lang="en-US" sz="820" dirty="0">
                <a:solidFill>
                  <a:srgbClr val="F4A261"/>
                </a:solidFill>
                <a:latin typeface="Consolas" pitchFamily="34" charset="0"/>
                <a:ea typeface="Consolas" pitchFamily="34" charset="-122"/>
                <a:cs typeface="Consolas" pitchFamily="34" charset="-120"/>
              </a:rPr>
              <a:t> xxd stick.img | grep 'ff d8'</a:t>
            </a:r>
            <a:endParaRPr lang="en-US" sz="820" dirty="0"/>
          </a:p>
        </p:txBody>
      </p:sp>
      <p:sp>
        <p:nvSpPr>
          <p:cNvPr id="14" name="Text 12"/>
          <p:cNvSpPr/>
          <p:nvPr/>
        </p:nvSpPr>
        <p:spPr>
          <a:xfrm>
            <a:off x="429768" y="2606040"/>
            <a:ext cx="8321040" cy="210312"/>
          </a:xfrm>
          <a:prstGeom prst="rect">
            <a:avLst/>
          </a:prstGeom>
          <a:noFill/>
          <a:ln/>
        </p:spPr>
        <p:txBody>
          <a:bodyPr wrap="square" lIns="0" tIns="0" rIns="0" bIns="0" rtlCol="0" anchor="ctr"/>
          <a:lstStyle/>
          <a:p>
            <a:pPr marL="0" indent="0">
              <a:buNone/>
            </a:pPr>
            <a:r>
              <a:rPr lang="en-US" sz="820" dirty="0">
                <a:solidFill>
                  <a:srgbClr val="1A1A2E"/>
                </a:solidFill>
                <a:latin typeface="Consolas" pitchFamily="34" charset="0"/>
                <a:ea typeface="Consolas" pitchFamily="34" charset="-122"/>
                <a:cs typeface="Consolas" pitchFamily="34" charset="-120"/>
              </a:rPr>
              <a:t>  06946000: ffd8 ffe0 0010 4a46 4946 0001 0100 0001  ......JFIF......</a:t>
            </a:r>
            <a:endParaRPr lang="en-US" sz="820" dirty="0"/>
          </a:p>
        </p:txBody>
      </p:sp>
      <p:sp>
        <p:nvSpPr>
          <p:cNvPr id="15" name="Text 13"/>
          <p:cNvSpPr/>
          <p:nvPr/>
        </p:nvSpPr>
        <p:spPr>
          <a:xfrm>
            <a:off x="429768" y="2834640"/>
            <a:ext cx="8321040" cy="210312"/>
          </a:xfrm>
          <a:prstGeom prst="rect">
            <a:avLst/>
          </a:prstGeom>
          <a:noFill/>
          <a:ln/>
        </p:spPr>
        <p:txBody>
          <a:bodyPr wrap="square" lIns="0" tIns="0" rIns="0" bIns="0" rtlCol="0" anchor="ctr"/>
          <a:lstStyle/>
          <a:p>
            <a:pPr marL="0" indent="0">
              <a:buNone/>
            </a:pPr>
            <a:r>
              <a:rPr lang="en-US" sz="820" dirty="0">
                <a:solidFill>
                  <a:srgbClr val="8899AA"/>
                </a:solidFill>
                <a:latin typeface="Consolas" pitchFamily="34" charset="0"/>
                <a:ea typeface="Consolas" pitchFamily="34" charset="-122"/>
                <a:cs typeface="Consolas" pitchFamily="34" charset="-120"/>
              </a:rPr>
              <a:t>  # Offset 0x06946000 = 110264320 in decimal — that is the header start byte</a:t>
            </a:r>
            <a:endParaRPr lang="en-US" sz="820" dirty="0"/>
          </a:p>
        </p:txBody>
      </p:sp>
      <p:sp>
        <p:nvSpPr>
          <p:cNvPr id="16" name="Shape 14"/>
          <p:cNvSpPr/>
          <p:nvPr/>
        </p:nvSpPr>
        <p:spPr>
          <a:xfrm>
            <a:off x="320040" y="3090672"/>
            <a:ext cx="402336" cy="402336"/>
          </a:xfrm>
          <a:prstGeom prst="rect">
            <a:avLst/>
          </a:prstGeom>
          <a:solidFill>
            <a:srgbClr val="F4A261"/>
          </a:solidFill>
          <a:ln w="12700">
            <a:solidFill>
              <a:srgbClr val="F4A261"/>
            </a:solidFill>
            <a:prstDash val="solid"/>
          </a:ln>
        </p:spPr>
        <p:txBody>
          <a:bodyPr/>
          <a:lstStyle/>
          <a:p>
            <a:endParaRPr lang="en-SG"/>
          </a:p>
        </p:txBody>
      </p:sp>
      <p:sp>
        <p:nvSpPr>
          <p:cNvPr id="17" name="Text 15"/>
          <p:cNvSpPr/>
          <p:nvPr/>
        </p:nvSpPr>
        <p:spPr>
          <a:xfrm>
            <a:off x="320040" y="3090672"/>
            <a:ext cx="402336" cy="402336"/>
          </a:xfrm>
          <a:prstGeom prst="rect">
            <a:avLst/>
          </a:prstGeom>
          <a:noFill/>
          <a:ln/>
        </p:spPr>
        <p:txBody>
          <a:bodyPr wrap="square" lIns="0" tIns="0" rIns="0" bIns="0" rtlCol="0" anchor="ctr"/>
          <a:lstStyle/>
          <a:p>
            <a:pPr marL="0" indent="0" algn="ctr">
              <a:buNone/>
            </a:pPr>
            <a:r>
              <a:rPr lang="en-US" sz="1400" b="1" dirty="0">
                <a:solidFill>
                  <a:srgbClr val="0D1B2A"/>
                </a:solidFill>
              </a:rPr>
              <a:t>2</a:t>
            </a:r>
            <a:endParaRPr lang="en-US" sz="1400" dirty="0"/>
          </a:p>
        </p:txBody>
      </p:sp>
      <p:sp>
        <p:nvSpPr>
          <p:cNvPr id="18" name="Text 16"/>
          <p:cNvSpPr/>
          <p:nvPr/>
        </p:nvSpPr>
        <p:spPr>
          <a:xfrm>
            <a:off x="804672" y="3127248"/>
            <a:ext cx="7973568" cy="329184"/>
          </a:xfrm>
          <a:prstGeom prst="rect">
            <a:avLst/>
          </a:prstGeom>
          <a:noFill/>
          <a:ln/>
        </p:spPr>
        <p:txBody>
          <a:bodyPr wrap="square" lIns="0" tIns="0" rIns="0" bIns="0" rtlCol="0" anchor="ctr"/>
          <a:lstStyle/>
          <a:p>
            <a:pPr marL="0" indent="0">
              <a:buNone/>
            </a:pPr>
            <a:r>
              <a:rPr lang="en-US" sz="1000" b="1" dirty="0">
                <a:solidFill>
                  <a:srgbClr val="F4A261"/>
                </a:solidFill>
              </a:rPr>
              <a:t>Find the JPEG footer — search for FF D9 (End of Image) starting from the header offset</a:t>
            </a:r>
            <a:endParaRPr lang="en-US" sz="1000" dirty="0"/>
          </a:p>
        </p:txBody>
      </p:sp>
      <p:sp>
        <p:nvSpPr>
          <p:cNvPr id="19" name="Shape 17"/>
          <p:cNvSpPr/>
          <p:nvPr/>
        </p:nvSpPr>
        <p:spPr>
          <a:xfrm>
            <a:off x="320040" y="3529584"/>
            <a:ext cx="8503920" cy="566928"/>
          </a:xfrm>
          <a:prstGeom prst="rect">
            <a:avLst/>
          </a:prstGeom>
          <a:solidFill>
            <a:srgbClr val="FFFFFF"/>
          </a:solidFill>
          <a:ln w="6350">
            <a:solidFill>
              <a:srgbClr val="00B4D8"/>
            </a:solidFill>
            <a:prstDash val="solid"/>
          </a:ln>
        </p:spPr>
        <p:txBody>
          <a:bodyPr/>
          <a:lstStyle/>
          <a:p>
            <a:endParaRPr lang="en-SG"/>
          </a:p>
        </p:txBody>
      </p:sp>
      <p:sp>
        <p:nvSpPr>
          <p:cNvPr id="20" name="Text 18"/>
          <p:cNvSpPr/>
          <p:nvPr/>
        </p:nvSpPr>
        <p:spPr>
          <a:xfrm>
            <a:off x="429768" y="3602736"/>
            <a:ext cx="8321040" cy="210312"/>
          </a:xfrm>
          <a:prstGeom prst="rect">
            <a:avLst/>
          </a:prstGeom>
          <a:noFill/>
          <a:ln/>
        </p:spPr>
        <p:txBody>
          <a:bodyPr wrap="square" lIns="0" tIns="0" rIns="0" bIns="0" rtlCol="0" anchor="ctr"/>
          <a:lstStyle/>
          <a:p>
            <a:pPr marL="0" indent="0">
              <a:buNone/>
            </a:pPr>
            <a:r>
              <a:rPr lang="en-US" sz="820" dirty="0">
                <a:solidFill>
                  <a:srgbClr val="F4A261"/>
                </a:solidFill>
                <a:latin typeface="Consolas" pitchFamily="34" charset="0"/>
                <a:ea typeface="Consolas" pitchFamily="34" charset="-122"/>
                <a:cs typeface="Consolas" pitchFamily="34" charset="-120"/>
              </a:rPr>
              <a:t> xxd -s 0x06946000 stick.img | grep 'ff d9'</a:t>
            </a:r>
            <a:endParaRPr lang="en-US" sz="820" dirty="0"/>
          </a:p>
        </p:txBody>
      </p:sp>
      <p:sp>
        <p:nvSpPr>
          <p:cNvPr id="21" name="Text 19"/>
          <p:cNvSpPr/>
          <p:nvPr/>
        </p:nvSpPr>
        <p:spPr>
          <a:xfrm>
            <a:off x="429768" y="3831336"/>
            <a:ext cx="8321040" cy="210312"/>
          </a:xfrm>
          <a:prstGeom prst="rect">
            <a:avLst/>
          </a:prstGeom>
          <a:noFill/>
          <a:ln/>
        </p:spPr>
        <p:txBody>
          <a:bodyPr wrap="square" lIns="0" tIns="0" rIns="0" bIns="0" rtlCol="0" anchor="ctr"/>
          <a:lstStyle/>
          <a:p>
            <a:pPr marL="0" indent="0">
              <a:buNone/>
            </a:pPr>
            <a:r>
              <a:rPr lang="en-US" sz="820" dirty="0">
                <a:solidFill>
                  <a:srgbClr val="1A1A2E"/>
                </a:solidFill>
                <a:latin typeface="Consolas" pitchFamily="34" charset="0"/>
                <a:ea typeface="Consolas" pitchFamily="34" charset="-122"/>
                <a:cs typeface="Consolas" pitchFamily="34" charset="-120"/>
              </a:rPr>
              <a:t>  06948880: ffd9 0000  ....   # Footer found at offset 0x06948880 = 110272640</a:t>
            </a:r>
            <a:endParaRPr lang="en-US" sz="820" dirty="0"/>
          </a:p>
        </p:txBody>
      </p:sp>
      <p:sp>
        <p:nvSpPr>
          <p:cNvPr id="22" name="Shape 20"/>
          <p:cNvSpPr/>
          <p:nvPr/>
        </p:nvSpPr>
        <p:spPr>
          <a:xfrm>
            <a:off x="320040" y="4169664"/>
            <a:ext cx="402336" cy="402336"/>
          </a:xfrm>
          <a:prstGeom prst="rect">
            <a:avLst/>
          </a:prstGeom>
          <a:solidFill>
            <a:srgbClr val="2ECC71"/>
          </a:solidFill>
          <a:ln w="12700">
            <a:solidFill>
              <a:srgbClr val="2ECC71"/>
            </a:solidFill>
            <a:prstDash val="solid"/>
          </a:ln>
        </p:spPr>
        <p:txBody>
          <a:bodyPr/>
          <a:lstStyle/>
          <a:p>
            <a:endParaRPr lang="en-SG"/>
          </a:p>
        </p:txBody>
      </p:sp>
      <p:sp>
        <p:nvSpPr>
          <p:cNvPr id="23" name="Text 21"/>
          <p:cNvSpPr/>
          <p:nvPr/>
        </p:nvSpPr>
        <p:spPr>
          <a:xfrm>
            <a:off x="320040" y="4169664"/>
            <a:ext cx="402336" cy="402336"/>
          </a:xfrm>
          <a:prstGeom prst="rect">
            <a:avLst/>
          </a:prstGeom>
          <a:noFill/>
          <a:ln/>
        </p:spPr>
        <p:txBody>
          <a:bodyPr wrap="square" lIns="0" tIns="0" rIns="0" bIns="0" rtlCol="0" anchor="ctr"/>
          <a:lstStyle/>
          <a:p>
            <a:pPr marL="0" indent="0" algn="ctr">
              <a:buNone/>
            </a:pPr>
            <a:r>
              <a:rPr lang="en-US" sz="1400" b="1" dirty="0">
                <a:solidFill>
                  <a:srgbClr val="0D1B2A"/>
                </a:solidFill>
              </a:rPr>
              <a:t>3</a:t>
            </a:r>
            <a:endParaRPr lang="en-US" sz="1400" dirty="0"/>
          </a:p>
        </p:txBody>
      </p:sp>
      <p:sp>
        <p:nvSpPr>
          <p:cNvPr id="24" name="Text 22"/>
          <p:cNvSpPr/>
          <p:nvPr/>
        </p:nvSpPr>
        <p:spPr>
          <a:xfrm>
            <a:off x="804672" y="4206240"/>
            <a:ext cx="7973568" cy="329184"/>
          </a:xfrm>
          <a:prstGeom prst="rect">
            <a:avLst/>
          </a:prstGeom>
          <a:noFill/>
          <a:ln/>
        </p:spPr>
        <p:txBody>
          <a:bodyPr wrap="square" lIns="0" tIns="0" rIns="0" bIns="0" rtlCol="0" anchor="ctr"/>
          <a:lstStyle/>
          <a:p>
            <a:pPr marL="0" indent="0">
              <a:buNone/>
            </a:pPr>
            <a:r>
              <a:rPr lang="en-US" sz="1000" b="1" dirty="0">
                <a:solidFill>
                  <a:srgbClr val="2ECC71"/>
                </a:solidFill>
              </a:rPr>
              <a:t>Carve the file with dd — skip to the header, copy exactly count bytes to the output file</a:t>
            </a:r>
            <a:endParaRPr lang="en-US" sz="1000" dirty="0"/>
          </a:p>
        </p:txBody>
      </p:sp>
      <p:sp>
        <p:nvSpPr>
          <p:cNvPr id="25" name="Shape 23"/>
          <p:cNvSpPr/>
          <p:nvPr/>
        </p:nvSpPr>
        <p:spPr>
          <a:xfrm>
            <a:off x="320040" y="4608576"/>
            <a:ext cx="8503920" cy="256032"/>
          </a:xfrm>
          <a:prstGeom prst="rect">
            <a:avLst/>
          </a:prstGeom>
          <a:solidFill>
            <a:srgbClr val="FFFFFF"/>
          </a:solidFill>
          <a:ln w="6350">
            <a:solidFill>
              <a:srgbClr val="00B4D8"/>
            </a:solidFill>
            <a:prstDash val="solid"/>
          </a:ln>
        </p:spPr>
        <p:txBody>
          <a:bodyPr/>
          <a:lstStyle/>
          <a:p>
            <a:endParaRPr lang="en-SG"/>
          </a:p>
        </p:txBody>
      </p:sp>
      <p:sp>
        <p:nvSpPr>
          <p:cNvPr id="26" name="Text 24"/>
          <p:cNvSpPr/>
          <p:nvPr/>
        </p:nvSpPr>
        <p:spPr>
          <a:xfrm>
            <a:off x="429768" y="4681728"/>
            <a:ext cx="8321040" cy="210312"/>
          </a:xfrm>
          <a:prstGeom prst="rect">
            <a:avLst/>
          </a:prstGeom>
          <a:noFill/>
          <a:ln/>
        </p:spPr>
        <p:txBody>
          <a:bodyPr wrap="square" lIns="0" tIns="0" rIns="0" bIns="0" rtlCol="0" anchor="ctr"/>
          <a:lstStyle/>
          <a:p>
            <a:pPr marL="0" indent="0">
              <a:buNone/>
            </a:pPr>
            <a:r>
              <a:rPr lang="en-US" sz="820" dirty="0">
                <a:solidFill>
                  <a:srgbClr val="F4A261"/>
                </a:solidFill>
                <a:latin typeface="Consolas" pitchFamily="34" charset="0"/>
                <a:ea typeface="Consolas" pitchFamily="34" charset="-122"/>
                <a:cs typeface="Consolas" pitchFamily="34" charset="-120"/>
              </a:rPr>
              <a:t> dd if=stick.img of=recovered.jpg skip=110264320 bs=1 count=8320</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207362"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024482" cy="256032"/>
          </a:xfrm>
          <a:prstGeom prst="rect">
            <a:avLst/>
          </a:prstGeom>
          <a:noFill/>
          <a:ln/>
        </p:spPr>
        <p:txBody>
          <a:bodyPr wrap="square" lIns="0" tIns="0" rIns="0" bIns="0" rtlCol="0" anchor="ctr"/>
          <a:lstStyle/>
          <a:p>
            <a:pPr marL="0" indent="0">
              <a:buNone/>
            </a:pPr>
            <a:r>
              <a:rPr lang="en-US" sz="850" b="1" dirty="0">
                <a:solidFill>
                  <a:srgbClr val="0D1B2A"/>
                </a:solidFill>
              </a:rPr>
              <a:t>SECTION 3 · FILE SIGNATURES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Common File Signatures for Data Carving</a:t>
            </a:r>
            <a:endParaRPr lang="en-US" sz="2800" dirty="0"/>
          </a:p>
        </p:txBody>
      </p:sp>
      <p:sp>
        <p:nvSpPr>
          <p:cNvPr id="5" name="Shape 3"/>
          <p:cNvSpPr/>
          <p:nvPr/>
        </p:nvSpPr>
        <p:spPr>
          <a:xfrm>
            <a:off x="320040" y="1188720"/>
            <a:ext cx="8503920" cy="36576"/>
          </a:xfrm>
          <a:prstGeom prst="rect">
            <a:avLst/>
          </a:prstGeom>
          <a:solidFill>
            <a:srgbClr val="2ECC71"/>
          </a:solidFill>
          <a:ln w="12700">
            <a:solidFill>
              <a:srgbClr val="2ECC71"/>
            </a:solidFill>
            <a:prstDash val="solid"/>
          </a:ln>
        </p:spPr>
        <p:txBody>
          <a:bodyPr/>
          <a:lstStyle/>
          <a:p>
            <a:endParaRPr lang="en-SG"/>
          </a:p>
        </p:txBody>
      </p:sp>
      <p:sp>
        <p:nvSpPr>
          <p:cNvPr id="6" name="Shape 4"/>
          <p:cNvSpPr/>
          <p:nvPr/>
        </p:nvSpPr>
        <p:spPr>
          <a:xfrm>
            <a:off x="320040" y="1298448"/>
            <a:ext cx="8503920" cy="402336"/>
          </a:xfrm>
          <a:prstGeom prst="rect">
            <a:avLst/>
          </a:prstGeom>
          <a:solidFill>
            <a:srgbClr val="FFFFFF"/>
          </a:solidFill>
          <a:ln w="12700">
            <a:solidFill>
              <a:srgbClr val="FFFFFF"/>
            </a:solidFill>
            <a:prstDash val="solid"/>
          </a:ln>
        </p:spPr>
        <p:txBody>
          <a:bodyPr/>
          <a:lstStyle/>
          <a:p>
            <a:endParaRPr lang="en-SG"/>
          </a:p>
        </p:txBody>
      </p:sp>
      <p:sp>
        <p:nvSpPr>
          <p:cNvPr id="7" name="Text 5"/>
          <p:cNvSpPr/>
          <p:nvPr/>
        </p:nvSpPr>
        <p:spPr>
          <a:xfrm>
            <a:off x="457200" y="1353312"/>
            <a:ext cx="8229600" cy="274320"/>
          </a:xfrm>
          <a:prstGeom prst="rect">
            <a:avLst/>
          </a:prstGeom>
          <a:noFill/>
          <a:ln/>
        </p:spPr>
        <p:txBody>
          <a:bodyPr wrap="square" lIns="0" tIns="0" rIns="0" bIns="0" rtlCol="0" anchor="ctr"/>
          <a:lstStyle/>
          <a:p>
            <a:pPr marL="0" indent="0">
              <a:buNone/>
            </a:pPr>
            <a:r>
              <a:rPr lang="en-US" sz="900" i="1" dirty="0">
                <a:solidFill>
                  <a:srgbClr val="8899AA"/>
                </a:solidFill>
              </a:rPr>
              <a:t>Every file type has a unique byte pattern at offset 0 (the header) and often a distinct termination sequence (footer). Memorising the most common signatures enables manual carving and rapid triage of unknown file blobs.</a:t>
            </a:r>
            <a:endParaRPr lang="en-US" sz="900" dirty="0"/>
          </a:p>
        </p:txBody>
      </p:sp>
      <p:sp>
        <p:nvSpPr>
          <p:cNvPr id="8" name="Shape 6"/>
          <p:cNvSpPr/>
          <p:nvPr/>
        </p:nvSpPr>
        <p:spPr>
          <a:xfrm>
            <a:off x="320040" y="1737360"/>
            <a:ext cx="8503920" cy="274320"/>
          </a:xfrm>
          <a:prstGeom prst="rect">
            <a:avLst/>
          </a:prstGeom>
          <a:solidFill>
            <a:srgbClr val="00B4D8"/>
          </a:solidFill>
          <a:ln w="12700">
            <a:solidFill>
              <a:srgbClr val="00B4D8"/>
            </a:solidFill>
            <a:prstDash val="solid"/>
          </a:ln>
        </p:spPr>
        <p:txBody>
          <a:bodyPr/>
          <a:lstStyle/>
          <a:p>
            <a:endParaRPr lang="en-SG"/>
          </a:p>
        </p:txBody>
      </p:sp>
      <p:sp>
        <p:nvSpPr>
          <p:cNvPr id="9" name="Text 7"/>
          <p:cNvSpPr/>
          <p:nvPr/>
        </p:nvSpPr>
        <p:spPr>
          <a:xfrm>
            <a:off x="356616" y="1737360"/>
            <a:ext cx="1298448" cy="274320"/>
          </a:xfrm>
          <a:prstGeom prst="rect">
            <a:avLst/>
          </a:prstGeom>
          <a:noFill/>
          <a:ln/>
        </p:spPr>
        <p:txBody>
          <a:bodyPr wrap="square" lIns="0" tIns="0" rIns="0" bIns="0" rtlCol="0" anchor="ctr"/>
          <a:lstStyle/>
          <a:p>
            <a:pPr marL="0" indent="0">
              <a:buNone/>
            </a:pPr>
            <a:r>
              <a:rPr lang="en-US" sz="900" b="1" dirty="0">
                <a:solidFill>
                  <a:srgbClr val="0D1B2A"/>
                </a:solidFill>
              </a:rPr>
              <a:t>Extension</a:t>
            </a:r>
            <a:endParaRPr lang="en-US" sz="900" dirty="0"/>
          </a:p>
        </p:txBody>
      </p:sp>
      <p:sp>
        <p:nvSpPr>
          <p:cNvPr id="10" name="Text 8"/>
          <p:cNvSpPr/>
          <p:nvPr/>
        </p:nvSpPr>
        <p:spPr>
          <a:xfrm>
            <a:off x="1728216" y="1737360"/>
            <a:ext cx="2816352" cy="274320"/>
          </a:xfrm>
          <a:prstGeom prst="rect">
            <a:avLst/>
          </a:prstGeom>
          <a:noFill/>
          <a:ln/>
        </p:spPr>
        <p:txBody>
          <a:bodyPr wrap="square" lIns="0" tIns="0" rIns="0" bIns="0" rtlCol="0" anchor="ctr"/>
          <a:lstStyle/>
          <a:p>
            <a:pPr marL="0" indent="0">
              <a:buNone/>
            </a:pPr>
            <a:r>
              <a:rPr lang="en-US" sz="900" b="1" dirty="0">
                <a:solidFill>
                  <a:srgbClr val="0D1B2A"/>
                </a:solidFill>
              </a:rPr>
              <a:t>Header (Magic Bytes)</a:t>
            </a:r>
            <a:endParaRPr lang="en-US" sz="900" dirty="0"/>
          </a:p>
        </p:txBody>
      </p:sp>
      <p:sp>
        <p:nvSpPr>
          <p:cNvPr id="11" name="Text 9"/>
          <p:cNvSpPr/>
          <p:nvPr/>
        </p:nvSpPr>
        <p:spPr>
          <a:xfrm>
            <a:off x="4608576" y="1737360"/>
            <a:ext cx="2331720" cy="274320"/>
          </a:xfrm>
          <a:prstGeom prst="rect">
            <a:avLst/>
          </a:prstGeom>
          <a:noFill/>
          <a:ln/>
        </p:spPr>
        <p:txBody>
          <a:bodyPr wrap="square" lIns="0" tIns="0" rIns="0" bIns="0" rtlCol="0" anchor="ctr"/>
          <a:lstStyle/>
          <a:p>
            <a:pPr marL="0" indent="0">
              <a:buNone/>
            </a:pPr>
            <a:r>
              <a:rPr lang="en-US" sz="900" b="1" dirty="0">
                <a:solidFill>
                  <a:srgbClr val="0D1B2A"/>
                </a:solidFill>
              </a:rPr>
              <a:t>Footer Bytes</a:t>
            </a:r>
            <a:endParaRPr lang="en-US" sz="900" dirty="0"/>
          </a:p>
        </p:txBody>
      </p:sp>
      <p:sp>
        <p:nvSpPr>
          <p:cNvPr id="12" name="Text 10"/>
          <p:cNvSpPr/>
          <p:nvPr/>
        </p:nvSpPr>
        <p:spPr>
          <a:xfrm>
            <a:off x="7004304" y="1737360"/>
            <a:ext cx="1828800" cy="274320"/>
          </a:xfrm>
          <a:prstGeom prst="rect">
            <a:avLst/>
          </a:prstGeom>
          <a:noFill/>
          <a:ln/>
        </p:spPr>
        <p:txBody>
          <a:bodyPr wrap="square" lIns="0" tIns="0" rIns="0" bIns="0" rtlCol="0" anchor="ctr"/>
          <a:lstStyle/>
          <a:p>
            <a:pPr marL="0" indent="0">
              <a:buNone/>
            </a:pPr>
            <a:r>
              <a:rPr lang="en-US" sz="900" b="1" dirty="0">
                <a:solidFill>
                  <a:srgbClr val="0D1B2A"/>
                </a:solidFill>
              </a:rPr>
              <a:t>File Type</a:t>
            </a:r>
            <a:endParaRPr lang="en-US" sz="900" dirty="0"/>
          </a:p>
        </p:txBody>
      </p:sp>
      <p:sp>
        <p:nvSpPr>
          <p:cNvPr id="13" name="Shape 11"/>
          <p:cNvSpPr/>
          <p:nvPr/>
        </p:nvSpPr>
        <p:spPr>
          <a:xfrm>
            <a:off x="320040" y="2048256"/>
            <a:ext cx="8503920" cy="224942"/>
          </a:xfrm>
          <a:prstGeom prst="rect">
            <a:avLst/>
          </a:prstGeom>
          <a:solidFill>
            <a:srgbClr val="EEF6FB"/>
          </a:solidFill>
          <a:ln w="12700">
            <a:solidFill>
              <a:srgbClr val="EEF6FB"/>
            </a:solidFill>
            <a:prstDash val="solid"/>
          </a:ln>
        </p:spPr>
        <p:txBody>
          <a:bodyPr/>
          <a:lstStyle/>
          <a:p>
            <a:endParaRPr lang="en-SG"/>
          </a:p>
        </p:txBody>
      </p:sp>
      <p:sp>
        <p:nvSpPr>
          <p:cNvPr id="14" name="Text 12"/>
          <p:cNvSpPr/>
          <p:nvPr/>
        </p:nvSpPr>
        <p:spPr>
          <a:xfrm>
            <a:off x="374904" y="2048256"/>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jpg / jpeg</a:t>
            </a:r>
            <a:endParaRPr lang="en-US" sz="800" dirty="0"/>
          </a:p>
        </p:txBody>
      </p:sp>
      <p:sp>
        <p:nvSpPr>
          <p:cNvPr id="15" name="Text 13"/>
          <p:cNvSpPr/>
          <p:nvPr/>
        </p:nvSpPr>
        <p:spPr>
          <a:xfrm>
            <a:off x="1728216" y="2048256"/>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FF D8 FF E0 / E1 / E2</a:t>
            </a:r>
            <a:endParaRPr lang="en-US" sz="780" dirty="0"/>
          </a:p>
        </p:txBody>
      </p:sp>
      <p:sp>
        <p:nvSpPr>
          <p:cNvPr id="16" name="Text 14"/>
          <p:cNvSpPr/>
          <p:nvPr/>
        </p:nvSpPr>
        <p:spPr>
          <a:xfrm>
            <a:off x="4608576" y="2048256"/>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FF D9</a:t>
            </a:r>
            <a:endParaRPr lang="en-US" sz="780" dirty="0"/>
          </a:p>
        </p:txBody>
      </p:sp>
      <p:sp>
        <p:nvSpPr>
          <p:cNvPr id="17" name="Text 15"/>
          <p:cNvSpPr/>
          <p:nvPr/>
        </p:nvSpPr>
        <p:spPr>
          <a:xfrm>
            <a:off x="7004304" y="2048256"/>
            <a:ext cx="1828800" cy="224942"/>
          </a:xfrm>
          <a:prstGeom prst="rect">
            <a:avLst/>
          </a:prstGeom>
          <a:noFill/>
          <a:ln/>
        </p:spPr>
        <p:txBody>
          <a:bodyPr wrap="square" lIns="0" tIns="0" rIns="0" bIns="0" rtlCol="0" anchor="ctr"/>
          <a:lstStyle/>
          <a:p>
            <a:pPr marL="0" indent="0">
              <a:buNone/>
            </a:pPr>
            <a:r>
              <a:rPr lang="en-US" sz="800" dirty="0">
                <a:solidFill>
                  <a:srgbClr val="1A1A2E"/>
                </a:solidFill>
              </a:rPr>
              <a:t>JPEG Image</a:t>
            </a:r>
            <a:endParaRPr lang="en-US" sz="800" dirty="0"/>
          </a:p>
        </p:txBody>
      </p:sp>
      <p:sp>
        <p:nvSpPr>
          <p:cNvPr id="18" name="Shape 16"/>
          <p:cNvSpPr/>
          <p:nvPr/>
        </p:nvSpPr>
        <p:spPr>
          <a:xfrm>
            <a:off x="320040" y="2278685"/>
            <a:ext cx="8503920" cy="224942"/>
          </a:xfrm>
          <a:prstGeom prst="rect">
            <a:avLst/>
          </a:prstGeom>
          <a:solidFill>
            <a:srgbClr val="FFFFFF"/>
          </a:solidFill>
          <a:ln w="12700">
            <a:solidFill>
              <a:srgbClr val="FFFFFF"/>
            </a:solidFill>
            <a:prstDash val="solid"/>
          </a:ln>
        </p:spPr>
        <p:txBody>
          <a:bodyPr/>
          <a:lstStyle/>
          <a:p>
            <a:endParaRPr lang="en-SG"/>
          </a:p>
        </p:txBody>
      </p:sp>
      <p:sp>
        <p:nvSpPr>
          <p:cNvPr id="19" name="Text 17"/>
          <p:cNvSpPr/>
          <p:nvPr/>
        </p:nvSpPr>
        <p:spPr>
          <a:xfrm>
            <a:off x="374904" y="2278685"/>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png</a:t>
            </a:r>
            <a:endParaRPr lang="en-US" sz="800" dirty="0"/>
          </a:p>
        </p:txBody>
      </p:sp>
      <p:sp>
        <p:nvSpPr>
          <p:cNvPr id="20" name="Text 18"/>
          <p:cNvSpPr/>
          <p:nvPr/>
        </p:nvSpPr>
        <p:spPr>
          <a:xfrm>
            <a:off x="1728216" y="2278685"/>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89 50 4E 47 0D 0A 1A 0A</a:t>
            </a:r>
            <a:endParaRPr lang="en-US" sz="780" dirty="0"/>
          </a:p>
        </p:txBody>
      </p:sp>
      <p:sp>
        <p:nvSpPr>
          <p:cNvPr id="21" name="Text 19"/>
          <p:cNvSpPr/>
          <p:nvPr/>
        </p:nvSpPr>
        <p:spPr>
          <a:xfrm>
            <a:off x="4608576" y="2278685"/>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IEND chunk</a:t>
            </a:r>
            <a:endParaRPr lang="en-US" sz="780" dirty="0"/>
          </a:p>
        </p:txBody>
      </p:sp>
      <p:sp>
        <p:nvSpPr>
          <p:cNvPr id="22" name="Text 20"/>
          <p:cNvSpPr/>
          <p:nvPr/>
        </p:nvSpPr>
        <p:spPr>
          <a:xfrm>
            <a:off x="7004304" y="2278685"/>
            <a:ext cx="1828800" cy="224942"/>
          </a:xfrm>
          <a:prstGeom prst="rect">
            <a:avLst/>
          </a:prstGeom>
          <a:noFill/>
          <a:ln/>
        </p:spPr>
        <p:txBody>
          <a:bodyPr wrap="square" lIns="0" tIns="0" rIns="0" bIns="0" rtlCol="0" anchor="ctr"/>
          <a:lstStyle/>
          <a:p>
            <a:pPr marL="0" indent="0">
              <a:buNone/>
            </a:pPr>
            <a:r>
              <a:rPr lang="en-US" sz="800" dirty="0">
                <a:solidFill>
                  <a:srgbClr val="1A1A2E"/>
                </a:solidFill>
              </a:rPr>
              <a:t>PNG Image</a:t>
            </a:r>
            <a:endParaRPr lang="en-US" sz="800" dirty="0"/>
          </a:p>
        </p:txBody>
      </p:sp>
      <p:sp>
        <p:nvSpPr>
          <p:cNvPr id="23" name="Shape 21"/>
          <p:cNvSpPr/>
          <p:nvPr/>
        </p:nvSpPr>
        <p:spPr>
          <a:xfrm>
            <a:off x="320040" y="2509114"/>
            <a:ext cx="8503920" cy="224942"/>
          </a:xfrm>
          <a:prstGeom prst="rect">
            <a:avLst/>
          </a:prstGeom>
          <a:solidFill>
            <a:srgbClr val="EEF6FB"/>
          </a:solidFill>
          <a:ln w="12700">
            <a:solidFill>
              <a:srgbClr val="EEF6FB"/>
            </a:solidFill>
            <a:prstDash val="solid"/>
          </a:ln>
        </p:spPr>
        <p:txBody>
          <a:bodyPr/>
          <a:lstStyle/>
          <a:p>
            <a:endParaRPr lang="en-SG"/>
          </a:p>
        </p:txBody>
      </p:sp>
      <p:sp>
        <p:nvSpPr>
          <p:cNvPr id="24" name="Text 22"/>
          <p:cNvSpPr/>
          <p:nvPr/>
        </p:nvSpPr>
        <p:spPr>
          <a:xfrm>
            <a:off x="374904" y="2509114"/>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gif</a:t>
            </a:r>
            <a:endParaRPr lang="en-US" sz="800" dirty="0"/>
          </a:p>
        </p:txBody>
      </p:sp>
      <p:sp>
        <p:nvSpPr>
          <p:cNvPr id="25" name="Text 23"/>
          <p:cNvSpPr/>
          <p:nvPr/>
        </p:nvSpPr>
        <p:spPr>
          <a:xfrm>
            <a:off x="1728216" y="2509114"/>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47 49 46 38 37/39 61</a:t>
            </a:r>
            <a:endParaRPr lang="en-US" sz="780" dirty="0"/>
          </a:p>
        </p:txBody>
      </p:sp>
      <p:sp>
        <p:nvSpPr>
          <p:cNvPr id="26" name="Text 24"/>
          <p:cNvSpPr/>
          <p:nvPr/>
        </p:nvSpPr>
        <p:spPr>
          <a:xfrm>
            <a:off x="4608576" y="2509114"/>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00 3B</a:t>
            </a:r>
            <a:endParaRPr lang="en-US" sz="780" dirty="0"/>
          </a:p>
        </p:txBody>
      </p:sp>
      <p:sp>
        <p:nvSpPr>
          <p:cNvPr id="27" name="Text 25"/>
          <p:cNvSpPr/>
          <p:nvPr/>
        </p:nvSpPr>
        <p:spPr>
          <a:xfrm>
            <a:off x="7004304" y="2509114"/>
            <a:ext cx="1828800" cy="224942"/>
          </a:xfrm>
          <a:prstGeom prst="rect">
            <a:avLst/>
          </a:prstGeom>
          <a:noFill/>
          <a:ln/>
        </p:spPr>
        <p:txBody>
          <a:bodyPr wrap="square" lIns="0" tIns="0" rIns="0" bIns="0" rtlCol="0" anchor="ctr"/>
          <a:lstStyle/>
          <a:p>
            <a:pPr marL="0" indent="0">
              <a:buNone/>
            </a:pPr>
            <a:r>
              <a:rPr lang="en-US" sz="800" dirty="0">
                <a:solidFill>
                  <a:srgbClr val="1A1A2E"/>
                </a:solidFill>
              </a:rPr>
              <a:t>GIF Image</a:t>
            </a:r>
            <a:endParaRPr lang="en-US" sz="800" dirty="0"/>
          </a:p>
        </p:txBody>
      </p:sp>
      <p:sp>
        <p:nvSpPr>
          <p:cNvPr id="28" name="Shape 26"/>
          <p:cNvSpPr/>
          <p:nvPr/>
        </p:nvSpPr>
        <p:spPr>
          <a:xfrm>
            <a:off x="320040" y="2739542"/>
            <a:ext cx="8503920" cy="224942"/>
          </a:xfrm>
          <a:prstGeom prst="rect">
            <a:avLst/>
          </a:prstGeom>
          <a:solidFill>
            <a:srgbClr val="FFFFFF"/>
          </a:solidFill>
          <a:ln w="12700">
            <a:solidFill>
              <a:srgbClr val="FFFFFF"/>
            </a:solidFill>
            <a:prstDash val="solid"/>
          </a:ln>
        </p:spPr>
        <p:txBody>
          <a:bodyPr/>
          <a:lstStyle/>
          <a:p>
            <a:endParaRPr lang="en-SG"/>
          </a:p>
        </p:txBody>
      </p:sp>
      <p:sp>
        <p:nvSpPr>
          <p:cNvPr id="29" name="Text 27"/>
          <p:cNvSpPr/>
          <p:nvPr/>
        </p:nvSpPr>
        <p:spPr>
          <a:xfrm>
            <a:off x="374904" y="2739542"/>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bmp</a:t>
            </a:r>
            <a:endParaRPr lang="en-US" sz="800" dirty="0"/>
          </a:p>
        </p:txBody>
      </p:sp>
      <p:sp>
        <p:nvSpPr>
          <p:cNvPr id="30" name="Text 28"/>
          <p:cNvSpPr/>
          <p:nvPr/>
        </p:nvSpPr>
        <p:spPr>
          <a:xfrm>
            <a:off x="1728216" y="2739542"/>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42 4D</a:t>
            </a:r>
            <a:endParaRPr lang="en-US" sz="780" dirty="0"/>
          </a:p>
        </p:txBody>
      </p:sp>
      <p:sp>
        <p:nvSpPr>
          <p:cNvPr id="31" name="Text 29"/>
          <p:cNvSpPr/>
          <p:nvPr/>
        </p:nvSpPr>
        <p:spPr>
          <a:xfrm>
            <a:off x="4608576" y="2739542"/>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a:t>
            </a:r>
            <a:endParaRPr lang="en-US" sz="780" dirty="0"/>
          </a:p>
        </p:txBody>
      </p:sp>
      <p:sp>
        <p:nvSpPr>
          <p:cNvPr id="32" name="Text 30"/>
          <p:cNvSpPr/>
          <p:nvPr/>
        </p:nvSpPr>
        <p:spPr>
          <a:xfrm>
            <a:off x="7004304" y="2739542"/>
            <a:ext cx="1828800" cy="224942"/>
          </a:xfrm>
          <a:prstGeom prst="rect">
            <a:avLst/>
          </a:prstGeom>
          <a:noFill/>
          <a:ln/>
        </p:spPr>
        <p:txBody>
          <a:bodyPr wrap="square" lIns="0" tIns="0" rIns="0" bIns="0" rtlCol="0" anchor="ctr"/>
          <a:lstStyle/>
          <a:p>
            <a:pPr marL="0" indent="0">
              <a:buNone/>
            </a:pPr>
            <a:r>
              <a:rPr lang="en-US" sz="800" dirty="0">
                <a:solidFill>
                  <a:srgbClr val="1A1A2E"/>
                </a:solidFill>
              </a:rPr>
              <a:t>Windows Bitmap</a:t>
            </a:r>
            <a:endParaRPr lang="en-US" sz="800" dirty="0"/>
          </a:p>
        </p:txBody>
      </p:sp>
      <p:sp>
        <p:nvSpPr>
          <p:cNvPr id="33" name="Shape 31"/>
          <p:cNvSpPr/>
          <p:nvPr/>
        </p:nvSpPr>
        <p:spPr>
          <a:xfrm>
            <a:off x="320040" y="2969971"/>
            <a:ext cx="8503920" cy="224942"/>
          </a:xfrm>
          <a:prstGeom prst="rect">
            <a:avLst/>
          </a:prstGeom>
          <a:solidFill>
            <a:srgbClr val="EEF6FB"/>
          </a:solidFill>
          <a:ln w="12700">
            <a:solidFill>
              <a:srgbClr val="EEF6FB"/>
            </a:solidFill>
            <a:prstDash val="solid"/>
          </a:ln>
        </p:spPr>
        <p:txBody>
          <a:bodyPr/>
          <a:lstStyle/>
          <a:p>
            <a:endParaRPr lang="en-SG"/>
          </a:p>
        </p:txBody>
      </p:sp>
      <p:sp>
        <p:nvSpPr>
          <p:cNvPr id="34" name="Text 32"/>
          <p:cNvSpPr/>
          <p:nvPr/>
        </p:nvSpPr>
        <p:spPr>
          <a:xfrm>
            <a:off x="374904" y="2969971"/>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pdf</a:t>
            </a:r>
            <a:endParaRPr lang="en-US" sz="800" dirty="0"/>
          </a:p>
        </p:txBody>
      </p:sp>
      <p:sp>
        <p:nvSpPr>
          <p:cNvPr id="35" name="Text 33"/>
          <p:cNvSpPr/>
          <p:nvPr/>
        </p:nvSpPr>
        <p:spPr>
          <a:xfrm>
            <a:off x="1728216" y="2969971"/>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25 50 44 46</a:t>
            </a:r>
            <a:endParaRPr lang="en-US" sz="780" dirty="0"/>
          </a:p>
        </p:txBody>
      </p:sp>
      <p:sp>
        <p:nvSpPr>
          <p:cNvPr id="36" name="Text 34"/>
          <p:cNvSpPr/>
          <p:nvPr/>
        </p:nvSpPr>
        <p:spPr>
          <a:xfrm>
            <a:off x="4608576" y="2969971"/>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%%EOF</a:t>
            </a:r>
            <a:endParaRPr lang="en-US" sz="780" dirty="0"/>
          </a:p>
        </p:txBody>
      </p:sp>
      <p:sp>
        <p:nvSpPr>
          <p:cNvPr id="37" name="Text 35"/>
          <p:cNvSpPr/>
          <p:nvPr/>
        </p:nvSpPr>
        <p:spPr>
          <a:xfrm>
            <a:off x="7004304" y="2969971"/>
            <a:ext cx="1828800" cy="224942"/>
          </a:xfrm>
          <a:prstGeom prst="rect">
            <a:avLst/>
          </a:prstGeom>
          <a:noFill/>
          <a:ln/>
        </p:spPr>
        <p:txBody>
          <a:bodyPr wrap="square" lIns="0" tIns="0" rIns="0" bIns="0" rtlCol="0" anchor="ctr"/>
          <a:lstStyle/>
          <a:p>
            <a:pPr marL="0" indent="0">
              <a:buNone/>
            </a:pPr>
            <a:r>
              <a:rPr lang="en-US" sz="800" dirty="0">
                <a:solidFill>
                  <a:srgbClr val="1A1A2E"/>
                </a:solidFill>
              </a:rPr>
              <a:t>PDF Document</a:t>
            </a:r>
            <a:endParaRPr lang="en-US" sz="800" dirty="0"/>
          </a:p>
        </p:txBody>
      </p:sp>
      <p:sp>
        <p:nvSpPr>
          <p:cNvPr id="38" name="Shape 36"/>
          <p:cNvSpPr/>
          <p:nvPr/>
        </p:nvSpPr>
        <p:spPr>
          <a:xfrm>
            <a:off x="320040" y="3200400"/>
            <a:ext cx="8503920" cy="224942"/>
          </a:xfrm>
          <a:prstGeom prst="rect">
            <a:avLst/>
          </a:prstGeom>
          <a:solidFill>
            <a:srgbClr val="FFFFFF"/>
          </a:solidFill>
          <a:ln w="12700">
            <a:solidFill>
              <a:srgbClr val="FFFFFF"/>
            </a:solidFill>
            <a:prstDash val="solid"/>
          </a:ln>
        </p:spPr>
        <p:txBody>
          <a:bodyPr/>
          <a:lstStyle/>
          <a:p>
            <a:endParaRPr lang="en-SG"/>
          </a:p>
        </p:txBody>
      </p:sp>
      <p:sp>
        <p:nvSpPr>
          <p:cNvPr id="39" name="Text 37"/>
          <p:cNvSpPr/>
          <p:nvPr/>
        </p:nvSpPr>
        <p:spPr>
          <a:xfrm>
            <a:off x="374904" y="3200400"/>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doc / xls</a:t>
            </a:r>
            <a:endParaRPr lang="en-US" sz="800" dirty="0"/>
          </a:p>
        </p:txBody>
      </p:sp>
      <p:sp>
        <p:nvSpPr>
          <p:cNvPr id="40" name="Text 38"/>
          <p:cNvSpPr/>
          <p:nvPr/>
        </p:nvSpPr>
        <p:spPr>
          <a:xfrm>
            <a:off x="1728216" y="3200400"/>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D0 CF 11 E0 A1 B1 1A E1</a:t>
            </a:r>
            <a:endParaRPr lang="en-US" sz="780" dirty="0"/>
          </a:p>
        </p:txBody>
      </p:sp>
      <p:sp>
        <p:nvSpPr>
          <p:cNvPr id="41" name="Text 39"/>
          <p:cNvSpPr/>
          <p:nvPr/>
        </p:nvSpPr>
        <p:spPr>
          <a:xfrm>
            <a:off x="4608576" y="3200400"/>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a:t>
            </a:r>
            <a:endParaRPr lang="en-US" sz="780" dirty="0"/>
          </a:p>
        </p:txBody>
      </p:sp>
      <p:sp>
        <p:nvSpPr>
          <p:cNvPr id="42" name="Text 40"/>
          <p:cNvSpPr/>
          <p:nvPr/>
        </p:nvSpPr>
        <p:spPr>
          <a:xfrm>
            <a:off x="7004304" y="3200400"/>
            <a:ext cx="1828800" cy="224942"/>
          </a:xfrm>
          <a:prstGeom prst="rect">
            <a:avLst/>
          </a:prstGeom>
          <a:noFill/>
          <a:ln/>
        </p:spPr>
        <p:txBody>
          <a:bodyPr wrap="square" lIns="0" tIns="0" rIns="0" bIns="0" rtlCol="0" anchor="ctr"/>
          <a:lstStyle/>
          <a:p>
            <a:pPr marL="0" indent="0">
              <a:buNone/>
            </a:pPr>
            <a:r>
              <a:rPr lang="en-US" sz="800" dirty="0">
                <a:solidFill>
                  <a:srgbClr val="1A1A2E"/>
                </a:solidFill>
              </a:rPr>
              <a:t>MS Office 97–2003</a:t>
            </a:r>
            <a:endParaRPr lang="en-US" sz="800" dirty="0"/>
          </a:p>
        </p:txBody>
      </p:sp>
      <p:sp>
        <p:nvSpPr>
          <p:cNvPr id="43" name="Shape 41"/>
          <p:cNvSpPr/>
          <p:nvPr/>
        </p:nvSpPr>
        <p:spPr>
          <a:xfrm>
            <a:off x="320040" y="3430829"/>
            <a:ext cx="8503920" cy="224942"/>
          </a:xfrm>
          <a:prstGeom prst="rect">
            <a:avLst/>
          </a:prstGeom>
          <a:solidFill>
            <a:srgbClr val="EEF6FB"/>
          </a:solidFill>
          <a:ln w="12700">
            <a:solidFill>
              <a:srgbClr val="EEF6FB"/>
            </a:solidFill>
            <a:prstDash val="solid"/>
          </a:ln>
        </p:spPr>
        <p:txBody>
          <a:bodyPr/>
          <a:lstStyle/>
          <a:p>
            <a:endParaRPr lang="en-SG"/>
          </a:p>
        </p:txBody>
      </p:sp>
      <p:sp>
        <p:nvSpPr>
          <p:cNvPr id="44" name="Text 42"/>
          <p:cNvSpPr/>
          <p:nvPr/>
        </p:nvSpPr>
        <p:spPr>
          <a:xfrm>
            <a:off x="374904" y="3430829"/>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docx / xlsx</a:t>
            </a:r>
            <a:endParaRPr lang="en-US" sz="800" dirty="0"/>
          </a:p>
        </p:txBody>
      </p:sp>
      <p:sp>
        <p:nvSpPr>
          <p:cNvPr id="45" name="Text 43"/>
          <p:cNvSpPr/>
          <p:nvPr/>
        </p:nvSpPr>
        <p:spPr>
          <a:xfrm>
            <a:off x="1728216" y="3430829"/>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50 4B 03 04</a:t>
            </a:r>
            <a:endParaRPr lang="en-US" sz="780" dirty="0"/>
          </a:p>
        </p:txBody>
      </p:sp>
      <p:sp>
        <p:nvSpPr>
          <p:cNvPr id="46" name="Text 44"/>
          <p:cNvSpPr/>
          <p:nvPr/>
        </p:nvSpPr>
        <p:spPr>
          <a:xfrm>
            <a:off x="4608576" y="3430829"/>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50 4B 05 06</a:t>
            </a:r>
            <a:endParaRPr lang="en-US" sz="780" dirty="0"/>
          </a:p>
        </p:txBody>
      </p:sp>
      <p:sp>
        <p:nvSpPr>
          <p:cNvPr id="47" name="Text 45"/>
          <p:cNvSpPr/>
          <p:nvPr/>
        </p:nvSpPr>
        <p:spPr>
          <a:xfrm>
            <a:off x="7004304" y="3430829"/>
            <a:ext cx="1828800" cy="224942"/>
          </a:xfrm>
          <a:prstGeom prst="rect">
            <a:avLst/>
          </a:prstGeom>
          <a:noFill/>
          <a:ln/>
        </p:spPr>
        <p:txBody>
          <a:bodyPr wrap="square" lIns="0" tIns="0" rIns="0" bIns="0" rtlCol="0" anchor="ctr"/>
          <a:lstStyle/>
          <a:p>
            <a:pPr marL="0" indent="0">
              <a:buNone/>
            </a:pPr>
            <a:r>
              <a:rPr lang="en-US" sz="800" dirty="0">
                <a:solidFill>
                  <a:srgbClr val="1A1A2E"/>
                </a:solidFill>
              </a:rPr>
              <a:t>Office OOXML / ZIP</a:t>
            </a:r>
            <a:endParaRPr lang="en-US" sz="800" dirty="0"/>
          </a:p>
        </p:txBody>
      </p:sp>
      <p:sp>
        <p:nvSpPr>
          <p:cNvPr id="48" name="Shape 46"/>
          <p:cNvSpPr/>
          <p:nvPr/>
        </p:nvSpPr>
        <p:spPr>
          <a:xfrm>
            <a:off x="320040" y="3661258"/>
            <a:ext cx="8503920" cy="224942"/>
          </a:xfrm>
          <a:prstGeom prst="rect">
            <a:avLst/>
          </a:prstGeom>
          <a:solidFill>
            <a:srgbClr val="FFFFFF"/>
          </a:solidFill>
          <a:ln w="12700">
            <a:solidFill>
              <a:srgbClr val="FFFFFF"/>
            </a:solidFill>
            <a:prstDash val="solid"/>
          </a:ln>
        </p:spPr>
        <p:txBody>
          <a:bodyPr/>
          <a:lstStyle/>
          <a:p>
            <a:endParaRPr lang="en-SG"/>
          </a:p>
        </p:txBody>
      </p:sp>
      <p:sp>
        <p:nvSpPr>
          <p:cNvPr id="49" name="Text 47"/>
          <p:cNvSpPr/>
          <p:nvPr/>
        </p:nvSpPr>
        <p:spPr>
          <a:xfrm>
            <a:off x="374904" y="3661258"/>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mp3</a:t>
            </a:r>
            <a:endParaRPr lang="en-US" sz="800" dirty="0"/>
          </a:p>
        </p:txBody>
      </p:sp>
      <p:sp>
        <p:nvSpPr>
          <p:cNvPr id="50" name="Text 48"/>
          <p:cNvSpPr/>
          <p:nvPr/>
        </p:nvSpPr>
        <p:spPr>
          <a:xfrm>
            <a:off x="1728216" y="3661258"/>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FF FB / 49 44 33</a:t>
            </a:r>
            <a:endParaRPr lang="en-US" sz="780" dirty="0"/>
          </a:p>
        </p:txBody>
      </p:sp>
      <p:sp>
        <p:nvSpPr>
          <p:cNvPr id="51" name="Text 49"/>
          <p:cNvSpPr/>
          <p:nvPr/>
        </p:nvSpPr>
        <p:spPr>
          <a:xfrm>
            <a:off x="4608576" y="3661258"/>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a:t>
            </a:r>
            <a:endParaRPr lang="en-US" sz="780" dirty="0"/>
          </a:p>
        </p:txBody>
      </p:sp>
      <p:sp>
        <p:nvSpPr>
          <p:cNvPr id="52" name="Text 50"/>
          <p:cNvSpPr/>
          <p:nvPr/>
        </p:nvSpPr>
        <p:spPr>
          <a:xfrm>
            <a:off x="7004304" y="3661258"/>
            <a:ext cx="1828800" cy="224942"/>
          </a:xfrm>
          <a:prstGeom prst="rect">
            <a:avLst/>
          </a:prstGeom>
          <a:noFill/>
          <a:ln/>
        </p:spPr>
        <p:txBody>
          <a:bodyPr wrap="square" lIns="0" tIns="0" rIns="0" bIns="0" rtlCol="0" anchor="ctr"/>
          <a:lstStyle/>
          <a:p>
            <a:pPr marL="0" indent="0">
              <a:buNone/>
            </a:pPr>
            <a:r>
              <a:rPr lang="en-US" sz="800" dirty="0">
                <a:solidFill>
                  <a:srgbClr val="1A1A2E"/>
                </a:solidFill>
              </a:rPr>
              <a:t>MPEG Audio Layer 3</a:t>
            </a:r>
            <a:endParaRPr lang="en-US" sz="800" dirty="0"/>
          </a:p>
        </p:txBody>
      </p:sp>
      <p:sp>
        <p:nvSpPr>
          <p:cNvPr id="53" name="Shape 51"/>
          <p:cNvSpPr/>
          <p:nvPr/>
        </p:nvSpPr>
        <p:spPr>
          <a:xfrm>
            <a:off x="320040" y="3891686"/>
            <a:ext cx="8503920" cy="224942"/>
          </a:xfrm>
          <a:prstGeom prst="rect">
            <a:avLst/>
          </a:prstGeom>
          <a:solidFill>
            <a:srgbClr val="EEF6FB"/>
          </a:solidFill>
          <a:ln w="12700">
            <a:solidFill>
              <a:srgbClr val="EEF6FB"/>
            </a:solidFill>
            <a:prstDash val="solid"/>
          </a:ln>
        </p:spPr>
        <p:txBody>
          <a:bodyPr/>
          <a:lstStyle/>
          <a:p>
            <a:endParaRPr lang="en-SG"/>
          </a:p>
        </p:txBody>
      </p:sp>
      <p:sp>
        <p:nvSpPr>
          <p:cNvPr id="54" name="Text 52"/>
          <p:cNvSpPr/>
          <p:nvPr/>
        </p:nvSpPr>
        <p:spPr>
          <a:xfrm>
            <a:off x="374904" y="3891686"/>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wav</a:t>
            </a:r>
            <a:endParaRPr lang="en-US" sz="800" dirty="0"/>
          </a:p>
        </p:txBody>
      </p:sp>
      <p:sp>
        <p:nvSpPr>
          <p:cNvPr id="55" name="Text 53"/>
          <p:cNvSpPr/>
          <p:nvPr/>
        </p:nvSpPr>
        <p:spPr>
          <a:xfrm>
            <a:off x="1728216" y="3891686"/>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52 49 46 46</a:t>
            </a:r>
            <a:endParaRPr lang="en-US" sz="780" dirty="0"/>
          </a:p>
        </p:txBody>
      </p:sp>
      <p:sp>
        <p:nvSpPr>
          <p:cNvPr id="56" name="Text 54"/>
          <p:cNvSpPr/>
          <p:nvPr/>
        </p:nvSpPr>
        <p:spPr>
          <a:xfrm>
            <a:off x="4608576" y="3891686"/>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a:t>
            </a:r>
            <a:endParaRPr lang="en-US" sz="780" dirty="0"/>
          </a:p>
        </p:txBody>
      </p:sp>
      <p:sp>
        <p:nvSpPr>
          <p:cNvPr id="57" name="Text 55"/>
          <p:cNvSpPr/>
          <p:nvPr/>
        </p:nvSpPr>
        <p:spPr>
          <a:xfrm>
            <a:off x="7004304" y="3891686"/>
            <a:ext cx="1828800" cy="224942"/>
          </a:xfrm>
          <a:prstGeom prst="rect">
            <a:avLst/>
          </a:prstGeom>
          <a:noFill/>
          <a:ln/>
        </p:spPr>
        <p:txBody>
          <a:bodyPr wrap="square" lIns="0" tIns="0" rIns="0" bIns="0" rtlCol="0" anchor="ctr"/>
          <a:lstStyle/>
          <a:p>
            <a:pPr marL="0" indent="0">
              <a:buNone/>
            </a:pPr>
            <a:r>
              <a:rPr lang="en-US" sz="800" dirty="0">
                <a:solidFill>
                  <a:srgbClr val="1A1A2E"/>
                </a:solidFill>
              </a:rPr>
              <a:t>Waveform Audio</a:t>
            </a:r>
            <a:endParaRPr lang="en-US" sz="800" dirty="0"/>
          </a:p>
        </p:txBody>
      </p:sp>
      <p:sp>
        <p:nvSpPr>
          <p:cNvPr id="58" name="Shape 56"/>
          <p:cNvSpPr/>
          <p:nvPr/>
        </p:nvSpPr>
        <p:spPr>
          <a:xfrm>
            <a:off x="320040" y="4122115"/>
            <a:ext cx="8503920" cy="224942"/>
          </a:xfrm>
          <a:prstGeom prst="rect">
            <a:avLst/>
          </a:prstGeom>
          <a:solidFill>
            <a:srgbClr val="FFFFFF"/>
          </a:solidFill>
          <a:ln w="12700">
            <a:solidFill>
              <a:srgbClr val="FFFFFF"/>
            </a:solidFill>
            <a:prstDash val="solid"/>
          </a:ln>
        </p:spPr>
        <p:txBody>
          <a:bodyPr/>
          <a:lstStyle/>
          <a:p>
            <a:endParaRPr lang="en-SG"/>
          </a:p>
        </p:txBody>
      </p:sp>
      <p:sp>
        <p:nvSpPr>
          <p:cNvPr id="59" name="Text 57"/>
          <p:cNvSpPr/>
          <p:nvPr/>
        </p:nvSpPr>
        <p:spPr>
          <a:xfrm>
            <a:off x="374904" y="4122115"/>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exe / dll</a:t>
            </a:r>
            <a:endParaRPr lang="en-US" sz="800" dirty="0"/>
          </a:p>
        </p:txBody>
      </p:sp>
      <p:sp>
        <p:nvSpPr>
          <p:cNvPr id="60" name="Text 58"/>
          <p:cNvSpPr/>
          <p:nvPr/>
        </p:nvSpPr>
        <p:spPr>
          <a:xfrm>
            <a:off x="1728216" y="4122115"/>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4D 5A</a:t>
            </a:r>
            <a:endParaRPr lang="en-US" sz="780" dirty="0"/>
          </a:p>
        </p:txBody>
      </p:sp>
      <p:sp>
        <p:nvSpPr>
          <p:cNvPr id="61" name="Text 59"/>
          <p:cNvSpPr/>
          <p:nvPr/>
        </p:nvSpPr>
        <p:spPr>
          <a:xfrm>
            <a:off x="4608576" y="4122115"/>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a:t>
            </a:r>
            <a:endParaRPr lang="en-US" sz="780" dirty="0"/>
          </a:p>
        </p:txBody>
      </p:sp>
      <p:sp>
        <p:nvSpPr>
          <p:cNvPr id="62" name="Text 60"/>
          <p:cNvSpPr/>
          <p:nvPr/>
        </p:nvSpPr>
        <p:spPr>
          <a:xfrm>
            <a:off x="7004304" y="4122115"/>
            <a:ext cx="1828800" cy="224942"/>
          </a:xfrm>
          <a:prstGeom prst="rect">
            <a:avLst/>
          </a:prstGeom>
          <a:noFill/>
          <a:ln/>
        </p:spPr>
        <p:txBody>
          <a:bodyPr wrap="square" lIns="0" tIns="0" rIns="0" bIns="0" rtlCol="0" anchor="ctr"/>
          <a:lstStyle/>
          <a:p>
            <a:pPr marL="0" indent="0">
              <a:buNone/>
            </a:pPr>
            <a:r>
              <a:rPr lang="en-US" sz="800" dirty="0">
                <a:solidFill>
                  <a:srgbClr val="1A1A2E"/>
                </a:solidFill>
              </a:rPr>
              <a:t>Windows PE Executable</a:t>
            </a:r>
            <a:endParaRPr lang="en-US" sz="800" dirty="0"/>
          </a:p>
        </p:txBody>
      </p:sp>
      <p:sp>
        <p:nvSpPr>
          <p:cNvPr id="63" name="Shape 61"/>
          <p:cNvSpPr/>
          <p:nvPr/>
        </p:nvSpPr>
        <p:spPr>
          <a:xfrm>
            <a:off x="320040" y="4352544"/>
            <a:ext cx="8503920" cy="224942"/>
          </a:xfrm>
          <a:prstGeom prst="rect">
            <a:avLst/>
          </a:prstGeom>
          <a:solidFill>
            <a:srgbClr val="EEF6FB"/>
          </a:solidFill>
          <a:ln w="12700">
            <a:solidFill>
              <a:srgbClr val="EEF6FB"/>
            </a:solidFill>
            <a:prstDash val="solid"/>
          </a:ln>
        </p:spPr>
        <p:txBody>
          <a:bodyPr/>
          <a:lstStyle/>
          <a:p>
            <a:endParaRPr lang="en-SG"/>
          </a:p>
        </p:txBody>
      </p:sp>
      <p:sp>
        <p:nvSpPr>
          <p:cNvPr id="64" name="Text 62"/>
          <p:cNvSpPr/>
          <p:nvPr/>
        </p:nvSpPr>
        <p:spPr>
          <a:xfrm>
            <a:off x="374904" y="4352544"/>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iso</a:t>
            </a:r>
            <a:endParaRPr lang="en-US" sz="800" dirty="0"/>
          </a:p>
        </p:txBody>
      </p:sp>
      <p:sp>
        <p:nvSpPr>
          <p:cNvPr id="65" name="Text 63"/>
          <p:cNvSpPr/>
          <p:nvPr/>
        </p:nvSpPr>
        <p:spPr>
          <a:xfrm>
            <a:off x="1728216" y="4352544"/>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43 44 30 30 31</a:t>
            </a:r>
            <a:endParaRPr lang="en-US" sz="780" dirty="0"/>
          </a:p>
        </p:txBody>
      </p:sp>
      <p:sp>
        <p:nvSpPr>
          <p:cNvPr id="66" name="Text 64"/>
          <p:cNvSpPr/>
          <p:nvPr/>
        </p:nvSpPr>
        <p:spPr>
          <a:xfrm>
            <a:off x="4608576" y="4352544"/>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a:t>
            </a:r>
            <a:endParaRPr lang="en-US" sz="780" dirty="0"/>
          </a:p>
        </p:txBody>
      </p:sp>
      <p:sp>
        <p:nvSpPr>
          <p:cNvPr id="67" name="Text 65"/>
          <p:cNvSpPr/>
          <p:nvPr/>
        </p:nvSpPr>
        <p:spPr>
          <a:xfrm>
            <a:off x="7004304" y="4352544"/>
            <a:ext cx="1828800" cy="224942"/>
          </a:xfrm>
          <a:prstGeom prst="rect">
            <a:avLst/>
          </a:prstGeom>
          <a:noFill/>
          <a:ln/>
        </p:spPr>
        <p:txBody>
          <a:bodyPr wrap="square" lIns="0" tIns="0" rIns="0" bIns="0" rtlCol="0" anchor="ctr"/>
          <a:lstStyle/>
          <a:p>
            <a:pPr marL="0" indent="0">
              <a:buNone/>
            </a:pPr>
            <a:r>
              <a:rPr lang="en-US" sz="800" dirty="0">
                <a:solidFill>
                  <a:srgbClr val="1A1A2E"/>
                </a:solidFill>
              </a:rPr>
              <a:t>CD-ROM ISO 9660</a:t>
            </a:r>
            <a:endParaRPr lang="en-US" sz="800" dirty="0"/>
          </a:p>
        </p:txBody>
      </p:sp>
      <p:sp>
        <p:nvSpPr>
          <p:cNvPr id="68" name="Shape 66"/>
          <p:cNvSpPr/>
          <p:nvPr/>
        </p:nvSpPr>
        <p:spPr>
          <a:xfrm>
            <a:off x="320040" y="4582973"/>
            <a:ext cx="8503920" cy="224942"/>
          </a:xfrm>
          <a:prstGeom prst="rect">
            <a:avLst/>
          </a:prstGeom>
          <a:solidFill>
            <a:srgbClr val="FFFFFF"/>
          </a:solidFill>
          <a:ln w="12700">
            <a:solidFill>
              <a:srgbClr val="FFFFFF"/>
            </a:solidFill>
            <a:prstDash val="solid"/>
          </a:ln>
        </p:spPr>
        <p:txBody>
          <a:bodyPr/>
          <a:lstStyle/>
          <a:p>
            <a:endParaRPr lang="en-SG"/>
          </a:p>
        </p:txBody>
      </p:sp>
      <p:sp>
        <p:nvSpPr>
          <p:cNvPr id="69" name="Text 67"/>
          <p:cNvSpPr/>
          <p:nvPr/>
        </p:nvSpPr>
        <p:spPr>
          <a:xfrm>
            <a:off x="374904" y="4582973"/>
            <a:ext cx="1298448" cy="224942"/>
          </a:xfrm>
          <a:prstGeom prst="rect">
            <a:avLst/>
          </a:prstGeom>
          <a:noFill/>
          <a:ln/>
        </p:spPr>
        <p:txBody>
          <a:bodyPr wrap="square" lIns="0" tIns="0" rIns="0" bIns="0" rtlCol="0" anchor="ctr"/>
          <a:lstStyle/>
          <a:p>
            <a:pPr marL="0" indent="0">
              <a:buNone/>
            </a:pPr>
            <a:r>
              <a:rPr lang="en-US" sz="800" b="1" dirty="0">
                <a:solidFill>
                  <a:srgbClr val="F4A261"/>
                </a:solidFill>
                <a:latin typeface="Consolas" pitchFamily="34" charset="0"/>
                <a:ea typeface="Consolas" pitchFamily="34" charset="-122"/>
                <a:cs typeface="Consolas" pitchFamily="34" charset="-120"/>
              </a:rPr>
              <a:t>bz2</a:t>
            </a:r>
            <a:endParaRPr lang="en-US" sz="800" dirty="0"/>
          </a:p>
        </p:txBody>
      </p:sp>
      <p:sp>
        <p:nvSpPr>
          <p:cNvPr id="70" name="Text 68"/>
          <p:cNvSpPr/>
          <p:nvPr/>
        </p:nvSpPr>
        <p:spPr>
          <a:xfrm>
            <a:off x="1728216" y="4582973"/>
            <a:ext cx="2816352" cy="224942"/>
          </a:xfrm>
          <a:prstGeom prst="rect">
            <a:avLst/>
          </a:prstGeom>
          <a:noFill/>
          <a:ln/>
        </p:spPr>
        <p:txBody>
          <a:bodyPr wrap="square" lIns="0" tIns="0" rIns="0" bIns="0" rtlCol="0" anchor="ctr"/>
          <a:lstStyle/>
          <a:p>
            <a:pPr marL="0" indent="0">
              <a:buNone/>
            </a:pPr>
            <a:r>
              <a:rPr lang="en-US" sz="780" dirty="0">
                <a:solidFill>
                  <a:srgbClr val="00B4D8"/>
                </a:solidFill>
                <a:latin typeface="Consolas" pitchFamily="34" charset="0"/>
                <a:ea typeface="Consolas" pitchFamily="34" charset="-122"/>
                <a:cs typeface="Consolas" pitchFamily="34" charset="-120"/>
              </a:rPr>
              <a:t>42 5A 68</a:t>
            </a:r>
            <a:endParaRPr lang="en-US" sz="780" dirty="0"/>
          </a:p>
        </p:txBody>
      </p:sp>
      <p:sp>
        <p:nvSpPr>
          <p:cNvPr id="71" name="Text 69"/>
          <p:cNvSpPr/>
          <p:nvPr/>
        </p:nvSpPr>
        <p:spPr>
          <a:xfrm>
            <a:off x="4608576" y="4582973"/>
            <a:ext cx="2331720" cy="224942"/>
          </a:xfrm>
          <a:prstGeom prst="rect">
            <a:avLst/>
          </a:prstGeom>
          <a:noFill/>
          <a:ln/>
        </p:spPr>
        <p:txBody>
          <a:bodyPr wrap="square" lIns="0" tIns="0" rIns="0" bIns="0" rtlCol="0" anchor="ctr"/>
          <a:lstStyle/>
          <a:p>
            <a:pPr marL="0" indent="0">
              <a:buNone/>
            </a:pPr>
            <a:r>
              <a:rPr lang="en-US" sz="780" dirty="0">
                <a:solidFill>
                  <a:srgbClr val="2ECC71"/>
                </a:solidFill>
                <a:latin typeface="Consolas" pitchFamily="34" charset="0"/>
                <a:ea typeface="Consolas" pitchFamily="34" charset="-122"/>
                <a:cs typeface="Consolas" pitchFamily="34" charset="-120"/>
              </a:rPr>
              <a:t>—</a:t>
            </a:r>
            <a:endParaRPr lang="en-US" sz="780" dirty="0"/>
          </a:p>
        </p:txBody>
      </p:sp>
      <p:sp>
        <p:nvSpPr>
          <p:cNvPr id="72" name="Text 70"/>
          <p:cNvSpPr/>
          <p:nvPr/>
        </p:nvSpPr>
        <p:spPr>
          <a:xfrm>
            <a:off x="7004304" y="4582973"/>
            <a:ext cx="1828800" cy="224942"/>
          </a:xfrm>
          <a:prstGeom prst="rect">
            <a:avLst/>
          </a:prstGeom>
          <a:noFill/>
          <a:ln/>
        </p:spPr>
        <p:txBody>
          <a:bodyPr wrap="square" lIns="0" tIns="0" rIns="0" bIns="0" rtlCol="0" anchor="ctr"/>
          <a:lstStyle/>
          <a:p>
            <a:pPr marL="0" indent="0">
              <a:buNone/>
            </a:pPr>
            <a:r>
              <a:rPr lang="en-US" sz="800" dirty="0">
                <a:solidFill>
                  <a:srgbClr val="1A1A2E"/>
                </a:solidFill>
              </a:rPr>
              <a:t>Bzip2 Compressed</a:t>
            </a:r>
            <a:endParaRPr lang="en-US" sz="800" dirty="0"/>
          </a:p>
        </p:txBody>
      </p:sp>
      <p:sp>
        <p:nvSpPr>
          <p:cNvPr id="73" name="Text 71"/>
          <p:cNvSpPr/>
          <p:nvPr/>
        </p:nvSpPr>
        <p:spPr>
          <a:xfrm>
            <a:off x="310896" y="4771111"/>
            <a:ext cx="8503920" cy="182880"/>
          </a:xfrm>
          <a:prstGeom prst="rect">
            <a:avLst/>
          </a:prstGeom>
          <a:noFill/>
          <a:ln/>
        </p:spPr>
        <p:txBody>
          <a:bodyPr wrap="square" lIns="0" tIns="0" rIns="0" bIns="0" rtlCol="0" anchor="ctr"/>
          <a:lstStyle/>
          <a:p>
            <a:pPr marL="0" indent="0">
              <a:buNone/>
            </a:pPr>
            <a:r>
              <a:rPr lang="en-US" sz="750" i="1" dirty="0">
                <a:solidFill>
                  <a:srgbClr val="8899AA"/>
                </a:solidFill>
              </a:rPr>
              <a:t>Source: Messier, R. (2015). Operating System Forensics. Syngress.  ·  Tools: Foremost, Scalpel, bulk_extractor automate multi-signature carving at scale across entire disk images.</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307592"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1124712" cy="256032"/>
          </a:xfrm>
          <a:prstGeom prst="rect">
            <a:avLst/>
          </a:prstGeom>
          <a:noFill/>
          <a:ln/>
        </p:spPr>
        <p:txBody>
          <a:bodyPr wrap="square" lIns="0" tIns="0" rIns="0" bIns="0" rtlCol="0" anchor="ctr"/>
          <a:lstStyle/>
          <a:p>
            <a:pPr marL="0" indent="0">
              <a:buNone/>
            </a:pPr>
            <a:r>
              <a:rPr lang="en-US" sz="850" b="1" dirty="0">
                <a:solidFill>
                  <a:srgbClr val="0D1B2A"/>
                </a:solidFill>
              </a:rPr>
              <a:t>TOOL COMPARISON</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Forensic Tools Mapped to Investigation Phases</a:t>
            </a:r>
            <a:endParaRPr lang="en-US" sz="2800" dirty="0"/>
          </a:p>
        </p:txBody>
      </p:sp>
      <p:sp>
        <p:nvSpPr>
          <p:cNvPr id="5" name="Shape 3"/>
          <p:cNvSpPr/>
          <p:nvPr/>
        </p:nvSpPr>
        <p:spPr>
          <a:xfrm>
            <a:off x="320040" y="1298448"/>
            <a:ext cx="8503920" cy="676656"/>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298448"/>
            <a:ext cx="109728" cy="676656"/>
          </a:xfrm>
          <a:prstGeom prst="rect">
            <a:avLst/>
          </a:prstGeom>
          <a:solidFill>
            <a:srgbClr val="00B4D8"/>
          </a:solidFill>
          <a:ln w="12700">
            <a:solidFill>
              <a:srgbClr val="00B4D8"/>
            </a:solidFill>
            <a:prstDash val="solid"/>
          </a:ln>
        </p:spPr>
        <p:txBody>
          <a:bodyPr/>
          <a:lstStyle/>
          <a:p>
            <a:endParaRPr lang="en-SG"/>
          </a:p>
        </p:txBody>
      </p:sp>
      <p:sp>
        <p:nvSpPr>
          <p:cNvPr id="7" name="Shape 5"/>
          <p:cNvSpPr/>
          <p:nvPr/>
        </p:nvSpPr>
        <p:spPr>
          <a:xfrm>
            <a:off x="320040" y="1298448"/>
            <a:ext cx="1700784" cy="676656"/>
          </a:xfrm>
          <a:prstGeom prst="rect">
            <a:avLst/>
          </a:prstGeom>
          <a:solidFill>
            <a:srgbClr val="FFFFFF"/>
          </a:solidFill>
          <a:ln w="12700">
            <a:solidFill>
              <a:srgbClr val="FFFFFF"/>
            </a:solidFill>
            <a:prstDash val="solid"/>
          </a:ln>
        </p:spPr>
        <p:txBody>
          <a:bodyPr/>
          <a:lstStyle/>
          <a:p>
            <a:endParaRPr lang="en-SG"/>
          </a:p>
        </p:txBody>
      </p:sp>
      <p:sp>
        <p:nvSpPr>
          <p:cNvPr id="8" name="Text 6"/>
          <p:cNvSpPr/>
          <p:nvPr/>
        </p:nvSpPr>
        <p:spPr>
          <a:xfrm>
            <a:off x="438912" y="1298448"/>
            <a:ext cx="1554480" cy="676656"/>
          </a:xfrm>
          <a:prstGeom prst="rect">
            <a:avLst/>
          </a:prstGeom>
          <a:noFill/>
          <a:ln/>
        </p:spPr>
        <p:txBody>
          <a:bodyPr wrap="square" lIns="0" tIns="0" rIns="0" bIns="0" rtlCol="0" anchor="ctr"/>
          <a:lstStyle/>
          <a:p>
            <a:pPr marL="0" indent="0">
              <a:buNone/>
            </a:pPr>
            <a:r>
              <a:rPr lang="en-US" sz="1100" b="1" dirty="0">
                <a:solidFill>
                  <a:srgbClr val="00B4D8"/>
                </a:solidFill>
              </a:rPr>
              <a:t>Acquisition</a:t>
            </a:r>
            <a:endParaRPr lang="en-US" sz="1100" dirty="0"/>
          </a:p>
        </p:txBody>
      </p:sp>
      <p:sp>
        <p:nvSpPr>
          <p:cNvPr id="9" name="Shape 7"/>
          <p:cNvSpPr/>
          <p:nvPr/>
        </p:nvSpPr>
        <p:spPr>
          <a:xfrm>
            <a:off x="2176272" y="1426464"/>
            <a:ext cx="1170432" cy="420624"/>
          </a:xfrm>
          <a:prstGeom prst="rect">
            <a:avLst/>
          </a:prstGeom>
          <a:solidFill>
            <a:srgbClr val="FFFFFF"/>
          </a:solidFill>
          <a:ln w="6350">
            <a:solidFill>
              <a:srgbClr val="00B4D8"/>
            </a:solidFill>
            <a:prstDash val="solid"/>
          </a:ln>
        </p:spPr>
        <p:txBody>
          <a:bodyPr/>
          <a:lstStyle/>
          <a:p>
            <a:endParaRPr lang="en-SG"/>
          </a:p>
        </p:txBody>
      </p:sp>
      <p:sp>
        <p:nvSpPr>
          <p:cNvPr id="10" name="Text 8"/>
          <p:cNvSpPr/>
          <p:nvPr/>
        </p:nvSpPr>
        <p:spPr>
          <a:xfrm>
            <a:off x="2176272" y="142646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dd / dc3dd</a:t>
            </a:r>
            <a:endParaRPr lang="en-US" sz="780" dirty="0"/>
          </a:p>
        </p:txBody>
      </p:sp>
      <p:sp>
        <p:nvSpPr>
          <p:cNvPr id="11" name="Shape 9"/>
          <p:cNvSpPr/>
          <p:nvPr/>
        </p:nvSpPr>
        <p:spPr>
          <a:xfrm>
            <a:off x="3438144" y="1426464"/>
            <a:ext cx="1170432" cy="420624"/>
          </a:xfrm>
          <a:prstGeom prst="rect">
            <a:avLst/>
          </a:prstGeom>
          <a:solidFill>
            <a:srgbClr val="FFFFFF"/>
          </a:solidFill>
          <a:ln w="6350">
            <a:solidFill>
              <a:srgbClr val="00B4D8"/>
            </a:solidFill>
            <a:prstDash val="solid"/>
          </a:ln>
        </p:spPr>
        <p:txBody>
          <a:bodyPr/>
          <a:lstStyle/>
          <a:p>
            <a:endParaRPr lang="en-SG"/>
          </a:p>
        </p:txBody>
      </p:sp>
      <p:sp>
        <p:nvSpPr>
          <p:cNvPr id="12" name="Text 10"/>
          <p:cNvSpPr/>
          <p:nvPr/>
        </p:nvSpPr>
        <p:spPr>
          <a:xfrm>
            <a:off x="3438144" y="142646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FTK Imager</a:t>
            </a:r>
            <a:endParaRPr lang="en-US" sz="780" dirty="0"/>
          </a:p>
        </p:txBody>
      </p:sp>
      <p:sp>
        <p:nvSpPr>
          <p:cNvPr id="13" name="Shape 11"/>
          <p:cNvSpPr/>
          <p:nvPr/>
        </p:nvSpPr>
        <p:spPr>
          <a:xfrm>
            <a:off x="4700016" y="1426464"/>
            <a:ext cx="1170432" cy="420624"/>
          </a:xfrm>
          <a:prstGeom prst="rect">
            <a:avLst/>
          </a:prstGeom>
          <a:solidFill>
            <a:srgbClr val="FFFFFF"/>
          </a:solidFill>
          <a:ln w="6350">
            <a:solidFill>
              <a:srgbClr val="00B4D8"/>
            </a:solidFill>
            <a:prstDash val="solid"/>
          </a:ln>
        </p:spPr>
        <p:txBody>
          <a:bodyPr/>
          <a:lstStyle/>
          <a:p>
            <a:endParaRPr lang="en-SG"/>
          </a:p>
        </p:txBody>
      </p:sp>
      <p:sp>
        <p:nvSpPr>
          <p:cNvPr id="14" name="Text 12"/>
          <p:cNvSpPr/>
          <p:nvPr/>
        </p:nvSpPr>
        <p:spPr>
          <a:xfrm>
            <a:off x="4700016" y="142646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Autopsy (imaging)</a:t>
            </a:r>
            <a:endParaRPr lang="en-US" sz="780" dirty="0"/>
          </a:p>
        </p:txBody>
      </p:sp>
      <p:sp>
        <p:nvSpPr>
          <p:cNvPr id="15" name="Shape 13"/>
          <p:cNvSpPr/>
          <p:nvPr/>
        </p:nvSpPr>
        <p:spPr>
          <a:xfrm>
            <a:off x="5961888" y="1426464"/>
            <a:ext cx="1170432" cy="420624"/>
          </a:xfrm>
          <a:prstGeom prst="rect">
            <a:avLst/>
          </a:prstGeom>
          <a:solidFill>
            <a:srgbClr val="FFFFFF"/>
          </a:solidFill>
          <a:ln w="6350">
            <a:solidFill>
              <a:srgbClr val="00B4D8"/>
            </a:solidFill>
            <a:prstDash val="solid"/>
          </a:ln>
        </p:spPr>
        <p:txBody>
          <a:bodyPr/>
          <a:lstStyle/>
          <a:p>
            <a:endParaRPr lang="en-SG"/>
          </a:p>
        </p:txBody>
      </p:sp>
      <p:sp>
        <p:nvSpPr>
          <p:cNvPr id="16" name="Text 14"/>
          <p:cNvSpPr/>
          <p:nvPr/>
        </p:nvSpPr>
        <p:spPr>
          <a:xfrm>
            <a:off x="5961888" y="142646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CAINE (live boot)</a:t>
            </a:r>
            <a:endParaRPr lang="en-US" sz="780" dirty="0"/>
          </a:p>
        </p:txBody>
      </p:sp>
      <p:sp>
        <p:nvSpPr>
          <p:cNvPr id="17" name="Shape 15"/>
          <p:cNvSpPr/>
          <p:nvPr/>
        </p:nvSpPr>
        <p:spPr>
          <a:xfrm>
            <a:off x="7223760" y="1426464"/>
            <a:ext cx="1170432" cy="420624"/>
          </a:xfrm>
          <a:prstGeom prst="rect">
            <a:avLst/>
          </a:prstGeom>
          <a:solidFill>
            <a:srgbClr val="FFFFFF"/>
          </a:solidFill>
          <a:ln w="6350">
            <a:solidFill>
              <a:srgbClr val="00B4D8"/>
            </a:solidFill>
            <a:prstDash val="solid"/>
          </a:ln>
        </p:spPr>
        <p:txBody>
          <a:bodyPr/>
          <a:lstStyle/>
          <a:p>
            <a:endParaRPr lang="en-SG"/>
          </a:p>
        </p:txBody>
      </p:sp>
      <p:sp>
        <p:nvSpPr>
          <p:cNvPr id="18" name="Text 16"/>
          <p:cNvSpPr/>
          <p:nvPr/>
        </p:nvSpPr>
        <p:spPr>
          <a:xfrm>
            <a:off x="7223760" y="142646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Netcat + dd (network)</a:t>
            </a:r>
            <a:endParaRPr lang="en-US" sz="780" dirty="0"/>
          </a:p>
        </p:txBody>
      </p:sp>
      <p:sp>
        <p:nvSpPr>
          <p:cNvPr id="19" name="Shape 17"/>
          <p:cNvSpPr/>
          <p:nvPr/>
        </p:nvSpPr>
        <p:spPr>
          <a:xfrm>
            <a:off x="320040" y="2029968"/>
            <a:ext cx="8503920" cy="676656"/>
          </a:xfrm>
          <a:prstGeom prst="rect">
            <a:avLst/>
          </a:prstGeom>
          <a:solidFill>
            <a:srgbClr val="EEF6FB"/>
          </a:solidFill>
          <a:ln w="12700">
            <a:solidFill>
              <a:srgbClr val="EEF6FB"/>
            </a:solidFill>
            <a:prstDash val="solid"/>
          </a:ln>
        </p:spPr>
        <p:txBody>
          <a:bodyPr/>
          <a:lstStyle/>
          <a:p>
            <a:endParaRPr lang="en-SG"/>
          </a:p>
        </p:txBody>
      </p:sp>
      <p:sp>
        <p:nvSpPr>
          <p:cNvPr id="20" name="Shape 18"/>
          <p:cNvSpPr/>
          <p:nvPr/>
        </p:nvSpPr>
        <p:spPr>
          <a:xfrm>
            <a:off x="320040" y="2029968"/>
            <a:ext cx="109728" cy="676656"/>
          </a:xfrm>
          <a:prstGeom prst="rect">
            <a:avLst/>
          </a:prstGeom>
          <a:solidFill>
            <a:srgbClr val="F4A261"/>
          </a:solidFill>
          <a:ln w="12700">
            <a:solidFill>
              <a:srgbClr val="F4A261"/>
            </a:solidFill>
            <a:prstDash val="solid"/>
          </a:ln>
        </p:spPr>
        <p:txBody>
          <a:bodyPr/>
          <a:lstStyle/>
          <a:p>
            <a:endParaRPr lang="en-SG"/>
          </a:p>
        </p:txBody>
      </p:sp>
      <p:sp>
        <p:nvSpPr>
          <p:cNvPr id="21" name="Shape 19"/>
          <p:cNvSpPr/>
          <p:nvPr/>
        </p:nvSpPr>
        <p:spPr>
          <a:xfrm>
            <a:off x="320040" y="2029968"/>
            <a:ext cx="1700784" cy="676656"/>
          </a:xfrm>
          <a:prstGeom prst="rect">
            <a:avLst/>
          </a:prstGeom>
          <a:solidFill>
            <a:srgbClr val="FFFFFF"/>
          </a:solidFill>
          <a:ln w="12700">
            <a:solidFill>
              <a:srgbClr val="FFFFFF"/>
            </a:solidFill>
            <a:prstDash val="solid"/>
          </a:ln>
        </p:spPr>
        <p:txBody>
          <a:bodyPr/>
          <a:lstStyle/>
          <a:p>
            <a:endParaRPr lang="en-SG"/>
          </a:p>
        </p:txBody>
      </p:sp>
      <p:sp>
        <p:nvSpPr>
          <p:cNvPr id="22" name="Text 20"/>
          <p:cNvSpPr/>
          <p:nvPr/>
        </p:nvSpPr>
        <p:spPr>
          <a:xfrm>
            <a:off x="438912" y="2029968"/>
            <a:ext cx="1554480" cy="676656"/>
          </a:xfrm>
          <a:prstGeom prst="rect">
            <a:avLst/>
          </a:prstGeom>
          <a:noFill/>
          <a:ln/>
        </p:spPr>
        <p:txBody>
          <a:bodyPr wrap="square" lIns="0" tIns="0" rIns="0" bIns="0" rtlCol="0" anchor="ctr"/>
          <a:lstStyle/>
          <a:p>
            <a:pPr marL="0" indent="0">
              <a:buNone/>
            </a:pPr>
            <a:r>
              <a:rPr lang="en-US" sz="1100" b="1" dirty="0">
                <a:solidFill>
                  <a:srgbClr val="F4A261"/>
                </a:solidFill>
              </a:rPr>
              <a:t>Validation</a:t>
            </a:r>
            <a:endParaRPr lang="en-US" sz="1100" dirty="0"/>
          </a:p>
        </p:txBody>
      </p:sp>
      <p:sp>
        <p:nvSpPr>
          <p:cNvPr id="23" name="Shape 21"/>
          <p:cNvSpPr/>
          <p:nvPr/>
        </p:nvSpPr>
        <p:spPr>
          <a:xfrm>
            <a:off x="2176272" y="2157984"/>
            <a:ext cx="1170432" cy="420624"/>
          </a:xfrm>
          <a:prstGeom prst="rect">
            <a:avLst/>
          </a:prstGeom>
          <a:solidFill>
            <a:srgbClr val="FFFFFF"/>
          </a:solidFill>
          <a:ln w="6350">
            <a:solidFill>
              <a:srgbClr val="F4A261"/>
            </a:solidFill>
            <a:prstDash val="solid"/>
          </a:ln>
        </p:spPr>
        <p:txBody>
          <a:bodyPr/>
          <a:lstStyle/>
          <a:p>
            <a:endParaRPr lang="en-SG"/>
          </a:p>
        </p:txBody>
      </p:sp>
      <p:sp>
        <p:nvSpPr>
          <p:cNvPr id="24" name="Text 22"/>
          <p:cNvSpPr/>
          <p:nvPr/>
        </p:nvSpPr>
        <p:spPr>
          <a:xfrm>
            <a:off x="2176272" y="215798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md5sum / sha256sum</a:t>
            </a:r>
            <a:endParaRPr lang="en-US" sz="780" dirty="0"/>
          </a:p>
        </p:txBody>
      </p:sp>
      <p:sp>
        <p:nvSpPr>
          <p:cNvPr id="25" name="Shape 23"/>
          <p:cNvSpPr/>
          <p:nvPr/>
        </p:nvSpPr>
        <p:spPr>
          <a:xfrm>
            <a:off x="3438144" y="2157984"/>
            <a:ext cx="1170432" cy="420624"/>
          </a:xfrm>
          <a:prstGeom prst="rect">
            <a:avLst/>
          </a:prstGeom>
          <a:solidFill>
            <a:srgbClr val="FFFFFF"/>
          </a:solidFill>
          <a:ln w="6350">
            <a:solidFill>
              <a:srgbClr val="F4A261"/>
            </a:solidFill>
            <a:prstDash val="solid"/>
          </a:ln>
        </p:spPr>
        <p:txBody>
          <a:bodyPr/>
          <a:lstStyle/>
          <a:p>
            <a:endParaRPr lang="en-SG"/>
          </a:p>
        </p:txBody>
      </p:sp>
      <p:sp>
        <p:nvSpPr>
          <p:cNvPr id="26" name="Text 24"/>
          <p:cNvSpPr/>
          <p:nvPr/>
        </p:nvSpPr>
        <p:spPr>
          <a:xfrm>
            <a:off x="3438144" y="215798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FTK (hash verify)</a:t>
            </a:r>
            <a:endParaRPr lang="en-US" sz="780" dirty="0"/>
          </a:p>
        </p:txBody>
      </p:sp>
      <p:sp>
        <p:nvSpPr>
          <p:cNvPr id="27" name="Shape 25"/>
          <p:cNvSpPr/>
          <p:nvPr/>
        </p:nvSpPr>
        <p:spPr>
          <a:xfrm>
            <a:off x="4700016" y="2157984"/>
            <a:ext cx="1170432" cy="420624"/>
          </a:xfrm>
          <a:prstGeom prst="rect">
            <a:avLst/>
          </a:prstGeom>
          <a:solidFill>
            <a:srgbClr val="FFFFFF"/>
          </a:solidFill>
          <a:ln w="6350">
            <a:solidFill>
              <a:srgbClr val="F4A261"/>
            </a:solidFill>
            <a:prstDash val="solid"/>
          </a:ln>
        </p:spPr>
        <p:txBody>
          <a:bodyPr/>
          <a:lstStyle/>
          <a:p>
            <a:endParaRPr lang="en-SG"/>
          </a:p>
        </p:txBody>
      </p:sp>
      <p:sp>
        <p:nvSpPr>
          <p:cNvPr id="28" name="Text 26"/>
          <p:cNvSpPr/>
          <p:nvPr/>
        </p:nvSpPr>
        <p:spPr>
          <a:xfrm>
            <a:off x="4700016" y="215798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Autopsy (hash sets)</a:t>
            </a:r>
            <a:endParaRPr lang="en-US" sz="780" dirty="0"/>
          </a:p>
        </p:txBody>
      </p:sp>
      <p:sp>
        <p:nvSpPr>
          <p:cNvPr id="29" name="Shape 27"/>
          <p:cNvSpPr/>
          <p:nvPr/>
        </p:nvSpPr>
        <p:spPr>
          <a:xfrm>
            <a:off x="5961888" y="2157984"/>
            <a:ext cx="1170432" cy="420624"/>
          </a:xfrm>
          <a:prstGeom prst="rect">
            <a:avLst/>
          </a:prstGeom>
          <a:solidFill>
            <a:srgbClr val="FFFFFF"/>
          </a:solidFill>
          <a:ln w="6350">
            <a:solidFill>
              <a:srgbClr val="F4A261"/>
            </a:solidFill>
            <a:prstDash val="solid"/>
          </a:ln>
        </p:spPr>
        <p:txBody>
          <a:bodyPr/>
          <a:lstStyle/>
          <a:p>
            <a:endParaRPr lang="en-SG"/>
          </a:p>
        </p:txBody>
      </p:sp>
      <p:sp>
        <p:nvSpPr>
          <p:cNvPr id="30" name="Text 28"/>
          <p:cNvSpPr/>
          <p:nvPr/>
        </p:nvSpPr>
        <p:spPr>
          <a:xfrm>
            <a:off x="5961888" y="215798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NSRL / KFF database</a:t>
            </a:r>
            <a:endParaRPr lang="en-US" sz="780" dirty="0"/>
          </a:p>
        </p:txBody>
      </p:sp>
      <p:sp>
        <p:nvSpPr>
          <p:cNvPr id="31" name="Shape 29"/>
          <p:cNvSpPr/>
          <p:nvPr/>
        </p:nvSpPr>
        <p:spPr>
          <a:xfrm>
            <a:off x="7223760" y="2157984"/>
            <a:ext cx="1170432" cy="420624"/>
          </a:xfrm>
          <a:prstGeom prst="rect">
            <a:avLst/>
          </a:prstGeom>
          <a:solidFill>
            <a:srgbClr val="FFFFFF"/>
          </a:solidFill>
          <a:ln w="6350">
            <a:solidFill>
              <a:srgbClr val="F4A261"/>
            </a:solidFill>
            <a:prstDash val="solid"/>
          </a:ln>
        </p:spPr>
        <p:txBody>
          <a:bodyPr/>
          <a:lstStyle/>
          <a:p>
            <a:endParaRPr lang="en-SG"/>
          </a:p>
        </p:txBody>
      </p:sp>
      <p:sp>
        <p:nvSpPr>
          <p:cNvPr id="32" name="Text 30"/>
          <p:cNvSpPr/>
          <p:nvPr/>
        </p:nvSpPr>
        <p:spPr>
          <a:xfrm>
            <a:off x="7223760" y="215798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Hashdeep</a:t>
            </a:r>
            <a:endParaRPr lang="en-US" sz="780" dirty="0"/>
          </a:p>
        </p:txBody>
      </p:sp>
      <p:sp>
        <p:nvSpPr>
          <p:cNvPr id="33" name="Shape 31"/>
          <p:cNvSpPr/>
          <p:nvPr/>
        </p:nvSpPr>
        <p:spPr>
          <a:xfrm>
            <a:off x="320040" y="2761488"/>
            <a:ext cx="8503920" cy="676656"/>
          </a:xfrm>
          <a:prstGeom prst="rect">
            <a:avLst/>
          </a:prstGeom>
          <a:solidFill>
            <a:srgbClr val="EEF6FB"/>
          </a:solidFill>
          <a:ln w="12700">
            <a:solidFill>
              <a:srgbClr val="EEF6FB"/>
            </a:solidFill>
            <a:prstDash val="solid"/>
          </a:ln>
        </p:spPr>
        <p:txBody>
          <a:bodyPr/>
          <a:lstStyle/>
          <a:p>
            <a:endParaRPr lang="en-SG"/>
          </a:p>
        </p:txBody>
      </p:sp>
      <p:sp>
        <p:nvSpPr>
          <p:cNvPr id="34" name="Shape 32"/>
          <p:cNvSpPr/>
          <p:nvPr/>
        </p:nvSpPr>
        <p:spPr>
          <a:xfrm>
            <a:off x="320040" y="2761488"/>
            <a:ext cx="109728" cy="676656"/>
          </a:xfrm>
          <a:prstGeom prst="rect">
            <a:avLst/>
          </a:prstGeom>
          <a:solidFill>
            <a:srgbClr val="2ECC71"/>
          </a:solidFill>
          <a:ln w="12700">
            <a:solidFill>
              <a:srgbClr val="2ECC71"/>
            </a:solidFill>
            <a:prstDash val="solid"/>
          </a:ln>
        </p:spPr>
        <p:txBody>
          <a:bodyPr/>
          <a:lstStyle/>
          <a:p>
            <a:endParaRPr lang="en-SG"/>
          </a:p>
        </p:txBody>
      </p:sp>
      <p:sp>
        <p:nvSpPr>
          <p:cNvPr id="35" name="Shape 33"/>
          <p:cNvSpPr/>
          <p:nvPr/>
        </p:nvSpPr>
        <p:spPr>
          <a:xfrm>
            <a:off x="320040" y="2761488"/>
            <a:ext cx="1700784" cy="676656"/>
          </a:xfrm>
          <a:prstGeom prst="rect">
            <a:avLst/>
          </a:prstGeom>
          <a:solidFill>
            <a:srgbClr val="FFFFFF"/>
          </a:solidFill>
          <a:ln w="12700">
            <a:solidFill>
              <a:srgbClr val="FFFFFF"/>
            </a:solidFill>
            <a:prstDash val="solid"/>
          </a:ln>
        </p:spPr>
        <p:txBody>
          <a:bodyPr/>
          <a:lstStyle/>
          <a:p>
            <a:endParaRPr lang="en-SG"/>
          </a:p>
        </p:txBody>
      </p:sp>
      <p:sp>
        <p:nvSpPr>
          <p:cNvPr id="36" name="Text 34"/>
          <p:cNvSpPr/>
          <p:nvPr/>
        </p:nvSpPr>
        <p:spPr>
          <a:xfrm>
            <a:off x="438912" y="2761488"/>
            <a:ext cx="1554480" cy="676656"/>
          </a:xfrm>
          <a:prstGeom prst="rect">
            <a:avLst/>
          </a:prstGeom>
          <a:noFill/>
          <a:ln/>
        </p:spPr>
        <p:txBody>
          <a:bodyPr wrap="square" lIns="0" tIns="0" rIns="0" bIns="0" rtlCol="0" anchor="ctr"/>
          <a:lstStyle/>
          <a:p>
            <a:pPr marL="0" indent="0">
              <a:buNone/>
            </a:pPr>
            <a:r>
              <a:rPr lang="en-US" sz="1100" b="1" dirty="0">
                <a:solidFill>
                  <a:srgbClr val="2ECC71"/>
                </a:solidFill>
              </a:rPr>
              <a:t>Extraction</a:t>
            </a:r>
            <a:endParaRPr lang="en-US" sz="1100" dirty="0"/>
          </a:p>
        </p:txBody>
      </p:sp>
      <p:sp>
        <p:nvSpPr>
          <p:cNvPr id="37" name="Shape 35"/>
          <p:cNvSpPr/>
          <p:nvPr/>
        </p:nvSpPr>
        <p:spPr>
          <a:xfrm>
            <a:off x="2176272" y="2889504"/>
            <a:ext cx="1170432" cy="420624"/>
          </a:xfrm>
          <a:prstGeom prst="rect">
            <a:avLst/>
          </a:prstGeom>
          <a:solidFill>
            <a:srgbClr val="FFFFFF"/>
          </a:solidFill>
          <a:ln w="6350">
            <a:solidFill>
              <a:srgbClr val="2ECC71"/>
            </a:solidFill>
            <a:prstDash val="solid"/>
          </a:ln>
        </p:spPr>
        <p:txBody>
          <a:bodyPr/>
          <a:lstStyle/>
          <a:p>
            <a:endParaRPr lang="en-SG"/>
          </a:p>
        </p:txBody>
      </p:sp>
      <p:sp>
        <p:nvSpPr>
          <p:cNvPr id="38" name="Text 36"/>
          <p:cNvSpPr/>
          <p:nvPr/>
        </p:nvSpPr>
        <p:spPr>
          <a:xfrm>
            <a:off x="2176272" y="288950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FTK (indexed search)</a:t>
            </a:r>
            <a:endParaRPr lang="en-US" sz="780" dirty="0"/>
          </a:p>
        </p:txBody>
      </p:sp>
      <p:sp>
        <p:nvSpPr>
          <p:cNvPr id="39" name="Shape 37"/>
          <p:cNvSpPr/>
          <p:nvPr/>
        </p:nvSpPr>
        <p:spPr>
          <a:xfrm>
            <a:off x="3438144" y="2889504"/>
            <a:ext cx="1170432" cy="420624"/>
          </a:xfrm>
          <a:prstGeom prst="rect">
            <a:avLst/>
          </a:prstGeom>
          <a:solidFill>
            <a:srgbClr val="FFFFFF"/>
          </a:solidFill>
          <a:ln w="6350">
            <a:solidFill>
              <a:srgbClr val="2ECC71"/>
            </a:solidFill>
            <a:prstDash val="solid"/>
          </a:ln>
        </p:spPr>
        <p:txBody>
          <a:bodyPr/>
          <a:lstStyle/>
          <a:p>
            <a:endParaRPr lang="en-SG"/>
          </a:p>
        </p:txBody>
      </p:sp>
      <p:sp>
        <p:nvSpPr>
          <p:cNvPr id="40" name="Text 38"/>
          <p:cNvSpPr/>
          <p:nvPr/>
        </p:nvSpPr>
        <p:spPr>
          <a:xfrm>
            <a:off x="3438144" y="288950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Autopsy modules</a:t>
            </a:r>
            <a:endParaRPr lang="en-US" sz="780" dirty="0"/>
          </a:p>
        </p:txBody>
      </p:sp>
      <p:sp>
        <p:nvSpPr>
          <p:cNvPr id="41" name="Shape 39"/>
          <p:cNvSpPr/>
          <p:nvPr/>
        </p:nvSpPr>
        <p:spPr>
          <a:xfrm>
            <a:off x="4700016" y="2889504"/>
            <a:ext cx="1170432" cy="420624"/>
          </a:xfrm>
          <a:prstGeom prst="rect">
            <a:avLst/>
          </a:prstGeom>
          <a:solidFill>
            <a:srgbClr val="FFFFFF"/>
          </a:solidFill>
          <a:ln w="6350">
            <a:solidFill>
              <a:srgbClr val="2ECC71"/>
            </a:solidFill>
            <a:prstDash val="solid"/>
          </a:ln>
        </p:spPr>
        <p:txBody>
          <a:bodyPr/>
          <a:lstStyle/>
          <a:p>
            <a:endParaRPr lang="en-SG"/>
          </a:p>
        </p:txBody>
      </p:sp>
      <p:sp>
        <p:nvSpPr>
          <p:cNvPr id="42" name="Text 40"/>
          <p:cNvSpPr/>
          <p:nvPr/>
        </p:nvSpPr>
        <p:spPr>
          <a:xfrm>
            <a:off x="4700016" y="288950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bulk_extractor</a:t>
            </a:r>
            <a:endParaRPr lang="en-US" sz="780" dirty="0"/>
          </a:p>
        </p:txBody>
      </p:sp>
      <p:sp>
        <p:nvSpPr>
          <p:cNvPr id="43" name="Shape 41"/>
          <p:cNvSpPr/>
          <p:nvPr/>
        </p:nvSpPr>
        <p:spPr>
          <a:xfrm>
            <a:off x="5961888" y="2889504"/>
            <a:ext cx="1170432" cy="420624"/>
          </a:xfrm>
          <a:prstGeom prst="rect">
            <a:avLst/>
          </a:prstGeom>
          <a:solidFill>
            <a:srgbClr val="FFFFFF"/>
          </a:solidFill>
          <a:ln w="6350">
            <a:solidFill>
              <a:srgbClr val="2ECC71"/>
            </a:solidFill>
            <a:prstDash val="solid"/>
          </a:ln>
        </p:spPr>
        <p:txBody>
          <a:bodyPr/>
          <a:lstStyle/>
          <a:p>
            <a:endParaRPr lang="en-SG"/>
          </a:p>
        </p:txBody>
      </p:sp>
      <p:sp>
        <p:nvSpPr>
          <p:cNvPr id="44" name="Text 42"/>
          <p:cNvSpPr/>
          <p:nvPr/>
        </p:nvSpPr>
        <p:spPr>
          <a:xfrm>
            <a:off x="5961888" y="288950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Volatility (memory)</a:t>
            </a:r>
            <a:endParaRPr lang="en-US" sz="780" dirty="0"/>
          </a:p>
        </p:txBody>
      </p:sp>
      <p:sp>
        <p:nvSpPr>
          <p:cNvPr id="45" name="Shape 43"/>
          <p:cNvSpPr/>
          <p:nvPr/>
        </p:nvSpPr>
        <p:spPr>
          <a:xfrm>
            <a:off x="7223760" y="2889504"/>
            <a:ext cx="1170432" cy="420624"/>
          </a:xfrm>
          <a:prstGeom prst="rect">
            <a:avLst/>
          </a:prstGeom>
          <a:solidFill>
            <a:srgbClr val="FFFFFF"/>
          </a:solidFill>
          <a:ln w="6350">
            <a:solidFill>
              <a:srgbClr val="2ECC71"/>
            </a:solidFill>
            <a:prstDash val="solid"/>
          </a:ln>
        </p:spPr>
        <p:txBody>
          <a:bodyPr/>
          <a:lstStyle/>
          <a:p>
            <a:endParaRPr lang="en-SG"/>
          </a:p>
        </p:txBody>
      </p:sp>
      <p:sp>
        <p:nvSpPr>
          <p:cNvPr id="46" name="Text 44"/>
          <p:cNvSpPr/>
          <p:nvPr/>
        </p:nvSpPr>
        <p:spPr>
          <a:xfrm>
            <a:off x="7223760" y="288950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Foremost / Scalpel</a:t>
            </a:r>
            <a:endParaRPr lang="en-US" sz="780" dirty="0"/>
          </a:p>
        </p:txBody>
      </p:sp>
      <p:sp>
        <p:nvSpPr>
          <p:cNvPr id="47" name="Shape 45"/>
          <p:cNvSpPr/>
          <p:nvPr/>
        </p:nvSpPr>
        <p:spPr>
          <a:xfrm>
            <a:off x="320040" y="3493008"/>
            <a:ext cx="8503920" cy="676656"/>
          </a:xfrm>
          <a:prstGeom prst="rect">
            <a:avLst/>
          </a:prstGeom>
          <a:solidFill>
            <a:srgbClr val="EEF6FB"/>
          </a:solidFill>
          <a:ln w="12700">
            <a:solidFill>
              <a:srgbClr val="EEF6FB"/>
            </a:solidFill>
            <a:prstDash val="solid"/>
          </a:ln>
        </p:spPr>
        <p:txBody>
          <a:bodyPr/>
          <a:lstStyle/>
          <a:p>
            <a:endParaRPr lang="en-SG"/>
          </a:p>
        </p:txBody>
      </p:sp>
      <p:sp>
        <p:nvSpPr>
          <p:cNvPr id="48" name="Shape 46"/>
          <p:cNvSpPr/>
          <p:nvPr/>
        </p:nvSpPr>
        <p:spPr>
          <a:xfrm>
            <a:off x="320040" y="3493008"/>
            <a:ext cx="109728" cy="676656"/>
          </a:xfrm>
          <a:prstGeom prst="rect">
            <a:avLst/>
          </a:prstGeom>
          <a:solidFill>
            <a:srgbClr val="F1C40F"/>
          </a:solidFill>
          <a:ln w="12700">
            <a:solidFill>
              <a:srgbClr val="F1C40F"/>
            </a:solidFill>
            <a:prstDash val="solid"/>
          </a:ln>
        </p:spPr>
        <p:txBody>
          <a:bodyPr/>
          <a:lstStyle/>
          <a:p>
            <a:endParaRPr lang="en-SG"/>
          </a:p>
        </p:txBody>
      </p:sp>
      <p:sp>
        <p:nvSpPr>
          <p:cNvPr id="49" name="Shape 47"/>
          <p:cNvSpPr/>
          <p:nvPr/>
        </p:nvSpPr>
        <p:spPr>
          <a:xfrm>
            <a:off x="320040" y="3493008"/>
            <a:ext cx="1700784" cy="676656"/>
          </a:xfrm>
          <a:prstGeom prst="rect">
            <a:avLst/>
          </a:prstGeom>
          <a:solidFill>
            <a:srgbClr val="FFFFFF"/>
          </a:solidFill>
          <a:ln w="12700">
            <a:solidFill>
              <a:srgbClr val="FFFFFF"/>
            </a:solidFill>
            <a:prstDash val="solid"/>
          </a:ln>
        </p:spPr>
        <p:txBody>
          <a:bodyPr/>
          <a:lstStyle/>
          <a:p>
            <a:endParaRPr lang="en-SG"/>
          </a:p>
        </p:txBody>
      </p:sp>
      <p:sp>
        <p:nvSpPr>
          <p:cNvPr id="50" name="Text 48"/>
          <p:cNvSpPr/>
          <p:nvPr/>
        </p:nvSpPr>
        <p:spPr>
          <a:xfrm>
            <a:off x="438912" y="3493008"/>
            <a:ext cx="1554480" cy="676656"/>
          </a:xfrm>
          <a:prstGeom prst="rect">
            <a:avLst/>
          </a:prstGeom>
          <a:noFill/>
          <a:ln/>
        </p:spPr>
        <p:txBody>
          <a:bodyPr wrap="square" lIns="0" tIns="0" rIns="0" bIns="0" rtlCol="0" anchor="ctr"/>
          <a:lstStyle/>
          <a:p>
            <a:pPr marL="0" indent="0">
              <a:buNone/>
            </a:pPr>
            <a:r>
              <a:rPr lang="en-US" sz="1100" b="1" dirty="0">
                <a:solidFill>
                  <a:srgbClr val="F1C40F"/>
                </a:solidFill>
              </a:rPr>
              <a:t>Reconstruction</a:t>
            </a:r>
            <a:endParaRPr lang="en-US" sz="1100" dirty="0"/>
          </a:p>
        </p:txBody>
      </p:sp>
      <p:sp>
        <p:nvSpPr>
          <p:cNvPr id="51" name="Shape 49"/>
          <p:cNvSpPr/>
          <p:nvPr/>
        </p:nvSpPr>
        <p:spPr>
          <a:xfrm>
            <a:off x="2176272" y="3621024"/>
            <a:ext cx="1170432" cy="420624"/>
          </a:xfrm>
          <a:prstGeom prst="rect">
            <a:avLst/>
          </a:prstGeom>
          <a:solidFill>
            <a:srgbClr val="FFFFFF"/>
          </a:solidFill>
          <a:ln w="6350">
            <a:solidFill>
              <a:srgbClr val="F1C40F"/>
            </a:solidFill>
            <a:prstDash val="solid"/>
          </a:ln>
        </p:spPr>
        <p:txBody>
          <a:bodyPr/>
          <a:lstStyle/>
          <a:p>
            <a:endParaRPr lang="en-SG"/>
          </a:p>
        </p:txBody>
      </p:sp>
      <p:sp>
        <p:nvSpPr>
          <p:cNvPr id="52" name="Text 50"/>
          <p:cNvSpPr/>
          <p:nvPr/>
        </p:nvSpPr>
        <p:spPr>
          <a:xfrm>
            <a:off x="2176272" y="362102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FTK Imager</a:t>
            </a:r>
            <a:endParaRPr lang="en-US" sz="780" dirty="0"/>
          </a:p>
        </p:txBody>
      </p:sp>
      <p:sp>
        <p:nvSpPr>
          <p:cNvPr id="53" name="Shape 51"/>
          <p:cNvSpPr/>
          <p:nvPr/>
        </p:nvSpPr>
        <p:spPr>
          <a:xfrm>
            <a:off x="3438144" y="3621024"/>
            <a:ext cx="1170432" cy="420624"/>
          </a:xfrm>
          <a:prstGeom prst="rect">
            <a:avLst/>
          </a:prstGeom>
          <a:solidFill>
            <a:srgbClr val="FFFFFF"/>
          </a:solidFill>
          <a:ln w="6350">
            <a:solidFill>
              <a:srgbClr val="F1C40F"/>
            </a:solidFill>
            <a:prstDash val="solid"/>
          </a:ln>
        </p:spPr>
        <p:txBody>
          <a:bodyPr/>
          <a:lstStyle/>
          <a:p>
            <a:endParaRPr lang="en-SG"/>
          </a:p>
        </p:txBody>
      </p:sp>
      <p:sp>
        <p:nvSpPr>
          <p:cNvPr id="54" name="Text 52"/>
          <p:cNvSpPr/>
          <p:nvPr/>
        </p:nvSpPr>
        <p:spPr>
          <a:xfrm>
            <a:off x="3438144" y="362102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EnCase</a:t>
            </a:r>
            <a:endParaRPr lang="en-US" sz="780" dirty="0"/>
          </a:p>
        </p:txBody>
      </p:sp>
      <p:sp>
        <p:nvSpPr>
          <p:cNvPr id="55" name="Shape 53"/>
          <p:cNvSpPr/>
          <p:nvPr/>
        </p:nvSpPr>
        <p:spPr>
          <a:xfrm>
            <a:off x="4700016" y="3621024"/>
            <a:ext cx="1170432" cy="420624"/>
          </a:xfrm>
          <a:prstGeom prst="rect">
            <a:avLst/>
          </a:prstGeom>
          <a:solidFill>
            <a:srgbClr val="FFFFFF"/>
          </a:solidFill>
          <a:ln w="6350">
            <a:solidFill>
              <a:srgbClr val="F1C40F"/>
            </a:solidFill>
            <a:prstDash val="solid"/>
          </a:ln>
        </p:spPr>
        <p:txBody>
          <a:bodyPr/>
          <a:lstStyle/>
          <a:p>
            <a:endParaRPr lang="en-SG"/>
          </a:p>
        </p:txBody>
      </p:sp>
      <p:sp>
        <p:nvSpPr>
          <p:cNvPr id="56" name="Text 54"/>
          <p:cNvSpPr/>
          <p:nvPr/>
        </p:nvSpPr>
        <p:spPr>
          <a:xfrm>
            <a:off x="4700016" y="362102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Autopsy disk write</a:t>
            </a:r>
            <a:endParaRPr lang="en-US" sz="780" dirty="0"/>
          </a:p>
        </p:txBody>
      </p:sp>
      <p:sp>
        <p:nvSpPr>
          <p:cNvPr id="57" name="Shape 55"/>
          <p:cNvSpPr/>
          <p:nvPr/>
        </p:nvSpPr>
        <p:spPr>
          <a:xfrm>
            <a:off x="5961888" y="3621024"/>
            <a:ext cx="1170432" cy="420624"/>
          </a:xfrm>
          <a:prstGeom prst="rect">
            <a:avLst/>
          </a:prstGeom>
          <a:solidFill>
            <a:srgbClr val="FFFFFF"/>
          </a:solidFill>
          <a:ln w="6350">
            <a:solidFill>
              <a:srgbClr val="F1C40F"/>
            </a:solidFill>
            <a:prstDash val="solid"/>
          </a:ln>
        </p:spPr>
        <p:txBody>
          <a:bodyPr/>
          <a:lstStyle/>
          <a:p>
            <a:endParaRPr lang="en-SG"/>
          </a:p>
        </p:txBody>
      </p:sp>
      <p:sp>
        <p:nvSpPr>
          <p:cNvPr id="58" name="Text 56"/>
          <p:cNvSpPr/>
          <p:nvPr/>
        </p:nvSpPr>
        <p:spPr>
          <a:xfrm>
            <a:off x="5961888" y="362102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dc3dd</a:t>
            </a:r>
            <a:endParaRPr lang="en-US" sz="780" dirty="0"/>
          </a:p>
        </p:txBody>
      </p:sp>
      <p:sp>
        <p:nvSpPr>
          <p:cNvPr id="59" name="Shape 57"/>
          <p:cNvSpPr/>
          <p:nvPr/>
        </p:nvSpPr>
        <p:spPr>
          <a:xfrm>
            <a:off x="7223760" y="3621024"/>
            <a:ext cx="1170432" cy="420624"/>
          </a:xfrm>
          <a:prstGeom prst="rect">
            <a:avLst/>
          </a:prstGeom>
          <a:solidFill>
            <a:srgbClr val="FFFFFF"/>
          </a:solidFill>
          <a:ln w="6350">
            <a:solidFill>
              <a:srgbClr val="F1C40F"/>
            </a:solidFill>
            <a:prstDash val="solid"/>
          </a:ln>
        </p:spPr>
        <p:txBody>
          <a:bodyPr/>
          <a:lstStyle/>
          <a:p>
            <a:endParaRPr lang="en-SG"/>
          </a:p>
        </p:txBody>
      </p:sp>
      <p:sp>
        <p:nvSpPr>
          <p:cNvPr id="60" name="Text 58"/>
          <p:cNvSpPr/>
          <p:nvPr/>
        </p:nvSpPr>
        <p:spPr>
          <a:xfrm>
            <a:off x="7223760" y="362102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ddrescue</a:t>
            </a:r>
            <a:endParaRPr lang="en-US" sz="780" dirty="0"/>
          </a:p>
        </p:txBody>
      </p:sp>
      <p:sp>
        <p:nvSpPr>
          <p:cNvPr id="61" name="Shape 59"/>
          <p:cNvSpPr/>
          <p:nvPr/>
        </p:nvSpPr>
        <p:spPr>
          <a:xfrm>
            <a:off x="320040" y="4224528"/>
            <a:ext cx="8503920" cy="676656"/>
          </a:xfrm>
          <a:prstGeom prst="rect">
            <a:avLst/>
          </a:prstGeom>
          <a:solidFill>
            <a:srgbClr val="EEF6FB"/>
          </a:solidFill>
          <a:ln w="12700">
            <a:solidFill>
              <a:srgbClr val="EEF6FB"/>
            </a:solidFill>
            <a:prstDash val="solid"/>
          </a:ln>
        </p:spPr>
        <p:txBody>
          <a:bodyPr/>
          <a:lstStyle/>
          <a:p>
            <a:endParaRPr lang="en-SG"/>
          </a:p>
        </p:txBody>
      </p:sp>
      <p:sp>
        <p:nvSpPr>
          <p:cNvPr id="62" name="Shape 60"/>
          <p:cNvSpPr/>
          <p:nvPr/>
        </p:nvSpPr>
        <p:spPr>
          <a:xfrm>
            <a:off x="320040" y="4224528"/>
            <a:ext cx="109728" cy="676656"/>
          </a:xfrm>
          <a:prstGeom prst="rect">
            <a:avLst/>
          </a:prstGeom>
          <a:solidFill>
            <a:srgbClr val="A855F7"/>
          </a:solidFill>
          <a:ln w="12700">
            <a:solidFill>
              <a:srgbClr val="A855F7"/>
            </a:solidFill>
            <a:prstDash val="solid"/>
          </a:ln>
        </p:spPr>
        <p:txBody>
          <a:bodyPr/>
          <a:lstStyle/>
          <a:p>
            <a:endParaRPr lang="en-SG"/>
          </a:p>
        </p:txBody>
      </p:sp>
      <p:sp>
        <p:nvSpPr>
          <p:cNvPr id="63" name="Shape 61"/>
          <p:cNvSpPr/>
          <p:nvPr/>
        </p:nvSpPr>
        <p:spPr>
          <a:xfrm>
            <a:off x="320040" y="4224528"/>
            <a:ext cx="1700784" cy="676656"/>
          </a:xfrm>
          <a:prstGeom prst="rect">
            <a:avLst/>
          </a:prstGeom>
          <a:solidFill>
            <a:srgbClr val="FFFFFF"/>
          </a:solidFill>
          <a:ln w="12700">
            <a:solidFill>
              <a:srgbClr val="FFFFFF"/>
            </a:solidFill>
            <a:prstDash val="solid"/>
          </a:ln>
        </p:spPr>
        <p:txBody>
          <a:bodyPr/>
          <a:lstStyle/>
          <a:p>
            <a:endParaRPr lang="en-SG"/>
          </a:p>
        </p:txBody>
      </p:sp>
      <p:sp>
        <p:nvSpPr>
          <p:cNvPr id="64" name="Text 62"/>
          <p:cNvSpPr/>
          <p:nvPr/>
        </p:nvSpPr>
        <p:spPr>
          <a:xfrm>
            <a:off x="438912" y="4224528"/>
            <a:ext cx="1554480" cy="676656"/>
          </a:xfrm>
          <a:prstGeom prst="rect">
            <a:avLst/>
          </a:prstGeom>
          <a:noFill/>
          <a:ln/>
        </p:spPr>
        <p:txBody>
          <a:bodyPr wrap="square" lIns="0" tIns="0" rIns="0" bIns="0" rtlCol="0" anchor="ctr"/>
          <a:lstStyle/>
          <a:p>
            <a:pPr marL="0" indent="0">
              <a:buNone/>
            </a:pPr>
            <a:r>
              <a:rPr lang="en-US" sz="1100" b="1" dirty="0">
                <a:solidFill>
                  <a:srgbClr val="A855F7"/>
                </a:solidFill>
              </a:rPr>
              <a:t>Reporting</a:t>
            </a:r>
            <a:endParaRPr lang="en-US" sz="1100" dirty="0"/>
          </a:p>
        </p:txBody>
      </p:sp>
      <p:sp>
        <p:nvSpPr>
          <p:cNvPr id="65" name="Shape 63"/>
          <p:cNvSpPr/>
          <p:nvPr/>
        </p:nvSpPr>
        <p:spPr>
          <a:xfrm>
            <a:off x="2176272" y="4352544"/>
            <a:ext cx="1170432" cy="420624"/>
          </a:xfrm>
          <a:prstGeom prst="rect">
            <a:avLst/>
          </a:prstGeom>
          <a:solidFill>
            <a:srgbClr val="FFFFFF"/>
          </a:solidFill>
          <a:ln w="6350">
            <a:solidFill>
              <a:srgbClr val="A855F7"/>
            </a:solidFill>
            <a:prstDash val="solid"/>
          </a:ln>
        </p:spPr>
        <p:txBody>
          <a:bodyPr/>
          <a:lstStyle/>
          <a:p>
            <a:endParaRPr lang="en-SG"/>
          </a:p>
        </p:txBody>
      </p:sp>
      <p:sp>
        <p:nvSpPr>
          <p:cNvPr id="66" name="Text 64"/>
          <p:cNvSpPr/>
          <p:nvPr/>
        </p:nvSpPr>
        <p:spPr>
          <a:xfrm>
            <a:off x="2176272" y="435254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Autopsy reports</a:t>
            </a:r>
            <a:endParaRPr lang="en-US" sz="780" dirty="0"/>
          </a:p>
        </p:txBody>
      </p:sp>
      <p:sp>
        <p:nvSpPr>
          <p:cNvPr id="67" name="Shape 65"/>
          <p:cNvSpPr/>
          <p:nvPr/>
        </p:nvSpPr>
        <p:spPr>
          <a:xfrm>
            <a:off x="3438144" y="4352544"/>
            <a:ext cx="1170432" cy="420624"/>
          </a:xfrm>
          <a:prstGeom prst="rect">
            <a:avLst/>
          </a:prstGeom>
          <a:solidFill>
            <a:srgbClr val="FFFFFF"/>
          </a:solidFill>
          <a:ln w="6350">
            <a:solidFill>
              <a:srgbClr val="A855F7"/>
            </a:solidFill>
            <a:prstDash val="solid"/>
          </a:ln>
        </p:spPr>
        <p:txBody>
          <a:bodyPr/>
          <a:lstStyle/>
          <a:p>
            <a:endParaRPr lang="en-SG"/>
          </a:p>
        </p:txBody>
      </p:sp>
      <p:sp>
        <p:nvSpPr>
          <p:cNvPr id="68" name="Text 66"/>
          <p:cNvSpPr/>
          <p:nvPr/>
        </p:nvSpPr>
        <p:spPr>
          <a:xfrm>
            <a:off x="3438144" y="435254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FTK reporting</a:t>
            </a:r>
            <a:endParaRPr lang="en-US" sz="780" dirty="0"/>
          </a:p>
        </p:txBody>
      </p:sp>
      <p:sp>
        <p:nvSpPr>
          <p:cNvPr id="69" name="Shape 67"/>
          <p:cNvSpPr/>
          <p:nvPr/>
        </p:nvSpPr>
        <p:spPr>
          <a:xfrm>
            <a:off x="4700016" y="4352544"/>
            <a:ext cx="1170432" cy="420624"/>
          </a:xfrm>
          <a:prstGeom prst="rect">
            <a:avLst/>
          </a:prstGeom>
          <a:solidFill>
            <a:srgbClr val="FFFFFF"/>
          </a:solidFill>
          <a:ln w="6350">
            <a:solidFill>
              <a:srgbClr val="A855F7"/>
            </a:solidFill>
            <a:prstDash val="solid"/>
          </a:ln>
        </p:spPr>
        <p:txBody>
          <a:bodyPr/>
          <a:lstStyle/>
          <a:p>
            <a:endParaRPr lang="en-SG"/>
          </a:p>
        </p:txBody>
      </p:sp>
      <p:sp>
        <p:nvSpPr>
          <p:cNvPr id="70" name="Text 68"/>
          <p:cNvSpPr/>
          <p:nvPr/>
        </p:nvSpPr>
        <p:spPr>
          <a:xfrm>
            <a:off x="4700016" y="435254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EnCase reporting</a:t>
            </a:r>
            <a:endParaRPr lang="en-US" sz="780" dirty="0"/>
          </a:p>
        </p:txBody>
      </p:sp>
      <p:sp>
        <p:nvSpPr>
          <p:cNvPr id="71" name="Shape 69"/>
          <p:cNvSpPr/>
          <p:nvPr/>
        </p:nvSpPr>
        <p:spPr>
          <a:xfrm>
            <a:off x="5961888" y="4352544"/>
            <a:ext cx="1170432" cy="420624"/>
          </a:xfrm>
          <a:prstGeom prst="rect">
            <a:avLst/>
          </a:prstGeom>
          <a:solidFill>
            <a:srgbClr val="FFFFFF"/>
          </a:solidFill>
          <a:ln w="6350">
            <a:solidFill>
              <a:srgbClr val="A855F7"/>
            </a:solidFill>
            <a:prstDash val="solid"/>
          </a:ln>
        </p:spPr>
        <p:txBody>
          <a:bodyPr/>
          <a:lstStyle/>
          <a:p>
            <a:endParaRPr lang="en-SG"/>
          </a:p>
        </p:txBody>
      </p:sp>
      <p:sp>
        <p:nvSpPr>
          <p:cNvPr id="72" name="Text 70"/>
          <p:cNvSpPr/>
          <p:nvPr/>
        </p:nvSpPr>
        <p:spPr>
          <a:xfrm>
            <a:off x="5961888" y="435254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Plaso / log2timeline</a:t>
            </a:r>
            <a:endParaRPr lang="en-US" sz="780" dirty="0"/>
          </a:p>
        </p:txBody>
      </p:sp>
      <p:sp>
        <p:nvSpPr>
          <p:cNvPr id="73" name="Shape 71"/>
          <p:cNvSpPr/>
          <p:nvPr/>
        </p:nvSpPr>
        <p:spPr>
          <a:xfrm>
            <a:off x="7223760" y="4352544"/>
            <a:ext cx="1170432" cy="420624"/>
          </a:xfrm>
          <a:prstGeom prst="rect">
            <a:avLst/>
          </a:prstGeom>
          <a:solidFill>
            <a:srgbClr val="FFFFFF"/>
          </a:solidFill>
          <a:ln w="6350">
            <a:solidFill>
              <a:srgbClr val="A855F7"/>
            </a:solidFill>
            <a:prstDash val="solid"/>
          </a:ln>
        </p:spPr>
        <p:txBody>
          <a:bodyPr/>
          <a:lstStyle/>
          <a:p>
            <a:endParaRPr lang="en-SG"/>
          </a:p>
        </p:txBody>
      </p:sp>
      <p:sp>
        <p:nvSpPr>
          <p:cNvPr id="74" name="Text 72"/>
          <p:cNvSpPr/>
          <p:nvPr/>
        </p:nvSpPr>
        <p:spPr>
          <a:xfrm>
            <a:off x="7223760" y="4352544"/>
            <a:ext cx="1170432" cy="420624"/>
          </a:xfrm>
          <a:prstGeom prst="rect">
            <a:avLst/>
          </a:prstGeom>
          <a:noFill/>
          <a:ln/>
        </p:spPr>
        <p:txBody>
          <a:bodyPr wrap="square" lIns="0" tIns="0" rIns="0" bIns="0" rtlCol="0" anchor="ctr"/>
          <a:lstStyle/>
          <a:p>
            <a:pPr marL="0" indent="0" algn="ctr">
              <a:buNone/>
            </a:pPr>
            <a:r>
              <a:rPr lang="en-US" sz="780" dirty="0">
                <a:solidFill>
                  <a:srgbClr val="1A1A2E"/>
                </a:solidFill>
              </a:rPr>
              <a:t>Case notes / custom</a:t>
            </a:r>
            <a:endParaRPr lang="en-US" sz="780" dirty="0"/>
          </a:p>
        </p:txBody>
      </p:sp>
      <p:sp>
        <p:nvSpPr>
          <p:cNvPr id="75" name="Text 73"/>
          <p:cNvSpPr/>
          <p:nvPr/>
        </p:nvSpPr>
        <p:spPr>
          <a:xfrm>
            <a:off x="320040" y="4992624"/>
            <a:ext cx="8503920" cy="0"/>
          </a:xfrm>
          <a:prstGeom prst="rect">
            <a:avLst/>
          </a:prstGeom>
          <a:noFill/>
          <a:ln/>
        </p:spPr>
        <p:txBody>
          <a:bodyPr wrap="square" lIns="0" tIns="0" rIns="0" bIns="0" rtlCol="0" anchor="ctr"/>
          <a:lstStyle/>
          <a:p>
            <a:pPr marL="0" indent="0">
              <a:buNone/>
            </a:pPr>
            <a:r>
              <a:rPr lang="en-US" sz="1200" i="1" dirty="0">
                <a:solidFill>
                  <a:schemeClr val="tx1">
                    <a:lumMod val="95000"/>
                    <a:lumOff val="5000"/>
                  </a:schemeClr>
                </a:solidFill>
              </a:rPr>
              <a:t>Always test forensic tools before using them in an investigation — validate outputs against known reference data sets.</a:t>
            </a:r>
            <a:endParaRPr lang="en-US" sz="1200" i="1">
              <a:solidFill>
                <a:schemeClr val="tx1">
                  <a:lumMod val="95000"/>
                  <a:lumOff val="5000"/>
                </a:schemeClr>
              </a:solidFill>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95717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774290" cy="256032"/>
          </a:xfrm>
          <a:prstGeom prst="rect">
            <a:avLst/>
          </a:prstGeom>
          <a:noFill/>
          <a:ln/>
        </p:spPr>
        <p:txBody>
          <a:bodyPr wrap="square" lIns="0" tIns="0" rIns="0" bIns="0" rtlCol="0" anchor="ctr"/>
          <a:lstStyle/>
          <a:p>
            <a:pPr marL="0" indent="0">
              <a:buNone/>
            </a:pPr>
            <a:r>
              <a:rPr lang="en-US" sz="850" b="1" dirty="0">
                <a:solidFill>
                  <a:srgbClr val="0D1B2A"/>
                </a:solidFill>
              </a:rPr>
              <a:t>TOOL SPOTLIGHT · AUTOPSY &amp; SLEUTH KIT</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Autopsy / Sleuth Kit: Capabilities &amp; Workflow</a:t>
            </a:r>
            <a:endParaRPr lang="en-US" sz="2800" dirty="0"/>
          </a:p>
        </p:txBody>
      </p:sp>
      <p:sp>
        <p:nvSpPr>
          <p:cNvPr id="5" name="Shape 3"/>
          <p:cNvSpPr/>
          <p:nvPr/>
        </p:nvSpPr>
        <p:spPr>
          <a:xfrm>
            <a:off x="320040" y="1261872"/>
            <a:ext cx="8503920" cy="512064"/>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61872"/>
            <a:ext cx="109728" cy="512064"/>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512064" y="1316736"/>
            <a:ext cx="8229600" cy="402336"/>
          </a:xfrm>
          <a:prstGeom prst="rect">
            <a:avLst/>
          </a:prstGeom>
          <a:noFill/>
          <a:ln/>
        </p:spPr>
        <p:txBody>
          <a:bodyPr wrap="square" lIns="0" tIns="0" rIns="0" bIns="0" rtlCol="0" anchor="ctr"/>
          <a:lstStyle/>
          <a:p>
            <a:pPr marL="0" indent="0">
              <a:buNone/>
            </a:pPr>
            <a:r>
              <a:rPr lang="en-US" sz="950" dirty="0">
                <a:solidFill>
                  <a:srgbClr val="1A1A2E"/>
                </a:solidFill>
              </a:rPr>
              <a:t>The Sleuth Kit (TSK) is a collection of open-source forensic command-line tools. Autopsy provides the GUI interface. Together they cover every phase of a digital forensic investigation — free of charge.</a:t>
            </a:r>
            <a:endParaRPr lang="en-US" sz="950" dirty="0"/>
          </a:p>
        </p:txBody>
      </p:sp>
      <p:sp>
        <p:nvSpPr>
          <p:cNvPr id="8" name="Shape 6"/>
          <p:cNvSpPr/>
          <p:nvPr/>
        </p:nvSpPr>
        <p:spPr>
          <a:xfrm>
            <a:off x="320040" y="1883664"/>
            <a:ext cx="4251960" cy="1353312"/>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883664"/>
            <a:ext cx="109728" cy="1353312"/>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521208" y="1975104"/>
            <a:ext cx="3950208" cy="274320"/>
          </a:xfrm>
          <a:prstGeom prst="rect">
            <a:avLst/>
          </a:prstGeom>
          <a:noFill/>
          <a:ln/>
        </p:spPr>
        <p:txBody>
          <a:bodyPr wrap="square" lIns="0" tIns="0" rIns="0" bIns="0" rtlCol="0" anchor="ctr"/>
          <a:lstStyle/>
          <a:p>
            <a:pPr marL="0" indent="0">
              <a:buNone/>
            </a:pPr>
            <a:r>
              <a:rPr lang="en-US" sz="1100" b="1" dirty="0">
                <a:solidFill>
                  <a:srgbClr val="00B4D8"/>
                </a:solidFill>
              </a:rPr>
              <a:t>💾  Acquisition &amp; Image Support</a:t>
            </a:r>
            <a:endParaRPr lang="en-US" sz="1100" dirty="0"/>
          </a:p>
        </p:txBody>
      </p:sp>
      <p:sp>
        <p:nvSpPr>
          <p:cNvPr id="11" name="Text 9"/>
          <p:cNvSpPr/>
          <p:nvPr/>
        </p:nvSpPr>
        <p:spPr>
          <a:xfrm>
            <a:off x="521208" y="2304288"/>
            <a:ext cx="3950208" cy="201168"/>
          </a:xfrm>
          <a:prstGeom prst="rect">
            <a:avLst/>
          </a:prstGeom>
          <a:noFill/>
          <a:ln/>
        </p:spPr>
        <p:txBody>
          <a:bodyPr wrap="square" lIns="0" tIns="0" rIns="0" bIns="0" rtlCol="0" anchor="ctr"/>
          <a:lstStyle/>
          <a:p>
            <a:pPr marL="0" indent="0">
              <a:buNone/>
            </a:pPr>
            <a:r>
              <a:rPr lang="en-US" sz="850" dirty="0">
                <a:solidFill>
                  <a:srgbClr val="1A1A2E"/>
                </a:solidFill>
              </a:rPr>
              <a:t>• Analyses images produced by dd — most common acquisition format</a:t>
            </a:r>
            <a:endParaRPr lang="en-US" sz="850" dirty="0"/>
          </a:p>
        </p:txBody>
      </p:sp>
      <p:sp>
        <p:nvSpPr>
          <p:cNvPr id="12" name="Text 10"/>
          <p:cNvSpPr/>
          <p:nvPr/>
        </p:nvSpPr>
        <p:spPr>
          <a:xfrm>
            <a:off x="521208" y="2523744"/>
            <a:ext cx="3950208" cy="201168"/>
          </a:xfrm>
          <a:prstGeom prst="rect">
            <a:avLst/>
          </a:prstGeom>
          <a:noFill/>
          <a:ln/>
        </p:spPr>
        <p:txBody>
          <a:bodyPr wrap="square" lIns="0" tIns="0" rIns="0" bIns="0" rtlCol="0" anchor="ctr"/>
          <a:lstStyle/>
          <a:p>
            <a:pPr marL="0" indent="0">
              <a:buNone/>
            </a:pPr>
            <a:r>
              <a:rPr lang="en-US" sz="850" dirty="0">
                <a:solidFill>
                  <a:srgbClr val="1A1A2E"/>
                </a:solidFill>
              </a:rPr>
              <a:t>• MD5/SHA-1 hash verification on open — confirms image integrity</a:t>
            </a:r>
            <a:endParaRPr lang="en-US" sz="850" dirty="0"/>
          </a:p>
        </p:txBody>
      </p:sp>
      <p:sp>
        <p:nvSpPr>
          <p:cNvPr id="13" name="Text 11"/>
          <p:cNvSpPr/>
          <p:nvPr/>
        </p:nvSpPr>
        <p:spPr>
          <a:xfrm>
            <a:off x="521208" y="2743200"/>
            <a:ext cx="3950208" cy="201168"/>
          </a:xfrm>
          <a:prstGeom prst="rect">
            <a:avLst/>
          </a:prstGeom>
          <a:noFill/>
          <a:ln/>
        </p:spPr>
        <p:txBody>
          <a:bodyPr wrap="square" lIns="0" tIns="0" rIns="0" bIns="0" rtlCol="0" anchor="ctr"/>
          <a:lstStyle/>
          <a:p>
            <a:pPr marL="0" indent="0">
              <a:buNone/>
            </a:pPr>
            <a:r>
              <a:rPr lang="en-US" sz="850" dirty="0">
                <a:solidFill>
                  <a:srgbClr val="1A1A2E"/>
                </a:solidFill>
              </a:rPr>
              <a:t>• Supports E01 (EnCase), AFF, split images</a:t>
            </a:r>
            <a:endParaRPr lang="en-US" sz="850" dirty="0"/>
          </a:p>
        </p:txBody>
      </p:sp>
      <p:sp>
        <p:nvSpPr>
          <p:cNvPr id="14" name="Text 12"/>
          <p:cNvSpPr/>
          <p:nvPr/>
        </p:nvSpPr>
        <p:spPr>
          <a:xfrm>
            <a:off x="521208" y="2962656"/>
            <a:ext cx="3950208" cy="201168"/>
          </a:xfrm>
          <a:prstGeom prst="rect">
            <a:avLst/>
          </a:prstGeom>
          <a:noFill/>
          <a:ln/>
        </p:spPr>
        <p:txBody>
          <a:bodyPr wrap="square" lIns="0" tIns="0" rIns="0" bIns="0" rtlCol="0" anchor="ctr"/>
          <a:lstStyle/>
          <a:p>
            <a:pPr marL="0" indent="0">
              <a:buNone/>
            </a:pPr>
            <a:r>
              <a:rPr lang="en-US" sz="850" dirty="0">
                <a:solidFill>
                  <a:srgbClr val="1A1A2E"/>
                </a:solidFill>
              </a:rPr>
              <a:t>• Maintains read-only access throughout analysis</a:t>
            </a:r>
            <a:endParaRPr lang="en-US" sz="850" dirty="0"/>
          </a:p>
        </p:txBody>
      </p:sp>
      <p:sp>
        <p:nvSpPr>
          <p:cNvPr id="15" name="Shape 13"/>
          <p:cNvSpPr/>
          <p:nvPr/>
        </p:nvSpPr>
        <p:spPr>
          <a:xfrm>
            <a:off x="4754880" y="1883664"/>
            <a:ext cx="4251960" cy="1353312"/>
          </a:xfrm>
          <a:prstGeom prst="rect">
            <a:avLst/>
          </a:prstGeom>
          <a:solidFill>
            <a:srgbClr val="EEF6FB"/>
          </a:solidFill>
          <a:ln w="12700">
            <a:solidFill>
              <a:srgbClr val="EEF6FB"/>
            </a:solidFill>
            <a:prstDash val="solid"/>
          </a:ln>
        </p:spPr>
        <p:txBody>
          <a:bodyPr/>
          <a:lstStyle/>
          <a:p>
            <a:endParaRPr lang="en-SG"/>
          </a:p>
        </p:txBody>
      </p:sp>
      <p:sp>
        <p:nvSpPr>
          <p:cNvPr id="16" name="Shape 14"/>
          <p:cNvSpPr/>
          <p:nvPr/>
        </p:nvSpPr>
        <p:spPr>
          <a:xfrm>
            <a:off x="4754880" y="1883664"/>
            <a:ext cx="109728" cy="1353312"/>
          </a:xfrm>
          <a:prstGeom prst="rect">
            <a:avLst/>
          </a:prstGeom>
          <a:solidFill>
            <a:srgbClr val="F4A261"/>
          </a:solidFill>
          <a:ln w="12700">
            <a:solidFill>
              <a:srgbClr val="F4A261"/>
            </a:solidFill>
            <a:prstDash val="solid"/>
          </a:ln>
        </p:spPr>
        <p:txBody>
          <a:bodyPr/>
          <a:lstStyle/>
          <a:p>
            <a:endParaRPr lang="en-SG"/>
          </a:p>
        </p:txBody>
      </p:sp>
      <p:sp>
        <p:nvSpPr>
          <p:cNvPr id="17" name="Text 15"/>
          <p:cNvSpPr/>
          <p:nvPr/>
        </p:nvSpPr>
        <p:spPr>
          <a:xfrm>
            <a:off x="4956048" y="1975104"/>
            <a:ext cx="3950208" cy="274320"/>
          </a:xfrm>
          <a:prstGeom prst="rect">
            <a:avLst/>
          </a:prstGeom>
          <a:noFill/>
          <a:ln/>
        </p:spPr>
        <p:txBody>
          <a:bodyPr wrap="square" lIns="0" tIns="0" rIns="0" bIns="0" rtlCol="0" anchor="ctr"/>
          <a:lstStyle/>
          <a:p>
            <a:pPr marL="0" indent="0">
              <a:buNone/>
            </a:pPr>
            <a:r>
              <a:rPr lang="en-US" sz="1100" b="1" dirty="0">
                <a:solidFill>
                  <a:srgbClr val="F4A261"/>
                </a:solidFill>
              </a:rPr>
              <a:t>📁  File System Analysis</a:t>
            </a:r>
            <a:endParaRPr lang="en-US" sz="1100" dirty="0"/>
          </a:p>
        </p:txBody>
      </p:sp>
      <p:sp>
        <p:nvSpPr>
          <p:cNvPr id="18" name="Text 16"/>
          <p:cNvSpPr/>
          <p:nvPr/>
        </p:nvSpPr>
        <p:spPr>
          <a:xfrm>
            <a:off x="4956048" y="2304288"/>
            <a:ext cx="3950208" cy="201168"/>
          </a:xfrm>
          <a:prstGeom prst="rect">
            <a:avLst/>
          </a:prstGeom>
          <a:noFill/>
          <a:ln/>
        </p:spPr>
        <p:txBody>
          <a:bodyPr wrap="square" lIns="0" tIns="0" rIns="0" bIns="0" rtlCol="0" anchor="ctr"/>
          <a:lstStyle/>
          <a:p>
            <a:pPr marL="0" indent="0">
              <a:buNone/>
            </a:pPr>
            <a:r>
              <a:rPr lang="en-US" sz="850" dirty="0">
                <a:solidFill>
                  <a:srgbClr val="1A1A2E"/>
                </a:solidFill>
              </a:rPr>
              <a:t>• NTFS, FAT12/16/32, ext2/3/4, HFS+, ISO 9660</a:t>
            </a:r>
            <a:endParaRPr lang="en-US" sz="850" dirty="0"/>
          </a:p>
        </p:txBody>
      </p:sp>
      <p:sp>
        <p:nvSpPr>
          <p:cNvPr id="19" name="Text 17"/>
          <p:cNvSpPr/>
          <p:nvPr/>
        </p:nvSpPr>
        <p:spPr>
          <a:xfrm>
            <a:off x="4956048" y="2523744"/>
            <a:ext cx="3950208" cy="201168"/>
          </a:xfrm>
          <a:prstGeom prst="rect">
            <a:avLst/>
          </a:prstGeom>
          <a:noFill/>
          <a:ln/>
        </p:spPr>
        <p:txBody>
          <a:bodyPr wrap="square" lIns="0" tIns="0" rIns="0" bIns="0" rtlCol="0" anchor="ctr"/>
          <a:lstStyle/>
          <a:p>
            <a:pPr marL="0" indent="0">
              <a:buNone/>
            </a:pPr>
            <a:r>
              <a:rPr lang="en-US" sz="850" dirty="0">
                <a:solidFill>
                  <a:srgbClr val="1A1A2E"/>
                </a:solidFill>
              </a:rPr>
              <a:t>• Deleted file recovery via inode and MFT analysis</a:t>
            </a:r>
            <a:endParaRPr lang="en-US" sz="850" dirty="0"/>
          </a:p>
        </p:txBody>
      </p:sp>
      <p:sp>
        <p:nvSpPr>
          <p:cNvPr id="20" name="Text 18"/>
          <p:cNvSpPr/>
          <p:nvPr/>
        </p:nvSpPr>
        <p:spPr>
          <a:xfrm>
            <a:off x="4956048" y="2743200"/>
            <a:ext cx="3950208" cy="201168"/>
          </a:xfrm>
          <a:prstGeom prst="rect">
            <a:avLst/>
          </a:prstGeom>
          <a:noFill/>
          <a:ln/>
        </p:spPr>
        <p:txBody>
          <a:bodyPr wrap="square" lIns="0" tIns="0" rIns="0" bIns="0" rtlCol="0" anchor="ctr"/>
          <a:lstStyle/>
          <a:p>
            <a:pPr marL="0" indent="0">
              <a:buNone/>
            </a:pPr>
            <a:r>
              <a:rPr lang="en-US" sz="850" dirty="0">
                <a:solidFill>
                  <a:srgbClr val="1A1A2E"/>
                </a:solidFill>
              </a:rPr>
              <a:t>• Slack space and unallocated space browsing</a:t>
            </a:r>
            <a:endParaRPr lang="en-US" sz="850" dirty="0"/>
          </a:p>
        </p:txBody>
      </p:sp>
      <p:sp>
        <p:nvSpPr>
          <p:cNvPr id="21" name="Text 19"/>
          <p:cNvSpPr/>
          <p:nvPr/>
        </p:nvSpPr>
        <p:spPr>
          <a:xfrm>
            <a:off x="4956048" y="2962656"/>
            <a:ext cx="3950208" cy="201168"/>
          </a:xfrm>
          <a:prstGeom prst="rect">
            <a:avLst/>
          </a:prstGeom>
          <a:noFill/>
          <a:ln/>
        </p:spPr>
        <p:txBody>
          <a:bodyPr wrap="square" lIns="0" tIns="0" rIns="0" bIns="0" rtlCol="0" anchor="ctr"/>
          <a:lstStyle/>
          <a:p>
            <a:pPr marL="0" indent="0">
              <a:buNone/>
            </a:pPr>
            <a:r>
              <a:rPr lang="en-US" sz="850" dirty="0">
                <a:solidFill>
                  <a:srgbClr val="1A1A2E"/>
                </a:solidFill>
              </a:rPr>
              <a:t>• Directory tree and metadata viewer</a:t>
            </a:r>
            <a:endParaRPr lang="en-US" sz="850" dirty="0"/>
          </a:p>
        </p:txBody>
      </p:sp>
      <p:sp>
        <p:nvSpPr>
          <p:cNvPr id="22" name="Shape 20"/>
          <p:cNvSpPr/>
          <p:nvPr/>
        </p:nvSpPr>
        <p:spPr>
          <a:xfrm>
            <a:off x="320040" y="3346704"/>
            <a:ext cx="4251960" cy="1353312"/>
          </a:xfrm>
          <a:prstGeom prst="rect">
            <a:avLst/>
          </a:prstGeom>
          <a:solidFill>
            <a:srgbClr val="EEF6FB"/>
          </a:solidFill>
          <a:ln w="12700">
            <a:solidFill>
              <a:srgbClr val="EEF6FB"/>
            </a:solidFill>
            <a:prstDash val="solid"/>
          </a:ln>
        </p:spPr>
        <p:txBody>
          <a:bodyPr/>
          <a:lstStyle/>
          <a:p>
            <a:endParaRPr lang="en-SG"/>
          </a:p>
        </p:txBody>
      </p:sp>
      <p:sp>
        <p:nvSpPr>
          <p:cNvPr id="23" name="Shape 21"/>
          <p:cNvSpPr/>
          <p:nvPr/>
        </p:nvSpPr>
        <p:spPr>
          <a:xfrm>
            <a:off x="320040" y="3346704"/>
            <a:ext cx="109728" cy="1353312"/>
          </a:xfrm>
          <a:prstGeom prst="rect">
            <a:avLst/>
          </a:prstGeom>
          <a:solidFill>
            <a:srgbClr val="2ECC71"/>
          </a:solidFill>
          <a:ln w="12700">
            <a:solidFill>
              <a:srgbClr val="2ECC71"/>
            </a:solidFill>
            <a:prstDash val="solid"/>
          </a:ln>
        </p:spPr>
        <p:txBody>
          <a:bodyPr/>
          <a:lstStyle/>
          <a:p>
            <a:endParaRPr lang="en-SG"/>
          </a:p>
        </p:txBody>
      </p:sp>
      <p:sp>
        <p:nvSpPr>
          <p:cNvPr id="24" name="Text 22"/>
          <p:cNvSpPr/>
          <p:nvPr/>
        </p:nvSpPr>
        <p:spPr>
          <a:xfrm>
            <a:off x="521208" y="3438144"/>
            <a:ext cx="3950208" cy="274320"/>
          </a:xfrm>
          <a:prstGeom prst="rect">
            <a:avLst/>
          </a:prstGeom>
          <a:noFill/>
          <a:ln/>
        </p:spPr>
        <p:txBody>
          <a:bodyPr wrap="square" lIns="0" tIns="0" rIns="0" bIns="0" rtlCol="0" anchor="ctr"/>
          <a:lstStyle/>
          <a:p>
            <a:pPr marL="0" indent="0">
              <a:buNone/>
            </a:pPr>
            <a:r>
              <a:rPr lang="en-US" sz="1100" b="1" dirty="0">
                <a:solidFill>
                  <a:srgbClr val="2ECC71"/>
                </a:solidFill>
              </a:rPr>
              <a:t>⏱️  Timeline &amp; Search</a:t>
            </a:r>
            <a:endParaRPr lang="en-US" sz="1100" dirty="0"/>
          </a:p>
        </p:txBody>
      </p:sp>
      <p:sp>
        <p:nvSpPr>
          <p:cNvPr id="25" name="Text 23"/>
          <p:cNvSpPr/>
          <p:nvPr/>
        </p:nvSpPr>
        <p:spPr>
          <a:xfrm>
            <a:off x="521208" y="3767328"/>
            <a:ext cx="3950208" cy="201168"/>
          </a:xfrm>
          <a:prstGeom prst="rect">
            <a:avLst/>
          </a:prstGeom>
          <a:noFill/>
          <a:ln/>
        </p:spPr>
        <p:txBody>
          <a:bodyPr wrap="square" lIns="0" tIns="0" rIns="0" bIns="0" rtlCol="0" anchor="ctr"/>
          <a:lstStyle/>
          <a:p>
            <a:pPr marL="0" indent="0">
              <a:buNone/>
            </a:pPr>
            <a:r>
              <a:rPr lang="en-US" sz="850" dirty="0">
                <a:solidFill>
                  <a:srgbClr val="1A1A2E"/>
                </a:solidFill>
              </a:rPr>
              <a:t>• MAC time timelining — modification, access, change</a:t>
            </a:r>
            <a:endParaRPr lang="en-US" sz="850" dirty="0"/>
          </a:p>
        </p:txBody>
      </p:sp>
      <p:sp>
        <p:nvSpPr>
          <p:cNvPr id="26" name="Text 24"/>
          <p:cNvSpPr/>
          <p:nvPr/>
        </p:nvSpPr>
        <p:spPr>
          <a:xfrm>
            <a:off x="521208" y="3986784"/>
            <a:ext cx="3950208" cy="201168"/>
          </a:xfrm>
          <a:prstGeom prst="rect">
            <a:avLst/>
          </a:prstGeom>
          <a:noFill/>
          <a:ln/>
        </p:spPr>
        <p:txBody>
          <a:bodyPr wrap="square" lIns="0" tIns="0" rIns="0" bIns="0" rtlCol="0" anchor="ctr"/>
          <a:lstStyle/>
          <a:p>
            <a:pPr marL="0" indent="0">
              <a:buNone/>
            </a:pPr>
            <a:r>
              <a:rPr lang="en-US" sz="850" dirty="0">
                <a:solidFill>
                  <a:srgbClr val="1A1A2E"/>
                </a:solidFill>
              </a:rPr>
              <a:t>• Text-based and graphical timeline output</a:t>
            </a:r>
            <a:endParaRPr lang="en-US" sz="850" dirty="0"/>
          </a:p>
        </p:txBody>
      </p:sp>
      <p:sp>
        <p:nvSpPr>
          <p:cNvPr id="27" name="Text 25"/>
          <p:cNvSpPr/>
          <p:nvPr/>
        </p:nvSpPr>
        <p:spPr>
          <a:xfrm>
            <a:off x="521208" y="4206240"/>
            <a:ext cx="3950208" cy="201168"/>
          </a:xfrm>
          <a:prstGeom prst="rect">
            <a:avLst/>
          </a:prstGeom>
          <a:noFill/>
          <a:ln/>
        </p:spPr>
        <p:txBody>
          <a:bodyPr wrap="square" lIns="0" tIns="0" rIns="0" bIns="0" rtlCol="0" anchor="ctr"/>
          <a:lstStyle/>
          <a:p>
            <a:pPr marL="0" indent="0">
              <a:buNone/>
            </a:pPr>
            <a:r>
              <a:rPr lang="en-US" sz="850" dirty="0">
                <a:solidFill>
                  <a:srgbClr val="1A1A2E"/>
                </a:solidFill>
              </a:rPr>
              <a:t>• Indexed full-text keyword search across entire image</a:t>
            </a:r>
            <a:endParaRPr lang="en-US" sz="850" dirty="0"/>
          </a:p>
        </p:txBody>
      </p:sp>
      <p:sp>
        <p:nvSpPr>
          <p:cNvPr id="28" name="Text 26"/>
          <p:cNvSpPr/>
          <p:nvPr/>
        </p:nvSpPr>
        <p:spPr>
          <a:xfrm>
            <a:off x="521208" y="4425696"/>
            <a:ext cx="3950208" cy="201168"/>
          </a:xfrm>
          <a:prstGeom prst="rect">
            <a:avLst/>
          </a:prstGeom>
          <a:noFill/>
          <a:ln/>
        </p:spPr>
        <p:txBody>
          <a:bodyPr wrap="square" lIns="0" tIns="0" rIns="0" bIns="0" rtlCol="0" anchor="ctr"/>
          <a:lstStyle/>
          <a:p>
            <a:pPr marL="0" indent="0">
              <a:buNone/>
            </a:pPr>
            <a:r>
              <a:rPr lang="en-US" sz="850" dirty="0">
                <a:solidFill>
                  <a:srgbClr val="1A1A2E"/>
                </a:solidFill>
              </a:rPr>
              <a:t>• Regular expression and binary string search</a:t>
            </a:r>
            <a:endParaRPr lang="en-US" sz="850" dirty="0"/>
          </a:p>
        </p:txBody>
      </p:sp>
      <p:sp>
        <p:nvSpPr>
          <p:cNvPr id="29" name="Shape 27"/>
          <p:cNvSpPr/>
          <p:nvPr/>
        </p:nvSpPr>
        <p:spPr>
          <a:xfrm>
            <a:off x="4754880" y="3346704"/>
            <a:ext cx="4251960" cy="1353312"/>
          </a:xfrm>
          <a:prstGeom prst="rect">
            <a:avLst/>
          </a:prstGeom>
          <a:solidFill>
            <a:srgbClr val="EEF6FB"/>
          </a:solidFill>
          <a:ln w="12700">
            <a:solidFill>
              <a:srgbClr val="EEF6FB"/>
            </a:solidFill>
            <a:prstDash val="solid"/>
          </a:ln>
        </p:spPr>
        <p:txBody>
          <a:bodyPr/>
          <a:lstStyle/>
          <a:p>
            <a:endParaRPr lang="en-SG"/>
          </a:p>
        </p:txBody>
      </p:sp>
      <p:sp>
        <p:nvSpPr>
          <p:cNvPr id="30" name="Shape 28"/>
          <p:cNvSpPr/>
          <p:nvPr/>
        </p:nvSpPr>
        <p:spPr>
          <a:xfrm>
            <a:off x="4754880" y="3346704"/>
            <a:ext cx="109728" cy="1353312"/>
          </a:xfrm>
          <a:prstGeom prst="rect">
            <a:avLst/>
          </a:prstGeom>
          <a:solidFill>
            <a:srgbClr val="F1C40F"/>
          </a:solidFill>
          <a:ln w="12700">
            <a:solidFill>
              <a:srgbClr val="F1C40F"/>
            </a:solidFill>
            <a:prstDash val="solid"/>
          </a:ln>
        </p:spPr>
        <p:txBody>
          <a:bodyPr/>
          <a:lstStyle/>
          <a:p>
            <a:endParaRPr lang="en-SG"/>
          </a:p>
        </p:txBody>
      </p:sp>
      <p:sp>
        <p:nvSpPr>
          <p:cNvPr id="31" name="Text 29"/>
          <p:cNvSpPr/>
          <p:nvPr/>
        </p:nvSpPr>
        <p:spPr>
          <a:xfrm>
            <a:off x="4956048" y="3438144"/>
            <a:ext cx="3950208" cy="274320"/>
          </a:xfrm>
          <a:prstGeom prst="rect">
            <a:avLst/>
          </a:prstGeom>
          <a:noFill/>
          <a:ln/>
        </p:spPr>
        <p:txBody>
          <a:bodyPr wrap="square" lIns="0" tIns="0" rIns="0" bIns="0" rtlCol="0" anchor="ctr"/>
          <a:lstStyle/>
          <a:p>
            <a:pPr marL="0" indent="0">
              <a:buNone/>
            </a:pPr>
            <a:r>
              <a:rPr lang="en-US" sz="1100" b="1" dirty="0">
                <a:solidFill>
                  <a:srgbClr val="F1C40F"/>
                </a:solidFill>
              </a:rPr>
              <a:t>📋  Filtering &amp; Reporting</a:t>
            </a:r>
            <a:endParaRPr lang="en-US" sz="1100" dirty="0"/>
          </a:p>
        </p:txBody>
      </p:sp>
      <p:sp>
        <p:nvSpPr>
          <p:cNvPr id="32" name="Text 30"/>
          <p:cNvSpPr/>
          <p:nvPr/>
        </p:nvSpPr>
        <p:spPr>
          <a:xfrm>
            <a:off x="4956048" y="3767328"/>
            <a:ext cx="3950208" cy="201168"/>
          </a:xfrm>
          <a:prstGeom prst="rect">
            <a:avLst/>
          </a:prstGeom>
          <a:noFill/>
          <a:ln/>
        </p:spPr>
        <p:txBody>
          <a:bodyPr wrap="square" lIns="0" tIns="0" rIns="0" bIns="0" rtlCol="0" anchor="ctr"/>
          <a:lstStyle/>
          <a:p>
            <a:pPr marL="0" indent="0">
              <a:buNone/>
            </a:pPr>
            <a:r>
              <a:rPr lang="en-US" sz="850" dirty="0">
                <a:solidFill>
                  <a:srgbClr val="1A1A2E"/>
                </a:solidFill>
              </a:rPr>
              <a:t>• NSRL / KFF hash filtering — skip known OS files</a:t>
            </a:r>
            <a:endParaRPr lang="en-US" sz="850" dirty="0"/>
          </a:p>
        </p:txBody>
      </p:sp>
      <p:sp>
        <p:nvSpPr>
          <p:cNvPr id="33" name="Text 31"/>
          <p:cNvSpPr/>
          <p:nvPr/>
        </p:nvSpPr>
        <p:spPr>
          <a:xfrm>
            <a:off x="4956048" y="3986784"/>
            <a:ext cx="3950208" cy="201168"/>
          </a:xfrm>
          <a:prstGeom prst="rect">
            <a:avLst/>
          </a:prstGeom>
          <a:noFill/>
          <a:ln/>
        </p:spPr>
        <p:txBody>
          <a:bodyPr wrap="square" lIns="0" tIns="0" rIns="0" bIns="0" rtlCol="0" anchor="ctr"/>
          <a:lstStyle/>
          <a:p>
            <a:pPr marL="0" indent="0">
              <a:buNone/>
            </a:pPr>
            <a:r>
              <a:rPr lang="en-US" sz="850" dirty="0">
                <a:solidFill>
                  <a:srgbClr val="1A1A2E"/>
                </a:solidFill>
              </a:rPr>
              <a:t>• Custom ignore lists for investigator-defined exclusions</a:t>
            </a:r>
            <a:endParaRPr lang="en-US" sz="850" dirty="0"/>
          </a:p>
        </p:txBody>
      </p:sp>
      <p:sp>
        <p:nvSpPr>
          <p:cNvPr id="34" name="Text 32"/>
          <p:cNvSpPr/>
          <p:nvPr/>
        </p:nvSpPr>
        <p:spPr>
          <a:xfrm>
            <a:off x="4956048" y="4206240"/>
            <a:ext cx="3950208" cy="201168"/>
          </a:xfrm>
          <a:prstGeom prst="rect">
            <a:avLst/>
          </a:prstGeom>
          <a:noFill/>
          <a:ln/>
        </p:spPr>
        <p:txBody>
          <a:bodyPr wrap="square" lIns="0" tIns="0" rIns="0" bIns="0" rtlCol="0" anchor="ctr"/>
          <a:lstStyle/>
          <a:p>
            <a:pPr marL="0" indent="0">
              <a:buNone/>
            </a:pPr>
            <a:r>
              <a:rPr lang="en-US" sz="850" dirty="0">
                <a:solidFill>
                  <a:srgbClr val="1A1A2E"/>
                </a:solidFill>
              </a:rPr>
              <a:t>• Per-host timezone and clock skew configuration</a:t>
            </a:r>
            <a:endParaRPr lang="en-US" sz="850" dirty="0"/>
          </a:p>
        </p:txBody>
      </p:sp>
      <p:sp>
        <p:nvSpPr>
          <p:cNvPr id="35" name="Text 33"/>
          <p:cNvSpPr/>
          <p:nvPr/>
        </p:nvSpPr>
        <p:spPr>
          <a:xfrm>
            <a:off x="4956048" y="4425696"/>
            <a:ext cx="3950208" cy="201168"/>
          </a:xfrm>
          <a:prstGeom prst="rect">
            <a:avLst/>
          </a:prstGeom>
          <a:noFill/>
          <a:ln/>
        </p:spPr>
        <p:txBody>
          <a:bodyPr wrap="square" lIns="0" tIns="0" rIns="0" bIns="0" rtlCol="0" anchor="ctr"/>
          <a:lstStyle/>
          <a:p>
            <a:pPr marL="0" indent="0">
              <a:buNone/>
            </a:pPr>
            <a:r>
              <a:rPr lang="en-US" sz="850" dirty="0">
                <a:solidFill>
                  <a:srgbClr val="1A1A2E"/>
                </a:solidFill>
              </a:rPr>
              <a:t>• Built-in case management and automated HTML reports</a:t>
            </a:r>
            <a:endParaRPr lang="en-US" sz="850" dirty="0"/>
          </a:p>
        </p:txBody>
      </p:sp>
      <p:sp>
        <p:nvSpPr>
          <p:cNvPr id="36" name="Text 34"/>
          <p:cNvSpPr/>
          <p:nvPr/>
        </p:nvSpPr>
        <p:spPr>
          <a:xfrm>
            <a:off x="320040" y="4745736"/>
            <a:ext cx="8503920" cy="201168"/>
          </a:xfrm>
          <a:prstGeom prst="rect">
            <a:avLst/>
          </a:prstGeom>
          <a:noFill/>
          <a:ln/>
        </p:spPr>
        <p:txBody>
          <a:bodyPr wrap="square" lIns="0" tIns="0" rIns="0" bIns="0" rtlCol="0" anchor="ctr"/>
          <a:lstStyle/>
          <a:p>
            <a:pPr marL="0" indent="0">
              <a:buNone/>
            </a:pPr>
            <a:r>
              <a:rPr lang="en-US" sz="850" i="1" dirty="0">
                <a:solidFill>
                  <a:srgbClr val="8899AA"/>
                </a:solidFill>
              </a:rPr>
              <a:t>sleuthkit.org  ·  Free &amp; open source  ·  Available for Windows, Linux, and macOS  ·  Actively maintained</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2357323"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2174443" cy="256032"/>
          </a:xfrm>
          <a:prstGeom prst="rect">
            <a:avLst/>
          </a:prstGeom>
          <a:noFill/>
          <a:ln/>
        </p:spPr>
        <p:txBody>
          <a:bodyPr wrap="square" lIns="0" tIns="0" rIns="0" bIns="0" rtlCol="0" anchor="ctr"/>
          <a:lstStyle/>
          <a:p>
            <a:pPr marL="0" indent="0">
              <a:buNone/>
            </a:pPr>
            <a:r>
              <a:rPr lang="en-US" sz="850" b="1" dirty="0">
                <a:solidFill>
                  <a:srgbClr val="0D1B2A"/>
                </a:solidFill>
              </a:rPr>
              <a:t>LEGACY &amp; SPECIALIST CLI TOOLS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The Coroner's Toolkit &amp; Specialist CLI Utilities</a:t>
            </a:r>
            <a:endParaRPr lang="en-US" sz="2800" dirty="0"/>
          </a:p>
        </p:txBody>
      </p:sp>
      <p:sp>
        <p:nvSpPr>
          <p:cNvPr id="5" name="Shape 3"/>
          <p:cNvSpPr/>
          <p:nvPr/>
        </p:nvSpPr>
        <p:spPr>
          <a:xfrm>
            <a:off x="320040" y="1261872"/>
            <a:ext cx="8503920" cy="530352"/>
          </a:xfrm>
          <a:prstGeom prst="rect">
            <a:avLst/>
          </a:prstGeom>
          <a:solidFill>
            <a:srgbClr val="FFFFFF"/>
          </a:solidFill>
          <a:ln w="12700">
            <a:solidFill>
              <a:srgbClr val="FFFFFF"/>
            </a:solidFill>
            <a:prstDash val="solid"/>
          </a:ln>
        </p:spPr>
        <p:txBody>
          <a:bodyPr/>
          <a:lstStyle/>
          <a:p>
            <a:endParaRPr lang="en-SG"/>
          </a:p>
        </p:txBody>
      </p:sp>
      <p:sp>
        <p:nvSpPr>
          <p:cNvPr id="6" name="Shape 4"/>
          <p:cNvSpPr/>
          <p:nvPr/>
        </p:nvSpPr>
        <p:spPr>
          <a:xfrm>
            <a:off x="320040" y="1261872"/>
            <a:ext cx="109728" cy="530352"/>
          </a:xfrm>
          <a:prstGeom prst="rect">
            <a:avLst/>
          </a:prstGeom>
          <a:solidFill>
            <a:srgbClr val="8899AA"/>
          </a:solidFill>
          <a:ln w="12700">
            <a:solidFill>
              <a:srgbClr val="8899AA"/>
            </a:solidFill>
            <a:prstDash val="solid"/>
          </a:ln>
        </p:spPr>
        <p:txBody>
          <a:bodyPr/>
          <a:lstStyle/>
          <a:p>
            <a:endParaRPr lang="en-SG"/>
          </a:p>
        </p:txBody>
      </p:sp>
      <p:sp>
        <p:nvSpPr>
          <p:cNvPr id="7" name="Text 5"/>
          <p:cNvSpPr/>
          <p:nvPr/>
        </p:nvSpPr>
        <p:spPr>
          <a:xfrm>
            <a:off x="512064" y="1316736"/>
            <a:ext cx="8229600" cy="420624"/>
          </a:xfrm>
          <a:prstGeom prst="rect">
            <a:avLst/>
          </a:prstGeom>
          <a:noFill/>
          <a:ln/>
        </p:spPr>
        <p:txBody>
          <a:bodyPr wrap="square" lIns="0" tIns="0" rIns="0" bIns="0" rtlCol="0" anchor="ctr"/>
          <a:lstStyle/>
          <a:p>
            <a:pPr marL="0" indent="0">
              <a:buNone/>
            </a:pPr>
            <a:r>
              <a:rPr lang="en-US" sz="950" dirty="0">
                <a:solidFill>
                  <a:srgbClr val="1A1A2E"/>
                </a:solidFill>
              </a:rPr>
              <a:t>The Coroner's Toolkit (TCT) was a foundational set of Unix forensic CLI tools. Many of its concepts live on in The Sleuth Kit. Understanding these primitives deepens your grasp of how modern forensic tools work under the hood.</a:t>
            </a:r>
            <a:endParaRPr lang="en-US" sz="950" dirty="0"/>
          </a:p>
        </p:txBody>
      </p:sp>
      <p:sp>
        <p:nvSpPr>
          <p:cNvPr id="8" name="Shape 6"/>
          <p:cNvSpPr/>
          <p:nvPr/>
        </p:nvSpPr>
        <p:spPr>
          <a:xfrm>
            <a:off x="320040" y="1920240"/>
            <a:ext cx="2788920" cy="1298448"/>
          </a:xfrm>
          <a:prstGeom prst="rect">
            <a:avLst/>
          </a:prstGeom>
          <a:solidFill>
            <a:srgbClr val="EEF6FB"/>
          </a:solidFill>
          <a:ln w="12700">
            <a:solidFill>
              <a:srgbClr val="EEF6FB"/>
            </a:solidFill>
            <a:prstDash val="solid"/>
          </a:ln>
        </p:spPr>
        <p:txBody>
          <a:bodyPr/>
          <a:lstStyle/>
          <a:p>
            <a:endParaRPr lang="en-SG"/>
          </a:p>
        </p:txBody>
      </p:sp>
      <p:sp>
        <p:nvSpPr>
          <p:cNvPr id="9" name="Shape 7"/>
          <p:cNvSpPr/>
          <p:nvPr/>
        </p:nvSpPr>
        <p:spPr>
          <a:xfrm>
            <a:off x="320040" y="1920240"/>
            <a:ext cx="109728" cy="1298448"/>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521208" y="2011680"/>
            <a:ext cx="2505456" cy="274320"/>
          </a:xfrm>
          <a:prstGeom prst="rect">
            <a:avLst/>
          </a:prstGeom>
          <a:noFill/>
          <a:ln/>
        </p:spPr>
        <p:txBody>
          <a:bodyPr wrap="square" lIns="0" tIns="0" rIns="0" bIns="0" rtlCol="0" anchor="ctr"/>
          <a:lstStyle/>
          <a:p>
            <a:pPr marL="0" indent="0">
              <a:buNone/>
            </a:pPr>
            <a:r>
              <a:rPr lang="en-US" sz="1050" b="1" dirty="0">
                <a:solidFill>
                  <a:srgbClr val="00B4D8"/>
                </a:solidFill>
              </a:rPr>
              <a:t>⛏️  grave-robber</a:t>
            </a:r>
            <a:endParaRPr lang="en-US" sz="1050" dirty="0"/>
          </a:p>
        </p:txBody>
      </p:sp>
      <p:sp>
        <p:nvSpPr>
          <p:cNvPr id="11" name="Text 9"/>
          <p:cNvSpPr/>
          <p:nvPr/>
        </p:nvSpPr>
        <p:spPr>
          <a:xfrm>
            <a:off x="521208" y="2340864"/>
            <a:ext cx="2505456" cy="804672"/>
          </a:xfrm>
          <a:prstGeom prst="rect">
            <a:avLst/>
          </a:prstGeom>
          <a:noFill/>
          <a:ln/>
        </p:spPr>
        <p:txBody>
          <a:bodyPr wrap="square" lIns="0" tIns="0" rIns="0" bIns="0" rtlCol="0" anchor="ctr"/>
          <a:lstStyle/>
          <a:p>
            <a:pPr marL="0" indent="0">
              <a:buNone/>
            </a:pPr>
            <a:r>
              <a:rPr lang="en-US" sz="820" dirty="0">
                <a:solidFill>
                  <a:srgbClr val="1A1A2E"/>
                </a:solidFill>
              </a:rPr>
              <a:t>Data capturing tool — gathers inode information for use by mactime, which time-orders files and directories based on MAC (Modification, Access, Change) timestamps.</a:t>
            </a:r>
            <a:endParaRPr lang="en-US" sz="820" dirty="0"/>
          </a:p>
        </p:txBody>
      </p:sp>
      <p:sp>
        <p:nvSpPr>
          <p:cNvPr id="12" name="Shape 10"/>
          <p:cNvSpPr/>
          <p:nvPr/>
        </p:nvSpPr>
        <p:spPr>
          <a:xfrm>
            <a:off x="3227832" y="1920240"/>
            <a:ext cx="2788920" cy="1298448"/>
          </a:xfrm>
          <a:prstGeom prst="rect">
            <a:avLst/>
          </a:prstGeom>
          <a:solidFill>
            <a:srgbClr val="EEF6FB"/>
          </a:solidFill>
          <a:ln w="12700">
            <a:solidFill>
              <a:srgbClr val="EEF6FB"/>
            </a:solidFill>
            <a:prstDash val="solid"/>
          </a:ln>
        </p:spPr>
        <p:txBody>
          <a:bodyPr/>
          <a:lstStyle/>
          <a:p>
            <a:endParaRPr lang="en-SG"/>
          </a:p>
        </p:txBody>
      </p:sp>
      <p:sp>
        <p:nvSpPr>
          <p:cNvPr id="13" name="Shape 11"/>
          <p:cNvSpPr/>
          <p:nvPr/>
        </p:nvSpPr>
        <p:spPr>
          <a:xfrm>
            <a:off x="3227832" y="1920240"/>
            <a:ext cx="109728" cy="1298448"/>
          </a:xfrm>
          <a:prstGeom prst="rect">
            <a:avLst/>
          </a:prstGeom>
          <a:solidFill>
            <a:srgbClr val="F4A261"/>
          </a:solidFill>
          <a:ln w="12700">
            <a:solidFill>
              <a:srgbClr val="F4A261"/>
            </a:solidFill>
            <a:prstDash val="solid"/>
          </a:ln>
        </p:spPr>
        <p:txBody>
          <a:bodyPr/>
          <a:lstStyle/>
          <a:p>
            <a:endParaRPr lang="en-SG"/>
          </a:p>
        </p:txBody>
      </p:sp>
      <p:sp>
        <p:nvSpPr>
          <p:cNvPr id="14" name="Text 12"/>
          <p:cNvSpPr/>
          <p:nvPr/>
        </p:nvSpPr>
        <p:spPr>
          <a:xfrm>
            <a:off x="3429000" y="2011680"/>
            <a:ext cx="2505456" cy="274320"/>
          </a:xfrm>
          <a:prstGeom prst="rect">
            <a:avLst/>
          </a:prstGeom>
          <a:noFill/>
          <a:ln/>
        </p:spPr>
        <p:txBody>
          <a:bodyPr wrap="square" lIns="0" tIns="0" rIns="0" bIns="0" rtlCol="0" anchor="ctr"/>
          <a:lstStyle/>
          <a:p>
            <a:pPr marL="0" indent="0">
              <a:buNone/>
            </a:pPr>
            <a:r>
              <a:rPr lang="en-US" sz="1050" b="1" dirty="0">
                <a:solidFill>
                  <a:srgbClr val="F4A261"/>
                </a:solidFill>
              </a:rPr>
              <a:t>📇  ils / ils2mac</a:t>
            </a:r>
            <a:endParaRPr lang="en-US" sz="1050" dirty="0"/>
          </a:p>
        </p:txBody>
      </p:sp>
      <p:sp>
        <p:nvSpPr>
          <p:cNvPr id="15" name="Text 13"/>
          <p:cNvSpPr/>
          <p:nvPr/>
        </p:nvSpPr>
        <p:spPr>
          <a:xfrm>
            <a:off x="3429000" y="2340864"/>
            <a:ext cx="2505456" cy="804672"/>
          </a:xfrm>
          <a:prstGeom prst="rect">
            <a:avLst/>
          </a:prstGeom>
          <a:noFill/>
          <a:ln/>
        </p:spPr>
        <p:txBody>
          <a:bodyPr wrap="square" lIns="0" tIns="0" rIns="0" bIns="0" rtlCol="0" anchor="ctr"/>
          <a:lstStyle/>
          <a:p>
            <a:pPr marL="0" indent="0">
              <a:buNone/>
            </a:pPr>
            <a:r>
              <a:rPr lang="en-US" sz="820" dirty="0">
                <a:solidFill>
                  <a:srgbClr val="1A1A2E"/>
                </a:solidFill>
              </a:rPr>
              <a:t>Lists inode information from a device. By default, lists inodes of removed files — providing critical timeline data about deleted files for MAC analysis.</a:t>
            </a:r>
            <a:endParaRPr lang="en-US" sz="820" dirty="0"/>
          </a:p>
        </p:txBody>
      </p:sp>
      <p:sp>
        <p:nvSpPr>
          <p:cNvPr id="16" name="Shape 14"/>
          <p:cNvSpPr/>
          <p:nvPr/>
        </p:nvSpPr>
        <p:spPr>
          <a:xfrm>
            <a:off x="6135624" y="1920240"/>
            <a:ext cx="2788920" cy="1298448"/>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6135624" y="1920240"/>
            <a:ext cx="109728" cy="1298448"/>
          </a:xfrm>
          <a:prstGeom prst="rect">
            <a:avLst/>
          </a:prstGeom>
          <a:solidFill>
            <a:srgbClr val="2ECC71"/>
          </a:solidFill>
          <a:ln w="12700">
            <a:solidFill>
              <a:srgbClr val="2ECC71"/>
            </a:solidFill>
            <a:prstDash val="solid"/>
          </a:ln>
        </p:spPr>
        <p:txBody>
          <a:bodyPr/>
          <a:lstStyle/>
          <a:p>
            <a:endParaRPr lang="en-SG"/>
          </a:p>
        </p:txBody>
      </p:sp>
      <p:sp>
        <p:nvSpPr>
          <p:cNvPr id="18" name="Text 16"/>
          <p:cNvSpPr/>
          <p:nvPr/>
        </p:nvSpPr>
        <p:spPr>
          <a:xfrm>
            <a:off x="6336792" y="2011680"/>
            <a:ext cx="2505456" cy="274320"/>
          </a:xfrm>
          <a:prstGeom prst="rect">
            <a:avLst/>
          </a:prstGeom>
          <a:noFill/>
          <a:ln/>
        </p:spPr>
        <p:txBody>
          <a:bodyPr wrap="square" lIns="0" tIns="0" rIns="0" bIns="0" rtlCol="0" anchor="ctr"/>
          <a:lstStyle/>
          <a:p>
            <a:pPr marL="0" indent="0">
              <a:buNone/>
            </a:pPr>
            <a:r>
              <a:rPr lang="en-US" sz="1050" b="1" dirty="0">
                <a:solidFill>
                  <a:srgbClr val="2ECC71"/>
                </a:solidFill>
              </a:rPr>
              <a:t>🔓  unrm / lazarus</a:t>
            </a:r>
            <a:endParaRPr lang="en-US" sz="1050" dirty="0"/>
          </a:p>
        </p:txBody>
      </p:sp>
      <p:sp>
        <p:nvSpPr>
          <p:cNvPr id="19" name="Text 17"/>
          <p:cNvSpPr/>
          <p:nvPr/>
        </p:nvSpPr>
        <p:spPr>
          <a:xfrm>
            <a:off x="6336792" y="2340864"/>
            <a:ext cx="2505456" cy="804672"/>
          </a:xfrm>
          <a:prstGeom prst="rect">
            <a:avLst/>
          </a:prstGeom>
          <a:noFill/>
          <a:ln/>
        </p:spPr>
        <p:txBody>
          <a:bodyPr wrap="square" lIns="0" tIns="0" rIns="0" bIns="0" rtlCol="0" anchor="ctr"/>
          <a:lstStyle/>
          <a:p>
            <a:pPr marL="0" indent="0">
              <a:buNone/>
            </a:pPr>
            <a:r>
              <a:rPr lang="en-US" sz="820" dirty="0">
                <a:solidFill>
                  <a:srgbClr val="1A1A2E"/>
                </a:solidFill>
              </a:rPr>
              <a:t>Tools for recovering deleted file space and processing raw memory (RAM, swap) to identify hidden or lost data. lazarus attempts to re-construct the recovered data.</a:t>
            </a:r>
            <a:endParaRPr lang="en-US" sz="820" dirty="0"/>
          </a:p>
        </p:txBody>
      </p:sp>
      <p:sp>
        <p:nvSpPr>
          <p:cNvPr id="20" name="Shape 18"/>
          <p:cNvSpPr/>
          <p:nvPr/>
        </p:nvSpPr>
        <p:spPr>
          <a:xfrm>
            <a:off x="320040" y="3346704"/>
            <a:ext cx="2788920" cy="1298448"/>
          </a:xfrm>
          <a:prstGeom prst="rect">
            <a:avLst/>
          </a:prstGeom>
          <a:solidFill>
            <a:srgbClr val="EEF6FB"/>
          </a:solidFill>
          <a:ln w="12700">
            <a:solidFill>
              <a:srgbClr val="EEF6FB"/>
            </a:solidFill>
            <a:prstDash val="solid"/>
          </a:ln>
        </p:spPr>
        <p:txBody>
          <a:bodyPr/>
          <a:lstStyle/>
          <a:p>
            <a:endParaRPr lang="en-SG"/>
          </a:p>
        </p:txBody>
      </p:sp>
      <p:sp>
        <p:nvSpPr>
          <p:cNvPr id="21" name="Shape 19"/>
          <p:cNvSpPr/>
          <p:nvPr/>
        </p:nvSpPr>
        <p:spPr>
          <a:xfrm>
            <a:off x="320040" y="3346704"/>
            <a:ext cx="109728" cy="1298448"/>
          </a:xfrm>
          <a:prstGeom prst="rect">
            <a:avLst/>
          </a:prstGeom>
          <a:solidFill>
            <a:srgbClr val="F1C40F"/>
          </a:solidFill>
          <a:ln w="12700">
            <a:solidFill>
              <a:srgbClr val="F1C40F"/>
            </a:solidFill>
            <a:prstDash val="solid"/>
          </a:ln>
        </p:spPr>
        <p:txBody>
          <a:bodyPr/>
          <a:lstStyle/>
          <a:p>
            <a:endParaRPr lang="en-SG"/>
          </a:p>
        </p:txBody>
      </p:sp>
      <p:sp>
        <p:nvSpPr>
          <p:cNvPr id="22" name="Text 20"/>
          <p:cNvSpPr/>
          <p:nvPr/>
        </p:nvSpPr>
        <p:spPr>
          <a:xfrm>
            <a:off x="521208" y="3438144"/>
            <a:ext cx="2505456" cy="274320"/>
          </a:xfrm>
          <a:prstGeom prst="rect">
            <a:avLst/>
          </a:prstGeom>
          <a:noFill/>
          <a:ln/>
        </p:spPr>
        <p:txBody>
          <a:bodyPr wrap="square" lIns="0" tIns="0" rIns="0" bIns="0" rtlCol="0" anchor="ctr"/>
          <a:lstStyle/>
          <a:p>
            <a:pPr marL="0" indent="0">
              <a:buNone/>
            </a:pPr>
            <a:r>
              <a:rPr lang="en-US" sz="1050" b="1" dirty="0">
                <a:solidFill>
                  <a:srgbClr val="F1C40F"/>
                </a:solidFill>
              </a:rPr>
              <a:t>🐱  icat</a:t>
            </a:r>
            <a:endParaRPr lang="en-US" sz="1050" dirty="0"/>
          </a:p>
        </p:txBody>
      </p:sp>
      <p:sp>
        <p:nvSpPr>
          <p:cNvPr id="23" name="Text 21"/>
          <p:cNvSpPr/>
          <p:nvPr/>
        </p:nvSpPr>
        <p:spPr>
          <a:xfrm>
            <a:off x="521208" y="3767328"/>
            <a:ext cx="2505456" cy="804672"/>
          </a:xfrm>
          <a:prstGeom prst="rect">
            <a:avLst/>
          </a:prstGeom>
          <a:noFill/>
          <a:ln/>
        </p:spPr>
        <p:txBody>
          <a:bodyPr wrap="square" lIns="0" tIns="0" rIns="0" bIns="0" rtlCol="0" anchor="ctr"/>
          <a:lstStyle/>
          <a:p>
            <a:pPr marL="0" indent="0">
              <a:buNone/>
            </a:pPr>
            <a:r>
              <a:rPr lang="en-US" sz="820" dirty="0">
                <a:solidFill>
                  <a:srgbClr val="1A1A2E"/>
                </a:solidFill>
              </a:rPr>
              <a:t>Displays file contents by inode number rather than filename. Can display files whose directory entries are deleted if block pointers remain valid.</a:t>
            </a:r>
            <a:endParaRPr lang="en-US" sz="820" dirty="0"/>
          </a:p>
        </p:txBody>
      </p:sp>
      <p:sp>
        <p:nvSpPr>
          <p:cNvPr id="24" name="Shape 22"/>
          <p:cNvSpPr/>
          <p:nvPr/>
        </p:nvSpPr>
        <p:spPr>
          <a:xfrm>
            <a:off x="3227832" y="3346704"/>
            <a:ext cx="2788920" cy="1298448"/>
          </a:xfrm>
          <a:prstGeom prst="rect">
            <a:avLst/>
          </a:prstGeom>
          <a:solidFill>
            <a:srgbClr val="EEF6FB"/>
          </a:solidFill>
          <a:ln w="12700">
            <a:solidFill>
              <a:srgbClr val="EEF6FB"/>
            </a:solidFill>
            <a:prstDash val="solid"/>
          </a:ln>
        </p:spPr>
        <p:txBody>
          <a:bodyPr/>
          <a:lstStyle/>
          <a:p>
            <a:endParaRPr lang="en-SG"/>
          </a:p>
        </p:txBody>
      </p:sp>
      <p:sp>
        <p:nvSpPr>
          <p:cNvPr id="25" name="Shape 23"/>
          <p:cNvSpPr/>
          <p:nvPr/>
        </p:nvSpPr>
        <p:spPr>
          <a:xfrm>
            <a:off x="3227832" y="3346704"/>
            <a:ext cx="109728" cy="1298448"/>
          </a:xfrm>
          <a:prstGeom prst="rect">
            <a:avLst/>
          </a:prstGeom>
          <a:solidFill>
            <a:srgbClr val="A855F7"/>
          </a:solidFill>
          <a:ln w="12700">
            <a:solidFill>
              <a:srgbClr val="A855F7"/>
            </a:solidFill>
            <a:prstDash val="solid"/>
          </a:ln>
        </p:spPr>
        <p:txBody>
          <a:bodyPr/>
          <a:lstStyle/>
          <a:p>
            <a:endParaRPr lang="en-SG"/>
          </a:p>
        </p:txBody>
      </p:sp>
      <p:sp>
        <p:nvSpPr>
          <p:cNvPr id="26" name="Text 24"/>
          <p:cNvSpPr/>
          <p:nvPr/>
        </p:nvSpPr>
        <p:spPr>
          <a:xfrm>
            <a:off x="3429000" y="3438144"/>
            <a:ext cx="2505456" cy="274320"/>
          </a:xfrm>
          <a:prstGeom prst="rect">
            <a:avLst/>
          </a:prstGeom>
          <a:noFill/>
          <a:ln/>
        </p:spPr>
        <p:txBody>
          <a:bodyPr wrap="square" lIns="0" tIns="0" rIns="0" bIns="0" rtlCol="0" anchor="ctr"/>
          <a:lstStyle/>
          <a:p>
            <a:pPr marL="0" indent="0">
              <a:buNone/>
            </a:pPr>
            <a:r>
              <a:rPr lang="en-US" sz="1050" b="1" dirty="0">
                <a:solidFill>
                  <a:srgbClr val="A855F7"/>
                </a:solidFill>
              </a:rPr>
              <a:t>🕐  mactime</a:t>
            </a:r>
            <a:endParaRPr lang="en-US" sz="1050" dirty="0"/>
          </a:p>
        </p:txBody>
      </p:sp>
      <p:sp>
        <p:nvSpPr>
          <p:cNvPr id="27" name="Text 25"/>
          <p:cNvSpPr/>
          <p:nvPr/>
        </p:nvSpPr>
        <p:spPr>
          <a:xfrm>
            <a:off x="3429000" y="3767328"/>
            <a:ext cx="2505456" cy="804672"/>
          </a:xfrm>
          <a:prstGeom prst="rect">
            <a:avLst/>
          </a:prstGeom>
          <a:noFill/>
          <a:ln/>
        </p:spPr>
        <p:txBody>
          <a:bodyPr wrap="square" lIns="0" tIns="0" rIns="0" bIns="0" rtlCol="0" anchor="ctr"/>
          <a:lstStyle/>
          <a:p>
            <a:pPr marL="0" indent="0">
              <a:buNone/>
            </a:pPr>
            <a:r>
              <a:rPr lang="en-US" sz="820" dirty="0">
                <a:solidFill>
                  <a:srgbClr val="1A1A2E"/>
                </a:solidFill>
              </a:rPr>
              <a:t>Produces a timeline of file system activity sorted by MAC timestamps — invaluable for establishing when files were created, accessed, and modified.</a:t>
            </a:r>
            <a:endParaRPr lang="en-US" sz="820" dirty="0"/>
          </a:p>
        </p:txBody>
      </p:sp>
      <p:sp>
        <p:nvSpPr>
          <p:cNvPr id="28" name="Shape 26"/>
          <p:cNvSpPr/>
          <p:nvPr/>
        </p:nvSpPr>
        <p:spPr>
          <a:xfrm>
            <a:off x="6135624" y="3346704"/>
            <a:ext cx="2788920" cy="1298448"/>
          </a:xfrm>
          <a:prstGeom prst="rect">
            <a:avLst/>
          </a:prstGeom>
          <a:solidFill>
            <a:srgbClr val="EEF6FB"/>
          </a:solidFill>
          <a:ln w="12700">
            <a:solidFill>
              <a:srgbClr val="EEF6FB"/>
            </a:solidFill>
            <a:prstDash val="solid"/>
          </a:ln>
        </p:spPr>
        <p:txBody>
          <a:bodyPr/>
          <a:lstStyle/>
          <a:p>
            <a:endParaRPr lang="en-SG"/>
          </a:p>
        </p:txBody>
      </p:sp>
      <p:sp>
        <p:nvSpPr>
          <p:cNvPr id="29" name="Shape 27"/>
          <p:cNvSpPr/>
          <p:nvPr/>
        </p:nvSpPr>
        <p:spPr>
          <a:xfrm>
            <a:off x="6135624" y="3346704"/>
            <a:ext cx="109728" cy="1298448"/>
          </a:xfrm>
          <a:prstGeom prst="rect">
            <a:avLst/>
          </a:prstGeom>
          <a:solidFill>
            <a:srgbClr val="48CAE4"/>
          </a:solidFill>
          <a:ln w="12700">
            <a:solidFill>
              <a:srgbClr val="48CAE4"/>
            </a:solidFill>
            <a:prstDash val="solid"/>
          </a:ln>
        </p:spPr>
        <p:txBody>
          <a:bodyPr/>
          <a:lstStyle/>
          <a:p>
            <a:endParaRPr lang="en-SG"/>
          </a:p>
        </p:txBody>
      </p:sp>
      <p:sp>
        <p:nvSpPr>
          <p:cNvPr id="30" name="Text 28"/>
          <p:cNvSpPr/>
          <p:nvPr/>
        </p:nvSpPr>
        <p:spPr>
          <a:xfrm>
            <a:off x="6336792" y="3438144"/>
            <a:ext cx="2505456" cy="274320"/>
          </a:xfrm>
          <a:prstGeom prst="rect">
            <a:avLst/>
          </a:prstGeom>
          <a:noFill/>
          <a:ln/>
        </p:spPr>
        <p:txBody>
          <a:bodyPr wrap="square" lIns="0" tIns="0" rIns="0" bIns="0" rtlCol="0" anchor="ctr"/>
          <a:lstStyle/>
          <a:p>
            <a:pPr marL="0" indent="0">
              <a:buNone/>
            </a:pPr>
            <a:r>
              <a:rPr lang="en-US" sz="1050" b="1" dirty="0">
                <a:solidFill>
                  <a:srgbClr val="48CAE4"/>
                </a:solidFill>
              </a:rPr>
              <a:t>🔄  Modern Equivalents</a:t>
            </a:r>
            <a:endParaRPr lang="en-US" sz="1050" dirty="0"/>
          </a:p>
        </p:txBody>
      </p:sp>
      <p:sp>
        <p:nvSpPr>
          <p:cNvPr id="31" name="Text 29"/>
          <p:cNvSpPr/>
          <p:nvPr/>
        </p:nvSpPr>
        <p:spPr>
          <a:xfrm>
            <a:off x="6336792" y="3767328"/>
            <a:ext cx="2505456" cy="804672"/>
          </a:xfrm>
          <a:prstGeom prst="rect">
            <a:avLst/>
          </a:prstGeom>
          <a:noFill/>
          <a:ln/>
        </p:spPr>
        <p:txBody>
          <a:bodyPr wrap="square" lIns="0" tIns="0" rIns="0" bIns="0" rtlCol="0" anchor="ctr"/>
          <a:lstStyle/>
          <a:p>
            <a:pPr marL="0" indent="0">
              <a:buNone/>
            </a:pPr>
            <a:r>
              <a:rPr lang="en-US" sz="820" dirty="0">
                <a:solidFill>
                  <a:srgbClr val="1A1A2E"/>
                </a:solidFill>
              </a:rPr>
              <a:t>TSK (fls, ils, icat, mactime) replaces TCT for active use. Volatility handles memory forensics. Plaso/log2timeline provides advanced cross-source timeline analysis.</a:t>
            </a:r>
            <a:endParaRPr lang="en-US" sz="8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01168"/>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256032"/>
            <a:ext cx="8503920" cy="292608"/>
          </a:xfrm>
          <a:prstGeom prst="rect">
            <a:avLst/>
          </a:prstGeom>
          <a:noFill/>
          <a:ln/>
        </p:spPr>
        <p:txBody>
          <a:bodyPr wrap="square" lIns="0" tIns="0" rIns="0" bIns="0" rtlCol="0" anchor="ctr"/>
          <a:lstStyle/>
          <a:p>
            <a:pPr marL="0" indent="0" algn="l">
              <a:buNone/>
            </a:pPr>
            <a:r>
              <a:rPr lang="en-US" sz="1000" b="1" kern="0" spc="500" dirty="0">
                <a:solidFill>
                  <a:srgbClr val="00B4D8"/>
                </a:solidFill>
              </a:rPr>
              <a:t>LESSON 5 — FULL SUMMARY</a:t>
            </a:r>
            <a:endParaRPr lang="en-US" sz="1000" dirty="0"/>
          </a:p>
        </p:txBody>
      </p:sp>
      <p:sp>
        <p:nvSpPr>
          <p:cNvPr id="4" name="Text 2"/>
          <p:cNvSpPr/>
          <p:nvPr/>
        </p:nvSpPr>
        <p:spPr>
          <a:xfrm>
            <a:off x="320040" y="548640"/>
            <a:ext cx="8503920" cy="475488"/>
          </a:xfrm>
          <a:prstGeom prst="rect">
            <a:avLst/>
          </a:prstGeom>
          <a:noFill/>
          <a:ln/>
        </p:spPr>
        <p:txBody>
          <a:bodyPr wrap="square" lIns="0" tIns="0" rIns="0" bIns="0" rtlCol="0" anchor="ctr"/>
          <a:lstStyle/>
          <a:p>
            <a:pPr marL="0" indent="0" algn="l">
              <a:buNone/>
            </a:pPr>
            <a:r>
              <a:rPr lang="en-US" sz="2600" b="1" dirty="0">
                <a:solidFill>
                  <a:srgbClr val="1A1A2E"/>
                </a:solidFill>
              </a:rPr>
              <a:t>Key Learning Points</a:t>
            </a:r>
            <a:endParaRPr lang="en-US" sz="2600" dirty="0"/>
          </a:p>
        </p:txBody>
      </p:sp>
      <p:sp>
        <p:nvSpPr>
          <p:cNvPr id="5" name="Shape 3"/>
          <p:cNvSpPr/>
          <p:nvPr/>
        </p:nvSpPr>
        <p:spPr>
          <a:xfrm>
            <a:off x="320040" y="1042416"/>
            <a:ext cx="8503920" cy="36576"/>
          </a:xfrm>
          <a:prstGeom prst="rect">
            <a:avLst/>
          </a:prstGeom>
          <a:solidFill>
            <a:srgbClr val="00B4D8"/>
          </a:solidFill>
          <a:ln w="12700">
            <a:solidFill>
              <a:srgbClr val="00B4D8"/>
            </a:solidFill>
            <a:prstDash val="solid"/>
          </a:ln>
        </p:spPr>
        <p:txBody>
          <a:bodyPr/>
          <a:lstStyle/>
          <a:p>
            <a:endParaRPr lang="en-SG"/>
          </a:p>
        </p:txBody>
      </p:sp>
      <p:sp>
        <p:nvSpPr>
          <p:cNvPr id="6" name="Shape 4"/>
          <p:cNvSpPr/>
          <p:nvPr/>
        </p:nvSpPr>
        <p:spPr>
          <a:xfrm>
            <a:off x="320040" y="1143000"/>
            <a:ext cx="4133088" cy="420624"/>
          </a:xfrm>
          <a:prstGeom prst="rect">
            <a:avLst/>
          </a:prstGeom>
          <a:solidFill>
            <a:srgbClr val="EEF6FB"/>
          </a:solidFill>
          <a:ln w="12700">
            <a:solidFill>
              <a:srgbClr val="EEF6FB"/>
            </a:solidFill>
            <a:prstDash val="solid"/>
          </a:ln>
        </p:spPr>
        <p:txBody>
          <a:bodyPr/>
          <a:lstStyle/>
          <a:p>
            <a:endParaRPr lang="en-SG"/>
          </a:p>
        </p:txBody>
      </p:sp>
      <p:sp>
        <p:nvSpPr>
          <p:cNvPr id="7" name="Shape 5"/>
          <p:cNvSpPr/>
          <p:nvPr/>
        </p:nvSpPr>
        <p:spPr>
          <a:xfrm>
            <a:off x="320040" y="1143000"/>
            <a:ext cx="347472" cy="420624"/>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320040" y="1143000"/>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01</a:t>
            </a:r>
            <a:endParaRPr lang="en-US" sz="900" dirty="0"/>
          </a:p>
        </p:txBody>
      </p:sp>
      <p:sp>
        <p:nvSpPr>
          <p:cNvPr id="9" name="Text 7"/>
          <p:cNvSpPr/>
          <p:nvPr/>
        </p:nvSpPr>
        <p:spPr>
          <a:xfrm>
            <a:off x="740664" y="1179576"/>
            <a:ext cx="3639312" cy="347472"/>
          </a:xfrm>
          <a:prstGeom prst="rect">
            <a:avLst/>
          </a:prstGeom>
          <a:noFill/>
          <a:ln/>
        </p:spPr>
        <p:txBody>
          <a:bodyPr wrap="square" lIns="0" tIns="0" rIns="0" bIns="0" rtlCol="0" anchor="ctr"/>
          <a:lstStyle/>
          <a:p>
            <a:pPr marL="0" indent="0">
              <a:buNone/>
            </a:pPr>
            <a:r>
              <a:rPr lang="en-US" sz="800" dirty="0">
                <a:solidFill>
                  <a:srgbClr val="1A1A2E"/>
                </a:solidFill>
              </a:rPr>
              <a:t>Digital forensic investigations require tools matched to five core task categories: Acquisition, Validation, Extraction, Reconstruction, and Reporting.</a:t>
            </a:r>
            <a:endParaRPr lang="en-US" sz="800" dirty="0"/>
          </a:p>
        </p:txBody>
      </p:sp>
      <p:sp>
        <p:nvSpPr>
          <p:cNvPr id="10" name="Shape 8"/>
          <p:cNvSpPr/>
          <p:nvPr/>
        </p:nvSpPr>
        <p:spPr>
          <a:xfrm>
            <a:off x="4690872" y="1143000"/>
            <a:ext cx="4133088" cy="420624"/>
          </a:xfrm>
          <a:prstGeom prst="rect">
            <a:avLst/>
          </a:prstGeom>
          <a:solidFill>
            <a:srgbClr val="EEF6FB"/>
          </a:solidFill>
          <a:ln w="12700">
            <a:solidFill>
              <a:srgbClr val="EEF6FB"/>
            </a:solidFill>
            <a:prstDash val="solid"/>
          </a:ln>
        </p:spPr>
        <p:txBody>
          <a:bodyPr/>
          <a:lstStyle/>
          <a:p>
            <a:endParaRPr lang="en-SG"/>
          </a:p>
        </p:txBody>
      </p:sp>
      <p:sp>
        <p:nvSpPr>
          <p:cNvPr id="11" name="Shape 9"/>
          <p:cNvSpPr/>
          <p:nvPr/>
        </p:nvSpPr>
        <p:spPr>
          <a:xfrm>
            <a:off x="4690872" y="1143000"/>
            <a:ext cx="347472" cy="420624"/>
          </a:xfrm>
          <a:prstGeom prst="rect">
            <a:avLst/>
          </a:prstGeom>
          <a:solidFill>
            <a:srgbClr val="F4A261"/>
          </a:solidFill>
          <a:ln w="12700">
            <a:solidFill>
              <a:srgbClr val="F4A261"/>
            </a:solidFill>
            <a:prstDash val="solid"/>
          </a:ln>
        </p:spPr>
        <p:txBody>
          <a:bodyPr/>
          <a:lstStyle/>
          <a:p>
            <a:endParaRPr lang="en-SG"/>
          </a:p>
        </p:txBody>
      </p:sp>
      <p:sp>
        <p:nvSpPr>
          <p:cNvPr id="12" name="Text 10"/>
          <p:cNvSpPr/>
          <p:nvPr/>
        </p:nvSpPr>
        <p:spPr>
          <a:xfrm>
            <a:off x="4690872" y="1143000"/>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02</a:t>
            </a:r>
            <a:endParaRPr lang="en-US" sz="900" dirty="0"/>
          </a:p>
        </p:txBody>
      </p:sp>
      <p:sp>
        <p:nvSpPr>
          <p:cNvPr id="13" name="Text 11"/>
          <p:cNvSpPr/>
          <p:nvPr/>
        </p:nvSpPr>
        <p:spPr>
          <a:xfrm>
            <a:off x="5111496" y="1179576"/>
            <a:ext cx="3639312" cy="347472"/>
          </a:xfrm>
          <a:prstGeom prst="rect">
            <a:avLst/>
          </a:prstGeom>
          <a:noFill/>
          <a:ln/>
        </p:spPr>
        <p:txBody>
          <a:bodyPr wrap="square" lIns="0" tIns="0" rIns="0" bIns="0" rtlCol="0" anchor="ctr"/>
          <a:lstStyle/>
          <a:p>
            <a:pPr marL="0" indent="0">
              <a:buNone/>
            </a:pPr>
            <a:r>
              <a:rPr lang="en-US" sz="800" dirty="0">
                <a:solidFill>
                  <a:srgbClr val="1A1A2E"/>
                </a:solidFill>
              </a:rPr>
              <a:t>Acquisition produces a physical (bit-for-bit) or logical copy. Raw (.dd) and proprietary formats (.E01) each have distinct trade-offs for size, compatibility, and metadata.</a:t>
            </a:r>
            <a:endParaRPr lang="en-US" sz="800" dirty="0"/>
          </a:p>
        </p:txBody>
      </p:sp>
      <p:sp>
        <p:nvSpPr>
          <p:cNvPr id="14" name="Shape 12"/>
          <p:cNvSpPr/>
          <p:nvPr/>
        </p:nvSpPr>
        <p:spPr>
          <a:xfrm>
            <a:off x="320040" y="1627632"/>
            <a:ext cx="4133088" cy="420624"/>
          </a:xfrm>
          <a:prstGeom prst="rect">
            <a:avLst/>
          </a:prstGeom>
          <a:solidFill>
            <a:srgbClr val="EEF6FB"/>
          </a:solidFill>
          <a:ln w="12700">
            <a:solidFill>
              <a:srgbClr val="EEF6FB"/>
            </a:solidFill>
            <a:prstDash val="solid"/>
          </a:ln>
        </p:spPr>
        <p:txBody>
          <a:bodyPr/>
          <a:lstStyle/>
          <a:p>
            <a:endParaRPr lang="en-SG"/>
          </a:p>
        </p:txBody>
      </p:sp>
      <p:sp>
        <p:nvSpPr>
          <p:cNvPr id="15" name="Shape 13"/>
          <p:cNvSpPr/>
          <p:nvPr/>
        </p:nvSpPr>
        <p:spPr>
          <a:xfrm>
            <a:off x="320040" y="1627632"/>
            <a:ext cx="347472" cy="420624"/>
          </a:xfrm>
          <a:prstGeom prst="rect">
            <a:avLst/>
          </a:prstGeom>
          <a:solidFill>
            <a:srgbClr val="2ECC71"/>
          </a:solidFill>
          <a:ln w="12700">
            <a:solidFill>
              <a:srgbClr val="2ECC71"/>
            </a:solidFill>
            <a:prstDash val="solid"/>
          </a:ln>
        </p:spPr>
        <p:txBody>
          <a:bodyPr/>
          <a:lstStyle/>
          <a:p>
            <a:endParaRPr lang="en-SG"/>
          </a:p>
        </p:txBody>
      </p:sp>
      <p:sp>
        <p:nvSpPr>
          <p:cNvPr id="16" name="Text 14"/>
          <p:cNvSpPr/>
          <p:nvPr/>
        </p:nvSpPr>
        <p:spPr>
          <a:xfrm>
            <a:off x="320040" y="1627632"/>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03</a:t>
            </a:r>
            <a:endParaRPr lang="en-US" sz="900" dirty="0"/>
          </a:p>
        </p:txBody>
      </p:sp>
      <p:sp>
        <p:nvSpPr>
          <p:cNvPr id="17" name="Text 15"/>
          <p:cNvSpPr/>
          <p:nvPr/>
        </p:nvSpPr>
        <p:spPr>
          <a:xfrm>
            <a:off x="740664" y="1664208"/>
            <a:ext cx="3639312" cy="347472"/>
          </a:xfrm>
          <a:prstGeom prst="rect">
            <a:avLst/>
          </a:prstGeom>
          <a:noFill/>
          <a:ln/>
        </p:spPr>
        <p:txBody>
          <a:bodyPr wrap="square" lIns="0" tIns="0" rIns="0" bIns="0" rtlCol="0" anchor="ctr"/>
          <a:lstStyle/>
          <a:p>
            <a:pPr marL="0" indent="0">
              <a:buNone/>
            </a:pPr>
            <a:r>
              <a:rPr lang="en-US" sz="800" dirty="0">
                <a:solidFill>
                  <a:srgbClr val="1A1A2E"/>
                </a:solidFill>
              </a:rPr>
              <a:t>Hashing (MD5, SHA-256) is the cornerstone of forensic integrity — source and image hashes must match exactly before any analysis can begin.</a:t>
            </a:r>
            <a:endParaRPr lang="en-US" sz="800" dirty="0"/>
          </a:p>
        </p:txBody>
      </p:sp>
      <p:sp>
        <p:nvSpPr>
          <p:cNvPr id="18" name="Shape 16"/>
          <p:cNvSpPr/>
          <p:nvPr/>
        </p:nvSpPr>
        <p:spPr>
          <a:xfrm>
            <a:off x="4690872" y="1627632"/>
            <a:ext cx="4133088" cy="420624"/>
          </a:xfrm>
          <a:prstGeom prst="rect">
            <a:avLst/>
          </a:prstGeom>
          <a:solidFill>
            <a:srgbClr val="EEF6FB"/>
          </a:solidFill>
          <a:ln w="12700">
            <a:solidFill>
              <a:srgbClr val="EEF6FB"/>
            </a:solidFill>
            <a:prstDash val="solid"/>
          </a:ln>
        </p:spPr>
        <p:txBody>
          <a:bodyPr/>
          <a:lstStyle/>
          <a:p>
            <a:endParaRPr lang="en-SG"/>
          </a:p>
        </p:txBody>
      </p:sp>
      <p:sp>
        <p:nvSpPr>
          <p:cNvPr id="19" name="Shape 17"/>
          <p:cNvSpPr/>
          <p:nvPr/>
        </p:nvSpPr>
        <p:spPr>
          <a:xfrm>
            <a:off x="4690872" y="1627632"/>
            <a:ext cx="347472" cy="420624"/>
          </a:xfrm>
          <a:prstGeom prst="rect">
            <a:avLst/>
          </a:prstGeom>
          <a:solidFill>
            <a:srgbClr val="F1C40F"/>
          </a:solidFill>
          <a:ln w="12700">
            <a:solidFill>
              <a:srgbClr val="F1C40F"/>
            </a:solidFill>
            <a:prstDash val="solid"/>
          </a:ln>
        </p:spPr>
        <p:txBody>
          <a:bodyPr/>
          <a:lstStyle/>
          <a:p>
            <a:endParaRPr lang="en-SG"/>
          </a:p>
        </p:txBody>
      </p:sp>
      <p:sp>
        <p:nvSpPr>
          <p:cNvPr id="20" name="Text 18"/>
          <p:cNvSpPr/>
          <p:nvPr/>
        </p:nvSpPr>
        <p:spPr>
          <a:xfrm>
            <a:off x="4690872" y="1627632"/>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04</a:t>
            </a:r>
            <a:endParaRPr lang="en-US" sz="900" dirty="0"/>
          </a:p>
        </p:txBody>
      </p:sp>
      <p:sp>
        <p:nvSpPr>
          <p:cNvPr id="21" name="Text 19"/>
          <p:cNvSpPr/>
          <p:nvPr/>
        </p:nvSpPr>
        <p:spPr>
          <a:xfrm>
            <a:off x="5111496" y="1664208"/>
            <a:ext cx="3639312" cy="347472"/>
          </a:xfrm>
          <a:prstGeom prst="rect">
            <a:avLst/>
          </a:prstGeom>
          <a:noFill/>
          <a:ln/>
        </p:spPr>
        <p:txBody>
          <a:bodyPr wrap="square" lIns="0" tIns="0" rIns="0" bIns="0" rtlCol="0" anchor="ctr"/>
          <a:lstStyle/>
          <a:p>
            <a:pPr marL="0" indent="0">
              <a:buNone/>
            </a:pPr>
            <a:r>
              <a:rPr lang="en-US" sz="800" dirty="0">
                <a:solidFill>
                  <a:srgbClr val="1A1A2E"/>
                </a:solidFill>
              </a:rPr>
              <a:t>NSRL / KFF filtering classifies files as Known Good, Known Bad, or Unknown — dramatically focusing investigative effort on relevant evidence.</a:t>
            </a:r>
            <a:endParaRPr lang="en-US" sz="800" dirty="0"/>
          </a:p>
        </p:txBody>
      </p:sp>
      <p:sp>
        <p:nvSpPr>
          <p:cNvPr id="22" name="Shape 20"/>
          <p:cNvSpPr/>
          <p:nvPr/>
        </p:nvSpPr>
        <p:spPr>
          <a:xfrm>
            <a:off x="320040" y="2112264"/>
            <a:ext cx="4133088" cy="420624"/>
          </a:xfrm>
          <a:prstGeom prst="rect">
            <a:avLst/>
          </a:prstGeom>
          <a:solidFill>
            <a:srgbClr val="EEF6FB"/>
          </a:solidFill>
          <a:ln w="12700">
            <a:solidFill>
              <a:srgbClr val="EEF6FB"/>
            </a:solidFill>
            <a:prstDash val="solid"/>
          </a:ln>
        </p:spPr>
        <p:txBody>
          <a:bodyPr/>
          <a:lstStyle/>
          <a:p>
            <a:endParaRPr lang="en-SG"/>
          </a:p>
        </p:txBody>
      </p:sp>
      <p:sp>
        <p:nvSpPr>
          <p:cNvPr id="23" name="Shape 21"/>
          <p:cNvSpPr/>
          <p:nvPr/>
        </p:nvSpPr>
        <p:spPr>
          <a:xfrm>
            <a:off x="320040" y="2112264"/>
            <a:ext cx="347472" cy="420624"/>
          </a:xfrm>
          <a:prstGeom prst="rect">
            <a:avLst/>
          </a:prstGeom>
          <a:solidFill>
            <a:srgbClr val="A855F7"/>
          </a:solidFill>
          <a:ln w="12700">
            <a:solidFill>
              <a:srgbClr val="A855F7"/>
            </a:solidFill>
            <a:prstDash val="solid"/>
          </a:ln>
        </p:spPr>
        <p:txBody>
          <a:bodyPr/>
          <a:lstStyle/>
          <a:p>
            <a:endParaRPr lang="en-SG"/>
          </a:p>
        </p:txBody>
      </p:sp>
      <p:sp>
        <p:nvSpPr>
          <p:cNvPr id="24" name="Text 22"/>
          <p:cNvSpPr/>
          <p:nvPr/>
        </p:nvSpPr>
        <p:spPr>
          <a:xfrm>
            <a:off x="320040" y="2112264"/>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05</a:t>
            </a:r>
            <a:endParaRPr lang="en-US" sz="900" dirty="0"/>
          </a:p>
        </p:txBody>
      </p:sp>
      <p:sp>
        <p:nvSpPr>
          <p:cNvPr id="25" name="Text 23"/>
          <p:cNvSpPr/>
          <p:nvPr/>
        </p:nvSpPr>
        <p:spPr>
          <a:xfrm>
            <a:off x="740664" y="2148840"/>
            <a:ext cx="3639312" cy="347472"/>
          </a:xfrm>
          <a:prstGeom prst="rect">
            <a:avLst/>
          </a:prstGeom>
          <a:noFill/>
          <a:ln/>
        </p:spPr>
        <p:txBody>
          <a:bodyPr wrap="square" lIns="0" tIns="0" rIns="0" bIns="0" rtlCol="0" anchor="ctr"/>
          <a:lstStyle/>
          <a:p>
            <a:pPr marL="0" indent="0">
              <a:buNone/>
            </a:pPr>
            <a:r>
              <a:rPr lang="en-US" sz="800" dirty="0">
                <a:solidFill>
                  <a:srgbClr val="1A1A2E"/>
                </a:solidFill>
              </a:rPr>
              <a:t>Extraction is the most demanding phase — it includes data viewing, keyword search, decompression, carving, decryption, and bookmarking of artefacts.</a:t>
            </a:r>
            <a:endParaRPr lang="en-US" sz="800" dirty="0"/>
          </a:p>
        </p:txBody>
      </p:sp>
      <p:sp>
        <p:nvSpPr>
          <p:cNvPr id="26" name="Shape 24"/>
          <p:cNvSpPr/>
          <p:nvPr/>
        </p:nvSpPr>
        <p:spPr>
          <a:xfrm>
            <a:off x="4690872" y="2112264"/>
            <a:ext cx="4133088" cy="420624"/>
          </a:xfrm>
          <a:prstGeom prst="rect">
            <a:avLst/>
          </a:prstGeom>
          <a:solidFill>
            <a:srgbClr val="EEF6FB"/>
          </a:solidFill>
          <a:ln w="12700">
            <a:solidFill>
              <a:srgbClr val="EEF6FB"/>
            </a:solidFill>
            <a:prstDash val="solid"/>
          </a:ln>
        </p:spPr>
        <p:txBody>
          <a:bodyPr/>
          <a:lstStyle/>
          <a:p>
            <a:endParaRPr lang="en-SG"/>
          </a:p>
        </p:txBody>
      </p:sp>
      <p:sp>
        <p:nvSpPr>
          <p:cNvPr id="27" name="Shape 25"/>
          <p:cNvSpPr/>
          <p:nvPr/>
        </p:nvSpPr>
        <p:spPr>
          <a:xfrm>
            <a:off x="4690872" y="2112264"/>
            <a:ext cx="347472" cy="420624"/>
          </a:xfrm>
          <a:prstGeom prst="rect">
            <a:avLst/>
          </a:prstGeom>
          <a:solidFill>
            <a:srgbClr val="48CAE4"/>
          </a:solidFill>
          <a:ln w="12700">
            <a:solidFill>
              <a:srgbClr val="48CAE4"/>
            </a:solidFill>
            <a:prstDash val="solid"/>
          </a:ln>
        </p:spPr>
        <p:txBody>
          <a:bodyPr/>
          <a:lstStyle/>
          <a:p>
            <a:endParaRPr lang="en-SG"/>
          </a:p>
        </p:txBody>
      </p:sp>
      <p:sp>
        <p:nvSpPr>
          <p:cNvPr id="28" name="Text 26"/>
          <p:cNvSpPr/>
          <p:nvPr/>
        </p:nvSpPr>
        <p:spPr>
          <a:xfrm>
            <a:off x="4690872" y="2112264"/>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06</a:t>
            </a:r>
            <a:endParaRPr lang="en-US" sz="900" dirty="0"/>
          </a:p>
        </p:txBody>
      </p:sp>
      <p:sp>
        <p:nvSpPr>
          <p:cNvPr id="29" name="Text 27"/>
          <p:cNvSpPr/>
          <p:nvPr/>
        </p:nvSpPr>
        <p:spPr>
          <a:xfrm>
            <a:off x="5111496" y="2148840"/>
            <a:ext cx="3639312" cy="347472"/>
          </a:xfrm>
          <a:prstGeom prst="rect">
            <a:avLst/>
          </a:prstGeom>
          <a:noFill/>
          <a:ln/>
        </p:spPr>
        <p:txBody>
          <a:bodyPr wrap="square" lIns="0" tIns="0" rIns="0" bIns="0" rtlCol="0" anchor="ctr"/>
          <a:lstStyle/>
          <a:p>
            <a:pPr marL="0" indent="0">
              <a:buNone/>
            </a:pPr>
            <a:r>
              <a:rPr lang="en-US" sz="800" dirty="0">
                <a:solidFill>
                  <a:srgbClr val="1A1A2E"/>
                </a:solidFill>
              </a:rPr>
              <a:t>Linux CLI tools — dd, md5sum, split, mount, and netcat — form the foundation of open-source forensic acquisition and should be understood at command level.</a:t>
            </a:r>
            <a:endParaRPr lang="en-US" sz="800" dirty="0"/>
          </a:p>
        </p:txBody>
      </p:sp>
      <p:sp>
        <p:nvSpPr>
          <p:cNvPr id="30" name="Shape 28"/>
          <p:cNvSpPr/>
          <p:nvPr/>
        </p:nvSpPr>
        <p:spPr>
          <a:xfrm>
            <a:off x="320040" y="2596896"/>
            <a:ext cx="4133088" cy="420624"/>
          </a:xfrm>
          <a:prstGeom prst="rect">
            <a:avLst/>
          </a:prstGeom>
          <a:solidFill>
            <a:srgbClr val="EEF6FB"/>
          </a:solidFill>
          <a:ln w="12700">
            <a:solidFill>
              <a:srgbClr val="EEF6FB"/>
            </a:solidFill>
            <a:prstDash val="solid"/>
          </a:ln>
        </p:spPr>
        <p:txBody>
          <a:bodyPr/>
          <a:lstStyle/>
          <a:p>
            <a:endParaRPr lang="en-SG"/>
          </a:p>
        </p:txBody>
      </p:sp>
      <p:sp>
        <p:nvSpPr>
          <p:cNvPr id="31" name="Shape 29"/>
          <p:cNvSpPr/>
          <p:nvPr/>
        </p:nvSpPr>
        <p:spPr>
          <a:xfrm>
            <a:off x="320040" y="2596896"/>
            <a:ext cx="347472" cy="420624"/>
          </a:xfrm>
          <a:prstGeom prst="rect">
            <a:avLst/>
          </a:prstGeom>
          <a:solidFill>
            <a:srgbClr val="00B4D8"/>
          </a:solidFill>
          <a:ln w="12700">
            <a:solidFill>
              <a:srgbClr val="00B4D8"/>
            </a:solidFill>
            <a:prstDash val="solid"/>
          </a:ln>
        </p:spPr>
        <p:txBody>
          <a:bodyPr/>
          <a:lstStyle/>
          <a:p>
            <a:endParaRPr lang="en-SG"/>
          </a:p>
        </p:txBody>
      </p:sp>
      <p:sp>
        <p:nvSpPr>
          <p:cNvPr id="32" name="Text 30"/>
          <p:cNvSpPr/>
          <p:nvPr/>
        </p:nvSpPr>
        <p:spPr>
          <a:xfrm>
            <a:off x="320040" y="2596896"/>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07</a:t>
            </a:r>
            <a:endParaRPr lang="en-US" sz="900" dirty="0"/>
          </a:p>
        </p:txBody>
      </p:sp>
      <p:sp>
        <p:nvSpPr>
          <p:cNvPr id="33" name="Text 31"/>
          <p:cNvSpPr/>
          <p:nvPr/>
        </p:nvSpPr>
        <p:spPr>
          <a:xfrm>
            <a:off x="740664" y="2633472"/>
            <a:ext cx="3639312" cy="347472"/>
          </a:xfrm>
          <a:prstGeom prst="rect">
            <a:avLst/>
          </a:prstGeom>
          <a:noFill/>
          <a:ln/>
        </p:spPr>
        <p:txBody>
          <a:bodyPr wrap="square" lIns="0" tIns="0" rIns="0" bIns="0" rtlCol="0" anchor="ctr"/>
          <a:lstStyle/>
          <a:p>
            <a:pPr marL="0" indent="0">
              <a:buNone/>
            </a:pPr>
            <a:r>
              <a:rPr lang="en-US" sz="800" dirty="0">
                <a:solidFill>
                  <a:srgbClr val="1A1A2E"/>
                </a:solidFill>
              </a:rPr>
              <a:t>Data carving uses file signatures (magic bytes) to locate and extract files from raw images when directory entries are absent or overwritten by deletion.</a:t>
            </a:r>
            <a:endParaRPr lang="en-US" sz="800" dirty="0"/>
          </a:p>
        </p:txBody>
      </p:sp>
      <p:sp>
        <p:nvSpPr>
          <p:cNvPr id="34" name="Shape 32"/>
          <p:cNvSpPr/>
          <p:nvPr/>
        </p:nvSpPr>
        <p:spPr>
          <a:xfrm>
            <a:off x="4690872" y="2596896"/>
            <a:ext cx="4133088" cy="420624"/>
          </a:xfrm>
          <a:prstGeom prst="rect">
            <a:avLst/>
          </a:prstGeom>
          <a:solidFill>
            <a:srgbClr val="EEF6FB"/>
          </a:solidFill>
          <a:ln w="12700">
            <a:solidFill>
              <a:srgbClr val="EEF6FB"/>
            </a:solidFill>
            <a:prstDash val="solid"/>
          </a:ln>
        </p:spPr>
        <p:txBody>
          <a:bodyPr/>
          <a:lstStyle/>
          <a:p>
            <a:endParaRPr lang="en-SG"/>
          </a:p>
        </p:txBody>
      </p:sp>
      <p:sp>
        <p:nvSpPr>
          <p:cNvPr id="35" name="Shape 33"/>
          <p:cNvSpPr/>
          <p:nvPr/>
        </p:nvSpPr>
        <p:spPr>
          <a:xfrm>
            <a:off x="4690872" y="2596896"/>
            <a:ext cx="347472" cy="420624"/>
          </a:xfrm>
          <a:prstGeom prst="rect">
            <a:avLst/>
          </a:prstGeom>
          <a:solidFill>
            <a:srgbClr val="F4A261"/>
          </a:solidFill>
          <a:ln w="12700">
            <a:solidFill>
              <a:srgbClr val="F4A261"/>
            </a:solidFill>
            <a:prstDash val="solid"/>
          </a:ln>
        </p:spPr>
        <p:txBody>
          <a:bodyPr/>
          <a:lstStyle/>
          <a:p>
            <a:endParaRPr lang="en-SG"/>
          </a:p>
        </p:txBody>
      </p:sp>
      <p:sp>
        <p:nvSpPr>
          <p:cNvPr id="36" name="Text 34"/>
          <p:cNvSpPr/>
          <p:nvPr/>
        </p:nvSpPr>
        <p:spPr>
          <a:xfrm>
            <a:off x="4690872" y="2596896"/>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08</a:t>
            </a:r>
            <a:endParaRPr lang="en-US" sz="900" dirty="0"/>
          </a:p>
        </p:txBody>
      </p:sp>
      <p:sp>
        <p:nvSpPr>
          <p:cNvPr id="37" name="Text 35"/>
          <p:cNvSpPr/>
          <p:nvPr/>
        </p:nvSpPr>
        <p:spPr>
          <a:xfrm>
            <a:off x="5111496" y="2633472"/>
            <a:ext cx="3639312" cy="347472"/>
          </a:xfrm>
          <a:prstGeom prst="rect">
            <a:avLst/>
          </a:prstGeom>
          <a:noFill/>
          <a:ln/>
        </p:spPr>
        <p:txBody>
          <a:bodyPr wrap="square" lIns="0" tIns="0" rIns="0" bIns="0" rtlCol="0" anchor="ctr"/>
          <a:lstStyle/>
          <a:p>
            <a:pPr marL="0" indent="0">
              <a:buNone/>
            </a:pPr>
            <a:r>
              <a:rPr lang="en-US" sz="800" dirty="0">
                <a:solidFill>
                  <a:srgbClr val="1A1A2E"/>
                </a:solidFill>
              </a:rPr>
              <a:t>Linux forensic suites (Autopsy/TSK, SANS SIFT, CAINE) provide comprehensive, free platforms suitable for both training and production investigations.</a:t>
            </a:r>
            <a:endParaRPr lang="en-US" sz="800" dirty="0"/>
          </a:p>
        </p:txBody>
      </p:sp>
      <p:sp>
        <p:nvSpPr>
          <p:cNvPr id="38" name="Shape 36"/>
          <p:cNvSpPr/>
          <p:nvPr/>
        </p:nvSpPr>
        <p:spPr>
          <a:xfrm>
            <a:off x="320040" y="3081528"/>
            <a:ext cx="4133088" cy="420624"/>
          </a:xfrm>
          <a:prstGeom prst="rect">
            <a:avLst/>
          </a:prstGeom>
          <a:solidFill>
            <a:srgbClr val="EEF6FB"/>
          </a:solidFill>
          <a:ln w="12700">
            <a:solidFill>
              <a:srgbClr val="EEF6FB"/>
            </a:solidFill>
            <a:prstDash val="solid"/>
          </a:ln>
        </p:spPr>
        <p:txBody>
          <a:bodyPr/>
          <a:lstStyle/>
          <a:p>
            <a:endParaRPr lang="en-SG"/>
          </a:p>
        </p:txBody>
      </p:sp>
      <p:sp>
        <p:nvSpPr>
          <p:cNvPr id="39" name="Shape 37"/>
          <p:cNvSpPr/>
          <p:nvPr/>
        </p:nvSpPr>
        <p:spPr>
          <a:xfrm>
            <a:off x="320040" y="3081528"/>
            <a:ext cx="347472" cy="420624"/>
          </a:xfrm>
          <a:prstGeom prst="rect">
            <a:avLst/>
          </a:prstGeom>
          <a:solidFill>
            <a:srgbClr val="2ECC71"/>
          </a:solidFill>
          <a:ln w="12700">
            <a:solidFill>
              <a:srgbClr val="2ECC71"/>
            </a:solidFill>
            <a:prstDash val="solid"/>
          </a:ln>
        </p:spPr>
        <p:txBody>
          <a:bodyPr/>
          <a:lstStyle/>
          <a:p>
            <a:endParaRPr lang="en-SG"/>
          </a:p>
        </p:txBody>
      </p:sp>
      <p:sp>
        <p:nvSpPr>
          <p:cNvPr id="40" name="Text 38"/>
          <p:cNvSpPr/>
          <p:nvPr/>
        </p:nvSpPr>
        <p:spPr>
          <a:xfrm>
            <a:off x="320040" y="3081528"/>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09</a:t>
            </a:r>
            <a:endParaRPr lang="en-US" sz="900" dirty="0"/>
          </a:p>
        </p:txBody>
      </p:sp>
      <p:sp>
        <p:nvSpPr>
          <p:cNvPr id="41" name="Text 39"/>
          <p:cNvSpPr/>
          <p:nvPr/>
        </p:nvSpPr>
        <p:spPr>
          <a:xfrm>
            <a:off x="740664" y="3118104"/>
            <a:ext cx="3639312" cy="347472"/>
          </a:xfrm>
          <a:prstGeom prst="rect">
            <a:avLst/>
          </a:prstGeom>
          <a:noFill/>
          <a:ln/>
        </p:spPr>
        <p:txBody>
          <a:bodyPr wrap="square" lIns="0" tIns="0" rIns="0" bIns="0" rtlCol="0" anchor="ctr"/>
          <a:lstStyle/>
          <a:p>
            <a:pPr marL="0" indent="0">
              <a:buNone/>
            </a:pPr>
            <a:r>
              <a:rPr lang="en-US" sz="800" dirty="0">
                <a:solidFill>
                  <a:srgbClr val="1A1A2E"/>
                </a:solidFill>
              </a:rPr>
              <a:t>Windows GUI tools (FTK, EnCase, Autopsy) simplify complex analysis but require more resources — analysts should not become dependent on any single tool.</a:t>
            </a:r>
            <a:endParaRPr lang="en-US" sz="800" dirty="0"/>
          </a:p>
        </p:txBody>
      </p:sp>
      <p:sp>
        <p:nvSpPr>
          <p:cNvPr id="42" name="Shape 40"/>
          <p:cNvSpPr/>
          <p:nvPr/>
        </p:nvSpPr>
        <p:spPr>
          <a:xfrm>
            <a:off x="4690872" y="3081528"/>
            <a:ext cx="4133088" cy="420624"/>
          </a:xfrm>
          <a:prstGeom prst="rect">
            <a:avLst/>
          </a:prstGeom>
          <a:solidFill>
            <a:srgbClr val="EEF6FB"/>
          </a:solidFill>
          <a:ln w="12700">
            <a:solidFill>
              <a:srgbClr val="EEF6FB"/>
            </a:solidFill>
            <a:prstDash val="solid"/>
          </a:ln>
        </p:spPr>
        <p:txBody>
          <a:bodyPr/>
          <a:lstStyle/>
          <a:p>
            <a:endParaRPr lang="en-SG"/>
          </a:p>
        </p:txBody>
      </p:sp>
      <p:sp>
        <p:nvSpPr>
          <p:cNvPr id="43" name="Shape 41"/>
          <p:cNvSpPr/>
          <p:nvPr/>
        </p:nvSpPr>
        <p:spPr>
          <a:xfrm>
            <a:off x="4690872" y="3081528"/>
            <a:ext cx="347472" cy="420624"/>
          </a:xfrm>
          <a:prstGeom prst="rect">
            <a:avLst/>
          </a:prstGeom>
          <a:solidFill>
            <a:srgbClr val="F1C40F"/>
          </a:solidFill>
          <a:ln w="12700">
            <a:solidFill>
              <a:srgbClr val="F1C40F"/>
            </a:solidFill>
            <a:prstDash val="solid"/>
          </a:ln>
        </p:spPr>
        <p:txBody>
          <a:bodyPr/>
          <a:lstStyle/>
          <a:p>
            <a:endParaRPr lang="en-SG"/>
          </a:p>
        </p:txBody>
      </p:sp>
      <p:sp>
        <p:nvSpPr>
          <p:cNvPr id="44" name="Text 42"/>
          <p:cNvSpPr/>
          <p:nvPr/>
        </p:nvSpPr>
        <p:spPr>
          <a:xfrm>
            <a:off x="4690872" y="3081528"/>
            <a:ext cx="347472" cy="420624"/>
          </a:xfrm>
          <a:prstGeom prst="rect">
            <a:avLst/>
          </a:prstGeom>
          <a:noFill/>
          <a:ln/>
        </p:spPr>
        <p:txBody>
          <a:bodyPr wrap="square" lIns="0" tIns="0" rIns="0" bIns="0" rtlCol="0" anchor="ctr"/>
          <a:lstStyle/>
          <a:p>
            <a:pPr marL="0" indent="0" algn="ctr">
              <a:buNone/>
            </a:pPr>
            <a:r>
              <a:rPr lang="en-US" sz="900" b="1" dirty="0">
                <a:solidFill>
                  <a:srgbClr val="0D1B2A"/>
                </a:solidFill>
              </a:rPr>
              <a:t>10</a:t>
            </a:r>
            <a:endParaRPr lang="en-US" sz="900" dirty="0"/>
          </a:p>
        </p:txBody>
      </p:sp>
      <p:sp>
        <p:nvSpPr>
          <p:cNvPr id="45" name="Text 43"/>
          <p:cNvSpPr/>
          <p:nvPr/>
        </p:nvSpPr>
        <p:spPr>
          <a:xfrm>
            <a:off x="5111496" y="3118104"/>
            <a:ext cx="3639312" cy="347472"/>
          </a:xfrm>
          <a:prstGeom prst="rect">
            <a:avLst/>
          </a:prstGeom>
          <a:noFill/>
          <a:ln/>
        </p:spPr>
        <p:txBody>
          <a:bodyPr wrap="square" lIns="0" tIns="0" rIns="0" bIns="0" rtlCol="0" anchor="ctr"/>
          <a:lstStyle/>
          <a:p>
            <a:pPr marL="0" indent="0">
              <a:buNone/>
            </a:pPr>
            <a:r>
              <a:rPr lang="en-US" sz="800" dirty="0">
                <a:solidFill>
                  <a:srgbClr val="1A1A2E"/>
                </a:solidFill>
              </a:rPr>
              <a:t>Always maintain a versioned software library of forensic tools — legacy cases may require specific versions to reproduce results or meet court requirements.</a:t>
            </a:r>
            <a:endParaRPr lang="en-US" sz="800" dirty="0"/>
          </a:p>
        </p:txBody>
      </p:sp>
      <p:sp>
        <p:nvSpPr>
          <p:cNvPr id="48" name="Text 46"/>
          <p:cNvSpPr/>
          <p:nvPr/>
        </p:nvSpPr>
        <p:spPr>
          <a:xfrm>
            <a:off x="5394960" y="4818888"/>
            <a:ext cx="3429000" cy="329184"/>
          </a:xfrm>
          <a:prstGeom prst="rect">
            <a:avLst/>
          </a:prstGeom>
          <a:noFill/>
          <a:ln/>
        </p:spPr>
        <p:txBody>
          <a:bodyPr wrap="square" lIns="0" tIns="0" rIns="0" bIns="0" rtlCol="0" anchor="ctr"/>
          <a:lstStyle/>
          <a:p>
            <a:pPr marL="0" indent="0" algn="r">
              <a:buNone/>
            </a:pPr>
            <a:r>
              <a:rPr lang="en-US" sz="850" i="1" dirty="0">
                <a:solidFill>
                  <a:srgbClr val="8899AA"/>
                </a:solidFill>
              </a:rPr>
              <a:t>Next: Lesson 6 — Mobile Device Forensics &amp; Evidence Acquisition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932688"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411480" y="164592"/>
            <a:ext cx="749808" cy="256032"/>
          </a:xfrm>
          <a:prstGeom prst="rect">
            <a:avLst/>
          </a:prstGeom>
          <a:noFill/>
          <a:ln/>
        </p:spPr>
        <p:txBody>
          <a:bodyPr wrap="square" lIns="0" tIns="0" rIns="0" bIns="0" rtlCol="0" anchor="ctr"/>
          <a:lstStyle/>
          <a:p>
            <a:pPr marL="0" indent="0">
              <a:buNone/>
            </a:pPr>
            <a:r>
              <a:rPr lang="en-US" sz="850" b="1" dirty="0">
                <a:solidFill>
                  <a:srgbClr val="0D1B2A"/>
                </a:solidFill>
              </a:rPr>
              <a:t>REFERENCES</a:t>
            </a:r>
            <a:endParaRPr lang="en-US" sz="850" dirty="0"/>
          </a:p>
        </p:txBody>
      </p:sp>
      <p:sp>
        <p:nvSpPr>
          <p:cNvPr id="4" name="Text 2"/>
          <p:cNvSpPr/>
          <p:nvPr/>
        </p:nvSpPr>
        <p:spPr>
          <a:xfrm>
            <a:off x="320040" y="475488"/>
            <a:ext cx="8503920" cy="640080"/>
          </a:xfrm>
          <a:prstGeom prst="rect">
            <a:avLst/>
          </a:prstGeom>
          <a:noFill/>
          <a:ln/>
        </p:spPr>
        <p:txBody>
          <a:bodyPr wrap="square" lIns="0" tIns="0" rIns="0" bIns="0" rtlCol="0" anchor="ctr"/>
          <a:lstStyle/>
          <a:p>
            <a:pPr marL="0" indent="0">
              <a:buNone/>
            </a:pPr>
            <a:r>
              <a:rPr lang="en-US" sz="2800" b="1" dirty="0">
                <a:solidFill>
                  <a:srgbClr val="1A1A2E"/>
                </a:solidFill>
              </a:rPr>
              <a:t>References &amp; Further Reading</a:t>
            </a:r>
            <a:endParaRPr lang="en-US" sz="2800" dirty="0"/>
          </a:p>
        </p:txBody>
      </p:sp>
      <p:sp>
        <p:nvSpPr>
          <p:cNvPr id="5" name="Shape 3"/>
          <p:cNvSpPr/>
          <p:nvPr/>
        </p:nvSpPr>
        <p:spPr>
          <a:xfrm>
            <a:off x="320040" y="1335024"/>
            <a:ext cx="8503920" cy="1335024"/>
          </a:xfrm>
          <a:prstGeom prst="rect">
            <a:avLst/>
          </a:prstGeom>
          <a:solidFill>
            <a:srgbClr val="EEF6FB"/>
          </a:solidFill>
          <a:ln w="12700">
            <a:solidFill>
              <a:srgbClr val="EEF6FB"/>
            </a:solidFill>
            <a:prstDash val="solid"/>
          </a:ln>
        </p:spPr>
        <p:txBody>
          <a:bodyPr/>
          <a:lstStyle/>
          <a:p>
            <a:endParaRPr lang="en-SG"/>
          </a:p>
        </p:txBody>
      </p:sp>
      <p:sp>
        <p:nvSpPr>
          <p:cNvPr id="6" name="Shape 4"/>
          <p:cNvSpPr/>
          <p:nvPr/>
        </p:nvSpPr>
        <p:spPr>
          <a:xfrm>
            <a:off x="320040" y="1335024"/>
            <a:ext cx="109728" cy="1335024"/>
          </a:xfrm>
          <a:prstGeom prst="rect">
            <a:avLst/>
          </a:prstGeom>
          <a:solidFill>
            <a:srgbClr val="00B4D8"/>
          </a:solidFill>
          <a:ln w="12700">
            <a:solidFill>
              <a:srgbClr val="00B4D8"/>
            </a:solidFill>
            <a:prstDash val="solid"/>
          </a:ln>
        </p:spPr>
        <p:txBody>
          <a:bodyPr/>
          <a:lstStyle/>
          <a:p>
            <a:endParaRPr lang="en-SG"/>
          </a:p>
        </p:txBody>
      </p:sp>
      <p:sp>
        <p:nvSpPr>
          <p:cNvPr id="7" name="Text 5"/>
          <p:cNvSpPr/>
          <p:nvPr/>
        </p:nvSpPr>
        <p:spPr>
          <a:xfrm>
            <a:off x="512064" y="1371600"/>
            <a:ext cx="8229600" cy="219456"/>
          </a:xfrm>
          <a:prstGeom prst="rect">
            <a:avLst/>
          </a:prstGeom>
          <a:noFill/>
          <a:ln/>
        </p:spPr>
        <p:txBody>
          <a:bodyPr wrap="square" lIns="0" tIns="0" rIns="0" bIns="0" rtlCol="0" anchor="ctr"/>
          <a:lstStyle/>
          <a:p>
            <a:pPr marL="0" indent="0">
              <a:buNone/>
            </a:pPr>
            <a:r>
              <a:rPr lang="en-US" sz="1000" b="1" dirty="0">
                <a:solidFill>
                  <a:srgbClr val="00B4D8"/>
                </a:solidFill>
              </a:rPr>
              <a:t>Core Texts</a:t>
            </a:r>
            <a:endParaRPr lang="en-US" sz="1000" dirty="0"/>
          </a:p>
        </p:txBody>
      </p:sp>
      <p:sp>
        <p:nvSpPr>
          <p:cNvPr id="8" name="Text 6"/>
          <p:cNvSpPr/>
          <p:nvPr/>
        </p:nvSpPr>
        <p:spPr>
          <a:xfrm>
            <a:off x="512064" y="1627632"/>
            <a:ext cx="8229600" cy="310896"/>
          </a:xfrm>
          <a:prstGeom prst="rect">
            <a:avLst/>
          </a:prstGeom>
          <a:noFill/>
          <a:ln/>
        </p:spPr>
        <p:txBody>
          <a:bodyPr wrap="square" lIns="0" tIns="0" rIns="0" bIns="0" rtlCol="0" anchor="ctr"/>
          <a:lstStyle/>
          <a:p>
            <a:pPr marL="0" indent="0">
              <a:buNone/>
            </a:pPr>
            <a:r>
              <a:rPr lang="en-US" sz="880" dirty="0">
                <a:solidFill>
                  <a:srgbClr val="1A1A2E"/>
                </a:solidFill>
              </a:rPr>
              <a:t>• Nelson, B., Phillips, A., &amp; Christopher, S. (2010). Guide to Computer Forensics and Investigations, 4th Edition. Cengage Learning.</a:t>
            </a:r>
            <a:endParaRPr lang="en-US" sz="880" dirty="0"/>
          </a:p>
        </p:txBody>
      </p:sp>
      <p:sp>
        <p:nvSpPr>
          <p:cNvPr id="9" name="Text 7"/>
          <p:cNvSpPr/>
          <p:nvPr/>
        </p:nvSpPr>
        <p:spPr>
          <a:xfrm>
            <a:off x="512064" y="1975104"/>
            <a:ext cx="8229600" cy="310896"/>
          </a:xfrm>
          <a:prstGeom prst="rect">
            <a:avLst/>
          </a:prstGeom>
          <a:noFill/>
          <a:ln/>
        </p:spPr>
        <p:txBody>
          <a:bodyPr wrap="square" lIns="0" tIns="0" rIns="0" bIns="0" rtlCol="0" anchor="ctr"/>
          <a:lstStyle/>
          <a:p>
            <a:pPr marL="0" indent="0">
              <a:buNone/>
            </a:pPr>
            <a:r>
              <a:rPr lang="en-US" sz="880" dirty="0">
                <a:solidFill>
                  <a:srgbClr val="1A1A2E"/>
                </a:solidFill>
              </a:rPr>
              <a:t>• Messier, R. (2015). Operating System Forensics. Syngress.</a:t>
            </a:r>
            <a:endParaRPr lang="en-US" sz="880" dirty="0"/>
          </a:p>
        </p:txBody>
      </p:sp>
      <p:sp>
        <p:nvSpPr>
          <p:cNvPr id="10" name="Text 8"/>
          <p:cNvSpPr/>
          <p:nvPr/>
        </p:nvSpPr>
        <p:spPr>
          <a:xfrm>
            <a:off x="512064" y="2322576"/>
            <a:ext cx="8229600" cy="310896"/>
          </a:xfrm>
          <a:prstGeom prst="rect">
            <a:avLst/>
          </a:prstGeom>
          <a:noFill/>
          <a:ln/>
        </p:spPr>
        <p:txBody>
          <a:bodyPr wrap="square" lIns="0" tIns="0" rIns="0" bIns="0" rtlCol="0" anchor="ctr"/>
          <a:lstStyle/>
          <a:p>
            <a:pPr marL="0" indent="0">
              <a:buNone/>
            </a:pPr>
            <a:r>
              <a:rPr lang="en-US" sz="880" dirty="0">
                <a:solidFill>
                  <a:srgbClr val="1A1A2E"/>
                </a:solidFill>
              </a:rPr>
              <a:t>• Carrier, B. (2005). File System Forensic Analysis. Addison-Wesley Professional.</a:t>
            </a:r>
            <a:endParaRPr lang="en-US" sz="880" dirty="0"/>
          </a:p>
        </p:txBody>
      </p:sp>
      <p:sp>
        <p:nvSpPr>
          <p:cNvPr id="11" name="Shape 9"/>
          <p:cNvSpPr/>
          <p:nvPr/>
        </p:nvSpPr>
        <p:spPr>
          <a:xfrm>
            <a:off x="320040" y="2761488"/>
            <a:ext cx="8503920" cy="969264"/>
          </a:xfrm>
          <a:prstGeom prst="rect">
            <a:avLst/>
          </a:prstGeom>
          <a:solidFill>
            <a:srgbClr val="EEF6FB"/>
          </a:solidFill>
          <a:ln w="12700">
            <a:solidFill>
              <a:srgbClr val="EEF6FB"/>
            </a:solidFill>
            <a:prstDash val="solid"/>
          </a:ln>
        </p:spPr>
        <p:txBody>
          <a:bodyPr/>
          <a:lstStyle/>
          <a:p>
            <a:endParaRPr lang="en-SG"/>
          </a:p>
        </p:txBody>
      </p:sp>
      <p:sp>
        <p:nvSpPr>
          <p:cNvPr id="12" name="Shape 10"/>
          <p:cNvSpPr/>
          <p:nvPr/>
        </p:nvSpPr>
        <p:spPr>
          <a:xfrm>
            <a:off x="320040" y="2761488"/>
            <a:ext cx="109728" cy="969264"/>
          </a:xfrm>
          <a:prstGeom prst="rect">
            <a:avLst/>
          </a:prstGeom>
          <a:solidFill>
            <a:srgbClr val="F4A261"/>
          </a:solidFill>
          <a:ln w="12700">
            <a:solidFill>
              <a:srgbClr val="F4A261"/>
            </a:solidFill>
            <a:prstDash val="solid"/>
          </a:ln>
        </p:spPr>
        <p:txBody>
          <a:bodyPr/>
          <a:lstStyle/>
          <a:p>
            <a:endParaRPr lang="en-SG"/>
          </a:p>
        </p:txBody>
      </p:sp>
      <p:sp>
        <p:nvSpPr>
          <p:cNvPr id="13" name="Text 11"/>
          <p:cNvSpPr/>
          <p:nvPr/>
        </p:nvSpPr>
        <p:spPr>
          <a:xfrm>
            <a:off x="512064" y="2798064"/>
            <a:ext cx="8229600" cy="219456"/>
          </a:xfrm>
          <a:prstGeom prst="rect">
            <a:avLst/>
          </a:prstGeom>
          <a:noFill/>
          <a:ln/>
        </p:spPr>
        <p:txBody>
          <a:bodyPr wrap="square" lIns="0" tIns="0" rIns="0" bIns="0" rtlCol="0" anchor="ctr"/>
          <a:lstStyle/>
          <a:p>
            <a:pPr marL="0" indent="0">
              <a:buNone/>
            </a:pPr>
            <a:r>
              <a:rPr lang="en-US" sz="1000" b="1" dirty="0">
                <a:solidFill>
                  <a:srgbClr val="F4A261"/>
                </a:solidFill>
              </a:rPr>
              <a:t>Professional Certifications</a:t>
            </a:r>
            <a:endParaRPr lang="en-US" sz="1000" dirty="0"/>
          </a:p>
        </p:txBody>
      </p:sp>
      <p:sp>
        <p:nvSpPr>
          <p:cNvPr id="14" name="Text 12"/>
          <p:cNvSpPr/>
          <p:nvPr/>
        </p:nvSpPr>
        <p:spPr>
          <a:xfrm>
            <a:off x="512064" y="3054096"/>
            <a:ext cx="8229600" cy="310896"/>
          </a:xfrm>
          <a:prstGeom prst="rect">
            <a:avLst/>
          </a:prstGeom>
          <a:noFill/>
          <a:ln/>
        </p:spPr>
        <p:txBody>
          <a:bodyPr wrap="square" lIns="0" tIns="0" rIns="0" bIns="0" rtlCol="0" anchor="ctr"/>
          <a:lstStyle/>
          <a:p>
            <a:pPr marL="0" indent="0">
              <a:buNone/>
            </a:pPr>
            <a:r>
              <a:rPr lang="en-US" sz="880" dirty="0">
                <a:solidFill>
                  <a:srgbClr val="1A1A2E"/>
                </a:solidFill>
              </a:rPr>
              <a:t>• Brooks, C. L. (2014). CHFI Computer Hacking Forensic Investigator Certification All-in-One Exam Guide. McGraw-Hill.</a:t>
            </a:r>
            <a:endParaRPr lang="en-US" sz="880" dirty="0"/>
          </a:p>
        </p:txBody>
      </p:sp>
      <p:sp>
        <p:nvSpPr>
          <p:cNvPr id="15" name="Text 13"/>
          <p:cNvSpPr/>
          <p:nvPr/>
        </p:nvSpPr>
        <p:spPr>
          <a:xfrm>
            <a:off x="512064" y="3401568"/>
            <a:ext cx="8229600" cy="310896"/>
          </a:xfrm>
          <a:prstGeom prst="rect">
            <a:avLst/>
          </a:prstGeom>
          <a:noFill/>
          <a:ln/>
        </p:spPr>
        <p:txBody>
          <a:bodyPr wrap="square" lIns="0" tIns="0" rIns="0" bIns="0" rtlCol="0" anchor="ctr"/>
          <a:lstStyle/>
          <a:p>
            <a:pPr marL="0" indent="0">
              <a:buNone/>
            </a:pPr>
            <a:r>
              <a:rPr lang="en-US" sz="880" dirty="0">
                <a:solidFill>
                  <a:srgbClr val="1A1A2E"/>
                </a:solidFill>
              </a:rPr>
              <a:t>• Kleiman, D. (2011). The Official CHFI Study Guide (Exam 312-49). Syngress.</a:t>
            </a:r>
            <a:endParaRPr lang="en-US" sz="880" dirty="0"/>
          </a:p>
        </p:txBody>
      </p:sp>
      <p:sp>
        <p:nvSpPr>
          <p:cNvPr id="16" name="Shape 14"/>
          <p:cNvSpPr/>
          <p:nvPr/>
        </p:nvSpPr>
        <p:spPr>
          <a:xfrm>
            <a:off x="320040" y="3822192"/>
            <a:ext cx="8503920" cy="1097280"/>
          </a:xfrm>
          <a:prstGeom prst="rect">
            <a:avLst/>
          </a:prstGeom>
          <a:solidFill>
            <a:srgbClr val="EEF6FB"/>
          </a:solidFill>
          <a:ln w="12700">
            <a:solidFill>
              <a:srgbClr val="EEF6FB"/>
            </a:solidFill>
            <a:prstDash val="solid"/>
          </a:ln>
        </p:spPr>
        <p:txBody>
          <a:bodyPr/>
          <a:lstStyle/>
          <a:p>
            <a:endParaRPr lang="en-SG"/>
          </a:p>
        </p:txBody>
      </p:sp>
      <p:sp>
        <p:nvSpPr>
          <p:cNvPr id="17" name="Shape 15"/>
          <p:cNvSpPr/>
          <p:nvPr/>
        </p:nvSpPr>
        <p:spPr>
          <a:xfrm>
            <a:off x="320040" y="3822192"/>
            <a:ext cx="109728" cy="1700784"/>
          </a:xfrm>
          <a:prstGeom prst="rect">
            <a:avLst/>
          </a:prstGeom>
          <a:solidFill>
            <a:srgbClr val="2ECC71"/>
          </a:solidFill>
          <a:ln w="12700">
            <a:solidFill>
              <a:srgbClr val="2ECC71"/>
            </a:solidFill>
            <a:prstDash val="solid"/>
          </a:ln>
        </p:spPr>
        <p:txBody>
          <a:bodyPr/>
          <a:lstStyle/>
          <a:p>
            <a:endParaRPr lang="en-SG"/>
          </a:p>
        </p:txBody>
      </p:sp>
      <p:sp>
        <p:nvSpPr>
          <p:cNvPr id="18" name="Text 16"/>
          <p:cNvSpPr/>
          <p:nvPr/>
        </p:nvSpPr>
        <p:spPr>
          <a:xfrm>
            <a:off x="512064" y="3858768"/>
            <a:ext cx="8229600" cy="219456"/>
          </a:xfrm>
          <a:prstGeom prst="rect">
            <a:avLst/>
          </a:prstGeom>
          <a:noFill/>
          <a:ln/>
        </p:spPr>
        <p:txBody>
          <a:bodyPr wrap="square" lIns="0" tIns="0" rIns="0" bIns="0" rtlCol="0" anchor="ctr"/>
          <a:lstStyle/>
          <a:p>
            <a:pPr marL="0" indent="0">
              <a:buNone/>
            </a:pPr>
            <a:r>
              <a:rPr lang="en-US" sz="1000" b="1" dirty="0">
                <a:solidFill>
                  <a:srgbClr val="2ECC71"/>
                </a:solidFill>
              </a:rPr>
              <a:t>Online Resources</a:t>
            </a:r>
            <a:endParaRPr lang="en-US" sz="1000" dirty="0"/>
          </a:p>
        </p:txBody>
      </p:sp>
      <p:sp>
        <p:nvSpPr>
          <p:cNvPr id="19" name="Text 17"/>
          <p:cNvSpPr/>
          <p:nvPr/>
        </p:nvSpPr>
        <p:spPr>
          <a:xfrm>
            <a:off x="512064" y="4114800"/>
            <a:ext cx="8229600" cy="310896"/>
          </a:xfrm>
          <a:prstGeom prst="rect">
            <a:avLst/>
          </a:prstGeom>
          <a:noFill/>
          <a:ln/>
        </p:spPr>
        <p:txBody>
          <a:bodyPr wrap="square" lIns="0" tIns="0" rIns="0" bIns="0" rtlCol="0" anchor="ctr"/>
          <a:lstStyle/>
          <a:p>
            <a:pPr marL="0" indent="0">
              <a:buNone/>
            </a:pPr>
            <a:r>
              <a:rPr lang="en-US" sz="880" dirty="0">
                <a:solidFill>
                  <a:srgbClr val="1A1A2E"/>
                </a:solidFill>
              </a:rPr>
              <a:t>• The Sleuth Kit &amp; Autopsy: https://www.sleuthkit.org</a:t>
            </a:r>
            <a:endParaRPr lang="en-US" sz="880" dirty="0"/>
          </a:p>
        </p:txBody>
      </p:sp>
      <p:sp>
        <p:nvSpPr>
          <p:cNvPr id="20" name="Text 18"/>
          <p:cNvSpPr/>
          <p:nvPr/>
        </p:nvSpPr>
        <p:spPr>
          <a:xfrm>
            <a:off x="512064" y="4462272"/>
            <a:ext cx="8229600" cy="310896"/>
          </a:xfrm>
          <a:prstGeom prst="rect">
            <a:avLst/>
          </a:prstGeom>
          <a:noFill/>
          <a:ln/>
        </p:spPr>
        <p:txBody>
          <a:bodyPr wrap="square" lIns="0" tIns="0" rIns="0" bIns="0" rtlCol="0" anchor="ctr"/>
          <a:lstStyle/>
          <a:p>
            <a:pPr marL="0" indent="0">
              <a:buNone/>
            </a:pPr>
            <a:r>
              <a:rPr lang="en-US" sz="880" dirty="0">
                <a:solidFill>
                  <a:srgbClr val="1A1A2E"/>
                </a:solidFill>
              </a:rPr>
              <a:t>• SANS SIFT Workstation: https://www.sans.org/tools/sift-workstation</a:t>
            </a:r>
            <a:endParaRPr lang="en-US" sz="880" dirty="0"/>
          </a:p>
        </p:txBody>
      </p:sp>
      <p:sp>
        <p:nvSpPr>
          <p:cNvPr id="21" name="Text 19"/>
          <p:cNvSpPr/>
          <p:nvPr/>
        </p:nvSpPr>
        <p:spPr>
          <a:xfrm>
            <a:off x="512064" y="4809744"/>
            <a:ext cx="8229600" cy="310896"/>
          </a:xfrm>
          <a:prstGeom prst="rect">
            <a:avLst/>
          </a:prstGeom>
          <a:noFill/>
          <a:ln/>
        </p:spPr>
        <p:txBody>
          <a:bodyPr wrap="square" lIns="0" tIns="0" rIns="0" bIns="0" rtlCol="0" anchor="ctr"/>
          <a:lstStyle/>
          <a:p>
            <a:pPr marL="0" indent="0">
              <a:buNone/>
            </a:pPr>
            <a:r>
              <a:rPr lang="en-US" sz="880" dirty="0">
                <a:solidFill>
                  <a:srgbClr val="1A1A2E"/>
                </a:solidFill>
              </a:rPr>
              <a:t>• NIST NSRL: https://www.nist.gov/itl/ssd/software-quality-group/national-software-reference-library-nsrl</a:t>
            </a:r>
            <a:endParaRPr lang="en-US" sz="880" dirty="0"/>
          </a:p>
        </p:txBody>
      </p:sp>
      <p:sp>
        <p:nvSpPr>
          <p:cNvPr id="22" name="Text 20"/>
          <p:cNvSpPr/>
          <p:nvPr/>
        </p:nvSpPr>
        <p:spPr>
          <a:xfrm>
            <a:off x="4262663" y="4095583"/>
            <a:ext cx="8229600" cy="310896"/>
          </a:xfrm>
          <a:prstGeom prst="rect">
            <a:avLst/>
          </a:prstGeom>
          <a:noFill/>
          <a:ln/>
        </p:spPr>
        <p:txBody>
          <a:bodyPr wrap="square" lIns="0" tIns="0" rIns="0" bIns="0" rtlCol="0" anchor="ctr"/>
          <a:lstStyle/>
          <a:p>
            <a:pPr marL="0" indent="0">
              <a:buNone/>
            </a:pPr>
            <a:r>
              <a:rPr lang="en-US" sz="880" dirty="0">
                <a:solidFill>
                  <a:srgbClr val="1A1A2E"/>
                </a:solidFill>
              </a:rPr>
              <a:t>• CAINE Linux: https://www.caine-live.net</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732436f-90ae-4a0f-88e2-b128265cf4b3">
      <Terms xmlns="http://schemas.microsoft.com/office/infopath/2007/PartnerControls"/>
    </lcf76f155ced4ddcb4097134ff3c332f>
    <TaxCatchAll xmlns="4b318d02-235f-4db9-ad34-20bb5fcc806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B12922E7882248BCC5AA3FA2F67AA5" ma:contentTypeVersion="21" ma:contentTypeDescription="Create a new document." ma:contentTypeScope="" ma:versionID="17eca64fb8526c6500046ce496af3705">
  <xsd:schema xmlns:xsd="http://www.w3.org/2001/XMLSchema" xmlns:xs="http://www.w3.org/2001/XMLSchema" xmlns:p="http://schemas.microsoft.com/office/2006/metadata/properties" xmlns:ns2="4b318d02-235f-4db9-ad34-20bb5fcc8063" xmlns:ns3="2732436f-90ae-4a0f-88e2-b128265cf4b3" targetNamespace="http://schemas.microsoft.com/office/2006/metadata/properties" ma:root="true" ma:fieldsID="0fc14c5fb12fcec4f3021900c42fd578" ns2:_="" ns3:_="">
    <xsd:import namespace="4b318d02-235f-4db9-ad34-20bb5fcc8063"/>
    <xsd:import namespace="2732436f-90ae-4a0f-88e2-b128265cf4b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318d02-235f-4db9-ad34-20bb5fcc8063"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7e268a5-46d0-4c07-95fc-ea0a071d2bd7}" ma:internalName="TaxCatchAll" ma:showField="CatchAllData" ma:web="4b318d02-235f-4db9-ad34-20bb5fcc806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32436f-90ae-4a0f-88e2-b128265cf4b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F2140B-2EF3-4D8E-B446-3EF9EA76CB61}">
  <ds:schemaRefs>
    <ds:schemaRef ds:uri="http://purl.org/dc/terms/"/>
    <ds:schemaRef ds:uri="3e3fafd7-318f-4e4d-809b-9691c39d9c6f"/>
    <ds:schemaRef ds:uri="http://www.w3.org/XML/1998/namespace"/>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B7ACE2C2-4032-4DCD-BA09-BFEE193C6897}"/>
</file>

<file path=customXml/itemProps3.xml><?xml version="1.0" encoding="utf-8"?>
<ds:datastoreItem xmlns:ds="http://schemas.openxmlformats.org/officeDocument/2006/customXml" ds:itemID="{EF62D200-EDE4-4578-BD5A-521160E493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32</TotalTime>
  <Words>5104</Words>
  <Application>Microsoft Office PowerPoint</Application>
  <PresentationFormat>On-screen Show (16:9)</PresentationFormat>
  <Paragraphs>657</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Digital Forensics Course</dc:creator>
  <cp:lastModifiedBy>Nur Shuhadah BINTE JALIL (TP)</cp:lastModifiedBy>
  <cp:revision>6</cp:revision>
  <dcterms:created xsi:type="dcterms:W3CDTF">2026-03-12T08:00:28Z</dcterms:created>
  <dcterms:modified xsi:type="dcterms:W3CDTF">2026-04-12T23:30:32Z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0x01010012B12922E7882248BCC5AA3FA2F67AA5</vt:lpwstr>
  </property>
  <property fmtid="{D5CDD505-2E9C-101B-9397-08002B2CF9AE}" pid="3" name="MSIP_Label_d528611d-fe69-484f-b56b-0db8a0d79612_Enabled">
    <vt:lpwstr>true</vt:lpwstr>
  </property>
  <property fmtid="{D5CDD505-2E9C-101B-9397-08002B2CF9AE}" pid="4" name="MSIP_Label_d528611d-fe69-484f-b56b-0db8a0d79612_SetDate">
    <vt:lpwstr>2026-04-09T02:19:13Z</vt:lpwstr>
  </property>
  <property fmtid="{D5CDD505-2E9C-101B-9397-08002B2CF9AE}" pid="5" name="MSIP_Label_d528611d-fe69-484f-b56b-0db8a0d79612_Method">
    <vt:lpwstr>Privileged</vt:lpwstr>
  </property>
  <property fmtid="{D5CDD505-2E9C-101B-9397-08002B2CF9AE}" pid="6" name="MSIP_Label_d528611d-fe69-484f-b56b-0db8a0d79612_Name">
    <vt:lpwstr>Public</vt:lpwstr>
  </property>
  <property fmtid="{D5CDD505-2E9C-101B-9397-08002B2CF9AE}" pid="7" name="MSIP_Label_d528611d-fe69-484f-b56b-0db8a0d79612_SiteId">
    <vt:lpwstr>25a99bf0-8e72-472a-ae50-adfbdf0df6f1</vt:lpwstr>
  </property>
  <property fmtid="{D5CDD505-2E9C-101B-9397-08002B2CF9AE}" pid="8" name="MSIP_Label_d528611d-fe69-484f-b56b-0db8a0d79612_ActionId">
    <vt:lpwstr>08fead3c-6345-4b8b-b0c5-e3541632f146</vt:lpwstr>
  </property>
  <property fmtid="{D5CDD505-2E9C-101B-9397-08002B2CF9AE}" pid="9" name="MSIP_Label_d528611d-fe69-484f-b56b-0db8a0d79612_ContentBits">
    <vt:lpwstr>0</vt:lpwstr>
  </property>
  <property fmtid="{D5CDD505-2E9C-101B-9397-08002B2CF9AE}" pid="10" name="MSIP_Label_d528611d-fe69-484f-b56b-0db8a0d79612_Tag">
    <vt:lpwstr>10, 0, 1, 1</vt:lpwstr>
  </property>
  <property fmtid="{D5CDD505-2E9C-101B-9397-08002B2CF9AE}" pid="11" name="Order">
    <vt:r8>160600</vt:r8>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ies>
</file>