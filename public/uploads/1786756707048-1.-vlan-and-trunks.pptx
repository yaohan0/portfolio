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3" r:id="rId18"/>
    <p:sldId id="275" r:id="rId19"/>
    <p:sldId id="274" r:id="rId20"/>
    <p:sldId id="276" r:id="rId21"/>
    <p:sldId id="277" r:id="rId22"/>
    <p:sldId id="278" r:id="rId23"/>
    <p:sldId id="279" r:id="rId24"/>
    <p:sldId id="280" r:id="rId25"/>
    <p:sldId id="27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PK LEONG (TP)" userId="111f5370-9e5f-4b91-8b88-3f16be600637" providerId="ADAL" clId="{CA7B8522-7A92-4AC6-8D4F-15A301616B66}"/>
    <pc:docChg chg="mod">
      <pc:chgData name="John PK LEONG (TP)" userId="111f5370-9e5f-4b91-8b88-3f16be600637" providerId="ADAL" clId="{CA7B8522-7A92-4AC6-8D4F-15A301616B66}" dt="2024-03-19T07:35:23.408" v="0" actId="33475"/>
      <pc:docMkLst>
        <pc:docMk/>
      </pc:docMkLst>
    </pc:docChg>
  </pc:docChgLst>
  <pc:docChgLst>
    <pc:chgData name="John PK LEONG (TP)" userId="111f5370-9e5f-4b91-8b88-3f16be600637" providerId="ADAL" clId="{70EE005C-5220-4B87-8AD6-FF070DD04F82}"/>
    <pc:docChg chg="modSld">
      <pc:chgData name="John PK LEONG (TP)" userId="111f5370-9e5f-4b91-8b88-3f16be600637" providerId="ADAL" clId="{70EE005C-5220-4B87-8AD6-FF070DD04F82}" dt="2024-03-20T00:28:51.597" v="37" actId="20577"/>
      <pc:docMkLst>
        <pc:docMk/>
      </pc:docMkLst>
      <pc:sldChg chg="modSp mod">
        <pc:chgData name="John PK LEONG (TP)" userId="111f5370-9e5f-4b91-8b88-3f16be600637" providerId="ADAL" clId="{70EE005C-5220-4B87-8AD6-FF070DD04F82}" dt="2024-03-20T00:27:51.124" v="13" actId="20577"/>
        <pc:sldMkLst>
          <pc:docMk/>
          <pc:sldMk cId="3224282945" sldId="268"/>
        </pc:sldMkLst>
        <pc:spChg chg="mod">
          <ac:chgData name="John PK LEONG (TP)" userId="111f5370-9e5f-4b91-8b88-3f16be600637" providerId="ADAL" clId="{70EE005C-5220-4B87-8AD6-FF070DD04F82}" dt="2024-03-20T00:27:51.124" v="13" actId="20577"/>
          <ac:spMkLst>
            <pc:docMk/>
            <pc:sldMk cId="3224282945" sldId="268"/>
            <ac:spMk id="2" creationId="{E8A92A4D-7D82-A731-BB81-A9CD2A55B378}"/>
          </ac:spMkLst>
        </pc:spChg>
      </pc:sldChg>
      <pc:sldChg chg="modSp mod">
        <pc:chgData name="John PK LEONG (TP)" userId="111f5370-9e5f-4b91-8b88-3f16be600637" providerId="ADAL" clId="{70EE005C-5220-4B87-8AD6-FF070DD04F82}" dt="2024-03-20T00:28:12.091" v="25" actId="20577"/>
        <pc:sldMkLst>
          <pc:docMk/>
          <pc:sldMk cId="3721722533" sldId="269"/>
        </pc:sldMkLst>
        <pc:spChg chg="mod">
          <ac:chgData name="John PK LEONG (TP)" userId="111f5370-9e5f-4b91-8b88-3f16be600637" providerId="ADAL" clId="{70EE005C-5220-4B87-8AD6-FF070DD04F82}" dt="2024-03-20T00:28:12.091" v="25" actId="20577"/>
          <ac:spMkLst>
            <pc:docMk/>
            <pc:sldMk cId="3721722533" sldId="269"/>
            <ac:spMk id="2" creationId="{3B87BF94-B626-4808-A8DA-7FD71A9700A0}"/>
          </ac:spMkLst>
        </pc:spChg>
      </pc:sldChg>
      <pc:sldChg chg="modSp mod">
        <pc:chgData name="John PK LEONG (TP)" userId="111f5370-9e5f-4b91-8b88-3f16be600637" providerId="ADAL" clId="{70EE005C-5220-4B87-8AD6-FF070DD04F82}" dt="2024-03-20T00:28:51.597" v="37" actId="20577"/>
        <pc:sldMkLst>
          <pc:docMk/>
          <pc:sldMk cId="3208628979" sldId="274"/>
        </pc:sldMkLst>
        <pc:spChg chg="mod">
          <ac:chgData name="John PK LEONG (TP)" userId="111f5370-9e5f-4b91-8b88-3f16be600637" providerId="ADAL" clId="{70EE005C-5220-4B87-8AD6-FF070DD04F82}" dt="2024-03-20T00:28:51.597" v="37" actId="20577"/>
          <ac:spMkLst>
            <pc:docMk/>
            <pc:sldMk cId="3208628979" sldId="274"/>
            <ac:spMk id="3" creationId="{AD73D76E-501C-DCD9-256F-9B45A49E9D0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2CF92-ADB8-1212-01A9-CDDB177529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E99DA60-9E7D-B9DA-07AA-B08387BD48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C2E0881-0936-CA34-671E-9E04EAA97F4E}"/>
              </a:ext>
            </a:extLst>
          </p:cNvPr>
          <p:cNvSpPr>
            <a:spLocks noGrp="1"/>
          </p:cNvSpPr>
          <p:nvPr>
            <p:ph type="dt" sz="half" idx="10"/>
          </p:nvPr>
        </p:nvSpPr>
        <p:spPr/>
        <p:txBody>
          <a:bodyPr/>
          <a:lstStyle/>
          <a:p>
            <a:fld id="{488EB34C-0FF0-4E06-B0FA-9D2D4174F5EE}" type="datetimeFigureOut">
              <a:rPr lang="en-US" smtClean="0"/>
              <a:t>3/20/2024</a:t>
            </a:fld>
            <a:endParaRPr lang="en-US"/>
          </a:p>
        </p:txBody>
      </p:sp>
      <p:sp>
        <p:nvSpPr>
          <p:cNvPr id="5" name="Footer Placeholder 4">
            <a:extLst>
              <a:ext uri="{FF2B5EF4-FFF2-40B4-BE49-F238E27FC236}">
                <a16:creationId xmlns:a16="http://schemas.microsoft.com/office/drawing/2014/main" id="{21DFFDB3-65FD-25A2-56FB-FBB0347123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E9723F-BF05-52F2-18C6-7A80EC11FA6B}"/>
              </a:ext>
            </a:extLst>
          </p:cNvPr>
          <p:cNvSpPr>
            <a:spLocks noGrp="1"/>
          </p:cNvSpPr>
          <p:nvPr>
            <p:ph type="sldNum" sz="quarter" idx="12"/>
          </p:nvPr>
        </p:nvSpPr>
        <p:spPr/>
        <p:txBody>
          <a:bodyPr/>
          <a:lstStyle/>
          <a:p>
            <a:fld id="{5052BD34-F88F-4838-BA3B-6DCF82B6613B}" type="slidenum">
              <a:rPr lang="en-US" smtClean="0"/>
              <a:t>‹#›</a:t>
            </a:fld>
            <a:endParaRPr lang="en-US"/>
          </a:p>
        </p:txBody>
      </p:sp>
    </p:spTree>
    <p:extLst>
      <p:ext uri="{BB962C8B-B14F-4D97-AF65-F5344CB8AC3E}">
        <p14:creationId xmlns:p14="http://schemas.microsoft.com/office/powerpoint/2010/main" val="1120522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1C703-FCCC-9AE0-945A-499B793D14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46E00E-4059-51EB-1CA2-FC5E07FE98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479C31-70C1-EB2C-7A99-E10DA6180CA4}"/>
              </a:ext>
            </a:extLst>
          </p:cNvPr>
          <p:cNvSpPr>
            <a:spLocks noGrp="1"/>
          </p:cNvSpPr>
          <p:nvPr>
            <p:ph type="dt" sz="half" idx="10"/>
          </p:nvPr>
        </p:nvSpPr>
        <p:spPr/>
        <p:txBody>
          <a:bodyPr/>
          <a:lstStyle/>
          <a:p>
            <a:fld id="{488EB34C-0FF0-4E06-B0FA-9D2D4174F5EE}" type="datetimeFigureOut">
              <a:rPr lang="en-US" smtClean="0"/>
              <a:t>3/20/2024</a:t>
            </a:fld>
            <a:endParaRPr lang="en-US"/>
          </a:p>
        </p:txBody>
      </p:sp>
      <p:sp>
        <p:nvSpPr>
          <p:cNvPr id="5" name="Footer Placeholder 4">
            <a:extLst>
              <a:ext uri="{FF2B5EF4-FFF2-40B4-BE49-F238E27FC236}">
                <a16:creationId xmlns:a16="http://schemas.microsoft.com/office/drawing/2014/main" id="{33083147-D814-F434-7B49-882CABB368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048FAD-5230-30DA-C72D-D59F434472D1}"/>
              </a:ext>
            </a:extLst>
          </p:cNvPr>
          <p:cNvSpPr>
            <a:spLocks noGrp="1"/>
          </p:cNvSpPr>
          <p:nvPr>
            <p:ph type="sldNum" sz="quarter" idx="12"/>
          </p:nvPr>
        </p:nvSpPr>
        <p:spPr/>
        <p:txBody>
          <a:bodyPr/>
          <a:lstStyle/>
          <a:p>
            <a:fld id="{5052BD34-F88F-4838-BA3B-6DCF82B6613B}" type="slidenum">
              <a:rPr lang="en-US" smtClean="0"/>
              <a:t>‹#›</a:t>
            </a:fld>
            <a:endParaRPr lang="en-US"/>
          </a:p>
        </p:txBody>
      </p:sp>
    </p:spTree>
    <p:extLst>
      <p:ext uri="{BB962C8B-B14F-4D97-AF65-F5344CB8AC3E}">
        <p14:creationId xmlns:p14="http://schemas.microsoft.com/office/powerpoint/2010/main" val="2102872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DCF5D-B78D-A4D4-414E-9238B01459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1B0FE83-FA40-EC77-4F28-411ED99E47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D13C90-EB27-D459-0215-B13E07E03A71}"/>
              </a:ext>
            </a:extLst>
          </p:cNvPr>
          <p:cNvSpPr>
            <a:spLocks noGrp="1"/>
          </p:cNvSpPr>
          <p:nvPr>
            <p:ph type="dt" sz="half" idx="10"/>
          </p:nvPr>
        </p:nvSpPr>
        <p:spPr/>
        <p:txBody>
          <a:bodyPr/>
          <a:lstStyle/>
          <a:p>
            <a:fld id="{488EB34C-0FF0-4E06-B0FA-9D2D4174F5EE}" type="datetimeFigureOut">
              <a:rPr lang="en-US" smtClean="0"/>
              <a:t>3/20/2024</a:t>
            </a:fld>
            <a:endParaRPr lang="en-US"/>
          </a:p>
        </p:txBody>
      </p:sp>
      <p:sp>
        <p:nvSpPr>
          <p:cNvPr id="5" name="Footer Placeholder 4">
            <a:extLst>
              <a:ext uri="{FF2B5EF4-FFF2-40B4-BE49-F238E27FC236}">
                <a16:creationId xmlns:a16="http://schemas.microsoft.com/office/drawing/2014/main" id="{0FEB6AB4-A625-28F7-73E9-63AAF77978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78C9BA-E6BB-0D6A-5EE3-AB393F6745A3}"/>
              </a:ext>
            </a:extLst>
          </p:cNvPr>
          <p:cNvSpPr>
            <a:spLocks noGrp="1"/>
          </p:cNvSpPr>
          <p:nvPr>
            <p:ph type="sldNum" sz="quarter" idx="12"/>
          </p:nvPr>
        </p:nvSpPr>
        <p:spPr/>
        <p:txBody>
          <a:bodyPr/>
          <a:lstStyle/>
          <a:p>
            <a:fld id="{5052BD34-F88F-4838-BA3B-6DCF82B6613B}" type="slidenum">
              <a:rPr lang="en-US" smtClean="0"/>
              <a:t>‹#›</a:t>
            </a:fld>
            <a:endParaRPr lang="en-US"/>
          </a:p>
        </p:txBody>
      </p:sp>
    </p:spTree>
    <p:extLst>
      <p:ext uri="{BB962C8B-B14F-4D97-AF65-F5344CB8AC3E}">
        <p14:creationId xmlns:p14="http://schemas.microsoft.com/office/powerpoint/2010/main" val="2816789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0EB6D-71E7-CA92-B112-FA2EBC575B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33D71C-AD53-D831-1BA2-2203409B97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027E33-E3E1-D178-CF03-6EB2370888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B90E11F-EE0B-87A1-A401-52780866C2FB}"/>
              </a:ext>
            </a:extLst>
          </p:cNvPr>
          <p:cNvSpPr>
            <a:spLocks noGrp="1"/>
          </p:cNvSpPr>
          <p:nvPr>
            <p:ph type="dt" sz="half" idx="10"/>
          </p:nvPr>
        </p:nvSpPr>
        <p:spPr/>
        <p:txBody>
          <a:bodyPr/>
          <a:lstStyle/>
          <a:p>
            <a:fld id="{488EB34C-0FF0-4E06-B0FA-9D2D4174F5EE}" type="datetimeFigureOut">
              <a:rPr lang="en-US" smtClean="0"/>
              <a:t>3/20/2024</a:t>
            </a:fld>
            <a:endParaRPr lang="en-US"/>
          </a:p>
        </p:txBody>
      </p:sp>
      <p:sp>
        <p:nvSpPr>
          <p:cNvPr id="6" name="Footer Placeholder 5">
            <a:extLst>
              <a:ext uri="{FF2B5EF4-FFF2-40B4-BE49-F238E27FC236}">
                <a16:creationId xmlns:a16="http://schemas.microsoft.com/office/drawing/2014/main" id="{DF95F002-5AB8-C10A-1E42-0CA798E2DA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31EDC0-3CAA-EB01-7A81-B58411880FF9}"/>
              </a:ext>
            </a:extLst>
          </p:cNvPr>
          <p:cNvSpPr>
            <a:spLocks noGrp="1"/>
          </p:cNvSpPr>
          <p:nvPr>
            <p:ph type="sldNum" sz="quarter" idx="12"/>
          </p:nvPr>
        </p:nvSpPr>
        <p:spPr/>
        <p:txBody>
          <a:bodyPr/>
          <a:lstStyle/>
          <a:p>
            <a:fld id="{5052BD34-F88F-4838-BA3B-6DCF82B6613B}" type="slidenum">
              <a:rPr lang="en-US" smtClean="0"/>
              <a:t>‹#›</a:t>
            </a:fld>
            <a:endParaRPr lang="en-US"/>
          </a:p>
        </p:txBody>
      </p:sp>
    </p:spTree>
    <p:extLst>
      <p:ext uri="{BB962C8B-B14F-4D97-AF65-F5344CB8AC3E}">
        <p14:creationId xmlns:p14="http://schemas.microsoft.com/office/powerpoint/2010/main" val="1527314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75766-672F-891E-0CD3-67284AC482B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93F1A7-AC66-697D-0D40-DE4BE4989F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7559BF-0EED-4659-DDB5-681A3957D18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83C9B1-E572-4F62-4C27-DB2B2AC791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44B1EC-A8B6-E558-4032-773E6C21BC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B99B591-ECDB-9A27-DAD9-F74FBAEDE441}"/>
              </a:ext>
            </a:extLst>
          </p:cNvPr>
          <p:cNvSpPr>
            <a:spLocks noGrp="1"/>
          </p:cNvSpPr>
          <p:nvPr>
            <p:ph type="dt" sz="half" idx="10"/>
          </p:nvPr>
        </p:nvSpPr>
        <p:spPr/>
        <p:txBody>
          <a:bodyPr/>
          <a:lstStyle/>
          <a:p>
            <a:fld id="{488EB34C-0FF0-4E06-B0FA-9D2D4174F5EE}" type="datetimeFigureOut">
              <a:rPr lang="en-US" smtClean="0"/>
              <a:t>3/20/2024</a:t>
            </a:fld>
            <a:endParaRPr lang="en-US"/>
          </a:p>
        </p:txBody>
      </p:sp>
      <p:sp>
        <p:nvSpPr>
          <p:cNvPr id="8" name="Footer Placeholder 7">
            <a:extLst>
              <a:ext uri="{FF2B5EF4-FFF2-40B4-BE49-F238E27FC236}">
                <a16:creationId xmlns:a16="http://schemas.microsoft.com/office/drawing/2014/main" id="{12D71C10-B1FF-5D09-B5B4-375265BB6E3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3511945-63BE-8160-3822-2119EB27ACD2}"/>
              </a:ext>
            </a:extLst>
          </p:cNvPr>
          <p:cNvSpPr>
            <a:spLocks noGrp="1"/>
          </p:cNvSpPr>
          <p:nvPr>
            <p:ph type="sldNum" sz="quarter" idx="12"/>
          </p:nvPr>
        </p:nvSpPr>
        <p:spPr/>
        <p:txBody>
          <a:bodyPr/>
          <a:lstStyle/>
          <a:p>
            <a:fld id="{5052BD34-F88F-4838-BA3B-6DCF82B6613B}" type="slidenum">
              <a:rPr lang="en-US" smtClean="0"/>
              <a:t>‹#›</a:t>
            </a:fld>
            <a:endParaRPr lang="en-US"/>
          </a:p>
        </p:txBody>
      </p:sp>
    </p:spTree>
    <p:extLst>
      <p:ext uri="{BB962C8B-B14F-4D97-AF65-F5344CB8AC3E}">
        <p14:creationId xmlns:p14="http://schemas.microsoft.com/office/powerpoint/2010/main" val="30604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EF41C-75FB-D52E-AAA2-E1E52B3547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6941232-A5F2-18C1-1AFF-7D04D8F296FE}"/>
              </a:ext>
            </a:extLst>
          </p:cNvPr>
          <p:cNvSpPr>
            <a:spLocks noGrp="1"/>
          </p:cNvSpPr>
          <p:nvPr>
            <p:ph type="dt" sz="half" idx="10"/>
          </p:nvPr>
        </p:nvSpPr>
        <p:spPr/>
        <p:txBody>
          <a:bodyPr/>
          <a:lstStyle/>
          <a:p>
            <a:fld id="{488EB34C-0FF0-4E06-B0FA-9D2D4174F5EE}" type="datetimeFigureOut">
              <a:rPr lang="en-US" smtClean="0"/>
              <a:t>3/20/2024</a:t>
            </a:fld>
            <a:endParaRPr lang="en-US"/>
          </a:p>
        </p:txBody>
      </p:sp>
      <p:sp>
        <p:nvSpPr>
          <p:cNvPr id="4" name="Footer Placeholder 3">
            <a:extLst>
              <a:ext uri="{FF2B5EF4-FFF2-40B4-BE49-F238E27FC236}">
                <a16:creationId xmlns:a16="http://schemas.microsoft.com/office/drawing/2014/main" id="{581567F3-D122-BB4D-0864-B458EFC58A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A14821-8849-A246-6C4F-8BA1CF6FEDD3}"/>
              </a:ext>
            </a:extLst>
          </p:cNvPr>
          <p:cNvSpPr>
            <a:spLocks noGrp="1"/>
          </p:cNvSpPr>
          <p:nvPr>
            <p:ph type="sldNum" sz="quarter" idx="12"/>
          </p:nvPr>
        </p:nvSpPr>
        <p:spPr/>
        <p:txBody>
          <a:bodyPr/>
          <a:lstStyle/>
          <a:p>
            <a:fld id="{5052BD34-F88F-4838-BA3B-6DCF82B6613B}" type="slidenum">
              <a:rPr lang="en-US" smtClean="0"/>
              <a:t>‹#›</a:t>
            </a:fld>
            <a:endParaRPr lang="en-US"/>
          </a:p>
        </p:txBody>
      </p:sp>
    </p:spTree>
    <p:extLst>
      <p:ext uri="{BB962C8B-B14F-4D97-AF65-F5344CB8AC3E}">
        <p14:creationId xmlns:p14="http://schemas.microsoft.com/office/powerpoint/2010/main" val="1894418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05EBB8-277F-B6BB-8EBA-90A6599423BB}"/>
              </a:ext>
            </a:extLst>
          </p:cNvPr>
          <p:cNvSpPr>
            <a:spLocks noGrp="1"/>
          </p:cNvSpPr>
          <p:nvPr>
            <p:ph type="dt" sz="half" idx="10"/>
          </p:nvPr>
        </p:nvSpPr>
        <p:spPr/>
        <p:txBody>
          <a:bodyPr/>
          <a:lstStyle/>
          <a:p>
            <a:fld id="{488EB34C-0FF0-4E06-B0FA-9D2D4174F5EE}" type="datetimeFigureOut">
              <a:rPr lang="en-US" smtClean="0"/>
              <a:t>3/20/2024</a:t>
            </a:fld>
            <a:endParaRPr lang="en-US"/>
          </a:p>
        </p:txBody>
      </p:sp>
      <p:sp>
        <p:nvSpPr>
          <p:cNvPr id="3" name="Footer Placeholder 2">
            <a:extLst>
              <a:ext uri="{FF2B5EF4-FFF2-40B4-BE49-F238E27FC236}">
                <a16:creationId xmlns:a16="http://schemas.microsoft.com/office/drawing/2014/main" id="{470B8E82-CF29-7830-515D-5989C7E254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F1DF0F-BEC1-989C-C42C-6E325558BFC6}"/>
              </a:ext>
            </a:extLst>
          </p:cNvPr>
          <p:cNvSpPr>
            <a:spLocks noGrp="1"/>
          </p:cNvSpPr>
          <p:nvPr>
            <p:ph type="sldNum" sz="quarter" idx="12"/>
          </p:nvPr>
        </p:nvSpPr>
        <p:spPr/>
        <p:txBody>
          <a:bodyPr/>
          <a:lstStyle/>
          <a:p>
            <a:fld id="{5052BD34-F88F-4838-BA3B-6DCF82B6613B}" type="slidenum">
              <a:rPr lang="en-US" smtClean="0"/>
              <a:t>‹#›</a:t>
            </a:fld>
            <a:endParaRPr lang="en-US"/>
          </a:p>
        </p:txBody>
      </p:sp>
    </p:spTree>
    <p:extLst>
      <p:ext uri="{BB962C8B-B14F-4D97-AF65-F5344CB8AC3E}">
        <p14:creationId xmlns:p14="http://schemas.microsoft.com/office/powerpoint/2010/main" val="3239671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80791-6C91-5448-8359-A614F7A429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A4A9F6-D393-7208-8E44-8FBCC38679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BA2390-33F4-93B9-EDFB-230E41A604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C71567-9D6A-B720-6BDC-1C84E7825211}"/>
              </a:ext>
            </a:extLst>
          </p:cNvPr>
          <p:cNvSpPr>
            <a:spLocks noGrp="1"/>
          </p:cNvSpPr>
          <p:nvPr>
            <p:ph type="dt" sz="half" idx="10"/>
          </p:nvPr>
        </p:nvSpPr>
        <p:spPr/>
        <p:txBody>
          <a:bodyPr/>
          <a:lstStyle/>
          <a:p>
            <a:fld id="{488EB34C-0FF0-4E06-B0FA-9D2D4174F5EE}" type="datetimeFigureOut">
              <a:rPr lang="en-US" smtClean="0"/>
              <a:t>3/20/2024</a:t>
            </a:fld>
            <a:endParaRPr lang="en-US"/>
          </a:p>
        </p:txBody>
      </p:sp>
      <p:sp>
        <p:nvSpPr>
          <p:cNvPr id="6" name="Footer Placeholder 5">
            <a:extLst>
              <a:ext uri="{FF2B5EF4-FFF2-40B4-BE49-F238E27FC236}">
                <a16:creationId xmlns:a16="http://schemas.microsoft.com/office/drawing/2014/main" id="{AE1292BC-C3A2-A427-92C6-97CC59D432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62F13B-6B99-A541-8B94-89E656E81B99}"/>
              </a:ext>
            </a:extLst>
          </p:cNvPr>
          <p:cNvSpPr>
            <a:spLocks noGrp="1"/>
          </p:cNvSpPr>
          <p:nvPr>
            <p:ph type="sldNum" sz="quarter" idx="12"/>
          </p:nvPr>
        </p:nvSpPr>
        <p:spPr/>
        <p:txBody>
          <a:bodyPr/>
          <a:lstStyle/>
          <a:p>
            <a:fld id="{5052BD34-F88F-4838-BA3B-6DCF82B6613B}" type="slidenum">
              <a:rPr lang="en-US" smtClean="0"/>
              <a:t>‹#›</a:t>
            </a:fld>
            <a:endParaRPr lang="en-US"/>
          </a:p>
        </p:txBody>
      </p:sp>
    </p:spTree>
    <p:extLst>
      <p:ext uri="{BB962C8B-B14F-4D97-AF65-F5344CB8AC3E}">
        <p14:creationId xmlns:p14="http://schemas.microsoft.com/office/powerpoint/2010/main" val="1106347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C3BD1-C378-44A1-1CA8-D9A6355C73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626654-2D13-5A2E-13EF-F027CFE6D2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75D9DE5-4E1A-5EAC-7EA1-D5402B7C53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098250-8188-E41A-0C3E-399669DF22B4}"/>
              </a:ext>
            </a:extLst>
          </p:cNvPr>
          <p:cNvSpPr>
            <a:spLocks noGrp="1"/>
          </p:cNvSpPr>
          <p:nvPr>
            <p:ph type="dt" sz="half" idx="10"/>
          </p:nvPr>
        </p:nvSpPr>
        <p:spPr/>
        <p:txBody>
          <a:bodyPr/>
          <a:lstStyle/>
          <a:p>
            <a:fld id="{488EB34C-0FF0-4E06-B0FA-9D2D4174F5EE}" type="datetimeFigureOut">
              <a:rPr lang="en-US" smtClean="0"/>
              <a:t>3/20/2024</a:t>
            </a:fld>
            <a:endParaRPr lang="en-US"/>
          </a:p>
        </p:txBody>
      </p:sp>
      <p:sp>
        <p:nvSpPr>
          <p:cNvPr id="6" name="Footer Placeholder 5">
            <a:extLst>
              <a:ext uri="{FF2B5EF4-FFF2-40B4-BE49-F238E27FC236}">
                <a16:creationId xmlns:a16="http://schemas.microsoft.com/office/drawing/2014/main" id="{F2C91B2A-5478-285F-67E3-7B5EB5603B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166295-D7D8-0D37-1807-E9B63448A709}"/>
              </a:ext>
            </a:extLst>
          </p:cNvPr>
          <p:cNvSpPr>
            <a:spLocks noGrp="1"/>
          </p:cNvSpPr>
          <p:nvPr>
            <p:ph type="sldNum" sz="quarter" idx="12"/>
          </p:nvPr>
        </p:nvSpPr>
        <p:spPr/>
        <p:txBody>
          <a:bodyPr/>
          <a:lstStyle/>
          <a:p>
            <a:fld id="{5052BD34-F88F-4838-BA3B-6DCF82B6613B}" type="slidenum">
              <a:rPr lang="en-US" smtClean="0"/>
              <a:t>‹#›</a:t>
            </a:fld>
            <a:endParaRPr lang="en-US"/>
          </a:p>
        </p:txBody>
      </p:sp>
    </p:spTree>
    <p:extLst>
      <p:ext uri="{BB962C8B-B14F-4D97-AF65-F5344CB8AC3E}">
        <p14:creationId xmlns:p14="http://schemas.microsoft.com/office/powerpoint/2010/main" val="452819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070B8-A6A3-8125-E1FC-C9C6AD62C3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50F0D76-1363-7112-93A1-0F1BFE0550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A29AA6-C308-7F3E-0FA3-8004FBEA4AB9}"/>
              </a:ext>
            </a:extLst>
          </p:cNvPr>
          <p:cNvSpPr>
            <a:spLocks noGrp="1"/>
          </p:cNvSpPr>
          <p:nvPr>
            <p:ph type="dt" sz="half" idx="10"/>
          </p:nvPr>
        </p:nvSpPr>
        <p:spPr/>
        <p:txBody>
          <a:bodyPr/>
          <a:lstStyle/>
          <a:p>
            <a:fld id="{488EB34C-0FF0-4E06-B0FA-9D2D4174F5EE}" type="datetimeFigureOut">
              <a:rPr lang="en-US" smtClean="0"/>
              <a:t>3/20/2024</a:t>
            </a:fld>
            <a:endParaRPr lang="en-US"/>
          </a:p>
        </p:txBody>
      </p:sp>
      <p:sp>
        <p:nvSpPr>
          <p:cNvPr id="5" name="Footer Placeholder 4">
            <a:extLst>
              <a:ext uri="{FF2B5EF4-FFF2-40B4-BE49-F238E27FC236}">
                <a16:creationId xmlns:a16="http://schemas.microsoft.com/office/drawing/2014/main" id="{A60399DA-ABD3-8E85-A94C-6576E7D425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F8D2D3-FD4F-E3EE-FBBD-182F523CE351}"/>
              </a:ext>
            </a:extLst>
          </p:cNvPr>
          <p:cNvSpPr>
            <a:spLocks noGrp="1"/>
          </p:cNvSpPr>
          <p:nvPr>
            <p:ph type="sldNum" sz="quarter" idx="12"/>
          </p:nvPr>
        </p:nvSpPr>
        <p:spPr/>
        <p:txBody>
          <a:bodyPr/>
          <a:lstStyle/>
          <a:p>
            <a:fld id="{5052BD34-F88F-4838-BA3B-6DCF82B6613B}" type="slidenum">
              <a:rPr lang="en-US" smtClean="0"/>
              <a:t>‹#›</a:t>
            </a:fld>
            <a:endParaRPr lang="en-US"/>
          </a:p>
        </p:txBody>
      </p:sp>
    </p:spTree>
    <p:extLst>
      <p:ext uri="{BB962C8B-B14F-4D97-AF65-F5344CB8AC3E}">
        <p14:creationId xmlns:p14="http://schemas.microsoft.com/office/powerpoint/2010/main" val="2717746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335C4D-2834-9F2F-6A21-C3F9D05DD0C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7FE439-4B29-6C6B-A8FD-29D55929A7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F62757-8EE0-2ADB-83BB-DCBEB5D31A77}"/>
              </a:ext>
            </a:extLst>
          </p:cNvPr>
          <p:cNvSpPr>
            <a:spLocks noGrp="1"/>
          </p:cNvSpPr>
          <p:nvPr>
            <p:ph type="dt" sz="half" idx="10"/>
          </p:nvPr>
        </p:nvSpPr>
        <p:spPr/>
        <p:txBody>
          <a:bodyPr/>
          <a:lstStyle/>
          <a:p>
            <a:fld id="{488EB34C-0FF0-4E06-B0FA-9D2D4174F5EE}" type="datetimeFigureOut">
              <a:rPr lang="en-US" smtClean="0"/>
              <a:t>3/20/2024</a:t>
            </a:fld>
            <a:endParaRPr lang="en-US"/>
          </a:p>
        </p:txBody>
      </p:sp>
      <p:sp>
        <p:nvSpPr>
          <p:cNvPr id="5" name="Footer Placeholder 4">
            <a:extLst>
              <a:ext uri="{FF2B5EF4-FFF2-40B4-BE49-F238E27FC236}">
                <a16:creationId xmlns:a16="http://schemas.microsoft.com/office/drawing/2014/main" id="{6B37C214-CCB9-B01D-35B8-AD33F57894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7F6B28-1ABC-0C73-EAB8-9B31B5CB740C}"/>
              </a:ext>
            </a:extLst>
          </p:cNvPr>
          <p:cNvSpPr>
            <a:spLocks noGrp="1"/>
          </p:cNvSpPr>
          <p:nvPr>
            <p:ph type="sldNum" sz="quarter" idx="12"/>
          </p:nvPr>
        </p:nvSpPr>
        <p:spPr/>
        <p:txBody>
          <a:bodyPr/>
          <a:lstStyle/>
          <a:p>
            <a:fld id="{5052BD34-F88F-4838-BA3B-6DCF82B6613B}" type="slidenum">
              <a:rPr lang="en-US" smtClean="0"/>
              <a:t>‹#›</a:t>
            </a:fld>
            <a:endParaRPr lang="en-US"/>
          </a:p>
        </p:txBody>
      </p:sp>
    </p:spTree>
    <p:extLst>
      <p:ext uri="{BB962C8B-B14F-4D97-AF65-F5344CB8AC3E}">
        <p14:creationId xmlns:p14="http://schemas.microsoft.com/office/powerpoint/2010/main" val="4027456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1E0D72-6C9C-3A65-D11E-A13DB6135A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8011CC-F383-029D-97D2-1BDA28F20D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FB36BC-6527-5254-35AC-1F696FB19D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8EB34C-0FF0-4E06-B0FA-9D2D4174F5EE}" type="datetimeFigureOut">
              <a:rPr lang="en-US" smtClean="0"/>
              <a:t>3/20/2024</a:t>
            </a:fld>
            <a:endParaRPr lang="en-US"/>
          </a:p>
        </p:txBody>
      </p:sp>
      <p:sp>
        <p:nvSpPr>
          <p:cNvPr id="5" name="Footer Placeholder 4">
            <a:extLst>
              <a:ext uri="{FF2B5EF4-FFF2-40B4-BE49-F238E27FC236}">
                <a16:creationId xmlns:a16="http://schemas.microsoft.com/office/drawing/2014/main" id="{2E2C0C49-28F9-01F4-2538-F85871E736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81ADF3D-65D7-EC4E-CDC0-0C9451DBBB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52BD34-F88F-4838-BA3B-6DCF82B6613B}" type="slidenum">
              <a:rPr lang="en-US" smtClean="0"/>
              <a:t>‹#›</a:t>
            </a:fld>
            <a:endParaRPr lang="en-US"/>
          </a:p>
        </p:txBody>
      </p:sp>
    </p:spTree>
    <p:extLst>
      <p:ext uri="{BB962C8B-B14F-4D97-AF65-F5344CB8AC3E}">
        <p14:creationId xmlns:p14="http://schemas.microsoft.com/office/powerpoint/2010/main" val="3130146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28843-6018-784E-209F-CD57C2366BEA}"/>
              </a:ext>
            </a:extLst>
          </p:cNvPr>
          <p:cNvSpPr>
            <a:spLocks noGrp="1"/>
          </p:cNvSpPr>
          <p:nvPr>
            <p:ph type="ctrTitle"/>
          </p:nvPr>
        </p:nvSpPr>
        <p:spPr/>
        <p:txBody>
          <a:bodyPr/>
          <a:lstStyle/>
          <a:p>
            <a:r>
              <a:rPr lang="en-US" dirty="0"/>
              <a:t>VLANs &amp; TRUNKs</a:t>
            </a:r>
          </a:p>
        </p:txBody>
      </p:sp>
      <p:sp>
        <p:nvSpPr>
          <p:cNvPr id="3" name="Subtitle 2">
            <a:extLst>
              <a:ext uri="{FF2B5EF4-FFF2-40B4-BE49-F238E27FC236}">
                <a16:creationId xmlns:a16="http://schemas.microsoft.com/office/drawing/2014/main" id="{FCAE79C3-6051-20E9-7C8E-1242EF1FACC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800040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27265-291D-B4B1-0A2B-98EC31C8D26C}"/>
              </a:ext>
            </a:extLst>
          </p:cNvPr>
          <p:cNvSpPr>
            <a:spLocks noGrp="1"/>
          </p:cNvSpPr>
          <p:nvPr>
            <p:ph type="title"/>
          </p:nvPr>
        </p:nvSpPr>
        <p:spPr/>
        <p:txBody>
          <a:bodyPr/>
          <a:lstStyle/>
          <a:p>
            <a:r>
              <a:rPr lang="en-US" dirty="0"/>
              <a:t>What is VLAN?</a:t>
            </a:r>
          </a:p>
        </p:txBody>
      </p:sp>
      <p:sp>
        <p:nvSpPr>
          <p:cNvPr id="3" name="Content Placeholder 2">
            <a:extLst>
              <a:ext uri="{FF2B5EF4-FFF2-40B4-BE49-F238E27FC236}">
                <a16:creationId xmlns:a16="http://schemas.microsoft.com/office/drawing/2014/main" id="{E36ADFE5-6200-36F6-2FB1-F85314F40CA3}"/>
              </a:ext>
            </a:extLst>
          </p:cNvPr>
          <p:cNvSpPr>
            <a:spLocks noGrp="1"/>
          </p:cNvSpPr>
          <p:nvPr>
            <p:ph idx="1"/>
          </p:nvPr>
        </p:nvSpPr>
        <p:spPr/>
        <p:txBody>
          <a:bodyPr/>
          <a:lstStyle/>
          <a:p>
            <a:r>
              <a:rPr lang="en-US" b="0" i="0" dirty="0">
                <a:solidFill>
                  <a:srgbClr val="333333"/>
                </a:solidFill>
                <a:effectLst/>
                <a:latin typeface="Verdana" panose="020B0604030504040204" pitchFamily="34" charset="0"/>
              </a:rPr>
              <a:t>A virtual LAN (VLAN) is a group of networking devices in the same broadcast domain, logically</a:t>
            </a:r>
          </a:p>
          <a:p>
            <a:r>
              <a:rPr lang="en-US" b="0" i="0" dirty="0">
                <a:solidFill>
                  <a:srgbClr val="333333"/>
                </a:solidFill>
                <a:effectLst/>
                <a:latin typeface="Verdana" panose="020B0604030504040204" pitchFamily="34" charset="0"/>
              </a:rPr>
              <a:t>It means that the devices in the same VLAN may be widely separated in the network, both by geography and location. </a:t>
            </a:r>
          </a:p>
          <a:p>
            <a:r>
              <a:rPr lang="en-US" b="0" i="0" dirty="0">
                <a:solidFill>
                  <a:srgbClr val="333333"/>
                </a:solidFill>
                <a:effectLst/>
                <a:latin typeface="Verdana" panose="020B0604030504040204" pitchFamily="34" charset="0"/>
              </a:rPr>
              <a:t>VLANs logically segment the network into different broadcast domains so that packets are only switched between ports that are designated for the same VLAN.</a:t>
            </a:r>
            <a:endParaRPr lang="en-US" dirty="0"/>
          </a:p>
        </p:txBody>
      </p:sp>
    </p:spTree>
    <p:extLst>
      <p:ext uri="{BB962C8B-B14F-4D97-AF65-F5344CB8AC3E}">
        <p14:creationId xmlns:p14="http://schemas.microsoft.com/office/powerpoint/2010/main" val="1406022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41CA1-3476-61FF-5D12-4907D356CE02}"/>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5D5002BE-1EA3-AAA4-604F-C9EEE5186B84}"/>
              </a:ext>
            </a:extLst>
          </p:cNvPr>
          <p:cNvSpPr>
            <a:spLocks noGrp="1"/>
          </p:cNvSpPr>
          <p:nvPr>
            <p:ph idx="1"/>
          </p:nvPr>
        </p:nvSpPr>
        <p:spPr>
          <a:xfrm>
            <a:off x="838200" y="1293782"/>
            <a:ext cx="10515600" cy="4351338"/>
          </a:xfrm>
        </p:spPr>
        <p:txBody>
          <a:bodyPr>
            <a:normAutofit fontScale="70000" lnSpcReduction="20000"/>
          </a:bodyPr>
          <a:lstStyle/>
          <a:p>
            <a:r>
              <a:rPr lang="en-US" dirty="0">
                <a:solidFill>
                  <a:srgbClr val="333333"/>
                </a:solidFill>
                <a:latin typeface="Verdana" panose="020B0604030504040204" pitchFamily="34" charset="0"/>
              </a:rPr>
              <a:t>T</a:t>
            </a:r>
            <a:r>
              <a:rPr lang="en-US" b="0" i="0" dirty="0">
                <a:solidFill>
                  <a:srgbClr val="333333"/>
                </a:solidFill>
                <a:effectLst/>
                <a:latin typeface="Verdana" panose="020B0604030504040204" pitchFamily="34" charset="0"/>
              </a:rPr>
              <a:t>o understand the benefits of VLAN. Suppose you are working in a big company with many departments, some of them are SALES and TECHNICAL departments. </a:t>
            </a:r>
          </a:p>
          <a:p>
            <a:r>
              <a:rPr lang="en-US" b="0" i="0" dirty="0">
                <a:solidFill>
                  <a:srgbClr val="333333"/>
                </a:solidFill>
                <a:effectLst/>
                <a:latin typeface="Verdana" panose="020B0604030504040204" pitchFamily="34" charset="0"/>
              </a:rPr>
              <a:t>You are tasked to separate these departments so that each of them can only access specific resources in the company.</a:t>
            </a:r>
          </a:p>
          <a:p>
            <a:pPr algn="l"/>
            <a:r>
              <a:rPr lang="en-US" b="0" i="0" dirty="0">
                <a:solidFill>
                  <a:srgbClr val="333333"/>
                </a:solidFill>
                <a:effectLst/>
                <a:latin typeface="Verdana" panose="020B0604030504040204" pitchFamily="34" charset="0"/>
              </a:rPr>
              <a:t>This task is really easy, you think. </a:t>
            </a:r>
          </a:p>
          <a:p>
            <a:pPr algn="l"/>
            <a:r>
              <a:rPr lang="en-US" b="0" i="0" dirty="0">
                <a:solidFill>
                  <a:srgbClr val="333333"/>
                </a:solidFill>
                <a:effectLst/>
                <a:latin typeface="Verdana" panose="020B0604030504040204" pitchFamily="34" charset="0"/>
              </a:rPr>
              <a:t>To complete this task, you just need to use different networks for these departments and use access-list to allow/deny that network to a specific resource. </a:t>
            </a:r>
          </a:p>
          <a:p>
            <a:pPr algn="l"/>
            <a:r>
              <a:rPr lang="en-US" b="0" i="0" dirty="0">
                <a:solidFill>
                  <a:srgbClr val="333333"/>
                </a:solidFill>
                <a:effectLst/>
                <a:latin typeface="Verdana" panose="020B0604030504040204" pitchFamily="34" charset="0"/>
              </a:rPr>
              <a:t>For example, you assign network 192.168.1.0/24 for SALES and 192.168.2.0/24 for TECH. At the “Company router” you apply an access-list to filter traffic from these networks. </a:t>
            </a:r>
          </a:p>
          <a:p>
            <a:pPr algn="l"/>
            <a:r>
              <a:rPr lang="en-US" b="0" i="0" dirty="0">
                <a:solidFill>
                  <a:srgbClr val="333333"/>
                </a:solidFill>
                <a:effectLst/>
                <a:latin typeface="Verdana" panose="020B0604030504040204" pitchFamily="34" charset="0"/>
              </a:rPr>
              <a:t>Below is the topology of your network without VLANs:</a:t>
            </a:r>
          </a:p>
          <a:p>
            <a:pPr marL="0" indent="0" algn="l">
              <a:buNone/>
            </a:pPr>
            <a:br>
              <a:rPr lang="en-US" dirty="0"/>
            </a:br>
            <a:endParaRPr lang="en-US" dirty="0"/>
          </a:p>
        </p:txBody>
      </p:sp>
      <p:pic>
        <p:nvPicPr>
          <p:cNvPr id="4" name="Picture 3">
            <a:extLst>
              <a:ext uri="{FF2B5EF4-FFF2-40B4-BE49-F238E27FC236}">
                <a16:creationId xmlns:a16="http://schemas.microsoft.com/office/drawing/2014/main" id="{39ADC22D-B49D-44E7-A508-38A2831AF477}"/>
              </a:ext>
            </a:extLst>
          </p:cNvPr>
          <p:cNvPicPr>
            <a:picLocks noChangeAspect="1"/>
          </p:cNvPicPr>
          <p:nvPr/>
        </p:nvPicPr>
        <p:blipFill>
          <a:blip r:embed="rId2"/>
          <a:stretch>
            <a:fillRect/>
          </a:stretch>
        </p:blipFill>
        <p:spPr>
          <a:xfrm>
            <a:off x="3088412" y="4878352"/>
            <a:ext cx="5429250" cy="1905000"/>
          </a:xfrm>
          <a:prstGeom prst="rect">
            <a:avLst/>
          </a:prstGeom>
        </p:spPr>
      </p:pic>
    </p:spTree>
    <p:extLst>
      <p:ext uri="{BB962C8B-B14F-4D97-AF65-F5344CB8AC3E}">
        <p14:creationId xmlns:p14="http://schemas.microsoft.com/office/powerpoint/2010/main" val="4082618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C4C9F-B2AF-312D-8F98-4580BDD1B497}"/>
              </a:ext>
            </a:extLst>
          </p:cNvPr>
          <p:cNvSpPr>
            <a:spLocks noGrp="1"/>
          </p:cNvSpPr>
          <p:nvPr>
            <p:ph type="title"/>
          </p:nvPr>
        </p:nvSpPr>
        <p:spPr/>
        <p:txBody>
          <a:bodyPr/>
          <a:lstStyle/>
          <a:p>
            <a:r>
              <a:rPr lang="en-US" dirty="0"/>
              <a:t>Problems w/o VLANs</a:t>
            </a:r>
          </a:p>
        </p:txBody>
      </p:sp>
      <p:sp>
        <p:nvSpPr>
          <p:cNvPr id="3" name="Content Placeholder 2">
            <a:extLst>
              <a:ext uri="{FF2B5EF4-FFF2-40B4-BE49-F238E27FC236}">
                <a16:creationId xmlns:a16="http://schemas.microsoft.com/office/drawing/2014/main" id="{70A19181-CCA4-7CE6-A104-13C43E8B00E6}"/>
              </a:ext>
            </a:extLst>
          </p:cNvPr>
          <p:cNvSpPr>
            <a:spLocks noGrp="1"/>
          </p:cNvSpPr>
          <p:nvPr>
            <p:ph idx="1"/>
          </p:nvPr>
        </p:nvSpPr>
        <p:spPr/>
        <p:txBody>
          <a:bodyPr>
            <a:normAutofit fontScale="77500" lnSpcReduction="20000"/>
          </a:bodyPr>
          <a:lstStyle/>
          <a:p>
            <a:r>
              <a:rPr lang="en-US" b="0" i="0" dirty="0">
                <a:solidFill>
                  <a:srgbClr val="333333"/>
                </a:solidFill>
                <a:effectLst/>
                <a:latin typeface="Verdana" panose="020B0604030504040204" pitchFamily="34" charset="0"/>
              </a:rPr>
              <a:t>Everything looks good and you implement this design to your company. But after one month you receive many complaints from both your colleagues and leaders.</a:t>
            </a:r>
          </a:p>
          <a:p>
            <a:pPr marL="457200" lvl="1" indent="0">
              <a:buNone/>
            </a:pPr>
            <a:r>
              <a:rPr lang="en-US" b="0" i="0" dirty="0">
                <a:solidFill>
                  <a:srgbClr val="333333"/>
                </a:solidFill>
                <a:effectLst/>
                <a:latin typeface="Verdana" panose="020B0604030504040204" pitchFamily="34" charset="0"/>
              </a:rPr>
              <a:t>+ </a:t>
            </a:r>
            <a:r>
              <a:rPr lang="en-US" b="0" i="0" dirty="0">
                <a:solidFill>
                  <a:srgbClr val="333333"/>
                </a:solidFill>
                <a:effectLst/>
                <a:highlight>
                  <a:srgbClr val="FFFF00"/>
                </a:highlight>
                <a:latin typeface="Verdana" panose="020B0604030504040204" pitchFamily="34" charset="0"/>
              </a:rPr>
              <a:t>First</a:t>
            </a:r>
            <a:r>
              <a:rPr lang="en-US" b="0" i="0" dirty="0">
                <a:solidFill>
                  <a:srgbClr val="333333"/>
                </a:solidFill>
                <a:effectLst/>
                <a:latin typeface="Verdana" panose="020B0604030504040204" pitchFamily="34" charset="0"/>
              </a:rPr>
              <a:t>, your department leaders need to access to additional private resources which employees are not allowed.</a:t>
            </a:r>
            <a:br>
              <a:rPr lang="en-US" dirty="0"/>
            </a:br>
            <a:r>
              <a:rPr lang="en-US" b="0" i="0" dirty="0">
                <a:solidFill>
                  <a:srgbClr val="333333"/>
                </a:solidFill>
                <a:effectLst/>
                <a:latin typeface="Verdana" panose="020B0604030504040204" pitchFamily="34" charset="0"/>
              </a:rPr>
              <a:t>+ </a:t>
            </a:r>
            <a:r>
              <a:rPr lang="en-US" b="0" i="0" dirty="0">
                <a:solidFill>
                  <a:srgbClr val="333333"/>
                </a:solidFill>
                <a:effectLst/>
                <a:highlight>
                  <a:srgbClr val="00FF00"/>
                </a:highlight>
                <a:latin typeface="Verdana" panose="020B0604030504040204" pitchFamily="34" charset="0"/>
              </a:rPr>
              <a:t>Second</a:t>
            </a:r>
            <a:r>
              <a:rPr lang="en-US" b="0" i="0" dirty="0">
                <a:solidFill>
                  <a:srgbClr val="333333"/>
                </a:solidFill>
                <a:effectLst/>
                <a:latin typeface="Verdana" panose="020B0604030504040204" pitchFamily="34" charset="0"/>
              </a:rPr>
              <a:t>, the company has just recruited some new SALES employees but now the SALES room is full so they have to sit at the 1st floor (in the TECH area). They want to access to SALES resources but they can only access to the TECH resources because they are connecting to TECH switch.</a:t>
            </a:r>
          </a:p>
          <a:p>
            <a:pPr algn="l"/>
            <a:r>
              <a:rPr lang="en-US" b="0" i="0" dirty="0">
                <a:solidFill>
                  <a:srgbClr val="333333"/>
                </a:solidFill>
                <a:effectLst/>
                <a:latin typeface="Verdana" panose="020B0604030504040204" pitchFamily="34" charset="0"/>
              </a:rPr>
              <a:t>To solve the </a:t>
            </a:r>
            <a:r>
              <a:rPr lang="en-US" b="0" i="0" dirty="0">
                <a:solidFill>
                  <a:srgbClr val="333333"/>
                </a:solidFill>
                <a:effectLst/>
                <a:highlight>
                  <a:srgbClr val="FFFF00"/>
                </a:highlight>
                <a:latin typeface="Verdana" panose="020B0604030504040204" pitchFamily="34" charset="0"/>
              </a:rPr>
              <a:t>first</a:t>
            </a:r>
            <a:r>
              <a:rPr lang="en-US" b="0" i="0" dirty="0">
                <a:solidFill>
                  <a:srgbClr val="333333"/>
                </a:solidFill>
                <a:effectLst/>
                <a:latin typeface="Verdana" panose="020B0604030504040204" pitchFamily="34" charset="0"/>
              </a:rPr>
              <a:t> problem maybe you will create a new and more powerful network for your leaders. But notice that each leader sits at different floor so you will need to link all of them to a switch -&gt; what a mess!</a:t>
            </a:r>
          </a:p>
          <a:p>
            <a:pPr algn="l"/>
            <a:r>
              <a:rPr lang="en-US" b="0" i="0" dirty="0">
                <a:solidFill>
                  <a:srgbClr val="333333"/>
                </a:solidFill>
                <a:effectLst/>
                <a:latin typeface="Verdana" panose="020B0604030504040204" pitchFamily="34" charset="0"/>
              </a:rPr>
              <a:t>The </a:t>
            </a:r>
            <a:r>
              <a:rPr lang="en-US" b="0" i="0" dirty="0">
                <a:solidFill>
                  <a:srgbClr val="333333"/>
                </a:solidFill>
                <a:effectLst/>
                <a:highlight>
                  <a:srgbClr val="00FF00"/>
                </a:highlight>
                <a:latin typeface="Verdana" panose="020B0604030504040204" pitchFamily="34" charset="0"/>
              </a:rPr>
              <a:t>second</a:t>
            </a:r>
            <a:r>
              <a:rPr lang="en-US" b="0" i="0" dirty="0">
                <a:solidFill>
                  <a:srgbClr val="333333"/>
                </a:solidFill>
                <a:effectLst/>
                <a:latin typeface="Verdana" panose="020B0604030504040204" pitchFamily="34" charset="0"/>
              </a:rPr>
              <a:t> problem is more difficult than the first one. Maybe you have to create another network at the TECH area and apply the same policy as the SALES department for these hosts -&gt; another mess in management!</a:t>
            </a:r>
          </a:p>
          <a:p>
            <a:endParaRPr lang="en-US" dirty="0"/>
          </a:p>
        </p:txBody>
      </p:sp>
    </p:spTree>
    <p:extLst>
      <p:ext uri="{BB962C8B-B14F-4D97-AF65-F5344CB8AC3E}">
        <p14:creationId xmlns:p14="http://schemas.microsoft.com/office/powerpoint/2010/main" val="719817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1615B-BA96-6CBB-A93B-35673B07A652}"/>
              </a:ext>
            </a:extLst>
          </p:cNvPr>
          <p:cNvSpPr>
            <a:spLocks noGrp="1"/>
          </p:cNvSpPr>
          <p:nvPr>
            <p:ph type="title"/>
          </p:nvPr>
        </p:nvSpPr>
        <p:spPr/>
        <p:txBody>
          <a:bodyPr/>
          <a:lstStyle/>
          <a:p>
            <a:r>
              <a:rPr lang="en-US" dirty="0"/>
              <a:t>VLANs</a:t>
            </a:r>
          </a:p>
        </p:txBody>
      </p:sp>
      <p:sp>
        <p:nvSpPr>
          <p:cNvPr id="3" name="Content Placeholder 2">
            <a:extLst>
              <a:ext uri="{FF2B5EF4-FFF2-40B4-BE49-F238E27FC236}">
                <a16:creationId xmlns:a16="http://schemas.microsoft.com/office/drawing/2014/main" id="{C5E9571B-3237-8D41-E47B-094479981532}"/>
              </a:ext>
            </a:extLst>
          </p:cNvPr>
          <p:cNvSpPr>
            <a:spLocks noGrp="1"/>
          </p:cNvSpPr>
          <p:nvPr>
            <p:ph idx="1"/>
          </p:nvPr>
        </p:nvSpPr>
        <p:spPr/>
        <p:txBody>
          <a:bodyPr/>
          <a:lstStyle/>
          <a:p>
            <a:pPr algn="l"/>
            <a:r>
              <a:rPr lang="en-US" b="0" i="0" dirty="0">
                <a:solidFill>
                  <a:srgbClr val="333333"/>
                </a:solidFill>
                <a:effectLst/>
                <a:latin typeface="Verdana" panose="020B0604030504040204" pitchFamily="34" charset="0"/>
              </a:rPr>
              <a:t>Maybe you will be glad to know VLAN can solve all these problems. VLAN helps you group users together according to their function rather than their physical location. </a:t>
            </a:r>
          </a:p>
          <a:p>
            <a:pPr algn="l"/>
            <a:r>
              <a:rPr lang="en-US" b="0" i="0" dirty="0">
                <a:solidFill>
                  <a:srgbClr val="333333"/>
                </a:solidFill>
                <a:effectLst/>
                <a:latin typeface="Verdana" panose="020B0604030504040204" pitchFamily="34" charset="0"/>
              </a:rPr>
              <a:t>This means you can use the same network for hosts in different floors (of course they can communicate with each other).</a:t>
            </a:r>
            <a:br>
              <a:rPr lang="en-US" dirty="0"/>
            </a:br>
            <a:endParaRPr lang="en-US" dirty="0"/>
          </a:p>
        </p:txBody>
      </p:sp>
    </p:spTree>
    <p:extLst>
      <p:ext uri="{BB962C8B-B14F-4D97-AF65-F5344CB8AC3E}">
        <p14:creationId xmlns:p14="http://schemas.microsoft.com/office/powerpoint/2010/main" val="1920752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50E78-AF8B-E98C-4542-800CC33DB1F4}"/>
              </a:ext>
            </a:extLst>
          </p:cNvPr>
          <p:cNvSpPr>
            <a:spLocks noGrp="1"/>
          </p:cNvSpPr>
          <p:nvPr>
            <p:ph type="title"/>
          </p:nvPr>
        </p:nvSpPr>
        <p:spPr/>
        <p:txBody>
          <a:bodyPr/>
          <a:lstStyle/>
          <a:p>
            <a:r>
              <a:rPr lang="en-US" dirty="0"/>
              <a:t>VLAN Solution</a:t>
            </a:r>
          </a:p>
        </p:txBody>
      </p:sp>
      <p:sp>
        <p:nvSpPr>
          <p:cNvPr id="3" name="Content Placeholder 2">
            <a:extLst>
              <a:ext uri="{FF2B5EF4-FFF2-40B4-BE49-F238E27FC236}">
                <a16:creationId xmlns:a16="http://schemas.microsoft.com/office/drawing/2014/main" id="{158A3A2D-8DC6-61A1-FF81-B2944D31A3BB}"/>
              </a:ext>
            </a:extLst>
          </p:cNvPr>
          <p:cNvSpPr>
            <a:spLocks noGrp="1"/>
          </p:cNvSpPr>
          <p:nvPr>
            <p:ph idx="1"/>
          </p:nvPr>
        </p:nvSpPr>
        <p:spPr>
          <a:xfrm>
            <a:off x="838200" y="3428999"/>
            <a:ext cx="10515600" cy="2747963"/>
          </a:xfrm>
        </p:spPr>
        <p:txBody>
          <a:bodyPr>
            <a:normAutofit fontScale="70000" lnSpcReduction="20000"/>
          </a:bodyPr>
          <a:lstStyle/>
          <a:p>
            <a:pPr algn="l"/>
            <a:r>
              <a:rPr lang="en-US" b="0" i="0" dirty="0">
                <a:solidFill>
                  <a:srgbClr val="333333"/>
                </a:solidFill>
                <a:effectLst/>
                <a:latin typeface="Verdana" panose="020B0604030504040204" pitchFamily="34" charset="0"/>
              </a:rPr>
              <a:t>In this design:</a:t>
            </a:r>
          </a:p>
          <a:p>
            <a:pPr marL="457200" lvl="1" indent="0">
              <a:buNone/>
            </a:pPr>
            <a:r>
              <a:rPr lang="en-US" b="0" i="0" dirty="0">
                <a:solidFill>
                  <a:srgbClr val="333333"/>
                </a:solidFill>
                <a:effectLst/>
                <a:latin typeface="Verdana" panose="020B0604030504040204" pitchFamily="34" charset="0"/>
              </a:rPr>
              <a:t>+ you can logically create a new network with additional permissions for your leaders (LEADER network) by adding another VLAN.</a:t>
            </a:r>
            <a:br>
              <a:rPr lang="en-US" b="0" i="0" dirty="0">
                <a:solidFill>
                  <a:srgbClr val="333333"/>
                </a:solidFill>
                <a:effectLst/>
                <a:latin typeface="Verdana" panose="020B0604030504040204" pitchFamily="34" charset="0"/>
              </a:rPr>
            </a:br>
            <a:r>
              <a:rPr lang="en-US" b="0" i="0" dirty="0">
                <a:solidFill>
                  <a:srgbClr val="333333"/>
                </a:solidFill>
                <a:effectLst/>
                <a:latin typeface="Verdana" panose="020B0604030504040204" pitchFamily="34" charset="0"/>
              </a:rPr>
              <a:t>+ employees can sit anywhere to access the resources in their departments, provided that you allow them to do so.</a:t>
            </a:r>
            <a:br>
              <a:rPr lang="en-US" b="0" i="0" dirty="0">
                <a:solidFill>
                  <a:srgbClr val="333333"/>
                </a:solidFill>
                <a:effectLst/>
                <a:latin typeface="Verdana" panose="020B0604030504040204" pitchFamily="34" charset="0"/>
              </a:rPr>
            </a:br>
            <a:r>
              <a:rPr lang="en-US" b="0" i="0" dirty="0">
                <a:solidFill>
                  <a:srgbClr val="333333"/>
                </a:solidFill>
                <a:effectLst/>
                <a:latin typeface="Verdana" panose="020B0604030504040204" pitchFamily="34" charset="0"/>
              </a:rPr>
              <a:t>+ computers in the same department can communicate with each other although they are at different floors.</a:t>
            </a:r>
          </a:p>
          <a:p>
            <a:r>
              <a:rPr lang="en-US" b="0" i="0" dirty="0">
                <a:solidFill>
                  <a:srgbClr val="333333"/>
                </a:solidFill>
                <a:effectLst/>
                <a:latin typeface="Verdana" panose="020B0604030504040204" pitchFamily="34" charset="0"/>
              </a:rPr>
              <a:t>If these departments expand in the future you can still use the same network in any other floor. </a:t>
            </a:r>
          </a:p>
          <a:p>
            <a:r>
              <a:rPr lang="en-US" b="0" i="0" dirty="0">
                <a:solidFill>
                  <a:srgbClr val="333333"/>
                </a:solidFill>
                <a:effectLst/>
                <a:latin typeface="Verdana" panose="020B0604030504040204" pitchFamily="34" charset="0"/>
              </a:rPr>
              <a:t>For example, SALES </a:t>
            </a:r>
            <a:r>
              <a:rPr lang="en-US" b="0" i="0" dirty="0" err="1">
                <a:solidFill>
                  <a:srgbClr val="333333"/>
                </a:solidFill>
                <a:effectLst/>
                <a:latin typeface="Verdana" panose="020B0604030504040204" pitchFamily="34" charset="0"/>
              </a:rPr>
              <a:t>vlan</a:t>
            </a:r>
            <a:r>
              <a:rPr lang="en-US" b="0" i="0" dirty="0">
                <a:solidFill>
                  <a:srgbClr val="333333"/>
                </a:solidFill>
                <a:effectLst/>
                <a:latin typeface="Verdana" panose="020B0604030504040204" pitchFamily="34" charset="0"/>
              </a:rPr>
              <a:t> needs to have 40 more employees -&gt; you can use 4th floor for this expansion without changing the current network.</a:t>
            </a:r>
          </a:p>
          <a:p>
            <a:endParaRPr lang="en-US" dirty="0"/>
          </a:p>
        </p:txBody>
      </p:sp>
      <p:pic>
        <p:nvPicPr>
          <p:cNvPr id="5" name="Picture 4">
            <a:extLst>
              <a:ext uri="{FF2B5EF4-FFF2-40B4-BE49-F238E27FC236}">
                <a16:creationId xmlns:a16="http://schemas.microsoft.com/office/drawing/2014/main" id="{7FA56905-77FE-FF52-EBA0-29FCB54A7E4B}"/>
              </a:ext>
            </a:extLst>
          </p:cNvPr>
          <p:cNvPicPr>
            <a:picLocks noChangeAspect="1"/>
          </p:cNvPicPr>
          <p:nvPr/>
        </p:nvPicPr>
        <p:blipFill>
          <a:blip r:embed="rId2"/>
          <a:stretch>
            <a:fillRect/>
          </a:stretch>
        </p:blipFill>
        <p:spPr>
          <a:xfrm>
            <a:off x="3742061" y="1158940"/>
            <a:ext cx="5286375" cy="2095500"/>
          </a:xfrm>
          <a:prstGeom prst="rect">
            <a:avLst/>
          </a:prstGeom>
        </p:spPr>
      </p:pic>
    </p:spTree>
    <p:extLst>
      <p:ext uri="{BB962C8B-B14F-4D97-AF65-F5344CB8AC3E}">
        <p14:creationId xmlns:p14="http://schemas.microsoft.com/office/powerpoint/2010/main" val="2781125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878EB-255B-9C07-C3A7-2672F6750016}"/>
              </a:ext>
            </a:extLst>
          </p:cNvPr>
          <p:cNvSpPr>
            <a:spLocks noGrp="1"/>
          </p:cNvSpPr>
          <p:nvPr>
            <p:ph type="title"/>
          </p:nvPr>
        </p:nvSpPr>
        <p:spPr/>
        <p:txBody>
          <a:bodyPr/>
          <a:lstStyle/>
          <a:p>
            <a:r>
              <a:rPr lang="en-US" dirty="0"/>
              <a:t>Questions about VLANs</a:t>
            </a:r>
          </a:p>
        </p:txBody>
      </p:sp>
      <p:sp>
        <p:nvSpPr>
          <p:cNvPr id="3" name="Content Placeholder 2">
            <a:extLst>
              <a:ext uri="{FF2B5EF4-FFF2-40B4-BE49-F238E27FC236}">
                <a16:creationId xmlns:a16="http://schemas.microsoft.com/office/drawing/2014/main" id="{E5554C2E-408B-AAC2-B71A-8A610A6BF81E}"/>
              </a:ext>
            </a:extLst>
          </p:cNvPr>
          <p:cNvSpPr>
            <a:spLocks noGrp="1"/>
          </p:cNvSpPr>
          <p:nvPr>
            <p:ph idx="1"/>
          </p:nvPr>
        </p:nvSpPr>
        <p:spPr/>
        <p:txBody>
          <a:bodyPr>
            <a:normAutofit fontScale="85000" lnSpcReduction="10000"/>
          </a:bodyPr>
          <a:lstStyle/>
          <a:p>
            <a:pPr algn="l"/>
            <a:r>
              <a:rPr lang="en-US" b="0" i="0" dirty="0">
                <a:solidFill>
                  <a:srgbClr val="333333"/>
                </a:solidFill>
                <a:effectLst/>
                <a:latin typeface="Verdana" panose="020B0604030504040204" pitchFamily="34" charset="0"/>
              </a:rPr>
              <a:t>How can 2 computers connecting to 2 different switches communicate? </a:t>
            </a:r>
          </a:p>
          <a:p>
            <a:pPr algn="l"/>
            <a:r>
              <a:rPr lang="en-US" b="0" i="0" dirty="0">
                <a:solidFill>
                  <a:srgbClr val="333333"/>
                </a:solidFill>
                <a:effectLst/>
                <a:latin typeface="Verdana" panose="020B0604030504040204" pitchFamily="34" charset="0"/>
              </a:rPr>
              <a:t>If one computer sends a broadcast packet will it be flooded to other departments as switch doesn’t break up broadcast domains?</a:t>
            </a:r>
            <a:br>
              <a:rPr lang="en-US" b="0" i="0" dirty="0">
                <a:solidFill>
                  <a:srgbClr val="333333"/>
                </a:solidFill>
                <a:effectLst/>
                <a:latin typeface="Verdana" panose="020B0604030504040204" pitchFamily="34" charset="0"/>
              </a:rPr>
            </a:br>
            <a:r>
              <a:rPr lang="en-US" b="0" i="0" dirty="0">
                <a:solidFill>
                  <a:srgbClr val="333333"/>
                </a:solidFill>
                <a:effectLst/>
                <a:latin typeface="Verdana" panose="020B0604030504040204" pitchFamily="34" charset="0"/>
              </a:rPr>
              <a:t>The answer is “Yes, they can!” and it is the beauty of VLAN. Hosts in the same VLAN can communicate normally even they are connecting to 2 or more different switches. This makes the management much more simple.</a:t>
            </a:r>
          </a:p>
          <a:p>
            <a:r>
              <a:rPr lang="en-US" b="0" i="0" dirty="0">
                <a:solidFill>
                  <a:srgbClr val="333333"/>
                </a:solidFill>
                <a:effectLst/>
                <a:latin typeface="Verdana" panose="020B0604030504040204" pitchFamily="34" charset="0"/>
              </a:rPr>
              <a:t>Although layer 2 switches can only break up collision domains but VLANs can be used to break up broadcast domains. </a:t>
            </a:r>
          </a:p>
          <a:p>
            <a:r>
              <a:rPr lang="en-US" b="0" i="0" dirty="0">
                <a:solidFill>
                  <a:srgbClr val="333333"/>
                </a:solidFill>
                <a:effectLst/>
                <a:latin typeface="Verdana" panose="020B0604030504040204" pitchFamily="34" charset="0"/>
              </a:rPr>
              <a:t>So if a computer in SALES </a:t>
            </a:r>
            <a:r>
              <a:rPr lang="en-US" b="0" i="0" dirty="0" err="1">
                <a:solidFill>
                  <a:srgbClr val="333333"/>
                </a:solidFill>
                <a:effectLst/>
                <a:latin typeface="Verdana" panose="020B0604030504040204" pitchFamily="34" charset="0"/>
              </a:rPr>
              <a:t>vlan</a:t>
            </a:r>
            <a:r>
              <a:rPr lang="en-US" b="0" i="0" dirty="0">
                <a:solidFill>
                  <a:srgbClr val="333333"/>
                </a:solidFill>
                <a:effectLst/>
                <a:latin typeface="Verdana" panose="020B0604030504040204" pitchFamily="34" charset="0"/>
              </a:rPr>
              <a:t> broadcasts, only computers in SALES </a:t>
            </a:r>
            <a:r>
              <a:rPr lang="en-US" b="0" i="0" dirty="0" err="1">
                <a:solidFill>
                  <a:srgbClr val="333333"/>
                </a:solidFill>
                <a:effectLst/>
                <a:latin typeface="Verdana" panose="020B0604030504040204" pitchFamily="34" charset="0"/>
              </a:rPr>
              <a:t>vlan</a:t>
            </a:r>
            <a:r>
              <a:rPr lang="en-US" b="0" i="0" dirty="0">
                <a:solidFill>
                  <a:srgbClr val="333333"/>
                </a:solidFill>
                <a:effectLst/>
                <a:latin typeface="Verdana" panose="020B0604030504040204" pitchFamily="34" charset="0"/>
              </a:rPr>
              <a:t> will receive that frame.</a:t>
            </a:r>
            <a:endParaRPr lang="en-US" dirty="0"/>
          </a:p>
        </p:txBody>
      </p:sp>
    </p:spTree>
    <p:extLst>
      <p:ext uri="{BB962C8B-B14F-4D97-AF65-F5344CB8AC3E}">
        <p14:creationId xmlns:p14="http://schemas.microsoft.com/office/powerpoint/2010/main" val="715777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B98C8-B27A-CC89-71A3-9EC36587D8A6}"/>
              </a:ext>
            </a:extLst>
          </p:cNvPr>
          <p:cNvSpPr>
            <a:spLocks noGrp="1"/>
          </p:cNvSpPr>
          <p:nvPr>
            <p:ph type="title"/>
          </p:nvPr>
        </p:nvSpPr>
        <p:spPr/>
        <p:txBody>
          <a:bodyPr/>
          <a:lstStyle/>
          <a:p>
            <a:r>
              <a:rPr lang="en-US" dirty="0"/>
              <a:t>Do we still need a router?</a:t>
            </a:r>
          </a:p>
        </p:txBody>
      </p:sp>
      <p:sp>
        <p:nvSpPr>
          <p:cNvPr id="3" name="Content Placeholder 2">
            <a:extLst>
              <a:ext uri="{FF2B5EF4-FFF2-40B4-BE49-F238E27FC236}">
                <a16:creationId xmlns:a16="http://schemas.microsoft.com/office/drawing/2014/main" id="{B9556F44-6CE2-426B-3258-2FF5C6D92281}"/>
              </a:ext>
            </a:extLst>
          </p:cNvPr>
          <p:cNvSpPr>
            <a:spLocks noGrp="1"/>
          </p:cNvSpPr>
          <p:nvPr>
            <p:ph idx="1"/>
          </p:nvPr>
        </p:nvSpPr>
        <p:spPr/>
        <p:txBody>
          <a:bodyPr/>
          <a:lstStyle/>
          <a:p>
            <a:r>
              <a:rPr lang="en-US" b="0" i="0" dirty="0">
                <a:solidFill>
                  <a:srgbClr val="333333"/>
                </a:solidFill>
                <a:effectLst/>
                <a:latin typeface="Verdana" panose="020B0604030504040204" pitchFamily="34" charset="0"/>
              </a:rPr>
              <a:t>The answer is “we still need a router” to enable different VLANs to communicate with each other. </a:t>
            </a:r>
          </a:p>
          <a:p>
            <a:r>
              <a:rPr lang="en-US" b="0" i="0" dirty="0">
                <a:solidFill>
                  <a:srgbClr val="333333"/>
                </a:solidFill>
                <a:effectLst/>
                <a:latin typeface="Verdana" panose="020B0604030504040204" pitchFamily="34" charset="0"/>
              </a:rPr>
              <a:t>Without a router, the computers within each VLAN can communicate with each other but not with any other computers in another VLAN. </a:t>
            </a:r>
          </a:p>
          <a:p>
            <a:r>
              <a:rPr lang="en-US" b="0" i="0" dirty="0">
                <a:solidFill>
                  <a:srgbClr val="333333"/>
                </a:solidFill>
                <a:effectLst/>
                <a:latin typeface="Verdana" panose="020B0604030504040204" pitchFamily="34" charset="0"/>
              </a:rPr>
              <a:t>For example, we need a router to transfer file from LEADER </a:t>
            </a:r>
            <a:r>
              <a:rPr lang="en-US" b="0" i="0" dirty="0" err="1">
                <a:solidFill>
                  <a:srgbClr val="333333"/>
                </a:solidFill>
                <a:effectLst/>
                <a:latin typeface="Verdana" panose="020B0604030504040204" pitchFamily="34" charset="0"/>
              </a:rPr>
              <a:t>vlan</a:t>
            </a:r>
            <a:r>
              <a:rPr lang="en-US" b="0" i="0" dirty="0">
                <a:solidFill>
                  <a:srgbClr val="333333"/>
                </a:solidFill>
                <a:effectLst/>
                <a:latin typeface="Verdana" panose="020B0604030504040204" pitchFamily="34" charset="0"/>
              </a:rPr>
              <a:t> to TECH </a:t>
            </a:r>
            <a:r>
              <a:rPr lang="en-US" b="0" i="0" dirty="0" err="1">
                <a:solidFill>
                  <a:srgbClr val="333333"/>
                </a:solidFill>
                <a:effectLst/>
                <a:latin typeface="Verdana" panose="020B0604030504040204" pitchFamily="34" charset="0"/>
              </a:rPr>
              <a:t>vlan</a:t>
            </a:r>
            <a:r>
              <a:rPr lang="en-US" b="0" i="0" dirty="0">
                <a:solidFill>
                  <a:srgbClr val="333333"/>
                </a:solidFill>
                <a:effectLst/>
                <a:latin typeface="Verdana" panose="020B0604030504040204" pitchFamily="34" charset="0"/>
              </a:rPr>
              <a:t>. This is called “</a:t>
            </a:r>
            <a:r>
              <a:rPr lang="en-US" b="0" i="0" dirty="0" err="1">
                <a:solidFill>
                  <a:srgbClr val="333333"/>
                </a:solidFill>
                <a:effectLst/>
                <a:latin typeface="Verdana" panose="020B0604030504040204" pitchFamily="34" charset="0"/>
              </a:rPr>
              <a:t>interVLAN</a:t>
            </a:r>
            <a:r>
              <a:rPr lang="en-US" b="0" i="0" dirty="0">
                <a:solidFill>
                  <a:srgbClr val="333333"/>
                </a:solidFill>
                <a:effectLst/>
                <a:latin typeface="Verdana" panose="020B0604030504040204" pitchFamily="34" charset="0"/>
              </a:rPr>
              <a:t> routing”.</a:t>
            </a:r>
            <a:endParaRPr lang="en-US" dirty="0"/>
          </a:p>
        </p:txBody>
      </p:sp>
    </p:spTree>
    <p:extLst>
      <p:ext uri="{BB962C8B-B14F-4D97-AF65-F5344CB8AC3E}">
        <p14:creationId xmlns:p14="http://schemas.microsoft.com/office/powerpoint/2010/main" val="436532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C58EA-C37E-4160-52FC-5239E829D2EB}"/>
              </a:ext>
            </a:extLst>
          </p:cNvPr>
          <p:cNvSpPr>
            <a:spLocks noGrp="1"/>
          </p:cNvSpPr>
          <p:nvPr>
            <p:ph type="title"/>
          </p:nvPr>
        </p:nvSpPr>
        <p:spPr/>
        <p:txBody>
          <a:bodyPr/>
          <a:lstStyle/>
          <a:p>
            <a:r>
              <a:rPr lang="en-US" dirty="0"/>
              <a:t>TRUNKs</a:t>
            </a:r>
          </a:p>
        </p:txBody>
      </p:sp>
      <p:sp>
        <p:nvSpPr>
          <p:cNvPr id="3" name="Content Placeholder 2">
            <a:extLst>
              <a:ext uri="{FF2B5EF4-FFF2-40B4-BE49-F238E27FC236}">
                <a16:creationId xmlns:a16="http://schemas.microsoft.com/office/drawing/2014/main" id="{8C3471CC-B460-BFAE-150E-2326F29F48D3}"/>
              </a:ext>
            </a:extLst>
          </p:cNvPr>
          <p:cNvSpPr>
            <a:spLocks noGrp="1"/>
          </p:cNvSpPr>
          <p:nvPr>
            <p:ph idx="1"/>
          </p:nvPr>
        </p:nvSpPr>
        <p:spPr>
          <a:xfrm>
            <a:off x="838200" y="1390619"/>
            <a:ext cx="10515600" cy="4351338"/>
          </a:xfrm>
        </p:spPr>
        <p:txBody>
          <a:bodyPr/>
          <a:lstStyle/>
          <a:p>
            <a:r>
              <a:rPr lang="en-US" b="0" i="0" dirty="0">
                <a:solidFill>
                  <a:srgbClr val="333333"/>
                </a:solidFill>
                <a:effectLst/>
                <a:latin typeface="Verdana" panose="020B0604030504040204" pitchFamily="34" charset="0"/>
              </a:rPr>
              <a:t>When using VLANs in networks that have multiple interconnected switches, you need to use </a:t>
            </a:r>
            <a:r>
              <a:rPr lang="en-US" b="1" i="0" dirty="0">
                <a:solidFill>
                  <a:srgbClr val="333333"/>
                </a:solidFill>
                <a:effectLst/>
                <a:latin typeface="Verdana" panose="020B0604030504040204" pitchFamily="34" charset="0"/>
              </a:rPr>
              <a:t>VLAN </a:t>
            </a:r>
            <a:r>
              <a:rPr lang="en-US" b="1" i="0" dirty="0" err="1">
                <a:solidFill>
                  <a:srgbClr val="333333"/>
                </a:solidFill>
                <a:effectLst/>
                <a:latin typeface="Verdana" panose="020B0604030504040204" pitchFamily="34" charset="0"/>
              </a:rPr>
              <a:t>trunking</a:t>
            </a:r>
            <a:r>
              <a:rPr lang="en-US" b="1" i="0" dirty="0">
                <a:solidFill>
                  <a:srgbClr val="333333"/>
                </a:solidFill>
                <a:effectLst/>
                <a:latin typeface="Verdana" panose="020B0604030504040204" pitchFamily="34" charset="0"/>
              </a:rPr>
              <a:t> between the switches</a:t>
            </a:r>
            <a:r>
              <a:rPr lang="en-US" b="0" i="0" dirty="0">
                <a:solidFill>
                  <a:srgbClr val="333333"/>
                </a:solidFill>
                <a:effectLst/>
                <a:latin typeface="Verdana" panose="020B0604030504040204" pitchFamily="34" charset="0"/>
              </a:rPr>
              <a:t>. </a:t>
            </a:r>
          </a:p>
          <a:p>
            <a:r>
              <a:rPr lang="en-US" b="0" i="0" dirty="0">
                <a:solidFill>
                  <a:srgbClr val="333333"/>
                </a:solidFill>
                <a:effectLst/>
                <a:latin typeface="Verdana" panose="020B0604030504040204" pitchFamily="34" charset="0"/>
              </a:rPr>
              <a:t>With VLAN </a:t>
            </a:r>
            <a:r>
              <a:rPr lang="en-US" b="0" i="0" dirty="0" err="1">
                <a:solidFill>
                  <a:srgbClr val="333333"/>
                </a:solidFill>
                <a:effectLst/>
                <a:latin typeface="Verdana" panose="020B0604030504040204" pitchFamily="34" charset="0"/>
              </a:rPr>
              <a:t>trunking</a:t>
            </a:r>
            <a:r>
              <a:rPr lang="en-US" b="0" i="0" dirty="0">
                <a:solidFill>
                  <a:srgbClr val="333333"/>
                </a:solidFill>
                <a:effectLst/>
                <a:latin typeface="Verdana" panose="020B0604030504040204" pitchFamily="34" charset="0"/>
              </a:rPr>
              <a:t>, the switches tag each frame sent between switches so that the receiving switch knows which VLAN the frame belongs to. </a:t>
            </a:r>
          </a:p>
          <a:p>
            <a:r>
              <a:rPr lang="en-US" b="0" i="0" dirty="0">
                <a:solidFill>
                  <a:srgbClr val="333333"/>
                </a:solidFill>
                <a:effectLst/>
                <a:latin typeface="Verdana" panose="020B0604030504040204" pitchFamily="34" charset="0"/>
              </a:rPr>
              <a:t>This tag is known as a VLAN ID. A VLAN ID is a number which is used to identify a VLAN.</a:t>
            </a:r>
            <a:endParaRPr lang="en-US" dirty="0"/>
          </a:p>
        </p:txBody>
      </p:sp>
      <p:pic>
        <p:nvPicPr>
          <p:cNvPr id="4" name="Picture 3">
            <a:extLst>
              <a:ext uri="{FF2B5EF4-FFF2-40B4-BE49-F238E27FC236}">
                <a16:creationId xmlns:a16="http://schemas.microsoft.com/office/drawing/2014/main" id="{0E12530D-0E3B-322A-ED57-BC6BE8457492}"/>
              </a:ext>
            </a:extLst>
          </p:cNvPr>
          <p:cNvPicPr>
            <a:picLocks noChangeAspect="1"/>
          </p:cNvPicPr>
          <p:nvPr/>
        </p:nvPicPr>
        <p:blipFill>
          <a:blip r:embed="rId2"/>
          <a:stretch>
            <a:fillRect/>
          </a:stretch>
        </p:blipFill>
        <p:spPr>
          <a:xfrm>
            <a:off x="2817456" y="4824443"/>
            <a:ext cx="6149262" cy="1976549"/>
          </a:xfrm>
          <a:prstGeom prst="rect">
            <a:avLst/>
          </a:prstGeom>
        </p:spPr>
      </p:pic>
    </p:spTree>
    <p:extLst>
      <p:ext uri="{BB962C8B-B14F-4D97-AF65-F5344CB8AC3E}">
        <p14:creationId xmlns:p14="http://schemas.microsoft.com/office/powerpoint/2010/main" val="1911844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EADE6-BA35-8B1B-EEC5-379A883F372F}"/>
              </a:ext>
            </a:extLst>
          </p:cNvPr>
          <p:cNvSpPr>
            <a:spLocks noGrp="1"/>
          </p:cNvSpPr>
          <p:nvPr>
            <p:ph type="title"/>
          </p:nvPr>
        </p:nvSpPr>
        <p:spPr/>
        <p:txBody>
          <a:bodyPr/>
          <a:lstStyle/>
          <a:p>
            <a:r>
              <a:rPr lang="en-US" dirty="0"/>
              <a:t>VLAN Tagging in TRUNKs</a:t>
            </a:r>
          </a:p>
        </p:txBody>
      </p:sp>
      <p:sp>
        <p:nvSpPr>
          <p:cNvPr id="3" name="Content Placeholder 2">
            <a:extLst>
              <a:ext uri="{FF2B5EF4-FFF2-40B4-BE49-F238E27FC236}">
                <a16:creationId xmlns:a16="http://schemas.microsoft.com/office/drawing/2014/main" id="{D48D5D4D-5E0B-390A-C9D7-2EA95E225DA2}"/>
              </a:ext>
            </a:extLst>
          </p:cNvPr>
          <p:cNvSpPr>
            <a:spLocks noGrp="1"/>
          </p:cNvSpPr>
          <p:nvPr>
            <p:ph idx="1"/>
          </p:nvPr>
        </p:nvSpPr>
        <p:spPr>
          <a:xfrm>
            <a:off x="838200" y="1461641"/>
            <a:ext cx="10515600" cy="4351338"/>
          </a:xfrm>
        </p:spPr>
        <p:txBody>
          <a:bodyPr/>
          <a:lstStyle/>
          <a:p>
            <a:pPr algn="l"/>
            <a:r>
              <a:rPr lang="en-US" b="0" i="0" dirty="0">
                <a:solidFill>
                  <a:srgbClr val="333333"/>
                </a:solidFill>
                <a:effectLst/>
                <a:latin typeface="Verdana" panose="020B0604030504040204" pitchFamily="34" charset="0"/>
              </a:rPr>
              <a:t>Notice that the tag is only added and removed by the switches when frames are sent out on the trunk links. </a:t>
            </a:r>
          </a:p>
          <a:p>
            <a:pPr algn="l"/>
            <a:r>
              <a:rPr lang="en-US" b="0" i="0" dirty="0">
                <a:solidFill>
                  <a:srgbClr val="333333"/>
                </a:solidFill>
                <a:effectLst/>
                <a:latin typeface="Verdana" panose="020B0604030504040204" pitchFamily="34" charset="0"/>
              </a:rPr>
              <a:t>Hosts don’t know about this tag because it is added on the first switch and removed on the last switch. The picture below describes the process of a frame sent from PC A to PC B.</a:t>
            </a:r>
          </a:p>
          <a:p>
            <a:pPr marL="0" indent="0">
              <a:buNone/>
            </a:pPr>
            <a:br>
              <a:rPr lang="en-US" dirty="0"/>
            </a:br>
            <a:endParaRPr lang="en-US" dirty="0"/>
          </a:p>
        </p:txBody>
      </p:sp>
      <p:pic>
        <p:nvPicPr>
          <p:cNvPr id="4" name="Picture 3">
            <a:extLst>
              <a:ext uri="{FF2B5EF4-FFF2-40B4-BE49-F238E27FC236}">
                <a16:creationId xmlns:a16="http://schemas.microsoft.com/office/drawing/2014/main" id="{861CD3AA-0191-E989-73E3-AD4AD9BE2071}"/>
              </a:ext>
            </a:extLst>
          </p:cNvPr>
          <p:cNvPicPr>
            <a:picLocks noChangeAspect="1"/>
          </p:cNvPicPr>
          <p:nvPr/>
        </p:nvPicPr>
        <p:blipFill>
          <a:blip r:embed="rId2"/>
          <a:stretch>
            <a:fillRect/>
          </a:stretch>
        </p:blipFill>
        <p:spPr>
          <a:xfrm>
            <a:off x="5039095" y="3699953"/>
            <a:ext cx="6222954" cy="2941760"/>
          </a:xfrm>
          <a:prstGeom prst="rect">
            <a:avLst/>
          </a:prstGeom>
        </p:spPr>
      </p:pic>
    </p:spTree>
    <p:extLst>
      <p:ext uri="{BB962C8B-B14F-4D97-AF65-F5344CB8AC3E}">
        <p14:creationId xmlns:p14="http://schemas.microsoft.com/office/powerpoint/2010/main" val="3087902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58F43-243D-7A6C-423F-BC9CBCEDA897}"/>
              </a:ext>
            </a:extLst>
          </p:cNvPr>
          <p:cNvSpPr>
            <a:spLocks noGrp="1"/>
          </p:cNvSpPr>
          <p:nvPr>
            <p:ph type="title"/>
          </p:nvPr>
        </p:nvSpPr>
        <p:spPr/>
        <p:txBody>
          <a:bodyPr/>
          <a:lstStyle/>
          <a:p>
            <a:r>
              <a:rPr lang="en-US" dirty="0"/>
              <a:t>Trunks &amp; Inter-VLAN routing</a:t>
            </a:r>
          </a:p>
        </p:txBody>
      </p:sp>
      <p:sp>
        <p:nvSpPr>
          <p:cNvPr id="3" name="Content Placeholder 2">
            <a:extLst>
              <a:ext uri="{FF2B5EF4-FFF2-40B4-BE49-F238E27FC236}">
                <a16:creationId xmlns:a16="http://schemas.microsoft.com/office/drawing/2014/main" id="{4D3F731A-27E1-5DAC-CBE5-0A635416F586}"/>
              </a:ext>
            </a:extLst>
          </p:cNvPr>
          <p:cNvSpPr>
            <a:spLocks noGrp="1"/>
          </p:cNvSpPr>
          <p:nvPr>
            <p:ph idx="1"/>
          </p:nvPr>
        </p:nvSpPr>
        <p:spPr/>
        <p:txBody>
          <a:bodyPr/>
          <a:lstStyle/>
          <a:p>
            <a:pPr algn="l"/>
            <a:r>
              <a:rPr lang="en-US" b="0" i="0" dirty="0">
                <a:solidFill>
                  <a:srgbClr val="333333"/>
                </a:solidFill>
                <a:effectLst/>
                <a:latin typeface="Verdana" panose="020B0604030504040204" pitchFamily="34" charset="0"/>
              </a:rPr>
              <a:t>Trunk link does not belong to a specific VLAN, rather it is a conduit for VLANs between switches and routers.</a:t>
            </a:r>
          </a:p>
          <a:p>
            <a:pPr algn="l"/>
            <a:r>
              <a:rPr lang="en-US" b="0" i="0" dirty="0">
                <a:solidFill>
                  <a:srgbClr val="333333"/>
                </a:solidFill>
                <a:effectLst/>
                <a:latin typeface="Verdana" panose="020B0604030504040204" pitchFamily="34" charset="0"/>
              </a:rPr>
              <a:t>To allow </a:t>
            </a:r>
            <a:r>
              <a:rPr lang="en-US" b="0" i="0" dirty="0" err="1">
                <a:solidFill>
                  <a:srgbClr val="333333"/>
                </a:solidFill>
                <a:effectLst/>
                <a:latin typeface="Verdana" panose="020B0604030504040204" pitchFamily="34" charset="0"/>
              </a:rPr>
              <a:t>interVLAN</a:t>
            </a:r>
            <a:r>
              <a:rPr lang="en-US" b="0" i="0" dirty="0">
                <a:solidFill>
                  <a:srgbClr val="333333"/>
                </a:solidFill>
                <a:effectLst/>
                <a:latin typeface="Verdana" panose="020B0604030504040204" pitchFamily="34" charset="0"/>
              </a:rPr>
              <a:t> routing you need to configure </a:t>
            </a:r>
            <a:r>
              <a:rPr lang="en-US" b="1" i="0" dirty="0" err="1">
                <a:solidFill>
                  <a:srgbClr val="333333"/>
                </a:solidFill>
                <a:effectLst/>
                <a:latin typeface="Verdana" panose="020B0604030504040204" pitchFamily="34" charset="0"/>
              </a:rPr>
              <a:t>trunking</a:t>
            </a:r>
            <a:r>
              <a:rPr lang="en-US" b="1" i="0" dirty="0">
                <a:solidFill>
                  <a:srgbClr val="333333"/>
                </a:solidFill>
                <a:effectLst/>
                <a:latin typeface="Verdana" panose="020B0604030504040204" pitchFamily="34" charset="0"/>
              </a:rPr>
              <a:t> on the link between router and switch</a:t>
            </a:r>
            <a:r>
              <a:rPr lang="en-US" b="0" i="0" dirty="0">
                <a:solidFill>
                  <a:srgbClr val="333333"/>
                </a:solidFill>
                <a:effectLst/>
                <a:latin typeface="Verdana" panose="020B0604030504040204" pitchFamily="34" charset="0"/>
              </a:rPr>
              <a:t>.</a:t>
            </a:r>
          </a:p>
          <a:p>
            <a:endParaRPr lang="en-US" dirty="0"/>
          </a:p>
        </p:txBody>
      </p:sp>
    </p:spTree>
    <p:extLst>
      <p:ext uri="{BB962C8B-B14F-4D97-AF65-F5344CB8AC3E}">
        <p14:creationId xmlns:p14="http://schemas.microsoft.com/office/powerpoint/2010/main" val="869927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776BF-6C7C-D4D8-C025-C9853ED09C40}"/>
              </a:ext>
            </a:extLst>
          </p:cNvPr>
          <p:cNvSpPr>
            <a:spLocks noGrp="1"/>
          </p:cNvSpPr>
          <p:nvPr>
            <p:ph type="title"/>
          </p:nvPr>
        </p:nvSpPr>
        <p:spPr/>
        <p:txBody>
          <a:bodyPr/>
          <a:lstStyle/>
          <a:p>
            <a:r>
              <a:rPr lang="en-US" dirty="0" err="1"/>
              <a:t>InterVLAN</a:t>
            </a:r>
            <a:r>
              <a:rPr lang="en-US" dirty="0"/>
              <a:t> routing</a:t>
            </a:r>
          </a:p>
        </p:txBody>
      </p:sp>
      <p:pic>
        <p:nvPicPr>
          <p:cNvPr id="4" name="Content Placeholder 3">
            <a:extLst>
              <a:ext uri="{FF2B5EF4-FFF2-40B4-BE49-F238E27FC236}">
                <a16:creationId xmlns:a16="http://schemas.microsoft.com/office/drawing/2014/main" id="{47A9E01D-13ED-191D-01B3-F9A4F25F49A2}"/>
              </a:ext>
            </a:extLst>
          </p:cNvPr>
          <p:cNvPicPr>
            <a:picLocks noGrp="1" noChangeAspect="1"/>
          </p:cNvPicPr>
          <p:nvPr>
            <p:ph idx="1"/>
          </p:nvPr>
        </p:nvPicPr>
        <p:blipFill>
          <a:blip r:embed="rId2"/>
          <a:stretch>
            <a:fillRect/>
          </a:stretch>
        </p:blipFill>
        <p:spPr>
          <a:xfrm>
            <a:off x="1337324" y="2108718"/>
            <a:ext cx="9533128" cy="3778898"/>
          </a:xfrm>
          <a:prstGeom prst="rect">
            <a:avLst/>
          </a:prstGeom>
        </p:spPr>
      </p:pic>
    </p:spTree>
    <p:extLst>
      <p:ext uri="{BB962C8B-B14F-4D97-AF65-F5344CB8AC3E}">
        <p14:creationId xmlns:p14="http://schemas.microsoft.com/office/powerpoint/2010/main" val="1508785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92A4D-7D82-A731-BB81-A9CD2A55B378}"/>
              </a:ext>
            </a:extLst>
          </p:cNvPr>
          <p:cNvSpPr>
            <a:spLocks noGrp="1"/>
          </p:cNvSpPr>
          <p:nvPr>
            <p:ph type="title"/>
          </p:nvPr>
        </p:nvSpPr>
        <p:spPr/>
        <p:txBody>
          <a:bodyPr/>
          <a:lstStyle/>
          <a:p>
            <a:r>
              <a:rPr lang="en-US" dirty="0"/>
              <a:t>VLAN Configuration on a Switch</a:t>
            </a:r>
          </a:p>
        </p:txBody>
      </p:sp>
      <p:pic>
        <p:nvPicPr>
          <p:cNvPr id="5" name="Content Placeholder 4">
            <a:extLst>
              <a:ext uri="{FF2B5EF4-FFF2-40B4-BE49-F238E27FC236}">
                <a16:creationId xmlns:a16="http://schemas.microsoft.com/office/drawing/2014/main" id="{1DF83D4F-8F0E-475B-4363-A943BB1874C4}"/>
              </a:ext>
            </a:extLst>
          </p:cNvPr>
          <p:cNvPicPr>
            <a:picLocks noGrp="1" noChangeAspect="1"/>
          </p:cNvPicPr>
          <p:nvPr>
            <p:ph idx="1"/>
          </p:nvPr>
        </p:nvPicPr>
        <p:blipFill>
          <a:blip r:embed="rId2"/>
          <a:stretch>
            <a:fillRect/>
          </a:stretch>
        </p:blipFill>
        <p:spPr>
          <a:xfrm>
            <a:off x="838200" y="1384348"/>
            <a:ext cx="4638675" cy="1800225"/>
          </a:xfrm>
        </p:spPr>
      </p:pic>
      <p:pic>
        <p:nvPicPr>
          <p:cNvPr id="7" name="Picture 6">
            <a:extLst>
              <a:ext uri="{FF2B5EF4-FFF2-40B4-BE49-F238E27FC236}">
                <a16:creationId xmlns:a16="http://schemas.microsoft.com/office/drawing/2014/main" id="{8C1C2E5F-57BA-9867-8073-E541F514B7F3}"/>
              </a:ext>
            </a:extLst>
          </p:cNvPr>
          <p:cNvPicPr>
            <a:picLocks noChangeAspect="1"/>
          </p:cNvPicPr>
          <p:nvPr/>
        </p:nvPicPr>
        <p:blipFill>
          <a:blip r:embed="rId3"/>
          <a:stretch>
            <a:fillRect/>
          </a:stretch>
        </p:blipFill>
        <p:spPr>
          <a:xfrm>
            <a:off x="838200" y="3310423"/>
            <a:ext cx="4495800" cy="1562100"/>
          </a:xfrm>
          <a:prstGeom prst="rect">
            <a:avLst/>
          </a:prstGeom>
        </p:spPr>
      </p:pic>
    </p:spTree>
    <p:extLst>
      <p:ext uri="{BB962C8B-B14F-4D97-AF65-F5344CB8AC3E}">
        <p14:creationId xmlns:p14="http://schemas.microsoft.com/office/powerpoint/2010/main" val="3224282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7BF94-B626-4808-A8DA-7FD71A9700A0}"/>
              </a:ext>
            </a:extLst>
          </p:cNvPr>
          <p:cNvSpPr>
            <a:spLocks noGrp="1"/>
          </p:cNvSpPr>
          <p:nvPr>
            <p:ph type="title"/>
          </p:nvPr>
        </p:nvSpPr>
        <p:spPr/>
        <p:txBody>
          <a:bodyPr/>
          <a:lstStyle/>
          <a:p>
            <a:r>
              <a:rPr lang="en-US" dirty="0"/>
              <a:t>TRUNK Configuration on a Switch</a:t>
            </a:r>
          </a:p>
        </p:txBody>
      </p:sp>
      <p:pic>
        <p:nvPicPr>
          <p:cNvPr id="11" name="Content Placeholder 10">
            <a:extLst>
              <a:ext uri="{FF2B5EF4-FFF2-40B4-BE49-F238E27FC236}">
                <a16:creationId xmlns:a16="http://schemas.microsoft.com/office/drawing/2014/main" id="{2FA9EA01-01EC-80E4-BF14-FC9B7E66F24E}"/>
              </a:ext>
            </a:extLst>
          </p:cNvPr>
          <p:cNvPicPr>
            <a:picLocks noGrp="1" noChangeAspect="1"/>
          </p:cNvPicPr>
          <p:nvPr>
            <p:ph idx="1"/>
          </p:nvPr>
        </p:nvPicPr>
        <p:blipFill>
          <a:blip r:embed="rId2"/>
          <a:stretch>
            <a:fillRect/>
          </a:stretch>
        </p:blipFill>
        <p:spPr>
          <a:xfrm>
            <a:off x="1016841" y="1690688"/>
            <a:ext cx="10404183" cy="2685369"/>
          </a:xfrm>
        </p:spPr>
      </p:pic>
    </p:spTree>
    <p:extLst>
      <p:ext uri="{BB962C8B-B14F-4D97-AF65-F5344CB8AC3E}">
        <p14:creationId xmlns:p14="http://schemas.microsoft.com/office/powerpoint/2010/main" val="3721722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DF76B-76B7-9114-8E9E-30EB614E8E7D}"/>
              </a:ext>
            </a:extLst>
          </p:cNvPr>
          <p:cNvSpPr>
            <a:spLocks noGrp="1"/>
          </p:cNvSpPr>
          <p:nvPr>
            <p:ph type="title"/>
          </p:nvPr>
        </p:nvSpPr>
        <p:spPr/>
        <p:txBody>
          <a:bodyPr/>
          <a:lstStyle/>
          <a:p>
            <a:r>
              <a:rPr lang="en-US" b="1" i="0" dirty="0">
                <a:solidFill>
                  <a:srgbClr val="3333CC"/>
                </a:solidFill>
                <a:effectLst/>
                <a:latin typeface="Verdana" panose="020B0604030504040204" pitchFamily="34" charset="0"/>
              </a:rPr>
              <a:t>What is </a:t>
            </a:r>
            <a:r>
              <a:rPr lang="en-US" b="1" i="0" dirty="0" err="1">
                <a:solidFill>
                  <a:srgbClr val="3333CC"/>
                </a:solidFill>
                <a:effectLst/>
                <a:latin typeface="Verdana" panose="020B0604030504040204" pitchFamily="34" charset="0"/>
              </a:rPr>
              <a:t>InterVLAN</a:t>
            </a:r>
            <a:r>
              <a:rPr lang="en-US" b="1" i="0" dirty="0">
                <a:solidFill>
                  <a:srgbClr val="3333CC"/>
                </a:solidFill>
                <a:effectLst/>
                <a:latin typeface="Verdana" panose="020B0604030504040204" pitchFamily="34" charset="0"/>
              </a:rPr>
              <a:t> routing?</a:t>
            </a:r>
            <a:endParaRPr lang="en-US" dirty="0"/>
          </a:p>
        </p:txBody>
      </p:sp>
      <p:sp>
        <p:nvSpPr>
          <p:cNvPr id="3" name="Content Placeholder 2">
            <a:extLst>
              <a:ext uri="{FF2B5EF4-FFF2-40B4-BE49-F238E27FC236}">
                <a16:creationId xmlns:a16="http://schemas.microsoft.com/office/drawing/2014/main" id="{5247D55B-832C-AD2A-CA1E-8472E563C88F}"/>
              </a:ext>
            </a:extLst>
          </p:cNvPr>
          <p:cNvSpPr>
            <a:spLocks noGrp="1"/>
          </p:cNvSpPr>
          <p:nvPr>
            <p:ph idx="1"/>
          </p:nvPr>
        </p:nvSpPr>
        <p:spPr>
          <a:xfrm>
            <a:off x="838200" y="1471059"/>
            <a:ext cx="10515600" cy="4351338"/>
          </a:xfrm>
        </p:spPr>
        <p:txBody>
          <a:bodyPr>
            <a:normAutofit fontScale="92500" lnSpcReduction="20000"/>
          </a:bodyPr>
          <a:lstStyle/>
          <a:p>
            <a:pPr algn="l"/>
            <a:r>
              <a:rPr lang="en-US" b="0" i="0" dirty="0">
                <a:solidFill>
                  <a:srgbClr val="333333"/>
                </a:solidFill>
                <a:effectLst/>
                <a:latin typeface="Verdana" panose="020B0604030504040204" pitchFamily="34" charset="0"/>
              </a:rPr>
              <a:t>devices within a VLAN can communicate with each other without the need of Layer 3 routing. </a:t>
            </a:r>
          </a:p>
          <a:p>
            <a:pPr algn="l"/>
            <a:r>
              <a:rPr lang="en-US" b="0" i="0" dirty="0">
                <a:solidFill>
                  <a:srgbClr val="333333"/>
                </a:solidFill>
                <a:effectLst/>
                <a:latin typeface="Verdana" panose="020B0604030504040204" pitchFamily="34" charset="0"/>
              </a:rPr>
              <a:t>But devices in separate VLANs require a Layer 3 routing device to communicate with one another. </a:t>
            </a:r>
          </a:p>
          <a:p>
            <a:pPr algn="l"/>
            <a:r>
              <a:rPr lang="en-US" b="0" i="0" dirty="0">
                <a:solidFill>
                  <a:srgbClr val="333333"/>
                </a:solidFill>
                <a:effectLst/>
                <a:latin typeface="Verdana" panose="020B0604030504040204" pitchFamily="34" charset="0"/>
              </a:rPr>
              <a:t>For example, in the topology below host A and B can communicate with each other without a router in the same VLAN 10; host C and D can communicate in the same VLAN 20. </a:t>
            </a:r>
          </a:p>
          <a:p>
            <a:pPr algn="l"/>
            <a:r>
              <a:rPr lang="en-US" b="0" i="0" dirty="0">
                <a:solidFill>
                  <a:srgbClr val="333333"/>
                </a:solidFill>
                <a:effectLst/>
                <a:latin typeface="Verdana" panose="020B0604030504040204" pitchFamily="34" charset="0"/>
              </a:rPr>
              <a:t>But host A can’t communicate with host C or D because they are in different VLANs.</a:t>
            </a:r>
          </a:p>
          <a:p>
            <a:br>
              <a:rPr lang="en-US" dirty="0"/>
            </a:br>
            <a:endParaRPr lang="en-US" dirty="0"/>
          </a:p>
        </p:txBody>
      </p:sp>
      <p:pic>
        <p:nvPicPr>
          <p:cNvPr id="4" name="Picture 3">
            <a:extLst>
              <a:ext uri="{FF2B5EF4-FFF2-40B4-BE49-F238E27FC236}">
                <a16:creationId xmlns:a16="http://schemas.microsoft.com/office/drawing/2014/main" id="{C811E047-1B79-703E-6B86-059E842B0767}"/>
              </a:ext>
            </a:extLst>
          </p:cNvPr>
          <p:cNvPicPr>
            <a:picLocks noChangeAspect="1"/>
          </p:cNvPicPr>
          <p:nvPr/>
        </p:nvPicPr>
        <p:blipFill>
          <a:blip r:embed="rId2"/>
          <a:stretch>
            <a:fillRect/>
          </a:stretch>
        </p:blipFill>
        <p:spPr>
          <a:xfrm>
            <a:off x="4120842" y="4650028"/>
            <a:ext cx="5151932" cy="2207971"/>
          </a:xfrm>
          <a:prstGeom prst="rect">
            <a:avLst/>
          </a:prstGeom>
        </p:spPr>
      </p:pic>
    </p:spTree>
    <p:extLst>
      <p:ext uri="{BB962C8B-B14F-4D97-AF65-F5344CB8AC3E}">
        <p14:creationId xmlns:p14="http://schemas.microsoft.com/office/powerpoint/2010/main" val="933489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7EDF0-A029-FC24-3850-29160C08B8C8}"/>
              </a:ext>
            </a:extLst>
          </p:cNvPr>
          <p:cNvSpPr>
            <a:spLocks noGrp="1"/>
          </p:cNvSpPr>
          <p:nvPr>
            <p:ph type="title"/>
          </p:nvPr>
        </p:nvSpPr>
        <p:spPr/>
        <p:txBody>
          <a:bodyPr/>
          <a:lstStyle/>
          <a:p>
            <a:r>
              <a:rPr lang="en-US" dirty="0" err="1"/>
              <a:t>InterVLAN</a:t>
            </a:r>
            <a:r>
              <a:rPr lang="en-US" dirty="0"/>
              <a:t> Routing</a:t>
            </a:r>
          </a:p>
        </p:txBody>
      </p:sp>
      <p:sp>
        <p:nvSpPr>
          <p:cNvPr id="3" name="Content Placeholder 2">
            <a:extLst>
              <a:ext uri="{FF2B5EF4-FFF2-40B4-BE49-F238E27FC236}">
                <a16:creationId xmlns:a16="http://schemas.microsoft.com/office/drawing/2014/main" id="{DB86FBD3-BEA2-5468-369F-D0DBF767B631}"/>
              </a:ext>
            </a:extLst>
          </p:cNvPr>
          <p:cNvSpPr>
            <a:spLocks noGrp="1"/>
          </p:cNvSpPr>
          <p:nvPr>
            <p:ph idx="1"/>
          </p:nvPr>
        </p:nvSpPr>
        <p:spPr/>
        <p:txBody>
          <a:bodyPr/>
          <a:lstStyle/>
          <a:p>
            <a:r>
              <a:rPr lang="en-US" b="0" i="0" dirty="0">
                <a:solidFill>
                  <a:srgbClr val="333333"/>
                </a:solidFill>
                <a:effectLst/>
                <a:latin typeface="Verdana" panose="020B0604030504040204" pitchFamily="34" charset="0"/>
              </a:rPr>
              <a:t>To allow hosts in different VLANs communicate with each other, we need a Layer 3 device (like a router) for routing:</a:t>
            </a:r>
            <a:endParaRPr lang="en-US" dirty="0"/>
          </a:p>
        </p:txBody>
      </p:sp>
      <p:pic>
        <p:nvPicPr>
          <p:cNvPr id="4" name="Picture 3">
            <a:extLst>
              <a:ext uri="{FF2B5EF4-FFF2-40B4-BE49-F238E27FC236}">
                <a16:creationId xmlns:a16="http://schemas.microsoft.com/office/drawing/2014/main" id="{2E211C2B-1F40-936D-1B87-B701CCB7EC89}"/>
              </a:ext>
            </a:extLst>
          </p:cNvPr>
          <p:cNvPicPr>
            <a:picLocks noChangeAspect="1"/>
          </p:cNvPicPr>
          <p:nvPr/>
        </p:nvPicPr>
        <p:blipFill>
          <a:blip r:embed="rId2"/>
          <a:stretch>
            <a:fillRect/>
          </a:stretch>
        </p:blipFill>
        <p:spPr>
          <a:xfrm>
            <a:off x="3485183" y="2682236"/>
            <a:ext cx="5518857" cy="3810639"/>
          </a:xfrm>
          <a:prstGeom prst="rect">
            <a:avLst/>
          </a:prstGeom>
        </p:spPr>
      </p:pic>
    </p:spTree>
    <p:extLst>
      <p:ext uri="{BB962C8B-B14F-4D97-AF65-F5344CB8AC3E}">
        <p14:creationId xmlns:p14="http://schemas.microsoft.com/office/powerpoint/2010/main" val="3258075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27AF5F-9A0E-42B7-A252-FD64C9885F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9942AF-04CF-41FA-316C-F97AF1A7EF71}"/>
              </a:ext>
            </a:extLst>
          </p:cNvPr>
          <p:cNvSpPr>
            <a:spLocks noGrp="1"/>
          </p:cNvSpPr>
          <p:nvPr>
            <p:ph type="title"/>
          </p:nvPr>
        </p:nvSpPr>
        <p:spPr>
          <a:xfrm>
            <a:off x="838200" y="365125"/>
            <a:ext cx="10515600" cy="1306443"/>
          </a:xfrm>
        </p:spPr>
        <p:txBody>
          <a:bodyPr>
            <a:normAutofit/>
          </a:bodyPr>
          <a:lstStyle/>
          <a:p>
            <a:r>
              <a:rPr lang="en-US" sz="4000"/>
              <a:t>InterVLAN Routing…</a:t>
            </a:r>
          </a:p>
        </p:txBody>
      </p:sp>
      <p:sp>
        <p:nvSpPr>
          <p:cNvPr id="3" name="Content Placeholder 2">
            <a:extLst>
              <a:ext uri="{FF2B5EF4-FFF2-40B4-BE49-F238E27FC236}">
                <a16:creationId xmlns:a16="http://schemas.microsoft.com/office/drawing/2014/main" id="{494B4220-3D53-C1A0-1166-B768938A6739}"/>
              </a:ext>
            </a:extLst>
          </p:cNvPr>
          <p:cNvSpPr>
            <a:spLocks noGrp="1"/>
          </p:cNvSpPr>
          <p:nvPr>
            <p:ph idx="1"/>
          </p:nvPr>
        </p:nvSpPr>
        <p:spPr>
          <a:xfrm>
            <a:off x="838200" y="1825625"/>
            <a:ext cx="4152774" cy="4303464"/>
          </a:xfrm>
        </p:spPr>
        <p:txBody>
          <a:bodyPr>
            <a:normAutofit fontScale="85000" lnSpcReduction="10000"/>
          </a:bodyPr>
          <a:lstStyle/>
          <a:p>
            <a:r>
              <a:rPr lang="en-US" sz="1400" b="0" i="0" dirty="0">
                <a:effectLst/>
                <a:latin typeface="Verdana" panose="020B0604030504040204" pitchFamily="34" charset="0"/>
              </a:rPr>
              <a:t>The routing traffic from one VLAN to another VLAN is called </a:t>
            </a:r>
            <a:r>
              <a:rPr lang="en-US" sz="1400" b="0" i="0" dirty="0" err="1">
                <a:effectLst/>
                <a:latin typeface="Verdana" panose="020B0604030504040204" pitchFamily="34" charset="0"/>
              </a:rPr>
              <a:t>InterVLAN</a:t>
            </a:r>
            <a:r>
              <a:rPr lang="en-US" sz="1400" b="0" i="0" dirty="0">
                <a:effectLst/>
                <a:latin typeface="Verdana" panose="020B0604030504040204" pitchFamily="34" charset="0"/>
              </a:rPr>
              <a:t> routing.</a:t>
            </a:r>
          </a:p>
          <a:p>
            <a:r>
              <a:rPr lang="en-US" sz="1400" b="0" i="0" dirty="0">
                <a:effectLst/>
                <a:latin typeface="Verdana" panose="020B0604030504040204" pitchFamily="34" charset="0"/>
              </a:rPr>
              <a:t>Now host A can communicate with host C or D easily. Now let’s see how the traffic is sent from host A to host D. </a:t>
            </a:r>
          </a:p>
          <a:p>
            <a:r>
              <a:rPr lang="en-US" sz="1400" b="0" i="0" dirty="0">
                <a:effectLst/>
                <a:latin typeface="Verdana" panose="020B0604030504040204" pitchFamily="34" charset="0"/>
              </a:rPr>
              <a:t>First, host A knows the destination host is in a different VLAN so it sends traffic to its default gateway (on the router) through the switch. </a:t>
            </a:r>
          </a:p>
          <a:p>
            <a:r>
              <a:rPr lang="en-US" sz="1400" b="0" i="0" dirty="0">
                <a:effectLst/>
                <a:latin typeface="Verdana" panose="020B0604030504040204" pitchFamily="34" charset="0"/>
              </a:rPr>
              <a:t>The switch tags the frame as originating on VLAN 10 and forwards to the router. </a:t>
            </a:r>
          </a:p>
          <a:p>
            <a:r>
              <a:rPr lang="en-US" sz="1400" b="0" i="0" dirty="0">
                <a:effectLst/>
                <a:latin typeface="Verdana" panose="020B0604030504040204" pitchFamily="34" charset="0"/>
              </a:rPr>
              <a:t>In turn, the router makes routing decision from VLAN 10 to VLAN 20 and sends back that traffic to the switch, where it is forwarded out to host D.</a:t>
            </a:r>
          </a:p>
          <a:p>
            <a:pPr algn="l"/>
            <a:r>
              <a:rPr lang="en-US" sz="1400" dirty="0">
                <a:latin typeface="Verdana" panose="020B0604030504040204" pitchFamily="34" charset="0"/>
              </a:rPr>
              <a:t>Notice that the routing decision to another VLAN is done by the router, not the switch. When frames leave the router (step 3 in the picture above), they are tagged with VLAN 20.</a:t>
            </a:r>
          </a:p>
          <a:p>
            <a:pPr algn="l"/>
            <a:r>
              <a:rPr lang="en-US" sz="1400" dirty="0">
                <a:latin typeface="Verdana" panose="020B0604030504040204" pitchFamily="34" charset="0"/>
              </a:rPr>
              <a:t>Also notice that receiving ends (host A &amp; D in this case) are unaware of any VLAN information. Switch attaches VLAN information when receiving frames from host A and removes VLAN information before forwarding to host D.</a:t>
            </a:r>
          </a:p>
          <a:p>
            <a:endParaRPr lang="en-US" sz="1400" b="0" i="0" dirty="0">
              <a:effectLst/>
              <a:latin typeface="Verdana" panose="020B0604030504040204" pitchFamily="34" charset="0"/>
            </a:endParaRPr>
          </a:p>
          <a:p>
            <a:endParaRPr lang="en-US" sz="1400" dirty="0"/>
          </a:p>
        </p:txBody>
      </p:sp>
      <p:pic>
        <p:nvPicPr>
          <p:cNvPr id="4" name="Picture 3">
            <a:extLst>
              <a:ext uri="{FF2B5EF4-FFF2-40B4-BE49-F238E27FC236}">
                <a16:creationId xmlns:a16="http://schemas.microsoft.com/office/drawing/2014/main" id="{3BBD1266-768D-8E83-8043-386AD4117AF8}"/>
              </a:ext>
            </a:extLst>
          </p:cNvPr>
          <p:cNvPicPr>
            <a:picLocks noChangeAspect="1"/>
          </p:cNvPicPr>
          <p:nvPr/>
        </p:nvPicPr>
        <p:blipFill rotWithShape="1">
          <a:blip r:embed="rId2"/>
          <a:srcRect t="768" r="2" b="2"/>
          <a:stretch/>
        </p:blipFill>
        <p:spPr>
          <a:xfrm>
            <a:off x="5183500" y="1904282"/>
            <a:ext cx="6170299" cy="4224808"/>
          </a:xfrm>
          <a:prstGeom prst="rect">
            <a:avLst/>
          </a:prstGeom>
        </p:spPr>
      </p:pic>
    </p:spTree>
    <p:extLst>
      <p:ext uri="{BB962C8B-B14F-4D97-AF65-F5344CB8AC3E}">
        <p14:creationId xmlns:p14="http://schemas.microsoft.com/office/powerpoint/2010/main" val="4250217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568CC-7084-6997-B99C-726427BEA690}"/>
              </a:ext>
            </a:extLst>
          </p:cNvPr>
          <p:cNvSpPr>
            <a:spLocks noGrp="1"/>
          </p:cNvSpPr>
          <p:nvPr>
            <p:ph type="title"/>
          </p:nvPr>
        </p:nvSpPr>
        <p:spPr/>
        <p:txBody>
          <a:bodyPr/>
          <a:lstStyle/>
          <a:p>
            <a:r>
              <a:rPr lang="en-US" dirty="0"/>
              <a:t>Problem with the earlier network routing</a:t>
            </a:r>
          </a:p>
        </p:txBody>
      </p:sp>
      <p:sp>
        <p:nvSpPr>
          <p:cNvPr id="3" name="Content Placeholder 2">
            <a:extLst>
              <a:ext uri="{FF2B5EF4-FFF2-40B4-BE49-F238E27FC236}">
                <a16:creationId xmlns:a16="http://schemas.microsoft.com/office/drawing/2014/main" id="{B2940BB8-F8F2-5EED-127B-7360F6F85FAA}"/>
              </a:ext>
            </a:extLst>
          </p:cNvPr>
          <p:cNvSpPr>
            <a:spLocks noGrp="1"/>
          </p:cNvSpPr>
          <p:nvPr>
            <p:ph idx="1"/>
          </p:nvPr>
        </p:nvSpPr>
        <p:spPr/>
        <p:txBody>
          <a:bodyPr>
            <a:normAutofit fontScale="92500" lnSpcReduction="10000"/>
          </a:bodyPr>
          <a:lstStyle/>
          <a:p>
            <a:r>
              <a:rPr lang="en-US" dirty="0">
                <a:solidFill>
                  <a:srgbClr val="333333"/>
                </a:solidFill>
                <a:latin typeface="Verdana" panose="020B0604030504040204" pitchFamily="34" charset="0"/>
              </a:rPr>
              <a:t>O</a:t>
            </a:r>
            <a:r>
              <a:rPr lang="en-US" b="0" i="0" dirty="0">
                <a:solidFill>
                  <a:srgbClr val="333333"/>
                </a:solidFill>
                <a:effectLst/>
                <a:latin typeface="Verdana" panose="020B0604030504040204" pitchFamily="34" charset="0"/>
              </a:rPr>
              <a:t>ne disadvantage in the topology above: </a:t>
            </a:r>
          </a:p>
          <a:p>
            <a:r>
              <a:rPr lang="en-US" b="0" i="0" dirty="0">
                <a:solidFill>
                  <a:srgbClr val="333333"/>
                </a:solidFill>
                <a:effectLst/>
                <a:latin typeface="Verdana" panose="020B0604030504040204" pitchFamily="34" charset="0"/>
              </a:rPr>
              <a:t>For each VLAN we need a physical connection from the router to the switch but in practical, the interfaces of the router are very limited. </a:t>
            </a:r>
          </a:p>
          <a:p>
            <a:r>
              <a:rPr lang="en-US" b="0" i="0" dirty="0">
                <a:solidFill>
                  <a:srgbClr val="333333"/>
                </a:solidFill>
                <a:effectLst/>
                <a:latin typeface="Verdana" panose="020B0604030504040204" pitchFamily="34" charset="0"/>
              </a:rPr>
              <a:t>To overcome this problem, we can create many logical interfaces in one physical interface. </a:t>
            </a:r>
          </a:p>
          <a:p>
            <a:r>
              <a:rPr lang="en-US" b="0" i="0" dirty="0">
                <a:solidFill>
                  <a:srgbClr val="333333"/>
                </a:solidFill>
                <a:effectLst/>
                <a:latin typeface="Verdana" panose="020B0604030504040204" pitchFamily="34" charset="0"/>
              </a:rPr>
              <a:t>For example from a physical interface fa0/0 we can create many sub-interfaces like fa0/0.0, fa0/0.1 … </a:t>
            </a:r>
          </a:p>
          <a:p>
            <a:r>
              <a:rPr lang="en-US" b="0" i="0" dirty="0">
                <a:solidFill>
                  <a:srgbClr val="333333"/>
                </a:solidFill>
                <a:effectLst/>
                <a:latin typeface="Verdana" panose="020B0604030504040204" pitchFamily="34" charset="0"/>
              </a:rPr>
              <a:t>Now this router is often called “router on a stick” (maybe because there is only one physical link connecting from router so it looks like a router on a stick.</a:t>
            </a:r>
            <a:endParaRPr lang="en-US" dirty="0"/>
          </a:p>
        </p:txBody>
      </p:sp>
    </p:spTree>
    <p:extLst>
      <p:ext uri="{BB962C8B-B14F-4D97-AF65-F5344CB8AC3E}">
        <p14:creationId xmlns:p14="http://schemas.microsoft.com/office/powerpoint/2010/main" val="16972553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27AF5F-9A0E-42B7-A252-FD64C9885F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E92EEC-5ECE-8860-7BF5-C886290CA5B9}"/>
              </a:ext>
            </a:extLst>
          </p:cNvPr>
          <p:cNvSpPr>
            <a:spLocks noGrp="1"/>
          </p:cNvSpPr>
          <p:nvPr>
            <p:ph type="title"/>
          </p:nvPr>
        </p:nvSpPr>
        <p:spPr>
          <a:xfrm>
            <a:off x="838200" y="365125"/>
            <a:ext cx="10515600" cy="1306443"/>
          </a:xfrm>
        </p:spPr>
        <p:txBody>
          <a:bodyPr>
            <a:normAutofit/>
          </a:bodyPr>
          <a:lstStyle/>
          <a:p>
            <a:r>
              <a:rPr lang="en-US" sz="4000"/>
              <a:t>Router-on-a-stick</a:t>
            </a:r>
          </a:p>
        </p:txBody>
      </p:sp>
      <p:sp>
        <p:nvSpPr>
          <p:cNvPr id="3" name="Content Placeholder 2">
            <a:extLst>
              <a:ext uri="{FF2B5EF4-FFF2-40B4-BE49-F238E27FC236}">
                <a16:creationId xmlns:a16="http://schemas.microsoft.com/office/drawing/2014/main" id="{AD73D76E-501C-DCD9-256F-9B45A49E9D03}"/>
              </a:ext>
            </a:extLst>
          </p:cNvPr>
          <p:cNvSpPr>
            <a:spLocks noGrp="1"/>
          </p:cNvSpPr>
          <p:nvPr>
            <p:ph idx="1"/>
          </p:nvPr>
        </p:nvSpPr>
        <p:spPr>
          <a:xfrm>
            <a:off x="838200" y="1825625"/>
            <a:ext cx="4152774" cy="4303464"/>
          </a:xfrm>
        </p:spPr>
        <p:txBody>
          <a:bodyPr>
            <a:normAutofit/>
          </a:bodyPr>
          <a:lstStyle/>
          <a:p>
            <a:r>
              <a:rPr lang="en-US" sz="2000" b="0" i="0" dirty="0">
                <a:effectLst/>
                <a:latin typeface="Verdana" panose="020B0604030504040204" pitchFamily="34" charset="0"/>
              </a:rPr>
              <a:t>The router treats each sub-interface as a separate physical interface in routing decisions </a:t>
            </a:r>
          </a:p>
          <a:p>
            <a:r>
              <a:rPr lang="en-US" sz="2000">
                <a:latin typeface="Verdana" panose="020B0604030504040204" pitchFamily="34" charset="0"/>
              </a:rPr>
              <a:t>This means</a:t>
            </a:r>
            <a:r>
              <a:rPr lang="en-US" sz="2000" b="0" i="0">
                <a:effectLst/>
                <a:latin typeface="Verdana" panose="020B0604030504040204" pitchFamily="34" charset="0"/>
              </a:rPr>
              <a:t> </a:t>
            </a:r>
            <a:r>
              <a:rPr lang="en-US" sz="2000" b="0" i="0" dirty="0">
                <a:effectLst/>
                <a:latin typeface="Verdana" panose="020B0604030504040204" pitchFamily="34" charset="0"/>
              </a:rPr>
              <a:t>data can be sent and received in the same physical interface (but different sub-interfaces) without being dropped by the split-horizon rule in the case you want to send routing updates through the router from one VLAN to another.</a:t>
            </a:r>
            <a:endParaRPr lang="en-US" sz="2000" dirty="0"/>
          </a:p>
        </p:txBody>
      </p:sp>
      <p:pic>
        <p:nvPicPr>
          <p:cNvPr id="4" name="Picture 3">
            <a:extLst>
              <a:ext uri="{FF2B5EF4-FFF2-40B4-BE49-F238E27FC236}">
                <a16:creationId xmlns:a16="http://schemas.microsoft.com/office/drawing/2014/main" id="{BD80D337-4113-97C0-A6E3-0CB283F80AEA}"/>
              </a:ext>
            </a:extLst>
          </p:cNvPr>
          <p:cNvPicPr>
            <a:picLocks noChangeAspect="1"/>
          </p:cNvPicPr>
          <p:nvPr/>
        </p:nvPicPr>
        <p:blipFill rotWithShape="1">
          <a:blip r:embed="rId2"/>
          <a:srcRect t="768" r="2" b="2"/>
          <a:stretch/>
        </p:blipFill>
        <p:spPr>
          <a:xfrm>
            <a:off x="5183500" y="1904282"/>
            <a:ext cx="6170299" cy="4224808"/>
          </a:xfrm>
          <a:prstGeom prst="rect">
            <a:avLst/>
          </a:prstGeom>
        </p:spPr>
      </p:pic>
    </p:spTree>
    <p:extLst>
      <p:ext uri="{BB962C8B-B14F-4D97-AF65-F5344CB8AC3E}">
        <p14:creationId xmlns:p14="http://schemas.microsoft.com/office/powerpoint/2010/main" val="3208628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6BEC6B-5C77-412D-B45A-5B0F46FED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112870-2B72-AF39-669F-3DE29B818A5C}"/>
              </a:ext>
            </a:extLst>
          </p:cNvPr>
          <p:cNvSpPr>
            <a:spLocks noGrp="1"/>
          </p:cNvSpPr>
          <p:nvPr>
            <p:ph type="title"/>
          </p:nvPr>
        </p:nvSpPr>
        <p:spPr>
          <a:xfrm>
            <a:off x="838200" y="176214"/>
            <a:ext cx="10515600" cy="1481188"/>
          </a:xfrm>
        </p:spPr>
        <p:txBody>
          <a:bodyPr>
            <a:normAutofit/>
          </a:bodyPr>
          <a:lstStyle/>
          <a:p>
            <a:r>
              <a:rPr lang="en-US" sz="4000" b="1" i="0" dirty="0">
                <a:effectLst/>
                <a:latin typeface="Verdana" panose="020B0604030504040204" pitchFamily="34" charset="0"/>
              </a:rPr>
              <a:t>Configuring </a:t>
            </a:r>
            <a:r>
              <a:rPr lang="en-US" sz="4000" b="1" i="0" dirty="0" err="1">
                <a:effectLst/>
                <a:latin typeface="Verdana" panose="020B0604030504040204" pitchFamily="34" charset="0"/>
              </a:rPr>
              <a:t>InterVLAN</a:t>
            </a:r>
            <a:r>
              <a:rPr lang="en-US" sz="4000" b="1" i="0" dirty="0">
                <a:effectLst/>
                <a:latin typeface="Verdana" panose="020B0604030504040204" pitchFamily="34" charset="0"/>
              </a:rPr>
              <a:t> routing</a:t>
            </a:r>
            <a:endParaRPr lang="en-US" sz="4000" dirty="0"/>
          </a:p>
        </p:txBody>
      </p:sp>
      <p:sp>
        <p:nvSpPr>
          <p:cNvPr id="3" name="Content Placeholder 2">
            <a:extLst>
              <a:ext uri="{FF2B5EF4-FFF2-40B4-BE49-F238E27FC236}">
                <a16:creationId xmlns:a16="http://schemas.microsoft.com/office/drawing/2014/main" id="{AF9FC771-1FE4-9175-38D4-19DA21CDD842}"/>
              </a:ext>
            </a:extLst>
          </p:cNvPr>
          <p:cNvSpPr>
            <a:spLocks noGrp="1"/>
          </p:cNvSpPr>
          <p:nvPr>
            <p:ph idx="1"/>
          </p:nvPr>
        </p:nvSpPr>
        <p:spPr>
          <a:xfrm>
            <a:off x="838200" y="1847128"/>
            <a:ext cx="3990968" cy="4272681"/>
          </a:xfrm>
        </p:spPr>
        <p:txBody>
          <a:bodyPr>
            <a:normAutofit/>
          </a:bodyPr>
          <a:lstStyle/>
          <a:p>
            <a:r>
              <a:rPr lang="en-US" sz="1900" b="0" i="0" dirty="0">
                <a:effectLst/>
                <a:latin typeface="Verdana" panose="020B0604030504040204" pitchFamily="34" charset="0"/>
              </a:rPr>
              <a:t>The switch port connected to the router interface must be configured as trunk port.</a:t>
            </a:r>
          </a:p>
          <a:p>
            <a:r>
              <a:rPr lang="en-US" sz="1900" b="0" i="0" dirty="0">
                <a:effectLst/>
                <a:latin typeface="Verdana" panose="020B0604030504040204" pitchFamily="34" charset="0"/>
              </a:rPr>
              <a:t>The router sub-interfaces must be running a </a:t>
            </a:r>
            <a:r>
              <a:rPr lang="en-US" sz="1900" b="0" i="0" dirty="0" err="1">
                <a:effectLst/>
                <a:latin typeface="Verdana" panose="020B0604030504040204" pitchFamily="34" charset="0"/>
              </a:rPr>
              <a:t>trunking</a:t>
            </a:r>
            <a:r>
              <a:rPr lang="en-US" sz="1900" b="0" i="0" dirty="0">
                <a:effectLst/>
                <a:latin typeface="Verdana" panose="020B0604030504040204" pitchFamily="34" charset="0"/>
              </a:rPr>
              <a:t> protocol. Two popular </a:t>
            </a:r>
            <a:r>
              <a:rPr lang="en-US" sz="1900" b="0" i="0" dirty="0" err="1">
                <a:effectLst/>
                <a:latin typeface="Verdana" panose="020B0604030504040204" pitchFamily="34" charset="0"/>
              </a:rPr>
              <a:t>trunking</a:t>
            </a:r>
            <a:r>
              <a:rPr lang="en-US" sz="1900" b="0" i="0" dirty="0">
                <a:effectLst/>
                <a:latin typeface="Verdana" panose="020B0604030504040204" pitchFamily="34" charset="0"/>
              </a:rPr>
              <a:t> protocols in CCNA are 802.1q (open standard) and </a:t>
            </a:r>
            <a:r>
              <a:rPr lang="en-US" sz="1900" b="0" i="0" dirty="0" err="1">
                <a:effectLst/>
                <a:latin typeface="Verdana" panose="020B0604030504040204" pitchFamily="34" charset="0"/>
              </a:rPr>
              <a:t>InterSwitch</a:t>
            </a:r>
            <a:r>
              <a:rPr lang="en-US" sz="1900" b="0" i="0" dirty="0">
                <a:effectLst/>
                <a:latin typeface="Verdana" panose="020B0604030504040204" pitchFamily="34" charset="0"/>
              </a:rPr>
              <a:t> Link (ISL, a Cisco propriety protocol).</a:t>
            </a:r>
          </a:p>
          <a:p>
            <a:r>
              <a:rPr lang="en-US" sz="1900" b="0" i="0" dirty="0">
                <a:effectLst/>
                <a:latin typeface="Verdana" panose="020B0604030504040204" pitchFamily="34" charset="0"/>
              </a:rPr>
              <a:t>Set IP address on each sub-interface.</a:t>
            </a:r>
          </a:p>
          <a:p>
            <a:pPr marL="0" indent="0">
              <a:buNone/>
            </a:pPr>
            <a:br>
              <a:rPr lang="en-US" sz="1900" dirty="0"/>
            </a:br>
            <a:endParaRPr lang="en-US" sz="1900" dirty="0"/>
          </a:p>
        </p:txBody>
      </p:sp>
      <p:pic>
        <p:nvPicPr>
          <p:cNvPr id="4" name="Picture 3">
            <a:extLst>
              <a:ext uri="{FF2B5EF4-FFF2-40B4-BE49-F238E27FC236}">
                <a16:creationId xmlns:a16="http://schemas.microsoft.com/office/drawing/2014/main" id="{7103C601-1FE4-3A8D-36DC-B0D4F525006E}"/>
              </a:ext>
            </a:extLst>
          </p:cNvPr>
          <p:cNvPicPr>
            <a:picLocks noChangeAspect="1"/>
          </p:cNvPicPr>
          <p:nvPr/>
        </p:nvPicPr>
        <p:blipFill rotWithShape="1">
          <a:blip r:embed="rId2"/>
          <a:srcRect r="480" b="2"/>
          <a:stretch/>
        </p:blipFill>
        <p:spPr>
          <a:xfrm>
            <a:off x="5191128" y="1847129"/>
            <a:ext cx="6162670" cy="4272677"/>
          </a:xfrm>
          <a:prstGeom prst="rect">
            <a:avLst/>
          </a:prstGeom>
        </p:spPr>
      </p:pic>
    </p:spTree>
    <p:extLst>
      <p:ext uri="{BB962C8B-B14F-4D97-AF65-F5344CB8AC3E}">
        <p14:creationId xmlns:p14="http://schemas.microsoft.com/office/powerpoint/2010/main" val="19566291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EB6611B-9505-C2F4-27BE-EDAAFBA678E7}"/>
              </a:ext>
            </a:extLst>
          </p:cNvPr>
          <p:cNvPicPr>
            <a:picLocks noChangeAspect="1"/>
          </p:cNvPicPr>
          <p:nvPr/>
        </p:nvPicPr>
        <p:blipFill>
          <a:blip r:embed="rId2"/>
          <a:stretch>
            <a:fillRect/>
          </a:stretch>
        </p:blipFill>
        <p:spPr>
          <a:xfrm>
            <a:off x="4654296" y="1047217"/>
            <a:ext cx="6903720" cy="4763566"/>
          </a:xfrm>
          <a:prstGeom prst="rect">
            <a:avLst/>
          </a:prstGeom>
        </p:spPr>
      </p:pic>
      <p:sp>
        <p:nvSpPr>
          <p:cNvPr id="3" name="Content Placeholder 2">
            <a:extLst>
              <a:ext uri="{FF2B5EF4-FFF2-40B4-BE49-F238E27FC236}">
                <a16:creationId xmlns:a16="http://schemas.microsoft.com/office/drawing/2014/main" id="{EB3252E6-8ADF-6D58-0069-F5CA71354550}"/>
              </a:ext>
            </a:extLst>
          </p:cNvPr>
          <p:cNvSpPr>
            <a:spLocks noGrp="1"/>
          </p:cNvSpPr>
          <p:nvPr>
            <p:ph idx="1"/>
          </p:nvPr>
        </p:nvSpPr>
        <p:spPr>
          <a:xfrm>
            <a:off x="630936" y="2807208"/>
            <a:ext cx="4398264" cy="3410712"/>
          </a:xfrm>
        </p:spPr>
        <p:txBody>
          <a:bodyPr anchor="t">
            <a:normAutofit/>
          </a:bodyPr>
          <a:lstStyle/>
          <a:p>
            <a:r>
              <a:rPr lang="en-US" sz="2200" b="1" i="0" dirty="0">
                <a:effectLst/>
                <a:latin typeface="Verdana" panose="020B0604030504040204" pitchFamily="34" charset="0"/>
              </a:rPr>
              <a:t>Configure trunk port on switch:</a:t>
            </a:r>
            <a:endParaRPr lang="en-US" sz="2200" b="0" i="0" dirty="0">
              <a:effectLst/>
              <a:latin typeface="Verdana" panose="020B0604030504040204" pitchFamily="34" charset="0"/>
            </a:endParaRPr>
          </a:p>
          <a:p>
            <a:pPr marL="0" indent="0">
              <a:buNone/>
            </a:pPr>
            <a:r>
              <a:rPr lang="en-US" sz="1600" b="0" i="0" dirty="0">
                <a:effectLst/>
                <a:latin typeface="Verdana" panose="020B0604030504040204" pitchFamily="34" charset="0"/>
              </a:rPr>
              <a:t>Switch(config)#interface f0/0</a:t>
            </a:r>
            <a:br>
              <a:rPr lang="en-US" sz="1600" b="0" i="0" dirty="0">
                <a:effectLst/>
                <a:latin typeface="Verdana" panose="020B0604030504040204" pitchFamily="34" charset="0"/>
              </a:rPr>
            </a:br>
            <a:r>
              <a:rPr lang="en-US" sz="1600" b="0" i="0" dirty="0">
                <a:effectLst/>
                <a:latin typeface="Verdana" panose="020B0604030504040204" pitchFamily="34" charset="0"/>
              </a:rPr>
              <a:t>Switch(config-if)#no shutdown</a:t>
            </a:r>
            <a:br>
              <a:rPr lang="en-US" sz="1600" b="0" i="0" dirty="0">
                <a:effectLst/>
                <a:latin typeface="Verdana" panose="020B0604030504040204" pitchFamily="34" charset="0"/>
              </a:rPr>
            </a:br>
            <a:r>
              <a:rPr lang="en-US" sz="1600" b="0" i="0" dirty="0">
                <a:effectLst/>
                <a:latin typeface="Verdana" panose="020B0604030504040204" pitchFamily="34" charset="0"/>
              </a:rPr>
              <a:t>Switch(config-if)#switchport mode trunk</a:t>
            </a:r>
          </a:p>
          <a:p>
            <a:endParaRPr lang="en-US" sz="2200" dirty="0"/>
          </a:p>
        </p:txBody>
      </p:sp>
      <p:sp>
        <p:nvSpPr>
          <p:cNvPr id="2" name="Title 1">
            <a:extLst>
              <a:ext uri="{FF2B5EF4-FFF2-40B4-BE49-F238E27FC236}">
                <a16:creationId xmlns:a16="http://schemas.microsoft.com/office/drawing/2014/main" id="{1B024392-72B1-CEB7-77AB-DD7DEF847C47}"/>
              </a:ext>
            </a:extLst>
          </p:cNvPr>
          <p:cNvSpPr>
            <a:spLocks noGrp="1"/>
          </p:cNvSpPr>
          <p:nvPr>
            <p:ph type="title"/>
          </p:nvPr>
        </p:nvSpPr>
        <p:spPr>
          <a:xfrm>
            <a:off x="630936" y="639520"/>
            <a:ext cx="6049782" cy="1719072"/>
          </a:xfrm>
        </p:spPr>
        <p:txBody>
          <a:bodyPr anchor="b">
            <a:normAutofit/>
          </a:bodyPr>
          <a:lstStyle/>
          <a:p>
            <a:r>
              <a:rPr lang="en-US" sz="3800" b="1" i="0" dirty="0">
                <a:effectLst/>
                <a:latin typeface="Verdana" panose="020B0604030504040204" pitchFamily="34" charset="0"/>
              </a:rPr>
              <a:t>Configuring </a:t>
            </a:r>
            <a:r>
              <a:rPr lang="en-US" sz="3800" b="1" i="0" dirty="0" err="1">
                <a:effectLst/>
                <a:latin typeface="Verdana" panose="020B0604030504040204" pitchFamily="34" charset="0"/>
              </a:rPr>
              <a:t>InterVLAN</a:t>
            </a:r>
            <a:r>
              <a:rPr lang="en-US" sz="3800" b="1" i="0" dirty="0">
                <a:effectLst/>
                <a:latin typeface="Verdana" panose="020B0604030504040204" pitchFamily="34" charset="0"/>
              </a:rPr>
              <a:t> routing…</a:t>
            </a:r>
            <a:endParaRPr lang="en-US" sz="3800" dirty="0"/>
          </a:p>
        </p:txBody>
      </p:sp>
    </p:spTree>
    <p:extLst>
      <p:ext uri="{BB962C8B-B14F-4D97-AF65-F5344CB8AC3E}">
        <p14:creationId xmlns:p14="http://schemas.microsoft.com/office/powerpoint/2010/main" val="595790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6BEC6B-5C77-412D-B45A-5B0F46FED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863866-7C7F-AC01-9777-00FDB686185F}"/>
              </a:ext>
            </a:extLst>
          </p:cNvPr>
          <p:cNvSpPr>
            <a:spLocks noGrp="1"/>
          </p:cNvSpPr>
          <p:nvPr>
            <p:ph type="title"/>
          </p:nvPr>
        </p:nvSpPr>
        <p:spPr>
          <a:xfrm>
            <a:off x="968828" y="820026"/>
            <a:ext cx="10515600" cy="1481188"/>
          </a:xfrm>
        </p:spPr>
        <p:txBody>
          <a:bodyPr>
            <a:normAutofit/>
          </a:bodyPr>
          <a:lstStyle/>
          <a:p>
            <a:r>
              <a:rPr lang="en-US" sz="2000" b="1" i="0" dirty="0">
                <a:effectLst/>
                <a:latin typeface="Verdana" panose="020B0604030504040204" pitchFamily="34" charset="0"/>
              </a:rPr>
              <a:t>Create sub-interfaces, set 802.1Q </a:t>
            </a:r>
            <a:r>
              <a:rPr lang="en-US" sz="2000" b="1" i="0" dirty="0" err="1">
                <a:effectLst/>
                <a:latin typeface="Verdana" panose="020B0604030504040204" pitchFamily="34" charset="0"/>
              </a:rPr>
              <a:t>trunking</a:t>
            </a:r>
            <a:r>
              <a:rPr lang="en-US" sz="2000" b="1" i="0" dirty="0">
                <a:effectLst/>
                <a:latin typeface="Verdana" panose="020B0604030504040204" pitchFamily="34" charset="0"/>
              </a:rPr>
              <a:t> protocol and </a:t>
            </a:r>
            <a:r>
              <a:rPr lang="en-US" sz="2000" b="1" i="0" dirty="0" err="1">
                <a:effectLst/>
                <a:latin typeface="Verdana" panose="020B0604030504040204" pitchFamily="34" charset="0"/>
              </a:rPr>
              <a:t>ip</a:t>
            </a:r>
            <a:r>
              <a:rPr lang="en-US" sz="2000" b="1" i="0" dirty="0">
                <a:effectLst/>
                <a:latin typeface="Verdana" panose="020B0604030504040204" pitchFamily="34" charset="0"/>
              </a:rPr>
              <a:t> address on each sub-interface</a:t>
            </a:r>
            <a:endParaRPr lang="en-US" sz="2000" dirty="0"/>
          </a:p>
        </p:txBody>
      </p:sp>
      <p:pic>
        <p:nvPicPr>
          <p:cNvPr id="4" name="Picture 3">
            <a:extLst>
              <a:ext uri="{FF2B5EF4-FFF2-40B4-BE49-F238E27FC236}">
                <a16:creationId xmlns:a16="http://schemas.microsoft.com/office/drawing/2014/main" id="{BB903EA2-EAD9-1A11-08E9-11D0F0737FA0}"/>
              </a:ext>
            </a:extLst>
          </p:cNvPr>
          <p:cNvPicPr>
            <a:picLocks noChangeAspect="1"/>
          </p:cNvPicPr>
          <p:nvPr/>
        </p:nvPicPr>
        <p:blipFill rotWithShape="1">
          <a:blip r:embed="rId2"/>
          <a:srcRect r="480" b="2"/>
          <a:stretch/>
        </p:blipFill>
        <p:spPr>
          <a:xfrm>
            <a:off x="5191128" y="1847129"/>
            <a:ext cx="6162670" cy="4272677"/>
          </a:xfrm>
          <a:prstGeom prst="rect">
            <a:avLst/>
          </a:prstGeom>
        </p:spPr>
      </p:pic>
      <p:sp>
        <p:nvSpPr>
          <p:cNvPr id="3" name="Content Placeholder 2">
            <a:extLst>
              <a:ext uri="{FF2B5EF4-FFF2-40B4-BE49-F238E27FC236}">
                <a16:creationId xmlns:a16="http://schemas.microsoft.com/office/drawing/2014/main" id="{035AE1AF-268E-B2FE-4C0D-83BE1E75F7B3}"/>
              </a:ext>
            </a:extLst>
          </p:cNvPr>
          <p:cNvSpPr>
            <a:spLocks noGrp="1"/>
          </p:cNvSpPr>
          <p:nvPr>
            <p:ph idx="1"/>
          </p:nvPr>
        </p:nvSpPr>
        <p:spPr>
          <a:xfrm>
            <a:off x="838200" y="1847128"/>
            <a:ext cx="6162670" cy="4272681"/>
          </a:xfrm>
        </p:spPr>
        <p:txBody>
          <a:bodyPr>
            <a:normAutofit/>
          </a:bodyPr>
          <a:lstStyle/>
          <a:p>
            <a:r>
              <a:rPr lang="en-US" sz="1200" b="0" i="0" dirty="0">
                <a:effectLst/>
                <a:latin typeface="Verdana" panose="020B0604030504040204" pitchFamily="34" charset="0"/>
              </a:rPr>
              <a:t>Router(config)#interface f0/0</a:t>
            </a:r>
            <a:br>
              <a:rPr lang="en-US" sz="1200" b="0" i="0" dirty="0">
                <a:effectLst/>
                <a:latin typeface="Verdana" panose="020B0604030504040204" pitchFamily="34" charset="0"/>
              </a:rPr>
            </a:br>
            <a:r>
              <a:rPr lang="en-US" sz="1200" b="0" i="0" dirty="0">
                <a:effectLst/>
                <a:latin typeface="Verdana" panose="020B0604030504040204" pitchFamily="34" charset="0"/>
              </a:rPr>
              <a:t>Router(config-if)#no shutdown</a:t>
            </a:r>
          </a:p>
          <a:p>
            <a:r>
              <a:rPr lang="en-US" sz="1200" b="0" i="0" dirty="0">
                <a:effectLst/>
                <a:latin typeface="Verdana" panose="020B0604030504040204" pitchFamily="34" charset="0"/>
              </a:rPr>
              <a:t>(Note: The main interface f0/0 doesn’t need an IP address but it must be turned on)</a:t>
            </a:r>
          </a:p>
          <a:p>
            <a:r>
              <a:rPr lang="en-US" sz="1200" b="0" i="0" dirty="0">
                <a:effectLst/>
                <a:latin typeface="Verdana" panose="020B0604030504040204" pitchFamily="34" charset="0"/>
              </a:rPr>
              <a:t>Router(config)#interface f0/0.0</a:t>
            </a:r>
            <a:br>
              <a:rPr lang="en-US" sz="1200" b="0" i="0" dirty="0">
                <a:effectLst/>
                <a:latin typeface="Verdana" panose="020B0604030504040204" pitchFamily="34" charset="0"/>
              </a:rPr>
            </a:br>
            <a:r>
              <a:rPr lang="en-US" sz="1200" b="0" i="0" dirty="0">
                <a:effectLst/>
                <a:latin typeface="Verdana" panose="020B0604030504040204" pitchFamily="34" charset="0"/>
              </a:rPr>
              <a:t>Router(config-</a:t>
            </a:r>
            <a:r>
              <a:rPr lang="en-US" sz="1200" b="0" i="0" dirty="0" err="1">
                <a:effectLst/>
                <a:latin typeface="Verdana" panose="020B0604030504040204" pitchFamily="34" charset="0"/>
              </a:rPr>
              <a:t>subif</a:t>
            </a:r>
            <a:r>
              <a:rPr lang="en-US" sz="1200" b="0" i="0" dirty="0">
                <a:effectLst/>
                <a:latin typeface="Verdana" panose="020B0604030504040204" pitchFamily="34" charset="0"/>
              </a:rPr>
              <a:t>)#encapsulation dot1q 10</a:t>
            </a:r>
            <a:br>
              <a:rPr lang="en-US" sz="1200" b="0" i="0" dirty="0">
                <a:effectLst/>
                <a:latin typeface="Verdana" panose="020B0604030504040204" pitchFamily="34" charset="0"/>
              </a:rPr>
            </a:br>
            <a:r>
              <a:rPr lang="en-US" sz="1200" b="0" i="0" dirty="0">
                <a:effectLst/>
                <a:latin typeface="Verdana" panose="020B0604030504040204" pitchFamily="34" charset="0"/>
              </a:rPr>
              <a:t>Router(config-</a:t>
            </a:r>
            <a:r>
              <a:rPr lang="en-US" sz="1200" b="0" i="0" dirty="0" err="1">
                <a:effectLst/>
                <a:latin typeface="Verdana" panose="020B0604030504040204" pitchFamily="34" charset="0"/>
              </a:rPr>
              <a:t>subif</a:t>
            </a:r>
            <a:r>
              <a:rPr lang="en-US" sz="1200" b="0" i="0" dirty="0">
                <a:effectLst/>
                <a:latin typeface="Verdana" panose="020B0604030504040204" pitchFamily="34" charset="0"/>
              </a:rPr>
              <a:t>)#ip address 192.168.1.1 255.255.255.0</a:t>
            </a:r>
            <a:br>
              <a:rPr lang="en-US" sz="1200" b="0" i="0" dirty="0">
                <a:effectLst/>
                <a:latin typeface="Verdana" panose="020B0604030504040204" pitchFamily="34" charset="0"/>
              </a:rPr>
            </a:br>
            <a:r>
              <a:rPr lang="en-US" sz="1200" b="0" i="0" dirty="0">
                <a:effectLst/>
                <a:latin typeface="Verdana" panose="020B0604030504040204" pitchFamily="34" charset="0"/>
              </a:rPr>
              <a:t>Router(config-</a:t>
            </a:r>
            <a:r>
              <a:rPr lang="en-US" sz="1200" b="0" i="0" dirty="0" err="1">
                <a:effectLst/>
                <a:latin typeface="Verdana" panose="020B0604030504040204" pitchFamily="34" charset="0"/>
              </a:rPr>
              <a:t>subif</a:t>
            </a:r>
            <a:r>
              <a:rPr lang="en-US" sz="1200" b="0" i="0" dirty="0">
                <a:effectLst/>
                <a:latin typeface="Verdana" panose="020B0604030504040204" pitchFamily="34" charset="0"/>
              </a:rPr>
              <a:t>)#interface f0/0.1</a:t>
            </a:r>
            <a:br>
              <a:rPr lang="en-US" sz="1200" b="0" i="0" dirty="0">
                <a:effectLst/>
                <a:latin typeface="Verdana" panose="020B0604030504040204" pitchFamily="34" charset="0"/>
              </a:rPr>
            </a:br>
            <a:r>
              <a:rPr lang="en-US" sz="1200" b="0" i="0" dirty="0">
                <a:effectLst/>
                <a:latin typeface="Verdana" panose="020B0604030504040204" pitchFamily="34" charset="0"/>
              </a:rPr>
              <a:t>Router(config-</a:t>
            </a:r>
            <a:r>
              <a:rPr lang="en-US" sz="1200" b="0" i="0" dirty="0" err="1">
                <a:effectLst/>
                <a:latin typeface="Verdana" panose="020B0604030504040204" pitchFamily="34" charset="0"/>
              </a:rPr>
              <a:t>subif</a:t>
            </a:r>
            <a:r>
              <a:rPr lang="en-US" sz="1200" b="0" i="0" dirty="0">
                <a:effectLst/>
                <a:latin typeface="Verdana" panose="020B0604030504040204" pitchFamily="34" charset="0"/>
              </a:rPr>
              <a:t>)#encapsulation dot1q 20</a:t>
            </a:r>
            <a:br>
              <a:rPr lang="en-US" sz="1200" b="0" i="0" dirty="0">
                <a:effectLst/>
                <a:latin typeface="Verdana" panose="020B0604030504040204" pitchFamily="34" charset="0"/>
              </a:rPr>
            </a:br>
            <a:r>
              <a:rPr lang="en-US" sz="1200" b="0" i="0" dirty="0">
                <a:effectLst/>
                <a:latin typeface="Verdana" panose="020B0604030504040204" pitchFamily="34" charset="0"/>
              </a:rPr>
              <a:t>Router(config-</a:t>
            </a:r>
            <a:r>
              <a:rPr lang="en-US" sz="1200" b="0" i="0" dirty="0" err="1">
                <a:effectLst/>
                <a:latin typeface="Verdana" panose="020B0604030504040204" pitchFamily="34" charset="0"/>
              </a:rPr>
              <a:t>subif</a:t>
            </a:r>
            <a:r>
              <a:rPr lang="en-US" sz="1200" b="0" i="0" dirty="0">
                <a:effectLst/>
                <a:latin typeface="Verdana" panose="020B0604030504040204" pitchFamily="34" charset="0"/>
              </a:rPr>
              <a:t>)#ip address 192.168.2.1 255.255.255.0</a:t>
            </a:r>
          </a:p>
          <a:p>
            <a:endParaRPr lang="en-US" sz="1700" dirty="0"/>
          </a:p>
        </p:txBody>
      </p:sp>
      <p:sp>
        <p:nvSpPr>
          <p:cNvPr id="5" name="Title 1">
            <a:extLst>
              <a:ext uri="{FF2B5EF4-FFF2-40B4-BE49-F238E27FC236}">
                <a16:creationId xmlns:a16="http://schemas.microsoft.com/office/drawing/2014/main" id="{7BC60028-C3E3-8D3B-7DAC-4B8D39261D6A}"/>
              </a:ext>
            </a:extLst>
          </p:cNvPr>
          <p:cNvSpPr txBox="1">
            <a:spLocks/>
          </p:cNvSpPr>
          <p:nvPr/>
        </p:nvSpPr>
        <p:spPr>
          <a:xfrm>
            <a:off x="838200" y="128053"/>
            <a:ext cx="9947988" cy="109425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b="1" dirty="0">
                <a:latin typeface="Verdana" panose="020B0604030504040204" pitchFamily="34" charset="0"/>
              </a:rPr>
              <a:t>Configuring </a:t>
            </a:r>
            <a:r>
              <a:rPr lang="en-US" sz="3800" b="1" dirty="0" err="1">
                <a:latin typeface="Verdana" panose="020B0604030504040204" pitchFamily="34" charset="0"/>
              </a:rPr>
              <a:t>InterVLAN</a:t>
            </a:r>
            <a:r>
              <a:rPr lang="en-US" sz="3800" b="1" dirty="0">
                <a:latin typeface="Verdana" panose="020B0604030504040204" pitchFamily="34" charset="0"/>
              </a:rPr>
              <a:t> routing…</a:t>
            </a:r>
            <a:endParaRPr lang="en-US" sz="3800" dirty="0"/>
          </a:p>
        </p:txBody>
      </p:sp>
    </p:spTree>
    <p:extLst>
      <p:ext uri="{BB962C8B-B14F-4D97-AF65-F5344CB8AC3E}">
        <p14:creationId xmlns:p14="http://schemas.microsoft.com/office/powerpoint/2010/main" val="2816391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78191DA0-7881-F9B9-2355-3515CE4F4F53}"/>
              </a:ext>
            </a:extLst>
          </p:cNvPr>
          <p:cNvPicPr>
            <a:picLocks noGrp="1" noChangeAspect="1"/>
          </p:cNvPicPr>
          <p:nvPr>
            <p:ph idx="1"/>
          </p:nvPr>
        </p:nvPicPr>
        <p:blipFill>
          <a:blip r:embed="rId2"/>
          <a:stretch>
            <a:fillRect/>
          </a:stretch>
        </p:blipFill>
        <p:spPr>
          <a:xfrm>
            <a:off x="975482" y="1884645"/>
            <a:ext cx="4071814" cy="3346376"/>
          </a:xfrm>
          <a:prstGeom prst="rect">
            <a:avLst/>
          </a:prstGeom>
        </p:spPr>
      </p:pic>
      <p:pic>
        <p:nvPicPr>
          <p:cNvPr id="6" name="Picture 5">
            <a:extLst>
              <a:ext uri="{FF2B5EF4-FFF2-40B4-BE49-F238E27FC236}">
                <a16:creationId xmlns:a16="http://schemas.microsoft.com/office/drawing/2014/main" id="{9CA3917C-1509-8D59-659D-316993D3BCB2}"/>
              </a:ext>
            </a:extLst>
          </p:cNvPr>
          <p:cNvPicPr>
            <a:picLocks noChangeAspect="1"/>
          </p:cNvPicPr>
          <p:nvPr/>
        </p:nvPicPr>
        <p:blipFill>
          <a:blip r:embed="rId3"/>
          <a:stretch>
            <a:fillRect/>
          </a:stretch>
        </p:blipFill>
        <p:spPr>
          <a:xfrm>
            <a:off x="5464618" y="1350363"/>
            <a:ext cx="6663298" cy="4597676"/>
          </a:xfrm>
          <a:prstGeom prst="rect">
            <a:avLst/>
          </a:prstGeom>
        </p:spPr>
      </p:pic>
      <p:sp>
        <p:nvSpPr>
          <p:cNvPr id="7" name="Title 1">
            <a:extLst>
              <a:ext uri="{FF2B5EF4-FFF2-40B4-BE49-F238E27FC236}">
                <a16:creationId xmlns:a16="http://schemas.microsoft.com/office/drawing/2014/main" id="{EEE675EE-DD8D-E665-2BD8-D14A2532F5F2}"/>
              </a:ext>
            </a:extLst>
          </p:cNvPr>
          <p:cNvSpPr txBox="1">
            <a:spLocks/>
          </p:cNvSpPr>
          <p:nvPr/>
        </p:nvSpPr>
        <p:spPr>
          <a:xfrm>
            <a:off x="838200" y="128053"/>
            <a:ext cx="9947988" cy="109425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b="1" dirty="0">
                <a:latin typeface="Verdana" panose="020B0604030504040204" pitchFamily="34" charset="0"/>
              </a:rPr>
              <a:t>Configuring </a:t>
            </a:r>
            <a:r>
              <a:rPr lang="en-US" sz="3800" b="1" dirty="0" err="1">
                <a:latin typeface="Verdana" panose="020B0604030504040204" pitchFamily="34" charset="0"/>
              </a:rPr>
              <a:t>InterVLAN</a:t>
            </a:r>
            <a:r>
              <a:rPr lang="en-US" sz="3800" b="1" dirty="0">
                <a:latin typeface="Verdana" panose="020B0604030504040204" pitchFamily="34" charset="0"/>
              </a:rPr>
              <a:t> routing…</a:t>
            </a:r>
            <a:endParaRPr lang="en-US" sz="3800" dirty="0"/>
          </a:p>
        </p:txBody>
      </p:sp>
      <p:sp>
        <p:nvSpPr>
          <p:cNvPr id="2" name="Title 1">
            <a:extLst>
              <a:ext uri="{FF2B5EF4-FFF2-40B4-BE49-F238E27FC236}">
                <a16:creationId xmlns:a16="http://schemas.microsoft.com/office/drawing/2014/main" id="{005DA46F-A1B0-94D9-EA34-CC1C7AD0879F}"/>
              </a:ext>
            </a:extLst>
          </p:cNvPr>
          <p:cNvSpPr>
            <a:spLocks noGrp="1"/>
          </p:cNvSpPr>
          <p:nvPr>
            <p:ph type="title"/>
          </p:nvPr>
        </p:nvSpPr>
        <p:spPr>
          <a:xfrm>
            <a:off x="929178" y="1363181"/>
            <a:ext cx="5165297" cy="527596"/>
          </a:xfrm>
        </p:spPr>
        <p:txBody>
          <a:bodyPr vert="horz" lIns="91440" tIns="45720" rIns="91440" bIns="45720" rtlCol="0" anchor="b">
            <a:normAutofit/>
          </a:bodyPr>
          <a:lstStyle/>
          <a:p>
            <a:r>
              <a:rPr lang="en-US" sz="2800" dirty="0"/>
              <a:t>Switch VLAN/TRUNK configuration</a:t>
            </a:r>
          </a:p>
        </p:txBody>
      </p:sp>
    </p:spTree>
    <p:extLst>
      <p:ext uri="{BB962C8B-B14F-4D97-AF65-F5344CB8AC3E}">
        <p14:creationId xmlns:p14="http://schemas.microsoft.com/office/powerpoint/2010/main" val="16078698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18831-3B1C-81F2-AC13-EB2B8BAA1278}"/>
              </a:ext>
            </a:extLst>
          </p:cNvPr>
          <p:cNvSpPr>
            <a:spLocks noGrp="1"/>
          </p:cNvSpPr>
          <p:nvPr>
            <p:ph type="title"/>
          </p:nvPr>
        </p:nvSpPr>
        <p:spPr/>
        <p:txBody>
          <a:bodyPr/>
          <a:lstStyle/>
          <a:p>
            <a:r>
              <a:rPr lang="en-US" dirty="0"/>
              <a:t>Using Layer 3 Switch</a:t>
            </a:r>
          </a:p>
        </p:txBody>
      </p:sp>
      <p:pic>
        <p:nvPicPr>
          <p:cNvPr id="4" name="Content Placeholder 3">
            <a:extLst>
              <a:ext uri="{FF2B5EF4-FFF2-40B4-BE49-F238E27FC236}">
                <a16:creationId xmlns:a16="http://schemas.microsoft.com/office/drawing/2014/main" id="{2E1340DE-EC4A-9996-8A0C-7516699099C9}"/>
              </a:ext>
            </a:extLst>
          </p:cNvPr>
          <p:cNvPicPr>
            <a:picLocks noGrp="1" noChangeAspect="1"/>
          </p:cNvPicPr>
          <p:nvPr>
            <p:ph idx="1"/>
          </p:nvPr>
        </p:nvPicPr>
        <p:blipFill>
          <a:blip r:embed="rId2"/>
          <a:stretch>
            <a:fillRect/>
          </a:stretch>
        </p:blipFill>
        <p:spPr>
          <a:xfrm>
            <a:off x="5199909" y="2991775"/>
            <a:ext cx="6226798" cy="2965142"/>
          </a:xfrm>
          <a:prstGeom prst="rect">
            <a:avLst/>
          </a:prstGeom>
        </p:spPr>
      </p:pic>
      <p:pic>
        <p:nvPicPr>
          <p:cNvPr id="6" name="Picture 5">
            <a:extLst>
              <a:ext uri="{FF2B5EF4-FFF2-40B4-BE49-F238E27FC236}">
                <a16:creationId xmlns:a16="http://schemas.microsoft.com/office/drawing/2014/main" id="{544B1B23-BC5F-F9DE-9E9A-4C03137D006E}"/>
              </a:ext>
            </a:extLst>
          </p:cNvPr>
          <p:cNvPicPr>
            <a:picLocks noChangeAspect="1"/>
          </p:cNvPicPr>
          <p:nvPr/>
        </p:nvPicPr>
        <p:blipFill>
          <a:blip r:embed="rId3"/>
          <a:stretch>
            <a:fillRect/>
          </a:stretch>
        </p:blipFill>
        <p:spPr>
          <a:xfrm>
            <a:off x="1476838" y="2744421"/>
            <a:ext cx="3476902" cy="3806293"/>
          </a:xfrm>
          <a:prstGeom prst="rect">
            <a:avLst/>
          </a:prstGeom>
        </p:spPr>
      </p:pic>
      <p:sp>
        <p:nvSpPr>
          <p:cNvPr id="8" name="TextBox 7">
            <a:extLst>
              <a:ext uri="{FF2B5EF4-FFF2-40B4-BE49-F238E27FC236}">
                <a16:creationId xmlns:a16="http://schemas.microsoft.com/office/drawing/2014/main" id="{0D6D2B9B-E591-965E-BE27-36002FE913FE}"/>
              </a:ext>
            </a:extLst>
          </p:cNvPr>
          <p:cNvSpPr txBox="1"/>
          <p:nvPr/>
        </p:nvSpPr>
        <p:spPr>
          <a:xfrm>
            <a:off x="838199" y="1544092"/>
            <a:ext cx="10587361" cy="1200329"/>
          </a:xfrm>
          <a:prstGeom prst="rect">
            <a:avLst/>
          </a:prstGeom>
          <a:noFill/>
        </p:spPr>
        <p:txBody>
          <a:bodyPr wrap="square">
            <a:spAutoFit/>
          </a:bodyPr>
          <a:lstStyle/>
          <a:p>
            <a:r>
              <a:rPr lang="en-US" b="0" i="0" dirty="0">
                <a:solidFill>
                  <a:srgbClr val="333333"/>
                </a:solidFill>
                <a:effectLst/>
                <a:latin typeface="Verdana" panose="020B0604030504040204" pitchFamily="34" charset="0"/>
              </a:rPr>
              <a:t>In practice, we often use a Layer 3 switch instead of a switch and a “router on the stick”, this helps reduce the complexity of the topology and cost.</a:t>
            </a:r>
          </a:p>
          <a:p>
            <a:r>
              <a:rPr lang="en-US" b="0" i="0" dirty="0">
                <a:solidFill>
                  <a:srgbClr val="333333"/>
                </a:solidFill>
                <a:effectLst/>
                <a:latin typeface="Verdana" panose="020B0604030504040204" pitchFamily="34" charset="0"/>
              </a:rPr>
              <a:t>With this topology, we </a:t>
            </a:r>
            <a:r>
              <a:rPr lang="en-US" b="0" i="0" dirty="0">
                <a:solidFill>
                  <a:srgbClr val="333333"/>
                </a:solidFill>
                <a:effectLst/>
                <a:highlight>
                  <a:srgbClr val="00FF00"/>
                </a:highlight>
                <a:latin typeface="Verdana" panose="020B0604030504040204" pitchFamily="34" charset="0"/>
              </a:rPr>
              <a:t>don’t need </a:t>
            </a:r>
            <a:r>
              <a:rPr lang="en-US" b="0" i="0" dirty="0">
                <a:solidFill>
                  <a:srgbClr val="333333"/>
                </a:solidFill>
                <a:effectLst/>
                <a:latin typeface="Verdana" panose="020B0604030504040204" pitchFamily="34" charset="0"/>
              </a:rPr>
              <a:t>to use a </a:t>
            </a:r>
            <a:r>
              <a:rPr lang="en-US" b="0" i="0" dirty="0" err="1">
                <a:solidFill>
                  <a:srgbClr val="333333"/>
                </a:solidFill>
                <a:effectLst/>
                <a:latin typeface="Verdana" panose="020B0604030504040204" pitchFamily="34" charset="0"/>
              </a:rPr>
              <a:t>trunking</a:t>
            </a:r>
            <a:r>
              <a:rPr lang="en-US" b="0" i="0" dirty="0">
                <a:solidFill>
                  <a:srgbClr val="333333"/>
                </a:solidFill>
                <a:effectLst/>
                <a:latin typeface="Verdana" panose="020B0604030504040204" pitchFamily="34" charset="0"/>
              </a:rPr>
              <a:t> protocol and the “switchport mode trunk” command. The full configuration of Layer 3 switch is listed below:</a:t>
            </a:r>
            <a:endParaRPr lang="en-US" dirty="0"/>
          </a:p>
        </p:txBody>
      </p:sp>
    </p:spTree>
    <p:extLst>
      <p:ext uri="{BB962C8B-B14F-4D97-AF65-F5344CB8AC3E}">
        <p14:creationId xmlns:p14="http://schemas.microsoft.com/office/powerpoint/2010/main" val="17585848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78C88-BDB9-A206-27DC-F668C056580D}"/>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F8922A89-BDD8-6AE0-629D-BE4E8419952A}"/>
              </a:ext>
            </a:extLst>
          </p:cNvPr>
          <p:cNvSpPr>
            <a:spLocks noGrp="1"/>
          </p:cNvSpPr>
          <p:nvPr>
            <p:ph idx="1"/>
          </p:nvPr>
        </p:nvSpPr>
        <p:spPr/>
        <p:txBody>
          <a:bodyPr>
            <a:normAutofit fontScale="62500" lnSpcReduction="20000"/>
          </a:bodyPr>
          <a:lstStyle/>
          <a:p>
            <a:pPr algn="l"/>
            <a:r>
              <a:rPr lang="en-US" b="0" i="0" dirty="0">
                <a:solidFill>
                  <a:srgbClr val="333333"/>
                </a:solidFill>
                <a:effectLst/>
                <a:latin typeface="Verdana" panose="020B0604030504040204" pitchFamily="34" charset="0"/>
              </a:rPr>
              <a:t>VLANs are used to create logical broadcast domains and Layer 3 segments in a given network</a:t>
            </a:r>
          </a:p>
          <a:p>
            <a:pPr algn="l"/>
            <a:r>
              <a:rPr lang="en-US" b="0" i="0" dirty="0">
                <a:solidFill>
                  <a:srgbClr val="333333"/>
                </a:solidFill>
                <a:effectLst/>
                <a:latin typeface="Verdana" panose="020B0604030504040204" pitchFamily="34" charset="0"/>
              </a:rPr>
              <a:t>A VLAN is considered a logical segment because the traffic it carries may traverse multiple physical network segments</a:t>
            </a:r>
          </a:p>
          <a:p>
            <a:pPr algn="l"/>
            <a:r>
              <a:rPr lang="en-US" b="0" i="0" dirty="0">
                <a:solidFill>
                  <a:srgbClr val="333333"/>
                </a:solidFill>
                <a:effectLst/>
                <a:latin typeface="Verdana" panose="020B0604030504040204" pitchFamily="34" charset="0"/>
              </a:rPr>
              <a:t>Cisco switches support two different </a:t>
            </a:r>
            <a:r>
              <a:rPr lang="en-US" b="0" i="0" dirty="0" err="1">
                <a:solidFill>
                  <a:srgbClr val="333333"/>
                </a:solidFill>
                <a:effectLst/>
                <a:latin typeface="Verdana" panose="020B0604030504040204" pitchFamily="34" charset="0"/>
              </a:rPr>
              <a:t>trunking</a:t>
            </a:r>
            <a:r>
              <a:rPr lang="en-US" b="0" i="0" dirty="0">
                <a:solidFill>
                  <a:srgbClr val="333333"/>
                </a:solidFill>
                <a:effectLst/>
                <a:latin typeface="Verdana" panose="020B0604030504040204" pitchFamily="34" charset="0"/>
              </a:rPr>
              <a:t> protocols, Inter-Switch Link (ISL) and IEEE 802.1q. In 802.1q, native VLAN frames are untagged.</a:t>
            </a:r>
          </a:p>
          <a:p>
            <a:pPr algn="l"/>
            <a:r>
              <a:rPr lang="en-US" b="0" i="0" dirty="0">
                <a:solidFill>
                  <a:srgbClr val="333333"/>
                </a:solidFill>
                <a:effectLst/>
                <a:latin typeface="Verdana" panose="020B0604030504040204" pitchFamily="34" charset="0"/>
              </a:rPr>
              <a:t>The benefits of VLANs</a:t>
            </a:r>
          </a:p>
          <a:p>
            <a:pPr lvl="1"/>
            <a:r>
              <a:rPr lang="en-US" b="0" i="0" dirty="0">
                <a:solidFill>
                  <a:srgbClr val="333333"/>
                </a:solidFill>
                <a:effectLst/>
                <a:latin typeface="Verdana" panose="020B0604030504040204" pitchFamily="34" charset="0"/>
              </a:rPr>
              <a:t>1. Segment networks into multiple smaller broadcast domains without Layer 3 network devices such as routers. VLANs make switched Ethernet networks more bandwidth-efficient through this segmentation of broadcast domains.</a:t>
            </a:r>
          </a:p>
          <a:p>
            <a:pPr lvl="1"/>
            <a:r>
              <a:rPr lang="en-US" b="0" i="0" dirty="0">
                <a:solidFill>
                  <a:srgbClr val="333333"/>
                </a:solidFill>
                <a:effectLst/>
                <a:latin typeface="Verdana" panose="020B0604030504040204" pitchFamily="34" charset="0"/>
              </a:rPr>
              <a:t>2. Group users together according to function rather than physical location. In a traditional network, users in a given work area are on the same network segment regardless of their job description or department. Using VLANs, however, you could have one salesperson in each work area of the building sitting next to engineers in their work area, yet on a separate logical network segment.</a:t>
            </a:r>
          </a:p>
          <a:p>
            <a:pPr lvl="1"/>
            <a:r>
              <a:rPr lang="en-US" b="0" i="0" dirty="0">
                <a:solidFill>
                  <a:srgbClr val="333333"/>
                </a:solidFill>
                <a:effectLst/>
                <a:latin typeface="Verdana" panose="020B0604030504040204" pitchFamily="34" charset="0"/>
              </a:rPr>
              <a:t>3. The ability to reconfigure ports logically without the need to unplug wires and move them around. If a user takes his or her computer to a new work area, no cables need to be swapped on the switch, just access the switch and issue commands to change the VLAN assignments for the old and new ports. VLANs thus simplify the process of adding, moving, and deleting users on the network. They also improve network security by avoiding cabling mishaps that can arise when users are moved in traditional Ethernet networks.</a:t>
            </a:r>
          </a:p>
          <a:p>
            <a:endParaRPr lang="en-US" dirty="0"/>
          </a:p>
        </p:txBody>
      </p:sp>
    </p:spTree>
    <p:extLst>
      <p:ext uri="{BB962C8B-B14F-4D97-AF65-F5344CB8AC3E}">
        <p14:creationId xmlns:p14="http://schemas.microsoft.com/office/powerpoint/2010/main" val="20685135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1975</Words>
  <Application>Microsoft Office PowerPoint</Application>
  <PresentationFormat>Widescreen</PresentationFormat>
  <Paragraphs>100</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Verdana</vt:lpstr>
      <vt:lpstr>Office Theme</vt:lpstr>
      <vt:lpstr>VLANs &amp; TRUNKs</vt:lpstr>
      <vt:lpstr>What is VLAN?</vt:lpstr>
      <vt:lpstr>Example</vt:lpstr>
      <vt:lpstr>Problems w/o VLANs</vt:lpstr>
      <vt:lpstr>VLANs</vt:lpstr>
      <vt:lpstr>VLAN Solution</vt:lpstr>
      <vt:lpstr>Questions about VLANs</vt:lpstr>
      <vt:lpstr>Do we still need a router?</vt:lpstr>
      <vt:lpstr>TRUNKs</vt:lpstr>
      <vt:lpstr>VLAN Tagging in TRUNKs</vt:lpstr>
      <vt:lpstr>Trunks &amp; Inter-VLAN routing</vt:lpstr>
      <vt:lpstr>InterVLAN routing</vt:lpstr>
      <vt:lpstr>VLAN Configuration on a Switch</vt:lpstr>
      <vt:lpstr>TRUNK Configuration on a Switch</vt:lpstr>
      <vt:lpstr>What is InterVLAN routing?</vt:lpstr>
      <vt:lpstr>InterVLAN Routing</vt:lpstr>
      <vt:lpstr>InterVLAN Routing…</vt:lpstr>
      <vt:lpstr>Problem with the earlier network routing</vt:lpstr>
      <vt:lpstr>Router-on-a-stick</vt:lpstr>
      <vt:lpstr>Configuring InterVLAN routing</vt:lpstr>
      <vt:lpstr>Configuring InterVLAN routing…</vt:lpstr>
      <vt:lpstr>Create sub-interfaces, set 802.1Q trunking protocol and ip address on each sub-interface</vt:lpstr>
      <vt:lpstr>Switch VLAN/TRUNK configuration</vt:lpstr>
      <vt:lpstr>Using Layer 3 Switch</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VLANs &amp; TRUNKs</dc:title>
  <dc:creator>#LEONG PENG KWAI#</dc:creator>
  <cp:lastModifiedBy>John PK LEONG (TP)</cp:lastModifiedBy>
  <cp:revision>39</cp:revision>
  <dcterms:created xsi:type="dcterms:W3CDTF">2024-03-19T06:09:01Z</dcterms:created>
  <dcterms:modified xsi:type="dcterms:W3CDTF">2024-03-20T00:28:53Z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528611d-fe69-484f-b56b-0db8a0d79612_Enabled">
    <vt:lpwstr>true</vt:lpwstr>
  </property>
  <property fmtid="{D5CDD505-2E9C-101B-9397-08002B2CF9AE}" pid="3" name="MSIP_Label_d528611d-fe69-484f-b56b-0db8a0d79612_SetDate">
    <vt:lpwstr>2024-03-19T07:35:23Z</vt:lpwstr>
  </property>
  <property fmtid="{D5CDD505-2E9C-101B-9397-08002B2CF9AE}" pid="4" name="MSIP_Label_d528611d-fe69-484f-b56b-0db8a0d79612_Method">
    <vt:lpwstr>Privileged</vt:lpwstr>
  </property>
  <property fmtid="{D5CDD505-2E9C-101B-9397-08002B2CF9AE}" pid="5" name="MSIP_Label_d528611d-fe69-484f-b56b-0db8a0d79612_Name">
    <vt:lpwstr>Public</vt:lpwstr>
  </property>
  <property fmtid="{D5CDD505-2E9C-101B-9397-08002B2CF9AE}" pid="6" name="MSIP_Label_d528611d-fe69-484f-b56b-0db8a0d79612_SiteId">
    <vt:lpwstr>25a99bf0-8e72-472a-ae50-adfbdf0df6f1</vt:lpwstr>
  </property>
  <property fmtid="{D5CDD505-2E9C-101B-9397-08002B2CF9AE}" pid="7" name="MSIP_Label_d528611d-fe69-484f-b56b-0db8a0d79612_ActionId">
    <vt:lpwstr>4d9fe185-04b5-4fea-ba9e-06451b60109c</vt:lpwstr>
  </property>
  <property fmtid="{D5CDD505-2E9C-101B-9397-08002B2CF9AE}" pid="8" name="MSIP_Label_d528611d-fe69-484f-b56b-0db8a0d79612_ContentBits">
    <vt:lpwstr>0</vt:lpwstr>
  </property>
</Properties>
</file>