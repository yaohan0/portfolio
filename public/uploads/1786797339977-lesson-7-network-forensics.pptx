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99"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1BD90C-588F-74DF-5F9C-ACC020CDAC33}" v="7" dt="2026-04-12T23:34:16.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8" d="100"/>
          <a:sy n="88" d="100"/>
        </p:scale>
        <p:origin x="660"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Shuhadah BINTE JALIL (TP)" userId="6a975622-816e-4480-9323-6edcbb1b288f" providerId="ADAL" clId="{99A77B70-6630-4305-B260-DF09FCBD32FD}"/>
    <pc:docChg chg="undo custSel mod addSld modSld">
      <pc:chgData name="Nur Shuhadah BINTE JALIL (TP)" userId="6a975622-816e-4480-9323-6edcbb1b288f" providerId="ADAL" clId="{99A77B70-6630-4305-B260-DF09FCBD32FD}" dt="2026-04-09T01:55:36.342" v="1991"/>
      <pc:docMkLst>
        <pc:docMk/>
      </pc:docMkLst>
      <pc:sldChg chg="modSp mod">
        <pc:chgData name="Nur Shuhadah BINTE JALIL (TP)" userId="6a975622-816e-4480-9323-6edcbb1b288f" providerId="ADAL" clId="{99A77B70-6630-4305-B260-DF09FCBD32FD}" dt="2026-04-09T01:55:14.518" v="1990" actId="20577"/>
        <pc:sldMkLst>
          <pc:docMk/>
          <pc:sldMk cId="0" sldId="256"/>
        </pc:sldMkLst>
        <pc:spChg chg="mod">
          <ac:chgData name="Nur Shuhadah BINTE JALIL (TP)" userId="6a975622-816e-4480-9323-6edcbb1b288f" providerId="ADAL" clId="{99A77B70-6630-4305-B260-DF09FCBD32FD}" dt="2026-04-09T01:55:14.518" v="1990" actId="20577"/>
          <ac:spMkLst>
            <pc:docMk/>
            <pc:sldMk cId="0" sldId="256"/>
            <ac:spMk id="11" creationId="{00000000-0000-0000-0000-000000000000}"/>
          </ac:spMkLst>
        </pc:spChg>
      </pc:sldChg>
      <pc:sldChg chg="delSp modSp mod">
        <pc:chgData name="Nur Shuhadah BINTE JALIL (TP)" userId="6a975622-816e-4480-9323-6edcbb1b288f" providerId="ADAL" clId="{99A77B70-6630-4305-B260-DF09FCBD32FD}" dt="2026-04-09T01:11:11.692" v="6" actId="478"/>
        <pc:sldMkLst>
          <pc:docMk/>
          <pc:sldMk cId="0" sldId="260"/>
        </pc:sldMkLst>
        <pc:spChg chg="mod">
          <ac:chgData name="Nur Shuhadah BINTE JALIL (TP)" userId="6a975622-816e-4480-9323-6edcbb1b288f" providerId="ADAL" clId="{99A77B70-6630-4305-B260-DF09FCBD32FD}" dt="2026-04-09T01:10:44.093" v="1" actId="1076"/>
          <ac:spMkLst>
            <pc:docMk/>
            <pc:sldMk cId="0" sldId="260"/>
            <ac:spMk id="31" creationId="{00000000-0000-0000-0000-000000000000}"/>
          </ac:spMkLst>
        </pc:spChg>
        <pc:spChg chg="mod">
          <ac:chgData name="Nur Shuhadah BINTE JALIL (TP)" userId="6a975622-816e-4480-9323-6edcbb1b288f" providerId="ADAL" clId="{99A77B70-6630-4305-B260-DF09FCBD32FD}" dt="2026-04-09T01:10:50.440" v="2" actId="1076"/>
          <ac:spMkLst>
            <pc:docMk/>
            <pc:sldMk cId="0" sldId="260"/>
            <ac:spMk id="32" creationId="{00000000-0000-0000-0000-000000000000}"/>
          </ac:spMkLst>
        </pc:spChg>
        <pc:spChg chg="mod">
          <ac:chgData name="Nur Shuhadah BINTE JALIL (TP)" userId="6a975622-816e-4480-9323-6edcbb1b288f" providerId="ADAL" clId="{99A77B70-6630-4305-B260-DF09FCBD32FD}" dt="2026-04-09T01:11:01.931" v="5" actId="1076"/>
          <ac:spMkLst>
            <pc:docMk/>
            <pc:sldMk cId="0" sldId="260"/>
            <ac:spMk id="33" creationId="{00000000-0000-0000-0000-000000000000}"/>
          </ac:spMkLst>
        </pc:spChg>
        <pc:spChg chg="mod">
          <ac:chgData name="Nur Shuhadah BINTE JALIL (TP)" userId="6a975622-816e-4480-9323-6edcbb1b288f" providerId="ADAL" clId="{99A77B70-6630-4305-B260-DF09FCBD32FD}" dt="2026-04-09T01:11:01.931" v="5" actId="1076"/>
          <ac:spMkLst>
            <pc:docMk/>
            <pc:sldMk cId="0" sldId="260"/>
            <ac:spMk id="34" creationId="{00000000-0000-0000-0000-000000000000}"/>
          </ac:spMkLst>
        </pc:spChg>
      </pc:sldChg>
      <pc:sldChg chg="modSp mod">
        <pc:chgData name="Nur Shuhadah BINTE JALIL (TP)" userId="6a975622-816e-4480-9323-6edcbb1b288f" providerId="ADAL" clId="{99A77B70-6630-4305-B260-DF09FCBD32FD}" dt="2026-04-09T01:14:16.676" v="14" actId="1076"/>
        <pc:sldMkLst>
          <pc:docMk/>
          <pc:sldMk cId="0" sldId="262"/>
        </pc:sldMkLst>
        <pc:spChg chg="mod">
          <ac:chgData name="Nur Shuhadah BINTE JALIL (TP)" userId="6a975622-816e-4480-9323-6edcbb1b288f" providerId="ADAL" clId="{99A77B70-6630-4305-B260-DF09FCBD32FD}" dt="2026-04-09T01:14:07.290" v="12" actId="1076"/>
          <ac:spMkLst>
            <pc:docMk/>
            <pc:sldMk cId="0" sldId="262"/>
            <ac:spMk id="8" creationId="{00000000-0000-0000-0000-000000000000}"/>
          </ac:spMkLst>
        </pc:spChg>
        <pc:spChg chg="mod">
          <ac:chgData name="Nur Shuhadah BINTE JALIL (TP)" userId="6a975622-816e-4480-9323-6edcbb1b288f" providerId="ADAL" clId="{99A77B70-6630-4305-B260-DF09FCBD32FD}" dt="2026-04-09T01:14:01.377" v="11" actId="14100"/>
          <ac:spMkLst>
            <pc:docMk/>
            <pc:sldMk cId="0" sldId="262"/>
            <ac:spMk id="11" creationId="{00000000-0000-0000-0000-000000000000}"/>
          </ac:spMkLst>
        </pc:spChg>
        <pc:spChg chg="mod">
          <ac:chgData name="Nur Shuhadah BINTE JALIL (TP)" userId="6a975622-816e-4480-9323-6edcbb1b288f" providerId="ADAL" clId="{99A77B70-6630-4305-B260-DF09FCBD32FD}" dt="2026-04-09T01:14:13.125" v="13" actId="1076"/>
          <ac:spMkLst>
            <pc:docMk/>
            <pc:sldMk cId="0" sldId="262"/>
            <ac:spMk id="12" creationId="{00000000-0000-0000-0000-000000000000}"/>
          </ac:spMkLst>
        </pc:spChg>
        <pc:spChg chg="mod">
          <ac:chgData name="Nur Shuhadah BINTE JALIL (TP)" userId="6a975622-816e-4480-9323-6edcbb1b288f" providerId="ADAL" clId="{99A77B70-6630-4305-B260-DF09FCBD32FD}" dt="2026-04-09T01:13:27.569" v="9" actId="1076"/>
          <ac:spMkLst>
            <pc:docMk/>
            <pc:sldMk cId="0" sldId="262"/>
            <ac:spMk id="25" creationId="{00000000-0000-0000-0000-000000000000}"/>
          </ac:spMkLst>
        </pc:spChg>
        <pc:spChg chg="mod">
          <ac:chgData name="Nur Shuhadah BINTE JALIL (TP)" userId="6a975622-816e-4480-9323-6edcbb1b288f" providerId="ADAL" clId="{99A77B70-6630-4305-B260-DF09FCBD32FD}" dt="2026-04-09T01:13:37.837" v="10" actId="1076"/>
          <ac:spMkLst>
            <pc:docMk/>
            <pc:sldMk cId="0" sldId="262"/>
            <ac:spMk id="26" creationId="{00000000-0000-0000-0000-000000000000}"/>
          </ac:spMkLst>
        </pc:spChg>
        <pc:spChg chg="mod">
          <ac:chgData name="Nur Shuhadah BINTE JALIL (TP)" userId="6a975622-816e-4480-9323-6edcbb1b288f" providerId="ADAL" clId="{99A77B70-6630-4305-B260-DF09FCBD32FD}" dt="2026-04-09T01:14:16.676" v="14" actId="1076"/>
          <ac:spMkLst>
            <pc:docMk/>
            <pc:sldMk cId="0" sldId="262"/>
            <ac:spMk id="27" creationId="{00000000-0000-0000-0000-000000000000}"/>
          </ac:spMkLst>
        </pc:spChg>
      </pc:sldChg>
      <pc:sldChg chg="delSp modSp mod">
        <pc:chgData name="Nur Shuhadah BINTE JALIL (TP)" userId="6a975622-816e-4480-9323-6edcbb1b288f" providerId="ADAL" clId="{99A77B70-6630-4305-B260-DF09FCBD32FD}" dt="2026-04-09T01:39:21.625" v="857" actId="1076"/>
        <pc:sldMkLst>
          <pc:docMk/>
          <pc:sldMk cId="0" sldId="275"/>
        </pc:sldMkLst>
        <pc:spChg chg="mod">
          <ac:chgData name="Nur Shuhadah BINTE JALIL (TP)" userId="6a975622-816e-4480-9323-6edcbb1b288f" providerId="ADAL" clId="{99A77B70-6630-4305-B260-DF09FCBD32FD}" dt="2026-04-09T01:36:13.578" v="599" actId="20577"/>
          <ac:spMkLst>
            <pc:docMk/>
            <pc:sldMk cId="0" sldId="275"/>
            <ac:spMk id="4" creationId="{00000000-0000-0000-0000-000000000000}"/>
          </ac:spMkLst>
        </pc:spChg>
        <pc:spChg chg="mod">
          <ac:chgData name="Nur Shuhadah BINTE JALIL (TP)" userId="6a975622-816e-4480-9323-6edcbb1b288f" providerId="ADAL" clId="{99A77B70-6630-4305-B260-DF09FCBD32FD}" dt="2026-04-09T01:36:10.104" v="598" actId="14100"/>
          <ac:spMkLst>
            <pc:docMk/>
            <pc:sldMk cId="0" sldId="275"/>
            <ac:spMk id="5" creationId="{00000000-0000-0000-0000-000000000000}"/>
          </ac:spMkLst>
        </pc:spChg>
        <pc:spChg chg="mod">
          <ac:chgData name="Nur Shuhadah BINTE JALIL (TP)" userId="6a975622-816e-4480-9323-6edcbb1b288f" providerId="ADAL" clId="{99A77B70-6630-4305-B260-DF09FCBD32FD}" dt="2026-04-09T01:38:10.223" v="792" actId="1036"/>
          <ac:spMkLst>
            <pc:docMk/>
            <pc:sldMk cId="0" sldId="275"/>
            <ac:spMk id="8" creationId="{00000000-0000-0000-0000-000000000000}"/>
          </ac:spMkLst>
        </pc:spChg>
        <pc:spChg chg="mod">
          <ac:chgData name="Nur Shuhadah BINTE JALIL (TP)" userId="6a975622-816e-4480-9323-6edcbb1b288f" providerId="ADAL" clId="{99A77B70-6630-4305-B260-DF09FCBD32FD}" dt="2026-04-09T01:38:34.892" v="835" actId="1036"/>
          <ac:spMkLst>
            <pc:docMk/>
            <pc:sldMk cId="0" sldId="275"/>
            <ac:spMk id="9" creationId="{00000000-0000-0000-0000-000000000000}"/>
          </ac:spMkLst>
        </pc:spChg>
        <pc:spChg chg="mod">
          <ac:chgData name="Nur Shuhadah BINTE JALIL (TP)" userId="6a975622-816e-4480-9323-6edcbb1b288f" providerId="ADAL" clId="{99A77B70-6630-4305-B260-DF09FCBD32FD}" dt="2026-04-09T01:38:34.892" v="835" actId="1036"/>
          <ac:spMkLst>
            <pc:docMk/>
            <pc:sldMk cId="0" sldId="275"/>
            <ac:spMk id="10" creationId="{00000000-0000-0000-0000-000000000000}"/>
          </ac:spMkLst>
        </pc:spChg>
        <pc:spChg chg="mod">
          <ac:chgData name="Nur Shuhadah BINTE JALIL (TP)" userId="6a975622-816e-4480-9323-6edcbb1b288f" providerId="ADAL" clId="{99A77B70-6630-4305-B260-DF09FCBD32FD}" dt="2026-04-09T01:38:34.892" v="835" actId="1036"/>
          <ac:spMkLst>
            <pc:docMk/>
            <pc:sldMk cId="0" sldId="275"/>
            <ac:spMk id="11" creationId="{00000000-0000-0000-0000-000000000000}"/>
          </ac:spMkLst>
        </pc:spChg>
        <pc:spChg chg="mod">
          <ac:chgData name="Nur Shuhadah BINTE JALIL (TP)" userId="6a975622-816e-4480-9323-6edcbb1b288f" providerId="ADAL" clId="{99A77B70-6630-4305-B260-DF09FCBD32FD}" dt="2026-04-09T01:38:34.892" v="835" actId="1036"/>
          <ac:spMkLst>
            <pc:docMk/>
            <pc:sldMk cId="0" sldId="275"/>
            <ac:spMk id="12" creationId="{00000000-0000-0000-0000-000000000000}"/>
          </ac:spMkLst>
        </pc:spChg>
        <pc:spChg chg="mod">
          <ac:chgData name="Nur Shuhadah BINTE JALIL (TP)" userId="6a975622-816e-4480-9323-6edcbb1b288f" providerId="ADAL" clId="{99A77B70-6630-4305-B260-DF09FCBD32FD}" dt="2026-04-09T01:38:34.892" v="835" actId="1036"/>
          <ac:spMkLst>
            <pc:docMk/>
            <pc:sldMk cId="0" sldId="275"/>
            <ac:spMk id="13" creationId="{00000000-0000-0000-0000-000000000000}"/>
          </ac:spMkLst>
        </pc:spChg>
        <pc:spChg chg="mod">
          <ac:chgData name="Nur Shuhadah BINTE JALIL (TP)" userId="6a975622-816e-4480-9323-6edcbb1b288f" providerId="ADAL" clId="{99A77B70-6630-4305-B260-DF09FCBD32FD}" dt="2026-04-09T01:38:34.892" v="835" actId="1036"/>
          <ac:spMkLst>
            <pc:docMk/>
            <pc:sldMk cId="0" sldId="275"/>
            <ac:spMk id="14" creationId="{00000000-0000-0000-0000-000000000000}"/>
          </ac:spMkLst>
        </pc:spChg>
        <pc:spChg chg="mod">
          <ac:chgData name="Nur Shuhadah BINTE JALIL (TP)" userId="6a975622-816e-4480-9323-6edcbb1b288f" providerId="ADAL" clId="{99A77B70-6630-4305-B260-DF09FCBD32FD}" dt="2026-04-09T01:38:56.499" v="856" actId="1036"/>
          <ac:spMkLst>
            <pc:docMk/>
            <pc:sldMk cId="0" sldId="275"/>
            <ac:spMk id="15" creationId="{00000000-0000-0000-0000-000000000000}"/>
          </ac:spMkLst>
        </pc:spChg>
        <pc:spChg chg="mod">
          <ac:chgData name="Nur Shuhadah BINTE JALIL (TP)" userId="6a975622-816e-4480-9323-6edcbb1b288f" providerId="ADAL" clId="{99A77B70-6630-4305-B260-DF09FCBD32FD}" dt="2026-04-09T01:38:56.499" v="856" actId="1036"/>
          <ac:spMkLst>
            <pc:docMk/>
            <pc:sldMk cId="0" sldId="275"/>
            <ac:spMk id="16" creationId="{00000000-0000-0000-0000-000000000000}"/>
          </ac:spMkLst>
        </pc:spChg>
        <pc:spChg chg="mod">
          <ac:chgData name="Nur Shuhadah BINTE JALIL (TP)" userId="6a975622-816e-4480-9323-6edcbb1b288f" providerId="ADAL" clId="{99A77B70-6630-4305-B260-DF09FCBD32FD}" dt="2026-04-09T01:39:21.625" v="857" actId="1076"/>
          <ac:spMkLst>
            <pc:docMk/>
            <pc:sldMk cId="0" sldId="275"/>
            <ac:spMk id="17" creationId="{00000000-0000-0000-0000-000000000000}"/>
          </ac:spMkLst>
        </pc:spChg>
      </pc:sldChg>
      <pc:sldChg chg="modSp mod">
        <pc:chgData name="Nur Shuhadah BINTE JALIL (TP)" userId="6a975622-816e-4480-9323-6edcbb1b288f" providerId="ADAL" clId="{99A77B70-6630-4305-B260-DF09FCBD32FD}" dt="2026-04-09T01:43:16.675" v="915" actId="1076"/>
        <pc:sldMkLst>
          <pc:docMk/>
          <pc:sldMk cId="0" sldId="281"/>
        </pc:sldMkLst>
        <pc:spChg chg="mod">
          <ac:chgData name="Nur Shuhadah BINTE JALIL (TP)" userId="6a975622-816e-4480-9323-6edcbb1b288f" providerId="ADAL" clId="{99A77B70-6630-4305-B260-DF09FCBD32FD}" dt="2026-04-09T01:43:07.452" v="913" actId="1076"/>
          <ac:spMkLst>
            <pc:docMk/>
            <pc:sldMk cId="0" sldId="281"/>
            <ac:spMk id="29" creationId="{00000000-0000-0000-0000-000000000000}"/>
          </ac:spMkLst>
        </pc:spChg>
        <pc:spChg chg="mod">
          <ac:chgData name="Nur Shuhadah BINTE JALIL (TP)" userId="6a975622-816e-4480-9323-6edcbb1b288f" providerId="ADAL" clId="{99A77B70-6630-4305-B260-DF09FCBD32FD}" dt="2026-04-09T01:43:12.147" v="914" actId="1076"/>
          <ac:spMkLst>
            <pc:docMk/>
            <pc:sldMk cId="0" sldId="281"/>
            <ac:spMk id="32" creationId="{00000000-0000-0000-0000-000000000000}"/>
          </ac:spMkLst>
        </pc:spChg>
        <pc:spChg chg="mod">
          <ac:chgData name="Nur Shuhadah BINTE JALIL (TP)" userId="6a975622-816e-4480-9323-6edcbb1b288f" providerId="ADAL" clId="{99A77B70-6630-4305-B260-DF09FCBD32FD}" dt="2026-04-09T01:43:16.675" v="915" actId="1076"/>
          <ac:spMkLst>
            <pc:docMk/>
            <pc:sldMk cId="0" sldId="281"/>
            <ac:spMk id="33" creationId="{00000000-0000-0000-0000-000000000000}"/>
          </ac:spMkLst>
        </pc:spChg>
      </pc:sldChg>
      <pc:sldChg chg="modSp mod">
        <pc:chgData name="Nur Shuhadah BINTE JALIL (TP)" userId="6a975622-816e-4480-9323-6edcbb1b288f" providerId="ADAL" clId="{99A77B70-6630-4305-B260-DF09FCBD32FD}" dt="2026-04-09T01:44:56.750" v="919" actId="167"/>
        <pc:sldMkLst>
          <pc:docMk/>
          <pc:sldMk cId="0" sldId="282"/>
        </pc:sldMkLst>
        <pc:spChg chg="mod ord">
          <ac:chgData name="Nur Shuhadah BINTE JALIL (TP)" userId="6a975622-816e-4480-9323-6edcbb1b288f" providerId="ADAL" clId="{99A77B70-6630-4305-B260-DF09FCBD32FD}" dt="2026-04-09T01:44:49.565" v="918" actId="166"/>
          <ac:spMkLst>
            <pc:docMk/>
            <pc:sldMk cId="0" sldId="282"/>
            <ac:spMk id="36" creationId="{00000000-0000-0000-0000-000000000000}"/>
          </ac:spMkLst>
        </pc:spChg>
      </pc:sldChg>
      <pc:sldChg chg="modSp mod">
        <pc:chgData name="Nur Shuhadah BINTE JALIL (TP)" userId="6a975622-816e-4480-9323-6edcbb1b288f" providerId="ADAL" clId="{99A77B70-6630-4305-B260-DF09FCBD32FD}" dt="2026-04-09T01:46:50.395" v="929" actId="167"/>
        <pc:sldMkLst>
          <pc:docMk/>
          <pc:sldMk cId="0" sldId="283"/>
        </pc:sldMkLst>
        <pc:spChg chg="mod">
          <ac:chgData name="Nur Shuhadah BINTE JALIL (TP)" userId="6a975622-816e-4480-9323-6edcbb1b288f" providerId="ADAL" clId="{99A77B70-6630-4305-B260-DF09FCBD32FD}" dt="2026-04-09T01:46:28.777" v="926" actId="14100"/>
          <ac:spMkLst>
            <pc:docMk/>
            <pc:sldMk cId="0" sldId="283"/>
            <ac:spMk id="26" creationId="{00000000-0000-0000-0000-000000000000}"/>
          </ac:spMkLst>
        </pc:spChg>
        <pc:spChg chg="mod">
          <ac:chgData name="Nur Shuhadah BINTE JALIL (TP)" userId="6a975622-816e-4480-9323-6edcbb1b288f" providerId="ADAL" clId="{99A77B70-6630-4305-B260-DF09FCBD32FD}" dt="2026-04-09T01:46:35.002" v="927" actId="14100"/>
          <ac:spMkLst>
            <pc:docMk/>
            <pc:sldMk cId="0" sldId="283"/>
            <ac:spMk id="29" creationId="{00000000-0000-0000-0000-000000000000}"/>
          </ac:spMkLst>
        </pc:spChg>
        <pc:spChg chg="mod">
          <ac:chgData name="Nur Shuhadah BINTE JALIL (TP)" userId="6a975622-816e-4480-9323-6edcbb1b288f" providerId="ADAL" clId="{99A77B70-6630-4305-B260-DF09FCBD32FD}" dt="2026-04-09T01:46:07.654" v="925" actId="1076"/>
          <ac:spMkLst>
            <pc:docMk/>
            <pc:sldMk cId="0" sldId="283"/>
            <ac:spMk id="31" creationId="{00000000-0000-0000-0000-000000000000}"/>
          </ac:spMkLst>
        </pc:spChg>
        <pc:spChg chg="mod">
          <ac:chgData name="Nur Shuhadah BINTE JALIL (TP)" userId="6a975622-816e-4480-9323-6edcbb1b288f" providerId="ADAL" clId="{99A77B70-6630-4305-B260-DF09FCBD32FD}" dt="2026-04-09T01:46:40.450" v="928" actId="1076"/>
          <ac:spMkLst>
            <pc:docMk/>
            <pc:sldMk cId="0" sldId="283"/>
            <ac:spMk id="32" creationId="{00000000-0000-0000-0000-000000000000}"/>
          </ac:spMkLst>
        </pc:spChg>
      </pc:sldChg>
      <pc:sldChg chg="modSp mod">
        <pc:chgData name="Nur Shuhadah BINTE JALIL (TP)" userId="6a975622-816e-4480-9323-6edcbb1b288f" providerId="ADAL" clId="{99A77B70-6630-4305-B260-DF09FCBD32FD}" dt="2026-04-09T01:50:32.553" v="1278" actId="1035"/>
        <pc:sldMkLst>
          <pc:docMk/>
          <pc:sldMk cId="0" sldId="284"/>
        </pc:sldMkLst>
        <pc:spChg chg="mod">
          <ac:chgData name="Nur Shuhadah BINTE JALIL (TP)" userId="6a975622-816e-4480-9323-6edcbb1b288f" providerId="ADAL" clId="{99A77B70-6630-4305-B260-DF09FCBD32FD}" dt="2026-04-09T01:49:23.295" v="1002" actId="1036"/>
          <ac:spMkLst>
            <pc:docMk/>
            <pc:sldMk cId="0" sldId="284"/>
            <ac:spMk id="29" creationId="{00000000-0000-0000-0000-000000000000}"/>
          </ac:spMkLst>
        </pc:spChg>
        <pc:spChg chg="mod">
          <ac:chgData name="Nur Shuhadah BINTE JALIL (TP)" userId="6a975622-816e-4480-9323-6edcbb1b288f" providerId="ADAL" clId="{99A77B70-6630-4305-B260-DF09FCBD32FD}" dt="2026-04-09T01:50:32.553" v="1278" actId="1035"/>
          <ac:spMkLst>
            <pc:docMk/>
            <pc:sldMk cId="0" sldId="284"/>
            <ac:spMk id="31" creationId="{00000000-0000-0000-0000-000000000000}"/>
          </ac:spMkLst>
        </pc:spChg>
        <pc:spChg chg="mod">
          <ac:chgData name="Nur Shuhadah BINTE JALIL (TP)" userId="6a975622-816e-4480-9323-6edcbb1b288f" providerId="ADAL" clId="{99A77B70-6630-4305-B260-DF09FCBD32FD}" dt="2026-04-09T01:49:34.378" v="1119" actId="1036"/>
          <ac:spMkLst>
            <pc:docMk/>
            <pc:sldMk cId="0" sldId="284"/>
            <ac:spMk id="32" creationId="{00000000-0000-0000-0000-000000000000}"/>
          </ac:spMkLst>
        </pc:spChg>
      </pc:sldChg>
      <pc:sldChg chg="modSp mod">
        <pc:chgData name="Nur Shuhadah BINTE JALIL (TP)" userId="6a975622-816e-4480-9323-6edcbb1b288f" providerId="ADAL" clId="{99A77B70-6630-4305-B260-DF09FCBD32FD}" dt="2026-04-09T01:51:31.451" v="1551" actId="1038"/>
        <pc:sldMkLst>
          <pc:docMk/>
          <pc:sldMk cId="0" sldId="285"/>
        </pc:sldMkLst>
        <pc:spChg chg="mod">
          <ac:chgData name="Nur Shuhadah BINTE JALIL (TP)" userId="6a975622-816e-4480-9323-6edcbb1b288f" providerId="ADAL" clId="{99A77B70-6630-4305-B260-DF09FCBD32FD}" dt="2026-04-09T01:51:14.970" v="1441" actId="1035"/>
          <ac:spMkLst>
            <pc:docMk/>
            <pc:sldMk cId="0" sldId="285"/>
            <ac:spMk id="31" creationId="{00000000-0000-0000-0000-000000000000}"/>
          </ac:spMkLst>
        </pc:spChg>
        <pc:spChg chg="mod">
          <ac:chgData name="Nur Shuhadah BINTE JALIL (TP)" userId="6a975622-816e-4480-9323-6edcbb1b288f" providerId="ADAL" clId="{99A77B70-6630-4305-B260-DF09FCBD32FD}" dt="2026-04-09T01:51:31.451" v="1551" actId="1038"/>
          <ac:spMkLst>
            <pc:docMk/>
            <pc:sldMk cId="0" sldId="285"/>
            <ac:spMk id="32" creationId="{00000000-0000-0000-0000-000000000000}"/>
          </ac:spMkLst>
        </pc:spChg>
      </pc:sldChg>
      <pc:sldChg chg="modSp mod">
        <pc:chgData name="Nur Shuhadah BINTE JALIL (TP)" userId="6a975622-816e-4480-9323-6edcbb1b288f" providerId="ADAL" clId="{99A77B70-6630-4305-B260-DF09FCBD32FD}" dt="2026-04-09T01:53:03.170" v="1863" actId="1035"/>
        <pc:sldMkLst>
          <pc:docMk/>
          <pc:sldMk cId="0" sldId="286"/>
        </pc:sldMkLst>
        <pc:spChg chg="mod">
          <ac:chgData name="Nur Shuhadah BINTE JALIL (TP)" userId="6a975622-816e-4480-9323-6edcbb1b288f" providerId="ADAL" clId="{99A77B70-6630-4305-B260-DF09FCBD32FD}" dt="2026-04-09T01:53:03.170" v="1863" actId="1035"/>
          <ac:spMkLst>
            <pc:docMk/>
            <pc:sldMk cId="0" sldId="286"/>
            <ac:spMk id="31" creationId="{00000000-0000-0000-0000-000000000000}"/>
          </ac:spMkLst>
        </pc:spChg>
        <pc:spChg chg="mod">
          <ac:chgData name="Nur Shuhadah BINTE JALIL (TP)" userId="6a975622-816e-4480-9323-6edcbb1b288f" providerId="ADAL" clId="{99A77B70-6630-4305-B260-DF09FCBD32FD}" dt="2026-04-09T01:52:42.051" v="1796" actId="1037"/>
          <ac:spMkLst>
            <pc:docMk/>
            <pc:sldMk cId="0" sldId="286"/>
            <ac:spMk id="32" creationId="{00000000-0000-0000-0000-000000000000}"/>
          </ac:spMkLst>
        </pc:spChg>
      </pc:sldChg>
      <pc:sldChg chg="modSp mod">
        <pc:chgData name="Nur Shuhadah BINTE JALIL (TP)" userId="6a975622-816e-4480-9323-6edcbb1b288f" providerId="ADAL" clId="{99A77B70-6630-4305-B260-DF09FCBD32FD}" dt="2026-04-09T01:53:19.748" v="1864" actId="14100"/>
        <pc:sldMkLst>
          <pc:docMk/>
          <pc:sldMk cId="0" sldId="290"/>
        </pc:sldMkLst>
        <pc:spChg chg="mod">
          <ac:chgData name="Nur Shuhadah BINTE JALIL (TP)" userId="6a975622-816e-4480-9323-6edcbb1b288f" providerId="ADAL" clId="{99A77B70-6630-4305-B260-DF09FCBD32FD}" dt="2026-04-09T01:53:19.748" v="1864" actId="14100"/>
          <ac:spMkLst>
            <pc:docMk/>
            <pc:sldMk cId="0" sldId="290"/>
            <ac:spMk id="42" creationId="{00000000-0000-0000-0000-000000000000}"/>
          </ac:spMkLst>
        </pc:spChg>
      </pc:sldChg>
      <pc:sldChg chg="delSp mod">
        <pc:chgData name="Nur Shuhadah BINTE JALIL (TP)" userId="6a975622-816e-4480-9323-6edcbb1b288f" providerId="ADAL" clId="{99A77B70-6630-4305-B260-DF09FCBD32FD}" dt="2026-04-09T01:53:34.977" v="1865" actId="478"/>
        <pc:sldMkLst>
          <pc:docMk/>
          <pc:sldMk cId="0" sldId="297"/>
        </pc:sldMkLst>
      </pc:sldChg>
      <pc:sldChg chg="modSp mod">
        <pc:chgData name="Nur Shuhadah BINTE JALIL (TP)" userId="6a975622-816e-4480-9323-6edcbb1b288f" providerId="ADAL" clId="{99A77B70-6630-4305-B260-DF09FCBD32FD}" dt="2026-04-09T01:55:36.342" v="1991"/>
        <pc:sldMkLst>
          <pc:docMk/>
          <pc:sldMk cId="0" sldId="298"/>
        </pc:sldMkLst>
        <pc:spChg chg="mod">
          <ac:chgData name="Nur Shuhadah BINTE JALIL (TP)" userId="6a975622-816e-4480-9323-6edcbb1b288f" providerId="ADAL" clId="{99A77B70-6630-4305-B260-DF09FCBD32FD}" dt="2026-04-09T01:55:36.342" v="1991"/>
          <ac:spMkLst>
            <pc:docMk/>
            <pc:sldMk cId="0" sldId="298"/>
            <ac:spMk id="6" creationId="{00000000-0000-0000-0000-000000000000}"/>
          </ac:spMkLst>
        </pc:spChg>
        <pc:spChg chg="mod">
          <ac:chgData name="Nur Shuhadah BINTE JALIL (TP)" userId="6a975622-816e-4480-9323-6edcbb1b288f" providerId="ADAL" clId="{99A77B70-6630-4305-B260-DF09FCBD32FD}" dt="2026-04-09T01:53:45.883" v="1871" actId="20577"/>
          <ac:spMkLst>
            <pc:docMk/>
            <pc:sldMk cId="0" sldId="298"/>
            <ac:spMk id="7" creationId="{00000000-0000-0000-0000-000000000000}"/>
          </ac:spMkLst>
        </pc:spChg>
      </pc:sldChg>
      <pc:sldChg chg="addSp delSp modSp add mod">
        <pc:chgData name="Nur Shuhadah BINTE JALIL (TP)" userId="6a975622-816e-4480-9323-6edcbb1b288f" providerId="ADAL" clId="{99A77B70-6630-4305-B260-DF09FCBD32FD}" dt="2026-04-09T01:42:18.145" v="870" actId="255"/>
        <pc:sldMkLst>
          <pc:docMk/>
          <pc:sldMk cId="1778406088" sldId="299"/>
        </pc:sldMkLst>
        <pc:spChg chg="mod">
          <ac:chgData name="Nur Shuhadah BINTE JALIL (TP)" userId="6a975622-816e-4480-9323-6edcbb1b288f" providerId="ADAL" clId="{99A77B70-6630-4305-B260-DF09FCBD32FD}" dt="2026-04-09T01:22:41.849" v="17" actId="20577"/>
          <ac:spMkLst>
            <pc:docMk/>
            <pc:sldMk cId="1778406088" sldId="299"/>
            <ac:spMk id="4" creationId="{9C4CCA8D-42AF-A79A-C133-1EF177B8637B}"/>
          </ac:spMkLst>
        </pc:spChg>
        <pc:spChg chg="mod ord">
          <ac:chgData name="Nur Shuhadah BINTE JALIL (TP)" userId="6a975622-816e-4480-9323-6edcbb1b288f" providerId="ADAL" clId="{99A77B70-6630-4305-B260-DF09FCBD32FD}" dt="2026-04-09T01:41:07.066" v="862" actId="167"/>
          <ac:spMkLst>
            <pc:docMk/>
            <pc:sldMk cId="1778406088" sldId="299"/>
            <ac:spMk id="18" creationId="{AE50E4CF-3A12-42FD-2FCC-15DC7A9A07D0}"/>
          </ac:spMkLst>
        </pc:spChg>
        <pc:spChg chg="mod">
          <ac:chgData name="Nur Shuhadah BINTE JALIL (TP)" userId="6a975622-816e-4480-9323-6edcbb1b288f" providerId="ADAL" clId="{99A77B70-6630-4305-B260-DF09FCBD32FD}" dt="2026-04-09T01:30:52.359" v="372" actId="14100"/>
          <ac:spMkLst>
            <pc:docMk/>
            <pc:sldMk cId="1778406088" sldId="299"/>
            <ac:spMk id="19" creationId="{7823709F-A6EE-5501-5DEC-A0E6951C246F}"/>
          </ac:spMkLst>
        </pc:spChg>
        <pc:spChg chg="mod">
          <ac:chgData name="Nur Shuhadah BINTE JALIL (TP)" userId="6a975622-816e-4480-9323-6edcbb1b288f" providerId="ADAL" clId="{99A77B70-6630-4305-B260-DF09FCBD32FD}" dt="2026-04-09T01:23:32.909" v="133" actId="1037"/>
          <ac:spMkLst>
            <pc:docMk/>
            <pc:sldMk cId="1778406088" sldId="299"/>
            <ac:spMk id="20" creationId="{49E24F6A-EE5F-2478-D413-30DC915774B9}"/>
          </ac:spMkLst>
        </pc:spChg>
        <pc:spChg chg="mod">
          <ac:chgData name="Nur Shuhadah BINTE JALIL (TP)" userId="6a975622-816e-4480-9323-6edcbb1b288f" providerId="ADAL" clId="{99A77B70-6630-4305-B260-DF09FCBD32FD}" dt="2026-04-09T01:39:46.276" v="858" actId="255"/>
          <ac:spMkLst>
            <pc:docMk/>
            <pc:sldMk cId="1778406088" sldId="299"/>
            <ac:spMk id="21" creationId="{0A08764C-E55F-9BE0-E753-CD86BB6731AD}"/>
          </ac:spMkLst>
        </pc:spChg>
        <pc:spChg chg="mod">
          <ac:chgData name="Nur Shuhadah BINTE JALIL (TP)" userId="6a975622-816e-4480-9323-6edcbb1b288f" providerId="ADAL" clId="{99A77B70-6630-4305-B260-DF09FCBD32FD}" dt="2026-04-09T01:40:00.184" v="859" actId="255"/>
          <ac:spMkLst>
            <pc:docMk/>
            <pc:sldMk cId="1778406088" sldId="299"/>
            <ac:spMk id="22" creationId="{8117F12B-6243-26C8-260C-9A1D6DBCA886}"/>
          </ac:spMkLst>
        </pc:spChg>
        <pc:spChg chg="mod">
          <ac:chgData name="Nur Shuhadah BINTE JALIL (TP)" userId="6a975622-816e-4480-9323-6edcbb1b288f" providerId="ADAL" clId="{99A77B70-6630-4305-B260-DF09FCBD32FD}" dt="2026-04-09T01:40:00.184" v="859" actId="255"/>
          <ac:spMkLst>
            <pc:docMk/>
            <pc:sldMk cId="1778406088" sldId="299"/>
            <ac:spMk id="23" creationId="{99E51A09-41AF-D25F-C52E-1BBF265B3C0B}"/>
          </ac:spMkLst>
        </pc:spChg>
        <pc:spChg chg="mod">
          <ac:chgData name="Nur Shuhadah BINTE JALIL (TP)" userId="6a975622-816e-4480-9323-6edcbb1b288f" providerId="ADAL" clId="{99A77B70-6630-4305-B260-DF09FCBD32FD}" dt="2026-04-09T01:40:28.323" v="860" actId="255"/>
          <ac:spMkLst>
            <pc:docMk/>
            <pc:sldMk cId="1778406088" sldId="299"/>
            <ac:spMk id="24" creationId="{E3E441AE-FC42-415A-5CC1-C839453B5D33}"/>
          </ac:spMkLst>
        </pc:spChg>
        <pc:spChg chg="mod">
          <ac:chgData name="Nur Shuhadah BINTE JALIL (TP)" userId="6a975622-816e-4480-9323-6edcbb1b288f" providerId="ADAL" clId="{99A77B70-6630-4305-B260-DF09FCBD32FD}" dt="2026-04-09T01:40:39.991" v="861" actId="255"/>
          <ac:spMkLst>
            <pc:docMk/>
            <pc:sldMk cId="1778406088" sldId="299"/>
            <ac:spMk id="25" creationId="{6EA21CB9-5E94-AB93-F67E-A824CAA9E3E6}"/>
          </ac:spMkLst>
        </pc:spChg>
        <pc:spChg chg="mod">
          <ac:chgData name="Nur Shuhadah BINTE JALIL (TP)" userId="6a975622-816e-4480-9323-6edcbb1b288f" providerId="ADAL" clId="{99A77B70-6630-4305-B260-DF09FCBD32FD}" dt="2026-04-09T01:41:24.569" v="863" actId="255"/>
          <ac:spMkLst>
            <pc:docMk/>
            <pc:sldMk cId="1778406088" sldId="299"/>
            <ac:spMk id="27" creationId="{30C8B1DE-49C5-D52B-C1B4-A39A29D975FA}"/>
          </ac:spMkLst>
        </pc:spChg>
        <pc:spChg chg="mod">
          <ac:chgData name="Nur Shuhadah BINTE JALIL (TP)" userId="6a975622-816e-4480-9323-6edcbb1b288f" providerId="ADAL" clId="{99A77B70-6630-4305-B260-DF09FCBD32FD}" dt="2026-04-09T01:41:36.814" v="864" actId="255"/>
          <ac:spMkLst>
            <pc:docMk/>
            <pc:sldMk cId="1778406088" sldId="299"/>
            <ac:spMk id="28" creationId="{A1FC8037-A944-8B08-59A8-4B5E1B130843}"/>
          </ac:spMkLst>
        </pc:spChg>
        <pc:spChg chg="mod">
          <ac:chgData name="Nur Shuhadah BINTE JALIL (TP)" userId="6a975622-816e-4480-9323-6edcbb1b288f" providerId="ADAL" clId="{99A77B70-6630-4305-B260-DF09FCBD32FD}" dt="2026-04-09T01:31:46.279" v="492" actId="1035"/>
          <ac:spMkLst>
            <pc:docMk/>
            <pc:sldMk cId="1778406088" sldId="299"/>
            <ac:spMk id="29" creationId="{E247C835-FC73-9421-368B-E00ECAA8BE88}"/>
          </ac:spMkLst>
        </pc:spChg>
        <pc:spChg chg="mod">
          <ac:chgData name="Nur Shuhadah BINTE JALIL (TP)" userId="6a975622-816e-4480-9323-6edcbb1b288f" providerId="ADAL" clId="{99A77B70-6630-4305-B260-DF09FCBD32FD}" dt="2026-04-09T01:41:54.113" v="867" actId="255"/>
          <ac:spMkLst>
            <pc:docMk/>
            <pc:sldMk cId="1778406088" sldId="299"/>
            <ac:spMk id="30" creationId="{EC503FBF-2CBB-95CC-0B00-A3FC9DABDD5E}"/>
          </ac:spMkLst>
        </pc:spChg>
        <pc:spChg chg="mod">
          <ac:chgData name="Nur Shuhadah BINTE JALIL (TP)" userId="6a975622-816e-4480-9323-6edcbb1b288f" providerId="ADAL" clId="{99A77B70-6630-4305-B260-DF09FCBD32FD}" dt="2026-04-09T01:42:02.024" v="868" actId="255"/>
          <ac:spMkLst>
            <pc:docMk/>
            <pc:sldMk cId="1778406088" sldId="299"/>
            <ac:spMk id="31" creationId="{7F638EC1-7C87-6084-D90B-3292C64F0DB4}"/>
          </ac:spMkLst>
        </pc:spChg>
        <pc:spChg chg="mod">
          <ac:chgData name="Nur Shuhadah BINTE JALIL (TP)" userId="6a975622-816e-4480-9323-6edcbb1b288f" providerId="ADAL" clId="{99A77B70-6630-4305-B260-DF09FCBD32FD}" dt="2026-04-09T01:31:46.279" v="492" actId="1035"/>
          <ac:spMkLst>
            <pc:docMk/>
            <pc:sldMk cId="1778406088" sldId="299"/>
            <ac:spMk id="32" creationId="{95877D86-8971-9746-B858-95BA14533BF7}"/>
          </ac:spMkLst>
        </pc:spChg>
        <pc:spChg chg="mod">
          <ac:chgData name="Nur Shuhadah BINTE JALIL (TP)" userId="6a975622-816e-4480-9323-6edcbb1b288f" providerId="ADAL" clId="{99A77B70-6630-4305-B260-DF09FCBD32FD}" dt="2026-04-09T01:42:13.018" v="869" actId="255"/>
          <ac:spMkLst>
            <pc:docMk/>
            <pc:sldMk cId="1778406088" sldId="299"/>
            <ac:spMk id="33" creationId="{CAD08359-ECC8-2935-706E-1AE7314392CA}"/>
          </ac:spMkLst>
        </pc:spChg>
        <pc:spChg chg="mod">
          <ac:chgData name="Nur Shuhadah BINTE JALIL (TP)" userId="6a975622-816e-4480-9323-6edcbb1b288f" providerId="ADAL" clId="{99A77B70-6630-4305-B260-DF09FCBD32FD}" dt="2026-04-09T01:42:18.145" v="870" actId="255"/>
          <ac:spMkLst>
            <pc:docMk/>
            <pc:sldMk cId="1778406088" sldId="299"/>
            <ac:spMk id="34" creationId="{C21B23D8-CBE0-8E2A-ECB7-85D7B13280DD}"/>
          </ac:spMkLst>
        </pc:spChg>
        <pc:spChg chg="mod">
          <ac:chgData name="Nur Shuhadah BINTE JALIL (TP)" userId="6a975622-816e-4480-9323-6edcbb1b288f" providerId="ADAL" clId="{99A77B70-6630-4305-B260-DF09FCBD32FD}" dt="2026-04-09T01:32:03.920" v="528" actId="1038"/>
          <ac:spMkLst>
            <pc:docMk/>
            <pc:sldMk cId="1778406088" sldId="299"/>
            <ac:spMk id="35" creationId="{E3BB8AE1-9EC6-B9A3-3177-566F75212097}"/>
          </ac:spMkLst>
        </pc:spChg>
        <pc:spChg chg="mod">
          <ac:chgData name="Nur Shuhadah BINTE JALIL (TP)" userId="6a975622-816e-4480-9323-6edcbb1b288f" providerId="ADAL" clId="{99A77B70-6630-4305-B260-DF09FCBD32FD}" dt="2026-04-09T01:41:41.842" v="865" actId="255"/>
          <ac:spMkLst>
            <pc:docMk/>
            <pc:sldMk cId="1778406088" sldId="299"/>
            <ac:spMk id="36" creationId="{BBA2A127-F3BD-98C1-825C-10DA8695CACA}"/>
          </ac:spMkLst>
        </pc:spChg>
        <pc:spChg chg="mod">
          <ac:chgData name="Nur Shuhadah BINTE JALIL (TP)" userId="6a975622-816e-4480-9323-6edcbb1b288f" providerId="ADAL" clId="{99A77B70-6630-4305-B260-DF09FCBD32FD}" dt="2026-04-09T01:41:47.855" v="866" actId="255"/>
          <ac:spMkLst>
            <pc:docMk/>
            <pc:sldMk cId="1778406088" sldId="299"/>
            <ac:spMk id="37" creationId="{0A106DAD-38FE-B349-F2F3-2C2852E83957}"/>
          </ac:spMkLst>
        </pc:spChg>
        <pc:spChg chg="mod">
          <ac:chgData name="Nur Shuhadah BINTE JALIL (TP)" userId="6a975622-816e-4480-9323-6edcbb1b288f" providerId="ADAL" clId="{99A77B70-6630-4305-B260-DF09FCBD32FD}" dt="2026-04-09T01:33:31.273" v="588" actId="1035"/>
          <ac:spMkLst>
            <pc:docMk/>
            <pc:sldMk cId="1778406088" sldId="299"/>
            <ac:spMk id="39" creationId="{4CF316A7-0A77-AA93-7873-625721CD665E}"/>
          </ac:spMkLst>
        </pc:spChg>
        <pc:spChg chg="add del">
          <ac:chgData name="Nur Shuhadah BINTE JALIL (TP)" userId="6a975622-816e-4480-9323-6edcbb1b288f" providerId="ADAL" clId="{99A77B70-6630-4305-B260-DF09FCBD32FD}" dt="2026-04-09T01:28:42.884" v="273" actId="478"/>
          <ac:spMkLst>
            <pc:docMk/>
            <pc:sldMk cId="1778406088" sldId="299"/>
            <ac:spMk id="40" creationId="{CFCBEAB5-A299-04DE-A1DB-D71FD9CC345D}"/>
          </ac:spMkLst>
        </pc:spChg>
        <pc:spChg chg="add mod ord">
          <ac:chgData name="Nur Shuhadah BINTE JALIL (TP)" userId="6a975622-816e-4480-9323-6edcbb1b288f" providerId="ADAL" clId="{99A77B70-6630-4305-B260-DF09FCBD32FD}" dt="2026-04-09T01:33:13.700" v="547" actId="20577"/>
          <ac:spMkLst>
            <pc:docMk/>
            <pc:sldMk cId="1778406088" sldId="299"/>
            <ac:spMk id="46" creationId="{B14FDFDF-6A65-57B7-EC91-BD3AE94CF67C}"/>
          </ac:spMkLst>
        </pc:spChg>
        <pc:spChg chg="add mod">
          <ac:chgData name="Nur Shuhadah BINTE JALIL (TP)" userId="6a975622-816e-4480-9323-6edcbb1b288f" providerId="ADAL" clId="{99A77B70-6630-4305-B260-DF09FCBD32FD}" dt="2026-04-09T01:33:43.388" v="593" actId="20577"/>
          <ac:spMkLst>
            <pc:docMk/>
            <pc:sldMk cId="1778406088" sldId="299"/>
            <ac:spMk id="48" creationId="{18881796-E8C7-859A-0016-1DD606CFE3AA}"/>
          </ac:spMkLst>
        </pc:spChg>
      </pc:sldChg>
    </pc:docChg>
  </pc:docChgLst>
  <pc:docChgLst>
    <pc:chgData name="Nur Shuhadah BINTE JALIL (TP)" userId="S::nurshuha@tp.edu.sg::6a975622-816e-4480-9323-6edcbb1b288f" providerId="AD" clId="Web-{791BD90C-588F-74DF-5F9C-ACC020CDAC33}"/>
    <pc:docChg chg="modSld">
      <pc:chgData name="Nur Shuhadah BINTE JALIL (TP)" userId="S::nurshuha@tp.edu.sg::6a975622-816e-4480-9323-6edcbb1b288f" providerId="AD" clId="Web-{791BD90C-588F-74DF-5F9C-ACC020CDAC33}" dt="2026-04-12T23:34:16.175" v="6"/>
      <pc:docMkLst>
        <pc:docMk/>
      </pc:docMkLst>
      <pc:sldChg chg="delSp modSp">
        <pc:chgData name="Nur Shuhadah BINTE JALIL (TP)" userId="S::nurshuha@tp.edu.sg::6a975622-816e-4480-9323-6edcbb1b288f" providerId="AD" clId="Web-{791BD90C-588F-74DF-5F9C-ACC020CDAC33}" dt="2026-04-12T23:34:16.175" v="6"/>
        <pc:sldMkLst>
          <pc:docMk/>
          <pc:sldMk cId="0" sldId="275"/>
        </pc:sldMkLst>
        <pc:spChg chg="mod">
          <ac:chgData name="Nur Shuhadah BINTE JALIL (TP)" userId="S::nurshuha@tp.edu.sg::6a975622-816e-4480-9323-6edcbb1b288f" providerId="AD" clId="Web-{791BD90C-588F-74DF-5F9C-ACC020CDAC33}" dt="2026-04-12T23:33:56.877" v="3" actId="1076"/>
          <ac:spMkLst>
            <pc:docMk/>
            <pc:sldMk cId="0" sldId="275"/>
            <ac:spMk id="15" creationId="{00000000-0000-0000-0000-000000000000}"/>
          </ac:spMkLst>
        </pc:spChg>
        <pc:spChg chg="mod">
          <ac:chgData name="Nur Shuhadah BINTE JALIL (TP)" userId="S::nurshuha@tp.edu.sg::6a975622-816e-4480-9323-6edcbb1b288f" providerId="AD" clId="Web-{791BD90C-588F-74DF-5F9C-ACC020CDAC33}" dt="2026-04-12T23:33:56.893" v="4" actId="1076"/>
          <ac:spMkLst>
            <pc:docMk/>
            <pc:sldMk cId="0" sldId="275"/>
            <ac:spMk id="16" creationId="{00000000-0000-0000-0000-000000000000}"/>
          </ac:spMkLst>
        </pc:spChg>
        <pc:spChg chg="del mod">
          <ac:chgData name="Nur Shuhadah BINTE JALIL (TP)" userId="S::nurshuha@tp.edu.sg::6a975622-816e-4480-9323-6edcbb1b288f" providerId="AD" clId="Web-{791BD90C-588F-74DF-5F9C-ACC020CDAC33}" dt="2026-04-12T23:34:16.175" v="6"/>
          <ac:spMkLst>
            <pc:docMk/>
            <pc:sldMk cId="0" sldId="275"/>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836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5D7CB-084F-A7FA-FE4A-2C586B850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169EE-F51F-2D95-FE43-364446258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165FC-D713-6E34-1618-25134F2BE8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5C00EC-A284-ADBF-9A3B-C4BD1400D810}"/>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65414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6492240" y="0"/>
            <a:ext cx="2651760" cy="5148072"/>
          </a:xfrm>
          <a:prstGeom prst="rect">
            <a:avLst/>
          </a:prstGeom>
          <a:solidFill>
            <a:srgbClr val="FFFFFF"/>
          </a:solidFill>
          <a:ln w="12700">
            <a:solidFill>
              <a:srgbClr val="FFFFFF"/>
            </a:solidFill>
            <a:prstDash val="solid"/>
          </a:ln>
        </p:spPr>
        <p:txBody>
          <a:bodyPr/>
          <a:lstStyle/>
          <a:p>
            <a:endParaRPr lang="en-SG"/>
          </a:p>
        </p:txBody>
      </p:sp>
      <p:sp>
        <p:nvSpPr>
          <p:cNvPr id="4" name="Shape 2"/>
          <p:cNvSpPr/>
          <p:nvPr/>
        </p:nvSpPr>
        <p:spPr>
          <a:xfrm>
            <a:off x="6492240" y="0"/>
            <a:ext cx="54864" cy="5148072"/>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6601968" y="50292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latin typeface="Calibri" pitchFamily="34" charset="0"/>
                <a:ea typeface="Calibri" pitchFamily="34" charset="-122"/>
                <a:cs typeface="Calibri" pitchFamily="34" charset="-120"/>
              </a:rPr>
              <a:t>Network</a:t>
            </a:r>
            <a:endParaRPr lang="en-US" sz="1100" dirty="0"/>
          </a:p>
          <a:p>
            <a:pPr marL="0" indent="0">
              <a:buNone/>
            </a:pPr>
            <a:r>
              <a:rPr lang="en-US" sz="1100" b="1" kern="0" spc="300" dirty="0">
                <a:solidFill>
                  <a:srgbClr val="00B4D8"/>
                </a:solidFill>
                <a:latin typeface="Calibri" pitchFamily="34" charset="0"/>
                <a:ea typeface="Calibri" pitchFamily="34" charset="-122"/>
                <a:cs typeface="Calibri" pitchFamily="34" charset="-120"/>
              </a:rPr>
              <a:t>Forensics</a:t>
            </a:r>
            <a:endParaRPr lang="en-US" sz="1100" dirty="0"/>
          </a:p>
        </p:txBody>
      </p:sp>
      <p:sp>
        <p:nvSpPr>
          <p:cNvPr id="6" name="Text 4"/>
          <p:cNvSpPr/>
          <p:nvPr/>
        </p:nvSpPr>
        <p:spPr>
          <a:xfrm>
            <a:off x="6601968" y="192024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latin typeface="Calibri" pitchFamily="34" charset="0"/>
                <a:ea typeface="Calibri" pitchFamily="34" charset="-122"/>
                <a:cs typeface="Calibri" pitchFamily="34" charset="-120"/>
              </a:rPr>
              <a:t>Email</a:t>
            </a:r>
            <a:endParaRPr lang="en-US" sz="1100" dirty="0"/>
          </a:p>
          <a:p>
            <a:pPr marL="0" indent="0">
              <a:buNone/>
            </a:pPr>
            <a:r>
              <a:rPr lang="en-US" sz="1100" b="1" kern="0" spc="300" dirty="0">
                <a:solidFill>
                  <a:srgbClr val="00B4D8"/>
                </a:solidFill>
                <a:latin typeface="Calibri" pitchFamily="34" charset="0"/>
                <a:ea typeface="Calibri" pitchFamily="34" charset="-122"/>
                <a:cs typeface="Calibri" pitchFamily="34" charset="-120"/>
              </a:rPr>
              <a:t>Forensics</a:t>
            </a:r>
            <a:endParaRPr lang="en-US" sz="1100" dirty="0"/>
          </a:p>
        </p:txBody>
      </p:sp>
      <p:sp>
        <p:nvSpPr>
          <p:cNvPr id="7" name="Text 5"/>
          <p:cNvSpPr/>
          <p:nvPr/>
        </p:nvSpPr>
        <p:spPr>
          <a:xfrm>
            <a:off x="6601968" y="333756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latin typeface="Calibri" pitchFamily="34" charset="0"/>
                <a:ea typeface="Calibri" pitchFamily="34" charset="-122"/>
                <a:cs typeface="Calibri" pitchFamily="34" charset="-120"/>
              </a:rPr>
              <a:t>Browser</a:t>
            </a:r>
            <a:endParaRPr lang="en-US" sz="1100" dirty="0"/>
          </a:p>
          <a:p>
            <a:pPr marL="0" indent="0">
              <a:buNone/>
            </a:pPr>
            <a:r>
              <a:rPr lang="en-US" sz="1100" b="1" kern="0" spc="300" dirty="0">
                <a:solidFill>
                  <a:srgbClr val="00B4D8"/>
                </a:solidFill>
                <a:latin typeface="Calibri" pitchFamily="34" charset="0"/>
                <a:ea typeface="Calibri" pitchFamily="34" charset="-122"/>
                <a:cs typeface="Calibri" pitchFamily="34" charset="-120"/>
              </a:rPr>
              <a:t>Forensics</a:t>
            </a:r>
            <a:endParaRPr lang="en-US" sz="1100" dirty="0"/>
          </a:p>
        </p:txBody>
      </p:sp>
      <p:sp>
        <p:nvSpPr>
          <p:cNvPr id="8" name="Text 6"/>
          <p:cNvSpPr/>
          <p:nvPr/>
        </p:nvSpPr>
        <p:spPr>
          <a:xfrm>
            <a:off x="347472" y="868680"/>
            <a:ext cx="6035040" cy="347472"/>
          </a:xfrm>
          <a:prstGeom prst="rect">
            <a:avLst/>
          </a:prstGeom>
          <a:noFill/>
          <a:ln/>
        </p:spPr>
        <p:txBody>
          <a:bodyPr wrap="square" lIns="0" tIns="0" rIns="0" bIns="0" rtlCol="0" anchor="ctr"/>
          <a:lstStyle/>
          <a:p>
            <a:pPr marL="0" indent="0">
              <a:buNone/>
            </a:pPr>
            <a:r>
              <a:rPr lang="en-US" sz="1300" b="1" kern="0" spc="800" dirty="0">
                <a:solidFill>
                  <a:srgbClr val="00B4D8"/>
                </a:solidFill>
                <a:latin typeface="Calibri" pitchFamily="34" charset="0"/>
                <a:ea typeface="Calibri" pitchFamily="34" charset="-122"/>
                <a:cs typeface="Calibri" pitchFamily="34" charset="-120"/>
              </a:rPr>
              <a:t>LESSON 7</a:t>
            </a:r>
            <a:endParaRPr lang="en-US" sz="1300" dirty="0"/>
          </a:p>
        </p:txBody>
      </p:sp>
      <p:sp>
        <p:nvSpPr>
          <p:cNvPr id="9" name="Text 7"/>
          <p:cNvSpPr/>
          <p:nvPr/>
        </p:nvSpPr>
        <p:spPr>
          <a:xfrm>
            <a:off x="347472" y="1261872"/>
            <a:ext cx="5943600" cy="2011680"/>
          </a:xfrm>
          <a:prstGeom prst="rect">
            <a:avLst/>
          </a:prstGeom>
          <a:noFill/>
          <a:ln/>
        </p:spPr>
        <p:txBody>
          <a:bodyPr wrap="square" lIns="0" tIns="0" rIns="0" bIns="0" rtlCol="0" anchor="ctr"/>
          <a:lstStyle/>
          <a:p>
            <a:pPr marL="0" indent="0">
              <a:buNone/>
            </a:pPr>
            <a:r>
              <a:rPr lang="en-US" sz="5200" b="1" dirty="0">
                <a:solidFill>
                  <a:srgbClr val="1A1A2E"/>
                </a:solidFill>
                <a:latin typeface="Calibri" pitchFamily="34" charset="0"/>
                <a:ea typeface="Calibri" pitchFamily="34" charset="-122"/>
                <a:cs typeface="Calibri" pitchFamily="34" charset="-120"/>
              </a:rPr>
              <a:t>Network</a:t>
            </a:r>
            <a:endParaRPr lang="en-US" sz="5200" dirty="0"/>
          </a:p>
          <a:p>
            <a:pPr marL="0" indent="0">
              <a:buNone/>
            </a:pPr>
            <a:r>
              <a:rPr lang="en-US" sz="5200" b="1" dirty="0">
                <a:solidFill>
                  <a:srgbClr val="1A1A2E"/>
                </a:solidFill>
                <a:latin typeface="Calibri" pitchFamily="34" charset="0"/>
                <a:ea typeface="Calibri" pitchFamily="34" charset="-122"/>
                <a:cs typeface="Calibri" pitchFamily="34" charset="-120"/>
              </a:rPr>
              <a:t>Forensics</a:t>
            </a:r>
            <a:endParaRPr lang="en-US" sz="5200" dirty="0"/>
          </a:p>
        </p:txBody>
      </p:sp>
      <p:sp>
        <p:nvSpPr>
          <p:cNvPr id="10" name="Shape 8"/>
          <p:cNvSpPr/>
          <p:nvPr/>
        </p:nvSpPr>
        <p:spPr>
          <a:xfrm>
            <a:off x="347472" y="3310128"/>
            <a:ext cx="5029200" cy="45720"/>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347472" y="3438144"/>
            <a:ext cx="6035040" cy="347472"/>
          </a:xfrm>
          <a:prstGeom prst="rect">
            <a:avLst/>
          </a:prstGeom>
          <a:noFill/>
          <a:ln/>
        </p:spPr>
        <p:txBody>
          <a:bodyPr wrap="square" lIns="0" tIns="0" rIns="0" bIns="0" rtlCol="0" anchor="ctr"/>
          <a:lstStyle/>
          <a:p>
            <a:pPr marL="0" indent="0">
              <a:buNone/>
            </a:pPr>
            <a:r>
              <a:rPr lang="en-US" sz="1050" i="1" dirty="0">
                <a:solidFill>
                  <a:srgbClr val="8899AA"/>
                </a:solidFill>
                <a:latin typeface="Calibri" pitchFamily="34" charset="0"/>
                <a:ea typeface="Calibri" pitchFamily="34" charset="-122"/>
                <a:cs typeface="Calibri" pitchFamily="34" charset="-120"/>
              </a:rPr>
              <a:t>CCD2C04 Forensics in Digital Security</a:t>
            </a:r>
            <a:endParaRPr lang="en-US" sz="1050" dirty="0"/>
          </a:p>
        </p:txBody>
      </p:sp>
      <p:sp>
        <p:nvSpPr>
          <p:cNvPr id="12" name="Text 10"/>
          <p:cNvSpPr/>
          <p:nvPr/>
        </p:nvSpPr>
        <p:spPr>
          <a:xfrm>
            <a:off x="347472" y="4736592"/>
            <a:ext cx="1828800" cy="228600"/>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43 slides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34416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25272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LESSON OVERVIEW</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Lesson Objectives</a:t>
            </a:r>
            <a:endParaRPr lang="en-US" sz="2800" dirty="0"/>
          </a:p>
        </p:txBody>
      </p:sp>
      <p:sp>
        <p:nvSpPr>
          <p:cNvPr id="5" name="Shape 3"/>
          <p:cNvSpPr/>
          <p:nvPr/>
        </p:nvSpPr>
        <p:spPr>
          <a:xfrm>
            <a:off x="320040" y="1261872"/>
            <a:ext cx="4206240" cy="1005840"/>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548640" cy="100584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1261872"/>
            <a:ext cx="548640" cy="1005840"/>
          </a:xfrm>
          <a:prstGeom prst="rect">
            <a:avLst/>
          </a:prstGeom>
          <a:noFill/>
          <a:ln/>
        </p:spPr>
        <p:txBody>
          <a:bodyPr wrap="square" lIns="0" tIns="0" rIns="0" bIns="0" rtlCol="0" anchor="ctr"/>
          <a:lstStyle/>
          <a:p>
            <a:pPr marL="0" indent="0" algn="ctr">
              <a:buNone/>
            </a:pPr>
            <a:r>
              <a:rPr lang="en-US" sz="1800" b="1" dirty="0">
                <a:solidFill>
                  <a:srgbClr val="060E17"/>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941832" y="1426464"/>
            <a:ext cx="3493008" cy="7498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Define network forensics and explain its role in digital investigations.</a:t>
            </a:r>
            <a:endParaRPr lang="en-US" sz="950" dirty="0"/>
          </a:p>
        </p:txBody>
      </p:sp>
      <p:sp>
        <p:nvSpPr>
          <p:cNvPr id="9" name="Shape 7"/>
          <p:cNvSpPr/>
          <p:nvPr/>
        </p:nvSpPr>
        <p:spPr>
          <a:xfrm>
            <a:off x="4892040" y="1261872"/>
            <a:ext cx="4206240" cy="1005840"/>
          </a:xfrm>
          <a:prstGeom prst="rect">
            <a:avLst/>
          </a:prstGeom>
          <a:solidFill>
            <a:srgbClr val="FFFFFF"/>
          </a:solidFill>
          <a:ln w="12700">
            <a:solidFill>
              <a:srgbClr val="FFFFFF"/>
            </a:solidFill>
            <a:prstDash val="solid"/>
          </a:ln>
        </p:spPr>
        <p:txBody>
          <a:bodyPr/>
          <a:lstStyle/>
          <a:p>
            <a:endParaRPr lang="en-SG"/>
          </a:p>
        </p:txBody>
      </p:sp>
      <p:sp>
        <p:nvSpPr>
          <p:cNvPr id="10" name="Shape 8"/>
          <p:cNvSpPr/>
          <p:nvPr/>
        </p:nvSpPr>
        <p:spPr>
          <a:xfrm>
            <a:off x="4892040" y="1261872"/>
            <a:ext cx="548640" cy="1005840"/>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4892040" y="1261872"/>
            <a:ext cx="548640" cy="1005840"/>
          </a:xfrm>
          <a:prstGeom prst="rect">
            <a:avLst/>
          </a:prstGeom>
          <a:noFill/>
          <a:ln/>
        </p:spPr>
        <p:txBody>
          <a:bodyPr wrap="square" lIns="0" tIns="0" rIns="0" bIns="0" rtlCol="0" anchor="ctr"/>
          <a:lstStyle/>
          <a:p>
            <a:pPr marL="0" indent="0" algn="ctr">
              <a:buNone/>
            </a:pPr>
            <a:r>
              <a:rPr lang="en-US" sz="1800" b="1" dirty="0">
                <a:solidFill>
                  <a:srgbClr val="060E17"/>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513832" y="1426464"/>
            <a:ext cx="3493008" cy="7498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Identify key network concepts: LAN, WAN, OSI model, and common protocols.</a:t>
            </a:r>
            <a:endParaRPr lang="en-US" sz="950" dirty="0"/>
          </a:p>
        </p:txBody>
      </p:sp>
      <p:sp>
        <p:nvSpPr>
          <p:cNvPr id="13" name="Shape 11"/>
          <p:cNvSpPr/>
          <p:nvPr/>
        </p:nvSpPr>
        <p:spPr>
          <a:xfrm>
            <a:off x="320040" y="2395728"/>
            <a:ext cx="4206240" cy="1005840"/>
          </a:xfrm>
          <a:prstGeom prst="rect">
            <a:avLst/>
          </a:prstGeom>
          <a:solidFill>
            <a:srgbClr val="FFFFFF"/>
          </a:solidFill>
          <a:ln w="12700">
            <a:solidFill>
              <a:srgbClr val="FFFFFF"/>
            </a:solidFill>
            <a:prstDash val="solid"/>
          </a:ln>
        </p:spPr>
        <p:txBody>
          <a:bodyPr/>
          <a:lstStyle/>
          <a:p>
            <a:endParaRPr lang="en-SG"/>
          </a:p>
        </p:txBody>
      </p:sp>
      <p:sp>
        <p:nvSpPr>
          <p:cNvPr id="14" name="Shape 12"/>
          <p:cNvSpPr/>
          <p:nvPr/>
        </p:nvSpPr>
        <p:spPr>
          <a:xfrm>
            <a:off x="320040" y="2395728"/>
            <a:ext cx="548640" cy="1005840"/>
          </a:xfrm>
          <a:prstGeom prst="rect">
            <a:avLst/>
          </a:prstGeom>
          <a:solidFill>
            <a:srgbClr val="2ECC71"/>
          </a:solidFill>
          <a:ln w="12700">
            <a:solidFill>
              <a:srgbClr val="2ECC71"/>
            </a:solidFill>
            <a:prstDash val="solid"/>
          </a:ln>
        </p:spPr>
        <p:txBody>
          <a:bodyPr/>
          <a:lstStyle/>
          <a:p>
            <a:endParaRPr lang="en-SG"/>
          </a:p>
        </p:txBody>
      </p:sp>
      <p:sp>
        <p:nvSpPr>
          <p:cNvPr id="15" name="Text 13"/>
          <p:cNvSpPr/>
          <p:nvPr/>
        </p:nvSpPr>
        <p:spPr>
          <a:xfrm>
            <a:off x="320040" y="2395728"/>
            <a:ext cx="548640" cy="1005840"/>
          </a:xfrm>
          <a:prstGeom prst="rect">
            <a:avLst/>
          </a:prstGeom>
          <a:noFill/>
          <a:ln/>
        </p:spPr>
        <p:txBody>
          <a:bodyPr wrap="square" lIns="0" tIns="0" rIns="0" bIns="0" rtlCol="0" anchor="ctr"/>
          <a:lstStyle/>
          <a:p>
            <a:pPr marL="0" indent="0" algn="ctr">
              <a:buNone/>
            </a:pPr>
            <a:r>
              <a:rPr lang="en-US" sz="1800" b="1" dirty="0">
                <a:solidFill>
                  <a:srgbClr val="060E17"/>
                </a:solidFill>
                <a:latin typeface="Calibri" pitchFamily="34" charset="0"/>
                <a:ea typeface="Calibri" pitchFamily="34" charset="-122"/>
                <a:cs typeface="Calibri" pitchFamily="34" charset="-120"/>
              </a:rPr>
              <a:t>03</a:t>
            </a:r>
            <a:endParaRPr lang="en-US" sz="1800" dirty="0"/>
          </a:p>
        </p:txBody>
      </p:sp>
      <p:sp>
        <p:nvSpPr>
          <p:cNvPr id="16" name="Text 14"/>
          <p:cNvSpPr/>
          <p:nvPr/>
        </p:nvSpPr>
        <p:spPr>
          <a:xfrm>
            <a:off x="941832" y="2560320"/>
            <a:ext cx="3493008" cy="7498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Describe common log sources — firewalls, IDS, web servers, endpoints.</a:t>
            </a:r>
            <a:endParaRPr lang="en-US" sz="950" dirty="0"/>
          </a:p>
        </p:txBody>
      </p:sp>
      <p:sp>
        <p:nvSpPr>
          <p:cNvPr id="17" name="Shape 15"/>
          <p:cNvSpPr/>
          <p:nvPr/>
        </p:nvSpPr>
        <p:spPr>
          <a:xfrm>
            <a:off x="4892040" y="2395728"/>
            <a:ext cx="4206240" cy="1005840"/>
          </a:xfrm>
          <a:prstGeom prst="rect">
            <a:avLst/>
          </a:prstGeom>
          <a:solidFill>
            <a:srgbClr val="FFFFFF"/>
          </a:solidFill>
          <a:ln w="12700">
            <a:solidFill>
              <a:srgbClr val="FFFFFF"/>
            </a:solidFill>
            <a:prstDash val="solid"/>
          </a:ln>
        </p:spPr>
        <p:txBody>
          <a:bodyPr/>
          <a:lstStyle/>
          <a:p>
            <a:endParaRPr lang="en-SG"/>
          </a:p>
        </p:txBody>
      </p:sp>
      <p:sp>
        <p:nvSpPr>
          <p:cNvPr id="18" name="Shape 16"/>
          <p:cNvSpPr/>
          <p:nvPr/>
        </p:nvSpPr>
        <p:spPr>
          <a:xfrm>
            <a:off x="4892040" y="2395728"/>
            <a:ext cx="548640" cy="1005840"/>
          </a:xfrm>
          <a:prstGeom prst="rect">
            <a:avLst/>
          </a:prstGeom>
          <a:solidFill>
            <a:srgbClr val="A855F7"/>
          </a:solidFill>
          <a:ln w="12700">
            <a:solidFill>
              <a:srgbClr val="A855F7"/>
            </a:solidFill>
            <a:prstDash val="solid"/>
          </a:ln>
        </p:spPr>
        <p:txBody>
          <a:bodyPr/>
          <a:lstStyle/>
          <a:p>
            <a:endParaRPr lang="en-SG"/>
          </a:p>
        </p:txBody>
      </p:sp>
      <p:sp>
        <p:nvSpPr>
          <p:cNvPr id="19" name="Text 17"/>
          <p:cNvSpPr/>
          <p:nvPr/>
        </p:nvSpPr>
        <p:spPr>
          <a:xfrm>
            <a:off x="4892040" y="2395728"/>
            <a:ext cx="548640" cy="1005840"/>
          </a:xfrm>
          <a:prstGeom prst="rect">
            <a:avLst/>
          </a:prstGeom>
          <a:noFill/>
          <a:ln/>
        </p:spPr>
        <p:txBody>
          <a:bodyPr wrap="square" lIns="0" tIns="0" rIns="0" bIns="0" rtlCol="0" anchor="ctr"/>
          <a:lstStyle/>
          <a:p>
            <a:pPr marL="0" indent="0" algn="ctr">
              <a:buNone/>
            </a:pPr>
            <a:r>
              <a:rPr lang="en-US" sz="1800" b="1" dirty="0">
                <a:solidFill>
                  <a:srgbClr val="060E17"/>
                </a:solidFill>
                <a:latin typeface="Calibri" pitchFamily="34" charset="0"/>
                <a:ea typeface="Calibri" pitchFamily="34" charset="-122"/>
                <a:cs typeface="Calibri" pitchFamily="34" charset="-120"/>
              </a:rPr>
              <a:t>04</a:t>
            </a:r>
            <a:endParaRPr lang="en-US" sz="1800" dirty="0"/>
          </a:p>
        </p:txBody>
      </p:sp>
      <p:sp>
        <p:nvSpPr>
          <p:cNvPr id="20" name="Text 18"/>
          <p:cNvSpPr/>
          <p:nvPr/>
        </p:nvSpPr>
        <p:spPr>
          <a:xfrm>
            <a:off x="5513832" y="2560320"/>
            <a:ext cx="3493008" cy="7498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Recognise common network ports and explain their significance in forensic analysis.</a:t>
            </a:r>
            <a:endParaRPr lang="en-US" sz="950" dirty="0"/>
          </a:p>
        </p:txBody>
      </p:sp>
      <p:sp>
        <p:nvSpPr>
          <p:cNvPr id="21" name="Shape 19"/>
          <p:cNvSpPr/>
          <p:nvPr/>
        </p:nvSpPr>
        <p:spPr>
          <a:xfrm>
            <a:off x="320040" y="3529584"/>
            <a:ext cx="4206240" cy="1005840"/>
          </a:xfrm>
          <a:prstGeom prst="rect">
            <a:avLst/>
          </a:prstGeom>
          <a:solidFill>
            <a:srgbClr val="FFFFFF"/>
          </a:solidFill>
          <a:ln w="12700">
            <a:solidFill>
              <a:srgbClr val="FFFFFF"/>
            </a:solidFill>
            <a:prstDash val="solid"/>
          </a:ln>
        </p:spPr>
        <p:txBody>
          <a:bodyPr/>
          <a:lstStyle/>
          <a:p>
            <a:endParaRPr lang="en-SG"/>
          </a:p>
        </p:txBody>
      </p:sp>
      <p:sp>
        <p:nvSpPr>
          <p:cNvPr id="22" name="Shape 20"/>
          <p:cNvSpPr/>
          <p:nvPr/>
        </p:nvSpPr>
        <p:spPr>
          <a:xfrm>
            <a:off x="320040" y="3529584"/>
            <a:ext cx="548640" cy="1005840"/>
          </a:xfrm>
          <a:prstGeom prst="rect">
            <a:avLst/>
          </a:prstGeom>
          <a:solidFill>
            <a:srgbClr val="F1C40F"/>
          </a:solidFill>
          <a:ln w="12700">
            <a:solidFill>
              <a:srgbClr val="F1C40F"/>
            </a:solidFill>
            <a:prstDash val="solid"/>
          </a:ln>
        </p:spPr>
        <p:txBody>
          <a:bodyPr/>
          <a:lstStyle/>
          <a:p>
            <a:endParaRPr lang="en-SG"/>
          </a:p>
        </p:txBody>
      </p:sp>
      <p:sp>
        <p:nvSpPr>
          <p:cNvPr id="23" name="Text 21"/>
          <p:cNvSpPr/>
          <p:nvPr/>
        </p:nvSpPr>
        <p:spPr>
          <a:xfrm>
            <a:off x="320040" y="3529584"/>
            <a:ext cx="548640" cy="1005840"/>
          </a:xfrm>
          <a:prstGeom prst="rect">
            <a:avLst/>
          </a:prstGeom>
          <a:noFill/>
          <a:ln/>
        </p:spPr>
        <p:txBody>
          <a:bodyPr wrap="square" lIns="0" tIns="0" rIns="0" bIns="0" rtlCol="0" anchor="ctr"/>
          <a:lstStyle/>
          <a:p>
            <a:pPr marL="0" indent="0" algn="ctr">
              <a:buNone/>
            </a:pPr>
            <a:r>
              <a:rPr lang="en-US" sz="1800" b="1" dirty="0">
                <a:solidFill>
                  <a:srgbClr val="060E17"/>
                </a:solidFill>
                <a:latin typeface="Calibri" pitchFamily="34" charset="0"/>
                <a:ea typeface="Calibri" pitchFamily="34" charset="-122"/>
                <a:cs typeface="Calibri" pitchFamily="34" charset="-120"/>
              </a:rPr>
              <a:t>05</a:t>
            </a:r>
            <a:endParaRPr lang="en-US" sz="1800" dirty="0"/>
          </a:p>
        </p:txBody>
      </p:sp>
      <p:sp>
        <p:nvSpPr>
          <p:cNvPr id="24" name="Text 22"/>
          <p:cNvSpPr/>
          <p:nvPr/>
        </p:nvSpPr>
        <p:spPr>
          <a:xfrm>
            <a:off x="941832" y="3694176"/>
            <a:ext cx="3493008" cy="7498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Apply best practices for network evidence preservation and documentation.</a:t>
            </a:r>
            <a:endParaRPr lang="en-US" sz="950" dirty="0"/>
          </a:p>
        </p:txBody>
      </p:sp>
      <p:sp>
        <p:nvSpPr>
          <p:cNvPr id="25" name="Shape 23"/>
          <p:cNvSpPr/>
          <p:nvPr/>
        </p:nvSpPr>
        <p:spPr>
          <a:xfrm>
            <a:off x="4892040" y="3529584"/>
            <a:ext cx="4206240" cy="1005840"/>
          </a:xfrm>
          <a:prstGeom prst="rect">
            <a:avLst/>
          </a:prstGeom>
          <a:solidFill>
            <a:srgbClr val="FFFFFF"/>
          </a:solidFill>
          <a:ln w="12700">
            <a:solidFill>
              <a:srgbClr val="FFFFFF"/>
            </a:solidFill>
            <a:prstDash val="solid"/>
          </a:ln>
        </p:spPr>
        <p:txBody>
          <a:bodyPr/>
          <a:lstStyle/>
          <a:p>
            <a:endParaRPr lang="en-SG"/>
          </a:p>
        </p:txBody>
      </p:sp>
      <p:sp>
        <p:nvSpPr>
          <p:cNvPr id="26" name="Shape 24"/>
          <p:cNvSpPr/>
          <p:nvPr/>
        </p:nvSpPr>
        <p:spPr>
          <a:xfrm>
            <a:off x="4892040" y="3529584"/>
            <a:ext cx="548640" cy="1005840"/>
          </a:xfrm>
          <a:prstGeom prst="rect">
            <a:avLst/>
          </a:prstGeom>
          <a:solidFill>
            <a:srgbClr val="2EC4B6"/>
          </a:solidFill>
          <a:ln w="12700">
            <a:solidFill>
              <a:srgbClr val="2EC4B6"/>
            </a:solidFill>
            <a:prstDash val="solid"/>
          </a:ln>
        </p:spPr>
        <p:txBody>
          <a:bodyPr/>
          <a:lstStyle/>
          <a:p>
            <a:endParaRPr lang="en-SG"/>
          </a:p>
        </p:txBody>
      </p:sp>
      <p:sp>
        <p:nvSpPr>
          <p:cNvPr id="27" name="Text 25"/>
          <p:cNvSpPr/>
          <p:nvPr/>
        </p:nvSpPr>
        <p:spPr>
          <a:xfrm>
            <a:off x="4892040" y="3529584"/>
            <a:ext cx="548640" cy="1005840"/>
          </a:xfrm>
          <a:prstGeom prst="rect">
            <a:avLst/>
          </a:prstGeom>
          <a:noFill/>
          <a:ln/>
        </p:spPr>
        <p:txBody>
          <a:bodyPr wrap="square" lIns="0" tIns="0" rIns="0" bIns="0" rtlCol="0" anchor="ctr"/>
          <a:lstStyle/>
          <a:p>
            <a:pPr marL="0" indent="0" algn="ctr">
              <a:buNone/>
            </a:pPr>
            <a:r>
              <a:rPr lang="en-US" sz="1800" b="1" dirty="0">
                <a:solidFill>
                  <a:srgbClr val="060E17"/>
                </a:solidFill>
                <a:latin typeface="Calibri" pitchFamily="34" charset="0"/>
                <a:ea typeface="Calibri" pitchFamily="34" charset="-122"/>
                <a:cs typeface="Calibri" pitchFamily="34" charset="-120"/>
              </a:rPr>
              <a:t>06</a:t>
            </a:r>
            <a:endParaRPr lang="en-US" sz="1800" dirty="0"/>
          </a:p>
        </p:txBody>
      </p:sp>
      <p:sp>
        <p:nvSpPr>
          <p:cNvPr id="28" name="Text 26"/>
          <p:cNvSpPr/>
          <p:nvPr/>
        </p:nvSpPr>
        <p:spPr>
          <a:xfrm>
            <a:off x="5513832" y="3694176"/>
            <a:ext cx="3493008" cy="7498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Use open-source network forensic tools to capture, analyse, and present evidence.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00B4D8"/>
          </a:solidFill>
          <a:ln w="12700">
            <a:solidFill>
              <a:srgbClr val="00B4D8"/>
            </a:solidFill>
            <a:prstDash val="solid"/>
          </a:ln>
        </p:spPr>
        <p:txBody>
          <a:bodyPr/>
          <a:lstStyle/>
          <a:p>
            <a:endParaRPr lang="en-SG"/>
          </a:p>
        </p:txBody>
      </p:sp>
      <p:sp>
        <p:nvSpPr>
          <p:cNvPr id="6" name="Text 4"/>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00B4D8"/>
                </a:solidFill>
                <a:latin typeface="Calibri" pitchFamily="34" charset="0"/>
                <a:ea typeface="Calibri" pitchFamily="34" charset="-122"/>
                <a:cs typeface="Calibri" pitchFamily="34" charset="-120"/>
              </a:rPr>
              <a:t>SECTION 1</a:t>
            </a:r>
            <a:endParaRPr lang="en-US" sz="1300" dirty="0"/>
          </a:p>
        </p:txBody>
      </p:sp>
      <p:sp>
        <p:nvSpPr>
          <p:cNvPr id="7" name="Text 5"/>
          <p:cNvSpPr/>
          <p:nvPr/>
        </p:nvSpPr>
        <p:spPr>
          <a:xfrm>
            <a:off x="457200" y="1664208"/>
            <a:ext cx="8229600" cy="1097280"/>
          </a:xfrm>
          <a:prstGeom prst="rect">
            <a:avLst/>
          </a:prstGeom>
          <a:noFill/>
          <a:ln/>
        </p:spPr>
        <p:txBody>
          <a:bodyPr wrap="square" lIns="0" tIns="0" rIns="0" bIns="0" rtlCol="0" anchor="ctr"/>
          <a:lstStyle/>
          <a:p>
            <a:pPr marL="0" indent="0" algn="ctr">
              <a:buNone/>
            </a:pPr>
            <a:r>
              <a:rPr lang="en-US" sz="4400" b="1" dirty="0">
                <a:solidFill>
                  <a:srgbClr val="1A1A2E"/>
                </a:solidFill>
                <a:latin typeface="Calibri" pitchFamily="34" charset="0"/>
                <a:ea typeface="Calibri" pitchFamily="34" charset="-122"/>
                <a:cs typeface="Calibri" pitchFamily="34" charset="-120"/>
              </a:rPr>
              <a:t>Network Forensics</a:t>
            </a:r>
            <a:endParaRPr lang="en-US" sz="4400" dirty="0"/>
          </a:p>
          <a:p>
            <a:pPr marL="0" indent="0" algn="ctr">
              <a:buNone/>
            </a:pPr>
            <a:r>
              <a:rPr lang="en-US" sz="4400" b="1" dirty="0">
                <a:solidFill>
                  <a:srgbClr val="1A1A2E"/>
                </a:solidFill>
                <a:latin typeface="Calibri" pitchFamily="34" charset="0"/>
                <a:ea typeface="Calibri" pitchFamily="34" charset="-122"/>
                <a:cs typeface="Calibri" pitchFamily="34" charset="-120"/>
              </a:rPr>
              <a:t>Fundamentals</a:t>
            </a:r>
            <a:endParaRPr lang="en-US" sz="4400" dirty="0"/>
          </a:p>
        </p:txBody>
      </p:sp>
      <p:sp>
        <p:nvSpPr>
          <p:cNvPr id="8" name="Text 6"/>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latin typeface="Calibri" pitchFamily="34" charset="0"/>
                <a:ea typeface="Calibri" pitchFamily="34" charset="-122"/>
                <a:cs typeface="Calibri" pitchFamily="34" charset="-120"/>
              </a:rPr>
              <a:t>Definition  ·  How networks work  ·  Why evidence lives on the network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36865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3277210"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1 · NETWORK FORENSICS FUNDAMENTALS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What is Network Forensics?</a:t>
            </a:r>
            <a:endParaRPr lang="en-US" sz="2800" dirty="0"/>
          </a:p>
        </p:txBody>
      </p:sp>
      <p:sp>
        <p:nvSpPr>
          <p:cNvPr id="5" name="Shape 3"/>
          <p:cNvSpPr/>
          <p:nvPr/>
        </p:nvSpPr>
        <p:spPr>
          <a:xfrm>
            <a:off x="320040" y="1261872"/>
            <a:ext cx="8503920" cy="768096"/>
          </a:xfrm>
          <a:prstGeom prst="rect">
            <a:avLst/>
          </a:prstGeom>
          <a:solidFill>
            <a:srgbClr val="FFFFFF"/>
          </a:solidFill>
          <a:ln w="12700">
            <a:solidFill>
              <a:srgbClr val="00B4D8"/>
            </a:solidFill>
            <a:prstDash val="solid"/>
          </a:ln>
        </p:spPr>
        <p:txBody>
          <a:bodyPr/>
          <a:lstStyle/>
          <a:p>
            <a:endParaRPr lang="en-SG"/>
          </a:p>
        </p:txBody>
      </p:sp>
      <p:sp>
        <p:nvSpPr>
          <p:cNvPr id="6" name="Shape 4"/>
          <p:cNvSpPr/>
          <p:nvPr/>
        </p:nvSpPr>
        <p:spPr>
          <a:xfrm>
            <a:off x="320040" y="1261872"/>
            <a:ext cx="54864" cy="768096"/>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75488" y="1353312"/>
            <a:ext cx="8275320" cy="585216"/>
          </a:xfrm>
          <a:prstGeom prst="rect">
            <a:avLst/>
          </a:prstGeom>
          <a:noFill/>
          <a:ln/>
        </p:spPr>
        <p:txBody>
          <a:bodyPr wrap="square" lIns="0" tIns="0" rIns="0" bIns="0" rtlCol="0" anchor="ctr"/>
          <a:lstStyle/>
          <a:p>
            <a:pPr marL="0" indent="0">
              <a:buNone/>
            </a:pPr>
            <a:r>
              <a:rPr lang="en-US" sz="1150" i="1" dirty="0">
                <a:solidFill>
                  <a:srgbClr val="1A1A2E"/>
                </a:solidFill>
                <a:latin typeface="Calibri" pitchFamily="34" charset="0"/>
                <a:ea typeface="Calibri" pitchFamily="34" charset="-122"/>
                <a:cs typeface="Calibri" pitchFamily="34" charset="-120"/>
              </a:rPr>
              <a:t>Network forensics is the systematic capture, recording, and analysis of network events and traffic in order to discover the source of security incidents, gather evidence of crimes, and support legal proceedings.</a:t>
            </a:r>
            <a:endParaRPr lang="en-US" sz="1150" dirty="0"/>
          </a:p>
        </p:txBody>
      </p:sp>
      <p:sp>
        <p:nvSpPr>
          <p:cNvPr id="8" name="Shape 6"/>
          <p:cNvSpPr/>
          <p:nvPr/>
        </p:nvSpPr>
        <p:spPr>
          <a:xfrm>
            <a:off x="320040" y="2139696"/>
            <a:ext cx="2029968" cy="243230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2139696"/>
            <a:ext cx="2029968" cy="274320"/>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11480" y="2139696"/>
            <a:ext cx="1847088"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Capture</a:t>
            </a:r>
            <a:endParaRPr lang="en-US" sz="1100" dirty="0"/>
          </a:p>
        </p:txBody>
      </p:sp>
      <p:sp>
        <p:nvSpPr>
          <p:cNvPr id="11" name="Text 9"/>
          <p:cNvSpPr/>
          <p:nvPr/>
        </p:nvSpPr>
        <p:spPr>
          <a:xfrm>
            <a:off x="411480" y="2468880"/>
            <a:ext cx="1847088" cy="201168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Intercept all incoming and outgoing packets using network taps or SPAN ports. Save raw data in .pcap format before analysis begins.</a:t>
            </a:r>
            <a:endParaRPr lang="en-US" sz="900" dirty="0"/>
          </a:p>
        </p:txBody>
      </p:sp>
      <p:sp>
        <p:nvSpPr>
          <p:cNvPr id="12" name="Shape 10"/>
          <p:cNvSpPr/>
          <p:nvPr/>
        </p:nvSpPr>
        <p:spPr>
          <a:xfrm>
            <a:off x="2478024" y="2139696"/>
            <a:ext cx="2029968" cy="2432304"/>
          </a:xfrm>
          <a:prstGeom prst="rect">
            <a:avLst/>
          </a:prstGeom>
          <a:solidFill>
            <a:srgbClr val="EEF6FB"/>
          </a:solidFill>
          <a:ln w="12700">
            <a:solidFill>
              <a:srgbClr val="EEF6FB"/>
            </a:solidFill>
            <a:prstDash val="solid"/>
          </a:ln>
        </p:spPr>
        <p:txBody>
          <a:bodyPr/>
          <a:lstStyle/>
          <a:p>
            <a:endParaRPr lang="en-SG"/>
          </a:p>
        </p:txBody>
      </p:sp>
      <p:sp>
        <p:nvSpPr>
          <p:cNvPr id="13" name="Shape 11"/>
          <p:cNvSpPr/>
          <p:nvPr/>
        </p:nvSpPr>
        <p:spPr>
          <a:xfrm>
            <a:off x="2478024" y="2139696"/>
            <a:ext cx="2029968" cy="274320"/>
          </a:xfrm>
          <a:prstGeom prst="rect">
            <a:avLst/>
          </a:prstGeom>
          <a:solidFill>
            <a:srgbClr val="F4A261"/>
          </a:solidFill>
          <a:ln w="12700">
            <a:solidFill>
              <a:srgbClr val="F4A261"/>
            </a:solidFill>
            <a:prstDash val="solid"/>
          </a:ln>
        </p:spPr>
        <p:txBody>
          <a:bodyPr/>
          <a:lstStyle/>
          <a:p>
            <a:endParaRPr lang="en-SG"/>
          </a:p>
        </p:txBody>
      </p:sp>
      <p:sp>
        <p:nvSpPr>
          <p:cNvPr id="14" name="Text 12"/>
          <p:cNvSpPr/>
          <p:nvPr/>
        </p:nvSpPr>
        <p:spPr>
          <a:xfrm>
            <a:off x="2569464" y="2139696"/>
            <a:ext cx="1847088"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Analyse</a:t>
            </a:r>
            <a:endParaRPr lang="en-US" sz="1100" dirty="0"/>
          </a:p>
        </p:txBody>
      </p:sp>
      <p:sp>
        <p:nvSpPr>
          <p:cNvPr id="15" name="Text 13"/>
          <p:cNvSpPr/>
          <p:nvPr/>
        </p:nvSpPr>
        <p:spPr>
          <a:xfrm>
            <a:off x="2569464" y="2468880"/>
            <a:ext cx="1847088" cy="201168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Reconstruct sessions, identify anomalous patterns, and decode protocols to understand what happened during an incident.</a:t>
            </a:r>
            <a:endParaRPr lang="en-US" sz="900" dirty="0"/>
          </a:p>
        </p:txBody>
      </p:sp>
      <p:sp>
        <p:nvSpPr>
          <p:cNvPr id="16" name="Shape 14"/>
          <p:cNvSpPr/>
          <p:nvPr/>
        </p:nvSpPr>
        <p:spPr>
          <a:xfrm>
            <a:off x="4636008" y="2139696"/>
            <a:ext cx="2029968" cy="2432304"/>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4636008" y="2139696"/>
            <a:ext cx="2029968" cy="274320"/>
          </a:xfrm>
          <a:prstGeom prst="rect">
            <a:avLst/>
          </a:prstGeom>
          <a:solidFill>
            <a:srgbClr val="E74C3C"/>
          </a:solidFill>
          <a:ln w="12700">
            <a:solidFill>
              <a:srgbClr val="E74C3C"/>
            </a:solidFill>
            <a:prstDash val="solid"/>
          </a:ln>
        </p:spPr>
        <p:txBody>
          <a:bodyPr/>
          <a:lstStyle/>
          <a:p>
            <a:endParaRPr lang="en-SG"/>
          </a:p>
        </p:txBody>
      </p:sp>
      <p:sp>
        <p:nvSpPr>
          <p:cNvPr id="18" name="Text 16"/>
          <p:cNvSpPr/>
          <p:nvPr/>
        </p:nvSpPr>
        <p:spPr>
          <a:xfrm>
            <a:off x="4727448" y="2139696"/>
            <a:ext cx="1847088"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Identify</a:t>
            </a:r>
            <a:endParaRPr lang="en-US" sz="1100" dirty="0"/>
          </a:p>
        </p:txBody>
      </p:sp>
      <p:sp>
        <p:nvSpPr>
          <p:cNvPr id="19" name="Text 17"/>
          <p:cNvSpPr/>
          <p:nvPr/>
        </p:nvSpPr>
        <p:spPr>
          <a:xfrm>
            <a:off x="4727448" y="2468880"/>
            <a:ext cx="1847088" cy="201168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Determine the source of abnormal activity — external attacker, internal misuse, or a system bug — using logs and traffic evidence.</a:t>
            </a:r>
            <a:endParaRPr lang="en-US" sz="900" dirty="0"/>
          </a:p>
        </p:txBody>
      </p:sp>
      <p:sp>
        <p:nvSpPr>
          <p:cNvPr id="20" name="Shape 18"/>
          <p:cNvSpPr/>
          <p:nvPr/>
        </p:nvSpPr>
        <p:spPr>
          <a:xfrm>
            <a:off x="6793992" y="2139696"/>
            <a:ext cx="2029968" cy="2432304"/>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6793992" y="2139696"/>
            <a:ext cx="2029968" cy="274320"/>
          </a:xfrm>
          <a:prstGeom prst="rect">
            <a:avLst/>
          </a:prstGeom>
          <a:solidFill>
            <a:srgbClr val="2ECC71"/>
          </a:solidFill>
          <a:ln w="12700">
            <a:solidFill>
              <a:srgbClr val="2ECC71"/>
            </a:solidFill>
            <a:prstDash val="solid"/>
          </a:ln>
        </p:spPr>
        <p:txBody>
          <a:bodyPr/>
          <a:lstStyle/>
          <a:p>
            <a:endParaRPr lang="en-SG"/>
          </a:p>
        </p:txBody>
      </p:sp>
      <p:sp>
        <p:nvSpPr>
          <p:cNvPr id="22" name="Text 20"/>
          <p:cNvSpPr/>
          <p:nvPr/>
        </p:nvSpPr>
        <p:spPr>
          <a:xfrm>
            <a:off x="6885432" y="2139696"/>
            <a:ext cx="1847088"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Document</a:t>
            </a:r>
            <a:endParaRPr lang="en-US" sz="1100" dirty="0"/>
          </a:p>
        </p:txBody>
      </p:sp>
      <p:sp>
        <p:nvSpPr>
          <p:cNvPr id="23" name="Text 21"/>
          <p:cNvSpPr/>
          <p:nvPr/>
        </p:nvSpPr>
        <p:spPr>
          <a:xfrm>
            <a:off x="6885432" y="2468880"/>
            <a:ext cx="1847088" cy="201168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Record all findings with timestamps, hashes, and analyst notes. Network evidence must meet the same standard as physical evidence.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36865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3277210"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1 · NETWORK FORENSICS FUNDAMENTALS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LAN vs WAN — Network Architecture</a:t>
            </a:r>
            <a:endParaRPr lang="en-US" sz="2800" dirty="0"/>
          </a:p>
        </p:txBody>
      </p:sp>
      <p:sp>
        <p:nvSpPr>
          <p:cNvPr id="5" name="Shape 3"/>
          <p:cNvSpPr/>
          <p:nvPr/>
        </p:nvSpPr>
        <p:spPr>
          <a:xfrm>
            <a:off x="274320" y="1261872"/>
            <a:ext cx="4160520" cy="3566160"/>
          </a:xfrm>
          <a:prstGeom prst="rect">
            <a:avLst/>
          </a:prstGeom>
          <a:solidFill>
            <a:srgbClr val="EEF6FB"/>
          </a:solidFill>
          <a:ln w="12700">
            <a:solidFill>
              <a:srgbClr val="00B4D8"/>
            </a:solidFill>
            <a:prstDash val="solid"/>
          </a:ln>
        </p:spPr>
        <p:txBody>
          <a:bodyPr/>
          <a:lstStyle/>
          <a:p>
            <a:endParaRPr lang="en-SG"/>
          </a:p>
        </p:txBody>
      </p:sp>
      <p:sp>
        <p:nvSpPr>
          <p:cNvPr id="6" name="Shape 4"/>
          <p:cNvSpPr/>
          <p:nvPr/>
        </p:nvSpPr>
        <p:spPr>
          <a:xfrm>
            <a:off x="274320" y="1261872"/>
            <a:ext cx="4160520" cy="27432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84048" y="1261872"/>
            <a:ext cx="3931920"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LAN — Local Area Network</a:t>
            </a:r>
            <a:endParaRPr lang="en-US" sz="1100" dirty="0"/>
          </a:p>
        </p:txBody>
      </p:sp>
      <p:sp>
        <p:nvSpPr>
          <p:cNvPr id="8" name="Shape 6"/>
          <p:cNvSpPr/>
          <p:nvPr/>
        </p:nvSpPr>
        <p:spPr>
          <a:xfrm>
            <a:off x="548640" y="1682496"/>
            <a:ext cx="896112" cy="530352"/>
          </a:xfrm>
          <a:prstGeom prst="rect">
            <a:avLst/>
          </a:prstGeom>
          <a:solidFill>
            <a:srgbClr val="FFFFFF"/>
          </a:solidFill>
          <a:ln w="12700">
            <a:solidFill>
              <a:srgbClr val="00B4D8"/>
            </a:solidFill>
            <a:prstDash val="solid"/>
          </a:ln>
        </p:spPr>
        <p:txBody>
          <a:bodyPr/>
          <a:lstStyle/>
          <a:p>
            <a:endParaRPr lang="en-SG"/>
          </a:p>
        </p:txBody>
      </p:sp>
      <p:sp>
        <p:nvSpPr>
          <p:cNvPr id="9" name="Text 7"/>
          <p:cNvSpPr/>
          <p:nvPr/>
        </p:nvSpPr>
        <p:spPr>
          <a:xfrm>
            <a:off x="548640" y="1682496"/>
            <a:ext cx="896112" cy="530352"/>
          </a:xfrm>
          <a:prstGeom prst="rect">
            <a:avLst/>
          </a:prstGeom>
          <a:noFill/>
          <a:ln/>
        </p:spPr>
        <p:txBody>
          <a:bodyPr wrap="square" lIns="0" tIns="0" rIns="0" bIns="0" rtlCol="0" anchor="ctr"/>
          <a:lstStyle/>
          <a:p>
            <a:pPr marL="0" indent="0" algn="ctr">
              <a:buNone/>
            </a:pPr>
            <a:r>
              <a:rPr lang="en-US" sz="700" dirty="0">
                <a:solidFill>
                  <a:srgbClr val="00B4D8"/>
                </a:solidFill>
                <a:latin typeface="Calibri" pitchFamily="34" charset="0"/>
                <a:ea typeface="Calibri" pitchFamily="34" charset="-122"/>
                <a:cs typeface="Calibri" pitchFamily="34" charset="-120"/>
              </a:rPr>
              <a:t>PC 1</a:t>
            </a:r>
            <a:endParaRPr lang="en-US" sz="700" dirty="0"/>
          </a:p>
          <a:p>
            <a:pPr marL="0" indent="0" algn="ctr">
              <a:buNone/>
            </a:pPr>
            <a:r>
              <a:rPr lang="en-US" sz="700" dirty="0">
                <a:solidFill>
                  <a:srgbClr val="00B4D8"/>
                </a:solidFill>
                <a:latin typeface="Calibri" pitchFamily="34" charset="0"/>
                <a:ea typeface="Calibri" pitchFamily="34" charset="-122"/>
                <a:cs typeface="Calibri" pitchFamily="34" charset="-120"/>
              </a:rPr>
              <a:t>192.168.1.10</a:t>
            </a:r>
            <a:endParaRPr lang="en-US" sz="700" dirty="0"/>
          </a:p>
        </p:txBody>
      </p:sp>
      <p:sp>
        <p:nvSpPr>
          <p:cNvPr id="10" name="Shape 8"/>
          <p:cNvSpPr/>
          <p:nvPr/>
        </p:nvSpPr>
        <p:spPr>
          <a:xfrm>
            <a:off x="1664208" y="1682496"/>
            <a:ext cx="896112" cy="530352"/>
          </a:xfrm>
          <a:prstGeom prst="rect">
            <a:avLst/>
          </a:prstGeom>
          <a:solidFill>
            <a:srgbClr val="FFFFFF"/>
          </a:solidFill>
          <a:ln w="12700">
            <a:solidFill>
              <a:srgbClr val="00B4D8"/>
            </a:solidFill>
            <a:prstDash val="solid"/>
          </a:ln>
        </p:spPr>
        <p:txBody>
          <a:bodyPr/>
          <a:lstStyle/>
          <a:p>
            <a:endParaRPr lang="en-SG"/>
          </a:p>
        </p:txBody>
      </p:sp>
      <p:sp>
        <p:nvSpPr>
          <p:cNvPr id="11" name="Text 9"/>
          <p:cNvSpPr/>
          <p:nvPr/>
        </p:nvSpPr>
        <p:spPr>
          <a:xfrm>
            <a:off x="1664208" y="1682496"/>
            <a:ext cx="896112" cy="530352"/>
          </a:xfrm>
          <a:prstGeom prst="rect">
            <a:avLst/>
          </a:prstGeom>
          <a:noFill/>
          <a:ln/>
        </p:spPr>
        <p:txBody>
          <a:bodyPr wrap="square" lIns="0" tIns="0" rIns="0" bIns="0" rtlCol="0" anchor="ctr"/>
          <a:lstStyle/>
          <a:p>
            <a:pPr marL="0" indent="0" algn="ctr">
              <a:buNone/>
            </a:pPr>
            <a:r>
              <a:rPr lang="en-US" sz="700" dirty="0">
                <a:solidFill>
                  <a:srgbClr val="00B4D8"/>
                </a:solidFill>
                <a:latin typeface="Calibri" pitchFamily="34" charset="0"/>
                <a:ea typeface="Calibri" pitchFamily="34" charset="-122"/>
                <a:cs typeface="Calibri" pitchFamily="34" charset="-120"/>
              </a:rPr>
              <a:t>PC 2</a:t>
            </a:r>
            <a:endParaRPr lang="en-US" sz="700" dirty="0"/>
          </a:p>
          <a:p>
            <a:pPr marL="0" indent="0" algn="ctr">
              <a:buNone/>
            </a:pPr>
            <a:r>
              <a:rPr lang="en-US" sz="700" dirty="0">
                <a:solidFill>
                  <a:srgbClr val="00B4D8"/>
                </a:solidFill>
                <a:latin typeface="Calibri" pitchFamily="34" charset="0"/>
                <a:ea typeface="Calibri" pitchFamily="34" charset="-122"/>
                <a:cs typeface="Calibri" pitchFamily="34" charset="-120"/>
              </a:rPr>
              <a:t>192.168.1.11</a:t>
            </a:r>
            <a:endParaRPr lang="en-US" sz="700" dirty="0"/>
          </a:p>
        </p:txBody>
      </p:sp>
      <p:sp>
        <p:nvSpPr>
          <p:cNvPr id="12" name="Shape 10"/>
          <p:cNvSpPr/>
          <p:nvPr/>
        </p:nvSpPr>
        <p:spPr>
          <a:xfrm>
            <a:off x="2788920" y="1682496"/>
            <a:ext cx="896112" cy="530352"/>
          </a:xfrm>
          <a:prstGeom prst="rect">
            <a:avLst/>
          </a:prstGeom>
          <a:solidFill>
            <a:srgbClr val="FFFFFF"/>
          </a:solidFill>
          <a:ln w="12700">
            <a:solidFill>
              <a:srgbClr val="00B4D8"/>
            </a:solidFill>
            <a:prstDash val="solid"/>
          </a:ln>
        </p:spPr>
        <p:txBody>
          <a:bodyPr/>
          <a:lstStyle/>
          <a:p>
            <a:endParaRPr lang="en-SG"/>
          </a:p>
        </p:txBody>
      </p:sp>
      <p:sp>
        <p:nvSpPr>
          <p:cNvPr id="13" name="Text 11"/>
          <p:cNvSpPr/>
          <p:nvPr/>
        </p:nvSpPr>
        <p:spPr>
          <a:xfrm>
            <a:off x="2788920" y="1682496"/>
            <a:ext cx="896112" cy="530352"/>
          </a:xfrm>
          <a:prstGeom prst="rect">
            <a:avLst/>
          </a:prstGeom>
          <a:noFill/>
          <a:ln/>
        </p:spPr>
        <p:txBody>
          <a:bodyPr wrap="square" lIns="0" tIns="0" rIns="0" bIns="0" rtlCol="0" anchor="ctr"/>
          <a:lstStyle/>
          <a:p>
            <a:pPr marL="0" indent="0" algn="ctr">
              <a:buNone/>
            </a:pPr>
            <a:r>
              <a:rPr lang="en-US" sz="700" dirty="0">
                <a:solidFill>
                  <a:srgbClr val="00B4D8"/>
                </a:solidFill>
                <a:latin typeface="Calibri" pitchFamily="34" charset="0"/>
                <a:ea typeface="Calibri" pitchFamily="34" charset="-122"/>
                <a:cs typeface="Calibri" pitchFamily="34" charset="-120"/>
              </a:rPr>
              <a:t>Server</a:t>
            </a:r>
            <a:endParaRPr lang="en-US" sz="700" dirty="0"/>
          </a:p>
          <a:p>
            <a:pPr marL="0" indent="0" algn="ctr">
              <a:buNone/>
            </a:pPr>
            <a:r>
              <a:rPr lang="en-US" sz="700" dirty="0">
                <a:solidFill>
                  <a:srgbClr val="00B4D8"/>
                </a:solidFill>
                <a:latin typeface="Calibri" pitchFamily="34" charset="0"/>
                <a:ea typeface="Calibri" pitchFamily="34" charset="-122"/>
                <a:cs typeface="Calibri" pitchFamily="34" charset="-120"/>
              </a:rPr>
              <a:t>192.168.1.20</a:t>
            </a:r>
            <a:endParaRPr lang="en-US" sz="700" dirty="0"/>
          </a:p>
        </p:txBody>
      </p:sp>
      <p:sp>
        <p:nvSpPr>
          <p:cNvPr id="14" name="Shape 12"/>
          <p:cNvSpPr/>
          <p:nvPr/>
        </p:nvSpPr>
        <p:spPr>
          <a:xfrm>
            <a:off x="1325880" y="2322576"/>
            <a:ext cx="1463040" cy="256032"/>
          </a:xfrm>
          <a:prstGeom prst="rect">
            <a:avLst/>
          </a:prstGeom>
          <a:solidFill>
            <a:srgbClr val="DBEAFE"/>
          </a:solidFill>
          <a:ln w="12700">
            <a:solidFill>
              <a:srgbClr val="00B4D8"/>
            </a:solidFill>
            <a:prstDash val="solid"/>
          </a:ln>
        </p:spPr>
        <p:txBody>
          <a:bodyPr/>
          <a:lstStyle/>
          <a:p>
            <a:endParaRPr lang="en-SG"/>
          </a:p>
        </p:txBody>
      </p:sp>
      <p:sp>
        <p:nvSpPr>
          <p:cNvPr id="15" name="Text 13"/>
          <p:cNvSpPr/>
          <p:nvPr/>
        </p:nvSpPr>
        <p:spPr>
          <a:xfrm>
            <a:off x="1325880" y="2322576"/>
            <a:ext cx="1463040" cy="256032"/>
          </a:xfrm>
          <a:prstGeom prst="rect">
            <a:avLst/>
          </a:prstGeom>
          <a:noFill/>
          <a:ln/>
        </p:spPr>
        <p:txBody>
          <a:bodyPr wrap="square" lIns="0" tIns="0" rIns="0" bIns="0" rtlCol="0" anchor="ctr"/>
          <a:lstStyle/>
          <a:p>
            <a:pPr marL="0" indent="0" algn="ctr">
              <a:buNone/>
            </a:pPr>
            <a:r>
              <a:rPr lang="en-US" sz="800" dirty="0">
                <a:solidFill>
                  <a:srgbClr val="00B4D8"/>
                </a:solidFill>
                <a:latin typeface="Calibri" pitchFamily="34" charset="0"/>
                <a:ea typeface="Calibri" pitchFamily="34" charset="-122"/>
                <a:cs typeface="Calibri" pitchFamily="34" charset="-120"/>
              </a:rPr>
              <a:t>🔀  Switch</a:t>
            </a:r>
            <a:endParaRPr lang="en-US" sz="800" dirty="0"/>
          </a:p>
        </p:txBody>
      </p:sp>
      <p:sp>
        <p:nvSpPr>
          <p:cNvPr id="16" name="Shape 14"/>
          <p:cNvSpPr/>
          <p:nvPr/>
        </p:nvSpPr>
        <p:spPr>
          <a:xfrm>
            <a:off x="905256" y="2212848"/>
            <a:ext cx="36576" cy="109728"/>
          </a:xfrm>
          <a:prstGeom prst="rect">
            <a:avLst/>
          </a:prstGeom>
          <a:solidFill>
            <a:srgbClr val="00B4D8"/>
          </a:solidFill>
          <a:ln w="12700">
            <a:solidFill>
              <a:srgbClr val="00B4D8"/>
            </a:solidFill>
            <a:prstDash val="solid"/>
          </a:ln>
        </p:spPr>
        <p:txBody>
          <a:bodyPr/>
          <a:lstStyle/>
          <a:p>
            <a:endParaRPr lang="en-SG"/>
          </a:p>
        </p:txBody>
      </p:sp>
      <p:sp>
        <p:nvSpPr>
          <p:cNvPr id="17" name="Shape 15"/>
          <p:cNvSpPr/>
          <p:nvPr/>
        </p:nvSpPr>
        <p:spPr>
          <a:xfrm>
            <a:off x="2029968" y="2212848"/>
            <a:ext cx="36576" cy="109728"/>
          </a:xfrm>
          <a:prstGeom prst="rect">
            <a:avLst/>
          </a:prstGeom>
          <a:solidFill>
            <a:srgbClr val="00B4D8"/>
          </a:solidFill>
          <a:ln w="12700">
            <a:solidFill>
              <a:srgbClr val="00B4D8"/>
            </a:solidFill>
            <a:prstDash val="solid"/>
          </a:ln>
        </p:spPr>
        <p:txBody>
          <a:bodyPr/>
          <a:lstStyle/>
          <a:p>
            <a:endParaRPr lang="en-SG"/>
          </a:p>
        </p:txBody>
      </p:sp>
      <p:sp>
        <p:nvSpPr>
          <p:cNvPr id="18" name="Shape 16"/>
          <p:cNvSpPr/>
          <p:nvPr/>
        </p:nvSpPr>
        <p:spPr>
          <a:xfrm>
            <a:off x="3154680" y="2212848"/>
            <a:ext cx="36576" cy="109728"/>
          </a:xfrm>
          <a:prstGeom prst="rect">
            <a:avLst/>
          </a:prstGeom>
          <a:solidFill>
            <a:srgbClr val="00B4D8"/>
          </a:solidFill>
          <a:ln w="12700">
            <a:solidFill>
              <a:srgbClr val="00B4D8"/>
            </a:solidFill>
            <a:prstDash val="solid"/>
          </a:ln>
        </p:spPr>
        <p:txBody>
          <a:bodyPr/>
          <a:lstStyle/>
          <a:p>
            <a:endParaRPr lang="en-SG"/>
          </a:p>
        </p:txBody>
      </p:sp>
      <p:sp>
        <p:nvSpPr>
          <p:cNvPr id="19" name="Shape 17"/>
          <p:cNvSpPr/>
          <p:nvPr/>
        </p:nvSpPr>
        <p:spPr>
          <a:xfrm>
            <a:off x="1325880" y="2688336"/>
            <a:ext cx="1463040" cy="256032"/>
          </a:xfrm>
          <a:prstGeom prst="rect">
            <a:avLst/>
          </a:prstGeom>
          <a:solidFill>
            <a:srgbClr val="DBEAFE"/>
          </a:solidFill>
          <a:ln w="12700">
            <a:solidFill>
              <a:srgbClr val="F4A261"/>
            </a:solidFill>
            <a:prstDash val="solid"/>
          </a:ln>
        </p:spPr>
        <p:txBody>
          <a:bodyPr/>
          <a:lstStyle/>
          <a:p>
            <a:endParaRPr lang="en-SG"/>
          </a:p>
        </p:txBody>
      </p:sp>
      <p:sp>
        <p:nvSpPr>
          <p:cNvPr id="20" name="Text 18"/>
          <p:cNvSpPr/>
          <p:nvPr/>
        </p:nvSpPr>
        <p:spPr>
          <a:xfrm>
            <a:off x="1325880" y="2688336"/>
            <a:ext cx="1463040" cy="256032"/>
          </a:xfrm>
          <a:prstGeom prst="rect">
            <a:avLst/>
          </a:prstGeom>
          <a:noFill/>
          <a:ln/>
        </p:spPr>
        <p:txBody>
          <a:bodyPr wrap="square" lIns="0" tIns="0" rIns="0" bIns="0" rtlCol="0" anchor="ctr"/>
          <a:lstStyle/>
          <a:p>
            <a:pPr marL="0" indent="0" algn="ctr">
              <a:buNone/>
            </a:pPr>
            <a:r>
              <a:rPr lang="en-US" sz="800" dirty="0">
                <a:solidFill>
                  <a:srgbClr val="F4A261"/>
                </a:solidFill>
                <a:latin typeface="Calibri" pitchFamily="34" charset="0"/>
                <a:ea typeface="Calibri" pitchFamily="34" charset="-122"/>
                <a:cs typeface="Calibri" pitchFamily="34" charset="-120"/>
              </a:rPr>
              <a:t>🌐  Router / Gateway</a:t>
            </a:r>
            <a:endParaRPr lang="en-US" sz="800" dirty="0"/>
          </a:p>
        </p:txBody>
      </p:sp>
      <p:sp>
        <p:nvSpPr>
          <p:cNvPr id="21" name="Shape 19"/>
          <p:cNvSpPr/>
          <p:nvPr/>
        </p:nvSpPr>
        <p:spPr>
          <a:xfrm>
            <a:off x="2029968" y="2578608"/>
            <a:ext cx="36576" cy="109728"/>
          </a:xfrm>
          <a:prstGeom prst="rect">
            <a:avLst/>
          </a:prstGeom>
          <a:solidFill>
            <a:srgbClr val="F4A261"/>
          </a:solidFill>
          <a:ln w="12700">
            <a:solidFill>
              <a:srgbClr val="F4A261"/>
            </a:solidFill>
            <a:prstDash val="solid"/>
          </a:ln>
        </p:spPr>
        <p:txBody>
          <a:bodyPr/>
          <a:lstStyle/>
          <a:p>
            <a:endParaRPr lang="en-SG"/>
          </a:p>
        </p:txBody>
      </p:sp>
      <p:sp>
        <p:nvSpPr>
          <p:cNvPr id="22" name="Text 20"/>
          <p:cNvSpPr/>
          <p:nvPr/>
        </p:nvSpPr>
        <p:spPr>
          <a:xfrm>
            <a:off x="402336" y="3017520"/>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Covers a single site — office, school, home</a:t>
            </a:r>
            <a:endParaRPr lang="en-US" sz="850" dirty="0"/>
          </a:p>
        </p:txBody>
      </p:sp>
      <p:sp>
        <p:nvSpPr>
          <p:cNvPr id="23" name="Text 21"/>
          <p:cNvSpPr/>
          <p:nvPr/>
        </p:nvSpPr>
        <p:spPr>
          <a:xfrm>
            <a:off x="402336" y="3218688"/>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Devices share the same IP subnet (e.g. 192.168.1.x)</a:t>
            </a:r>
            <a:endParaRPr lang="en-US" sz="850" dirty="0"/>
          </a:p>
        </p:txBody>
      </p:sp>
      <p:sp>
        <p:nvSpPr>
          <p:cNvPr id="24" name="Text 22"/>
          <p:cNvSpPr/>
          <p:nvPr/>
        </p:nvSpPr>
        <p:spPr>
          <a:xfrm>
            <a:off x="402336" y="3419856"/>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High speed: 1 Gbps–10 Gbps typical</a:t>
            </a:r>
            <a:endParaRPr lang="en-US" sz="850" dirty="0"/>
          </a:p>
        </p:txBody>
      </p:sp>
      <p:sp>
        <p:nvSpPr>
          <p:cNvPr id="25" name="Text 23"/>
          <p:cNvSpPr/>
          <p:nvPr/>
        </p:nvSpPr>
        <p:spPr>
          <a:xfrm>
            <a:off x="402336" y="3621024"/>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Forensic logs: switch logs, DHCP server, internal firewall</a:t>
            </a:r>
            <a:endParaRPr lang="en-US" sz="850" dirty="0"/>
          </a:p>
        </p:txBody>
      </p:sp>
      <p:sp>
        <p:nvSpPr>
          <p:cNvPr id="26" name="Shape 24"/>
          <p:cNvSpPr/>
          <p:nvPr/>
        </p:nvSpPr>
        <p:spPr>
          <a:xfrm>
            <a:off x="4645152" y="1261872"/>
            <a:ext cx="4178808" cy="3566160"/>
          </a:xfrm>
          <a:prstGeom prst="rect">
            <a:avLst/>
          </a:prstGeom>
          <a:solidFill>
            <a:srgbClr val="EEF6FB"/>
          </a:solidFill>
          <a:ln w="12700">
            <a:solidFill>
              <a:srgbClr val="F4A261"/>
            </a:solidFill>
            <a:prstDash val="solid"/>
          </a:ln>
        </p:spPr>
        <p:txBody>
          <a:bodyPr/>
          <a:lstStyle/>
          <a:p>
            <a:endParaRPr lang="en-SG"/>
          </a:p>
        </p:txBody>
      </p:sp>
      <p:sp>
        <p:nvSpPr>
          <p:cNvPr id="27" name="Shape 25"/>
          <p:cNvSpPr/>
          <p:nvPr/>
        </p:nvSpPr>
        <p:spPr>
          <a:xfrm>
            <a:off x="4645152" y="1261872"/>
            <a:ext cx="4178808" cy="274320"/>
          </a:xfrm>
          <a:prstGeom prst="rect">
            <a:avLst/>
          </a:prstGeom>
          <a:solidFill>
            <a:srgbClr val="F4A261"/>
          </a:solidFill>
          <a:ln w="12700">
            <a:solidFill>
              <a:srgbClr val="F4A261"/>
            </a:solidFill>
            <a:prstDash val="solid"/>
          </a:ln>
        </p:spPr>
        <p:txBody>
          <a:bodyPr/>
          <a:lstStyle/>
          <a:p>
            <a:endParaRPr lang="en-SG"/>
          </a:p>
        </p:txBody>
      </p:sp>
      <p:sp>
        <p:nvSpPr>
          <p:cNvPr id="28" name="Text 26"/>
          <p:cNvSpPr/>
          <p:nvPr/>
        </p:nvSpPr>
        <p:spPr>
          <a:xfrm>
            <a:off x="4754880" y="1261872"/>
            <a:ext cx="3931920"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WAN — Wide Area Network</a:t>
            </a:r>
            <a:endParaRPr lang="en-US" sz="1100" dirty="0"/>
          </a:p>
        </p:txBody>
      </p:sp>
      <p:sp>
        <p:nvSpPr>
          <p:cNvPr id="29" name="Shape 27"/>
          <p:cNvSpPr/>
          <p:nvPr/>
        </p:nvSpPr>
        <p:spPr>
          <a:xfrm>
            <a:off x="4754880" y="1682496"/>
            <a:ext cx="1188720" cy="402336"/>
          </a:xfrm>
          <a:prstGeom prst="rect">
            <a:avLst/>
          </a:prstGeom>
          <a:solidFill>
            <a:srgbClr val="FFFFFF"/>
          </a:solidFill>
          <a:ln w="12700">
            <a:solidFill>
              <a:srgbClr val="00B4D8"/>
            </a:solidFill>
            <a:prstDash val="solid"/>
          </a:ln>
        </p:spPr>
        <p:txBody>
          <a:bodyPr/>
          <a:lstStyle/>
          <a:p>
            <a:endParaRPr lang="en-SG"/>
          </a:p>
        </p:txBody>
      </p:sp>
      <p:sp>
        <p:nvSpPr>
          <p:cNvPr id="30" name="Text 28"/>
          <p:cNvSpPr/>
          <p:nvPr/>
        </p:nvSpPr>
        <p:spPr>
          <a:xfrm>
            <a:off x="4754880" y="1682496"/>
            <a:ext cx="1188720" cy="402336"/>
          </a:xfrm>
          <a:prstGeom prst="rect">
            <a:avLst/>
          </a:prstGeom>
          <a:noFill/>
          <a:ln/>
        </p:spPr>
        <p:txBody>
          <a:bodyPr wrap="square" lIns="0" tIns="0" rIns="0" bIns="0" rtlCol="0" anchor="ctr"/>
          <a:lstStyle/>
          <a:p>
            <a:pPr marL="0" indent="0" algn="ctr">
              <a:buNone/>
            </a:pPr>
            <a:r>
              <a:rPr lang="en-US" sz="750" dirty="0">
                <a:solidFill>
                  <a:srgbClr val="00B4D8"/>
                </a:solidFill>
                <a:latin typeface="Calibri" pitchFamily="34" charset="0"/>
                <a:ea typeface="Calibri" pitchFamily="34" charset="-122"/>
                <a:cs typeface="Calibri" pitchFamily="34" charset="-120"/>
              </a:rPr>
              <a:t>LAN A</a:t>
            </a:r>
            <a:endParaRPr lang="en-US" sz="750" dirty="0"/>
          </a:p>
          <a:p>
            <a:pPr marL="0" indent="0" algn="ctr">
              <a:buNone/>
            </a:pPr>
            <a:r>
              <a:rPr lang="en-US" sz="750" dirty="0">
                <a:solidFill>
                  <a:srgbClr val="00B4D8"/>
                </a:solidFill>
                <a:latin typeface="Calibri" pitchFamily="34" charset="0"/>
                <a:ea typeface="Calibri" pitchFamily="34" charset="-122"/>
                <a:cs typeface="Calibri" pitchFamily="34" charset="-120"/>
              </a:rPr>
              <a:t>Singapore</a:t>
            </a:r>
            <a:endParaRPr lang="en-US" sz="750" dirty="0"/>
          </a:p>
        </p:txBody>
      </p:sp>
      <p:sp>
        <p:nvSpPr>
          <p:cNvPr id="31" name="Shape 29"/>
          <p:cNvSpPr/>
          <p:nvPr/>
        </p:nvSpPr>
        <p:spPr>
          <a:xfrm>
            <a:off x="7168896" y="1664208"/>
            <a:ext cx="1188720" cy="402336"/>
          </a:xfrm>
          <a:prstGeom prst="rect">
            <a:avLst/>
          </a:prstGeom>
          <a:solidFill>
            <a:srgbClr val="FFFFFF"/>
          </a:solidFill>
          <a:ln w="12700">
            <a:solidFill>
              <a:srgbClr val="00B4D8"/>
            </a:solidFill>
            <a:prstDash val="solid"/>
          </a:ln>
        </p:spPr>
        <p:txBody>
          <a:bodyPr/>
          <a:lstStyle/>
          <a:p>
            <a:endParaRPr lang="en-SG"/>
          </a:p>
        </p:txBody>
      </p:sp>
      <p:sp>
        <p:nvSpPr>
          <p:cNvPr id="32" name="Text 30"/>
          <p:cNvSpPr/>
          <p:nvPr/>
        </p:nvSpPr>
        <p:spPr>
          <a:xfrm>
            <a:off x="7168896" y="1662379"/>
            <a:ext cx="1188720" cy="402336"/>
          </a:xfrm>
          <a:prstGeom prst="rect">
            <a:avLst/>
          </a:prstGeom>
          <a:noFill/>
          <a:ln/>
        </p:spPr>
        <p:txBody>
          <a:bodyPr wrap="square" lIns="0" tIns="0" rIns="0" bIns="0" rtlCol="0" anchor="ctr"/>
          <a:lstStyle/>
          <a:p>
            <a:pPr marL="0" indent="0" algn="ctr">
              <a:buNone/>
            </a:pPr>
            <a:r>
              <a:rPr lang="en-US" sz="750" dirty="0">
                <a:solidFill>
                  <a:srgbClr val="00B4D8"/>
                </a:solidFill>
                <a:latin typeface="Calibri" pitchFamily="34" charset="0"/>
                <a:ea typeface="Calibri" pitchFamily="34" charset="-122"/>
                <a:cs typeface="Calibri" pitchFamily="34" charset="-120"/>
              </a:rPr>
              <a:t>LAN B</a:t>
            </a:r>
            <a:endParaRPr lang="en-US" sz="750" dirty="0"/>
          </a:p>
          <a:p>
            <a:pPr marL="0" indent="0" algn="ctr">
              <a:buNone/>
            </a:pPr>
            <a:r>
              <a:rPr lang="en-US" sz="750" dirty="0">
                <a:solidFill>
                  <a:srgbClr val="00B4D8"/>
                </a:solidFill>
                <a:latin typeface="Calibri" pitchFamily="34" charset="0"/>
                <a:ea typeface="Calibri" pitchFamily="34" charset="-122"/>
                <a:cs typeface="Calibri" pitchFamily="34" charset="-120"/>
              </a:rPr>
              <a:t>London</a:t>
            </a:r>
            <a:endParaRPr lang="en-US" sz="750" dirty="0"/>
          </a:p>
        </p:txBody>
      </p:sp>
      <p:sp>
        <p:nvSpPr>
          <p:cNvPr id="33" name="Shape 31"/>
          <p:cNvSpPr/>
          <p:nvPr/>
        </p:nvSpPr>
        <p:spPr>
          <a:xfrm>
            <a:off x="5943600" y="1623974"/>
            <a:ext cx="1225296" cy="566928"/>
          </a:xfrm>
          <a:prstGeom prst="ellipse">
            <a:avLst/>
          </a:prstGeom>
          <a:solidFill>
            <a:srgbClr val="DBEAFE"/>
          </a:solidFill>
          <a:ln w="12700">
            <a:solidFill>
              <a:srgbClr val="8899AA"/>
            </a:solidFill>
            <a:prstDash val="solid"/>
          </a:ln>
        </p:spPr>
        <p:txBody>
          <a:bodyPr/>
          <a:lstStyle/>
          <a:p>
            <a:endParaRPr lang="en-SG"/>
          </a:p>
        </p:txBody>
      </p:sp>
      <p:sp>
        <p:nvSpPr>
          <p:cNvPr id="34" name="Text 32"/>
          <p:cNvSpPr/>
          <p:nvPr/>
        </p:nvSpPr>
        <p:spPr>
          <a:xfrm>
            <a:off x="5943600" y="1623974"/>
            <a:ext cx="1225296" cy="566928"/>
          </a:xfrm>
          <a:prstGeom prst="rect">
            <a:avLst/>
          </a:prstGeom>
          <a:noFill/>
          <a:ln/>
        </p:spPr>
        <p:txBody>
          <a:bodyPr wrap="square" lIns="0" tIns="0" rIns="0" bIns="0" rtlCol="0" anchor="ctr"/>
          <a:lstStyle/>
          <a:p>
            <a:pPr marL="0" indent="0" algn="ctr">
              <a:buNone/>
            </a:pPr>
            <a:r>
              <a:rPr lang="en-US" sz="750" dirty="0">
                <a:solidFill>
                  <a:srgbClr val="8899AA"/>
                </a:solidFill>
                <a:latin typeface="Calibri" pitchFamily="34" charset="0"/>
                <a:ea typeface="Calibri" pitchFamily="34" charset="-122"/>
                <a:cs typeface="Calibri" pitchFamily="34" charset="-120"/>
              </a:rPr>
              <a:t>🌐</a:t>
            </a:r>
            <a:endParaRPr lang="en-US" sz="750" dirty="0"/>
          </a:p>
          <a:p>
            <a:pPr marL="0" indent="0" algn="ctr">
              <a:buNone/>
            </a:pPr>
            <a:r>
              <a:rPr lang="en-US" sz="750" dirty="0">
                <a:solidFill>
                  <a:srgbClr val="8899AA"/>
                </a:solidFill>
                <a:latin typeface="Calibri" pitchFamily="34" charset="0"/>
                <a:ea typeface="Calibri" pitchFamily="34" charset="-122"/>
                <a:cs typeface="Calibri" pitchFamily="34" charset="-120"/>
              </a:rPr>
              <a:t>Internet</a:t>
            </a:r>
            <a:endParaRPr lang="en-US" sz="750" dirty="0"/>
          </a:p>
        </p:txBody>
      </p:sp>
      <p:sp>
        <p:nvSpPr>
          <p:cNvPr id="36" name="Shape 34"/>
          <p:cNvSpPr/>
          <p:nvPr/>
        </p:nvSpPr>
        <p:spPr>
          <a:xfrm>
            <a:off x="4754880" y="2267712"/>
            <a:ext cx="1188720" cy="256032"/>
          </a:xfrm>
          <a:prstGeom prst="rect">
            <a:avLst/>
          </a:prstGeom>
          <a:solidFill>
            <a:srgbClr val="DBEAFE"/>
          </a:solidFill>
          <a:ln w="12700">
            <a:solidFill>
              <a:srgbClr val="E74C3C"/>
            </a:solidFill>
            <a:prstDash val="solid"/>
          </a:ln>
        </p:spPr>
        <p:txBody>
          <a:bodyPr/>
          <a:lstStyle/>
          <a:p>
            <a:endParaRPr lang="en-SG"/>
          </a:p>
        </p:txBody>
      </p:sp>
      <p:sp>
        <p:nvSpPr>
          <p:cNvPr id="37" name="Text 35"/>
          <p:cNvSpPr/>
          <p:nvPr/>
        </p:nvSpPr>
        <p:spPr>
          <a:xfrm>
            <a:off x="4754880" y="2267712"/>
            <a:ext cx="1188720" cy="256032"/>
          </a:xfrm>
          <a:prstGeom prst="rect">
            <a:avLst/>
          </a:prstGeom>
          <a:noFill/>
          <a:ln/>
        </p:spPr>
        <p:txBody>
          <a:bodyPr wrap="square" lIns="0" tIns="0" rIns="0" bIns="0" rtlCol="0" anchor="ctr"/>
          <a:lstStyle/>
          <a:p>
            <a:pPr marL="0" indent="0" algn="ctr">
              <a:buNone/>
            </a:pPr>
            <a:r>
              <a:rPr lang="en-US" sz="750" dirty="0">
                <a:solidFill>
                  <a:srgbClr val="E74C3C"/>
                </a:solidFill>
                <a:latin typeface="Calibri" pitchFamily="34" charset="0"/>
                <a:ea typeface="Calibri" pitchFamily="34" charset="-122"/>
                <a:cs typeface="Calibri" pitchFamily="34" charset="-120"/>
              </a:rPr>
              <a:t>🔥  Firewall / VPN</a:t>
            </a:r>
            <a:endParaRPr lang="en-US" sz="750" dirty="0"/>
          </a:p>
        </p:txBody>
      </p:sp>
      <p:sp>
        <p:nvSpPr>
          <p:cNvPr id="38" name="Shape 36"/>
          <p:cNvSpPr/>
          <p:nvPr/>
        </p:nvSpPr>
        <p:spPr>
          <a:xfrm>
            <a:off x="6784848" y="2596896"/>
            <a:ext cx="1188720" cy="256032"/>
          </a:xfrm>
          <a:prstGeom prst="rect">
            <a:avLst/>
          </a:prstGeom>
          <a:solidFill>
            <a:srgbClr val="DBEAFE"/>
          </a:solidFill>
          <a:ln w="12700">
            <a:solidFill>
              <a:srgbClr val="F4A261"/>
            </a:solidFill>
            <a:prstDash val="solid"/>
          </a:ln>
        </p:spPr>
        <p:txBody>
          <a:bodyPr/>
          <a:lstStyle/>
          <a:p>
            <a:endParaRPr lang="en-SG"/>
          </a:p>
        </p:txBody>
      </p:sp>
      <p:sp>
        <p:nvSpPr>
          <p:cNvPr id="39" name="Text 37"/>
          <p:cNvSpPr/>
          <p:nvPr/>
        </p:nvSpPr>
        <p:spPr>
          <a:xfrm>
            <a:off x="6784848" y="2596896"/>
            <a:ext cx="1188720" cy="256032"/>
          </a:xfrm>
          <a:prstGeom prst="rect">
            <a:avLst/>
          </a:prstGeom>
          <a:noFill/>
          <a:ln/>
        </p:spPr>
        <p:txBody>
          <a:bodyPr wrap="square" lIns="0" tIns="0" rIns="0" bIns="0" rtlCol="0" anchor="ctr"/>
          <a:lstStyle/>
          <a:p>
            <a:pPr marL="0" indent="0" algn="ctr">
              <a:buNone/>
            </a:pPr>
            <a:r>
              <a:rPr lang="en-US" sz="750" dirty="0">
                <a:solidFill>
                  <a:srgbClr val="F4A261"/>
                </a:solidFill>
                <a:latin typeface="Calibri" pitchFamily="34" charset="0"/>
                <a:ea typeface="Calibri" pitchFamily="34" charset="-122"/>
                <a:cs typeface="Calibri" pitchFamily="34" charset="-120"/>
              </a:rPr>
              <a:t>📡  ISP / Carrier</a:t>
            </a:r>
            <a:endParaRPr lang="en-US" sz="750" dirty="0"/>
          </a:p>
        </p:txBody>
      </p:sp>
      <p:sp>
        <p:nvSpPr>
          <p:cNvPr id="40" name="Text 38"/>
          <p:cNvSpPr/>
          <p:nvPr/>
        </p:nvSpPr>
        <p:spPr>
          <a:xfrm>
            <a:off x="4773168" y="3017520"/>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Spans cities, countries — uses ISP infrastructure</a:t>
            </a:r>
            <a:endParaRPr lang="en-US" sz="850" dirty="0"/>
          </a:p>
        </p:txBody>
      </p:sp>
      <p:sp>
        <p:nvSpPr>
          <p:cNvPr id="41" name="Text 39"/>
          <p:cNvSpPr/>
          <p:nvPr/>
        </p:nvSpPr>
        <p:spPr>
          <a:xfrm>
            <a:off x="4773168" y="3218688"/>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Devices have public IP addresses routable on the Internet</a:t>
            </a:r>
            <a:endParaRPr lang="en-US" sz="850" dirty="0"/>
          </a:p>
        </p:txBody>
      </p:sp>
      <p:sp>
        <p:nvSpPr>
          <p:cNvPr id="42" name="Text 40"/>
          <p:cNvSpPr/>
          <p:nvPr/>
        </p:nvSpPr>
        <p:spPr>
          <a:xfrm>
            <a:off x="4773168" y="3419856"/>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Lower speed, higher latency than LAN</a:t>
            </a:r>
            <a:endParaRPr lang="en-US" sz="850" dirty="0"/>
          </a:p>
        </p:txBody>
      </p:sp>
      <p:sp>
        <p:nvSpPr>
          <p:cNvPr id="43" name="Text 41"/>
          <p:cNvSpPr/>
          <p:nvPr/>
        </p:nvSpPr>
        <p:spPr>
          <a:xfrm>
            <a:off x="4773168" y="3621024"/>
            <a:ext cx="3931920" cy="1828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Forensic logs: ISP records, BGP routing tables, VPN logs, firewall egress logs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36865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3277210"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1 · NETWORK FORENSICS FUNDAMENTALS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LAN Investigation — Insider Threat Scenario</a:t>
            </a:r>
            <a:endParaRPr lang="en-US" sz="2800" dirty="0"/>
          </a:p>
        </p:txBody>
      </p:sp>
      <p:sp>
        <p:nvSpPr>
          <p:cNvPr id="5" name="Shape 3"/>
          <p:cNvSpPr/>
          <p:nvPr/>
        </p:nvSpPr>
        <p:spPr>
          <a:xfrm>
            <a:off x="320040" y="1261872"/>
            <a:ext cx="8503920" cy="530352"/>
          </a:xfrm>
          <a:prstGeom prst="rect">
            <a:avLst/>
          </a:prstGeom>
          <a:solidFill>
            <a:srgbClr val="FFFFFF"/>
          </a:solidFill>
          <a:ln w="12700">
            <a:solidFill>
              <a:srgbClr val="00B4D8"/>
            </a:solidFill>
            <a:prstDash val="solid"/>
          </a:ln>
        </p:spPr>
        <p:txBody>
          <a:bodyPr/>
          <a:lstStyle/>
          <a:p>
            <a:endParaRPr lang="en-SG"/>
          </a:p>
        </p:txBody>
      </p:sp>
      <p:sp>
        <p:nvSpPr>
          <p:cNvPr id="6" name="Shape 4"/>
          <p:cNvSpPr/>
          <p:nvPr/>
        </p:nvSpPr>
        <p:spPr>
          <a:xfrm>
            <a:off x="320040" y="1261872"/>
            <a:ext cx="54864" cy="53035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75488" y="1316736"/>
            <a:ext cx="8229600" cy="402336"/>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SCENARIO: A finance employee is suspected of copying confidential client records to a USB drive and emailing them to a personal account — all while connected to the office LAN.</a:t>
            </a:r>
            <a:endParaRPr lang="en-US" sz="1000" dirty="0"/>
          </a:p>
        </p:txBody>
      </p:sp>
      <p:sp>
        <p:nvSpPr>
          <p:cNvPr id="8" name="Shape 6"/>
          <p:cNvSpPr/>
          <p:nvPr/>
        </p:nvSpPr>
        <p:spPr>
          <a:xfrm>
            <a:off x="274320" y="1901952"/>
            <a:ext cx="4251960" cy="270662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274320" y="1901952"/>
            <a:ext cx="4251960" cy="25603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384048" y="1901952"/>
            <a:ext cx="402336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Office LAN Layout</a:t>
            </a:r>
            <a:endParaRPr lang="en-US" sz="1050" dirty="0"/>
          </a:p>
        </p:txBody>
      </p:sp>
      <p:sp>
        <p:nvSpPr>
          <p:cNvPr id="11" name="Shape 9"/>
          <p:cNvSpPr/>
          <p:nvPr/>
        </p:nvSpPr>
        <p:spPr>
          <a:xfrm>
            <a:off x="384048" y="2249424"/>
            <a:ext cx="877824" cy="621792"/>
          </a:xfrm>
          <a:prstGeom prst="rect">
            <a:avLst/>
          </a:prstGeom>
          <a:solidFill>
            <a:srgbClr val="FFFFFF"/>
          </a:solidFill>
          <a:ln w="12700">
            <a:solidFill>
              <a:srgbClr val="E74C3C"/>
            </a:solidFill>
            <a:prstDash val="solid"/>
          </a:ln>
        </p:spPr>
        <p:txBody>
          <a:bodyPr/>
          <a:lstStyle/>
          <a:p>
            <a:endParaRPr lang="en-SG"/>
          </a:p>
        </p:txBody>
      </p:sp>
      <p:sp>
        <p:nvSpPr>
          <p:cNvPr id="12" name="Text 10"/>
          <p:cNvSpPr/>
          <p:nvPr/>
        </p:nvSpPr>
        <p:spPr>
          <a:xfrm>
            <a:off x="384048" y="2249424"/>
            <a:ext cx="877824" cy="621792"/>
          </a:xfrm>
          <a:prstGeom prst="rect">
            <a:avLst/>
          </a:prstGeom>
          <a:noFill/>
          <a:ln/>
        </p:spPr>
        <p:txBody>
          <a:bodyPr wrap="square" lIns="0" tIns="0" rIns="0" bIns="0" rtlCol="0" anchor="ctr"/>
          <a:lstStyle/>
          <a:p>
            <a:pPr marL="0" indent="0" algn="ctr">
              <a:buNone/>
            </a:pPr>
            <a:r>
              <a:rPr lang="en-US" sz="650" dirty="0">
                <a:solidFill>
                  <a:srgbClr val="E74C3C"/>
                </a:solidFill>
                <a:latin typeface="Calibri" pitchFamily="34" charset="0"/>
                <a:ea typeface="Calibri" pitchFamily="34" charset="-122"/>
                <a:cs typeface="Calibri" pitchFamily="34" charset="-120"/>
              </a:rPr>
              <a:t>💻 Finance PC</a:t>
            </a:r>
            <a:endParaRPr lang="en-US" sz="650" dirty="0"/>
          </a:p>
          <a:p>
            <a:pPr marL="0" indent="0" algn="ctr">
              <a:buNone/>
            </a:pPr>
            <a:r>
              <a:rPr lang="en-US" sz="650" dirty="0">
                <a:solidFill>
                  <a:srgbClr val="E74C3C"/>
                </a:solidFill>
                <a:latin typeface="Calibri" pitchFamily="34" charset="0"/>
                <a:ea typeface="Calibri" pitchFamily="34" charset="-122"/>
                <a:cs typeface="Calibri" pitchFamily="34" charset="-120"/>
              </a:rPr>
              <a:t>192.168.1.42</a:t>
            </a:r>
            <a:endParaRPr lang="en-US" sz="650" dirty="0"/>
          </a:p>
          <a:p>
            <a:pPr marL="0" indent="0" algn="ctr">
              <a:buNone/>
            </a:pPr>
            <a:r>
              <a:rPr lang="en-US" sz="650" dirty="0">
                <a:solidFill>
                  <a:srgbClr val="E74C3C"/>
                </a:solidFill>
                <a:latin typeface="Calibri" pitchFamily="34" charset="0"/>
                <a:ea typeface="Calibri" pitchFamily="34" charset="-122"/>
                <a:cs typeface="Calibri" pitchFamily="34" charset="-120"/>
              </a:rPr>
              <a:t>← SUSPECT</a:t>
            </a:r>
            <a:endParaRPr lang="en-US" sz="650" dirty="0"/>
          </a:p>
        </p:txBody>
      </p:sp>
      <p:sp>
        <p:nvSpPr>
          <p:cNvPr id="13" name="Shape 11"/>
          <p:cNvSpPr/>
          <p:nvPr/>
        </p:nvSpPr>
        <p:spPr>
          <a:xfrm>
            <a:off x="1408176" y="2249424"/>
            <a:ext cx="877824" cy="621792"/>
          </a:xfrm>
          <a:prstGeom prst="rect">
            <a:avLst/>
          </a:prstGeom>
          <a:solidFill>
            <a:srgbClr val="FFFFFF"/>
          </a:solidFill>
          <a:ln w="12700">
            <a:solidFill>
              <a:srgbClr val="00B4D8"/>
            </a:solidFill>
            <a:prstDash val="solid"/>
          </a:ln>
        </p:spPr>
        <p:txBody>
          <a:bodyPr/>
          <a:lstStyle/>
          <a:p>
            <a:endParaRPr lang="en-SG"/>
          </a:p>
        </p:txBody>
      </p:sp>
      <p:sp>
        <p:nvSpPr>
          <p:cNvPr id="14" name="Text 12"/>
          <p:cNvSpPr/>
          <p:nvPr/>
        </p:nvSpPr>
        <p:spPr>
          <a:xfrm>
            <a:off x="1408176" y="2249424"/>
            <a:ext cx="877824" cy="621792"/>
          </a:xfrm>
          <a:prstGeom prst="rect">
            <a:avLst/>
          </a:prstGeom>
          <a:noFill/>
          <a:ln/>
        </p:spPr>
        <p:txBody>
          <a:bodyPr wrap="square" lIns="0" tIns="0" rIns="0" bIns="0" rtlCol="0" anchor="ctr"/>
          <a:lstStyle/>
          <a:p>
            <a:pPr marL="0" indent="0" algn="ctr">
              <a:buNone/>
            </a:pPr>
            <a:r>
              <a:rPr lang="en-US" sz="650" dirty="0">
                <a:solidFill>
                  <a:srgbClr val="00B4D8"/>
                </a:solidFill>
                <a:latin typeface="Calibri" pitchFamily="34" charset="0"/>
                <a:ea typeface="Calibri" pitchFamily="34" charset="-122"/>
                <a:cs typeface="Calibri" pitchFamily="34" charset="-120"/>
              </a:rPr>
              <a:t>🖥 File</a:t>
            </a:r>
            <a:endParaRPr lang="en-US" sz="650" dirty="0"/>
          </a:p>
          <a:p>
            <a:pPr marL="0" indent="0" algn="ctr">
              <a:buNone/>
            </a:pPr>
            <a:r>
              <a:rPr lang="en-US" sz="650" dirty="0">
                <a:solidFill>
                  <a:srgbClr val="00B4D8"/>
                </a:solidFill>
                <a:latin typeface="Calibri" pitchFamily="34" charset="0"/>
                <a:ea typeface="Calibri" pitchFamily="34" charset="-122"/>
                <a:cs typeface="Calibri" pitchFamily="34" charset="-120"/>
              </a:rPr>
              <a:t>Server</a:t>
            </a:r>
            <a:endParaRPr lang="en-US" sz="650" dirty="0"/>
          </a:p>
          <a:p>
            <a:pPr marL="0" indent="0" algn="ctr">
              <a:buNone/>
            </a:pPr>
            <a:r>
              <a:rPr lang="en-US" sz="650" dirty="0">
                <a:solidFill>
                  <a:srgbClr val="00B4D8"/>
                </a:solidFill>
                <a:latin typeface="Calibri" pitchFamily="34" charset="0"/>
                <a:ea typeface="Calibri" pitchFamily="34" charset="-122"/>
                <a:cs typeface="Calibri" pitchFamily="34" charset="-120"/>
              </a:rPr>
              <a:t>192.168.1.10</a:t>
            </a:r>
            <a:endParaRPr lang="en-US" sz="650" dirty="0"/>
          </a:p>
        </p:txBody>
      </p:sp>
      <p:sp>
        <p:nvSpPr>
          <p:cNvPr id="15" name="Shape 13"/>
          <p:cNvSpPr/>
          <p:nvPr/>
        </p:nvSpPr>
        <p:spPr>
          <a:xfrm>
            <a:off x="2432304" y="2249424"/>
            <a:ext cx="877824" cy="621792"/>
          </a:xfrm>
          <a:prstGeom prst="rect">
            <a:avLst/>
          </a:prstGeom>
          <a:solidFill>
            <a:srgbClr val="FFFFFF"/>
          </a:solidFill>
          <a:ln w="12700">
            <a:solidFill>
              <a:srgbClr val="F4A261"/>
            </a:solidFill>
            <a:prstDash val="solid"/>
          </a:ln>
        </p:spPr>
        <p:txBody>
          <a:bodyPr/>
          <a:lstStyle/>
          <a:p>
            <a:endParaRPr lang="en-SG"/>
          </a:p>
        </p:txBody>
      </p:sp>
      <p:sp>
        <p:nvSpPr>
          <p:cNvPr id="16" name="Text 14"/>
          <p:cNvSpPr/>
          <p:nvPr/>
        </p:nvSpPr>
        <p:spPr>
          <a:xfrm>
            <a:off x="2432304" y="2249424"/>
            <a:ext cx="877824" cy="621792"/>
          </a:xfrm>
          <a:prstGeom prst="rect">
            <a:avLst/>
          </a:prstGeom>
          <a:noFill/>
          <a:ln/>
        </p:spPr>
        <p:txBody>
          <a:bodyPr wrap="square" lIns="0" tIns="0" rIns="0" bIns="0" rtlCol="0" anchor="ctr"/>
          <a:lstStyle/>
          <a:p>
            <a:pPr marL="0" indent="0" algn="ctr">
              <a:buNone/>
            </a:pPr>
            <a:r>
              <a:rPr lang="en-US" sz="650" dirty="0">
                <a:solidFill>
                  <a:srgbClr val="F4A261"/>
                </a:solidFill>
                <a:latin typeface="Calibri" pitchFamily="34" charset="0"/>
                <a:ea typeface="Calibri" pitchFamily="34" charset="-122"/>
                <a:cs typeface="Calibri" pitchFamily="34" charset="-120"/>
              </a:rPr>
              <a:t>📧 Mail</a:t>
            </a:r>
            <a:endParaRPr lang="en-US" sz="650" dirty="0"/>
          </a:p>
          <a:p>
            <a:pPr marL="0" indent="0" algn="ctr">
              <a:buNone/>
            </a:pPr>
            <a:r>
              <a:rPr lang="en-US" sz="650" dirty="0">
                <a:solidFill>
                  <a:srgbClr val="F4A261"/>
                </a:solidFill>
                <a:latin typeface="Calibri" pitchFamily="34" charset="0"/>
                <a:ea typeface="Calibri" pitchFamily="34" charset="-122"/>
                <a:cs typeface="Calibri" pitchFamily="34" charset="-120"/>
              </a:rPr>
              <a:t>Server</a:t>
            </a:r>
            <a:endParaRPr lang="en-US" sz="650" dirty="0"/>
          </a:p>
          <a:p>
            <a:pPr marL="0" indent="0" algn="ctr">
              <a:buNone/>
            </a:pPr>
            <a:r>
              <a:rPr lang="en-US" sz="650" dirty="0">
                <a:solidFill>
                  <a:srgbClr val="F4A261"/>
                </a:solidFill>
                <a:latin typeface="Calibri" pitchFamily="34" charset="0"/>
                <a:ea typeface="Calibri" pitchFamily="34" charset="-122"/>
                <a:cs typeface="Calibri" pitchFamily="34" charset="-120"/>
              </a:rPr>
              <a:t>192.168.1.20</a:t>
            </a:r>
            <a:endParaRPr lang="en-US" sz="650" dirty="0"/>
          </a:p>
        </p:txBody>
      </p:sp>
      <p:sp>
        <p:nvSpPr>
          <p:cNvPr id="17" name="Shape 15"/>
          <p:cNvSpPr/>
          <p:nvPr/>
        </p:nvSpPr>
        <p:spPr>
          <a:xfrm>
            <a:off x="3456432" y="2249424"/>
            <a:ext cx="877824" cy="621792"/>
          </a:xfrm>
          <a:prstGeom prst="rect">
            <a:avLst/>
          </a:prstGeom>
          <a:solidFill>
            <a:srgbClr val="FFFFFF"/>
          </a:solidFill>
          <a:ln w="12700">
            <a:solidFill>
              <a:srgbClr val="2ECC71"/>
            </a:solidFill>
            <a:prstDash val="solid"/>
          </a:ln>
        </p:spPr>
        <p:txBody>
          <a:bodyPr/>
          <a:lstStyle/>
          <a:p>
            <a:endParaRPr lang="en-SG"/>
          </a:p>
        </p:txBody>
      </p:sp>
      <p:sp>
        <p:nvSpPr>
          <p:cNvPr id="18" name="Text 16"/>
          <p:cNvSpPr/>
          <p:nvPr/>
        </p:nvSpPr>
        <p:spPr>
          <a:xfrm>
            <a:off x="3456432" y="2249424"/>
            <a:ext cx="877824" cy="621792"/>
          </a:xfrm>
          <a:prstGeom prst="rect">
            <a:avLst/>
          </a:prstGeom>
          <a:noFill/>
          <a:ln/>
        </p:spPr>
        <p:txBody>
          <a:bodyPr wrap="square" lIns="0" tIns="0" rIns="0" bIns="0" rtlCol="0" anchor="ctr"/>
          <a:lstStyle/>
          <a:p>
            <a:pPr marL="0" indent="0" algn="ctr">
              <a:buNone/>
            </a:pPr>
            <a:r>
              <a:rPr lang="en-US" sz="650" dirty="0">
                <a:solidFill>
                  <a:srgbClr val="2ECC71"/>
                </a:solidFill>
                <a:latin typeface="Calibri" pitchFamily="34" charset="0"/>
                <a:ea typeface="Calibri" pitchFamily="34" charset="-122"/>
                <a:cs typeface="Calibri" pitchFamily="34" charset="-120"/>
              </a:rPr>
              <a:t>🔒 DHCP</a:t>
            </a:r>
            <a:endParaRPr lang="en-US" sz="650" dirty="0"/>
          </a:p>
          <a:p>
            <a:pPr marL="0" indent="0" algn="ctr">
              <a:buNone/>
            </a:pPr>
            <a:r>
              <a:rPr lang="en-US" sz="650" dirty="0">
                <a:solidFill>
                  <a:srgbClr val="2ECC71"/>
                </a:solidFill>
                <a:latin typeface="Calibri" pitchFamily="34" charset="0"/>
                <a:ea typeface="Calibri" pitchFamily="34" charset="-122"/>
                <a:cs typeface="Calibri" pitchFamily="34" charset="-120"/>
              </a:rPr>
              <a:t>Server</a:t>
            </a:r>
            <a:endParaRPr lang="en-US" sz="650" dirty="0"/>
          </a:p>
          <a:p>
            <a:pPr marL="0" indent="0" algn="ctr">
              <a:buNone/>
            </a:pPr>
            <a:r>
              <a:rPr lang="en-US" sz="650" dirty="0">
                <a:solidFill>
                  <a:srgbClr val="2ECC71"/>
                </a:solidFill>
                <a:latin typeface="Calibri" pitchFamily="34" charset="0"/>
                <a:ea typeface="Calibri" pitchFamily="34" charset="-122"/>
                <a:cs typeface="Calibri" pitchFamily="34" charset="-120"/>
              </a:rPr>
              <a:t>192.168.1.5</a:t>
            </a:r>
            <a:endParaRPr lang="en-US" sz="650" dirty="0"/>
          </a:p>
        </p:txBody>
      </p:sp>
      <p:sp>
        <p:nvSpPr>
          <p:cNvPr id="19" name="Shape 17"/>
          <p:cNvSpPr/>
          <p:nvPr/>
        </p:nvSpPr>
        <p:spPr>
          <a:xfrm>
            <a:off x="813816" y="2871216"/>
            <a:ext cx="36576" cy="146304"/>
          </a:xfrm>
          <a:prstGeom prst="rect">
            <a:avLst/>
          </a:prstGeom>
          <a:solidFill>
            <a:srgbClr val="00B4D8"/>
          </a:solidFill>
          <a:ln w="12700">
            <a:solidFill>
              <a:srgbClr val="00B4D8"/>
            </a:solidFill>
            <a:prstDash val="solid"/>
          </a:ln>
        </p:spPr>
        <p:txBody>
          <a:bodyPr/>
          <a:lstStyle/>
          <a:p>
            <a:endParaRPr lang="en-SG"/>
          </a:p>
        </p:txBody>
      </p:sp>
      <p:sp>
        <p:nvSpPr>
          <p:cNvPr id="20" name="Shape 18"/>
          <p:cNvSpPr/>
          <p:nvPr/>
        </p:nvSpPr>
        <p:spPr>
          <a:xfrm>
            <a:off x="1837944" y="2871216"/>
            <a:ext cx="36576" cy="146304"/>
          </a:xfrm>
          <a:prstGeom prst="rect">
            <a:avLst/>
          </a:prstGeom>
          <a:solidFill>
            <a:srgbClr val="00B4D8"/>
          </a:solidFill>
          <a:ln w="12700">
            <a:solidFill>
              <a:srgbClr val="00B4D8"/>
            </a:solidFill>
            <a:prstDash val="solid"/>
          </a:ln>
        </p:spPr>
        <p:txBody>
          <a:bodyPr/>
          <a:lstStyle/>
          <a:p>
            <a:endParaRPr lang="en-SG"/>
          </a:p>
        </p:txBody>
      </p:sp>
      <p:sp>
        <p:nvSpPr>
          <p:cNvPr id="21" name="Shape 19"/>
          <p:cNvSpPr/>
          <p:nvPr/>
        </p:nvSpPr>
        <p:spPr>
          <a:xfrm>
            <a:off x="2862072" y="2871216"/>
            <a:ext cx="36576" cy="146304"/>
          </a:xfrm>
          <a:prstGeom prst="rect">
            <a:avLst/>
          </a:prstGeom>
          <a:solidFill>
            <a:srgbClr val="00B4D8"/>
          </a:solidFill>
          <a:ln w="12700">
            <a:solidFill>
              <a:srgbClr val="00B4D8"/>
            </a:solidFill>
            <a:prstDash val="solid"/>
          </a:ln>
        </p:spPr>
        <p:txBody>
          <a:bodyPr/>
          <a:lstStyle/>
          <a:p>
            <a:endParaRPr lang="en-SG"/>
          </a:p>
        </p:txBody>
      </p:sp>
      <p:sp>
        <p:nvSpPr>
          <p:cNvPr id="22" name="Shape 20"/>
          <p:cNvSpPr/>
          <p:nvPr/>
        </p:nvSpPr>
        <p:spPr>
          <a:xfrm>
            <a:off x="3886200" y="2871216"/>
            <a:ext cx="36576" cy="146304"/>
          </a:xfrm>
          <a:prstGeom prst="rect">
            <a:avLst/>
          </a:prstGeom>
          <a:solidFill>
            <a:srgbClr val="00B4D8"/>
          </a:solidFill>
          <a:ln w="12700">
            <a:solidFill>
              <a:srgbClr val="00B4D8"/>
            </a:solidFill>
            <a:prstDash val="solid"/>
          </a:ln>
        </p:spPr>
        <p:txBody>
          <a:bodyPr/>
          <a:lstStyle/>
          <a:p>
            <a:endParaRPr lang="en-SG"/>
          </a:p>
        </p:txBody>
      </p:sp>
      <p:sp>
        <p:nvSpPr>
          <p:cNvPr id="23" name="Shape 21"/>
          <p:cNvSpPr/>
          <p:nvPr/>
        </p:nvSpPr>
        <p:spPr>
          <a:xfrm>
            <a:off x="1097280" y="3017520"/>
            <a:ext cx="2011680" cy="256032"/>
          </a:xfrm>
          <a:prstGeom prst="rect">
            <a:avLst/>
          </a:prstGeom>
          <a:solidFill>
            <a:srgbClr val="DBEAFE"/>
          </a:solidFill>
          <a:ln w="12700">
            <a:solidFill>
              <a:srgbClr val="00B4D8"/>
            </a:solidFill>
            <a:prstDash val="solid"/>
          </a:ln>
        </p:spPr>
        <p:txBody>
          <a:bodyPr/>
          <a:lstStyle/>
          <a:p>
            <a:endParaRPr lang="en-SG"/>
          </a:p>
        </p:txBody>
      </p:sp>
      <p:sp>
        <p:nvSpPr>
          <p:cNvPr id="24" name="Text 22"/>
          <p:cNvSpPr/>
          <p:nvPr/>
        </p:nvSpPr>
        <p:spPr>
          <a:xfrm>
            <a:off x="1097280" y="3017520"/>
            <a:ext cx="2011680" cy="256032"/>
          </a:xfrm>
          <a:prstGeom prst="rect">
            <a:avLst/>
          </a:prstGeom>
          <a:noFill/>
          <a:ln/>
        </p:spPr>
        <p:txBody>
          <a:bodyPr wrap="square" lIns="0" tIns="0" rIns="0" bIns="0" rtlCol="0" anchor="ctr"/>
          <a:lstStyle/>
          <a:p>
            <a:pPr marL="0" indent="0" algn="ctr">
              <a:buNone/>
            </a:pPr>
            <a:r>
              <a:rPr lang="en-US" sz="850" dirty="0">
                <a:solidFill>
                  <a:srgbClr val="00B4D8"/>
                </a:solidFill>
                <a:latin typeface="Calibri" pitchFamily="34" charset="0"/>
                <a:ea typeface="Calibri" pitchFamily="34" charset="-122"/>
                <a:cs typeface="Calibri" pitchFamily="34" charset="-120"/>
              </a:rPr>
              <a:t>🔀  Network Switch</a:t>
            </a:r>
            <a:endParaRPr lang="en-US" sz="850" dirty="0"/>
          </a:p>
        </p:txBody>
      </p:sp>
      <p:sp>
        <p:nvSpPr>
          <p:cNvPr id="25" name="Shape 23"/>
          <p:cNvSpPr/>
          <p:nvPr/>
        </p:nvSpPr>
        <p:spPr>
          <a:xfrm>
            <a:off x="2075688" y="3273552"/>
            <a:ext cx="36576" cy="164592"/>
          </a:xfrm>
          <a:prstGeom prst="rect">
            <a:avLst/>
          </a:prstGeom>
          <a:solidFill>
            <a:srgbClr val="F4A261"/>
          </a:solidFill>
          <a:ln w="12700">
            <a:solidFill>
              <a:srgbClr val="F4A261"/>
            </a:solidFill>
            <a:prstDash val="solid"/>
          </a:ln>
        </p:spPr>
        <p:txBody>
          <a:bodyPr/>
          <a:lstStyle/>
          <a:p>
            <a:endParaRPr lang="en-SG"/>
          </a:p>
        </p:txBody>
      </p:sp>
      <p:sp>
        <p:nvSpPr>
          <p:cNvPr id="26" name="Shape 24"/>
          <p:cNvSpPr/>
          <p:nvPr/>
        </p:nvSpPr>
        <p:spPr>
          <a:xfrm>
            <a:off x="1097280" y="3438144"/>
            <a:ext cx="2011680" cy="237744"/>
          </a:xfrm>
          <a:prstGeom prst="rect">
            <a:avLst/>
          </a:prstGeom>
          <a:solidFill>
            <a:srgbClr val="DBEAFE"/>
          </a:solidFill>
          <a:ln w="12700">
            <a:solidFill>
              <a:srgbClr val="F4A261"/>
            </a:solidFill>
            <a:prstDash val="solid"/>
          </a:ln>
        </p:spPr>
        <p:txBody>
          <a:bodyPr/>
          <a:lstStyle/>
          <a:p>
            <a:endParaRPr lang="en-SG"/>
          </a:p>
        </p:txBody>
      </p:sp>
      <p:sp>
        <p:nvSpPr>
          <p:cNvPr id="27" name="Text 25"/>
          <p:cNvSpPr/>
          <p:nvPr/>
        </p:nvSpPr>
        <p:spPr>
          <a:xfrm>
            <a:off x="1097280" y="3438144"/>
            <a:ext cx="2011680" cy="237744"/>
          </a:xfrm>
          <a:prstGeom prst="rect">
            <a:avLst/>
          </a:prstGeom>
          <a:noFill/>
          <a:ln/>
        </p:spPr>
        <p:txBody>
          <a:bodyPr wrap="square" lIns="0" tIns="0" rIns="0" bIns="0" rtlCol="0" anchor="ctr"/>
          <a:lstStyle/>
          <a:p>
            <a:pPr marL="0" indent="0" algn="ctr">
              <a:buNone/>
            </a:pPr>
            <a:r>
              <a:rPr lang="en-US" sz="800" dirty="0">
                <a:solidFill>
                  <a:srgbClr val="F4A261"/>
                </a:solidFill>
                <a:latin typeface="Calibri" pitchFamily="34" charset="0"/>
                <a:ea typeface="Calibri" pitchFamily="34" charset="-122"/>
                <a:cs typeface="Calibri" pitchFamily="34" charset="-120"/>
              </a:rPr>
              <a:t>🌐  Router / Internet Gateway</a:t>
            </a:r>
            <a:endParaRPr lang="en-US" sz="800" dirty="0"/>
          </a:p>
        </p:txBody>
      </p:sp>
      <p:sp>
        <p:nvSpPr>
          <p:cNvPr id="28" name="Text 26"/>
          <p:cNvSpPr/>
          <p:nvPr/>
        </p:nvSpPr>
        <p:spPr>
          <a:xfrm>
            <a:off x="384048" y="2889504"/>
            <a:ext cx="914400" cy="164592"/>
          </a:xfrm>
          <a:prstGeom prst="rect">
            <a:avLst/>
          </a:prstGeom>
          <a:noFill/>
          <a:ln/>
        </p:spPr>
        <p:txBody>
          <a:bodyPr wrap="square" lIns="0" tIns="0" rIns="0" bIns="0" rtlCol="0" anchor="ctr"/>
          <a:lstStyle/>
          <a:p>
            <a:pPr marL="0" indent="0">
              <a:buNone/>
            </a:pPr>
            <a:r>
              <a:rPr lang="en-US" sz="700" dirty="0">
                <a:solidFill>
                  <a:srgbClr val="E74C3C"/>
                </a:solidFill>
                <a:latin typeface="Calibri" pitchFamily="34" charset="0"/>
                <a:ea typeface="Calibri" pitchFamily="34" charset="-122"/>
                <a:cs typeface="Calibri" pitchFamily="34" charset="-120"/>
              </a:rPr>
              <a:t>🔌 USB plugged in!</a:t>
            </a:r>
            <a:endParaRPr lang="en-US" sz="700" dirty="0"/>
          </a:p>
        </p:txBody>
      </p:sp>
      <p:sp>
        <p:nvSpPr>
          <p:cNvPr id="29" name="Text 27"/>
          <p:cNvSpPr/>
          <p:nvPr/>
        </p:nvSpPr>
        <p:spPr>
          <a:xfrm>
            <a:off x="384048" y="3072384"/>
            <a:ext cx="1005840" cy="164592"/>
          </a:xfrm>
          <a:prstGeom prst="rect">
            <a:avLst/>
          </a:prstGeom>
          <a:noFill/>
          <a:ln/>
        </p:spPr>
        <p:txBody>
          <a:bodyPr wrap="square" lIns="0" tIns="0" rIns="0" bIns="0" rtlCol="0" anchor="ctr"/>
          <a:lstStyle/>
          <a:p>
            <a:pPr marL="0" indent="0">
              <a:buNone/>
            </a:pPr>
            <a:r>
              <a:rPr lang="en-US" sz="700" dirty="0">
                <a:solidFill>
                  <a:srgbClr val="F4A261"/>
                </a:solidFill>
                <a:latin typeface="Calibri" pitchFamily="34" charset="0"/>
                <a:ea typeface="Calibri" pitchFamily="34" charset="-122"/>
                <a:cs typeface="Calibri" pitchFamily="34" charset="-120"/>
              </a:rPr>
              <a:t>📤 Email sent out!</a:t>
            </a:r>
            <a:endParaRPr lang="en-US" sz="700" dirty="0"/>
          </a:p>
        </p:txBody>
      </p:sp>
      <p:sp>
        <p:nvSpPr>
          <p:cNvPr id="30" name="Shape 28"/>
          <p:cNvSpPr/>
          <p:nvPr/>
        </p:nvSpPr>
        <p:spPr>
          <a:xfrm>
            <a:off x="4754880" y="1901952"/>
            <a:ext cx="4069080" cy="2706624"/>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4754880" y="1901952"/>
            <a:ext cx="4069080" cy="256032"/>
          </a:xfrm>
          <a:prstGeom prst="rect">
            <a:avLst/>
          </a:prstGeom>
          <a:solidFill>
            <a:srgbClr val="F4A261"/>
          </a:solidFill>
          <a:ln w="12700">
            <a:solidFill>
              <a:srgbClr val="F4A261"/>
            </a:solidFill>
            <a:prstDash val="solid"/>
          </a:ln>
        </p:spPr>
        <p:txBody>
          <a:bodyPr/>
          <a:lstStyle/>
          <a:p>
            <a:endParaRPr lang="en-SG"/>
          </a:p>
        </p:txBody>
      </p:sp>
      <p:sp>
        <p:nvSpPr>
          <p:cNvPr id="32" name="Text 30"/>
          <p:cNvSpPr/>
          <p:nvPr/>
        </p:nvSpPr>
        <p:spPr>
          <a:xfrm>
            <a:off x="4864608" y="1901952"/>
            <a:ext cx="384048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Logs Collected &amp; Why They Matter</a:t>
            </a:r>
            <a:endParaRPr lang="en-US" sz="1050" dirty="0"/>
          </a:p>
        </p:txBody>
      </p:sp>
      <p:sp>
        <p:nvSpPr>
          <p:cNvPr id="33" name="Text 31"/>
          <p:cNvSpPr/>
          <p:nvPr/>
        </p:nvSpPr>
        <p:spPr>
          <a:xfrm>
            <a:off x="4864608" y="2231136"/>
            <a:ext cx="1645920" cy="201168"/>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  Switch Logs</a:t>
            </a:r>
            <a:endParaRPr lang="en-US" sz="950" dirty="0"/>
          </a:p>
        </p:txBody>
      </p:sp>
      <p:sp>
        <p:nvSpPr>
          <p:cNvPr id="34" name="Text 32"/>
          <p:cNvSpPr/>
          <p:nvPr/>
        </p:nvSpPr>
        <p:spPr>
          <a:xfrm>
            <a:off x="4864608" y="2432304"/>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Maps which device (MAC) was on which port — confirms Finance PC was connected at port 4 during the incident window.</a:t>
            </a:r>
            <a:endParaRPr lang="en-US" sz="850" dirty="0"/>
          </a:p>
        </p:txBody>
      </p:sp>
      <p:sp>
        <p:nvSpPr>
          <p:cNvPr id="35" name="Text 33"/>
          <p:cNvSpPr/>
          <p:nvPr/>
        </p:nvSpPr>
        <p:spPr>
          <a:xfrm>
            <a:off x="4864608" y="2816352"/>
            <a:ext cx="1645920" cy="201168"/>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  DHCP Logs</a:t>
            </a:r>
            <a:endParaRPr lang="en-US" sz="950" dirty="0"/>
          </a:p>
        </p:txBody>
      </p:sp>
      <p:sp>
        <p:nvSpPr>
          <p:cNvPr id="36" name="Text 34"/>
          <p:cNvSpPr/>
          <p:nvPr/>
        </p:nvSpPr>
        <p:spPr>
          <a:xfrm>
            <a:off x="4864608" y="3017520"/>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Records which IP was assigned to which device — proves 192.168.1.42 = the suspect's laptop at 14:12.</a:t>
            </a:r>
            <a:endParaRPr lang="en-US" sz="850" dirty="0"/>
          </a:p>
        </p:txBody>
      </p:sp>
      <p:sp>
        <p:nvSpPr>
          <p:cNvPr id="37" name="Text 35"/>
          <p:cNvSpPr/>
          <p:nvPr/>
        </p:nvSpPr>
        <p:spPr>
          <a:xfrm>
            <a:off x="4864608" y="3401568"/>
            <a:ext cx="1645920" cy="201168"/>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  File Server Logs</a:t>
            </a:r>
            <a:endParaRPr lang="en-US" sz="950" dirty="0"/>
          </a:p>
        </p:txBody>
      </p:sp>
      <p:sp>
        <p:nvSpPr>
          <p:cNvPr id="38" name="Text 36"/>
          <p:cNvSpPr/>
          <p:nvPr/>
        </p:nvSpPr>
        <p:spPr>
          <a:xfrm>
            <a:off x="4864608" y="3602736"/>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Timestamps of files accessed and copied — shows the suspect opened client records and copied 2.3 GB.</a:t>
            </a:r>
            <a:endParaRPr lang="en-US" sz="850" dirty="0"/>
          </a:p>
        </p:txBody>
      </p:sp>
      <p:sp>
        <p:nvSpPr>
          <p:cNvPr id="39" name="Text 37"/>
          <p:cNvSpPr/>
          <p:nvPr/>
        </p:nvSpPr>
        <p:spPr>
          <a:xfrm>
            <a:off x="4864608" y="3986784"/>
            <a:ext cx="1645920" cy="201168"/>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  Mail Server Logs</a:t>
            </a:r>
            <a:endParaRPr lang="en-US" sz="950" dirty="0"/>
          </a:p>
        </p:txBody>
      </p:sp>
      <p:sp>
        <p:nvSpPr>
          <p:cNvPr id="40" name="Text 38"/>
          <p:cNvSpPr/>
          <p:nvPr/>
        </p:nvSpPr>
        <p:spPr>
          <a:xfrm>
            <a:off x="4864608" y="4187952"/>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SMTP transaction log shows an outbound email at 14:23 from the suspect's account with a large attachment.</a:t>
            </a:r>
            <a:endParaRPr lang="en-US" sz="850" dirty="0"/>
          </a:p>
        </p:txBody>
      </p:sp>
      <p:sp>
        <p:nvSpPr>
          <p:cNvPr id="41" name="Shape 39"/>
          <p:cNvSpPr/>
          <p:nvPr/>
        </p:nvSpPr>
        <p:spPr>
          <a:xfrm>
            <a:off x="274320" y="4700016"/>
            <a:ext cx="8549640" cy="182880"/>
          </a:xfrm>
          <a:prstGeom prst="rect">
            <a:avLst/>
          </a:prstGeom>
          <a:solidFill>
            <a:srgbClr val="FFFFFF"/>
          </a:solidFill>
          <a:ln w="12700">
            <a:solidFill>
              <a:srgbClr val="2ECC71"/>
            </a:solidFill>
            <a:prstDash val="solid"/>
          </a:ln>
        </p:spPr>
        <p:txBody>
          <a:bodyPr/>
          <a:lstStyle/>
          <a:p>
            <a:endParaRPr lang="en-SG"/>
          </a:p>
        </p:txBody>
      </p:sp>
      <p:sp>
        <p:nvSpPr>
          <p:cNvPr id="42" name="Text 40"/>
          <p:cNvSpPr/>
          <p:nvPr/>
        </p:nvSpPr>
        <p:spPr>
          <a:xfrm>
            <a:off x="457200" y="4709160"/>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LAN Advantage: All evidence sits on the same internal network — no external warrants needed. Collect directly from internal servers before logs roll over.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36865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3277210"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1 · NETWORK FORENSICS FUNDAMENTALS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WAN Investigation — External Intrusion Scenario</a:t>
            </a:r>
            <a:endParaRPr lang="en-US" sz="2800" dirty="0"/>
          </a:p>
        </p:txBody>
      </p:sp>
      <p:sp>
        <p:nvSpPr>
          <p:cNvPr id="5" name="Shape 3"/>
          <p:cNvSpPr/>
          <p:nvPr/>
        </p:nvSpPr>
        <p:spPr>
          <a:xfrm>
            <a:off x="320040" y="1261872"/>
            <a:ext cx="8503920" cy="530352"/>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530352"/>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16736"/>
            <a:ext cx="8229600" cy="402336"/>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SCENARIO: An unknown attacker located overseas accessed the company VPN using stolen credentials and downloaded 50 GB of confidential customer data over three days.</a:t>
            </a:r>
            <a:endParaRPr lang="en-US" sz="1000" dirty="0"/>
          </a:p>
        </p:txBody>
      </p:sp>
      <p:sp>
        <p:nvSpPr>
          <p:cNvPr id="8" name="Shape 6"/>
          <p:cNvSpPr/>
          <p:nvPr/>
        </p:nvSpPr>
        <p:spPr>
          <a:xfrm>
            <a:off x="248832" y="2066544"/>
            <a:ext cx="4251960" cy="270662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274320" y="1901952"/>
            <a:ext cx="4251960" cy="256032"/>
          </a:xfrm>
          <a:prstGeom prst="rect">
            <a:avLst/>
          </a:prstGeom>
          <a:solidFill>
            <a:srgbClr val="F4A261"/>
          </a:solidFill>
          <a:ln w="12700">
            <a:solidFill>
              <a:srgbClr val="F4A261"/>
            </a:solidFill>
            <a:prstDash val="solid"/>
          </a:ln>
        </p:spPr>
        <p:txBody>
          <a:bodyPr/>
          <a:lstStyle/>
          <a:p>
            <a:endParaRPr lang="en-SG"/>
          </a:p>
        </p:txBody>
      </p:sp>
      <p:sp>
        <p:nvSpPr>
          <p:cNvPr id="10" name="Text 8"/>
          <p:cNvSpPr/>
          <p:nvPr/>
        </p:nvSpPr>
        <p:spPr>
          <a:xfrm>
            <a:off x="384048" y="1901952"/>
            <a:ext cx="402336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WAN Attack Path</a:t>
            </a:r>
            <a:endParaRPr lang="en-US" sz="1050" dirty="0"/>
          </a:p>
        </p:txBody>
      </p:sp>
      <p:sp>
        <p:nvSpPr>
          <p:cNvPr id="11" name="Shape 9"/>
          <p:cNvSpPr/>
          <p:nvPr/>
        </p:nvSpPr>
        <p:spPr>
          <a:xfrm>
            <a:off x="384048" y="2267712"/>
            <a:ext cx="987552" cy="676656"/>
          </a:xfrm>
          <a:prstGeom prst="rect">
            <a:avLst/>
          </a:prstGeom>
          <a:solidFill>
            <a:srgbClr val="FFFFFF"/>
          </a:solidFill>
          <a:ln w="12700">
            <a:solidFill>
              <a:srgbClr val="E74C3C"/>
            </a:solidFill>
            <a:prstDash val="solid"/>
          </a:ln>
        </p:spPr>
        <p:txBody>
          <a:bodyPr/>
          <a:lstStyle/>
          <a:p>
            <a:endParaRPr lang="en-SG"/>
          </a:p>
        </p:txBody>
      </p:sp>
      <p:sp>
        <p:nvSpPr>
          <p:cNvPr id="12" name="Text 10"/>
          <p:cNvSpPr/>
          <p:nvPr/>
        </p:nvSpPr>
        <p:spPr>
          <a:xfrm>
            <a:off x="338328" y="2459736"/>
            <a:ext cx="987552" cy="530352"/>
          </a:xfrm>
          <a:prstGeom prst="rect">
            <a:avLst/>
          </a:prstGeom>
          <a:noFill/>
          <a:ln/>
        </p:spPr>
        <p:txBody>
          <a:bodyPr wrap="square" lIns="0" tIns="0" rIns="0" bIns="0" rtlCol="0" anchor="ctr"/>
          <a:lstStyle/>
          <a:p>
            <a:pPr marL="0" indent="0" algn="ctr">
              <a:buNone/>
            </a:pPr>
            <a:r>
              <a:rPr lang="en-US" sz="700" dirty="0">
                <a:solidFill>
                  <a:srgbClr val="E74C3C"/>
                </a:solidFill>
                <a:latin typeface="Calibri" pitchFamily="34" charset="0"/>
                <a:ea typeface="Calibri" pitchFamily="34" charset="-122"/>
                <a:cs typeface="Calibri" pitchFamily="34" charset="-120"/>
              </a:rPr>
              <a:t>🕵️ Attacker</a:t>
            </a:r>
            <a:endParaRPr lang="en-US" sz="700" dirty="0"/>
          </a:p>
          <a:p>
            <a:pPr marL="0" indent="0" algn="ctr">
              <a:buNone/>
            </a:pPr>
            <a:r>
              <a:rPr lang="en-US" sz="700" dirty="0">
                <a:solidFill>
                  <a:srgbClr val="E74C3C"/>
                </a:solidFill>
                <a:latin typeface="Calibri" pitchFamily="34" charset="0"/>
                <a:ea typeface="Calibri" pitchFamily="34" charset="-122"/>
                <a:cs typeface="Calibri" pitchFamily="34" charset="-120"/>
              </a:rPr>
              <a:t>Overseas</a:t>
            </a:r>
            <a:endParaRPr lang="en-US" sz="700" dirty="0"/>
          </a:p>
          <a:p>
            <a:pPr marL="0" indent="0" algn="ctr">
              <a:buNone/>
            </a:pPr>
            <a:r>
              <a:rPr lang="en-US" sz="700" dirty="0">
                <a:solidFill>
                  <a:srgbClr val="E74C3C"/>
                </a:solidFill>
                <a:latin typeface="Calibri" pitchFamily="34" charset="0"/>
                <a:ea typeface="Calibri" pitchFamily="34" charset="-122"/>
                <a:cs typeface="Calibri" pitchFamily="34" charset="-120"/>
              </a:rPr>
              <a:t>203.0.113.45</a:t>
            </a:r>
            <a:endParaRPr lang="en-US" sz="700" dirty="0"/>
          </a:p>
        </p:txBody>
      </p:sp>
      <p:sp>
        <p:nvSpPr>
          <p:cNvPr id="13" name="Shape 11"/>
          <p:cNvSpPr/>
          <p:nvPr/>
        </p:nvSpPr>
        <p:spPr>
          <a:xfrm>
            <a:off x="1554480" y="2194560"/>
            <a:ext cx="1097280" cy="676656"/>
          </a:xfrm>
          <a:prstGeom prst="ellipse">
            <a:avLst/>
          </a:prstGeom>
          <a:solidFill>
            <a:srgbClr val="DBEAFE"/>
          </a:solidFill>
          <a:ln w="12700">
            <a:solidFill>
              <a:srgbClr val="8899AA"/>
            </a:solidFill>
            <a:prstDash val="solid"/>
          </a:ln>
        </p:spPr>
        <p:txBody>
          <a:bodyPr/>
          <a:lstStyle/>
          <a:p>
            <a:endParaRPr lang="en-SG"/>
          </a:p>
        </p:txBody>
      </p:sp>
      <p:sp>
        <p:nvSpPr>
          <p:cNvPr id="14" name="Text 12"/>
          <p:cNvSpPr/>
          <p:nvPr/>
        </p:nvSpPr>
        <p:spPr>
          <a:xfrm>
            <a:off x="1554480" y="2194560"/>
            <a:ext cx="1097280" cy="676656"/>
          </a:xfrm>
          <a:prstGeom prst="rect">
            <a:avLst/>
          </a:prstGeom>
          <a:noFill/>
          <a:ln/>
        </p:spPr>
        <p:txBody>
          <a:bodyPr wrap="square" lIns="0" tIns="0" rIns="0" bIns="0" rtlCol="0" anchor="ctr"/>
          <a:lstStyle/>
          <a:p>
            <a:pPr marL="0" indent="0" algn="ctr">
              <a:buNone/>
            </a:pPr>
            <a:r>
              <a:rPr lang="en-US" sz="800" dirty="0">
                <a:solidFill>
                  <a:srgbClr val="8899AA"/>
                </a:solidFill>
                <a:latin typeface="Calibri" pitchFamily="34" charset="0"/>
                <a:ea typeface="Calibri" pitchFamily="34" charset="-122"/>
                <a:cs typeface="Calibri" pitchFamily="34" charset="-120"/>
              </a:rPr>
              <a:t>🌐</a:t>
            </a:r>
            <a:endParaRPr lang="en-US" sz="800" dirty="0"/>
          </a:p>
          <a:p>
            <a:pPr marL="0" indent="0" algn="ctr">
              <a:buNone/>
            </a:pPr>
            <a:r>
              <a:rPr lang="en-US" sz="800" dirty="0">
                <a:solidFill>
                  <a:srgbClr val="8899AA"/>
                </a:solidFill>
                <a:latin typeface="Calibri" pitchFamily="34" charset="0"/>
                <a:ea typeface="Calibri" pitchFamily="34" charset="-122"/>
                <a:cs typeface="Calibri" pitchFamily="34" charset="-120"/>
              </a:rPr>
              <a:t>Internet</a:t>
            </a:r>
            <a:endParaRPr lang="en-US" sz="800" dirty="0"/>
          </a:p>
        </p:txBody>
      </p:sp>
      <p:sp>
        <p:nvSpPr>
          <p:cNvPr id="15" name="Shape 13"/>
          <p:cNvSpPr/>
          <p:nvPr/>
        </p:nvSpPr>
        <p:spPr>
          <a:xfrm>
            <a:off x="1371600" y="2505456"/>
            <a:ext cx="182880" cy="54864"/>
          </a:xfrm>
          <a:prstGeom prst="rect">
            <a:avLst/>
          </a:prstGeom>
          <a:solidFill>
            <a:srgbClr val="E74C3C"/>
          </a:solidFill>
          <a:ln w="12700">
            <a:solidFill>
              <a:srgbClr val="E74C3C"/>
            </a:solidFill>
            <a:prstDash val="solid"/>
          </a:ln>
        </p:spPr>
        <p:txBody>
          <a:bodyPr/>
          <a:lstStyle/>
          <a:p>
            <a:endParaRPr lang="en-SG"/>
          </a:p>
        </p:txBody>
      </p:sp>
      <p:sp>
        <p:nvSpPr>
          <p:cNvPr id="16" name="Shape 14"/>
          <p:cNvSpPr/>
          <p:nvPr/>
        </p:nvSpPr>
        <p:spPr>
          <a:xfrm>
            <a:off x="2816352" y="2267712"/>
            <a:ext cx="987552" cy="530352"/>
          </a:xfrm>
          <a:prstGeom prst="rect">
            <a:avLst/>
          </a:prstGeom>
          <a:solidFill>
            <a:srgbClr val="FFFFFF"/>
          </a:solidFill>
          <a:ln w="12700">
            <a:solidFill>
              <a:srgbClr val="E74C3C"/>
            </a:solidFill>
            <a:prstDash val="solid"/>
          </a:ln>
        </p:spPr>
        <p:txBody>
          <a:bodyPr/>
          <a:lstStyle/>
          <a:p>
            <a:endParaRPr lang="en-SG"/>
          </a:p>
        </p:txBody>
      </p:sp>
      <p:sp>
        <p:nvSpPr>
          <p:cNvPr id="17" name="Text 15"/>
          <p:cNvSpPr/>
          <p:nvPr/>
        </p:nvSpPr>
        <p:spPr>
          <a:xfrm>
            <a:off x="2816352" y="2267712"/>
            <a:ext cx="987552" cy="530352"/>
          </a:xfrm>
          <a:prstGeom prst="rect">
            <a:avLst/>
          </a:prstGeom>
          <a:noFill/>
          <a:ln/>
        </p:spPr>
        <p:txBody>
          <a:bodyPr wrap="square" lIns="0" tIns="0" rIns="0" bIns="0" rtlCol="0" anchor="ctr"/>
          <a:lstStyle/>
          <a:p>
            <a:pPr marL="0" indent="0" algn="ctr">
              <a:buNone/>
            </a:pPr>
            <a:r>
              <a:rPr lang="en-US" sz="750" dirty="0">
                <a:solidFill>
                  <a:srgbClr val="E74C3C"/>
                </a:solidFill>
                <a:latin typeface="Calibri" pitchFamily="34" charset="0"/>
                <a:ea typeface="Calibri" pitchFamily="34" charset="-122"/>
                <a:cs typeface="Calibri" pitchFamily="34" charset="-120"/>
              </a:rPr>
              <a:t>🔥 Firewall</a:t>
            </a:r>
            <a:endParaRPr lang="en-US" sz="750" dirty="0"/>
          </a:p>
          <a:p>
            <a:pPr marL="0" indent="0" algn="ctr">
              <a:buNone/>
            </a:pPr>
            <a:r>
              <a:rPr lang="en-US" sz="750" dirty="0">
                <a:solidFill>
                  <a:srgbClr val="E74C3C"/>
                </a:solidFill>
                <a:latin typeface="Calibri" pitchFamily="34" charset="0"/>
                <a:ea typeface="Calibri" pitchFamily="34" charset="-122"/>
                <a:cs typeface="Calibri" pitchFamily="34" charset="-120"/>
              </a:rPr>
              <a:t>(perimeter)</a:t>
            </a:r>
            <a:endParaRPr lang="en-US" sz="750" dirty="0"/>
          </a:p>
        </p:txBody>
      </p:sp>
      <p:sp>
        <p:nvSpPr>
          <p:cNvPr id="18" name="Shape 16"/>
          <p:cNvSpPr/>
          <p:nvPr/>
        </p:nvSpPr>
        <p:spPr>
          <a:xfrm>
            <a:off x="2651760" y="2505456"/>
            <a:ext cx="164592" cy="54864"/>
          </a:xfrm>
          <a:prstGeom prst="rect">
            <a:avLst/>
          </a:prstGeom>
          <a:solidFill>
            <a:srgbClr val="E74C3C"/>
          </a:solidFill>
          <a:ln w="12700">
            <a:solidFill>
              <a:srgbClr val="E74C3C"/>
            </a:solidFill>
            <a:prstDash val="solid"/>
          </a:ln>
        </p:spPr>
        <p:txBody>
          <a:bodyPr/>
          <a:lstStyle/>
          <a:p>
            <a:endParaRPr lang="en-SG"/>
          </a:p>
        </p:txBody>
      </p:sp>
      <p:sp>
        <p:nvSpPr>
          <p:cNvPr id="19" name="Shape 17"/>
          <p:cNvSpPr/>
          <p:nvPr/>
        </p:nvSpPr>
        <p:spPr>
          <a:xfrm>
            <a:off x="2816352" y="2944368"/>
            <a:ext cx="987552" cy="475488"/>
          </a:xfrm>
          <a:prstGeom prst="rect">
            <a:avLst/>
          </a:prstGeom>
          <a:solidFill>
            <a:srgbClr val="FFFFFF"/>
          </a:solidFill>
          <a:ln w="12700">
            <a:solidFill>
              <a:srgbClr val="00B4D8"/>
            </a:solidFill>
            <a:prstDash val="solid"/>
          </a:ln>
        </p:spPr>
        <p:txBody>
          <a:bodyPr/>
          <a:lstStyle/>
          <a:p>
            <a:endParaRPr lang="en-SG"/>
          </a:p>
        </p:txBody>
      </p:sp>
      <p:sp>
        <p:nvSpPr>
          <p:cNvPr id="20" name="Text 18"/>
          <p:cNvSpPr/>
          <p:nvPr/>
        </p:nvSpPr>
        <p:spPr>
          <a:xfrm>
            <a:off x="2816352" y="2944368"/>
            <a:ext cx="987552" cy="475488"/>
          </a:xfrm>
          <a:prstGeom prst="rect">
            <a:avLst/>
          </a:prstGeom>
          <a:noFill/>
          <a:ln/>
        </p:spPr>
        <p:txBody>
          <a:bodyPr wrap="square" lIns="0" tIns="0" rIns="0" bIns="0" rtlCol="0" anchor="ctr"/>
          <a:lstStyle/>
          <a:p>
            <a:pPr marL="0" indent="0" algn="ctr">
              <a:buNone/>
            </a:pPr>
            <a:r>
              <a:rPr lang="en-US" sz="800" dirty="0">
                <a:solidFill>
                  <a:srgbClr val="00B4D8"/>
                </a:solidFill>
                <a:latin typeface="Calibri" pitchFamily="34" charset="0"/>
                <a:ea typeface="Calibri" pitchFamily="34" charset="-122"/>
                <a:cs typeface="Calibri" pitchFamily="34" charset="-120"/>
              </a:rPr>
              <a:t>🔒 VPN</a:t>
            </a:r>
            <a:endParaRPr lang="en-US" sz="800" dirty="0"/>
          </a:p>
          <a:p>
            <a:pPr marL="0" indent="0" algn="ctr">
              <a:buNone/>
            </a:pPr>
            <a:r>
              <a:rPr lang="en-US" sz="800" dirty="0">
                <a:solidFill>
                  <a:srgbClr val="00B4D8"/>
                </a:solidFill>
                <a:latin typeface="Calibri" pitchFamily="34" charset="0"/>
                <a:ea typeface="Calibri" pitchFamily="34" charset="-122"/>
                <a:cs typeface="Calibri" pitchFamily="34" charset="-120"/>
              </a:rPr>
              <a:t>Server</a:t>
            </a:r>
            <a:endParaRPr lang="en-US" sz="800" dirty="0"/>
          </a:p>
        </p:txBody>
      </p:sp>
      <p:sp>
        <p:nvSpPr>
          <p:cNvPr id="21" name="Shape 19"/>
          <p:cNvSpPr/>
          <p:nvPr/>
        </p:nvSpPr>
        <p:spPr>
          <a:xfrm>
            <a:off x="3291840" y="2798064"/>
            <a:ext cx="36576" cy="146304"/>
          </a:xfrm>
          <a:prstGeom prst="rect">
            <a:avLst/>
          </a:prstGeom>
          <a:solidFill>
            <a:srgbClr val="00B4D8"/>
          </a:solidFill>
          <a:ln w="12700">
            <a:solidFill>
              <a:srgbClr val="00B4D8"/>
            </a:solidFill>
            <a:prstDash val="solid"/>
          </a:ln>
        </p:spPr>
        <p:txBody>
          <a:bodyPr/>
          <a:lstStyle/>
          <a:p>
            <a:endParaRPr lang="en-SG"/>
          </a:p>
        </p:txBody>
      </p:sp>
      <p:sp>
        <p:nvSpPr>
          <p:cNvPr id="22" name="Shape 20"/>
          <p:cNvSpPr/>
          <p:nvPr/>
        </p:nvSpPr>
        <p:spPr>
          <a:xfrm>
            <a:off x="2816352" y="3566160"/>
            <a:ext cx="987552" cy="475488"/>
          </a:xfrm>
          <a:prstGeom prst="rect">
            <a:avLst/>
          </a:prstGeom>
          <a:solidFill>
            <a:srgbClr val="FFFFFF"/>
          </a:solidFill>
          <a:ln w="12700">
            <a:solidFill>
              <a:srgbClr val="2ECC71"/>
            </a:solidFill>
            <a:prstDash val="solid"/>
          </a:ln>
        </p:spPr>
        <p:txBody>
          <a:bodyPr/>
          <a:lstStyle/>
          <a:p>
            <a:endParaRPr lang="en-SG"/>
          </a:p>
        </p:txBody>
      </p:sp>
      <p:sp>
        <p:nvSpPr>
          <p:cNvPr id="23" name="Text 21"/>
          <p:cNvSpPr/>
          <p:nvPr/>
        </p:nvSpPr>
        <p:spPr>
          <a:xfrm>
            <a:off x="2816352" y="3566160"/>
            <a:ext cx="987552" cy="475488"/>
          </a:xfrm>
          <a:prstGeom prst="rect">
            <a:avLst/>
          </a:prstGeom>
          <a:noFill/>
          <a:ln/>
        </p:spPr>
        <p:txBody>
          <a:bodyPr wrap="square" lIns="0" tIns="0" rIns="0" bIns="0" rtlCol="0" anchor="ctr"/>
          <a:lstStyle/>
          <a:p>
            <a:pPr marL="0" indent="0" algn="ctr">
              <a:buNone/>
            </a:pPr>
            <a:r>
              <a:rPr lang="en-US" sz="750" dirty="0">
                <a:solidFill>
                  <a:srgbClr val="2ECC71"/>
                </a:solidFill>
                <a:latin typeface="Calibri" pitchFamily="34" charset="0"/>
                <a:ea typeface="Calibri" pitchFamily="34" charset="-122"/>
                <a:cs typeface="Calibri" pitchFamily="34" charset="-120"/>
              </a:rPr>
              <a:t>🗄 DB Server</a:t>
            </a:r>
            <a:endParaRPr lang="en-US" sz="750" dirty="0"/>
          </a:p>
          <a:p>
            <a:pPr marL="0" indent="0" algn="ctr">
              <a:buNone/>
            </a:pPr>
            <a:r>
              <a:rPr lang="en-US" sz="750" dirty="0">
                <a:solidFill>
                  <a:srgbClr val="2ECC71"/>
                </a:solidFill>
                <a:latin typeface="Calibri" pitchFamily="34" charset="0"/>
                <a:ea typeface="Calibri" pitchFamily="34" charset="-122"/>
                <a:cs typeface="Calibri" pitchFamily="34" charset="-120"/>
              </a:rPr>
              <a:t>(victim data)</a:t>
            </a:r>
            <a:endParaRPr lang="en-US" sz="750" dirty="0"/>
          </a:p>
        </p:txBody>
      </p:sp>
      <p:sp>
        <p:nvSpPr>
          <p:cNvPr id="24" name="Shape 22"/>
          <p:cNvSpPr/>
          <p:nvPr/>
        </p:nvSpPr>
        <p:spPr>
          <a:xfrm>
            <a:off x="3291840" y="3419856"/>
            <a:ext cx="36576" cy="146304"/>
          </a:xfrm>
          <a:prstGeom prst="rect">
            <a:avLst/>
          </a:prstGeom>
          <a:solidFill>
            <a:srgbClr val="2ECC71"/>
          </a:solidFill>
          <a:ln w="12700">
            <a:solidFill>
              <a:srgbClr val="2ECC71"/>
            </a:solidFill>
            <a:prstDash val="solid"/>
          </a:ln>
        </p:spPr>
        <p:txBody>
          <a:bodyPr/>
          <a:lstStyle/>
          <a:p>
            <a:endParaRPr lang="en-SG"/>
          </a:p>
        </p:txBody>
      </p:sp>
      <p:sp>
        <p:nvSpPr>
          <p:cNvPr id="25" name="Shape 23"/>
          <p:cNvSpPr/>
          <p:nvPr/>
        </p:nvSpPr>
        <p:spPr>
          <a:xfrm>
            <a:off x="384048" y="3186775"/>
            <a:ext cx="987552" cy="475488"/>
          </a:xfrm>
          <a:prstGeom prst="rect">
            <a:avLst/>
          </a:prstGeom>
          <a:solidFill>
            <a:srgbClr val="FFFFFF"/>
          </a:solidFill>
          <a:ln w="12700">
            <a:solidFill>
              <a:srgbClr val="8899AA"/>
            </a:solidFill>
            <a:prstDash val="solid"/>
          </a:ln>
        </p:spPr>
        <p:txBody>
          <a:bodyPr/>
          <a:lstStyle/>
          <a:p>
            <a:endParaRPr lang="en-SG"/>
          </a:p>
        </p:txBody>
      </p:sp>
      <p:sp>
        <p:nvSpPr>
          <p:cNvPr id="26" name="Text 24"/>
          <p:cNvSpPr/>
          <p:nvPr/>
        </p:nvSpPr>
        <p:spPr>
          <a:xfrm>
            <a:off x="356616" y="3186775"/>
            <a:ext cx="987552" cy="475488"/>
          </a:xfrm>
          <a:prstGeom prst="rect">
            <a:avLst/>
          </a:prstGeom>
          <a:noFill/>
          <a:ln/>
        </p:spPr>
        <p:txBody>
          <a:bodyPr wrap="square" lIns="0" tIns="0" rIns="0" bIns="0" rtlCol="0" anchor="ctr"/>
          <a:lstStyle/>
          <a:p>
            <a:pPr marL="0" indent="0" algn="ctr">
              <a:buNone/>
            </a:pPr>
            <a:r>
              <a:rPr lang="en-US" sz="800" dirty="0">
                <a:solidFill>
                  <a:srgbClr val="8899AA"/>
                </a:solidFill>
                <a:latin typeface="Calibri" pitchFamily="34" charset="0"/>
                <a:ea typeface="Calibri" pitchFamily="34" charset="-122"/>
                <a:cs typeface="Calibri" pitchFamily="34" charset="-120"/>
              </a:rPr>
              <a:t>📡 Attacker</a:t>
            </a:r>
            <a:endParaRPr lang="en-US" sz="800" dirty="0"/>
          </a:p>
          <a:p>
            <a:pPr marL="0" indent="0" algn="ctr">
              <a:buNone/>
            </a:pPr>
            <a:r>
              <a:rPr lang="en-US" sz="800" dirty="0">
                <a:solidFill>
                  <a:srgbClr val="8899AA"/>
                </a:solidFill>
                <a:latin typeface="Calibri" pitchFamily="34" charset="0"/>
                <a:ea typeface="Calibri" pitchFamily="34" charset="-122"/>
                <a:cs typeface="Calibri" pitchFamily="34" charset="-120"/>
              </a:rPr>
              <a:t>ISP</a:t>
            </a:r>
            <a:endParaRPr lang="en-US" sz="800" dirty="0"/>
          </a:p>
        </p:txBody>
      </p:sp>
      <p:sp>
        <p:nvSpPr>
          <p:cNvPr id="27" name="Text 25"/>
          <p:cNvSpPr/>
          <p:nvPr/>
        </p:nvSpPr>
        <p:spPr>
          <a:xfrm>
            <a:off x="365824" y="2272375"/>
            <a:ext cx="914400" cy="274320"/>
          </a:xfrm>
          <a:prstGeom prst="rect">
            <a:avLst/>
          </a:prstGeom>
          <a:noFill/>
          <a:ln/>
        </p:spPr>
        <p:txBody>
          <a:bodyPr wrap="square" lIns="0" tIns="0" rIns="0" bIns="0" rtlCol="0" anchor="ctr"/>
          <a:lstStyle/>
          <a:p>
            <a:pPr marL="0" indent="0" algn="ctr">
              <a:buNone/>
            </a:pPr>
            <a:r>
              <a:rPr lang="en-US" sz="600" dirty="0">
                <a:solidFill>
                  <a:srgbClr val="E74C3C"/>
                </a:solidFill>
                <a:latin typeface="Calibri" pitchFamily="34" charset="0"/>
                <a:ea typeface="Calibri" pitchFamily="34" charset="-122"/>
                <a:cs typeface="Calibri" pitchFamily="34" charset="-120"/>
              </a:rPr>
              <a:t>← stolen creds</a:t>
            </a:r>
            <a:endParaRPr lang="en-US" sz="600" dirty="0"/>
          </a:p>
          <a:p>
            <a:pPr marL="0" indent="0" algn="ctr">
              <a:buNone/>
            </a:pPr>
            <a:r>
              <a:rPr lang="en-US" sz="600" dirty="0">
                <a:solidFill>
                  <a:srgbClr val="E74C3C"/>
                </a:solidFill>
                <a:latin typeface="Calibri" pitchFamily="34" charset="0"/>
                <a:ea typeface="Calibri" pitchFamily="34" charset="-122"/>
                <a:cs typeface="Calibri" pitchFamily="34" charset="-120"/>
              </a:rPr>
              <a:t>50 GB exfil →</a:t>
            </a:r>
            <a:endParaRPr lang="en-US" sz="600" dirty="0"/>
          </a:p>
        </p:txBody>
      </p:sp>
      <p:sp>
        <p:nvSpPr>
          <p:cNvPr id="28" name="Shape 26"/>
          <p:cNvSpPr/>
          <p:nvPr/>
        </p:nvSpPr>
        <p:spPr>
          <a:xfrm>
            <a:off x="4754880" y="1901952"/>
            <a:ext cx="4069080" cy="2706624"/>
          </a:xfrm>
          <a:prstGeom prst="rect">
            <a:avLst/>
          </a:prstGeom>
          <a:solidFill>
            <a:srgbClr val="EEF6FB"/>
          </a:solidFill>
          <a:ln w="12700">
            <a:solidFill>
              <a:srgbClr val="EEF6FB"/>
            </a:solidFill>
            <a:prstDash val="solid"/>
          </a:ln>
        </p:spPr>
        <p:txBody>
          <a:bodyPr/>
          <a:lstStyle/>
          <a:p>
            <a:endParaRPr lang="en-SG"/>
          </a:p>
        </p:txBody>
      </p:sp>
      <p:sp>
        <p:nvSpPr>
          <p:cNvPr id="29" name="Shape 27"/>
          <p:cNvSpPr/>
          <p:nvPr/>
        </p:nvSpPr>
        <p:spPr>
          <a:xfrm>
            <a:off x="4754880" y="1901952"/>
            <a:ext cx="4069080" cy="256032"/>
          </a:xfrm>
          <a:prstGeom prst="rect">
            <a:avLst/>
          </a:prstGeom>
          <a:solidFill>
            <a:srgbClr val="00B4D8"/>
          </a:solidFill>
          <a:ln w="12700">
            <a:solidFill>
              <a:srgbClr val="00B4D8"/>
            </a:solidFill>
            <a:prstDash val="solid"/>
          </a:ln>
        </p:spPr>
        <p:txBody>
          <a:bodyPr/>
          <a:lstStyle/>
          <a:p>
            <a:endParaRPr lang="en-SG"/>
          </a:p>
        </p:txBody>
      </p:sp>
      <p:sp>
        <p:nvSpPr>
          <p:cNvPr id="30" name="Text 28"/>
          <p:cNvSpPr/>
          <p:nvPr/>
        </p:nvSpPr>
        <p:spPr>
          <a:xfrm>
            <a:off x="4864608" y="1901952"/>
            <a:ext cx="384048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Logs Collected &amp; Why They Matter</a:t>
            </a:r>
            <a:endParaRPr lang="en-US" sz="1050" dirty="0"/>
          </a:p>
        </p:txBody>
      </p:sp>
      <p:sp>
        <p:nvSpPr>
          <p:cNvPr id="31" name="Text 29"/>
          <p:cNvSpPr/>
          <p:nvPr/>
        </p:nvSpPr>
        <p:spPr>
          <a:xfrm>
            <a:off x="4864608" y="2231136"/>
            <a:ext cx="2011680" cy="201168"/>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Perimeter Firewall</a:t>
            </a:r>
            <a:endParaRPr lang="en-US" sz="950" dirty="0"/>
          </a:p>
        </p:txBody>
      </p:sp>
      <p:sp>
        <p:nvSpPr>
          <p:cNvPr id="32" name="Text 30"/>
          <p:cNvSpPr/>
          <p:nvPr/>
        </p:nvSpPr>
        <p:spPr>
          <a:xfrm>
            <a:off x="4864608" y="2432304"/>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Records all inbound connection attempts — timestamps, source IPs, and whether they were allowed or denied.</a:t>
            </a:r>
            <a:endParaRPr lang="en-US" sz="850" dirty="0"/>
          </a:p>
        </p:txBody>
      </p:sp>
      <p:sp>
        <p:nvSpPr>
          <p:cNvPr id="33" name="Text 31"/>
          <p:cNvSpPr/>
          <p:nvPr/>
        </p:nvSpPr>
        <p:spPr>
          <a:xfrm>
            <a:off x="4864608" y="2816352"/>
            <a:ext cx="2011680" cy="201168"/>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VPN Server Logs</a:t>
            </a:r>
            <a:endParaRPr lang="en-US" sz="950" dirty="0"/>
          </a:p>
        </p:txBody>
      </p:sp>
      <p:sp>
        <p:nvSpPr>
          <p:cNvPr id="34" name="Text 32"/>
          <p:cNvSpPr/>
          <p:nvPr/>
        </p:nvSpPr>
        <p:spPr>
          <a:xfrm>
            <a:off x="4864608" y="3017520"/>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Authentication events showing which account connected, from which IP, and for how long — confirms stolen credential use.</a:t>
            </a:r>
            <a:endParaRPr lang="en-US" sz="850" dirty="0"/>
          </a:p>
        </p:txBody>
      </p:sp>
      <p:sp>
        <p:nvSpPr>
          <p:cNvPr id="35" name="Text 33"/>
          <p:cNvSpPr/>
          <p:nvPr/>
        </p:nvSpPr>
        <p:spPr>
          <a:xfrm>
            <a:off x="4864608" y="3401568"/>
            <a:ext cx="2011680" cy="201168"/>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ISP NetFlow Records</a:t>
            </a:r>
            <a:endParaRPr lang="en-US" sz="950" dirty="0"/>
          </a:p>
        </p:txBody>
      </p:sp>
      <p:sp>
        <p:nvSpPr>
          <p:cNvPr id="36" name="Text 34"/>
          <p:cNvSpPr/>
          <p:nvPr/>
        </p:nvSpPr>
        <p:spPr>
          <a:xfrm>
            <a:off x="4864608" y="3602736"/>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Traffic volume data showing 50 GB transferred to overseas IP — requires a legal court order to obtain from the ISP.</a:t>
            </a:r>
            <a:endParaRPr lang="en-US" sz="850" dirty="0"/>
          </a:p>
        </p:txBody>
      </p:sp>
      <p:sp>
        <p:nvSpPr>
          <p:cNvPr id="37" name="Text 35"/>
          <p:cNvSpPr/>
          <p:nvPr/>
        </p:nvSpPr>
        <p:spPr>
          <a:xfrm>
            <a:off x="4864608" y="3986784"/>
            <a:ext cx="2011680" cy="201168"/>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DNS Logs</a:t>
            </a:r>
            <a:endParaRPr lang="en-US" sz="950" dirty="0"/>
          </a:p>
        </p:txBody>
      </p:sp>
      <p:sp>
        <p:nvSpPr>
          <p:cNvPr id="38" name="Text 36"/>
          <p:cNvSpPr/>
          <p:nvPr/>
        </p:nvSpPr>
        <p:spPr>
          <a:xfrm>
            <a:off x="4864608" y="4187952"/>
            <a:ext cx="384048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Domain lookups may reveal attacker C2 staging servers used to receive the exfiltrated data.</a:t>
            </a:r>
            <a:endParaRPr lang="en-US" sz="850" dirty="0"/>
          </a:p>
        </p:txBody>
      </p:sp>
      <p:sp>
        <p:nvSpPr>
          <p:cNvPr id="39" name="Shape 37"/>
          <p:cNvSpPr/>
          <p:nvPr/>
        </p:nvSpPr>
        <p:spPr>
          <a:xfrm>
            <a:off x="274320" y="4700016"/>
            <a:ext cx="8549640" cy="182880"/>
          </a:xfrm>
          <a:prstGeom prst="rect">
            <a:avLst/>
          </a:prstGeom>
          <a:solidFill>
            <a:srgbClr val="FFFFFF"/>
          </a:solidFill>
          <a:ln w="12700">
            <a:solidFill>
              <a:srgbClr val="F1C40F"/>
            </a:solidFill>
            <a:prstDash val="solid"/>
          </a:ln>
        </p:spPr>
        <p:txBody>
          <a:bodyPr/>
          <a:lstStyle/>
          <a:p>
            <a:endParaRPr lang="en-SG"/>
          </a:p>
        </p:txBody>
      </p:sp>
      <p:sp>
        <p:nvSpPr>
          <p:cNvPr id="40" name="Text 38"/>
          <p:cNvSpPr/>
          <p:nvPr/>
        </p:nvSpPr>
        <p:spPr>
          <a:xfrm>
            <a:off x="457200" y="4709160"/>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WAN Challenge: Evidence crosses ISP and national boundaries — legal authorisation (court orders or MLATs) required to access ISP and overseas records.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36865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3277210"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1 · NETWORK FORENSICS FUNDAMENTALS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The OSI Model — Where Forensic Evidence Lives</a:t>
            </a:r>
            <a:endParaRPr lang="en-US" sz="2800" dirty="0"/>
          </a:p>
        </p:txBody>
      </p:sp>
      <p:sp>
        <p:nvSpPr>
          <p:cNvPr id="5" name="Shape 3"/>
          <p:cNvSpPr/>
          <p:nvPr/>
        </p:nvSpPr>
        <p:spPr>
          <a:xfrm>
            <a:off x="320040" y="1298448"/>
            <a:ext cx="4160520" cy="429768"/>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98448"/>
            <a:ext cx="292608" cy="429768"/>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1298448"/>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7</a:t>
            </a:r>
            <a:endParaRPr lang="en-US" sz="1100" dirty="0"/>
          </a:p>
        </p:txBody>
      </p:sp>
      <p:sp>
        <p:nvSpPr>
          <p:cNvPr id="8" name="Text 6"/>
          <p:cNvSpPr/>
          <p:nvPr/>
        </p:nvSpPr>
        <p:spPr>
          <a:xfrm>
            <a:off x="667512" y="1335024"/>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Application</a:t>
            </a:r>
            <a:endParaRPr lang="en-US" sz="1000" dirty="0"/>
          </a:p>
        </p:txBody>
      </p:sp>
      <p:sp>
        <p:nvSpPr>
          <p:cNvPr id="9" name="Text 7"/>
          <p:cNvSpPr/>
          <p:nvPr/>
        </p:nvSpPr>
        <p:spPr>
          <a:xfrm>
            <a:off x="667512" y="1536192"/>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HTTP · SMTP · DNS · FTP</a:t>
            </a:r>
            <a:endParaRPr lang="en-US" sz="800" dirty="0"/>
          </a:p>
        </p:txBody>
      </p:sp>
      <p:sp>
        <p:nvSpPr>
          <p:cNvPr id="10" name="Text 8"/>
          <p:cNvSpPr/>
          <p:nvPr/>
        </p:nvSpPr>
        <p:spPr>
          <a:xfrm>
            <a:off x="2404872" y="1389888"/>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User data — emails, URLs, file transfers. Most artefacts for investigation.</a:t>
            </a:r>
            <a:endParaRPr lang="en-US" sz="850" dirty="0"/>
          </a:p>
        </p:txBody>
      </p:sp>
      <p:sp>
        <p:nvSpPr>
          <p:cNvPr id="11" name="Shape 9"/>
          <p:cNvSpPr/>
          <p:nvPr/>
        </p:nvSpPr>
        <p:spPr>
          <a:xfrm>
            <a:off x="320040" y="1746504"/>
            <a:ext cx="4160520" cy="429768"/>
          </a:xfrm>
          <a:prstGeom prst="rect">
            <a:avLst/>
          </a:prstGeom>
          <a:solidFill>
            <a:srgbClr val="FFFFFF"/>
          </a:solidFill>
          <a:ln w="12700">
            <a:solidFill>
              <a:srgbClr val="FFFFFF"/>
            </a:solidFill>
            <a:prstDash val="solid"/>
          </a:ln>
        </p:spPr>
        <p:txBody>
          <a:bodyPr/>
          <a:lstStyle/>
          <a:p>
            <a:endParaRPr lang="en-SG"/>
          </a:p>
        </p:txBody>
      </p:sp>
      <p:sp>
        <p:nvSpPr>
          <p:cNvPr id="12" name="Shape 10"/>
          <p:cNvSpPr/>
          <p:nvPr/>
        </p:nvSpPr>
        <p:spPr>
          <a:xfrm>
            <a:off x="320040" y="1746504"/>
            <a:ext cx="292608" cy="429768"/>
          </a:xfrm>
          <a:prstGeom prst="rect">
            <a:avLst/>
          </a:prstGeom>
          <a:solidFill>
            <a:srgbClr val="2EC4B6"/>
          </a:solidFill>
          <a:ln w="12700">
            <a:solidFill>
              <a:srgbClr val="2EC4B6"/>
            </a:solidFill>
            <a:prstDash val="solid"/>
          </a:ln>
        </p:spPr>
        <p:txBody>
          <a:bodyPr/>
          <a:lstStyle/>
          <a:p>
            <a:endParaRPr lang="en-SG"/>
          </a:p>
        </p:txBody>
      </p:sp>
      <p:sp>
        <p:nvSpPr>
          <p:cNvPr id="13" name="Text 11"/>
          <p:cNvSpPr/>
          <p:nvPr/>
        </p:nvSpPr>
        <p:spPr>
          <a:xfrm>
            <a:off x="320040" y="1746504"/>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6</a:t>
            </a:r>
            <a:endParaRPr lang="en-US" sz="1100" dirty="0"/>
          </a:p>
        </p:txBody>
      </p:sp>
      <p:sp>
        <p:nvSpPr>
          <p:cNvPr id="14" name="Text 12"/>
          <p:cNvSpPr/>
          <p:nvPr/>
        </p:nvSpPr>
        <p:spPr>
          <a:xfrm>
            <a:off x="667512" y="1783080"/>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Presentation</a:t>
            </a:r>
            <a:endParaRPr lang="en-US" sz="1000" dirty="0"/>
          </a:p>
        </p:txBody>
      </p:sp>
      <p:sp>
        <p:nvSpPr>
          <p:cNvPr id="15" name="Text 13"/>
          <p:cNvSpPr/>
          <p:nvPr/>
        </p:nvSpPr>
        <p:spPr>
          <a:xfrm>
            <a:off x="667512" y="1984248"/>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TLS/SSL · JPEG · ASCII</a:t>
            </a:r>
            <a:endParaRPr lang="en-US" sz="800" dirty="0"/>
          </a:p>
        </p:txBody>
      </p:sp>
      <p:sp>
        <p:nvSpPr>
          <p:cNvPr id="16" name="Text 14"/>
          <p:cNvSpPr/>
          <p:nvPr/>
        </p:nvSpPr>
        <p:spPr>
          <a:xfrm>
            <a:off x="2404872" y="1837944"/>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Encryption/encoding. TLS decryption keys can unlock encrypted traffic.</a:t>
            </a:r>
            <a:endParaRPr lang="en-US" sz="850" dirty="0"/>
          </a:p>
        </p:txBody>
      </p:sp>
      <p:sp>
        <p:nvSpPr>
          <p:cNvPr id="17" name="Shape 15"/>
          <p:cNvSpPr/>
          <p:nvPr/>
        </p:nvSpPr>
        <p:spPr>
          <a:xfrm>
            <a:off x="320040" y="2194560"/>
            <a:ext cx="4160520" cy="429768"/>
          </a:xfrm>
          <a:prstGeom prst="rect">
            <a:avLst/>
          </a:prstGeom>
          <a:solidFill>
            <a:srgbClr val="FFFFFF"/>
          </a:solidFill>
          <a:ln w="12700">
            <a:solidFill>
              <a:srgbClr val="FFFFFF"/>
            </a:solidFill>
            <a:prstDash val="solid"/>
          </a:ln>
        </p:spPr>
        <p:txBody>
          <a:bodyPr/>
          <a:lstStyle/>
          <a:p>
            <a:endParaRPr lang="en-SG"/>
          </a:p>
        </p:txBody>
      </p:sp>
      <p:sp>
        <p:nvSpPr>
          <p:cNvPr id="18" name="Shape 16"/>
          <p:cNvSpPr/>
          <p:nvPr/>
        </p:nvSpPr>
        <p:spPr>
          <a:xfrm>
            <a:off x="320040" y="2194560"/>
            <a:ext cx="292608" cy="429768"/>
          </a:xfrm>
          <a:prstGeom prst="rect">
            <a:avLst/>
          </a:prstGeom>
          <a:solidFill>
            <a:srgbClr val="2ECC71"/>
          </a:solidFill>
          <a:ln w="12700">
            <a:solidFill>
              <a:srgbClr val="2ECC71"/>
            </a:solidFill>
            <a:prstDash val="solid"/>
          </a:ln>
        </p:spPr>
        <p:txBody>
          <a:bodyPr/>
          <a:lstStyle/>
          <a:p>
            <a:endParaRPr lang="en-SG"/>
          </a:p>
        </p:txBody>
      </p:sp>
      <p:sp>
        <p:nvSpPr>
          <p:cNvPr id="19" name="Text 17"/>
          <p:cNvSpPr/>
          <p:nvPr/>
        </p:nvSpPr>
        <p:spPr>
          <a:xfrm>
            <a:off x="320040" y="2194560"/>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667512" y="2231136"/>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Session</a:t>
            </a:r>
            <a:endParaRPr lang="en-US" sz="1000" dirty="0"/>
          </a:p>
        </p:txBody>
      </p:sp>
      <p:sp>
        <p:nvSpPr>
          <p:cNvPr id="21" name="Text 19"/>
          <p:cNvSpPr/>
          <p:nvPr/>
        </p:nvSpPr>
        <p:spPr>
          <a:xfrm>
            <a:off x="667512" y="2432304"/>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NetBIOS · RPC · SIP</a:t>
            </a:r>
            <a:endParaRPr lang="en-US" sz="800" dirty="0"/>
          </a:p>
        </p:txBody>
      </p:sp>
      <p:sp>
        <p:nvSpPr>
          <p:cNvPr id="22" name="Text 20"/>
          <p:cNvSpPr/>
          <p:nvPr/>
        </p:nvSpPr>
        <p:spPr>
          <a:xfrm>
            <a:off x="2404872" y="2286000"/>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Connection sessions. Login/logout events tracked here.</a:t>
            </a:r>
            <a:endParaRPr lang="en-US" sz="850" dirty="0"/>
          </a:p>
        </p:txBody>
      </p:sp>
      <p:sp>
        <p:nvSpPr>
          <p:cNvPr id="23" name="Shape 21"/>
          <p:cNvSpPr/>
          <p:nvPr/>
        </p:nvSpPr>
        <p:spPr>
          <a:xfrm>
            <a:off x="320040" y="2642616"/>
            <a:ext cx="4160520" cy="429768"/>
          </a:xfrm>
          <a:prstGeom prst="rect">
            <a:avLst/>
          </a:prstGeom>
          <a:solidFill>
            <a:srgbClr val="FFFFFF"/>
          </a:solidFill>
          <a:ln w="12700">
            <a:solidFill>
              <a:srgbClr val="FFFFFF"/>
            </a:solidFill>
            <a:prstDash val="solid"/>
          </a:ln>
        </p:spPr>
        <p:txBody>
          <a:bodyPr/>
          <a:lstStyle/>
          <a:p>
            <a:endParaRPr lang="en-SG"/>
          </a:p>
        </p:txBody>
      </p:sp>
      <p:sp>
        <p:nvSpPr>
          <p:cNvPr id="24" name="Shape 22"/>
          <p:cNvSpPr/>
          <p:nvPr/>
        </p:nvSpPr>
        <p:spPr>
          <a:xfrm>
            <a:off x="320040" y="2642616"/>
            <a:ext cx="292608" cy="429768"/>
          </a:xfrm>
          <a:prstGeom prst="rect">
            <a:avLst/>
          </a:prstGeom>
          <a:solidFill>
            <a:srgbClr val="F1C40F"/>
          </a:solidFill>
          <a:ln w="12700">
            <a:solidFill>
              <a:srgbClr val="F1C40F"/>
            </a:solidFill>
            <a:prstDash val="solid"/>
          </a:ln>
        </p:spPr>
        <p:txBody>
          <a:bodyPr/>
          <a:lstStyle/>
          <a:p>
            <a:endParaRPr lang="en-SG"/>
          </a:p>
        </p:txBody>
      </p:sp>
      <p:sp>
        <p:nvSpPr>
          <p:cNvPr id="25" name="Text 23"/>
          <p:cNvSpPr/>
          <p:nvPr/>
        </p:nvSpPr>
        <p:spPr>
          <a:xfrm>
            <a:off x="320040" y="2642616"/>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667512" y="2679192"/>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Transport</a:t>
            </a:r>
            <a:endParaRPr lang="en-US" sz="1000" dirty="0"/>
          </a:p>
        </p:txBody>
      </p:sp>
      <p:sp>
        <p:nvSpPr>
          <p:cNvPr id="27" name="Text 25"/>
          <p:cNvSpPr/>
          <p:nvPr/>
        </p:nvSpPr>
        <p:spPr>
          <a:xfrm>
            <a:off x="667512" y="2880360"/>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TCP · UDP</a:t>
            </a:r>
            <a:endParaRPr lang="en-US" sz="800" dirty="0"/>
          </a:p>
        </p:txBody>
      </p:sp>
      <p:sp>
        <p:nvSpPr>
          <p:cNvPr id="28" name="Text 26"/>
          <p:cNvSpPr/>
          <p:nvPr/>
        </p:nvSpPr>
        <p:spPr>
          <a:xfrm>
            <a:off x="2404872" y="2734056"/>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Port numbers. TCP flags (SYN/RST) reveal scanning and attacks.</a:t>
            </a:r>
            <a:endParaRPr lang="en-US" sz="850" dirty="0"/>
          </a:p>
        </p:txBody>
      </p:sp>
      <p:sp>
        <p:nvSpPr>
          <p:cNvPr id="29" name="Shape 27"/>
          <p:cNvSpPr/>
          <p:nvPr/>
        </p:nvSpPr>
        <p:spPr>
          <a:xfrm>
            <a:off x="320040" y="3090672"/>
            <a:ext cx="4160520" cy="429768"/>
          </a:xfrm>
          <a:prstGeom prst="rect">
            <a:avLst/>
          </a:prstGeom>
          <a:solidFill>
            <a:srgbClr val="FFFFFF"/>
          </a:solidFill>
          <a:ln w="12700">
            <a:solidFill>
              <a:srgbClr val="FFFFFF"/>
            </a:solidFill>
            <a:prstDash val="solid"/>
          </a:ln>
        </p:spPr>
        <p:txBody>
          <a:bodyPr/>
          <a:lstStyle/>
          <a:p>
            <a:endParaRPr lang="en-SG"/>
          </a:p>
        </p:txBody>
      </p:sp>
      <p:sp>
        <p:nvSpPr>
          <p:cNvPr id="30" name="Shape 28"/>
          <p:cNvSpPr/>
          <p:nvPr/>
        </p:nvSpPr>
        <p:spPr>
          <a:xfrm>
            <a:off x="320040" y="3090672"/>
            <a:ext cx="292608" cy="429768"/>
          </a:xfrm>
          <a:prstGeom prst="rect">
            <a:avLst/>
          </a:prstGeom>
          <a:solidFill>
            <a:srgbClr val="F4A261"/>
          </a:solidFill>
          <a:ln w="12700">
            <a:solidFill>
              <a:srgbClr val="F4A261"/>
            </a:solidFill>
            <a:prstDash val="solid"/>
          </a:ln>
        </p:spPr>
        <p:txBody>
          <a:bodyPr/>
          <a:lstStyle/>
          <a:p>
            <a:endParaRPr lang="en-SG"/>
          </a:p>
        </p:txBody>
      </p:sp>
      <p:sp>
        <p:nvSpPr>
          <p:cNvPr id="31" name="Text 29"/>
          <p:cNvSpPr/>
          <p:nvPr/>
        </p:nvSpPr>
        <p:spPr>
          <a:xfrm>
            <a:off x="320040" y="3090672"/>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3</a:t>
            </a:r>
            <a:endParaRPr lang="en-US" sz="1100" dirty="0"/>
          </a:p>
        </p:txBody>
      </p:sp>
      <p:sp>
        <p:nvSpPr>
          <p:cNvPr id="32" name="Text 30"/>
          <p:cNvSpPr/>
          <p:nvPr/>
        </p:nvSpPr>
        <p:spPr>
          <a:xfrm>
            <a:off x="667512" y="3127248"/>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Network</a:t>
            </a:r>
            <a:endParaRPr lang="en-US" sz="1000" dirty="0"/>
          </a:p>
        </p:txBody>
      </p:sp>
      <p:sp>
        <p:nvSpPr>
          <p:cNvPr id="33" name="Text 31"/>
          <p:cNvSpPr/>
          <p:nvPr/>
        </p:nvSpPr>
        <p:spPr>
          <a:xfrm>
            <a:off x="667512" y="3328416"/>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IP · ICMP · ARP</a:t>
            </a:r>
            <a:endParaRPr lang="en-US" sz="800" dirty="0"/>
          </a:p>
        </p:txBody>
      </p:sp>
      <p:sp>
        <p:nvSpPr>
          <p:cNvPr id="34" name="Text 32"/>
          <p:cNvSpPr/>
          <p:nvPr/>
        </p:nvSpPr>
        <p:spPr>
          <a:xfrm>
            <a:off x="2404872" y="3182112"/>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IP addresses. Every packet carries source + destination.</a:t>
            </a:r>
            <a:endParaRPr lang="en-US" sz="850" dirty="0"/>
          </a:p>
        </p:txBody>
      </p:sp>
      <p:sp>
        <p:nvSpPr>
          <p:cNvPr id="35" name="Shape 33"/>
          <p:cNvSpPr/>
          <p:nvPr/>
        </p:nvSpPr>
        <p:spPr>
          <a:xfrm>
            <a:off x="320040" y="3538728"/>
            <a:ext cx="4160520" cy="429768"/>
          </a:xfrm>
          <a:prstGeom prst="rect">
            <a:avLst/>
          </a:prstGeom>
          <a:solidFill>
            <a:srgbClr val="FFFFFF"/>
          </a:solidFill>
          <a:ln w="12700">
            <a:solidFill>
              <a:srgbClr val="FFFFFF"/>
            </a:solidFill>
            <a:prstDash val="solid"/>
          </a:ln>
        </p:spPr>
        <p:txBody>
          <a:bodyPr/>
          <a:lstStyle/>
          <a:p>
            <a:endParaRPr lang="en-SG"/>
          </a:p>
        </p:txBody>
      </p:sp>
      <p:sp>
        <p:nvSpPr>
          <p:cNvPr id="36" name="Shape 34"/>
          <p:cNvSpPr/>
          <p:nvPr/>
        </p:nvSpPr>
        <p:spPr>
          <a:xfrm>
            <a:off x="320040" y="3538728"/>
            <a:ext cx="292608" cy="429768"/>
          </a:xfrm>
          <a:prstGeom prst="rect">
            <a:avLst/>
          </a:prstGeom>
          <a:solidFill>
            <a:srgbClr val="E67E22"/>
          </a:solidFill>
          <a:ln w="12700">
            <a:solidFill>
              <a:srgbClr val="E67E22"/>
            </a:solidFill>
            <a:prstDash val="solid"/>
          </a:ln>
        </p:spPr>
        <p:txBody>
          <a:bodyPr/>
          <a:lstStyle/>
          <a:p>
            <a:endParaRPr lang="en-SG"/>
          </a:p>
        </p:txBody>
      </p:sp>
      <p:sp>
        <p:nvSpPr>
          <p:cNvPr id="37" name="Text 35"/>
          <p:cNvSpPr/>
          <p:nvPr/>
        </p:nvSpPr>
        <p:spPr>
          <a:xfrm>
            <a:off x="320040" y="3538728"/>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2</a:t>
            </a:r>
            <a:endParaRPr lang="en-US" sz="1100" dirty="0"/>
          </a:p>
        </p:txBody>
      </p:sp>
      <p:sp>
        <p:nvSpPr>
          <p:cNvPr id="38" name="Text 36"/>
          <p:cNvSpPr/>
          <p:nvPr/>
        </p:nvSpPr>
        <p:spPr>
          <a:xfrm>
            <a:off x="667512" y="3575304"/>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Data Link</a:t>
            </a:r>
            <a:endParaRPr lang="en-US" sz="1000" dirty="0"/>
          </a:p>
        </p:txBody>
      </p:sp>
      <p:sp>
        <p:nvSpPr>
          <p:cNvPr id="39" name="Text 37"/>
          <p:cNvSpPr/>
          <p:nvPr/>
        </p:nvSpPr>
        <p:spPr>
          <a:xfrm>
            <a:off x="667512" y="3776472"/>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Ethernet · Wi-Fi · MAC</a:t>
            </a:r>
            <a:endParaRPr lang="en-US" sz="800" dirty="0"/>
          </a:p>
        </p:txBody>
      </p:sp>
      <p:sp>
        <p:nvSpPr>
          <p:cNvPr id="40" name="Text 38"/>
          <p:cNvSpPr/>
          <p:nvPr/>
        </p:nvSpPr>
        <p:spPr>
          <a:xfrm>
            <a:off x="2404872" y="3630168"/>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MAC addresses. Sniffers capture at this layer.</a:t>
            </a:r>
            <a:endParaRPr lang="en-US" sz="850" dirty="0"/>
          </a:p>
        </p:txBody>
      </p:sp>
      <p:sp>
        <p:nvSpPr>
          <p:cNvPr id="41" name="Shape 39"/>
          <p:cNvSpPr/>
          <p:nvPr/>
        </p:nvSpPr>
        <p:spPr>
          <a:xfrm>
            <a:off x="320040" y="3986784"/>
            <a:ext cx="4160520" cy="429768"/>
          </a:xfrm>
          <a:prstGeom prst="rect">
            <a:avLst/>
          </a:prstGeom>
          <a:solidFill>
            <a:srgbClr val="FFFFFF"/>
          </a:solidFill>
          <a:ln w="12700">
            <a:solidFill>
              <a:srgbClr val="FFFFFF"/>
            </a:solidFill>
            <a:prstDash val="solid"/>
          </a:ln>
        </p:spPr>
        <p:txBody>
          <a:bodyPr/>
          <a:lstStyle/>
          <a:p>
            <a:endParaRPr lang="en-SG"/>
          </a:p>
        </p:txBody>
      </p:sp>
      <p:sp>
        <p:nvSpPr>
          <p:cNvPr id="42" name="Shape 40"/>
          <p:cNvSpPr/>
          <p:nvPr/>
        </p:nvSpPr>
        <p:spPr>
          <a:xfrm>
            <a:off x="320040" y="3986784"/>
            <a:ext cx="292608" cy="429768"/>
          </a:xfrm>
          <a:prstGeom prst="rect">
            <a:avLst/>
          </a:prstGeom>
          <a:solidFill>
            <a:srgbClr val="8899AA"/>
          </a:solidFill>
          <a:ln w="12700">
            <a:solidFill>
              <a:srgbClr val="8899AA"/>
            </a:solidFill>
            <a:prstDash val="solid"/>
          </a:ln>
        </p:spPr>
        <p:txBody>
          <a:bodyPr/>
          <a:lstStyle/>
          <a:p>
            <a:endParaRPr lang="en-SG"/>
          </a:p>
        </p:txBody>
      </p:sp>
      <p:sp>
        <p:nvSpPr>
          <p:cNvPr id="43" name="Text 41"/>
          <p:cNvSpPr/>
          <p:nvPr/>
        </p:nvSpPr>
        <p:spPr>
          <a:xfrm>
            <a:off x="320040" y="3986784"/>
            <a:ext cx="292608" cy="4297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1</a:t>
            </a:r>
            <a:endParaRPr lang="en-US" sz="1100" dirty="0"/>
          </a:p>
        </p:txBody>
      </p:sp>
      <p:sp>
        <p:nvSpPr>
          <p:cNvPr id="44" name="Text 42"/>
          <p:cNvSpPr/>
          <p:nvPr/>
        </p:nvSpPr>
        <p:spPr>
          <a:xfrm>
            <a:off x="667512" y="4023360"/>
            <a:ext cx="1097280" cy="201168"/>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Physical</a:t>
            </a:r>
            <a:endParaRPr lang="en-US" sz="1000" dirty="0"/>
          </a:p>
        </p:txBody>
      </p:sp>
      <p:sp>
        <p:nvSpPr>
          <p:cNvPr id="45" name="Text 43"/>
          <p:cNvSpPr/>
          <p:nvPr/>
        </p:nvSpPr>
        <p:spPr>
          <a:xfrm>
            <a:off x="667512" y="4224528"/>
            <a:ext cx="1645920" cy="16459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Cables · Radio · Fibre</a:t>
            </a:r>
            <a:endParaRPr lang="en-US" sz="800" dirty="0"/>
          </a:p>
        </p:txBody>
      </p:sp>
      <p:sp>
        <p:nvSpPr>
          <p:cNvPr id="46" name="Text 44"/>
          <p:cNvSpPr/>
          <p:nvPr/>
        </p:nvSpPr>
        <p:spPr>
          <a:xfrm>
            <a:off x="2404872" y="4078224"/>
            <a:ext cx="2011680" cy="25603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Bits on the wire. Network taps inserted here.</a:t>
            </a:r>
            <a:endParaRPr lang="en-US" sz="850" dirty="0"/>
          </a:p>
        </p:txBody>
      </p:sp>
      <p:sp>
        <p:nvSpPr>
          <p:cNvPr id="47" name="Shape 45"/>
          <p:cNvSpPr/>
          <p:nvPr/>
        </p:nvSpPr>
        <p:spPr>
          <a:xfrm>
            <a:off x="4709160" y="1298448"/>
            <a:ext cx="4114800" cy="3611880"/>
          </a:xfrm>
          <a:prstGeom prst="rect">
            <a:avLst/>
          </a:prstGeom>
          <a:solidFill>
            <a:srgbClr val="EEF6FB"/>
          </a:solidFill>
          <a:ln w="12700">
            <a:solidFill>
              <a:srgbClr val="EEF6FB"/>
            </a:solidFill>
            <a:prstDash val="solid"/>
          </a:ln>
        </p:spPr>
        <p:txBody>
          <a:bodyPr/>
          <a:lstStyle/>
          <a:p>
            <a:endParaRPr lang="en-SG"/>
          </a:p>
        </p:txBody>
      </p:sp>
      <p:sp>
        <p:nvSpPr>
          <p:cNvPr id="48" name="Shape 46"/>
          <p:cNvSpPr/>
          <p:nvPr/>
        </p:nvSpPr>
        <p:spPr>
          <a:xfrm>
            <a:off x="4709160" y="1298448"/>
            <a:ext cx="4114800" cy="274320"/>
          </a:xfrm>
          <a:prstGeom prst="rect">
            <a:avLst/>
          </a:prstGeom>
          <a:solidFill>
            <a:srgbClr val="00B4D8"/>
          </a:solidFill>
          <a:ln w="12700">
            <a:solidFill>
              <a:srgbClr val="00B4D8"/>
            </a:solidFill>
            <a:prstDash val="solid"/>
          </a:ln>
        </p:spPr>
        <p:txBody>
          <a:bodyPr/>
          <a:lstStyle/>
          <a:p>
            <a:endParaRPr lang="en-SG"/>
          </a:p>
        </p:txBody>
      </p:sp>
      <p:sp>
        <p:nvSpPr>
          <p:cNvPr id="49" name="Text 47"/>
          <p:cNvSpPr/>
          <p:nvPr/>
        </p:nvSpPr>
        <p:spPr>
          <a:xfrm>
            <a:off x="4800600" y="1298448"/>
            <a:ext cx="3931920" cy="274320"/>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TCP/IP — Key Forensic Facts</a:t>
            </a:r>
            <a:endParaRPr lang="en-US" sz="1000" dirty="0"/>
          </a:p>
        </p:txBody>
      </p:sp>
      <p:sp>
        <p:nvSpPr>
          <p:cNvPr id="50" name="Text 48"/>
          <p:cNvSpPr/>
          <p:nvPr/>
        </p:nvSpPr>
        <p:spPr>
          <a:xfrm>
            <a:off x="4828032" y="1664208"/>
            <a:ext cx="3840480" cy="219456"/>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  IP Address</a:t>
            </a:r>
            <a:endParaRPr lang="en-US" sz="1000" dirty="0"/>
          </a:p>
        </p:txBody>
      </p:sp>
      <p:sp>
        <p:nvSpPr>
          <p:cNvPr id="51" name="Text 49"/>
          <p:cNvSpPr/>
          <p:nvPr/>
        </p:nvSpPr>
        <p:spPr>
          <a:xfrm>
            <a:off x="4828032" y="1901952"/>
            <a:ext cx="3840480"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Every packet carries source and destination IP. IPs are the primary identifier — they link traffic to a specific device.</a:t>
            </a:r>
            <a:endParaRPr lang="en-US" sz="850" dirty="0"/>
          </a:p>
        </p:txBody>
      </p:sp>
      <p:sp>
        <p:nvSpPr>
          <p:cNvPr id="52" name="Text 50"/>
          <p:cNvSpPr/>
          <p:nvPr/>
        </p:nvSpPr>
        <p:spPr>
          <a:xfrm>
            <a:off x="4828032" y="2414016"/>
            <a:ext cx="3840480" cy="219456"/>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  TCP Handshake</a:t>
            </a:r>
            <a:endParaRPr lang="en-US" sz="1000" dirty="0"/>
          </a:p>
        </p:txBody>
      </p:sp>
      <p:sp>
        <p:nvSpPr>
          <p:cNvPr id="53" name="Text 51"/>
          <p:cNvSpPr/>
          <p:nvPr/>
        </p:nvSpPr>
        <p:spPr>
          <a:xfrm>
            <a:off x="4828032" y="2651760"/>
            <a:ext cx="3840480"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SYN → SYN-ACK → ACK creates a connection. Incomplete handshakes suggest port scanning or SYN-flood DDoS.</a:t>
            </a:r>
            <a:endParaRPr lang="en-US" sz="850" dirty="0"/>
          </a:p>
        </p:txBody>
      </p:sp>
      <p:sp>
        <p:nvSpPr>
          <p:cNvPr id="54" name="Text 52"/>
          <p:cNvSpPr/>
          <p:nvPr/>
        </p:nvSpPr>
        <p:spPr>
          <a:xfrm>
            <a:off x="4828032" y="3163824"/>
            <a:ext cx="3840480" cy="219456"/>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  Packet Headers</a:t>
            </a:r>
            <a:endParaRPr lang="en-US" sz="1000" dirty="0"/>
          </a:p>
        </p:txBody>
      </p:sp>
      <p:sp>
        <p:nvSpPr>
          <p:cNvPr id="55" name="Text 53"/>
          <p:cNvSpPr/>
          <p:nvPr/>
        </p:nvSpPr>
        <p:spPr>
          <a:xfrm>
            <a:off x="4828032" y="3401568"/>
            <a:ext cx="3840480"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Each packet has timestamp, protocol, port numbers, and flags. Headers survive even when payload is encrypted.</a:t>
            </a:r>
            <a:endParaRPr lang="en-US" sz="850" dirty="0"/>
          </a:p>
        </p:txBody>
      </p:sp>
      <p:sp>
        <p:nvSpPr>
          <p:cNvPr id="56" name="Text 54"/>
          <p:cNvSpPr/>
          <p:nvPr/>
        </p:nvSpPr>
        <p:spPr>
          <a:xfrm>
            <a:off x="4828032" y="3913632"/>
            <a:ext cx="3840480" cy="219456"/>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  Capture Points</a:t>
            </a:r>
            <a:endParaRPr lang="en-US" sz="1000" dirty="0"/>
          </a:p>
        </p:txBody>
      </p:sp>
      <p:sp>
        <p:nvSpPr>
          <p:cNvPr id="57" name="Text 55"/>
          <p:cNvSpPr/>
          <p:nvPr/>
        </p:nvSpPr>
        <p:spPr>
          <a:xfrm>
            <a:off x="4828032" y="4151376"/>
            <a:ext cx="3840480"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Packet sniffers work at Layer 2–3. SPAN/mirror ports copy all traffic to the analyst's system without disruption.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36865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3277210"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1 · NETWORK FORENSICS FUNDAMENTALS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When is Network Forensics Required?</a:t>
            </a:r>
            <a:endParaRPr lang="en-US" sz="2800" dirty="0"/>
          </a:p>
        </p:txBody>
      </p:sp>
      <p:sp>
        <p:nvSpPr>
          <p:cNvPr id="5" name="Shape 3"/>
          <p:cNvSpPr/>
          <p:nvPr/>
        </p:nvSpPr>
        <p:spPr>
          <a:xfrm>
            <a:off x="320040" y="1298448"/>
            <a:ext cx="2743200" cy="1353312"/>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43200" cy="256032"/>
          </a:xfrm>
          <a:prstGeom prst="rect">
            <a:avLst/>
          </a:prstGeom>
          <a:solidFill>
            <a:srgbClr val="E74C3C"/>
          </a:solidFill>
          <a:ln w="12700">
            <a:solidFill>
              <a:srgbClr val="E74C3C"/>
            </a:solidFill>
            <a:prstDash val="solid"/>
          </a:ln>
        </p:spPr>
        <p:txBody>
          <a:bodyPr/>
          <a:lstStyle/>
          <a:p>
            <a:endParaRPr lang="en-SG"/>
          </a:p>
        </p:txBody>
      </p:sp>
      <p:sp>
        <p:nvSpPr>
          <p:cNvPr id="7" name="Text 5"/>
          <p:cNvSpPr/>
          <p:nvPr/>
        </p:nvSpPr>
        <p:spPr>
          <a:xfrm>
            <a:off x="41148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Data Breach</a:t>
            </a:r>
            <a:endParaRPr lang="en-US" sz="1050" dirty="0"/>
          </a:p>
        </p:txBody>
      </p:sp>
      <p:sp>
        <p:nvSpPr>
          <p:cNvPr id="8" name="Text 6"/>
          <p:cNvSpPr/>
          <p:nvPr/>
        </p:nvSpPr>
        <p:spPr>
          <a:xfrm>
            <a:off x="411480" y="1609344"/>
            <a:ext cx="2560320" cy="4937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Goal: Identify how attackers entered, what data was accessed, and where it was sent.</a:t>
            </a:r>
            <a:endParaRPr lang="en-US" sz="850" dirty="0"/>
          </a:p>
        </p:txBody>
      </p:sp>
      <p:sp>
        <p:nvSpPr>
          <p:cNvPr id="9" name="Text 7"/>
          <p:cNvSpPr/>
          <p:nvPr/>
        </p:nvSpPr>
        <p:spPr>
          <a:xfrm>
            <a:off x="411480" y="2139696"/>
            <a:ext cx="2560320" cy="43891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 Firewall egress logs · IDS alerts · Web server access logs · DNS query logs</a:t>
            </a:r>
            <a:endParaRPr lang="en-US" sz="800" dirty="0"/>
          </a:p>
        </p:txBody>
      </p:sp>
      <p:sp>
        <p:nvSpPr>
          <p:cNvPr id="10" name="Shape 8"/>
          <p:cNvSpPr/>
          <p:nvPr/>
        </p:nvSpPr>
        <p:spPr>
          <a:xfrm>
            <a:off x="3200400" y="1298448"/>
            <a:ext cx="2743200" cy="1353312"/>
          </a:xfrm>
          <a:prstGeom prst="rect">
            <a:avLst/>
          </a:prstGeom>
          <a:solidFill>
            <a:srgbClr val="EEF6FB"/>
          </a:solidFill>
          <a:ln w="12700">
            <a:solidFill>
              <a:srgbClr val="EEF6FB"/>
            </a:solidFill>
            <a:prstDash val="solid"/>
          </a:ln>
        </p:spPr>
        <p:txBody>
          <a:bodyPr/>
          <a:lstStyle/>
          <a:p>
            <a:endParaRPr lang="en-SG"/>
          </a:p>
        </p:txBody>
      </p:sp>
      <p:sp>
        <p:nvSpPr>
          <p:cNvPr id="11" name="Shape 9"/>
          <p:cNvSpPr/>
          <p:nvPr/>
        </p:nvSpPr>
        <p:spPr>
          <a:xfrm>
            <a:off x="3200400" y="1298448"/>
            <a:ext cx="2743200" cy="256032"/>
          </a:xfrm>
          <a:prstGeom prst="rect">
            <a:avLst/>
          </a:prstGeom>
          <a:solidFill>
            <a:srgbClr val="F4A261"/>
          </a:solidFill>
          <a:ln w="12700">
            <a:solidFill>
              <a:srgbClr val="F4A261"/>
            </a:solidFill>
            <a:prstDash val="solid"/>
          </a:ln>
        </p:spPr>
        <p:txBody>
          <a:bodyPr/>
          <a:lstStyle/>
          <a:p>
            <a:endParaRPr lang="en-SG"/>
          </a:p>
        </p:txBody>
      </p:sp>
      <p:sp>
        <p:nvSpPr>
          <p:cNvPr id="12" name="Text 10"/>
          <p:cNvSpPr/>
          <p:nvPr/>
        </p:nvSpPr>
        <p:spPr>
          <a:xfrm>
            <a:off x="329184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Malware Outbreak</a:t>
            </a:r>
            <a:endParaRPr lang="en-US" sz="1050" dirty="0"/>
          </a:p>
        </p:txBody>
      </p:sp>
      <p:sp>
        <p:nvSpPr>
          <p:cNvPr id="13" name="Text 11"/>
          <p:cNvSpPr/>
          <p:nvPr/>
        </p:nvSpPr>
        <p:spPr>
          <a:xfrm>
            <a:off x="3291840" y="1609344"/>
            <a:ext cx="2560320" cy="4937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Goal: Trace malware spread and identify command-and-control (C2) communication.</a:t>
            </a:r>
            <a:endParaRPr lang="en-US" sz="850" dirty="0"/>
          </a:p>
        </p:txBody>
      </p:sp>
      <p:sp>
        <p:nvSpPr>
          <p:cNvPr id="14" name="Text 12"/>
          <p:cNvSpPr/>
          <p:nvPr/>
        </p:nvSpPr>
        <p:spPr>
          <a:xfrm>
            <a:off x="3291840" y="2139696"/>
            <a:ext cx="2560320" cy="43891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 IDS/IPS alerts · NetFlow records · DNS logs for C2 domains · Endpoint EDR logs</a:t>
            </a:r>
            <a:endParaRPr lang="en-US" sz="800" dirty="0"/>
          </a:p>
        </p:txBody>
      </p:sp>
      <p:sp>
        <p:nvSpPr>
          <p:cNvPr id="15" name="Shape 13"/>
          <p:cNvSpPr/>
          <p:nvPr/>
        </p:nvSpPr>
        <p:spPr>
          <a:xfrm>
            <a:off x="6080760" y="1298448"/>
            <a:ext cx="2743200" cy="1353312"/>
          </a:xfrm>
          <a:prstGeom prst="rect">
            <a:avLst/>
          </a:prstGeom>
          <a:solidFill>
            <a:srgbClr val="EEF6FB"/>
          </a:solidFill>
          <a:ln w="12700">
            <a:solidFill>
              <a:srgbClr val="EEF6FB"/>
            </a:solidFill>
            <a:prstDash val="solid"/>
          </a:ln>
        </p:spPr>
        <p:txBody>
          <a:bodyPr/>
          <a:lstStyle/>
          <a:p>
            <a:endParaRPr lang="en-SG"/>
          </a:p>
        </p:txBody>
      </p:sp>
      <p:sp>
        <p:nvSpPr>
          <p:cNvPr id="16" name="Shape 14"/>
          <p:cNvSpPr/>
          <p:nvPr/>
        </p:nvSpPr>
        <p:spPr>
          <a:xfrm>
            <a:off x="6080760" y="1298448"/>
            <a:ext cx="2743200" cy="256032"/>
          </a:xfrm>
          <a:prstGeom prst="rect">
            <a:avLst/>
          </a:prstGeom>
          <a:solidFill>
            <a:srgbClr val="A855F7"/>
          </a:solidFill>
          <a:ln w="12700">
            <a:solidFill>
              <a:srgbClr val="A855F7"/>
            </a:solidFill>
            <a:prstDash val="solid"/>
          </a:ln>
        </p:spPr>
        <p:txBody>
          <a:bodyPr/>
          <a:lstStyle/>
          <a:p>
            <a:endParaRPr lang="en-SG"/>
          </a:p>
        </p:txBody>
      </p:sp>
      <p:sp>
        <p:nvSpPr>
          <p:cNvPr id="17" name="Text 15"/>
          <p:cNvSpPr/>
          <p:nvPr/>
        </p:nvSpPr>
        <p:spPr>
          <a:xfrm>
            <a:off x="617220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DDoS Attack</a:t>
            </a:r>
            <a:endParaRPr lang="en-US" sz="1050" dirty="0"/>
          </a:p>
        </p:txBody>
      </p:sp>
      <p:sp>
        <p:nvSpPr>
          <p:cNvPr id="18" name="Text 16"/>
          <p:cNvSpPr/>
          <p:nvPr/>
        </p:nvSpPr>
        <p:spPr>
          <a:xfrm>
            <a:off x="6172200" y="1609344"/>
            <a:ext cx="2560320" cy="4937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Goal: Identify attack source IPs, volume of traffic, and impacted services.</a:t>
            </a:r>
            <a:endParaRPr lang="en-US" sz="850" dirty="0"/>
          </a:p>
        </p:txBody>
      </p:sp>
      <p:sp>
        <p:nvSpPr>
          <p:cNvPr id="19" name="Text 17"/>
          <p:cNvSpPr/>
          <p:nvPr/>
        </p:nvSpPr>
        <p:spPr>
          <a:xfrm>
            <a:off x="6172200" y="2139696"/>
            <a:ext cx="2560320" cy="43891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 Firewall logs · Router NetFlow · ISP traffic graphs · Web application logs</a:t>
            </a:r>
            <a:endParaRPr lang="en-US" sz="800" dirty="0"/>
          </a:p>
        </p:txBody>
      </p:sp>
      <p:sp>
        <p:nvSpPr>
          <p:cNvPr id="20" name="Shape 18"/>
          <p:cNvSpPr/>
          <p:nvPr/>
        </p:nvSpPr>
        <p:spPr>
          <a:xfrm>
            <a:off x="320040" y="2743200"/>
            <a:ext cx="2743200" cy="1353312"/>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320040" y="2743200"/>
            <a:ext cx="2743200" cy="256032"/>
          </a:xfrm>
          <a:prstGeom prst="rect">
            <a:avLst/>
          </a:prstGeom>
          <a:solidFill>
            <a:srgbClr val="F1C40F"/>
          </a:solidFill>
          <a:ln w="12700">
            <a:solidFill>
              <a:srgbClr val="F1C40F"/>
            </a:solidFill>
            <a:prstDash val="solid"/>
          </a:ln>
        </p:spPr>
        <p:txBody>
          <a:bodyPr/>
          <a:lstStyle/>
          <a:p>
            <a:endParaRPr lang="en-SG"/>
          </a:p>
        </p:txBody>
      </p:sp>
      <p:sp>
        <p:nvSpPr>
          <p:cNvPr id="22" name="Text 20"/>
          <p:cNvSpPr/>
          <p:nvPr/>
        </p:nvSpPr>
        <p:spPr>
          <a:xfrm>
            <a:off x="411480" y="2743200"/>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Insider Threat</a:t>
            </a:r>
            <a:endParaRPr lang="en-US" sz="1050" dirty="0"/>
          </a:p>
        </p:txBody>
      </p:sp>
      <p:sp>
        <p:nvSpPr>
          <p:cNvPr id="23" name="Text 21"/>
          <p:cNvSpPr/>
          <p:nvPr/>
        </p:nvSpPr>
        <p:spPr>
          <a:xfrm>
            <a:off x="411480" y="3054096"/>
            <a:ext cx="2560320" cy="4937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Goal: Prove that an employee deliberately exfiltrated data or accessed unauthorised systems.</a:t>
            </a:r>
            <a:endParaRPr lang="en-US" sz="850" dirty="0"/>
          </a:p>
        </p:txBody>
      </p:sp>
      <p:sp>
        <p:nvSpPr>
          <p:cNvPr id="24" name="Text 22"/>
          <p:cNvSpPr/>
          <p:nvPr/>
        </p:nvSpPr>
        <p:spPr>
          <a:xfrm>
            <a:off x="411480" y="3584448"/>
            <a:ext cx="2560320" cy="43891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 VPN/auth logs · File server audit logs · Email server logs · Proxy logs</a:t>
            </a:r>
            <a:endParaRPr lang="en-US" sz="800" dirty="0"/>
          </a:p>
        </p:txBody>
      </p:sp>
      <p:sp>
        <p:nvSpPr>
          <p:cNvPr id="25" name="Shape 23"/>
          <p:cNvSpPr/>
          <p:nvPr/>
        </p:nvSpPr>
        <p:spPr>
          <a:xfrm>
            <a:off x="3200400" y="2743200"/>
            <a:ext cx="2743200" cy="1353312"/>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3200400" y="2743200"/>
            <a:ext cx="2743200" cy="256032"/>
          </a:xfrm>
          <a:prstGeom prst="rect">
            <a:avLst/>
          </a:prstGeom>
          <a:solidFill>
            <a:srgbClr val="00B4D8"/>
          </a:solidFill>
          <a:ln w="12700">
            <a:solidFill>
              <a:srgbClr val="00B4D8"/>
            </a:solidFill>
            <a:prstDash val="solid"/>
          </a:ln>
        </p:spPr>
        <p:txBody>
          <a:bodyPr/>
          <a:lstStyle/>
          <a:p>
            <a:endParaRPr lang="en-SG"/>
          </a:p>
        </p:txBody>
      </p:sp>
      <p:sp>
        <p:nvSpPr>
          <p:cNvPr id="27" name="Text 25"/>
          <p:cNvSpPr/>
          <p:nvPr/>
        </p:nvSpPr>
        <p:spPr>
          <a:xfrm>
            <a:off x="3291840" y="2743200"/>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Phishing</a:t>
            </a:r>
            <a:endParaRPr lang="en-US" sz="1050" dirty="0"/>
          </a:p>
        </p:txBody>
      </p:sp>
      <p:sp>
        <p:nvSpPr>
          <p:cNvPr id="28" name="Text 26"/>
          <p:cNvSpPr/>
          <p:nvPr/>
        </p:nvSpPr>
        <p:spPr>
          <a:xfrm>
            <a:off x="3291840" y="3054096"/>
            <a:ext cx="2560320" cy="4937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Goal: Trace a phishing email to its origin server and identify victims who clicked links.</a:t>
            </a:r>
            <a:endParaRPr lang="en-US" sz="850" dirty="0"/>
          </a:p>
        </p:txBody>
      </p:sp>
      <p:sp>
        <p:nvSpPr>
          <p:cNvPr id="29" name="Text 27"/>
          <p:cNvSpPr/>
          <p:nvPr/>
        </p:nvSpPr>
        <p:spPr>
          <a:xfrm>
            <a:off x="3291840" y="3584448"/>
            <a:ext cx="2560320" cy="43891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 Mail server SMTP logs · Web proxy logs · Email gateway logs · DNS logs</a:t>
            </a:r>
            <a:endParaRPr lang="en-US" sz="800" dirty="0"/>
          </a:p>
        </p:txBody>
      </p:sp>
      <p:sp>
        <p:nvSpPr>
          <p:cNvPr id="30" name="Shape 28"/>
          <p:cNvSpPr/>
          <p:nvPr/>
        </p:nvSpPr>
        <p:spPr>
          <a:xfrm>
            <a:off x="6080760" y="2743200"/>
            <a:ext cx="2743200" cy="1353312"/>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6080760" y="2743200"/>
            <a:ext cx="2743200" cy="256032"/>
          </a:xfrm>
          <a:prstGeom prst="rect">
            <a:avLst/>
          </a:prstGeom>
          <a:solidFill>
            <a:srgbClr val="2ECC71"/>
          </a:solidFill>
          <a:ln w="12700">
            <a:solidFill>
              <a:srgbClr val="2ECC71"/>
            </a:solidFill>
            <a:prstDash val="solid"/>
          </a:ln>
        </p:spPr>
        <p:txBody>
          <a:bodyPr/>
          <a:lstStyle/>
          <a:p>
            <a:endParaRPr lang="en-SG"/>
          </a:p>
        </p:txBody>
      </p:sp>
      <p:sp>
        <p:nvSpPr>
          <p:cNvPr id="32" name="Text 30"/>
          <p:cNvSpPr/>
          <p:nvPr/>
        </p:nvSpPr>
        <p:spPr>
          <a:xfrm>
            <a:off x="6172200" y="2743200"/>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Policy Violation</a:t>
            </a:r>
            <a:endParaRPr lang="en-US" sz="1050" dirty="0"/>
          </a:p>
        </p:txBody>
      </p:sp>
      <p:sp>
        <p:nvSpPr>
          <p:cNvPr id="33" name="Text 31"/>
          <p:cNvSpPr/>
          <p:nvPr/>
        </p:nvSpPr>
        <p:spPr>
          <a:xfrm>
            <a:off x="6172200" y="3054096"/>
            <a:ext cx="2560320" cy="4937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Goal: Prove that a user accessed inappropriate websites during working hours.</a:t>
            </a:r>
            <a:endParaRPr lang="en-US" sz="850" dirty="0"/>
          </a:p>
        </p:txBody>
      </p:sp>
      <p:sp>
        <p:nvSpPr>
          <p:cNvPr id="34" name="Text 32"/>
          <p:cNvSpPr/>
          <p:nvPr/>
        </p:nvSpPr>
        <p:spPr>
          <a:xfrm>
            <a:off x="6172200" y="3584448"/>
            <a:ext cx="2560320" cy="438912"/>
          </a:xfrm>
          <a:prstGeom prst="rect">
            <a:avLst/>
          </a:prstGeom>
          <a:noFill/>
          <a:ln/>
        </p:spPr>
        <p:txBody>
          <a:bodyPr wrap="square" lIns="0" tIns="0" rIns="0" bIns="0" rtlCol="0" anchor="ctr"/>
          <a:lstStyle/>
          <a:p>
            <a:pPr marL="0" indent="0">
              <a:buNone/>
            </a:pPr>
            <a:r>
              <a:rPr lang="en-US" sz="800" dirty="0">
                <a:solidFill>
                  <a:srgbClr val="8899AA"/>
                </a:solidFill>
                <a:latin typeface="Calibri" pitchFamily="34" charset="0"/>
                <a:ea typeface="Calibri" pitchFamily="34" charset="-122"/>
                <a:cs typeface="Calibri" pitchFamily="34" charset="-120"/>
              </a:rPr>
              <a:t>📂 Web proxy logs · DNS query logs · Firewall HTTP logs · Auth logs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F4A261"/>
          </a:solidFill>
          <a:ln w="12700">
            <a:solidFill>
              <a:srgbClr val="F4A261"/>
            </a:solidFill>
            <a:prstDash val="solid"/>
          </a:ln>
        </p:spPr>
        <p:txBody>
          <a:bodyPr/>
          <a:lstStyle/>
          <a:p>
            <a:endParaRPr lang="en-SG"/>
          </a:p>
        </p:txBody>
      </p:sp>
      <p:sp>
        <p:nvSpPr>
          <p:cNvPr id="6" name="Text 4"/>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F4A261"/>
                </a:solidFill>
                <a:latin typeface="Calibri" pitchFamily="34" charset="0"/>
                <a:ea typeface="Calibri" pitchFamily="34" charset="-122"/>
                <a:cs typeface="Calibri" pitchFamily="34" charset="-120"/>
              </a:rPr>
              <a:t>SECTION 2</a:t>
            </a:r>
            <a:endParaRPr lang="en-US" sz="1300" dirty="0"/>
          </a:p>
        </p:txBody>
      </p:sp>
      <p:sp>
        <p:nvSpPr>
          <p:cNvPr id="7" name="Text 5"/>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4800" b="1" dirty="0">
                <a:solidFill>
                  <a:srgbClr val="1A1A2E"/>
                </a:solidFill>
                <a:latin typeface="Calibri" pitchFamily="34" charset="0"/>
                <a:ea typeface="Calibri" pitchFamily="34" charset="-122"/>
                <a:cs typeface="Calibri" pitchFamily="34" charset="-120"/>
              </a:rPr>
              <a:t>Common Log Sources</a:t>
            </a:r>
            <a:endParaRPr lang="en-US" sz="4800" dirty="0"/>
          </a:p>
        </p:txBody>
      </p:sp>
      <p:sp>
        <p:nvSpPr>
          <p:cNvPr id="8" name="Text 6"/>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latin typeface="Calibri" pitchFamily="34" charset="0"/>
                <a:ea typeface="Calibri" pitchFamily="34" charset="-122"/>
                <a:cs typeface="Calibri" pitchFamily="34" charset="-120"/>
              </a:rPr>
              <a:t>Endpoint · Firewall · Web server · IDS/IPS · What each log tells investigators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Endpoint Logs</a:t>
            </a:r>
            <a:endParaRPr lang="en-US" sz="2800" dirty="0"/>
          </a:p>
        </p:txBody>
      </p:sp>
      <p:sp>
        <p:nvSpPr>
          <p:cNvPr id="5" name="Shape 3"/>
          <p:cNvSpPr/>
          <p:nvPr/>
        </p:nvSpPr>
        <p:spPr>
          <a:xfrm>
            <a:off x="320040" y="1261872"/>
            <a:ext cx="8503920" cy="621792"/>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621792"/>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35024"/>
            <a:ext cx="8275320" cy="457200"/>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Endpoint logs are records generated by individual devices — workstations, servers, or mobile devices. They capture operating system events, user actions, and network connections made by that specific device.</a:t>
            </a:r>
            <a:endParaRPr lang="en-US" sz="1000" dirty="0"/>
          </a:p>
        </p:txBody>
      </p:sp>
      <p:sp>
        <p:nvSpPr>
          <p:cNvPr id="8" name="Shape 6"/>
          <p:cNvSpPr/>
          <p:nvPr/>
        </p:nvSpPr>
        <p:spPr>
          <a:xfrm>
            <a:off x="320040" y="1993392"/>
            <a:ext cx="4160520" cy="2724912"/>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993392"/>
            <a:ext cx="4160520" cy="274320"/>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11480" y="1993392"/>
            <a:ext cx="3931920"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Windows Event Logs</a:t>
            </a:r>
            <a:endParaRPr lang="en-US" sz="1100" dirty="0"/>
          </a:p>
        </p:txBody>
      </p:sp>
      <p:sp>
        <p:nvSpPr>
          <p:cNvPr id="11" name="Text 9"/>
          <p:cNvSpPr/>
          <p:nvPr/>
        </p:nvSpPr>
        <p:spPr>
          <a:xfrm>
            <a:off x="448056" y="2322576"/>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Event ID 4624 / 4625 — Successful and failed login attempts</a:t>
            </a:r>
            <a:endParaRPr lang="en-US" sz="850" dirty="0"/>
          </a:p>
        </p:txBody>
      </p:sp>
      <p:sp>
        <p:nvSpPr>
          <p:cNvPr id="12" name="Text 10"/>
          <p:cNvSpPr/>
          <p:nvPr/>
        </p:nvSpPr>
        <p:spPr>
          <a:xfrm>
            <a:off x="448056" y="2798064"/>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Event ID 4688 — New process created (e.g. suspicious executables)</a:t>
            </a:r>
            <a:endParaRPr lang="en-US" sz="850" dirty="0"/>
          </a:p>
        </p:txBody>
      </p:sp>
      <p:sp>
        <p:nvSpPr>
          <p:cNvPr id="13" name="Text 11"/>
          <p:cNvSpPr/>
          <p:nvPr/>
        </p:nvSpPr>
        <p:spPr>
          <a:xfrm>
            <a:off x="448056" y="3273552"/>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Event ID 7045 — New service installed (often used by malware)</a:t>
            </a:r>
            <a:endParaRPr lang="en-US" sz="850" dirty="0"/>
          </a:p>
        </p:txBody>
      </p:sp>
      <p:sp>
        <p:nvSpPr>
          <p:cNvPr id="14" name="Text 12"/>
          <p:cNvSpPr/>
          <p:nvPr/>
        </p:nvSpPr>
        <p:spPr>
          <a:xfrm>
            <a:off x="448056" y="3749040"/>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Security, System, and Application logs stored in .evtx format</a:t>
            </a:r>
            <a:endParaRPr lang="en-US" sz="850" dirty="0"/>
          </a:p>
        </p:txBody>
      </p:sp>
      <p:sp>
        <p:nvSpPr>
          <p:cNvPr id="15" name="Text 13"/>
          <p:cNvSpPr/>
          <p:nvPr/>
        </p:nvSpPr>
        <p:spPr>
          <a:xfrm>
            <a:off x="448056" y="4224528"/>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Path: C:\Windows\System32\winevt\Logs\</a:t>
            </a:r>
            <a:endParaRPr lang="en-US" sz="850" dirty="0"/>
          </a:p>
        </p:txBody>
      </p:sp>
      <p:sp>
        <p:nvSpPr>
          <p:cNvPr id="16" name="Shape 14"/>
          <p:cNvSpPr/>
          <p:nvPr/>
        </p:nvSpPr>
        <p:spPr>
          <a:xfrm>
            <a:off x="4645152" y="1993392"/>
            <a:ext cx="4160520" cy="2724912"/>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4645152" y="1993392"/>
            <a:ext cx="4160520" cy="274320"/>
          </a:xfrm>
          <a:prstGeom prst="rect">
            <a:avLst/>
          </a:prstGeom>
          <a:solidFill>
            <a:srgbClr val="2ECC71"/>
          </a:solidFill>
          <a:ln w="12700">
            <a:solidFill>
              <a:srgbClr val="2ECC71"/>
            </a:solidFill>
            <a:prstDash val="solid"/>
          </a:ln>
        </p:spPr>
        <p:txBody>
          <a:bodyPr/>
          <a:lstStyle/>
          <a:p>
            <a:endParaRPr lang="en-SG"/>
          </a:p>
        </p:txBody>
      </p:sp>
      <p:sp>
        <p:nvSpPr>
          <p:cNvPr id="18" name="Text 16"/>
          <p:cNvSpPr/>
          <p:nvPr/>
        </p:nvSpPr>
        <p:spPr>
          <a:xfrm>
            <a:off x="4736592" y="1993392"/>
            <a:ext cx="3931920"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Linux / Unix Logs</a:t>
            </a:r>
            <a:endParaRPr lang="en-US" sz="1100" dirty="0"/>
          </a:p>
        </p:txBody>
      </p:sp>
      <p:sp>
        <p:nvSpPr>
          <p:cNvPr id="19" name="Text 17"/>
          <p:cNvSpPr/>
          <p:nvPr/>
        </p:nvSpPr>
        <p:spPr>
          <a:xfrm>
            <a:off x="4773168" y="2322576"/>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/var/log/auth.log — All authentication attempts (SSH, sudo, login)</a:t>
            </a:r>
            <a:endParaRPr lang="en-US" sz="850" dirty="0"/>
          </a:p>
        </p:txBody>
      </p:sp>
      <p:sp>
        <p:nvSpPr>
          <p:cNvPr id="20" name="Text 18"/>
          <p:cNvSpPr/>
          <p:nvPr/>
        </p:nvSpPr>
        <p:spPr>
          <a:xfrm>
            <a:off x="4773168" y="2798064"/>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/var/log/syslog — General system messages and service events</a:t>
            </a:r>
            <a:endParaRPr lang="en-US" sz="850" dirty="0"/>
          </a:p>
        </p:txBody>
      </p:sp>
      <p:sp>
        <p:nvSpPr>
          <p:cNvPr id="21" name="Text 19"/>
          <p:cNvSpPr/>
          <p:nvPr/>
        </p:nvSpPr>
        <p:spPr>
          <a:xfrm>
            <a:off x="4773168" y="3273552"/>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/var/log/kern.log — Kernel events including network interface changes</a:t>
            </a:r>
            <a:endParaRPr lang="en-US" sz="850" dirty="0"/>
          </a:p>
        </p:txBody>
      </p:sp>
      <p:sp>
        <p:nvSpPr>
          <p:cNvPr id="22" name="Text 20"/>
          <p:cNvSpPr/>
          <p:nvPr/>
        </p:nvSpPr>
        <p:spPr>
          <a:xfrm>
            <a:off x="4773168" y="3749040"/>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Cron logs — Scheduled tasks often used by attackers for persistence</a:t>
            </a:r>
            <a:endParaRPr lang="en-US" sz="850" dirty="0"/>
          </a:p>
        </p:txBody>
      </p:sp>
      <p:sp>
        <p:nvSpPr>
          <p:cNvPr id="23" name="Text 21"/>
          <p:cNvSpPr/>
          <p:nvPr/>
        </p:nvSpPr>
        <p:spPr>
          <a:xfrm>
            <a:off x="4773168" y="4224528"/>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Audit framework (auditd) for detailed process and file access logging</a:t>
            </a:r>
            <a:endParaRPr lang="en-US" sz="850" dirty="0"/>
          </a:p>
        </p:txBody>
      </p:sp>
      <p:sp>
        <p:nvSpPr>
          <p:cNvPr id="24" name="Text 22"/>
          <p:cNvSpPr/>
          <p:nvPr/>
        </p:nvSpPr>
        <p:spPr>
          <a:xfrm>
            <a:off x="320040" y="4773168"/>
            <a:ext cx="8503920" cy="128016"/>
          </a:xfrm>
          <a:prstGeom prst="rect">
            <a:avLst/>
          </a:prstGeom>
          <a:noFill/>
          <a:ln/>
        </p:spPr>
        <p:txBody>
          <a:bodyPr wrap="square" lIns="0" tIns="0" rIns="0" bIns="0" rtlCol="0" anchor="ctr"/>
          <a:lstStyle/>
          <a:p>
            <a:pPr marL="0" indent="0">
              <a:buNone/>
            </a:pPr>
            <a:r>
              <a:rPr lang="en-US" sz="850" i="1" dirty="0">
                <a:solidFill>
                  <a:srgbClr val="8899AA"/>
                </a:solidFill>
                <a:latin typeface="Calibri" pitchFamily="34" charset="0"/>
                <a:ea typeface="Calibri" pitchFamily="34" charset="-122"/>
                <a:cs typeface="Calibri" pitchFamily="34" charset="-120"/>
              </a:rPr>
              <a:t>⚑  Collect endpoint logs before rebooting a suspect machine — Windows clears volatile logs on shutdown.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Firewall Logs</a:t>
            </a:r>
            <a:endParaRPr lang="en-US" sz="2800" dirty="0"/>
          </a:p>
        </p:txBody>
      </p:sp>
      <p:sp>
        <p:nvSpPr>
          <p:cNvPr id="5" name="Shape 3"/>
          <p:cNvSpPr/>
          <p:nvPr/>
        </p:nvSpPr>
        <p:spPr>
          <a:xfrm>
            <a:off x="320040" y="1261872"/>
            <a:ext cx="8503920" cy="585216"/>
          </a:xfrm>
          <a:prstGeom prst="rect">
            <a:avLst/>
          </a:prstGeom>
          <a:solidFill>
            <a:srgbClr val="FFFFFF"/>
          </a:solidFill>
          <a:ln w="12700">
            <a:solidFill>
              <a:srgbClr val="E74C3C"/>
            </a:solidFill>
            <a:prstDash val="solid"/>
          </a:ln>
        </p:spPr>
        <p:txBody>
          <a:bodyPr/>
          <a:lstStyle/>
          <a:p>
            <a:endParaRPr lang="en-SG"/>
          </a:p>
        </p:txBody>
      </p:sp>
      <p:sp>
        <p:nvSpPr>
          <p:cNvPr id="6" name="Shape 4"/>
          <p:cNvSpPr/>
          <p:nvPr/>
        </p:nvSpPr>
        <p:spPr>
          <a:xfrm>
            <a:off x="320040" y="1261872"/>
            <a:ext cx="54864" cy="585216"/>
          </a:xfrm>
          <a:prstGeom prst="rect">
            <a:avLst/>
          </a:prstGeom>
          <a:solidFill>
            <a:srgbClr val="E74C3C"/>
          </a:solidFill>
          <a:ln w="12700">
            <a:solidFill>
              <a:srgbClr val="E74C3C"/>
            </a:solidFill>
            <a:prstDash val="solid"/>
          </a:ln>
        </p:spPr>
        <p:txBody>
          <a:bodyPr/>
          <a:lstStyle/>
          <a:p>
            <a:endParaRPr lang="en-SG"/>
          </a:p>
        </p:txBody>
      </p:sp>
      <p:sp>
        <p:nvSpPr>
          <p:cNvPr id="7" name="Text 5"/>
          <p:cNvSpPr/>
          <p:nvPr/>
        </p:nvSpPr>
        <p:spPr>
          <a:xfrm>
            <a:off x="475488" y="1316736"/>
            <a:ext cx="8275320" cy="457200"/>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Firewalls sit at the network boundary and log every allowed and denied connection — recording source IP, destination IP, port, protocol, and action. They are often the first place investigators check.</a:t>
            </a:r>
            <a:endParaRPr lang="en-US" sz="1000" dirty="0"/>
          </a:p>
        </p:txBody>
      </p:sp>
      <p:sp>
        <p:nvSpPr>
          <p:cNvPr id="8" name="Shape 6"/>
          <p:cNvSpPr/>
          <p:nvPr/>
        </p:nvSpPr>
        <p:spPr>
          <a:xfrm>
            <a:off x="320040" y="1956816"/>
            <a:ext cx="4160520" cy="179222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956816"/>
            <a:ext cx="4160520" cy="256032"/>
          </a:xfrm>
          <a:prstGeom prst="rect">
            <a:avLst/>
          </a:prstGeom>
          <a:solidFill>
            <a:srgbClr val="E74C3C"/>
          </a:solidFill>
          <a:ln w="12700">
            <a:solidFill>
              <a:srgbClr val="E74C3C"/>
            </a:solidFill>
            <a:prstDash val="solid"/>
          </a:ln>
        </p:spPr>
        <p:txBody>
          <a:bodyPr/>
          <a:lstStyle/>
          <a:p>
            <a:endParaRPr lang="en-SG"/>
          </a:p>
        </p:txBody>
      </p:sp>
      <p:sp>
        <p:nvSpPr>
          <p:cNvPr id="10" name="Text 8"/>
          <p:cNvSpPr/>
          <p:nvPr/>
        </p:nvSpPr>
        <p:spPr>
          <a:xfrm>
            <a:off x="411480" y="1956816"/>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What Firewall Logs Record</a:t>
            </a:r>
            <a:endParaRPr lang="en-US" sz="1100" dirty="0"/>
          </a:p>
        </p:txBody>
      </p:sp>
      <p:sp>
        <p:nvSpPr>
          <p:cNvPr id="11" name="Text 9"/>
          <p:cNvSpPr/>
          <p:nvPr/>
        </p:nvSpPr>
        <p:spPr>
          <a:xfrm>
            <a:off x="457200" y="2267712"/>
            <a:ext cx="393192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Source IP and destination IP for every connection</a:t>
            </a:r>
            <a:endParaRPr lang="en-US" sz="850" dirty="0"/>
          </a:p>
        </p:txBody>
      </p:sp>
      <p:sp>
        <p:nvSpPr>
          <p:cNvPr id="12" name="Text 10"/>
          <p:cNvSpPr/>
          <p:nvPr/>
        </p:nvSpPr>
        <p:spPr>
          <a:xfrm>
            <a:off x="457200" y="2514600"/>
            <a:ext cx="393192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Source port and destination port (identifies the service/protocol)</a:t>
            </a:r>
            <a:endParaRPr lang="en-US" sz="850" dirty="0"/>
          </a:p>
        </p:txBody>
      </p:sp>
      <p:sp>
        <p:nvSpPr>
          <p:cNvPr id="13" name="Text 11"/>
          <p:cNvSpPr/>
          <p:nvPr/>
        </p:nvSpPr>
        <p:spPr>
          <a:xfrm>
            <a:off x="457200" y="2761488"/>
            <a:ext cx="393192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Action taken: ALLOW or DENY</a:t>
            </a:r>
            <a:endParaRPr lang="en-US" sz="850" dirty="0"/>
          </a:p>
        </p:txBody>
      </p:sp>
      <p:sp>
        <p:nvSpPr>
          <p:cNvPr id="14" name="Text 12"/>
          <p:cNvSpPr/>
          <p:nvPr/>
        </p:nvSpPr>
        <p:spPr>
          <a:xfrm>
            <a:off x="457200" y="3008376"/>
            <a:ext cx="393192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Timestamp of the connection attempt</a:t>
            </a:r>
            <a:endParaRPr lang="en-US" sz="850" dirty="0"/>
          </a:p>
        </p:txBody>
      </p:sp>
      <p:sp>
        <p:nvSpPr>
          <p:cNvPr id="15" name="Text 13"/>
          <p:cNvSpPr/>
          <p:nvPr/>
        </p:nvSpPr>
        <p:spPr>
          <a:xfrm>
            <a:off x="457200" y="3255264"/>
            <a:ext cx="393192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Bytes transferred (in and out) for allowed sessions</a:t>
            </a:r>
            <a:endParaRPr lang="en-US" sz="850" dirty="0"/>
          </a:p>
        </p:txBody>
      </p:sp>
      <p:sp>
        <p:nvSpPr>
          <p:cNvPr id="16" name="Text 14"/>
          <p:cNvSpPr/>
          <p:nvPr/>
        </p:nvSpPr>
        <p:spPr>
          <a:xfrm>
            <a:off x="457200" y="3502152"/>
            <a:ext cx="393192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Rule name or number that triggered the action</a:t>
            </a:r>
            <a:endParaRPr lang="en-US" sz="850" dirty="0"/>
          </a:p>
        </p:txBody>
      </p:sp>
      <p:sp>
        <p:nvSpPr>
          <p:cNvPr id="17" name="Shape 15"/>
          <p:cNvSpPr/>
          <p:nvPr/>
        </p:nvSpPr>
        <p:spPr>
          <a:xfrm>
            <a:off x="4645152" y="1956816"/>
            <a:ext cx="4178808" cy="1792224"/>
          </a:xfrm>
          <a:prstGeom prst="rect">
            <a:avLst/>
          </a:prstGeom>
          <a:solidFill>
            <a:srgbClr val="FFFFFF"/>
          </a:solidFill>
          <a:ln w="12700">
            <a:solidFill>
              <a:srgbClr val="E74C3C"/>
            </a:solidFill>
            <a:prstDash val="solid"/>
          </a:ln>
        </p:spPr>
        <p:txBody>
          <a:bodyPr/>
          <a:lstStyle/>
          <a:p>
            <a:endParaRPr lang="en-SG"/>
          </a:p>
        </p:txBody>
      </p:sp>
      <p:sp>
        <p:nvSpPr>
          <p:cNvPr id="18" name="Shape 16"/>
          <p:cNvSpPr/>
          <p:nvPr/>
        </p:nvSpPr>
        <p:spPr>
          <a:xfrm>
            <a:off x="4645152" y="1956816"/>
            <a:ext cx="4178808" cy="256032"/>
          </a:xfrm>
          <a:prstGeom prst="rect">
            <a:avLst/>
          </a:prstGeom>
          <a:solidFill>
            <a:srgbClr val="E74C3C"/>
          </a:solidFill>
          <a:ln w="12700">
            <a:solidFill>
              <a:srgbClr val="E74C3C"/>
            </a:solidFill>
            <a:prstDash val="solid"/>
          </a:ln>
        </p:spPr>
        <p:txBody>
          <a:bodyPr/>
          <a:lstStyle/>
          <a:p>
            <a:endParaRPr lang="en-SG"/>
          </a:p>
        </p:txBody>
      </p:sp>
      <p:sp>
        <p:nvSpPr>
          <p:cNvPr id="19" name="Text 17"/>
          <p:cNvSpPr/>
          <p:nvPr/>
        </p:nvSpPr>
        <p:spPr>
          <a:xfrm>
            <a:off x="4736592" y="1956816"/>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Sample Firewall Log Entry</a:t>
            </a:r>
            <a:endParaRPr lang="en-US" sz="1100" dirty="0"/>
          </a:p>
        </p:txBody>
      </p:sp>
      <p:sp>
        <p:nvSpPr>
          <p:cNvPr id="20" name="Shape 18"/>
          <p:cNvSpPr/>
          <p:nvPr/>
        </p:nvSpPr>
        <p:spPr>
          <a:xfrm>
            <a:off x="4709160" y="2286000"/>
            <a:ext cx="4050792" cy="1408176"/>
          </a:xfrm>
          <a:prstGeom prst="rect">
            <a:avLst/>
          </a:prstGeom>
          <a:solidFill>
            <a:srgbClr val="FFFFFF"/>
          </a:solidFill>
          <a:ln w="12700">
            <a:solidFill>
              <a:srgbClr val="E74C3C"/>
            </a:solidFill>
            <a:prstDash val="solid"/>
          </a:ln>
        </p:spPr>
        <p:txBody>
          <a:bodyPr/>
          <a:lstStyle/>
          <a:p>
            <a:endParaRPr lang="en-SG"/>
          </a:p>
        </p:txBody>
      </p:sp>
      <p:sp>
        <p:nvSpPr>
          <p:cNvPr id="21" name="Text 19"/>
          <p:cNvSpPr/>
          <p:nvPr/>
        </p:nvSpPr>
        <p:spPr>
          <a:xfrm>
            <a:off x="4773168" y="2340864"/>
            <a:ext cx="3931920" cy="1280160"/>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Date      Time       Action  Src-IP         Dst-IP        Port  Proto</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2026-03-12 08:14:03  ALLOW   203.0.113.45   10.0.1.50     443   TCP</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2026-03-12 08:14:07  DENY    203.0.113.45   10.0.1.10     22    TCP</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2026-03-12 08:14:09  ALLOW   10.0.1.50      1.2.3.4       80    TCP</a:t>
            </a:r>
            <a:endParaRPr lang="en-US" sz="750" dirty="0"/>
          </a:p>
        </p:txBody>
      </p:sp>
      <p:sp>
        <p:nvSpPr>
          <p:cNvPr id="22" name="Shape 20"/>
          <p:cNvSpPr/>
          <p:nvPr/>
        </p:nvSpPr>
        <p:spPr>
          <a:xfrm>
            <a:off x="320040" y="3858768"/>
            <a:ext cx="8503920" cy="896112"/>
          </a:xfrm>
          <a:prstGeom prst="rect">
            <a:avLst/>
          </a:prstGeom>
          <a:solidFill>
            <a:srgbClr val="EEF6FB"/>
          </a:solidFill>
          <a:ln w="12700">
            <a:solidFill>
              <a:srgbClr val="F1C40F"/>
            </a:solidFill>
            <a:prstDash val="solid"/>
          </a:ln>
        </p:spPr>
        <p:txBody>
          <a:bodyPr/>
          <a:lstStyle/>
          <a:p>
            <a:endParaRPr lang="en-SG"/>
          </a:p>
        </p:txBody>
      </p:sp>
      <p:sp>
        <p:nvSpPr>
          <p:cNvPr id="23" name="Text 21"/>
          <p:cNvSpPr/>
          <p:nvPr/>
        </p:nvSpPr>
        <p:spPr>
          <a:xfrm>
            <a:off x="457200" y="3913632"/>
            <a:ext cx="1828800" cy="201168"/>
          </a:xfrm>
          <a:prstGeom prst="rect">
            <a:avLst/>
          </a:prstGeom>
          <a:noFill/>
          <a:ln/>
        </p:spPr>
        <p:txBody>
          <a:bodyPr wrap="square" lIns="0" tIns="0" rIns="0" bIns="0" rtlCol="0" anchor="ctr"/>
          <a:lstStyle/>
          <a:p>
            <a:pPr marL="0" indent="0">
              <a:buNone/>
            </a:pPr>
            <a:r>
              <a:rPr lang="en-US" sz="1000" b="1" dirty="0">
                <a:solidFill>
                  <a:srgbClr val="F1C40F"/>
                </a:solidFill>
                <a:latin typeface="Calibri" pitchFamily="34" charset="0"/>
                <a:ea typeface="Calibri" pitchFamily="34" charset="-122"/>
                <a:cs typeface="Calibri" pitchFamily="34" charset="-120"/>
              </a:rPr>
              <a:t>🔎  Forensic Value</a:t>
            </a:r>
            <a:endParaRPr lang="en-US" sz="1000" dirty="0"/>
          </a:p>
        </p:txBody>
      </p:sp>
      <p:sp>
        <p:nvSpPr>
          <p:cNvPr id="24" name="Text 22"/>
          <p:cNvSpPr/>
          <p:nvPr/>
        </p:nvSpPr>
        <p:spPr>
          <a:xfrm>
            <a:off x="457200" y="4133088"/>
            <a:ext cx="8321040" cy="1463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DENY entries identify port scanning — attackers probing for open services</a:t>
            </a:r>
            <a:endParaRPr lang="en-US" sz="850" dirty="0"/>
          </a:p>
        </p:txBody>
      </p:sp>
      <p:sp>
        <p:nvSpPr>
          <p:cNvPr id="25" name="Text 23"/>
          <p:cNvSpPr/>
          <p:nvPr/>
        </p:nvSpPr>
        <p:spPr>
          <a:xfrm>
            <a:off x="457200" y="4297680"/>
            <a:ext cx="8321040" cy="1463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Large outbound traffic volumes to one external IP may indicate data exfiltration</a:t>
            </a:r>
            <a:endParaRPr lang="en-US" sz="850" dirty="0"/>
          </a:p>
        </p:txBody>
      </p:sp>
      <p:sp>
        <p:nvSpPr>
          <p:cNvPr id="26" name="Text 24"/>
          <p:cNvSpPr/>
          <p:nvPr/>
        </p:nvSpPr>
        <p:spPr>
          <a:xfrm>
            <a:off x="457200" y="4462272"/>
            <a:ext cx="8321040" cy="1463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Connections to known malicious IPs confirm compromise — cross-reference threat intelligence feeds</a:t>
            </a:r>
            <a:endParaRPr lang="en-US" sz="850" dirty="0"/>
          </a:p>
        </p:txBody>
      </p:sp>
      <p:sp>
        <p:nvSpPr>
          <p:cNvPr id="27" name="Text 25"/>
          <p:cNvSpPr/>
          <p:nvPr/>
        </p:nvSpPr>
        <p:spPr>
          <a:xfrm>
            <a:off x="457200" y="4626864"/>
            <a:ext cx="8321040" cy="1463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New ALLOW rules at unusual times may indicate an attacker modified firewall policy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Web Server &amp; Application Logs</a:t>
            </a:r>
            <a:endParaRPr lang="en-US" sz="2800" dirty="0"/>
          </a:p>
        </p:txBody>
      </p:sp>
      <p:sp>
        <p:nvSpPr>
          <p:cNvPr id="5" name="Shape 3"/>
          <p:cNvSpPr/>
          <p:nvPr/>
        </p:nvSpPr>
        <p:spPr>
          <a:xfrm>
            <a:off x="320040" y="1261872"/>
            <a:ext cx="8503920" cy="530352"/>
          </a:xfrm>
          <a:prstGeom prst="rect">
            <a:avLst/>
          </a:prstGeom>
          <a:solidFill>
            <a:srgbClr val="FFFFFF"/>
          </a:solidFill>
          <a:ln w="12700">
            <a:solidFill>
              <a:srgbClr val="A855F7"/>
            </a:solidFill>
            <a:prstDash val="solid"/>
          </a:ln>
        </p:spPr>
        <p:txBody>
          <a:bodyPr/>
          <a:lstStyle/>
          <a:p>
            <a:endParaRPr lang="en-SG"/>
          </a:p>
        </p:txBody>
      </p:sp>
      <p:sp>
        <p:nvSpPr>
          <p:cNvPr id="6" name="Shape 4"/>
          <p:cNvSpPr/>
          <p:nvPr/>
        </p:nvSpPr>
        <p:spPr>
          <a:xfrm>
            <a:off x="320040" y="1261872"/>
            <a:ext cx="54864" cy="530352"/>
          </a:xfrm>
          <a:prstGeom prst="rect">
            <a:avLst/>
          </a:prstGeom>
          <a:solidFill>
            <a:srgbClr val="A855F7"/>
          </a:solidFill>
          <a:ln w="12700">
            <a:solidFill>
              <a:srgbClr val="A855F7"/>
            </a:solidFill>
            <a:prstDash val="solid"/>
          </a:ln>
        </p:spPr>
        <p:txBody>
          <a:bodyPr/>
          <a:lstStyle/>
          <a:p>
            <a:endParaRPr lang="en-SG"/>
          </a:p>
        </p:txBody>
      </p:sp>
      <p:sp>
        <p:nvSpPr>
          <p:cNvPr id="7" name="Text 5"/>
          <p:cNvSpPr/>
          <p:nvPr/>
        </p:nvSpPr>
        <p:spPr>
          <a:xfrm>
            <a:off x="475488" y="1316736"/>
            <a:ext cx="8275320" cy="402336"/>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Web servers (Apache, Nginx, IIS) log every HTTP/HTTPS request. These logs record exactly what pages were visited, what was submitted, and from which IP — critical in web-based crime investigations.</a:t>
            </a:r>
            <a:endParaRPr lang="en-US" sz="1000" dirty="0"/>
          </a:p>
        </p:txBody>
      </p:sp>
      <p:sp>
        <p:nvSpPr>
          <p:cNvPr id="8" name="Shape 6"/>
          <p:cNvSpPr/>
          <p:nvPr/>
        </p:nvSpPr>
        <p:spPr>
          <a:xfrm>
            <a:off x="320040" y="1901952"/>
            <a:ext cx="8503920" cy="1042416"/>
          </a:xfrm>
          <a:prstGeom prst="rect">
            <a:avLst/>
          </a:prstGeom>
          <a:solidFill>
            <a:srgbClr val="FFFFFF"/>
          </a:solidFill>
          <a:ln w="12700">
            <a:solidFill>
              <a:srgbClr val="A855F7"/>
            </a:solidFill>
            <a:prstDash val="solid"/>
          </a:ln>
        </p:spPr>
        <p:txBody>
          <a:bodyPr/>
          <a:lstStyle/>
          <a:p>
            <a:endParaRPr lang="en-SG"/>
          </a:p>
        </p:txBody>
      </p:sp>
      <p:sp>
        <p:nvSpPr>
          <p:cNvPr id="9" name="Text 7"/>
          <p:cNvSpPr/>
          <p:nvPr/>
        </p:nvSpPr>
        <p:spPr>
          <a:xfrm>
            <a:off x="457200" y="1938528"/>
            <a:ext cx="3657600" cy="182880"/>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Apache Combined Log Format:</a:t>
            </a:r>
            <a:endParaRPr lang="en-US" sz="900" dirty="0"/>
          </a:p>
        </p:txBody>
      </p:sp>
      <p:sp>
        <p:nvSpPr>
          <p:cNvPr id="10" name="Text 8"/>
          <p:cNvSpPr/>
          <p:nvPr/>
        </p:nvSpPr>
        <p:spPr>
          <a:xfrm>
            <a:off x="457200" y="2139696"/>
            <a:ext cx="8321040" cy="74980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203.0.113.45 - alice [12/Mar/2026:08:14:03 +0800] "POST /admin/login HTTP/1.1" 200 512 "-" "Mozilla/5.0"</a:t>
            </a:r>
            <a:endParaRPr lang="en-US" sz="800" dirty="0"/>
          </a:p>
          <a:p>
            <a:pPr marL="0" indent="0">
              <a:buNone/>
            </a:pPr>
            <a:r>
              <a:rPr lang="en-US" sz="800" dirty="0">
                <a:solidFill>
                  <a:srgbClr val="2ECC71"/>
                </a:solidFill>
                <a:latin typeface="Consolas" pitchFamily="34" charset="0"/>
                <a:ea typeface="Consolas" pitchFamily="34" charset="-122"/>
                <a:cs typeface="Consolas" pitchFamily="34" charset="-120"/>
              </a:rPr>
              <a:t>203.0.113.45 - - [12/Mar/2026:08:14:10 +0800] "GET /etc/passwd HTTP/1.1" 404 287 "-" "sqlmap/1.6"</a:t>
            </a:r>
            <a:endParaRPr lang="en-US" sz="800" dirty="0"/>
          </a:p>
        </p:txBody>
      </p:sp>
      <p:sp>
        <p:nvSpPr>
          <p:cNvPr id="11" name="Shape 9"/>
          <p:cNvSpPr/>
          <p:nvPr/>
        </p:nvSpPr>
        <p:spPr>
          <a:xfrm>
            <a:off x="320040" y="3054096"/>
            <a:ext cx="4160520" cy="640080"/>
          </a:xfrm>
          <a:prstGeom prst="rect">
            <a:avLst/>
          </a:prstGeom>
          <a:solidFill>
            <a:srgbClr val="EEF6FB"/>
          </a:solidFill>
          <a:ln w="12700">
            <a:solidFill>
              <a:srgbClr val="EEF6FB"/>
            </a:solidFill>
            <a:prstDash val="solid"/>
          </a:ln>
        </p:spPr>
        <p:txBody>
          <a:bodyPr/>
          <a:lstStyle/>
          <a:p>
            <a:endParaRPr lang="en-SG"/>
          </a:p>
        </p:txBody>
      </p:sp>
      <p:sp>
        <p:nvSpPr>
          <p:cNvPr id="12" name="Shape 10"/>
          <p:cNvSpPr/>
          <p:nvPr/>
        </p:nvSpPr>
        <p:spPr>
          <a:xfrm>
            <a:off x="320040" y="3054096"/>
            <a:ext cx="54864" cy="640080"/>
          </a:xfrm>
          <a:prstGeom prst="rect">
            <a:avLst/>
          </a:prstGeom>
          <a:solidFill>
            <a:srgbClr val="A855F7"/>
          </a:solidFill>
          <a:ln w="12700">
            <a:solidFill>
              <a:srgbClr val="A855F7"/>
            </a:solidFill>
            <a:prstDash val="solid"/>
          </a:ln>
        </p:spPr>
        <p:txBody>
          <a:bodyPr/>
          <a:lstStyle/>
          <a:p>
            <a:endParaRPr lang="en-SG"/>
          </a:p>
        </p:txBody>
      </p:sp>
      <p:sp>
        <p:nvSpPr>
          <p:cNvPr id="13" name="Text 11"/>
          <p:cNvSpPr/>
          <p:nvPr/>
        </p:nvSpPr>
        <p:spPr>
          <a:xfrm>
            <a:off x="448056" y="3090672"/>
            <a:ext cx="1828800" cy="201168"/>
          </a:xfrm>
          <a:prstGeom prst="rect">
            <a:avLst/>
          </a:prstGeom>
          <a:noFill/>
          <a:ln/>
        </p:spPr>
        <p:txBody>
          <a:bodyPr wrap="square" lIns="0" tIns="0" rIns="0" bIns="0" rtlCol="0" anchor="ctr"/>
          <a:lstStyle/>
          <a:p>
            <a:pPr marL="0" indent="0">
              <a:buNone/>
            </a:pPr>
            <a:r>
              <a:rPr lang="en-US" sz="950" b="1" dirty="0">
                <a:solidFill>
                  <a:srgbClr val="A855F7"/>
                </a:solidFill>
                <a:latin typeface="Calibri" pitchFamily="34" charset="0"/>
                <a:ea typeface="Calibri" pitchFamily="34" charset="-122"/>
                <a:cs typeface="Calibri" pitchFamily="34" charset="-120"/>
              </a:rPr>
              <a:t>Client IP</a:t>
            </a:r>
            <a:endParaRPr lang="en-US" sz="950" dirty="0"/>
          </a:p>
        </p:txBody>
      </p:sp>
      <p:sp>
        <p:nvSpPr>
          <p:cNvPr id="14" name="Text 12"/>
          <p:cNvSpPr/>
          <p:nvPr/>
        </p:nvSpPr>
        <p:spPr>
          <a:xfrm>
            <a:off x="2331720" y="3090672"/>
            <a:ext cx="2011680" cy="201168"/>
          </a:xfrm>
          <a:prstGeom prst="rect">
            <a:avLst/>
          </a:prstGeom>
          <a:noFill/>
          <a:ln/>
        </p:spPr>
        <p:txBody>
          <a:bodyPr wrap="square" lIns="0" tIns="0" rIns="0" bIns="0" rtlCol="0" anchor="ctr"/>
          <a:lstStyle/>
          <a:p>
            <a:pPr marL="0" indent="0">
              <a:buNone/>
            </a:pPr>
            <a:r>
              <a:rPr lang="en-US" sz="900" dirty="0">
                <a:solidFill>
                  <a:srgbClr val="F1C40F"/>
                </a:solidFill>
                <a:latin typeface="Consolas" pitchFamily="34" charset="0"/>
                <a:ea typeface="Consolas" pitchFamily="34" charset="-122"/>
                <a:cs typeface="Consolas" pitchFamily="34" charset="-120"/>
              </a:rPr>
              <a:t>203.0.113.45</a:t>
            </a:r>
            <a:endParaRPr lang="en-US" sz="900" dirty="0"/>
          </a:p>
        </p:txBody>
      </p:sp>
      <p:sp>
        <p:nvSpPr>
          <p:cNvPr id="15" name="Text 13"/>
          <p:cNvSpPr/>
          <p:nvPr/>
        </p:nvSpPr>
        <p:spPr>
          <a:xfrm>
            <a:off x="448056" y="3328416"/>
            <a:ext cx="3931920" cy="31089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Attacker's IP — use WHOIS to identify ISP or organisation</a:t>
            </a:r>
            <a:endParaRPr lang="en-US" sz="850" dirty="0"/>
          </a:p>
        </p:txBody>
      </p:sp>
      <p:sp>
        <p:nvSpPr>
          <p:cNvPr id="16" name="Shape 14"/>
          <p:cNvSpPr/>
          <p:nvPr/>
        </p:nvSpPr>
        <p:spPr>
          <a:xfrm>
            <a:off x="4645152" y="3054096"/>
            <a:ext cx="4160520" cy="640080"/>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4645152" y="3054096"/>
            <a:ext cx="54864" cy="640080"/>
          </a:xfrm>
          <a:prstGeom prst="rect">
            <a:avLst/>
          </a:prstGeom>
          <a:solidFill>
            <a:srgbClr val="A855F7"/>
          </a:solidFill>
          <a:ln w="12700">
            <a:solidFill>
              <a:srgbClr val="A855F7"/>
            </a:solidFill>
            <a:prstDash val="solid"/>
          </a:ln>
        </p:spPr>
        <p:txBody>
          <a:bodyPr/>
          <a:lstStyle/>
          <a:p>
            <a:endParaRPr lang="en-SG"/>
          </a:p>
        </p:txBody>
      </p:sp>
      <p:sp>
        <p:nvSpPr>
          <p:cNvPr id="18" name="Text 16"/>
          <p:cNvSpPr/>
          <p:nvPr/>
        </p:nvSpPr>
        <p:spPr>
          <a:xfrm>
            <a:off x="4773168" y="3090672"/>
            <a:ext cx="1828800" cy="201168"/>
          </a:xfrm>
          <a:prstGeom prst="rect">
            <a:avLst/>
          </a:prstGeom>
          <a:noFill/>
          <a:ln/>
        </p:spPr>
        <p:txBody>
          <a:bodyPr wrap="square" lIns="0" tIns="0" rIns="0" bIns="0" rtlCol="0" anchor="ctr"/>
          <a:lstStyle/>
          <a:p>
            <a:pPr marL="0" indent="0">
              <a:buNone/>
            </a:pPr>
            <a:r>
              <a:rPr lang="en-US" sz="950" b="1" dirty="0">
                <a:solidFill>
                  <a:srgbClr val="A855F7"/>
                </a:solidFill>
                <a:latin typeface="Calibri" pitchFamily="34" charset="0"/>
                <a:ea typeface="Calibri" pitchFamily="34" charset="-122"/>
                <a:cs typeface="Calibri" pitchFamily="34" charset="-120"/>
              </a:rPr>
              <a:t>Timestamp</a:t>
            </a:r>
            <a:endParaRPr lang="en-US" sz="950" dirty="0"/>
          </a:p>
        </p:txBody>
      </p:sp>
      <p:sp>
        <p:nvSpPr>
          <p:cNvPr id="19" name="Text 17"/>
          <p:cNvSpPr/>
          <p:nvPr/>
        </p:nvSpPr>
        <p:spPr>
          <a:xfrm>
            <a:off x="6656832" y="3090672"/>
            <a:ext cx="2011680" cy="201168"/>
          </a:xfrm>
          <a:prstGeom prst="rect">
            <a:avLst/>
          </a:prstGeom>
          <a:noFill/>
          <a:ln/>
        </p:spPr>
        <p:txBody>
          <a:bodyPr wrap="square" lIns="0" tIns="0" rIns="0" bIns="0" rtlCol="0" anchor="ctr"/>
          <a:lstStyle/>
          <a:p>
            <a:pPr marL="0" indent="0">
              <a:buNone/>
            </a:pPr>
            <a:r>
              <a:rPr lang="en-US" sz="900" dirty="0">
                <a:solidFill>
                  <a:srgbClr val="F1C40F"/>
                </a:solidFill>
                <a:latin typeface="Consolas" pitchFamily="34" charset="0"/>
                <a:ea typeface="Consolas" pitchFamily="34" charset="-122"/>
                <a:cs typeface="Consolas" pitchFamily="34" charset="-120"/>
              </a:rPr>
              <a:t>12/Mar/2026:08:14</a:t>
            </a:r>
            <a:endParaRPr lang="en-US" sz="900" dirty="0"/>
          </a:p>
        </p:txBody>
      </p:sp>
      <p:sp>
        <p:nvSpPr>
          <p:cNvPr id="20" name="Text 18"/>
          <p:cNvSpPr/>
          <p:nvPr/>
        </p:nvSpPr>
        <p:spPr>
          <a:xfrm>
            <a:off x="4773168" y="3328416"/>
            <a:ext cx="3931920" cy="31089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Exact time — correlate with firewall and auth logs</a:t>
            </a:r>
            <a:endParaRPr lang="en-US" sz="850" dirty="0"/>
          </a:p>
        </p:txBody>
      </p:sp>
      <p:sp>
        <p:nvSpPr>
          <p:cNvPr id="21" name="Shape 19"/>
          <p:cNvSpPr/>
          <p:nvPr/>
        </p:nvSpPr>
        <p:spPr>
          <a:xfrm>
            <a:off x="320040" y="3767328"/>
            <a:ext cx="4160520" cy="640080"/>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320040" y="3767328"/>
            <a:ext cx="54864" cy="640080"/>
          </a:xfrm>
          <a:prstGeom prst="rect">
            <a:avLst/>
          </a:prstGeom>
          <a:solidFill>
            <a:srgbClr val="A855F7"/>
          </a:solidFill>
          <a:ln w="12700">
            <a:solidFill>
              <a:srgbClr val="A855F7"/>
            </a:solidFill>
            <a:prstDash val="solid"/>
          </a:ln>
        </p:spPr>
        <p:txBody>
          <a:bodyPr/>
          <a:lstStyle/>
          <a:p>
            <a:endParaRPr lang="en-SG"/>
          </a:p>
        </p:txBody>
      </p:sp>
      <p:sp>
        <p:nvSpPr>
          <p:cNvPr id="23" name="Text 21"/>
          <p:cNvSpPr/>
          <p:nvPr/>
        </p:nvSpPr>
        <p:spPr>
          <a:xfrm>
            <a:off x="448056" y="3803904"/>
            <a:ext cx="1828800" cy="201168"/>
          </a:xfrm>
          <a:prstGeom prst="rect">
            <a:avLst/>
          </a:prstGeom>
          <a:noFill/>
          <a:ln/>
        </p:spPr>
        <p:txBody>
          <a:bodyPr wrap="square" lIns="0" tIns="0" rIns="0" bIns="0" rtlCol="0" anchor="ctr"/>
          <a:lstStyle/>
          <a:p>
            <a:pPr marL="0" indent="0">
              <a:buNone/>
            </a:pPr>
            <a:r>
              <a:rPr lang="en-US" sz="950" b="1" dirty="0">
                <a:solidFill>
                  <a:srgbClr val="A855F7"/>
                </a:solidFill>
                <a:latin typeface="Calibri" pitchFamily="34" charset="0"/>
                <a:ea typeface="Calibri" pitchFamily="34" charset="-122"/>
                <a:cs typeface="Calibri" pitchFamily="34" charset="-120"/>
              </a:rPr>
              <a:t>Request</a:t>
            </a:r>
            <a:endParaRPr lang="en-US" sz="950" dirty="0"/>
          </a:p>
        </p:txBody>
      </p:sp>
      <p:sp>
        <p:nvSpPr>
          <p:cNvPr id="24" name="Text 22"/>
          <p:cNvSpPr/>
          <p:nvPr/>
        </p:nvSpPr>
        <p:spPr>
          <a:xfrm>
            <a:off x="2331720" y="3803904"/>
            <a:ext cx="2011680" cy="201168"/>
          </a:xfrm>
          <a:prstGeom prst="rect">
            <a:avLst/>
          </a:prstGeom>
          <a:noFill/>
          <a:ln/>
        </p:spPr>
        <p:txBody>
          <a:bodyPr wrap="square" lIns="0" tIns="0" rIns="0" bIns="0" rtlCol="0" anchor="ctr"/>
          <a:lstStyle/>
          <a:p>
            <a:pPr marL="0" indent="0">
              <a:buNone/>
            </a:pPr>
            <a:r>
              <a:rPr lang="en-US" sz="900" dirty="0">
                <a:solidFill>
                  <a:srgbClr val="F1C40F"/>
                </a:solidFill>
                <a:latin typeface="Consolas" pitchFamily="34" charset="0"/>
                <a:ea typeface="Consolas" pitchFamily="34" charset="-122"/>
                <a:cs typeface="Consolas" pitchFamily="34" charset="-120"/>
              </a:rPr>
              <a:t>POST /admin/login</a:t>
            </a:r>
            <a:endParaRPr lang="en-US" sz="900" dirty="0"/>
          </a:p>
        </p:txBody>
      </p:sp>
      <p:sp>
        <p:nvSpPr>
          <p:cNvPr id="25" name="Text 23"/>
          <p:cNvSpPr/>
          <p:nvPr/>
        </p:nvSpPr>
        <p:spPr>
          <a:xfrm>
            <a:off x="448056" y="4041648"/>
            <a:ext cx="3931920" cy="31089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Method + URL — repeated POSTs = brute-force attack</a:t>
            </a:r>
            <a:endParaRPr lang="en-US" sz="850" dirty="0"/>
          </a:p>
        </p:txBody>
      </p:sp>
      <p:sp>
        <p:nvSpPr>
          <p:cNvPr id="26" name="Shape 24"/>
          <p:cNvSpPr/>
          <p:nvPr/>
        </p:nvSpPr>
        <p:spPr>
          <a:xfrm>
            <a:off x="4645152" y="3767328"/>
            <a:ext cx="4160520" cy="640080"/>
          </a:xfrm>
          <a:prstGeom prst="rect">
            <a:avLst/>
          </a:prstGeom>
          <a:solidFill>
            <a:srgbClr val="EEF6FB"/>
          </a:solidFill>
          <a:ln w="12700">
            <a:solidFill>
              <a:srgbClr val="EEF6FB"/>
            </a:solidFill>
            <a:prstDash val="solid"/>
          </a:ln>
        </p:spPr>
        <p:txBody>
          <a:bodyPr/>
          <a:lstStyle/>
          <a:p>
            <a:endParaRPr lang="en-SG"/>
          </a:p>
        </p:txBody>
      </p:sp>
      <p:sp>
        <p:nvSpPr>
          <p:cNvPr id="27" name="Shape 25"/>
          <p:cNvSpPr/>
          <p:nvPr/>
        </p:nvSpPr>
        <p:spPr>
          <a:xfrm>
            <a:off x="4645152" y="3767328"/>
            <a:ext cx="54864" cy="640080"/>
          </a:xfrm>
          <a:prstGeom prst="rect">
            <a:avLst/>
          </a:prstGeom>
          <a:solidFill>
            <a:srgbClr val="A855F7"/>
          </a:solidFill>
          <a:ln w="12700">
            <a:solidFill>
              <a:srgbClr val="A855F7"/>
            </a:solidFill>
            <a:prstDash val="solid"/>
          </a:ln>
        </p:spPr>
        <p:txBody>
          <a:bodyPr/>
          <a:lstStyle/>
          <a:p>
            <a:endParaRPr lang="en-SG"/>
          </a:p>
        </p:txBody>
      </p:sp>
      <p:sp>
        <p:nvSpPr>
          <p:cNvPr id="28" name="Text 26"/>
          <p:cNvSpPr/>
          <p:nvPr/>
        </p:nvSpPr>
        <p:spPr>
          <a:xfrm>
            <a:off x="4773168" y="3803904"/>
            <a:ext cx="1828800" cy="201168"/>
          </a:xfrm>
          <a:prstGeom prst="rect">
            <a:avLst/>
          </a:prstGeom>
          <a:noFill/>
          <a:ln/>
        </p:spPr>
        <p:txBody>
          <a:bodyPr wrap="square" lIns="0" tIns="0" rIns="0" bIns="0" rtlCol="0" anchor="ctr"/>
          <a:lstStyle/>
          <a:p>
            <a:pPr marL="0" indent="0">
              <a:buNone/>
            </a:pPr>
            <a:r>
              <a:rPr lang="en-US" sz="950" b="1" dirty="0">
                <a:solidFill>
                  <a:srgbClr val="A855F7"/>
                </a:solidFill>
                <a:latin typeface="Calibri" pitchFamily="34" charset="0"/>
                <a:ea typeface="Calibri" pitchFamily="34" charset="-122"/>
                <a:cs typeface="Calibri" pitchFamily="34" charset="-120"/>
              </a:rPr>
              <a:t>Response Code</a:t>
            </a:r>
            <a:endParaRPr lang="en-US" sz="950" dirty="0"/>
          </a:p>
        </p:txBody>
      </p:sp>
      <p:sp>
        <p:nvSpPr>
          <p:cNvPr id="29" name="Text 27"/>
          <p:cNvSpPr/>
          <p:nvPr/>
        </p:nvSpPr>
        <p:spPr>
          <a:xfrm>
            <a:off x="6656832" y="3803904"/>
            <a:ext cx="2011680" cy="201168"/>
          </a:xfrm>
          <a:prstGeom prst="rect">
            <a:avLst/>
          </a:prstGeom>
          <a:noFill/>
          <a:ln/>
        </p:spPr>
        <p:txBody>
          <a:bodyPr wrap="square" lIns="0" tIns="0" rIns="0" bIns="0" rtlCol="0" anchor="ctr"/>
          <a:lstStyle/>
          <a:p>
            <a:pPr marL="0" indent="0">
              <a:buNone/>
            </a:pPr>
            <a:r>
              <a:rPr lang="en-US" sz="900" dirty="0">
                <a:solidFill>
                  <a:srgbClr val="F1C40F"/>
                </a:solidFill>
                <a:latin typeface="Consolas" pitchFamily="34" charset="0"/>
                <a:ea typeface="Consolas" pitchFamily="34" charset="-122"/>
                <a:cs typeface="Consolas" pitchFamily="34" charset="-120"/>
              </a:rPr>
              <a:t>200 (Success)</a:t>
            </a:r>
            <a:endParaRPr lang="en-US" sz="900" dirty="0"/>
          </a:p>
        </p:txBody>
      </p:sp>
      <p:sp>
        <p:nvSpPr>
          <p:cNvPr id="30" name="Text 28"/>
          <p:cNvSpPr/>
          <p:nvPr/>
        </p:nvSpPr>
        <p:spPr>
          <a:xfrm>
            <a:off x="4773168" y="4041648"/>
            <a:ext cx="3931920" cy="31089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404=not found, 200=success, 500=server error, 403=blocked</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IDS / IPS Logs</a:t>
            </a:r>
            <a:endParaRPr lang="en-US" sz="2800" dirty="0"/>
          </a:p>
        </p:txBody>
      </p:sp>
      <p:sp>
        <p:nvSpPr>
          <p:cNvPr id="5" name="Shape 3"/>
          <p:cNvSpPr/>
          <p:nvPr/>
        </p:nvSpPr>
        <p:spPr>
          <a:xfrm>
            <a:off x="320040" y="1298448"/>
            <a:ext cx="4160520" cy="2834640"/>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4160520" cy="274320"/>
          </a:xfrm>
          <a:prstGeom prst="rect">
            <a:avLst/>
          </a:prstGeom>
          <a:solidFill>
            <a:srgbClr val="F1C40F"/>
          </a:solidFill>
          <a:ln w="12700">
            <a:solidFill>
              <a:srgbClr val="F1C40F"/>
            </a:solidFill>
            <a:prstDash val="solid"/>
          </a:ln>
        </p:spPr>
        <p:txBody>
          <a:bodyPr/>
          <a:lstStyle/>
          <a:p>
            <a:endParaRPr lang="en-SG"/>
          </a:p>
        </p:txBody>
      </p:sp>
      <p:sp>
        <p:nvSpPr>
          <p:cNvPr id="7" name="Text 5"/>
          <p:cNvSpPr/>
          <p:nvPr/>
        </p:nvSpPr>
        <p:spPr>
          <a:xfrm>
            <a:off x="411480" y="1298448"/>
            <a:ext cx="3931920"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IDS — Intrusion Detection System</a:t>
            </a:r>
            <a:endParaRPr lang="en-US" sz="1100" dirty="0"/>
          </a:p>
        </p:txBody>
      </p:sp>
      <p:sp>
        <p:nvSpPr>
          <p:cNvPr id="8" name="Text 6"/>
          <p:cNvSpPr/>
          <p:nvPr/>
        </p:nvSpPr>
        <p:spPr>
          <a:xfrm>
            <a:off x="448056" y="1627632"/>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Passive monitor — does NOT block traffic</a:t>
            </a:r>
            <a:endParaRPr lang="en-US" sz="850" dirty="0"/>
          </a:p>
        </p:txBody>
      </p:sp>
      <p:sp>
        <p:nvSpPr>
          <p:cNvPr id="9" name="Text 7"/>
          <p:cNvSpPr/>
          <p:nvPr/>
        </p:nvSpPr>
        <p:spPr>
          <a:xfrm>
            <a:off x="448056" y="2048256"/>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Generates alerts when known attack patterns are detected</a:t>
            </a:r>
            <a:endParaRPr lang="en-US" sz="850" dirty="0"/>
          </a:p>
        </p:txBody>
      </p:sp>
      <p:sp>
        <p:nvSpPr>
          <p:cNvPr id="10" name="Text 8"/>
          <p:cNvSpPr/>
          <p:nvPr/>
        </p:nvSpPr>
        <p:spPr>
          <a:xfrm>
            <a:off x="448056" y="2468880"/>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Alert contains: timestamp, source IP, destination IP, matched rule name</a:t>
            </a:r>
            <a:endParaRPr lang="en-US" sz="850" dirty="0"/>
          </a:p>
        </p:txBody>
      </p:sp>
      <p:sp>
        <p:nvSpPr>
          <p:cNvPr id="11" name="Text 9"/>
          <p:cNvSpPr/>
          <p:nvPr/>
        </p:nvSpPr>
        <p:spPr>
          <a:xfrm>
            <a:off x="448056" y="2889504"/>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Types: Signature-based (known threats) and Anomaly-based (behavioural)</a:t>
            </a:r>
            <a:endParaRPr lang="en-US" sz="850" dirty="0"/>
          </a:p>
        </p:txBody>
      </p:sp>
      <p:sp>
        <p:nvSpPr>
          <p:cNvPr id="12" name="Text 10"/>
          <p:cNvSpPr/>
          <p:nvPr/>
        </p:nvSpPr>
        <p:spPr>
          <a:xfrm>
            <a:off x="448056" y="3310128"/>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Tool examples: Snort, Suricata (IDS mode)</a:t>
            </a:r>
            <a:endParaRPr lang="en-US" sz="850" dirty="0"/>
          </a:p>
        </p:txBody>
      </p:sp>
      <p:sp>
        <p:nvSpPr>
          <p:cNvPr id="13" name="Text 11"/>
          <p:cNvSpPr/>
          <p:nvPr/>
        </p:nvSpPr>
        <p:spPr>
          <a:xfrm>
            <a:off x="448056" y="3730752"/>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Forensic value: timestamps and rule matches corroborate attack timeline</a:t>
            </a:r>
            <a:endParaRPr lang="en-US" sz="850" dirty="0"/>
          </a:p>
        </p:txBody>
      </p:sp>
      <p:sp>
        <p:nvSpPr>
          <p:cNvPr id="14" name="Shape 12"/>
          <p:cNvSpPr/>
          <p:nvPr/>
        </p:nvSpPr>
        <p:spPr>
          <a:xfrm>
            <a:off x="4645152" y="1298448"/>
            <a:ext cx="4160520" cy="2834640"/>
          </a:xfrm>
          <a:prstGeom prst="rect">
            <a:avLst/>
          </a:prstGeom>
          <a:solidFill>
            <a:srgbClr val="EEF6FB"/>
          </a:solidFill>
          <a:ln w="12700">
            <a:solidFill>
              <a:srgbClr val="EEF6FB"/>
            </a:solidFill>
            <a:prstDash val="solid"/>
          </a:ln>
        </p:spPr>
        <p:txBody>
          <a:bodyPr/>
          <a:lstStyle/>
          <a:p>
            <a:endParaRPr lang="en-SG"/>
          </a:p>
        </p:txBody>
      </p:sp>
      <p:sp>
        <p:nvSpPr>
          <p:cNvPr id="15" name="Shape 13"/>
          <p:cNvSpPr/>
          <p:nvPr/>
        </p:nvSpPr>
        <p:spPr>
          <a:xfrm>
            <a:off x="4645152" y="1298448"/>
            <a:ext cx="4160520" cy="274320"/>
          </a:xfrm>
          <a:prstGeom prst="rect">
            <a:avLst/>
          </a:prstGeom>
          <a:solidFill>
            <a:srgbClr val="E74C3C"/>
          </a:solidFill>
          <a:ln w="12700">
            <a:solidFill>
              <a:srgbClr val="E74C3C"/>
            </a:solidFill>
            <a:prstDash val="solid"/>
          </a:ln>
        </p:spPr>
        <p:txBody>
          <a:bodyPr/>
          <a:lstStyle/>
          <a:p>
            <a:endParaRPr lang="en-SG"/>
          </a:p>
        </p:txBody>
      </p:sp>
      <p:sp>
        <p:nvSpPr>
          <p:cNvPr id="16" name="Text 14"/>
          <p:cNvSpPr/>
          <p:nvPr/>
        </p:nvSpPr>
        <p:spPr>
          <a:xfrm>
            <a:off x="4736592" y="1298448"/>
            <a:ext cx="3931920" cy="274320"/>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IPS — Intrusion Prevention System</a:t>
            </a:r>
            <a:endParaRPr lang="en-US" sz="1100" dirty="0"/>
          </a:p>
        </p:txBody>
      </p:sp>
      <p:sp>
        <p:nvSpPr>
          <p:cNvPr id="17" name="Text 15"/>
          <p:cNvSpPr/>
          <p:nvPr/>
        </p:nvSpPr>
        <p:spPr>
          <a:xfrm>
            <a:off x="4773168" y="1627632"/>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Inline monitor — can BLOCK malicious packets in real time</a:t>
            </a:r>
            <a:endParaRPr lang="en-US" sz="850" dirty="0"/>
          </a:p>
        </p:txBody>
      </p:sp>
      <p:sp>
        <p:nvSpPr>
          <p:cNvPr id="18" name="Text 16"/>
          <p:cNvSpPr/>
          <p:nvPr/>
        </p:nvSpPr>
        <p:spPr>
          <a:xfrm>
            <a:off x="4773168" y="2048256"/>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Logs both detected attacks AND blocking actions taken</a:t>
            </a:r>
            <a:endParaRPr lang="en-US" sz="850" dirty="0"/>
          </a:p>
        </p:txBody>
      </p:sp>
      <p:sp>
        <p:nvSpPr>
          <p:cNvPr id="19" name="Text 17"/>
          <p:cNvSpPr/>
          <p:nvPr/>
        </p:nvSpPr>
        <p:spPr>
          <a:xfrm>
            <a:off x="4773168" y="2468880"/>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False positives may block legitimate traffic — requires careful tuning</a:t>
            </a:r>
            <a:endParaRPr lang="en-US" sz="850" dirty="0"/>
          </a:p>
        </p:txBody>
      </p:sp>
      <p:sp>
        <p:nvSpPr>
          <p:cNvPr id="20" name="Text 18"/>
          <p:cNvSpPr/>
          <p:nvPr/>
        </p:nvSpPr>
        <p:spPr>
          <a:xfrm>
            <a:off x="4773168" y="2889504"/>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Operates between network segments (in-line deployment)</a:t>
            </a:r>
            <a:endParaRPr lang="en-US" sz="850" dirty="0"/>
          </a:p>
        </p:txBody>
      </p:sp>
      <p:sp>
        <p:nvSpPr>
          <p:cNvPr id="21" name="Text 19"/>
          <p:cNvSpPr/>
          <p:nvPr/>
        </p:nvSpPr>
        <p:spPr>
          <a:xfrm>
            <a:off x="4773168" y="3310128"/>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Tool examples: Suricata (IPS mode), Snort-inline, commercial NGFWs</a:t>
            </a:r>
            <a:endParaRPr lang="en-US" sz="850" dirty="0"/>
          </a:p>
        </p:txBody>
      </p:sp>
      <p:sp>
        <p:nvSpPr>
          <p:cNvPr id="22" name="Text 20"/>
          <p:cNvSpPr/>
          <p:nvPr/>
        </p:nvSpPr>
        <p:spPr>
          <a:xfrm>
            <a:off x="4773168" y="3730752"/>
            <a:ext cx="3913632"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Forensic value: blocked packets prove attacker intent even without success</a:t>
            </a:r>
            <a:endParaRPr lang="en-US" sz="850" dirty="0"/>
          </a:p>
        </p:txBody>
      </p:sp>
      <p:sp>
        <p:nvSpPr>
          <p:cNvPr id="23" name="Shape 21"/>
          <p:cNvSpPr/>
          <p:nvPr/>
        </p:nvSpPr>
        <p:spPr>
          <a:xfrm>
            <a:off x="320040" y="4242816"/>
            <a:ext cx="8503920" cy="603504"/>
          </a:xfrm>
          <a:prstGeom prst="rect">
            <a:avLst/>
          </a:prstGeom>
          <a:solidFill>
            <a:srgbClr val="FFFFFF"/>
          </a:solidFill>
          <a:ln w="12700">
            <a:solidFill>
              <a:srgbClr val="F1C40F"/>
            </a:solidFill>
            <a:prstDash val="solid"/>
          </a:ln>
        </p:spPr>
        <p:txBody>
          <a:bodyPr/>
          <a:lstStyle/>
          <a:p>
            <a:endParaRPr lang="en-SG"/>
          </a:p>
        </p:txBody>
      </p:sp>
      <p:sp>
        <p:nvSpPr>
          <p:cNvPr id="24" name="Text 22"/>
          <p:cNvSpPr/>
          <p:nvPr/>
        </p:nvSpPr>
        <p:spPr>
          <a:xfrm>
            <a:off x="457200" y="4279392"/>
            <a:ext cx="1828800" cy="182880"/>
          </a:xfrm>
          <a:prstGeom prst="rect">
            <a:avLst/>
          </a:prstGeom>
          <a:noFill/>
          <a:ln/>
        </p:spPr>
        <p:txBody>
          <a:bodyPr wrap="square" lIns="0" tIns="0" rIns="0" bIns="0" rtlCol="0" anchor="ctr"/>
          <a:lstStyle/>
          <a:p>
            <a:pPr marL="0" indent="0">
              <a:buNone/>
            </a:pPr>
            <a:r>
              <a:rPr lang="en-US" sz="850" b="1" dirty="0">
                <a:solidFill>
                  <a:srgbClr val="F1C40F"/>
                </a:solidFill>
                <a:latin typeface="Calibri" pitchFamily="34" charset="0"/>
                <a:ea typeface="Calibri" pitchFamily="34" charset="-122"/>
                <a:cs typeface="Calibri" pitchFamily="34" charset="-120"/>
              </a:rPr>
              <a:t>Snort Alert Example:</a:t>
            </a:r>
            <a:endParaRPr lang="en-US" sz="850" dirty="0"/>
          </a:p>
        </p:txBody>
      </p:sp>
      <p:sp>
        <p:nvSpPr>
          <p:cNvPr id="25" name="Text 23"/>
          <p:cNvSpPr/>
          <p:nvPr/>
        </p:nvSpPr>
        <p:spPr>
          <a:xfrm>
            <a:off x="457200" y="4480560"/>
            <a:ext cx="8321040" cy="329184"/>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 SQL Injection Attempt [**] [Classification: Web Application Attack] [Priority: 1]</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03/12-08:14:10 203.0.113.45:54321 -&gt; 10.0.1.50:80 TCP TTL:64 — Rule: sql-injection-basic</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Network Ports — Endpoint &amp; Web Services</a:t>
            </a:r>
            <a:endParaRPr lang="en-US" sz="2800" dirty="0"/>
          </a:p>
        </p:txBody>
      </p:sp>
      <p:sp>
        <p:nvSpPr>
          <p:cNvPr id="5" name="Shape 3"/>
          <p:cNvSpPr/>
          <p:nvPr/>
        </p:nvSpPr>
        <p:spPr>
          <a:xfrm>
            <a:off x="320040" y="1261872"/>
            <a:ext cx="8503920" cy="420624"/>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420624"/>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16736"/>
            <a:ext cx="8275320" cy="2926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 port is a numbered doorway — every network connection uses one to identify which service is being accessed. Unexpected ports in logs are a key investigative red flag.</a:t>
            </a:r>
            <a:endParaRPr lang="en-US" sz="950" dirty="0"/>
          </a:p>
        </p:txBody>
      </p:sp>
      <p:sp>
        <p:nvSpPr>
          <p:cNvPr id="8" name="Shape 6"/>
          <p:cNvSpPr/>
          <p:nvPr/>
        </p:nvSpPr>
        <p:spPr>
          <a:xfrm>
            <a:off x="320040" y="1773936"/>
            <a:ext cx="8503920" cy="3035808"/>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773936"/>
            <a:ext cx="8503920" cy="274320"/>
          </a:xfrm>
          <a:prstGeom prst="rect">
            <a:avLst/>
          </a:prstGeom>
          <a:solidFill>
            <a:srgbClr val="FFFFFF"/>
          </a:solidFill>
          <a:ln w="12700">
            <a:solidFill>
              <a:srgbClr val="FFFFFF"/>
            </a:solidFill>
            <a:prstDash val="solid"/>
          </a:ln>
        </p:spPr>
        <p:txBody>
          <a:bodyPr/>
          <a:lstStyle/>
          <a:p>
            <a:endParaRPr lang="en-SG"/>
          </a:p>
        </p:txBody>
      </p:sp>
      <p:sp>
        <p:nvSpPr>
          <p:cNvPr id="10" name="Text 8"/>
          <p:cNvSpPr/>
          <p:nvPr/>
        </p:nvSpPr>
        <p:spPr>
          <a:xfrm>
            <a:off x="45720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Port</a:t>
            </a:r>
            <a:endParaRPr lang="en-US" sz="950" dirty="0"/>
          </a:p>
        </p:txBody>
      </p:sp>
      <p:sp>
        <p:nvSpPr>
          <p:cNvPr id="11" name="Text 9"/>
          <p:cNvSpPr/>
          <p:nvPr/>
        </p:nvSpPr>
        <p:spPr>
          <a:xfrm>
            <a:off x="109728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Protocol</a:t>
            </a:r>
            <a:endParaRPr lang="en-US" sz="950" dirty="0"/>
          </a:p>
        </p:txBody>
      </p:sp>
      <p:sp>
        <p:nvSpPr>
          <p:cNvPr id="12" name="Text 10"/>
          <p:cNvSpPr/>
          <p:nvPr/>
        </p:nvSpPr>
        <p:spPr>
          <a:xfrm>
            <a:off x="228600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Service</a:t>
            </a:r>
            <a:endParaRPr lang="en-US" sz="950" dirty="0"/>
          </a:p>
        </p:txBody>
      </p:sp>
      <p:sp>
        <p:nvSpPr>
          <p:cNvPr id="13" name="Text 11"/>
          <p:cNvSpPr/>
          <p:nvPr/>
        </p:nvSpPr>
        <p:spPr>
          <a:xfrm>
            <a:off x="416052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Forensic Relevance</a:t>
            </a:r>
            <a:endParaRPr lang="en-US" sz="950" dirty="0"/>
          </a:p>
        </p:txBody>
      </p:sp>
      <p:sp>
        <p:nvSpPr>
          <p:cNvPr id="14" name="Shape 12"/>
          <p:cNvSpPr/>
          <p:nvPr/>
        </p:nvSpPr>
        <p:spPr>
          <a:xfrm>
            <a:off x="320040" y="2048256"/>
            <a:ext cx="8503920" cy="283464"/>
          </a:xfrm>
          <a:prstGeom prst="rect">
            <a:avLst/>
          </a:prstGeom>
          <a:solidFill>
            <a:srgbClr val="EEF6FB"/>
          </a:solidFill>
          <a:ln w="12700">
            <a:solidFill>
              <a:srgbClr val="EEF6FB"/>
            </a:solidFill>
            <a:prstDash val="solid"/>
          </a:ln>
        </p:spPr>
        <p:txBody>
          <a:bodyPr/>
          <a:lstStyle/>
          <a:p>
            <a:endParaRPr lang="en-SG"/>
          </a:p>
        </p:txBody>
      </p:sp>
      <p:sp>
        <p:nvSpPr>
          <p:cNvPr id="15" name="Text 13"/>
          <p:cNvSpPr/>
          <p:nvPr/>
        </p:nvSpPr>
        <p:spPr>
          <a:xfrm>
            <a:off x="457200" y="2084832"/>
            <a:ext cx="603504" cy="201168"/>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22</a:t>
            </a:r>
            <a:endParaRPr lang="en-US" sz="900" dirty="0"/>
          </a:p>
        </p:txBody>
      </p:sp>
      <p:sp>
        <p:nvSpPr>
          <p:cNvPr id="16" name="Text 14"/>
          <p:cNvSpPr/>
          <p:nvPr/>
        </p:nvSpPr>
        <p:spPr>
          <a:xfrm>
            <a:off x="1097280" y="2084832"/>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17" name="Text 15"/>
          <p:cNvSpPr/>
          <p:nvPr/>
        </p:nvSpPr>
        <p:spPr>
          <a:xfrm>
            <a:off x="2286000" y="2084832"/>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SSH</a:t>
            </a:r>
            <a:endParaRPr lang="en-US" sz="900" dirty="0"/>
          </a:p>
        </p:txBody>
      </p:sp>
      <p:sp>
        <p:nvSpPr>
          <p:cNvPr id="18" name="Text 16"/>
          <p:cNvSpPr/>
          <p:nvPr/>
        </p:nvSpPr>
        <p:spPr>
          <a:xfrm>
            <a:off x="4160520" y="2084832"/>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Secure remote access. Multiple failed logins = brute-force attempt in progress.</a:t>
            </a:r>
            <a:endParaRPr lang="en-US" sz="850" dirty="0"/>
          </a:p>
        </p:txBody>
      </p:sp>
      <p:sp>
        <p:nvSpPr>
          <p:cNvPr id="19" name="Shape 17"/>
          <p:cNvSpPr/>
          <p:nvPr/>
        </p:nvSpPr>
        <p:spPr>
          <a:xfrm>
            <a:off x="320040" y="2350008"/>
            <a:ext cx="8503920" cy="283464"/>
          </a:xfrm>
          <a:prstGeom prst="rect">
            <a:avLst/>
          </a:prstGeom>
          <a:solidFill>
            <a:srgbClr val="FFFFFF"/>
          </a:solidFill>
          <a:ln w="12700">
            <a:solidFill>
              <a:srgbClr val="FFFFFF"/>
            </a:solidFill>
            <a:prstDash val="solid"/>
          </a:ln>
        </p:spPr>
        <p:txBody>
          <a:bodyPr/>
          <a:lstStyle/>
          <a:p>
            <a:endParaRPr lang="en-SG"/>
          </a:p>
        </p:txBody>
      </p:sp>
      <p:sp>
        <p:nvSpPr>
          <p:cNvPr id="20" name="Text 18"/>
          <p:cNvSpPr/>
          <p:nvPr/>
        </p:nvSpPr>
        <p:spPr>
          <a:xfrm>
            <a:off x="457200" y="2386584"/>
            <a:ext cx="603504" cy="201168"/>
          </a:xfrm>
          <a:prstGeom prst="rect">
            <a:avLst/>
          </a:prstGeom>
          <a:noFill/>
          <a:ln/>
        </p:spPr>
        <p:txBody>
          <a:bodyPr wrap="square" lIns="0" tIns="0" rIns="0" bIns="0" rtlCol="0" anchor="ctr"/>
          <a:lstStyle/>
          <a:p>
            <a:pPr marL="0" indent="0">
              <a:buNone/>
            </a:pPr>
            <a:r>
              <a:rPr lang="en-US" sz="900" b="1" dirty="0">
                <a:solidFill>
                  <a:srgbClr val="E74C3C"/>
                </a:solidFill>
                <a:latin typeface="Consolas" pitchFamily="34" charset="0"/>
                <a:ea typeface="Consolas" pitchFamily="34" charset="-122"/>
                <a:cs typeface="Consolas" pitchFamily="34" charset="-120"/>
              </a:rPr>
              <a:t>23</a:t>
            </a:r>
            <a:endParaRPr lang="en-US" sz="900" dirty="0"/>
          </a:p>
        </p:txBody>
      </p:sp>
      <p:sp>
        <p:nvSpPr>
          <p:cNvPr id="21" name="Text 19"/>
          <p:cNvSpPr/>
          <p:nvPr/>
        </p:nvSpPr>
        <p:spPr>
          <a:xfrm>
            <a:off x="1097280" y="2386584"/>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22" name="Text 20"/>
          <p:cNvSpPr/>
          <p:nvPr/>
        </p:nvSpPr>
        <p:spPr>
          <a:xfrm>
            <a:off x="2286000" y="2386584"/>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Telnet</a:t>
            </a:r>
            <a:endParaRPr lang="en-US" sz="900" dirty="0"/>
          </a:p>
        </p:txBody>
      </p:sp>
      <p:sp>
        <p:nvSpPr>
          <p:cNvPr id="23" name="Text 21"/>
          <p:cNvSpPr/>
          <p:nvPr/>
        </p:nvSpPr>
        <p:spPr>
          <a:xfrm>
            <a:off x="4160520" y="2386584"/>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Insecure remote access. ANY Telnet traffic in a modern network is immediately suspicious.</a:t>
            </a:r>
            <a:endParaRPr lang="en-US" sz="850" dirty="0"/>
          </a:p>
        </p:txBody>
      </p:sp>
      <p:sp>
        <p:nvSpPr>
          <p:cNvPr id="24" name="Shape 22"/>
          <p:cNvSpPr/>
          <p:nvPr/>
        </p:nvSpPr>
        <p:spPr>
          <a:xfrm>
            <a:off x="320040" y="2651760"/>
            <a:ext cx="8503920" cy="283464"/>
          </a:xfrm>
          <a:prstGeom prst="rect">
            <a:avLst/>
          </a:prstGeom>
          <a:solidFill>
            <a:srgbClr val="EEF6FB"/>
          </a:solidFill>
          <a:ln w="12700">
            <a:solidFill>
              <a:srgbClr val="EEF6FB"/>
            </a:solidFill>
            <a:prstDash val="solid"/>
          </a:ln>
        </p:spPr>
        <p:txBody>
          <a:bodyPr/>
          <a:lstStyle/>
          <a:p>
            <a:endParaRPr lang="en-SG"/>
          </a:p>
        </p:txBody>
      </p:sp>
      <p:sp>
        <p:nvSpPr>
          <p:cNvPr id="25" name="Text 23"/>
          <p:cNvSpPr/>
          <p:nvPr/>
        </p:nvSpPr>
        <p:spPr>
          <a:xfrm>
            <a:off x="457200" y="2688336"/>
            <a:ext cx="603504" cy="201168"/>
          </a:xfrm>
          <a:prstGeom prst="rect">
            <a:avLst/>
          </a:prstGeom>
          <a:noFill/>
          <a:ln/>
        </p:spPr>
        <p:txBody>
          <a:bodyPr wrap="square" lIns="0" tIns="0" rIns="0" bIns="0"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80</a:t>
            </a:r>
            <a:endParaRPr lang="en-US" sz="900" dirty="0"/>
          </a:p>
        </p:txBody>
      </p:sp>
      <p:sp>
        <p:nvSpPr>
          <p:cNvPr id="26" name="Text 24"/>
          <p:cNvSpPr/>
          <p:nvPr/>
        </p:nvSpPr>
        <p:spPr>
          <a:xfrm>
            <a:off x="1097280" y="2688336"/>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27" name="Text 25"/>
          <p:cNvSpPr/>
          <p:nvPr/>
        </p:nvSpPr>
        <p:spPr>
          <a:xfrm>
            <a:off x="2286000" y="2688336"/>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HTTP</a:t>
            </a:r>
            <a:endParaRPr lang="en-US" sz="900" dirty="0"/>
          </a:p>
        </p:txBody>
      </p:sp>
      <p:sp>
        <p:nvSpPr>
          <p:cNvPr id="28" name="Text 26"/>
          <p:cNvSpPr/>
          <p:nvPr/>
        </p:nvSpPr>
        <p:spPr>
          <a:xfrm>
            <a:off x="4160520" y="2688336"/>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Unencrypted web. Full request and response are visible in logs — extremely useful to investigators.</a:t>
            </a:r>
            <a:endParaRPr lang="en-US" sz="850" dirty="0"/>
          </a:p>
        </p:txBody>
      </p:sp>
      <p:sp>
        <p:nvSpPr>
          <p:cNvPr id="29" name="Shape 27"/>
          <p:cNvSpPr/>
          <p:nvPr/>
        </p:nvSpPr>
        <p:spPr>
          <a:xfrm>
            <a:off x="320040" y="2953512"/>
            <a:ext cx="8503920" cy="283464"/>
          </a:xfrm>
          <a:prstGeom prst="rect">
            <a:avLst/>
          </a:prstGeom>
          <a:solidFill>
            <a:srgbClr val="FFFFFF"/>
          </a:solidFill>
          <a:ln w="12700">
            <a:solidFill>
              <a:srgbClr val="FFFFFF"/>
            </a:solidFill>
            <a:prstDash val="solid"/>
          </a:ln>
        </p:spPr>
        <p:txBody>
          <a:bodyPr/>
          <a:lstStyle/>
          <a:p>
            <a:endParaRPr lang="en-SG"/>
          </a:p>
        </p:txBody>
      </p:sp>
      <p:sp>
        <p:nvSpPr>
          <p:cNvPr id="30" name="Text 28"/>
          <p:cNvSpPr/>
          <p:nvPr/>
        </p:nvSpPr>
        <p:spPr>
          <a:xfrm>
            <a:off x="457200" y="2990088"/>
            <a:ext cx="603504" cy="201168"/>
          </a:xfrm>
          <a:prstGeom prst="rect">
            <a:avLst/>
          </a:prstGeom>
          <a:noFill/>
          <a:ln/>
        </p:spPr>
        <p:txBody>
          <a:bodyPr wrap="square" lIns="0" tIns="0" rIns="0" bIns="0"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443</a:t>
            </a:r>
            <a:endParaRPr lang="en-US" sz="900" dirty="0"/>
          </a:p>
        </p:txBody>
      </p:sp>
      <p:sp>
        <p:nvSpPr>
          <p:cNvPr id="31" name="Text 29"/>
          <p:cNvSpPr/>
          <p:nvPr/>
        </p:nvSpPr>
        <p:spPr>
          <a:xfrm>
            <a:off x="1097280" y="2990088"/>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32" name="Text 30"/>
          <p:cNvSpPr/>
          <p:nvPr/>
        </p:nvSpPr>
        <p:spPr>
          <a:xfrm>
            <a:off x="2286000" y="2990088"/>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HTTPS</a:t>
            </a:r>
            <a:endParaRPr lang="en-US" sz="900" dirty="0"/>
          </a:p>
        </p:txBody>
      </p:sp>
      <p:sp>
        <p:nvSpPr>
          <p:cNvPr id="33" name="Text 31"/>
          <p:cNvSpPr/>
          <p:nvPr/>
        </p:nvSpPr>
        <p:spPr>
          <a:xfrm>
            <a:off x="4160520" y="2990088"/>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Encrypted web traffic. Destination IP and SNI hostname (website name) are still visible even encrypted.</a:t>
            </a:r>
            <a:endParaRPr lang="en-US" sz="850" dirty="0"/>
          </a:p>
        </p:txBody>
      </p:sp>
      <p:sp>
        <p:nvSpPr>
          <p:cNvPr id="34" name="Shape 32"/>
          <p:cNvSpPr/>
          <p:nvPr/>
        </p:nvSpPr>
        <p:spPr>
          <a:xfrm>
            <a:off x="320040" y="3255264"/>
            <a:ext cx="8503920" cy="283464"/>
          </a:xfrm>
          <a:prstGeom prst="rect">
            <a:avLst/>
          </a:prstGeom>
          <a:solidFill>
            <a:srgbClr val="EEF6FB"/>
          </a:solidFill>
          <a:ln w="12700">
            <a:solidFill>
              <a:srgbClr val="EEF6FB"/>
            </a:solidFill>
            <a:prstDash val="solid"/>
          </a:ln>
        </p:spPr>
        <p:txBody>
          <a:bodyPr/>
          <a:lstStyle/>
          <a:p>
            <a:endParaRPr lang="en-SG"/>
          </a:p>
        </p:txBody>
      </p:sp>
      <p:sp>
        <p:nvSpPr>
          <p:cNvPr id="35" name="Text 33"/>
          <p:cNvSpPr/>
          <p:nvPr/>
        </p:nvSpPr>
        <p:spPr>
          <a:xfrm>
            <a:off x="457200" y="3291840"/>
            <a:ext cx="603504" cy="201168"/>
          </a:xfrm>
          <a:prstGeom prst="rect">
            <a:avLst/>
          </a:prstGeom>
          <a:noFill/>
          <a:ln/>
        </p:spPr>
        <p:txBody>
          <a:bodyPr wrap="square" lIns="0" tIns="0" rIns="0" bIns="0" rtlCol="0" anchor="ctr"/>
          <a:lstStyle/>
          <a:p>
            <a:pPr marL="0" indent="0">
              <a:buNone/>
            </a:pPr>
            <a:r>
              <a:rPr lang="en-US" sz="900" b="1" dirty="0">
                <a:solidFill>
                  <a:srgbClr val="E74C3C"/>
                </a:solidFill>
                <a:latin typeface="Consolas" pitchFamily="34" charset="0"/>
                <a:ea typeface="Consolas" pitchFamily="34" charset="-122"/>
                <a:cs typeface="Consolas" pitchFamily="34" charset="-120"/>
              </a:rPr>
              <a:t>445</a:t>
            </a:r>
            <a:endParaRPr lang="en-US" sz="900" dirty="0"/>
          </a:p>
        </p:txBody>
      </p:sp>
      <p:sp>
        <p:nvSpPr>
          <p:cNvPr id="36" name="Text 34"/>
          <p:cNvSpPr/>
          <p:nvPr/>
        </p:nvSpPr>
        <p:spPr>
          <a:xfrm>
            <a:off x="1097280" y="3291840"/>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37" name="Text 35"/>
          <p:cNvSpPr/>
          <p:nvPr/>
        </p:nvSpPr>
        <p:spPr>
          <a:xfrm>
            <a:off x="2286000" y="3291840"/>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SMB</a:t>
            </a:r>
            <a:endParaRPr lang="en-US" sz="900" dirty="0"/>
          </a:p>
        </p:txBody>
      </p:sp>
      <p:sp>
        <p:nvSpPr>
          <p:cNvPr id="38" name="Text 36"/>
          <p:cNvSpPr/>
          <p:nvPr/>
        </p:nvSpPr>
        <p:spPr>
          <a:xfrm>
            <a:off x="4160520" y="3291840"/>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Windows file sharing. WannaCry ransomware spread through SMB. Treat as high alert in any investigation.</a:t>
            </a:r>
            <a:endParaRPr lang="en-US" sz="850" dirty="0"/>
          </a:p>
        </p:txBody>
      </p:sp>
      <p:sp>
        <p:nvSpPr>
          <p:cNvPr id="39" name="Shape 37"/>
          <p:cNvSpPr/>
          <p:nvPr/>
        </p:nvSpPr>
        <p:spPr>
          <a:xfrm>
            <a:off x="320040" y="3557016"/>
            <a:ext cx="8503920" cy="283464"/>
          </a:xfrm>
          <a:prstGeom prst="rect">
            <a:avLst/>
          </a:prstGeom>
          <a:solidFill>
            <a:srgbClr val="FFFFFF"/>
          </a:solidFill>
          <a:ln w="12700">
            <a:solidFill>
              <a:srgbClr val="FFFFFF"/>
            </a:solidFill>
            <a:prstDash val="solid"/>
          </a:ln>
        </p:spPr>
        <p:txBody>
          <a:bodyPr/>
          <a:lstStyle/>
          <a:p>
            <a:endParaRPr lang="en-SG"/>
          </a:p>
        </p:txBody>
      </p:sp>
      <p:sp>
        <p:nvSpPr>
          <p:cNvPr id="40" name="Text 38"/>
          <p:cNvSpPr/>
          <p:nvPr/>
        </p:nvSpPr>
        <p:spPr>
          <a:xfrm>
            <a:off x="457200" y="3593592"/>
            <a:ext cx="603504" cy="201168"/>
          </a:xfrm>
          <a:prstGeom prst="rect">
            <a:avLst/>
          </a:prstGeom>
          <a:noFill/>
          <a:ln/>
        </p:spPr>
        <p:txBody>
          <a:bodyPr wrap="square" lIns="0" tIns="0" rIns="0" bIns="0" rtlCol="0" anchor="ctr"/>
          <a:lstStyle/>
          <a:p>
            <a:pPr marL="0" indent="0">
              <a:buNone/>
            </a:pPr>
            <a:r>
              <a:rPr lang="en-US" sz="900" b="1" dirty="0">
                <a:solidFill>
                  <a:srgbClr val="A855F7"/>
                </a:solidFill>
                <a:latin typeface="Consolas" pitchFamily="34" charset="0"/>
                <a:ea typeface="Consolas" pitchFamily="34" charset="-122"/>
                <a:cs typeface="Consolas" pitchFamily="34" charset="-120"/>
              </a:rPr>
              <a:t>3389</a:t>
            </a:r>
            <a:endParaRPr lang="en-US" sz="900" dirty="0"/>
          </a:p>
        </p:txBody>
      </p:sp>
      <p:sp>
        <p:nvSpPr>
          <p:cNvPr id="41" name="Text 39"/>
          <p:cNvSpPr/>
          <p:nvPr/>
        </p:nvSpPr>
        <p:spPr>
          <a:xfrm>
            <a:off x="1097280" y="3593592"/>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42" name="Text 40"/>
          <p:cNvSpPr/>
          <p:nvPr/>
        </p:nvSpPr>
        <p:spPr>
          <a:xfrm>
            <a:off x="2286000" y="3593592"/>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RDP</a:t>
            </a:r>
            <a:endParaRPr lang="en-US" sz="900" dirty="0"/>
          </a:p>
        </p:txBody>
      </p:sp>
      <p:sp>
        <p:nvSpPr>
          <p:cNvPr id="43" name="Text 41"/>
          <p:cNvSpPr/>
          <p:nvPr/>
        </p:nvSpPr>
        <p:spPr>
          <a:xfrm>
            <a:off x="4160520" y="3593592"/>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Windows Remote Desktop. Constantly brute-forced by attackers looking for remote access to machines.</a:t>
            </a:r>
            <a:endParaRPr lang="en-US" sz="850" dirty="0"/>
          </a:p>
        </p:txBody>
      </p:sp>
      <p:sp>
        <p:nvSpPr>
          <p:cNvPr id="44" name="Shape 42"/>
          <p:cNvSpPr/>
          <p:nvPr/>
        </p:nvSpPr>
        <p:spPr>
          <a:xfrm>
            <a:off x="320040" y="3858768"/>
            <a:ext cx="8503920" cy="283464"/>
          </a:xfrm>
          <a:prstGeom prst="rect">
            <a:avLst/>
          </a:prstGeom>
          <a:solidFill>
            <a:srgbClr val="EEF6FB"/>
          </a:solidFill>
          <a:ln w="12700">
            <a:solidFill>
              <a:srgbClr val="EEF6FB"/>
            </a:solidFill>
            <a:prstDash val="solid"/>
          </a:ln>
        </p:spPr>
        <p:txBody>
          <a:bodyPr/>
          <a:lstStyle/>
          <a:p>
            <a:endParaRPr lang="en-SG"/>
          </a:p>
        </p:txBody>
      </p:sp>
      <p:sp>
        <p:nvSpPr>
          <p:cNvPr id="45" name="Text 43"/>
          <p:cNvSpPr/>
          <p:nvPr/>
        </p:nvSpPr>
        <p:spPr>
          <a:xfrm>
            <a:off x="457200" y="3895344"/>
            <a:ext cx="603504" cy="201168"/>
          </a:xfrm>
          <a:prstGeom prst="rect">
            <a:avLst/>
          </a:prstGeom>
          <a:noFill/>
          <a:ln/>
        </p:spPr>
        <p:txBody>
          <a:bodyPr wrap="square" lIns="0" tIns="0" rIns="0" bIns="0" rtlCol="0" anchor="ctr"/>
          <a:lstStyle/>
          <a:p>
            <a:pPr marL="0" indent="0">
              <a:buNone/>
            </a:pPr>
            <a:r>
              <a:rPr lang="en-US" sz="900" b="1" dirty="0">
                <a:solidFill>
                  <a:srgbClr val="E74C3C"/>
                </a:solidFill>
                <a:latin typeface="Consolas" pitchFamily="34" charset="0"/>
                <a:ea typeface="Consolas" pitchFamily="34" charset="-122"/>
                <a:cs typeface="Consolas" pitchFamily="34" charset="-120"/>
              </a:rPr>
              <a:t>4444</a:t>
            </a:r>
            <a:endParaRPr lang="en-US" sz="900" dirty="0"/>
          </a:p>
        </p:txBody>
      </p:sp>
      <p:sp>
        <p:nvSpPr>
          <p:cNvPr id="46" name="Text 44"/>
          <p:cNvSpPr/>
          <p:nvPr/>
        </p:nvSpPr>
        <p:spPr>
          <a:xfrm>
            <a:off x="1097280" y="3895344"/>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47" name="Text 45"/>
          <p:cNvSpPr/>
          <p:nvPr/>
        </p:nvSpPr>
        <p:spPr>
          <a:xfrm>
            <a:off x="2286000" y="3895344"/>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Metasploit</a:t>
            </a:r>
            <a:endParaRPr lang="en-US" sz="900" dirty="0"/>
          </a:p>
        </p:txBody>
      </p:sp>
      <p:sp>
        <p:nvSpPr>
          <p:cNvPr id="48" name="Text 46"/>
          <p:cNvSpPr/>
          <p:nvPr/>
        </p:nvSpPr>
        <p:spPr>
          <a:xfrm>
            <a:off x="4160520" y="3895344"/>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Default reverse shell port for the Metasploit hacking framework. Any traffic here = major alert.</a:t>
            </a:r>
            <a:endParaRPr lang="en-US" sz="850" dirty="0"/>
          </a:p>
        </p:txBody>
      </p:sp>
      <p:sp>
        <p:nvSpPr>
          <p:cNvPr id="49" name="Shape 47"/>
          <p:cNvSpPr/>
          <p:nvPr/>
        </p:nvSpPr>
        <p:spPr>
          <a:xfrm>
            <a:off x="320040" y="4160520"/>
            <a:ext cx="8503920" cy="283464"/>
          </a:xfrm>
          <a:prstGeom prst="rect">
            <a:avLst/>
          </a:prstGeom>
          <a:solidFill>
            <a:srgbClr val="FFFFFF"/>
          </a:solidFill>
          <a:ln w="12700">
            <a:solidFill>
              <a:srgbClr val="FFFFFF"/>
            </a:solidFill>
            <a:prstDash val="solid"/>
          </a:ln>
        </p:spPr>
        <p:txBody>
          <a:bodyPr/>
          <a:lstStyle/>
          <a:p>
            <a:endParaRPr lang="en-SG"/>
          </a:p>
        </p:txBody>
      </p:sp>
      <p:sp>
        <p:nvSpPr>
          <p:cNvPr id="50" name="Text 48"/>
          <p:cNvSpPr/>
          <p:nvPr/>
        </p:nvSpPr>
        <p:spPr>
          <a:xfrm>
            <a:off x="457200" y="4197096"/>
            <a:ext cx="603504" cy="201168"/>
          </a:xfrm>
          <a:prstGeom prst="rect">
            <a:avLst/>
          </a:prstGeom>
          <a:noFill/>
          <a:ln/>
        </p:spPr>
        <p:txBody>
          <a:bodyPr wrap="square" lIns="0" tIns="0" rIns="0" bIns="0" rtlCol="0" anchor="ctr"/>
          <a:lstStyle/>
          <a:p>
            <a:pPr marL="0" indent="0">
              <a:buNone/>
            </a:pPr>
            <a:r>
              <a:rPr lang="en-US" sz="900" b="1" dirty="0">
                <a:solidFill>
                  <a:srgbClr val="8899AA"/>
                </a:solidFill>
                <a:latin typeface="Consolas" pitchFamily="34" charset="0"/>
                <a:ea typeface="Consolas" pitchFamily="34" charset="-122"/>
                <a:cs typeface="Consolas" pitchFamily="34" charset="-120"/>
              </a:rPr>
              <a:t>8080</a:t>
            </a:r>
            <a:endParaRPr lang="en-US" sz="900" dirty="0"/>
          </a:p>
        </p:txBody>
      </p:sp>
      <p:sp>
        <p:nvSpPr>
          <p:cNvPr id="51" name="Text 49"/>
          <p:cNvSpPr/>
          <p:nvPr/>
        </p:nvSpPr>
        <p:spPr>
          <a:xfrm>
            <a:off x="1097280" y="4197096"/>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52" name="Text 50"/>
          <p:cNvSpPr/>
          <p:nvPr/>
        </p:nvSpPr>
        <p:spPr>
          <a:xfrm>
            <a:off x="2286000" y="4197096"/>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HTTP alt</a:t>
            </a:r>
            <a:endParaRPr lang="en-US" sz="900" dirty="0"/>
          </a:p>
        </p:txBody>
      </p:sp>
      <p:sp>
        <p:nvSpPr>
          <p:cNvPr id="53" name="Text 51"/>
          <p:cNvSpPr/>
          <p:nvPr/>
        </p:nvSpPr>
        <p:spPr>
          <a:xfrm>
            <a:off x="4160520" y="4197096"/>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Alternative web port. Commonly used by C2 tools, proxies, and development web servers.</a:t>
            </a:r>
            <a:endParaRPr lang="en-US" sz="850" dirty="0"/>
          </a:p>
        </p:txBody>
      </p:sp>
      <p:sp>
        <p:nvSpPr>
          <p:cNvPr id="54" name="Shape 52"/>
          <p:cNvSpPr/>
          <p:nvPr/>
        </p:nvSpPr>
        <p:spPr>
          <a:xfrm>
            <a:off x="320040" y="4462272"/>
            <a:ext cx="8503920" cy="283464"/>
          </a:xfrm>
          <a:prstGeom prst="rect">
            <a:avLst/>
          </a:prstGeom>
          <a:solidFill>
            <a:srgbClr val="EEF6FB"/>
          </a:solidFill>
          <a:ln w="12700">
            <a:solidFill>
              <a:srgbClr val="EEF6FB"/>
            </a:solidFill>
            <a:prstDash val="solid"/>
          </a:ln>
        </p:spPr>
        <p:txBody>
          <a:bodyPr/>
          <a:lstStyle/>
          <a:p>
            <a:endParaRPr lang="en-SG"/>
          </a:p>
        </p:txBody>
      </p:sp>
      <p:sp>
        <p:nvSpPr>
          <p:cNvPr id="55" name="Text 53"/>
          <p:cNvSpPr/>
          <p:nvPr/>
        </p:nvSpPr>
        <p:spPr>
          <a:xfrm>
            <a:off x="457200" y="4498848"/>
            <a:ext cx="603504" cy="201168"/>
          </a:xfrm>
          <a:prstGeom prst="rect">
            <a:avLst/>
          </a:prstGeom>
          <a:noFill/>
          <a:ln/>
        </p:spPr>
        <p:txBody>
          <a:bodyPr wrap="square" lIns="0" tIns="0" rIns="0" bIns="0" rtlCol="0" anchor="ctr"/>
          <a:lstStyle/>
          <a:p>
            <a:pPr marL="0" indent="0">
              <a:buNone/>
            </a:pPr>
            <a:r>
              <a:rPr lang="en-US" sz="900" b="1" dirty="0">
                <a:solidFill>
                  <a:srgbClr val="E74C3C"/>
                </a:solidFill>
                <a:latin typeface="Consolas" pitchFamily="34" charset="0"/>
                <a:ea typeface="Consolas" pitchFamily="34" charset="-122"/>
                <a:cs typeface="Consolas" pitchFamily="34" charset="-120"/>
              </a:rPr>
              <a:t>20/21</a:t>
            </a:r>
            <a:endParaRPr lang="en-US" sz="900" dirty="0"/>
          </a:p>
        </p:txBody>
      </p:sp>
      <p:sp>
        <p:nvSpPr>
          <p:cNvPr id="56" name="Text 54"/>
          <p:cNvSpPr/>
          <p:nvPr/>
        </p:nvSpPr>
        <p:spPr>
          <a:xfrm>
            <a:off x="1097280" y="4498848"/>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57" name="Text 55"/>
          <p:cNvSpPr/>
          <p:nvPr/>
        </p:nvSpPr>
        <p:spPr>
          <a:xfrm>
            <a:off x="2286000" y="4498848"/>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FTP</a:t>
            </a:r>
            <a:endParaRPr lang="en-US" sz="900" dirty="0"/>
          </a:p>
        </p:txBody>
      </p:sp>
      <p:sp>
        <p:nvSpPr>
          <p:cNvPr id="58" name="Text 56"/>
          <p:cNvSpPr/>
          <p:nvPr/>
        </p:nvSpPr>
        <p:spPr>
          <a:xfrm>
            <a:off x="4160520" y="4498848"/>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File transfers — often used for data exfiltration. FTP sends credentials in plaintext. Flag immediately.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Network Ports — Email &amp; Communication</a:t>
            </a:r>
            <a:endParaRPr lang="en-US" sz="2800" dirty="0"/>
          </a:p>
        </p:txBody>
      </p:sp>
      <p:sp>
        <p:nvSpPr>
          <p:cNvPr id="5" name="Shape 3"/>
          <p:cNvSpPr/>
          <p:nvPr/>
        </p:nvSpPr>
        <p:spPr>
          <a:xfrm>
            <a:off x="320040" y="1261872"/>
            <a:ext cx="8503920" cy="420624"/>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420624"/>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16736"/>
            <a:ext cx="8275320" cy="29260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Email, DNS, and communication protocols each have well-known ports. When these appear in unexpected places or with unusual traffic volumes, they signal attacks or misuse.</a:t>
            </a:r>
            <a:endParaRPr lang="en-US" sz="950" dirty="0"/>
          </a:p>
        </p:txBody>
      </p:sp>
      <p:sp>
        <p:nvSpPr>
          <p:cNvPr id="8" name="Shape 6"/>
          <p:cNvSpPr/>
          <p:nvPr/>
        </p:nvSpPr>
        <p:spPr>
          <a:xfrm>
            <a:off x="320040" y="1773936"/>
            <a:ext cx="8503920" cy="2450592"/>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773936"/>
            <a:ext cx="8503920" cy="274320"/>
          </a:xfrm>
          <a:prstGeom prst="rect">
            <a:avLst/>
          </a:prstGeom>
          <a:solidFill>
            <a:srgbClr val="FFFFFF"/>
          </a:solidFill>
          <a:ln w="12700">
            <a:solidFill>
              <a:srgbClr val="FFFFFF"/>
            </a:solidFill>
            <a:prstDash val="solid"/>
          </a:ln>
        </p:spPr>
        <p:txBody>
          <a:bodyPr/>
          <a:lstStyle/>
          <a:p>
            <a:endParaRPr lang="en-SG"/>
          </a:p>
        </p:txBody>
      </p:sp>
      <p:sp>
        <p:nvSpPr>
          <p:cNvPr id="10" name="Text 8"/>
          <p:cNvSpPr/>
          <p:nvPr/>
        </p:nvSpPr>
        <p:spPr>
          <a:xfrm>
            <a:off x="45720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Port</a:t>
            </a:r>
            <a:endParaRPr lang="en-US" sz="950" dirty="0"/>
          </a:p>
        </p:txBody>
      </p:sp>
      <p:sp>
        <p:nvSpPr>
          <p:cNvPr id="11" name="Text 9"/>
          <p:cNvSpPr/>
          <p:nvPr/>
        </p:nvSpPr>
        <p:spPr>
          <a:xfrm>
            <a:off x="109728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Protocol</a:t>
            </a:r>
            <a:endParaRPr lang="en-US" sz="950" dirty="0"/>
          </a:p>
        </p:txBody>
      </p:sp>
      <p:sp>
        <p:nvSpPr>
          <p:cNvPr id="12" name="Text 10"/>
          <p:cNvSpPr/>
          <p:nvPr/>
        </p:nvSpPr>
        <p:spPr>
          <a:xfrm>
            <a:off x="228600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Service</a:t>
            </a:r>
            <a:endParaRPr lang="en-US" sz="950" dirty="0"/>
          </a:p>
        </p:txBody>
      </p:sp>
      <p:sp>
        <p:nvSpPr>
          <p:cNvPr id="13" name="Text 11"/>
          <p:cNvSpPr/>
          <p:nvPr/>
        </p:nvSpPr>
        <p:spPr>
          <a:xfrm>
            <a:off x="4160520" y="1792224"/>
            <a:ext cx="1645920" cy="237744"/>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Forensic Relevance</a:t>
            </a:r>
            <a:endParaRPr lang="en-US" sz="950" dirty="0"/>
          </a:p>
        </p:txBody>
      </p:sp>
      <p:sp>
        <p:nvSpPr>
          <p:cNvPr id="14" name="Shape 12"/>
          <p:cNvSpPr/>
          <p:nvPr/>
        </p:nvSpPr>
        <p:spPr>
          <a:xfrm>
            <a:off x="320040" y="2048256"/>
            <a:ext cx="8503920" cy="283464"/>
          </a:xfrm>
          <a:prstGeom prst="rect">
            <a:avLst/>
          </a:prstGeom>
          <a:solidFill>
            <a:srgbClr val="EEF6FB"/>
          </a:solidFill>
          <a:ln w="12700">
            <a:solidFill>
              <a:srgbClr val="EEF6FB"/>
            </a:solidFill>
            <a:prstDash val="solid"/>
          </a:ln>
        </p:spPr>
        <p:txBody>
          <a:bodyPr/>
          <a:lstStyle/>
          <a:p>
            <a:endParaRPr lang="en-SG"/>
          </a:p>
        </p:txBody>
      </p:sp>
      <p:sp>
        <p:nvSpPr>
          <p:cNvPr id="15" name="Text 13"/>
          <p:cNvSpPr/>
          <p:nvPr/>
        </p:nvSpPr>
        <p:spPr>
          <a:xfrm>
            <a:off x="457200" y="2084832"/>
            <a:ext cx="603504" cy="201168"/>
          </a:xfrm>
          <a:prstGeom prst="rect">
            <a:avLst/>
          </a:prstGeom>
          <a:noFill/>
          <a:ln/>
        </p:spPr>
        <p:txBody>
          <a:bodyPr wrap="square" lIns="0" tIns="0" rIns="0" bIns="0" rtlCol="0" anchor="ctr"/>
          <a:lstStyle/>
          <a:p>
            <a:pPr marL="0" indent="0">
              <a:buNone/>
            </a:pPr>
            <a:r>
              <a:rPr lang="en-US" sz="900" b="1" dirty="0">
                <a:solidFill>
                  <a:srgbClr val="F4A261"/>
                </a:solidFill>
                <a:latin typeface="Consolas" pitchFamily="34" charset="0"/>
                <a:ea typeface="Consolas" pitchFamily="34" charset="-122"/>
                <a:cs typeface="Consolas" pitchFamily="34" charset="-120"/>
              </a:rPr>
              <a:t>25</a:t>
            </a:r>
            <a:endParaRPr lang="en-US" sz="900" dirty="0"/>
          </a:p>
        </p:txBody>
      </p:sp>
      <p:sp>
        <p:nvSpPr>
          <p:cNvPr id="16" name="Text 14"/>
          <p:cNvSpPr/>
          <p:nvPr/>
        </p:nvSpPr>
        <p:spPr>
          <a:xfrm>
            <a:off x="1097280" y="2084832"/>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17" name="Text 15"/>
          <p:cNvSpPr/>
          <p:nvPr/>
        </p:nvSpPr>
        <p:spPr>
          <a:xfrm>
            <a:off x="2286000" y="2084832"/>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SMTP (out)</a:t>
            </a:r>
            <a:endParaRPr lang="en-US" sz="900" dirty="0"/>
          </a:p>
        </p:txBody>
      </p:sp>
      <p:sp>
        <p:nvSpPr>
          <p:cNvPr id="18" name="Text 16"/>
          <p:cNvSpPr/>
          <p:nvPr/>
        </p:nvSpPr>
        <p:spPr>
          <a:xfrm>
            <a:off x="4160520" y="2084832"/>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Email between servers. Outbound SMTP from a workstation (not a mail server) may indicate a spam bot or data exfiltration.</a:t>
            </a:r>
            <a:endParaRPr lang="en-US" sz="850" dirty="0"/>
          </a:p>
        </p:txBody>
      </p:sp>
      <p:sp>
        <p:nvSpPr>
          <p:cNvPr id="19" name="Shape 17"/>
          <p:cNvSpPr/>
          <p:nvPr/>
        </p:nvSpPr>
        <p:spPr>
          <a:xfrm>
            <a:off x="320040" y="2350008"/>
            <a:ext cx="8503920" cy="283464"/>
          </a:xfrm>
          <a:prstGeom prst="rect">
            <a:avLst/>
          </a:prstGeom>
          <a:solidFill>
            <a:srgbClr val="FFFFFF"/>
          </a:solidFill>
          <a:ln w="12700">
            <a:solidFill>
              <a:srgbClr val="FFFFFF"/>
            </a:solidFill>
            <a:prstDash val="solid"/>
          </a:ln>
        </p:spPr>
        <p:txBody>
          <a:bodyPr/>
          <a:lstStyle/>
          <a:p>
            <a:endParaRPr lang="en-SG"/>
          </a:p>
        </p:txBody>
      </p:sp>
      <p:sp>
        <p:nvSpPr>
          <p:cNvPr id="20" name="Text 18"/>
          <p:cNvSpPr/>
          <p:nvPr/>
        </p:nvSpPr>
        <p:spPr>
          <a:xfrm>
            <a:off x="457200" y="2386584"/>
            <a:ext cx="603504" cy="201168"/>
          </a:xfrm>
          <a:prstGeom prst="rect">
            <a:avLst/>
          </a:prstGeom>
          <a:noFill/>
          <a:ln/>
        </p:spPr>
        <p:txBody>
          <a:bodyPr wrap="square" lIns="0" tIns="0" rIns="0" bIns="0" rtlCol="0" anchor="ctr"/>
          <a:lstStyle/>
          <a:p>
            <a:pPr marL="0" indent="0">
              <a:buNone/>
            </a:pPr>
            <a:r>
              <a:rPr lang="en-US" sz="900" b="1" dirty="0">
                <a:solidFill>
                  <a:srgbClr val="F4A261"/>
                </a:solidFill>
                <a:latin typeface="Consolas" pitchFamily="34" charset="0"/>
                <a:ea typeface="Consolas" pitchFamily="34" charset="-122"/>
                <a:cs typeface="Consolas" pitchFamily="34" charset="-120"/>
              </a:rPr>
              <a:t>587</a:t>
            </a:r>
            <a:endParaRPr lang="en-US" sz="900" dirty="0"/>
          </a:p>
        </p:txBody>
      </p:sp>
      <p:sp>
        <p:nvSpPr>
          <p:cNvPr id="21" name="Text 19"/>
          <p:cNvSpPr/>
          <p:nvPr/>
        </p:nvSpPr>
        <p:spPr>
          <a:xfrm>
            <a:off x="1097280" y="2386584"/>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22" name="Text 20"/>
          <p:cNvSpPr/>
          <p:nvPr/>
        </p:nvSpPr>
        <p:spPr>
          <a:xfrm>
            <a:off x="2286000" y="2386584"/>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SMTP (submit)</a:t>
            </a:r>
            <a:endParaRPr lang="en-US" sz="900" dirty="0"/>
          </a:p>
        </p:txBody>
      </p:sp>
      <p:sp>
        <p:nvSpPr>
          <p:cNvPr id="23" name="Text 21"/>
          <p:cNvSpPr/>
          <p:nvPr/>
        </p:nvSpPr>
        <p:spPr>
          <a:xfrm>
            <a:off x="4160520" y="2386584"/>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Authenticated email submission from clients to their mail server. Check authentication logs alongside this for phishing investigations.</a:t>
            </a:r>
            <a:endParaRPr lang="en-US" sz="850" dirty="0"/>
          </a:p>
        </p:txBody>
      </p:sp>
      <p:sp>
        <p:nvSpPr>
          <p:cNvPr id="24" name="Shape 22"/>
          <p:cNvSpPr/>
          <p:nvPr/>
        </p:nvSpPr>
        <p:spPr>
          <a:xfrm>
            <a:off x="320040" y="2651760"/>
            <a:ext cx="8503920" cy="283464"/>
          </a:xfrm>
          <a:prstGeom prst="rect">
            <a:avLst/>
          </a:prstGeom>
          <a:solidFill>
            <a:srgbClr val="EEF6FB"/>
          </a:solidFill>
          <a:ln w="12700">
            <a:solidFill>
              <a:srgbClr val="EEF6FB"/>
            </a:solidFill>
            <a:prstDash val="solid"/>
          </a:ln>
        </p:spPr>
        <p:txBody>
          <a:bodyPr/>
          <a:lstStyle/>
          <a:p>
            <a:endParaRPr lang="en-SG"/>
          </a:p>
        </p:txBody>
      </p:sp>
      <p:sp>
        <p:nvSpPr>
          <p:cNvPr id="25" name="Text 23"/>
          <p:cNvSpPr/>
          <p:nvPr/>
        </p:nvSpPr>
        <p:spPr>
          <a:xfrm>
            <a:off x="457200" y="2688336"/>
            <a:ext cx="603504" cy="201168"/>
          </a:xfrm>
          <a:prstGeom prst="rect">
            <a:avLst/>
          </a:prstGeom>
          <a:noFill/>
          <a:ln/>
        </p:spPr>
        <p:txBody>
          <a:bodyPr wrap="square" lIns="0" tIns="0" rIns="0" bIns="0"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110</a:t>
            </a:r>
            <a:endParaRPr lang="en-US" sz="900" dirty="0"/>
          </a:p>
        </p:txBody>
      </p:sp>
      <p:sp>
        <p:nvSpPr>
          <p:cNvPr id="26" name="Text 24"/>
          <p:cNvSpPr/>
          <p:nvPr/>
        </p:nvSpPr>
        <p:spPr>
          <a:xfrm>
            <a:off x="1097280" y="2688336"/>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27" name="Text 25"/>
          <p:cNvSpPr/>
          <p:nvPr/>
        </p:nvSpPr>
        <p:spPr>
          <a:xfrm>
            <a:off x="2286000" y="2688336"/>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POP3</a:t>
            </a:r>
            <a:endParaRPr lang="en-US" sz="900" dirty="0"/>
          </a:p>
        </p:txBody>
      </p:sp>
      <p:sp>
        <p:nvSpPr>
          <p:cNvPr id="28" name="Text 26"/>
          <p:cNvSpPr/>
          <p:nvPr/>
        </p:nvSpPr>
        <p:spPr>
          <a:xfrm>
            <a:off x="4160520" y="2688336"/>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Retrieves email and deletes it from the server. Evidence may exist only on the client device after download — collect promptly.</a:t>
            </a:r>
            <a:endParaRPr lang="en-US" sz="850" dirty="0"/>
          </a:p>
        </p:txBody>
      </p:sp>
      <p:sp>
        <p:nvSpPr>
          <p:cNvPr id="29" name="Shape 27"/>
          <p:cNvSpPr/>
          <p:nvPr/>
        </p:nvSpPr>
        <p:spPr>
          <a:xfrm>
            <a:off x="320040" y="2953512"/>
            <a:ext cx="8503920" cy="283464"/>
          </a:xfrm>
          <a:prstGeom prst="rect">
            <a:avLst/>
          </a:prstGeom>
          <a:solidFill>
            <a:srgbClr val="FFFFFF"/>
          </a:solidFill>
          <a:ln w="12700">
            <a:solidFill>
              <a:srgbClr val="FFFFFF"/>
            </a:solidFill>
            <a:prstDash val="solid"/>
          </a:ln>
        </p:spPr>
        <p:txBody>
          <a:bodyPr/>
          <a:lstStyle/>
          <a:p>
            <a:endParaRPr lang="en-SG"/>
          </a:p>
        </p:txBody>
      </p:sp>
      <p:sp>
        <p:nvSpPr>
          <p:cNvPr id="30" name="Text 28"/>
          <p:cNvSpPr/>
          <p:nvPr/>
        </p:nvSpPr>
        <p:spPr>
          <a:xfrm>
            <a:off x="457200" y="2990088"/>
            <a:ext cx="603504" cy="201168"/>
          </a:xfrm>
          <a:prstGeom prst="rect">
            <a:avLst/>
          </a:prstGeom>
          <a:noFill/>
          <a:ln/>
        </p:spPr>
        <p:txBody>
          <a:bodyPr wrap="square" lIns="0" tIns="0" rIns="0" bIns="0"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143</a:t>
            </a:r>
            <a:endParaRPr lang="en-US" sz="900" dirty="0"/>
          </a:p>
        </p:txBody>
      </p:sp>
      <p:sp>
        <p:nvSpPr>
          <p:cNvPr id="31" name="Text 29"/>
          <p:cNvSpPr/>
          <p:nvPr/>
        </p:nvSpPr>
        <p:spPr>
          <a:xfrm>
            <a:off x="1097280" y="2990088"/>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32" name="Text 30"/>
          <p:cNvSpPr/>
          <p:nvPr/>
        </p:nvSpPr>
        <p:spPr>
          <a:xfrm>
            <a:off x="2286000" y="2990088"/>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IMAP</a:t>
            </a:r>
            <a:endParaRPr lang="en-US" sz="900" dirty="0"/>
          </a:p>
        </p:txBody>
      </p:sp>
      <p:sp>
        <p:nvSpPr>
          <p:cNvPr id="33" name="Text 31"/>
          <p:cNvSpPr/>
          <p:nvPr/>
        </p:nvSpPr>
        <p:spPr>
          <a:xfrm>
            <a:off x="4160520" y="2990088"/>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Retrieves email while keeping it server-side. Mail is easier to collect — remains on server for investigators.</a:t>
            </a:r>
            <a:endParaRPr lang="en-US" sz="850" dirty="0"/>
          </a:p>
        </p:txBody>
      </p:sp>
      <p:sp>
        <p:nvSpPr>
          <p:cNvPr id="34" name="Shape 32"/>
          <p:cNvSpPr/>
          <p:nvPr/>
        </p:nvSpPr>
        <p:spPr>
          <a:xfrm>
            <a:off x="320040" y="3255264"/>
            <a:ext cx="8503920" cy="283464"/>
          </a:xfrm>
          <a:prstGeom prst="rect">
            <a:avLst/>
          </a:prstGeom>
          <a:solidFill>
            <a:srgbClr val="EEF6FB"/>
          </a:solidFill>
          <a:ln w="12700">
            <a:solidFill>
              <a:srgbClr val="EEF6FB"/>
            </a:solidFill>
            <a:prstDash val="solid"/>
          </a:ln>
        </p:spPr>
        <p:txBody>
          <a:bodyPr/>
          <a:lstStyle/>
          <a:p>
            <a:endParaRPr lang="en-SG"/>
          </a:p>
        </p:txBody>
      </p:sp>
      <p:sp>
        <p:nvSpPr>
          <p:cNvPr id="35" name="Text 33"/>
          <p:cNvSpPr/>
          <p:nvPr/>
        </p:nvSpPr>
        <p:spPr>
          <a:xfrm>
            <a:off x="457200" y="3291840"/>
            <a:ext cx="603504" cy="201168"/>
          </a:xfrm>
          <a:prstGeom prst="rect">
            <a:avLst/>
          </a:prstGeom>
          <a:noFill/>
          <a:ln/>
        </p:spPr>
        <p:txBody>
          <a:bodyPr wrap="square" lIns="0" tIns="0" rIns="0" bIns="0"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993</a:t>
            </a:r>
            <a:endParaRPr lang="en-US" sz="900" dirty="0"/>
          </a:p>
        </p:txBody>
      </p:sp>
      <p:sp>
        <p:nvSpPr>
          <p:cNvPr id="36" name="Text 34"/>
          <p:cNvSpPr/>
          <p:nvPr/>
        </p:nvSpPr>
        <p:spPr>
          <a:xfrm>
            <a:off x="1097280" y="3291840"/>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37" name="Text 35"/>
          <p:cNvSpPr/>
          <p:nvPr/>
        </p:nvSpPr>
        <p:spPr>
          <a:xfrm>
            <a:off x="2286000" y="3291840"/>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IMAPS</a:t>
            </a:r>
            <a:endParaRPr lang="en-US" sz="900" dirty="0"/>
          </a:p>
        </p:txBody>
      </p:sp>
      <p:sp>
        <p:nvSpPr>
          <p:cNvPr id="38" name="Text 36"/>
          <p:cNvSpPr/>
          <p:nvPr/>
        </p:nvSpPr>
        <p:spPr>
          <a:xfrm>
            <a:off x="4160520" y="3291840"/>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Encrypted IMAP. Preferred by modern email clients — same evidence value as IMAP but secure in transit.</a:t>
            </a:r>
            <a:endParaRPr lang="en-US" sz="850" dirty="0"/>
          </a:p>
        </p:txBody>
      </p:sp>
      <p:sp>
        <p:nvSpPr>
          <p:cNvPr id="39" name="Shape 37"/>
          <p:cNvSpPr/>
          <p:nvPr/>
        </p:nvSpPr>
        <p:spPr>
          <a:xfrm>
            <a:off x="320040" y="3557016"/>
            <a:ext cx="8503920" cy="283464"/>
          </a:xfrm>
          <a:prstGeom prst="rect">
            <a:avLst/>
          </a:prstGeom>
          <a:solidFill>
            <a:srgbClr val="FFFFFF"/>
          </a:solidFill>
          <a:ln w="12700">
            <a:solidFill>
              <a:srgbClr val="FFFFFF"/>
            </a:solidFill>
            <a:prstDash val="solid"/>
          </a:ln>
        </p:spPr>
        <p:txBody>
          <a:bodyPr/>
          <a:lstStyle/>
          <a:p>
            <a:endParaRPr lang="en-SG"/>
          </a:p>
        </p:txBody>
      </p:sp>
      <p:sp>
        <p:nvSpPr>
          <p:cNvPr id="40" name="Text 38"/>
          <p:cNvSpPr/>
          <p:nvPr/>
        </p:nvSpPr>
        <p:spPr>
          <a:xfrm>
            <a:off x="457200" y="3593592"/>
            <a:ext cx="603504" cy="201168"/>
          </a:xfrm>
          <a:prstGeom prst="rect">
            <a:avLst/>
          </a:prstGeom>
          <a:noFill/>
          <a:ln/>
        </p:spPr>
        <p:txBody>
          <a:bodyPr wrap="square" lIns="0" tIns="0" rIns="0" bIns="0" rtlCol="0" anchor="ctr"/>
          <a:lstStyle/>
          <a:p>
            <a:pPr marL="0" indent="0">
              <a:buNone/>
            </a:pPr>
            <a:r>
              <a:rPr lang="en-US" sz="900" b="1" dirty="0">
                <a:solidFill>
                  <a:srgbClr val="F1C40F"/>
                </a:solidFill>
                <a:latin typeface="Consolas" pitchFamily="34" charset="0"/>
                <a:ea typeface="Consolas" pitchFamily="34" charset="-122"/>
                <a:cs typeface="Consolas" pitchFamily="34" charset="-120"/>
              </a:rPr>
              <a:t>53</a:t>
            </a:r>
            <a:endParaRPr lang="en-US" sz="900" dirty="0"/>
          </a:p>
        </p:txBody>
      </p:sp>
      <p:sp>
        <p:nvSpPr>
          <p:cNvPr id="41" name="Text 39"/>
          <p:cNvSpPr/>
          <p:nvPr/>
        </p:nvSpPr>
        <p:spPr>
          <a:xfrm>
            <a:off x="1097280" y="3593592"/>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UDP</a:t>
            </a:r>
            <a:endParaRPr lang="en-US" sz="900" dirty="0"/>
          </a:p>
        </p:txBody>
      </p:sp>
      <p:sp>
        <p:nvSpPr>
          <p:cNvPr id="42" name="Text 40"/>
          <p:cNvSpPr/>
          <p:nvPr/>
        </p:nvSpPr>
        <p:spPr>
          <a:xfrm>
            <a:off x="2286000" y="3593592"/>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DNS</a:t>
            </a:r>
            <a:endParaRPr lang="en-US" sz="900" dirty="0"/>
          </a:p>
        </p:txBody>
      </p:sp>
      <p:sp>
        <p:nvSpPr>
          <p:cNvPr id="43" name="Text 41"/>
          <p:cNvSpPr/>
          <p:nvPr/>
        </p:nvSpPr>
        <p:spPr>
          <a:xfrm>
            <a:off x="4160520" y="3593592"/>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Domain name resolution. High volumes or unusual queries may indicate DNS tunnelling or C2 communication.</a:t>
            </a:r>
            <a:endParaRPr lang="en-US" sz="850" dirty="0"/>
          </a:p>
        </p:txBody>
      </p:sp>
      <p:sp>
        <p:nvSpPr>
          <p:cNvPr id="44" name="Shape 42"/>
          <p:cNvSpPr/>
          <p:nvPr/>
        </p:nvSpPr>
        <p:spPr>
          <a:xfrm>
            <a:off x="320040" y="3858768"/>
            <a:ext cx="8503920" cy="283464"/>
          </a:xfrm>
          <a:prstGeom prst="rect">
            <a:avLst/>
          </a:prstGeom>
          <a:solidFill>
            <a:srgbClr val="EEF6FB"/>
          </a:solidFill>
          <a:ln w="12700">
            <a:solidFill>
              <a:srgbClr val="EEF6FB"/>
            </a:solidFill>
            <a:prstDash val="solid"/>
          </a:ln>
        </p:spPr>
        <p:txBody>
          <a:bodyPr/>
          <a:lstStyle/>
          <a:p>
            <a:endParaRPr lang="en-SG"/>
          </a:p>
        </p:txBody>
      </p:sp>
      <p:sp>
        <p:nvSpPr>
          <p:cNvPr id="45" name="Text 43"/>
          <p:cNvSpPr/>
          <p:nvPr/>
        </p:nvSpPr>
        <p:spPr>
          <a:xfrm>
            <a:off x="457200" y="3895344"/>
            <a:ext cx="603504" cy="201168"/>
          </a:xfrm>
          <a:prstGeom prst="rect">
            <a:avLst/>
          </a:prstGeom>
          <a:noFill/>
          <a:ln/>
        </p:spPr>
        <p:txBody>
          <a:bodyPr wrap="square" lIns="0" tIns="0" rIns="0" bIns="0" rtlCol="0" anchor="ctr"/>
          <a:lstStyle/>
          <a:p>
            <a:pPr marL="0" indent="0">
              <a:buNone/>
            </a:pPr>
            <a:r>
              <a:rPr lang="en-US" sz="900" b="1" dirty="0">
                <a:solidFill>
                  <a:srgbClr val="F4A261"/>
                </a:solidFill>
                <a:latin typeface="Consolas" pitchFamily="34" charset="0"/>
                <a:ea typeface="Consolas" pitchFamily="34" charset="-122"/>
                <a:cs typeface="Consolas" pitchFamily="34" charset="-120"/>
              </a:rPr>
              <a:t>6667</a:t>
            </a:r>
            <a:endParaRPr lang="en-US" sz="900" dirty="0"/>
          </a:p>
        </p:txBody>
      </p:sp>
      <p:sp>
        <p:nvSpPr>
          <p:cNvPr id="46" name="Text 44"/>
          <p:cNvSpPr/>
          <p:nvPr/>
        </p:nvSpPr>
        <p:spPr>
          <a:xfrm>
            <a:off x="1097280" y="3895344"/>
            <a:ext cx="640080" cy="201168"/>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TCP</a:t>
            </a:r>
            <a:endParaRPr lang="en-US" sz="900" dirty="0"/>
          </a:p>
        </p:txBody>
      </p:sp>
      <p:sp>
        <p:nvSpPr>
          <p:cNvPr id="47" name="Text 45"/>
          <p:cNvSpPr/>
          <p:nvPr/>
        </p:nvSpPr>
        <p:spPr>
          <a:xfrm>
            <a:off x="2286000" y="3895344"/>
            <a:ext cx="1005840" cy="201168"/>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IRC</a:t>
            </a:r>
            <a:endParaRPr lang="en-US" sz="900" dirty="0"/>
          </a:p>
        </p:txBody>
      </p:sp>
      <p:sp>
        <p:nvSpPr>
          <p:cNvPr id="48" name="Text 46"/>
          <p:cNvSpPr/>
          <p:nvPr/>
        </p:nvSpPr>
        <p:spPr>
          <a:xfrm>
            <a:off x="4160520" y="3895344"/>
            <a:ext cx="4663440" cy="20116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Internet Relay Chat. Historically used by botnets for command-and-control — flag any IRC traffic on modern networks.</a:t>
            </a:r>
            <a:endParaRPr lang="en-US" sz="850" dirty="0"/>
          </a:p>
        </p:txBody>
      </p:sp>
      <p:sp>
        <p:nvSpPr>
          <p:cNvPr id="49" name="Shape 47"/>
          <p:cNvSpPr/>
          <p:nvPr/>
        </p:nvSpPr>
        <p:spPr>
          <a:xfrm>
            <a:off x="320040" y="4334256"/>
            <a:ext cx="8503920" cy="512064"/>
          </a:xfrm>
          <a:prstGeom prst="rect">
            <a:avLst/>
          </a:prstGeom>
          <a:solidFill>
            <a:srgbClr val="FFFFFF"/>
          </a:solidFill>
          <a:ln w="12700">
            <a:solidFill>
              <a:srgbClr val="F1C40F"/>
            </a:solidFill>
            <a:prstDash val="solid"/>
          </a:ln>
        </p:spPr>
        <p:txBody>
          <a:bodyPr/>
          <a:lstStyle/>
          <a:p>
            <a:endParaRPr lang="en-SG"/>
          </a:p>
        </p:txBody>
      </p:sp>
      <p:sp>
        <p:nvSpPr>
          <p:cNvPr id="50" name="Text 48"/>
          <p:cNvSpPr/>
          <p:nvPr/>
        </p:nvSpPr>
        <p:spPr>
          <a:xfrm>
            <a:off x="457200" y="4389120"/>
            <a:ext cx="8321040" cy="402336"/>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  SMTP OUT explained: Port 25 = server-to-server mail delivery. Port 587 = user's device submitting mail to their own mail server (requires authentication). If you see port 25 traffic from a regular workstation — not a mail server — this is suspicious.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Network Forensics — Investigative Approach</a:t>
            </a:r>
            <a:endParaRPr lang="en-US" sz="2800" dirty="0"/>
          </a:p>
        </p:txBody>
      </p:sp>
      <p:sp>
        <p:nvSpPr>
          <p:cNvPr id="5" name="Shape 3"/>
          <p:cNvSpPr/>
          <p:nvPr/>
        </p:nvSpPr>
        <p:spPr>
          <a:xfrm>
            <a:off x="320040" y="1298448"/>
            <a:ext cx="2743200" cy="1408176"/>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43200" cy="256032"/>
          </a:xfrm>
          <a:prstGeom prst="rect">
            <a:avLst/>
          </a:prstGeom>
          <a:solidFill>
            <a:srgbClr val="E74C3C"/>
          </a:solidFill>
          <a:ln w="12700">
            <a:solidFill>
              <a:srgbClr val="E74C3C"/>
            </a:solidFill>
            <a:prstDash val="solid"/>
          </a:ln>
        </p:spPr>
        <p:txBody>
          <a:bodyPr/>
          <a:lstStyle/>
          <a:p>
            <a:endParaRPr lang="en-SG"/>
          </a:p>
        </p:txBody>
      </p:sp>
      <p:sp>
        <p:nvSpPr>
          <p:cNvPr id="7" name="Text 5"/>
          <p:cNvSpPr/>
          <p:nvPr/>
        </p:nvSpPr>
        <p:spPr>
          <a:xfrm>
            <a:off x="411480" y="1298448"/>
            <a:ext cx="256032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01  Contain the Incident</a:t>
            </a:r>
            <a:endParaRPr lang="en-US" sz="1000" dirty="0"/>
          </a:p>
        </p:txBody>
      </p:sp>
      <p:sp>
        <p:nvSpPr>
          <p:cNvPr id="8" name="Text 6"/>
          <p:cNvSpPr/>
          <p:nvPr/>
        </p:nvSpPr>
        <p:spPr>
          <a:xfrm>
            <a:off x="411480" y="1609344"/>
            <a:ext cx="2560320" cy="102412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Isolate affected devices from the network. Close any entry points discovered. Prevent further evidence contamination.</a:t>
            </a:r>
            <a:endParaRPr lang="en-US" sz="900" dirty="0"/>
          </a:p>
        </p:txBody>
      </p:sp>
      <p:sp>
        <p:nvSpPr>
          <p:cNvPr id="9" name="Shape 7"/>
          <p:cNvSpPr/>
          <p:nvPr/>
        </p:nvSpPr>
        <p:spPr>
          <a:xfrm>
            <a:off x="3200400" y="1298448"/>
            <a:ext cx="2743200" cy="1408176"/>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0" y="1298448"/>
            <a:ext cx="2743200" cy="256032"/>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3291840" y="1298448"/>
            <a:ext cx="256032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02  Acquire Network Logs</a:t>
            </a:r>
            <a:endParaRPr lang="en-US" sz="1000" dirty="0"/>
          </a:p>
        </p:txBody>
      </p:sp>
      <p:sp>
        <p:nvSpPr>
          <p:cNvPr id="12" name="Text 10"/>
          <p:cNvSpPr/>
          <p:nvPr/>
        </p:nvSpPr>
        <p:spPr>
          <a:xfrm>
            <a:off x="3291840" y="1609344"/>
            <a:ext cx="2560320" cy="102412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Collect logs from firewalls, routers, IDS/IPS, DHCP, DNS, and authentication servers. Record timestamps and hash all files.</a:t>
            </a:r>
            <a:endParaRPr lang="en-US" sz="900" dirty="0"/>
          </a:p>
        </p:txBody>
      </p:sp>
      <p:sp>
        <p:nvSpPr>
          <p:cNvPr id="13" name="Shape 11"/>
          <p:cNvSpPr/>
          <p:nvPr/>
        </p:nvSpPr>
        <p:spPr>
          <a:xfrm>
            <a:off x="6080760" y="1298448"/>
            <a:ext cx="2743200" cy="1408176"/>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6080760" y="1298448"/>
            <a:ext cx="2743200" cy="256032"/>
          </a:xfrm>
          <a:prstGeom prst="rect">
            <a:avLst/>
          </a:prstGeom>
          <a:solidFill>
            <a:srgbClr val="F1C40F"/>
          </a:solidFill>
          <a:ln w="12700">
            <a:solidFill>
              <a:srgbClr val="F1C40F"/>
            </a:solidFill>
            <a:prstDash val="solid"/>
          </a:ln>
        </p:spPr>
        <p:txBody>
          <a:bodyPr/>
          <a:lstStyle/>
          <a:p>
            <a:endParaRPr lang="en-SG"/>
          </a:p>
        </p:txBody>
      </p:sp>
      <p:sp>
        <p:nvSpPr>
          <p:cNvPr id="15" name="Text 13"/>
          <p:cNvSpPr/>
          <p:nvPr/>
        </p:nvSpPr>
        <p:spPr>
          <a:xfrm>
            <a:off x="6172200" y="1298448"/>
            <a:ext cx="256032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03  Capture Live Traffic (PCAP)</a:t>
            </a:r>
            <a:endParaRPr lang="en-US" sz="1000" dirty="0"/>
          </a:p>
        </p:txBody>
      </p:sp>
      <p:sp>
        <p:nvSpPr>
          <p:cNvPr id="16" name="Text 14"/>
          <p:cNvSpPr/>
          <p:nvPr/>
        </p:nvSpPr>
        <p:spPr>
          <a:xfrm>
            <a:off x="6172200" y="1609344"/>
            <a:ext cx="2560320" cy="102412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Deploy packet capture at network tap points using tcpdump or Wireshark. Hash the .pcap file immediately to preserve integrity.</a:t>
            </a:r>
            <a:endParaRPr lang="en-US" sz="900" dirty="0"/>
          </a:p>
        </p:txBody>
      </p:sp>
      <p:sp>
        <p:nvSpPr>
          <p:cNvPr id="17" name="Shape 15"/>
          <p:cNvSpPr/>
          <p:nvPr/>
        </p:nvSpPr>
        <p:spPr>
          <a:xfrm>
            <a:off x="320040" y="2834640"/>
            <a:ext cx="2743200" cy="1408176"/>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20040" y="2834640"/>
            <a:ext cx="2743200" cy="256032"/>
          </a:xfrm>
          <a:prstGeom prst="rect">
            <a:avLst/>
          </a:prstGeom>
          <a:solidFill>
            <a:srgbClr val="00B4D8"/>
          </a:solidFill>
          <a:ln w="12700">
            <a:solidFill>
              <a:srgbClr val="00B4D8"/>
            </a:solidFill>
            <a:prstDash val="solid"/>
          </a:ln>
        </p:spPr>
        <p:txBody>
          <a:bodyPr/>
          <a:lstStyle/>
          <a:p>
            <a:endParaRPr lang="en-SG"/>
          </a:p>
        </p:txBody>
      </p:sp>
      <p:sp>
        <p:nvSpPr>
          <p:cNvPr id="19" name="Text 17"/>
          <p:cNvSpPr/>
          <p:nvPr/>
        </p:nvSpPr>
        <p:spPr>
          <a:xfrm>
            <a:off x="411480" y="2834640"/>
            <a:ext cx="256032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04  Image Compromised Systems</a:t>
            </a:r>
            <a:endParaRPr lang="en-US" sz="1000" dirty="0"/>
          </a:p>
        </p:txBody>
      </p:sp>
      <p:sp>
        <p:nvSpPr>
          <p:cNvPr id="20" name="Text 18"/>
          <p:cNvSpPr/>
          <p:nvPr/>
        </p:nvSpPr>
        <p:spPr>
          <a:xfrm>
            <a:off x="411480" y="3145536"/>
            <a:ext cx="2560320" cy="102412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Create forensic bit-stream images of all seized machines using write-blockers. Never work on original drives.</a:t>
            </a:r>
            <a:endParaRPr lang="en-US" sz="900" dirty="0"/>
          </a:p>
        </p:txBody>
      </p:sp>
      <p:sp>
        <p:nvSpPr>
          <p:cNvPr id="21" name="Shape 19"/>
          <p:cNvSpPr/>
          <p:nvPr/>
        </p:nvSpPr>
        <p:spPr>
          <a:xfrm>
            <a:off x="3200400" y="2834640"/>
            <a:ext cx="2743200" cy="1408176"/>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3200400" y="2834640"/>
            <a:ext cx="2743200" cy="256032"/>
          </a:xfrm>
          <a:prstGeom prst="rect">
            <a:avLst/>
          </a:prstGeom>
          <a:solidFill>
            <a:srgbClr val="2EC4B6"/>
          </a:solidFill>
          <a:ln w="12700">
            <a:solidFill>
              <a:srgbClr val="2EC4B6"/>
            </a:solidFill>
            <a:prstDash val="solid"/>
          </a:ln>
        </p:spPr>
        <p:txBody>
          <a:bodyPr/>
          <a:lstStyle/>
          <a:p>
            <a:endParaRPr lang="en-SG"/>
          </a:p>
        </p:txBody>
      </p:sp>
      <p:sp>
        <p:nvSpPr>
          <p:cNvPr id="23" name="Text 21"/>
          <p:cNvSpPr/>
          <p:nvPr/>
        </p:nvSpPr>
        <p:spPr>
          <a:xfrm>
            <a:off x="3291840" y="2834640"/>
            <a:ext cx="256032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05  Restore &amp; Analyse in Isolation</a:t>
            </a:r>
            <a:endParaRPr lang="en-US" sz="1000" dirty="0"/>
          </a:p>
        </p:txBody>
      </p:sp>
      <p:sp>
        <p:nvSpPr>
          <p:cNvPr id="24" name="Text 22"/>
          <p:cNvSpPr/>
          <p:nvPr/>
        </p:nvSpPr>
        <p:spPr>
          <a:xfrm>
            <a:off x="3291840" y="3145536"/>
            <a:ext cx="2560320" cy="102412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Restore images in an isolated lab. Prevents malware from spreading to other systems during examination.</a:t>
            </a:r>
            <a:endParaRPr lang="en-US" sz="900" dirty="0"/>
          </a:p>
        </p:txBody>
      </p:sp>
      <p:sp>
        <p:nvSpPr>
          <p:cNvPr id="25" name="Shape 23"/>
          <p:cNvSpPr/>
          <p:nvPr/>
        </p:nvSpPr>
        <p:spPr>
          <a:xfrm>
            <a:off x="6080760" y="2834640"/>
            <a:ext cx="2743200" cy="1408176"/>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6080760" y="2834640"/>
            <a:ext cx="2743200" cy="256032"/>
          </a:xfrm>
          <a:prstGeom prst="rect">
            <a:avLst/>
          </a:prstGeom>
          <a:solidFill>
            <a:srgbClr val="2ECC71"/>
          </a:solidFill>
          <a:ln w="12700">
            <a:solidFill>
              <a:srgbClr val="2ECC71"/>
            </a:solidFill>
            <a:prstDash val="solid"/>
          </a:ln>
        </p:spPr>
        <p:txBody>
          <a:bodyPr/>
          <a:lstStyle/>
          <a:p>
            <a:endParaRPr lang="en-SG"/>
          </a:p>
        </p:txBody>
      </p:sp>
      <p:sp>
        <p:nvSpPr>
          <p:cNvPr id="27" name="Text 25"/>
          <p:cNvSpPr/>
          <p:nvPr/>
        </p:nvSpPr>
        <p:spPr>
          <a:xfrm>
            <a:off x="6172200" y="2834640"/>
            <a:ext cx="256032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06  Correlate Logs &amp; Report</a:t>
            </a:r>
            <a:endParaRPr lang="en-US" sz="1000" dirty="0"/>
          </a:p>
        </p:txBody>
      </p:sp>
      <p:sp>
        <p:nvSpPr>
          <p:cNvPr id="28" name="Text 26"/>
          <p:cNvSpPr/>
          <p:nvPr/>
        </p:nvSpPr>
        <p:spPr>
          <a:xfrm>
            <a:off x="6172200" y="3145536"/>
            <a:ext cx="2560320" cy="102412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Cross-reference packet data, logs, and disk artefacts to reconstruct the attack timeline. Document all findings for court.</a:t>
            </a:r>
            <a:endParaRPr lang="en-US" sz="900" dirty="0"/>
          </a:p>
        </p:txBody>
      </p:sp>
      <p:sp>
        <p:nvSpPr>
          <p:cNvPr id="29" name="Text 27"/>
          <p:cNvSpPr/>
          <p:nvPr/>
        </p:nvSpPr>
        <p:spPr>
          <a:xfrm>
            <a:off x="320040" y="4773168"/>
            <a:ext cx="8503920" cy="128016"/>
          </a:xfrm>
          <a:prstGeom prst="rect">
            <a:avLst/>
          </a:prstGeom>
          <a:noFill/>
          <a:ln/>
        </p:spPr>
        <p:txBody>
          <a:bodyPr wrap="square" lIns="0" tIns="0" rIns="0" bIns="0" rtlCol="0" anchor="ctr"/>
          <a:lstStyle/>
          <a:p>
            <a:pPr marL="0" indent="0">
              <a:buNone/>
            </a:pPr>
            <a:r>
              <a:rPr lang="en-US" sz="850" i="1" dirty="0">
                <a:solidFill>
                  <a:srgbClr val="8899AA"/>
                </a:solidFill>
                <a:latin typeface="Calibri" pitchFamily="34" charset="0"/>
                <a:ea typeface="Calibri" pitchFamily="34" charset="-122"/>
                <a:cs typeface="Calibri" pitchFamily="34" charset="-120"/>
              </a:rPr>
              <a:t>⚑  Key principle: always work from forensic images restored in isolation — never from original systems.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44014"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185257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2 · LOG SOURCES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Best Practices in Network Forensics</a:t>
            </a:r>
            <a:endParaRPr lang="en-US" sz="2800" dirty="0"/>
          </a:p>
        </p:txBody>
      </p:sp>
      <p:sp>
        <p:nvSpPr>
          <p:cNvPr id="5" name="Shape 3"/>
          <p:cNvSpPr/>
          <p:nvPr/>
        </p:nvSpPr>
        <p:spPr>
          <a:xfrm>
            <a:off x="320040" y="1298448"/>
            <a:ext cx="2743200" cy="1316736"/>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43200" cy="25603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1148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Evidence Preservation</a:t>
            </a:r>
            <a:endParaRPr lang="en-US" sz="1050" dirty="0"/>
          </a:p>
        </p:txBody>
      </p:sp>
      <p:sp>
        <p:nvSpPr>
          <p:cNvPr id="8" name="Text 6"/>
          <p:cNvSpPr/>
          <p:nvPr/>
        </p:nvSpPr>
        <p:spPr>
          <a:xfrm>
            <a:off x="411480" y="1609344"/>
            <a:ext cx="2560320" cy="9509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Hash all collected files immediately using SHA-256 or MD5. Store originals in read-only media. Document every action — investigators who modify evidence may invalidate the case.</a:t>
            </a:r>
            <a:endParaRPr lang="en-US" sz="850" dirty="0"/>
          </a:p>
        </p:txBody>
      </p:sp>
      <p:sp>
        <p:nvSpPr>
          <p:cNvPr id="9" name="Shape 7"/>
          <p:cNvSpPr/>
          <p:nvPr/>
        </p:nvSpPr>
        <p:spPr>
          <a:xfrm>
            <a:off x="3200400" y="1298448"/>
            <a:ext cx="2743200" cy="1316736"/>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0" y="1298448"/>
            <a:ext cx="2743200" cy="256032"/>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329184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Time Synchronisation</a:t>
            </a:r>
            <a:endParaRPr lang="en-US" sz="1050" dirty="0"/>
          </a:p>
        </p:txBody>
      </p:sp>
      <p:sp>
        <p:nvSpPr>
          <p:cNvPr id="12" name="Text 10"/>
          <p:cNvSpPr/>
          <p:nvPr/>
        </p:nvSpPr>
        <p:spPr>
          <a:xfrm>
            <a:off x="3291840" y="1609344"/>
            <a:ext cx="2560320" cy="9509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Ensure all devices use NTP with the same reference clock. Timestamps across logs must align to reconstruct a reliable attack timeline. Record the timezone of every log.</a:t>
            </a:r>
            <a:endParaRPr lang="en-US" sz="850" dirty="0"/>
          </a:p>
        </p:txBody>
      </p:sp>
      <p:sp>
        <p:nvSpPr>
          <p:cNvPr id="13" name="Shape 11"/>
          <p:cNvSpPr/>
          <p:nvPr/>
        </p:nvSpPr>
        <p:spPr>
          <a:xfrm>
            <a:off x="6080760" y="1298448"/>
            <a:ext cx="2743200" cy="1316736"/>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6080760" y="1298448"/>
            <a:ext cx="2743200" cy="256032"/>
          </a:xfrm>
          <a:prstGeom prst="rect">
            <a:avLst/>
          </a:prstGeom>
          <a:solidFill>
            <a:srgbClr val="F1C40F"/>
          </a:solidFill>
          <a:ln w="12700">
            <a:solidFill>
              <a:srgbClr val="F1C40F"/>
            </a:solidFill>
            <a:prstDash val="solid"/>
          </a:ln>
        </p:spPr>
        <p:txBody>
          <a:bodyPr/>
          <a:lstStyle/>
          <a:p>
            <a:endParaRPr lang="en-SG"/>
          </a:p>
        </p:txBody>
      </p:sp>
      <p:sp>
        <p:nvSpPr>
          <p:cNvPr id="15" name="Text 13"/>
          <p:cNvSpPr/>
          <p:nvPr/>
        </p:nvSpPr>
        <p:spPr>
          <a:xfrm>
            <a:off x="617220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Logging Strategy</a:t>
            </a:r>
            <a:endParaRPr lang="en-US" sz="1050" dirty="0"/>
          </a:p>
        </p:txBody>
      </p:sp>
      <p:sp>
        <p:nvSpPr>
          <p:cNvPr id="16" name="Text 14"/>
          <p:cNvSpPr/>
          <p:nvPr/>
        </p:nvSpPr>
        <p:spPr>
          <a:xfrm>
            <a:off x="6172200" y="1609344"/>
            <a:ext cx="2560320" cy="9509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Enable logging on all critical network devices before an incident occurs. Send logs to a centralised SIEM — local logs may be wiped by attackers to cover their tracks.</a:t>
            </a:r>
            <a:endParaRPr lang="en-US" sz="850" dirty="0"/>
          </a:p>
        </p:txBody>
      </p:sp>
      <p:sp>
        <p:nvSpPr>
          <p:cNvPr id="17" name="Shape 15"/>
          <p:cNvSpPr/>
          <p:nvPr/>
        </p:nvSpPr>
        <p:spPr>
          <a:xfrm>
            <a:off x="320040" y="2724912"/>
            <a:ext cx="2743200" cy="1316736"/>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20040" y="2724912"/>
            <a:ext cx="2743200" cy="256032"/>
          </a:xfrm>
          <a:prstGeom prst="rect">
            <a:avLst/>
          </a:prstGeom>
          <a:solidFill>
            <a:srgbClr val="A855F7"/>
          </a:solidFill>
          <a:ln w="12700">
            <a:solidFill>
              <a:srgbClr val="A855F7"/>
            </a:solidFill>
            <a:prstDash val="solid"/>
          </a:ln>
        </p:spPr>
        <p:txBody>
          <a:bodyPr/>
          <a:lstStyle/>
          <a:p>
            <a:endParaRPr lang="en-SG"/>
          </a:p>
        </p:txBody>
      </p:sp>
      <p:sp>
        <p:nvSpPr>
          <p:cNvPr id="19" name="Text 17"/>
          <p:cNvSpPr/>
          <p:nvPr/>
        </p:nvSpPr>
        <p:spPr>
          <a:xfrm>
            <a:off x="411480" y="2724912"/>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Chain of Custody</a:t>
            </a:r>
            <a:endParaRPr lang="en-US" sz="1050" dirty="0"/>
          </a:p>
        </p:txBody>
      </p:sp>
      <p:sp>
        <p:nvSpPr>
          <p:cNvPr id="20" name="Text 18"/>
          <p:cNvSpPr/>
          <p:nvPr/>
        </p:nvSpPr>
        <p:spPr>
          <a:xfrm>
            <a:off x="411480" y="3035808"/>
            <a:ext cx="2560320" cy="9509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Document who collected each piece of evidence, when, and how it was stored. Any gap in the chain of custody can make evidence inadmissible in court.</a:t>
            </a:r>
            <a:endParaRPr lang="en-US" sz="850" dirty="0"/>
          </a:p>
        </p:txBody>
      </p:sp>
      <p:sp>
        <p:nvSpPr>
          <p:cNvPr id="21" name="Shape 19"/>
          <p:cNvSpPr/>
          <p:nvPr/>
        </p:nvSpPr>
        <p:spPr>
          <a:xfrm>
            <a:off x="3200400" y="2724912"/>
            <a:ext cx="2743200" cy="1316736"/>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3200400" y="2724912"/>
            <a:ext cx="2743200" cy="256032"/>
          </a:xfrm>
          <a:prstGeom prst="rect">
            <a:avLst/>
          </a:prstGeom>
          <a:solidFill>
            <a:srgbClr val="2ECC71"/>
          </a:solidFill>
          <a:ln w="12700">
            <a:solidFill>
              <a:srgbClr val="2ECC71"/>
            </a:solidFill>
            <a:prstDash val="solid"/>
          </a:ln>
        </p:spPr>
        <p:txBody>
          <a:bodyPr/>
          <a:lstStyle/>
          <a:p>
            <a:endParaRPr lang="en-SG"/>
          </a:p>
        </p:txBody>
      </p:sp>
      <p:sp>
        <p:nvSpPr>
          <p:cNvPr id="23" name="Text 21"/>
          <p:cNvSpPr/>
          <p:nvPr/>
        </p:nvSpPr>
        <p:spPr>
          <a:xfrm>
            <a:off x="3291840" y="2724912"/>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Documentation</a:t>
            </a:r>
            <a:endParaRPr lang="en-US" sz="1050" dirty="0"/>
          </a:p>
        </p:txBody>
      </p:sp>
      <p:sp>
        <p:nvSpPr>
          <p:cNvPr id="24" name="Text 22"/>
          <p:cNvSpPr/>
          <p:nvPr/>
        </p:nvSpPr>
        <p:spPr>
          <a:xfrm>
            <a:off x="3291840" y="3035808"/>
            <a:ext cx="2560320" cy="9509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Maintain a detailed investigation log: every command run, every file examined, every tool used. Another analyst should be able to reproduce your findings.</a:t>
            </a:r>
            <a:endParaRPr lang="en-US" sz="850" dirty="0"/>
          </a:p>
        </p:txBody>
      </p:sp>
      <p:sp>
        <p:nvSpPr>
          <p:cNvPr id="25" name="Shape 23"/>
          <p:cNvSpPr/>
          <p:nvPr/>
        </p:nvSpPr>
        <p:spPr>
          <a:xfrm>
            <a:off x="6080760" y="2724912"/>
            <a:ext cx="2743200" cy="1316736"/>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6080760" y="2724912"/>
            <a:ext cx="2743200" cy="256032"/>
          </a:xfrm>
          <a:prstGeom prst="rect">
            <a:avLst/>
          </a:prstGeom>
          <a:solidFill>
            <a:srgbClr val="E74C3C"/>
          </a:solidFill>
          <a:ln w="12700">
            <a:solidFill>
              <a:srgbClr val="E74C3C"/>
            </a:solidFill>
            <a:prstDash val="solid"/>
          </a:ln>
        </p:spPr>
        <p:txBody>
          <a:bodyPr/>
          <a:lstStyle/>
          <a:p>
            <a:endParaRPr lang="en-SG"/>
          </a:p>
        </p:txBody>
      </p:sp>
      <p:sp>
        <p:nvSpPr>
          <p:cNvPr id="27" name="Text 25"/>
          <p:cNvSpPr/>
          <p:nvPr/>
        </p:nvSpPr>
        <p:spPr>
          <a:xfrm>
            <a:off x="6172200" y="2724912"/>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Legal Authorisation</a:t>
            </a:r>
            <a:endParaRPr lang="en-US" sz="1050" dirty="0"/>
          </a:p>
        </p:txBody>
      </p:sp>
      <p:sp>
        <p:nvSpPr>
          <p:cNvPr id="28" name="Text 26"/>
          <p:cNvSpPr/>
          <p:nvPr/>
        </p:nvSpPr>
        <p:spPr>
          <a:xfrm>
            <a:off x="6172200" y="3035808"/>
            <a:ext cx="2560320" cy="95097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Obtain written authorisation (search warrant or legal order) before capturing traffic. Unauthorised packet capture may violate privacy laws in many jurisdictions.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2ECC71"/>
          </a:solidFill>
          <a:ln w="12700">
            <a:solidFill>
              <a:srgbClr val="2ECC71"/>
            </a:solidFill>
            <a:prstDash val="solid"/>
          </a:ln>
        </p:spPr>
        <p:txBody>
          <a:bodyPr/>
          <a:lstStyle/>
          <a:p>
            <a:endParaRPr lang="en-SG"/>
          </a:p>
        </p:txBody>
      </p:sp>
      <p:sp>
        <p:nvSpPr>
          <p:cNvPr id="6" name="Text 4"/>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2ECC71"/>
                </a:solidFill>
                <a:latin typeface="Calibri" pitchFamily="34" charset="0"/>
                <a:ea typeface="Calibri" pitchFamily="34" charset="-122"/>
                <a:cs typeface="Calibri" pitchFamily="34" charset="-120"/>
              </a:rPr>
              <a:t>SECTION 3</a:t>
            </a:r>
            <a:endParaRPr lang="en-US" sz="1300" dirty="0"/>
          </a:p>
        </p:txBody>
      </p:sp>
      <p:sp>
        <p:nvSpPr>
          <p:cNvPr id="7" name="Text 5"/>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4400" b="1" dirty="0">
                <a:solidFill>
                  <a:srgbClr val="1A1A2E"/>
                </a:solidFill>
                <a:latin typeface="Calibri" pitchFamily="34" charset="0"/>
                <a:ea typeface="Calibri" pitchFamily="34" charset="-122"/>
                <a:cs typeface="Calibri" pitchFamily="34" charset="-120"/>
              </a:rPr>
              <a:t>Open-Source Forensic Tools</a:t>
            </a:r>
            <a:endParaRPr lang="en-US" sz="4400" dirty="0"/>
          </a:p>
        </p:txBody>
      </p:sp>
      <p:sp>
        <p:nvSpPr>
          <p:cNvPr id="8" name="Text 6"/>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latin typeface="Calibri" pitchFamily="34" charset="0"/>
                <a:ea typeface="Calibri" pitchFamily="34" charset="-122"/>
                <a:cs typeface="Calibri" pitchFamily="34" charset="-120"/>
              </a:rPr>
              <a:t>Wireshark  ·  tcpdump  ·  Snort / Suricata  ·  NetworkMiner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3 · OPEN-SOURCE TOOLS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Packet Capture — Wireshark</a:t>
            </a:r>
            <a:endParaRPr lang="en-US" sz="2800" dirty="0"/>
          </a:p>
        </p:txBody>
      </p:sp>
      <p:sp>
        <p:nvSpPr>
          <p:cNvPr id="5" name="Shape 3"/>
          <p:cNvSpPr/>
          <p:nvPr/>
        </p:nvSpPr>
        <p:spPr>
          <a:xfrm>
            <a:off x="320040" y="1298448"/>
            <a:ext cx="8503920" cy="3529584"/>
          </a:xfrm>
          <a:prstGeom prst="rect">
            <a:avLst/>
          </a:prstGeom>
          <a:solidFill>
            <a:srgbClr val="EEF6FB"/>
          </a:solidFill>
          <a:ln w="12700">
            <a:solidFill>
              <a:srgbClr val="00B4D8"/>
            </a:solidFill>
            <a:prstDash val="solid"/>
          </a:ln>
        </p:spPr>
        <p:txBody>
          <a:bodyPr/>
          <a:lstStyle/>
          <a:p>
            <a:endParaRPr lang="en-SG"/>
          </a:p>
        </p:txBody>
      </p:sp>
      <p:sp>
        <p:nvSpPr>
          <p:cNvPr id="6" name="Shape 4"/>
          <p:cNvSpPr/>
          <p:nvPr/>
        </p:nvSpPr>
        <p:spPr>
          <a:xfrm>
            <a:off x="320040" y="1298448"/>
            <a:ext cx="4160520" cy="27432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38912" y="1298448"/>
            <a:ext cx="3931920" cy="274320"/>
          </a:xfrm>
          <a:prstGeom prst="rect">
            <a:avLst/>
          </a:prstGeom>
          <a:noFill/>
          <a:ln/>
        </p:spPr>
        <p:txBody>
          <a:bodyPr wrap="square" lIns="0" tIns="0" rIns="0" bIns="0" rtlCol="0" anchor="ctr"/>
          <a:lstStyle/>
          <a:p>
            <a:pPr marL="0" indent="0">
              <a:buNone/>
            </a:pPr>
            <a:r>
              <a:rPr lang="en-US" sz="1200" b="1" dirty="0">
                <a:solidFill>
                  <a:srgbClr val="060E17"/>
                </a:solidFill>
                <a:latin typeface="Calibri" pitchFamily="34" charset="0"/>
                <a:ea typeface="Calibri" pitchFamily="34" charset="-122"/>
                <a:cs typeface="Calibri" pitchFamily="34" charset="-120"/>
              </a:rPr>
              <a:t>🦈  Wireshark — GUI Packet Inspector</a:t>
            </a:r>
            <a:endParaRPr lang="en-US" sz="1200" dirty="0"/>
          </a:p>
        </p:txBody>
      </p:sp>
      <p:sp>
        <p:nvSpPr>
          <p:cNvPr id="8" name="Text 6"/>
          <p:cNvSpPr/>
          <p:nvPr/>
        </p:nvSpPr>
        <p:spPr>
          <a:xfrm>
            <a:off x="457200" y="1711755"/>
            <a:ext cx="3913632" cy="53035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What it is: A graphical tool that lets you open a packet capture file and inspect every single packet — headers, payload, protocol — in a readable format. The industry standard for network evidence analysis.</a:t>
            </a:r>
            <a:endParaRPr lang="en-US" sz="1100" dirty="0"/>
          </a:p>
        </p:txBody>
      </p:sp>
      <p:sp>
        <p:nvSpPr>
          <p:cNvPr id="9" name="Text 7"/>
          <p:cNvSpPr/>
          <p:nvPr/>
        </p:nvSpPr>
        <p:spPr>
          <a:xfrm>
            <a:off x="457200" y="2392069"/>
            <a:ext cx="1828800" cy="18288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Key forensic uses:</a:t>
            </a:r>
            <a:endParaRPr lang="en-US" sz="1200" dirty="0"/>
          </a:p>
        </p:txBody>
      </p:sp>
      <p:sp>
        <p:nvSpPr>
          <p:cNvPr id="10" name="Text 8"/>
          <p:cNvSpPr/>
          <p:nvPr/>
        </p:nvSpPr>
        <p:spPr>
          <a:xfrm>
            <a:off x="457200" y="2593237"/>
            <a:ext cx="3913632" cy="3657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  Decode 1,000+ protocols — HTTP, DNS, SMTP, FTP automatically</a:t>
            </a:r>
            <a:endParaRPr lang="en-US" sz="1100" dirty="0"/>
          </a:p>
        </p:txBody>
      </p:sp>
      <p:sp>
        <p:nvSpPr>
          <p:cNvPr id="11" name="Text 9"/>
          <p:cNvSpPr/>
          <p:nvPr/>
        </p:nvSpPr>
        <p:spPr>
          <a:xfrm>
            <a:off x="457200" y="2995573"/>
            <a:ext cx="3913632" cy="3657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  Filter by IP, port, or protocol: ip.addr==10.0.1.42</a:t>
            </a:r>
            <a:endParaRPr lang="en-US" sz="1100" dirty="0"/>
          </a:p>
        </p:txBody>
      </p:sp>
      <p:sp>
        <p:nvSpPr>
          <p:cNvPr id="12" name="Text 10"/>
          <p:cNvSpPr/>
          <p:nvPr/>
        </p:nvSpPr>
        <p:spPr>
          <a:xfrm>
            <a:off x="457200" y="3397909"/>
            <a:ext cx="3913632" cy="3657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  'Follow TCP Stream' — reconstruct a full email or web session</a:t>
            </a:r>
            <a:endParaRPr lang="en-US" sz="1100" dirty="0"/>
          </a:p>
        </p:txBody>
      </p:sp>
      <p:sp>
        <p:nvSpPr>
          <p:cNvPr id="13" name="Text 11"/>
          <p:cNvSpPr/>
          <p:nvPr/>
        </p:nvSpPr>
        <p:spPr>
          <a:xfrm>
            <a:off x="4641488" y="2593235"/>
            <a:ext cx="3913632" cy="3657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  Export files transferred over HTTP, FTP, or SMB from captures</a:t>
            </a:r>
            <a:endParaRPr lang="en-US" sz="1100" dirty="0"/>
          </a:p>
        </p:txBody>
      </p:sp>
      <p:sp>
        <p:nvSpPr>
          <p:cNvPr id="14" name="Text 12"/>
          <p:cNvSpPr/>
          <p:nvPr/>
        </p:nvSpPr>
        <p:spPr>
          <a:xfrm>
            <a:off x="4641488" y="2995571"/>
            <a:ext cx="3913632" cy="3657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  Compare pre/post incident captures to spot changes</a:t>
            </a:r>
            <a:endParaRPr lang="en-US" sz="1100" dirty="0"/>
          </a:p>
        </p:txBody>
      </p:sp>
      <p:sp>
        <p:nvSpPr>
          <p:cNvPr id="15" name="Shape 13"/>
          <p:cNvSpPr/>
          <p:nvPr/>
        </p:nvSpPr>
        <p:spPr>
          <a:xfrm>
            <a:off x="509101" y="3720278"/>
            <a:ext cx="3977640" cy="384048"/>
          </a:xfrm>
          <a:prstGeom prst="rect">
            <a:avLst/>
          </a:prstGeom>
          <a:solidFill>
            <a:srgbClr val="FFFFFF"/>
          </a:solidFill>
          <a:ln w="12700">
            <a:solidFill>
              <a:srgbClr val="00B4D8"/>
            </a:solidFill>
            <a:prstDash val="solid"/>
          </a:ln>
        </p:spPr>
        <p:txBody>
          <a:bodyPr/>
          <a:lstStyle/>
          <a:p>
            <a:endParaRPr lang="en-SG"/>
          </a:p>
        </p:txBody>
      </p:sp>
      <p:sp>
        <p:nvSpPr>
          <p:cNvPr id="16" name="Text 14"/>
          <p:cNvSpPr/>
          <p:nvPr/>
        </p:nvSpPr>
        <p:spPr>
          <a:xfrm>
            <a:off x="600541" y="3786115"/>
            <a:ext cx="3840480" cy="256032"/>
          </a:xfrm>
          <a:prstGeom prst="rect">
            <a:avLst/>
          </a:prstGeom>
          <a:noFill/>
          <a:ln/>
        </p:spPr>
        <p:txBody>
          <a:bodyPr wrap="square" lIns="0" tIns="0" rIns="0" bIns="0" rtlCol="0" anchor="ctr"/>
          <a:lstStyle/>
          <a:p>
            <a:pPr marL="0" indent="0">
              <a:buNone/>
            </a:pPr>
            <a:r>
              <a:rPr lang="en-US" sz="1100" dirty="0">
                <a:solidFill>
                  <a:srgbClr val="2ECC71"/>
                </a:solidFill>
                <a:latin typeface="Consolas" pitchFamily="34" charset="0"/>
                <a:ea typeface="Consolas" pitchFamily="34" charset="-122"/>
                <a:cs typeface="Consolas" pitchFamily="34" charset="-120"/>
              </a:rPr>
              <a:t>Example: ip.addr == 203.0.113.45 and tcp.port == 443</a:t>
            </a:r>
            <a:endParaRPr lang="en-US" sz="1100" dirty="0"/>
          </a:p>
        </p:txBody>
      </p:sp>
      <p:sp>
        <p:nvSpPr>
          <p:cNvPr id="17" name="Text 15"/>
          <p:cNvSpPr/>
          <p:nvPr/>
        </p:nvSpPr>
        <p:spPr>
          <a:xfrm>
            <a:off x="443484" y="4582973"/>
            <a:ext cx="3913632" cy="18288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wireshark.org  |  Free · Windows · macOS · Linux</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7358683-046D-D555-8507-CD37E36790D2}"/>
            </a:ext>
          </a:extLst>
        </p:cNvPr>
        <p:cNvGrpSpPr/>
        <p:nvPr/>
      </p:nvGrpSpPr>
      <p:grpSpPr>
        <a:xfrm>
          <a:off x="0" y="0"/>
          <a:ext cx="0" cy="0"/>
          <a:chOff x="0" y="0"/>
          <a:chExt cx="0" cy="0"/>
        </a:xfrm>
      </p:grpSpPr>
      <p:sp>
        <p:nvSpPr>
          <p:cNvPr id="18" name="Shape 16">
            <a:extLst>
              <a:ext uri="{FF2B5EF4-FFF2-40B4-BE49-F238E27FC236}">
                <a16:creationId xmlns:a16="http://schemas.microsoft.com/office/drawing/2014/main" id="{AE50E4CF-3A12-42FD-2FCC-15DC7A9A07D0}"/>
              </a:ext>
            </a:extLst>
          </p:cNvPr>
          <p:cNvSpPr/>
          <p:nvPr/>
        </p:nvSpPr>
        <p:spPr>
          <a:xfrm>
            <a:off x="315593" y="1080174"/>
            <a:ext cx="8554087" cy="3802722"/>
          </a:xfrm>
          <a:prstGeom prst="rect">
            <a:avLst/>
          </a:prstGeom>
          <a:solidFill>
            <a:srgbClr val="EEF6FB"/>
          </a:solidFill>
          <a:ln w="12700">
            <a:solidFill>
              <a:srgbClr val="F4A261"/>
            </a:solidFill>
            <a:prstDash val="solid"/>
          </a:ln>
        </p:spPr>
        <p:txBody>
          <a:bodyPr/>
          <a:lstStyle/>
          <a:p>
            <a:r>
              <a:rPr lang="en-US" b="1" i="1">
                <a:solidFill>
                  <a:srgbClr val="27AE60"/>
                </a:solidFill>
                <a:latin typeface="Calibri" pitchFamily="34" charset="0"/>
                <a:ea typeface="Calibri" pitchFamily="34" charset="-122"/>
                <a:cs typeface="Calibri" pitchFamily="34" charset="-120"/>
              </a:rPr>
              <a:t>⚠  its important to hash the capture file for evidence</a:t>
            </a:r>
            <a:endParaRPr lang="en-SG"/>
          </a:p>
        </p:txBody>
      </p:sp>
      <p:sp>
        <p:nvSpPr>
          <p:cNvPr id="46" name="TextBox 45">
            <a:extLst>
              <a:ext uri="{FF2B5EF4-FFF2-40B4-BE49-F238E27FC236}">
                <a16:creationId xmlns:a16="http://schemas.microsoft.com/office/drawing/2014/main" id="{B14FDFDF-6A65-57B7-EC91-BD3AE94CF67C}"/>
              </a:ext>
            </a:extLst>
          </p:cNvPr>
          <p:cNvSpPr txBox="1"/>
          <p:nvPr/>
        </p:nvSpPr>
        <p:spPr>
          <a:xfrm>
            <a:off x="271703" y="3788120"/>
            <a:ext cx="4577898" cy="461665"/>
          </a:xfrm>
          <a:prstGeom prst="rect">
            <a:avLst/>
          </a:prstGeom>
          <a:noFill/>
        </p:spPr>
        <p:txBody>
          <a:bodyPr wrap="square">
            <a:spAutoFit/>
          </a:bodyPr>
          <a:lstStyle/>
          <a:p>
            <a:r>
              <a:rPr lang="en-US" sz="1200" b="1" i="1" dirty="0">
                <a:solidFill>
                  <a:srgbClr val="27AE60"/>
                </a:solidFill>
                <a:latin typeface="Calibri" pitchFamily="34" charset="0"/>
                <a:ea typeface="Calibri" pitchFamily="34" charset="-122"/>
                <a:cs typeface="Calibri" pitchFamily="34" charset="-120"/>
              </a:rPr>
              <a:t>⚠  </a:t>
            </a:r>
            <a:r>
              <a:rPr lang="en-US" sz="1200" b="1" i="1" dirty="0" err="1">
                <a:solidFill>
                  <a:srgbClr val="27AE60"/>
                </a:solidFill>
                <a:latin typeface="Calibri" pitchFamily="34" charset="0"/>
                <a:ea typeface="Calibri" pitchFamily="34" charset="-122"/>
                <a:cs typeface="Calibri" pitchFamily="34" charset="-120"/>
              </a:rPr>
              <a:t>tcpdump</a:t>
            </a:r>
            <a:r>
              <a:rPr lang="en-US" sz="1200" b="1" i="1" dirty="0">
                <a:solidFill>
                  <a:srgbClr val="27AE60"/>
                </a:solidFill>
                <a:latin typeface="Calibri" pitchFamily="34" charset="0"/>
                <a:ea typeface="Calibri" pitchFamily="34" charset="-122"/>
                <a:cs typeface="Calibri" pitchFamily="34" charset="-120"/>
              </a:rPr>
              <a:t> is pre-installed on Linux/macOS and runs remotely</a:t>
            </a:r>
            <a:br>
              <a:rPr lang="en-US" sz="1200" b="1" i="1" dirty="0">
                <a:solidFill>
                  <a:srgbClr val="27AE60"/>
                </a:solidFill>
                <a:latin typeface="Calibri" pitchFamily="34" charset="0"/>
                <a:ea typeface="Calibri" pitchFamily="34" charset="-122"/>
                <a:cs typeface="Calibri" pitchFamily="34" charset="-120"/>
              </a:rPr>
            </a:br>
            <a:r>
              <a:rPr lang="en-US" sz="1200" b="1" i="1" dirty="0">
                <a:solidFill>
                  <a:srgbClr val="27AE60"/>
                </a:solidFill>
                <a:latin typeface="Calibri" pitchFamily="34" charset="0"/>
                <a:ea typeface="Calibri" pitchFamily="34" charset="-122"/>
                <a:cs typeface="Calibri" pitchFamily="34" charset="-120"/>
              </a:rPr>
              <a:t> via SSH.</a:t>
            </a:r>
            <a:endParaRPr lang="en-US" sz="1200" dirty="0"/>
          </a:p>
        </p:txBody>
      </p:sp>
      <p:sp>
        <p:nvSpPr>
          <p:cNvPr id="2" name="Shape 0">
            <a:extLst>
              <a:ext uri="{FF2B5EF4-FFF2-40B4-BE49-F238E27FC236}">
                <a16:creationId xmlns:a16="http://schemas.microsoft.com/office/drawing/2014/main" id="{1F2147A2-2292-5F56-EBA8-10CEA1B68760}"/>
              </a:ext>
            </a:extLst>
          </p:cNvPr>
          <p:cNvSpPr/>
          <p:nvPr/>
        </p:nvSpPr>
        <p:spPr>
          <a:xfrm>
            <a:off x="320040" y="164592"/>
            <a:ext cx="2393899" cy="256032"/>
          </a:xfrm>
          <a:prstGeom prst="rect">
            <a:avLst/>
          </a:prstGeom>
          <a:solidFill>
            <a:srgbClr val="2ECC71"/>
          </a:solidFill>
          <a:ln w="12700">
            <a:solidFill>
              <a:srgbClr val="2ECC71"/>
            </a:solidFill>
            <a:prstDash val="solid"/>
          </a:ln>
        </p:spPr>
        <p:txBody>
          <a:bodyPr/>
          <a:lstStyle/>
          <a:p>
            <a:endParaRPr lang="en-SG"/>
          </a:p>
        </p:txBody>
      </p:sp>
      <p:sp>
        <p:nvSpPr>
          <p:cNvPr id="3" name="Text 1">
            <a:extLst>
              <a:ext uri="{FF2B5EF4-FFF2-40B4-BE49-F238E27FC236}">
                <a16:creationId xmlns:a16="http://schemas.microsoft.com/office/drawing/2014/main" id="{12C448AE-8022-6BE4-5E6A-A4953B85F5A5}"/>
              </a:ext>
            </a:extLst>
          </p:cNvPr>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3 · OPEN-SOURCE TOOLS</a:t>
            </a:r>
            <a:endParaRPr lang="en-US" sz="850" dirty="0"/>
          </a:p>
        </p:txBody>
      </p:sp>
      <p:sp>
        <p:nvSpPr>
          <p:cNvPr id="4" name="Text 2">
            <a:extLst>
              <a:ext uri="{FF2B5EF4-FFF2-40B4-BE49-F238E27FC236}">
                <a16:creationId xmlns:a16="http://schemas.microsoft.com/office/drawing/2014/main" id="{9C4CCA8D-42AF-A79A-C133-1EF177B8637B}"/>
              </a:ext>
            </a:extLst>
          </p:cNvPr>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Packet Capture — </a:t>
            </a:r>
            <a:r>
              <a:rPr lang="en-US" sz="2800" b="1" dirty="0" err="1">
                <a:solidFill>
                  <a:srgbClr val="1A1A2E"/>
                </a:solidFill>
                <a:latin typeface="Calibri" pitchFamily="34" charset="0"/>
                <a:ea typeface="Calibri" pitchFamily="34" charset="-122"/>
                <a:cs typeface="Calibri" pitchFamily="34" charset="-120"/>
              </a:rPr>
              <a:t>tcpdump</a:t>
            </a:r>
            <a:endParaRPr lang="en-US" sz="2800" dirty="0"/>
          </a:p>
        </p:txBody>
      </p:sp>
      <p:sp>
        <p:nvSpPr>
          <p:cNvPr id="19" name="Shape 17">
            <a:extLst>
              <a:ext uri="{FF2B5EF4-FFF2-40B4-BE49-F238E27FC236}">
                <a16:creationId xmlns:a16="http://schemas.microsoft.com/office/drawing/2014/main" id="{7823709F-A6EE-5501-5DEC-A0E6951C246F}"/>
              </a:ext>
            </a:extLst>
          </p:cNvPr>
          <p:cNvSpPr/>
          <p:nvPr/>
        </p:nvSpPr>
        <p:spPr>
          <a:xfrm>
            <a:off x="315593" y="1080174"/>
            <a:ext cx="8503919" cy="320040"/>
          </a:xfrm>
          <a:prstGeom prst="rect">
            <a:avLst/>
          </a:prstGeom>
          <a:solidFill>
            <a:srgbClr val="F4A261"/>
          </a:solidFill>
          <a:ln w="12700">
            <a:solidFill>
              <a:srgbClr val="F4A261"/>
            </a:solidFill>
            <a:prstDash val="solid"/>
          </a:ln>
        </p:spPr>
        <p:txBody>
          <a:bodyPr/>
          <a:lstStyle/>
          <a:p>
            <a:endParaRPr lang="en-SG"/>
          </a:p>
        </p:txBody>
      </p:sp>
      <p:sp>
        <p:nvSpPr>
          <p:cNvPr id="20" name="Text 18">
            <a:extLst>
              <a:ext uri="{FF2B5EF4-FFF2-40B4-BE49-F238E27FC236}">
                <a16:creationId xmlns:a16="http://schemas.microsoft.com/office/drawing/2014/main" id="{49E24F6A-EE5F-2478-D413-30DC915774B9}"/>
              </a:ext>
            </a:extLst>
          </p:cNvPr>
          <p:cNvSpPr/>
          <p:nvPr/>
        </p:nvSpPr>
        <p:spPr>
          <a:xfrm>
            <a:off x="425322" y="1080174"/>
            <a:ext cx="3931920" cy="274320"/>
          </a:xfrm>
          <a:prstGeom prst="rect">
            <a:avLst/>
          </a:prstGeom>
          <a:noFill/>
          <a:ln/>
        </p:spPr>
        <p:txBody>
          <a:bodyPr wrap="square" lIns="0" tIns="0" rIns="0" bIns="0" rtlCol="0" anchor="ctr"/>
          <a:lstStyle/>
          <a:p>
            <a:pPr marL="0" indent="0">
              <a:buNone/>
            </a:pPr>
            <a:r>
              <a:rPr lang="en-US" sz="1200" b="1" dirty="0">
                <a:solidFill>
                  <a:srgbClr val="060E17"/>
                </a:solidFill>
                <a:latin typeface="Calibri" pitchFamily="34" charset="0"/>
                <a:ea typeface="Calibri" pitchFamily="34" charset="-122"/>
                <a:cs typeface="Calibri" pitchFamily="34" charset="-120"/>
              </a:rPr>
              <a:t>⌨️  tcpdump — CLI Packet Capture</a:t>
            </a:r>
            <a:endParaRPr lang="en-US" sz="1200" dirty="0"/>
          </a:p>
        </p:txBody>
      </p:sp>
      <p:sp>
        <p:nvSpPr>
          <p:cNvPr id="21" name="Text 19">
            <a:extLst>
              <a:ext uri="{FF2B5EF4-FFF2-40B4-BE49-F238E27FC236}">
                <a16:creationId xmlns:a16="http://schemas.microsoft.com/office/drawing/2014/main" id="{0A08764C-E55F-9BE0-E753-CD86BB6731AD}"/>
              </a:ext>
            </a:extLst>
          </p:cNvPr>
          <p:cNvSpPr/>
          <p:nvPr/>
        </p:nvSpPr>
        <p:spPr>
          <a:xfrm>
            <a:off x="443610" y="1427646"/>
            <a:ext cx="3913632" cy="530352"/>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What it is: A lightweight command-line sniffer pre-installed on Linux and macOS. No GUI needed — runs on servers and remote systems. Saves captures in .pcap format for later analysis in Wireshark.</a:t>
            </a:r>
            <a:endParaRPr lang="en-US" sz="1000" dirty="0"/>
          </a:p>
        </p:txBody>
      </p:sp>
      <p:sp>
        <p:nvSpPr>
          <p:cNvPr id="22" name="Text 20">
            <a:extLst>
              <a:ext uri="{FF2B5EF4-FFF2-40B4-BE49-F238E27FC236}">
                <a16:creationId xmlns:a16="http://schemas.microsoft.com/office/drawing/2014/main" id="{8117F12B-6243-26C8-260C-9A1D6DBCA886}"/>
              </a:ext>
            </a:extLst>
          </p:cNvPr>
          <p:cNvSpPr/>
          <p:nvPr/>
        </p:nvSpPr>
        <p:spPr>
          <a:xfrm>
            <a:off x="443610" y="2012862"/>
            <a:ext cx="3840480" cy="201168"/>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Command Reference:</a:t>
            </a:r>
            <a:endParaRPr lang="en-US" sz="1000" dirty="0"/>
          </a:p>
        </p:txBody>
      </p:sp>
      <p:sp>
        <p:nvSpPr>
          <p:cNvPr id="23" name="Shape 21">
            <a:extLst>
              <a:ext uri="{FF2B5EF4-FFF2-40B4-BE49-F238E27FC236}">
                <a16:creationId xmlns:a16="http://schemas.microsoft.com/office/drawing/2014/main" id="{99E51A09-41AF-D25F-C52E-1BBF265B3C0B}"/>
              </a:ext>
            </a:extLst>
          </p:cNvPr>
          <p:cNvSpPr/>
          <p:nvPr/>
        </p:nvSpPr>
        <p:spPr>
          <a:xfrm>
            <a:off x="388746" y="2250606"/>
            <a:ext cx="4023360" cy="438912"/>
          </a:xfrm>
          <a:prstGeom prst="rect">
            <a:avLst/>
          </a:prstGeom>
          <a:solidFill>
            <a:srgbClr val="FFFFFF"/>
          </a:solidFill>
          <a:ln w="12700">
            <a:solidFill>
              <a:srgbClr val="DBEAFE"/>
            </a:solidFill>
            <a:prstDash val="solid"/>
          </a:ln>
        </p:spPr>
        <p:txBody>
          <a:bodyPr/>
          <a:lstStyle/>
          <a:p>
            <a:endParaRPr lang="en-SG" sz="1000"/>
          </a:p>
        </p:txBody>
      </p:sp>
      <p:sp>
        <p:nvSpPr>
          <p:cNvPr id="24" name="Text 22">
            <a:extLst>
              <a:ext uri="{FF2B5EF4-FFF2-40B4-BE49-F238E27FC236}">
                <a16:creationId xmlns:a16="http://schemas.microsoft.com/office/drawing/2014/main" id="{E3E441AE-FC42-415A-5CC1-C839453B5D33}"/>
              </a:ext>
            </a:extLst>
          </p:cNvPr>
          <p:cNvSpPr/>
          <p:nvPr/>
        </p:nvSpPr>
        <p:spPr>
          <a:xfrm>
            <a:off x="443610" y="2278038"/>
            <a:ext cx="3913632" cy="201168"/>
          </a:xfrm>
          <a:prstGeom prst="rect">
            <a:avLst/>
          </a:prstGeom>
          <a:noFill/>
          <a:ln/>
        </p:spPr>
        <p:txBody>
          <a:bodyPr wrap="square" lIns="0" tIns="0" rIns="0" bIns="0" rtlCol="0" anchor="ctr"/>
          <a:lstStyle/>
          <a:p>
            <a:pPr marL="0" indent="0">
              <a:buNone/>
            </a:pPr>
            <a:r>
              <a:rPr lang="en-US" sz="1000" dirty="0">
                <a:solidFill>
                  <a:srgbClr val="2ECC71"/>
                </a:solidFill>
                <a:latin typeface="Consolas" pitchFamily="34" charset="0"/>
                <a:ea typeface="Consolas" pitchFamily="34" charset="-122"/>
                <a:cs typeface="Consolas" pitchFamily="34" charset="-120"/>
              </a:rPr>
              <a:t>$ tcpdump -i eth0 -w capture.pcap</a:t>
            </a:r>
            <a:endParaRPr lang="en-US" sz="1000" dirty="0"/>
          </a:p>
        </p:txBody>
      </p:sp>
      <p:sp>
        <p:nvSpPr>
          <p:cNvPr id="25" name="Text 23">
            <a:extLst>
              <a:ext uri="{FF2B5EF4-FFF2-40B4-BE49-F238E27FC236}">
                <a16:creationId xmlns:a16="http://schemas.microsoft.com/office/drawing/2014/main" id="{6EA21CB9-5E94-AB93-F67E-A824CAA9E3E6}"/>
              </a:ext>
            </a:extLst>
          </p:cNvPr>
          <p:cNvSpPr/>
          <p:nvPr/>
        </p:nvSpPr>
        <p:spPr>
          <a:xfrm>
            <a:off x="443610" y="2497494"/>
            <a:ext cx="3913632" cy="164592"/>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Capture all traffic on interface eth0</a:t>
            </a:r>
            <a:endParaRPr lang="en-US" sz="900" dirty="0"/>
          </a:p>
        </p:txBody>
      </p:sp>
      <p:sp>
        <p:nvSpPr>
          <p:cNvPr id="26" name="Shape 24">
            <a:extLst>
              <a:ext uri="{FF2B5EF4-FFF2-40B4-BE49-F238E27FC236}">
                <a16:creationId xmlns:a16="http://schemas.microsoft.com/office/drawing/2014/main" id="{D8E22656-737B-5523-C8D3-81D4FCE5533E}"/>
              </a:ext>
            </a:extLst>
          </p:cNvPr>
          <p:cNvSpPr/>
          <p:nvPr/>
        </p:nvSpPr>
        <p:spPr>
          <a:xfrm>
            <a:off x="388746" y="2744382"/>
            <a:ext cx="4023360" cy="438912"/>
          </a:xfrm>
          <a:prstGeom prst="rect">
            <a:avLst/>
          </a:prstGeom>
          <a:solidFill>
            <a:srgbClr val="FFFFFF"/>
          </a:solidFill>
          <a:ln w="12700">
            <a:solidFill>
              <a:srgbClr val="DBEAFE"/>
            </a:solidFill>
            <a:prstDash val="solid"/>
          </a:ln>
        </p:spPr>
        <p:txBody>
          <a:bodyPr/>
          <a:lstStyle/>
          <a:p>
            <a:endParaRPr lang="en-SG"/>
          </a:p>
        </p:txBody>
      </p:sp>
      <p:sp>
        <p:nvSpPr>
          <p:cNvPr id="27" name="Text 25">
            <a:extLst>
              <a:ext uri="{FF2B5EF4-FFF2-40B4-BE49-F238E27FC236}">
                <a16:creationId xmlns:a16="http://schemas.microsoft.com/office/drawing/2014/main" id="{30C8B1DE-49C5-D52B-C1B4-A39A29D975FA}"/>
              </a:ext>
            </a:extLst>
          </p:cNvPr>
          <p:cNvSpPr/>
          <p:nvPr/>
        </p:nvSpPr>
        <p:spPr>
          <a:xfrm>
            <a:off x="443610" y="2771814"/>
            <a:ext cx="3913632" cy="201168"/>
          </a:xfrm>
          <a:prstGeom prst="rect">
            <a:avLst/>
          </a:prstGeom>
          <a:noFill/>
          <a:ln/>
        </p:spPr>
        <p:txBody>
          <a:bodyPr wrap="square" lIns="0" tIns="0" rIns="0" bIns="0" rtlCol="0" anchor="ctr"/>
          <a:lstStyle/>
          <a:p>
            <a:pPr marL="0" indent="0">
              <a:buNone/>
            </a:pPr>
            <a:r>
              <a:rPr lang="en-US" sz="1000" dirty="0">
                <a:solidFill>
                  <a:srgbClr val="2ECC71"/>
                </a:solidFill>
                <a:latin typeface="Consolas" pitchFamily="34" charset="0"/>
                <a:ea typeface="Consolas" pitchFamily="34" charset="-122"/>
                <a:cs typeface="Consolas" pitchFamily="34" charset="-120"/>
              </a:rPr>
              <a:t>$ tcpdump -r capture.pcap</a:t>
            </a:r>
            <a:endParaRPr lang="en-US" sz="1000" dirty="0"/>
          </a:p>
        </p:txBody>
      </p:sp>
      <p:sp>
        <p:nvSpPr>
          <p:cNvPr id="28" name="Text 26">
            <a:extLst>
              <a:ext uri="{FF2B5EF4-FFF2-40B4-BE49-F238E27FC236}">
                <a16:creationId xmlns:a16="http://schemas.microsoft.com/office/drawing/2014/main" id="{A1FC8037-A944-8B08-59A8-4B5E1B130843}"/>
              </a:ext>
            </a:extLst>
          </p:cNvPr>
          <p:cNvSpPr/>
          <p:nvPr/>
        </p:nvSpPr>
        <p:spPr>
          <a:xfrm>
            <a:off x="443610" y="2991270"/>
            <a:ext cx="3913632" cy="164592"/>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Read and display a saved capture file</a:t>
            </a:r>
            <a:endParaRPr lang="en-US" sz="900" dirty="0"/>
          </a:p>
        </p:txBody>
      </p:sp>
      <p:sp>
        <p:nvSpPr>
          <p:cNvPr id="29" name="Shape 27">
            <a:extLst>
              <a:ext uri="{FF2B5EF4-FFF2-40B4-BE49-F238E27FC236}">
                <a16:creationId xmlns:a16="http://schemas.microsoft.com/office/drawing/2014/main" id="{E247C835-FC73-9421-368B-E00ECAA8BE88}"/>
              </a:ext>
            </a:extLst>
          </p:cNvPr>
          <p:cNvSpPr/>
          <p:nvPr/>
        </p:nvSpPr>
        <p:spPr>
          <a:xfrm>
            <a:off x="4602300" y="2243291"/>
            <a:ext cx="4023360" cy="438912"/>
          </a:xfrm>
          <a:prstGeom prst="rect">
            <a:avLst/>
          </a:prstGeom>
          <a:solidFill>
            <a:srgbClr val="FFFFFF"/>
          </a:solidFill>
          <a:ln w="12700">
            <a:solidFill>
              <a:srgbClr val="DBEAFE"/>
            </a:solidFill>
            <a:prstDash val="solid"/>
          </a:ln>
        </p:spPr>
        <p:txBody>
          <a:bodyPr/>
          <a:lstStyle/>
          <a:p>
            <a:endParaRPr lang="en-SG"/>
          </a:p>
        </p:txBody>
      </p:sp>
      <p:sp>
        <p:nvSpPr>
          <p:cNvPr id="30" name="Text 28">
            <a:extLst>
              <a:ext uri="{FF2B5EF4-FFF2-40B4-BE49-F238E27FC236}">
                <a16:creationId xmlns:a16="http://schemas.microsoft.com/office/drawing/2014/main" id="{EC503FBF-2CBB-95CC-0B00-A3FC9DABDD5E}"/>
              </a:ext>
            </a:extLst>
          </p:cNvPr>
          <p:cNvSpPr/>
          <p:nvPr/>
        </p:nvSpPr>
        <p:spPr>
          <a:xfrm>
            <a:off x="4657164" y="2270723"/>
            <a:ext cx="3913632" cy="201168"/>
          </a:xfrm>
          <a:prstGeom prst="rect">
            <a:avLst/>
          </a:prstGeom>
          <a:noFill/>
          <a:ln/>
        </p:spPr>
        <p:txBody>
          <a:bodyPr wrap="square" lIns="0" tIns="0" rIns="0" bIns="0" rtlCol="0" anchor="ctr"/>
          <a:lstStyle/>
          <a:p>
            <a:pPr marL="0" indent="0">
              <a:buNone/>
            </a:pPr>
            <a:r>
              <a:rPr lang="en-US" sz="1000" dirty="0">
                <a:solidFill>
                  <a:srgbClr val="2ECC71"/>
                </a:solidFill>
                <a:latin typeface="Consolas" pitchFamily="34" charset="0"/>
                <a:ea typeface="Consolas" pitchFamily="34" charset="-122"/>
                <a:cs typeface="Consolas" pitchFamily="34" charset="-120"/>
              </a:rPr>
              <a:t>$ tcpdump host 203.0.113.45</a:t>
            </a:r>
            <a:endParaRPr lang="en-US" sz="1000" dirty="0"/>
          </a:p>
        </p:txBody>
      </p:sp>
      <p:sp>
        <p:nvSpPr>
          <p:cNvPr id="31" name="Text 29">
            <a:extLst>
              <a:ext uri="{FF2B5EF4-FFF2-40B4-BE49-F238E27FC236}">
                <a16:creationId xmlns:a16="http://schemas.microsoft.com/office/drawing/2014/main" id="{7F638EC1-7C87-6084-D90B-3292C64F0DB4}"/>
              </a:ext>
            </a:extLst>
          </p:cNvPr>
          <p:cNvSpPr/>
          <p:nvPr/>
        </p:nvSpPr>
        <p:spPr>
          <a:xfrm>
            <a:off x="4657164" y="2490179"/>
            <a:ext cx="3913632" cy="164592"/>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Show only traffic to/from this IP</a:t>
            </a:r>
            <a:endParaRPr lang="en-US" sz="900" dirty="0"/>
          </a:p>
        </p:txBody>
      </p:sp>
      <p:sp>
        <p:nvSpPr>
          <p:cNvPr id="32" name="Shape 30">
            <a:extLst>
              <a:ext uri="{FF2B5EF4-FFF2-40B4-BE49-F238E27FC236}">
                <a16:creationId xmlns:a16="http://schemas.microsoft.com/office/drawing/2014/main" id="{95877D86-8971-9746-B858-95BA14533BF7}"/>
              </a:ext>
            </a:extLst>
          </p:cNvPr>
          <p:cNvSpPr/>
          <p:nvPr/>
        </p:nvSpPr>
        <p:spPr>
          <a:xfrm>
            <a:off x="4602300" y="2737067"/>
            <a:ext cx="4023360" cy="438912"/>
          </a:xfrm>
          <a:prstGeom prst="rect">
            <a:avLst/>
          </a:prstGeom>
          <a:solidFill>
            <a:srgbClr val="FFFFFF"/>
          </a:solidFill>
          <a:ln w="12700">
            <a:solidFill>
              <a:srgbClr val="DBEAFE"/>
            </a:solidFill>
            <a:prstDash val="solid"/>
          </a:ln>
        </p:spPr>
        <p:txBody>
          <a:bodyPr/>
          <a:lstStyle/>
          <a:p>
            <a:endParaRPr lang="en-SG"/>
          </a:p>
        </p:txBody>
      </p:sp>
      <p:sp>
        <p:nvSpPr>
          <p:cNvPr id="33" name="Text 31">
            <a:extLst>
              <a:ext uri="{FF2B5EF4-FFF2-40B4-BE49-F238E27FC236}">
                <a16:creationId xmlns:a16="http://schemas.microsoft.com/office/drawing/2014/main" id="{CAD08359-ECC8-2935-706E-1AE7314392CA}"/>
              </a:ext>
            </a:extLst>
          </p:cNvPr>
          <p:cNvSpPr/>
          <p:nvPr/>
        </p:nvSpPr>
        <p:spPr>
          <a:xfrm>
            <a:off x="4657164" y="2764499"/>
            <a:ext cx="3913632" cy="201168"/>
          </a:xfrm>
          <a:prstGeom prst="rect">
            <a:avLst/>
          </a:prstGeom>
          <a:noFill/>
          <a:ln/>
        </p:spPr>
        <p:txBody>
          <a:bodyPr wrap="square" lIns="0" tIns="0" rIns="0" bIns="0" rtlCol="0" anchor="ctr"/>
          <a:lstStyle/>
          <a:p>
            <a:pPr marL="0" indent="0">
              <a:buNone/>
            </a:pPr>
            <a:r>
              <a:rPr lang="en-US" sz="1000" dirty="0">
                <a:solidFill>
                  <a:srgbClr val="2ECC71"/>
                </a:solidFill>
                <a:latin typeface="Consolas" pitchFamily="34" charset="0"/>
                <a:ea typeface="Consolas" pitchFamily="34" charset="-122"/>
                <a:cs typeface="Consolas" pitchFamily="34" charset="-120"/>
              </a:rPr>
              <a:t>$ tcpdump port 443</a:t>
            </a:r>
            <a:endParaRPr lang="en-US" sz="1000" dirty="0"/>
          </a:p>
        </p:txBody>
      </p:sp>
      <p:sp>
        <p:nvSpPr>
          <p:cNvPr id="34" name="Text 32">
            <a:extLst>
              <a:ext uri="{FF2B5EF4-FFF2-40B4-BE49-F238E27FC236}">
                <a16:creationId xmlns:a16="http://schemas.microsoft.com/office/drawing/2014/main" id="{C21B23D8-CBE0-8E2A-ECB7-85D7B13280DD}"/>
              </a:ext>
            </a:extLst>
          </p:cNvPr>
          <p:cNvSpPr/>
          <p:nvPr/>
        </p:nvSpPr>
        <p:spPr>
          <a:xfrm>
            <a:off x="4657164" y="2983955"/>
            <a:ext cx="3913632" cy="164592"/>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Capture HTTPS traffic only</a:t>
            </a:r>
            <a:endParaRPr lang="en-US" sz="900" dirty="0"/>
          </a:p>
        </p:txBody>
      </p:sp>
      <p:sp>
        <p:nvSpPr>
          <p:cNvPr id="35" name="Shape 33">
            <a:extLst>
              <a:ext uri="{FF2B5EF4-FFF2-40B4-BE49-F238E27FC236}">
                <a16:creationId xmlns:a16="http://schemas.microsoft.com/office/drawing/2014/main" id="{E3BB8AE1-9EC6-B9A3-3177-566F75212097}"/>
              </a:ext>
            </a:extLst>
          </p:cNvPr>
          <p:cNvSpPr/>
          <p:nvPr/>
        </p:nvSpPr>
        <p:spPr>
          <a:xfrm>
            <a:off x="396061" y="3238160"/>
            <a:ext cx="4023360" cy="438912"/>
          </a:xfrm>
          <a:prstGeom prst="rect">
            <a:avLst/>
          </a:prstGeom>
          <a:solidFill>
            <a:srgbClr val="FFFFFF"/>
          </a:solidFill>
          <a:ln w="12700">
            <a:solidFill>
              <a:srgbClr val="DBEAFE"/>
            </a:solidFill>
            <a:prstDash val="solid"/>
          </a:ln>
        </p:spPr>
        <p:txBody>
          <a:bodyPr/>
          <a:lstStyle/>
          <a:p>
            <a:endParaRPr lang="en-SG"/>
          </a:p>
        </p:txBody>
      </p:sp>
      <p:sp>
        <p:nvSpPr>
          <p:cNvPr id="36" name="Text 34">
            <a:extLst>
              <a:ext uri="{FF2B5EF4-FFF2-40B4-BE49-F238E27FC236}">
                <a16:creationId xmlns:a16="http://schemas.microsoft.com/office/drawing/2014/main" id="{BBA2A127-F3BD-98C1-825C-10DA8695CACA}"/>
              </a:ext>
            </a:extLst>
          </p:cNvPr>
          <p:cNvSpPr/>
          <p:nvPr/>
        </p:nvSpPr>
        <p:spPr>
          <a:xfrm>
            <a:off x="450925" y="3265592"/>
            <a:ext cx="3913632" cy="201168"/>
          </a:xfrm>
          <a:prstGeom prst="rect">
            <a:avLst/>
          </a:prstGeom>
          <a:noFill/>
          <a:ln/>
        </p:spPr>
        <p:txBody>
          <a:bodyPr wrap="square" lIns="0" tIns="0" rIns="0" bIns="0" rtlCol="0" anchor="ctr"/>
          <a:lstStyle/>
          <a:p>
            <a:pPr marL="0" indent="0">
              <a:buNone/>
            </a:pPr>
            <a:r>
              <a:rPr lang="en-US" sz="1000" dirty="0">
                <a:solidFill>
                  <a:srgbClr val="2ECC71"/>
                </a:solidFill>
                <a:latin typeface="Consolas" pitchFamily="34" charset="0"/>
                <a:ea typeface="Consolas" pitchFamily="34" charset="-122"/>
                <a:cs typeface="Consolas" pitchFamily="34" charset="-120"/>
              </a:rPr>
              <a:t>$ tcpdump -nn tcp and port 22</a:t>
            </a:r>
            <a:endParaRPr lang="en-US" sz="1000" dirty="0"/>
          </a:p>
        </p:txBody>
      </p:sp>
      <p:sp>
        <p:nvSpPr>
          <p:cNvPr id="37" name="Text 35">
            <a:extLst>
              <a:ext uri="{FF2B5EF4-FFF2-40B4-BE49-F238E27FC236}">
                <a16:creationId xmlns:a16="http://schemas.microsoft.com/office/drawing/2014/main" id="{0A106DAD-38FE-B349-F2F3-2C2852E83957}"/>
              </a:ext>
            </a:extLst>
          </p:cNvPr>
          <p:cNvSpPr/>
          <p:nvPr/>
        </p:nvSpPr>
        <p:spPr>
          <a:xfrm>
            <a:off x="450925" y="3485048"/>
            <a:ext cx="3913632" cy="164592"/>
          </a:xfrm>
          <a:prstGeom prst="rect">
            <a:avLst/>
          </a:prstGeom>
          <a:noFill/>
          <a:ln/>
        </p:spPr>
        <p:txBody>
          <a:bodyPr wrap="square" lIns="0" tIns="0" rIns="0" bIns="0" rtlCol="0" anchor="ctr"/>
          <a:lstStyle/>
          <a:p>
            <a:pPr marL="0" indent="0">
              <a:buNone/>
            </a:pPr>
            <a:r>
              <a:rPr lang="en-US" sz="900" dirty="0">
                <a:solidFill>
                  <a:srgbClr val="8899AA"/>
                </a:solidFill>
                <a:latin typeface="Calibri" pitchFamily="34" charset="0"/>
                <a:ea typeface="Calibri" pitchFamily="34" charset="-122"/>
                <a:cs typeface="Calibri" pitchFamily="34" charset="-120"/>
              </a:rPr>
              <a:t>SSH traffic, no DNS name lookups</a:t>
            </a:r>
            <a:endParaRPr lang="en-US" sz="900" dirty="0"/>
          </a:p>
        </p:txBody>
      </p:sp>
      <p:sp>
        <p:nvSpPr>
          <p:cNvPr id="39" name="Text 37">
            <a:extLst>
              <a:ext uri="{FF2B5EF4-FFF2-40B4-BE49-F238E27FC236}">
                <a16:creationId xmlns:a16="http://schemas.microsoft.com/office/drawing/2014/main" id="{4CF316A7-0A77-AA93-7873-625721CD665E}"/>
              </a:ext>
            </a:extLst>
          </p:cNvPr>
          <p:cNvSpPr/>
          <p:nvPr/>
        </p:nvSpPr>
        <p:spPr>
          <a:xfrm>
            <a:off x="4904135" y="4024544"/>
            <a:ext cx="3913632" cy="201168"/>
          </a:xfrm>
          <a:prstGeom prst="rect">
            <a:avLst/>
          </a:prstGeom>
          <a:noFill/>
          <a:ln/>
        </p:spPr>
        <p:txBody>
          <a:bodyPr wrap="square" lIns="0" tIns="0" rIns="0" bIns="0" rtlCol="0" anchor="ctr"/>
          <a:lstStyle/>
          <a:p>
            <a:pPr marL="0" indent="0">
              <a:buNone/>
            </a:pPr>
            <a:r>
              <a:rPr lang="en-US" sz="1000" dirty="0">
                <a:solidFill>
                  <a:srgbClr val="FF0000"/>
                </a:solidFill>
                <a:latin typeface="Consolas" pitchFamily="34" charset="0"/>
                <a:ea typeface="Consolas" pitchFamily="34" charset="-122"/>
                <a:cs typeface="Consolas" pitchFamily="34" charset="-120"/>
              </a:rPr>
              <a:t>$ sha256sum capture.pcap &gt; hash.txt</a:t>
            </a:r>
            <a:endParaRPr lang="en-US" sz="1000" dirty="0">
              <a:solidFill>
                <a:srgbClr val="FF0000"/>
              </a:solidFill>
            </a:endParaRPr>
          </a:p>
        </p:txBody>
      </p:sp>
      <p:sp>
        <p:nvSpPr>
          <p:cNvPr id="40" name="Text 38">
            <a:extLst>
              <a:ext uri="{FF2B5EF4-FFF2-40B4-BE49-F238E27FC236}">
                <a16:creationId xmlns:a16="http://schemas.microsoft.com/office/drawing/2014/main" id="{CFCBEAB5-A299-04DE-A1DB-D71FD9CC345D}"/>
              </a:ext>
            </a:extLst>
          </p:cNvPr>
          <p:cNvSpPr/>
          <p:nvPr/>
        </p:nvSpPr>
        <p:spPr>
          <a:xfrm>
            <a:off x="4791456" y="5184648"/>
            <a:ext cx="3913632" cy="164592"/>
          </a:xfrm>
          <a:prstGeom prst="rect">
            <a:avLst/>
          </a:prstGeom>
          <a:noFill/>
          <a:ln/>
        </p:spPr>
        <p:txBody>
          <a:bodyPr wrap="square" lIns="0" tIns="0" rIns="0" bIns="0" rtlCol="0" anchor="ctr"/>
          <a:lstStyle/>
          <a:p>
            <a:pPr marL="0" indent="0">
              <a:buNone/>
            </a:pPr>
            <a:r>
              <a:rPr lang="en-US" sz="750" dirty="0">
                <a:solidFill>
                  <a:srgbClr val="8899AA"/>
                </a:solidFill>
                <a:latin typeface="Calibri" pitchFamily="34" charset="0"/>
                <a:ea typeface="Calibri" pitchFamily="34" charset="-122"/>
                <a:cs typeface="Calibri" pitchFamily="34" charset="-120"/>
              </a:rPr>
              <a:t>Hash the capture file for evidence</a:t>
            </a:r>
            <a:endParaRPr lang="en-US" sz="750" dirty="0"/>
          </a:p>
        </p:txBody>
      </p:sp>
      <p:sp>
        <p:nvSpPr>
          <p:cNvPr id="48" name="TextBox 47">
            <a:extLst>
              <a:ext uri="{FF2B5EF4-FFF2-40B4-BE49-F238E27FC236}">
                <a16:creationId xmlns:a16="http://schemas.microsoft.com/office/drawing/2014/main" id="{18881796-E8C7-859A-0016-1DD606CFE3AA}"/>
              </a:ext>
            </a:extLst>
          </p:cNvPr>
          <p:cNvSpPr txBox="1"/>
          <p:nvPr/>
        </p:nvSpPr>
        <p:spPr>
          <a:xfrm>
            <a:off x="4657164" y="3818234"/>
            <a:ext cx="4572000" cy="276999"/>
          </a:xfrm>
          <a:prstGeom prst="rect">
            <a:avLst/>
          </a:prstGeom>
          <a:noFill/>
        </p:spPr>
        <p:txBody>
          <a:bodyPr wrap="square">
            <a:spAutoFit/>
          </a:bodyPr>
          <a:lstStyle/>
          <a:p>
            <a:r>
              <a:rPr lang="en-US" sz="1200" b="1" i="1" dirty="0">
                <a:solidFill>
                  <a:srgbClr val="27AE60"/>
                </a:solidFill>
                <a:latin typeface="Calibri" pitchFamily="34" charset="0"/>
                <a:ea typeface="Calibri" pitchFamily="34" charset="-122"/>
                <a:cs typeface="Calibri" pitchFamily="34" charset="-120"/>
              </a:rPr>
              <a:t>⚠  It is important to hash the capture file for evidence</a:t>
            </a:r>
            <a:endParaRPr lang="en-US" sz="1200" dirty="0"/>
          </a:p>
        </p:txBody>
      </p:sp>
    </p:spTree>
    <p:extLst>
      <p:ext uri="{BB962C8B-B14F-4D97-AF65-F5344CB8AC3E}">
        <p14:creationId xmlns:p14="http://schemas.microsoft.com/office/powerpoint/2010/main" val="1778406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3 · OPEN-SOURCE TOOLS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Intrusion Detection &amp; Artefact Extraction</a:t>
            </a:r>
            <a:endParaRPr lang="en-US" sz="2800" dirty="0"/>
          </a:p>
        </p:txBody>
      </p:sp>
      <p:sp>
        <p:nvSpPr>
          <p:cNvPr id="5" name="Shape 3"/>
          <p:cNvSpPr/>
          <p:nvPr/>
        </p:nvSpPr>
        <p:spPr>
          <a:xfrm>
            <a:off x="320040" y="1298448"/>
            <a:ext cx="4160520" cy="3529584"/>
          </a:xfrm>
          <a:prstGeom prst="rect">
            <a:avLst/>
          </a:prstGeom>
          <a:solidFill>
            <a:srgbClr val="EEF6FB"/>
          </a:solidFill>
          <a:ln w="12700">
            <a:solidFill>
              <a:srgbClr val="E74C3C"/>
            </a:solidFill>
            <a:prstDash val="solid"/>
          </a:ln>
        </p:spPr>
        <p:txBody>
          <a:bodyPr/>
          <a:lstStyle/>
          <a:p>
            <a:endParaRPr lang="en-SG"/>
          </a:p>
        </p:txBody>
      </p:sp>
      <p:sp>
        <p:nvSpPr>
          <p:cNvPr id="6" name="Shape 4"/>
          <p:cNvSpPr/>
          <p:nvPr/>
        </p:nvSpPr>
        <p:spPr>
          <a:xfrm>
            <a:off x="320040" y="1298448"/>
            <a:ext cx="4160520" cy="274320"/>
          </a:xfrm>
          <a:prstGeom prst="rect">
            <a:avLst/>
          </a:prstGeom>
          <a:solidFill>
            <a:srgbClr val="E74C3C"/>
          </a:solidFill>
          <a:ln w="12700">
            <a:solidFill>
              <a:srgbClr val="E74C3C"/>
            </a:solidFill>
            <a:prstDash val="solid"/>
          </a:ln>
        </p:spPr>
        <p:txBody>
          <a:bodyPr/>
          <a:lstStyle/>
          <a:p>
            <a:endParaRPr lang="en-SG"/>
          </a:p>
        </p:txBody>
      </p:sp>
      <p:sp>
        <p:nvSpPr>
          <p:cNvPr id="7" name="Text 5"/>
          <p:cNvSpPr/>
          <p:nvPr/>
        </p:nvSpPr>
        <p:spPr>
          <a:xfrm>
            <a:off x="438912" y="1298448"/>
            <a:ext cx="3931920" cy="274320"/>
          </a:xfrm>
          <a:prstGeom prst="rect">
            <a:avLst/>
          </a:prstGeom>
          <a:noFill/>
          <a:ln/>
        </p:spPr>
        <p:txBody>
          <a:bodyPr wrap="square" lIns="0" tIns="0" rIns="0" bIns="0" rtlCol="0" anchor="ctr"/>
          <a:lstStyle/>
          <a:p>
            <a:pPr marL="0" indent="0">
              <a:buNone/>
            </a:pPr>
            <a:r>
              <a:rPr lang="en-US" sz="1200" b="1" dirty="0">
                <a:solidFill>
                  <a:srgbClr val="060E17"/>
                </a:solidFill>
                <a:latin typeface="Calibri" pitchFamily="34" charset="0"/>
                <a:ea typeface="Calibri" pitchFamily="34" charset="-122"/>
                <a:cs typeface="Calibri" pitchFamily="34" charset="-120"/>
              </a:rPr>
              <a:t>🐷  Snort / Suricata — IDS/IPS</a:t>
            </a:r>
            <a:endParaRPr lang="en-US" sz="1200" dirty="0"/>
          </a:p>
        </p:txBody>
      </p:sp>
      <p:sp>
        <p:nvSpPr>
          <p:cNvPr id="8" name="Text 6"/>
          <p:cNvSpPr/>
          <p:nvPr/>
        </p:nvSpPr>
        <p:spPr>
          <a:xfrm>
            <a:off x="457200" y="1645920"/>
            <a:ext cx="3913632" cy="53035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What they are: Open-source tools that monitor network traffic in real time and alert (or block) when suspicious patterns are detected. Suricata is the modern, high-performance successor to Snort.</a:t>
            </a:r>
            <a:endParaRPr lang="en-US" sz="850" dirty="0"/>
          </a:p>
        </p:txBody>
      </p:sp>
      <p:sp>
        <p:nvSpPr>
          <p:cNvPr id="9" name="Text 7"/>
          <p:cNvSpPr/>
          <p:nvPr/>
        </p:nvSpPr>
        <p:spPr>
          <a:xfrm>
            <a:off x="457200" y="2231136"/>
            <a:ext cx="2743200" cy="201168"/>
          </a:xfrm>
          <a:prstGeom prst="rect">
            <a:avLst/>
          </a:prstGeom>
          <a:noFill/>
          <a:ln/>
        </p:spPr>
        <p:txBody>
          <a:bodyPr wrap="square" lIns="0" tIns="0" rIns="0" bIns="0" rtlCol="0" anchor="ctr"/>
          <a:lstStyle/>
          <a:p>
            <a:pPr marL="0" indent="0">
              <a:buNone/>
            </a:pPr>
            <a:r>
              <a:rPr lang="en-US" sz="950" b="1" dirty="0">
                <a:solidFill>
                  <a:srgbClr val="E74C3C"/>
                </a:solidFill>
                <a:latin typeface="Calibri" pitchFamily="34" charset="0"/>
                <a:ea typeface="Calibri" pitchFamily="34" charset="-122"/>
                <a:cs typeface="Calibri" pitchFamily="34" charset="-120"/>
              </a:rPr>
              <a:t>How they help investigators:</a:t>
            </a:r>
            <a:endParaRPr lang="en-US" sz="950" dirty="0"/>
          </a:p>
        </p:txBody>
      </p:sp>
      <p:sp>
        <p:nvSpPr>
          <p:cNvPr id="10" name="Text 8"/>
          <p:cNvSpPr/>
          <p:nvPr/>
        </p:nvSpPr>
        <p:spPr>
          <a:xfrm>
            <a:off x="457200" y="2450592"/>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Alert logs: timestamp · attacker IP · victim IP · attack type · rule name</a:t>
            </a:r>
            <a:endParaRPr lang="en-US" sz="850" dirty="0"/>
          </a:p>
        </p:txBody>
      </p:sp>
      <p:sp>
        <p:nvSpPr>
          <p:cNvPr id="11" name="Text 9"/>
          <p:cNvSpPr/>
          <p:nvPr/>
        </p:nvSpPr>
        <p:spPr>
          <a:xfrm>
            <a:off x="457200" y="2852928"/>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Signature-based detection matches traffic against thousands of known attack patterns</a:t>
            </a:r>
            <a:endParaRPr lang="en-US" sz="850" dirty="0"/>
          </a:p>
        </p:txBody>
      </p:sp>
      <p:sp>
        <p:nvSpPr>
          <p:cNvPr id="12" name="Text 10"/>
          <p:cNvSpPr/>
          <p:nvPr/>
        </p:nvSpPr>
        <p:spPr>
          <a:xfrm>
            <a:off x="457200" y="3255264"/>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IPS mode can actively block attacks — and log every blocked packet</a:t>
            </a:r>
            <a:endParaRPr lang="en-US" sz="850" dirty="0"/>
          </a:p>
        </p:txBody>
      </p:sp>
      <p:sp>
        <p:nvSpPr>
          <p:cNvPr id="13" name="Text 11"/>
          <p:cNvSpPr/>
          <p:nvPr/>
        </p:nvSpPr>
        <p:spPr>
          <a:xfrm>
            <a:off x="457200" y="3657600"/>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Suricata auto-extracts files from HTTP/FTP/SMTP traffic in captures</a:t>
            </a:r>
            <a:endParaRPr lang="en-US" sz="850" dirty="0"/>
          </a:p>
        </p:txBody>
      </p:sp>
      <p:sp>
        <p:nvSpPr>
          <p:cNvPr id="14" name="Text 12"/>
          <p:cNvSpPr/>
          <p:nvPr/>
        </p:nvSpPr>
        <p:spPr>
          <a:xfrm>
            <a:off x="457200" y="4059936"/>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JSON log output integrates directly with SIEM dashboards (Elastic/Kibana)</a:t>
            </a:r>
            <a:endParaRPr lang="en-US" sz="850" dirty="0"/>
          </a:p>
        </p:txBody>
      </p:sp>
      <p:sp>
        <p:nvSpPr>
          <p:cNvPr id="15" name="Shape 13"/>
          <p:cNvSpPr/>
          <p:nvPr/>
        </p:nvSpPr>
        <p:spPr>
          <a:xfrm>
            <a:off x="384048" y="4370832"/>
            <a:ext cx="3977640" cy="347472"/>
          </a:xfrm>
          <a:prstGeom prst="rect">
            <a:avLst/>
          </a:prstGeom>
          <a:solidFill>
            <a:srgbClr val="FFFFFF"/>
          </a:solidFill>
          <a:ln w="12700">
            <a:solidFill>
              <a:srgbClr val="E74C3C"/>
            </a:solidFill>
            <a:prstDash val="solid"/>
          </a:ln>
        </p:spPr>
        <p:txBody>
          <a:bodyPr/>
          <a:lstStyle/>
          <a:p>
            <a:endParaRPr lang="en-SG"/>
          </a:p>
        </p:txBody>
      </p:sp>
      <p:sp>
        <p:nvSpPr>
          <p:cNvPr id="16" name="Text 14"/>
          <p:cNvSpPr/>
          <p:nvPr/>
        </p:nvSpPr>
        <p:spPr>
          <a:xfrm>
            <a:off x="475488" y="4425696"/>
            <a:ext cx="3840480" cy="256032"/>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 SQL Injection [**] 203.0.113.45:5432 -&gt; 10.0.1.50:80 [Priority: 1]</a:t>
            </a:r>
            <a:endParaRPr lang="en-US" sz="750" dirty="0"/>
          </a:p>
        </p:txBody>
      </p:sp>
      <p:sp>
        <p:nvSpPr>
          <p:cNvPr id="17" name="Text 15"/>
          <p:cNvSpPr/>
          <p:nvPr/>
        </p:nvSpPr>
        <p:spPr>
          <a:xfrm>
            <a:off x="457200" y="4773168"/>
            <a:ext cx="3913632" cy="18288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snort.org  |  suricata.io  |  Free &amp; open-source</a:t>
            </a:r>
            <a:endParaRPr lang="en-US" sz="800" dirty="0"/>
          </a:p>
        </p:txBody>
      </p:sp>
      <p:sp>
        <p:nvSpPr>
          <p:cNvPr id="18" name="Shape 16"/>
          <p:cNvSpPr/>
          <p:nvPr/>
        </p:nvSpPr>
        <p:spPr>
          <a:xfrm>
            <a:off x="4663440" y="1298448"/>
            <a:ext cx="4160520" cy="3529584"/>
          </a:xfrm>
          <a:prstGeom prst="rect">
            <a:avLst/>
          </a:prstGeom>
          <a:solidFill>
            <a:srgbClr val="EEF6FB"/>
          </a:solidFill>
          <a:ln w="12700">
            <a:solidFill>
              <a:srgbClr val="2EC4B6"/>
            </a:solidFill>
            <a:prstDash val="solid"/>
          </a:ln>
        </p:spPr>
        <p:txBody>
          <a:bodyPr/>
          <a:lstStyle/>
          <a:p>
            <a:endParaRPr lang="en-SG"/>
          </a:p>
        </p:txBody>
      </p:sp>
      <p:sp>
        <p:nvSpPr>
          <p:cNvPr id="19" name="Shape 17"/>
          <p:cNvSpPr/>
          <p:nvPr/>
        </p:nvSpPr>
        <p:spPr>
          <a:xfrm>
            <a:off x="4663440" y="1298448"/>
            <a:ext cx="4160520" cy="274320"/>
          </a:xfrm>
          <a:prstGeom prst="rect">
            <a:avLst/>
          </a:prstGeom>
          <a:solidFill>
            <a:srgbClr val="2EC4B6"/>
          </a:solidFill>
          <a:ln w="12700">
            <a:solidFill>
              <a:srgbClr val="2EC4B6"/>
            </a:solidFill>
            <a:prstDash val="solid"/>
          </a:ln>
        </p:spPr>
        <p:txBody>
          <a:bodyPr/>
          <a:lstStyle/>
          <a:p>
            <a:endParaRPr lang="en-SG"/>
          </a:p>
        </p:txBody>
      </p:sp>
      <p:sp>
        <p:nvSpPr>
          <p:cNvPr id="20" name="Text 18"/>
          <p:cNvSpPr/>
          <p:nvPr/>
        </p:nvSpPr>
        <p:spPr>
          <a:xfrm>
            <a:off x="4773168" y="1298448"/>
            <a:ext cx="3931920" cy="274320"/>
          </a:xfrm>
          <a:prstGeom prst="rect">
            <a:avLst/>
          </a:prstGeom>
          <a:noFill/>
          <a:ln/>
        </p:spPr>
        <p:txBody>
          <a:bodyPr wrap="square" lIns="0" tIns="0" rIns="0" bIns="0" rtlCol="0" anchor="ctr"/>
          <a:lstStyle/>
          <a:p>
            <a:pPr marL="0" indent="0">
              <a:buNone/>
            </a:pPr>
            <a:r>
              <a:rPr lang="en-US" sz="1200" b="1" dirty="0">
                <a:solidFill>
                  <a:srgbClr val="060E17"/>
                </a:solidFill>
                <a:latin typeface="Calibri" pitchFamily="34" charset="0"/>
                <a:ea typeface="Calibri" pitchFamily="34" charset="-122"/>
                <a:cs typeface="Calibri" pitchFamily="34" charset="-120"/>
              </a:rPr>
              <a:t>🔬  NetworkMiner — Artefact Extractor</a:t>
            </a:r>
            <a:endParaRPr lang="en-US" sz="1200" dirty="0"/>
          </a:p>
        </p:txBody>
      </p:sp>
      <p:sp>
        <p:nvSpPr>
          <p:cNvPr id="21" name="Text 19"/>
          <p:cNvSpPr/>
          <p:nvPr/>
        </p:nvSpPr>
        <p:spPr>
          <a:xfrm>
            <a:off x="4791456" y="1645920"/>
            <a:ext cx="3913632" cy="53035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What it is: A passive network forensics tool that reconstructs files, credentials, images, and communications from packet captures — no expert protocol knowledge required. Ideal for students and junior analysts.</a:t>
            </a:r>
            <a:endParaRPr lang="en-US" sz="850" dirty="0"/>
          </a:p>
        </p:txBody>
      </p:sp>
      <p:sp>
        <p:nvSpPr>
          <p:cNvPr id="22" name="Text 20"/>
          <p:cNvSpPr/>
          <p:nvPr/>
        </p:nvSpPr>
        <p:spPr>
          <a:xfrm>
            <a:off x="4791456" y="2231136"/>
            <a:ext cx="2743200" cy="201168"/>
          </a:xfrm>
          <a:prstGeom prst="rect">
            <a:avLst/>
          </a:prstGeom>
          <a:noFill/>
          <a:ln/>
        </p:spPr>
        <p:txBody>
          <a:bodyPr wrap="square" lIns="0" tIns="0" rIns="0" bIns="0" rtlCol="0" anchor="ctr"/>
          <a:lstStyle/>
          <a:p>
            <a:pPr marL="0" indent="0">
              <a:buNone/>
            </a:pPr>
            <a:r>
              <a:rPr lang="en-US" sz="950" b="1" dirty="0">
                <a:solidFill>
                  <a:srgbClr val="2EC4B6"/>
                </a:solidFill>
                <a:latin typeface="Calibri" pitchFamily="34" charset="0"/>
                <a:ea typeface="Calibri" pitchFamily="34" charset="-122"/>
                <a:cs typeface="Calibri" pitchFamily="34" charset="-120"/>
              </a:rPr>
              <a:t>Key forensic capabilities:</a:t>
            </a:r>
            <a:endParaRPr lang="en-US" sz="950" dirty="0"/>
          </a:p>
        </p:txBody>
      </p:sp>
      <p:sp>
        <p:nvSpPr>
          <p:cNvPr id="23" name="Text 21"/>
          <p:cNvSpPr/>
          <p:nvPr/>
        </p:nvSpPr>
        <p:spPr>
          <a:xfrm>
            <a:off x="4791456" y="2450592"/>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Opens .pcap files and auto-extracts all transferred files (HTTP, FTP, SMB)</a:t>
            </a:r>
            <a:endParaRPr lang="en-US" sz="850" dirty="0"/>
          </a:p>
        </p:txBody>
      </p:sp>
      <p:sp>
        <p:nvSpPr>
          <p:cNvPr id="24" name="Text 22"/>
          <p:cNvSpPr/>
          <p:nvPr/>
        </p:nvSpPr>
        <p:spPr>
          <a:xfrm>
            <a:off x="4791456" y="2852928"/>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Recovers images, documents, and email attachments from captures</a:t>
            </a:r>
            <a:endParaRPr lang="en-US" sz="850" dirty="0"/>
          </a:p>
        </p:txBody>
      </p:sp>
      <p:sp>
        <p:nvSpPr>
          <p:cNvPr id="25" name="Text 23"/>
          <p:cNvSpPr/>
          <p:nvPr/>
        </p:nvSpPr>
        <p:spPr>
          <a:xfrm>
            <a:off x="4791456" y="3255264"/>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Lists all hosts: hostname, OS detected, open ports, MAC address</a:t>
            </a:r>
            <a:endParaRPr lang="en-US" sz="850" dirty="0"/>
          </a:p>
        </p:txBody>
      </p:sp>
      <p:sp>
        <p:nvSpPr>
          <p:cNvPr id="26" name="Text 24"/>
          <p:cNvSpPr/>
          <p:nvPr/>
        </p:nvSpPr>
        <p:spPr>
          <a:xfrm>
            <a:off x="4791456" y="3657600"/>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Extracts plaintext credentials from unencrypted protocols (FTP, Telnet, HTTP)</a:t>
            </a:r>
            <a:endParaRPr lang="en-US" sz="850" dirty="0"/>
          </a:p>
        </p:txBody>
      </p:sp>
      <p:sp>
        <p:nvSpPr>
          <p:cNvPr id="27" name="Text 25"/>
          <p:cNvSpPr/>
          <p:nvPr/>
        </p:nvSpPr>
        <p:spPr>
          <a:xfrm>
            <a:off x="4791456" y="4059936"/>
            <a:ext cx="3913632" cy="36576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GUI interface — drag and drop a .pcap to see artefacts immediately</a:t>
            </a:r>
            <a:endParaRPr lang="en-US" sz="850" dirty="0"/>
          </a:p>
        </p:txBody>
      </p:sp>
      <p:sp>
        <p:nvSpPr>
          <p:cNvPr id="28" name="Shape 26"/>
          <p:cNvSpPr/>
          <p:nvPr/>
        </p:nvSpPr>
        <p:spPr>
          <a:xfrm>
            <a:off x="4736592" y="4370832"/>
            <a:ext cx="3977640" cy="347472"/>
          </a:xfrm>
          <a:prstGeom prst="rect">
            <a:avLst/>
          </a:prstGeom>
          <a:solidFill>
            <a:srgbClr val="FFFFFF"/>
          </a:solidFill>
          <a:ln w="12700">
            <a:solidFill>
              <a:srgbClr val="2EC4B6"/>
            </a:solidFill>
            <a:prstDash val="solid"/>
          </a:ln>
        </p:spPr>
        <p:txBody>
          <a:bodyPr/>
          <a:lstStyle/>
          <a:p>
            <a:endParaRPr lang="en-SG"/>
          </a:p>
        </p:txBody>
      </p:sp>
      <p:sp>
        <p:nvSpPr>
          <p:cNvPr id="29" name="Text 27"/>
          <p:cNvSpPr/>
          <p:nvPr/>
        </p:nvSpPr>
        <p:spPr>
          <a:xfrm>
            <a:off x="4828032" y="4425696"/>
            <a:ext cx="3840480" cy="256032"/>
          </a:xfrm>
          <a:prstGeom prst="rect">
            <a:avLst/>
          </a:prstGeom>
          <a:noFill/>
          <a:ln/>
        </p:spPr>
        <p:txBody>
          <a:bodyPr wrap="square" lIns="0" tIns="0" rIns="0" bIns="0" rtlCol="0" anchor="ctr"/>
          <a:lstStyle/>
          <a:p>
            <a:pPr marL="0" indent="0">
              <a:buNone/>
            </a:pPr>
            <a:r>
              <a:rPr lang="en-US" sz="800" dirty="0">
                <a:solidFill>
                  <a:srgbClr val="2EC4B6"/>
                </a:solidFill>
                <a:latin typeface="Calibri" pitchFamily="34" charset="0"/>
                <a:ea typeface="Calibri" pitchFamily="34" charset="-122"/>
                <a:cs typeface="Calibri" pitchFamily="34" charset="-120"/>
              </a:rPr>
              <a:t>Drag &amp; drop a .pcap → instantly see files, hosts, credentials extracted</a:t>
            </a:r>
            <a:endParaRPr lang="en-US" sz="800" dirty="0"/>
          </a:p>
        </p:txBody>
      </p:sp>
      <p:sp>
        <p:nvSpPr>
          <p:cNvPr id="30" name="Text 28"/>
          <p:cNvSpPr/>
          <p:nvPr/>
        </p:nvSpPr>
        <p:spPr>
          <a:xfrm>
            <a:off x="4791456" y="4773168"/>
            <a:ext cx="3913632" cy="18288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netresec.com  |  Free version available  |  Windows-based</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3 · OPEN-SOURCE TOOLS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Additional Open-Source Network Forensic Tools</a:t>
            </a:r>
            <a:endParaRPr lang="en-US" sz="2800" dirty="0"/>
          </a:p>
        </p:txBody>
      </p:sp>
      <p:sp>
        <p:nvSpPr>
          <p:cNvPr id="5" name="Shape 3"/>
          <p:cNvSpPr/>
          <p:nvPr/>
        </p:nvSpPr>
        <p:spPr>
          <a:xfrm>
            <a:off x="320040" y="1298448"/>
            <a:ext cx="4133088" cy="1005840"/>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54864" cy="1005840"/>
          </a:xfrm>
          <a:prstGeom prst="rect">
            <a:avLst/>
          </a:prstGeom>
          <a:solidFill>
            <a:srgbClr val="A855F7"/>
          </a:solidFill>
          <a:ln w="12700">
            <a:solidFill>
              <a:srgbClr val="A855F7"/>
            </a:solidFill>
            <a:prstDash val="solid"/>
          </a:ln>
        </p:spPr>
        <p:txBody>
          <a:bodyPr/>
          <a:lstStyle/>
          <a:p>
            <a:endParaRPr lang="en-SG"/>
          </a:p>
        </p:txBody>
      </p:sp>
      <p:sp>
        <p:nvSpPr>
          <p:cNvPr id="7" name="Text 5"/>
          <p:cNvSpPr/>
          <p:nvPr/>
        </p:nvSpPr>
        <p:spPr>
          <a:xfrm>
            <a:off x="448056" y="1335024"/>
            <a:ext cx="1737360" cy="219456"/>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Kali Linux</a:t>
            </a:r>
            <a:endParaRPr lang="en-US" sz="1100" dirty="0"/>
          </a:p>
        </p:txBody>
      </p:sp>
      <p:sp>
        <p:nvSpPr>
          <p:cNvPr id="8" name="Shape 6"/>
          <p:cNvSpPr/>
          <p:nvPr/>
        </p:nvSpPr>
        <p:spPr>
          <a:xfrm>
            <a:off x="2240280" y="1353312"/>
            <a:ext cx="1188720" cy="182880"/>
          </a:xfrm>
          <a:prstGeom prst="rect">
            <a:avLst/>
          </a:prstGeom>
          <a:solidFill>
            <a:srgbClr val="FFFFFF"/>
          </a:solidFill>
          <a:ln w="12700">
            <a:solidFill>
              <a:srgbClr val="A855F7"/>
            </a:solidFill>
            <a:prstDash val="solid"/>
          </a:ln>
        </p:spPr>
        <p:txBody>
          <a:bodyPr/>
          <a:lstStyle/>
          <a:p>
            <a:endParaRPr lang="en-SG"/>
          </a:p>
        </p:txBody>
      </p:sp>
      <p:sp>
        <p:nvSpPr>
          <p:cNvPr id="9" name="Text 7"/>
          <p:cNvSpPr/>
          <p:nvPr/>
        </p:nvSpPr>
        <p:spPr>
          <a:xfrm>
            <a:off x="2240280" y="1353312"/>
            <a:ext cx="1188720" cy="182880"/>
          </a:xfrm>
          <a:prstGeom prst="rect">
            <a:avLst/>
          </a:prstGeom>
          <a:noFill/>
          <a:ln/>
        </p:spPr>
        <p:txBody>
          <a:bodyPr wrap="square" lIns="0" tIns="0" rIns="0" bIns="0" rtlCol="0" anchor="ctr"/>
          <a:lstStyle/>
          <a:p>
            <a:pPr marL="0" indent="0" algn="ctr">
              <a:buNone/>
            </a:pPr>
            <a:r>
              <a:rPr lang="en-US" sz="750" dirty="0">
                <a:solidFill>
                  <a:srgbClr val="A855F7"/>
                </a:solidFill>
                <a:latin typeface="Calibri" pitchFamily="34" charset="0"/>
                <a:ea typeface="Calibri" pitchFamily="34" charset="-122"/>
                <a:cs typeface="Calibri" pitchFamily="34" charset="-120"/>
              </a:rPr>
              <a:t>Forensics Platform</a:t>
            </a:r>
            <a:endParaRPr lang="en-US" sz="750" dirty="0"/>
          </a:p>
        </p:txBody>
      </p:sp>
      <p:sp>
        <p:nvSpPr>
          <p:cNvPr id="10" name="Text 8"/>
          <p:cNvSpPr/>
          <p:nvPr/>
        </p:nvSpPr>
        <p:spPr>
          <a:xfrm>
            <a:off x="448056" y="1609344"/>
            <a:ext cx="3931920" cy="6400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Purpose-built Linux distribution with 600+ security tools pre-installed. Supersedes Knoppix-STD, Helix, and BackTrack. Free — run from USB or VM. kali.org</a:t>
            </a:r>
            <a:endParaRPr lang="en-US" sz="850" dirty="0"/>
          </a:p>
        </p:txBody>
      </p:sp>
      <p:sp>
        <p:nvSpPr>
          <p:cNvPr id="11" name="Shape 9"/>
          <p:cNvSpPr/>
          <p:nvPr/>
        </p:nvSpPr>
        <p:spPr>
          <a:xfrm>
            <a:off x="4581144" y="1298448"/>
            <a:ext cx="4133088" cy="1005840"/>
          </a:xfrm>
          <a:prstGeom prst="rect">
            <a:avLst/>
          </a:prstGeom>
          <a:solidFill>
            <a:srgbClr val="EEF6FB"/>
          </a:solidFill>
          <a:ln w="12700">
            <a:solidFill>
              <a:srgbClr val="EEF6FB"/>
            </a:solidFill>
            <a:prstDash val="solid"/>
          </a:ln>
        </p:spPr>
        <p:txBody>
          <a:bodyPr/>
          <a:lstStyle/>
          <a:p>
            <a:endParaRPr lang="en-SG"/>
          </a:p>
        </p:txBody>
      </p:sp>
      <p:sp>
        <p:nvSpPr>
          <p:cNvPr id="12" name="Shape 10"/>
          <p:cNvSpPr/>
          <p:nvPr/>
        </p:nvSpPr>
        <p:spPr>
          <a:xfrm>
            <a:off x="4581144" y="1298448"/>
            <a:ext cx="54864" cy="1005840"/>
          </a:xfrm>
          <a:prstGeom prst="rect">
            <a:avLst/>
          </a:prstGeom>
          <a:solidFill>
            <a:srgbClr val="F1C40F"/>
          </a:solidFill>
          <a:ln w="12700">
            <a:solidFill>
              <a:srgbClr val="F1C40F"/>
            </a:solidFill>
            <a:prstDash val="solid"/>
          </a:ln>
        </p:spPr>
        <p:txBody>
          <a:bodyPr/>
          <a:lstStyle/>
          <a:p>
            <a:endParaRPr lang="en-SG"/>
          </a:p>
        </p:txBody>
      </p:sp>
      <p:sp>
        <p:nvSpPr>
          <p:cNvPr id="13" name="Text 11"/>
          <p:cNvSpPr/>
          <p:nvPr/>
        </p:nvSpPr>
        <p:spPr>
          <a:xfrm>
            <a:off x="4709160" y="1335024"/>
            <a:ext cx="1737360" cy="219456"/>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Nmap</a:t>
            </a:r>
            <a:endParaRPr lang="en-US" sz="1100" dirty="0"/>
          </a:p>
        </p:txBody>
      </p:sp>
      <p:sp>
        <p:nvSpPr>
          <p:cNvPr id="14" name="Shape 12"/>
          <p:cNvSpPr/>
          <p:nvPr/>
        </p:nvSpPr>
        <p:spPr>
          <a:xfrm>
            <a:off x="6501384" y="1353312"/>
            <a:ext cx="1188720" cy="182880"/>
          </a:xfrm>
          <a:prstGeom prst="rect">
            <a:avLst/>
          </a:prstGeom>
          <a:solidFill>
            <a:srgbClr val="FFFFFF"/>
          </a:solidFill>
          <a:ln w="12700">
            <a:solidFill>
              <a:srgbClr val="F1C40F"/>
            </a:solidFill>
            <a:prstDash val="solid"/>
          </a:ln>
        </p:spPr>
        <p:txBody>
          <a:bodyPr/>
          <a:lstStyle/>
          <a:p>
            <a:endParaRPr lang="en-SG"/>
          </a:p>
        </p:txBody>
      </p:sp>
      <p:sp>
        <p:nvSpPr>
          <p:cNvPr id="15" name="Text 13"/>
          <p:cNvSpPr/>
          <p:nvPr/>
        </p:nvSpPr>
        <p:spPr>
          <a:xfrm>
            <a:off x="6501384" y="1353312"/>
            <a:ext cx="1188720" cy="182880"/>
          </a:xfrm>
          <a:prstGeom prst="rect">
            <a:avLst/>
          </a:prstGeom>
          <a:noFill/>
          <a:ln/>
        </p:spPr>
        <p:txBody>
          <a:bodyPr wrap="square" lIns="0" tIns="0" rIns="0" bIns="0" rtlCol="0" anchor="ctr"/>
          <a:lstStyle/>
          <a:p>
            <a:pPr marL="0" indent="0" algn="ctr">
              <a:buNone/>
            </a:pPr>
            <a:r>
              <a:rPr lang="en-US" sz="750" dirty="0">
                <a:solidFill>
                  <a:srgbClr val="F1C40F"/>
                </a:solidFill>
                <a:latin typeface="Calibri" pitchFamily="34" charset="0"/>
                <a:ea typeface="Calibri" pitchFamily="34" charset="-122"/>
                <a:cs typeface="Calibri" pitchFamily="34" charset="-120"/>
              </a:rPr>
              <a:t>Network Scanning</a:t>
            </a:r>
            <a:endParaRPr lang="en-US" sz="750" dirty="0"/>
          </a:p>
        </p:txBody>
      </p:sp>
      <p:sp>
        <p:nvSpPr>
          <p:cNvPr id="16" name="Text 14"/>
          <p:cNvSpPr/>
          <p:nvPr/>
        </p:nvSpPr>
        <p:spPr>
          <a:xfrm>
            <a:off x="4709160" y="1609344"/>
            <a:ext cx="3931920" cy="6400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Maps live hosts, open ports, and running services. Detects unexpected services indicating backdoors. Compare against authorised asset inventory.</a:t>
            </a:r>
            <a:endParaRPr lang="en-US" sz="850" dirty="0"/>
          </a:p>
        </p:txBody>
      </p:sp>
      <p:sp>
        <p:nvSpPr>
          <p:cNvPr id="17" name="Shape 15"/>
          <p:cNvSpPr/>
          <p:nvPr/>
        </p:nvSpPr>
        <p:spPr>
          <a:xfrm>
            <a:off x="320040" y="2395728"/>
            <a:ext cx="4133088" cy="1005840"/>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20040" y="2395728"/>
            <a:ext cx="54864" cy="1005840"/>
          </a:xfrm>
          <a:prstGeom prst="rect">
            <a:avLst/>
          </a:prstGeom>
          <a:solidFill>
            <a:srgbClr val="2EC4B6"/>
          </a:solidFill>
          <a:ln w="12700">
            <a:solidFill>
              <a:srgbClr val="2EC4B6"/>
            </a:solidFill>
            <a:prstDash val="solid"/>
          </a:ln>
        </p:spPr>
        <p:txBody>
          <a:bodyPr/>
          <a:lstStyle/>
          <a:p>
            <a:endParaRPr lang="en-SG"/>
          </a:p>
        </p:txBody>
      </p:sp>
      <p:sp>
        <p:nvSpPr>
          <p:cNvPr id="19" name="Text 17"/>
          <p:cNvSpPr/>
          <p:nvPr/>
        </p:nvSpPr>
        <p:spPr>
          <a:xfrm>
            <a:off x="448056" y="2432304"/>
            <a:ext cx="1737360" cy="219456"/>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Volatility</a:t>
            </a:r>
            <a:endParaRPr lang="en-US" sz="1100" dirty="0"/>
          </a:p>
        </p:txBody>
      </p:sp>
      <p:sp>
        <p:nvSpPr>
          <p:cNvPr id="20" name="Shape 18"/>
          <p:cNvSpPr/>
          <p:nvPr/>
        </p:nvSpPr>
        <p:spPr>
          <a:xfrm>
            <a:off x="2240280" y="2450592"/>
            <a:ext cx="1188720" cy="182880"/>
          </a:xfrm>
          <a:prstGeom prst="rect">
            <a:avLst/>
          </a:prstGeom>
          <a:solidFill>
            <a:srgbClr val="FFFFFF"/>
          </a:solidFill>
          <a:ln w="12700">
            <a:solidFill>
              <a:srgbClr val="2EC4B6"/>
            </a:solidFill>
            <a:prstDash val="solid"/>
          </a:ln>
        </p:spPr>
        <p:txBody>
          <a:bodyPr/>
          <a:lstStyle/>
          <a:p>
            <a:endParaRPr lang="en-SG"/>
          </a:p>
        </p:txBody>
      </p:sp>
      <p:sp>
        <p:nvSpPr>
          <p:cNvPr id="21" name="Text 19"/>
          <p:cNvSpPr/>
          <p:nvPr/>
        </p:nvSpPr>
        <p:spPr>
          <a:xfrm>
            <a:off x="2240280" y="2450592"/>
            <a:ext cx="1188720" cy="182880"/>
          </a:xfrm>
          <a:prstGeom prst="rect">
            <a:avLst/>
          </a:prstGeom>
          <a:noFill/>
          <a:ln/>
        </p:spPr>
        <p:txBody>
          <a:bodyPr wrap="square" lIns="0" tIns="0" rIns="0" bIns="0" rtlCol="0" anchor="ctr"/>
          <a:lstStyle/>
          <a:p>
            <a:pPr marL="0" indent="0" algn="ctr">
              <a:buNone/>
            </a:pPr>
            <a:r>
              <a:rPr lang="en-US" sz="750" dirty="0">
                <a:solidFill>
                  <a:srgbClr val="2EC4B6"/>
                </a:solidFill>
                <a:latin typeface="Calibri" pitchFamily="34" charset="0"/>
                <a:ea typeface="Calibri" pitchFamily="34" charset="-122"/>
                <a:cs typeface="Calibri" pitchFamily="34" charset="-120"/>
              </a:rPr>
              <a:t>Memory Analysis</a:t>
            </a:r>
            <a:endParaRPr lang="en-US" sz="750" dirty="0"/>
          </a:p>
        </p:txBody>
      </p:sp>
      <p:sp>
        <p:nvSpPr>
          <p:cNvPr id="22" name="Text 20"/>
          <p:cNvSpPr/>
          <p:nvPr/>
        </p:nvSpPr>
        <p:spPr>
          <a:xfrm>
            <a:off x="448056" y="2706624"/>
            <a:ext cx="3931920" cy="6400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Analyses RAM dumps to recover active network connections, running processes, and kernel objects — evidence that never touches the disk.</a:t>
            </a:r>
            <a:endParaRPr lang="en-US" sz="850" dirty="0"/>
          </a:p>
        </p:txBody>
      </p:sp>
      <p:sp>
        <p:nvSpPr>
          <p:cNvPr id="23" name="Shape 21"/>
          <p:cNvSpPr/>
          <p:nvPr/>
        </p:nvSpPr>
        <p:spPr>
          <a:xfrm>
            <a:off x="4581144" y="2395728"/>
            <a:ext cx="4133088" cy="1005840"/>
          </a:xfrm>
          <a:prstGeom prst="rect">
            <a:avLst/>
          </a:prstGeom>
          <a:solidFill>
            <a:srgbClr val="EEF6FB"/>
          </a:solidFill>
          <a:ln w="12700">
            <a:solidFill>
              <a:srgbClr val="EEF6FB"/>
            </a:solidFill>
            <a:prstDash val="solid"/>
          </a:ln>
        </p:spPr>
        <p:txBody>
          <a:bodyPr/>
          <a:lstStyle/>
          <a:p>
            <a:endParaRPr lang="en-SG"/>
          </a:p>
        </p:txBody>
      </p:sp>
      <p:sp>
        <p:nvSpPr>
          <p:cNvPr id="24" name="Shape 22"/>
          <p:cNvSpPr/>
          <p:nvPr/>
        </p:nvSpPr>
        <p:spPr>
          <a:xfrm>
            <a:off x="4581144" y="2395728"/>
            <a:ext cx="54864" cy="1005840"/>
          </a:xfrm>
          <a:prstGeom prst="rect">
            <a:avLst/>
          </a:prstGeom>
          <a:solidFill>
            <a:srgbClr val="F4A261"/>
          </a:solidFill>
          <a:ln w="12700">
            <a:solidFill>
              <a:srgbClr val="F4A261"/>
            </a:solidFill>
            <a:prstDash val="solid"/>
          </a:ln>
        </p:spPr>
        <p:txBody>
          <a:bodyPr/>
          <a:lstStyle/>
          <a:p>
            <a:endParaRPr lang="en-SG"/>
          </a:p>
        </p:txBody>
      </p:sp>
      <p:sp>
        <p:nvSpPr>
          <p:cNvPr id="25" name="Text 23"/>
          <p:cNvSpPr/>
          <p:nvPr/>
        </p:nvSpPr>
        <p:spPr>
          <a:xfrm>
            <a:off x="4709160" y="2432304"/>
            <a:ext cx="1737360" cy="219456"/>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Autopsy / TSK</a:t>
            </a:r>
            <a:endParaRPr lang="en-US" sz="1100" dirty="0"/>
          </a:p>
        </p:txBody>
      </p:sp>
      <p:sp>
        <p:nvSpPr>
          <p:cNvPr id="26" name="Shape 24"/>
          <p:cNvSpPr/>
          <p:nvPr/>
        </p:nvSpPr>
        <p:spPr>
          <a:xfrm>
            <a:off x="6501384" y="2450592"/>
            <a:ext cx="1188720" cy="182880"/>
          </a:xfrm>
          <a:prstGeom prst="rect">
            <a:avLst/>
          </a:prstGeom>
          <a:solidFill>
            <a:srgbClr val="FFFFFF"/>
          </a:solidFill>
          <a:ln w="12700">
            <a:solidFill>
              <a:srgbClr val="F4A261"/>
            </a:solidFill>
            <a:prstDash val="solid"/>
          </a:ln>
        </p:spPr>
        <p:txBody>
          <a:bodyPr/>
          <a:lstStyle/>
          <a:p>
            <a:endParaRPr lang="en-SG"/>
          </a:p>
        </p:txBody>
      </p:sp>
      <p:sp>
        <p:nvSpPr>
          <p:cNvPr id="27" name="Text 25"/>
          <p:cNvSpPr/>
          <p:nvPr/>
        </p:nvSpPr>
        <p:spPr>
          <a:xfrm>
            <a:off x="6501384" y="2450592"/>
            <a:ext cx="1188720" cy="182880"/>
          </a:xfrm>
          <a:prstGeom prst="rect">
            <a:avLst/>
          </a:prstGeom>
          <a:noFill/>
          <a:ln/>
        </p:spPr>
        <p:txBody>
          <a:bodyPr wrap="square" lIns="0" tIns="0" rIns="0" bIns="0" rtlCol="0" anchor="ctr"/>
          <a:lstStyle/>
          <a:p>
            <a:pPr marL="0" indent="0" algn="ctr">
              <a:buNone/>
            </a:pPr>
            <a:r>
              <a:rPr lang="en-US" sz="750" dirty="0">
                <a:solidFill>
                  <a:srgbClr val="F4A261"/>
                </a:solidFill>
                <a:latin typeface="Calibri" pitchFamily="34" charset="0"/>
                <a:ea typeface="Calibri" pitchFamily="34" charset="-122"/>
                <a:cs typeface="Calibri" pitchFamily="34" charset="-120"/>
              </a:rPr>
              <a:t>Disk + Network</a:t>
            </a:r>
            <a:endParaRPr lang="en-US" sz="750" dirty="0"/>
          </a:p>
        </p:txBody>
      </p:sp>
      <p:sp>
        <p:nvSpPr>
          <p:cNvPr id="28" name="Text 26"/>
          <p:cNvSpPr/>
          <p:nvPr/>
        </p:nvSpPr>
        <p:spPr>
          <a:xfrm>
            <a:off x="4709160" y="2706624"/>
            <a:ext cx="3931920" cy="6400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Full forensic examination platform. Browser history, email artefacts, and file timelines. Integrates with network logs for combined case view.</a:t>
            </a:r>
            <a:endParaRPr lang="en-US" sz="850" dirty="0"/>
          </a:p>
        </p:txBody>
      </p:sp>
      <p:sp>
        <p:nvSpPr>
          <p:cNvPr id="29" name="Shape 27"/>
          <p:cNvSpPr/>
          <p:nvPr/>
        </p:nvSpPr>
        <p:spPr>
          <a:xfrm>
            <a:off x="320040" y="3493008"/>
            <a:ext cx="4133088" cy="1005840"/>
          </a:xfrm>
          <a:prstGeom prst="rect">
            <a:avLst/>
          </a:prstGeom>
          <a:solidFill>
            <a:srgbClr val="EEF6FB"/>
          </a:solidFill>
          <a:ln w="12700">
            <a:solidFill>
              <a:srgbClr val="EEF6FB"/>
            </a:solidFill>
            <a:prstDash val="solid"/>
          </a:ln>
        </p:spPr>
        <p:txBody>
          <a:bodyPr/>
          <a:lstStyle/>
          <a:p>
            <a:endParaRPr lang="en-SG"/>
          </a:p>
        </p:txBody>
      </p:sp>
      <p:sp>
        <p:nvSpPr>
          <p:cNvPr id="30" name="Shape 28"/>
          <p:cNvSpPr/>
          <p:nvPr/>
        </p:nvSpPr>
        <p:spPr>
          <a:xfrm>
            <a:off x="320040" y="3493008"/>
            <a:ext cx="54864" cy="1005840"/>
          </a:xfrm>
          <a:prstGeom prst="rect">
            <a:avLst/>
          </a:prstGeom>
          <a:solidFill>
            <a:srgbClr val="00B4D8"/>
          </a:solidFill>
          <a:ln w="12700">
            <a:solidFill>
              <a:srgbClr val="00B4D8"/>
            </a:solidFill>
            <a:prstDash val="solid"/>
          </a:ln>
        </p:spPr>
        <p:txBody>
          <a:bodyPr/>
          <a:lstStyle/>
          <a:p>
            <a:endParaRPr lang="en-SG"/>
          </a:p>
        </p:txBody>
      </p:sp>
      <p:sp>
        <p:nvSpPr>
          <p:cNvPr id="31" name="Text 29"/>
          <p:cNvSpPr/>
          <p:nvPr/>
        </p:nvSpPr>
        <p:spPr>
          <a:xfrm>
            <a:off x="448056" y="3529584"/>
            <a:ext cx="1737360" cy="219456"/>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Zeek (Bro)</a:t>
            </a:r>
            <a:endParaRPr lang="en-US" sz="1100" dirty="0"/>
          </a:p>
        </p:txBody>
      </p:sp>
      <p:sp>
        <p:nvSpPr>
          <p:cNvPr id="32" name="Shape 30"/>
          <p:cNvSpPr/>
          <p:nvPr/>
        </p:nvSpPr>
        <p:spPr>
          <a:xfrm>
            <a:off x="2240280" y="3547872"/>
            <a:ext cx="1188720" cy="182880"/>
          </a:xfrm>
          <a:prstGeom prst="rect">
            <a:avLst/>
          </a:prstGeom>
          <a:solidFill>
            <a:srgbClr val="FFFFFF"/>
          </a:solidFill>
          <a:ln w="12700">
            <a:solidFill>
              <a:srgbClr val="00B4D8"/>
            </a:solidFill>
            <a:prstDash val="solid"/>
          </a:ln>
        </p:spPr>
        <p:txBody>
          <a:bodyPr/>
          <a:lstStyle/>
          <a:p>
            <a:endParaRPr lang="en-SG"/>
          </a:p>
        </p:txBody>
      </p:sp>
      <p:sp>
        <p:nvSpPr>
          <p:cNvPr id="33" name="Text 31"/>
          <p:cNvSpPr/>
          <p:nvPr/>
        </p:nvSpPr>
        <p:spPr>
          <a:xfrm>
            <a:off x="2240280" y="3547872"/>
            <a:ext cx="1188720" cy="182880"/>
          </a:xfrm>
          <a:prstGeom prst="rect">
            <a:avLst/>
          </a:prstGeom>
          <a:noFill/>
          <a:ln/>
        </p:spPr>
        <p:txBody>
          <a:bodyPr wrap="square" lIns="0" tIns="0" rIns="0" bIns="0" rtlCol="0" anchor="ctr"/>
          <a:lstStyle/>
          <a:p>
            <a:pPr marL="0" indent="0" algn="ctr">
              <a:buNone/>
            </a:pPr>
            <a:r>
              <a:rPr lang="en-US" sz="750" dirty="0">
                <a:solidFill>
                  <a:srgbClr val="00B4D8"/>
                </a:solidFill>
                <a:latin typeface="Calibri" pitchFamily="34" charset="0"/>
                <a:ea typeface="Calibri" pitchFamily="34" charset="-122"/>
                <a:cs typeface="Calibri" pitchFamily="34" charset="-120"/>
              </a:rPr>
              <a:t>Network Analysis</a:t>
            </a:r>
            <a:endParaRPr lang="en-US" sz="750" dirty="0"/>
          </a:p>
        </p:txBody>
      </p:sp>
      <p:sp>
        <p:nvSpPr>
          <p:cNvPr id="34" name="Text 32"/>
          <p:cNvSpPr/>
          <p:nvPr/>
        </p:nvSpPr>
        <p:spPr>
          <a:xfrm>
            <a:off x="448056" y="3803904"/>
            <a:ext cx="3931920" cy="6400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Generates rich structured logs from traffic (conn.log, dns.log, http.log). Ideal for long-term traffic logging and threat hunting in SOCs.</a:t>
            </a:r>
            <a:endParaRPr lang="en-US" sz="850" dirty="0"/>
          </a:p>
        </p:txBody>
      </p:sp>
      <p:sp>
        <p:nvSpPr>
          <p:cNvPr id="35" name="Shape 33"/>
          <p:cNvSpPr/>
          <p:nvPr/>
        </p:nvSpPr>
        <p:spPr>
          <a:xfrm>
            <a:off x="4581144" y="3493008"/>
            <a:ext cx="4133088" cy="1005840"/>
          </a:xfrm>
          <a:prstGeom prst="rect">
            <a:avLst/>
          </a:prstGeom>
          <a:solidFill>
            <a:srgbClr val="EEF6FB"/>
          </a:solidFill>
          <a:ln w="12700">
            <a:solidFill>
              <a:srgbClr val="EEF6FB"/>
            </a:solidFill>
            <a:prstDash val="solid"/>
          </a:ln>
        </p:spPr>
        <p:txBody>
          <a:bodyPr/>
          <a:lstStyle/>
          <a:p>
            <a:endParaRPr lang="en-SG"/>
          </a:p>
        </p:txBody>
      </p:sp>
      <p:sp>
        <p:nvSpPr>
          <p:cNvPr id="36" name="Shape 34"/>
          <p:cNvSpPr/>
          <p:nvPr/>
        </p:nvSpPr>
        <p:spPr>
          <a:xfrm>
            <a:off x="4581144" y="3493008"/>
            <a:ext cx="54864" cy="1005840"/>
          </a:xfrm>
          <a:prstGeom prst="rect">
            <a:avLst/>
          </a:prstGeom>
          <a:solidFill>
            <a:srgbClr val="E74C3C"/>
          </a:solidFill>
          <a:ln w="12700">
            <a:solidFill>
              <a:srgbClr val="E74C3C"/>
            </a:solidFill>
            <a:prstDash val="solid"/>
          </a:ln>
        </p:spPr>
        <p:txBody>
          <a:bodyPr/>
          <a:lstStyle/>
          <a:p>
            <a:endParaRPr lang="en-SG"/>
          </a:p>
        </p:txBody>
      </p:sp>
      <p:sp>
        <p:nvSpPr>
          <p:cNvPr id="37" name="Text 35"/>
          <p:cNvSpPr/>
          <p:nvPr/>
        </p:nvSpPr>
        <p:spPr>
          <a:xfrm>
            <a:off x="4709160" y="3529584"/>
            <a:ext cx="1737360" cy="219456"/>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OSSEC / Wazuh</a:t>
            </a:r>
            <a:endParaRPr lang="en-US" sz="1100" dirty="0"/>
          </a:p>
        </p:txBody>
      </p:sp>
      <p:sp>
        <p:nvSpPr>
          <p:cNvPr id="38" name="Shape 36"/>
          <p:cNvSpPr/>
          <p:nvPr/>
        </p:nvSpPr>
        <p:spPr>
          <a:xfrm>
            <a:off x="6501384" y="3547872"/>
            <a:ext cx="1188720" cy="182880"/>
          </a:xfrm>
          <a:prstGeom prst="rect">
            <a:avLst/>
          </a:prstGeom>
          <a:solidFill>
            <a:srgbClr val="FFFFFF"/>
          </a:solidFill>
          <a:ln w="12700">
            <a:solidFill>
              <a:srgbClr val="E74C3C"/>
            </a:solidFill>
            <a:prstDash val="solid"/>
          </a:ln>
        </p:spPr>
        <p:txBody>
          <a:bodyPr/>
          <a:lstStyle/>
          <a:p>
            <a:endParaRPr lang="en-SG"/>
          </a:p>
        </p:txBody>
      </p:sp>
      <p:sp>
        <p:nvSpPr>
          <p:cNvPr id="39" name="Text 37"/>
          <p:cNvSpPr/>
          <p:nvPr/>
        </p:nvSpPr>
        <p:spPr>
          <a:xfrm>
            <a:off x="6501384" y="3547872"/>
            <a:ext cx="1188720" cy="182880"/>
          </a:xfrm>
          <a:prstGeom prst="rect">
            <a:avLst/>
          </a:prstGeom>
          <a:noFill/>
          <a:ln/>
        </p:spPr>
        <p:txBody>
          <a:bodyPr wrap="square" lIns="0" tIns="0" rIns="0" bIns="0" rtlCol="0" anchor="ctr"/>
          <a:lstStyle/>
          <a:p>
            <a:pPr marL="0" indent="0" algn="ctr">
              <a:buNone/>
            </a:pPr>
            <a:r>
              <a:rPr lang="en-US" sz="750" dirty="0">
                <a:solidFill>
                  <a:srgbClr val="E74C3C"/>
                </a:solidFill>
                <a:latin typeface="Calibri" pitchFamily="34" charset="0"/>
                <a:ea typeface="Calibri" pitchFamily="34" charset="-122"/>
                <a:cs typeface="Calibri" pitchFamily="34" charset="-120"/>
              </a:rPr>
              <a:t>Host-based IDS</a:t>
            </a:r>
            <a:endParaRPr lang="en-US" sz="750" dirty="0"/>
          </a:p>
        </p:txBody>
      </p:sp>
      <p:sp>
        <p:nvSpPr>
          <p:cNvPr id="40" name="Text 38"/>
          <p:cNvSpPr/>
          <p:nvPr/>
        </p:nvSpPr>
        <p:spPr>
          <a:xfrm>
            <a:off x="4709160" y="3803904"/>
            <a:ext cx="3931920" cy="64008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Monitors endpoint logs in real time. Alerts on suspicious Windows events and Linux auth logs. Integrates with Kibana dashboards.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F4A261"/>
          </a:solidFill>
          <a:ln w="12700">
            <a:solidFill>
              <a:srgbClr val="F4A261"/>
            </a:solidFill>
            <a:prstDash val="solid"/>
          </a:ln>
        </p:spPr>
        <p:txBody>
          <a:bodyPr/>
          <a:lstStyle/>
          <a:p>
            <a:endParaRPr lang="en-SG"/>
          </a:p>
        </p:txBody>
      </p:sp>
      <p:sp>
        <p:nvSpPr>
          <p:cNvPr id="6" name="Text 4"/>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F4A261"/>
                </a:solidFill>
                <a:latin typeface="Calibri" pitchFamily="34" charset="0"/>
                <a:ea typeface="Calibri" pitchFamily="34" charset="-122"/>
                <a:cs typeface="Calibri" pitchFamily="34" charset="-120"/>
              </a:rPr>
              <a:t>SECTION 4</a:t>
            </a:r>
            <a:endParaRPr lang="en-US" sz="1300" dirty="0"/>
          </a:p>
        </p:txBody>
      </p:sp>
      <p:sp>
        <p:nvSpPr>
          <p:cNvPr id="7" name="Text 5"/>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4800" b="1" dirty="0">
                <a:solidFill>
                  <a:srgbClr val="1A1A2E"/>
                </a:solidFill>
                <a:latin typeface="Calibri" pitchFamily="34" charset="0"/>
                <a:ea typeface="Calibri" pitchFamily="34" charset="-122"/>
                <a:cs typeface="Calibri" pitchFamily="34" charset="-120"/>
              </a:rPr>
              <a:t>Email Forensics</a:t>
            </a:r>
            <a:endParaRPr lang="en-US" sz="4800" dirty="0"/>
          </a:p>
        </p:txBody>
      </p:sp>
      <p:sp>
        <p:nvSpPr>
          <p:cNvPr id="8" name="Text 6"/>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latin typeface="Calibri" pitchFamily="34" charset="0"/>
                <a:ea typeface="Calibri" pitchFamily="34" charset="-122"/>
                <a:cs typeface="Calibri" pitchFamily="34" charset="-120"/>
              </a:rPr>
              <a:t>Client/server architecture  ·  Email headers  ·  Tracing messages  ·  Server logs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How Email Works — A Step-by-Step Guide</a:t>
            </a:r>
            <a:endParaRPr lang="en-US" sz="2800" dirty="0"/>
          </a:p>
        </p:txBody>
      </p:sp>
      <p:sp>
        <p:nvSpPr>
          <p:cNvPr id="5" name="Shape 3"/>
          <p:cNvSpPr/>
          <p:nvPr/>
        </p:nvSpPr>
        <p:spPr>
          <a:xfrm>
            <a:off x="320040" y="1261872"/>
            <a:ext cx="8503920" cy="475488"/>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475488"/>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16736"/>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Think of email like sending a letter. You write it, hand it to a post office, it travels through a sorting network, and is delivered to the recipient's post box. Every stage leaves a log that investigators can examine.</a:t>
            </a:r>
            <a:endParaRPr lang="en-US" sz="950" dirty="0"/>
          </a:p>
        </p:txBody>
      </p:sp>
      <p:sp>
        <p:nvSpPr>
          <p:cNvPr id="8" name="Shape 6"/>
          <p:cNvSpPr/>
          <p:nvPr/>
        </p:nvSpPr>
        <p:spPr>
          <a:xfrm>
            <a:off x="274320" y="1828800"/>
            <a:ext cx="1572768" cy="1207008"/>
          </a:xfrm>
          <a:prstGeom prst="rect">
            <a:avLst/>
          </a:prstGeom>
          <a:solidFill>
            <a:srgbClr val="EEF6FB"/>
          </a:solidFill>
          <a:ln w="12700">
            <a:solidFill>
              <a:srgbClr val="00B4D8"/>
            </a:solidFill>
            <a:prstDash val="solid"/>
          </a:ln>
        </p:spPr>
        <p:txBody>
          <a:bodyPr/>
          <a:lstStyle/>
          <a:p>
            <a:endParaRPr lang="en-SG"/>
          </a:p>
        </p:txBody>
      </p:sp>
      <p:sp>
        <p:nvSpPr>
          <p:cNvPr id="9" name="Shape 7"/>
          <p:cNvSpPr/>
          <p:nvPr/>
        </p:nvSpPr>
        <p:spPr>
          <a:xfrm>
            <a:off x="274320" y="1828800"/>
            <a:ext cx="1572768" cy="25603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274320" y="1828800"/>
            <a:ext cx="274320" cy="25603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566928" y="1828800"/>
            <a:ext cx="1280160" cy="256032"/>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365760" y="2121408"/>
            <a:ext cx="1389888" cy="384048"/>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You write &amp;</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send the email</a:t>
            </a:r>
            <a:endParaRPr lang="en-US" sz="850" dirty="0"/>
          </a:p>
        </p:txBody>
      </p:sp>
      <p:sp>
        <p:nvSpPr>
          <p:cNvPr id="13" name="Text 11"/>
          <p:cNvSpPr/>
          <p:nvPr/>
        </p:nvSpPr>
        <p:spPr>
          <a:xfrm>
            <a:off x="365760" y="2523744"/>
            <a:ext cx="1389888" cy="256032"/>
          </a:xfrm>
          <a:prstGeom prst="rect">
            <a:avLst/>
          </a:prstGeom>
          <a:noFill/>
          <a:ln/>
        </p:spPr>
        <p:txBody>
          <a:bodyPr wrap="square" lIns="0" tIns="0" rIns="0" bIns="0" rtlCol="0" anchor="ctr"/>
          <a:lstStyle/>
          <a:p>
            <a:pPr marL="0" indent="0" algn="ctr">
              <a:buNone/>
            </a:pPr>
            <a:r>
              <a:rPr lang="en-US" sz="750" dirty="0">
                <a:solidFill>
                  <a:srgbClr val="8899AA"/>
                </a:solidFill>
                <a:latin typeface="Calibri" pitchFamily="34" charset="0"/>
                <a:ea typeface="Calibri" pitchFamily="34" charset="-122"/>
                <a:cs typeface="Calibri" pitchFamily="34" charset="-120"/>
              </a:rPr>
              <a:t>Your device</a:t>
            </a:r>
            <a:endParaRPr lang="en-US" sz="750" dirty="0"/>
          </a:p>
          <a:p>
            <a:pPr marL="0" indent="0" algn="ctr">
              <a:buNone/>
            </a:pPr>
            <a:r>
              <a:rPr lang="en-US" sz="750" dirty="0">
                <a:solidFill>
                  <a:srgbClr val="8899AA"/>
                </a:solidFill>
                <a:latin typeface="Calibri" pitchFamily="34" charset="0"/>
                <a:ea typeface="Calibri" pitchFamily="34" charset="-122"/>
                <a:cs typeface="Calibri" pitchFamily="34" charset="-120"/>
              </a:rPr>
              <a:t>(Email client)</a:t>
            </a:r>
            <a:endParaRPr lang="en-US" sz="750" dirty="0"/>
          </a:p>
        </p:txBody>
      </p:sp>
      <p:sp>
        <p:nvSpPr>
          <p:cNvPr id="14" name="Shape 12"/>
          <p:cNvSpPr/>
          <p:nvPr/>
        </p:nvSpPr>
        <p:spPr>
          <a:xfrm>
            <a:off x="457200" y="2798064"/>
            <a:ext cx="1207008" cy="201168"/>
          </a:xfrm>
          <a:prstGeom prst="rect">
            <a:avLst/>
          </a:prstGeom>
          <a:solidFill>
            <a:srgbClr val="FFFFFF"/>
          </a:solidFill>
          <a:ln w="12700">
            <a:solidFill>
              <a:srgbClr val="00B4D8"/>
            </a:solidFill>
            <a:prstDash val="solid"/>
          </a:ln>
        </p:spPr>
        <p:txBody>
          <a:bodyPr/>
          <a:lstStyle/>
          <a:p>
            <a:endParaRPr lang="en-SG"/>
          </a:p>
        </p:txBody>
      </p:sp>
      <p:sp>
        <p:nvSpPr>
          <p:cNvPr id="15" name="Text 13"/>
          <p:cNvSpPr/>
          <p:nvPr/>
        </p:nvSpPr>
        <p:spPr>
          <a:xfrm>
            <a:off x="457200" y="2798064"/>
            <a:ext cx="1207008" cy="201168"/>
          </a:xfrm>
          <a:prstGeom prst="rect">
            <a:avLst/>
          </a:prstGeom>
          <a:noFill/>
          <a:ln/>
        </p:spPr>
        <p:txBody>
          <a:bodyPr wrap="square" lIns="0" tIns="0" rIns="0" bIns="0" rtlCol="0" anchor="ctr"/>
          <a:lstStyle/>
          <a:p>
            <a:pPr marL="0" indent="0" algn="ctr">
              <a:buNone/>
            </a:pPr>
            <a:r>
              <a:rPr lang="en-US" sz="700" dirty="0">
                <a:solidFill>
                  <a:srgbClr val="00B4D8"/>
                </a:solidFill>
                <a:latin typeface="Calibri" pitchFamily="34" charset="0"/>
                <a:ea typeface="Calibri" pitchFamily="34" charset="-122"/>
                <a:cs typeface="Calibri" pitchFamily="34" charset="-120"/>
              </a:rPr>
              <a:t>SMTP OUT</a:t>
            </a:r>
            <a:endParaRPr lang="en-US" sz="700" dirty="0"/>
          </a:p>
          <a:p>
            <a:pPr marL="0" indent="0" algn="ctr">
              <a:buNone/>
            </a:pPr>
            <a:r>
              <a:rPr lang="en-US" sz="700" dirty="0">
                <a:solidFill>
                  <a:srgbClr val="00B4D8"/>
                </a:solidFill>
                <a:latin typeface="Calibri" pitchFamily="34" charset="0"/>
                <a:ea typeface="Calibri" pitchFamily="34" charset="-122"/>
                <a:cs typeface="Calibri" pitchFamily="34" charset="-120"/>
              </a:rPr>
              <a:t>Port 587</a:t>
            </a:r>
            <a:endParaRPr lang="en-US" sz="700" dirty="0"/>
          </a:p>
        </p:txBody>
      </p:sp>
      <p:sp>
        <p:nvSpPr>
          <p:cNvPr id="16" name="Shape 14"/>
          <p:cNvSpPr/>
          <p:nvPr/>
        </p:nvSpPr>
        <p:spPr>
          <a:xfrm>
            <a:off x="1856232" y="2395728"/>
            <a:ext cx="100584" cy="73152"/>
          </a:xfrm>
          <a:prstGeom prst="rect">
            <a:avLst/>
          </a:prstGeom>
          <a:solidFill>
            <a:srgbClr val="8899AA"/>
          </a:solidFill>
          <a:ln w="12700">
            <a:solidFill>
              <a:srgbClr val="8899AA"/>
            </a:solidFill>
            <a:prstDash val="solid"/>
          </a:ln>
        </p:spPr>
        <p:txBody>
          <a:bodyPr/>
          <a:lstStyle/>
          <a:p>
            <a:endParaRPr lang="en-SG"/>
          </a:p>
        </p:txBody>
      </p:sp>
      <p:sp>
        <p:nvSpPr>
          <p:cNvPr id="17" name="Shape 15"/>
          <p:cNvSpPr/>
          <p:nvPr/>
        </p:nvSpPr>
        <p:spPr>
          <a:xfrm>
            <a:off x="1956816" y="1828800"/>
            <a:ext cx="1572768" cy="1207008"/>
          </a:xfrm>
          <a:prstGeom prst="rect">
            <a:avLst/>
          </a:prstGeom>
          <a:solidFill>
            <a:srgbClr val="EEF6FB"/>
          </a:solidFill>
          <a:ln w="12700">
            <a:solidFill>
              <a:srgbClr val="F4A261"/>
            </a:solidFill>
            <a:prstDash val="solid"/>
          </a:ln>
        </p:spPr>
        <p:txBody>
          <a:bodyPr/>
          <a:lstStyle/>
          <a:p>
            <a:endParaRPr lang="en-SG"/>
          </a:p>
        </p:txBody>
      </p:sp>
      <p:sp>
        <p:nvSpPr>
          <p:cNvPr id="18" name="Shape 16"/>
          <p:cNvSpPr/>
          <p:nvPr/>
        </p:nvSpPr>
        <p:spPr>
          <a:xfrm>
            <a:off x="1956816" y="1828800"/>
            <a:ext cx="1572768" cy="256032"/>
          </a:xfrm>
          <a:prstGeom prst="rect">
            <a:avLst/>
          </a:prstGeom>
          <a:solidFill>
            <a:srgbClr val="F4A261"/>
          </a:solidFill>
          <a:ln w="12700">
            <a:solidFill>
              <a:srgbClr val="F4A261"/>
            </a:solidFill>
            <a:prstDash val="solid"/>
          </a:ln>
        </p:spPr>
        <p:txBody>
          <a:bodyPr/>
          <a:lstStyle/>
          <a:p>
            <a:endParaRPr lang="en-SG"/>
          </a:p>
        </p:txBody>
      </p:sp>
      <p:sp>
        <p:nvSpPr>
          <p:cNvPr id="19" name="Text 17"/>
          <p:cNvSpPr/>
          <p:nvPr/>
        </p:nvSpPr>
        <p:spPr>
          <a:xfrm>
            <a:off x="1956816" y="1828800"/>
            <a:ext cx="274320" cy="25603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2249424" y="1828800"/>
            <a:ext cx="1280160" cy="256032"/>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2048256" y="2121408"/>
            <a:ext cx="1389888" cy="384048"/>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Uploaded to</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your mail server</a:t>
            </a:r>
            <a:endParaRPr lang="en-US" sz="850" dirty="0"/>
          </a:p>
        </p:txBody>
      </p:sp>
      <p:sp>
        <p:nvSpPr>
          <p:cNvPr id="22" name="Text 20"/>
          <p:cNvSpPr/>
          <p:nvPr/>
        </p:nvSpPr>
        <p:spPr>
          <a:xfrm>
            <a:off x="2048256" y="2523744"/>
            <a:ext cx="1389888" cy="256032"/>
          </a:xfrm>
          <a:prstGeom prst="rect">
            <a:avLst/>
          </a:prstGeom>
          <a:noFill/>
          <a:ln/>
        </p:spPr>
        <p:txBody>
          <a:bodyPr wrap="square" lIns="0" tIns="0" rIns="0" bIns="0" rtlCol="0" anchor="ctr"/>
          <a:lstStyle/>
          <a:p>
            <a:pPr marL="0" indent="0" algn="ctr">
              <a:buNone/>
            </a:pPr>
            <a:r>
              <a:rPr lang="en-US" sz="750" dirty="0">
                <a:solidFill>
                  <a:srgbClr val="8899AA"/>
                </a:solidFill>
                <a:latin typeface="Calibri" pitchFamily="34" charset="0"/>
                <a:ea typeface="Calibri" pitchFamily="34" charset="-122"/>
                <a:cs typeface="Calibri" pitchFamily="34" charset="-120"/>
              </a:rPr>
              <a:t>Your SMTP</a:t>
            </a:r>
            <a:endParaRPr lang="en-US" sz="750" dirty="0"/>
          </a:p>
          <a:p>
            <a:pPr marL="0" indent="0" algn="ctr">
              <a:buNone/>
            </a:pPr>
            <a:r>
              <a:rPr lang="en-US" sz="750" dirty="0">
                <a:solidFill>
                  <a:srgbClr val="8899AA"/>
                </a:solidFill>
                <a:latin typeface="Calibri" pitchFamily="34" charset="0"/>
                <a:ea typeface="Calibri" pitchFamily="34" charset="-122"/>
                <a:cs typeface="Calibri" pitchFamily="34" charset="-120"/>
              </a:rPr>
              <a:t>Server</a:t>
            </a:r>
            <a:endParaRPr lang="en-US" sz="750" dirty="0"/>
          </a:p>
        </p:txBody>
      </p:sp>
      <p:sp>
        <p:nvSpPr>
          <p:cNvPr id="23" name="Shape 21"/>
          <p:cNvSpPr/>
          <p:nvPr/>
        </p:nvSpPr>
        <p:spPr>
          <a:xfrm>
            <a:off x="2139696" y="2798064"/>
            <a:ext cx="1207008" cy="201168"/>
          </a:xfrm>
          <a:prstGeom prst="rect">
            <a:avLst/>
          </a:prstGeom>
          <a:solidFill>
            <a:srgbClr val="FFFFFF"/>
          </a:solidFill>
          <a:ln w="12700">
            <a:solidFill>
              <a:srgbClr val="F4A261"/>
            </a:solidFill>
            <a:prstDash val="solid"/>
          </a:ln>
        </p:spPr>
        <p:txBody>
          <a:bodyPr/>
          <a:lstStyle/>
          <a:p>
            <a:endParaRPr lang="en-SG"/>
          </a:p>
        </p:txBody>
      </p:sp>
      <p:sp>
        <p:nvSpPr>
          <p:cNvPr id="24" name="Text 22"/>
          <p:cNvSpPr/>
          <p:nvPr/>
        </p:nvSpPr>
        <p:spPr>
          <a:xfrm>
            <a:off x="2139696" y="2798064"/>
            <a:ext cx="1207008" cy="201168"/>
          </a:xfrm>
          <a:prstGeom prst="rect">
            <a:avLst/>
          </a:prstGeom>
          <a:noFill/>
          <a:ln/>
        </p:spPr>
        <p:txBody>
          <a:bodyPr wrap="square" lIns="0" tIns="0" rIns="0" bIns="0" rtlCol="0" anchor="ctr"/>
          <a:lstStyle/>
          <a:p>
            <a:pPr marL="0" indent="0" algn="ctr">
              <a:buNone/>
            </a:pPr>
            <a:r>
              <a:rPr lang="en-US" sz="700" dirty="0">
                <a:solidFill>
                  <a:srgbClr val="F4A261"/>
                </a:solidFill>
                <a:latin typeface="Calibri" pitchFamily="34" charset="0"/>
                <a:ea typeface="Calibri" pitchFamily="34" charset="-122"/>
                <a:cs typeface="Calibri" pitchFamily="34" charset="-120"/>
              </a:rPr>
              <a:t>Stores &amp;</a:t>
            </a:r>
            <a:endParaRPr lang="en-US" sz="700" dirty="0"/>
          </a:p>
          <a:p>
            <a:pPr marL="0" indent="0" algn="ctr">
              <a:buNone/>
            </a:pPr>
            <a:r>
              <a:rPr lang="en-US" sz="700" dirty="0">
                <a:solidFill>
                  <a:srgbClr val="F4A261"/>
                </a:solidFill>
                <a:latin typeface="Calibri" pitchFamily="34" charset="0"/>
                <a:ea typeface="Calibri" pitchFamily="34" charset="-122"/>
                <a:cs typeface="Calibri" pitchFamily="34" charset="-120"/>
              </a:rPr>
              <a:t>forwards</a:t>
            </a:r>
            <a:endParaRPr lang="en-US" sz="700" dirty="0"/>
          </a:p>
        </p:txBody>
      </p:sp>
      <p:sp>
        <p:nvSpPr>
          <p:cNvPr id="25" name="Shape 23"/>
          <p:cNvSpPr/>
          <p:nvPr/>
        </p:nvSpPr>
        <p:spPr>
          <a:xfrm>
            <a:off x="3538728" y="2395728"/>
            <a:ext cx="100584" cy="73152"/>
          </a:xfrm>
          <a:prstGeom prst="rect">
            <a:avLst/>
          </a:prstGeom>
          <a:solidFill>
            <a:srgbClr val="8899AA"/>
          </a:solidFill>
          <a:ln w="12700">
            <a:solidFill>
              <a:srgbClr val="8899AA"/>
            </a:solidFill>
            <a:prstDash val="solid"/>
          </a:ln>
        </p:spPr>
        <p:txBody>
          <a:bodyPr/>
          <a:lstStyle/>
          <a:p>
            <a:endParaRPr lang="en-SG"/>
          </a:p>
        </p:txBody>
      </p:sp>
      <p:sp>
        <p:nvSpPr>
          <p:cNvPr id="26" name="Shape 24"/>
          <p:cNvSpPr/>
          <p:nvPr/>
        </p:nvSpPr>
        <p:spPr>
          <a:xfrm>
            <a:off x="3639312" y="1828800"/>
            <a:ext cx="1572768" cy="1207008"/>
          </a:xfrm>
          <a:prstGeom prst="rect">
            <a:avLst/>
          </a:prstGeom>
          <a:solidFill>
            <a:srgbClr val="EEF6FB"/>
          </a:solidFill>
          <a:ln w="12700">
            <a:solidFill>
              <a:srgbClr val="8899AA"/>
            </a:solidFill>
            <a:prstDash val="solid"/>
          </a:ln>
        </p:spPr>
        <p:txBody>
          <a:bodyPr/>
          <a:lstStyle/>
          <a:p>
            <a:endParaRPr lang="en-SG"/>
          </a:p>
        </p:txBody>
      </p:sp>
      <p:sp>
        <p:nvSpPr>
          <p:cNvPr id="27" name="Shape 25"/>
          <p:cNvSpPr/>
          <p:nvPr/>
        </p:nvSpPr>
        <p:spPr>
          <a:xfrm>
            <a:off x="3639312" y="1828800"/>
            <a:ext cx="1572768" cy="256032"/>
          </a:xfrm>
          <a:prstGeom prst="rect">
            <a:avLst/>
          </a:prstGeom>
          <a:solidFill>
            <a:srgbClr val="8899AA"/>
          </a:solidFill>
          <a:ln w="12700">
            <a:solidFill>
              <a:srgbClr val="8899AA"/>
            </a:solidFill>
            <a:prstDash val="solid"/>
          </a:ln>
        </p:spPr>
        <p:txBody>
          <a:bodyPr/>
          <a:lstStyle/>
          <a:p>
            <a:endParaRPr lang="en-SG"/>
          </a:p>
        </p:txBody>
      </p:sp>
      <p:sp>
        <p:nvSpPr>
          <p:cNvPr id="28" name="Text 26"/>
          <p:cNvSpPr/>
          <p:nvPr/>
        </p:nvSpPr>
        <p:spPr>
          <a:xfrm>
            <a:off x="3639312" y="1828800"/>
            <a:ext cx="274320" cy="25603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3931920" y="1828800"/>
            <a:ext cx="1280160" cy="256032"/>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3730752" y="2121408"/>
            <a:ext cx="1389888" cy="384048"/>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Travels across</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the Internet</a:t>
            </a:r>
            <a:endParaRPr lang="en-US" sz="850" dirty="0"/>
          </a:p>
        </p:txBody>
      </p:sp>
      <p:sp>
        <p:nvSpPr>
          <p:cNvPr id="31" name="Text 29"/>
          <p:cNvSpPr/>
          <p:nvPr/>
        </p:nvSpPr>
        <p:spPr>
          <a:xfrm>
            <a:off x="3730752" y="2523744"/>
            <a:ext cx="1389888" cy="256032"/>
          </a:xfrm>
          <a:prstGeom prst="rect">
            <a:avLst/>
          </a:prstGeom>
          <a:noFill/>
          <a:ln/>
        </p:spPr>
        <p:txBody>
          <a:bodyPr wrap="square" lIns="0" tIns="0" rIns="0" bIns="0" rtlCol="0" anchor="ctr"/>
          <a:lstStyle/>
          <a:p>
            <a:pPr marL="0" indent="0" algn="ctr">
              <a:buNone/>
            </a:pPr>
            <a:r>
              <a:rPr lang="en-US" sz="750" dirty="0">
                <a:solidFill>
                  <a:srgbClr val="8899AA"/>
                </a:solidFill>
                <a:latin typeface="Calibri" pitchFamily="34" charset="0"/>
                <a:ea typeface="Calibri" pitchFamily="34" charset="-122"/>
                <a:cs typeface="Calibri" pitchFamily="34" charset="-120"/>
              </a:rPr>
              <a:t>Internet</a:t>
            </a:r>
            <a:endParaRPr lang="en-US" sz="750" dirty="0"/>
          </a:p>
          <a:p>
            <a:pPr marL="0" indent="0" algn="ctr">
              <a:buNone/>
            </a:pPr>
            <a:r>
              <a:rPr lang="en-US" sz="750" dirty="0">
                <a:solidFill>
                  <a:srgbClr val="8899AA"/>
                </a:solidFill>
                <a:latin typeface="Calibri" pitchFamily="34" charset="0"/>
                <a:ea typeface="Calibri" pitchFamily="34" charset="-122"/>
                <a:cs typeface="Calibri" pitchFamily="34" charset="-120"/>
              </a:rPr>
              <a:t>(SMTP relay)</a:t>
            </a:r>
            <a:endParaRPr lang="en-US" sz="750" dirty="0"/>
          </a:p>
        </p:txBody>
      </p:sp>
      <p:sp>
        <p:nvSpPr>
          <p:cNvPr id="32" name="Shape 30"/>
          <p:cNvSpPr/>
          <p:nvPr/>
        </p:nvSpPr>
        <p:spPr>
          <a:xfrm>
            <a:off x="3822192" y="2798064"/>
            <a:ext cx="1207008" cy="201168"/>
          </a:xfrm>
          <a:prstGeom prst="rect">
            <a:avLst/>
          </a:prstGeom>
          <a:solidFill>
            <a:srgbClr val="FFFFFF"/>
          </a:solidFill>
          <a:ln w="12700">
            <a:solidFill>
              <a:srgbClr val="8899AA"/>
            </a:solidFill>
            <a:prstDash val="solid"/>
          </a:ln>
        </p:spPr>
        <p:txBody>
          <a:bodyPr/>
          <a:lstStyle/>
          <a:p>
            <a:endParaRPr lang="en-SG"/>
          </a:p>
        </p:txBody>
      </p:sp>
      <p:sp>
        <p:nvSpPr>
          <p:cNvPr id="33" name="Text 31"/>
          <p:cNvSpPr/>
          <p:nvPr/>
        </p:nvSpPr>
        <p:spPr>
          <a:xfrm>
            <a:off x="3822192" y="2798064"/>
            <a:ext cx="1207008" cy="201168"/>
          </a:xfrm>
          <a:prstGeom prst="rect">
            <a:avLst/>
          </a:prstGeom>
          <a:noFill/>
          <a:ln/>
        </p:spPr>
        <p:txBody>
          <a:bodyPr wrap="square" lIns="0" tIns="0" rIns="0" bIns="0" rtlCol="0" anchor="ctr"/>
          <a:lstStyle/>
          <a:p>
            <a:pPr marL="0" indent="0" algn="ctr">
              <a:buNone/>
            </a:pPr>
            <a:r>
              <a:rPr lang="en-US" sz="700" dirty="0">
                <a:solidFill>
                  <a:srgbClr val="8899AA"/>
                </a:solidFill>
                <a:latin typeface="Calibri" pitchFamily="34" charset="0"/>
                <a:ea typeface="Calibri" pitchFamily="34" charset="-122"/>
                <a:cs typeface="Calibri" pitchFamily="34" charset="-120"/>
              </a:rPr>
              <a:t>SMTP</a:t>
            </a:r>
            <a:endParaRPr lang="en-US" sz="700" dirty="0"/>
          </a:p>
          <a:p>
            <a:pPr marL="0" indent="0" algn="ctr">
              <a:buNone/>
            </a:pPr>
            <a:r>
              <a:rPr lang="en-US" sz="700" dirty="0">
                <a:solidFill>
                  <a:srgbClr val="8899AA"/>
                </a:solidFill>
                <a:latin typeface="Calibri" pitchFamily="34" charset="0"/>
                <a:ea typeface="Calibri" pitchFamily="34" charset="-122"/>
                <a:cs typeface="Calibri" pitchFamily="34" charset="-120"/>
              </a:rPr>
              <a:t>Port 25</a:t>
            </a:r>
            <a:endParaRPr lang="en-US" sz="700" dirty="0"/>
          </a:p>
        </p:txBody>
      </p:sp>
      <p:sp>
        <p:nvSpPr>
          <p:cNvPr id="34" name="Shape 32"/>
          <p:cNvSpPr/>
          <p:nvPr/>
        </p:nvSpPr>
        <p:spPr>
          <a:xfrm>
            <a:off x="5221224" y="2395728"/>
            <a:ext cx="100584" cy="73152"/>
          </a:xfrm>
          <a:prstGeom prst="rect">
            <a:avLst/>
          </a:prstGeom>
          <a:solidFill>
            <a:srgbClr val="8899AA"/>
          </a:solidFill>
          <a:ln w="12700">
            <a:solidFill>
              <a:srgbClr val="8899AA"/>
            </a:solidFill>
            <a:prstDash val="solid"/>
          </a:ln>
        </p:spPr>
        <p:txBody>
          <a:bodyPr/>
          <a:lstStyle/>
          <a:p>
            <a:endParaRPr lang="en-SG"/>
          </a:p>
        </p:txBody>
      </p:sp>
      <p:sp>
        <p:nvSpPr>
          <p:cNvPr id="35" name="Shape 33"/>
          <p:cNvSpPr/>
          <p:nvPr/>
        </p:nvSpPr>
        <p:spPr>
          <a:xfrm>
            <a:off x="5321808" y="1828800"/>
            <a:ext cx="1572768" cy="1207008"/>
          </a:xfrm>
          <a:prstGeom prst="rect">
            <a:avLst/>
          </a:prstGeom>
          <a:solidFill>
            <a:srgbClr val="EEF6FB"/>
          </a:solidFill>
          <a:ln w="12700">
            <a:solidFill>
              <a:srgbClr val="A855F7"/>
            </a:solidFill>
            <a:prstDash val="solid"/>
          </a:ln>
        </p:spPr>
        <p:txBody>
          <a:bodyPr/>
          <a:lstStyle/>
          <a:p>
            <a:endParaRPr lang="en-SG"/>
          </a:p>
        </p:txBody>
      </p:sp>
      <p:sp>
        <p:nvSpPr>
          <p:cNvPr id="36" name="Shape 34"/>
          <p:cNvSpPr/>
          <p:nvPr/>
        </p:nvSpPr>
        <p:spPr>
          <a:xfrm>
            <a:off x="5321808" y="1828800"/>
            <a:ext cx="1572768" cy="256032"/>
          </a:xfrm>
          <a:prstGeom prst="rect">
            <a:avLst/>
          </a:prstGeom>
          <a:solidFill>
            <a:srgbClr val="A855F7"/>
          </a:solidFill>
          <a:ln w="12700">
            <a:solidFill>
              <a:srgbClr val="A855F7"/>
            </a:solidFill>
            <a:prstDash val="solid"/>
          </a:ln>
        </p:spPr>
        <p:txBody>
          <a:bodyPr/>
          <a:lstStyle/>
          <a:p>
            <a:endParaRPr lang="en-SG"/>
          </a:p>
        </p:txBody>
      </p:sp>
      <p:sp>
        <p:nvSpPr>
          <p:cNvPr id="37" name="Text 35"/>
          <p:cNvSpPr/>
          <p:nvPr/>
        </p:nvSpPr>
        <p:spPr>
          <a:xfrm>
            <a:off x="5321808" y="1828800"/>
            <a:ext cx="274320" cy="25603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4</a:t>
            </a:r>
            <a:endParaRPr lang="en-US" sz="1200" dirty="0"/>
          </a:p>
        </p:txBody>
      </p:sp>
      <p:sp>
        <p:nvSpPr>
          <p:cNvPr id="38" name="Text 36"/>
          <p:cNvSpPr/>
          <p:nvPr/>
        </p:nvSpPr>
        <p:spPr>
          <a:xfrm>
            <a:off x="5614416" y="1828800"/>
            <a:ext cx="1280160" cy="256032"/>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5413248" y="2121408"/>
            <a:ext cx="1389888" cy="384048"/>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Delivered to</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recipient server</a:t>
            </a:r>
            <a:endParaRPr lang="en-US" sz="850" dirty="0"/>
          </a:p>
        </p:txBody>
      </p:sp>
      <p:sp>
        <p:nvSpPr>
          <p:cNvPr id="40" name="Text 38"/>
          <p:cNvSpPr/>
          <p:nvPr/>
        </p:nvSpPr>
        <p:spPr>
          <a:xfrm>
            <a:off x="5413248" y="2523744"/>
            <a:ext cx="1389888" cy="256032"/>
          </a:xfrm>
          <a:prstGeom prst="rect">
            <a:avLst/>
          </a:prstGeom>
          <a:noFill/>
          <a:ln/>
        </p:spPr>
        <p:txBody>
          <a:bodyPr wrap="square" lIns="0" tIns="0" rIns="0" bIns="0" rtlCol="0" anchor="ctr"/>
          <a:lstStyle/>
          <a:p>
            <a:pPr marL="0" indent="0" algn="ctr">
              <a:buNone/>
            </a:pPr>
            <a:r>
              <a:rPr lang="en-US" sz="750" dirty="0">
                <a:solidFill>
                  <a:srgbClr val="8899AA"/>
                </a:solidFill>
                <a:latin typeface="Calibri" pitchFamily="34" charset="0"/>
                <a:ea typeface="Calibri" pitchFamily="34" charset="-122"/>
                <a:cs typeface="Calibri" pitchFamily="34" charset="-120"/>
              </a:rPr>
              <a:t>Recipient's</a:t>
            </a:r>
            <a:endParaRPr lang="en-US" sz="750" dirty="0"/>
          </a:p>
          <a:p>
            <a:pPr marL="0" indent="0" algn="ctr">
              <a:buNone/>
            </a:pPr>
            <a:r>
              <a:rPr lang="en-US" sz="750" dirty="0">
                <a:solidFill>
                  <a:srgbClr val="8899AA"/>
                </a:solidFill>
                <a:latin typeface="Calibri" pitchFamily="34" charset="0"/>
                <a:ea typeface="Calibri" pitchFamily="34" charset="-122"/>
                <a:cs typeface="Calibri" pitchFamily="34" charset="-120"/>
              </a:rPr>
              <a:t>Mail Server</a:t>
            </a:r>
            <a:endParaRPr lang="en-US" sz="750" dirty="0"/>
          </a:p>
        </p:txBody>
      </p:sp>
      <p:sp>
        <p:nvSpPr>
          <p:cNvPr id="41" name="Shape 39"/>
          <p:cNvSpPr/>
          <p:nvPr/>
        </p:nvSpPr>
        <p:spPr>
          <a:xfrm>
            <a:off x="5504688" y="2798064"/>
            <a:ext cx="1207008" cy="201168"/>
          </a:xfrm>
          <a:prstGeom prst="rect">
            <a:avLst/>
          </a:prstGeom>
          <a:solidFill>
            <a:srgbClr val="FFFFFF"/>
          </a:solidFill>
          <a:ln w="12700">
            <a:solidFill>
              <a:srgbClr val="A855F7"/>
            </a:solidFill>
            <a:prstDash val="solid"/>
          </a:ln>
        </p:spPr>
        <p:txBody>
          <a:bodyPr/>
          <a:lstStyle/>
          <a:p>
            <a:endParaRPr lang="en-SG"/>
          </a:p>
        </p:txBody>
      </p:sp>
      <p:sp>
        <p:nvSpPr>
          <p:cNvPr id="42" name="Text 40"/>
          <p:cNvSpPr/>
          <p:nvPr/>
        </p:nvSpPr>
        <p:spPr>
          <a:xfrm>
            <a:off x="5504688" y="2798064"/>
            <a:ext cx="1207008" cy="201168"/>
          </a:xfrm>
          <a:prstGeom prst="rect">
            <a:avLst/>
          </a:prstGeom>
          <a:noFill/>
          <a:ln/>
        </p:spPr>
        <p:txBody>
          <a:bodyPr wrap="square" lIns="0" tIns="0" rIns="0" bIns="0" rtlCol="0" anchor="ctr"/>
          <a:lstStyle/>
          <a:p>
            <a:pPr marL="0" indent="0" algn="ctr">
              <a:buNone/>
            </a:pPr>
            <a:r>
              <a:rPr lang="en-US" sz="700" dirty="0">
                <a:solidFill>
                  <a:srgbClr val="A855F7"/>
                </a:solidFill>
                <a:latin typeface="Calibri" pitchFamily="34" charset="0"/>
                <a:ea typeface="Calibri" pitchFamily="34" charset="-122"/>
                <a:cs typeface="Calibri" pitchFamily="34" charset="-120"/>
              </a:rPr>
              <a:t>SMTP in</a:t>
            </a:r>
            <a:endParaRPr lang="en-US" sz="700" dirty="0"/>
          </a:p>
          <a:p>
            <a:pPr marL="0" indent="0" algn="ctr">
              <a:buNone/>
            </a:pPr>
            <a:r>
              <a:rPr lang="en-US" sz="700" dirty="0">
                <a:solidFill>
                  <a:srgbClr val="A855F7"/>
                </a:solidFill>
                <a:latin typeface="Calibri" pitchFamily="34" charset="0"/>
                <a:ea typeface="Calibri" pitchFamily="34" charset="-122"/>
                <a:cs typeface="Calibri" pitchFamily="34" charset="-120"/>
              </a:rPr>
              <a:t>Port 25</a:t>
            </a:r>
            <a:endParaRPr lang="en-US" sz="700" dirty="0"/>
          </a:p>
        </p:txBody>
      </p:sp>
      <p:sp>
        <p:nvSpPr>
          <p:cNvPr id="43" name="Shape 41"/>
          <p:cNvSpPr/>
          <p:nvPr/>
        </p:nvSpPr>
        <p:spPr>
          <a:xfrm>
            <a:off x="6903720" y="2395728"/>
            <a:ext cx="100584" cy="73152"/>
          </a:xfrm>
          <a:prstGeom prst="rect">
            <a:avLst/>
          </a:prstGeom>
          <a:solidFill>
            <a:srgbClr val="8899AA"/>
          </a:solidFill>
          <a:ln w="12700">
            <a:solidFill>
              <a:srgbClr val="8899AA"/>
            </a:solidFill>
            <a:prstDash val="solid"/>
          </a:ln>
        </p:spPr>
        <p:txBody>
          <a:bodyPr/>
          <a:lstStyle/>
          <a:p>
            <a:endParaRPr lang="en-SG"/>
          </a:p>
        </p:txBody>
      </p:sp>
      <p:sp>
        <p:nvSpPr>
          <p:cNvPr id="44" name="Shape 42"/>
          <p:cNvSpPr/>
          <p:nvPr/>
        </p:nvSpPr>
        <p:spPr>
          <a:xfrm>
            <a:off x="7004304" y="1828800"/>
            <a:ext cx="1572768" cy="1207008"/>
          </a:xfrm>
          <a:prstGeom prst="rect">
            <a:avLst/>
          </a:prstGeom>
          <a:solidFill>
            <a:srgbClr val="EEF6FB"/>
          </a:solidFill>
          <a:ln w="12700">
            <a:solidFill>
              <a:srgbClr val="2ECC71"/>
            </a:solidFill>
            <a:prstDash val="solid"/>
          </a:ln>
        </p:spPr>
        <p:txBody>
          <a:bodyPr/>
          <a:lstStyle/>
          <a:p>
            <a:endParaRPr lang="en-SG"/>
          </a:p>
        </p:txBody>
      </p:sp>
      <p:sp>
        <p:nvSpPr>
          <p:cNvPr id="45" name="Shape 43"/>
          <p:cNvSpPr/>
          <p:nvPr/>
        </p:nvSpPr>
        <p:spPr>
          <a:xfrm>
            <a:off x="7004304" y="1828800"/>
            <a:ext cx="1572768" cy="256032"/>
          </a:xfrm>
          <a:prstGeom prst="rect">
            <a:avLst/>
          </a:prstGeom>
          <a:solidFill>
            <a:srgbClr val="2ECC71"/>
          </a:solidFill>
          <a:ln w="12700">
            <a:solidFill>
              <a:srgbClr val="2ECC71"/>
            </a:solidFill>
            <a:prstDash val="solid"/>
          </a:ln>
        </p:spPr>
        <p:txBody>
          <a:bodyPr/>
          <a:lstStyle/>
          <a:p>
            <a:endParaRPr lang="en-SG"/>
          </a:p>
        </p:txBody>
      </p:sp>
      <p:sp>
        <p:nvSpPr>
          <p:cNvPr id="46" name="Text 44"/>
          <p:cNvSpPr/>
          <p:nvPr/>
        </p:nvSpPr>
        <p:spPr>
          <a:xfrm>
            <a:off x="7004304" y="1828800"/>
            <a:ext cx="274320" cy="25603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5</a:t>
            </a:r>
            <a:endParaRPr lang="en-US" sz="1200" dirty="0"/>
          </a:p>
        </p:txBody>
      </p:sp>
      <p:sp>
        <p:nvSpPr>
          <p:cNvPr id="47" name="Text 45"/>
          <p:cNvSpPr/>
          <p:nvPr/>
        </p:nvSpPr>
        <p:spPr>
          <a:xfrm>
            <a:off x="7296912" y="1828800"/>
            <a:ext cx="1280160" cy="256032"/>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a:t>
            </a:r>
            <a:endParaRPr lang="en-US" sz="1300" dirty="0"/>
          </a:p>
        </p:txBody>
      </p:sp>
      <p:sp>
        <p:nvSpPr>
          <p:cNvPr id="48" name="Text 46"/>
          <p:cNvSpPr/>
          <p:nvPr/>
        </p:nvSpPr>
        <p:spPr>
          <a:xfrm>
            <a:off x="7095744" y="2121408"/>
            <a:ext cx="1389888" cy="384048"/>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Recipient</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downloads mail</a:t>
            </a:r>
            <a:endParaRPr lang="en-US" sz="850" dirty="0"/>
          </a:p>
        </p:txBody>
      </p:sp>
      <p:sp>
        <p:nvSpPr>
          <p:cNvPr id="49" name="Text 47"/>
          <p:cNvSpPr/>
          <p:nvPr/>
        </p:nvSpPr>
        <p:spPr>
          <a:xfrm>
            <a:off x="7095744" y="2523744"/>
            <a:ext cx="1389888" cy="256032"/>
          </a:xfrm>
          <a:prstGeom prst="rect">
            <a:avLst/>
          </a:prstGeom>
          <a:noFill/>
          <a:ln/>
        </p:spPr>
        <p:txBody>
          <a:bodyPr wrap="square" lIns="0" tIns="0" rIns="0" bIns="0" rtlCol="0" anchor="ctr"/>
          <a:lstStyle/>
          <a:p>
            <a:pPr marL="0" indent="0" algn="ctr">
              <a:buNone/>
            </a:pPr>
            <a:r>
              <a:rPr lang="en-US" sz="750" dirty="0">
                <a:solidFill>
                  <a:srgbClr val="8899AA"/>
                </a:solidFill>
                <a:latin typeface="Calibri" pitchFamily="34" charset="0"/>
                <a:ea typeface="Calibri" pitchFamily="34" charset="-122"/>
                <a:cs typeface="Calibri" pitchFamily="34" charset="-120"/>
              </a:rPr>
              <a:t>Recipient's</a:t>
            </a:r>
            <a:endParaRPr lang="en-US" sz="750" dirty="0"/>
          </a:p>
          <a:p>
            <a:pPr marL="0" indent="0" algn="ctr">
              <a:buNone/>
            </a:pPr>
            <a:r>
              <a:rPr lang="en-US" sz="750" dirty="0">
                <a:solidFill>
                  <a:srgbClr val="8899AA"/>
                </a:solidFill>
                <a:latin typeface="Calibri" pitchFamily="34" charset="0"/>
                <a:ea typeface="Calibri" pitchFamily="34" charset="-122"/>
                <a:cs typeface="Calibri" pitchFamily="34" charset="-120"/>
              </a:rPr>
              <a:t>device</a:t>
            </a:r>
            <a:endParaRPr lang="en-US" sz="750" dirty="0"/>
          </a:p>
        </p:txBody>
      </p:sp>
      <p:sp>
        <p:nvSpPr>
          <p:cNvPr id="50" name="Shape 48"/>
          <p:cNvSpPr/>
          <p:nvPr/>
        </p:nvSpPr>
        <p:spPr>
          <a:xfrm>
            <a:off x="7187184" y="2798064"/>
            <a:ext cx="1207008" cy="201168"/>
          </a:xfrm>
          <a:prstGeom prst="rect">
            <a:avLst/>
          </a:prstGeom>
          <a:solidFill>
            <a:srgbClr val="FFFFFF"/>
          </a:solidFill>
          <a:ln w="12700">
            <a:solidFill>
              <a:srgbClr val="2ECC71"/>
            </a:solidFill>
            <a:prstDash val="solid"/>
          </a:ln>
        </p:spPr>
        <p:txBody>
          <a:bodyPr/>
          <a:lstStyle/>
          <a:p>
            <a:endParaRPr lang="en-SG"/>
          </a:p>
        </p:txBody>
      </p:sp>
      <p:sp>
        <p:nvSpPr>
          <p:cNvPr id="51" name="Text 49"/>
          <p:cNvSpPr/>
          <p:nvPr/>
        </p:nvSpPr>
        <p:spPr>
          <a:xfrm>
            <a:off x="7187184" y="2798064"/>
            <a:ext cx="1207008" cy="201168"/>
          </a:xfrm>
          <a:prstGeom prst="rect">
            <a:avLst/>
          </a:prstGeom>
          <a:noFill/>
          <a:ln/>
        </p:spPr>
        <p:txBody>
          <a:bodyPr wrap="square" lIns="0" tIns="0" rIns="0" bIns="0" rtlCol="0" anchor="ctr"/>
          <a:lstStyle/>
          <a:p>
            <a:pPr marL="0" indent="0" algn="ctr">
              <a:buNone/>
            </a:pPr>
            <a:r>
              <a:rPr lang="en-US" sz="700" dirty="0">
                <a:solidFill>
                  <a:srgbClr val="2ECC71"/>
                </a:solidFill>
                <a:latin typeface="Calibri" pitchFamily="34" charset="0"/>
                <a:ea typeface="Calibri" pitchFamily="34" charset="-122"/>
                <a:cs typeface="Calibri" pitchFamily="34" charset="-120"/>
              </a:rPr>
              <a:t>IMAP/POP3</a:t>
            </a:r>
            <a:endParaRPr lang="en-US" sz="700" dirty="0"/>
          </a:p>
          <a:p>
            <a:pPr marL="0" indent="0" algn="ctr">
              <a:buNone/>
            </a:pPr>
            <a:r>
              <a:rPr lang="en-US" sz="700" dirty="0">
                <a:solidFill>
                  <a:srgbClr val="2ECC71"/>
                </a:solidFill>
                <a:latin typeface="Calibri" pitchFamily="34" charset="0"/>
                <a:ea typeface="Calibri" pitchFamily="34" charset="-122"/>
                <a:cs typeface="Calibri" pitchFamily="34" charset="-120"/>
              </a:rPr>
              <a:t>143/110</a:t>
            </a:r>
            <a:endParaRPr lang="en-US" sz="700" dirty="0"/>
          </a:p>
        </p:txBody>
      </p:sp>
      <p:sp>
        <p:nvSpPr>
          <p:cNvPr id="52" name="Shape 50"/>
          <p:cNvSpPr/>
          <p:nvPr/>
        </p:nvSpPr>
        <p:spPr>
          <a:xfrm>
            <a:off x="320040" y="3163824"/>
            <a:ext cx="8503920" cy="932688"/>
          </a:xfrm>
          <a:prstGeom prst="rect">
            <a:avLst/>
          </a:prstGeom>
          <a:solidFill>
            <a:srgbClr val="EEF6FB"/>
          </a:solidFill>
          <a:ln w="12700">
            <a:solidFill>
              <a:srgbClr val="EEF6FB"/>
            </a:solidFill>
            <a:prstDash val="solid"/>
          </a:ln>
        </p:spPr>
        <p:txBody>
          <a:bodyPr/>
          <a:lstStyle/>
          <a:p>
            <a:endParaRPr lang="en-SG"/>
          </a:p>
        </p:txBody>
      </p:sp>
      <p:sp>
        <p:nvSpPr>
          <p:cNvPr id="53" name="Shape 51"/>
          <p:cNvSpPr/>
          <p:nvPr/>
        </p:nvSpPr>
        <p:spPr>
          <a:xfrm>
            <a:off x="320040" y="3163824"/>
            <a:ext cx="8503920" cy="256032"/>
          </a:xfrm>
          <a:prstGeom prst="rect">
            <a:avLst/>
          </a:prstGeom>
          <a:solidFill>
            <a:srgbClr val="FFFFFF"/>
          </a:solidFill>
          <a:ln w="12700">
            <a:solidFill>
              <a:srgbClr val="FFFFFF"/>
            </a:solidFill>
            <a:prstDash val="solid"/>
          </a:ln>
        </p:spPr>
        <p:txBody>
          <a:bodyPr/>
          <a:lstStyle/>
          <a:p>
            <a:endParaRPr lang="en-SG"/>
          </a:p>
        </p:txBody>
      </p:sp>
      <p:sp>
        <p:nvSpPr>
          <p:cNvPr id="54" name="Text 52"/>
          <p:cNvSpPr/>
          <p:nvPr/>
        </p:nvSpPr>
        <p:spPr>
          <a:xfrm>
            <a:off x="457200" y="3182112"/>
            <a:ext cx="3657600" cy="219456"/>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  Understanding the Protocols</a:t>
            </a:r>
            <a:endParaRPr lang="en-US" sz="1000" dirty="0"/>
          </a:p>
        </p:txBody>
      </p:sp>
      <p:sp>
        <p:nvSpPr>
          <p:cNvPr id="55" name="Text 53"/>
          <p:cNvSpPr/>
          <p:nvPr/>
        </p:nvSpPr>
        <p:spPr>
          <a:xfrm>
            <a:off x="384048" y="3474720"/>
            <a:ext cx="2011680" cy="201168"/>
          </a:xfrm>
          <a:prstGeom prst="rect">
            <a:avLst/>
          </a:prstGeom>
          <a:noFill/>
          <a:ln/>
        </p:spPr>
        <p:txBody>
          <a:bodyPr wrap="square" lIns="0" tIns="0" rIns="0" bIns="0" rtlCol="0" anchor="ctr"/>
          <a:lstStyle/>
          <a:p>
            <a:pPr marL="0" indent="0">
              <a:buNone/>
            </a:pPr>
            <a:r>
              <a:rPr lang="en-US" sz="850" b="1" dirty="0">
                <a:solidFill>
                  <a:srgbClr val="00B4D8"/>
                </a:solidFill>
                <a:latin typeface="Calibri" pitchFamily="34" charset="0"/>
                <a:ea typeface="Calibri" pitchFamily="34" charset="-122"/>
                <a:cs typeface="Calibri" pitchFamily="34" charset="-120"/>
              </a:rPr>
              <a:t>SMTP (out) — Port 587</a:t>
            </a:r>
            <a:endParaRPr lang="en-US" sz="850" dirty="0"/>
          </a:p>
        </p:txBody>
      </p:sp>
      <p:sp>
        <p:nvSpPr>
          <p:cNvPr id="56" name="Text 54"/>
          <p:cNvSpPr/>
          <p:nvPr/>
        </p:nvSpPr>
        <p:spPr>
          <a:xfrm>
            <a:off x="384048" y="3675888"/>
            <a:ext cx="2011680" cy="384048"/>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Your email app uses this to SEND mail to your mail server. Requires username and password. Think of it as dropping a letter at the post office counter.</a:t>
            </a:r>
            <a:endParaRPr lang="en-US" sz="800" dirty="0"/>
          </a:p>
        </p:txBody>
      </p:sp>
      <p:sp>
        <p:nvSpPr>
          <p:cNvPr id="57" name="Text 55"/>
          <p:cNvSpPr/>
          <p:nvPr/>
        </p:nvSpPr>
        <p:spPr>
          <a:xfrm>
            <a:off x="2505456" y="3474720"/>
            <a:ext cx="2011680" cy="201168"/>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SMTP (relay) — Port 25</a:t>
            </a:r>
            <a:endParaRPr lang="en-US" sz="850" dirty="0"/>
          </a:p>
        </p:txBody>
      </p:sp>
      <p:sp>
        <p:nvSpPr>
          <p:cNvPr id="58" name="Text 56"/>
          <p:cNvSpPr/>
          <p:nvPr/>
        </p:nvSpPr>
        <p:spPr>
          <a:xfrm>
            <a:off x="2505456" y="3675888"/>
            <a:ext cx="2011680" cy="384048"/>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Mail servers use this to talk to each other — relaying your email towards the recipient. This is the 'delivery van' between post offices.</a:t>
            </a:r>
            <a:endParaRPr lang="en-US" sz="800" dirty="0"/>
          </a:p>
        </p:txBody>
      </p:sp>
      <p:sp>
        <p:nvSpPr>
          <p:cNvPr id="59" name="Text 57"/>
          <p:cNvSpPr/>
          <p:nvPr/>
        </p:nvSpPr>
        <p:spPr>
          <a:xfrm>
            <a:off x="4626864" y="3474720"/>
            <a:ext cx="2011680" cy="201168"/>
          </a:xfrm>
          <a:prstGeom prst="rect">
            <a:avLst/>
          </a:prstGeom>
          <a:noFill/>
          <a:ln/>
        </p:spPr>
        <p:txBody>
          <a:bodyPr wrap="square" lIns="0" tIns="0" rIns="0" bIns="0" rtlCol="0" anchor="ctr"/>
          <a:lstStyle/>
          <a:p>
            <a:pPr marL="0" indent="0">
              <a:buNone/>
            </a:pPr>
            <a:r>
              <a:rPr lang="en-US" sz="850" b="1" dirty="0">
                <a:solidFill>
                  <a:srgbClr val="2ECC71"/>
                </a:solidFill>
                <a:latin typeface="Calibri" pitchFamily="34" charset="0"/>
                <a:ea typeface="Calibri" pitchFamily="34" charset="-122"/>
                <a:cs typeface="Calibri" pitchFamily="34" charset="-120"/>
              </a:rPr>
              <a:t>IMAP — Port 143</a:t>
            </a:r>
            <a:endParaRPr lang="en-US" sz="850" dirty="0"/>
          </a:p>
        </p:txBody>
      </p:sp>
      <p:sp>
        <p:nvSpPr>
          <p:cNvPr id="60" name="Text 58"/>
          <p:cNvSpPr/>
          <p:nvPr/>
        </p:nvSpPr>
        <p:spPr>
          <a:xfrm>
            <a:off x="4626864" y="3675888"/>
            <a:ext cx="2011680" cy="384048"/>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How the recipient downloads email while keeping a copy on the server. Mail stays server-side — easier for investigators to collect evidence.</a:t>
            </a:r>
            <a:endParaRPr lang="en-US" sz="800" dirty="0"/>
          </a:p>
        </p:txBody>
      </p:sp>
      <p:sp>
        <p:nvSpPr>
          <p:cNvPr id="61" name="Text 59"/>
          <p:cNvSpPr/>
          <p:nvPr/>
        </p:nvSpPr>
        <p:spPr>
          <a:xfrm>
            <a:off x="6748272" y="3474720"/>
            <a:ext cx="2011680" cy="201168"/>
          </a:xfrm>
          <a:prstGeom prst="rect">
            <a:avLst/>
          </a:prstGeom>
          <a:noFill/>
          <a:ln/>
        </p:spPr>
        <p:txBody>
          <a:bodyPr wrap="square" lIns="0" tIns="0" rIns="0" bIns="0" rtlCol="0" anchor="ctr"/>
          <a:lstStyle/>
          <a:p>
            <a:pPr marL="0" indent="0">
              <a:buNone/>
            </a:pPr>
            <a:r>
              <a:rPr lang="en-US" sz="850" b="1" dirty="0">
                <a:solidFill>
                  <a:srgbClr val="A855F7"/>
                </a:solidFill>
                <a:latin typeface="Calibri" pitchFamily="34" charset="0"/>
                <a:ea typeface="Calibri" pitchFamily="34" charset="-122"/>
                <a:cs typeface="Calibri" pitchFamily="34" charset="-120"/>
              </a:rPr>
              <a:t>POP3 — Port 110</a:t>
            </a:r>
            <a:endParaRPr lang="en-US" sz="850" dirty="0"/>
          </a:p>
        </p:txBody>
      </p:sp>
      <p:sp>
        <p:nvSpPr>
          <p:cNvPr id="62" name="Text 60"/>
          <p:cNvSpPr/>
          <p:nvPr/>
        </p:nvSpPr>
        <p:spPr>
          <a:xfrm>
            <a:off x="6748272" y="3675888"/>
            <a:ext cx="2011680" cy="384048"/>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Downloads email to the device and deletes it from the server. Evidence may ONLY exist on the recipient's device — collect it promptly.</a:t>
            </a:r>
            <a:endParaRPr lang="en-US" sz="800" dirty="0"/>
          </a:p>
        </p:txBody>
      </p:sp>
      <p:sp>
        <p:nvSpPr>
          <p:cNvPr id="63" name="Shape 61"/>
          <p:cNvSpPr/>
          <p:nvPr/>
        </p:nvSpPr>
        <p:spPr>
          <a:xfrm>
            <a:off x="320040" y="4187952"/>
            <a:ext cx="8503920" cy="676656"/>
          </a:xfrm>
          <a:prstGeom prst="rect">
            <a:avLst/>
          </a:prstGeom>
          <a:solidFill>
            <a:srgbClr val="FFFFFF"/>
          </a:solidFill>
          <a:ln w="12700">
            <a:solidFill>
              <a:srgbClr val="F1C40F"/>
            </a:solidFill>
            <a:prstDash val="solid"/>
          </a:ln>
        </p:spPr>
        <p:txBody>
          <a:bodyPr/>
          <a:lstStyle/>
          <a:p>
            <a:endParaRPr lang="en-SG"/>
          </a:p>
        </p:txBody>
      </p:sp>
      <p:sp>
        <p:nvSpPr>
          <p:cNvPr id="64" name="Text 62"/>
          <p:cNvSpPr/>
          <p:nvPr/>
        </p:nvSpPr>
        <p:spPr>
          <a:xfrm>
            <a:off x="457200" y="4242816"/>
            <a:ext cx="2011680" cy="201168"/>
          </a:xfrm>
          <a:prstGeom prst="rect">
            <a:avLst/>
          </a:prstGeom>
          <a:noFill/>
          <a:ln/>
        </p:spPr>
        <p:txBody>
          <a:bodyPr wrap="square" lIns="0" tIns="0" rIns="0" bIns="0" rtlCol="0" anchor="ctr"/>
          <a:lstStyle/>
          <a:p>
            <a:pPr marL="0" indent="0">
              <a:buNone/>
            </a:pPr>
            <a:r>
              <a:rPr lang="en-US" sz="950" b="1" dirty="0">
                <a:solidFill>
                  <a:srgbClr val="F1C40F"/>
                </a:solidFill>
                <a:latin typeface="Calibri" pitchFamily="34" charset="0"/>
                <a:ea typeface="Calibri" pitchFamily="34" charset="-122"/>
                <a:cs typeface="Calibri" pitchFamily="34" charset="-120"/>
              </a:rPr>
              <a:t>🔎  Where investigators look:</a:t>
            </a:r>
            <a:endParaRPr lang="en-US" sz="950" dirty="0"/>
          </a:p>
        </p:txBody>
      </p:sp>
      <p:sp>
        <p:nvSpPr>
          <p:cNvPr id="65" name="Text 63"/>
          <p:cNvSpPr/>
          <p:nvPr/>
        </p:nvSpPr>
        <p:spPr>
          <a:xfrm>
            <a:off x="457200" y="4462272"/>
            <a:ext cx="8321040" cy="34747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Steps 1–2: Sender's device (.pst / .ost) and SMTP server logs  |  Step 4: Recipient's mail server (Exchange EDB, maillog)  |  Step 5: Recipient's device cache and email client files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Email Headers — Tracing the Origin</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512064"/>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16736"/>
            <a:ext cx="8275320" cy="384048"/>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Email headers are hidden metadata prepended to every message — recording the complete routing path from sender to recipient. They are the primary tool for tracing spoofed or fraudulent emails.</a:t>
            </a:r>
            <a:endParaRPr lang="en-US" sz="1000" dirty="0"/>
          </a:p>
        </p:txBody>
      </p:sp>
      <p:sp>
        <p:nvSpPr>
          <p:cNvPr id="8" name="Shape 6"/>
          <p:cNvSpPr/>
          <p:nvPr/>
        </p:nvSpPr>
        <p:spPr>
          <a:xfrm>
            <a:off x="320040" y="1865376"/>
            <a:ext cx="4846320" cy="2505456"/>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865376"/>
            <a:ext cx="4846320" cy="256032"/>
          </a:xfrm>
          <a:prstGeom prst="rect">
            <a:avLst/>
          </a:prstGeom>
          <a:solidFill>
            <a:srgbClr val="F4A261"/>
          </a:solidFill>
          <a:ln w="12700">
            <a:solidFill>
              <a:srgbClr val="F4A261"/>
            </a:solidFill>
            <a:prstDash val="solid"/>
          </a:ln>
        </p:spPr>
        <p:txBody>
          <a:bodyPr/>
          <a:lstStyle/>
          <a:p>
            <a:endParaRPr lang="en-SG"/>
          </a:p>
        </p:txBody>
      </p:sp>
      <p:sp>
        <p:nvSpPr>
          <p:cNvPr id="10" name="Text 8"/>
          <p:cNvSpPr/>
          <p:nvPr/>
        </p:nvSpPr>
        <p:spPr>
          <a:xfrm>
            <a:off x="438912" y="1865376"/>
            <a:ext cx="457200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Key Header Fields</a:t>
            </a:r>
            <a:endParaRPr lang="en-US" sz="1100" dirty="0"/>
          </a:p>
        </p:txBody>
      </p:sp>
      <p:sp>
        <p:nvSpPr>
          <p:cNvPr id="11" name="Text 9"/>
          <p:cNvSpPr/>
          <p:nvPr/>
        </p:nvSpPr>
        <p:spPr>
          <a:xfrm>
            <a:off x="457200" y="2176272"/>
            <a:ext cx="1645920" cy="237744"/>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From:</a:t>
            </a:r>
            <a:endParaRPr lang="en-US" sz="850" dirty="0"/>
          </a:p>
        </p:txBody>
      </p:sp>
      <p:sp>
        <p:nvSpPr>
          <p:cNvPr id="12" name="Text 10"/>
          <p:cNvSpPr/>
          <p:nvPr/>
        </p:nvSpPr>
        <p:spPr>
          <a:xfrm>
            <a:off x="2139696" y="217627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Display name + address — easily forged</a:t>
            </a:r>
            <a:endParaRPr lang="en-US" sz="850" dirty="0"/>
          </a:p>
        </p:txBody>
      </p:sp>
      <p:sp>
        <p:nvSpPr>
          <p:cNvPr id="13" name="Text 11"/>
          <p:cNvSpPr/>
          <p:nvPr/>
        </p:nvSpPr>
        <p:spPr>
          <a:xfrm>
            <a:off x="457200" y="2450592"/>
            <a:ext cx="1645920" cy="237744"/>
          </a:xfrm>
          <a:prstGeom prst="rect">
            <a:avLst/>
          </a:prstGeom>
          <a:noFill/>
          <a:ln/>
        </p:spPr>
        <p:txBody>
          <a:bodyPr wrap="square" lIns="0" tIns="0" rIns="0" bIns="0" rtlCol="0" anchor="ctr"/>
          <a:lstStyle/>
          <a:p>
            <a:pPr marL="0" indent="0">
              <a:buNone/>
            </a:pPr>
            <a:r>
              <a:rPr lang="en-US" sz="850" b="1" dirty="0">
                <a:solidFill>
                  <a:srgbClr val="E74C3C"/>
                </a:solidFill>
                <a:latin typeface="Consolas" pitchFamily="34" charset="0"/>
                <a:ea typeface="Consolas" pitchFamily="34" charset="-122"/>
                <a:cs typeface="Consolas" pitchFamily="34" charset="-120"/>
              </a:rPr>
              <a:t>Return-Path:</a:t>
            </a:r>
            <a:endParaRPr lang="en-US" sz="850" dirty="0"/>
          </a:p>
        </p:txBody>
      </p:sp>
      <p:sp>
        <p:nvSpPr>
          <p:cNvPr id="14" name="Text 12"/>
          <p:cNvSpPr/>
          <p:nvPr/>
        </p:nvSpPr>
        <p:spPr>
          <a:xfrm>
            <a:off x="2139696" y="245059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Where bounced mail goes — harder to forge</a:t>
            </a:r>
            <a:endParaRPr lang="en-US" sz="850" dirty="0"/>
          </a:p>
        </p:txBody>
      </p:sp>
      <p:sp>
        <p:nvSpPr>
          <p:cNvPr id="15" name="Text 13"/>
          <p:cNvSpPr/>
          <p:nvPr/>
        </p:nvSpPr>
        <p:spPr>
          <a:xfrm>
            <a:off x="457200" y="2724912"/>
            <a:ext cx="1645920" cy="237744"/>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Received:</a:t>
            </a:r>
            <a:endParaRPr lang="en-US" sz="850" dirty="0"/>
          </a:p>
        </p:txBody>
      </p:sp>
      <p:sp>
        <p:nvSpPr>
          <p:cNvPr id="16" name="Text 14"/>
          <p:cNvSpPr/>
          <p:nvPr/>
        </p:nvSpPr>
        <p:spPr>
          <a:xfrm>
            <a:off x="2139696" y="272491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Each relay adds a line — read bottom-up to trace route</a:t>
            </a:r>
            <a:endParaRPr lang="en-US" sz="850" dirty="0"/>
          </a:p>
        </p:txBody>
      </p:sp>
      <p:sp>
        <p:nvSpPr>
          <p:cNvPr id="17" name="Text 15"/>
          <p:cNvSpPr/>
          <p:nvPr/>
        </p:nvSpPr>
        <p:spPr>
          <a:xfrm>
            <a:off x="457200" y="2999232"/>
            <a:ext cx="1645920" cy="237744"/>
          </a:xfrm>
          <a:prstGeom prst="rect">
            <a:avLst/>
          </a:prstGeom>
          <a:noFill/>
          <a:ln/>
        </p:spPr>
        <p:txBody>
          <a:bodyPr wrap="square" lIns="0" tIns="0" rIns="0" bIns="0" rtlCol="0" anchor="ctr"/>
          <a:lstStyle/>
          <a:p>
            <a:pPr marL="0" indent="0">
              <a:buNone/>
            </a:pPr>
            <a:r>
              <a:rPr lang="en-US" sz="850" b="1" dirty="0">
                <a:solidFill>
                  <a:srgbClr val="2ECC71"/>
                </a:solidFill>
                <a:latin typeface="Consolas" pitchFamily="34" charset="0"/>
                <a:ea typeface="Consolas" pitchFamily="34" charset="-122"/>
                <a:cs typeface="Consolas" pitchFamily="34" charset="-120"/>
              </a:rPr>
              <a:t>X-Originating-IP:</a:t>
            </a:r>
            <a:endParaRPr lang="en-US" sz="850" dirty="0"/>
          </a:p>
        </p:txBody>
      </p:sp>
      <p:sp>
        <p:nvSpPr>
          <p:cNvPr id="18" name="Text 16"/>
          <p:cNvSpPr/>
          <p:nvPr/>
        </p:nvSpPr>
        <p:spPr>
          <a:xfrm>
            <a:off x="2139696" y="299923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Sender's true IP (set by many webmail services)</a:t>
            </a:r>
            <a:endParaRPr lang="en-US" sz="850" dirty="0"/>
          </a:p>
        </p:txBody>
      </p:sp>
      <p:sp>
        <p:nvSpPr>
          <p:cNvPr id="19" name="Text 17"/>
          <p:cNvSpPr/>
          <p:nvPr/>
        </p:nvSpPr>
        <p:spPr>
          <a:xfrm>
            <a:off x="457200" y="3273552"/>
            <a:ext cx="1645920" cy="237744"/>
          </a:xfrm>
          <a:prstGeom prst="rect">
            <a:avLst/>
          </a:prstGeom>
          <a:noFill/>
          <a:ln/>
        </p:spPr>
        <p:txBody>
          <a:bodyPr wrap="square" lIns="0" tIns="0" rIns="0" bIns="0" rtlCol="0" anchor="ctr"/>
          <a:lstStyle/>
          <a:p>
            <a:pPr marL="0" indent="0">
              <a:buNone/>
            </a:pPr>
            <a:r>
              <a:rPr lang="en-US" sz="850" b="1" dirty="0">
                <a:solidFill>
                  <a:srgbClr val="F1C40F"/>
                </a:solidFill>
                <a:latin typeface="Consolas" pitchFamily="34" charset="0"/>
                <a:ea typeface="Consolas" pitchFamily="34" charset="-122"/>
                <a:cs typeface="Consolas" pitchFamily="34" charset="-120"/>
              </a:rPr>
              <a:t>Message-ID:</a:t>
            </a:r>
            <a:endParaRPr lang="en-US" sz="850" dirty="0"/>
          </a:p>
        </p:txBody>
      </p:sp>
      <p:sp>
        <p:nvSpPr>
          <p:cNvPr id="20" name="Text 18"/>
          <p:cNvSpPr/>
          <p:nvPr/>
        </p:nvSpPr>
        <p:spPr>
          <a:xfrm>
            <a:off x="2139696" y="327355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Unique ID — cross-reference against server logs</a:t>
            </a:r>
            <a:endParaRPr lang="en-US" sz="850" dirty="0"/>
          </a:p>
        </p:txBody>
      </p:sp>
      <p:sp>
        <p:nvSpPr>
          <p:cNvPr id="21" name="Text 19"/>
          <p:cNvSpPr/>
          <p:nvPr/>
        </p:nvSpPr>
        <p:spPr>
          <a:xfrm>
            <a:off x="457200" y="3547872"/>
            <a:ext cx="1645920" cy="237744"/>
          </a:xfrm>
          <a:prstGeom prst="rect">
            <a:avLst/>
          </a:prstGeom>
          <a:noFill/>
          <a:ln/>
        </p:spPr>
        <p:txBody>
          <a:bodyPr wrap="square" lIns="0" tIns="0" rIns="0" bIns="0" rtlCol="0" anchor="ctr"/>
          <a:lstStyle/>
          <a:p>
            <a:pPr marL="0" indent="0">
              <a:buNone/>
            </a:pPr>
            <a:r>
              <a:rPr lang="en-US" sz="850" b="1" dirty="0">
                <a:solidFill>
                  <a:srgbClr val="8899AA"/>
                </a:solidFill>
                <a:latin typeface="Consolas" pitchFamily="34" charset="0"/>
                <a:ea typeface="Consolas" pitchFamily="34" charset="-122"/>
                <a:cs typeface="Consolas" pitchFamily="34" charset="-120"/>
              </a:rPr>
              <a:t>Date:</a:t>
            </a:r>
            <a:endParaRPr lang="en-US" sz="850" dirty="0"/>
          </a:p>
        </p:txBody>
      </p:sp>
      <p:sp>
        <p:nvSpPr>
          <p:cNvPr id="22" name="Text 20"/>
          <p:cNvSpPr/>
          <p:nvPr/>
        </p:nvSpPr>
        <p:spPr>
          <a:xfrm>
            <a:off x="2139696" y="354787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Sender local time — may differ from server time</a:t>
            </a:r>
            <a:endParaRPr lang="en-US" sz="850" dirty="0"/>
          </a:p>
        </p:txBody>
      </p:sp>
      <p:sp>
        <p:nvSpPr>
          <p:cNvPr id="23" name="Text 21"/>
          <p:cNvSpPr/>
          <p:nvPr/>
        </p:nvSpPr>
        <p:spPr>
          <a:xfrm>
            <a:off x="457200" y="3822192"/>
            <a:ext cx="1645920" cy="237744"/>
          </a:xfrm>
          <a:prstGeom prst="rect">
            <a:avLst/>
          </a:prstGeom>
          <a:noFill/>
          <a:ln/>
        </p:spPr>
        <p:txBody>
          <a:bodyPr wrap="square" lIns="0" tIns="0" rIns="0" bIns="0" rtlCol="0" anchor="ctr"/>
          <a:lstStyle/>
          <a:p>
            <a:pPr marL="0" indent="0">
              <a:buNone/>
            </a:pPr>
            <a:r>
              <a:rPr lang="en-US" sz="850" b="1" dirty="0">
                <a:solidFill>
                  <a:srgbClr val="2EC4B6"/>
                </a:solidFill>
                <a:latin typeface="Consolas" pitchFamily="34" charset="0"/>
                <a:ea typeface="Consolas" pitchFamily="34" charset="-122"/>
                <a:cs typeface="Consolas" pitchFamily="34" charset="-120"/>
              </a:rPr>
              <a:t>DKIM-Signature:</a:t>
            </a:r>
            <a:endParaRPr lang="en-US" sz="850" dirty="0"/>
          </a:p>
        </p:txBody>
      </p:sp>
      <p:sp>
        <p:nvSpPr>
          <p:cNvPr id="24" name="Text 22"/>
          <p:cNvSpPr/>
          <p:nvPr/>
        </p:nvSpPr>
        <p:spPr>
          <a:xfrm>
            <a:off x="2139696" y="382219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Cryptographic proof message was not altered</a:t>
            </a:r>
            <a:endParaRPr lang="en-US" sz="850" dirty="0"/>
          </a:p>
        </p:txBody>
      </p:sp>
      <p:sp>
        <p:nvSpPr>
          <p:cNvPr id="25" name="Text 23"/>
          <p:cNvSpPr/>
          <p:nvPr/>
        </p:nvSpPr>
        <p:spPr>
          <a:xfrm>
            <a:off x="457200" y="4096512"/>
            <a:ext cx="1645920" cy="237744"/>
          </a:xfrm>
          <a:prstGeom prst="rect">
            <a:avLst/>
          </a:prstGeom>
          <a:noFill/>
          <a:ln/>
        </p:spPr>
        <p:txBody>
          <a:bodyPr wrap="square" lIns="0" tIns="0" rIns="0" bIns="0" rtlCol="0" anchor="ctr"/>
          <a:lstStyle/>
          <a:p>
            <a:pPr marL="0" indent="0">
              <a:buNone/>
            </a:pPr>
            <a:r>
              <a:rPr lang="en-US" sz="850" b="1" dirty="0">
                <a:solidFill>
                  <a:srgbClr val="A855F7"/>
                </a:solidFill>
                <a:latin typeface="Consolas" pitchFamily="34" charset="0"/>
                <a:ea typeface="Consolas" pitchFamily="34" charset="-122"/>
                <a:cs typeface="Consolas" pitchFamily="34" charset="-120"/>
              </a:rPr>
              <a:t>SPF / DMARC:</a:t>
            </a:r>
            <a:endParaRPr lang="en-US" sz="850" dirty="0"/>
          </a:p>
        </p:txBody>
      </p:sp>
      <p:sp>
        <p:nvSpPr>
          <p:cNvPr id="26" name="Text 24"/>
          <p:cNvSpPr/>
          <p:nvPr/>
        </p:nvSpPr>
        <p:spPr>
          <a:xfrm>
            <a:off x="2139696" y="4096512"/>
            <a:ext cx="292608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Authentication — FAIL = likely spoofed</a:t>
            </a:r>
            <a:endParaRPr lang="en-US" sz="850" dirty="0"/>
          </a:p>
        </p:txBody>
      </p:sp>
      <p:sp>
        <p:nvSpPr>
          <p:cNvPr id="27" name="Shape 25"/>
          <p:cNvSpPr/>
          <p:nvPr/>
        </p:nvSpPr>
        <p:spPr>
          <a:xfrm>
            <a:off x="5349240" y="1865376"/>
            <a:ext cx="3474720" cy="2505456"/>
          </a:xfrm>
          <a:prstGeom prst="rect">
            <a:avLst/>
          </a:prstGeom>
          <a:solidFill>
            <a:srgbClr val="EEF6FB"/>
          </a:solidFill>
          <a:ln w="12700">
            <a:solidFill>
              <a:srgbClr val="EEF6FB"/>
            </a:solidFill>
            <a:prstDash val="solid"/>
          </a:ln>
        </p:spPr>
        <p:txBody>
          <a:bodyPr/>
          <a:lstStyle/>
          <a:p>
            <a:endParaRPr lang="en-SG"/>
          </a:p>
        </p:txBody>
      </p:sp>
      <p:sp>
        <p:nvSpPr>
          <p:cNvPr id="28" name="Shape 26"/>
          <p:cNvSpPr/>
          <p:nvPr/>
        </p:nvSpPr>
        <p:spPr>
          <a:xfrm>
            <a:off x="5349240" y="1865376"/>
            <a:ext cx="3474720" cy="256032"/>
          </a:xfrm>
          <a:prstGeom prst="rect">
            <a:avLst/>
          </a:prstGeom>
          <a:solidFill>
            <a:srgbClr val="00B4D8"/>
          </a:solidFill>
          <a:ln w="12700">
            <a:solidFill>
              <a:srgbClr val="00B4D8"/>
            </a:solidFill>
            <a:prstDash val="solid"/>
          </a:ln>
        </p:spPr>
        <p:txBody>
          <a:bodyPr/>
          <a:lstStyle/>
          <a:p>
            <a:endParaRPr lang="en-SG"/>
          </a:p>
        </p:txBody>
      </p:sp>
      <p:sp>
        <p:nvSpPr>
          <p:cNvPr id="29" name="Text 27"/>
          <p:cNvSpPr/>
          <p:nvPr/>
        </p:nvSpPr>
        <p:spPr>
          <a:xfrm>
            <a:off x="5449824" y="1865376"/>
            <a:ext cx="329184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How to View Headers</a:t>
            </a:r>
            <a:endParaRPr lang="en-US" sz="1100" dirty="0"/>
          </a:p>
        </p:txBody>
      </p:sp>
      <p:sp>
        <p:nvSpPr>
          <p:cNvPr id="30" name="Text 28"/>
          <p:cNvSpPr/>
          <p:nvPr/>
        </p:nvSpPr>
        <p:spPr>
          <a:xfrm>
            <a:off x="5486400" y="2176272"/>
            <a:ext cx="914400" cy="237744"/>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Outlook:</a:t>
            </a:r>
            <a:endParaRPr lang="en-US" sz="900" dirty="0"/>
          </a:p>
        </p:txBody>
      </p:sp>
      <p:sp>
        <p:nvSpPr>
          <p:cNvPr id="31" name="Text 29"/>
          <p:cNvSpPr/>
          <p:nvPr/>
        </p:nvSpPr>
        <p:spPr>
          <a:xfrm>
            <a:off x="6419088" y="2176272"/>
            <a:ext cx="228600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File → Properties → Internet Headers</a:t>
            </a:r>
            <a:endParaRPr lang="en-US" sz="850" dirty="0"/>
          </a:p>
        </p:txBody>
      </p:sp>
      <p:sp>
        <p:nvSpPr>
          <p:cNvPr id="32" name="Text 30"/>
          <p:cNvSpPr/>
          <p:nvPr/>
        </p:nvSpPr>
        <p:spPr>
          <a:xfrm>
            <a:off x="5486400" y="2450592"/>
            <a:ext cx="914400" cy="237744"/>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Gmail:</a:t>
            </a:r>
            <a:endParaRPr lang="en-US" sz="900" dirty="0"/>
          </a:p>
        </p:txBody>
      </p:sp>
      <p:sp>
        <p:nvSpPr>
          <p:cNvPr id="33" name="Text 31"/>
          <p:cNvSpPr/>
          <p:nvPr/>
        </p:nvSpPr>
        <p:spPr>
          <a:xfrm>
            <a:off x="6419088" y="2450592"/>
            <a:ext cx="228600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Three-dot menu → Show original</a:t>
            </a:r>
            <a:endParaRPr lang="en-US" sz="850" dirty="0"/>
          </a:p>
        </p:txBody>
      </p:sp>
      <p:sp>
        <p:nvSpPr>
          <p:cNvPr id="34" name="Text 32"/>
          <p:cNvSpPr/>
          <p:nvPr/>
        </p:nvSpPr>
        <p:spPr>
          <a:xfrm>
            <a:off x="5486400" y="2724912"/>
            <a:ext cx="914400" cy="237744"/>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Apple Mail:</a:t>
            </a:r>
            <a:endParaRPr lang="en-US" sz="900" dirty="0"/>
          </a:p>
        </p:txBody>
      </p:sp>
      <p:sp>
        <p:nvSpPr>
          <p:cNvPr id="35" name="Text 33"/>
          <p:cNvSpPr/>
          <p:nvPr/>
        </p:nvSpPr>
        <p:spPr>
          <a:xfrm>
            <a:off x="6419088" y="2724912"/>
            <a:ext cx="228600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View → Message → All Headers</a:t>
            </a:r>
            <a:endParaRPr lang="en-US" sz="850" dirty="0"/>
          </a:p>
        </p:txBody>
      </p:sp>
      <p:sp>
        <p:nvSpPr>
          <p:cNvPr id="36" name="Text 34"/>
          <p:cNvSpPr/>
          <p:nvPr/>
        </p:nvSpPr>
        <p:spPr>
          <a:xfrm>
            <a:off x="5486400" y="2999232"/>
            <a:ext cx="914400" cy="237744"/>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Thunderbird:</a:t>
            </a:r>
            <a:endParaRPr lang="en-US" sz="900" dirty="0"/>
          </a:p>
        </p:txBody>
      </p:sp>
      <p:sp>
        <p:nvSpPr>
          <p:cNvPr id="37" name="Text 35"/>
          <p:cNvSpPr/>
          <p:nvPr/>
        </p:nvSpPr>
        <p:spPr>
          <a:xfrm>
            <a:off x="6419088" y="2999232"/>
            <a:ext cx="228600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View → Headers → All</a:t>
            </a:r>
            <a:endParaRPr lang="en-US" sz="850" dirty="0"/>
          </a:p>
        </p:txBody>
      </p:sp>
      <p:sp>
        <p:nvSpPr>
          <p:cNvPr id="38" name="Text 36"/>
          <p:cNvSpPr/>
          <p:nvPr/>
        </p:nvSpPr>
        <p:spPr>
          <a:xfrm>
            <a:off x="5486400" y="3273552"/>
            <a:ext cx="914400" cy="237744"/>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Web-based:</a:t>
            </a:r>
            <a:endParaRPr lang="en-US" sz="900" dirty="0"/>
          </a:p>
        </p:txBody>
      </p:sp>
      <p:sp>
        <p:nvSpPr>
          <p:cNvPr id="39" name="Text 37"/>
          <p:cNvSpPr/>
          <p:nvPr/>
        </p:nvSpPr>
        <p:spPr>
          <a:xfrm>
            <a:off x="6419088" y="3273552"/>
            <a:ext cx="2286000" cy="23774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'Show original' or 'Raw message' option</a:t>
            </a:r>
            <a:endParaRPr lang="en-US" sz="850" dirty="0"/>
          </a:p>
        </p:txBody>
      </p:sp>
      <p:sp>
        <p:nvSpPr>
          <p:cNvPr id="40" name="Text 38"/>
          <p:cNvSpPr/>
          <p:nvPr/>
        </p:nvSpPr>
        <p:spPr>
          <a:xfrm>
            <a:off x="5449824" y="3529584"/>
            <a:ext cx="3291840" cy="768096"/>
          </a:xfrm>
          <a:prstGeom prst="rect">
            <a:avLst/>
          </a:prstGeom>
          <a:noFill/>
          <a:ln/>
        </p:spPr>
        <p:txBody>
          <a:bodyPr wrap="square" lIns="0" tIns="0" rIns="0" bIns="0" rtlCol="0" anchor="ctr"/>
          <a:lstStyle/>
          <a:p>
            <a:pPr marL="0" indent="0">
              <a:buNone/>
            </a:pPr>
            <a:r>
              <a:rPr lang="en-US" sz="850" i="1" dirty="0">
                <a:solidFill>
                  <a:srgbClr val="8899AA"/>
                </a:solidFill>
                <a:latin typeface="Calibri" pitchFamily="34" charset="0"/>
                <a:ea typeface="Calibri" pitchFamily="34" charset="-122"/>
                <a:cs typeface="Calibri" pitchFamily="34" charset="-120"/>
              </a:rPr>
              <a:t>⚑  Capture the raw header BEFORE replying or forwarding — these actions may overwrite metadata.</a:t>
            </a:r>
            <a:endParaRPr lang="en-US" sz="850" dirty="0"/>
          </a:p>
        </p:txBody>
      </p:sp>
      <p:sp>
        <p:nvSpPr>
          <p:cNvPr id="41" name="Shape 39"/>
          <p:cNvSpPr/>
          <p:nvPr/>
        </p:nvSpPr>
        <p:spPr>
          <a:xfrm>
            <a:off x="320040" y="4462272"/>
            <a:ext cx="8503920" cy="402336"/>
          </a:xfrm>
          <a:prstGeom prst="rect">
            <a:avLst/>
          </a:prstGeom>
          <a:solidFill>
            <a:srgbClr val="FFFFFF"/>
          </a:solidFill>
          <a:ln w="12700">
            <a:solidFill>
              <a:srgbClr val="F4A261"/>
            </a:solidFill>
            <a:prstDash val="solid"/>
          </a:ln>
        </p:spPr>
        <p:txBody>
          <a:bodyPr/>
          <a:lstStyle/>
          <a:p>
            <a:endParaRPr lang="en-SG"/>
          </a:p>
        </p:txBody>
      </p:sp>
      <p:sp>
        <p:nvSpPr>
          <p:cNvPr id="42" name="Text 40"/>
          <p:cNvSpPr/>
          <p:nvPr/>
        </p:nvSpPr>
        <p:spPr>
          <a:xfrm>
            <a:off x="438912" y="4489704"/>
            <a:ext cx="8321040" cy="347472"/>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Received: from mail.attacker.com [203.0.113.45] by mail.victim.org  Thu, 12 Mar 2026 08:14:03 +0000</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From: CEO &lt;ceo@company.com&gt;  Return-Path: &lt;bounce@attacker.com&gt;  X-Originating-IP: 203.0.113.45  SPF: FAIL  DMARC: FAIL</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Email Server Logs — UNIX / Sendmail</a:t>
            </a:r>
            <a:endParaRPr lang="en-US" sz="2800" dirty="0"/>
          </a:p>
        </p:txBody>
      </p:sp>
      <p:sp>
        <p:nvSpPr>
          <p:cNvPr id="5" name="Shape 3"/>
          <p:cNvSpPr/>
          <p:nvPr/>
        </p:nvSpPr>
        <p:spPr>
          <a:xfrm>
            <a:off x="320040" y="1261872"/>
            <a:ext cx="8503920" cy="530352"/>
          </a:xfrm>
          <a:prstGeom prst="rect">
            <a:avLst/>
          </a:prstGeom>
          <a:solidFill>
            <a:srgbClr val="FFFFFF"/>
          </a:solidFill>
          <a:ln w="12700">
            <a:solidFill>
              <a:srgbClr val="2ECC71"/>
            </a:solidFill>
            <a:prstDash val="solid"/>
          </a:ln>
        </p:spPr>
        <p:txBody>
          <a:bodyPr/>
          <a:lstStyle/>
          <a:p>
            <a:endParaRPr lang="en-SG"/>
          </a:p>
        </p:txBody>
      </p:sp>
      <p:sp>
        <p:nvSpPr>
          <p:cNvPr id="6" name="Shape 4"/>
          <p:cNvSpPr/>
          <p:nvPr/>
        </p:nvSpPr>
        <p:spPr>
          <a:xfrm>
            <a:off x="320040" y="1261872"/>
            <a:ext cx="54864" cy="530352"/>
          </a:xfrm>
          <a:prstGeom prst="rect">
            <a:avLst/>
          </a:prstGeom>
          <a:solidFill>
            <a:srgbClr val="2ECC71"/>
          </a:solidFill>
          <a:ln w="12700">
            <a:solidFill>
              <a:srgbClr val="2ECC71"/>
            </a:solidFill>
            <a:prstDash val="solid"/>
          </a:ln>
        </p:spPr>
        <p:txBody>
          <a:bodyPr/>
          <a:lstStyle/>
          <a:p>
            <a:endParaRPr lang="en-SG"/>
          </a:p>
        </p:txBody>
      </p:sp>
      <p:sp>
        <p:nvSpPr>
          <p:cNvPr id="7" name="Text 5"/>
          <p:cNvSpPr/>
          <p:nvPr/>
        </p:nvSpPr>
        <p:spPr>
          <a:xfrm>
            <a:off x="475488" y="1316736"/>
            <a:ext cx="8229600" cy="402336"/>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UNIX-based systems use Sendmail (or Postfix) as the mail transfer agent. All SMTP activity is written to log files on disk — giving investigators a timestamped record of every email that passed through the server.</a:t>
            </a:r>
            <a:endParaRPr lang="en-US" sz="1000" dirty="0"/>
          </a:p>
        </p:txBody>
      </p:sp>
      <p:sp>
        <p:nvSpPr>
          <p:cNvPr id="8" name="Shape 6"/>
          <p:cNvSpPr/>
          <p:nvPr/>
        </p:nvSpPr>
        <p:spPr>
          <a:xfrm>
            <a:off x="320040" y="1883664"/>
            <a:ext cx="8503920" cy="224942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883664"/>
            <a:ext cx="8503920" cy="274320"/>
          </a:xfrm>
          <a:prstGeom prst="rect">
            <a:avLst/>
          </a:prstGeom>
          <a:solidFill>
            <a:srgbClr val="FFFFFF"/>
          </a:solidFill>
          <a:ln w="12700">
            <a:solidFill>
              <a:srgbClr val="FFFFFF"/>
            </a:solidFill>
            <a:prstDash val="solid"/>
          </a:ln>
        </p:spPr>
        <p:txBody>
          <a:bodyPr/>
          <a:lstStyle/>
          <a:p>
            <a:endParaRPr lang="en-SG"/>
          </a:p>
        </p:txBody>
      </p:sp>
      <p:sp>
        <p:nvSpPr>
          <p:cNvPr id="10" name="Text 8"/>
          <p:cNvSpPr/>
          <p:nvPr/>
        </p:nvSpPr>
        <p:spPr>
          <a:xfrm>
            <a:off x="457200" y="1901952"/>
            <a:ext cx="2743200" cy="237744"/>
          </a:xfrm>
          <a:prstGeom prst="rect">
            <a:avLst/>
          </a:prstGeom>
          <a:noFill/>
          <a:ln/>
        </p:spPr>
        <p:txBody>
          <a:bodyPr wrap="square" lIns="0" tIns="0" rIns="0" bIns="0" rtlCol="0" anchor="ctr"/>
          <a:lstStyle/>
          <a:p>
            <a:pPr marL="0" indent="0">
              <a:buNone/>
            </a:pPr>
            <a:r>
              <a:rPr lang="en-US" sz="950" b="1" dirty="0">
                <a:solidFill>
                  <a:srgbClr val="2ECC71"/>
                </a:solidFill>
                <a:latin typeface="Calibri" pitchFamily="34" charset="0"/>
                <a:ea typeface="Calibri" pitchFamily="34" charset="-122"/>
                <a:cs typeface="Calibri" pitchFamily="34" charset="-120"/>
              </a:rPr>
              <a:t>File / Path</a:t>
            </a:r>
            <a:endParaRPr lang="en-US" sz="950" dirty="0"/>
          </a:p>
        </p:txBody>
      </p:sp>
      <p:sp>
        <p:nvSpPr>
          <p:cNvPr id="11" name="Text 9"/>
          <p:cNvSpPr/>
          <p:nvPr/>
        </p:nvSpPr>
        <p:spPr>
          <a:xfrm>
            <a:off x="2743200" y="1901952"/>
            <a:ext cx="2743200" cy="237744"/>
          </a:xfrm>
          <a:prstGeom prst="rect">
            <a:avLst/>
          </a:prstGeom>
          <a:noFill/>
          <a:ln/>
        </p:spPr>
        <p:txBody>
          <a:bodyPr wrap="square" lIns="0" tIns="0" rIns="0" bIns="0" rtlCol="0" anchor="ctr"/>
          <a:lstStyle/>
          <a:p>
            <a:pPr marL="0" indent="0">
              <a:buNone/>
            </a:pPr>
            <a:r>
              <a:rPr lang="en-US" sz="950" b="1" dirty="0">
                <a:solidFill>
                  <a:srgbClr val="2ECC71"/>
                </a:solidFill>
                <a:latin typeface="Calibri" pitchFamily="34" charset="0"/>
                <a:ea typeface="Calibri" pitchFamily="34" charset="-122"/>
                <a:cs typeface="Calibri" pitchFamily="34" charset="-120"/>
              </a:rPr>
              <a:t>Purpose</a:t>
            </a:r>
            <a:endParaRPr lang="en-US" sz="950" dirty="0"/>
          </a:p>
        </p:txBody>
      </p:sp>
      <p:sp>
        <p:nvSpPr>
          <p:cNvPr id="12" name="Text 10"/>
          <p:cNvSpPr/>
          <p:nvPr/>
        </p:nvSpPr>
        <p:spPr>
          <a:xfrm>
            <a:off x="5303520" y="1901952"/>
            <a:ext cx="2743200" cy="237744"/>
          </a:xfrm>
          <a:prstGeom prst="rect">
            <a:avLst/>
          </a:prstGeom>
          <a:noFill/>
          <a:ln/>
        </p:spPr>
        <p:txBody>
          <a:bodyPr wrap="square" lIns="0" tIns="0" rIns="0" bIns="0" rtlCol="0" anchor="ctr"/>
          <a:lstStyle/>
          <a:p>
            <a:pPr marL="0" indent="0">
              <a:buNone/>
            </a:pPr>
            <a:r>
              <a:rPr lang="en-US" sz="950" b="1" dirty="0">
                <a:solidFill>
                  <a:srgbClr val="2ECC71"/>
                </a:solidFill>
                <a:latin typeface="Calibri" pitchFamily="34" charset="0"/>
                <a:ea typeface="Calibri" pitchFamily="34" charset="-122"/>
                <a:cs typeface="Calibri" pitchFamily="34" charset="-120"/>
              </a:rPr>
              <a:t>What Investigators Find There</a:t>
            </a:r>
            <a:endParaRPr lang="en-US" sz="950" dirty="0"/>
          </a:p>
        </p:txBody>
      </p:sp>
      <p:sp>
        <p:nvSpPr>
          <p:cNvPr id="13" name="Shape 11"/>
          <p:cNvSpPr/>
          <p:nvPr/>
        </p:nvSpPr>
        <p:spPr>
          <a:xfrm>
            <a:off x="320040" y="2194560"/>
            <a:ext cx="8503920" cy="457200"/>
          </a:xfrm>
          <a:prstGeom prst="rect">
            <a:avLst/>
          </a:prstGeom>
          <a:solidFill>
            <a:srgbClr val="EEF6FB"/>
          </a:solidFill>
          <a:ln w="12700">
            <a:solidFill>
              <a:srgbClr val="EEF6FB"/>
            </a:solidFill>
            <a:prstDash val="solid"/>
          </a:ln>
        </p:spPr>
        <p:txBody>
          <a:bodyPr/>
          <a:lstStyle/>
          <a:p>
            <a:endParaRPr lang="en-SG"/>
          </a:p>
        </p:txBody>
      </p:sp>
      <p:sp>
        <p:nvSpPr>
          <p:cNvPr id="14" name="Text 12"/>
          <p:cNvSpPr/>
          <p:nvPr/>
        </p:nvSpPr>
        <p:spPr>
          <a:xfrm>
            <a:off x="457200" y="2258568"/>
            <a:ext cx="2194560" cy="329184"/>
          </a:xfrm>
          <a:prstGeom prst="rect">
            <a:avLst/>
          </a:prstGeom>
          <a:noFill/>
          <a:ln/>
        </p:spPr>
        <p:txBody>
          <a:bodyPr wrap="square" lIns="0" tIns="0" rIns="0" bIns="0" rtlCol="0" anchor="ctr"/>
          <a:lstStyle/>
          <a:p>
            <a:pPr marL="0" indent="0">
              <a:buNone/>
            </a:pPr>
            <a:r>
              <a:rPr lang="en-US" sz="850" b="1" dirty="0">
                <a:solidFill>
                  <a:srgbClr val="2ECC71"/>
                </a:solidFill>
                <a:latin typeface="Consolas" pitchFamily="34" charset="0"/>
                <a:ea typeface="Consolas" pitchFamily="34" charset="-122"/>
                <a:cs typeface="Consolas" pitchFamily="34" charset="-120"/>
              </a:rPr>
              <a:t>/etc/sendmail.cf</a:t>
            </a:r>
            <a:endParaRPr lang="en-US" sz="850" dirty="0"/>
          </a:p>
        </p:txBody>
      </p:sp>
      <p:sp>
        <p:nvSpPr>
          <p:cNvPr id="15" name="Text 13"/>
          <p:cNvSpPr/>
          <p:nvPr/>
        </p:nvSpPr>
        <p:spPr>
          <a:xfrm>
            <a:off x="2743200" y="2258568"/>
            <a:ext cx="2377440" cy="329184"/>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Sendmail configuration file</a:t>
            </a:r>
            <a:endParaRPr lang="en-US" sz="850" dirty="0"/>
          </a:p>
        </p:txBody>
      </p:sp>
      <p:sp>
        <p:nvSpPr>
          <p:cNvPr id="16" name="Text 14"/>
          <p:cNvSpPr/>
          <p:nvPr/>
        </p:nvSpPr>
        <p:spPr>
          <a:xfrm>
            <a:off x="5303520" y="2258568"/>
            <a:ext cx="3383280" cy="32918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Relay rules, authentication settings, and logging verbosity — shows how the server is configured to handle mail.</a:t>
            </a:r>
            <a:endParaRPr lang="en-US" sz="850" dirty="0"/>
          </a:p>
        </p:txBody>
      </p:sp>
      <p:sp>
        <p:nvSpPr>
          <p:cNvPr id="17" name="Shape 15"/>
          <p:cNvSpPr/>
          <p:nvPr/>
        </p:nvSpPr>
        <p:spPr>
          <a:xfrm>
            <a:off x="320040" y="2670048"/>
            <a:ext cx="8503920" cy="457200"/>
          </a:xfrm>
          <a:prstGeom prst="rect">
            <a:avLst/>
          </a:prstGeom>
          <a:solidFill>
            <a:srgbClr val="FFFFFF"/>
          </a:solidFill>
          <a:ln w="12700">
            <a:solidFill>
              <a:srgbClr val="FFFFFF"/>
            </a:solidFill>
            <a:prstDash val="solid"/>
          </a:ln>
        </p:spPr>
        <p:txBody>
          <a:bodyPr/>
          <a:lstStyle/>
          <a:p>
            <a:endParaRPr lang="en-SG"/>
          </a:p>
        </p:txBody>
      </p:sp>
      <p:sp>
        <p:nvSpPr>
          <p:cNvPr id="18" name="Text 16"/>
          <p:cNvSpPr/>
          <p:nvPr/>
        </p:nvSpPr>
        <p:spPr>
          <a:xfrm>
            <a:off x="457200" y="2734056"/>
            <a:ext cx="2194560" cy="329184"/>
          </a:xfrm>
          <a:prstGeom prst="rect">
            <a:avLst/>
          </a:prstGeom>
          <a:noFill/>
          <a:ln/>
        </p:spPr>
        <p:txBody>
          <a:bodyPr wrap="square" lIns="0" tIns="0" rIns="0" bIns="0" rtlCol="0" anchor="ctr"/>
          <a:lstStyle/>
          <a:p>
            <a:pPr marL="0" indent="0">
              <a:buNone/>
            </a:pPr>
            <a:r>
              <a:rPr lang="en-US" sz="850" b="1" dirty="0">
                <a:solidFill>
                  <a:srgbClr val="2ECC71"/>
                </a:solidFill>
                <a:latin typeface="Consolas" pitchFamily="34" charset="0"/>
                <a:ea typeface="Consolas" pitchFamily="34" charset="-122"/>
                <a:cs typeface="Consolas" pitchFamily="34" charset="-120"/>
              </a:rPr>
              <a:t>/etc/syslog.conf</a:t>
            </a:r>
            <a:endParaRPr lang="en-US" sz="850" dirty="0"/>
          </a:p>
        </p:txBody>
      </p:sp>
      <p:sp>
        <p:nvSpPr>
          <p:cNvPr id="19" name="Text 17"/>
          <p:cNvSpPr/>
          <p:nvPr/>
        </p:nvSpPr>
        <p:spPr>
          <a:xfrm>
            <a:off x="2743200" y="2734056"/>
            <a:ext cx="2377440" cy="329184"/>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System logging configuration</a:t>
            </a:r>
            <a:endParaRPr lang="en-US" sz="850" dirty="0"/>
          </a:p>
        </p:txBody>
      </p:sp>
      <p:sp>
        <p:nvSpPr>
          <p:cNvPr id="20" name="Text 18"/>
          <p:cNvSpPr/>
          <p:nvPr/>
        </p:nvSpPr>
        <p:spPr>
          <a:xfrm>
            <a:off x="5303520" y="2734056"/>
            <a:ext cx="3383280" cy="32918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Specifies which Sendmail events are logged and where output is written — tells you where to look for logs.</a:t>
            </a:r>
            <a:endParaRPr lang="en-US" sz="850" dirty="0"/>
          </a:p>
        </p:txBody>
      </p:sp>
      <p:sp>
        <p:nvSpPr>
          <p:cNvPr id="21" name="Shape 19"/>
          <p:cNvSpPr/>
          <p:nvPr/>
        </p:nvSpPr>
        <p:spPr>
          <a:xfrm>
            <a:off x="320040" y="3145536"/>
            <a:ext cx="8503920" cy="457200"/>
          </a:xfrm>
          <a:prstGeom prst="rect">
            <a:avLst/>
          </a:prstGeom>
          <a:solidFill>
            <a:srgbClr val="EEF6FB"/>
          </a:solidFill>
          <a:ln w="12700">
            <a:solidFill>
              <a:srgbClr val="EEF6FB"/>
            </a:solidFill>
            <a:prstDash val="solid"/>
          </a:ln>
        </p:spPr>
        <p:txBody>
          <a:bodyPr/>
          <a:lstStyle/>
          <a:p>
            <a:endParaRPr lang="en-SG"/>
          </a:p>
        </p:txBody>
      </p:sp>
      <p:sp>
        <p:nvSpPr>
          <p:cNvPr id="22" name="Text 20"/>
          <p:cNvSpPr/>
          <p:nvPr/>
        </p:nvSpPr>
        <p:spPr>
          <a:xfrm>
            <a:off x="457200" y="3209544"/>
            <a:ext cx="2194560" cy="329184"/>
          </a:xfrm>
          <a:prstGeom prst="rect">
            <a:avLst/>
          </a:prstGeom>
          <a:noFill/>
          <a:ln/>
        </p:spPr>
        <p:txBody>
          <a:bodyPr wrap="square" lIns="0" tIns="0" rIns="0" bIns="0" rtlCol="0" anchor="ctr"/>
          <a:lstStyle/>
          <a:p>
            <a:pPr marL="0" indent="0">
              <a:buNone/>
            </a:pPr>
            <a:r>
              <a:rPr lang="en-US" sz="850" b="1" dirty="0">
                <a:solidFill>
                  <a:srgbClr val="2ECC71"/>
                </a:solidFill>
                <a:latin typeface="Consolas" pitchFamily="34" charset="0"/>
                <a:ea typeface="Consolas" pitchFamily="34" charset="-122"/>
                <a:cs typeface="Consolas" pitchFamily="34" charset="-120"/>
              </a:rPr>
              <a:t>/var/log/maillog</a:t>
            </a:r>
            <a:endParaRPr lang="en-US" sz="850" dirty="0"/>
          </a:p>
        </p:txBody>
      </p:sp>
      <p:sp>
        <p:nvSpPr>
          <p:cNvPr id="23" name="Text 21"/>
          <p:cNvSpPr/>
          <p:nvPr/>
        </p:nvSpPr>
        <p:spPr>
          <a:xfrm>
            <a:off x="2743200" y="3209544"/>
            <a:ext cx="2377440" cy="329184"/>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PRIMARY mail log</a:t>
            </a:r>
            <a:endParaRPr lang="en-US" sz="850" dirty="0"/>
          </a:p>
        </p:txBody>
      </p:sp>
      <p:sp>
        <p:nvSpPr>
          <p:cNvPr id="24" name="Text 22"/>
          <p:cNvSpPr/>
          <p:nvPr/>
        </p:nvSpPr>
        <p:spPr>
          <a:xfrm>
            <a:off x="5303520" y="3209544"/>
            <a:ext cx="3383280" cy="32918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Every SMTP session: sender address, relay IP, recipient, delivery status, and timestamps. This is your main evidence source.</a:t>
            </a:r>
            <a:endParaRPr lang="en-US" sz="850" dirty="0"/>
          </a:p>
        </p:txBody>
      </p:sp>
      <p:sp>
        <p:nvSpPr>
          <p:cNvPr id="25" name="Shape 23"/>
          <p:cNvSpPr/>
          <p:nvPr/>
        </p:nvSpPr>
        <p:spPr>
          <a:xfrm>
            <a:off x="320040" y="3621024"/>
            <a:ext cx="8503920" cy="457200"/>
          </a:xfrm>
          <a:prstGeom prst="rect">
            <a:avLst/>
          </a:prstGeom>
          <a:solidFill>
            <a:srgbClr val="FFFFFF"/>
          </a:solidFill>
          <a:ln w="12700">
            <a:solidFill>
              <a:srgbClr val="FFFFFF"/>
            </a:solidFill>
            <a:prstDash val="solid"/>
          </a:ln>
        </p:spPr>
        <p:txBody>
          <a:bodyPr/>
          <a:lstStyle/>
          <a:p>
            <a:endParaRPr lang="en-SG"/>
          </a:p>
        </p:txBody>
      </p:sp>
      <p:sp>
        <p:nvSpPr>
          <p:cNvPr id="26" name="Text 24"/>
          <p:cNvSpPr/>
          <p:nvPr/>
        </p:nvSpPr>
        <p:spPr>
          <a:xfrm>
            <a:off x="457200" y="3685032"/>
            <a:ext cx="2194560" cy="329184"/>
          </a:xfrm>
          <a:prstGeom prst="rect">
            <a:avLst/>
          </a:prstGeom>
          <a:noFill/>
          <a:ln/>
        </p:spPr>
        <p:txBody>
          <a:bodyPr wrap="square" lIns="0" tIns="0" rIns="0" bIns="0" rtlCol="0" anchor="ctr"/>
          <a:lstStyle/>
          <a:p>
            <a:pPr marL="0" indent="0">
              <a:buNone/>
            </a:pPr>
            <a:r>
              <a:rPr lang="en-US" sz="850" b="1" dirty="0">
                <a:solidFill>
                  <a:srgbClr val="2ECC71"/>
                </a:solidFill>
                <a:latin typeface="Consolas" pitchFamily="34" charset="0"/>
                <a:ea typeface="Consolas" pitchFamily="34" charset="-122"/>
                <a:cs typeface="Consolas" pitchFamily="34" charset="-120"/>
              </a:rPr>
              <a:t>/var/spool/mqueue/</a:t>
            </a:r>
            <a:endParaRPr lang="en-US" sz="850" dirty="0"/>
          </a:p>
        </p:txBody>
      </p:sp>
      <p:sp>
        <p:nvSpPr>
          <p:cNvPr id="27" name="Text 25"/>
          <p:cNvSpPr/>
          <p:nvPr/>
        </p:nvSpPr>
        <p:spPr>
          <a:xfrm>
            <a:off x="2743200" y="3685032"/>
            <a:ext cx="2377440" cy="329184"/>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Mail queue (outbound)</a:t>
            </a:r>
            <a:endParaRPr lang="en-US" sz="850" dirty="0"/>
          </a:p>
        </p:txBody>
      </p:sp>
      <p:sp>
        <p:nvSpPr>
          <p:cNvPr id="28" name="Text 26"/>
          <p:cNvSpPr/>
          <p:nvPr/>
        </p:nvSpPr>
        <p:spPr>
          <a:xfrm>
            <a:off x="5303520" y="3685032"/>
            <a:ext cx="3383280" cy="32918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Messages waiting to be delivered — may contain the full content of unsent emails, recoverable even after deletion.</a:t>
            </a:r>
            <a:endParaRPr lang="en-US" sz="850" dirty="0"/>
          </a:p>
        </p:txBody>
      </p:sp>
      <p:sp>
        <p:nvSpPr>
          <p:cNvPr id="29" name="Shape 27"/>
          <p:cNvSpPr/>
          <p:nvPr/>
        </p:nvSpPr>
        <p:spPr>
          <a:xfrm>
            <a:off x="320040" y="4224528"/>
            <a:ext cx="8503920" cy="603504"/>
          </a:xfrm>
          <a:prstGeom prst="rect">
            <a:avLst/>
          </a:prstGeom>
          <a:solidFill>
            <a:srgbClr val="FFFFFF"/>
          </a:solidFill>
          <a:ln w="12700">
            <a:solidFill>
              <a:srgbClr val="2ECC71"/>
            </a:solidFill>
            <a:prstDash val="solid"/>
          </a:ln>
        </p:spPr>
        <p:txBody>
          <a:bodyPr/>
          <a:lstStyle/>
          <a:p>
            <a:endParaRPr lang="en-SG"/>
          </a:p>
        </p:txBody>
      </p:sp>
      <p:sp>
        <p:nvSpPr>
          <p:cNvPr id="30" name="Text 28"/>
          <p:cNvSpPr/>
          <p:nvPr/>
        </p:nvSpPr>
        <p:spPr>
          <a:xfrm>
            <a:off x="457200" y="4251960"/>
            <a:ext cx="4572000" cy="182880"/>
          </a:xfrm>
          <a:prstGeom prst="rect">
            <a:avLst/>
          </a:prstGeom>
          <a:noFill/>
          <a:ln/>
        </p:spPr>
        <p:txBody>
          <a:bodyPr wrap="square" lIns="0" tIns="0" rIns="0" bIns="0" rtlCol="0" anchor="ctr"/>
          <a:lstStyle/>
          <a:p>
            <a:pPr marL="0" indent="0">
              <a:buNone/>
            </a:pPr>
            <a:r>
              <a:rPr lang="en-US" sz="900" b="1" dirty="0">
                <a:solidFill>
                  <a:srgbClr val="2ECC71"/>
                </a:solidFill>
                <a:latin typeface="Calibri" pitchFamily="34" charset="0"/>
                <a:ea typeface="Calibri" pitchFamily="34" charset="-122"/>
                <a:cs typeface="Calibri" pitchFamily="34" charset="-120"/>
              </a:rPr>
              <a:t>📋  Sample /var/log/maillog — How to Read It</a:t>
            </a:r>
            <a:endParaRPr lang="en-US" sz="900" dirty="0"/>
          </a:p>
        </p:txBody>
      </p:sp>
      <p:sp>
        <p:nvSpPr>
          <p:cNvPr id="31" name="Text 29"/>
          <p:cNvSpPr/>
          <p:nvPr/>
        </p:nvSpPr>
        <p:spPr>
          <a:xfrm>
            <a:off x="457200" y="4443984"/>
            <a:ext cx="8229600" cy="329184"/>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Mar 12 08:14:03 mailsvr sendmail[1234]: MSG_ID: from=&lt;attacker@evil.com&gt;, size=4096, relay=203.0.113.45</a:t>
            </a:r>
            <a:endParaRPr lang="en-US" sz="800" dirty="0"/>
          </a:p>
          <a:p>
            <a:pPr marL="0" indent="0">
              <a:buNone/>
            </a:pPr>
            <a:r>
              <a:rPr lang="en-US" sz="800" dirty="0">
                <a:solidFill>
                  <a:srgbClr val="2ECC71"/>
                </a:solidFill>
                <a:latin typeface="Consolas" pitchFamily="34" charset="0"/>
                <a:ea typeface="Consolas" pitchFamily="34" charset="-122"/>
                <a:cs typeface="Consolas" pitchFamily="34" charset="-120"/>
              </a:rPr>
              <a:t>Mar 12 08:14:05 mailsvr sendmail[1234]: MSG_ID: to=&lt;ceo@victim.org&gt;, delay=00:00:02, stat=Sent</a:t>
            </a:r>
            <a:endParaRPr lang="en-US" sz="800" dirty="0"/>
          </a:p>
        </p:txBody>
      </p:sp>
      <p:sp>
        <p:nvSpPr>
          <p:cNvPr id="32" name="Text 30"/>
          <p:cNvSpPr/>
          <p:nvPr/>
        </p:nvSpPr>
        <p:spPr>
          <a:xfrm>
            <a:off x="6398260" y="4434840"/>
            <a:ext cx="2011680" cy="164592"/>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relay IP = attacker source</a:t>
            </a:r>
            <a:endParaRPr lang="en-US" sz="750" dirty="0"/>
          </a:p>
        </p:txBody>
      </p:sp>
      <p:sp>
        <p:nvSpPr>
          <p:cNvPr id="33" name="Text 31"/>
          <p:cNvSpPr/>
          <p:nvPr/>
        </p:nvSpPr>
        <p:spPr>
          <a:xfrm>
            <a:off x="6398260" y="4608322"/>
            <a:ext cx="1828800" cy="164592"/>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stat=Sent proves delivery</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Email Server Logs — Microsoft Exchange</a:t>
            </a:r>
            <a:endParaRPr lang="en-US" sz="2800" dirty="0"/>
          </a:p>
        </p:txBody>
      </p:sp>
      <p:sp>
        <p:nvSpPr>
          <p:cNvPr id="5" name="Shape 3"/>
          <p:cNvSpPr/>
          <p:nvPr/>
        </p:nvSpPr>
        <p:spPr>
          <a:xfrm>
            <a:off x="320040" y="1261872"/>
            <a:ext cx="8503920" cy="530352"/>
          </a:xfrm>
          <a:prstGeom prst="rect">
            <a:avLst/>
          </a:prstGeom>
          <a:solidFill>
            <a:srgbClr val="FFFFFF"/>
          </a:solidFill>
          <a:ln w="12700">
            <a:solidFill>
              <a:srgbClr val="00B4D8"/>
            </a:solidFill>
            <a:prstDash val="solid"/>
          </a:ln>
        </p:spPr>
        <p:txBody>
          <a:bodyPr/>
          <a:lstStyle/>
          <a:p>
            <a:endParaRPr lang="en-SG"/>
          </a:p>
        </p:txBody>
      </p:sp>
      <p:sp>
        <p:nvSpPr>
          <p:cNvPr id="6" name="Shape 4"/>
          <p:cNvSpPr/>
          <p:nvPr/>
        </p:nvSpPr>
        <p:spPr>
          <a:xfrm>
            <a:off x="320040" y="1261872"/>
            <a:ext cx="54864" cy="53035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75488" y="1316736"/>
            <a:ext cx="8229600" cy="402336"/>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Microsoft Exchange is the dominant corporate email server. It stores email in a proprietary database rather than flat log files — meaning investigators need specialised tools and must act quickly before logs roll over.</a:t>
            </a:r>
            <a:endParaRPr lang="en-US" sz="1000" dirty="0"/>
          </a:p>
        </p:txBody>
      </p:sp>
      <p:sp>
        <p:nvSpPr>
          <p:cNvPr id="8" name="Shape 6"/>
          <p:cNvSpPr/>
          <p:nvPr/>
        </p:nvSpPr>
        <p:spPr>
          <a:xfrm>
            <a:off x="320040" y="1883664"/>
            <a:ext cx="4160520" cy="2249424"/>
          </a:xfrm>
          <a:prstGeom prst="rect">
            <a:avLst/>
          </a:prstGeom>
          <a:solidFill>
            <a:srgbClr val="EEF6FB"/>
          </a:solidFill>
          <a:ln w="12700">
            <a:solidFill>
              <a:srgbClr val="00B4D8"/>
            </a:solidFill>
            <a:prstDash val="solid"/>
          </a:ln>
        </p:spPr>
        <p:txBody>
          <a:bodyPr/>
          <a:lstStyle/>
          <a:p>
            <a:endParaRPr lang="en-SG"/>
          </a:p>
        </p:txBody>
      </p:sp>
      <p:sp>
        <p:nvSpPr>
          <p:cNvPr id="9" name="Shape 7"/>
          <p:cNvSpPr/>
          <p:nvPr/>
        </p:nvSpPr>
        <p:spPr>
          <a:xfrm>
            <a:off x="320040" y="1883664"/>
            <a:ext cx="4160520" cy="25603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38912" y="1883664"/>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Database &amp; Transaction Files</a:t>
            </a:r>
            <a:endParaRPr lang="en-US" sz="1100" dirty="0"/>
          </a:p>
        </p:txBody>
      </p:sp>
      <p:sp>
        <p:nvSpPr>
          <p:cNvPr id="11" name="Text 9"/>
          <p:cNvSpPr/>
          <p:nvPr/>
        </p:nvSpPr>
        <p:spPr>
          <a:xfrm>
            <a:off x="457200" y="2212848"/>
            <a:ext cx="822960" cy="219456"/>
          </a:xfrm>
          <a:prstGeom prst="rect">
            <a:avLst/>
          </a:prstGeom>
          <a:noFill/>
          <a:ln/>
        </p:spPr>
        <p:txBody>
          <a:bodyPr wrap="square" lIns="0" tIns="0" rIns="0" bIns="0" rtlCol="0" anchor="ctr"/>
          <a:lstStyle/>
          <a:p>
            <a:pPr marL="0" indent="0">
              <a:buNone/>
            </a:pPr>
            <a:r>
              <a:rPr lang="en-US" sz="950" b="1" dirty="0">
                <a:solidFill>
                  <a:srgbClr val="00B4D8"/>
                </a:solidFill>
                <a:latin typeface="Consolas" pitchFamily="34" charset="0"/>
                <a:ea typeface="Consolas" pitchFamily="34" charset="-122"/>
                <a:cs typeface="Consolas" pitchFamily="34" charset="-120"/>
              </a:rPr>
              <a:t>*.edb</a:t>
            </a:r>
            <a:endParaRPr lang="en-US" sz="950" dirty="0"/>
          </a:p>
        </p:txBody>
      </p:sp>
      <p:sp>
        <p:nvSpPr>
          <p:cNvPr id="12" name="Text 10"/>
          <p:cNvSpPr/>
          <p:nvPr/>
        </p:nvSpPr>
        <p:spPr>
          <a:xfrm>
            <a:off x="1316736" y="2212848"/>
            <a:ext cx="1280160"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Information Store</a:t>
            </a:r>
            <a:endParaRPr lang="en-US" sz="900" dirty="0"/>
          </a:p>
        </p:txBody>
      </p:sp>
      <p:sp>
        <p:nvSpPr>
          <p:cNvPr id="13" name="Text 11"/>
          <p:cNvSpPr/>
          <p:nvPr/>
        </p:nvSpPr>
        <p:spPr>
          <a:xfrm>
            <a:off x="457200" y="2432304"/>
            <a:ext cx="3913632" cy="34747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The primary database — stores all emails, calendar entries, contacts, and attachments via the MAPI protocol.</a:t>
            </a:r>
            <a:endParaRPr lang="en-US" sz="850" dirty="0"/>
          </a:p>
        </p:txBody>
      </p:sp>
      <p:sp>
        <p:nvSpPr>
          <p:cNvPr id="14" name="Text 12"/>
          <p:cNvSpPr/>
          <p:nvPr/>
        </p:nvSpPr>
        <p:spPr>
          <a:xfrm>
            <a:off x="457200" y="2852928"/>
            <a:ext cx="822960" cy="219456"/>
          </a:xfrm>
          <a:prstGeom prst="rect">
            <a:avLst/>
          </a:prstGeom>
          <a:noFill/>
          <a:ln/>
        </p:spPr>
        <p:txBody>
          <a:bodyPr wrap="square" lIns="0" tIns="0" rIns="0" bIns="0" rtlCol="0" anchor="ctr"/>
          <a:lstStyle/>
          <a:p>
            <a:pPr marL="0" indent="0">
              <a:buNone/>
            </a:pPr>
            <a:r>
              <a:rPr lang="en-US" sz="950" b="1" dirty="0">
                <a:solidFill>
                  <a:srgbClr val="00B4D8"/>
                </a:solidFill>
                <a:latin typeface="Consolas" pitchFamily="34" charset="0"/>
                <a:ea typeface="Consolas" pitchFamily="34" charset="-122"/>
                <a:cs typeface="Consolas" pitchFamily="34" charset="-120"/>
              </a:rPr>
              <a:t>E*.log</a:t>
            </a:r>
            <a:endParaRPr lang="en-US" sz="950" dirty="0"/>
          </a:p>
        </p:txBody>
      </p:sp>
      <p:sp>
        <p:nvSpPr>
          <p:cNvPr id="15" name="Text 13"/>
          <p:cNvSpPr/>
          <p:nvPr/>
        </p:nvSpPr>
        <p:spPr>
          <a:xfrm>
            <a:off x="1316736" y="2852928"/>
            <a:ext cx="1280160"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Transaction Logs</a:t>
            </a:r>
            <a:endParaRPr lang="en-US" sz="900" dirty="0"/>
          </a:p>
        </p:txBody>
      </p:sp>
      <p:sp>
        <p:nvSpPr>
          <p:cNvPr id="16" name="Text 14"/>
          <p:cNvSpPr/>
          <p:nvPr/>
        </p:nvSpPr>
        <p:spPr>
          <a:xfrm>
            <a:off x="457200" y="3072384"/>
            <a:ext cx="3913632" cy="34747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Every write operation is recorded here before being committed to the .edb database. Deleted emails can be recovered from transaction logs.</a:t>
            </a:r>
            <a:endParaRPr lang="en-US" sz="850" dirty="0"/>
          </a:p>
        </p:txBody>
      </p:sp>
      <p:sp>
        <p:nvSpPr>
          <p:cNvPr id="17" name="Text 15"/>
          <p:cNvSpPr/>
          <p:nvPr/>
        </p:nvSpPr>
        <p:spPr>
          <a:xfrm>
            <a:off x="457200" y="3493008"/>
            <a:ext cx="822960" cy="219456"/>
          </a:xfrm>
          <a:prstGeom prst="rect">
            <a:avLst/>
          </a:prstGeom>
          <a:noFill/>
          <a:ln/>
        </p:spPr>
        <p:txBody>
          <a:bodyPr wrap="square" lIns="0" tIns="0" rIns="0" bIns="0" rtlCol="0" anchor="ctr"/>
          <a:lstStyle/>
          <a:p>
            <a:pPr marL="0" indent="0">
              <a:buNone/>
            </a:pPr>
            <a:r>
              <a:rPr lang="en-US" sz="950" b="1" dirty="0">
                <a:solidFill>
                  <a:srgbClr val="00B4D8"/>
                </a:solidFill>
                <a:latin typeface="Consolas" pitchFamily="34" charset="0"/>
                <a:ea typeface="Consolas" pitchFamily="34" charset="-122"/>
                <a:cs typeface="Consolas" pitchFamily="34" charset="-120"/>
              </a:rPr>
              <a:t>*.chk</a:t>
            </a:r>
            <a:endParaRPr lang="en-US" sz="950" dirty="0"/>
          </a:p>
        </p:txBody>
      </p:sp>
      <p:sp>
        <p:nvSpPr>
          <p:cNvPr id="18" name="Text 16"/>
          <p:cNvSpPr/>
          <p:nvPr/>
        </p:nvSpPr>
        <p:spPr>
          <a:xfrm>
            <a:off x="1316736" y="3493008"/>
            <a:ext cx="1280160"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Checkpoint File</a:t>
            </a:r>
            <a:endParaRPr lang="en-US" sz="900" dirty="0"/>
          </a:p>
        </p:txBody>
      </p:sp>
      <p:sp>
        <p:nvSpPr>
          <p:cNvPr id="19" name="Text 17"/>
          <p:cNvSpPr/>
          <p:nvPr/>
        </p:nvSpPr>
        <p:spPr>
          <a:xfrm>
            <a:off x="457200" y="3712464"/>
            <a:ext cx="3913632" cy="34747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Tracks which transaction logs have been committed. Investigators use this to understand the data loss window in an incident.</a:t>
            </a:r>
            <a:endParaRPr lang="en-US" sz="850" dirty="0"/>
          </a:p>
        </p:txBody>
      </p:sp>
      <p:sp>
        <p:nvSpPr>
          <p:cNvPr id="20" name="Shape 18"/>
          <p:cNvSpPr/>
          <p:nvPr/>
        </p:nvSpPr>
        <p:spPr>
          <a:xfrm>
            <a:off x="4663440" y="1883664"/>
            <a:ext cx="4160520" cy="2249424"/>
          </a:xfrm>
          <a:prstGeom prst="rect">
            <a:avLst/>
          </a:prstGeom>
          <a:solidFill>
            <a:srgbClr val="EEF6FB"/>
          </a:solidFill>
          <a:ln w="12700">
            <a:solidFill>
              <a:srgbClr val="F4A261"/>
            </a:solidFill>
            <a:prstDash val="solid"/>
          </a:ln>
        </p:spPr>
        <p:txBody>
          <a:bodyPr/>
          <a:lstStyle/>
          <a:p>
            <a:endParaRPr lang="en-SG"/>
          </a:p>
        </p:txBody>
      </p:sp>
      <p:sp>
        <p:nvSpPr>
          <p:cNvPr id="21" name="Shape 19"/>
          <p:cNvSpPr/>
          <p:nvPr/>
        </p:nvSpPr>
        <p:spPr>
          <a:xfrm>
            <a:off x="4663440" y="1883664"/>
            <a:ext cx="4160520" cy="256032"/>
          </a:xfrm>
          <a:prstGeom prst="rect">
            <a:avLst/>
          </a:prstGeom>
          <a:solidFill>
            <a:srgbClr val="F4A261"/>
          </a:solidFill>
          <a:ln w="12700">
            <a:solidFill>
              <a:srgbClr val="F4A261"/>
            </a:solidFill>
            <a:prstDash val="solid"/>
          </a:ln>
        </p:spPr>
        <p:txBody>
          <a:bodyPr/>
          <a:lstStyle/>
          <a:p>
            <a:endParaRPr lang="en-SG"/>
          </a:p>
        </p:txBody>
      </p:sp>
      <p:sp>
        <p:nvSpPr>
          <p:cNvPr id="22" name="Text 20"/>
          <p:cNvSpPr/>
          <p:nvPr/>
        </p:nvSpPr>
        <p:spPr>
          <a:xfrm>
            <a:off x="4773168" y="1883664"/>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Message Tracking Log</a:t>
            </a:r>
            <a:endParaRPr lang="en-US" sz="1100" dirty="0"/>
          </a:p>
        </p:txBody>
      </p:sp>
      <p:sp>
        <p:nvSpPr>
          <p:cNvPr id="23" name="Text 21"/>
          <p:cNvSpPr/>
          <p:nvPr/>
        </p:nvSpPr>
        <p:spPr>
          <a:xfrm>
            <a:off x="4791456" y="2194560"/>
            <a:ext cx="3913632" cy="402336"/>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The Message Tracking Log is a CSV audit trail of every email processed by Exchange — including internal emails that would not appear in firewall logs.</a:t>
            </a:r>
            <a:endParaRPr lang="en-US" sz="900" dirty="0"/>
          </a:p>
        </p:txBody>
      </p:sp>
      <p:sp>
        <p:nvSpPr>
          <p:cNvPr id="24" name="Text 22"/>
          <p:cNvSpPr/>
          <p:nvPr/>
        </p:nvSpPr>
        <p:spPr>
          <a:xfrm>
            <a:off x="4791456" y="2651760"/>
            <a:ext cx="1737360" cy="201168"/>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date-time</a:t>
            </a:r>
            <a:endParaRPr lang="en-US" sz="850" dirty="0"/>
          </a:p>
        </p:txBody>
      </p:sp>
      <p:sp>
        <p:nvSpPr>
          <p:cNvPr id="25" name="Text 23"/>
          <p:cNvSpPr/>
          <p:nvPr/>
        </p:nvSpPr>
        <p:spPr>
          <a:xfrm>
            <a:off x="6565392" y="2651760"/>
            <a:ext cx="2176272" cy="201168"/>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UTC timestamp of each email event</a:t>
            </a:r>
            <a:endParaRPr lang="en-US" sz="850" dirty="0"/>
          </a:p>
        </p:txBody>
      </p:sp>
      <p:sp>
        <p:nvSpPr>
          <p:cNvPr id="26" name="Text 24"/>
          <p:cNvSpPr/>
          <p:nvPr/>
        </p:nvSpPr>
        <p:spPr>
          <a:xfrm>
            <a:off x="4791456" y="2889504"/>
            <a:ext cx="1737360" cy="201168"/>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client-ip</a:t>
            </a:r>
            <a:endParaRPr lang="en-US" sz="850" dirty="0"/>
          </a:p>
        </p:txBody>
      </p:sp>
      <p:sp>
        <p:nvSpPr>
          <p:cNvPr id="27" name="Text 25"/>
          <p:cNvSpPr/>
          <p:nvPr/>
        </p:nvSpPr>
        <p:spPr>
          <a:xfrm>
            <a:off x="6565392" y="2889504"/>
            <a:ext cx="2176272" cy="201168"/>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IP address of the sending client</a:t>
            </a:r>
            <a:endParaRPr lang="en-US" sz="850" dirty="0"/>
          </a:p>
        </p:txBody>
      </p:sp>
      <p:sp>
        <p:nvSpPr>
          <p:cNvPr id="28" name="Text 26"/>
          <p:cNvSpPr/>
          <p:nvPr/>
        </p:nvSpPr>
        <p:spPr>
          <a:xfrm>
            <a:off x="4791456" y="3127248"/>
            <a:ext cx="1737360" cy="201168"/>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sender-address</a:t>
            </a:r>
            <a:endParaRPr lang="en-US" sz="850" dirty="0"/>
          </a:p>
        </p:txBody>
      </p:sp>
      <p:sp>
        <p:nvSpPr>
          <p:cNvPr id="29" name="Text 27"/>
          <p:cNvSpPr/>
          <p:nvPr/>
        </p:nvSpPr>
        <p:spPr>
          <a:xfrm>
            <a:off x="6565392" y="3127248"/>
            <a:ext cx="2176272" cy="201168"/>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Envelope From address (may differ from header From)</a:t>
            </a:r>
            <a:endParaRPr lang="en-US" sz="850" dirty="0"/>
          </a:p>
        </p:txBody>
      </p:sp>
      <p:sp>
        <p:nvSpPr>
          <p:cNvPr id="30" name="Text 28"/>
          <p:cNvSpPr/>
          <p:nvPr/>
        </p:nvSpPr>
        <p:spPr>
          <a:xfrm>
            <a:off x="4791456" y="3364992"/>
            <a:ext cx="1737360" cy="201168"/>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recipient-address</a:t>
            </a:r>
            <a:endParaRPr lang="en-US" sz="850" dirty="0"/>
          </a:p>
        </p:txBody>
      </p:sp>
      <p:sp>
        <p:nvSpPr>
          <p:cNvPr id="31" name="Text 29"/>
          <p:cNvSpPr/>
          <p:nvPr/>
        </p:nvSpPr>
        <p:spPr>
          <a:xfrm>
            <a:off x="6565392" y="3364992"/>
            <a:ext cx="2176272" cy="201168"/>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All recipient addresses for the message</a:t>
            </a:r>
            <a:endParaRPr lang="en-US" sz="850" dirty="0"/>
          </a:p>
        </p:txBody>
      </p:sp>
      <p:sp>
        <p:nvSpPr>
          <p:cNvPr id="32" name="Text 30"/>
          <p:cNvSpPr/>
          <p:nvPr/>
        </p:nvSpPr>
        <p:spPr>
          <a:xfrm>
            <a:off x="4791456" y="3602736"/>
            <a:ext cx="1737360" cy="201168"/>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message-subject</a:t>
            </a:r>
            <a:endParaRPr lang="en-US" sz="850" dirty="0"/>
          </a:p>
        </p:txBody>
      </p:sp>
      <p:sp>
        <p:nvSpPr>
          <p:cNvPr id="33" name="Text 31"/>
          <p:cNvSpPr/>
          <p:nvPr/>
        </p:nvSpPr>
        <p:spPr>
          <a:xfrm>
            <a:off x="6565392" y="3602736"/>
            <a:ext cx="2176272" cy="201168"/>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Subject line (when logging is enabled)</a:t>
            </a:r>
            <a:endParaRPr lang="en-US" sz="850" dirty="0"/>
          </a:p>
        </p:txBody>
      </p:sp>
      <p:sp>
        <p:nvSpPr>
          <p:cNvPr id="34" name="Text 32"/>
          <p:cNvSpPr/>
          <p:nvPr/>
        </p:nvSpPr>
        <p:spPr>
          <a:xfrm>
            <a:off x="4791456" y="3840480"/>
            <a:ext cx="1737360" cy="201168"/>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event-id</a:t>
            </a:r>
            <a:endParaRPr lang="en-US" sz="850" dirty="0"/>
          </a:p>
        </p:txBody>
      </p:sp>
      <p:sp>
        <p:nvSpPr>
          <p:cNvPr id="35" name="Text 33"/>
          <p:cNvSpPr/>
          <p:nvPr/>
        </p:nvSpPr>
        <p:spPr>
          <a:xfrm>
            <a:off x="6565392" y="3840480"/>
            <a:ext cx="2176272" cy="201168"/>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RECEIVE · SEND · DELIVER · FAIL · REDIRECT</a:t>
            </a:r>
            <a:endParaRPr lang="en-US" sz="850" dirty="0"/>
          </a:p>
        </p:txBody>
      </p:sp>
      <p:sp>
        <p:nvSpPr>
          <p:cNvPr id="36" name="Shape 34"/>
          <p:cNvSpPr/>
          <p:nvPr/>
        </p:nvSpPr>
        <p:spPr>
          <a:xfrm>
            <a:off x="320040" y="4224528"/>
            <a:ext cx="8503920" cy="754380"/>
          </a:xfrm>
          <a:prstGeom prst="rect">
            <a:avLst/>
          </a:prstGeom>
          <a:solidFill>
            <a:srgbClr val="FFFFFF"/>
          </a:solidFill>
          <a:ln w="12700">
            <a:solidFill>
              <a:srgbClr val="F4A261"/>
            </a:solidFill>
            <a:prstDash val="solid"/>
          </a:ln>
        </p:spPr>
        <p:txBody>
          <a:bodyPr/>
          <a:lstStyle/>
          <a:p>
            <a:endParaRPr lang="en-SG"/>
          </a:p>
        </p:txBody>
      </p:sp>
      <p:sp>
        <p:nvSpPr>
          <p:cNvPr id="37" name="Text 35"/>
          <p:cNvSpPr/>
          <p:nvPr/>
        </p:nvSpPr>
        <p:spPr>
          <a:xfrm>
            <a:off x="457200" y="4251960"/>
            <a:ext cx="3657600" cy="182880"/>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  Sample Message Tracking Log Entry</a:t>
            </a:r>
            <a:endParaRPr lang="en-US" sz="900" dirty="0"/>
          </a:p>
        </p:txBody>
      </p:sp>
      <p:sp>
        <p:nvSpPr>
          <p:cNvPr id="38" name="Text 36"/>
          <p:cNvSpPr/>
          <p:nvPr/>
        </p:nvSpPr>
        <p:spPr>
          <a:xfrm>
            <a:off x="457200" y="4443984"/>
            <a:ext cx="8229600" cy="329184"/>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date-time: 2026-03-12T08:14:05Z  |  client-ip: 10.0.1.42  |  sender: ceo@company.com</a:t>
            </a:r>
            <a:endParaRPr lang="en-US" sz="800" dirty="0"/>
          </a:p>
          <a:p>
            <a:pPr marL="0" indent="0">
              <a:buNone/>
            </a:pPr>
            <a:r>
              <a:rPr lang="en-US" sz="800" dirty="0">
                <a:solidFill>
                  <a:srgbClr val="2ECC71"/>
                </a:solidFill>
                <a:latin typeface="Consolas" pitchFamily="34" charset="0"/>
                <a:ea typeface="Consolas" pitchFamily="34" charset="-122"/>
                <a:cs typeface="Consolas" pitchFamily="34" charset="-120"/>
              </a:rPr>
              <a:t>recipient: personal@gmail.com  |  message-id: &lt;abc123@mailsrv&gt;  |  event-id: SEND</a:t>
            </a:r>
            <a:endParaRPr lang="en-US" sz="800" dirty="0"/>
          </a:p>
        </p:txBody>
      </p:sp>
      <p:sp>
        <p:nvSpPr>
          <p:cNvPr id="40" name="Text 38"/>
          <p:cNvSpPr/>
          <p:nvPr/>
        </p:nvSpPr>
        <p:spPr>
          <a:xfrm>
            <a:off x="320040" y="4736592"/>
            <a:ext cx="8503920" cy="164592"/>
          </a:xfrm>
          <a:prstGeom prst="rect">
            <a:avLst/>
          </a:prstGeom>
          <a:noFill/>
          <a:ln/>
        </p:spPr>
        <p:txBody>
          <a:bodyPr wrap="square" lIns="0" tIns="0" rIns="0" bIns="0" rtlCol="0" anchor="ctr"/>
          <a:lstStyle/>
          <a:p>
            <a:pPr marL="0" indent="0">
              <a:buNone/>
            </a:pPr>
            <a:r>
              <a:rPr lang="en-US" sz="850" i="1" dirty="0">
                <a:solidFill>
                  <a:srgbClr val="8899AA"/>
                </a:solidFill>
                <a:latin typeface="Calibri" pitchFamily="34" charset="0"/>
                <a:ea typeface="Calibri" pitchFamily="34" charset="-122"/>
                <a:cs typeface="Calibri" pitchFamily="34" charset="-120"/>
              </a:rPr>
              <a:t>⚑  Exchange keeps message tracking logs for 30 days by default. When seizing a server, instruct the administrator to disable log purging immediately to preserve evidence.</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Specialised Email Forensic Tools — FTK</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00B4D8"/>
            </a:solidFill>
            <a:prstDash val="solid"/>
          </a:ln>
        </p:spPr>
        <p:txBody>
          <a:bodyPr/>
          <a:lstStyle/>
          <a:p>
            <a:endParaRPr lang="en-SG"/>
          </a:p>
        </p:txBody>
      </p:sp>
      <p:sp>
        <p:nvSpPr>
          <p:cNvPr id="6" name="Shape 4"/>
          <p:cNvSpPr/>
          <p:nvPr/>
        </p:nvSpPr>
        <p:spPr>
          <a:xfrm>
            <a:off x="320040" y="1261872"/>
            <a:ext cx="54864" cy="512064"/>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75488" y="1316736"/>
            <a:ext cx="822960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FTK (Forensic Toolkit) is a commercial, all-in-one forensic platform. Its Email tab automatically locates and indexes every email file found on a seized drive — across all client formats — without the investigator needing to know where to look or how each format works.</a:t>
            </a:r>
            <a:endParaRPr lang="en-US" sz="950" dirty="0"/>
          </a:p>
        </p:txBody>
      </p:sp>
      <p:sp>
        <p:nvSpPr>
          <p:cNvPr id="8" name="Shape 6"/>
          <p:cNvSpPr/>
          <p:nvPr/>
        </p:nvSpPr>
        <p:spPr>
          <a:xfrm>
            <a:off x="320040" y="1865376"/>
            <a:ext cx="4160520" cy="2267712"/>
          </a:xfrm>
          <a:prstGeom prst="rect">
            <a:avLst/>
          </a:prstGeom>
          <a:solidFill>
            <a:srgbClr val="EEF6FB"/>
          </a:solidFill>
          <a:ln w="12700">
            <a:solidFill>
              <a:srgbClr val="00B4D8"/>
            </a:solidFill>
            <a:prstDash val="solid"/>
          </a:ln>
        </p:spPr>
        <p:txBody>
          <a:bodyPr/>
          <a:lstStyle/>
          <a:p>
            <a:endParaRPr lang="en-SG"/>
          </a:p>
        </p:txBody>
      </p:sp>
      <p:sp>
        <p:nvSpPr>
          <p:cNvPr id="9" name="Shape 7"/>
          <p:cNvSpPr/>
          <p:nvPr/>
        </p:nvSpPr>
        <p:spPr>
          <a:xfrm>
            <a:off x="320040" y="1865376"/>
            <a:ext cx="4160520" cy="25603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38912" y="1865376"/>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Key Capabilities</a:t>
            </a:r>
            <a:endParaRPr lang="en-US" sz="1100" dirty="0"/>
          </a:p>
        </p:txBody>
      </p:sp>
      <p:sp>
        <p:nvSpPr>
          <p:cNvPr id="11" name="Text 9"/>
          <p:cNvSpPr/>
          <p:nvPr/>
        </p:nvSpPr>
        <p:spPr>
          <a:xfrm>
            <a:off x="457200" y="217627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Auto-discovers PST, OST, mbox, EML, MSG, and NSF files across the entire drive</a:t>
            </a:r>
            <a:endParaRPr lang="en-US" sz="850" dirty="0"/>
          </a:p>
        </p:txBody>
      </p:sp>
      <p:sp>
        <p:nvSpPr>
          <p:cNvPr id="12" name="Text 10"/>
          <p:cNvSpPr/>
          <p:nvPr/>
        </p:nvSpPr>
        <p:spPr>
          <a:xfrm>
            <a:off x="457200" y="2505456"/>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Recovers DELETED emails using database carving — finds messages in unallocated space</a:t>
            </a:r>
            <a:endParaRPr lang="en-US" sz="850" dirty="0"/>
          </a:p>
        </p:txBody>
      </p:sp>
      <p:sp>
        <p:nvSpPr>
          <p:cNvPr id="13" name="Text 11"/>
          <p:cNvSpPr/>
          <p:nvPr/>
        </p:nvSpPr>
        <p:spPr>
          <a:xfrm>
            <a:off x="457200" y="2834640"/>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Filters by sender, recipient, date range, subject keyword, or attachment filename</a:t>
            </a:r>
            <a:endParaRPr lang="en-US" sz="850" dirty="0"/>
          </a:p>
        </p:txBody>
      </p:sp>
      <p:sp>
        <p:nvSpPr>
          <p:cNvPr id="14" name="Text 12"/>
          <p:cNvSpPr/>
          <p:nvPr/>
        </p:nvSpPr>
        <p:spPr>
          <a:xfrm>
            <a:off x="457200" y="3163824"/>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Decodes Base64, Quoted-Printable, and UUencode encodings automatically</a:t>
            </a:r>
            <a:endParaRPr lang="en-US" sz="850" dirty="0"/>
          </a:p>
        </p:txBody>
      </p:sp>
      <p:sp>
        <p:nvSpPr>
          <p:cNvPr id="15" name="Text 13"/>
          <p:cNvSpPr/>
          <p:nvPr/>
        </p:nvSpPr>
        <p:spPr>
          <a:xfrm>
            <a:off x="457200" y="3493008"/>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Consolidates all email from all clients into one unified Email tab view</a:t>
            </a:r>
            <a:endParaRPr lang="en-US" sz="850" dirty="0"/>
          </a:p>
        </p:txBody>
      </p:sp>
      <p:sp>
        <p:nvSpPr>
          <p:cNvPr id="16" name="Text 14"/>
          <p:cNvSpPr/>
          <p:nvPr/>
        </p:nvSpPr>
        <p:spPr>
          <a:xfrm>
            <a:off x="457200" y="382219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Exports findings with full metadata (headers, timestamps, attachments) intact for court</a:t>
            </a:r>
            <a:endParaRPr lang="en-US" sz="850" dirty="0"/>
          </a:p>
        </p:txBody>
      </p:sp>
      <p:sp>
        <p:nvSpPr>
          <p:cNvPr id="17" name="Shape 15"/>
          <p:cNvSpPr/>
          <p:nvPr/>
        </p:nvSpPr>
        <p:spPr>
          <a:xfrm>
            <a:off x="4663440" y="1865376"/>
            <a:ext cx="4160520" cy="2267712"/>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4663440" y="1865376"/>
            <a:ext cx="4160520" cy="256032"/>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4773168" y="1865376"/>
            <a:ext cx="3931920" cy="256032"/>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  Forensic Value</a:t>
            </a:r>
            <a:endParaRPr lang="en-US" sz="1100" dirty="0"/>
          </a:p>
        </p:txBody>
      </p:sp>
      <p:sp>
        <p:nvSpPr>
          <p:cNvPr id="20" name="Text 18"/>
          <p:cNvSpPr/>
          <p:nvPr/>
        </p:nvSpPr>
        <p:spPr>
          <a:xfrm>
            <a:off x="4791456" y="2176272"/>
            <a:ext cx="3913632"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Deleted email recovery</a:t>
            </a:r>
            <a:endParaRPr lang="en-US" sz="900" dirty="0"/>
          </a:p>
        </p:txBody>
      </p:sp>
      <p:sp>
        <p:nvSpPr>
          <p:cNvPr id="21" name="Text 19"/>
          <p:cNvSpPr/>
          <p:nvPr/>
        </p:nvSpPr>
        <p:spPr>
          <a:xfrm>
            <a:off x="4791456" y="2377440"/>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FTK carves email headers and body fragments from unallocated database space — emails the suspect believed they deleted may still be fully or partially recoverable.</a:t>
            </a:r>
            <a:endParaRPr lang="en-US" sz="850" dirty="0"/>
          </a:p>
        </p:txBody>
      </p:sp>
      <p:sp>
        <p:nvSpPr>
          <p:cNvPr id="22" name="Text 20"/>
          <p:cNvSpPr/>
          <p:nvPr/>
        </p:nvSpPr>
        <p:spPr>
          <a:xfrm>
            <a:off x="4791456" y="2871216"/>
            <a:ext cx="3913632"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Cross-client consolidation</a:t>
            </a:r>
            <a:endParaRPr lang="en-US" sz="900" dirty="0"/>
          </a:p>
        </p:txBody>
      </p:sp>
      <p:sp>
        <p:nvSpPr>
          <p:cNvPr id="23" name="Text 21"/>
          <p:cNvSpPr/>
          <p:nvPr/>
        </p:nvSpPr>
        <p:spPr>
          <a:xfrm>
            <a:off x="4791456" y="3072384"/>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When a suspect used Outlook, Thunderbird, AND Gmail cached offline, FTK merges all three into one searchable view — no manual handling of different formats.</a:t>
            </a:r>
            <a:endParaRPr lang="en-US" sz="850" dirty="0"/>
          </a:p>
        </p:txBody>
      </p:sp>
      <p:sp>
        <p:nvSpPr>
          <p:cNvPr id="24" name="Text 22"/>
          <p:cNvSpPr/>
          <p:nvPr/>
        </p:nvSpPr>
        <p:spPr>
          <a:xfrm>
            <a:off x="4791456" y="3566160"/>
            <a:ext cx="3913632"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Court-ready output</a:t>
            </a:r>
            <a:endParaRPr lang="en-US" sz="900" dirty="0"/>
          </a:p>
        </p:txBody>
      </p:sp>
      <p:sp>
        <p:nvSpPr>
          <p:cNvPr id="25" name="Text 23"/>
          <p:cNvSpPr/>
          <p:nvPr/>
        </p:nvSpPr>
        <p:spPr>
          <a:xfrm>
            <a:off x="4791456" y="3767328"/>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FTK produces signed, timestamped reports that document the chain of custody, hash values, and exact search methodology — accepted as evidence in legal proceedings.</a:t>
            </a:r>
            <a:endParaRPr lang="en-US" sz="850" dirty="0"/>
          </a:p>
        </p:txBody>
      </p:sp>
      <p:sp>
        <p:nvSpPr>
          <p:cNvPr id="26" name="Shape 24"/>
          <p:cNvSpPr/>
          <p:nvPr/>
        </p:nvSpPr>
        <p:spPr>
          <a:xfrm>
            <a:off x="320040" y="4206240"/>
            <a:ext cx="8503920" cy="731520"/>
          </a:xfrm>
          <a:prstGeom prst="rect">
            <a:avLst/>
          </a:prstGeom>
          <a:solidFill>
            <a:srgbClr val="FFFFFF"/>
          </a:solidFill>
          <a:ln w="12700">
            <a:solidFill>
              <a:srgbClr val="00B4D8"/>
            </a:solidFill>
            <a:prstDash val="solid"/>
          </a:ln>
        </p:spPr>
        <p:txBody>
          <a:bodyPr/>
          <a:lstStyle/>
          <a:p>
            <a:endParaRPr lang="en-SG"/>
          </a:p>
        </p:txBody>
      </p:sp>
      <p:sp>
        <p:nvSpPr>
          <p:cNvPr id="27" name="Text 25"/>
          <p:cNvSpPr/>
          <p:nvPr/>
        </p:nvSpPr>
        <p:spPr>
          <a:xfrm>
            <a:off x="457200" y="4233672"/>
            <a:ext cx="3657600" cy="201168"/>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  Annotated FTK Email Tab Output</a:t>
            </a:r>
            <a:endParaRPr lang="en-US" sz="950" dirty="0"/>
          </a:p>
        </p:txBody>
      </p:sp>
      <p:sp>
        <p:nvSpPr>
          <p:cNvPr id="28" name="Text 26"/>
          <p:cNvSpPr/>
          <p:nvPr/>
        </p:nvSpPr>
        <p:spPr>
          <a:xfrm>
            <a:off x="5029200" y="4233672"/>
            <a:ext cx="3657600" cy="201168"/>
          </a:xfrm>
          <a:prstGeom prst="rect">
            <a:avLst/>
          </a:prstGeom>
          <a:noFill/>
          <a:ln/>
        </p:spPr>
        <p:txBody>
          <a:bodyPr wrap="square" lIns="0" tIns="0" rIns="0" bIns="0" rtlCol="0" anchor="ctr"/>
          <a:lstStyle/>
          <a:p>
            <a:pPr marL="0" indent="0" algn="r">
              <a:buNone/>
            </a:pPr>
            <a:r>
              <a:rPr lang="en-US" sz="800" dirty="0">
                <a:solidFill>
                  <a:srgbClr val="8899AA"/>
                </a:solidFill>
                <a:latin typeface="Calibri" pitchFamily="34" charset="0"/>
                <a:ea typeface="Calibri" pitchFamily="34" charset="-122"/>
                <a:cs typeface="Calibri" pitchFamily="34" charset="-120"/>
              </a:rPr>
              <a:t>Commercial  |  accessdata.com  |  Windows-based  |  Requires licence</a:t>
            </a:r>
            <a:endParaRPr lang="en-US" sz="800" dirty="0"/>
          </a:p>
        </p:txBody>
      </p:sp>
      <p:sp>
        <p:nvSpPr>
          <p:cNvPr id="29" name="Shape 27"/>
          <p:cNvSpPr/>
          <p:nvPr/>
        </p:nvSpPr>
        <p:spPr>
          <a:xfrm>
            <a:off x="384048" y="4443984"/>
            <a:ext cx="8321040" cy="493776"/>
          </a:xfrm>
          <a:prstGeom prst="rect">
            <a:avLst/>
          </a:prstGeom>
          <a:solidFill>
            <a:srgbClr val="FFFFFF"/>
          </a:solidFill>
          <a:ln w="12700">
            <a:solidFill>
              <a:srgbClr val="00B4D8"/>
            </a:solidFill>
            <a:prstDash val="solid"/>
          </a:ln>
        </p:spPr>
        <p:txBody>
          <a:bodyPr/>
          <a:lstStyle/>
          <a:p>
            <a:endParaRPr lang="en-SG"/>
          </a:p>
        </p:txBody>
      </p:sp>
      <p:sp>
        <p:nvSpPr>
          <p:cNvPr id="30" name="Text 28"/>
          <p:cNvSpPr/>
          <p:nvPr/>
        </p:nvSpPr>
        <p:spPr>
          <a:xfrm>
            <a:off x="475488" y="4471416"/>
            <a:ext cx="8138160" cy="310896"/>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FROM: ceo@company.com  TO: personal@gmail.com  DATE: 2026-03-12 14:23:05  SUBJ: Q1 Report</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ATTACH: clientdata.xlsx [STATUS: DELETED — RECOVERED FROM FREE PAGES]  HASH(SHA256): a3f9...  ENCODING: Base64</a:t>
            </a:r>
            <a:endParaRPr lang="en-US" sz="750" dirty="0"/>
          </a:p>
        </p:txBody>
      </p:sp>
      <p:sp>
        <p:nvSpPr>
          <p:cNvPr id="31" name="Text 29"/>
          <p:cNvSpPr/>
          <p:nvPr/>
        </p:nvSpPr>
        <p:spPr>
          <a:xfrm>
            <a:off x="6419088" y="4521956"/>
            <a:ext cx="2194560" cy="197955"/>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[DELETED — RECOVERED] = carving from unallocated space</a:t>
            </a:r>
            <a:endParaRPr lang="en-US" sz="750" dirty="0"/>
          </a:p>
        </p:txBody>
      </p:sp>
      <p:sp>
        <p:nvSpPr>
          <p:cNvPr id="32" name="Text 30"/>
          <p:cNvSpPr/>
          <p:nvPr/>
        </p:nvSpPr>
        <p:spPr>
          <a:xfrm>
            <a:off x="6419088" y="4785278"/>
            <a:ext cx="338328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SHA-256 hash proves file integrity</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Specialised Email Forensic Tools — Autopsy</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F4A261"/>
            </a:solidFill>
            <a:prstDash val="solid"/>
          </a:ln>
        </p:spPr>
        <p:txBody>
          <a:bodyPr/>
          <a:lstStyle/>
          <a:p>
            <a:endParaRPr lang="en-SG"/>
          </a:p>
        </p:txBody>
      </p:sp>
      <p:sp>
        <p:nvSpPr>
          <p:cNvPr id="6" name="Shape 4"/>
          <p:cNvSpPr/>
          <p:nvPr/>
        </p:nvSpPr>
        <p:spPr>
          <a:xfrm>
            <a:off x="320040" y="1261872"/>
            <a:ext cx="54864" cy="512064"/>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75488" y="1316736"/>
            <a:ext cx="822960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Autopsy is a free, open-source forensic platform developed by Basis Technology. Its Recent Activity and Email Parser ingest modules automatically process email artefacts during a case scan — making it the go-to tool for academic use, training, and budget-constrained investigations.</a:t>
            </a:r>
            <a:endParaRPr lang="en-US" sz="950" dirty="0"/>
          </a:p>
        </p:txBody>
      </p:sp>
      <p:sp>
        <p:nvSpPr>
          <p:cNvPr id="8" name="Shape 6"/>
          <p:cNvSpPr/>
          <p:nvPr/>
        </p:nvSpPr>
        <p:spPr>
          <a:xfrm>
            <a:off x="320040" y="1865376"/>
            <a:ext cx="4160520" cy="2267712"/>
          </a:xfrm>
          <a:prstGeom prst="rect">
            <a:avLst/>
          </a:prstGeom>
          <a:solidFill>
            <a:srgbClr val="EEF6FB"/>
          </a:solidFill>
          <a:ln w="12700">
            <a:solidFill>
              <a:srgbClr val="F4A261"/>
            </a:solidFill>
            <a:prstDash val="solid"/>
          </a:ln>
        </p:spPr>
        <p:txBody>
          <a:bodyPr/>
          <a:lstStyle/>
          <a:p>
            <a:endParaRPr lang="en-SG"/>
          </a:p>
        </p:txBody>
      </p:sp>
      <p:sp>
        <p:nvSpPr>
          <p:cNvPr id="9" name="Shape 7"/>
          <p:cNvSpPr/>
          <p:nvPr/>
        </p:nvSpPr>
        <p:spPr>
          <a:xfrm>
            <a:off x="320040" y="1865376"/>
            <a:ext cx="4160520" cy="256032"/>
          </a:xfrm>
          <a:prstGeom prst="rect">
            <a:avLst/>
          </a:prstGeom>
          <a:solidFill>
            <a:srgbClr val="F4A261"/>
          </a:solidFill>
          <a:ln w="12700">
            <a:solidFill>
              <a:srgbClr val="F4A261"/>
            </a:solidFill>
            <a:prstDash val="solid"/>
          </a:ln>
        </p:spPr>
        <p:txBody>
          <a:bodyPr/>
          <a:lstStyle/>
          <a:p>
            <a:endParaRPr lang="en-SG"/>
          </a:p>
        </p:txBody>
      </p:sp>
      <p:sp>
        <p:nvSpPr>
          <p:cNvPr id="10" name="Text 8"/>
          <p:cNvSpPr/>
          <p:nvPr/>
        </p:nvSpPr>
        <p:spPr>
          <a:xfrm>
            <a:off x="438912" y="1865376"/>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Key Capabilities</a:t>
            </a:r>
            <a:endParaRPr lang="en-US" sz="1100" dirty="0"/>
          </a:p>
        </p:txBody>
      </p:sp>
      <p:sp>
        <p:nvSpPr>
          <p:cNvPr id="11" name="Text 9"/>
          <p:cNvSpPr/>
          <p:nvPr/>
        </p:nvSpPr>
        <p:spPr>
          <a:xfrm>
            <a:off x="457200" y="217627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Parses Thunderbird mbox files and locally cached webmail (Gmail, Yahoo HTML cache)</a:t>
            </a:r>
            <a:endParaRPr lang="en-US" sz="850" dirty="0"/>
          </a:p>
        </p:txBody>
      </p:sp>
      <p:sp>
        <p:nvSpPr>
          <p:cNvPr id="12" name="Text 10"/>
          <p:cNvSpPr/>
          <p:nvPr/>
        </p:nvSpPr>
        <p:spPr>
          <a:xfrm>
            <a:off x="457200" y="2505456"/>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Keyword searches across all email bodies, headers, and subject lines simultaneously</a:t>
            </a:r>
            <a:endParaRPr lang="en-US" sz="850" dirty="0"/>
          </a:p>
        </p:txBody>
      </p:sp>
      <p:sp>
        <p:nvSpPr>
          <p:cNvPr id="13" name="Text 11"/>
          <p:cNvSpPr/>
          <p:nvPr/>
        </p:nvSpPr>
        <p:spPr>
          <a:xfrm>
            <a:off x="457200" y="2834640"/>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Generates a unified timeline — email events alongside file access and web history</a:t>
            </a:r>
            <a:endParaRPr lang="en-US" sz="850" dirty="0"/>
          </a:p>
        </p:txBody>
      </p:sp>
      <p:sp>
        <p:nvSpPr>
          <p:cNvPr id="14" name="Text 12"/>
          <p:cNvSpPr/>
          <p:nvPr/>
        </p:nvSpPr>
        <p:spPr>
          <a:xfrm>
            <a:off x="457200" y="3163824"/>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Tags and bookmarks messages of interest directly within the case report</a:t>
            </a:r>
            <a:endParaRPr lang="en-US" sz="850" dirty="0"/>
          </a:p>
        </p:txBody>
      </p:sp>
      <p:sp>
        <p:nvSpPr>
          <p:cNvPr id="15" name="Text 13"/>
          <p:cNvSpPr/>
          <p:nvPr/>
        </p:nvSpPr>
        <p:spPr>
          <a:xfrm>
            <a:off x="457200" y="3493008"/>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Recent Activity module runs automatically on every case — no manual configuration</a:t>
            </a:r>
            <a:endParaRPr lang="en-US" sz="850" dirty="0"/>
          </a:p>
        </p:txBody>
      </p:sp>
      <p:sp>
        <p:nvSpPr>
          <p:cNvPr id="16" name="Text 14"/>
          <p:cNvSpPr/>
          <p:nvPr/>
        </p:nvSpPr>
        <p:spPr>
          <a:xfrm>
            <a:off x="457200" y="382219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Fully free and open-source — extensible via community plugins, widely used in academia</a:t>
            </a:r>
            <a:endParaRPr lang="en-US" sz="850" dirty="0"/>
          </a:p>
        </p:txBody>
      </p:sp>
      <p:sp>
        <p:nvSpPr>
          <p:cNvPr id="17" name="Shape 15"/>
          <p:cNvSpPr/>
          <p:nvPr/>
        </p:nvSpPr>
        <p:spPr>
          <a:xfrm>
            <a:off x="4663440" y="1865376"/>
            <a:ext cx="4160520" cy="2267712"/>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4663440" y="1865376"/>
            <a:ext cx="4160520" cy="256032"/>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4773168" y="1865376"/>
            <a:ext cx="3931920" cy="256032"/>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  Forensic Value</a:t>
            </a:r>
            <a:endParaRPr lang="en-US" sz="1100" dirty="0"/>
          </a:p>
        </p:txBody>
      </p:sp>
      <p:sp>
        <p:nvSpPr>
          <p:cNvPr id="20" name="Text 18"/>
          <p:cNvSpPr/>
          <p:nvPr/>
        </p:nvSpPr>
        <p:spPr>
          <a:xfrm>
            <a:off x="4791456" y="2176272"/>
            <a:ext cx="3913632" cy="201168"/>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Unified timeline</a:t>
            </a:r>
            <a:endParaRPr lang="en-US" sz="900" dirty="0"/>
          </a:p>
        </p:txBody>
      </p:sp>
      <p:sp>
        <p:nvSpPr>
          <p:cNvPr id="21" name="Text 19"/>
          <p:cNvSpPr/>
          <p:nvPr/>
        </p:nvSpPr>
        <p:spPr>
          <a:xfrm>
            <a:off x="4791456" y="2377440"/>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Email events are merged with file system, browser, and registry activity — investigators see the full picture of what the suspect did, not just their email in isolation.</a:t>
            </a:r>
            <a:endParaRPr lang="en-US" sz="850" dirty="0"/>
          </a:p>
        </p:txBody>
      </p:sp>
      <p:sp>
        <p:nvSpPr>
          <p:cNvPr id="22" name="Text 20"/>
          <p:cNvSpPr/>
          <p:nvPr/>
        </p:nvSpPr>
        <p:spPr>
          <a:xfrm>
            <a:off x="4791456" y="2871216"/>
            <a:ext cx="3913632" cy="201168"/>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Keyword hit reporting</a:t>
            </a:r>
            <a:endParaRPr lang="en-US" sz="900" dirty="0"/>
          </a:p>
        </p:txBody>
      </p:sp>
      <p:sp>
        <p:nvSpPr>
          <p:cNvPr id="23" name="Text 21"/>
          <p:cNvSpPr/>
          <p:nvPr/>
        </p:nvSpPr>
        <p:spPr>
          <a:xfrm>
            <a:off x="4791456" y="3072384"/>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Every keyword match is logged with the email subject, sender, date, and file path — making it easy to demonstrate exactly which messages mention a specific term.</a:t>
            </a:r>
            <a:endParaRPr lang="en-US" sz="850" dirty="0"/>
          </a:p>
        </p:txBody>
      </p:sp>
      <p:sp>
        <p:nvSpPr>
          <p:cNvPr id="24" name="Text 22"/>
          <p:cNvSpPr/>
          <p:nvPr/>
        </p:nvSpPr>
        <p:spPr>
          <a:xfrm>
            <a:off x="4791456" y="3566160"/>
            <a:ext cx="3913632" cy="201168"/>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Zero cost, full transparency</a:t>
            </a:r>
            <a:endParaRPr lang="en-US" sz="900" dirty="0"/>
          </a:p>
        </p:txBody>
      </p:sp>
      <p:sp>
        <p:nvSpPr>
          <p:cNvPr id="25" name="Text 23"/>
          <p:cNvSpPr/>
          <p:nvPr/>
        </p:nvSpPr>
        <p:spPr>
          <a:xfrm>
            <a:off x="4791456" y="3767328"/>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Autopsy is free and its source code is public — ideal when investigation methodology must be fully documented and independently verified in court.</a:t>
            </a:r>
            <a:endParaRPr lang="en-US" sz="850" dirty="0"/>
          </a:p>
        </p:txBody>
      </p:sp>
      <p:sp>
        <p:nvSpPr>
          <p:cNvPr id="26" name="Shape 24"/>
          <p:cNvSpPr/>
          <p:nvPr/>
        </p:nvSpPr>
        <p:spPr>
          <a:xfrm>
            <a:off x="320040" y="4206240"/>
            <a:ext cx="8503920" cy="640080"/>
          </a:xfrm>
          <a:prstGeom prst="rect">
            <a:avLst/>
          </a:prstGeom>
          <a:solidFill>
            <a:srgbClr val="FFFFFF"/>
          </a:solidFill>
          <a:ln w="12700">
            <a:solidFill>
              <a:srgbClr val="F4A261"/>
            </a:solidFill>
            <a:prstDash val="solid"/>
          </a:ln>
        </p:spPr>
        <p:txBody>
          <a:bodyPr/>
          <a:lstStyle/>
          <a:p>
            <a:endParaRPr lang="en-SG"/>
          </a:p>
        </p:txBody>
      </p:sp>
      <p:sp>
        <p:nvSpPr>
          <p:cNvPr id="27" name="Text 25"/>
          <p:cNvSpPr/>
          <p:nvPr/>
        </p:nvSpPr>
        <p:spPr>
          <a:xfrm>
            <a:off x="457200" y="4233672"/>
            <a:ext cx="3657600" cy="201168"/>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Annotated Autopsy Timeline Output</a:t>
            </a:r>
            <a:endParaRPr lang="en-US" sz="950" dirty="0"/>
          </a:p>
        </p:txBody>
      </p:sp>
      <p:sp>
        <p:nvSpPr>
          <p:cNvPr id="28" name="Text 26"/>
          <p:cNvSpPr/>
          <p:nvPr/>
        </p:nvSpPr>
        <p:spPr>
          <a:xfrm>
            <a:off x="4206240" y="4233672"/>
            <a:ext cx="4480560" cy="201168"/>
          </a:xfrm>
          <a:prstGeom prst="rect">
            <a:avLst/>
          </a:prstGeom>
          <a:noFill/>
          <a:ln/>
        </p:spPr>
        <p:txBody>
          <a:bodyPr wrap="square" lIns="0" tIns="0" rIns="0" bIns="0" rtlCol="0" anchor="ctr"/>
          <a:lstStyle/>
          <a:p>
            <a:pPr marL="0" indent="0" algn="r">
              <a:buNone/>
            </a:pPr>
            <a:r>
              <a:rPr lang="en-US" sz="800" dirty="0">
                <a:solidFill>
                  <a:srgbClr val="8899AA"/>
                </a:solidFill>
                <a:latin typeface="Calibri" pitchFamily="34" charset="0"/>
                <a:ea typeface="Calibri" pitchFamily="34" charset="-122"/>
                <a:cs typeface="Calibri" pitchFamily="34" charset="-120"/>
              </a:rPr>
              <a:t>Free &amp; open-source  |  sleuthkit.org/autopsy  |  Windows / Linux / macOS</a:t>
            </a:r>
            <a:endParaRPr lang="en-US" sz="800" dirty="0"/>
          </a:p>
        </p:txBody>
      </p:sp>
      <p:sp>
        <p:nvSpPr>
          <p:cNvPr id="29" name="Shape 27"/>
          <p:cNvSpPr/>
          <p:nvPr/>
        </p:nvSpPr>
        <p:spPr>
          <a:xfrm>
            <a:off x="384048" y="4443984"/>
            <a:ext cx="8321040" cy="365760"/>
          </a:xfrm>
          <a:prstGeom prst="rect">
            <a:avLst/>
          </a:prstGeom>
          <a:solidFill>
            <a:srgbClr val="FFFFFF"/>
          </a:solidFill>
          <a:ln w="12700">
            <a:solidFill>
              <a:srgbClr val="F4A261"/>
            </a:solidFill>
            <a:prstDash val="solid"/>
          </a:ln>
        </p:spPr>
        <p:txBody>
          <a:bodyPr/>
          <a:lstStyle/>
          <a:p>
            <a:endParaRPr lang="en-SG"/>
          </a:p>
        </p:txBody>
      </p:sp>
      <p:sp>
        <p:nvSpPr>
          <p:cNvPr id="30" name="Text 28"/>
          <p:cNvSpPr/>
          <p:nvPr/>
        </p:nvSpPr>
        <p:spPr>
          <a:xfrm>
            <a:off x="475488" y="4471416"/>
            <a:ext cx="8138160" cy="310896"/>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2026-03-12 14:12:07 [FILE-READ]  /Users/john/Documents/clientdata.xlsx  [source: NTFS $MFT]</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2026-03-12 14:23:03 [EMAIL-SEND] TO: personal@gmail.com  SUBJ: Q1 Report  ATTACH: clientdata.xlsx  [source: Thunderbird mbox]</a:t>
            </a:r>
            <a:endParaRPr lang="en-US" sz="750" dirty="0"/>
          </a:p>
        </p:txBody>
      </p:sp>
      <p:sp>
        <p:nvSpPr>
          <p:cNvPr id="31" name="Text 29"/>
          <p:cNvSpPr/>
          <p:nvPr/>
        </p:nvSpPr>
        <p:spPr>
          <a:xfrm>
            <a:off x="5382804" y="4498903"/>
            <a:ext cx="502920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File accessed 11 mins before email was sent — corroborates intent</a:t>
            </a:r>
            <a:endParaRPr lang="en-US" sz="750" dirty="0"/>
          </a:p>
        </p:txBody>
      </p:sp>
      <p:sp>
        <p:nvSpPr>
          <p:cNvPr id="32" name="Text 30"/>
          <p:cNvSpPr/>
          <p:nvPr/>
        </p:nvSpPr>
        <p:spPr>
          <a:xfrm>
            <a:off x="7053419" y="4631255"/>
            <a:ext cx="283464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[source] shows which module found it</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Specialised Email Forensic Tools — Aid4Mail / Intella</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A855F7"/>
            </a:solidFill>
            <a:prstDash val="solid"/>
          </a:ln>
        </p:spPr>
        <p:txBody>
          <a:bodyPr/>
          <a:lstStyle/>
          <a:p>
            <a:endParaRPr lang="en-SG"/>
          </a:p>
        </p:txBody>
      </p:sp>
      <p:sp>
        <p:nvSpPr>
          <p:cNvPr id="6" name="Shape 4"/>
          <p:cNvSpPr/>
          <p:nvPr/>
        </p:nvSpPr>
        <p:spPr>
          <a:xfrm>
            <a:off x="320040" y="1261872"/>
            <a:ext cx="54864" cy="512064"/>
          </a:xfrm>
          <a:prstGeom prst="rect">
            <a:avLst/>
          </a:prstGeom>
          <a:solidFill>
            <a:srgbClr val="A855F7"/>
          </a:solidFill>
          <a:ln w="12700">
            <a:solidFill>
              <a:srgbClr val="A855F7"/>
            </a:solidFill>
            <a:prstDash val="solid"/>
          </a:ln>
        </p:spPr>
        <p:txBody>
          <a:bodyPr/>
          <a:lstStyle/>
          <a:p>
            <a:endParaRPr lang="en-SG"/>
          </a:p>
        </p:txBody>
      </p:sp>
      <p:sp>
        <p:nvSpPr>
          <p:cNvPr id="7" name="Text 5"/>
          <p:cNvSpPr/>
          <p:nvPr/>
        </p:nvSpPr>
        <p:spPr>
          <a:xfrm>
            <a:off x="475488" y="1316736"/>
            <a:ext cx="822960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Aid4Mail is a dedicated email conversion and processing tool. Intella (by Vound Software) extends this with visual link analysis and large-scale custodian management. Both are designed for complex corporate and legal investigations involving thousands of emails across multiple accounts.</a:t>
            </a:r>
            <a:endParaRPr lang="en-US" sz="950" dirty="0"/>
          </a:p>
        </p:txBody>
      </p:sp>
      <p:sp>
        <p:nvSpPr>
          <p:cNvPr id="8" name="Shape 6"/>
          <p:cNvSpPr/>
          <p:nvPr/>
        </p:nvSpPr>
        <p:spPr>
          <a:xfrm>
            <a:off x="320040" y="1865376"/>
            <a:ext cx="4160520" cy="2267712"/>
          </a:xfrm>
          <a:prstGeom prst="rect">
            <a:avLst/>
          </a:prstGeom>
          <a:solidFill>
            <a:srgbClr val="EEF6FB"/>
          </a:solidFill>
          <a:ln w="12700">
            <a:solidFill>
              <a:srgbClr val="A855F7"/>
            </a:solidFill>
            <a:prstDash val="solid"/>
          </a:ln>
        </p:spPr>
        <p:txBody>
          <a:bodyPr/>
          <a:lstStyle/>
          <a:p>
            <a:endParaRPr lang="en-SG"/>
          </a:p>
        </p:txBody>
      </p:sp>
      <p:sp>
        <p:nvSpPr>
          <p:cNvPr id="9" name="Shape 7"/>
          <p:cNvSpPr/>
          <p:nvPr/>
        </p:nvSpPr>
        <p:spPr>
          <a:xfrm>
            <a:off x="320040" y="1865376"/>
            <a:ext cx="4160520" cy="256032"/>
          </a:xfrm>
          <a:prstGeom prst="rect">
            <a:avLst/>
          </a:prstGeom>
          <a:solidFill>
            <a:srgbClr val="A855F7"/>
          </a:solidFill>
          <a:ln w="12700">
            <a:solidFill>
              <a:srgbClr val="A855F7"/>
            </a:solidFill>
            <a:prstDash val="solid"/>
          </a:ln>
        </p:spPr>
        <p:txBody>
          <a:bodyPr/>
          <a:lstStyle/>
          <a:p>
            <a:endParaRPr lang="en-SG"/>
          </a:p>
        </p:txBody>
      </p:sp>
      <p:sp>
        <p:nvSpPr>
          <p:cNvPr id="10" name="Text 8"/>
          <p:cNvSpPr/>
          <p:nvPr/>
        </p:nvSpPr>
        <p:spPr>
          <a:xfrm>
            <a:off x="438912" y="1865376"/>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Key Capabilities</a:t>
            </a:r>
            <a:endParaRPr lang="en-US" sz="1100" dirty="0"/>
          </a:p>
        </p:txBody>
      </p:sp>
      <p:sp>
        <p:nvSpPr>
          <p:cNvPr id="11" name="Text 9"/>
          <p:cNvSpPr/>
          <p:nvPr/>
        </p:nvSpPr>
        <p:spPr>
          <a:xfrm>
            <a:off x="457200" y="217627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Converts between all major formats: PST ↔ EML ↔ MBOX ↔ MSG ↔ PDF — without data loss</a:t>
            </a:r>
            <a:endParaRPr lang="en-US" sz="850" dirty="0"/>
          </a:p>
        </p:txBody>
      </p:sp>
      <p:sp>
        <p:nvSpPr>
          <p:cNvPr id="12" name="Text 10"/>
          <p:cNvSpPr/>
          <p:nvPr/>
        </p:nvSpPr>
        <p:spPr>
          <a:xfrm>
            <a:off x="457200" y="2505456"/>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Reconstructs complete conversation threads spanning multiple accounts and mail servers</a:t>
            </a:r>
            <a:endParaRPr lang="en-US" sz="850" dirty="0"/>
          </a:p>
        </p:txBody>
      </p:sp>
      <p:sp>
        <p:nvSpPr>
          <p:cNvPr id="13" name="Text 11"/>
          <p:cNvSpPr/>
          <p:nvPr/>
        </p:nvSpPr>
        <p:spPr>
          <a:xfrm>
            <a:off x="457200" y="2834640"/>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De-duplicates emails across multiple custodians — flags identical messages so they are reviewed once</a:t>
            </a:r>
            <a:endParaRPr lang="en-US" sz="850" dirty="0"/>
          </a:p>
        </p:txBody>
      </p:sp>
      <p:sp>
        <p:nvSpPr>
          <p:cNvPr id="14" name="Text 12"/>
          <p:cNvSpPr/>
          <p:nvPr/>
        </p:nvSpPr>
        <p:spPr>
          <a:xfrm>
            <a:off x="457200" y="3163824"/>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Preserves all metadata (timestamps, routing headers, MIME structure) through every conversion</a:t>
            </a:r>
            <a:endParaRPr lang="en-US" sz="850" dirty="0"/>
          </a:p>
        </p:txBody>
      </p:sp>
      <p:sp>
        <p:nvSpPr>
          <p:cNvPr id="15" name="Text 13"/>
          <p:cNvSpPr/>
          <p:nvPr/>
        </p:nvSpPr>
        <p:spPr>
          <a:xfrm>
            <a:off x="457200" y="3493008"/>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Generates court-ready export reports with full chain of custody documentation</a:t>
            </a:r>
            <a:endParaRPr lang="en-US" sz="850" dirty="0"/>
          </a:p>
        </p:txBody>
      </p:sp>
      <p:sp>
        <p:nvSpPr>
          <p:cNvPr id="16" name="Text 14"/>
          <p:cNvSpPr/>
          <p:nvPr/>
        </p:nvSpPr>
        <p:spPr>
          <a:xfrm>
            <a:off x="457200" y="382219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Intella: visual link analysis — maps communication networks between suspects and contacts</a:t>
            </a:r>
            <a:endParaRPr lang="en-US" sz="850" dirty="0"/>
          </a:p>
        </p:txBody>
      </p:sp>
      <p:sp>
        <p:nvSpPr>
          <p:cNvPr id="17" name="Shape 15"/>
          <p:cNvSpPr/>
          <p:nvPr/>
        </p:nvSpPr>
        <p:spPr>
          <a:xfrm>
            <a:off x="4663440" y="1865376"/>
            <a:ext cx="4160520" cy="2267712"/>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4663440" y="1865376"/>
            <a:ext cx="4160520" cy="256032"/>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4773168" y="1865376"/>
            <a:ext cx="3931920" cy="256032"/>
          </a:xfrm>
          <a:prstGeom prst="rect">
            <a:avLst/>
          </a:prstGeom>
          <a:noFill/>
          <a:ln/>
        </p:spPr>
        <p:txBody>
          <a:bodyPr wrap="square" lIns="0" tIns="0" rIns="0" bIns="0" rtlCol="0" anchor="ctr"/>
          <a:lstStyle/>
          <a:p>
            <a:pPr marL="0" indent="0">
              <a:buNone/>
            </a:pPr>
            <a:r>
              <a:rPr lang="en-US" sz="1100" b="1" dirty="0">
                <a:solidFill>
                  <a:srgbClr val="A855F7"/>
                </a:solidFill>
                <a:latin typeface="Calibri" pitchFamily="34" charset="0"/>
                <a:ea typeface="Calibri" pitchFamily="34" charset="-122"/>
                <a:cs typeface="Calibri" pitchFamily="34" charset="-120"/>
              </a:rPr>
              <a:t>⚖️  Forensic Value</a:t>
            </a:r>
            <a:endParaRPr lang="en-US" sz="1100" dirty="0"/>
          </a:p>
        </p:txBody>
      </p:sp>
      <p:sp>
        <p:nvSpPr>
          <p:cNvPr id="20" name="Text 18"/>
          <p:cNvSpPr/>
          <p:nvPr/>
        </p:nvSpPr>
        <p:spPr>
          <a:xfrm>
            <a:off x="4791456" y="2176272"/>
            <a:ext cx="3913632"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Multi-custodian de-duplication</a:t>
            </a:r>
            <a:endParaRPr lang="en-US" sz="900" dirty="0"/>
          </a:p>
        </p:txBody>
      </p:sp>
      <p:sp>
        <p:nvSpPr>
          <p:cNvPr id="21" name="Text 19"/>
          <p:cNvSpPr/>
          <p:nvPr/>
        </p:nvSpPr>
        <p:spPr>
          <a:xfrm>
            <a:off x="4791456" y="2377440"/>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 cases with 5 employees sharing the same email chain, Aid4Mail identifies duplicates across all PST files — reducing review volume by up to 40%.</a:t>
            </a:r>
            <a:endParaRPr lang="en-US" sz="850" dirty="0"/>
          </a:p>
        </p:txBody>
      </p:sp>
      <p:sp>
        <p:nvSpPr>
          <p:cNvPr id="22" name="Text 20"/>
          <p:cNvSpPr/>
          <p:nvPr/>
        </p:nvSpPr>
        <p:spPr>
          <a:xfrm>
            <a:off x="4791456" y="2871216"/>
            <a:ext cx="3913632"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Format-agnostic processing</a:t>
            </a:r>
            <a:endParaRPr lang="en-US" sz="900" dirty="0"/>
          </a:p>
        </p:txBody>
      </p:sp>
      <p:sp>
        <p:nvSpPr>
          <p:cNvPr id="23" name="Text 21"/>
          <p:cNvSpPr/>
          <p:nvPr/>
        </p:nvSpPr>
        <p:spPr>
          <a:xfrm>
            <a:off x="4791456" y="3072384"/>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When a case involves Outlook PST from one suspect and Apple Mail mbox from another, Aid4Mail normalises both into a single, consistent output format for review.</a:t>
            </a:r>
            <a:endParaRPr lang="en-US" sz="850" dirty="0"/>
          </a:p>
        </p:txBody>
      </p:sp>
      <p:sp>
        <p:nvSpPr>
          <p:cNvPr id="24" name="Text 22"/>
          <p:cNvSpPr/>
          <p:nvPr/>
        </p:nvSpPr>
        <p:spPr>
          <a:xfrm>
            <a:off x="4791456" y="3566160"/>
            <a:ext cx="3913632"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Intella link analysis</a:t>
            </a:r>
            <a:endParaRPr lang="en-US" sz="900" dirty="0"/>
          </a:p>
        </p:txBody>
      </p:sp>
      <p:sp>
        <p:nvSpPr>
          <p:cNvPr id="25" name="Text 23"/>
          <p:cNvSpPr/>
          <p:nvPr/>
        </p:nvSpPr>
        <p:spPr>
          <a:xfrm>
            <a:off x="4791456" y="3767328"/>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Intella visualises who communicated with whom, how frequently, and when — instantly revealing key relationships and communication clusters within a suspect group.</a:t>
            </a:r>
            <a:endParaRPr lang="en-US" sz="850" dirty="0"/>
          </a:p>
        </p:txBody>
      </p:sp>
      <p:sp>
        <p:nvSpPr>
          <p:cNvPr id="26" name="Shape 24"/>
          <p:cNvSpPr/>
          <p:nvPr/>
        </p:nvSpPr>
        <p:spPr>
          <a:xfrm>
            <a:off x="320040" y="4206240"/>
            <a:ext cx="8503920" cy="640080"/>
          </a:xfrm>
          <a:prstGeom prst="rect">
            <a:avLst/>
          </a:prstGeom>
          <a:solidFill>
            <a:srgbClr val="FFFFFF"/>
          </a:solidFill>
          <a:ln w="12700">
            <a:solidFill>
              <a:srgbClr val="A855F7"/>
            </a:solidFill>
            <a:prstDash val="solid"/>
          </a:ln>
        </p:spPr>
        <p:txBody>
          <a:bodyPr/>
          <a:lstStyle/>
          <a:p>
            <a:endParaRPr lang="en-SG"/>
          </a:p>
        </p:txBody>
      </p:sp>
      <p:sp>
        <p:nvSpPr>
          <p:cNvPr id="27" name="Text 25"/>
          <p:cNvSpPr/>
          <p:nvPr/>
        </p:nvSpPr>
        <p:spPr>
          <a:xfrm>
            <a:off x="457200" y="4233672"/>
            <a:ext cx="4114800" cy="201168"/>
          </a:xfrm>
          <a:prstGeom prst="rect">
            <a:avLst/>
          </a:prstGeom>
          <a:noFill/>
          <a:ln/>
        </p:spPr>
        <p:txBody>
          <a:bodyPr wrap="square" lIns="0" tIns="0" rIns="0" bIns="0" rtlCol="0" anchor="ctr"/>
          <a:lstStyle/>
          <a:p>
            <a:pPr marL="0" indent="0">
              <a:buNone/>
            </a:pPr>
            <a:r>
              <a:rPr lang="en-US" sz="950" b="1" dirty="0">
                <a:solidFill>
                  <a:srgbClr val="A855F7"/>
                </a:solidFill>
                <a:latin typeface="Calibri" pitchFamily="34" charset="0"/>
                <a:ea typeface="Calibri" pitchFamily="34" charset="-122"/>
                <a:cs typeface="Calibri" pitchFamily="34" charset="-120"/>
              </a:rPr>
              <a:t>🔍  Annotated Aid4Mail Processing Report</a:t>
            </a:r>
            <a:endParaRPr lang="en-US" sz="950" dirty="0"/>
          </a:p>
        </p:txBody>
      </p:sp>
      <p:sp>
        <p:nvSpPr>
          <p:cNvPr id="28" name="Text 26"/>
          <p:cNvSpPr/>
          <p:nvPr/>
        </p:nvSpPr>
        <p:spPr>
          <a:xfrm>
            <a:off x="6400800" y="4233672"/>
            <a:ext cx="2286000" cy="201168"/>
          </a:xfrm>
          <a:prstGeom prst="rect">
            <a:avLst/>
          </a:prstGeom>
          <a:noFill/>
          <a:ln/>
        </p:spPr>
        <p:txBody>
          <a:bodyPr wrap="square" lIns="0" tIns="0" rIns="0" bIns="0" rtlCol="0" anchor="ctr"/>
          <a:lstStyle/>
          <a:p>
            <a:pPr marL="0" indent="0" algn="r">
              <a:buNone/>
            </a:pPr>
            <a:r>
              <a:rPr lang="en-US" sz="800" dirty="0">
                <a:solidFill>
                  <a:srgbClr val="8899AA"/>
                </a:solidFill>
                <a:latin typeface="Calibri" pitchFamily="34" charset="0"/>
                <a:ea typeface="Calibri" pitchFamily="34" charset="-122"/>
                <a:cs typeface="Calibri" pitchFamily="34" charset="-120"/>
              </a:rPr>
              <a:t>aid4mail.com  |  Windows  |  Commercial licence</a:t>
            </a:r>
            <a:endParaRPr lang="en-US" sz="800" dirty="0"/>
          </a:p>
        </p:txBody>
      </p:sp>
      <p:sp>
        <p:nvSpPr>
          <p:cNvPr id="29" name="Shape 27"/>
          <p:cNvSpPr/>
          <p:nvPr/>
        </p:nvSpPr>
        <p:spPr>
          <a:xfrm>
            <a:off x="384048" y="4443984"/>
            <a:ext cx="8321040" cy="365760"/>
          </a:xfrm>
          <a:prstGeom prst="rect">
            <a:avLst/>
          </a:prstGeom>
          <a:solidFill>
            <a:srgbClr val="FFFFFF"/>
          </a:solidFill>
          <a:ln w="12700">
            <a:solidFill>
              <a:srgbClr val="A855F7"/>
            </a:solidFill>
            <a:prstDash val="solid"/>
          </a:ln>
        </p:spPr>
        <p:txBody>
          <a:bodyPr/>
          <a:lstStyle/>
          <a:p>
            <a:endParaRPr lang="en-SG"/>
          </a:p>
        </p:txBody>
      </p:sp>
      <p:sp>
        <p:nvSpPr>
          <p:cNvPr id="30" name="Text 28"/>
          <p:cNvSpPr/>
          <p:nvPr/>
        </p:nvSpPr>
        <p:spPr>
          <a:xfrm>
            <a:off x="475488" y="4471416"/>
            <a:ext cx="8138160" cy="310896"/>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SOURCE: suspect_john.pst  →  OUTPUT FORMAT: EML  |  Total processed: 2,847  |  Duplicates removed: 312 (11%)</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Threads reconstructed: 94  |  Metadata preserved: YES  |  Chain of custody hash: SHA256 a3f9b2...  |  Export: COMPLETE</a:t>
            </a:r>
            <a:endParaRPr lang="en-US" sz="750" dirty="0"/>
          </a:p>
        </p:txBody>
      </p:sp>
      <p:sp>
        <p:nvSpPr>
          <p:cNvPr id="31" name="Text 29"/>
          <p:cNvSpPr/>
          <p:nvPr/>
        </p:nvSpPr>
        <p:spPr>
          <a:xfrm>
            <a:off x="6262903" y="4503052"/>
            <a:ext cx="365760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312 duplicates removed = 11% less review volume</a:t>
            </a:r>
            <a:endParaRPr lang="en-US" sz="750" dirty="0"/>
          </a:p>
        </p:txBody>
      </p:sp>
      <p:sp>
        <p:nvSpPr>
          <p:cNvPr id="32" name="Text 30"/>
          <p:cNvSpPr/>
          <p:nvPr/>
        </p:nvSpPr>
        <p:spPr>
          <a:xfrm>
            <a:off x="6752939" y="4616638"/>
            <a:ext cx="393192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SHA-256 hash proves export integrity for court</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43938" cy="256032"/>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11480" y="164592"/>
            <a:ext cx="2152498"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4 · EMAIL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Specialised Email Forensic Tools — MailXaminer</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F1C40F"/>
            </a:solidFill>
            <a:prstDash val="solid"/>
          </a:ln>
        </p:spPr>
        <p:txBody>
          <a:bodyPr/>
          <a:lstStyle/>
          <a:p>
            <a:endParaRPr lang="en-SG"/>
          </a:p>
        </p:txBody>
      </p:sp>
      <p:sp>
        <p:nvSpPr>
          <p:cNvPr id="6" name="Shape 4"/>
          <p:cNvSpPr/>
          <p:nvPr/>
        </p:nvSpPr>
        <p:spPr>
          <a:xfrm>
            <a:off x="320040" y="1261872"/>
            <a:ext cx="54864" cy="512064"/>
          </a:xfrm>
          <a:prstGeom prst="rect">
            <a:avLst/>
          </a:prstGeom>
          <a:solidFill>
            <a:srgbClr val="F1C40F"/>
          </a:solidFill>
          <a:ln w="12700">
            <a:solidFill>
              <a:srgbClr val="F1C40F"/>
            </a:solidFill>
            <a:prstDash val="solid"/>
          </a:ln>
        </p:spPr>
        <p:txBody>
          <a:bodyPr/>
          <a:lstStyle/>
          <a:p>
            <a:endParaRPr lang="en-SG"/>
          </a:p>
        </p:txBody>
      </p:sp>
      <p:sp>
        <p:nvSpPr>
          <p:cNvPr id="7" name="Text 5"/>
          <p:cNvSpPr/>
          <p:nvPr/>
        </p:nvSpPr>
        <p:spPr>
          <a:xfrm>
            <a:off x="475488" y="1316736"/>
            <a:ext cx="822960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MailXaminer (by SysTools) is purpose-built for cloud and server-based email acquisition. As more evidence lives in Gmail, Outlook.com, and corporate Microsoft 365 rather than on local devices, MailXaminer allows investigators to acquire this evidence directly — with legal authorisation — without relying on the user's device.</a:t>
            </a:r>
            <a:endParaRPr lang="en-US" sz="950" dirty="0"/>
          </a:p>
        </p:txBody>
      </p:sp>
      <p:sp>
        <p:nvSpPr>
          <p:cNvPr id="8" name="Shape 6"/>
          <p:cNvSpPr/>
          <p:nvPr/>
        </p:nvSpPr>
        <p:spPr>
          <a:xfrm>
            <a:off x="320040" y="1865376"/>
            <a:ext cx="4160520" cy="2267712"/>
          </a:xfrm>
          <a:prstGeom prst="rect">
            <a:avLst/>
          </a:prstGeom>
          <a:solidFill>
            <a:srgbClr val="EEF6FB"/>
          </a:solidFill>
          <a:ln w="12700">
            <a:solidFill>
              <a:srgbClr val="F1C40F"/>
            </a:solidFill>
            <a:prstDash val="solid"/>
          </a:ln>
        </p:spPr>
        <p:txBody>
          <a:bodyPr/>
          <a:lstStyle/>
          <a:p>
            <a:endParaRPr lang="en-SG"/>
          </a:p>
        </p:txBody>
      </p:sp>
      <p:sp>
        <p:nvSpPr>
          <p:cNvPr id="9" name="Shape 7"/>
          <p:cNvSpPr/>
          <p:nvPr/>
        </p:nvSpPr>
        <p:spPr>
          <a:xfrm>
            <a:off x="320040" y="1865376"/>
            <a:ext cx="4160520" cy="256032"/>
          </a:xfrm>
          <a:prstGeom prst="rect">
            <a:avLst/>
          </a:prstGeom>
          <a:solidFill>
            <a:srgbClr val="F1C40F"/>
          </a:solidFill>
          <a:ln w="12700">
            <a:solidFill>
              <a:srgbClr val="F1C40F"/>
            </a:solidFill>
            <a:prstDash val="solid"/>
          </a:ln>
        </p:spPr>
        <p:txBody>
          <a:bodyPr/>
          <a:lstStyle/>
          <a:p>
            <a:endParaRPr lang="en-SG"/>
          </a:p>
        </p:txBody>
      </p:sp>
      <p:sp>
        <p:nvSpPr>
          <p:cNvPr id="10" name="Text 8"/>
          <p:cNvSpPr/>
          <p:nvPr/>
        </p:nvSpPr>
        <p:spPr>
          <a:xfrm>
            <a:off x="438912" y="1865376"/>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Key Capabilities</a:t>
            </a:r>
            <a:endParaRPr lang="en-US" sz="1100" dirty="0"/>
          </a:p>
        </p:txBody>
      </p:sp>
      <p:sp>
        <p:nvSpPr>
          <p:cNvPr id="11" name="Text 9"/>
          <p:cNvSpPr/>
          <p:nvPr/>
        </p:nvSpPr>
        <p:spPr>
          <a:xfrm>
            <a:off x="457200" y="217627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Acquires email DIRECTLY from cloud accounts: Gmail, Outlook.com, Yahoo, Microsoft 365</a:t>
            </a:r>
            <a:endParaRPr lang="en-US" sz="850" dirty="0"/>
          </a:p>
        </p:txBody>
      </p:sp>
      <p:sp>
        <p:nvSpPr>
          <p:cNvPr id="12" name="Text 10"/>
          <p:cNvSpPr/>
          <p:nvPr/>
        </p:nvSpPr>
        <p:spPr>
          <a:xfrm>
            <a:off x="457200" y="2505456"/>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Recovers DELETED emails from server-side storage before permanent purge window closes</a:t>
            </a:r>
            <a:endParaRPr lang="en-US" sz="850" dirty="0"/>
          </a:p>
        </p:txBody>
      </p:sp>
      <p:sp>
        <p:nvSpPr>
          <p:cNvPr id="13" name="Text 11"/>
          <p:cNvSpPr/>
          <p:nvPr/>
        </p:nvSpPr>
        <p:spPr>
          <a:xfrm>
            <a:off x="457200" y="2834640"/>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Analyses email header routing visually — maps each relay hop on a path diagram</a:t>
            </a:r>
            <a:endParaRPr lang="en-US" sz="850" dirty="0"/>
          </a:p>
        </p:txBody>
      </p:sp>
      <p:sp>
        <p:nvSpPr>
          <p:cNvPr id="14" name="Text 12"/>
          <p:cNvSpPr/>
          <p:nvPr/>
        </p:nvSpPr>
        <p:spPr>
          <a:xfrm>
            <a:off x="457200" y="3163824"/>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Live preview of any email WITHOUT altering its metadata or last-accessed timestamps</a:t>
            </a:r>
            <a:endParaRPr lang="en-US" sz="850" dirty="0"/>
          </a:p>
        </p:txBody>
      </p:sp>
      <p:sp>
        <p:nvSpPr>
          <p:cNvPr id="15" name="Text 13"/>
          <p:cNvSpPr/>
          <p:nvPr/>
        </p:nvSpPr>
        <p:spPr>
          <a:xfrm>
            <a:off x="457200" y="3493008"/>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Supports Unicode and multi-language content — essential in international investigations</a:t>
            </a:r>
            <a:endParaRPr lang="en-US" sz="850" dirty="0"/>
          </a:p>
        </p:txBody>
      </p:sp>
      <p:sp>
        <p:nvSpPr>
          <p:cNvPr id="16" name="Text 14"/>
          <p:cNvSpPr/>
          <p:nvPr/>
        </p:nvSpPr>
        <p:spPr>
          <a:xfrm>
            <a:off x="457200" y="3822192"/>
            <a:ext cx="3913632" cy="29260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Generates digitally signed, tamper-evident reports accepted in legal proceedings</a:t>
            </a:r>
            <a:endParaRPr lang="en-US" sz="850" dirty="0"/>
          </a:p>
        </p:txBody>
      </p:sp>
      <p:sp>
        <p:nvSpPr>
          <p:cNvPr id="17" name="Shape 15"/>
          <p:cNvSpPr/>
          <p:nvPr/>
        </p:nvSpPr>
        <p:spPr>
          <a:xfrm>
            <a:off x="4663440" y="1865376"/>
            <a:ext cx="4160520" cy="2267712"/>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4663440" y="1865376"/>
            <a:ext cx="4160520" cy="256032"/>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4773168" y="1865376"/>
            <a:ext cx="3931920" cy="256032"/>
          </a:xfrm>
          <a:prstGeom prst="rect">
            <a:avLst/>
          </a:prstGeom>
          <a:noFill/>
          <a:ln/>
        </p:spPr>
        <p:txBody>
          <a:bodyPr wrap="square" lIns="0" tIns="0" rIns="0" bIns="0" rtlCol="0" anchor="ctr"/>
          <a:lstStyle/>
          <a:p>
            <a:pPr marL="0" indent="0">
              <a:buNone/>
            </a:pPr>
            <a:r>
              <a:rPr lang="en-US" sz="1100" b="1" dirty="0">
                <a:solidFill>
                  <a:srgbClr val="F1C40F"/>
                </a:solidFill>
                <a:latin typeface="Calibri" pitchFamily="34" charset="0"/>
                <a:ea typeface="Calibri" pitchFamily="34" charset="-122"/>
                <a:cs typeface="Calibri" pitchFamily="34" charset="-120"/>
              </a:rPr>
              <a:t>⚖️  Forensic Value</a:t>
            </a:r>
            <a:endParaRPr lang="en-US" sz="1100" dirty="0"/>
          </a:p>
        </p:txBody>
      </p:sp>
      <p:sp>
        <p:nvSpPr>
          <p:cNvPr id="20" name="Text 18"/>
          <p:cNvSpPr/>
          <p:nvPr/>
        </p:nvSpPr>
        <p:spPr>
          <a:xfrm>
            <a:off x="4791456" y="2176272"/>
            <a:ext cx="3913632" cy="201168"/>
          </a:xfrm>
          <a:prstGeom prst="rect">
            <a:avLst/>
          </a:prstGeom>
          <a:noFill/>
          <a:ln/>
        </p:spPr>
        <p:txBody>
          <a:bodyPr wrap="square" lIns="0" tIns="0" rIns="0" bIns="0" rtlCol="0" anchor="ctr"/>
          <a:lstStyle/>
          <a:p>
            <a:pPr marL="0" indent="0">
              <a:buNone/>
            </a:pPr>
            <a:r>
              <a:rPr lang="en-US" sz="900" b="1" dirty="0">
                <a:solidFill>
                  <a:srgbClr val="F1C40F"/>
                </a:solidFill>
                <a:latin typeface="Calibri" pitchFamily="34" charset="0"/>
                <a:ea typeface="Calibri" pitchFamily="34" charset="-122"/>
                <a:cs typeface="Calibri" pitchFamily="34" charset="-120"/>
              </a:rPr>
              <a:t>Cloud evidence acquisition</a:t>
            </a:r>
            <a:endParaRPr lang="en-US" sz="900" dirty="0"/>
          </a:p>
        </p:txBody>
      </p:sp>
      <p:sp>
        <p:nvSpPr>
          <p:cNvPr id="21" name="Text 19"/>
          <p:cNvSpPr/>
          <p:nvPr/>
        </p:nvSpPr>
        <p:spPr>
          <a:xfrm>
            <a:off x="4791456" y="2377440"/>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When a suspect's email is in Gmail with no local copy, MailXaminer acquires the mailbox server-side via authorised API access — bypassing the need to seize a device at all.</a:t>
            </a:r>
            <a:endParaRPr lang="en-US" sz="850" dirty="0"/>
          </a:p>
        </p:txBody>
      </p:sp>
      <p:sp>
        <p:nvSpPr>
          <p:cNvPr id="22" name="Text 20"/>
          <p:cNvSpPr/>
          <p:nvPr/>
        </p:nvSpPr>
        <p:spPr>
          <a:xfrm>
            <a:off x="4791456" y="2871216"/>
            <a:ext cx="3913632" cy="201168"/>
          </a:xfrm>
          <a:prstGeom prst="rect">
            <a:avLst/>
          </a:prstGeom>
          <a:noFill/>
          <a:ln/>
        </p:spPr>
        <p:txBody>
          <a:bodyPr wrap="square" lIns="0" tIns="0" rIns="0" bIns="0" rtlCol="0" anchor="ctr"/>
          <a:lstStyle/>
          <a:p>
            <a:pPr marL="0" indent="0">
              <a:buNone/>
            </a:pPr>
            <a:r>
              <a:rPr lang="en-US" sz="900" b="1" dirty="0">
                <a:solidFill>
                  <a:srgbClr val="F1C40F"/>
                </a:solidFill>
                <a:latin typeface="Calibri" pitchFamily="34" charset="0"/>
                <a:ea typeface="Calibri" pitchFamily="34" charset="-122"/>
                <a:cs typeface="Calibri" pitchFamily="34" charset="-120"/>
              </a:rPr>
              <a:t>Deleted email window</a:t>
            </a:r>
            <a:endParaRPr lang="en-US" sz="900" dirty="0"/>
          </a:p>
        </p:txBody>
      </p:sp>
      <p:sp>
        <p:nvSpPr>
          <p:cNvPr id="23" name="Text 21"/>
          <p:cNvSpPr/>
          <p:nvPr/>
        </p:nvSpPr>
        <p:spPr>
          <a:xfrm>
            <a:off x="4791456" y="3072384"/>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Cloud providers purge deleted emails after 30 days (Gmail) or fewer. MailXaminer's immediate acquisition during an investigation preserves evidence before that window closes.</a:t>
            </a:r>
            <a:endParaRPr lang="en-US" sz="850" dirty="0"/>
          </a:p>
        </p:txBody>
      </p:sp>
      <p:sp>
        <p:nvSpPr>
          <p:cNvPr id="24" name="Text 22"/>
          <p:cNvSpPr/>
          <p:nvPr/>
        </p:nvSpPr>
        <p:spPr>
          <a:xfrm>
            <a:off x="4791456" y="3566160"/>
            <a:ext cx="3913632" cy="201168"/>
          </a:xfrm>
          <a:prstGeom prst="rect">
            <a:avLst/>
          </a:prstGeom>
          <a:noFill/>
          <a:ln/>
        </p:spPr>
        <p:txBody>
          <a:bodyPr wrap="square" lIns="0" tIns="0" rIns="0" bIns="0" rtlCol="0" anchor="ctr"/>
          <a:lstStyle/>
          <a:p>
            <a:pPr marL="0" indent="0">
              <a:buNone/>
            </a:pPr>
            <a:r>
              <a:rPr lang="en-US" sz="900" b="1" dirty="0">
                <a:solidFill>
                  <a:srgbClr val="F1C40F"/>
                </a:solidFill>
                <a:latin typeface="Calibri" pitchFamily="34" charset="0"/>
                <a:ea typeface="Calibri" pitchFamily="34" charset="-122"/>
                <a:cs typeface="Calibri" pitchFamily="34" charset="-120"/>
              </a:rPr>
              <a:t>Header routing diagram</a:t>
            </a:r>
            <a:endParaRPr lang="en-US" sz="900" dirty="0"/>
          </a:p>
        </p:txBody>
      </p:sp>
      <p:sp>
        <p:nvSpPr>
          <p:cNvPr id="25" name="Text 23"/>
          <p:cNvSpPr/>
          <p:nvPr/>
        </p:nvSpPr>
        <p:spPr>
          <a:xfrm>
            <a:off x="4791456" y="3767328"/>
            <a:ext cx="3913632" cy="43891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MailXaminer visually traces the 'Received:' header path — showing each mail server relay hop as a diagram, making spoofing or misrouting immediately visible to non-technical audiences.</a:t>
            </a:r>
            <a:endParaRPr lang="en-US" sz="850" dirty="0"/>
          </a:p>
        </p:txBody>
      </p:sp>
      <p:sp>
        <p:nvSpPr>
          <p:cNvPr id="26" name="Shape 24"/>
          <p:cNvSpPr/>
          <p:nvPr/>
        </p:nvSpPr>
        <p:spPr>
          <a:xfrm>
            <a:off x="320040" y="4206240"/>
            <a:ext cx="8503920" cy="640080"/>
          </a:xfrm>
          <a:prstGeom prst="rect">
            <a:avLst/>
          </a:prstGeom>
          <a:solidFill>
            <a:srgbClr val="FFFFFF"/>
          </a:solidFill>
          <a:ln w="12700">
            <a:solidFill>
              <a:srgbClr val="F1C40F"/>
            </a:solidFill>
            <a:prstDash val="solid"/>
          </a:ln>
        </p:spPr>
        <p:txBody>
          <a:bodyPr/>
          <a:lstStyle/>
          <a:p>
            <a:endParaRPr lang="en-SG"/>
          </a:p>
        </p:txBody>
      </p:sp>
      <p:sp>
        <p:nvSpPr>
          <p:cNvPr id="27" name="Text 25"/>
          <p:cNvSpPr/>
          <p:nvPr/>
        </p:nvSpPr>
        <p:spPr>
          <a:xfrm>
            <a:off x="457200" y="4233672"/>
            <a:ext cx="4572000" cy="201168"/>
          </a:xfrm>
          <a:prstGeom prst="rect">
            <a:avLst/>
          </a:prstGeom>
          <a:noFill/>
          <a:ln/>
        </p:spPr>
        <p:txBody>
          <a:bodyPr wrap="square" lIns="0" tIns="0" rIns="0" bIns="0" rtlCol="0" anchor="ctr"/>
          <a:lstStyle/>
          <a:p>
            <a:pPr marL="0" indent="0">
              <a:buNone/>
            </a:pPr>
            <a:r>
              <a:rPr lang="en-US" sz="950" b="1" dirty="0">
                <a:solidFill>
                  <a:srgbClr val="F1C40F"/>
                </a:solidFill>
                <a:latin typeface="Calibri" pitchFamily="34" charset="0"/>
                <a:ea typeface="Calibri" pitchFamily="34" charset="-122"/>
                <a:cs typeface="Calibri" pitchFamily="34" charset="-120"/>
              </a:rPr>
              <a:t>🔍  Annotated MailXaminer Cloud Acquisition Report</a:t>
            </a:r>
            <a:endParaRPr lang="en-US" sz="950" dirty="0"/>
          </a:p>
        </p:txBody>
      </p:sp>
      <p:sp>
        <p:nvSpPr>
          <p:cNvPr id="28" name="Text 26"/>
          <p:cNvSpPr/>
          <p:nvPr/>
        </p:nvSpPr>
        <p:spPr>
          <a:xfrm>
            <a:off x="6400800" y="4233672"/>
            <a:ext cx="2286000" cy="201168"/>
          </a:xfrm>
          <a:prstGeom prst="rect">
            <a:avLst/>
          </a:prstGeom>
          <a:noFill/>
          <a:ln/>
        </p:spPr>
        <p:txBody>
          <a:bodyPr wrap="square" lIns="0" tIns="0" rIns="0" bIns="0" rtlCol="0" anchor="ctr"/>
          <a:lstStyle/>
          <a:p>
            <a:pPr marL="0" indent="0" algn="r">
              <a:buNone/>
            </a:pPr>
            <a:r>
              <a:rPr lang="en-US" sz="800" dirty="0">
                <a:solidFill>
                  <a:srgbClr val="8899AA"/>
                </a:solidFill>
                <a:latin typeface="Calibri" pitchFamily="34" charset="0"/>
                <a:ea typeface="Calibri" pitchFamily="34" charset="-122"/>
                <a:cs typeface="Calibri" pitchFamily="34" charset="-120"/>
              </a:rPr>
              <a:t>systoolsgroup.com  |  Windows  |  Commercial licence</a:t>
            </a:r>
            <a:endParaRPr lang="en-US" sz="800" dirty="0"/>
          </a:p>
        </p:txBody>
      </p:sp>
      <p:sp>
        <p:nvSpPr>
          <p:cNvPr id="29" name="Shape 27"/>
          <p:cNvSpPr/>
          <p:nvPr/>
        </p:nvSpPr>
        <p:spPr>
          <a:xfrm>
            <a:off x="384048" y="4443984"/>
            <a:ext cx="8321040" cy="365760"/>
          </a:xfrm>
          <a:prstGeom prst="rect">
            <a:avLst/>
          </a:prstGeom>
          <a:solidFill>
            <a:srgbClr val="FFFFFF"/>
          </a:solidFill>
          <a:ln w="12700">
            <a:solidFill>
              <a:srgbClr val="F1C40F"/>
            </a:solidFill>
            <a:prstDash val="solid"/>
          </a:ln>
        </p:spPr>
        <p:txBody>
          <a:bodyPr/>
          <a:lstStyle/>
          <a:p>
            <a:endParaRPr lang="en-SG"/>
          </a:p>
        </p:txBody>
      </p:sp>
      <p:sp>
        <p:nvSpPr>
          <p:cNvPr id="30" name="Text 28"/>
          <p:cNvSpPr/>
          <p:nvPr/>
        </p:nvSpPr>
        <p:spPr>
          <a:xfrm>
            <a:off x="475488" y="4471416"/>
            <a:ext cx="8138160" cy="310896"/>
          </a:xfrm>
          <a:prstGeom prst="rect">
            <a:avLst/>
          </a:prstGeom>
          <a:noFill/>
          <a:ln/>
        </p:spPr>
        <p:txBody>
          <a:bodyPr wrap="square" lIns="0" tIns="0" rIns="0" bIns="0" rtlCol="0" anchor="ctr"/>
          <a:lstStyle/>
          <a:p>
            <a:pPr marL="0" indent="0">
              <a:buNone/>
            </a:pPr>
            <a:r>
              <a:rPr lang="en-US" sz="750" dirty="0">
                <a:solidFill>
                  <a:srgbClr val="2ECC71"/>
                </a:solidFill>
                <a:latin typeface="Consolas" pitchFamily="34" charset="0"/>
                <a:ea typeface="Consolas" pitchFamily="34" charset="-122"/>
                <a:cs typeface="Consolas" pitchFamily="34" charset="-120"/>
              </a:rPr>
              <a:t>ACCOUNT: john.suspect@gmail.com  [LEGAL HOLD: court order ref 2026-SG-0312]  Acquired: 1,203 emails</a:t>
            </a:r>
            <a:endParaRPr lang="en-US" sz="750" dirty="0"/>
          </a:p>
          <a:p>
            <a:pPr marL="0" indent="0">
              <a:buNone/>
            </a:pPr>
            <a:r>
              <a:rPr lang="en-US" sz="750" dirty="0">
                <a:solidFill>
                  <a:srgbClr val="2ECC71"/>
                </a:solidFill>
                <a:latin typeface="Consolas" pitchFamily="34" charset="0"/>
                <a:ea typeface="Consolas" pitchFamily="34" charset="-122"/>
                <a:cs typeface="Consolas" pitchFamily="34" charset="-120"/>
              </a:rPr>
              <a:t>DELETED recovered: 14  |  Header path: [SG] → [US-WEST] → [UK] visualised  |  Acquisition hash: SHA256 verified</a:t>
            </a:r>
            <a:endParaRPr lang="en-US" sz="750" dirty="0"/>
          </a:p>
        </p:txBody>
      </p:sp>
      <p:sp>
        <p:nvSpPr>
          <p:cNvPr id="31" name="Text 29"/>
          <p:cNvSpPr/>
          <p:nvPr/>
        </p:nvSpPr>
        <p:spPr>
          <a:xfrm>
            <a:off x="5836952" y="4497373"/>
            <a:ext cx="457200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[LEGAL HOLD] = court order reference logged in report</a:t>
            </a:r>
            <a:endParaRPr lang="en-US" sz="750" dirty="0"/>
          </a:p>
        </p:txBody>
      </p:sp>
      <p:sp>
        <p:nvSpPr>
          <p:cNvPr id="32" name="Text 30"/>
          <p:cNvSpPr/>
          <p:nvPr/>
        </p:nvSpPr>
        <p:spPr>
          <a:xfrm>
            <a:off x="6438287" y="4610962"/>
            <a:ext cx="3383280" cy="128016"/>
          </a:xfrm>
          <a:prstGeom prst="rect">
            <a:avLst/>
          </a:prstGeom>
          <a:noFill/>
          <a:ln/>
        </p:spPr>
        <p:txBody>
          <a:bodyPr wrap="square" lIns="0" tIns="0" rIns="0" bIns="0" rtlCol="0" anchor="ctr"/>
          <a:lstStyle/>
          <a:p>
            <a:pPr marL="0" indent="0">
              <a:buNone/>
            </a:pPr>
            <a:r>
              <a:rPr lang="en-US" sz="750" dirty="0">
                <a:solidFill>
                  <a:srgbClr val="F1C40F"/>
                </a:solidFill>
                <a:latin typeface="Calibri" pitchFamily="34" charset="0"/>
                <a:ea typeface="Calibri" pitchFamily="34" charset="-122"/>
                <a:cs typeface="Calibri" pitchFamily="34" charset="-120"/>
              </a:rPr>
              <a:t>← Header path diagram = relay hops visualised</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A855F7"/>
          </a:solidFill>
          <a:ln w="12700">
            <a:solidFill>
              <a:srgbClr val="A855F7"/>
            </a:solidFill>
            <a:prstDash val="solid"/>
          </a:ln>
        </p:spPr>
        <p:txBody>
          <a:bodyPr/>
          <a:lstStyle/>
          <a:p>
            <a:endParaRPr lang="en-SG"/>
          </a:p>
        </p:txBody>
      </p:sp>
      <p:sp>
        <p:nvSpPr>
          <p:cNvPr id="6" name="Text 4"/>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A855F7"/>
                </a:solidFill>
                <a:latin typeface="Calibri" pitchFamily="34" charset="0"/>
                <a:ea typeface="Calibri" pitchFamily="34" charset="-122"/>
                <a:cs typeface="Calibri" pitchFamily="34" charset="-120"/>
              </a:rPr>
              <a:t>SECTION 5</a:t>
            </a:r>
            <a:endParaRPr lang="en-US" sz="1300" dirty="0"/>
          </a:p>
        </p:txBody>
      </p:sp>
      <p:sp>
        <p:nvSpPr>
          <p:cNvPr id="7" name="Text 5"/>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4800" b="1" dirty="0">
                <a:solidFill>
                  <a:srgbClr val="1A1A2E"/>
                </a:solidFill>
                <a:latin typeface="Calibri" pitchFamily="34" charset="0"/>
                <a:ea typeface="Calibri" pitchFamily="34" charset="-122"/>
                <a:cs typeface="Calibri" pitchFamily="34" charset="-120"/>
              </a:rPr>
              <a:t>Browser Forensics</a:t>
            </a:r>
            <a:endParaRPr lang="en-US" sz="4800" dirty="0"/>
          </a:p>
        </p:txBody>
      </p:sp>
      <p:sp>
        <p:nvSpPr>
          <p:cNvPr id="8" name="Text 6"/>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latin typeface="Calibri" pitchFamily="34" charset="0"/>
                <a:ea typeface="Calibri" pitchFamily="34" charset="-122"/>
                <a:cs typeface="Calibri" pitchFamily="34" charset="-120"/>
              </a:rPr>
              <a:t>What browsers record  ·  Chrome · Edge · Safari  ·  Forensic tools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A855F7"/>
          </a:solidFill>
          <a:ln w="12700">
            <a:solidFill>
              <a:srgbClr val="A855F7"/>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5 · BROWSER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What Browsers Record — Forensic Artefacts</a:t>
            </a:r>
            <a:endParaRPr lang="en-US" sz="2800" dirty="0"/>
          </a:p>
        </p:txBody>
      </p:sp>
      <p:sp>
        <p:nvSpPr>
          <p:cNvPr id="5" name="Shape 3"/>
          <p:cNvSpPr/>
          <p:nvPr/>
        </p:nvSpPr>
        <p:spPr>
          <a:xfrm>
            <a:off x="320040" y="1298448"/>
            <a:ext cx="2743200" cy="1408176"/>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43200" cy="25603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1148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Browsing History</a:t>
            </a:r>
            <a:endParaRPr lang="en-US" sz="1050" dirty="0"/>
          </a:p>
        </p:txBody>
      </p:sp>
      <p:sp>
        <p:nvSpPr>
          <p:cNvPr id="8" name="Text 6"/>
          <p:cNvSpPr/>
          <p:nvPr/>
        </p:nvSpPr>
        <p:spPr>
          <a:xfrm>
            <a:off x="411480" y="1609344"/>
            <a:ext cx="2560320" cy="104241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Every URL visited with timestamp and visit count. Reveals websites accessed, search terms typed, and time spent. Critical in policy violations and content-based crimes.</a:t>
            </a:r>
            <a:endParaRPr lang="en-US" sz="850" dirty="0"/>
          </a:p>
        </p:txBody>
      </p:sp>
      <p:sp>
        <p:nvSpPr>
          <p:cNvPr id="9" name="Shape 7"/>
          <p:cNvSpPr/>
          <p:nvPr/>
        </p:nvSpPr>
        <p:spPr>
          <a:xfrm>
            <a:off x="3200400" y="1298448"/>
            <a:ext cx="2743200" cy="1408176"/>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0" y="1298448"/>
            <a:ext cx="2743200" cy="256032"/>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329184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Bookmarks</a:t>
            </a:r>
            <a:endParaRPr lang="en-US" sz="1050" dirty="0"/>
          </a:p>
        </p:txBody>
      </p:sp>
      <p:sp>
        <p:nvSpPr>
          <p:cNvPr id="12" name="Text 10"/>
          <p:cNvSpPr/>
          <p:nvPr/>
        </p:nvSpPr>
        <p:spPr>
          <a:xfrm>
            <a:off x="3291840" y="1609344"/>
            <a:ext cx="2560320" cy="104241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Saved URLs with date added and last visited. Indicates sites of recurring interest. May reveal planning activity — e.g. bookmarked forums for illegal goods.</a:t>
            </a:r>
            <a:endParaRPr lang="en-US" sz="850" dirty="0"/>
          </a:p>
        </p:txBody>
      </p:sp>
      <p:sp>
        <p:nvSpPr>
          <p:cNvPr id="13" name="Shape 11"/>
          <p:cNvSpPr/>
          <p:nvPr/>
        </p:nvSpPr>
        <p:spPr>
          <a:xfrm>
            <a:off x="6080760" y="1298448"/>
            <a:ext cx="2743200" cy="1408176"/>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6080760" y="1298448"/>
            <a:ext cx="2743200" cy="256032"/>
          </a:xfrm>
          <a:prstGeom prst="rect">
            <a:avLst/>
          </a:prstGeom>
          <a:solidFill>
            <a:srgbClr val="F1C40F"/>
          </a:solidFill>
          <a:ln w="12700">
            <a:solidFill>
              <a:srgbClr val="F1C40F"/>
            </a:solidFill>
            <a:prstDash val="solid"/>
          </a:ln>
        </p:spPr>
        <p:txBody>
          <a:bodyPr/>
          <a:lstStyle/>
          <a:p>
            <a:endParaRPr lang="en-SG"/>
          </a:p>
        </p:txBody>
      </p:sp>
      <p:sp>
        <p:nvSpPr>
          <p:cNvPr id="15" name="Text 13"/>
          <p:cNvSpPr/>
          <p:nvPr/>
        </p:nvSpPr>
        <p:spPr>
          <a:xfrm>
            <a:off x="6172200" y="1298448"/>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Cookies</a:t>
            </a:r>
            <a:endParaRPr lang="en-US" sz="1050" dirty="0"/>
          </a:p>
        </p:txBody>
      </p:sp>
      <p:sp>
        <p:nvSpPr>
          <p:cNvPr id="16" name="Text 14"/>
          <p:cNvSpPr/>
          <p:nvPr/>
        </p:nvSpPr>
        <p:spPr>
          <a:xfrm>
            <a:off x="6172200" y="1609344"/>
            <a:ext cx="2560320" cy="104241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Session tokens, auth cookies, and tracking IDs. Can prove a user was logged into a specific account at a specific time — strong proof of identity and account ownership.</a:t>
            </a:r>
            <a:endParaRPr lang="en-US" sz="850" dirty="0"/>
          </a:p>
        </p:txBody>
      </p:sp>
      <p:sp>
        <p:nvSpPr>
          <p:cNvPr id="17" name="Shape 15"/>
          <p:cNvSpPr/>
          <p:nvPr/>
        </p:nvSpPr>
        <p:spPr>
          <a:xfrm>
            <a:off x="320040" y="2798064"/>
            <a:ext cx="2743200" cy="1408176"/>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20040" y="2798064"/>
            <a:ext cx="2743200" cy="256032"/>
          </a:xfrm>
          <a:prstGeom prst="rect">
            <a:avLst/>
          </a:prstGeom>
          <a:solidFill>
            <a:srgbClr val="2ECC71"/>
          </a:solidFill>
          <a:ln w="12700">
            <a:solidFill>
              <a:srgbClr val="2ECC71"/>
            </a:solidFill>
            <a:prstDash val="solid"/>
          </a:ln>
        </p:spPr>
        <p:txBody>
          <a:bodyPr/>
          <a:lstStyle/>
          <a:p>
            <a:endParaRPr lang="en-SG"/>
          </a:p>
        </p:txBody>
      </p:sp>
      <p:sp>
        <p:nvSpPr>
          <p:cNvPr id="19" name="Text 17"/>
          <p:cNvSpPr/>
          <p:nvPr/>
        </p:nvSpPr>
        <p:spPr>
          <a:xfrm>
            <a:off x="411480" y="2798064"/>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Cache / Local Storage</a:t>
            </a:r>
            <a:endParaRPr lang="en-US" sz="1050" dirty="0"/>
          </a:p>
        </p:txBody>
      </p:sp>
      <p:sp>
        <p:nvSpPr>
          <p:cNvPr id="20" name="Text 18"/>
          <p:cNvSpPr/>
          <p:nvPr/>
        </p:nvSpPr>
        <p:spPr>
          <a:xfrm>
            <a:off x="411480" y="3108960"/>
            <a:ext cx="2560320" cy="104241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Locally stored copies of web pages, images, and scripts. Cache survives history deletion and can reconstruct what a user viewed — including images from illicit sites.</a:t>
            </a:r>
            <a:endParaRPr lang="en-US" sz="850" dirty="0"/>
          </a:p>
        </p:txBody>
      </p:sp>
      <p:sp>
        <p:nvSpPr>
          <p:cNvPr id="21" name="Shape 19"/>
          <p:cNvSpPr/>
          <p:nvPr/>
        </p:nvSpPr>
        <p:spPr>
          <a:xfrm>
            <a:off x="3200400" y="2798064"/>
            <a:ext cx="2743200" cy="1408176"/>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3200400" y="2798064"/>
            <a:ext cx="2743200" cy="256032"/>
          </a:xfrm>
          <a:prstGeom prst="rect">
            <a:avLst/>
          </a:prstGeom>
          <a:solidFill>
            <a:srgbClr val="E74C3C"/>
          </a:solidFill>
          <a:ln w="12700">
            <a:solidFill>
              <a:srgbClr val="E74C3C"/>
            </a:solidFill>
            <a:prstDash val="solid"/>
          </a:ln>
        </p:spPr>
        <p:txBody>
          <a:bodyPr/>
          <a:lstStyle/>
          <a:p>
            <a:endParaRPr lang="en-SG"/>
          </a:p>
        </p:txBody>
      </p:sp>
      <p:sp>
        <p:nvSpPr>
          <p:cNvPr id="23" name="Text 21"/>
          <p:cNvSpPr/>
          <p:nvPr/>
        </p:nvSpPr>
        <p:spPr>
          <a:xfrm>
            <a:off x="3291840" y="2798064"/>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Saved Credentials</a:t>
            </a:r>
            <a:endParaRPr lang="en-US" sz="1050" dirty="0"/>
          </a:p>
        </p:txBody>
      </p:sp>
      <p:sp>
        <p:nvSpPr>
          <p:cNvPr id="24" name="Text 22"/>
          <p:cNvSpPr/>
          <p:nvPr/>
        </p:nvSpPr>
        <p:spPr>
          <a:xfrm>
            <a:off x="3291840" y="3108960"/>
            <a:ext cx="2560320" cy="104241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Usernames and passwords stored by the browser. Stored in SQLite (Chrome: Login Data). Confirms which accounts the suspect had access to on the seized device.</a:t>
            </a:r>
            <a:endParaRPr lang="en-US" sz="850" dirty="0"/>
          </a:p>
        </p:txBody>
      </p:sp>
      <p:sp>
        <p:nvSpPr>
          <p:cNvPr id="25" name="Shape 23"/>
          <p:cNvSpPr/>
          <p:nvPr/>
        </p:nvSpPr>
        <p:spPr>
          <a:xfrm>
            <a:off x="6080760" y="2798064"/>
            <a:ext cx="2743200" cy="1408176"/>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6080760" y="2798064"/>
            <a:ext cx="2743200" cy="256032"/>
          </a:xfrm>
          <a:prstGeom prst="rect">
            <a:avLst/>
          </a:prstGeom>
          <a:solidFill>
            <a:srgbClr val="A855F7"/>
          </a:solidFill>
          <a:ln w="12700">
            <a:solidFill>
              <a:srgbClr val="A855F7"/>
            </a:solidFill>
            <a:prstDash val="solid"/>
          </a:ln>
        </p:spPr>
        <p:txBody>
          <a:bodyPr/>
          <a:lstStyle/>
          <a:p>
            <a:endParaRPr lang="en-SG"/>
          </a:p>
        </p:txBody>
      </p:sp>
      <p:sp>
        <p:nvSpPr>
          <p:cNvPr id="27" name="Text 25"/>
          <p:cNvSpPr/>
          <p:nvPr/>
        </p:nvSpPr>
        <p:spPr>
          <a:xfrm>
            <a:off x="6172200" y="2798064"/>
            <a:ext cx="2560320" cy="256032"/>
          </a:xfrm>
          <a:prstGeom prst="rect">
            <a:avLst/>
          </a:prstGeom>
          <a:noFill/>
          <a:ln/>
        </p:spPr>
        <p:txBody>
          <a:bodyPr wrap="square" lIns="0" tIns="0" rIns="0" bIns="0" rtlCol="0" anchor="ctr"/>
          <a:lstStyle/>
          <a:p>
            <a:pPr marL="0" indent="0">
              <a:buNone/>
            </a:pPr>
            <a:r>
              <a:rPr lang="en-US" sz="1050" b="1" dirty="0">
                <a:solidFill>
                  <a:srgbClr val="060E17"/>
                </a:solidFill>
                <a:latin typeface="Calibri" pitchFamily="34" charset="0"/>
                <a:ea typeface="Calibri" pitchFamily="34" charset="-122"/>
                <a:cs typeface="Calibri" pitchFamily="34" charset="-120"/>
              </a:rPr>
              <a:t>👤  Profiles &amp; Downloads</a:t>
            </a:r>
            <a:endParaRPr lang="en-US" sz="1050" dirty="0"/>
          </a:p>
        </p:txBody>
      </p:sp>
      <p:sp>
        <p:nvSpPr>
          <p:cNvPr id="28" name="Text 26"/>
          <p:cNvSpPr/>
          <p:nvPr/>
        </p:nvSpPr>
        <p:spPr>
          <a:xfrm>
            <a:off x="6172200" y="3108960"/>
            <a:ext cx="2560320" cy="104241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Multiple user profiles each store separate artefacts. Download history records file names, source URLs, and timestamps — proving what was deliberately saved.</a:t>
            </a:r>
            <a:endParaRPr lang="en-US" sz="850" dirty="0"/>
          </a:p>
        </p:txBody>
      </p:sp>
      <p:sp>
        <p:nvSpPr>
          <p:cNvPr id="29" name="Shape 27"/>
          <p:cNvSpPr/>
          <p:nvPr/>
        </p:nvSpPr>
        <p:spPr>
          <a:xfrm>
            <a:off x="320040" y="4645152"/>
            <a:ext cx="8503920" cy="256032"/>
          </a:xfrm>
          <a:prstGeom prst="rect">
            <a:avLst/>
          </a:prstGeom>
          <a:solidFill>
            <a:srgbClr val="FFFFFF"/>
          </a:solidFill>
          <a:ln w="12700">
            <a:solidFill>
              <a:srgbClr val="E74C3C"/>
            </a:solidFill>
            <a:prstDash val="solid"/>
          </a:ln>
        </p:spPr>
        <p:txBody>
          <a:bodyPr/>
          <a:lstStyle/>
          <a:p>
            <a:endParaRPr lang="en-SG"/>
          </a:p>
        </p:txBody>
      </p:sp>
      <p:sp>
        <p:nvSpPr>
          <p:cNvPr id="30" name="Text 28"/>
          <p:cNvSpPr/>
          <p:nvPr/>
        </p:nvSpPr>
        <p:spPr>
          <a:xfrm>
            <a:off x="457200" y="4663440"/>
            <a:ext cx="832104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Private/Incognito mode: History and cookies are NOT saved after session — but DNS cache, memory, and ISP logs may still reveal activity.</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A855F7"/>
          </a:solidFill>
          <a:ln w="12700">
            <a:solidFill>
              <a:srgbClr val="A855F7"/>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5 · BROWSER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Browser Artefact Locations — Chrome &amp; Edge</a:t>
            </a:r>
            <a:endParaRPr lang="en-US" sz="2800" dirty="0"/>
          </a:p>
        </p:txBody>
      </p:sp>
      <p:sp>
        <p:nvSpPr>
          <p:cNvPr id="5" name="Shape 3"/>
          <p:cNvSpPr/>
          <p:nvPr/>
        </p:nvSpPr>
        <p:spPr>
          <a:xfrm>
            <a:off x="320040" y="1261872"/>
            <a:ext cx="8503920" cy="1627632"/>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61872"/>
            <a:ext cx="8503920" cy="25603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38912" y="1261872"/>
            <a:ext cx="822960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  Google Chrome  —  Base: %LOCALAPPDATA%\Google\Chrome\User Data\Default\</a:t>
            </a:r>
            <a:endParaRPr lang="en-US" sz="1000" dirty="0"/>
          </a:p>
        </p:txBody>
      </p:sp>
      <p:sp>
        <p:nvSpPr>
          <p:cNvPr id="8" name="Text 6"/>
          <p:cNvSpPr/>
          <p:nvPr/>
        </p:nvSpPr>
        <p:spPr>
          <a:xfrm>
            <a:off x="457200" y="155448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Artefact</a:t>
            </a:r>
            <a:endParaRPr lang="en-US" sz="900" dirty="0"/>
          </a:p>
        </p:txBody>
      </p:sp>
      <p:sp>
        <p:nvSpPr>
          <p:cNvPr id="9" name="Text 7"/>
          <p:cNvSpPr/>
          <p:nvPr/>
        </p:nvSpPr>
        <p:spPr>
          <a:xfrm>
            <a:off x="1554480" y="155448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File</a:t>
            </a:r>
            <a:endParaRPr lang="en-US" sz="900" dirty="0"/>
          </a:p>
        </p:txBody>
      </p:sp>
      <p:sp>
        <p:nvSpPr>
          <p:cNvPr id="10" name="Text 8"/>
          <p:cNvSpPr/>
          <p:nvPr/>
        </p:nvSpPr>
        <p:spPr>
          <a:xfrm>
            <a:off x="4206240" y="155448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Format</a:t>
            </a:r>
            <a:endParaRPr lang="en-US" sz="900" dirty="0"/>
          </a:p>
        </p:txBody>
      </p:sp>
      <p:sp>
        <p:nvSpPr>
          <p:cNvPr id="11" name="Text 9"/>
          <p:cNvSpPr/>
          <p:nvPr/>
        </p:nvSpPr>
        <p:spPr>
          <a:xfrm>
            <a:off x="6126480" y="155448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Forensic Value</a:t>
            </a:r>
            <a:endParaRPr lang="en-US" sz="900" dirty="0"/>
          </a:p>
        </p:txBody>
      </p:sp>
      <p:sp>
        <p:nvSpPr>
          <p:cNvPr id="12" name="Shape 10"/>
          <p:cNvSpPr/>
          <p:nvPr/>
        </p:nvSpPr>
        <p:spPr>
          <a:xfrm>
            <a:off x="320040" y="1773936"/>
            <a:ext cx="8503920" cy="182880"/>
          </a:xfrm>
          <a:prstGeom prst="rect">
            <a:avLst/>
          </a:prstGeom>
          <a:solidFill>
            <a:srgbClr val="EEF6FB"/>
          </a:solidFill>
          <a:ln w="12700">
            <a:solidFill>
              <a:srgbClr val="EEF6FB"/>
            </a:solidFill>
            <a:prstDash val="solid"/>
          </a:ln>
        </p:spPr>
        <p:txBody>
          <a:bodyPr/>
          <a:lstStyle/>
          <a:p>
            <a:endParaRPr lang="en-SG"/>
          </a:p>
        </p:txBody>
      </p:sp>
      <p:sp>
        <p:nvSpPr>
          <p:cNvPr id="13" name="Text 11"/>
          <p:cNvSpPr/>
          <p:nvPr/>
        </p:nvSpPr>
        <p:spPr>
          <a:xfrm>
            <a:off x="457200" y="1783080"/>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History</a:t>
            </a:r>
            <a:endParaRPr lang="en-US" sz="850" dirty="0"/>
          </a:p>
        </p:txBody>
      </p:sp>
      <p:sp>
        <p:nvSpPr>
          <p:cNvPr id="14" name="Text 12"/>
          <p:cNvSpPr/>
          <p:nvPr/>
        </p:nvSpPr>
        <p:spPr>
          <a:xfrm>
            <a:off x="1554480" y="1783080"/>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History</a:t>
            </a:r>
            <a:endParaRPr lang="en-US" sz="800" dirty="0"/>
          </a:p>
        </p:txBody>
      </p:sp>
      <p:sp>
        <p:nvSpPr>
          <p:cNvPr id="15" name="Text 13"/>
          <p:cNvSpPr/>
          <p:nvPr/>
        </p:nvSpPr>
        <p:spPr>
          <a:xfrm>
            <a:off x="4206240" y="1783080"/>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16" name="Text 14"/>
          <p:cNvSpPr/>
          <p:nvPr/>
        </p:nvSpPr>
        <p:spPr>
          <a:xfrm>
            <a:off x="6126480" y="1783080"/>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URLs, searches, download history with timestamps — visit_time in WebKit epoch</a:t>
            </a:r>
            <a:endParaRPr lang="en-US" sz="850" dirty="0"/>
          </a:p>
        </p:txBody>
      </p:sp>
      <p:sp>
        <p:nvSpPr>
          <p:cNvPr id="17" name="Shape 15"/>
          <p:cNvSpPr/>
          <p:nvPr/>
        </p:nvSpPr>
        <p:spPr>
          <a:xfrm>
            <a:off x="320040" y="1975104"/>
            <a:ext cx="8503920" cy="182880"/>
          </a:xfrm>
          <a:prstGeom prst="rect">
            <a:avLst/>
          </a:prstGeom>
          <a:solidFill>
            <a:srgbClr val="FFFFFF"/>
          </a:solidFill>
          <a:ln w="12700">
            <a:solidFill>
              <a:srgbClr val="FFFFFF"/>
            </a:solidFill>
            <a:prstDash val="solid"/>
          </a:ln>
        </p:spPr>
        <p:txBody>
          <a:bodyPr/>
          <a:lstStyle/>
          <a:p>
            <a:endParaRPr lang="en-SG"/>
          </a:p>
        </p:txBody>
      </p:sp>
      <p:sp>
        <p:nvSpPr>
          <p:cNvPr id="18" name="Text 16"/>
          <p:cNvSpPr/>
          <p:nvPr/>
        </p:nvSpPr>
        <p:spPr>
          <a:xfrm>
            <a:off x="457200" y="1984248"/>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Bookmarks</a:t>
            </a:r>
            <a:endParaRPr lang="en-US" sz="850" dirty="0"/>
          </a:p>
        </p:txBody>
      </p:sp>
      <p:sp>
        <p:nvSpPr>
          <p:cNvPr id="19" name="Text 17"/>
          <p:cNvSpPr/>
          <p:nvPr/>
        </p:nvSpPr>
        <p:spPr>
          <a:xfrm>
            <a:off x="1554480" y="1984248"/>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Bookmarks</a:t>
            </a:r>
            <a:endParaRPr lang="en-US" sz="800" dirty="0"/>
          </a:p>
        </p:txBody>
      </p:sp>
      <p:sp>
        <p:nvSpPr>
          <p:cNvPr id="20" name="Text 18"/>
          <p:cNvSpPr/>
          <p:nvPr/>
        </p:nvSpPr>
        <p:spPr>
          <a:xfrm>
            <a:off x="4206240" y="1984248"/>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JSON</a:t>
            </a:r>
            <a:endParaRPr lang="en-US" sz="850" dirty="0"/>
          </a:p>
        </p:txBody>
      </p:sp>
      <p:sp>
        <p:nvSpPr>
          <p:cNvPr id="21" name="Text 19"/>
          <p:cNvSpPr/>
          <p:nvPr/>
        </p:nvSpPr>
        <p:spPr>
          <a:xfrm>
            <a:off x="6126480" y="1984248"/>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Saved URLs with date_added and date_last_used</a:t>
            </a:r>
            <a:endParaRPr lang="en-US" sz="850" dirty="0"/>
          </a:p>
        </p:txBody>
      </p:sp>
      <p:sp>
        <p:nvSpPr>
          <p:cNvPr id="22" name="Shape 20"/>
          <p:cNvSpPr/>
          <p:nvPr/>
        </p:nvSpPr>
        <p:spPr>
          <a:xfrm>
            <a:off x="320040" y="2176272"/>
            <a:ext cx="8503920" cy="182880"/>
          </a:xfrm>
          <a:prstGeom prst="rect">
            <a:avLst/>
          </a:prstGeom>
          <a:solidFill>
            <a:srgbClr val="EEF6FB"/>
          </a:solidFill>
          <a:ln w="12700">
            <a:solidFill>
              <a:srgbClr val="EEF6FB"/>
            </a:solidFill>
            <a:prstDash val="solid"/>
          </a:ln>
        </p:spPr>
        <p:txBody>
          <a:bodyPr/>
          <a:lstStyle/>
          <a:p>
            <a:endParaRPr lang="en-SG"/>
          </a:p>
        </p:txBody>
      </p:sp>
      <p:sp>
        <p:nvSpPr>
          <p:cNvPr id="23" name="Text 21"/>
          <p:cNvSpPr/>
          <p:nvPr/>
        </p:nvSpPr>
        <p:spPr>
          <a:xfrm>
            <a:off x="457200" y="2185416"/>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Cookies</a:t>
            </a:r>
            <a:endParaRPr lang="en-US" sz="850" dirty="0"/>
          </a:p>
        </p:txBody>
      </p:sp>
      <p:sp>
        <p:nvSpPr>
          <p:cNvPr id="24" name="Text 22"/>
          <p:cNvSpPr/>
          <p:nvPr/>
        </p:nvSpPr>
        <p:spPr>
          <a:xfrm>
            <a:off x="1554480" y="2185416"/>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Cookies</a:t>
            </a:r>
            <a:endParaRPr lang="en-US" sz="800" dirty="0"/>
          </a:p>
        </p:txBody>
      </p:sp>
      <p:sp>
        <p:nvSpPr>
          <p:cNvPr id="25" name="Text 23"/>
          <p:cNvSpPr/>
          <p:nvPr/>
        </p:nvSpPr>
        <p:spPr>
          <a:xfrm>
            <a:off x="4206240" y="2185416"/>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26" name="Text 24"/>
          <p:cNvSpPr/>
          <p:nvPr/>
        </p:nvSpPr>
        <p:spPr>
          <a:xfrm>
            <a:off x="6126480" y="2185416"/>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Session tokens and auth cookies — proves account logins at specific times</a:t>
            </a:r>
            <a:endParaRPr lang="en-US" sz="850" dirty="0"/>
          </a:p>
        </p:txBody>
      </p:sp>
      <p:sp>
        <p:nvSpPr>
          <p:cNvPr id="27" name="Shape 25"/>
          <p:cNvSpPr/>
          <p:nvPr/>
        </p:nvSpPr>
        <p:spPr>
          <a:xfrm>
            <a:off x="320040" y="2377440"/>
            <a:ext cx="8503920" cy="182880"/>
          </a:xfrm>
          <a:prstGeom prst="rect">
            <a:avLst/>
          </a:prstGeom>
          <a:solidFill>
            <a:srgbClr val="FFFFFF"/>
          </a:solidFill>
          <a:ln w="12700">
            <a:solidFill>
              <a:srgbClr val="FFFFFF"/>
            </a:solidFill>
            <a:prstDash val="solid"/>
          </a:ln>
        </p:spPr>
        <p:txBody>
          <a:bodyPr/>
          <a:lstStyle/>
          <a:p>
            <a:endParaRPr lang="en-SG"/>
          </a:p>
        </p:txBody>
      </p:sp>
      <p:sp>
        <p:nvSpPr>
          <p:cNvPr id="28" name="Text 26"/>
          <p:cNvSpPr/>
          <p:nvPr/>
        </p:nvSpPr>
        <p:spPr>
          <a:xfrm>
            <a:off x="457200" y="2386584"/>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Login Data</a:t>
            </a:r>
            <a:endParaRPr lang="en-US" sz="850" dirty="0"/>
          </a:p>
        </p:txBody>
      </p:sp>
      <p:sp>
        <p:nvSpPr>
          <p:cNvPr id="29" name="Text 27"/>
          <p:cNvSpPr/>
          <p:nvPr/>
        </p:nvSpPr>
        <p:spPr>
          <a:xfrm>
            <a:off x="1554480" y="2386584"/>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Login Data</a:t>
            </a:r>
            <a:endParaRPr lang="en-US" sz="800" dirty="0"/>
          </a:p>
        </p:txBody>
      </p:sp>
      <p:sp>
        <p:nvSpPr>
          <p:cNvPr id="30" name="Text 28"/>
          <p:cNvSpPr/>
          <p:nvPr/>
        </p:nvSpPr>
        <p:spPr>
          <a:xfrm>
            <a:off x="4206240" y="2386584"/>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31" name="Text 29"/>
          <p:cNvSpPr/>
          <p:nvPr/>
        </p:nvSpPr>
        <p:spPr>
          <a:xfrm>
            <a:off x="6126480" y="2386584"/>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Saved passwords (AES-encrypted via DPAPI) — decryptable with user's Windows key</a:t>
            </a:r>
            <a:endParaRPr lang="en-US" sz="850" dirty="0"/>
          </a:p>
        </p:txBody>
      </p:sp>
      <p:sp>
        <p:nvSpPr>
          <p:cNvPr id="32" name="Shape 30"/>
          <p:cNvSpPr/>
          <p:nvPr/>
        </p:nvSpPr>
        <p:spPr>
          <a:xfrm>
            <a:off x="320040" y="2578608"/>
            <a:ext cx="8503920" cy="182880"/>
          </a:xfrm>
          <a:prstGeom prst="rect">
            <a:avLst/>
          </a:prstGeom>
          <a:solidFill>
            <a:srgbClr val="EEF6FB"/>
          </a:solidFill>
          <a:ln w="12700">
            <a:solidFill>
              <a:srgbClr val="EEF6FB"/>
            </a:solidFill>
            <a:prstDash val="solid"/>
          </a:ln>
        </p:spPr>
        <p:txBody>
          <a:bodyPr/>
          <a:lstStyle/>
          <a:p>
            <a:endParaRPr lang="en-SG"/>
          </a:p>
        </p:txBody>
      </p:sp>
      <p:sp>
        <p:nvSpPr>
          <p:cNvPr id="33" name="Text 31"/>
          <p:cNvSpPr/>
          <p:nvPr/>
        </p:nvSpPr>
        <p:spPr>
          <a:xfrm>
            <a:off x="457200" y="2587752"/>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Cache</a:t>
            </a:r>
            <a:endParaRPr lang="en-US" sz="850" dirty="0"/>
          </a:p>
        </p:txBody>
      </p:sp>
      <p:sp>
        <p:nvSpPr>
          <p:cNvPr id="34" name="Text 32"/>
          <p:cNvSpPr/>
          <p:nvPr/>
        </p:nvSpPr>
        <p:spPr>
          <a:xfrm>
            <a:off x="1554480" y="2587752"/>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Cache/</a:t>
            </a:r>
            <a:endParaRPr lang="en-US" sz="800" dirty="0"/>
          </a:p>
        </p:txBody>
      </p:sp>
      <p:sp>
        <p:nvSpPr>
          <p:cNvPr id="35" name="Text 33"/>
          <p:cNvSpPr/>
          <p:nvPr/>
        </p:nvSpPr>
        <p:spPr>
          <a:xfrm>
            <a:off x="4206240" y="2587752"/>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Binary</a:t>
            </a:r>
            <a:endParaRPr lang="en-US" sz="850" dirty="0"/>
          </a:p>
        </p:txBody>
      </p:sp>
      <p:sp>
        <p:nvSpPr>
          <p:cNvPr id="36" name="Text 34"/>
          <p:cNvSpPr/>
          <p:nvPr/>
        </p:nvSpPr>
        <p:spPr>
          <a:xfrm>
            <a:off x="6126480" y="2587752"/>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Cached pages and images — survives manual history clearing</a:t>
            </a:r>
            <a:endParaRPr lang="en-US" sz="850" dirty="0"/>
          </a:p>
        </p:txBody>
      </p:sp>
      <p:sp>
        <p:nvSpPr>
          <p:cNvPr id="37" name="Shape 35"/>
          <p:cNvSpPr/>
          <p:nvPr/>
        </p:nvSpPr>
        <p:spPr>
          <a:xfrm>
            <a:off x="320040" y="2999232"/>
            <a:ext cx="8503920" cy="1353312"/>
          </a:xfrm>
          <a:prstGeom prst="rect">
            <a:avLst/>
          </a:prstGeom>
          <a:solidFill>
            <a:srgbClr val="EEF6FB"/>
          </a:solidFill>
          <a:ln w="12700">
            <a:solidFill>
              <a:srgbClr val="EEF6FB"/>
            </a:solidFill>
            <a:prstDash val="solid"/>
          </a:ln>
        </p:spPr>
        <p:txBody>
          <a:bodyPr/>
          <a:lstStyle/>
          <a:p>
            <a:endParaRPr lang="en-SG"/>
          </a:p>
        </p:txBody>
      </p:sp>
      <p:sp>
        <p:nvSpPr>
          <p:cNvPr id="38" name="Shape 36"/>
          <p:cNvSpPr/>
          <p:nvPr/>
        </p:nvSpPr>
        <p:spPr>
          <a:xfrm>
            <a:off x="320040" y="2999232"/>
            <a:ext cx="8503920" cy="256032"/>
          </a:xfrm>
          <a:prstGeom prst="rect">
            <a:avLst/>
          </a:prstGeom>
          <a:solidFill>
            <a:srgbClr val="00B4D8"/>
          </a:solidFill>
          <a:ln w="12700">
            <a:solidFill>
              <a:srgbClr val="00B4D8"/>
            </a:solidFill>
            <a:prstDash val="solid"/>
          </a:ln>
        </p:spPr>
        <p:txBody>
          <a:bodyPr/>
          <a:lstStyle/>
          <a:p>
            <a:endParaRPr lang="en-SG"/>
          </a:p>
        </p:txBody>
      </p:sp>
      <p:sp>
        <p:nvSpPr>
          <p:cNvPr id="39" name="Text 37"/>
          <p:cNvSpPr/>
          <p:nvPr/>
        </p:nvSpPr>
        <p:spPr>
          <a:xfrm>
            <a:off x="438912" y="2999232"/>
            <a:ext cx="8229600" cy="256032"/>
          </a:xfrm>
          <a:prstGeom prst="rect">
            <a:avLst/>
          </a:prstGeom>
          <a:noFill/>
          <a:ln/>
        </p:spPr>
        <p:txBody>
          <a:bodyPr wrap="square" lIns="0" tIns="0" rIns="0" bIns="0" rtlCol="0" anchor="ctr"/>
          <a:lstStyle/>
          <a:p>
            <a:pPr marL="0" indent="0">
              <a:buNone/>
            </a:pPr>
            <a:r>
              <a:rPr lang="en-US" sz="1000" b="1" dirty="0">
                <a:solidFill>
                  <a:srgbClr val="060E17"/>
                </a:solidFill>
                <a:latin typeface="Calibri" pitchFamily="34" charset="0"/>
                <a:ea typeface="Calibri" pitchFamily="34" charset="-122"/>
                <a:cs typeface="Calibri" pitchFamily="34" charset="-120"/>
              </a:rPr>
              <a:t>🔵  Microsoft Edge (Chromium)  —  Base: %LOCALAPPDATA%\Microsoft\Edge\User Data\Default\</a:t>
            </a:r>
            <a:endParaRPr lang="en-US" sz="1000" dirty="0"/>
          </a:p>
        </p:txBody>
      </p:sp>
      <p:sp>
        <p:nvSpPr>
          <p:cNvPr id="40" name="Text 38"/>
          <p:cNvSpPr/>
          <p:nvPr/>
        </p:nvSpPr>
        <p:spPr>
          <a:xfrm>
            <a:off x="457200" y="329184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Artefact</a:t>
            </a:r>
            <a:endParaRPr lang="en-US" sz="900" dirty="0"/>
          </a:p>
        </p:txBody>
      </p:sp>
      <p:sp>
        <p:nvSpPr>
          <p:cNvPr id="41" name="Text 39"/>
          <p:cNvSpPr/>
          <p:nvPr/>
        </p:nvSpPr>
        <p:spPr>
          <a:xfrm>
            <a:off x="1554480" y="329184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File</a:t>
            </a:r>
            <a:endParaRPr lang="en-US" sz="900" dirty="0"/>
          </a:p>
        </p:txBody>
      </p:sp>
      <p:sp>
        <p:nvSpPr>
          <p:cNvPr id="42" name="Text 40"/>
          <p:cNvSpPr/>
          <p:nvPr/>
        </p:nvSpPr>
        <p:spPr>
          <a:xfrm>
            <a:off x="4206240" y="329184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Format</a:t>
            </a:r>
            <a:endParaRPr lang="en-US" sz="900" dirty="0"/>
          </a:p>
        </p:txBody>
      </p:sp>
      <p:sp>
        <p:nvSpPr>
          <p:cNvPr id="43" name="Text 41"/>
          <p:cNvSpPr/>
          <p:nvPr/>
        </p:nvSpPr>
        <p:spPr>
          <a:xfrm>
            <a:off x="6126480" y="3291840"/>
            <a:ext cx="1828800" cy="201168"/>
          </a:xfrm>
          <a:prstGeom prst="rect">
            <a:avLst/>
          </a:prstGeom>
          <a:noFill/>
          <a:ln/>
        </p:spPr>
        <p:txBody>
          <a:bodyPr wrap="square" lIns="0" tIns="0" rIns="0" bIns="0"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Forensic Value</a:t>
            </a:r>
            <a:endParaRPr lang="en-US" sz="900" dirty="0"/>
          </a:p>
        </p:txBody>
      </p:sp>
      <p:sp>
        <p:nvSpPr>
          <p:cNvPr id="44" name="Shape 42"/>
          <p:cNvSpPr/>
          <p:nvPr/>
        </p:nvSpPr>
        <p:spPr>
          <a:xfrm>
            <a:off x="320040" y="3511296"/>
            <a:ext cx="8503920" cy="182880"/>
          </a:xfrm>
          <a:prstGeom prst="rect">
            <a:avLst/>
          </a:prstGeom>
          <a:solidFill>
            <a:srgbClr val="EEF6FB"/>
          </a:solidFill>
          <a:ln w="12700">
            <a:solidFill>
              <a:srgbClr val="EEF6FB"/>
            </a:solidFill>
            <a:prstDash val="solid"/>
          </a:ln>
        </p:spPr>
        <p:txBody>
          <a:bodyPr/>
          <a:lstStyle/>
          <a:p>
            <a:endParaRPr lang="en-SG"/>
          </a:p>
        </p:txBody>
      </p:sp>
      <p:sp>
        <p:nvSpPr>
          <p:cNvPr id="45" name="Text 43"/>
          <p:cNvSpPr/>
          <p:nvPr/>
        </p:nvSpPr>
        <p:spPr>
          <a:xfrm>
            <a:off x="457200" y="3520440"/>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History</a:t>
            </a:r>
            <a:endParaRPr lang="en-US" sz="850" dirty="0"/>
          </a:p>
        </p:txBody>
      </p:sp>
      <p:sp>
        <p:nvSpPr>
          <p:cNvPr id="46" name="Text 44"/>
          <p:cNvSpPr/>
          <p:nvPr/>
        </p:nvSpPr>
        <p:spPr>
          <a:xfrm>
            <a:off x="1554480" y="3520440"/>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History</a:t>
            </a:r>
            <a:endParaRPr lang="en-US" sz="800" dirty="0"/>
          </a:p>
        </p:txBody>
      </p:sp>
      <p:sp>
        <p:nvSpPr>
          <p:cNvPr id="47" name="Text 45"/>
          <p:cNvSpPr/>
          <p:nvPr/>
        </p:nvSpPr>
        <p:spPr>
          <a:xfrm>
            <a:off x="4206240" y="3520440"/>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48" name="Text 46"/>
          <p:cNvSpPr/>
          <p:nvPr/>
        </p:nvSpPr>
        <p:spPr>
          <a:xfrm>
            <a:off x="6126480" y="3520440"/>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Same schema as Chrome — URL visits with timestamps</a:t>
            </a:r>
            <a:endParaRPr lang="en-US" sz="850" dirty="0"/>
          </a:p>
        </p:txBody>
      </p:sp>
      <p:sp>
        <p:nvSpPr>
          <p:cNvPr id="49" name="Shape 47"/>
          <p:cNvSpPr/>
          <p:nvPr/>
        </p:nvSpPr>
        <p:spPr>
          <a:xfrm>
            <a:off x="320040" y="3712464"/>
            <a:ext cx="8503920" cy="182880"/>
          </a:xfrm>
          <a:prstGeom prst="rect">
            <a:avLst/>
          </a:prstGeom>
          <a:solidFill>
            <a:srgbClr val="FFFFFF"/>
          </a:solidFill>
          <a:ln w="12700">
            <a:solidFill>
              <a:srgbClr val="FFFFFF"/>
            </a:solidFill>
            <a:prstDash val="solid"/>
          </a:ln>
        </p:spPr>
        <p:txBody>
          <a:bodyPr/>
          <a:lstStyle/>
          <a:p>
            <a:endParaRPr lang="en-SG"/>
          </a:p>
        </p:txBody>
      </p:sp>
      <p:sp>
        <p:nvSpPr>
          <p:cNvPr id="50" name="Text 48"/>
          <p:cNvSpPr/>
          <p:nvPr/>
        </p:nvSpPr>
        <p:spPr>
          <a:xfrm>
            <a:off x="457200" y="3721608"/>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Cookies</a:t>
            </a:r>
            <a:endParaRPr lang="en-US" sz="850" dirty="0"/>
          </a:p>
        </p:txBody>
      </p:sp>
      <p:sp>
        <p:nvSpPr>
          <p:cNvPr id="51" name="Text 49"/>
          <p:cNvSpPr/>
          <p:nvPr/>
        </p:nvSpPr>
        <p:spPr>
          <a:xfrm>
            <a:off x="1554480" y="3721608"/>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Cookies</a:t>
            </a:r>
            <a:endParaRPr lang="en-US" sz="800" dirty="0"/>
          </a:p>
        </p:txBody>
      </p:sp>
      <p:sp>
        <p:nvSpPr>
          <p:cNvPr id="52" name="Text 50"/>
          <p:cNvSpPr/>
          <p:nvPr/>
        </p:nvSpPr>
        <p:spPr>
          <a:xfrm>
            <a:off x="4206240" y="3721608"/>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53" name="Text 51"/>
          <p:cNvSpPr/>
          <p:nvPr/>
        </p:nvSpPr>
        <p:spPr>
          <a:xfrm>
            <a:off x="6126480" y="3721608"/>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Session tokens and tracking identifiers</a:t>
            </a:r>
            <a:endParaRPr lang="en-US" sz="850" dirty="0"/>
          </a:p>
        </p:txBody>
      </p:sp>
      <p:sp>
        <p:nvSpPr>
          <p:cNvPr id="54" name="Shape 52"/>
          <p:cNvSpPr/>
          <p:nvPr/>
        </p:nvSpPr>
        <p:spPr>
          <a:xfrm>
            <a:off x="320040" y="3913632"/>
            <a:ext cx="8503920" cy="182880"/>
          </a:xfrm>
          <a:prstGeom prst="rect">
            <a:avLst/>
          </a:prstGeom>
          <a:solidFill>
            <a:srgbClr val="EEF6FB"/>
          </a:solidFill>
          <a:ln w="12700">
            <a:solidFill>
              <a:srgbClr val="EEF6FB"/>
            </a:solidFill>
            <a:prstDash val="solid"/>
          </a:ln>
        </p:spPr>
        <p:txBody>
          <a:bodyPr/>
          <a:lstStyle/>
          <a:p>
            <a:endParaRPr lang="en-SG"/>
          </a:p>
        </p:txBody>
      </p:sp>
      <p:sp>
        <p:nvSpPr>
          <p:cNvPr id="55" name="Text 53"/>
          <p:cNvSpPr/>
          <p:nvPr/>
        </p:nvSpPr>
        <p:spPr>
          <a:xfrm>
            <a:off x="457200" y="3922776"/>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Login Data</a:t>
            </a:r>
            <a:endParaRPr lang="en-US" sz="850" dirty="0"/>
          </a:p>
        </p:txBody>
      </p:sp>
      <p:sp>
        <p:nvSpPr>
          <p:cNvPr id="56" name="Text 54"/>
          <p:cNvSpPr/>
          <p:nvPr/>
        </p:nvSpPr>
        <p:spPr>
          <a:xfrm>
            <a:off x="1554480" y="3922776"/>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Login Data</a:t>
            </a:r>
            <a:endParaRPr lang="en-US" sz="800" dirty="0"/>
          </a:p>
        </p:txBody>
      </p:sp>
      <p:sp>
        <p:nvSpPr>
          <p:cNvPr id="57" name="Text 55"/>
          <p:cNvSpPr/>
          <p:nvPr/>
        </p:nvSpPr>
        <p:spPr>
          <a:xfrm>
            <a:off x="4206240" y="3922776"/>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58" name="Text 56"/>
          <p:cNvSpPr/>
          <p:nvPr/>
        </p:nvSpPr>
        <p:spPr>
          <a:xfrm>
            <a:off x="6126480" y="3922776"/>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Saved passwords encrypted via Windows DPAPI</a:t>
            </a:r>
            <a:endParaRPr lang="en-US" sz="850" dirty="0"/>
          </a:p>
        </p:txBody>
      </p:sp>
      <p:sp>
        <p:nvSpPr>
          <p:cNvPr id="59" name="Shape 57"/>
          <p:cNvSpPr/>
          <p:nvPr/>
        </p:nvSpPr>
        <p:spPr>
          <a:xfrm>
            <a:off x="320040" y="4114800"/>
            <a:ext cx="8503920" cy="182880"/>
          </a:xfrm>
          <a:prstGeom prst="rect">
            <a:avLst/>
          </a:prstGeom>
          <a:solidFill>
            <a:srgbClr val="FFFFFF"/>
          </a:solidFill>
          <a:ln w="12700">
            <a:solidFill>
              <a:srgbClr val="FFFFFF"/>
            </a:solidFill>
            <a:prstDash val="solid"/>
          </a:ln>
        </p:spPr>
        <p:txBody>
          <a:bodyPr/>
          <a:lstStyle/>
          <a:p>
            <a:endParaRPr lang="en-SG"/>
          </a:p>
        </p:txBody>
      </p:sp>
      <p:sp>
        <p:nvSpPr>
          <p:cNvPr id="60" name="Text 58"/>
          <p:cNvSpPr/>
          <p:nvPr/>
        </p:nvSpPr>
        <p:spPr>
          <a:xfrm>
            <a:off x="457200" y="4123944"/>
            <a:ext cx="1005840" cy="164592"/>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Legacy IE</a:t>
            </a:r>
            <a:endParaRPr lang="en-US" sz="850" dirty="0"/>
          </a:p>
        </p:txBody>
      </p:sp>
      <p:sp>
        <p:nvSpPr>
          <p:cNvPr id="61" name="Text 59"/>
          <p:cNvSpPr/>
          <p:nvPr/>
        </p:nvSpPr>
        <p:spPr>
          <a:xfrm>
            <a:off x="1554480" y="4123944"/>
            <a:ext cx="2560320" cy="164592"/>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WebCacheV01.dat</a:t>
            </a:r>
            <a:endParaRPr lang="en-US" sz="800" dirty="0"/>
          </a:p>
        </p:txBody>
      </p:sp>
      <p:sp>
        <p:nvSpPr>
          <p:cNvPr id="62" name="Text 60"/>
          <p:cNvSpPr/>
          <p:nvPr/>
        </p:nvSpPr>
        <p:spPr>
          <a:xfrm>
            <a:off x="4206240" y="4123944"/>
            <a:ext cx="1828800" cy="164592"/>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ESE DB</a:t>
            </a:r>
            <a:endParaRPr lang="en-US" sz="850" dirty="0"/>
          </a:p>
        </p:txBody>
      </p:sp>
      <p:sp>
        <p:nvSpPr>
          <p:cNvPr id="63" name="Text 61"/>
          <p:cNvSpPr/>
          <p:nvPr/>
        </p:nvSpPr>
        <p:spPr>
          <a:xfrm>
            <a:off x="6126480" y="4123944"/>
            <a:ext cx="256032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Old Edge / IE history — use ESEDatabaseView (Nirsoft)</a:t>
            </a:r>
            <a:endParaRPr lang="en-US" sz="850" dirty="0"/>
          </a:p>
        </p:txBody>
      </p:sp>
      <p:sp>
        <p:nvSpPr>
          <p:cNvPr id="64" name="Shape 62"/>
          <p:cNvSpPr/>
          <p:nvPr/>
        </p:nvSpPr>
        <p:spPr>
          <a:xfrm>
            <a:off x="320040" y="4462272"/>
            <a:ext cx="8503920" cy="402336"/>
          </a:xfrm>
          <a:prstGeom prst="rect">
            <a:avLst/>
          </a:prstGeom>
          <a:solidFill>
            <a:srgbClr val="FFFFFF"/>
          </a:solidFill>
          <a:ln w="12700">
            <a:solidFill>
              <a:srgbClr val="00B4D8"/>
            </a:solidFill>
            <a:prstDash val="solid"/>
          </a:ln>
        </p:spPr>
        <p:txBody>
          <a:bodyPr/>
          <a:lstStyle/>
          <a:p>
            <a:endParaRPr lang="en-SG"/>
          </a:p>
        </p:txBody>
      </p:sp>
      <p:sp>
        <p:nvSpPr>
          <p:cNvPr id="65" name="Text 63"/>
          <p:cNvSpPr/>
          <p:nvPr/>
        </p:nvSpPr>
        <p:spPr>
          <a:xfrm>
            <a:off x="457200" y="4498848"/>
            <a:ext cx="8229600" cy="329184"/>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  Chrome History SQLite example:  url=https://mail.google.com/send  |  visit_time=13316342583000000  (= 2026-03-12 14:23:03 UTC)  |  visit_count=3</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A855F7"/>
          </a:solidFill>
          <a:ln w="12700">
            <a:solidFill>
              <a:srgbClr val="A855F7"/>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5 · BROWSER FORENSICS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Safari Artefacts &amp; Browser Forensic Tools</a:t>
            </a:r>
            <a:endParaRPr lang="en-US" sz="2800" dirty="0"/>
          </a:p>
        </p:txBody>
      </p:sp>
      <p:sp>
        <p:nvSpPr>
          <p:cNvPr id="5" name="Shape 3"/>
          <p:cNvSpPr/>
          <p:nvPr/>
        </p:nvSpPr>
        <p:spPr>
          <a:xfrm>
            <a:off x="320040" y="1298448"/>
            <a:ext cx="4160520" cy="2212848"/>
          </a:xfrm>
          <a:prstGeom prst="rect">
            <a:avLst/>
          </a:prstGeom>
          <a:solidFill>
            <a:srgbClr val="EEF6FB"/>
          </a:solidFill>
          <a:ln w="12700">
            <a:solidFill>
              <a:srgbClr val="F4A261"/>
            </a:solidFill>
            <a:prstDash val="solid"/>
          </a:ln>
        </p:spPr>
        <p:txBody>
          <a:bodyPr/>
          <a:lstStyle/>
          <a:p>
            <a:endParaRPr lang="en-SG"/>
          </a:p>
        </p:txBody>
      </p:sp>
      <p:sp>
        <p:nvSpPr>
          <p:cNvPr id="6" name="Shape 4"/>
          <p:cNvSpPr/>
          <p:nvPr/>
        </p:nvSpPr>
        <p:spPr>
          <a:xfrm>
            <a:off x="320040" y="1298448"/>
            <a:ext cx="4160520" cy="256032"/>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438912" y="1298448"/>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Apple Safari — Artefact Locations</a:t>
            </a:r>
            <a:endParaRPr lang="en-US" sz="1100" dirty="0"/>
          </a:p>
        </p:txBody>
      </p:sp>
      <p:sp>
        <p:nvSpPr>
          <p:cNvPr id="8" name="Text 6"/>
          <p:cNvSpPr/>
          <p:nvPr/>
        </p:nvSpPr>
        <p:spPr>
          <a:xfrm>
            <a:off x="457200" y="1609344"/>
            <a:ext cx="3931920" cy="182880"/>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macOS: ~/Library/Safari/  |  iOS: com.apple.mobilesafari</a:t>
            </a:r>
            <a:endParaRPr lang="en-US" sz="800" dirty="0"/>
          </a:p>
        </p:txBody>
      </p:sp>
      <p:sp>
        <p:nvSpPr>
          <p:cNvPr id="9" name="Text 7"/>
          <p:cNvSpPr/>
          <p:nvPr/>
        </p:nvSpPr>
        <p:spPr>
          <a:xfrm>
            <a:off x="457200" y="1828800"/>
            <a:ext cx="164592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History.db</a:t>
            </a:r>
            <a:endParaRPr lang="en-US" sz="850" dirty="0"/>
          </a:p>
        </p:txBody>
      </p:sp>
      <p:sp>
        <p:nvSpPr>
          <p:cNvPr id="10" name="Text 8"/>
          <p:cNvSpPr/>
          <p:nvPr/>
        </p:nvSpPr>
        <p:spPr>
          <a:xfrm>
            <a:off x="2139696" y="1828800"/>
            <a:ext cx="548640" cy="274320"/>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11" name="Text 9"/>
          <p:cNvSpPr/>
          <p:nvPr/>
        </p:nvSpPr>
        <p:spPr>
          <a:xfrm>
            <a:off x="2724912" y="1828800"/>
            <a:ext cx="1645920" cy="27432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URL visits with timestamps (Mac absolute time: secs since 2001-01-01)</a:t>
            </a:r>
            <a:endParaRPr lang="en-US" sz="850" dirty="0"/>
          </a:p>
        </p:txBody>
      </p:sp>
      <p:sp>
        <p:nvSpPr>
          <p:cNvPr id="12" name="Text 10"/>
          <p:cNvSpPr/>
          <p:nvPr/>
        </p:nvSpPr>
        <p:spPr>
          <a:xfrm>
            <a:off x="457200" y="2157984"/>
            <a:ext cx="164592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Bookmarks.plist</a:t>
            </a:r>
            <a:endParaRPr lang="en-US" sz="850" dirty="0"/>
          </a:p>
        </p:txBody>
      </p:sp>
      <p:sp>
        <p:nvSpPr>
          <p:cNvPr id="13" name="Text 11"/>
          <p:cNvSpPr/>
          <p:nvPr/>
        </p:nvSpPr>
        <p:spPr>
          <a:xfrm>
            <a:off x="2139696" y="2157984"/>
            <a:ext cx="548640" cy="274320"/>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plist</a:t>
            </a:r>
            <a:endParaRPr lang="en-US" sz="850" dirty="0"/>
          </a:p>
        </p:txBody>
      </p:sp>
      <p:sp>
        <p:nvSpPr>
          <p:cNvPr id="14" name="Text 12"/>
          <p:cNvSpPr/>
          <p:nvPr/>
        </p:nvSpPr>
        <p:spPr>
          <a:xfrm>
            <a:off x="2724912" y="2157984"/>
            <a:ext cx="1645920" cy="27432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Saved bookmarks and Reading List</a:t>
            </a:r>
            <a:endParaRPr lang="en-US" sz="850" dirty="0"/>
          </a:p>
        </p:txBody>
      </p:sp>
      <p:sp>
        <p:nvSpPr>
          <p:cNvPr id="15" name="Text 13"/>
          <p:cNvSpPr/>
          <p:nvPr/>
        </p:nvSpPr>
        <p:spPr>
          <a:xfrm>
            <a:off x="457200" y="2487168"/>
            <a:ext cx="164592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Cookies.binarycookies</a:t>
            </a:r>
            <a:endParaRPr lang="en-US" sz="850" dirty="0"/>
          </a:p>
        </p:txBody>
      </p:sp>
      <p:sp>
        <p:nvSpPr>
          <p:cNvPr id="16" name="Text 14"/>
          <p:cNvSpPr/>
          <p:nvPr/>
        </p:nvSpPr>
        <p:spPr>
          <a:xfrm>
            <a:off x="2139696" y="2487168"/>
            <a:ext cx="548640" cy="274320"/>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Binary</a:t>
            </a:r>
            <a:endParaRPr lang="en-US" sz="850" dirty="0"/>
          </a:p>
        </p:txBody>
      </p:sp>
      <p:sp>
        <p:nvSpPr>
          <p:cNvPr id="17" name="Text 15"/>
          <p:cNvSpPr/>
          <p:nvPr/>
        </p:nvSpPr>
        <p:spPr>
          <a:xfrm>
            <a:off x="2724912" y="2487168"/>
            <a:ext cx="1645920" cy="27432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All cookies — decode with BinaryCookieReader</a:t>
            </a:r>
            <a:endParaRPr lang="en-US" sz="850" dirty="0"/>
          </a:p>
        </p:txBody>
      </p:sp>
      <p:sp>
        <p:nvSpPr>
          <p:cNvPr id="18" name="Text 16"/>
          <p:cNvSpPr/>
          <p:nvPr/>
        </p:nvSpPr>
        <p:spPr>
          <a:xfrm>
            <a:off x="457200" y="2816352"/>
            <a:ext cx="164592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Cache.db</a:t>
            </a:r>
            <a:endParaRPr lang="en-US" sz="850" dirty="0"/>
          </a:p>
        </p:txBody>
      </p:sp>
      <p:sp>
        <p:nvSpPr>
          <p:cNvPr id="19" name="Text 17"/>
          <p:cNvSpPr/>
          <p:nvPr/>
        </p:nvSpPr>
        <p:spPr>
          <a:xfrm>
            <a:off x="2139696" y="2816352"/>
            <a:ext cx="548640" cy="274320"/>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SQLite</a:t>
            </a:r>
            <a:endParaRPr lang="en-US" sz="850" dirty="0"/>
          </a:p>
        </p:txBody>
      </p:sp>
      <p:sp>
        <p:nvSpPr>
          <p:cNvPr id="20" name="Text 18"/>
          <p:cNvSpPr/>
          <p:nvPr/>
        </p:nvSpPr>
        <p:spPr>
          <a:xfrm>
            <a:off x="2724912" y="2816352"/>
            <a:ext cx="1645920" cy="27432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Cached page content</a:t>
            </a:r>
            <a:endParaRPr lang="en-US" sz="850" dirty="0"/>
          </a:p>
        </p:txBody>
      </p:sp>
      <p:sp>
        <p:nvSpPr>
          <p:cNvPr id="21" name="Text 19"/>
          <p:cNvSpPr/>
          <p:nvPr/>
        </p:nvSpPr>
        <p:spPr>
          <a:xfrm>
            <a:off x="457200" y="3145536"/>
            <a:ext cx="164592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Downloads.plist</a:t>
            </a:r>
            <a:endParaRPr lang="en-US" sz="850" dirty="0"/>
          </a:p>
        </p:txBody>
      </p:sp>
      <p:sp>
        <p:nvSpPr>
          <p:cNvPr id="22" name="Text 20"/>
          <p:cNvSpPr/>
          <p:nvPr/>
        </p:nvSpPr>
        <p:spPr>
          <a:xfrm>
            <a:off x="2139696" y="3145536"/>
            <a:ext cx="548640" cy="274320"/>
          </a:xfrm>
          <a:prstGeom prst="rect">
            <a:avLst/>
          </a:prstGeom>
          <a:noFill/>
          <a:ln/>
        </p:spPr>
        <p:txBody>
          <a:bodyPr wrap="square" lIns="0" tIns="0" rIns="0" bIns="0" rtlCol="0" anchor="ctr"/>
          <a:lstStyle/>
          <a:p>
            <a:pPr marL="0" indent="0">
              <a:buNone/>
            </a:pPr>
            <a:r>
              <a:rPr lang="en-US" sz="850" dirty="0">
                <a:solidFill>
                  <a:srgbClr val="8899AA"/>
                </a:solidFill>
                <a:latin typeface="Calibri" pitchFamily="34" charset="0"/>
                <a:ea typeface="Calibri" pitchFamily="34" charset="-122"/>
                <a:cs typeface="Calibri" pitchFamily="34" charset="-120"/>
              </a:rPr>
              <a:t>plist</a:t>
            </a:r>
            <a:endParaRPr lang="en-US" sz="850" dirty="0"/>
          </a:p>
        </p:txBody>
      </p:sp>
      <p:sp>
        <p:nvSpPr>
          <p:cNvPr id="23" name="Text 21"/>
          <p:cNvSpPr/>
          <p:nvPr/>
        </p:nvSpPr>
        <p:spPr>
          <a:xfrm>
            <a:off x="2724912" y="3145536"/>
            <a:ext cx="1645920" cy="274320"/>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File download history with source URLs</a:t>
            </a:r>
            <a:endParaRPr lang="en-US" sz="850" dirty="0"/>
          </a:p>
        </p:txBody>
      </p:sp>
      <p:sp>
        <p:nvSpPr>
          <p:cNvPr id="24" name="Shape 22"/>
          <p:cNvSpPr/>
          <p:nvPr/>
        </p:nvSpPr>
        <p:spPr>
          <a:xfrm>
            <a:off x="4663440" y="1298448"/>
            <a:ext cx="4160520" cy="2212848"/>
          </a:xfrm>
          <a:prstGeom prst="rect">
            <a:avLst/>
          </a:prstGeom>
          <a:solidFill>
            <a:srgbClr val="EEF6FB"/>
          </a:solidFill>
          <a:ln w="12700">
            <a:solidFill>
              <a:srgbClr val="A855F7"/>
            </a:solidFill>
            <a:prstDash val="solid"/>
          </a:ln>
        </p:spPr>
        <p:txBody>
          <a:bodyPr/>
          <a:lstStyle/>
          <a:p>
            <a:endParaRPr lang="en-SG"/>
          </a:p>
        </p:txBody>
      </p:sp>
      <p:sp>
        <p:nvSpPr>
          <p:cNvPr id="25" name="Shape 23"/>
          <p:cNvSpPr/>
          <p:nvPr/>
        </p:nvSpPr>
        <p:spPr>
          <a:xfrm>
            <a:off x="4663440" y="1298448"/>
            <a:ext cx="4160520" cy="256032"/>
          </a:xfrm>
          <a:prstGeom prst="rect">
            <a:avLst/>
          </a:prstGeom>
          <a:solidFill>
            <a:srgbClr val="A855F7"/>
          </a:solidFill>
          <a:ln w="12700">
            <a:solidFill>
              <a:srgbClr val="A855F7"/>
            </a:solidFill>
            <a:prstDash val="solid"/>
          </a:ln>
        </p:spPr>
        <p:txBody>
          <a:bodyPr/>
          <a:lstStyle/>
          <a:p>
            <a:endParaRPr lang="en-SG"/>
          </a:p>
        </p:txBody>
      </p:sp>
      <p:sp>
        <p:nvSpPr>
          <p:cNvPr id="26" name="Text 24"/>
          <p:cNvSpPr/>
          <p:nvPr/>
        </p:nvSpPr>
        <p:spPr>
          <a:xfrm>
            <a:off x="4773168" y="1298448"/>
            <a:ext cx="39319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Browser Forensic Tools</a:t>
            </a:r>
            <a:endParaRPr lang="en-US" sz="1100" dirty="0"/>
          </a:p>
        </p:txBody>
      </p:sp>
      <p:sp>
        <p:nvSpPr>
          <p:cNvPr id="27" name="Text 25"/>
          <p:cNvSpPr/>
          <p:nvPr/>
        </p:nvSpPr>
        <p:spPr>
          <a:xfrm>
            <a:off x="4791456" y="1627632"/>
            <a:ext cx="1737360"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Hindsight</a:t>
            </a:r>
            <a:endParaRPr lang="en-US" sz="900" dirty="0"/>
          </a:p>
        </p:txBody>
      </p:sp>
      <p:sp>
        <p:nvSpPr>
          <p:cNvPr id="28" name="Text 26"/>
          <p:cNvSpPr/>
          <p:nvPr/>
        </p:nvSpPr>
        <p:spPr>
          <a:xfrm>
            <a:off x="6565392" y="1627632"/>
            <a:ext cx="1097280" cy="201168"/>
          </a:xfrm>
          <a:prstGeom prst="rect">
            <a:avLst/>
          </a:prstGeom>
          <a:noFill/>
          <a:ln/>
        </p:spPr>
        <p:txBody>
          <a:bodyPr wrap="square" lIns="0" tIns="0" rIns="0" bIns="0" rtlCol="0" anchor="ctr"/>
          <a:lstStyle/>
          <a:p>
            <a:pPr marL="0" indent="0">
              <a:buNone/>
            </a:pPr>
            <a:r>
              <a:rPr lang="en-US" sz="750" dirty="0">
                <a:solidFill>
                  <a:srgbClr val="8899AA"/>
                </a:solidFill>
                <a:latin typeface="Calibri" pitchFamily="34" charset="0"/>
                <a:ea typeface="Calibri" pitchFamily="34" charset="-122"/>
                <a:cs typeface="Calibri" pitchFamily="34" charset="-120"/>
              </a:rPr>
              <a:t>Chrome/Chromium</a:t>
            </a:r>
            <a:endParaRPr lang="en-US" sz="750" dirty="0"/>
          </a:p>
        </p:txBody>
      </p:sp>
      <p:sp>
        <p:nvSpPr>
          <p:cNvPr id="29" name="Text 27"/>
          <p:cNvSpPr/>
          <p:nvPr/>
        </p:nvSpPr>
        <p:spPr>
          <a:xfrm>
            <a:off x="4791456" y="1828800"/>
            <a:ext cx="3931920" cy="164592"/>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Parses all Chrome/Edge databases; exports structured XLSX report</a:t>
            </a:r>
            <a:endParaRPr lang="en-US" sz="800" dirty="0"/>
          </a:p>
        </p:txBody>
      </p:sp>
      <p:sp>
        <p:nvSpPr>
          <p:cNvPr id="30" name="Text 28"/>
          <p:cNvSpPr/>
          <p:nvPr/>
        </p:nvSpPr>
        <p:spPr>
          <a:xfrm>
            <a:off x="4791456" y="2011680"/>
            <a:ext cx="1737360"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DB Browser for SQLite</a:t>
            </a:r>
            <a:endParaRPr lang="en-US" sz="900" dirty="0"/>
          </a:p>
        </p:txBody>
      </p:sp>
      <p:sp>
        <p:nvSpPr>
          <p:cNvPr id="31" name="Text 29"/>
          <p:cNvSpPr/>
          <p:nvPr/>
        </p:nvSpPr>
        <p:spPr>
          <a:xfrm>
            <a:off x="6565392" y="2011680"/>
            <a:ext cx="1097280" cy="201168"/>
          </a:xfrm>
          <a:prstGeom prst="rect">
            <a:avLst/>
          </a:prstGeom>
          <a:noFill/>
          <a:ln/>
        </p:spPr>
        <p:txBody>
          <a:bodyPr wrap="square" lIns="0" tIns="0" rIns="0" bIns="0" rtlCol="0" anchor="ctr"/>
          <a:lstStyle/>
          <a:p>
            <a:pPr marL="0" indent="0">
              <a:buNone/>
            </a:pPr>
            <a:r>
              <a:rPr lang="en-US" sz="750" dirty="0">
                <a:solidFill>
                  <a:srgbClr val="8899AA"/>
                </a:solidFill>
                <a:latin typeface="Calibri" pitchFamily="34" charset="0"/>
                <a:ea typeface="Calibri" pitchFamily="34" charset="-122"/>
                <a:cs typeface="Calibri" pitchFamily="34" charset="-120"/>
              </a:rPr>
              <a:t>Manual analysis</a:t>
            </a:r>
            <a:endParaRPr lang="en-US" sz="750" dirty="0"/>
          </a:p>
        </p:txBody>
      </p:sp>
      <p:sp>
        <p:nvSpPr>
          <p:cNvPr id="32" name="Text 30"/>
          <p:cNvSpPr/>
          <p:nvPr/>
        </p:nvSpPr>
        <p:spPr>
          <a:xfrm>
            <a:off x="4791456" y="2212848"/>
            <a:ext cx="3931920" cy="164592"/>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View and query SQLite databases from any browser</a:t>
            </a:r>
            <a:endParaRPr lang="en-US" sz="800" dirty="0"/>
          </a:p>
        </p:txBody>
      </p:sp>
      <p:sp>
        <p:nvSpPr>
          <p:cNvPr id="33" name="Text 31"/>
          <p:cNvSpPr/>
          <p:nvPr/>
        </p:nvSpPr>
        <p:spPr>
          <a:xfrm>
            <a:off x="4791456" y="2395728"/>
            <a:ext cx="1737360"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BinaryCookieReader</a:t>
            </a:r>
            <a:endParaRPr lang="en-US" sz="900" dirty="0"/>
          </a:p>
        </p:txBody>
      </p:sp>
      <p:sp>
        <p:nvSpPr>
          <p:cNvPr id="34" name="Text 32"/>
          <p:cNvSpPr/>
          <p:nvPr/>
        </p:nvSpPr>
        <p:spPr>
          <a:xfrm>
            <a:off x="6565392" y="2395728"/>
            <a:ext cx="1097280" cy="201168"/>
          </a:xfrm>
          <a:prstGeom prst="rect">
            <a:avLst/>
          </a:prstGeom>
          <a:noFill/>
          <a:ln/>
        </p:spPr>
        <p:txBody>
          <a:bodyPr wrap="square" lIns="0" tIns="0" rIns="0" bIns="0" rtlCol="0" anchor="ctr"/>
          <a:lstStyle/>
          <a:p>
            <a:pPr marL="0" indent="0">
              <a:buNone/>
            </a:pPr>
            <a:r>
              <a:rPr lang="en-US" sz="750" dirty="0">
                <a:solidFill>
                  <a:srgbClr val="8899AA"/>
                </a:solidFill>
                <a:latin typeface="Calibri" pitchFamily="34" charset="0"/>
                <a:ea typeface="Calibri" pitchFamily="34" charset="-122"/>
                <a:cs typeface="Calibri" pitchFamily="34" charset="-120"/>
              </a:rPr>
              <a:t>Safari-specific</a:t>
            </a:r>
            <a:endParaRPr lang="en-US" sz="750" dirty="0"/>
          </a:p>
        </p:txBody>
      </p:sp>
      <p:sp>
        <p:nvSpPr>
          <p:cNvPr id="35" name="Text 33"/>
          <p:cNvSpPr/>
          <p:nvPr/>
        </p:nvSpPr>
        <p:spPr>
          <a:xfrm>
            <a:off x="4791456" y="2596896"/>
            <a:ext cx="3931920" cy="164592"/>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Decodes Apple .binarycookies format to readable text</a:t>
            </a:r>
            <a:endParaRPr lang="en-US" sz="800" dirty="0"/>
          </a:p>
        </p:txBody>
      </p:sp>
      <p:sp>
        <p:nvSpPr>
          <p:cNvPr id="36" name="Text 34"/>
          <p:cNvSpPr/>
          <p:nvPr/>
        </p:nvSpPr>
        <p:spPr>
          <a:xfrm>
            <a:off x="4791456" y="2779776"/>
            <a:ext cx="1737360"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ESEDatabaseView</a:t>
            </a:r>
            <a:endParaRPr lang="en-US" sz="900" dirty="0"/>
          </a:p>
        </p:txBody>
      </p:sp>
      <p:sp>
        <p:nvSpPr>
          <p:cNvPr id="37" name="Text 35"/>
          <p:cNvSpPr/>
          <p:nvPr/>
        </p:nvSpPr>
        <p:spPr>
          <a:xfrm>
            <a:off x="6565392" y="2779776"/>
            <a:ext cx="1097280" cy="201168"/>
          </a:xfrm>
          <a:prstGeom prst="rect">
            <a:avLst/>
          </a:prstGeom>
          <a:noFill/>
          <a:ln/>
        </p:spPr>
        <p:txBody>
          <a:bodyPr wrap="square" lIns="0" tIns="0" rIns="0" bIns="0" rtlCol="0" anchor="ctr"/>
          <a:lstStyle/>
          <a:p>
            <a:pPr marL="0" indent="0">
              <a:buNone/>
            </a:pPr>
            <a:r>
              <a:rPr lang="en-US" sz="750" dirty="0">
                <a:solidFill>
                  <a:srgbClr val="8899AA"/>
                </a:solidFill>
                <a:latin typeface="Calibri" pitchFamily="34" charset="0"/>
                <a:ea typeface="Calibri" pitchFamily="34" charset="-122"/>
                <a:cs typeface="Calibri" pitchFamily="34" charset="-120"/>
              </a:rPr>
              <a:t>IE / Legacy Edge</a:t>
            </a:r>
            <a:endParaRPr lang="en-US" sz="750" dirty="0"/>
          </a:p>
        </p:txBody>
      </p:sp>
      <p:sp>
        <p:nvSpPr>
          <p:cNvPr id="38" name="Text 36"/>
          <p:cNvSpPr/>
          <p:nvPr/>
        </p:nvSpPr>
        <p:spPr>
          <a:xfrm>
            <a:off x="4791456" y="2980944"/>
            <a:ext cx="3931920" cy="164592"/>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Reads WebCacheV01.dat from IE and old Edge</a:t>
            </a:r>
            <a:endParaRPr lang="en-US" sz="800" dirty="0"/>
          </a:p>
        </p:txBody>
      </p:sp>
      <p:sp>
        <p:nvSpPr>
          <p:cNvPr id="39" name="Text 37"/>
          <p:cNvSpPr/>
          <p:nvPr/>
        </p:nvSpPr>
        <p:spPr>
          <a:xfrm>
            <a:off x="4791456" y="3163824"/>
            <a:ext cx="1737360" cy="201168"/>
          </a:xfrm>
          <a:prstGeom prst="rect">
            <a:avLst/>
          </a:prstGeom>
          <a:noFill/>
          <a:ln/>
        </p:spPr>
        <p:txBody>
          <a:bodyPr wrap="square" lIns="0" tIns="0" rIns="0" bIns="0"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FTK / Autopsy</a:t>
            </a:r>
            <a:endParaRPr lang="en-US" sz="900" dirty="0"/>
          </a:p>
        </p:txBody>
      </p:sp>
      <p:sp>
        <p:nvSpPr>
          <p:cNvPr id="40" name="Text 38"/>
          <p:cNvSpPr/>
          <p:nvPr/>
        </p:nvSpPr>
        <p:spPr>
          <a:xfrm>
            <a:off x="6565392" y="3163824"/>
            <a:ext cx="1097280" cy="201168"/>
          </a:xfrm>
          <a:prstGeom prst="rect">
            <a:avLst/>
          </a:prstGeom>
          <a:noFill/>
          <a:ln/>
        </p:spPr>
        <p:txBody>
          <a:bodyPr wrap="square" lIns="0" tIns="0" rIns="0" bIns="0" rtlCol="0" anchor="ctr"/>
          <a:lstStyle/>
          <a:p>
            <a:pPr marL="0" indent="0">
              <a:buNone/>
            </a:pPr>
            <a:r>
              <a:rPr lang="en-US" sz="750" dirty="0">
                <a:solidFill>
                  <a:srgbClr val="8899AA"/>
                </a:solidFill>
                <a:latin typeface="Calibri" pitchFamily="34" charset="0"/>
                <a:ea typeface="Calibri" pitchFamily="34" charset="-122"/>
                <a:cs typeface="Calibri" pitchFamily="34" charset="-120"/>
              </a:rPr>
              <a:t>All-purpose</a:t>
            </a:r>
            <a:endParaRPr lang="en-US" sz="750" dirty="0"/>
          </a:p>
        </p:txBody>
      </p:sp>
      <p:sp>
        <p:nvSpPr>
          <p:cNvPr id="41" name="Text 39"/>
          <p:cNvSpPr/>
          <p:nvPr/>
        </p:nvSpPr>
        <p:spPr>
          <a:xfrm>
            <a:off x="4791456" y="3364992"/>
            <a:ext cx="3931920" cy="164592"/>
          </a:xfrm>
          <a:prstGeom prst="rect">
            <a:avLst/>
          </a:prstGeom>
          <a:noFill/>
          <a:ln/>
        </p:spPr>
        <p:txBody>
          <a:bodyPr wrap="square" lIns="0" tIns="0" rIns="0" bIns="0" rtlCol="0" anchor="ctr"/>
          <a:lstStyle/>
          <a:p>
            <a:pPr marL="0" indent="0">
              <a:buNone/>
            </a:pPr>
            <a:r>
              <a:rPr lang="en-US" sz="800" dirty="0">
                <a:solidFill>
                  <a:srgbClr val="1A1A2E"/>
                </a:solidFill>
                <a:latin typeface="Calibri" pitchFamily="34" charset="0"/>
                <a:ea typeface="Calibri" pitchFamily="34" charset="-122"/>
                <a:cs typeface="Calibri" pitchFamily="34" charset="-120"/>
              </a:rPr>
              <a:t>Automatically extracts browser artefacts during disk scan</a:t>
            </a:r>
            <a:endParaRPr lang="en-US" sz="800" dirty="0"/>
          </a:p>
        </p:txBody>
      </p:sp>
      <p:sp>
        <p:nvSpPr>
          <p:cNvPr id="42" name="Shape 40"/>
          <p:cNvSpPr/>
          <p:nvPr/>
        </p:nvSpPr>
        <p:spPr>
          <a:xfrm>
            <a:off x="320040" y="3621024"/>
            <a:ext cx="8503920" cy="1298448"/>
          </a:xfrm>
          <a:prstGeom prst="rect">
            <a:avLst/>
          </a:prstGeom>
          <a:solidFill>
            <a:srgbClr val="FFFFFF"/>
          </a:solidFill>
          <a:ln w="12700">
            <a:solidFill>
              <a:srgbClr val="A855F7"/>
            </a:solidFill>
            <a:prstDash val="solid"/>
          </a:ln>
        </p:spPr>
        <p:txBody>
          <a:bodyPr/>
          <a:lstStyle/>
          <a:p>
            <a:endParaRPr lang="en-SG"/>
          </a:p>
        </p:txBody>
      </p:sp>
      <p:sp>
        <p:nvSpPr>
          <p:cNvPr id="43" name="Text 41"/>
          <p:cNvSpPr/>
          <p:nvPr/>
        </p:nvSpPr>
        <p:spPr>
          <a:xfrm>
            <a:off x="457200" y="3675888"/>
            <a:ext cx="3657600" cy="219456"/>
          </a:xfrm>
          <a:prstGeom prst="rect">
            <a:avLst/>
          </a:prstGeom>
          <a:noFill/>
          <a:ln/>
        </p:spPr>
        <p:txBody>
          <a:bodyPr wrap="square" lIns="0" tIns="0" rIns="0" bIns="0" rtlCol="0" anchor="ctr"/>
          <a:lstStyle/>
          <a:p>
            <a:pPr marL="0" indent="0">
              <a:buNone/>
            </a:pPr>
            <a:r>
              <a:rPr lang="en-US" sz="1000" b="1" dirty="0">
                <a:solidFill>
                  <a:srgbClr val="A855F7"/>
                </a:solidFill>
                <a:latin typeface="Calibri" pitchFamily="34" charset="0"/>
                <a:ea typeface="Calibri" pitchFamily="34" charset="-122"/>
                <a:cs typeface="Calibri" pitchFamily="34" charset="-120"/>
              </a:rPr>
              <a:t>🔍  Browser Forensics — Quick Methodology</a:t>
            </a:r>
            <a:endParaRPr lang="en-US" sz="1000" dirty="0"/>
          </a:p>
        </p:txBody>
      </p:sp>
      <p:sp>
        <p:nvSpPr>
          <p:cNvPr id="44" name="Text 42"/>
          <p:cNvSpPr/>
          <p:nvPr/>
        </p:nvSpPr>
        <p:spPr>
          <a:xfrm>
            <a:off x="457200" y="3913632"/>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01 — Image the device BEFORE opening any browser — accessing it alters timestamps</a:t>
            </a:r>
            <a:endParaRPr lang="en-US" sz="850" dirty="0"/>
          </a:p>
        </p:txBody>
      </p:sp>
      <p:sp>
        <p:nvSpPr>
          <p:cNvPr id="45" name="Text 43"/>
          <p:cNvSpPr/>
          <p:nvPr/>
        </p:nvSpPr>
        <p:spPr>
          <a:xfrm>
            <a:off x="457200" y="4096512"/>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02 — Extract the browser profile directory from the forensic image</a:t>
            </a:r>
            <a:endParaRPr lang="en-US" sz="850" dirty="0"/>
          </a:p>
        </p:txBody>
      </p:sp>
      <p:sp>
        <p:nvSpPr>
          <p:cNvPr id="46" name="Text 44"/>
          <p:cNvSpPr/>
          <p:nvPr/>
        </p:nvSpPr>
        <p:spPr>
          <a:xfrm>
            <a:off x="457200" y="4279392"/>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03 — Parse SQLite databases and plist files with specialised tools</a:t>
            </a:r>
            <a:endParaRPr lang="en-US" sz="850" dirty="0"/>
          </a:p>
        </p:txBody>
      </p:sp>
      <p:sp>
        <p:nvSpPr>
          <p:cNvPr id="47" name="Text 45"/>
          <p:cNvSpPr/>
          <p:nvPr/>
        </p:nvSpPr>
        <p:spPr>
          <a:xfrm>
            <a:off x="457200" y="4462272"/>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04 — Convert all timestamps to local timezone using device timezone settings</a:t>
            </a:r>
            <a:endParaRPr lang="en-US" sz="850" dirty="0"/>
          </a:p>
        </p:txBody>
      </p:sp>
      <p:sp>
        <p:nvSpPr>
          <p:cNvPr id="48" name="Text 46"/>
          <p:cNvSpPr/>
          <p:nvPr/>
        </p:nvSpPr>
        <p:spPr>
          <a:xfrm>
            <a:off x="457200" y="4645152"/>
            <a:ext cx="8321040" cy="164592"/>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05 — Check for anti-forensic signs: cleared history, private browsing, VPN extensions</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93899" cy="256032"/>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11480" y="164592"/>
            <a:ext cx="2302459"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SECTION 3 · OPEN-SOURCE TOOLS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The Honeynet Project</a:t>
            </a:r>
            <a:endParaRPr lang="en-US" sz="2800" dirty="0"/>
          </a:p>
        </p:txBody>
      </p:sp>
      <p:sp>
        <p:nvSpPr>
          <p:cNvPr id="5" name="Shape 3"/>
          <p:cNvSpPr/>
          <p:nvPr/>
        </p:nvSpPr>
        <p:spPr>
          <a:xfrm>
            <a:off x="320040" y="1261872"/>
            <a:ext cx="8503920" cy="658368"/>
          </a:xfrm>
          <a:prstGeom prst="rect">
            <a:avLst/>
          </a:prstGeom>
          <a:solidFill>
            <a:srgbClr val="FFFFFF"/>
          </a:solidFill>
          <a:ln w="12700">
            <a:solidFill>
              <a:srgbClr val="F1C40F"/>
            </a:solidFill>
            <a:prstDash val="solid"/>
          </a:ln>
        </p:spPr>
        <p:txBody>
          <a:bodyPr/>
          <a:lstStyle/>
          <a:p>
            <a:endParaRPr lang="en-SG"/>
          </a:p>
        </p:txBody>
      </p:sp>
      <p:sp>
        <p:nvSpPr>
          <p:cNvPr id="6" name="Shape 4"/>
          <p:cNvSpPr/>
          <p:nvPr/>
        </p:nvSpPr>
        <p:spPr>
          <a:xfrm>
            <a:off x="320040" y="1261872"/>
            <a:ext cx="54864" cy="658368"/>
          </a:xfrm>
          <a:prstGeom prst="rect">
            <a:avLst/>
          </a:prstGeom>
          <a:solidFill>
            <a:srgbClr val="F1C40F"/>
          </a:solidFill>
          <a:ln w="12700">
            <a:solidFill>
              <a:srgbClr val="F1C40F"/>
            </a:solidFill>
            <a:prstDash val="solid"/>
          </a:ln>
        </p:spPr>
        <p:txBody>
          <a:bodyPr/>
          <a:lstStyle/>
          <a:p>
            <a:endParaRPr lang="en-SG"/>
          </a:p>
        </p:txBody>
      </p:sp>
      <p:sp>
        <p:nvSpPr>
          <p:cNvPr id="7" name="Text 5"/>
          <p:cNvSpPr/>
          <p:nvPr/>
        </p:nvSpPr>
        <p:spPr>
          <a:xfrm>
            <a:off x="475488" y="1335024"/>
            <a:ext cx="8275320" cy="512064"/>
          </a:xfrm>
          <a:prstGeom prst="rect">
            <a:avLst/>
          </a:prstGeom>
          <a:noFill/>
          <a:ln/>
        </p:spPr>
        <p:txBody>
          <a:bodyPr wrap="square" lIns="0" tIns="0" rIns="0" bIns="0" rtlCol="0" anchor="ctr"/>
          <a:lstStyle/>
          <a:p>
            <a:pPr marL="0" indent="0">
              <a:buNone/>
            </a:pPr>
            <a:r>
              <a:rPr lang="en-US" sz="1050" i="1" dirty="0">
                <a:solidFill>
                  <a:srgbClr val="1A1A2E"/>
                </a:solidFill>
                <a:latin typeface="Calibri" pitchFamily="34" charset="0"/>
                <a:ea typeface="Calibri" pitchFamily="34" charset="-122"/>
                <a:cs typeface="Calibri" pitchFamily="34" charset="-120"/>
              </a:rPr>
              <a:t>The Honeynet Project is a non-profit security research organisation that deploys decoy networks to lure attackers, studies their methods, and shares findings with the community through open-source tools and public research. Still active in 2025 with annual workshops and Google Summer of Code participation.</a:t>
            </a:r>
            <a:endParaRPr lang="en-US" sz="1050" dirty="0"/>
          </a:p>
        </p:txBody>
      </p:sp>
      <p:sp>
        <p:nvSpPr>
          <p:cNvPr id="8" name="Shape 6"/>
          <p:cNvSpPr/>
          <p:nvPr/>
        </p:nvSpPr>
        <p:spPr>
          <a:xfrm>
            <a:off x="320040" y="2011680"/>
            <a:ext cx="2743200" cy="252374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2011680"/>
            <a:ext cx="2743200" cy="256032"/>
          </a:xfrm>
          <a:prstGeom prst="rect">
            <a:avLst/>
          </a:prstGeom>
          <a:solidFill>
            <a:srgbClr val="F1C40F"/>
          </a:solidFill>
          <a:ln w="12700">
            <a:solidFill>
              <a:srgbClr val="F1C40F"/>
            </a:solidFill>
            <a:prstDash val="solid"/>
          </a:ln>
        </p:spPr>
        <p:txBody>
          <a:bodyPr/>
          <a:lstStyle/>
          <a:p>
            <a:endParaRPr lang="en-SG"/>
          </a:p>
        </p:txBody>
      </p:sp>
      <p:sp>
        <p:nvSpPr>
          <p:cNvPr id="10" name="Text 8"/>
          <p:cNvSpPr/>
          <p:nvPr/>
        </p:nvSpPr>
        <p:spPr>
          <a:xfrm>
            <a:off x="411480" y="2011680"/>
            <a:ext cx="25603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Honeypots</a:t>
            </a:r>
            <a:endParaRPr lang="en-US" sz="1100" dirty="0"/>
          </a:p>
        </p:txBody>
      </p:sp>
      <p:sp>
        <p:nvSpPr>
          <p:cNvPr id="11" name="Text 9"/>
          <p:cNvSpPr/>
          <p:nvPr/>
        </p:nvSpPr>
        <p:spPr>
          <a:xfrm>
            <a:off x="411480" y="2322576"/>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 deliberately vulnerable computer mimicking a real server or service</a:t>
            </a:r>
            <a:endParaRPr lang="en-US" sz="850" dirty="0"/>
          </a:p>
        </p:txBody>
      </p:sp>
      <p:sp>
        <p:nvSpPr>
          <p:cNvPr id="12" name="Text 10"/>
          <p:cNvSpPr/>
          <p:nvPr/>
        </p:nvSpPr>
        <p:spPr>
          <a:xfrm>
            <a:off x="411480" y="2761488"/>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Has no legitimate users — any interaction is suspicious by definition</a:t>
            </a:r>
            <a:endParaRPr lang="en-US" sz="850" dirty="0"/>
          </a:p>
        </p:txBody>
      </p:sp>
      <p:sp>
        <p:nvSpPr>
          <p:cNvPr id="13" name="Text 11"/>
          <p:cNvSpPr/>
          <p:nvPr/>
        </p:nvSpPr>
        <p:spPr>
          <a:xfrm>
            <a:off x="411480" y="3200400"/>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Logs ALL traffic: commands run, files downloaded, tools used by attacker</a:t>
            </a:r>
            <a:endParaRPr lang="en-US" sz="850" dirty="0"/>
          </a:p>
        </p:txBody>
      </p:sp>
      <p:sp>
        <p:nvSpPr>
          <p:cNvPr id="14" name="Text 12"/>
          <p:cNvSpPr/>
          <p:nvPr/>
        </p:nvSpPr>
        <p:spPr>
          <a:xfrm>
            <a:off x="411480" y="3639312"/>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Types: Low-interaction (simulated) and High-interaction (real OS)</a:t>
            </a:r>
            <a:endParaRPr lang="en-US" sz="850" dirty="0"/>
          </a:p>
        </p:txBody>
      </p:sp>
      <p:sp>
        <p:nvSpPr>
          <p:cNvPr id="15" name="Text 13"/>
          <p:cNvSpPr/>
          <p:nvPr/>
        </p:nvSpPr>
        <p:spPr>
          <a:xfrm>
            <a:off x="411480" y="4078224"/>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Example: fake SSH server on port 22 to lure brute-force attackers</a:t>
            </a:r>
            <a:endParaRPr lang="en-US" sz="850" dirty="0"/>
          </a:p>
        </p:txBody>
      </p:sp>
      <p:sp>
        <p:nvSpPr>
          <p:cNvPr id="16" name="Shape 14"/>
          <p:cNvSpPr/>
          <p:nvPr/>
        </p:nvSpPr>
        <p:spPr>
          <a:xfrm>
            <a:off x="3200400" y="2011680"/>
            <a:ext cx="2743200" cy="2523744"/>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3200400" y="2011680"/>
            <a:ext cx="2743200" cy="256032"/>
          </a:xfrm>
          <a:prstGeom prst="rect">
            <a:avLst/>
          </a:prstGeom>
          <a:solidFill>
            <a:srgbClr val="F4A261"/>
          </a:solidFill>
          <a:ln w="12700">
            <a:solidFill>
              <a:srgbClr val="F4A261"/>
            </a:solidFill>
            <a:prstDash val="solid"/>
          </a:ln>
        </p:spPr>
        <p:txBody>
          <a:bodyPr/>
          <a:lstStyle/>
          <a:p>
            <a:endParaRPr lang="en-SG"/>
          </a:p>
        </p:txBody>
      </p:sp>
      <p:sp>
        <p:nvSpPr>
          <p:cNvPr id="18" name="Text 16"/>
          <p:cNvSpPr/>
          <p:nvPr/>
        </p:nvSpPr>
        <p:spPr>
          <a:xfrm>
            <a:off x="3291840" y="2011680"/>
            <a:ext cx="25603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Honeywalls</a:t>
            </a:r>
            <a:endParaRPr lang="en-US" sz="1100" dirty="0"/>
          </a:p>
        </p:txBody>
      </p:sp>
      <p:sp>
        <p:nvSpPr>
          <p:cNvPr id="19" name="Text 17"/>
          <p:cNvSpPr/>
          <p:nvPr/>
        </p:nvSpPr>
        <p:spPr>
          <a:xfrm>
            <a:off x="3291840" y="2322576"/>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 network bridge device between the honeypot and the internet</a:t>
            </a:r>
            <a:endParaRPr lang="en-US" sz="850" dirty="0"/>
          </a:p>
        </p:txBody>
      </p:sp>
      <p:sp>
        <p:nvSpPr>
          <p:cNvPr id="20" name="Text 18"/>
          <p:cNvSpPr/>
          <p:nvPr/>
        </p:nvSpPr>
        <p:spPr>
          <a:xfrm>
            <a:off x="3291840" y="2761488"/>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Transparent — the attacker does not know they are being monitored</a:t>
            </a:r>
            <a:endParaRPr lang="en-US" sz="850" dirty="0"/>
          </a:p>
        </p:txBody>
      </p:sp>
      <p:sp>
        <p:nvSpPr>
          <p:cNvPr id="21" name="Text 19"/>
          <p:cNvSpPr/>
          <p:nvPr/>
        </p:nvSpPr>
        <p:spPr>
          <a:xfrm>
            <a:off x="3291840" y="3200400"/>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Captures all inbound AND outbound traffic from the honeypot</a:t>
            </a:r>
            <a:endParaRPr lang="en-US" sz="850" dirty="0"/>
          </a:p>
        </p:txBody>
      </p:sp>
      <p:sp>
        <p:nvSpPr>
          <p:cNvPr id="22" name="Text 20"/>
          <p:cNvSpPr/>
          <p:nvPr/>
        </p:nvSpPr>
        <p:spPr>
          <a:xfrm>
            <a:off x="3291840" y="3639312"/>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Runs Snort-inline to limit outbound attacks (protects other systems)</a:t>
            </a:r>
            <a:endParaRPr lang="en-US" sz="850" dirty="0"/>
          </a:p>
        </p:txBody>
      </p:sp>
      <p:sp>
        <p:nvSpPr>
          <p:cNvPr id="23" name="Text 21"/>
          <p:cNvSpPr/>
          <p:nvPr/>
        </p:nvSpPr>
        <p:spPr>
          <a:xfrm>
            <a:off x="3291840" y="4078224"/>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Generates full PCAP data — highest quality forensic network evidence</a:t>
            </a:r>
            <a:endParaRPr lang="en-US" sz="850" dirty="0"/>
          </a:p>
        </p:txBody>
      </p:sp>
      <p:sp>
        <p:nvSpPr>
          <p:cNvPr id="24" name="Shape 22"/>
          <p:cNvSpPr/>
          <p:nvPr/>
        </p:nvSpPr>
        <p:spPr>
          <a:xfrm>
            <a:off x="6080760" y="2011680"/>
            <a:ext cx="2743200" cy="2523744"/>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6080760" y="2011680"/>
            <a:ext cx="2743200" cy="256032"/>
          </a:xfrm>
          <a:prstGeom prst="rect">
            <a:avLst/>
          </a:prstGeom>
          <a:solidFill>
            <a:srgbClr val="00B4D8"/>
          </a:solidFill>
          <a:ln w="12700">
            <a:solidFill>
              <a:srgbClr val="00B4D8"/>
            </a:solidFill>
            <a:prstDash val="solid"/>
          </a:ln>
        </p:spPr>
        <p:txBody>
          <a:bodyPr/>
          <a:lstStyle/>
          <a:p>
            <a:endParaRPr lang="en-SG"/>
          </a:p>
        </p:txBody>
      </p:sp>
      <p:sp>
        <p:nvSpPr>
          <p:cNvPr id="26" name="Text 24"/>
          <p:cNvSpPr/>
          <p:nvPr/>
        </p:nvSpPr>
        <p:spPr>
          <a:xfrm>
            <a:off x="6172200" y="2011680"/>
            <a:ext cx="25603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Research &amp; Legal Notes</a:t>
            </a:r>
            <a:endParaRPr lang="en-US" sz="1100" dirty="0"/>
          </a:p>
        </p:txBody>
      </p:sp>
      <p:sp>
        <p:nvSpPr>
          <p:cNvPr id="27" name="Text 25"/>
          <p:cNvSpPr/>
          <p:nvPr/>
        </p:nvSpPr>
        <p:spPr>
          <a:xfrm>
            <a:off x="6172200" y="2322576"/>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Monthly challenges: analyse a real honeypot attack and share findings</a:t>
            </a:r>
            <a:endParaRPr lang="en-US" sz="850" dirty="0"/>
          </a:p>
        </p:txBody>
      </p:sp>
      <p:sp>
        <p:nvSpPr>
          <p:cNvPr id="28" name="Text 26"/>
          <p:cNvSpPr/>
          <p:nvPr/>
        </p:nvSpPr>
        <p:spPr>
          <a:xfrm>
            <a:off x="6172200" y="2761488"/>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Findings published freely at honeynet.org — excellent learning resource</a:t>
            </a:r>
            <a:endParaRPr lang="en-US" sz="850" dirty="0"/>
          </a:p>
        </p:txBody>
      </p:sp>
      <p:sp>
        <p:nvSpPr>
          <p:cNvPr id="29" name="Text 27"/>
          <p:cNvSpPr/>
          <p:nvPr/>
        </p:nvSpPr>
        <p:spPr>
          <a:xfrm>
            <a:off x="6172200" y="3200400"/>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Used in academic courses and professional certifications as case studies</a:t>
            </a:r>
            <a:endParaRPr lang="en-US" sz="850" dirty="0"/>
          </a:p>
        </p:txBody>
      </p:sp>
      <p:sp>
        <p:nvSpPr>
          <p:cNvPr id="30" name="Text 28"/>
          <p:cNvSpPr/>
          <p:nvPr/>
        </p:nvSpPr>
        <p:spPr>
          <a:xfrm>
            <a:off x="6172200" y="3639312"/>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  Legal: honeypot evidence may not be admissible in all jurisdictions</a:t>
            </a:r>
            <a:endParaRPr lang="en-US" sz="850" dirty="0"/>
          </a:p>
        </p:txBody>
      </p:sp>
      <p:sp>
        <p:nvSpPr>
          <p:cNvPr id="31" name="Text 29"/>
          <p:cNvSpPr/>
          <p:nvPr/>
        </p:nvSpPr>
        <p:spPr>
          <a:xfrm>
            <a:off x="6172200" y="4078224"/>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Always consult legal counsel before using honeypot data in prosecution</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969264" cy="256032"/>
          </a:xfrm>
          <a:prstGeom prst="rect">
            <a:avLst/>
          </a:prstGeom>
          <a:solidFill>
            <a:srgbClr val="E74C3C"/>
          </a:solidFill>
          <a:ln w="12700">
            <a:solidFill>
              <a:srgbClr val="E74C3C"/>
            </a:solidFill>
            <a:prstDash val="solid"/>
          </a:ln>
        </p:spPr>
        <p:txBody>
          <a:bodyPr/>
          <a:lstStyle/>
          <a:p>
            <a:endParaRPr lang="en-SG"/>
          </a:p>
        </p:txBody>
      </p:sp>
      <p:sp>
        <p:nvSpPr>
          <p:cNvPr id="3" name="Text 1"/>
          <p:cNvSpPr/>
          <p:nvPr/>
        </p:nvSpPr>
        <p:spPr>
          <a:xfrm>
            <a:off x="411480" y="164592"/>
            <a:ext cx="87782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CASE STUDY</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Case Study — Insider Data Exfiltration</a:t>
            </a:r>
            <a:endParaRPr lang="en-US" sz="2800" dirty="0"/>
          </a:p>
        </p:txBody>
      </p:sp>
      <p:sp>
        <p:nvSpPr>
          <p:cNvPr id="5" name="Shape 3"/>
          <p:cNvSpPr/>
          <p:nvPr/>
        </p:nvSpPr>
        <p:spPr>
          <a:xfrm>
            <a:off x="320040" y="1261872"/>
            <a:ext cx="8503920" cy="585216"/>
          </a:xfrm>
          <a:prstGeom prst="rect">
            <a:avLst/>
          </a:prstGeom>
          <a:solidFill>
            <a:srgbClr val="FFFFFF"/>
          </a:solidFill>
          <a:ln w="12700">
            <a:solidFill>
              <a:srgbClr val="E74C3C"/>
            </a:solidFill>
            <a:prstDash val="solid"/>
          </a:ln>
        </p:spPr>
        <p:txBody>
          <a:bodyPr/>
          <a:lstStyle/>
          <a:p>
            <a:endParaRPr lang="en-SG"/>
          </a:p>
        </p:txBody>
      </p:sp>
      <p:sp>
        <p:nvSpPr>
          <p:cNvPr id="6" name="Shape 4"/>
          <p:cNvSpPr/>
          <p:nvPr/>
        </p:nvSpPr>
        <p:spPr>
          <a:xfrm>
            <a:off x="320040" y="1261872"/>
            <a:ext cx="54864" cy="585216"/>
          </a:xfrm>
          <a:prstGeom prst="rect">
            <a:avLst/>
          </a:prstGeom>
          <a:solidFill>
            <a:srgbClr val="E74C3C"/>
          </a:solidFill>
          <a:ln w="12700">
            <a:solidFill>
              <a:srgbClr val="E74C3C"/>
            </a:solidFill>
            <a:prstDash val="solid"/>
          </a:ln>
        </p:spPr>
        <p:txBody>
          <a:bodyPr/>
          <a:lstStyle/>
          <a:p>
            <a:endParaRPr lang="en-SG"/>
          </a:p>
        </p:txBody>
      </p:sp>
      <p:sp>
        <p:nvSpPr>
          <p:cNvPr id="7" name="Text 5"/>
          <p:cNvSpPr/>
          <p:nvPr/>
        </p:nvSpPr>
        <p:spPr>
          <a:xfrm>
            <a:off x="475488" y="1316736"/>
            <a:ext cx="8275320" cy="457200"/>
          </a:xfrm>
          <a:prstGeom prst="rect">
            <a:avLst/>
          </a:prstGeom>
          <a:noFill/>
          <a:ln/>
        </p:spPr>
        <p:txBody>
          <a:bodyPr wrap="square" lIns="0" tIns="0" rIns="0" bIns="0" rtlCol="0" anchor="ctr"/>
          <a:lstStyle/>
          <a:p>
            <a:pPr marL="0" indent="0">
              <a:buNone/>
            </a:pPr>
            <a:r>
              <a:rPr lang="en-US" sz="1050" i="1" dirty="0">
                <a:solidFill>
                  <a:srgbClr val="1A1A2E"/>
                </a:solidFill>
                <a:latin typeface="Calibri" pitchFamily="34" charset="0"/>
                <a:ea typeface="Calibri" pitchFamily="34" charset="-122"/>
                <a:cs typeface="Calibri" pitchFamily="34" charset="-120"/>
              </a:rPr>
              <a:t>Scenario: A finance analyst is suspected of emailing confidential client data to a personal Gmail account before resigning. IT flagged an unusually large outbound email at 14:23. You are called to investigate.</a:t>
            </a:r>
            <a:endParaRPr lang="en-US" sz="1050" dirty="0"/>
          </a:p>
        </p:txBody>
      </p:sp>
      <p:sp>
        <p:nvSpPr>
          <p:cNvPr id="8" name="Shape 6"/>
          <p:cNvSpPr/>
          <p:nvPr/>
        </p:nvSpPr>
        <p:spPr>
          <a:xfrm>
            <a:off x="320040" y="1938528"/>
            <a:ext cx="2029968" cy="234086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938528"/>
            <a:ext cx="2029968" cy="25603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11480" y="1938528"/>
            <a:ext cx="1847088" cy="256032"/>
          </a:xfrm>
          <a:prstGeom prst="rect">
            <a:avLst/>
          </a:prstGeom>
          <a:noFill/>
          <a:ln/>
        </p:spPr>
        <p:txBody>
          <a:bodyPr wrap="square" lIns="0" tIns="0" rIns="0" bIns="0" rtlCol="0" anchor="ctr"/>
          <a:lstStyle/>
          <a:p>
            <a:pPr marL="0" indent="0">
              <a:buNone/>
            </a:pPr>
            <a:r>
              <a:rPr lang="en-US" sz="950" b="1" dirty="0">
                <a:solidFill>
                  <a:srgbClr val="060E17"/>
                </a:solidFill>
                <a:latin typeface="Calibri" pitchFamily="34" charset="0"/>
                <a:ea typeface="Calibri" pitchFamily="34" charset="-122"/>
                <a:cs typeface="Calibri" pitchFamily="34" charset="-120"/>
              </a:rPr>
              <a:t>📡  Network Evidence</a:t>
            </a:r>
            <a:endParaRPr lang="en-US" sz="950" dirty="0"/>
          </a:p>
        </p:txBody>
      </p:sp>
      <p:sp>
        <p:nvSpPr>
          <p:cNvPr id="11" name="Text 9"/>
          <p:cNvSpPr/>
          <p:nvPr/>
        </p:nvSpPr>
        <p:spPr>
          <a:xfrm>
            <a:off x="411480" y="2249424"/>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Firewall log: ALLOW 10.0.1.42 → 142.250.x.x port 587 at 14:23:07</a:t>
            </a:r>
            <a:endParaRPr lang="en-US" sz="850" dirty="0"/>
          </a:p>
        </p:txBody>
      </p:sp>
      <p:sp>
        <p:nvSpPr>
          <p:cNvPr id="12" name="Text 10"/>
          <p:cNvSpPr/>
          <p:nvPr/>
        </p:nvSpPr>
        <p:spPr>
          <a:xfrm>
            <a:off x="411480" y="2907792"/>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NetFlow: 8.4 MB outbound to Gmail SMTP server</a:t>
            </a:r>
            <a:endParaRPr lang="en-US" sz="850" dirty="0"/>
          </a:p>
        </p:txBody>
      </p:sp>
      <p:sp>
        <p:nvSpPr>
          <p:cNvPr id="13" name="Text 11"/>
          <p:cNvSpPr/>
          <p:nvPr/>
        </p:nvSpPr>
        <p:spPr>
          <a:xfrm>
            <a:off x="411480" y="3566160"/>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IDS alert: DLP rule 'sensitive_data_outbound_email' triggered</a:t>
            </a:r>
            <a:endParaRPr lang="en-US" sz="850" dirty="0"/>
          </a:p>
        </p:txBody>
      </p:sp>
      <p:sp>
        <p:nvSpPr>
          <p:cNvPr id="14" name="Shape 12"/>
          <p:cNvSpPr/>
          <p:nvPr/>
        </p:nvSpPr>
        <p:spPr>
          <a:xfrm>
            <a:off x="2478024" y="1938528"/>
            <a:ext cx="2029968" cy="2340864"/>
          </a:xfrm>
          <a:prstGeom prst="rect">
            <a:avLst/>
          </a:prstGeom>
          <a:solidFill>
            <a:srgbClr val="EEF6FB"/>
          </a:solidFill>
          <a:ln w="12700">
            <a:solidFill>
              <a:srgbClr val="EEF6FB"/>
            </a:solidFill>
            <a:prstDash val="solid"/>
          </a:ln>
        </p:spPr>
        <p:txBody>
          <a:bodyPr/>
          <a:lstStyle/>
          <a:p>
            <a:endParaRPr lang="en-SG"/>
          </a:p>
        </p:txBody>
      </p:sp>
      <p:sp>
        <p:nvSpPr>
          <p:cNvPr id="15" name="Shape 13"/>
          <p:cNvSpPr/>
          <p:nvPr/>
        </p:nvSpPr>
        <p:spPr>
          <a:xfrm>
            <a:off x="2478024" y="1938528"/>
            <a:ext cx="2029968" cy="256032"/>
          </a:xfrm>
          <a:prstGeom prst="rect">
            <a:avLst/>
          </a:prstGeom>
          <a:solidFill>
            <a:srgbClr val="F4A261"/>
          </a:solidFill>
          <a:ln w="12700">
            <a:solidFill>
              <a:srgbClr val="F4A261"/>
            </a:solidFill>
            <a:prstDash val="solid"/>
          </a:ln>
        </p:spPr>
        <p:txBody>
          <a:bodyPr/>
          <a:lstStyle/>
          <a:p>
            <a:endParaRPr lang="en-SG"/>
          </a:p>
        </p:txBody>
      </p:sp>
      <p:sp>
        <p:nvSpPr>
          <p:cNvPr id="16" name="Text 14"/>
          <p:cNvSpPr/>
          <p:nvPr/>
        </p:nvSpPr>
        <p:spPr>
          <a:xfrm>
            <a:off x="2569464" y="1938528"/>
            <a:ext cx="1847088" cy="256032"/>
          </a:xfrm>
          <a:prstGeom prst="rect">
            <a:avLst/>
          </a:prstGeom>
          <a:noFill/>
          <a:ln/>
        </p:spPr>
        <p:txBody>
          <a:bodyPr wrap="square" lIns="0" tIns="0" rIns="0" bIns="0" rtlCol="0" anchor="ctr"/>
          <a:lstStyle/>
          <a:p>
            <a:pPr marL="0" indent="0">
              <a:buNone/>
            </a:pPr>
            <a:r>
              <a:rPr lang="en-US" sz="950" b="1" dirty="0">
                <a:solidFill>
                  <a:srgbClr val="060E17"/>
                </a:solidFill>
                <a:latin typeface="Calibri" pitchFamily="34" charset="0"/>
                <a:ea typeface="Calibri" pitchFamily="34" charset="-122"/>
                <a:cs typeface="Calibri" pitchFamily="34" charset="-120"/>
              </a:rPr>
              <a:t>📧  Email Evidence</a:t>
            </a:r>
            <a:endParaRPr lang="en-US" sz="950" dirty="0"/>
          </a:p>
        </p:txBody>
      </p:sp>
      <p:sp>
        <p:nvSpPr>
          <p:cNvPr id="17" name="Text 15"/>
          <p:cNvSpPr/>
          <p:nvPr/>
        </p:nvSpPr>
        <p:spPr>
          <a:xfrm>
            <a:off x="2569464" y="2249424"/>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Exchange tracking log: SEND event at 14:23:05 to personal@gmail.com</a:t>
            </a:r>
            <a:endParaRPr lang="en-US" sz="850" dirty="0"/>
          </a:p>
        </p:txBody>
      </p:sp>
      <p:sp>
        <p:nvSpPr>
          <p:cNvPr id="18" name="Text 16"/>
          <p:cNvSpPr/>
          <p:nvPr/>
        </p:nvSpPr>
        <p:spPr>
          <a:xfrm>
            <a:off x="2569464" y="2907792"/>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Recovered .ost file contains email with 7.8 MB attachment</a:t>
            </a:r>
            <a:endParaRPr lang="en-US" sz="850" dirty="0"/>
          </a:p>
        </p:txBody>
      </p:sp>
      <p:sp>
        <p:nvSpPr>
          <p:cNvPr id="19" name="Text 17"/>
          <p:cNvSpPr/>
          <p:nvPr/>
        </p:nvSpPr>
        <p:spPr>
          <a:xfrm>
            <a:off x="2569464" y="3566160"/>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Header: X-Originating-IP matches workstation 10.0.1.42</a:t>
            </a:r>
            <a:endParaRPr lang="en-US" sz="850" dirty="0"/>
          </a:p>
        </p:txBody>
      </p:sp>
      <p:sp>
        <p:nvSpPr>
          <p:cNvPr id="20" name="Shape 18"/>
          <p:cNvSpPr/>
          <p:nvPr/>
        </p:nvSpPr>
        <p:spPr>
          <a:xfrm>
            <a:off x="4636008" y="1938528"/>
            <a:ext cx="2029968" cy="2340864"/>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4636008" y="1938528"/>
            <a:ext cx="2029968" cy="256032"/>
          </a:xfrm>
          <a:prstGeom prst="rect">
            <a:avLst/>
          </a:prstGeom>
          <a:solidFill>
            <a:srgbClr val="A855F7"/>
          </a:solidFill>
          <a:ln w="12700">
            <a:solidFill>
              <a:srgbClr val="A855F7"/>
            </a:solidFill>
            <a:prstDash val="solid"/>
          </a:ln>
        </p:spPr>
        <p:txBody>
          <a:bodyPr/>
          <a:lstStyle/>
          <a:p>
            <a:endParaRPr lang="en-SG"/>
          </a:p>
        </p:txBody>
      </p:sp>
      <p:sp>
        <p:nvSpPr>
          <p:cNvPr id="22" name="Text 20"/>
          <p:cNvSpPr/>
          <p:nvPr/>
        </p:nvSpPr>
        <p:spPr>
          <a:xfrm>
            <a:off x="4727448" y="1938528"/>
            <a:ext cx="1847088" cy="256032"/>
          </a:xfrm>
          <a:prstGeom prst="rect">
            <a:avLst/>
          </a:prstGeom>
          <a:noFill/>
          <a:ln/>
        </p:spPr>
        <p:txBody>
          <a:bodyPr wrap="square" lIns="0" tIns="0" rIns="0" bIns="0" rtlCol="0" anchor="ctr"/>
          <a:lstStyle/>
          <a:p>
            <a:pPr marL="0" indent="0">
              <a:buNone/>
            </a:pPr>
            <a:r>
              <a:rPr lang="en-US" sz="950" b="1" dirty="0">
                <a:solidFill>
                  <a:srgbClr val="060E17"/>
                </a:solidFill>
                <a:latin typeface="Calibri" pitchFamily="34" charset="0"/>
                <a:ea typeface="Calibri" pitchFamily="34" charset="-122"/>
                <a:cs typeface="Calibri" pitchFamily="34" charset="-120"/>
              </a:rPr>
              <a:t>🌐  Browser Evidence</a:t>
            </a:r>
            <a:endParaRPr lang="en-US" sz="950" dirty="0"/>
          </a:p>
        </p:txBody>
      </p:sp>
      <p:sp>
        <p:nvSpPr>
          <p:cNvPr id="23" name="Text 21"/>
          <p:cNvSpPr/>
          <p:nvPr/>
        </p:nvSpPr>
        <p:spPr>
          <a:xfrm>
            <a:off x="4727448" y="2249424"/>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Chrome History: mail.google.com/send visited at 14:23:03</a:t>
            </a:r>
            <a:endParaRPr lang="en-US" sz="850" dirty="0"/>
          </a:p>
        </p:txBody>
      </p:sp>
      <p:sp>
        <p:nvSpPr>
          <p:cNvPr id="24" name="Text 22"/>
          <p:cNvSpPr/>
          <p:nvPr/>
        </p:nvSpPr>
        <p:spPr>
          <a:xfrm>
            <a:off x="4727448" y="2907792"/>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Login Data: personal Gmail account saved — last login 14:22:58</a:t>
            </a:r>
            <a:endParaRPr lang="en-US" sz="850" dirty="0"/>
          </a:p>
        </p:txBody>
      </p:sp>
      <p:sp>
        <p:nvSpPr>
          <p:cNvPr id="25" name="Text 23"/>
          <p:cNvSpPr/>
          <p:nvPr/>
        </p:nvSpPr>
        <p:spPr>
          <a:xfrm>
            <a:off x="4727448" y="3566160"/>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Cache: thumbnail preview of attachment recovered from Cache/</a:t>
            </a:r>
            <a:endParaRPr lang="en-US" sz="850" dirty="0"/>
          </a:p>
        </p:txBody>
      </p:sp>
      <p:sp>
        <p:nvSpPr>
          <p:cNvPr id="26" name="Shape 24"/>
          <p:cNvSpPr/>
          <p:nvPr/>
        </p:nvSpPr>
        <p:spPr>
          <a:xfrm>
            <a:off x="6793992" y="1938528"/>
            <a:ext cx="2029968" cy="2340864"/>
          </a:xfrm>
          <a:prstGeom prst="rect">
            <a:avLst/>
          </a:prstGeom>
          <a:solidFill>
            <a:srgbClr val="EEF6FB"/>
          </a:solidFill>
          <a:ln w="12700">
            <a:solidFill>
              <a:srgbClr val="EEF6FB"/>
            </a:solidFill>
            <a:prstDash val="solid"/>
          </a:ln>
        </p:spPr>
        <p:txBody>
          <a:bodyPr/>
          <a:lstStyle/>
          <a:p>
            <a:endParaRPr lang="en-SG"/>
          </a:p>
        </p:txBody>
      </p:sp>
      <p:sp>
        <p:nvSpPr>
          <p:cNvPr id="27" name="Shape 25"/>
          <p:cNvSpPr/>
          <p:nvPr/>
        </p:nvSpPr>
        <p:spPr>
          <a:xfrm>
            <a:off x="6793992" y="1938528"/>
            <a:ext cx="2029968" cy="256032"/>
          </a:xfrm>
          <a:prstGeom prst="rect">
            <a:avLst/>
          </a:prstGeom>
          <a:solidFill>
            <a:srgbClr val="2ECC71"/>
          </a:solidFill>
          <a:ln w="12700">
            <a:solidFill>
              <a:srgbClr val="2ECC71"/>
            </a:solidFill>
            <a:prstDash val="solid"/>
          </a:ln>
        </p:spPr>
        <p:txBody>
          <a:bodyPr/>
          <a:lstStyle/>
          <a:p>
            <a:endParaRPr lang="en-SG"/>
          </a:p>
        </p:txBody>
      </p:sp>
      <p:sp>
        <p:nvSpPr>
          <p:cNvPr id="28" name="Text 26"/>
          <p:cNvSpPr/>
          <p:nvPr/>
        </p:nvSpPr>
        <p:spPr>
          <a:xfrm>
            <a:off x="6885432" y="1938528"/>
            <a:ext cx="1847088" cy="256032"/>
          </a:xfrm>
          <a:prstGeom prst="rect">
            <a:avLst/>
          </a:prstGeom>
          <a:noFill/>
          <a:ln/>
        </p:spPr>
        <p:txBody>
          <a:bodyPr wrap="square" lIns="0" tIns="0" rIns="0" bIns="0" rtlCol="0" anchor="ctr"/>
          <a:lstStyle/>
          <a:p>
            <a:pPr marL="0" indent="0">
              <a:buNone/>
            </a:pPr>
            <a:r>
              <a:rPr lang="en-US" sz="950" b="1" dirty="0">
                <a:solidFill>
                  <a:srgbClr val="060E17"/>
                </a:solidFill>
                <a:latin typeface="Calibri" pitchFamily="34" charset="0"/>
                <a:ea typeface="Calibri" pitchFamily="34" charset="-122"/>
                <a:cs typeface="Calibri" pitchFamily="34" charset="-120"/>
              </a:rPr>
              <a:t>⚖️  Evidence Chain</a:t>
            </a:r>
            <a:endParaRPr lang="en-US" sz="950" dirty="0"/>
          </a:p>
        </p:txBody>
      </p:sp>
      <p:sp>
        <p:nvSpPr>
          <p:cNvPr id="29" name="Text 27"/>
          <p:cNvSpPr/>
          <p:nvPr/>
        </p:nvSpPr>
        <p:spPr>
          <a:xfrm>
            <a:off x="6885432" y="2249424"/>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All three sources confirm the same 14:22–14:23 window</a:t>
            </a:r>
            <a:endParaRPr lang="en-US" sz="850" dirty="0"/>
          </a:p>
        </p:txBody>
      </p:sp>
      <p:sp>
        <p:nvSpPr>
          <p:cNvPr id="30" name="Text 28"/>
          <p:cNvSpPr/>
          <p:nvPr/>
        </p:nvSpPr>
        <p:spPr>
          <a:xfrm>
            <a:off x="6885432" y="2907792"/>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SHA-256 hashes recorded: firewall log, .ost file, Chrome History</a:t>
            </a:r>
            <a:endParaRPr lang="en-US" sz="850" dirty="0"/>
          </a:p>
        </p:txBody>
      </p:sp>
      <p:sp>
        <p:nvSpPr>
          <p:cNvPr id="31" name="Text 29"/>
          <p:cNvSpPr/>
          <p:nvPr/>
        </p:nvSpPr>
        <p:spPr>
          <a:xfrm>
            <a:off x="6885432" y="3566160"/>
            <a:ext cx="1847088" cy="60350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Timeline: access → compose → send → Gmail confirmation page in cache</a:t>
            </a:r>
            <a:endParaRPr lang="en-US" sz="850" dirty="0"/>
          </a:p>
        </p:txBody>
      </p:sp>
      <p:sp>
        <p:nvSpPr>
          <p:cNvPr id="32" name="Shape 30"/>
          <p:cNvSpPr/>
          <p:nvPr/>
        </p:nvSpPr>
        <p:spPr>
          <a:xfrm>
            <a:off x="320040" y="4389120"/>
            <a:ext cx="8503920" cy="457200"/>
          </a:xfrm>
          <a:prstGeom prst="rect">
            <a:avLst/>
          </a:prstGeom>
          <a:solidFill>
            <a:srgbClr val="FFFFFF"/>
          </a:solidFill>
          <a:ln w="12700">
            <a:solidFill>
              <a:srgbClr val="F1C40F"/>
            </a:solidFill>
            <a:prstDash val="solid"/>
          </a:ln>
        </p:spPr>
        <p:txBody>
          <a:bodyPr/>
          <a:lstStyle/>
          <a:p>
            <a:endParaRPr lang="en-SG"/>
          </a:p>
        </p:txBody>
      </p:sp>
      <p:sp>
        <p:nvSpPr>
          <p:cNvPr id="33" name="Text 31"/>
          <p:cNvSpPr/>
          <p:nvPr/>
        </p:nvSpPr>
        <p:spPr>
          <a:xfrm>
            <a:off x="457200" y="4443984"/>
            <a:ext cx="832104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Network, email, and browser evidence are most powerful when correlated. Cross-referencing timestamps across all three sources builds a comprehensive, court-ready evidence package.</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18995" cy="256032"/>
          </a:xfrm>
          <a:prstGeom prst="rect">
            <a:avLst/>
          </a:prstGeom>
          <a:solidFill>
            <a:srgbClr val="F1C40F"/>
          </a:solidFill>
          <a:ln w="12700">
            <a:solidFill>
              <a:srgbClr val="F1C40F"/>
            </a:solidFill>
            <a:prstDash val="solid"/>
          </a:ln>
        </p:spPr>
        <p:txBody>
          <a:bodyPr/>
          <a:lstStyle/>
          <a:p>
            <a:endParaRPr lang="en-SG"/>
          </a:p>
        </p:txBody>
      </p:sp>
      <p:sp>
        <p:nvSpPr>
          <p:cNvPr id="3" name="Text 1"/>
          <p:cNvSpPr/>
          <p:nvPr/>
        </p:nvSpPr>
        <p:spPr>
          <a:xfrm>
            <a:off x="411480" y="164592"/>
            <a:ext cx="1927555"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CHECK YOUR UNDERSTANDING</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Check Your Understanding — Network Forensics</a:t>
            </a:r>
            <a:endParaRPr lang="en-US" sz="2800" dirty="0"/>
          </a:p>
        </p:txBody>
      </p:sp>
      <p:sp>
        <p:nvSpPr>
          <p:cNvPr id="5" name="Shape 3"/>
          <p:cNvSpPr/>
          <p:nvPr/>
        </p:nvSpPr>
        <p:spPr>
          <a:xfrm>
            <a:off x="320040" y="1261872"/>
            <a:ext cx="8503920" cy="420624"/>
          </a:xfrm>
          <a:prstGeom prst="rect">
            <a:avLst/>
          </a:prstGeom>
          <a:solidFill>
            <a:srgbClr val="FFFFFF"/>
          </a:solidFill>
          <a:ln w="12700">
            <a:solidFill>
              <a:srgbClr val="F1C40F"/>
            </a:solidFill>
            <a:prstDash val="solid"/>
          </a:ln>
        </p:spPr>
        <p:txBody>
          <a:bodyPr/>
          <a:lstStyle/>
          <a:p>
            <a:endParaRPr lang="en-SG"/>
          </a:p>
        </p:txBody>
      </p:sp>
      <p:sp>
        <p:nvSpPr>
          <p:cNvPr id="6" name="Shape 4"/>
          <p:cNvSpPr/>
          <p:nvPr/>
        </p:nvSpPr>
        <p:spPr>
          <a:xfrm>
            <a:off x="320040" y="1261872"/>
            <a:ext cx="54864" cy="420624"/>
          </a:xfrm>
          <a:prstGeom prst="rect">
            <a:avLst/>
          </a:prstGeom>
          <a:solidFill>
            <a:srgbClr val="F1C40F"/>
          </a:solidFill>
          <a:ln w="12700">
            <a:solidFill>
              <a:srgbClr val="F1C40F"/>
            </a:solidFill>
            <a:prstDash val="solid"/>
          </a:ln>
        </p:spPr>
        <p:txBody>
          <a:bodyPr/>
          <a:lstStyle/>
          <a:p>
            <a:endParaRPr lang="en-SG"/>
          </a:p>
        </p:txBody>
      </p:sp>
      <p:sp>
        <p:nvSpPr>
          <p:cNvPr id="7" name="Text 5"/>
          <p:cNvSpPr/>
          <p:nvPr/>
        </p:nvSpPr>
        <p:spPr>
          <a:xfrm>
            <a:off x="475488" y="1353312"/>
            <a:ext cx="8229600" cy="256032"/>
          </a:xfrm>
          <a:prstGeom prst="rect">
            <a:avLst/>
          </a:prstGeom>
          <a:noFill/>
          <a:ln/>
        </p:spPr>
        <p:txBody>
          <a:bodyPr wrap="square" lIns="0" tIns="0" rIns="0" bIns="0" rtlCol="0" anchor="ctr"/>
          <a:lstStyle/>
          <a:p>
            <a:pPr marL="0" indent="0">
              <a:buNone/>
            </a:pPr>
            <a:r>
              <a:rPr lang="en-US" sz="1050" i="1" dirty="0">
                <a:solidFill>
                  <a:srgbClr val="1A1A2E"/>
                </a:solidFill>
                <a:latin typeface="Calibri" pitchFamily="34" charset="0"/>
                <a:ea typeface="Calibri" pitchFamily="34" charset="-122"/>
                <a:cs typeface="Calibri" pitchFamily="34" charset="-120"/>
              </a:rPr>
              <a:t>Think carefully about your answers before turning to the next slide.</a:t>
            </a:r>
            <a:endParaRPr lang="en-US" sz="1050" dirty="0"/>
          </a:p>
        </p:txBody>
      </p:sp>
      <p:sp>
        <p:nvSpPr>
          <p:cNvPr id="8" name="Shape 6"/>
          <p:cNvSpPr/>
          <p:nvPr/>
        </p:nvSpPr>
        <p:spPr>
          <a:xfrm>
            <a:off x="320040" y="1792224"/>
            <a:ext cx="8503920" cy="530352"/>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792224"/>
            <a:ext cx="457200" cy="53035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320040" y="1792224"/>
            <a:ext cx="457200" cy="53035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Q1</a:t>
            </a:r>
            <a:endParaRPr lang="en-US" sz="1200" dirty="0"/>
          </a:p>
        </p:txBody>
      </p:sp>
      <p:sp>
        <p:nvSpPr>
          <p:cNvPr id="11" name="Text 9"/>
          <p:cNvSpPr/>
          <p:nvPr/>
        </p:nvSpPr>
        <p:spPr>
          <a:xfrm>
            <a:off x="859536" y="1865376"/>
            <a:ext cx="786384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 workstation in an office begins sending large volumes of traffic to an overseas IP at 3 AM. Which logs would you check FIRST, and what would you look for?</a:t>
            </a:r>
            <a:endParaRPr lang="en-US" sz="950" dirty="0"/>
          </a:p>
        </p:txBody>
      </p:sp>
      <p:sp>
        <p:nvSpPr>
          <p:cNvPr id="12" name="Shape 10"/>
          <p:cNvSpPr/>
          <p:nvPr/>
        </p:nvSpPr>
        <p:spPr>
          <a:xfrm>
            <a:off x="320040" y="2395728"/>
            <a:ext cx="8503920" cy="530352"/>
          </a:xfrm>
          <a:prstGeom prst="rect">
            <a:avLst/>
          </a:prstGeom>
          <a:solidFill>
            <a:srgbClr val="EEF6FB"/>
          </a:solidFill>
          <a:ln w="12700">
            <a:solidFill>
              <a:srgbClr val="EEF6FB"/>
            </a:solidFill>
            <a:prstDash val="solid"/>
          </a:ln>
        </p:spPr>
        <p:txBody>
          <a:bodyPr/>
          <a:lstStyle/>
          <a:p>
            <a:endParaRPr lang="en-SG"/>
          </a:p>
        </p:txBody>
      </p:sp>
      <p:sp>
        <p:nvSpPr>
          <p:cNvPr id="13" name="Shape 11"/>
          <p:cNvSpPr/>
          <p:nvPr/>
        </p:nvSpPr>
        <p:spPr>
          <a:xfrm>
            <a:off x="320040" y="2395728"/>
            <a:ext cx="457200" cy="530352"/>
          </a:xfrm>
          <a:prstGeom prst="rect">
            <a:avLst/>
          </a:prstGeom>
          <a:solidFill>
            <a:srgbClr val="F4A261"/>
          </a:solidFill>
          <a:ln w="12700">
            <a:solidFill>
              <a:srgbClr val="F4A261"/>
            </a:solidFill>
            <a:prstDash val="solid"/>
          </a:ln>
        </p:spPr>
        <p:txBody>
          <a:bodyPr/>
          <a:lstStyle/>
          <a:p>
            <a:endParaRPr lang="en-SG"/>
          </a:p>
        </p:txBody>
      </p:sp>
      <p:sp>
        <p:nvSpPr>
          <p:cNvPr id="14" name="Text 12"/>
          <p:cNvSpPr/>
          <p:nvPr/>
        </p:nvSpPr>
        <p:spPr>
          <a:xfrm>
            <a:off x="320040" y="2395728"/>
            <a:ext cx="457200" cy="53035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Q2</a:t>
            </a:r>
            <a:endParaRPr lang="en-US" sz="1200" dirty="0"/>
          </a:p>
        </p:txBody>
      </p:sp>
      <p:sp>
        <p:nvSpPr>
          <p:cNvPr id="15" name="Text 13"/>
          <p:cNvSpPr/>
          <p:nvPr/>
        </p:nvSpPr>
        <p:spPr>
          <a:xfrm>
            <a:off x="859536" y="2468880"/>
            <a:ext cx="786384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An attacker has sent a spoofed phishing email pretending to be the CEO. How would you use email headers to prove the email did NOT come from the company's mail server?</a:t>
            </a:r>
            <a:endParaRPr lang="en-US" sz="950" dirty="0"/>
          </a:p>
        </p:txBody>
      </p:sp>
      <p:sp>
        <p:nvSpPr>
          <p:cNvPr id="16" name="Shape 14"/>
          <p:cNvSpPr/>
          <p:nvPr/>
        </p:nvSpPr>
        <p:spPr>
          <a:xfrm>
            <a:off x="320040" y="2999232"/>
            <a:ext cx="8503920" cy="530352"/>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320040" y="2999232"/>
            <a:ext cx="457200" cy="530352"/>
          </a:xfrm>
          <a:prstGeom prst="rect">
            <a:avLst/>
          </a:prstGeom>
          <a:solidFill>
            <a:srgbClr val="2ECC71"/>
          </a:solidFill>
          <a:ln w="12700">
            <a:solidFill>
              <a:srgbClr val="2ECC71"/>
            </a:solidFill>
            <a:prstDash val="solid"/>
          </a:ln>
        </p:spPr>
        <p:txBody>
          <a:bodyPr/>
          <a:lstStyle/>
          <a:p>
            <a:endParaRPr lang="en-SG"/>
          </a:p>
        </p:txBody>
      </p:sp>
      <p:sp>
        <p:nvSpPr>
          <p:cNvPr id="18" name="Text 16"/>
          <p:cNvSpPr/>
          <p:nvPr/>
        </p:nvSpPr>
        <p:spPr>
          <a:xfrm>
            <a:off x="320040" y="2999232"/>
            <a:ext cx="457200" cy="53035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Q3</a:t>
            </a:r>
            <a:endParaRPr lang="en-US" sz="1200" dirty="0"/>
          </a:p>
        </p:txBody>
      </p:sp>
      <p:sp>
        <p:nvSpPr>
          <p:cNvPr id="19" name="Text 17"/>
          <p:cNvSpPr/>
          <p:nvPr/>
        </p:nvSpPr>
        <p:spPr>
          <a:xfrm>
            <a:off x="859536" y="3072384"/>
            <a:ext cx="786384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You seize a suspect's laptop. The browser history has been cleared. Name TWO other places in the browser profile where evidence of web activity may still be found.</a:t>
            </a:r>
            <a:endParaRPr lang="en-US" sz="950" dirty="0"/>
          </a:p>
        </p:txBody>
      </p:sp>
      <p:sp>
        <p:nvSpPr>
          <p:cNvPr id="20" name="Shape 18"/>
          <p:cNvSpPr/>
          <p:nvPr/>
        </p:nvSpPr>
        <p:spPr>
          <a:xfrm>
            <a:off x="320040" y="3602736"/>
            <a:ext cx="8503920" cy="530352"/>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320040" y="3602736"/>
            <a:ext cx="457200" cy="530352"/>
          </a:xfrm>
          <a:prstGeom prst="rect">
            <a:avLst/>
          </a:prstGeom>
          <a:solidFill>
            <a:srgbClr val="A855F7"/>
          </a:solidFill>
          <a:ln w="12700">
            <a:solidFill>
              <a:srgbClr val="A855F7"/>
            </a:solidFill>
            <a:prstDash val="solid"/>
          </a:ln>
        </p:spPr>
        <p:txBody>
          <a:bodyPr/>
          <a:lstStyle/>
          <a:p>
            <a:endParaRPr lang="en-SG"/>
          </a:p>
        </p:txBody>
      </p:sp>
      <p:sp>
        <p:nvSpPr>
          <p:cNvPr id="22" name="Text 20"/>
          <p:cNvSpPr/>
          <p:nvPr/>
        </p:nvSpPr>
        <p:spPr>
          <a:xfrm>
            <a:off x="320040" y="3602736"/>
            <a:ext cx="457200" cy="53035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Q4</a:t>
            </a:r>
            <a:endParaRPr lang="en-US" sz="1200" dirty="0"/>
          </a:p>
        </p:txBody>
      </p:sp>
      <p:sp>
        <p:nvSpPr>
          <p:cNvPr id="23" name="Text 21"/>
          <p:cNvSpPr/>
          <p:nvPr/>
        </p:nvSpPr>
        <p:spPr>
          <a:xfrm>
            <a:off x="859536" y="3675888"/>
            <a:ext cx="786384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 colleague says 'We don't need to hash the evidence — we'll just keep it locked in a safe.' What is wrong with this reasoning, and what should be done instead?</a:t>
            </a:r>
            <a:endParaRPr lang="en-US" sz="950" dirty="0"/>
          </a:p>
        </p:txBody>
      </p:sp>
      <p:sp>
        <p:nvSpPr>
          <p:cNvPr id="24" name="Shape 22"/>
          <p:cNvSpPr/>
          <p:nvPr/>
        </p:nvSpPr>
        <p:spPr>
          <a:xfrm>
            <a:off x="320040" y="4206240"/>
            <a:ext cx="8503920" cy="530352"/>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320040" y="4206240"/>
            <a:ext cx="457200" cy="530352"/>
          </a:xfrm>
          <a:prstGeom prst="rect">
            <a:avLst/>
          </a:prstGeom>
          <a:solidFill>
            <a:srgbClr val="E74C3C"/>
          </a:solidFill>
          <a:ln w="12700">
            <a:solidFill>
              <a:srgbClr val="E74C3C"/>
            </a:solidFill>
            <a:prstDash val="solid"/>
          </a:ln>
        </p:spPr>
        <p:txBody>
          <a:bodyPr/>
          <a:lstStyle/>
          <a:p>
            <a:endParaRPr lang="en-SG"/>
          </a:p>
        </p:txBody>
      </p:sp>
      <p:sp>
        <p:nvSpPr>
          <p:cNvPr id="26" name="Text 24"/>
          <p:cNvSpPr/>
          <p:nvPr/>
        </p:nvSpPr>
        <p:spPr>
          <a:xfrm>
            <a:off x="320040" y="4206240"/>
            <a:ext cx="457200" cy="530352"/>
          </a:xfrm>
          <a:prstGeom prst="rect">
            <a:avLst/>
          </a:prstGeom>
          <a:noFill/>
          <a:ln/>
        </p:spPr>
        <p:txBody>
          <a:bodyPr wrap="square" lIns="0" tIns="0" rIns="0" bIns="0"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Q5</a:t>
            </a:r>
            <a:endParaRPr lang="en-US" sz="1200" dirty="0"/>
          </a:p>
        </p:txBody>
      </p:sp>
      <p:sp>
        <p:nvSpPr>
          <p:cNvPr id="27" name="Text 25"/>
          <p:cNvSpPr/>
          <p:nvPr/>
        </p:nvSpPr>
        <p:spPr>
          <a:xfrm>
            <a:off x="859536" y="4279392"/>
            <a:ext cx="7863840" cy="384048"/>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Traffic on port 4444 is detected between an internal server and an external IP. Why is this significant, and what are your immediate next steps?</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69034" cy="256032"/>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11480" y="164592"/>
            <a:ext cx="177759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ANSWERS &amp; EXPLANATIONS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Check Your Understanding — Answers</a:t>
            </a:r>
            <a:endParaRPr lang="en-US" sz="2800" dirty="0"/>
          </a:p>
        </p:txBody>
      </p:sp>
      <p:sp>
        <p:nvSpPr>
          <p:cNvPr id="5" name="Shape 3"/>
          <p:cNvSpPr/>
          <p:nvPr/>
        </p:nvSpPr>
        <p:spPr>
          <a:xfrm>
            <a:off x="320040" y="1280160"/>
            <a:ext cx="8503920" cy="658368"/>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80160"/>
            <a:ext cx="457200" cy="658368"/>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1280160"/>
            <a:ext cx="457200" cy="6583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A1</a:t>
            </a:r>
            <a:endParaRPr lang="en-US" sz="1100" dirty="0"/>
          </a:p>
        </p:txBody>
      </p:sp>
      <p:sp>
        <p:nvSpPr>
          <p:cNvPr id="8" name="Text 6"/>
          <p:cNvSpPr/>
          <p:nvPr/>
        </p:nvSpPr>
        <p:spPr>
          <a:xfrm>
            <a:off x="859536" y="1316736"/>
            <a:ext cx="7863840" cy="182880"/>
          </a:xfrm>
          <a:prstGeom prst="rect">
            <a:avLst/>
          </a:prstGeom>
          <a:noFill/>
          <a:ln/>
        </p:spPr>
        <p:txBody>
          <a:bodyPr wrap="square" lIns="0" tIns="0" rIns="0" bIns="0" rtlCol="0" anchor="ctr"/>
          <a:lstStyle/>
          <a:p>
            <a:pPr marL="0" indent="0">
              <a:buNone/>
            </a:pPr>
            <a:r>
              <a:rPr lang="en-US" sz="850" b="1" dirty="0">
                <a:solidFill>
                  <a:srgbClr val="00B4D8"/>
                </a:solidFill>
                <a:latin typeface="Calibri" pitchFamily="34" charset="0"/>
                <a:ea typeface="Calibri" pitchFamily="34" charset="-122"/>
                <a:cs typeface="Calibri" pitchFamily="34" charset="-120"/>
              </a:rPr>
              <a:t>[3 AM outbound traffic surge]</a:t>
            </a:r>
            <a:endParaRPr lang="en-US" sz="850" dirty="0"/>
          </a:p>
        </p:txBody>
      </p:sp>
      <p:sp>
        <p:nvSpPr>
          <p:cNvPr id="9" name="Text 7"/>
          <p:cNvSpPr/>
          <p:nvPr/>
        </p:nvSpPr>
        <p:spPr>
          <a:xfrm>
            <a:off x="859536" y="1517904"/>
            <a:ext cx="7863840"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Check the firewall logs first — they record source IP, destination IP, port, and data volume. Then cross-reference with IDS/IPS alerts for malware signatures, and DNS logs for suspicious domain lookups that may reveal attacker C2 infrastructure.</a:t>
            </a:r>
            <a:endParaRPr lang="en-US" sz="850" dirty="0"/>
          </a:p>
        </p:txBody>
      </p:sp>
      <p:sp>
        <p:nvSpPr>
          <p:cNvPr id="10" name="Shape 8"/>
          <p:cNvSpPr/>
          <p:nvPr/>
        </p:nvSpPr>
        <p:spPr>
          <a:xfrm>
            <a:off x="320040" y="1993392"/>
            <a:ext cx="8503920" cy="658368"/>
          </a:xfrm>
          <a:prstGeom prst="rect">
            <a:avLst/>
          </a:prstGeom>
          <a:solidFill>
            <a:srgbClr val="EEF6FB"/>
          </a:solidFill>
          <a:ln w="12700">
            <a:solidFill>
              <a:srgbClr val="EEF6FB"/>
            </a:solidFill>
            <a:prstDash val="solid"/>
          </a:ln>
        </p:spPr>
        <p:txBody>
          <a:bodyPr/>
          <a:lstStyle/>
          <a:p>
            <a:endParaRPr lang="en-SG"/>
          </a:p>
        </p:txBody>
      </p:sp>
      <p:sp>
        <p:nvSpPr>
          <p:cNvPr id="11" name="Shape 9"/>
          <p:cNvSpPr/>
          <p:nvPr/>
        </p:nvSpPr>
        <p:spPr>
          <a:xfrm>
            <a:off x="320040" y="1993392"/>
            <a:ext cx="457200" cy="658368"/>
          </a:xfrm>
          <a:prstGeom prst="rect">
            <a:avLst/>
          </a:prstGeom>
          <a:solidFill>
            <a:srgbClr val="F4A261"/>
          </a:solidFill>
          <a:ln w="12700">
            <a:solidFill>
              <a:srgbClr val="F4A261"/>
            </a:solidFill>
            <a:prstDash val="solid"/>
          </a:ln>
        </p:spPr>
        <p:txBody>
          <a:bodyPr/>
          <a:lstStyle/>
          <a:p>
            <a:endParaRPr lang="en-SG"/>
          </a:p>
        </p:txBody>
      </p:sp>
      <p:sp>
        <p:nvSpPr>
          <p:cNvPr id="12" name="Text 10"/>
          <p:cNvSpPr/>
          <p:nvPr/>
        </p:nvSpPr>
        <p:spPr>
          <a:xfrm>
            <a:off x="320040" y="1993392"/>
            <a:ext cx="457200" cy="6583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A2</a:t>
            </a:r>
            <a:endParaRPr lang="en-US" sz="1100" dirty="0"/>
          </a:p>
        </p:txBody>
      </p:sp>
      <p:sp>
        <p:nvSpPr>
          <p:cNvPr id="13" name="Text 11"/>
          <p:cNvSpPr/>
          <p:nvPr/>
        </p:nvSpPr>
        <p:spPr>
          <a:xfrm>
            <a:off x="859536" y="2029968"/>
            <a:ext cx="7863840" cy="182880"/>
          </a:xfrm>
          <a:prstGeom prst="rect">
            <a:avLst/>
          </a:prstGeom>
          <a:noFill/>
          <a:ln/>
        </p:spPr>
        <p:txBody>
          <a:bodyPr wrap="square" lIns="0" tIns="0" rIns="0" bIns="0" rtlCol="0" anchor="ctr"/>
          <a:lstStyle/>
          <a:p>
            <a:pPr marL="0" indent="0">
              <a:buNone/>
            </a:pPr>
            <a:r>
              <a:rPr lang="en-US" sz="850" b="1" dirty="0">
                <a:solidFill>
                  <a:srgbClr val="F4A261"/>
                </a:solidFill>
                <a:latin typeface="Calibri" pitchFamily="34" charset="0"/>
                <a:ea typeface="Calibri" pitchFamily="34" charset="-122"/>
                <a:cs typeface="Calibri" pitchFamily="34" charset="-120"/>
              </a:rPr>
              <a:t>[Proving email spoofing]</a:t>
            </a:r>
            <a:endParaRPr lang="en-US" sz="850" dirty="0"/>
          </a:p>
        </p:txBody>
      </p:sp>
      <p:sp>
        <p:nvSpPr>
          <p:cNvPr id="14" name="Text 12"/>
          <p:cNvSpPr/>
          <p:nvPr/>
        </p:nvSpPr>
        <p:spPr>
          <a:xfrm>
            <a:off x="859536" y="2231136"/>
            <a:ext cx="7863840"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Read the 'Received:' header lines bottom-up — they show every server the email passed through. Check X-Originating-IP (should match the company's mail server). SPF: FAIL and DMARC: FAIL confirm the email did not originate from an authorised server.</a:t>
            </a:r>
            <a:endParaRPr lang="en-US" sz="850" dirty="0"/>
          </a:p>
        </p:txBody>
      </p:sp>
      <p:sp>
        <p:nvSpPr>
          <p:cNvPr id="15" name="Shape 13"/>
          <p:cNvSpPr/>
          <p:nvPr/>
        </p:nvSpPr>
        <p:spPr>
          <a:xfrm>
            <a:off x="320040" y="2706624"/>
            <a:ext cx="8503920" cy="658368"/>
          </a:xfrm>
          <a:prstGeom prst="rect">
            <a:avLst/>
          </a:prstGeom>
          <a:solidFill>
            <a:srgbClr val="EEF6FB"/>
          </a:solidFill>
          <a:ln w="12700">
            <a:solidFill>
              <a:srgbClr val="EEF6FB"/>
            </a:solidFill>
            <a:prstDash val="solid"/>
          </a:ln>
        </p:spPr>
        <p:txBody>
          <a:bodyPr/>
          <a:lstStyle/>
          <a:p>
            <a:endParaRPr lang="en-SG"/>
          </a:p>
        </p:txBody>
      </p:sp>
      <p:sp>
        <p:nvSpPr>
          <p:cNvPr id="16" name="Shape 14"/>
          <p:cNvSpPr/>
          <p:nvPr/>
        </p:nvSpPr>
        <p:spPr>
          <a:xfrm>
            <a:off x="320040" y="2706624"/>
            <a:ext cx="457200" cy="658368"/>
          </a:xfrm>
          <a:prstGeom prst="rect">
            <a:avLst/>
          </a:prstGeom>
          <a:solidFill>
            <a:srgbClr val="2ECC71"/>
          </a:solidFill>
          <a:ln w="12700">
            <a:solidFill>
              <a:srgbClr val="2ECC71"/>
            </a:solidFill>
            <a:prstDash val="solid"/>
          </a:ln>
        </p:spPr>
        <p:txBody>
          <a:bodyPr/>
          <a:lstStyle/>
          <a:p>
            <a:endParaRPr lang="en-SG"/>
          </a:p>
        </p:txBody>
      </p:sp>
      <p:sp>
        <p:nvSpPr>
          <p:cNvPr id="17" name="Text 15"/>
          <p:cNvSpPr/>
          <p:nvPr/>
        </p:nvSpPr>
        <p:spPr>
          <a:xfrm>
            <a:off x="320040" y="2706624"/>
            <a:ext cx="457200" cy="6583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A3</a:t>
            </a:r>
            <a:endParaRPr lang="en-US" sz="1100" dirty="0"/>
          </a:p>
        </p:txBody>
      </p:sp>
      <p:sp>
        <p:nvSpPr>
          <p:cNvPr id="18" name="Text 16"/>
          <p:cNvSpPr/>
          <p:nvPr/>
        </p:nvSpPr>
        <p:spPr>
          <a:xfrm>
            <a:off x="859536" y="2743200"/>
            <a:ext cx="7863840" cy="182880"/>
          </a:xfrm>
          <a:prstGeom prst="rect">
            <a:avLst/>
          </a:prstGeom>
          <a:noFill/>
          <a:ln/>
        </p:spPr>
        <p:txBody>
          <a:bodyPr wrap="square" lIns="0" tIns="0" rIns="0" bIns="0" rtlCol="0" anchor="ctr"/>
          <a:lstStyle/>
          <a:p>
            <a:pPr marL="0" indent="0">
              <a:buNone/>
            </a:pPr>
            <a:r>
              <a:rPr lang="en-US" sz="850" b="1" dirty="0">
                <a:solidFill>
                  <a:srgbClr val="2ECC71"/>
                </a:solidFill>
                <a:latin typeface="Calibri" pitchFamily="34" charset="0"/>
                <a:ea typeface="Calibri" pitchFamily="34" charset="-122"/>
                <a:cs typeface="Calibri" pitchFamily="34" charset="-120"/>
              </a:rPr>
              <a:t>[Evidence after history cleared]</a:t>
            </a:r>
            <a:endParaRPr lang="en-US" sz="850" dirty="0"/>
          </a:p>
        </p:txBody>
      </p:sp>
      <p:sp>
        <p:nvSpPr>
          <p:cNvPr id="19" name="Text 17"/>
          <p:cNvSpPr/>
          <p:nvPr/>
        </p:nvSpPr>
        <p:spPr>
          <a:xfrm>
            <a:off x="859536" y="2944368"/>
            <a:ext cx="7863840"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(1) Browser Cache — locally stored copies of pages and images survive history deletion. (2) Cookies — session tokens and authentication cookies often remain even after history is cleared, proving account logins at specific times.</a:t>
            </a:r>
            <a:endParaRPr lang="en-US" sz="850" dirty="0"/>
          </a:p>
        </p:txBody>
      </p:sp>
      <p:sp>
        <p:nvSpPr>
          <p:cNvPr id="20" name="Shape 18"/>
          <p:cNvSpPr/>
          <p:nvPr/>
        </p:nvSpPr>
        <p:spPr>
          <a:xfrm>
            <a:off x="320040" y="3419856"/>
            <a:ext cx="8503920" cy="658368"/>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320040" y="3419856"/>
            <a:ext cx="457200" cy="658368"/>
          </a:xfrm>
          <a:prstGeom prst="rect">
            <a:avLst/>
          </a:prstGeom>
          <a:solidFill>
            <a:srgbClr val="A855F7"/>
          </a:solidFill>
          <a:ln w="12700">
            <a:solidFill>
              <a:srgbClr val="A855F7"/>
            </a:solidFill>
            <a:prstDash val="solid"/>
          </a:ln>
        </p:spPr>
        <p:txBody>
          <a:bodyPr/>
          <a:lstStyle/>
          <a:p>
            <a:endParaRPr lang="en-SG"/>
          </a:p>
        </p:txBody>
      </p:sp>
      <p:sp>
        <p:nvSpPr>
          <p:cNvPr id="22" name="Text 20"/>
          <p:cNvSpPr/>
          <p:nvPr/>
        </p:nvSpPr>
        <p:spPr>
          <a:xfrm>
            <a:off x="320040" y="3419856"/>
            <a:ext cx="457200" cy="6583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A4</a:t>
            </a:r>
            <a:endParaRPr lang="en-US" sz="1100" dirty="0"/>
          </a:p>
        </p:txBody>
      </p:sp>
      <p:sp>
        <p:nvSpPr>
          <p:cNvPr id="23" name="Text 21"/>
          <p:cNvSpPr/>
          <p:nvPr/>
        </p:nvSpPr>
        <p:spPr>
          <a:xfrm>
            <a:off x="859536" y="3456432"/>
            <a:ext cx="7863840" cy="182880"/>
          </a:xfrm>
          <a:prstGeom prst="rect">
            <a:avLst/>
          </a:prstGeom>
          <a:noFill/>
          <a:ln/>
        </p:spPr>
        <p:txBody>
          <a:bodyPr wrap="square" lIns="0" tIns="0" rIns="0" bIns="0" rtlCol="0" anchor="ctr"/>
          <a:lstStyle/>
          <a:p>
            <a:pPr marL="0" indent="0">
              <a:buNone/>
            </a:pPr>
            <a:r>
              <a:rPr lang="en-US" sz="850" b="1" dirty="0">
                <a:solidFill>
                  <a:srgbClr val="A855F7"/>
                </a:solidFill>
                <a:latin typeface="Calibri" pitchFamily="34" charset="0"/>
                <a:ea typeface="Calibri" pitchFamily="34" charset="-122"/>
                <a:cs typeface="Calibri" pitchFamily="34" charset="-120"/>
              </a:rPr>
              <a:t>[Hash evidence — not just lock it]</a:t>
            </a:r>
            <a:endParaRPr lang="en-US" sz="850" dirty="0"/>
          </a:p>
        </p:txBody>
      </p:sp>
      <p:sp>
        <p:nvSpPr>
          <p:cNvPr id="24" name="Text 22"/>
          <p:cNvSpPr/>
          <p:nvPr/>
        </p:nvSpPr>
        <p:spPr>
          <a:xfrm>
            <a:off x="859536" y="3657600"/>
            <a:ext cx="7863840"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Physical security alone cannot prove the file was not modified. A cryptographic hash (SHA-256) creates a digital fingerprint at the moment of collection. If the hash changes later, tampering is proven. Both hashing AND physical security are required.</a:t>
            </a:r>
            <a:endParaRPr lang="en-US" sz="850" dirty="0"/>
          </a:p>
        </p:txBody>
      </p:sp>
      <p:sp>
        <p:nvSpPr>
          <p:cNvPr id="25" name="Shape 23"/>
          <p:cNvSpPr/>
          <p:nvPr/>
        </p:nvSpPr>
        <p:spPr>
          <a:xfrm>
            <a:off x="320040" y="4133088"/>
            <a:ext cx="8503920" cy="658368"/>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320040" y="4133088"/>
            <a:ext cx="457200" cy="658368"/>
          </a:xfrm>
          <a:prstGeom prst="rect">
            <a:avLst/>
          </a:prstGeom>
          <a:solidFill>
            <a:srgbClr val="E74C3C"/>
          </a:solidFill>
          <a:ln w="12700">
            <a:solidFill>
              <a:srgbClr val="E74C3C"/>
            </a:solidFill>
            <a:prstDash val="solid"/>
          </a:ln>
        </p:spPr>
        <p:txBody>
          <a:bodyPr/>
          <a:lstStyle/>
          <a:p>
            <a:endParaRPr lang="en-SG"/>
          </a:p>
        </p:txBody>
      </p:sp>
      <p:sp>
        <p:nvSpPr>
          <p:cNvPr id="27" name="Text 25"/>
          <p:cNvSpPr/>
          <p:nvPr/>
        </p:nvSpPr>
        <p:spPr>
          <a:xfrm>
            <a:off x="320040" y="4133088"/>
            <a:ext cx="457200" cy="658368"/>
          </a:xfrm>
          <a:prstGeom prst="rect">
            <a:avLst/>
          </a:prstGeom>
          <a:noFill/>
          <a:ln/>
        </p:spPr>
        <p:txBody>
          <a:bodyPr wrap="square" lIns="0" tIns="0" rIns="0" bIns="0" rtlCol="0" anchor="ctr"/>
          <a:lstStyle/>
          <a:p>
            <a:pPr marL="0" indent="0" algn="ctr">
              <a:buNone/>
            </a:pPr>
            <a:r>
              <a:rPr lang="en-US" sz="1100" b="1" dirty="0">
                <a:solidFill>
                  <a:srgbClr val="060E17"/>
                </a:solidFill>
                <a:latin typeface="Calibri" pitchFamily="34" charset="0"/>
                <a:ea typeface="Calibri" pitchFamily="34" charset="-122"/>
                <a:cs typeface="Calibri" pitchFamily="34" charset="-120"/>
              </a:rPr>
              <a:t>A5</a:t>
            </a:r>
            <a:endParaRPr lang="en-US" sz="1100" dirty="0"/>
          </a:p>
        </p:txBody>
      </p:sp>
      <p:sp>
        <p:nvSpPr>
          <p:cNvPr id="28" name="Text 26"/>
          <p:cNvSpPr/>
          <p:nvPr/>
        </p:nvSpPr>
        <p:spPr>
          <a:xfrm>
            <a:off x="859536" y="4169664"/>
            <a:ext cx="7863840" cy="182880"/>
          </a:xfrm>
          <a:prstGeom prst="rect">
            <a:avLst/>
          </a:prstGeom>
          <a:noFill/>
          <a:ln/>
        </p:spPr>
        <p:txBody>
          <a:bodyPr wrap="square" lIns="0" tIns="0" rIns="0" bIns="0" rtlCol="0" anchor="ctr"/>
          <a:lstStyle/>
          <a:p>
            <a:pPr marL="0" indent="0">
              <a:buNone/>
            </a:pPr>
            <a:r>
              <a:rPr lang="en-US" sz="850" b="1" dirty="0">
                <a:solidFill>
                  <a:srgbClr val="E74C3C"/>
                </a:solidFill>
                <a:latin typeface="Calibri" pitchFamily="34" charset="0"/>
                <a:ea typeface="Calibri" pitchFamily="34" charset="-122"/>
                <a:cs typeface="Calibri" pitchFamily="34" charset="-120"/>
              </a:rPr>
              <a:t>[Port 4444 traffic detected]</a:t>
            </a:r>
            <a:endParaRPr lang="en-US" sz="850" dirty="0"/>
          </a:p>
        </p:txBody>
      </p:sp>
      <p:sp>
        <p:nvSpPr>
          <p:cNvPr id="29" name="Text 27"/>
          <p:cNvSpPr/>
          <p:nvPr/>
        </p:nvSpPr>
        <p:spPr>
          <a:xfrm>
            <a:off x="859536" y="4370832"/>
            <a:ext cx="7863840" cy="3840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Port 4444 is the default reverse shell port for Metasploit — traffic here strongly suggests a compromised system calling back to an attacker. Immediate steps: isolate the server, capture the PCAP, image the system, and check firewall logs for lateral movement.</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269187"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177747"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LESSON SUMMARY</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Key Learning Points</a:t>
            </a:r>
            <a:endParaRPr lang="en-US" sz="2800" dirty="0"/>
          </a:p>
        </p:txBody>
      </p:sp>
      <p:sp>
        <p:nvSpPr>
          <p:cNvPr id="5" name="Shape 3"/>
          <p:cNvSpPr/>
          <p:nvPr/>
        </p:nvSpPr>
        <p:spPr>
          <a:xfrm>
            <a:off x="320040" y="1298448"/>
            <a:ext cx="4133088" cy="566928"/>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98448"/>
            <a:ext cx="365760" cy="566928"/>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1298448"/>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758952" y="1371600"/>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Network forensics = systematic capture, analysis, and documentation of network traffic and logs to investigate incidents and support legal proceedings.</a:t>
            </a:r>
            <a:endParaRPr lang="en-US" sz="850" dirty="0"/>
          </a:p>
        </p:txBody>
      </p:sp>
      <p:sp>
        <p:nvSpPr>
          <p:cNvPr id="9" name="Shape 7"/>
          <p:cNvSpPr/>
          <p:nvPr/>
        </p:nvSpPr>
        <p:spPr>
          <a:xfrm>
            <a:off x="4581144" y="1298448"/>
            <a:ext cx="4133088" cy="566928"/>
          </a:xfrm>
          <a:prstGeom prst="rect">
            <a:avLst/>
          </a:prstGeom>
          <a:solidFill>
            <a:srgbClr val="FFFFFF"/>
          </a:solidFill>
          <a:ln w="12700">
            <a:solidFill>
              <a:srgbClr val="FFFFFF"/>
            </a:solidFill>
            <a:prstDash val="solid"/>
          </a:ln>
        </p:spPr>
        <p:txBody>
          <a:bodyPr/>
          <a:lstStyle/>
          <a:p>
            <a:endParaRPr lang="en-SG"/>
          </a:p>
        </p:txBody>
      </p:sp>
      <p:sp>
        <p:nvSpPr>
          <p:cNvPr id="10" name="Shape 8"/>
          <p:cNvSpPr/>
          <p:nvPr/>
        </p:nvSpPr>
        <p:spPr>
          <a:xfrm>
            <a:off x="4581144" y="1298448"/>
            <a:ext cx="365760" cy="566928"/>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4581144" y="1298448"/>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02</a:t>
            </a:r>
            <a:endParaRPr lang="en-US" sz="1000" dirty="0"/>
          </a:p>
        </p:txBody>
      </p:sp>
      <p:sp>
        <p:nvSpPr>
          <p:cNvPr id="12" name="Text 10"/>
          <p:cNvSpPr/>
          <p:nvPr/>
        </p:nvSpPr>
        <p:spPr>
          <a:xfrm>
            <a:off x="5020056" y="1371600"/>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LAN evidence is internal (switch, DHCP, internal firewall). WAN evidence crosses ISP and national boundaries — requiring legal authorisation to access.</a:t>
            </a:r>
            <a:endParaRPr lang="en-US" sz="850" dirty="0"/>
          </a:p>
        </p:txBody>
      </p:sp>
      <p:sp>
        <p:nvSpPr>
          <p:cNvPr id="13" name="Shape 11"/>
          <p:cNvSpPr/>
          <p:nvPr/>
        </p:nvSpPr>
        <p:spPr>
          <a:xfrm>
            <a:off x="320040" y="1956816"/>
            <a:ext cx="4133088" cy="566928"/>
          </a:xfrm>
          <a:prstGeom prst="rect">
            <a:avLst/>
          </a:prstGeom>
          <a:solidFill>
            <a:srgbClr val="FFFFFF"/>
          </a:solidFill>
          <a:ln w="12700">
            <a:solidFill>
              <a:srgbClr val="FFFFFF"/>
            </a:solidFill>
            <a:prstDash val="solid"/>
          </a:ln>
        </p:spPr>
        <p:txBody>
          <a:bodyPr/>
          <a:lstStyle/>
          <a:p>
            <a:endParaRPr lang="en-SG"/>
          </a:p>
        </p:txBody>
      </p:sp>
      <p:sp>
        <p:nvSpPr>
          <p:cNvPr id="14" name="Shape 12"/>
          <p:cNvSpPr/>
          <p:nvPr/>
        </p:nvSpPr>
        <p:spPr>
          <a:xfrm>
            <a:off x="320040" y="1956816"/>
            <a:ext cx="365760" cy="566928"/>
          </a:xfrm>
          <a:prstGeom prst="rect">
            <a:avLst/>
          </a:prstGeom>
          <a:solidFill>
            <a:srgbClr val="2ECC71"/>
          </a:solidFill>
          <a:ln w="12700">
            <a:solidFill>
              <a:srgbClr val="2ECC71"/>
            </a:solidFill>
            <a:prstDash val="solid"/>
          </a:ln>
        </p:spPr>
        <p:txBody>
          <a:bodyPr/>
          <a:lstStyle/>
          <a:p>
            <a:endParaRPr lang="en-SG"/>
          </a:p>
        </p:txBody>
      </p:sp>
      <p:sp>
        <p:nvSpPr>
          <p:cNvPr id="15" name="Text 13"/>
          <p:cNvSpPr/>
          <p:nvPr/>
        </p:nvSpPr>
        <p:spPr>
          <a:xfrm>
            <a:off x="320040" y="1956816"/>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03</a:t>
            </a:r>
            <a:endParaRPr lang="en-US" sz="1000" dirty="0"/>
          </a:p>
        </p:txBody>
      </p:sp>
      <p:sp>
        <p:nvSpPr>
          <p:cNvPr id="16" name="Text 14"/>
          <p:cNvSpPr/>
          <p:nvPr/>
        </p:nvSpPr>
        <p:spPr>
          <a:xfrm>
            <a:off x="758952" y="2029968"/>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Four primary log sources: endpoint logs, firewall logs, web server logs, and IDS/IPS alerts — each tells a different part of the story about an incident.</a:t>
            </a:r>
            <a:endParaRPr lang="en-US" sz="850" dirty="0"/>
          </a:p>
        </p:txBody>
      </p:sp>
      <p:sp>
        <p:nvSpPr>
          <p:cNvPr id="17" name="Shape 15"/>
          <p:cNvSpPr/>
          <p:nvPr/>
        </p:nvSpPr>
        <p:spPr>
          <a:xfrm>
            <a:off x="4581144" y="1956816"/>
            <a:ext cx="4133088" cy="566928"/>
          </a:xfrm>
          <a:prstGeom prst="rect">
            <a:avLst/>
          </a:prstGeom>
          <a:solidFill>
            <a:srgbClr val="FFFFFF"/>
          </a:solidFill>
          <a:ln w="12700">
            <a:solidFill>
              <a:srgbClr val="FFFFFF"/>
            </a:solidFill>
            <a:prstDash val="solid"/>
          </a:ln>
        </p:spPr>
        <p:txBody>
          <a:bodyPr/>
          <a:lstStyle/>
          <a:p>
            <a:endParaRPr lang="en-SG"/>
          </a:p>
        </p:txBody>
      </p:sp>
      <p:sp>
        <p:nvSpPr>
          <p:cNvPr id="18" name="Shape 16"/>
          <p:cNvSpPr/>
          <p:nvPr/>
        </p:nvSpPr>
        <p:spPr>
          <a:xfrm>
            <a:off x="4581144" y="1956816"/>
            <a:ext cx="365760" cy="566928"/>
          </a:xfrm>
          <a:prstGeom prst="rect">
            <a:avLst/>
          </a:prstGeom>
          <a:solidFill>
            <a:srgbClr val="F1C40F"/>
          </a:solidFill>
          <a:ln w="12700">
            <a:solidFill>
              <a:srgbClr val="F1C40F"/>
            </a:solidFill>
            <a:prstDash val="solid"/>
          </a:ln>
        </p:spPr>
        <p:txBody>
          <a:bodyPr/>
          <a:lstStyle/>
          <a:p>
            <a:endParaRPr lang="en-SG"/>
          </a:p>
        </p:txBody>
      </p:sp>
      <p:sp>
        <p:nvSpPr>
          <p:cNvPr id="19" name="Text 17"/>
          <p:cNvSpPr/>
          <p:nvPr/>
        </p:nvSpPr>
        <p:spPr>
          <a:xfrm>
            <a:off x="4581144" y="1956816"/>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04</a:t>
            </a:r>
            <a:endParaRPr lang="en-US" sz="1000" dirty="0"/>
          </a:p>
        </p:txBody>
      </p:sp>
      <p:sp>
        <p:nvSpPr>
          <p:cNvPr id="20" name="Text 18"/>
          <p:cNvSpPr/>
          <p:nvPr/>
        </p:nvSpPr>
        <p:spPr>
          <a:xfrm>
            <a:off x="5020056" y="2029968"/>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Port numbers identify services. Suspicious ports (4444=Metasploit, 445=SMB, 23=Telnet) are immediate red flags. Unexpected port usage = potential attacker activity.</a:t>
            </a:r>
            <a:endParaRPr lang="en-US" sz="850" dirty="0"/>
          </a:p>
        </p:txBody>
      </p:sp>
      <p:sp>
        <p:nvSpPr>
          <p:cNvPr id="21" name="Shape 19"/>
          <p:cNvSpPr/>
          <p:nvPr/>
        </p:nvSpPr>
        <p:spPr>
          <a:xfrm>
            <a:off x="320040" y="2615184"/>
            <a:ext cx="4133088" cy="566928"/>
          </a:xfrm>
          <a:prstGeom prst="rect">
            <a:avLst/>
          </a:prstGeom>
          <a:solidFill>
            <a:srgbClr val="FFFFFF"/>
          </a:solidFill>
          <a:ln w="12700">
            <a:solidFill>
              <a:srgbClr val="FFFFFF"/>
            </a:solidFill>
            <a:prstDash val="solid"/>
          </a:ln>
        </p:spPr>
        <p:txBody>
          <a:bodyPr/>
          <a:lstStyle/>
          <a:p>
            <a:endParaRPr lang="en-SG"/>
          </a:p>
        </p:txBody>
      </p:sp>
      <p:sp>
        <p:nvSpPr>
          <p:cNvPr id="22" name="Shape 20"/>
          <p:cNvSpPr/>
          <p:nvPr/>
        </p:nvSpPr>
        <p:spPr>
          <a:xfrm>
            <a:off x="320040" y="2615184"/>
            <a:ext cx="365760" cy="566928"/>
          </a:xfrm>
          <a:prstGeom prst="rect">
            <a:avLst/>
          </a:prstGeom>
          <a:solidFill>
            <a:srgbClr val="A855F7"/>
          </a:solidFill>
          <a:ln w="12700">
            <a:solidFill>
              <a:srgbClr val="A855F7"/>
            </a:solidFill>
            <a:prstDash val="solid"/>
          </a:ln>
        </p:spPr>
        <p:txBody>
          <a:bodyPr/>
          <a:lstStyle/>
          <a:p>
            <a:endParaRPr lang="en-SG"/>
          </a:p>
        </p:txBody>
      </p:sp>
      <p:sp>
        <p:nvSpPr>
          <p:cNvPr id="23" name="Text 21"/>
          <p:cNvSpPr/>
          <p:nvPr/>
        </p:nvSpPr>
        <p:spPr>
          <a:xfrm>
            <a:off x="320040" y="2615184"/>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05</a:t>
            </a:r>
            <a:endParaRPr lang="en-US" sz="1000" dirty="0"/>
          </a:p>
        </p:txBody>
      </p:sp>
      <p:sp>
        <p:nvSpPr>
          <p:cNvPr id="24" name="Text 22"/>
          <p:cNvSpPr/>
          <p:nvPr/>
        </p:nvSpPr>
        <p:spPr>
          <a:xfrm>
            <a:off x="758952" y="2688336"/>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Best practices: hash all evidence, synchronise timestamps (NTP), centralise logs to SIEM, document every action, and obtain legal authorisation before capturing traffic.</a:t>
            </a:r>
            <a:endParaRPr lang="en-US" sz="850" dirty="0"/>
          </a:p>
        </p:txBody>
      </p:sp>
      <p:sp>
        <p:nvSpPr>
          <p:cNvPr id="25" name="Shape 23"/>
          <p:cNvSpPr/>
          <p:nvPr/>
        </p:nvSpPr>
        <p:spPr>
          <a:xfrm>
            <a:off x="4581144" y="2615184"/>
            <a:ext cx="4133088" cy="566928"/>
          </a:xfrm>
          <a:prstGeom prst="rect">
            <a:avLst/>
          </a:prstGeom>
          <a:solidFill>
            <a:srgbClr val="FFFFFF"/>
          </a:solidFill>
          <a:ln w="12700">
            <a:solidFill>
              <a:srgbClr val="FFFFFF"/>
            </a:solidFill>
            <a:prstDash val="solid"/>
          </a:ln>
        </p:spPr>
        <p:txBody>
          <a:bodyPr/>
          <a:lstStyle/>
          <a:p>
            <a:endParaRPr lang="en-SG"/>
          </a:p>
        </p:txBody>
      </p:sp>
      <p:sp>
        <p:nvSpPr>
          <p:cNvPr id="26" name="Shape 24"/>
          <p:cNvSpPr/>
          <p:nvPr/>
        </p:nvSpPr>
        <p:spPr>
          <a:xfrm>
            <a:off x="4581144" y="2615184"/>
            <a:ext cx="365760" cy="566928"/>
          </a:xfrm>
          <a:prstGeom prst="rect">
            <a:avLst/>
          </a:prstGeom>
          <a:solidFill>
            <a:srgbClr val="E74C3C"/>
          </a:solidFill>
          <a:ln w="12700">
            <a:solidFill>
              <a:srgbClr val="E74C3C"/>
            </a:solidFill>
            <a:prstDash val="solid"/>
          </a:ln>
        </p:spPr>
        <p:txBody>
          <a:bodyPr/>
          <a:lstStyle/>
          <a:p>
            <a:endParaRPr lang="en-SG"/>
          </a:p>
        </p:txBody>
      </p:sp>
      <p:sp>
        <p:nvSpPr>
          <p:cNvPr id="27" name="Text 25"/>
          <p:cNvSpPr/>
          <p:nvPr/>
        </p:nvSpPr>
        <p:spPr>
          <a:xfrm>
            <a:off x="4581144" y="2615184"/>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06</a:t>
            </a:r>
            <a:endParaRPr lang="en-US" sz="1000" dirty="0"/>
          </a:p>
        </p:txBody>
      </p:sp>
      <p:sp>
        <p:nvSpPr>
          <p:cNvPr id="28" name="Text 26"/>
          <p:cNvSpPr/>
          <p:nvPr/>
        </p:nvSpPr>
        <p:spPr>
          <a:xfrm>
            <a:off x="5020056" y="2688336"/>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Core tools: Wireshark (GUI analysis), tcpdump (CLI capture), Snort/Suricata (IDS/IPS), NetworkMiner (artefact extraction). SMTP port 587 = authenticated client submission.</a:t>
            </a:r>
            <a:endParaRPr lang="en-US" sz="850" dirty="0"/>
          </a:p>
        </p:txBody>
      </p:sp>
      <p:sp>
        <p:nvSpPr>
          <p:cNvPr id="29" name="Shape 27"/>
          <p:cNvSpPr/>
          <p:nvPr/>
        </p:nvSpPr>
        <p:spPr>
          <a:xfrm>
            <a:off x="320040" y="3273552"/>
            <a:ext cx="4133088" cy="566928"/>
          </a:xfrm>
          <a:prstGeom prst="rect">
            <a:avLst/>
          </a:prstGeom>
          <a:solidFill>
            <a:srgbClr val="FFFFFF"/>
          </a:solidFill>
          <a:ln w="12700">
            <a:solidFill>
              <a:srgbClr val="FFFFFF"/>
            </a:solidFill>
            <a:prstDash val="solid"/>
          </a:ln>
        </p:spPr>
        <p:txBody>
          <a:bodyPr/>
          <a:lstStyle/>
          <a:p>
            <a:endParaRPr lang="en-SG"/>
          </a:p>
        </p:txBody>
      </p:sp>
      <p:sp>
        <p:nvSpPr>
          <p:cNvPr id="30" name="Shape 28"/>
          <p:cNvSpPr/>
          <p:nvPr/>
        </p:nvSpPr>
        <p:spPr>
          <a:xfrm>
            <a:off x="320040" y="3273552"/>
            <a:ext cx="365760" cy="566928"/>
          </a:xfrm>
          <a:prstGeom prst="rect">
            <a:avLst/>
          </a:prstGeom>
          <a:solidFill>
            <a:srgbClr val="2EC4B6"/>
          </a:solidFill>
          <a:ln w="12700">
            <a:solidFill>
              <a:srgbClr val="2EC4B6"/>
            </a:solidFill>
            <a:prstDash val="solid"/>
          </a:ln>
        </p:spPr>
        <p:txBody>
          <a:bodyPr/>
          <a:lstStyle/>
          <a:p>
            <a:endParaRPr lang="en-SG"/>
          </a:p>
        </p:txBody>
      </p:sp>
      <p:sp>
        <p:nvSpPr>
          <p:cNvPr id="31" name="Text 29"/>
          <p:cNvSpPr/>
          <p:nvPr/>
        </p:nvSpPr>
        <p:spPr>
          <a:xfrm>
            <a:off x="320040" y="3273552"/>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07</a:t>
            </a:r>
            <a:endParaRPr lang="en-US" sz="1000" dirty="0"/>
          </a:p>
        </p:txBody>
      </p:sp>
      <p:sp>
        <p:nvSpPr>
          <p:cNvPr id="32" name="Text 30"/>
          <p:cNvSpPr/>
          <p:nvPr/>
        </p:nvSpPr>
        <p:spPr>
          <a:xfrm>
            <a:off x="758952" y="3346704"/>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Email header analysis traces message routing. Read 'Received:' lines bottom-up. SPF/DMARC FAIL = likely spoofed. Correlate headers with SMTP server logs to trace origin.</a:t>
            </a:r>
            <a:endParaRPr lang="en-US" sz="850" dirty="0"/>
          </a:p>
        </p:txBody>
      </p:sp>
      <p:sp>
        <p:nvSpPr>
          <p:cNvPr id="33" name="Shape 31"/>
          <p:cNvSpPr/>
          <p:nvPr/>
        </p:nvSpPr>
        <p:spPr>
          <a:xfrm>
            <a:off x="4581144" y="3273552"/>
            <a:ext cx="4133088" cy="566928"/>
          </a:xfrm>
          <a:prstGeom prst="rect">
            <a:avLst/>
          </a:prstGeom>
          <a:solidFill>
            <a:srgbClr val="FFFFFF"/>
          </a:solidFill>
          <a:ln w="12700">
            <a:solidFill>
              <a:srgbClr val="FFFFFF"/>
            </a:solidFill>
            <a:prstDash val="solid"/>
          </a:ln>
        </p:spPr>
        <p:txBody>
          <a:bodyPr/>
          <a:lstStyle/>
          <a:p>
            <a:endParaRPr lang="en-SG"/>
          </a:p>
        </p:txBody>
      </p:sp>
      <p:sp>
        <p:nvSpPr>
          <p:cNvPr id="34" name="Shape 32"/>
          <p:cNvSpPr/>
          <p:nvPr/>
        </p:nvSpPr>
        <p:spPr>
          <a:xfrm>
            <a:off x="4581144" y="3273552"/>
            <a:ext cx="365760" cy="566928"/>
          </a:xfrm>
          <a:prstGeom prst="rect">
            <a:avLst/>
          </a:prstGeom>
          <a:solidFill>
            <a:srgbClr val="2ECC71"/>
          </a:solidFill>
          <a:ln w="12700">
            <a:solidFill>
              <a:srgbClr val="2ECC71"/>
            </a:solidFill>
            <a:prstDash val="solid"/>
          </a:ln>
        </p:spPr>
        <p:txBody>
          <a:bodyPr/>
          <a:lstStyle/>
          <a:p>
            <a:endParaRPr lang="en-SG"/>
          </a:p>
        </p:txBody>
      </p:sp>
      <p:sp>
        <p:nvSpPr>
          <p:cNvPr id="35" name="Text 33"/>
          <p:cNvSpPr/>
          <p:nvPr/>
        </p:nvSpPr>
        <p:spPr>
          <a:xfrm>
            <a:off x="4581144" y="3273552"/>
            <a:ext cx="365760" cy="566928"/>
          </a:xfrm>
          <a:prstGeom prst="rect">
            <a:avLst/>
          </a:prstGeom>
          <a:noFill/>
          <a:ln/>
        </p:spPr>
        <p:txBody>
          <a:bodyPr wrap="square" lIns="0" tIns="0" rIns="0" bIns="0"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08</a:t>
            </a:r>
            <a:endParaRPr lang="en-US" sz="1000" dirty="0"/>
          </a:p>
        </p:txBody>
      </p:sp>
      <p:sp>
        <p:nvSpPr>
          <p:cNvPr id="36" name="Text 34"/>
          <p:cNvSpPr/>
          <p:nvPr/>
        </p:nvSpPr>
        <p:spPr>
          <a:xfrm>
            <a:off x="5020056" y="3346704"/>
            <a:ext cx="3621024" cy="420624"/>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Browser artefacts (history, cookies, cache, credentials) provide detailed evidence of user activity. Acquire BEFORE opening the browser — accessing it alters timestamps.</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194206"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102766"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GOING FURTHER</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Explore Further — Resources &amp; Practical Tips</a:t>
            </a:r>
            <a:endParaRPr lang="en-US" sz="2800" dirty="0"/>
          </a:p>
        </p:txBody>
      </p:sp>
      <p:sp>
        <p:nvSpPr>
          <p:cNvPr id="5" name="Shape 3"/>
          <p:cNvSpPr/>
          <p:nvPr/>
        </p:nvSpPr>
        <p:spPr>
          <a:xfrm>
            <a:off x="320040" y="1298448"/>
            <a:ext cx="2743200" cy="2523744"/>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43200" cy="25603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11480" y="1298448"/>
            <a:ext cx="25603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Try It Yourself — Free Labs</a:t>
            </a:r>
            <a:endParaRPr lang="en-US" sz="1100" dirty="0"/>
          </a:p>
        </p:txBody>
      </p:sp>
      <p:sp>
        <p:nvSpPr>
          <p:cNvPr id="8" name="Text 6"/>
          <p:cNvSpPr/>
          <p:nvPr/>
        </p:nvSpPr>
        <p:spPr>
          <a:xfrm>
            <a:off x="411480" y="1609344"/>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Wireshark sample captures: wiki.wireshark.org/SampleCaptures</a:t>
            </a:r>
            <a:endParaRPr lang="en-US" sz="850" dirty="0"/>
          </a:p>
        </p:txBody>
      </p:sp>
      <p:sp>
        <p:nvSpPr>
          <p:cNvPr id="9" name="Text 7"/>
          <p:cNvSpPr/>
          <p:nvPr/>
        </p:nvSpPr>
        <p:spPr>
          <a:xfrm>
            <a:off x="411480" y="2048256"/>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Honeynet Project challenges: honeynet.org/challenges</a:t>
            </a:r>
            <a:endParaRPr lang="en-US" sz="850" dirty="0"/>
          </a:p>
        </p:txBody>
      </p:sp>
      <p:sp>
        <p:nvSpPr>
          <p:cNvPr id="10" name="Text 8"/>
          <p:cNvSpPr/>
          <p:nvPr/>
        </p:nvSpPr>
        <p:spPr>
          <a:xfrm>
            <a:off x="411480" y="2487168"/>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TryHackMe &amp; HackTheBox: network forensics rooms (free tier)</a:t>
            </a:r>
            <a:endParaRPr lang="en-US" sz="850" dirty="0"/>
          </a:p>
        </p:txBody>
      </p:sp>
      <p:sp>
        <p:nvSpPr>
          <p:cNvPr id="11" name="Text 9"/>
          <p:cNvSpPr/>
          <p:nvPr/>
        </p:nvSpPr>
        <p:spPr>
          <a:xfrm>
            <a:off x="411480" y="2926080"/>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DFIR.training: curated list of capture files and practise datasets</a:t>
            </a:r>
            <a:endParaRPr lang="en-US" sz="850" dirty="0"/>
          </a:p>
        </p:txBody>
      </p:sp>
      <p:sp>
        <p:nvSpPr>
          <p:cNvPr id="12" name="Text 10"/>
          <p:cNvSpPr/>
          <p:nvPr/>
        </p:nvSpPr>
        <p:spPr>
          <a:xfrm>
            <a:off x="411480" y="3364992"/>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Kali Linux VM: download free from kali.org — all tools pre-installed</a:t>
            </a:r>
            <a:endParaRPr lang="en-US" sz="850" dirty="0"/>
          </a:p>
        </p:txBody>
      </p:sp>
      <p:sp>
        <p:nvSpPr>
          <p:cNvPr id="13" name="Shape 11"/>
          <p:cNvSpPr/>
          <p:nvPr/>
        </p:nvSpPr>
        <p:spPr>
          <a:xfrm>
            <a:off x="3200400" y="1298448"/>
            <a:ext cx="2743200" cy="2523744"/>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3200400" y="1298448"/>
            <a:ext cx="2743200" cy="256032"/>
          </a:xfrm>
          <a:prstGeom prst="rect">
            <a:avLst/>
          </a:prstGeom>
          <a:solidFill>
            <a:srgbClr val="F4A261"/>
          </a:solidFill>
          <a:ln w="12700">
            <a:solidFill>
              <a:srgbClr val="F4A261"/>
            </a:solidFill>
            <a:prstDash val="solid"/>
          </a:ln>
        </p:spPr>
        <p:txBody>
          <a:bodyPr/>
          <a:lstStyle/>
          <a:p>
            <a:endParaRPr lang="en-SG"/>
          </a:p>
        </p:txBody>
      </p:sp>
      <p:sp>
        <p:nvSpPr>
          <p:cNvPr id="15" name="Text 13"/>
          <p:cNvSpPr/>
          <p:nvPr/>
        </p:nvSpPr>
        <p:spPr>
          <a:xfrm>
            <a:off x="3291840" y="1298448"/>
            <a:ext cx="25603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Key Questions in Any Investigation</a:t>
            </a:r>
            <a:endParaRPr lang="en-US" sz="1100" dirty="0"/>
          </a:p>
        </p:txBody>
      </p:sp>
      <p:sp>
        <p:nvSpPr>
          <p:cNvPr id="16" name="Text 14"/>
          <p:cNvSpPr/>
          <p:nvPr/>
        </p:nvSpPr>
        <p:spPr>
          <a:xfrm>
            <a:off x="3291840" y="1609344"/>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WHAT happened? — What traffic, what actions, what data?</a:t>
            </a:r>
            <a:endParaRPr lang="en-US" sz="850" dirty="0"/>
          </a:p>
        </p:txBody>
      </p:sp>
      <p:sp>
        <p:nvSpPr>
          <p:cNvPr id="17" name="Text 15"/>
          <p:cNvSpPr/>
          <p:nvPr/>
        </p:nvSpPr>
        <p:spPr>
          <a:xfrm>
            <a:off x="3291840" y="2048256"/>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WHEN? — Exact timestamps across all log sources?</a:t>
            </a:r>
            <a:endParaRPr lang="en-US" sz="850" dirty="0"/>
          </a:p>
        </p:txBody>
      </p:sp>
      <p:sp>
        <p:nvSpPr>
          <p:cNvPr id="18" name="Text 16"/>
          <p:cNvSpPr/>
          <p:nvPr/>
        </p:nvSpPr>
        <p:spPr>
          <a:xfrm>
            <a:off x="3291840" y="2487168"/>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WHO? — Which IP, which account, which device?</a:t>
            </a:r>
            <a:endParaRPr lang="en-US" sz="850" dirty="0"/>
          </a:p>
        </p:txBody>
      </p:sp>
      <p:sp>
        <p:nvSpPr>
          <p:cNvPr id="19" name="Text 17"/>
          <p:cNvSpPr/>
          <p:nvPr/>
        </p:nvSpPr>
        <p:spPr>
          <a:xfrm>
            <a:off x="3291840" y="2926080"/>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FROM WHERE? — Internal LAN or external WAN? Country of origin?</a:t>
            </a:r>
            <a:endParaRPr lang="en-US" sz="850" dirty="0"/>
          </a:p>
        </p:txBody>
      </p:sp>
      <p:sp>
        <p:nvSpPr>
          <p:cNvPr id="20" name="Text 18"/>
          <p:cNvSpPr/>
          <p:nvPr/>
        </p:nvSpPr>
        <p:spPr>
          <a:xfrm>
            <a:off x="3291840" y="3364992"/>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HOW? — Which vulnerability, port, or service was exploited?</a:t>
            </a:r>
            <a:endParaRPr lang="en-US" sz="850" dirty="0"/>
          </a:p>
        </p:txBody>
      </p:sp>
      <p:sp>
        <p:nvSpPr>
          <p:cNvPr id="21" name="Shape 19"/>
          <p:cNvSpPr/>
          <p:nvPr/>
        </p:nvSpPr>
        <p:spPr>
          <a:xfrm>
            <a:off x="6080760" y="1298448"/>
            <a:ext cx="2743200" cy="2523744"/>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6080760" y="1298448"/>
            <a:ext cx="2743200" cy="256032"/>
          </a:xfrm>
          <a:prstGeom prst="rect">
            <a:avLst/>
          </a:prstGeom>
          <a:solidFill>
            <a:srgbClr val="E74C3C"/>
          </a:solidFill>
          <a:ln w="12700">
            <a:solidFill>
              <a:srgbClr val="E74C3C"/>
            </a:solidFill>
            <a:prstDash val="solid"/>
          </a:ln>
        </p:spPr>
        <p:txBody>
          <a:bodyPr/>
          <a:lstStyle/>
          <a:p>
            <a:endParaRPr lang="en-SG"/>
          </a:p>
        </p:txBody>
      </p:sp>
      <p:sp>
        <p:nvSpPr>
          <p:cNvPr id="23" name="Text 21"/>
          <p:cNvSpPr/>
          <p:nvPr/>
        </p:nvSpPr>
        <p:spPr>
          <a:xfrm>
            <a:off x="6172200" y="1298448"/>
            <a:ext cx="2560320" cy="256032"/>
          </a:xfrm>
          <a:prstGeom prst="rect">
            <a:avLst/>
          </a:prstGeom>
          <a:noFill/>
          <a:ln/>
        </p:spPr>
        <p:txBody>
          <a:bodyPr wrap="square" lIns="0" tIns="0" rIns="0" bIns="0" rtlCol="0" anchor="ctr"/>
          <a:lstStyle/>
          <a:p>
            <a:pPr marL="0" indent="0">
              <a:buNone/>
            </a:pPr>
            <a:r>
              <a:rPr lang="en-US" sz="1100" b="1" dirty="0">
                <a:solidFill>
                  <a:srgbClr val="060E17"/>
                </a:solidFill>
                <a:latin typeface="Calibri" pitchFamily="34" charset="0"/>
                <a:ea typeface="Calibri" pitchFamily="34" charset="-122"/>
                <a:cs typeface="Calibri" pitchFamily="34" charset="-120"/>
              </a:rPr>
              <a:t>⚠️  Common Mistakes to Avoid</a:t>
            </a:r>
            <a:endParaRPr lang="en-US" sz="1100" dirty="0"/>
          </a:p>
        </p:txBody>
      </p:sp>
      <p:sp>
        <p:nvSpPr>
          <p:cNvPr id="24" name="Text 22"/>
          <p:cNvSpPr/>
          <p:nvPr/>
        </p:nvSpPr>
        <p:spPr>
          <a:xfrm>
            <a:off x="6172200" y="1609344"/>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Opening a browser before imaging — you've just altered the evidence</a:t>
            </a:r>
            <a:endParaRPr lang="en-US" sz="850" dirty="0"/>
          </a:p>
        </p:txBody>
      </p:sp>
      <p:sp>
        <p:nvSpPr>
          <p:cNvPr id="25" name="Text 23"/>
          <p:cNvSpPr/>
          <p:nvPr/>
        </p:nvSpPr>
        <p:spPr>
          <a:xfrm>
            <a:off x="6172200" y="2048256"/>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Forgetting to hash evidence before analysis — integrity cannot be proved</a:t>
            </a:r>
            <a:endParaRPr lang="en-US" sz="850" dirty="0"/>
          </a:p>
        </p:txBody>
      </p:sp>
      <p:sp>
        <p:nvSpPr>
          <p:cNvPr id="26" name="Text 24"/>
          <p:cNvSpPr/>
          <p:nvPr/>
        </p:nvSpPr>
        <p:spPr>
          <a:xfrm>
            <a:off x="6172200" y="2487168"/>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Ignoring timezone differences — timestamps from multiple countries clash</a:t>
            </a:r>
            <a:endParaRPr lang="en-US" sz="850" dirty="0"/>
          </a:p>
        </p:txBody>
      </p:sp>
      <p:sp>
        <p:nvSpPr>
          <p:cNvPr id="27" name="Text 25"/>
          <p:cNvSpPr/>
          <p:nvPr/>
        </p:nvSpPr>
        <p:spPr>
          <a:xfrm>
            <a:off x="6172200" y="2926080"/>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Not preserving router/firewall logs first — they overwrite on a rolling cycle</a:t>
            </a:r>
            <a:endParaRPr lang="en-US" sz="850" dirty="0"/>
          </a:p>
        </p:txBody>
      </p:sp>
      <p:sp>
        <p:nvSpPr>
          <p:cNvPr id="28" name="Text 26"/>
          <p:cNvSpPr/>
          <p:nvPr/>
        </p:nvSpPr>
        <p:spPr>
          <a:xfrm>
            <a:off x="6172200" y="3364992"/>
            <a:ext cx="2560320" cy="40233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  Assuming incognito = no evidence — DNS cache and ISP records remain</a:t>
            </a:r>
            <a:endParaRPr lang="en-US" sz="850" dirty="0"/>
          </a:p>
        </p:txBody>
      </p:sp>
      <p:sp>
        <p:nvSpPr>
          <p:cNvPr id="29" name="Shape 27"/>
          <p:cNvSpPr/>
          <p:nvPr/>
        </p:nvSpPr>
        <p:spPr>
          <a:xfrm>
            <a:off x="320040" y="3913632"/>
            <a:ext cx="8503920" cy="877824"/>
          </a:xfrm>
          <a:prstGeom prst="rect">
            <a:avLst/>
          </a:prstGeom>
          <a:solidFill>
            <a:srgbClr val="FFFFFF"/>
          </a:solidFill>
          <a:ln w="12700">
            <a:solidFill>
              <a:srgbClr val="F1C40F"/>
            </a:solidFill>
            <a:prstDash val="solid"/>
          </a:ln>
        </p:spPr>
        <p:txBody>
          <a:bodyPr/>
          <a:lstStyle/>
          <a:p>
            <a:endParaRPr lang="en-SG"/>
          </a:p>
        </p:txBody>
      </p:sp>
      <p:sp>
        <p:nvSpPr>
          <p:cNvPr id="30" name="Text 28"/>
          <p:cNvSpPr/>
          <p:nvPr/>
        </p:nvSpPr>
        <p:spPr>
          <a:xfrm>
            <a:off x="457200" y="3968496"/>
            <a:ext cx="3657600" cy="219456"/>
          </a:xfrm>
          <a:prstGeom prst="rect">
            <a:avLst/>
          </a:prstGeom>
          <a:noFill/>
          <a:ln/>
        </p:spPr>
        <p:txBody>
          <a:bodyPr wrap="square" lIns="0" tIns="0" rIns="0" bIns="0" rtlCol="0" anchor="ctr"/>
          <a:lstStyle/>
          <a:p>
            <a:pPr marL="0" indent="0">
              <a:buNone/>
            </a:pPr>
            <a:r>
              <a:rPr lang="en-US" sz="1000" b="1" dirty="0">
                <a:solidFill>
                  <a:srgbClr val="F1C40F"/>
                </a:solidFill>
                <a:latin typeface="Calibri" pitchFamily="34" charset="0"/>
                <a:ea typeface="Calibri" pitchFamily="34" charset="-122"/>
                <a:cs typeface="Calibri" pitchFamily="34" charset="-120"/>
              </a:rPr>
              <a:t>🔑  Remember: Anti-forensic activity IS evidence</a:t>
            </a:r>
            <a:endParaRPr lang="en-US" sz="1000" dirty="0"/>
          </a:p>
        </p:txBody>
      </p:sp>
      <p:sp>
        <p:nvSpPr>
          <p:cNvPr id="31" name="Text 29"/>
          <p:cNvSpPr/>
          <p:nvPr/>
        </p:nvSpPr>
        <p:spPr>
          <a:xfrm>
            <a:off x="457200" y="4206240"/>
            <a:ext cx="8321040" cy="53035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Cleared browser history · Private browsing · VPN extensions installed · Deleted email threads · Renamed files — all indicate a user who was aware of monitoring. Document and present them as evidence of consciousness of guilt.</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969264"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877824" cy="256032"/>
          </a:xfrm>
          <a:prstGeom prst="rect">
            <a:avLst/>
          </a:prstGeom>
          <a:noFill/>
          <a:ln/>
        </p:spPr>
        <p:txBody>
          <a:bodyPr wrap="square" lIns="0" tIns="0" rIns="0" bIns="0" rtlCol="0" anchor="ctr"/>
          <a:lstStyle/>
          <a:p>
            <a:pPr marL="0" indent="0">
              <a:buNone/>
            </a:pPr>
            <a:r>
              <a:rPr lang="en-US" sz="850" b="1" dirty="0">
                <a:solidFill>
                  <a:srgbClr val="060E17"/>
                </a:solidFill>
                <a:latin typeface="Calibri" pitchFamily="34" charset="0"/>
                <a:ea typeface="Calibri" pitchFamily="34" charset="-122"/>
                <a:cs typeface="Calibri" pitchFamily="34" charset="-120"/>
              </a:rPr>
              <a:t>REFERENCES</a:t>
            </a:r>
            <a:endParaRPr lang="en-US" sz="850" dirty="0"/>
          </a:p>
        </p:txBody>
      </p:sp>
      <p:sp>
        <p:nvSpPr>
          <p:cNvPr id="4" name="Text 2"/>
          <p:cNvSpPr/>
          <p:nvPr/>
        </p:nvSpPr>
        <p:spPr>
          <a:xfrm>
            <a:off x="320040" y="475488"/>
            <a:ext cx="8503920" cy="658368"/>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References &amp; Further Reading</a:t>
            </a:r>
            <a:endParaRPr lang="en-US" sz="2800" dirty="0"/>
          </a:p>
        </p:txBody>
      </p:sp>
      <p:sp>
        <p:nvSpPr>
          <p:cNvPr id="5" name="Shape 3"/>
          <p:cNvSpPr/>
          <p:nvPr/>
        </p:nvSpPr>
        <p:spPr>
          <a:xfrm>
            <a:off x="320040" y="1298448"/>
            <a:ext cx="8503920" cy="3529584"/>
          </a:xfrm>
          <a:prstGeom prst="rect">
            <a:avLst/>
          </a:prstGeom>
          <a:solidFill>
            <a:srgbClr val="FFFFFF"/>
          </a:solidFill>
          <a:ln w="12700">
            <a:solidFill>
              <a:srgbClr val="FFFFFF"/>
            </a:solidFill>
            <a:prstDash val="solid"/>
          </a:ln>
        </p:spPr>
        <p:txBody>
          <a:bodyPr/>
          <a:lstStyle/>
          <a:p>
            <a:endParaRPr lang="en-SG"/>
          </a:p>
        </p:txBody>
      </p:sp>
      <p:sp>
        <p:nvSpPr>
          <p:cNvPr id="6" name="Text 4"/>
          <p:cNvSpPr/>
          <p:nvPr/>
        </p:nvSpPr>
        <p:spPr>
          <a:xfrm>
            <a:off x="457200" y="1389888"/>
            <a:ext cx="8229600" cy="237744"/>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  Textbooks</a:t>
            </a:r>
            <a:endParaRPr lang="en-US" sz="1100" dirty="0"/>
          </a:p>
        </p:txBody>
      </p:sp>
      <p:sp>
        <p:nvSpPr>
          <p:cNvPr id="7" name="Text 5"/>
          <p:cNvSpPr/>
          <p:nvPr/>
        </p:nvSpPr>
        <p:spPr>
          <a:xfrm>
            <a:off x="457200" y="1664208"/>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Nelson, B., Phillips, A., &amp; Christopher, S. (2010). Guide to Computer Forensics and Investigations, 4th Ed. Cengage Learning.</a:t>
            </a:r>
            <a:endParaRPr lang="en-US" sz="950" dirty="0"/>
          </a:p>
        </p:txBody>
      </p:sp>
      <p:sp>
        <p:nvSpPr>
          <p:cNvPr id="8" name="Text 6"/>
          <p:cNvSpPr/>
          <p:nvPr/>
        </p:nvSpPr>
        <p:spPr>
          <a:xfrm>
            <a:off x="457200" y="2029968"/>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Oettinger, W. (2020). Learn Computer Forensics. Packt Publishing.</a:t>
            </a:r>
            <a:endParaRPr lang="en-US" sz="950" dirty="0"/>
          </a:p>
        </p:txBody>
      </p:sp>
      <p:sp>
        <p:nvSpPr>
          <p:cNvPr id="9" name="Text 7"/>
          <p:cNvSpPr/>
          <p:nvPr/>
        </p:nvSpPr>
        <p:spPr>
          <a:xfrm>
            <a:off x="457200" y="2395728"/>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Brooks, C. L. (2014). CHFI All-in-One Exam Guide. McGraw-Hill.</a:t>
            </a:r>
            <a:endParaRPr lang="en-US" sz="950" dirty="0"/>
          </a:p>
        </p:txBody>
      </p:sp>
      <p:sp>
        <p:nvSpPr>
          <p:cNvPr id="10" name="Text 8"/>
          <p:cNvSpPr/>
          <p:nvPr/>
        </p:nvSpPr>
        <p:spPr>
          <a:xfrm>
            <a:off x="457200" y="2761488"/>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Messier, R. (2015). Operating System Forensics. Syngress.</a:t>
            </a:r>
            <a:endParaRPr lang="en-US" sz="950" dirty="0"/>
          </a:p>
        </p:txBody>
      </p:sp>
      <p:sp>
        <p:nvSpPr>
          <p:cNvPr id="11" name="Text 9"/>
          <p:cNvSpPr/>
          <p:nvPr/>
        </p:nvSpPr>
        <p:spPr>
          <a:xfrm>
            <a:off x="457200" y="3255264"/>
            <a:ext cx="8229600" cy="237744"/>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  Web Resources</a:t>
            </a:r>
            <a:endParaRPr lang="en-US" sz="1100" dirty="0"/>
          </a:p>
        </p:txBody>
      </p:sp>
      <p:sp>
        <p:nvSpPr>
          <p:cNvPr id="12" name="Text 10"/>
          <p:cNvSpPr/>
          <p:nvPr/>
        </p:nvSpPr>
        <p:spPr>
          <a:xfrm>
            <a:off x="457200" y="3529584"/>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The Honeynet Project — honeynet.org  (active in 2025: workshops, challenges, GSoC participation)</a:t>
            </a:r>
            <a:endParaRPr lang="en-US" sz="950" dirty="0"/>
          </a:p>
        </p:txBody>
      </p:sp>
      <p:sp>
        <p:nvSpPr>
          <p:cNvPr id="13" name="Text 11"/>
          <p:cNvSpPr/>
          <p:nvPr/>
        </p:nvSpPr>
        <p:spPr>
          <a:xfrm>
            <a:off x="457200" y="3895344"/>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Wireshark documentation — wireshark.org/docs/</a:t>
            </a:r>
            <a:endParaRPr lang="en-US" sz="950" dirty="0"/>
          </a:p>
        </p:txBody>
      </p:sp>
      <p:sp>
        <p:nvSpPr>
          <p:cNvPr id="14" name="Text 12"/>
          <p:cNvSpPr/>
          <p:nvPr/>
        </p:nvSpPr>
        <p:spPr>
          <a:xfrm>
            <a:off x="457200" y="4261104"/>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SANS Internet Storm Center — isc.sans.edu  (network incident analysis)</a:t>
            </a:r>
            <a:endParaRPr lang="en-US" sz="950" dirty="0"/>
          </a:p>
        </p:txBody>
      </p:sp>
      <p:sp>
        <p:nvSpPr>
          <p:cNvPr id="15" name="Text 13"/>
          <p:cNvSpPr/>
          <p:nvPr/>
        </p:nvSpPr>
        <p:spPr>
          <a:xfrm>
            <a:off x="457200" y="4626864"/>
            <a:ext cx="8229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  Obsidian Forensics (Hindsight) — github.com/obsidianforensics/hindsight</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47472" y="1280160"/>
            <a:ext cx="8503920" cy="402336"/>
          </a:xfrm>
          <a:prstGeom prst="rect">
            <a:avLst/>
          </a:prstGeom>
          <a:noFill/>
          <a:ln/>
        </p:spPr>
        <p:txBody>
          <a:bodyPr wrap="square" lIns="0" tIns="0" rIns="0" bIns="0" rtlCol="0" anchor="ctr"/>
          <a:lstStyle/>
          <a:p>
            <a:pPr marL="0" indent="0">
              <a:buNone/>
            </a:pPr>
            <a:r>
              <a:rPr lang="en-US" sz="1300" b="1" kern="0" spc="800" dirty="0">
                <a:solidFill>
                  <a:srgbClr val="00B4D8"/>
                </a:solidFill>
                <a:latin typeface="Calibri" pitchFamily="34" charset="0"/>
                <a:ea typeface="Calibri" pitchFamily="34" charset="-122"/>
                <a:cs typeface="Calibri" pitchFamily="34" charset="-120"/>
              </a:rPr>
              <a:t>END OF LESSON 7</a:t>
            </a:r>
            <a:endParaRPr lang="en-US" sz="1300" dirty="0"/>
          </a:p>
        </p:txBody>
      </p:sp>
      <p:sp>
        <p:nvSpPr>
          <p:cNvPr id="4" name="Text 2"/>
          <p:cNvSpPr/>
          <p:nvPr/>
        </p:nvSpPr>
        <p:spPr>
          <a:xfrm>
            <a:off x="347472" y="1719072"/>
            <a:ext cx="8503920" cy="1828800"/>
          </a:xfrm>
          <a:prstGeom prst="rect">
            <a:avLst/>
          </a:prstGeom>
          <a:noFill/>
          <a:ln/>
        </p:spPr>
        <p:txBody>
          <a:bodyPr wrap="square" lIns="0" tIns="0" rIns="0" bIns="0" rtlCol="0" anchor="ctr"/>
          <a:lstStyle/>
          <a:p>
            <a:pPr marL="0" indent="0">
              <a:buNone/>
            </a:pPr>
            <a:r>
              <a:rPr lang="en-US" sz="5200" b="1" dirty="0">
                <a:solidFill>
                  <a:srgbClr val="1A1A2E"/>
                </a:solidFill>
                <a:latin typeface="Calibri" pitchFamily="34" charset="0"/>
                <a:ea typeface="Calibri" pitchFamily="34" charset="-122"/>
                <a:cs typeface="Calibri" pitchFamily="34" charset="-120"/>
              </a:rPr>
              <a:t>Network</a:t>
            </a:r>
            <a:endParaRPr lang="en-US" sz="5200" dirty="0"/>
          </a:p>
          <a:p>
            <a:pPr marL="0" indent="0">
              <a:buNone/>
            </a:pPr>
            <a:r>
              <a:rPr lang="en-US" sz="5200" b="1" dirty="0">
                <a:solidFill>
                  <a:srgbClr val="1A1A2E"/>
                </a:solidFill>
                <a:latin typeface="Calibri" pitchFamily="34" charset="0"/>
                <a:ea typeface="Calibri" pitchFamily="34" charset="-122"/>
                <a:cs typeface="Calibri" pitchFamily="34" charset="-120"/>
              </a:rPr>
              <a:t>Forensics</a:t>
            </a:r>
            <a:endParaRPr lang="en-US" sz="5200" dirty="0"/>
          </a:p>
        </p:txBody>
      </p:sp>
      <p:sp>
        <p:nvSpPr>
          <p:cNvPr id="5" name="Shape 3"/>
          <p:cNvSpPr/>
          <p:nvPr/>
        </p:nvSpPr>
        <p:spPr>
          <a:xfrm>
            <a:off x="347472" y="3584448"/>
            <a:ext cx="5029200" cy="45720"/>
          </a:xfrm>
          <a:prstGeom prst="rect">
            <a:avLst/>
          </a:prstGeom>
          <a:solidFill>
            <a:srgbClr val="F4A261"/>
          </a:solidFill>
          <a:ln w="12700">
            <a:solidFill>
              <a:srgbClr val="F4A261"/>
            </a:solidFill>
            <a:prstDash val="solid"/>
          </a:ln>
        </p:spPr>
        <p:txBody>
          <a:bodyPr/>
          <a:lstStyle/>
          <a:p>
            <a:endParaRPr lang="en-SG"/>
          </a:p>
        </p:txBody>
      </p:sp>
      <p:sp>
        <p:nvSpPr>
          <p:cNvPr id="6" name="Text 4"/>
          <p:cNvSpPr/>
          <p:nvPr/>
        </p:nvSpPr>
        <p:spPr>
          <a:xfrm>
            <a:off x="347472" y="3712464"/>
            <a:ext cx="8503920" cy="292608"/>
          </a:xfrm>
          <a:prstGeom prst="rect">
            <a:avLst/>
          </a:prstGeom>
          <a:noFill/>
          <a:ln/>
        </p:spPr>
        <p:txBody>
          <a:bodyPr wrap="square" lIns="0" tIns="0" rIns="0" bIns="0" rtlCol="0" anchor="ctr"/>
          <a:lstStyle/>
          <a:p>
            <a:r>
              <a:rPr lang="en-US" sz="1050" i="1" dirty="0">
                <a:solidFill>
                  <a:srgbClr val="8899AA"/>
                </a:solidFill>
                <a:latin typeface="Calibri" pitchFamily="34" charset="0"/>
                <a:ea typeface="Calibri" pitchFamily="34" charset="-122"/>
                <a:cs typeface="Calibri" pitchFamily="34" charset="-120"/>
              </a:rPr>
              <a:t>CCD2C04 Forensics in Digital Security</a:t>
            </a:r>
          </a:p>
        </p:txBody>
      </p:sp>
      <p:sp>
        <p:nvSpPr>
          <p:cNvPr id="7" name="Text 5"/>
          <p:cNvSpPr/>
          <p:nvPr/>
        </p:nvSpPr>
        <p:spPr>
          <a:xfrm>
            <a:off x="347472" y="4096512"/>
            <a:ext cx="8503920" cy="256032"/>
          </a:xfrm>
          <a:prstGeom prst="rect">
            <a:avLst/>
          </a:prstGeom>
          <a:noFill/>
          <a:ln/>
        </p:spPr>
        <p:txBody>
          <a:bodyPr wrap="square" lIns="0" tIns="0" rIns="0" bIns="0" rtlCol="0" anchor="ctr"/>
          <a:lstStyle/>
          <a:p>
            <a:pPr marL="0" indent="0">
              <a:buNone/>
            </a:pPr>
            <a:r>
              <a:rPr lang="en-US" sz="1000" dirty="0">
                <a:solidFill>
                  <a:srgbClr val="00B4D8"/>
                </a:solidFill>
                <a:latin typeface="Calibri" pitchFamily="34" charset="0"/>
                <a:ea typeface="Calibri" pitchFamily="34" charset="-122"/>
                <a:cs typeface="Calibri" pitchFamily="34" charset="-120"/>
              </a:rPr>
              <a:t>Next lesson: Lesson 8 — Reporting</a:t>
            </a:r>
            <a:endParaRPr lang="en-US" sz="1000" dirty="0"/>
          </a:p>
        </p:txBody>
      </p:sp>
      <p:sp>
        <p:nvSpPr>
          <p:cNvPr id="8" name="Text 6"/>
          <p:cNvSpPr/>
          <p:nvPr/>
        </p:nvSpPr>
        <p:spPr>
          <a:xfrm>
            <a:off x="7772400" y="4736592"/>
            <a:ext cx="1097280" cy="201168"/>
          </a:xfrm>
          <a:prstGeom prst="rect">
            <a:avLst/>
          </a:prstGeom>
          <a:noFill/>
          <a:ln/>
        </p:spPr>
        <p:txBody>
          <a:bodyPr wrap="square" lIns="0" tIns="0" rIns="0" bIns="0" rtlCol="0" anchor="ctr"/>
          <a:lstStyle/>
          <a:p>
            <a:pPr marL="0" indent="0" algn="r">
              <a:buNone/>
            </a:pPr>
            <a:r>
              <a:rPr lang="en-US" sz="850" dirty="0">
                <a:solidFill>
                  <a:srgbClr val="8899AA"/>
                </a:solidFill>
                <a:latin typeface="Calibri" pitchFamily="34" charset="0"/>
                <a:ea typeface="Calibri" pitchFamily="34" charset="-122"/>
                <a:cs typeface="Calibri" pitchFamily="34" charset="-120"/>
              </a:rPr>
              <a:t>43 / 43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Props1.xml><?xml version="1.0" encoding="utf-8"?>
<ds:datastoreItem xmlns:ds="http://schemas.openxmlformats.org/officeDocument/2006/customXml" ds:itemID="{05BD9A24-9BB2-48FC-BC80-AE996BB0BA4E}"/>
</file>

<file path=customXml/itemProps2.xml><?xml version="1.0" encoding="utf-8"?>
<ds:datastoreItem xmlns:ds="http://schemas.openxmlformats.org/officeDocument/2006/customXml" ds:itemID="{ABCD55ED-75DD-4F2E-A2CB-5B96E6B7D91A}">
  <ds:schemaRefs>
    <ds:schemaRef ds:uri="http://schemas.microsoft.com/sharepoint/v3/contenttype/forms"/>
  </ds:schemaRefs>
</ds:datastoreItem>
</file>

<file path=customXml/itemProps3.xml><?xml version="1.0" encoding="utf-8"?>
<ds:datastoreItem xmlns:ds="http://schemas.openxmlformats.org/officeDocument/2006/customXml" ds:itemID="{F668DAD0-F1E3-490D-B3D4-BD594FBDBB9E}">
  <ds:schemaRefs>
    <ds:schemaRef ds:uri="http://www.w3.org/XML/1998/namespace"/>
    <ds:schemaRef ds:uri="http://purl.org/dc/dcmitype/"/>
    <ds:schemaRef ds:uri="http://purl.org/dc/elements/1.1/"/>
    <ds:schemaRef ds:uri="http://schemas.microsoft.com/sharepoint/v3"/>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3e3fafd7-318f-4e4d-809b-9691c39d9c6f"/>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47</TotalTime>
  <Words>9155</Words>
  <Application>Microsoft Office PowerPoint</Application>
  <PresentationFormat>On-screen Show (16:9)</PresentationFormat>
  <Paragraphs>1050</Paragraphs>
  <Slides>44</Slides>
  <Notes>44</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PptxGenJS</dc:creator>
  <cp:lastModifiedBy>Nur Shuhadah BINTE JALIL (TP)</cp:lastModifiedBy>
  <cp:revision>7</cp:revision>
  <dcterms:created xsi:type="dcterms:W3CDTF">2026-03-18T08:52:40Z</dcterms:created>
  <dcterms:modified xsi:type="dcterms:W3CDTF">2026-04-12T23:34:17Z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d528611d-fe69-484f-b56b-0db8a0d79612_Enabled">
    <vt:lpwstr>true</vt:lpwstr>
  </property>
  <property fmtid="{D5CDD505-2E9C-101B-9397-08002B2CF9AE}" pid="4" name="MSIP_Label_d528611d-fe69-484f-b56b-0db8a0d79612_SetDate">
    <vt:lpwstr>2026-04-09T01:09:22Z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a7f971b7-c9df-410b-9e0a-7627b75dcbcf</vt:lpwstr>
  </property>
  <property fmtid="{D5CDD505-2E9C-101B-9397-08002B2CF9AE}" pid="9" name="MSIP_Label_d528611d-fe69-484f-b56b-0db8a0d79612_ContentBits">
    <vt:lpwstr>0</vt:lpwstr>
  </property>
  <property fmtid="{D5CDD505-2E9C-101B-9397-08002B2CF9AE}" pid="10" name="MSIP_Label_d528611d-fe69-484f-b56b-0db8a0d79612_Tag">
    <vt:lpwstr>10, 0, 1, 1</vt:lpwstr>
  </property>
  <property fmtid="{D5CDD505-2E9C-101B-9397-08002B2CF9AE}" pid="11" name="Order">
    <vt:r8>161000</vt:r8>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