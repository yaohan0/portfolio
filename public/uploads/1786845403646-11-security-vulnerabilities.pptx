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346" r:id="rId3"/>
    <p:sldId id="403" r:id="rId4"/>
    <p:sldId id="391" r:id="rId5"/>
    <p:sldId id="394" r:id="rId6"/>
    <p:sldId id="426" r:id="rId7"/>
    <p:sldId id="423" r:id="rId8"/>
    <p:sldId id="427" r:id="rId9"/>
    <p:sldId id="395" r:id="rId10"/>
    <p:sldId id="428" r:id="rId11"/>
    <p:sldId id="429" r:id="rId12"/>
    <p:sldId id="430" r:id="rId13"/>
    <p:sldId id="431" r:id="rId14"/>
    <p:sldId id="425" r:id="rId15"/>
    <p:sldId id="433" r:id="rId16"/>
    <p:sldId id="434" r:id="rId17"/>
    <p:sldId id="435" r:id="rId18"/>
    <p:sldId id="437" r:id="rId19"/>
    <p:sldId id="396" r:id="rId20"/>
    <p:sldId id="39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4E90C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4" autoAdjust="0"/>
    <p:restoredTop sz="74975" autoAdjust="0"/>
  </p:normalViewPr>
  <p:slideViewPr>
    <p:cSldViewPr>
      <p:cViewPr varScale="1">
        <p:scale>
          <a:sx n="66" d="100"/>
          <a:sy n="66" d="100"/>
        </p:scale>
        <p:origin x="1445" y="62"/>
      </p:cViewPr>
      <p:guideLst>
        <p:guide orient="horz" pos="3648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und WEE (TP)" userId="1aeff9e9-75c8-437e-9382-defeb26b795c" providerId="ADAL" clId="{114014A8-C605-4144-AADB-3E73113CE3EA}"/>
    <pc:docChg chg="modSld modMainMaster modNotesMaster">
      <pc:chgData name="Edmund WEE (TP)" userId="1aeff9e9-75c8-437e-9382-defeb26b795c" providerId="ADAL" clId="{114014A8-C605-4144-AADB-3E73113CE3EA}" dt="2026-03-23T02:58:34.974" v="0"/>
      <pc:docMkLst>
        <pc:docMk/>
      </pc:docMkLst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0" sldId="258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0" sldId="258"/>
            <ac:spMk id="5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0" sldId="258"/>
            <ac:spMk id="614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0" sldId="258"/>
            <ac:spMk id="444418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1924406648" sldId="346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24406648" sldId="346"/>
            <ac:spMk id="6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24406648" sldId="346"/>
            <ac:spMk id="8196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24406648" sldId="346"/>
            <ac:spMk id="819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24406648" sldId="346"/>
            <ac:spMk id="297986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2858855318" sldId="391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858855318" sldId="391"/>
            <ac:spMk id="6" creationId="{11932EA5-0527-41DB-B617-006B44ACB4A2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858855318" sldId="391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858855318" sldId="391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858855318" sldId="391"/>
            <ac:spMk id="16389" creationId="{00000000-0000-0000-0000-000000000000}"/>
          </ac:spMkLst>
        </pc:spChg>
        <pc:picChg chg="mod">
          <ac:chgData name="Edmund WEE (TP)" userId="1aeff9e9-75c8-437e-9382-defeb26b795c" providerId="ADAL" clId="{114014A8-C605-4144-AADB-3E73113CE3EA}" dt="2026-03-23T02:58:34.974" v="0"/>
          <ac:picMkLst>
            <pc:docMk/>
            <pc:sldMk cId="2858855318" sldId="391"/>
            <ac:picMk id="4" creationId="{05B6572C-C2C0-067F-5BCB-A64F13F42117}"/>
          </ac:picMkLst>
        </pc:pic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4080959725" sldId="394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4080959725" sldId="394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4080959725" sldId="394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4080959725" sldId="394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1242122158" sldId="395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242122158" sldId="395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242122158" sldId="395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242122158" sldId="395"/>
            <ac:spMk id="16389" creationId="{00000000-0000-0000-0000-000000000000}"/>
          </ac:spMkLst>
        </pc:spChg>
        <pc:graphicFrameChg chg="mod">
          <ac:chgData name="Edmund WEE (TP)" userId="1aeff9e9-75c8-437e-9382-defeb26b795c" providerId="ADAL" clId="{114014A8-C605-4144-AADB-3E73113CE3EA}" dt="2026-03-23T02:58:34.974" v="0"/>
          <ac:graphicFrameMkLst>
            <pc:docMk/>
            <pc:sldMk cId="1242122158" sldId="395"/>
            <ac:graphicFrameMk id="3" creationId="{83380038-B660-FD19-BA12-5D74EC301307}"/>
          </ac:graphicFrameMkLst>
        </pc:graphicFrame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1900493393" sldId="396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00493393" sldId="396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00493393" sldId="396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00493393" sldId="396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2830607960" sldId="397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830607960" sldId="397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830607960" sldId="397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830607960" sldId="397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3306128577" sldId="403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306128577" sldId="403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306128577" sldId="403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306128577" sldId="403"/>
            <ac:spMk id="16389" creationId="{00000000-0000-0000-0000-000000000000}"/>
          </ac:spMkLst>
        </pc:spChg>
        <pc:graphicFrameChg chg="mod">
          <ac:chgData name="Edmund WEE (TP)" userId="1aeff9e9-75c8-437e-9382-defeb26b795c" providerId="ADAL" clId="{114014A8-C605-4144-AADB-3E73113CE3EA}" dt="2026-03-23T02:58:34.974" v="0"/>
          <ac:graphicFrameMkLst>
            <pc:docMk/>
            <pc:sldMk cId="3306128577" sldId="403"/>
            <ac:graphicFrameMk id="3" creationId="{F74BB3AB-FD9E-4CD1-8027-28823923A344}"/>
          </ac:graphicFrameMkLst>
        </pc:graphicFrame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361761538" sldId="423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61761538" sldId="423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61761538" sldId="423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61761538" sldId="423"/>
            <ac:spMk id="16389" creationId="{00000000-0000-0000-0000-000000000000}"/>
          </ac:spMkLst>
        </pc:spChg>
        <pc:graphicFrameChg chg="mod">
          <ac:chgData name="Edmund WEE (TP)" userId="1aeff9e9-75c8-437e-9382-defeb26b795c" providerId="ADAL" clId="{114014A8-C605-4144-AADB-3E73113CE3EA}" dt="2026-03-23T02:58:34.974" v="0"/>
          <ac:graphicFrameMkLst>
            <pc:docMk/>
            <pc:sldMk cId="361761538" sldId="423"/>
            <ac:graphicFrameMk id="3" creationId="{0D80AA10-C7F4-D82E-709C-87382822B45D}"/>
          </ac:graphicFrameMkLst>
        </pc:graphicFrameChg>
      </pc:sldChg>
      <pc:sldChg chg="modSp">
        <pc:chgData name="Edmund WEE (TP)" userId="1aeff9e9-75c8-437e-9382-defeb26b795c" providerId="ADAL" clId="{114014A8-C605-4144-AADB-3E73113CE3EA}" dt="2026-03-23T02:58:34.974" v="0"/>
        <pc:sldMkLst>
          <pc:docMk/>
          <pc:sldMk cId="3702724407" sldId="425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702724407" sldId="425"/>
            <ac:spMk id="3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1949733806" sldId="426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49733806" sldId="426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49733806" sldId="426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49733806" sldId="426"/>
            <ac:spMk id="16389" creationId="{00000000-0000-0000-0000-000000000000}"/>
          </ac:spMkLst>
        </pc:spChg>
        <pc:graphicFrameChg chg="mod">
          <ac:chgData name="Edmund WEE (TP)" userId="1aeff9e9-75c8-437e-9382-defeb26b795c" providerId="ADAL" clId="{114014A8-C605-4144-AADB-3E73113CE3EA}" dt="2026-03-23T02:58:34.974" v="0"/>
          <ac:graphicFrameMkLst>
            <pc:docMk/>
            <pc:sldMk cId="1949733806" sldId="426"/>
            <ac:graphicFrameMk id="3" creationId="{327BC742-B5BB-672F-D73C-CF7F2E3ABE44}"/>
          </ac:graphicFrameMkLst>
        </pc:graphicFrame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3195433417" sldId="427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195433417" sldId="427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195433417" sldId="427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195433417" sldId="427"/>
            <ac:spMk id="16389" creationId="{00000000-0000-0000-0000-000000000000}"/>
          </ac:spMkLst>
        </pc:spChg>
        <pc:graphicFrameChg chg="mod">
          <ac:chgData name="Edmund WEE (TP)" userId="1aeff9e9-75c8-437e-9382-defeb26b795c" providerId="ADAL" clId="{114014A8-C605-4144-AADB-3E73113CE3EA}" dt="2026-03-23T02:58:34.974" v="0"/>
          <ac:graphicFrameMkLst>
            <pc:docMk/>
            <pc:sldMk cId="3195433417" sldId="427"/>
            <ac:graphicFrameMk id="3" creationId="{E40ECAED-18A1-1E33-0AEE-1D7922D8EDAB}"/>
          </ac:graphicFrameMkLst>
        </pc:graphicFrame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775800367" sldId="428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775800367" sldId="428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775800367" sldId="428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775800367" sldId="428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3076278817" sldId="429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76278817" sldId="429"/>
            <ac:spMk id="7" creationId="{3907914F-F90A-F81D-EC58-A7BBBC557C6E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76278817" sldId="429"/>
            <ac:spMk id="8" creationId="{1D365922-FBF8-383B-8C65-985669B38DEF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76278817" sldId="429"/>
            <ac:spMk id="9" creationId="{6C100C54-F248-6B54-E1CF-04BE0F2291B9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76278817" sldId="429"/>
            <ac:spMk id="10" creationId="{8EC416A4-2AEF-1D2D-64B2-A022D5732BD5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76278817" sldId="429"/>
            <ac:spMk id="11" creationId="{0A3633D1-13DC-6FC9-DEF3-634B14C1E4C4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76278817" sldId="429"/>
            <ac:spMk id="12" creationId="{F1B50BCC-0E8E-6F1C-5653-6A3B0CE3D197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76278817" sldId="429"/>
            <ac:spMk id="13" creationId="{BF288EEA-7B55-E1A7-64C0-D52410F7475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76278817" sldId="429"/>
            <ac:spMk id="14" creationId="{FC084530-0A95-49A3-106B-A91BA87A8C2A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76278817" sldId="429"/>
            <ac:spMk id="20" creationId="{4DCA6BBD-FB6C-8DBF-4D26-B0540742B6DD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76278817" sldId="429"/>
            <ac:spMk id="16388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1976166876" sldId="430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76166876" sldId="430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76166876" sldId="430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1976166876" sldId="430"/>
            <ac:spMk id="16389" creationId="{00000000-0000-0000-0000-000000000000}"/>
          </ac:spMkLst>
        </pc:spChg>
      </pc:sldChg>
      <pc:sldChg chg="modSp modNotes">
        <pc:chgData name="Edmund WEE (TP)" userId="1aeff9e9-75c8-437e-9382-defeb26b795c" providerId="ADAL" clId="{114014A8-C605-4144-AADB-3E73113CE3EA}" dt="2026-03-23T02:58:34.974" v="0"/>
        <pc:sldMkLst>
          <pc:docMk/>
          <pc:sldMk cId="797124013" sldId="431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797124013" sldId="431"/>
            <ac:spMk id="16387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797124013" sldId="431"/>
            <ac:spMk id="16388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797124013" sldId="431"/>
            <ac:spMk id="16389" creationId="{00000000-0000-0000-0000-000000000000}"/>
          </ac:spMkLst>
        </pc:spChg>
      </pc:sldChg>
      <pc:sldChg chg="modSp">
        <pc:chgData name="Edmund WEE (TP)" userId="1aeff9e9-75c8-437e-9382-defeb26b795c" providerId="ADAL" clId="{114014A8-C605-4144-AADB-3E73113CE3EA}" dt="2026-03-23T02:58:34.974" v="0"/>
        <pc:sldMkLst>
          <pc:docMk/>
          <pc:sldMk cId="3696739291" sldId="433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696739291" sldId="433"/>
            <ac:spMk id="3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696739291" sldId="433"/>
            <ac:spMk id="13" creationId="{53FF347C-0FF6-7B64-D2FC-E69D0D46D5E1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696739291" sldId="433"/>
            <ac:spMk id="15" creationId="{C6C90578-5CE6-1308-6CD5-1A5093F8BF2E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696739291" sldId="433"/>
            <ac:spMk id="16" creationId="{D009ED44-DC08-FA65-6A0F-D8D86B3EE8D1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696739291" sldId="433"/>
            <ac:spMk id="19" creationId="{50854926-BEF5-B3E3-E85D-9DA6197BB38F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696739291" sldId="433"/>
            <ac:spMk id="20" creationId="{D36DDBDB-4E38-78C0-2567-827D07210330}"/>
          </ac:spMkLst>
        </pc:spChg>
        <pc:picChg chg="mod">
          <ac:chgData name="Edmund WEE (TP)" userId="1aeff9e9-75c8-437e-9382-defeb26b795c" providerId="ADAL" clId="{114014A8-C605-4144-AADB-3E73113CE3EA}" dt="2026-03-23T02:58:34.974" v="0"/>
          <ac:picMkLst>
            <pc:docMk/>
            <pc:sldMk cId="3696739291" sldId="433"/>
            <ac:picMk id="11" creationId="{D26CAC96-929F-F44D-FDB7-23468185ADDC}"/>
          </ac:picMkLst>
        </pc:picChg>
        <pc:picChg chg="mod">
          <ac:chgData name="Edmund WEE (TP)" userId="1aeff9e9-75c8-437e-9382-defeb26b795c" providerId="ADAL" clId="{114014A8-C605-4144-AADB-3E73113CE3EA}" dt="2026-03-23T02:58:34.974" v="0"/>
          <ac:picMkLst>
            <pc:docMk/>
            <pc:sldMk cId="3696739291" sldId="433"/>
            <ac:picMk id="14" creationId="{2872B131-24D9-8E7B-4039-28699B0B6D83}"/>
          </ac:picMkLst>
        </pc:picChg>
      </pc:sldChg>
      <pc:sldChg chg="modSp">
        <pc:chgData name="Edmund WEE (TP)" userId="1aeff9e9-75c8-437e-9382-defeb26b795c" providerId="ADAL" clId="{114014A8-C605-4144-AADB-3E73113CE3EA}" dt="2026-03-23T02:58:34.974" v="0"/>
        <pc:sldMkLst>
          <pc:docMk/>
          <pc:sldMk cId="3358259670" sldId="434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358259670" sldId="434"/>
            <ac:spMk id="3" creationId="{00000000-0000-0000-0000-000000000000}"/>
          </ac:spMkLst>
        </pc:spChg>
      </pc:sldChg>
      <pc:sldChg chg="modSp">
        <pc:chgData name="Edmund WEE (TP)" userId="1aeff9e9-75c8-437e-9382-defeb26b795c" providerId="ADAL" clId="{114014A8-C605-4144-AADB-3E73113CE3EA}" dt="2026-03-23T02:58:34.974" v="0"/>
        <pc:sldMkLst>
          <pc:docMk/>
          <pc:sldMk cId="2166850827" sldId="435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166850827" sldId="435"/>
            <ac:spMk id="3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166850827" sldId="435"/>
            <ac:spMk id="7" creationId="{527A191E-7204-DCD9-F44C-82DA4D0A4671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166850827" sldId="435"/>
            <ac:spMk id="12" creationId="{7FE0FD8A-6BAB-7D5D-B157-DB275F3F296B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166850827" sldId="435"/>
            <ac:spMk id="17" creationId="{50EB7C6B-9C8B-134D-AD65-BF1C366AA1B3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166850827" sldId="435"/>
            <ac:spMk id="22" creationId="{DF49B478-A4CE-7862-9908-F57757BE77F3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166850827" sldId="435"/>
            <ac:spMk id="24" creationId="{911D14FD-7AEF-2D69-F237-7167B39F6601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166850827" sldId="435"/>
            <ac:spMk id="25" creationId="{F86F30FA-DD8A-F756-80C0-5F3588A1AFC6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166850827" sldId="435"/>
            <ac:spMk id="26" creationId="{9B9A5127-570D-0388-5AE5-66637C3EA418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166850827" sldId="435"/>
            <ac:spMk id="27" creationId="{FF467E47-862E-1A37-EFE3-9D294C0B7794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2166850827" sldId="435"/>
            <ac:spMk id="29" creationId="{94AF8150-88D4-BFC4-D1AC-DF3584AE37AC}"/>
          </ac:spMkLst>
        </pc:spChg>
      </pc:sldChg>
      <pc:sldChg chg="modSp">
        <pc:chgData name="Edmund WEE (TP)" userId="1aeff9e9-75c8-437e-9382-defeb26b795c" providerId="ADAL" clId="{114014A8-C605-4144-AADB-3E73113CE3EA}" dt="2026-03-23T02:58:34.974" v="0"/>
        <pc:sldMkLst>
          <pc:docMk/>
          <pc:sldMk cId="3011637609" sldId="437"/>
        </pc:sld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11637609" sldId="437"/>
            <ac:spMk id="3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11637609" sldId="437"/>
            <ac:spMk id="4" creationId="{D00A66B1-4354-39B9-B035-A43B276C90A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11637609" sldId="437"/>
            <ac:spMk id="7" creationId="{527A191E-7204-DCD9-F44C-82DA4D0A4671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11637609" sldId="437"/>
            <ac:spMk id="10" creationId="{2E614013-9D6C-C8E7-554A-A0371F3DDC98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11637609" sldId="437"/>
            <ac:spMk id="21" creationId="{068C15EF-9500-A573-3CF8-E8242ED7BF7A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11637609" sldId="437"/>
            <ac:spMk id="22" creationId="{DF49B478-A4CE-7862-9908-F57757BE77F3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11637609" sldId="437"/>
            <ac:spMk id="24" creationId="{911D14FD-7AEF-2D69-F237-7167B39F6601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11637609" sldId="437"/>
            <ac:spMk id="27" creationId="{FF467E47-862E-1A37-EFE3-9D294C0B7794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k cId="3011637609" sldId="437"/>
            <ac:spMk id="28" creationId="{1AFFF223-5B83-65AA-69CB-8A60CAD612AD}"/>
          </ac:spMkLst>
        </pc:spChg>
        <pc:picChg chg="mod">
          <ac:chgData name="Edmund WEE (TP)" userId="1aeff9e9-75c8-437e-9382-defeb26b795c" providerId="ADAL" clId="{114014A8-C605-4144-AADB-3E73113CE3EA}" dt="2026-03-23T02:58:34.974" v="0"/>
          <ac:picMkLst>
            <pc:docMk/>
            <pc:sldMk cId="3011637609" sldId="437"/>
            <ac:picMk id="5" creationId="{446CE464-DCF1-54BC-7AB0-DA2EC60BD297}"/>
          </ac:picMkLst>
        </pc:picChg>
      </pc:sldChg>
      <pc:sldMasterChg chg="modSp modSldLayout">
        <pc:chgData name="Edmund WEE (TP)" userId="1aeff9e9-75c8-437e-9382-defeb26b795c" providerId="ADAL" clId="{114014A8-C605-4144-AADB-3E73113CE3EA}" dt="2026-03-23T02:58:34.974" v="0"/>
        <pc:sldMasterMkLst>
          <pc:docMk/>
          <pc:sldMasterMk cId="3405395716" sldId="2147483648"/>
        </pc:sldMasterMkLst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asterMk cId="3405395716" sldId="2147483648"/>
            <ac:spMk id="2" creationId="{00000000-0000-0000-0000-000000000000}"/>
          </ac:spMkLst>
        </pc:spChg>
        <pc:spChg chg="mod">
          <ac:chgData name="Edmund WEE (TP)" userId="1aeff9e9-75c8-437e-9382-defeb26b795c" providerId="ADAL" clId="{114014A8-C605-4144-AADB-3E73113CE3EA}" dt="2026-03-23T02:58:34.974" v="0"/>
          <ac:spMkLst>
            <pc:docMk/>
            <pc:sldMasterMk cId="3405395716" sldId="2147483648"/>
            <ac:spMk id="3" creationId="{00000000-0000-0000-0000-000000000000}"/>
          </ac:spMkLst>
        </pc:sp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1315035339" sldId="2147483649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315035339" sldId="2147483649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315035339" sldId="2147483649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315035339" sldId="2147483649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315035339" sldId="2147483649"/>
              <ac:spMk id="11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315035339" sldId="2147483649"/>
              <ac:spMk id="12" creationId="{00000000-0000-0000-0000-000000000000}"/>
            </ac:spMkLst>
          </pc:spChg>
          <pc:picChg chg="mod">
            <ac:chgData name="Edmund WEE (TP)" userId="1aeff9e9-75c8-437e-9382-defeb26b795c" providerId="ADAL" clId="{114014A8-C605-4144-AADB-3E73113CE3EA}" dt="2026-03-23T02:58:34.974" v="0"/>
            <ac:picMkLst>
              <pc:docMk/>
              <pc:sldMasterMk cId="3405395716" sldId="2147483648"/>
              <pc:sldLayoutMk cId="1315035339" sldId="2147483649"/>
              <ac:picMk id="8" creationId="{00000000-0000-0000-0000-000000000000}"/>
            </ac:picMkLst>
          </pc:picChg>
        </pc:sldLayout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2872698530" sldId="2147483650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2872698530" sldId="2147483650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2872698530" sldId="2147483650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2872698530" sldId="2147483650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2872698530" sldId="2147483650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2872698530" sldId="2147483650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1545594437" sldId="2147483651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45594437" sldId="2147483651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45594437" sldId="2147483651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45594437" sldId="2147483651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45594437" sldId="2147483651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45594437" sldId="2147483651"/>
              <ac:spMk id="6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1153945775" sldId="2147483652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153945775" sldId="2147483652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153945775" sldId="2147483652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153945775" sldId="2147483652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153945775" sldId="2147483652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153945775" sldId="2147483652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3407038121" sldId="2147483653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407038121" sldId="2147483653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407038121" sldId="2147483653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407038121" sldId="2147483653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407038121" sldId="2147483653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407038121" sldId="2147483653"/>
              <ac:spMk id="7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407038121" sldId="2147483653"/>
              <ac:spMk id="8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407038121" sldId="2147483653"/>
              <ac:spMk id="9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2689683986" sldId="2147483654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2689683986" sldId="2147483654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2689683986" sldId="2147483654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2689683986" sldId="2147483654"/>
              <ac:spMk id="5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3609554422" sldId="2147483655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609554422" sldId="2147483655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609554422" sldId="2147483655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609554422" sldId="2147483655"/>
              <ac:spMk id="4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3163389207" sldId="2147483656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163389207" sldId="2147483656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163389207" sldId="2147483656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163389207" sldId="2147483656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163389207" sldId="2147483656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163389207" sldId="2147483656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3163389207" sldId="2147483656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1536513844" sldId="2147483657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36513844" sldId="2147483657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36513844" sldId="2147483657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36513844" sldId="2147483657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36513844" sldId="2147483657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36513844" sldId="2147483657"/>
              <ac:spMk id="6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536513844" sldId="2147483657"/>
              <ac:spMk id="7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1266679997" sldId="2147483658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266679997" sldId="2147483658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266679997" sldId="2147483658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1266679997" sldId="2147483658"/>
              <ac:spMk id="6" creationId="{00000000-0000-0000-0000-000000000000}"/>
            </ac:spMkLst>
          </pc:spChg>
        </pc:sldLayoutChg>
        <pc:sldLayoutChg chg="modSp">
          <pc:chgData name="Edmund WEE (TP)" userId="1aeff9e9-75c8-437e-9382-defeb26b795c" providerId="ADAL" clId="{114014A8-C605-4144-AADB-3E73113CE3EA}" dt="2026-03-23T02:58:34.974" v="0"/>
          <pc:sldLayoutMkLst>
            <pc:docMk/>
            <pc:sldMasterMk cId="3405395716" sldId="2147483648"/>
            <pc:sldLayoutMk cId="737882095" sldId="2147483659"/>
          </pc:sldLayoutMkLst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737882095" sldId="2147483659"/>
              <ac:spMk id="2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737882095" sldId="2147483659"/>
              <ac:spMk id="3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737882095" sldId="2147483659"/>
              <ac:spMk id="4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737882095" sldId="2147483659"/>
              <ac:spMk id="5" creationId="{00000000-0000-0000-0000-000000000000}"/>
            </ac:spMkLst>
          </pc:spChg>
          <pc:spChg chg="mod">
            <ac:chgData name="Edmund WEE (TP)" userId="1aeff9e9-75c8-437e-9382-defeb26b795c" providerId="ADAL" clId="{114014A8-C605-4144-AADB-3E73113CE3EA}" dt="2026-03-23T02:58:34.974" v="0"/>
            <ac:spMkLst>
              <pc:docMk/>
              <pc:sldMasterMk cId="3405395716" sldId="2147483648"/>
              <pc:sldLayoutMk cId="737882095" sldId="2147483659"/>
              <ac:spMk id="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  <a:t>23/03/2026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8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3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1C84FA9-2274-4429-844B-BFD88715F425}" type="slidenum">
              <a:rPr 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What are vulnerabilities?</a:t>
            </a:r>
          </a:p>
          <a:p>
            <a:pPr lvl="1"/>
            <a:r>
              <a:rPr lang="en-US" dirty="0"/>
              <a:t>A flaw / weakness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potentially be exploited by a threat agent </a:t>
            </a:r>
            <a:r>
              <a:rPr lang="en-US" dirty="0">
                <a:sym typeface="Wingdings"/>
              </a:rPr>
              <a:t> realizing the </a:t>
            </a:r>
            <a:r>
              <a:rPr lang="en-US" dirty="0"/>
              <a:t>threat of CIA.</a:t>
            </a:r>
          </a:p>
          <a:p>
            <a:r>
              <a:rPr lang="en-US" dirty="0"/>
              <a:t>How to identify, rate and report them?</a:t>
            </a:r>
          </a:p>
          <a:p>
            <a:pPr lvl="1"/>
            <a:r>
              <a:rPr lang="en-US" dirty="0"/>
              <a:t>Test tools, observations, research</a:t>
            </a:r>
            <a:r>
              <a:rPr lang="is-IS" dirty="0"/>
              <a:t>…</a:t>
            </a:r>
            <a:endParaRPr lang="en-US" dirty="0"/>
          </a:p>
          <a:p>
            <a:r>
              <a:rPr lang="en-US" dirty="0"/>
              <a:t>When to report vulnerabilities?</a:t>
            </a:r>
          </a:p>
          <a:p>
            <a:pPr lvl="1"/>
            <a:r>
              <a:rPr lang="en-US" dirty="0"/>
              <a:t>As soon as possible.</a:t>
            </a:r>
          </a:p>
          <a:p>
            <a:pPr lvl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First.org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/CVSS2: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Vulnerability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bug, flaw, weakness, or exposure of an application, system, device, or service that could lead to a failure of confidentiality, integrity, or availability.”</a:t>
            </a:r>
          </a:p>
        </p:txBody>
      </p:sp>
    </p:spTree>
    <p:extLst>
      <p:ext uri="{BB962C8B-B14F-4D97-AF65-F5344CB8AC3E}">
        <p14:creationId xmlns:p14="http://schemas.microsoft.com/office/powerpoint/2010/main" val="251325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50567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65725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18698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Same network medium – Bluetooth connection, </a:t>
            </a:r>
            <a:r>
              <a:rPr lang="en-US" dirty="0" err="1"/>
              <a:t>wifi</a:t>
            </a:r>
            <a:r>
              <a:rPr lang="en-US" dirty="0"/>
              <a:t> connection,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265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81564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0404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61013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507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34245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2216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64468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15838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https://www.first.org/cvss/specification-document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  <a:t>20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41083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503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69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3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7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8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3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Security Vulnerabilities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8077200" cy="1295400"/>
          </a:xfrm>
        </p:spPr>
        <p:txBody>
          <a:bodyPr/>
          <a:lstStyle/>
          <a:p>
            <a:pPr algn="r">
              <a:defRPr/>
            </a:pPr>
            <a:r>
              <a:rPr lang="en-US" dirty="0"/>
              <a:t>Vulnerabilities</a:t>
            </a: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/>
              <a:t>Ethical Hacking and Network Defense</a:t>
            </a: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B88382E-B138-420D-9B4E-80B74FC8BAA0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05000"/>
            <a:ext cx="8305800" cy="4343400"/>
          </a:xfrm>
        </p:spPr>
        <p:txBody>
          <a:bodyPr>
            <a:normAutofit/>
          </a:bodyPr>
          <a:lstStyle/>
          <a:p>
            <a:r>
              <a:rPr lang="en-US" dirty="0"/>
              <a:t>What is a </a:t>
            </a:r>
            <a:r>
              <a:rPr lang="en-US" b="1" dirty="0"/>
              <a:t>vulnerability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Bug/Weakness in application/system/asset</a:t>
            </a:r>
          </a:p>
          <a:p>
            <a:pPr lvl="1"/>
            <a:r>
              <a:rPr lang="en-US" dirty="0"/>
              <a:t>Potentially impacts Confidentiality, Integrity or Availability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How is it </a:t>
            </a:r>
            <a:r>
              <a:rPr lang="en-US" b="1" dirty="0"/>
              <a:t>represented</a:t>
            </a:r>
            <a:r>
              <a:rPr lang="en-US" dirty="0"/>
              <a:t> and </a:t>
            </a:r>
            <a:r>
              <a:rPr lang="en-US" b="1" dirty="0"/>
              <a:t>categorized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Demonstration of impact</a:t>
            </a:r>
          </a:p>
          <a:p>
            <a:pPr lvl="1"/>
            <a:r>
              <a:rPr lang="en-US" dirty="0"/>
              <a:t>Risk level</a:t>
            </a:r>
          </a:p>
          <a:p>
            <a:pPr lvl="2"/>
            <a:r>
              <a:rPr lang="en-US" dirty="0"/>
              <a:t>Standards: </a:t>
            </a:r>
            <a:r>
              <a:rPr lang="en-US" b="1" dirty="0"/>
              <a:t>CVSSv3</a:t>
            </a:r>
            <a:r>
              <a:rPr lang="en-US" dirty="0"/>
              <a:t>, </a:t>
            </a:r>
            <a:r>
              <a:rPr lang="en-SG" dirty="0"/>
              <a:t>RSS-MD, IVSS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40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Common Vulnerability Scoring System v3 (CVSSv3)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3</a:t>
            </a:fld>
            <a:endParaRPr lang="en-US" sz="1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4BB3AB-FD9E-4CD1-8027-28823923A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627268"/>
              </p:ext>
            </p:extLst>
          </p:nvPr>
        </p:nvGraphicFramePr>
        <p:xfrm>
          <a:off x="3200400" y="2514600"/>
          <a:ext cx="5943600" cy="2801232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76926">
                  <a:extLst>
                    <a:ext uri="{9D8B030D-6E8A-4147-A177-3AD203B41FA5}">
                      <a16:colId xmlns:a16="http://schemas.microsoft.com/office/drawing/2014/main" val="3156880178"/>
                    </a:ext>
                  </a:extLst>
                </a:gridCol>
                <a:gridCol w="4066674">
                  <a:extLst>
                    <a:ext uri="{9D8B030D-6E8A-4147-A177-3AD203B41FA5}">
                      <a16:colId xmlns:a16="http://schemas.microsoft.com/office/drawing/2014/main" val="3203160603"/>
                    </a:ext>
                  </a:extLst>
                </a:gridCol>
              </a:tblGrid>
              <a:tr h="460455"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>
                          <a:effectLst/>
                        </a:rPr>
                        <a:t>Rating</a:t>
                      </a:r>
                      <a:endParaRPr lang="en-SG" sz="2300" b="1">
                        <a:solidFill>
                          <a:srgbClr val="00400D"/>
                        </a:solidFill>
                        <a:effectLst/>
                        <a:latin typeface="Fira Sans"/>
                      </a:endParaRPr>
                    </a:p>
                  </a:txBody>
                  <a:tcPr marL="116351" marR="116351" marT="58176" marB="5817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CVSS Score</a:t>
                      </a:r>
                      <a:endParaRPr lang="en-SG" sz="2300" b="1" dirty="0">
                        <a:solidFill>
                          <a:srgbClr val="00400D"/>
                        </a:solidFill>
                        <a:effectLst/>
                        <a:latin typeface="Fira Sans"/>
                      </a:endParaRPr>
                    </a:p>
                  </a:txBody>
                  <a:tcPr marL="116351" marR="116351" marT="58176" marB="5817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017472"/>
                  </a:ext>
                </a:extLst>
              </a:tr>
              <a:tr h="465403"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None</a:t>
                      </a:r>
                    </a:p>
                  </a:txBody>
                  <a:tcPr marL="116351" marR="116351" marT="58176" marB="58176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0.0</a:t>
                      </a:r>
                    </a:p>
                  </a:txBody>
                  <a:tcPr marL="116351" marR="116351" marT="58176" marB="58176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454310"/>
                  </a:ext>
                </a:extLst>
              </a:tr>
              <a:tr h="465403"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Low</a:t>
                      </a:r>
                    </a:p>
                  </a:txBody>
                  <a:tcPr marL="116351" marR="116351" marT="58176" marB="5817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0.1 - 3.9</a:t>
                      </a:r>
                    </a:p>
                  </a:txBody>
                  <a:tcPr marL="116351" marR="116351" marT="58176" marB="58176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522559"/>
                  </a:ext>
                </a:extLst>
              </a:tr>
              <a:tr h="465403"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Medium</a:t>
                      </a:r>
                    </a:p>
                  </a:txBody>
                  <a:tcPr marL="116351" marR="116351" marT="58176" marB="5817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4.0 - 6.9</a:t>
                      </a:r>
                    </a:p>
                  </a:txBody>
                  <a:tcPr marL="116351" marR="116351" marT="58176" marB="58176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65497"/>
                  </a:ext>
                </a:extLst>
              </a:tr>
              <a:tr h="465403"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High</a:t>
                      </a:r>
                    </a:p>
                  </a:txBody>
                  <a:tcPr marL="116351" marR="116351" marT="58176" marB="5817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7.0 - 8.9</a:t>
                      </a:r>
                    </a:p>
                  </a:txBody>
                  <a:tcPr marL="116351" marR="116351" marT="58176" marB="58176"/>
                </a:tc>
                <a:extLst>
                  <a:ext uri="{0D108BD9-81ED-4DB2-BD59-A6C34878D82A}">
                    <a16:rowId xmlns:a16="http://schemas.microsoft.com/office/drawing/2014/main" val="3953472890"/>
                  </a:ext>
                </a:extLst>
              </a:tr>
              <a:tr h="465403"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Critical</a:t>
                      </a:r>
                    </a:p>
                  </a:txBody>
                  <a:tcPr marL="116351" marR="116351" marT="58176" marB="58176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SG" sz="2300" dirty="0">
                          <a:effectLst/>
                        </a:rPr>
                        <a:t>9.0 - 10.0</a:t>
                      </a:r>
                    </a:p>
                  </a:txBody>
                  <a:tcPr marL="116351" marR="116351" marT="58176" marB="58176"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136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12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B6572C-C2C0-067F-5BCB-A64F13F42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614" y="2407220"/>
            <a:ext cx="5562600" cy="35616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458199" cy="4724400"/>
          </a:xfrm>
        </p:spPr>
        <p:txBody>
          <a:bodyPr>
            <a:normAutofit/>
          </a:bodyPr>
          <a:lstStyle/>
          <a:p>
            <a:r>
              <a:rPr lang="en-US" dirty="0"/>
              <a:t>Risk Rating System</a:t>
            </a:r>
          </a:p>
          <a:p>
            <a:pPr lvl="1"/>
            <a:r>
              <a:rPr lang="en-US" dirty="0"/>
              <a:t>Common Vulnerability Scoring System v3.1 (CVSSv3.1) </a:t>
            </a:r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4</a:t>
            </a:fld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932EA5-0527-41DB-B617-006B44ACB4A2}"/>
              </a:ext>
            </a:extLst>
          </p:cNvPr>
          <p:cNvSpPr/>
          <p:nvPr/>
        </p:nvSpPr>
        <p:spPr>
          <a:xfrm>
            <a:off x="3377030" y="2362201"/>
            <a:ext cx="36408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sz="1400" dirty="0"/>
              <a:t>https://www.first.org/cvss/calculator/3.1</a:t>
            </a:r>
          </a:p>
        </p:txBody>
      </p:sp>
    </p:spTree>
    <p:extLst>
      <p:ext uri="{BB962C8B-B14F-4D97-AF65-F5344CB8AC3E}">
        <p14:creationId xmlns:p14="http://schemas.microsoft.com/office/powerpoint/2010/main" val="285885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514600" y="1219200"/>
            <a:ext cx="7543800" cy="4724400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SG" sz="3200" b="1" u="sng" dirty="0"/>
              <a:t>Attack Vector </a:t>
            </a:r>
          </a:p>
          <a:p>
            <a:pPr marL="57150" indent="0">
              <a:buNone/>
            </a:pPr>
            <a:endParaRPr lang="en-SG" sz="3200" b="1" u="sng" dirty="0"/>
          </a:p>
          <a:p>
            <a:pPr lvl="1"/>
            <a:r>
              <a:rPr lang="en-SG" b="1" dirty="0">
                <a:highlight>
                  <a:srgbClr val="FFFF00"/>
                </a:highlight>
              </a:rPr>
              <a:t>How</a:t>
            </a:r>
            <a:r>
              <a:rPr lang="en-SG" dirty="0"/>
              <a:t> does an attacker </a:t>
            </a:r>
            <a:r>
              <a:rPr lang="en-SG" b="1" dirty="0">
                <a:highlight>
                  <a:srgbClr val="FFFF00"/>
                </a:highlight>
              </a:rPr>
              <a:t>exploit</a:t>
            </a:r>
            <a:r>
              <a:rPr lang="en-SG" dirty="0"/>
              <a:t> the vulnerability to </a:t>
            </a:r>
            <a:r>
              <a:rPr lang="en-SG" b="1" dirty="0">
                <a:highlight>
                  <a:srgbClr val="FFFF00"/>
                </a:highlight>
              </a:rPr>
              <a:t>demonstrate</a:t>
            </a:r>
            <a:r>
              <a:rPr lang="en-SG" dirty="0"/>
              <a:t> the impact?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4 Metrics (and examples of vulnerabilities)</a:t>
            </a:r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80959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514600" y="1219200"/>
            <a:ext cx="7543800" cy="4724400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SG" sz="3200" b="1" u="sng" dirty="0"/>
              <a:t>Attack Vector </a:t>
            </a:r>
          </a:p>
          <a:p>
            <a:pPr marL="5715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6</a:t>
            </a:fld>
            <a:endParaRPr lang="en-US" sz="14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27BC742-B5BB-672F-D73C-CF7F2E3AB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407105"/>
              </p:ext>
            </p:extLst>
          </p:nvPr>
        </p:nvGraphicFramePr>
        <p:xfrm>
          <a:off x="1905000" y="1828800"/>
          <a:ext cx="85344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235250638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3068974790"/>
                    </a:ext>
                  </a:extLst>
                </a:gridCol>
              </a:tblGrid>
              <a:tr h="740334">
                <a:tc>
                  <a:txBody>
                    <a:bodyPr/>
                    <a:lstStyle/>
                    <a:p>
                      <a:r>
                        <a:rPr lang="en-US" dirty="0"/>
                        <a:t>Metric Value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725896"/>
                  </a:ext>
                </a:extLst>
              </a:tr>
              <a:tr h="1099299">
                <a:tc>
                  <a:txBody>
                    <a:bodyPr/>
                    <a:lstStyle/>
                    <a:p>
                      <a:r>
                        <a:rPr lang="en-US" dirty="0"/>
                        <a:t>Network (N)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Attacker only requires the 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IP address </a:t>
                      </a:r>
                      <a:r>
                        <a:rPr lang="en-US" sz="1400" dirty="0"/>
                        <a:t>of the target to connect to the service.</a:t>
                      </a:r>
                    </a:p>
                    <a:p>
                      <a:pPr algn="just"/>
                      <a:endParaRPr lang="en-US" sz="1400" dirty="0"/>
                    </a:p>
                    <a:p>
                      <a:pPr algn="just"/>
                      <a:r>
                        <a:rPr lang="en-US" sz="1400" dirty="0"/>
                        <a:t>Attack is classified as a ‘remote’ attack, as long as the attacker can connect to the vulnerable service/application via its IP address.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058900"/>
                  </a:ext>
                </a:extLst>
              </a:tr>
              <a:tr h="1099299">
                <a:tc>
                  <a:txBody>
                    <a:bodyPr/>
                    <a:lstStyle/>
                    <a:p>
                      <a:r>
                        <a:rPr lang="en-US" dirty="0"/>
                        <a:t>Adjacent (A)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In addition to IP address</a:t>
                      </a:r>
                      <a:r>
                        <a:rPr lang="en-US" sz="1400" dirty="0"/>
                        <a:t>, as part of performing the attack, the attacker </a:t>
                      </a:r>
                      <a:r>
                        <a:rPr lang="en-US" sz="1400" b="1" dirty="0"/>
                        <a:t>MUST</a:t>
                      </a:r>
                      <a:r>
                        <a:rPr lang="en-US" sz="1400" dirty="0"/>
                        <a:t> be in the 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same network medium </a:t>
                      </a:r>
                      <a:r>
                        <a:rPr lang="en-US" sz="1400" dirty="0"/>
                        <a:t>as the target hosting the vulnerable service.</a:t>
                      </a:r>
                    </a:p>
                    <a:p>
                      <a:pPr algn="just"/>
                      <a:endParaRPr lang="en-US" sz="1400" dirty="0"/>
                    </a:p>
                    <a:p>
                      <a:pPr algn="just"/>
                      <a:r>
                        <a:rPr lang="en-US" sz="1400" dirty="0"/>
                        <a:t>Same network medium – Bluetooth, </a:t>
                      </a:r>
                      <a:r>
                        <a:rPr lang="en-US" sz="1400" dirty="0" err="1"/>
                        <a:t>WiFi</a:t>
                      </a:r>
                      <a:r>
                        <a:rPr lang="en-US" sz="1400" dirty="0"/>
                        <a:t>, LAN cable, </a:t>
                      </a:r>
                      <a:r>
                        <a:rPr lang="en-US" sz="1400" dirty="0" err="1"/>
                        <a:t>etc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944758"/>
                  </a:ext>
                </a:extLst>
              </a:tr>
              <a:tr h="740334">
                <a:tc>
                  <a:txBody>
                    <a:bodyPr/>
                    <a:lstStyle/>
                    <a:p>
                      <a:r>
                        <a:rPr lang="en-US" dirty="0"/>
                        <a:t>Local (L)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Attacker needs to have some form of 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initial access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dirty="0"/>
                        <a:t>within the target to perform the attack. (</a:t>
                      </a:r>
                      <a:r>
                        <a:rPr lang="en-US" sz="1400" dirty="0" err="1"/>
                        <a:t>e.g</a:t>
                      </a:r>
                      <a:r>
                        <a:rPr lang="en-US" sz="1400" dirty="0"/>
                        <a:t> SSH access, reverse shell)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281660"/>
                  </a:ext>
                </a:extLst>
              </a:tr>
              <a:tr h="740334">
                <a:tc>
                  <a:txBody>
                    <a:bodyPr/>
                    <a:lstStyle/>
                    <a:p>
                      <a:r>
                        <a:rPr lang="en-US" dirty="0"/>
                        <a:t>Physical (P)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Attacker needs to be 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physically present</a:t>
                      </a:r>
                      <a:r>
                        <a:rPr lang="en-US" sz="1400" dirty="0"/>
                        <a:t> in front of the target to perform the attack (</a:t>
                      </a:r>
                      <a:r>
                        <a:rPr lang="en-US" sz="1400" dirty="0" err="1"/>
                        <a:t>e.g</a:t>
                      </a:r>
                      <a:r>
                        <a:rPr lang="en-US" sz="1400" dirty="0"/>
                        <a:t> USB malware dropping)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781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733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SG" b="1" u="sng" dirty="0"/>
              <a:t>Attack Complexity</a:t>
            </a:r>
          </a:p>
          <a:p>
            <a:pPr lvl="1"/>
            <a:r>
              <a:rPr lang="en-SG" dirty="0"/>
              <a:t>Are there any </a:t>
            </a:r>
            <a:r>
              <a:rPr lang="en-SG" b="1" dirty="0">
                <a:highlight>
                  <a:srgbClr val="FFFF00"/>
                </a:highlight>
              </a:rPr>
              <a:t>prerequisites</a:t>
            </a:r>
            <a:r>
              <a:rPr lang="en-SG" dirty="0"/>
              <a:t> or </a:t>
            </a:r>
            <a:r>
              <a:rPr lang="en-SG" b="1" dirty="0">
                <a:highlight>
                  <a:srgbClr val="FFFF00"/>
                </a:highlight>
              </a:rPr>
              <a:t>conditions</a:t>
            </a:r>
            <a:r>
              <a:rPr lang="en-SG" dirty="0"/>
              <a:t> that are beyond the controls of an attacker to exploit the vulnerability?</a:t>
            </a:r>
          </a:p>
          <a:p>
            <a:pPr lvl="1"/>
            <a:endParaRPr lang="en-SG" dirty="0"/>
          </a:p>
          <a:p>
            <a:pPr lvl="2"/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7</a:t>
            </a:fld>
            <a:endParaRPr lang="en-US" sz="14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D80AA10-C7F4-D82E-709C-87382822B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486506"/>
              </p:ext>
            </p:extLst>
          </p:nvPr>
        </p:nvGraphicFramePr>
        <p:xfrm>
          <a:off x="1899138" y="3124201"/>
          <a:ext cx="8534400" cy="2997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235250638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3068974790"/>
                    </a:ext>
                  </a:extLst>
                </a:gridCol>
              </a:tblGrid>
              <a:tr h="740334">
                <a:tc>
                  <a:txBody>
                    <a:bodyPr/>
                    <a:lstStyle/>
                    <a:p>
                      <a:r>
                        <a:rPr lang="en-US" dirty="0"/>
                        <a:t>Metric Value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725896"/>
                  </a:ext>
                </a:extLst>
              </a:tr>
              <a:tr h="1099299">
                <a:tc>
                  <a:txBody>
                    <a:bodyPr/>
                    <a:lstStyle/>
                    <a:p>
                      <a:r>
                        <a:rPr lang="en-US" dirty="0"/>
                        <a:t>Low (L)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There is </a:t>
                      </a:r>
                      <a:r>
                        <a:rPr lang="en-US" sz="1400" b="1" dirty="0"/>
                        <a:t>no specific condition </a:t>
                      </a:r>
                      <a:r>
                        <a:rPr lang="en-US" sz="1400" dirty="0"/>
                        <a:t>that requires the attack to be successful for each run. </a:t>
                      </a:r>
                    </a:p>
                    <a:p>
                      <a:pPr algn="just"/>
                      <a:endParaRPr lang="en-US" sz="1400" dirty="0"/>
                    </a:p>
                    <a:p>
                      <a:pPr algn="just"/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e.g</a:t>
                      </a:r>
                      <a:r>
                        <a:rPr lang="en-US" sz="1400" dirty="0"/>
                        <a:t> running VSFTPD 2.3.4 exploit on a server hosting the same vulnerable version).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058900"/>
                  </a:ext>
                </a:extLst>
              </a:tr>
              <a:tr h="1099299">
                <a:tc>
                  <a:txBody>
                    <a:bodyPr/>
                    <a:lstStyle/>
                    <a:p>
                      <a:r>
                        <a:rPr lang="en-US" dirty="0"/>
                        <a:t>High (H)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/>
                        <a:t>Success of the attack is dependent on </a:t>
                      </a:r>
                      <a:r>
                        <a:rPr lang="en-US" sz="1400" b="1" dirty="0"/>
                        <a:t>specific conditions </a:t>
                      </a:r>
                      <a:r>
                        <a:rPr lang="en-US" sz="1400" b="0" dirty="0"/>
                        <a:t>that exist. </a:t>
                      </a:r>
                    </a:p>
                    <a:p>
                      <a:pPr algn="just"/>
                      <a:endParaRPr lang="en-US" sz="1400" b="0" dirty="0"/>
                    </a:p>
                    <a:p>
                      <a:pPr algn="just"/>
                      <a:r>
                        <a:rPr lang="en-US" sz="1400" b="0" dirty="0"/>
                        <a:t>(</a:t>
                      </a:r>
                      <a:r>
                        <a:rPr lang="en-US" sz="1400" b="0" dirty="0" err="1"/>
                        <a:t>e.g</a:t>
                      </a:r>
                      <a:r>
                        <a:rPr lang="en-US" sz="1400" b="0" dirty="0"/>
                        <a:t> SSH brute force attacks are only successful IF the list used contains a set of credentials (username/password) that exist. If it is not successful, then this finding should not be documented)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944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61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SG" b="1" u="sng" dirty="0"/>
              <a:t>Privilege Required</a:t>
            </a:r>
          </a:p>
          <a:p>
            <a:pPr lvl="1"/>
            <a:r>
              <a:rPr lang="en-SG" dirty="0"/>
              <a:t>Does the attacker require (high) privilege to exploit the vulnerability </a:t>
            </a:r>
            <a:r>
              <a:rPr lang="en-SG" b="1" dirty="0">
                <a:highlight>
                  <a:srgbClr val="FFFF00"/>
                </a:highlight>
              </a:rPr>
              <a:t>at the start </a:t>
            </a:r>
            <a:r>
              <a:rPr lang="en-SG" dirty="0"/>
              <a:t>of the attack?</a:t>
            </a:r>
          </a:p>
          <a:p>
            <a:pPr marL="57150" indent="0">
              <a:buNone/>
            </a:pPr>
            <a:endParaRPr lang="en-SG" dirty="0"/>
          </a:p>
          <a:p>
            <a:pPr lvl="1"/>
            <a:endParaRPr lang="en-SG" dirty="0"/>
          </a:p>
          <a:p>
            <a:pPr lvl="2"/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8</a:t>
            </a:fld>
            <a:endParaRPr lang="en-US" sz="14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40ECAED-18A1-1E33-0AEE-1D7922D8E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938594"/>
              </p:ext>
            </p:extLst>
          </p:nvPr>
        </p:nvGraphicFramePr>
        <p:xfrm>
          <a:off x="1828800" y="2667000"/>
          <a:ext cx="8534400" cy="3498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235250638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3068974790"/>
                    </a:ext>
                  </a:extLst>
                </a:gridCol>
              </a:tblGrid>
              <a:tr h="607446">
                <a:tc>
                  <a:txBody>
                    <a:bodyPr/>
                    <a:lstStyle/>
                    <a:p>
                      <a:r>
                        <a:rPr lang="en-US" dirty="0"/>
                        <a:t>Metric Value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725896"/>
                  </a:ext>
                </a:extLst>
              </a:tr>
              <a:tr h="901978">
                <a:tc>
                  <a:txBody>
                    <a:bodyPr/>
                    <a:lstStyle/>
                    <a:p>
                      <a:r>
                        <a:rPr lang="en-US" dirty="0"/>
                        <a:t>None (N)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No privileges </a:t>
                      </a:r>
                      <a:r>
                        <a:rPr lang="en-US" sz="1400" dirty="0"/>
                        <a:t>are required when performing the exploit (</a:t>
                      </a:r>
                      <a:r>
                        <a:rPr lang="en-US" sz="1400" dirty="0" err="1"/>
                        <a:t>e.g</a:t>
                      </a:r>
                      <a:r>
                        <a:rPr lang="en-US" sz="1400" dirty="0"/>
                        <a:t> no user credentials needed to be used)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52882"/>
                  </a:ext>
                </a:extLst>
              </a:tr>
              <a:tr h="901978">
                <a:tc>
                  <a:txBody>
                    <a:bodyPr/>
                    <a:lstStyle/>
                    <a:p>
                      <a:r>
                        <a:rPr lang="en-US" dirty="0"/>
                        <a:t>Low (L)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Privileges are required; however, the nature of user accounts can be of </a:t>
                      </a:r>
                      <a:r>
                        <a:rPr lang="en-US" sz="1400" b="1" dirty="0"/>
                        <a:t>low privilege</a:t>
                      </a:r>
                      <a:r>
                        <a:rPr lang="en-US" sz="1400" dirty="0"/>
                        <a:t>.</a:t>
                      </a:r>
                    </a:p>
                    <a:p>
                      <a:pPr algn="just"/>
                      <a:endParaRPr lang="en-US" sz="1400" dirty="0"/>
                    </a:p>
                    <a:p>
                      <a:pPr algn="just"/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e.g</a:t>
                      </a:r>
                      <a:r>
                        <a:rPr lang="en-US" sz="1400" dirty="0"/>
                        <a:t> normal user account that can be used just to authenticate to the service)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058900"/>
                  </a:ext>
                </a:extLst>
              </a:tr>
              <a:tr h="1087202">
                <a:tc>
                  <a:txBody>
                    <a:bodyPr/>
                    <a:lstStyle/>
                    <a:p>
                      <a:r>
                        <a:rPr lang="en-US" dirty="0"/>
                        <a:t>High (H)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Privileges are required; however, the nature of user accounts can be of </a:t>
                      </a:r>
                      <a:r>
                        <a:rPr lang="en-US" sz="1400" b="1" dirty="0"/>
                        <a:t>high privilege</a:t>
                      </a:r>
                      <a:r>
                        <a:rPr lang="en-US" sz="1400" dirty="0"/>
                        <a:t>.</a:t>
                      </a:r>
                    </a:p>
                    <a:p>
                      <a:pPr algn="just"/>
                      <a:endParaRPr lang="en-US" sz="1400" dirty="0"/>
                    </a:p>
                    <a:p>
                      <a:pPr algn="just"/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e.g</a:t>
                      </a:r>
                      <a:r>
                        <a:rPr lang="en-US" sz="1400" dirty="0"/>
                        <a:t> web administrator account, root, local administrator)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944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433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SG" b="1" u="sng" dirty="0"/>
              <a:t>User Interaction</a:t>
            </a:r>
          </a:p>
          <a:p>
            <a:pPr lvl="1"/>
            <a:r>
              <a:rPr lang="en-SG" dirty="0"/>
              <a:t>Does an attacker require the user to perform an activity before exploitation is possible?</a:t>
            </a:r>
          </a:p>
          <a:p>
            <a:pPr lvl="2"/>
            <a:r>
              <a:rPr lang="en-US" dirty="0" err="1"/>
              <a:t>E.g</a:t>
            </a:r>
            <a:r>
              <a:rPr lang="en-US" dirty="0"/>
              <a:t> “User needs to </a:t>
            </a:r>
            <a:r>
              <a:rPr lang="en-US" b="1" dirty="0"/>
              <a:t>click</a:t>
            </a:r>
            <a:r>
              <a:rPr lang="en-US" dirty="0"/>
              <a:t> on something, then exploit will </a:t>
            </a:r>
            <a:r>
              <a:rPr lang="en-US" b="1" dirty="0"/>
              <a:t>work</a:t>
            </a:r>
            <a:r>
              <a:rPr lang="en-US" dirty="0"/>
              <a:t>”</a:t>
            </a:r>
            <a:endParaRPr lang="en-SG" dirty="0"/>
          </a:p>
          <a:p>
            <a:pPr lvl="2"/>
            <a:endParaRPr lang="en-SG" dirty="0"/>
          </a:p>
          <a:p>
            <a:pPr lvl="1"/>
            <a:endParaRPr lang="en-SG" dirty="0"/>
          </a:p>
          <a:p>
            <a:pPr lvl="2"/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9</a:t>
            </a:fld>
            <a:endParaRPr lang="en-US" sz="14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3380038-B660-FD19-BA12-5D74EC301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746974"/>
              </p:ext>
            </p:extLst>
          </p:nvPr>
        </p:nvGraphicFramePr>
        <p:xfrm>
          <a:off x="1828800" y="3434862"/>
          <a:ext cx="8534400" cy="2454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235250638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3068974790"/>
                    </a:ext>
                  </a:extLst>
                </a:gridCol>
              </a:tblGrid>
              <a:tr h="607446">
                <a:tc>
                  <a:txBody>
                    <a:bodyPr/>
                    <a:lstStyle/>
                    <a:p>
                      <a:r>
                        <a:rPr lang="en-US" dirty="0"/>
                        <a:t>Metric Value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725896"/>
                  </a:ext>
                </a:extLst>
              </a:tr>
              <a:tr h="901978">
                <a:tc>
                  <a:txBody>
                    <a:bodyPr/>
                    <a:lstStyle/>
                    <a:p>
                      <a:r>
                        <a:rPr lang="en-US" dirty="0"/>
                        <a:t>None (N)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/>
                        <a:t>As part of the attack, there is </a:t>
                      </a:r>
                      <a:r>
                        <a:rPr lang="en-US" sz="1400" b="1" dirty="0"/>
                        <a:t>no need </a:t>
                      </a:r>
                      <a:r>
                        <a:rPr lang="en-US" sz="1400" b="0" dirty="0"/>
                        <a:t>for the target user/victim to </a:t>
                      </a:r>
                      <a:r>
                        <a:rPr lang="en-US" sz="1400" b="1" dirty="0"/>
                        <a:t>interact with the environment </a:t>
                      </a:r>
                      <a:r>
                        <a:rPr lang="en-US" sz="1400" b="0" dirty="0"/>
                        <a:t>to continue.</a:t>
                      </a:r>
                    </a:p>
                    <a:p>
                      <a:pPr algn="just"/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52882"/>
                  </a:ext>
                </a:extLst>
              </a:tr>
              <a:tr h="901978">
                <a:tc>
                  <a:txBody>
                    <a:bodyPr/>
                    <a:lstStyle/>
                    <a:p>
                      <a:r>
                        <a:rPr lang="en-US" dirty="0"/>
                        <a:t>Required (R)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The target user/victim need to </a:t>
                      </a:r>
                      <a:r>
                        <a:rPr lang="en-US" sz="1400" b="1" dirty="0"/>
                        <a:t>perform an action </a:t>
                      </a:r>
                      <a:r>
                        <a:rPr lang="en-US" sz="1400" dirty="0"/>
                        <a:t>such as clicking a button or visiting a specific website to continue with the attack.</a:t>
                      </a:r>
                    </a:p>
                    <a:p>
                      <a:pPr algn="just"/>
                      <a:endParaRPr lang="en-US" sz="1400" dirty="0"/>
                    </a:p>
                    <a:p>
                      <a:pPr algn="just"/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e.g</a:t>
                      </a:r>
                      <a:r>
                        <a:rPr lang="en-US" sz="1400" dirty="0"/>
                        <a:t> Client-side exploits such as Cross Site Scripting)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058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122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371600"/>
            <a:ext cx="8305799" cy="4572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G" b="1" u="sng" dirty="0"/>
              <a:t>Scope</a:t>
            </a:r>
          </a:p>
          <a:p>
            <a:pPr marL="0" indent="0">
              <a:buNone/>
            </a:pPr>
            <a:r>
              <a:rPr lang="en-SG" sz="2600" dirty="0"/>
              <a:t>Requires understanding of the following:</a:t>
            </a:r>
          </a:p>
          <a:p>
            <a:endParaRPr lang="en-SG" sz="2600" dirty="0"/>
          </a:p>
          <a:p>
            <a:pPr marL="514350" indent="-514350">
              <a:buFont typeface="+mj-lt"/>
              <a:buAutoNum type="arabicPeriod"/>
            </a:pPr>
            <a:r>
              <a:rPr lang="en-SG" sz="2600" dirty="0"/>
              <a:t>Resource/object – data/program/process that the subject needs.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600" dirty="0"/>
              <a:t>Subject/actor – entity that accesses the resource/object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600" dirty="0"/>
              <a:t>Security authority – mechanism that enforces access control (</a:t>
            </a:r>
            <a:r>
              <a:rPr lang="en-SG" sz="2600" dirty="0" err="1"/>
              <a:t>e.g</a:t>
            </a:r>
            <a:r>
              <a:rPr lang="en-SG" sz="2600" dirty="0"/>
              <a:t> application, OS)</a:t>
            </a:r>
          </a:p>
          <a:p>
            <a:pPr marL="0" indent="0">
              <a:buNone/>
            </a:pPr>
            <a:endParaRPr lang="en-SG" sz="2600" dirty="0"/>
          </a:p>
          <a:p>
            <a:pPr marL="0" indent="0">
              <a:buNone/>
            </a:pPr>
            <a:r>
              <a:rPr lang="en-SG" sz="2600" dirty="0"/>
              <a:t>Normally, you would identify (1) and (2) first, before identifying (3).</a:t>
            </a:r>
          </a:p>
          <a:p>
            <a:endParaRPr lang="en-SG" sz="2600" dirty="0"/>
          </a:p>
          <a:p>
            <a:endParaRPr lang="en-SG" sz="2600" dirty="0"/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  <a:p>
            <a:pPr lvl="2"/>
            <a:endParaRPr lang="en-SG" dirty="0"/>
          </a:p>
          <a:p>
            <a:pPr lvl="1"/>
            <a:endParaRPr lang="en-SG" dirty="0"/>
          </a:p>
          <a:p>
            <a:pPr lvl="2"/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75800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371600"/>
            <a:ext cx="8305799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u="sng" dirty="0"/>
              <a:t>Scope</a:t>
            </a:r>
          </a:p>
          <a:p>
            <a:pPr marL="0" indent="0">
              <a:buNone/>
            </a:pPr>
            <a:r>
              <a:rPr lang="en-SG" sz="2600" dirty="0"/>
              <a:t>For example:</a:t>
            </a:r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  <a:p>
            <a:pPr lvl="2"/>
            <a:endParaRPr lang="en-SG" dirty="0"/>
          </a:p>
          <a:p>
            <a:pPr lvl="1"/>
            <a:endParaRPr lang="en-SG" dirty="0"/>
          </a:p>
          <a:p>
            <a:pPr lvl="2"/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11</a:t>
            </a:fld>
            <a:endParaRPr lang="en-US" sz="1400" dirty="0"/>
          </a:p>
        </p:txBody>
      </p:sp>
      <p:pic>
        <p:nvPicPr>
          <p:cNvPr id="3" name="Content Placeholder 3" descr="File:Server-multiple.svg - Wikipedia">
            <a:extLst>
              <a:ext uri="{FF2B5EF4-FFF2-40B4-BE49-F238E27FC236}">
                <a16:creationId xmlns:a16="http://schemas.microsoft.com/office/drawing/2014/main" id="{4E3139A4-4A4C-71BF-1B04-ED3F7D5A66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072" y="2599240"/>
            <a:ext cx="1362151" cy="1926578"/>
          </a:xfrm>
          <a:prstGeom prst="rect">
            <a:avLst/>
          </a:prstGeom>
          <a:noFill/>
        </p:spPr>
      </p:pic>
      <p:pic>
        <p:nvPicPr>
          <p:cNvPr id="4" name="Picture 3" descr="Public Domain Clip Art Image | Database symbol | ID ...">
            <a:extLst>
              <a:ext uri="{FF2B5EF4-FFF2-40B4-BE49-F238E27FC236}">
                <a16:creationId xmlns:a16="http://schemas.microsoft.com/office/drawing/2014/main" id="{F69B3E49-F684-528E-222F-0E507FADF8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059" y="2809653"/>
            <a:ext cx="963998" cy="13383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8CE6BD-32E1-62E2-3574-F165015BFCAD}"/>
              </a:ext>
            </a:extLst>
          </p:cNvPr>
          <p:cNvSpPr txBox="1"/>
          <p:nvPr/>
        </p:nvSpPr>
        <p:spPr>
          <a:xfrm>
            <a:off x="2478655" y="4295510"/>
            <a:ext cx="13865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Subject/Actor</a:t>
            </a:r>
            <a:endParaRPr lang="en-SG" sz="1350" b="1" dirty="0"/>
          </a:p>
        </p:txBody>
      </p:sp>
      <p:pic>
        <p:nvPicPr>
          <p:cNvPr id="6" name="Picture 5" descr="File:Oxygen480-apps-internet-web-browser.svg - Wikimedia ...">
            <a:extLst>
              <a:ext uri="{FF2B5EF4-FFF2-40B4-BE49-F238E27FC236}">
                <a16:creationId xmlns:a16="http://schemas.microsoft.com/office/drawing/2014/main" id="{F6E49BDB-E0BF-D80A-C3E3-2B91EDAAC6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732" y="2743200"/>
            <a:ext cx="1586936" cy="1586936"/>
          </a:xfrm>
          <a:prstGeom prst="rect">
            <a:avLst/>
          </a:prstGeom>
        </p:spPr>
      </p:pic>
      <p:sp>
        <p:nvSpPr>
          <p:cNvPr id="7" name="Right Arrow 7">
            <a:extLst>
              <a:ext uri="{FF2B5EF4-FFF2-40B4-BE49-F238E27FC236}">
                <a16:creationId xmlns:a16="http://schemas.microsoft.com/office/drawing/2014/main" id="{3907914F-F90A-F81D-EC58-A7BBBC557C6E}"/>
              </a:ext>
            </a:extLst>
          </p:cNvPr>
          <p:cNvSpPr/>
          <p:nvPr/>
        </p:nvSpPr>
        <p:spPr>
          <a:xfrm>
            <a:off x="4117387" y="3078766"/>
            <a:ext cx="1123112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Request</a:t>
            </a:r>
            <a:endParaRPr lang="en-SG" sz="1350" dirty="0"/>
          </a:p>
        </p:txBody>
      </p:sp>
      <p:sp>
        <p:nvSpPr>
          <p:cNvPr id="8" name="Right Arrow 8">
            <a:extLst>
              <a:ext uri="{FF2B5EF4-FFF2-40B4-BE49-F238E27FC236}">
                <a16:creationId xmlns:a16="http://schemas.microsoft.com/office/drawing/2014/main" id="{1D365922-FBF8-383B-8C65-985669B38DEF}"/>
              </a:ext>
            </a:extLst>
          </p:cNvPr>
          <p:cNvSpPr/>
          <p:nvPr/>
        </p:nvSpPr>
        <p:spPr>
          <a:xfrm flipH="1">
            <a:off x="4117387" y="3603757"/>
            <a:ext cx="1123112" cy="40005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Response</a:t>
            </a:r>
            <a:endParaRPr lang="en-SG" sz="1350" dirty="0"/>
          </a:p>
        </p:txBody>
      </p:sp>
      <p:sp>
        <p:nvSpPr>
          <p:cNvPr id="9" name="Right Arrow 9">
            <a:extLst>
              <a:ext uri="{FF2B5EF4-FFF2-40B4-BE49-F238E27FC236}">
                <a16:creationId xmlns:a16="http://schemas.microsoft.com/office/drawing/2014/main" id="{6C100C54-F248-6B54-E1CF-04BE0F2291B9}"/>
              </a:ext>
            </a:extLst>
          </p:cNvPr>
          <p:cNvSpPr/>
          <p:nvPr/>
        </p:nvSpPr>
        <p:spPr>
          <a:xfrm>
            <a:off x="6946433" y="3073612"/>
            <a:ext cx="104702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Request</a:t>
            </a:r>
            <a:endParaRPr lang="en-SG" sz="1350" dirty="0"/>
          </a:p>
        </p:txBody>
      </p:sp>
      <p:sp>
        <p:nvSpPr>
          <p:cNvPr id="10" name="Right Arrow 10">
            <a:extLst>
              <a:ext uri="{FF2B5EF4-FFF2-40B4-BE49-F238E27FC236}">
                <a16:creationId xmlns:a16="http://schemas.microsoft.com/office/drawing/2014/main" id="{8EC416A4-2AEF-1D2D-64B2-A022D5732BD5}"/>
              </a:ext>
            </a:extLst>
          </p:cNvPr>
          <p:cNvSpPr/>
          <p:nvPr/>
        </p:nvSpPr>
        <p:spPr>
          <a:xfrm flipH="1">
            <a:off x="6946433" y="3598604"/>
            <a:ext cx="1047020" cy="40005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Response</a:t>
            </a:r>
            <a:endParaRPr lang="en-SG" sz="13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3633D1-13DC-6FC9-DEF3-634B14C1E4C4}"/>
              </a:ext>
            </a:extLst>
          </p:cNvPr>
          <p:cNvSpPr txBox="1"/>
          <p:nvPr/>
        </p:nvSpPr>
        <p:spPr>
          <a:xfrm>
            <a:off x="5063262" y="4295511"/>
            <a:ext cx="213455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Security Authority</a:t>
            </a:r>
          </a:p>
          <a:p>
            <a:pPr algn="ctr"/>
            <a:r>
              <a:rPr lang="en-US" sz="1350" b="1" dirty="0"/>
              <a:t>(Web Application)</a:t>
            </a:r>
            <a:endParaRPr lang="en-SG" sz="135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B50BCC-0E8E-6F1C-5653-6A3B0CE3D197}"/>
              </a:ext>
            </a:extLst>
          </p:cNvPr>
          <p:cNvSpPr txBox="1"/>
          <p:nvPr/>
        </p:nvSpPr>
        <p:spPr>
          <a:xfrm>
            <a:off x="7989454" y="4225737"/>
            <a:ext cx="1569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Resource/Object</a:t>
            </a:r>
            <a:br>
              <a:rPr lang="en-US" sz="1350" b="1" dirty="0"/>
            </a:br>
            <a:r>
              <a:rPr lang="en-US" sz="1350" b="1" dirty="0"/>
              <a:t>(Database Query)</a:t>
            </a:r>
            <a:endParaRPr lang="en-SG" sz="135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288EEA-7B55-E1A7-64C0-D52410F74750}"/>
              </a:ext>
            </a:extLst>
          </p:cNvPr>
          <p:cNvSpPr txBox="1"/>
          <p:nvPr/>
        </p:nvSpPr>
        <p:spPr>
          <a:xfrm>
            <a:off x="8080803" y="4841035"/>
            <a:ext cx="1386509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Data fetched from the database to be shown on the website.</a:t>
            </a:r>
            <a:endParaRPr lang="en-SG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084530-0A95-49A3-106B-A91BA87A8C2A}"/>
              </a:ext>
            </a:extLst>
          </p:cNvPr>
          <p:cNvSpPr txBox="1"/>
          <p:nvPr/>
        </p:nvSpPr>
        <p:spPr>
          <a:xfrm>
            <a:off x="5379071" y="4818281"/>
            <a:ext cx="156736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Server-side code does the verification if user allowed access to the data.</a:t>
            </a:r>
            <a:endParaRPr lang="en-SG" sz="13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34210E-8C43-FB73-D61E-C85BA1EE0CC8}"/>
              </a:ext>
            </a:extLst>
          </p:cNvPr>
          <p:cNvSpPr txBox="1"/>
          <p:nvPr/>
        </p:nvSpPr>
        <p:spPr>
          <a:xfrm>
            <a:off x="2478656" y="4841035"/>
            <a:ext cx="138650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Logged-in user of the web application.</a:t>
            </a:r>
            <a:endParaRPr lang="en-SG" sz="13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D87FF9-B838-DDEA-C38C-B1F5160693D7}"/>
              </a:ext>
            </a:extLst>
          </p:cNvPr>
          <p:cNvSpPr/>
          <p:nvPr/>
        </p:nvSpPr>
        <p:spPr>
          <a:xfrm>
            <a:off x="1676400" y="2438400"/>
            <a:ext cx="8534400" cy="381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519623E-DA52-B5F5-C244-903862F3C232}"/>
              </a:ext>
            </a:extLst>
          </p:cNvPr>
          <p:cNvSpPr/>
          <p:nvPr/>
        </p:nvSpPr>
        <p:spPr>
          <a:xfrm rot="2653757">
            <a:off x="7928760" y="1687868"/>
            <a:ext cx="394741" cy="74784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CA6BBD-FB6C-8DBF-4D26-B0540742B6DD}"/>
              </a:ext>
            </a:extLst>
          </p:cNvPr>
          <p:cNvSpPr txBox="1"/>
          <p:nvPr/>
        </p:nvSpPr>
        <p:spPr>
          <a:xfrm>
            <a:off x="8254093" y="1424106"/>
            <a:ext cx="2230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SECURITY SCOPE</a:t>
            </a:r>
            <a:endParaRPr lang="en-SG" sz="2000" b="1" dirty="0"/>
          </a:p>
        </p:txBody>
      </p:sp>
    </p:spTree>
    <p:extLst>
      <p:ext uri="{BB962C8B-B14F-4D97-AF65-F5344CB8AC3E}">
        <p14:creationId xmlns:p14="http://schemas.microsoft.com/office/powerpoint/2010/main" val="307627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371600"/>
            <a:ext cx="8305799" cy="4572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SG" b="1" u="sng" dirty="0"/>
              <a:t>Scope</a:t>
            </a:r>
          </a:p>
          <a:p>
            <a:pPr marL="0" indent="0">
              <a:buNone/>
            </a:pPr>
            <a:r>
              <a:rPr lang="en-SG" sz="2600" dirty="0"/>
              <a:t>Based on the security scope and the vulnerability:</a:t>
            </a:r>
          </a:p>
          <a:p>
            <a:pPr lvl="1"/>
            <a:endParaRPr lang="en-SG" sz="2200" b="1" u="sng" dirty="0"/>
          </a:p>
          <a:p>
            <a:pPr lvl="1"/>
            <a:r>
              <a:rPr lang="en-SG" sz="2200" b="1" u="sng" dirty="0"/>
              <a:t>Identify</a:t>
            </a:r>
            <a:r>
              <a:rPr lang="en-SG" sz="2200" dirty="0"/>
              <a:t> the vulnerable component first (</a:t>
            </a:r>
            <a:r>
              <a:rPr lang="en-SG" sz="2200" dirty="0" err="1"/>
              <a:t>e.g</a:t>
            </a:r>
            <a:r>
              <a:rPr lang="en-SG" sz="2200" dirty="0"/>
              <a:t> web application, network service)</a:t>
            </a:r>
          </a:p>
          <a:p>
            <a:pPr lvl="1"/>
            <a:endParaRPr lang="en-SG" sz="2200" dirty="0"/>
          </a:p>
          <a:p>
            <a:pPr lvl="1"/>
            <a:r>
              <a:rPr lang="en-SG" sz="2200" b="1" u="sng" dirty="0"/>
              <a:t>Construct the security scope </a:t>
            </a:r>
            <a:r>
              <a:rPr lang="en-SG" sz="2200" dirty="0"/>
              <a:t>based on the vulnerable component.</a:t>
            </a:r>
          </a:p>
          <a:p>
            <a:pPr lvl="2"/>
            <a:r>
              <a:rPr lang="en-SG" sz="1600" dirty="0"/>
              <a:t>Ask these 2 questions: </a:t>
            </a:r>
          </a:p>
          <a:p>
            <a:pPr lvl="3"/>
            <a:r>
              <a:rPr lang="en-SG" sz="1600" dirty="0"/>
              <a:t>Who/what is the subject? (can be a program, user, etc)</a:t>
            </a:r>
          </a:p>
          <a:p>
            <a:pPr lvl="3"/>
            <a:r>
              <a:rPr lang="en-SG" sz="1600" dirty="0"/>
              <a:t>What is the subject trying to access? (Identify resource)</a:t>
            </a:r>
          </a:p>
          <a:p>
            <a:pPr lvl="1"/>
            <a:endParaRPr lang="en-SG" sz="2200" b="1" u="sng" dirty="0"/>
          </a:p>
          <a:p>
            <a:pPr lvl="1"/>
            <a:r>
              <a:rPr lang="en-SG" sz="2200" b="1" u="sng" dirty="0"/>
              <a:t>Determine</a:t>
            </a:r>
            <a:r>
              <a:rPr lang="en-SG" sz="2200" dirty="0"/>
              <a:t> the </a:t>
            </a:r>
            <a:r>
              <a:rPr lang="en-SG" sz="2200" b="1" dirty="0"/>
              <a:t>impact (or outcome)</a:t>
            </a:r>
            <a:r>
              <a:rPr lang="en-SG" sz="2200" dirty="0"/>
              <a:t> of the vulnerability, some examples include:</a:t>
            </a:r>
          </a:p>
          <a:p>
            <a:pPr lvl="2"/>
            <a:r>
              <a:rPr lang="en-SG" sz="2000" dirty="0"/>
              <a:t>Remote command execution on the server</a:t>
            </a:r>
          </a:p>
          <a:p>
            <a:pPr lvl="2"/>
            <a:r>
              <a:rPr lang="en-SG" sz="2000" dirty="0"/>
              <a:t>Manipulation of database tables within the SQL database</a:t>
            </a:r>
          </a:p>
          <a:p>
            <a:pPr lvl="2"/>
            <a:r>
              <a:rPr lang="en-SG" sz="2000" dirty="0"/>
              <a:t>Controlling the victim’s application (</a:t>
            </a:r>
            <a:r>
              <a:rPr lang="en-SG" sz="2000" dirty="0" err="1"/>
              <a:t>e.g</a:t>
            </a:r>
            <a:r>
              <a:rPr lang="en-SG" sz="2000" dirty="0"/>
              <a:t> web browser)</a:t>
            </a:r>
          </a:p>
          <a:p>
            <a:pPr lvl="2"/>
            <a:endParaRPr lang="en-SG" sz="2000" dirty="0"/>
          </a:p>
          <a:p>
            <a:pPr lvl="2"/>
            <a:endParaRPr lang="en-SG" sz="2000" dirty="0"/>
          </a:p>
          <a:p>
            <a:pPr lvl="1"/>
            <a:endParaRPr lang="en-SG" sz="2200" dirty="0"/>
          </a:p>
          <a:p>
            <a:endParaRPr lang="en-SG" sz="2600" dirty="0"/>
          </a:p>
          <a:p>
            <a:endParaRPr lang="en-SG" sz="2600" dirty="0"/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  <a:p>
            <a:pPr lvl="2"/>
            <a:endParaRPr lang="en-SG" dirty="0"/>
          </a:p>
          <a:p>
            <a:pPr lvl="1"/>
            <a:endParaRPr lang="en-SG" dirty="0"/>
          </a:p>
          <a:p>
            <a:pPr lvl="2"/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7616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371600"/>
            <a:ext cx="8305799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u="sng" dirty="0"/>
              <a:t>Scope</a:t>
            </a:r>
          </a:p>
          <a:p>
            <a:pPr marL="0" indent="0">
              <a:buNone/>
            </a:pPr>
            <a:r>
              <a:rPr lang="en-SG" sz="2600" dirty="0"/>
              <a:t>Based on the security scope and the vulnerability:</a:t>
            </a:r>
          </a:p>
          <a:p>
            <a:pPr marL="457200" lvl="1" indent="0">
              <a:buNone/>
            </a:pPr>
            <a:endParaRPr lang="en-SG" sz="2200" b="1" u="sng" dirty="0"/>
          </a:p>
          <a:p>
            <a:pPr lvl="1" algn="just"/>
            <a:r>
              <a:rPr lang="en-SG" sz="2200" dirty="0"/>
              <a:t>Based on the </a:t>
            </a:r>
            <a:r>
              <a:rPr lang="en-SG" sz="2200" b="1" u="sng" dirty="0"/>
              <a:t>identified impact (and relevant impacted resource)</a:t>
            </a:r>
            <a:r>
              <a:rPr lang="en-SG" sz="2200" dirty="0"/>
              <a:t>, create another security scope but this time from the aspect of the </a:t>
            </a:r>
            <a:r>
              <a:rPr lang="en-SG" sz="2200" b="1" dirty="0"/>
              <a:t>impacted resource.</a:t>
            </a:r>
          </a:p>
          <a:p>
            <a:pPr lvl="1" algn="just"/>
            <a:endParaRPr lang="en-SG" sz="2200" b="1" dirty="0"/>
          </a:p>
          <a:p>
            <a:pPr lvl="1" algn="just"/>
            <a:r>
              <a:rPr lang="en-SG" sz="2200" dirty="0"/>
              <a:t>If the two security scopes do not have the same resource, security mechanism and object, then the scope is </a:t>
            </a:r>
            <a:r>
              <a:rPr lang="en-SG" sz="2200" b="1" dirty="0">
                <a:solidFill>
                  <a:srgbClr val="FF0000"/>
                </a:solidFill>
              </a:rPr>
              <a:t>‘Changed’.</a:t>
            </a:r>
          </a:p>
          <a:p>
            <a:pPr lvl="2" algn="just"/>
            <a:r>
              <a:rPr lang="en-SG" dirty="0"/>
              <a:t>Else, it will be </a:t>
            </a:r>
            <a:r>
              <a:rPr lang="en-SG" b="1" dirty="0">
                <a:solidFill>
                  <a:srgbClr val="FF0000"/>
                </a:solidFill>
              </a:rPr>
              <a:t>‘Unchanged’</a:t>
            </a:r>
          </a:p>
          <a:p>
            <a:pPr lvl="2"/>
            <a:endParaRPr lang="en-SG" sz="2000" dirty="0"/>
          </a:p>
          <a:p>
            <a:pPr lvl="1"/>
            <a:endParaRPr lang="en-SG" sz="2200" dirty="0"/>
          </a:p>
          <a:p>
            <a:endParaRPr lang="en-SG" sz="2600" dirty="0"/>
          </a:p>
          <a:p>
            <a:endParaRPr lang="en-SG" sz="2600" dirty="0"/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  <a:p>
            <a:pPr lvl="2"/>
            <a:endParaRPr lang="en-SG" dirty="0"/>
          </a:p>
          <a:p>
            <a:pPr lvl="1"/>
            <a:endParaRPr lang="en-SG" dirty="0"/>
          </a:p>
          <a:p>
            <a:pPr lvl="2"/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97124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9322" y="1447800"/>
            <a:ext cx="8411029" cy="5029200"/>
          </a:xfrm>
        </p:spPr>
        <p:txBody>
          <a:bodyPr>
            <a:normAutofit/>
          </a:bodyPr>
          <a:lstStyle/>
          <a:p>
            <a:r>
              <a:rPr lang="en-US" dirty="0"/>
              <a:t>Example 1 – HTTP Used for Communications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HTTP Service used for a web application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All communications to the web application are unencrypted.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Impact: Attacker can intercept unencrypted traffic to </a:t>
            </a:r>
            <a:r>
              <a:rPr lang="en-US" b="1" dirty="0">
                <a:highlight>
                  <a:srgbClr val="FFFF00"/>
                </a:highlight>
              </a:rPr>
              <a:t>read/modify data </a:t>
            </a:r>
            <a:r>
              <a:rPr lang="en-US" dirty="0"/>
              <a:t>of an unsuspecting victim </a:t>
            </a:r>
            <a:r>
              <a:rPr lang="en-US" b="1" dirty="0">
                <a:highlight>
                  <a:srgbClr val="FFFF00"/>
                </a:highlight>
              </a:rPr>
              <a:t>BEFORE</a:t>
            </a:r>
            <a:r>
              <a:rPr lang="en-US" dirty="0"/>
              <a:t> it is delivered to the affected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3702724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9321" y="1447800"/>
            <a:ext cx="407629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/>
              <a:t>Example 1 – HTTP Used for Communications</a:t>
            </a:r>
          </a:p>
          <a:p>
            <a:pPr marL="0" indent="0" algn="just">
              <a:buNone/>
            </a:pPr>
            <a:r>
              <a:rPr lang="en-US" sz="1800" dirty="0"/>
              <a:t>Vulnerable component: Web application</a:t>
            </a:r>
          </a:p>
          <a:p>
            <a:pPr marL="0" indent="0" algn="just">
              <a:buNone/>
            </a:pPr>
            <a:br>
              <a:rPr lang="en-US" sz="1800" dirty="0"/>
            </a:br>
            <a:r>
              <a:rPr lang="en-US" sz="1800" dirty="0"/>
              <a:t>Impacted component: Web application</a:t>
            </a:r>
          </a:p>
          <a:p>
            <a:pPr marL="0" indent="0" algn="just">
              <a:buNone/>
            </a:pPr>
            <a:r>
              <a:rPr lang="en-US" sz="1800" dirty="0"/>
              <a:t>- Based on the ‘Impact’ writeup in previous slide</a:t>
            </a:r>
          </a:p>
          <a:p>
            <a:pPr marL="0" indent="0" algn="just">
              <a:buNone/>
            </a:pPr>
            <a:br>
              <a:rPr lang="en-US" sz="1800" dirty="0"/>
            </a:br>
            <a:r>
              <a:rPr lang="en-US" sz="1800" dirty="0"/>
              <a:t>- No need to generate another security scope.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b="1" dirty="0">
                <a:solidFill>
                  <a:srgbClr val="FF0000"/>
                </a:solidFill>
              </a:rPr>
              <a:t>Scope: Unchanged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</p:txBody>
      </p:sp>
      <p:pic>
        <p:nvPicPr>
          <p:cNvPr id="11" name="Content Placeholder 3" descr="File:Server-multiple.svg - Wikipedia">
            <a:extLst>
              <a:ext uri="{FF2B5EF4-FFF2-40B4-BE49-F238E27FC236}">
                <a16:creationId xmlns:a16="http://schemas.microsoft.com/office/drawing/2014/main" id="{D26CAC96-929F-F44D-FDB7-23468185AD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443" y="1909250"/>
            <a:ext cx="1219088" cy="1724235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FF347C-0FF6-7B64-D2FC-E69D0D46D5E1}"/>
              </a:ext>
            </a:extLst>
          </p:cNvPr>
          <p:cNvSpPr txBox="1"/>
          <p:nvPr/>
        </p:nvSpPr>
        <p:spPr>
          <a:xfrm>
            <a:off x="6435630" y="3327624"/>
            <a:ext cx="124088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Subject/Actor</a:t>
            </a:r>
          </a:p>
          <a:p>
            <a:pPr algn="ctr"/>
            <a:r>
              <a:rPr lang="en-US" sz="1350" b="1" dirty="0"/>
              <a:t>[User]</a:t>
            </a:r>
            <a:endParaRPr lang="en-SG" sz="1350" b="1" dirty="0"/>
          </a:p>
        </p:txBody>
      </p:sp>
      <p:pic>
        <p:nvPicPr>
          <p:cNvPr id="14" name="Picture 13" descr="File:Oxygen480-apps-internet-web-browser.svg - Wikimedia ...">
            <a:extLst>
              <a:ext uri="{FF2B5EF4-FFF2-40B4-BE49-F238E27FC236}">
                <a16:creationId xmlns:a16="http://schemas.microsoft.com/office/drawing/2014/main" id="{2872B131-24D9-8E7B-4039-28699B0B6D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941" y="2057400"/>
            <a:ext cx="1420264" cy="1420264"/>
          </a:xfrm>
          <a:prstGeom prst="rect">
            <a:avLst/>
          </a:prstGeom>
        </p:spPr>
      </p:pic>
      <p:sp>
        <p:nvSpPr>
          <p:cNvPr id="15" name="Right Arrow 7">
            <a:extLst>
              <a:ext uri="{FF2B5EF4-FFF2-40B4-BE49-F238E27FC236}">
                <a16:creationId xmlns:a16="http://schemas.microsoft.com/office/drawing/2014/main" id="{C6C90578-5CE6-1308-6CD5-1A5093F8BF2E}"/>
              </a:ext>
            </a:extLst>
          </p:cNvPr>
          <p:cNvSpPr/>
          <p:nvPr/>
        </p:nvSpPr>
        <p:spPr>
          <a:xfrm>
            <a:off x="7986241" y="2311611"/>
            <a:ext cx="968660" cy="426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Request</a:t>
            </a:r>
            <a:endParaRPr lang="en-SG" sz="1350" dirty="0"/>
          </a:p>
        </p:txBody>
      </p:sp>
      <p:sp>
        <p:nvSpPr>
          <p:cNvPr id="16" name="Right Arrow 8">
            <a:extLst>
              <a:ext uri="{FF2B5EF4-FFF2-40B4-BE49-F238E27FC236}">
                <a16:creationId xmlns:a16="http://schemas.microsoft.com/office/drawing/2014/main" id="{D009ED44-DC08-FA65-6A0F-D8D86B3EE8D1}"/>
              </a:ext>
            </a:extLst>
          </p:cNvPr>
          <p:cNvSpPr/>
          <p:nvPr/>
        </p:nvSpPr>
        <p:spPr>
          <a:xfrm flipH="1">
            <a:off x="7949747" y="2828193"/>
            <a:ext cx="1005154" cy="42643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Response</a:t>
            </a:r>
            <a:endParaRPr lang="en-SG" sz="13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854926-BEF5-B3E3-E85D-9DA6197BB38F}"/>
              </a:ext>
            </a:extLst>
          </p:cNvPr>
          <p:cNvSpPr txBox="1"/>
          <p:nvPr/>
        </p:nvSpPr>
        <p:spPr>
          <a:xfrm>
            <a:off x="8792805" y="3410519"/>
            <a:ext cx="19103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Security Authority</a:t>
            </a:r>
          </a:p>
          <a:p>
            <a:pPr algn="ctr"/>
            <a:r>
              <a:rPr lang="en-US" sz="1350" b="1" dirty="0"/>
              <a:t>(Web Application)</a:t>
            </a:r>
            <a:endParaRPr lang="en-SG" sz="135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6DDBDB-4E38-78C0-2567-827D07210330}"/>
              </a:ext>
            </a:extLst>
          </p:cNvPr>
          <p:cNvSpPr txBox="1"/>
          <p:nvPr/>
        </p:nvSpPr>
        <p:spPr>
          <a:xfrm>
            <a:off x="9045787" y="3918350"/>
            <a:ext cx="140439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Resource/Object</a:t>
            </a:r>
            <a:br>
              <a:rPr lang="en-US" sz="1350" b="1" dirty="0"/>
            </a:br>
            <a:r>
              <a:rPr lang="en-US" sz="1350" b="1" dirty="0"/>
              <a:t>(Website page)</a:t>
            </a:r>
            <a:endParaRPr lang="en-SG" sz="1350" b="1" dirty="0"/>
          </a:p>
        </p:txBody>
      </p:sp>
    </p:spTree>
    <p:extLst>
      <p:ext uri="{BB962C8B-B14F-4D97-AF65-F5344CB8AC3E}">
        <p14:creationId xmlns:p14="http://schemas.microsoft.com/office/powerpoint/2010/main" val="3696739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9322" y="1447800"/>
            <a:ext cx="8411029" cy="4572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Example 2 – Stored Cross-Site Scripting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Ability to run store malicious JavaScript code on a website.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Impact: Users who visit the affected webpage of the website will render the </a:t>
            </a:r>
            <a:r>
              <a:rPr lang="en-US" b="1" u="sng" dirty="0"/>
              <a:t>malicious JavaScript code </a:t>
            </a:r>
            <a:r>
              <a:rPr lang="en-US" dirty="0"/>
              <a:t>on their laptop/PC </a:t>
            </a:r>
            <a:r>
              <a:rPr lang="en-US" b="1" u="sng" dirty="0"/>
              <a:t>web browsers.</a:t>
            </a:r>
          </a:p>
          <a:p>
            <a:pPr marL="457200" lvl="1" indent="0">
              <a:buNone/>
            </a:pPr>
            <a:endParaRPr lang="en-US" b="1" u="sng" dirty="0"/>
          </a:p>
          <a:p>
            <a:pPr lvl="2"/>
            <a:r>
              <a:rPr lang="en-US" dirty="0"/>
              <a:t>Attackers can control the users’ web browsers based on this vulnerability.</a:t>
            </a:r>
          </a:p>
        </p:txBody>
      </p:sp>
    </p:spTree>
    <p:extLst>
      <p:ext uri="{BB962C8B-B14F-4D97-AF65-F5344CB8AC3E}">
        <p14:creationId xmlns:p14="http://schemas.microsoft.com/office/powerpoint/2010/main" val="3358259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766" y="1300774"/>
            <a:ext cx="865868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/>
              <a:t>Example 2 – Stored Cross Site Scripting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</p:txBody>
      </p:sp>
      <p:pic>
        <p:nvPicPr>
          <p:cNvPr id="5" name="Content Placeholder 3" descr="File:Server-multiple.svg - Wikipedia">
            <a:extLst>
              <a:ext uri="{FF2B5EF4-FFF2-40B4-BE49-F238E27FC236}">
                <a16:creationId xmlns:a16="http://schemas.microsoft.com/office/drawing/2014/main" id="{446CE464-DCF1-54BC-7AB0-DA2EC60BD2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795" y="2257668"/>
            <a:ext cx="1362151" cy="1926578"/>
          </a:xfrm>
          <a:prstGeom prst="rect">
            <a:avLst/>
          </a:prstGeom>
          <a:noFill/>
        </p:spPr>
      </p:pic>
      <p:pic>
        <p:nvPicPr>
          <p:cNvPr id="6" name="Picture 5" descr="Public Domain Clip Art Image | Database symbol | ID ...">
            <a:extLst>
              <a:ext uri="{FF2B5EF4-FFF2-40B4-BE49-F238E27FC236}">
                <a16:creationId xmlns:a16="http://schemas.microsoft.com/office/drawing/2014/main" id="{DB697A65-46B6-AC53-1D08-176F56ACD4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622" y="2434870"/>
            <a:ext cx="963998" cy="1338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7A191E-7204-DCD9-F44C-82DA4D0A4671}"/>
              </a:ext>
            </a:extLst>
          </p:cNvPr>
          <p:cNvSpPr txBox="1"/>
          <p:nvPr/>
        </p:nvSpPr>
        <p:spPr>
          <a:xfrm>
            <a:off x="5235180" y="3858860"/>
            <a:ext cx="159817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Security Mechanism</a:t>
            </a:r>
          </a:p>
          <a:p>
            <a:pPr algn="ctr"/>
            <a:r>
              <a:rPr lang="en-US" sz="1350" b="1" dirty="0"/>
              <a:t>[Web Application]</a:t>
            </a:r>
            <a:endParaRPr lang="en-SG" sz="1350" b="1" dirty="0"/>
          </a:p>
        </p:txBody>
      </p:sp>
      <p:pic>
        <p:nvPicPr>
          <p:cNvPr id="8" name="Picture 7" descr="File:Oxygen480-apps-internet-web-browser.svg - Wikimedia ...">
            <a:extLst>
              <a:ext uri="{FF2B5EF4-FFF2-40B4-BE49-F238E27FC236}">
                <a16:creationId xmlns:a16="http://schemas.microsoft.com/office/drawing/2014/main" id="{D9D7CF26-E1EF-0E4F-F172-753FCDF39C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973" y="2432006"/>
            <a:ext cx="1586936" cy="1586936"/>
          </a:xfrm>
          <a:prstGeom prst="rect">
            <a:avLst/>
          </a:prstGeom>
        </p:spPr>
      </p:pic>
      <p:sp>
        <p:nvSpPr>
          <p:cNvPr id="12" name="Right Arrow 9">
            <a:extLst>
              <a:ext uri="{FF2B5EF4-FFF2-40B4-BE49-F238E27FC236}">
                <a16:creationId xmlns:a16="http://schemas.microsoft.com/office/drawing/2014/main" id="{7FE0FD8A-6BAB-7D5D-B157-DB275F3F296B}"/>
              </a:ext>
            </a:extLst>
          </p:cNvPr>
          <p:cNvSpPr/>
          <p:nvPr/>
        </p:nvSpPr>
        <p:spPr>
          <a:xfrm>
            <a:off x="6695016" y="2703983"/>
            <a:ext cx="104702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Request</a:t>
            </a:r>
            <a:endParaRPr lang="en-SG" sz="1350" dirty="0"/>
          </a:p>
        </p:txBody>
      </p:sp>
      <p:sp>
        <p:nvSpPr>
          <p:cNvPr id="17" name="Right Arrow 10">
            <a:extLst>
              <a:ext uri="{FF2B5EF4-FFF2-40B4-BE49-F238E27FC236}">
                <a16:creationId xmlns:a16="http://schemas.microsoft.com/office/drawing/2014/main" id="{50EB7C6B-9C8B-134D-AD65-BF1C366AA1B3}"/>
              </a:ext>
            </a:extLst>
          </p:cNvPr>
          <p:cNvSpPr/>
          <p:nvPr/>
        </p:nvSpPr>
        <p:spPr>
          <a:xfrm flipH="1">
            <a:off x="6695016" y="3228975"/>
            <a:ext cx="1047020" cy="40005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Response</a:t>
            </a:r>
            <a:endParaRPr lang="en-SG" sz="13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C15EF-9500-A573-3CF8-E8242ED7BF7A}"/>
              </a:ext>
            </a:extLst>
          </p:cNvPr>
          <p:cNvSpPr txBox="1"/>
          <p:nvPr/>
        </p:nvSpPr>
        <p:spPr>
          <a:xfrm>
            <a:off x="7922148" y="3861724"/>
            <a:ext cx="10866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Resource</a:t>
            </a:r>
          </a:p>
          <a:p>
            <a:pPr algn="ctr"/>
            <a:r>
              <a:rPr lang="en-US" sz="1350" b="1" dirty="0"/>
              <a:t>[Database]</a:t>
            </a:r>
            <a:endParaRPr lang="en-SG" sz="135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49B478-A4CE-7862-9908-F57757BE77F3}"/>
              </a:ext>
            </a:extLst>
          </p:cNvPr>
          <p:cNvSpPr txBox="1"/>
          <p:nvPr/>
        </p:nvSpPr>
        <p:spPr>
          <a:xfrm>
            <a:off x="7503786" y="4668575"/>
            <a:ext cx="19233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350" dirty="0"/>
              <a:t>Malicious JavaScript code stored in DB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1D14FD-7AEF-2D69-F237-7167B39F6601}"/>
              </a:ext>
            </a:extLst>
          </p:cNvPr>
          <p:cNvSpPr txBox="1"/>
          <p:nvPr/>
        </p:nvSpPr>
        <p:spPr>
          <a:xfrm>
            <a:off x="5134312" y="4638742"/>
            <a:ext cx="192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350" dirty="0"/>
              <a:t>Web Application responsible for fetching the data from DB and load it to the website.</a:t>
            </a:r>
          </a:p>
        </p:txBody>
      </p:sp>
      <p:sp>
        <p:nvSpPr>
          <p:cNvPr id="25" name="Right Arrow 9">
            <a:extLst>
              <a:ext uri="{FF2B5EF4-FFF2-40B4-BE49-F238E27FC236}">
                <a16:creationId xmlns:a16="http://schemas.microsoft.com/office/drawing/2014/main" id="{F86F30FA-DD8A-F756-80C0-5F3588A1AFC6}"/>
              </a:ext>
            </a:extLst>
          </p:cNvPr>
          <p:cNvSpPr/>
          <p:nvPr/>
        </p:nvSpPr>
        <p:spPr>
          <a:xfrm>
            <a:off x="4201841" y="2703983"/>
            <a:ext cx="104702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Request</a:t>
            </a:r>
            <a:endParaRPr lang="en-SG" sz="1350" dirty="0"/>
          </a:p>
        </p:txBody>
      </p:sp>
      <p:sp>
        <p:nvSpPr>
          <p:cNvPr id="26" name="Right Arrow 10">
            <a:extLst>
              <a:ext uri="{FF2B5EF4-FFF2-40B4-BE49-F238E27FC236}">
                <a16:creationId xmlns:a16="http://schemas.microsoft.com/office/drawing/2014/main" id="{9B9A5127-570D-0388-5AE5-66637C3EA418}"/>
              </a:ext>
            </a:extLst>
          </p:cNvPr>
          <p:cNvSpPr/>
          <p:nvPr/>
        </p:nvSpPr>
        <p:spPr>
          <a:xfrm flipH="1">
            <a:off x="4201841" y="3228975"/>
            <a:ext cx="1047020" cy="40005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Response</a:t>
            </a:r>
            <a:endParaRPr lang="en-SG" sz="13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467E47-862E-1A37-EFE3-9D294C0B7794}"/>
              </a:ext>
            </a:extLst>
          </p:cNvPr>
          <p:cNvSpPr txBox="1"/>
          <p:nvPr/>
        </p:nvSpPr>
        <p:spPr>
          <a:xfrm>
            <a:off x="2576322" y="3826456"/>
            <a:ext cx="15981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Subject/Actor</a:t>
            </a:r>
          </a:p>
          <a:p>
            <a:pPr algn="ctr"/>
            <a:r>
              <a:rPr lang="en-US" sz="1350" b="1" dirty="0"/>
              <a:t>[Web User]</a:t>
            </a:r>
            <a:endParaRPr lang="en-SG" sz="1350" b="1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AFFF223-5B83-65AA-69CB-8A60CAD612AD}"/>
              </a:ext>
            </a:extLst>
          </p:cNvPr>
          <p:cNvSpPr txBox="1">
            <a:spLocks/>
          </p:cNvSpPr>
          <p:nvPr/>
        </p:nvSpPr>
        <p:spPr>
          <a:xfrm>
            <a:off x="2032767" y="1834679"/>
            <a:ext cx="5494465" cy="4196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Vulnerable component is the </a:t>
            </a:r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‘Web Application’</a:t>
            </a:r>
            <a:endParaRPr lang="en-US" sz="1800" b="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indent="0" algn="just">
              <a:buNone/>
            </a:pPr>
            <a:endParaRPr lang="en-US" sz="18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AF8150-88D4-BFC4-D1AC-DF3584AE37AC}"/>
              </a:ext>
            </a:extLst>
          </p:cNvPr>
          <p:cNvSpPr txBox="1"/>
          <p:nvPr/>
        </p:nvSpPr>
        <p:spPr>
          <a:xfrm>
            <a:off x="2413719" y="4687342"/>
            <a:ext cx="192337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350" dirty="0"/>
              <a:t>User access the page that is based on data stored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2166850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766" y="1300774"/>
            <a:ext cx="865868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/>
              <a:t>Example 2 – Stored Cross Site Scripting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</p:txBody>
      </p:sp>
      <p:pic>
        <p:nvPicPr>
          <p:cNvPr id="5" name="Content Placeholder 3" descr="File:Server-multiple.svg - Wikipedia">
            <a:extLst>
              <a:ext uri="{FF2B5EF4-FFF2-40B4-BE49-F238E27FC236}">
                <a16:creationId xmlns:a16="http://schemas.microsoft.com/office/drawing/2014/main" id="{446CE464-DCF1-54BC-7AB0-DA2EC60BD2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795" y="2257668"/>
            <a:ext cx="1362151" cy="1926578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7A191E-7204-DCD9-F44C-82DA4D0A4671}"/>
              </a:ext>
            </a:extLst>
          </p:cNvPr>
          <p:cNvSpPr txBox="1"/>
          <p:nvPr/>
        </p:nvSpPr>
        <p:spPr>
          <a:xfrm>
            <a:off x="5235180" y="3858860"/>
            <a:ext cx="159817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Security Mechanism</a:t>
            </a:r>
          </a:p>
          <a:p>
            <a:pPr algn="ctr"/>
            <a:r>
              <a:rPr lang="en-US" sz="1350" b="1" dirty="0"/>
              <a:t>[Operating System]</a:t>
            </a:r>
            <a:endParaRPr lang="en-SG" sz="1350" b="1" dirty="0"/>
          </a:p>
        </p:txBody>
      </p:sp>
      <p:pic>
        <p:nvPicPr>
          <p:cNvPr id="8" name="Picture 7" descr="File:Oxygen480-apps-internet-web-browser.svg - Wikimedia ...">
            <a:extLst>
              <a:ext uri="{FF2B5EF4-FFF2-40B4-BE49-F238E27FC236}">
                <a16:creationId xmlns:a16="http://schemas.microsoft.com/office/drawing/2014/main" id="{D9D7CF26-E1EF-0E4F-F172-753FCDF39C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973" y="2432006"/>
            <a:ext cx="1586936" cy="158693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68C15EF-9500-A573-3CF8-E8242ED7BF7A}"/>
              </a:ext>
            </a:extLst>
          </p:cNvPr>
          <p:cNvSpPr txBox="1"/>
          <p:nvPr/>
        </p:nvSpPr>
        <p:spPr>
          <a:xfrm>
            <a:off x="7922148" y="3861724"/>
            <a:ext cx="10866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Resource</a:t>
            </a:r>
          </a:p>
          <a:p>
            <a:pPr algn="ctr"/>
            <a:r>
              <a:rPr lang="en-US" sz="1350" b="1" dirty="0"/>
              <a:t>[Webpage]</a:t>
            </a:r>
            <a:endParaRPr lang="en-SG" sz="135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49B478-A4CE-7862-9908-F57757BE77F3}"/>
              </a:ext>
            </a:extLst>
          </p:cNvPr>
          <p:cNvSpPr txBox="1"/>
          <p:nvPr/>
        </p:nvSpPr>
        <p:spPr>
          <a:xfrm>
            <a:off x="7137750" y="4640789"/>
            <a:ext cx="2655448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350" dirty="0"/>
              <a:t>The resource accessed by the victim is the webpage with the malicious JavaScript code.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1D14FD-7AEF-2D69-F237-7167B39F6601}"/>
              </a:ext>
            </a:extLst>
          </p:cNvPr>
          <p:cNvSpPr txBox="1"/>
          <p:nvPr/>
        </p:nvSpPr>
        <p:spPr>
          <a:xfrm>
            <a:off x="5072577" y="4640788"/>
            <a:ext cx="192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350" dirty="0"/>
              <a:t>OS is the one the allows the user to launch the Web Browser (because it is installed).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467E47-862E-1A37-EFE3-9D294C0B7794}"/>
              </a:ext>
            </a:extLst>
          </p:cNvPr>
          <p:cNvSpPr txBox="1"/>
          <p:nvPr/>
        </p:nvSpPr>
        <p:spPr>
          <a:xfrm>
            <a:off x="2576322" y="3826456"/>
            <a:ext cx="15981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/>
              <a:t>Subject/Actor</a:t>
            </a:r>
          </a:p>
          <a:p>
            <a:pPr algn="ctr"/>
            <a:r>
              <a:rPr lang="en-US" sz="1350" b="1" dirty="0"/>
              <a:t>[Web Browser]</a:t>
            </a:r>
            <a:endParaRPr lang="en-SG" sz="1350" b="1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AFFF223-5B83-65AA-69CB-8A60CAD612AD}"/>
              </a:ext>
            </a:extLst>
          </p:cNvPr>
          <p:cNvSpPr txBox="1">
            <a:spLocks/>
          </p:cNvSpPr>
          <p:nvPr/>
        </p:nvSpPr>
        <p:spPr>
          <a:xfrm>
            <a:off x="2032767" y="1834679"/>
            <a:ext cx="5494465" cy="4196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Impacted component is the </a:t>
            </a:r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‘Web Browser’</a:t>
            </a:r>
            <a:r>
              <a:rPr lang="en-US" sz="2000" b="1" dirty="0">
                <a:solidFill>
                  <a:schemeClr val="tx1"/>
                </a:solidFill>
              </a:rPr>
              <a:t>:</a:t>
            </a:r>
            <a:endParaRPr lang="en-US" sz="18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0A66B1-4354-39B9-B035-A43B276C90A0}"/>
              </a:ext>
            </a:extLst>
          </p:cNvPr>
          <p:cNvSpPr txBox="1"/>
          <p:nvPr/>
        </p:nvSpPr>
        <p:spPr>
          <a:xfrm>
            <a:off x="2569973" y="4645372"/>
            <a:ext cx="192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350" dirty="0"/>
              <a:t>The subject is the web browser as it is the application used to </a:t>
            </a:r>
            <a:r>
              <a:rPr lang="en-SG" sz="1350" b="1" u="sng" dirty="0"/>
              <a:t>ACCESS</a:t>
            </a:r>
            <a:r>
              <a:rPr lang="en-SG" sz="1350" dirty="0"/>
              <a:t> the webpage.</a:t>
            </a:r>
          </a:p>
        </p:txBody>
      </p:sp>
      <p:pic>
        <p:nvPicPr>
          <p:cNvPr id="9" name="Content Placeholder 3" descr="File:Server-multiple.svg - Wikipedia">
            <a:extLst>
              <a:ext uri="{FF2B5EF4-FFF2-40B4-BE49-F238E27FC236}">
                <a16:creationId xmlns:a16="http://schemas.microsoft.com/office/drawing/2014/main" id="{F5529501-9AFE-8683-8FAF-E7E010CC6C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831" y="2290071"/>
            <a:ext cx="1362151" cy="1926578"/>
          </a:xfrm>
          <a:prstGeom prst="rect">
            <a:avLst/>
          </a:prstGeom>
          <a:noFill/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614013-9D6C-C8E7-554A-A0371F3DDC98}"/>
              </a:ext>
            </a:extLst>
          </p:cNvPr>
          <p:cNvSpPr txBox="1">
            <a:spLocks/>
          </p:cNvSpPr>
          <p:nvPr/>
        </p:nvSpPr>
        <p:spPr>
          <a:xfrm>
            <a:off x="1524000" y="5694391"/>
            <a:ext cx="9144000" cy="609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</a:rPr>
              <a:t>Notice the difference between vulnerable component and impacted component? Therefore Scope is </a:t>
            </a:r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</a:rPr>
              <a:t>‘Changed’.</a:t>
            </a:r>
            <a:endParaRPr lang="en-US" sz="16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11637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SG" b="1" u="sng" dirty="0"/>
              <a:t>Impact</a:t>
            </a:r>
          </a:p>
          <a:p>
            <a:pPr marL="514350" indent="-457200"/>
            <a:r>
              <a:rPr lang="en-SG" b="1" dirty="0"/>
              <a:t>With</a:t>
            </a:r>
            <a:r>
              <a:rPr lang="en-SG" dirty="0"/>
              <a:t> respect to </a:t>
            </a:r>
            <a:r>
              <a:rPr lang="en-SG" b="1" dirty="0"/>
              <a:t>affected</a:t>
            </a:r>
            <a:r>
              <a:rPr lang="en-SG" dirty="0"/>
              <a:t> </a:t>
            </a:r>
            <a:r>
              <a:rPr lang="en-SG" b="1" dirty="0"/>
              <a:t>system/application</a:t>
            </a:r>
          </a:p>
          <a:p>
            <a:pPr lvl="1"/>
            <a:r>
              <a:rPr lang="en-SG" dirty="0"/>
              <a:t>Confidentiality</a:t>
            </a:r>
          </a:p>
          <a:p>
            <a:pPr lvl="2"/>
            <a:r>
              <a:rPr lang="en-SG" dirty="0"/>
              <a:t>Low:  Some loss of confidentiality </a:t>
            </a:r>
          </a:p>
          <a:p>
            <a:pPr lvl="2"/>
            <a:r>
              <a:rPr lang="en-SG" dirty="0"/>
              <a:t>High: Entire loss of confidentiality or loss of confidentiality with SERIOUS impact(password/private key </a:t>
            </a:r>
            <a:r>
              <a:rPr lang="en-SG" dirty="0" err="1"/>
              <a:t>etc</a:t>
            </a:r>
            <a:r>
              <a:rPr lang="en-SG" dirty="0"/>
              <a:t>)</a:t>
            </a:r>
          </a:p>
          <a:p>
            <a:pPr lvl="1"/>
            <a:r>
              <a:rPr lang="en-SG" dirty="0"/>
              <a:t>Integrity </a:t>
            </a:r>
          </a:p>
          <a:p>
            <a:pPr lvl="2"/>
            <a:r>
              <a:rPr lang="en-SG" dirty="0"/>
              <a:t>Low:  Modification of data </a:t>
            </a:r>
          </a:p>
          <a:p>
            <a:pPr lvl="2"/>
            <a:r>
              <a:rPr lang="en-SG" dirty="0"/>
              <a:t>High: Modification of all files or able to modify files with serious impact (password files)</a:t>
            </a:r>
          </a:p>
          <a:p>
            <a:pPr lvl="3"/>
            <a:endParaRPr lang="en-SG" dirty="0"/>
          </a:p>
          <a:p>
            <a:pPr marL="457200" lvl="1" indent="0">
              <a:buNone/>
            </a:pPr>
            <a:endParaRPr lang="en-SG" dirty="0"/>
          </a:p>
          <a:p>
            <a:pPr lvl="2"/>
            <a:endParaRPr lang="en-SG" dirty="0"/>
          </a:p>
          <a:p>
            <a:pPr lvl="1"/>
            <a:endParaRPr lang="en-SG" dirty="0"/>
          </a:p>
          <a:p>
            <a:pPr lvl="2"/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19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00493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>
              <a:defRPr/>
            </a:pPr>
            <a:r>
              <a:rPr lang="en-US" dirty="0"/>
              <a:t>Vulnerability Risk Rating (CVSSv3)</a:t>
            </a:r>
            <a:endParaRPr lang="en-SG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05002" y="1219200"/>
            <a:ext cx="8153399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u="sng" dirty="0"/>
              <a:t>Impact</a:t>
            </a:r>
          </a:p>
          <a:p>
            <a:pPr lvl="1"/>
            <a:r>
              <a:rPr lang="en-SG" dirty="0"/>
              <a:t>Availability</a:t>
            </a:r>
          </a:p>
          <a:p>
            <a:pPr lvl="2"/>
            <a:r>
              <a:rPr lang="en-SG" dirty="0"/>
              <a:t>Low: Some impact on availability (Reduced performance or intermittent interruption)	</a:t>
            </a:r>
          </a:p>
          <a:p>
            <a:pPr lvl="2"/>
            <a:r>
              <a:rPr lang="en-SG" dirty="0"/>
              <a:t>High: Complete loss of availability </a:t>
            </a:r>
          </a:p>
          <a:p>
            <a:pPr marL="457200" lvl="1" indent="0">
              <a:buNone/>
            </a:pPr>
            <a:endParaRPr lang="en-SG" dirty="0"/>
          </a:p>
          <a:p>
            <a:r>
              <a:rPr lang="en-US" dirty="0"/>
              <a:t>Always consider the business impact as well when filling up the C-I-A metrics.</a:t>
            </a:r>
            <a:endParaRPr lang="en-SG" dirty="0"/>
          </a:p>
          <a:p>
            <a:pPr lvl="1"/>
            <a:endParaRPr lang="en-SG" dirty="0"/>
          </a:p>
          <a:p>
            <a:pPr lvl="2"/>
            <a:endParaRPr lang="en-S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Hands-On Ethical Hacking and Network Defense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D3B4D1-08E3-4B9C-852A-FFADD744C46D}" type="slidenum">
              <a:rPr lang="en-US" sz="1400"/>
              <a:pPr eaLnBrk="1" hangingPunct="1"/>
              <a:t>20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3060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6646</TotalTime>
  <Words>1810</Words>
  <Application>Microsoft Office PowerPoint</Application>
  <PresentationFormat>Widescreen</PresentationFormat>
  <Paragraphs>391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Unicode MS</vt:lpstr>
      <vt:lpstr>Calibri</vt:lpstr>
      <vt:lpstr>Fira Sans</vt:lpstr>
      <vt:lpstr>Wingdings</vt:lpstr>
      <vt:lpstr>Office Theme</vt:lpstr>
      <vt:lpstr>PowerPoint Presentation</vt:lpstr>
      <vt:lpstr>Vulnerabilities</vt:lpstr>
      <vt:lpstr>Vulnerability Risk Rating</vt:lpstr>
      <vt:lpstr>Vulnerability Risk Rating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  <vt:lpstr>Vulnerability Risk Rating (CVSSv3)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Edmund WEE (TP)</cp:lastModifiedBy>
  <cp:revision>771</cp:revision>
  <dcterms:created xsi:type="dcterms:W3CDTF">2012-02-09T05:42:03Z</dcterms:created>
  <dcterms:modified xsi:type="dcterms:W3CDTF">2026-03-23T02:58:38Z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