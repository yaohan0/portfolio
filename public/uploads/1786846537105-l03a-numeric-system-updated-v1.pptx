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70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199" y="438912"/>
            <a:ext cx="6950149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Computer Numeric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675120" y="548640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Representation · Encoding Systems · Number Bases · Storage Types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304288"/>
            <a:ext cx="1627632" cy="475488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256032" y="2304288"/>
            <a:ext cx="16276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 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93392" y="2304288"/>
            <a:ext cx="1627632" cy="47548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993392" y="2304288"/>
            <a:ext cx="16276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  Encoding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30752" y="2304288"/>
            <a:ext cx="1627632" cy="475488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3730752" y="2304288"/>
            <a:ext cx="16276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  Numbers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39141" y="2304288"/>
            <a:ext cx="1627632" cy="475488"/>
          </a:xfrm>
          <a:prstGeom prst="rect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5439141" y="2304288"/>
            <a:ext cx="16276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  Storage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Forensics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735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Learning objectives: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109728" cy="109728"/>
          </a:xfrm>
          <a:prstGeom prst="lin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621792" y="3520440"/>
            <a:ext cx="8229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how data is represented digitally using bits, bytes, and storage units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31336"/>
            <a:ext cx="109728" cy="109728"/>
          </a:xfrm>
          <a:prstGeom prst="lin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21792" y="3803904"/>
            <a:ext cx="8229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Describe encoding systems (ASCII, EBCDIC, Unicode) and how they map characters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109728" cy="109728"/>
          </a:xfrm>
          <a:prstGeom prst="lin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621792" y="4087368"/>
            <a:ext cx="8229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between binary, decimal, and hexadecimal number systems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357997"/>
            <a:ext cx="109728" cy="109728"/>
          </a:xfrm>
          <a:prstGeom prst="lin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621792" y="4330565"/>
            <a:ext cx="8229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common HDD types: SATA, SAS, IDE and their forensic relevance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91440" y="182880"/>
            <a:ext cx="420624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2800" dirty="0"/>
          </a:p>
        </p:txBody>
      </p:sp>
      <p:sp>
        <p:nvSpPr>
          <p:cNvPr id="4" name="Shape 2"/>
          <p:cNvSpPr/>
          <p:nvPr/>
        </p:nvSpPr>
        <p:spPr>
          <a:xfrm>
            <a:off x="256032" y="3108960"/>
            <a:ext cx="3877056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256032" y="3108960"/>
            <a:ext cx="38770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3529584"/>
            <a:ext cx="387705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Representation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3986784"/>
            <a:ext cx="38770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Bits, bytes, and storage units — the building blocks of all digital data.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457200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 this section: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77824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4864608" y="950976"/>
            <a:ext cx="310896" cy="310896"/>
          </a:xfrm>
          <a:prstGeom prst="lin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864608" y="987552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30368" y="93268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&amp; byte definitions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99616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4864608" y="1572768"/>
            <a:ext cx="310896" cy="310896"/>
          </a:xfrm>
          <a:prstGeom prst="lin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4864608" y="1609344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0368" y="15544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unit hierarchy (KB → TB)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121408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864608" y="2194560"/>
            <a:ext cx="310896" cy="310896"/>
          </a:xfrm>
          <a:prstGeom prst="lin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4864608" y="2231136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217627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byte encodes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4864608" y="2816352"/>
            <a:ext cx="310896" cy="310896"/>
          </a:xfrm>
          <a:prstGeom prst="lin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4864608" y="2852928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0368" y="2798064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MSB &amp; LSB — place values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Bits &amp; Bytes — The Building Blocks of Digital Data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8631936" cy="512064"/>
          </a:xfrm>
          <a:prstGeom prst="rect">
            <a:avLst/>
          </a:prstGeom>
          <a:solidFill>
            <a:srgbClr val="6366F1">
              <a:alpha val="9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02336" y="841248"/>
            <a:ext cx="833932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bit (binary digit) is the smallest unit of data — it holds a single value: 0 or 1. Everything on a computer — text, images, video — is ultimately stored as sequences of bits.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426464"/>
            <a:ext cx="914400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256032" y="1426464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" y="23591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16736" y="1426464"/>
            <a:ext cx="914400" cy="914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1316736" y="1426464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316736" y="23591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1426464"/>
            <a:ext cx="914400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2377440" y="1426464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377440" y="23591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38144" y="1426464"/>
            <a:ext cx="914400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3438144" y="1426464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438144" y="23591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98848" y="1426464"/>
            <a:ext cx="914400" cy="914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4498848" y="1426464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498848" y="23591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59552" y="1426464"/>
            <a:ext cx="914400" cy="914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5559552" y="1426464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559552" y="23591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0256" y="1426464"/>
            <a:ext cx="914400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6620256" y="1426464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620256" y="23591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6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80960" y="1426464"/>
            <a:ext cx="914400" cy="914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7680960" y="1426464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680960" y="23591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2578608"/>
            <a:ext cx="8485632" cy="9144"/>
          </a:xfrm>
          <a:prstGeom prst="rect">
            <a:avLst/>
          </a:prstGeom>
          <a:solidFill>
            <a:srgbClr val="BBCFE6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256032" y="2615184"/>
            <a:ext cx="84856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 bits = 1 Byte  →  This byte = 0xB2 (178 decimal)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" y="2907792"/>
            <a:ext cx="146304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310896" y="2907792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Unit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19072" y="2907792"/>
            <a:ext cx="100584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7"/>
          <p:cNvSpPr/>
          <p:nvPr/>
        </p:nvSpPr>
        <p:spPr>
          <a:xfrm>
            <a:off x="1773936" y="2907792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Abbreviation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24912" y="2907792"/>
            <a:ext cx="237744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9"/>
          <p:cNvSpPr/>
          <p:nvPr/>
        </p:nvSpPr>
        <p:spPr>
          <a:xfrm>
            <a:off x="2779776" y="2907792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Exact Size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02352" y="2907792"/>
            <a:ext cx="338328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5157216" y="2907792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Approx. Real World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" y="3163824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Text 43"/>
          <p:cNvSpPr/>
          <p:nvPr/>
        </p:nvSpPr>
        <p:spPr>
          <a:xfrm>
            <a:off x="310896" y="3163824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719072" y="3163824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Text 45"/>
          <p:cNvSpPr/>
          <p:nvPr/>
        </p:nvSpPr>
        <p:spPr>
          <a:xfrm>
            <a:off x="1773936" y="3163824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24912" y="3163824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9" name="Text 47"/>
          <p:cNvSpPr/>
          <p:nvPr/>
        </p:nvSpPr>
        <p:spPr>
          <a:xfrm>
            <a:off x="2779776" y="3163824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binary digit (0 or 1)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102352" y="3163824"/>
            <a:ext cx="3383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1" name="Text 49"/>
          <p:cNvSpPr/>
          <p:nvPr/>
        </p:nvSpPr>
        <p:spPr>
          <a:xfrm>
            <a:off x="5157216" y="316382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on/off switch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3419856"/>
            <a:ext cx="146304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3" name="Text 51"/>
          <p:cNvSpPr/>
          <p:nvPr/>
        </p:nvSpPr>
        <p:spPr>
          <a:xfrm>
            <a:off x="310896" y="3419856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Byte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719072" y="3419856"/>
            <a:ext cx="100584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5" name="Text 53"/>
          <p:cNvSpPr/>
          <p:nvPr/>
        </p:nvSpPr>
        <p:spPr>
          <a:xfrm>
            <a:off x="1773936" y="341985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24912" y="3419856"/>
            <a:ext cx="237744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7" name="Text 55"/>
          <p:cNvSpPr/>
          <p:nvPr/>
        </p:nvSpPr>
        <p:spPr>
          <a:xfrm>
            <a:off x="2779776" y="3419856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bits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102352" y="3419856"/>
            <a:ext cx="338328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9" name="Text 57"/>
          <p:cNvSpPr/>
          <p:nvPr/>
        </p:nvSpPr>
        <p:spPr>
          <a:xfrm>
            <a:off x="5157216" y="341985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character (e.g. 'A')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6032" y="3675888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1" name="Text 59"/>
          <p:cNvSpPr/>
          <p:nvPr/>
        </p:nvSpPr>
        <p:spPr>
          <a:xfrm>
            <a:off x="310896" y="3675888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Kilobyte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719072" y="3675888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3" name="Text 61"/>
          <p:cNvSpPr/>
          <p:nvPr/>
        </p:nvSpPr>
        <p:spPr>
          <a:xfrm>
            <a:off x="1773936" y="3675888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KB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724912" y="3675888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Text 63"/>
          <p:cNvSpPr/>
          <p:nvPr/>
        </p:nvSpPr>
        <p:spPr>
          <a:xfrm>
            <a:off x="2779776" y="3675888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1,024 bytes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102352" y="3675888"/>
            <a:ext cx="3383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7" name="Text 65"/>
          <p:cNvSpPr/>
          <p:nvPr/>
        </p:nvSpPr>
        <p:spPr>
          <a:xfrm>
            <a:off x="5157216" y="367588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short text email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56032" y="3931920"/>
            <a:ext cx="146304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9" name="Text 67"/>
          <p:cNvSpPr/>
          <p:nvPr/>
        </p:nvSpPr>
        <p:spPr>
          <a:xfrm>
            <a:off x="310896" y="3931920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Megabyte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719072" y="3931920"/>
            <a:ext cx="100584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1" name="Text 69"/>
          <p:cNvSpPr/>
          <p:nvPr/>
        </p:nvSpPr>
        <p:spPr>
          <a:xfrm>
            <a:off x="1773936" y="3931920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MB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724912" y="3931920"/>
            <a:ext cx="237744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3" name="Text 71"/>
          <p:cNvSpPr/>
          <p:nvPr/>
        </p:nvSpPr>
        <p:spPr>
          <a:xfrm>
            <a:off x="2779776" y="3931920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1,024 KB = 1,048,576 bytes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102352" y="3931920"/>
            <a:ext cx="338328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5" name="Text 73"/>
          <p:cNvSpPr/>
          <p:nvPr/>
        </p:nvSpPr>
        <p:spPr>
          <a:xfrm>
            <a:off x="5157216" y="3931920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MP3 minute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56032" y="4187952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7" name="Text 75"/>
          <p:cNvSpPr/>
          <p:nvPr/>
        </p:nvSpPr>
        <p:spPr>
          <a:xfrm>
            <a:off x="310896" y="4187952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Gigabyte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719072" y="418795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9" name="Text 77"/>
          <p:cNvSpPr/>
          <p:nvPr/>
        </p:nvSpPr>
        <p:spPr>
          <a:xfrm>
            <a:off x="1773936" y="4187952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GB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724912" y="4187952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1" name="Text 79"/>
          <p:cNvSpPr/>
          <p:nvPr/>
        </p:nvSpPr>
        <p:spPr>
          <a:xfrm>
            <a:off x="2779776" y="4187952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1,024 MB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102352" y="4187952"/>
            <a:ext cx="3383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3" name="Text 81"/>
          <p:cNvSpPr/>
          <p:nvPr/>
        </p:nvSpPr>
        <p:spPr>
          <a:xfrm>
            <a:off x="5157216" y="4187952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~230 MP3 songs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56032" y="4443984"/>
            <a:ext cx="146304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5" name="Text 83"/>
          <p:cNvSpPr/>
          <p:nvPr/>
        </p:nvSpPr>
        <p:spPr>
          <a:xfrm>
            <a:off x="310896" y="4443984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Terabyte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719072" y="4443984"/>
            <a:ext cx="100584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7" name="Text 85"/>
          <p:cNvSpPr/>
          <p:nvPr/>
        </p:nvSpPr>
        <p:spPr>
          <a:xfrm>
            <a:off x="1773936" y="4443984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TB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724912" y="4443984"/>
            <a:ext cx="237744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9" name="Text 87"/>
          <p:cNvSpPr/>
          <p:nvPr/>
        </p:nvSpPr>
        <p:spPr>
          <a:xfrm>
            <a:off x="2779776" y="4443984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1,024 GB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102352" y="4443984"/>
            <a:ext cx="3383280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1" name="Text 89"/>
          <p:cNvSpPr/>
          <p:nvPr/>
        </p:nvSpPr>
        <p:spPr>
          <a:xfrm>
            <a:off x="5157216" y="444398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~500 hours of HD video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How a Byte Stores Data — Binary in Practice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byte has 8 positions (bit 7 to bit 0). Each position has a place value — a power of 2. To find the decimal value, add the place values of all '1' bits.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207008"/>
            <a:ext cx="950976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256032" y="1207008"/>
            <a:ext cx="9509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128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" y="1591056"/>
            <a:ext cx="950976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256032" y="1591056"/>
            <a:ext cx="95097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" y="2286000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7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16736" y="1207008"/>
            <a:ext cx="950976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1316736" y="1207008"/>
            <a:ext cx="9509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16736" y="1591056"/>
            <a:ext cx="950976" cy="658368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316736" y="1591056"/>
            <a:ext cx="95097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16736" y="2286000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6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377440" y="1207008"/>
            <a:ext cx="950976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2377440" y="1207008"/>
            <a:ext cx="9509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377440" y="1591056"/>
            <a:ext cx="950976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2377440" y="1591056"/>
            <a:ext cx="95097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377440" y="2286000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38144" y="1207008"/>
            <a:ext cx="950976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3438144" y="1207008"/>
            <a:ext cx="9509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38144" y="1591056"/>
            <a:ext cx="950976" cy="658368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3438144" y="1591056"/>
            <a:ext cx="95097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438144" y="2286000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4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98848" y="1207008"/>
            <a:ext cx="950976" cy="32918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4498848" y="1207008"/>
            <a:ext cx="9509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98848" y="1591056"/>
            <a:ext cx="950976" cy="658368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4498848" y="1591056"/>
            <a:ext cx="95097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98848" y="2286000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559552" y="1207008"/>
            <a:ext cx="950976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5559552" y="1207008"/>
            <a:ext cx="9509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559552" y="1591056"/>
            <a:ext cx="950976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5559552" y="1591056"/>
            <a:ext cx="95097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559552" y="2286000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620256" y="1207008"/>
            <a:ext cx="950976" cy="32918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0" name="Text 38"/>
          <p:cNvSpPr/>
          <p:nvPr/>
        </p:nvSpPr>
        <p:spPr>
          <a:xfrm>
            <a:off x="6620256" y="1207008"/>
            <a:ext cx="9509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620256" y="1591056"/>
            <a:ext cx="950976" cy="658368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Text 40"/>
          <p:cNvSpPr/>
          <p:nvPr/>
        </p:nvSpPr>
        <p:spPr>
          <a:xfrm>
            <a:off x="6620256" y="1591056"/>
            <a:ext cx="95097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620256" y="2286000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1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680960" y="1207008"/>
            <a:ext cx="950976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Text 43"/>
          <p:cNvSpPr/>
          <p:nvPr/>
        </p:nvSpPr>
        <p:spPr>
          <a:xfrm>
            <a:off x="7680960" y="1207008"/>
            <a:ext cx="9509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680960" y="1591056"/>
            <a:ext cx="950976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7" name="Text 45"/>
          <p:cNvSpPr/>
          <p:nvPr/>
        </p:nvSpPr>
        <p:spPr>
          <a:xfrm>
            <a:off x="7680960" y="1591056"/>
            <a:ext cx="95097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7680960" y="2286000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0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2578608"/>
            <a:ext cx="8631936" cy="9144"/>
          </a:xfrm>
          <a:prstGeom prst="rect">
            <a:avLst/>
          </a:prstGeom>
          <a:solidFill>
            <a:srgbClr val="BBCFE6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0" name="Text 48"/>
          <p:cNvSpPr/>
          <p:nvPr/>
        </p:nvSpPr>
        <p:spPr>
          <a:xfrm>
            <a:off x="256032" y="2633472"/>
            <a:ext cx="86319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Calculating the value of  10100101  (this byte):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56032" y="2907792"/>
            <a:ext cx="86319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128 + 0 + 32 + 0 + 0 + 4 + 0 + 1  =  165  (decimal)  =  0xA5  (hexadecimal)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56032" y="3255264"/>
            <a:ext cx="41879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3" name="Shape 51"/>
          <p:cNvSpPr/>
          <p:nvPr/>
        </p:nvSpPr>
        <p:spPr>
          <a:xfrm>
            <a:off x="256032" y="3255264"/>
            <a:ext cx="4187952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4" name="Text 52"/>
          <p:cNvSpPr/>
          <p:nvPr/>
        </p:nvSpPr>
        <p:spPr>
          <a:xfrm>
            <a:off x="365760" y="3273552"/>
            <a:ext cx="396849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MSB — Most Significant Bit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3566160"/>
            <a:ext cx="3968496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7 (leftmost). Contributes the highest value (128). Changes the overall value the most. If MSB = 1, value is ≥ 128.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26864" y="3255264"/>
            <a:ext cx="418795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7" name="Shape 55"/>
          <p:cNvSpPr/>
          <p:nvPr/>
        </p:nvSpPr>
        <p:spPr>
          <a:xfrm>
            <a:off x="4626864" y="3255264"/>
            <a:ext cx="4187952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8" name="Text 56"/>
          <p:cNvSpPr/>
          <p:nvPr/>
        </p:nvSpPr>
        <p:spPr>
          <a:xfrm>
            <a:off x="4736592" y="3273552"/>
            <a:ext cx="396849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LSB — Least Significant Bit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736592" y="3566160"/>
            <a:ext cx="3968496" cy="8778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0 (rightmost). Contributes the lowest value (1). Determines if the number is odd (1) or even (0).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73152"/>
            <a:ext cx="863193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Knowledge Check 1 — Data Representation &amp; Encoding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86319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02336" y="877824"/>
            <a:ext cx="8339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Q1.  How many bytes is 1 Kilobyte?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" y="1170432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1,000 bytes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78608" y="1170432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B) 1,024 bytes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1170432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C) 512 bytes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31152" y="1170432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D) 1,048,576 bytes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847088"/>
            <a:ext cx="86319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402336" y="1901952"/>
            <a:ext cx="8339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Q2.  The ASCII code for the letter 'A' is: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2336" y="2194560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0x61 (97)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78608" y="2194560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B) 0x41 (65)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194560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C) 0x31 (49)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31152" y="2194560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D) 0x01 (1)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871216"/>
            <a:ext cx="86319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402336" y="2926080"/>
            <a:ext cx="8339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Q3.  Which encoding system was designed for IBM mainframes?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2336" y="3218688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ASCII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78608" y="3218688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B) Unicode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3218688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C) EBCDIC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31152" y="3218688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D) UTF-8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895344"/>
            <a:ext cx="86319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402336" y="3950208"/>
            <a:ext cx="8339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Q4.  Even parity is applied to  1001101. What is the parity bit?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2336" y="4242816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78608" y="4242816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B) 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4242816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C) Cannot be determined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31152" y="4242816"/>
            <a:ext cx="20848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D) 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32320" y="479145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on next slide →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73152"/>
            <a:ext cx="863193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Knowledge Check 1 — Answers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86319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182880" cy="932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493776" y="85953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Q1. How many bytes is 1 Kilobyte?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1097280"/>
            <a:ext cx="128016" cy="128016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676656" y="107899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Answer: B) 1,024 bytes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" y="1335024"/>
            <a:ext cx="80650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uses base-2: 2¹⁰ = 1,024. While marketing uses 1,000, computing uses 1,024 bytes = 1 KiB (Kibibyte).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847088"/>
            <a:ext cx="86319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256032" y="1847088"/>
            <a:ext cx="182880" cy="932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493776" y="1883664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Q2. The ASCII code for 'A' is: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" y="2121408"/>
            <a:ext cx="128016" cy="128016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676656" y="210312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Answer: B) 0x41 (65)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" y="2359152"/>
            <a:ext cx="80650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Uppercase A–Z = 0x41–0x5A (65–90). Lowercase a–z = 0x61–0x7A (97–122). Memorise these ranges for hex editor work.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871216"/>
            <a:ext cx="86319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256032" y="2871216"/>
            <a:ext cx="182880" cy="932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493776" y="290779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Q3. Which encoding was designed for IBM mainframes?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" y="3145536"/>
            <a:ext cx="128016" cy="128016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676656" y="312724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Answer: C) EBCDIC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" y="3383280"/>
            <a:ext cx="80650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Extended BCD Interchange Code. Non-contiguous letter ranges — 'A' = 0xC1, not 0x41. Encountered in banking &amp; healthcare records.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3895344"/>
            <a:ext cx="86319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256032" y="3895344"/>
            <a:ext cx="182880" cy="932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493776" y="393192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Q4. Even parity for 1001101: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" y="4169664"/>
            <a:ext cx="128016" cy="128016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676656" y="415137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Answer: A) Parity bit = 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" y="4407408"/>
            <a:ext cx="80650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 1s in 1001101: positions with 1 are bits 7,4,3,1 → four 1s total. Four is already even, so the parity bit = 0 to keep the total even. If the count were odd, we'd set parity = 1.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91440" y="182880"/>
            <a:ext cx="420624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2800" dirty="0"/>
          </a:p>
        </p:txBody>
      </p:sp>
      <p:sp>
        <p:nvSpPr>
          <p:cNvPr id="4" name="Shape 2"/>
          <p:cNvSpPr/>
          <p:nvPr/>
        </p:nvSpPr>
        <p:spPr>
          <a:xfrm>
            <a:off x="256032" y="3108960"/>
            <a:ext cx="3877056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256032" y="3108960"/>
            <a:ext cx="38770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3529584"/>
            <a:ext cx="387705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Encoding &amp; Coding Systems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3986784"/>
            <a:ext cx="38770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characters, symbols, and text are represented in binary.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457200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 this section: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77824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4864608" y="950976"/>
            <a:ext cx="310896" cy="310896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864608" y="987552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30368" y="93268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ASCII — mapping numbers to characters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99616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4864608" y="1572768"/>
            <a:ext cx="310896" cy="310896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4864608" y="1609344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0368" y="15544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EBCDIC — IBM mainframe encoding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121408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864608" y="2194560"/>
            <a:ext cx="310896" cy="310896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4864608" y="2231136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217627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Unicode &amp; UTF variants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4864608" y="2816352"/>
            <a:ext cx="310896" cy="310896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4864608" y="2852928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0368" y="2798064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Parity bits for error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Encoding Systems — Translating Numbers into Characters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computer only understands numbers (bits). Encoding standards are agreed tables that map numbers to characters — letters, digits, symbols, and control codes.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225296"/>
            <a:ext cx="863193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118872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256032" y="1225296"/>
            <a:ext cx="1188720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ASCII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17904" y="133502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YEAR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517904" y="149961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1963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46704" y="133502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WIDTH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46704" y="149961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7 bits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75504" y="133502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CHARACTERS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175504" y="149961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128 chars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04304" y="133502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ORIGIN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004304" y="149961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USA / teleprinters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17904" y="1865376"/>
            <a:ext cx="7260336" cy="9144"/>
          </a:xfrm>
          <a:prstGeom prst="rect">
            <a:avLst/>
          </a:prstGeom>
          <a:solidFill>
            <a:srgbClr val="BBCFE6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1517904" y="1901952"/>
            <a:ext cx="7223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for: Still universal for English text, hex editors, file headers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414016"/>
            <a:ext cx="863193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256032" y="2414016"/>
            <a:ext cx="1188720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256032" y="2414016"/>
            <a:ext cx="1188720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EBCDIC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17904" y="252374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YEAR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517904" y="268833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1964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46704" y="252374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WIDTH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46704" y="268833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8 bits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75504" y="252374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CHARACTERS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75504" y="268833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256 chars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04304" y="252374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ORIGIN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004304" y="268833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IBM mainframes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517904" y="3054096"/>
            <a:ext cx="7260336" cy="9144"/>
          </a:xfrm>
          <a:prstGeom prst="rect">
            <a:avLst/>
          </a:prstGeom>
          <a:solidFill>
            <a:srgbClr val="BBCFE6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1517904" y="3090672"/>
            <a:ext cx="7223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for: IBM mainframes, z/OS — legacy enterprise &amp; banking systems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3602736"/>
            <a:ext cx="863193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6" name="Shape 34"/>
          <p:cNvSpPr/>
          <p:nvPr/>
        </p:nvSpPr>
        <p:spPr>
          <a:xfrm>
            <a:off x="256032" y="3602736"/>
            <a:ext cx="118872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256032" y="3602736"/>
            <a:ext cx="1188720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Unicode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17904" y="371246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YEAR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517904" y="387705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1991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46704" y="371246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WIDTH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346704" y="387705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Variable (UTF-8: 1–4 bytes)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75504" y="371246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CHARACTERS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75504" y="387705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1.1M+ code points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04304" y="371246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5E7A9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ORIGIN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004304" y="3877056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International standard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517904" y="4242816"/>
            <a:ext cx="7260336" cy="9144"/>
          </a:xfrm>
          <a:prstGeom prst="rect">
            <a:avLst/>
          </a:prstGeom>
          <a:solidFill>
            <a:srgbClr val="BBCFE6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Text 45"/>
          <p:cNvSpPr/>
          <p:nvPr/>
        </p:nvSpPr>
        <p:spPr>
          <a:xfrm>
            <a:off x="1517904" y="4279392"/>
            <a:ext cx="7223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for: All modern OSes, web pages, most file systems (NTFS, EXT4, APFS)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ASCII — American Standard Code for Information Interchange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ASCII uses 7 bits (values 0–127) to encode 128 characters: 33 control codes + 95 printable characters. It is the foundation of most modern encoding systems.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8631936" cy="877824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402336" y="122529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How it works: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1481328"/>
            <a:ext cx="8229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character 'A' has ASCII code 65. In 7-bit binary that is 1000001. The computer stores this bit pattern. When displaying text, it looks up 65 in the ASCII table and renders 'A'.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56032" y="2157984"/>
          <a:ext cx="6035040" cy="2322576"/>
        </p:xfrm>
        <a:graphic>
          <a:graphicData uri="http://schemas.openxmlformats.org/drawingml/2006/table">
            <a:tbl>
              <a:tblPr/>
              <a:tblGrid>
                <a:gridCol w="749808"/>
                <a:gridCol w="566928"/>
                <a:gridCol w="1133856"/>
                <a:gridCol w="566928"/>
                <a:gridCol w="749808"/>
                <a:gridCol w="566928"/>
                <a:gridCol w="1133856"/>
                <a:gridCol w="566928"/>
              </a:tblGrid>
              <a:tr h="258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Decimal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Hex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Binary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Decimal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Hex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Binary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Char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258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65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1000001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A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97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1100001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a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258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66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42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1000010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B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98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62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1100010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b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67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43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1000011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C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99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63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1100011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c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258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68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44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1000100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D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64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1100100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d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69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45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1000101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E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48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0110000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0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258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70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46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1000110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F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49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0110001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1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71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47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1000111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G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50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32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0110010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2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258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72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48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1001000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H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32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0100000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Trebuchet MS" panose="020B0603020202020204" pitchFamily="34" charset="0"/>
                          <a:ea typeface="Trebuchet MS" panose="020B0603020202020204" pitchFamily="34" charset="-122"/>
                          <a:cs typeface="Trebuchet MS" panose="020B0603020202020204" pitchFamily="34" charset="-120"/>
                        </a:rPr>
                        <a:t>(space)</a:t>
                      </a:r>
                      <a:endParaRPr lang="en-US" sz="900" dirty="0"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Forensic note: ASCII values appear directly in hex editors. 0x41–0x5A = uppercase A–Z. 0x61–0x7A = lowercase a–z. 0x30–0x39 = digits 0–9.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Unicode &amp; UTF Encodings — Beyond ASCII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Unicode assigns a unique code point to every character in every human writing system. UTF-8, UTF-16, and UTF-32 are encoding forms that store those code points as bytes.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225296"/>
            <a:ext cx="863193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1097280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256032" y="1225296"/>
            <a:ext cx="109728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UTF-8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26464" y="131673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Width: 1–4 bytes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26464" y="142050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in: HTML, Linux, macOS, most internet protocols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353312"/>
            <a:ext cx="4059936" cy="768096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4864608" y="1389888"/>
            <a:ext cx="387705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Most space-efficient for English 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377440"/>
            <a:ext cx="863193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256032" y="2377440"/>
            <a:ext cx="1097280" cy="10241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256032" y="2377440"/>
            <a:ext cx="109728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UTF-16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26464" y="24688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Width: 2 or 4 bytes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26464" y="258017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in: Windows NTFS filenames, Java, .NET internally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505456"/>
            <a:ext cx="4059936" cy="768096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4864608" y="2542032"/>
            <a:ext cx="387705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LFN in FAT32 = UTF-16LE — you'll see 00 padding in hex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529584"/>
            <a:ext cx="863193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256032" y="3529584"/>
            <a:ext cx="1097280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256032" y="3529584"/>
            <a:ext cx="109728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UTF-32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26464" y="362102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Width: 4 bytes always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26464" y="372479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in: Some UNIX internal processing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4059936" cy="768096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4864608" y="3694176"/>
            <a:ext cx="387705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Fixed width makes indexing easy but wasteful in storage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4590288"/>
            <a:ext cx="863193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329184" y="4599432"/>
            <a:ext cx="8412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UTF-16LE example (FAT32 LFN):  'A' = 41 00   'B' = 42 00   'C' = 43 00   (note trailing 00 bytes — the null padding you see in FAT32 LFN entries)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EBCDIC &amp; Parity Bits — Legacy Encoding &amp; Error Detection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169664" cy="3694176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256032" y="804672"/>
            <a:ext cx="4169664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365760" y="813816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EBCDIC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225296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Full name: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91056" y="1225296"/>
            <a:ext cx="2706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Extended Binary Coded Decimal Interchange Code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627632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Created by: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91056" y="1627632"/>
            <a:ext cx="2706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 (1964)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029968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Width: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91056" y="2029968"/>
            <a:ext cx="2706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bits (256 characters)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432304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Used in: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91056" y="2432304"/>
            <a:ext cx="2706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 mainframes, z/OS, AS/400 systems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834640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Forensic note: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91056" y="2834640"/>
            <a:ext cx="2706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Still encountered in banking &amp; healthcare records on IBM systems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236976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in ASCII: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91056" y="3236976"/>
            <a:ext cx="2706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0x41 (01000001)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639312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in EBCDIC: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91056" y="3639312"/>
            <a:ext cx="2706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0xC1 (11000001)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4041648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diff: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91056" y="4041648"/>
            <a:ext cx="27066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Non-contiguous letter codes — 'A'–'I', then gap, then 'J'–'R'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0016" y="804672"/>
            <a:ext cx="4187952" cy="3694176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8" name="Shape 26"/>
          <p:cNvSpPr/>
          <p:nvPr/>
        </p:nvSpPr>
        <p:spPr>
          <a:xfrm>
            <a:off x="4700016" y="804672"/>
            <a:ext cx="418795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4809744" y="813816"/>
            <a:ext cx="39684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Parity Bits — Error Detection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9744" y="1225296"/>
            <a:ext cx="396849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parity bit is added to data to detect single-bit transmission errors. It makes the total number of 1s either always even or always odd.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0016" y="1737360"/>
            <a:ext cx="4187952" cy="11704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 dirty="0"/>
          </a:p>
        </p:txBody>
      </p:sp>
      <p:sp>
        <p:nvSpPr>
          <p:cNvPr id="32" name="Text 30"/>
          <p:cNvSpPr/>
          <p:nvPr/>
        </p:nvSpPr>
        <p:spPr>
          <a:xfrm>
            <a:off x="4809744" y="1792224"/>
            <a:ext cx="39684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Even Parity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9744" y="2048256"/>
            <a:ext cx="3840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4846320" y="2066544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Data: 1000001  Parity: 0  →  Result: </a:t>
            </a:r>
            <a:r>
              <a:rPr lang="en-US" sz="900" dirty="0">
                <a:solidFill>
                  <a:srgbClr val="FF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1000001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9744" y="23774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 of 1s = 2 (already even) → parity bit =0 to keep it even (2)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0016" y="3017520"/>
            <a:ext cx="4187952" cy="11704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4809744" y="3072384"/>
            <a:ext cx="39684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Odd Parity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9744" y="3328416"/>
            <a:ext cx="3840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7"/>
          <p:cNvSpPr/>
          <p:nvPr/>
        </p:nvSpPr>
        <p:spPr>
          <a:xfrm>
            <a:off x="4846320" y="3346704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Data: 1000001  Parity: 1  →  Result: </a:t>
            </a:r>
            <a:r>
              <a:rPr lang="en-US" sz="900" dirty="0">
                <a:solidFill>
                  <a:srgbClr val="FF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1000001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9744" y="36576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 of 1s = </a:t>
            </a:r>
            <a:r>
              <a:rPr lang="en-US" sz="85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(even) </a:t>
            </a:r>
            <a:r>
              <a:rPr lang="en-US" sz="85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parity bit = 1 to make it odd (3)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09744" y="4279392"/>
            <a:ext cx="39684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Note: Parity can only detect single-bit errors, not correct them. More robust systems use Hamming codes or CRC.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91440" y="182880"/>
            <a:ext cx="420624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2800" dirty="0"/>
          </a:p>
        </p:txBody>
      </p:sp>
      <p:sp>
        <p:nvSpPr>
          <p:cNvPr id="4" name="Shape 2"/>
          <p:cNvSpPr/>
          <p:nvPr/>
        </p:nvSpPr>
        <p:spPr>
          <a:xfrm>
            <a:off x="256032" y="3108960"/>
            <a:ext cx="3877056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256032" y="3108960"/>
            <a:ext cx="387705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3529584"/>
            <a:ext cx="387705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Number Systems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3986784"/>
            <a:ext cx="38770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Binary, decimal, and hexadecimal — understanding and converting between bases.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457200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 this section: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77824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4864608" y="950976"/>
            <a:ext cx="310896" cy="310896"/>
          </a:xfrm>
          <a:prstGeom prst="lin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864608" y="987552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30368" y="93268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Binary, decimal, hex comparison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99616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4864608" y="1572768"/>
            <a:ext cx="310896" cy="310896"/>
          </a:xfrm>
          <a:prstGeom prst="lin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4864608" y="1609344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0368" y="15544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→ decimal conversion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121408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864608" y="2194560"/>
            <a:ext cx="310896" cy="310896"/>
          </a:xfrm>
          <a:prstGeom prst="lin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4864608" y="2231136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217627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Decimal → binary (division method)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4864608" y="2816352"/>
            <a:ext cx="310896" cy="310896"/>
          </a:xfrm>
          <a:prstGeom prst="lin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4864608" y="2852928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0368" y="2798064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Hexadecimal in depth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364992"/>
            <a:ext cx="4114800" cy="530352"/>
          </a:xfrm>
          <a:prstGeom prst="rect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4864608" y="3438144"/>
            <a:ext cx="310896" cy="310896"/>
          </a:xfrm>
          <a:prstGeom prst="lin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4864608" y="3474720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0368" y="3419856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Little vs big endian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Number Systems — Binary, Decimal &amp; Hexadecimal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Computers think in binary. Humans think in decimal. Forensic tools display data in hexadecimal — a compact representation of binary. All three systems represent the same underlying data.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225296"/>
            <a:ext cx="27066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2706624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65760" y="1261872"/>
            <a:ext cx="25237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Binary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1536192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810512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Digits: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011680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0, 1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286000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computers use it: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505456"/>
            <a:ext cx="252374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two states possible in electronics (off/on, 0V/5V). Every circuit is a binary switch.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145536"/>
            <a:ext cx="2505456" cy="9144"/>
          </a:xfrm>
          <a:prstGeom prst="rect">
            <a:avLst/>
          </a:prstGeom>
          <a:solidFill>
            <a:srgbClr val="BBCFE6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365760" y="3200400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1010 1110₂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93008"/>
            <a:ext cx="250545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174 decimal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0xAE hex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27248" y="1225296"/>
            <a:ext cx="27066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3127248" y="1225296"/>
            <a:ext cx="2706624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3236976" y="1261872"/>
            <a:ext cx="25237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Decimal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36976" y="1536192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36976" y="1810512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Digits: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36976" y="2011680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0–9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36976" y="2286000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computers use it: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36976" y="2505456"/>
            <a:ext cx="252374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convention — our 10 fingers. The base we use every day for counting, money, and measurement.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36976" y="3145536"/>
            <a:ext cx="2505456" cy="9144"/>
          </a:xfrm>
          <a:prstGeom prst="rect">
            <a:avLst/>
          </a:prstGeom>
          <a:solidFill>
            <a:srgbClr val="BBCFE6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3236976" y="3200400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174₁₀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36976" y="3493008"/>
            <a:ext cx="250545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10101110₂ binary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0xAE hex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98464" y="1225296"/>
            <a:ext cx="270662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2" name="Shape 30"/>
          <p:cNvSpPr/>
          <p:nvPr/>
        </p:nvSpPr>
        <p:spPr>
          <a:xfrm>
            <a:off x="5998464" y="1225296"/>
            <a:ext cx="2706624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6108192" y="1261872"/>
            <a:ext cx="25237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Hexadecimal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108192" y="1536192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08192" y="1810512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Digits: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08192" y="2011680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0–9, A–F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08192" y="2286000"/>
            <a:ext cx="25237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computers use it: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08192" y="2505456"/>
            <a:ext cx="252374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hex digit = exactly 4 bits (a nibble). A byte = two hex digits. Compact &amp; readable for binary data.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08192" y="3145536"/>
            <a:ext cx="2505456" cy="9144"/>
          </a:xfrm>
          <a:prstGeom prst="rect">
            <a:avLst/>
          </a:prstGeom>
          <a:solidFill>
            <a:srgbClr val="BBCFE6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0" name="Text 38"/>
          <p:cNvSpPr/>
          <p:nvPr/>
        </p:nvSpPr>
        <p:spPr>
          <a:xfrm>
            <a:off x="6108192" y="3200400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0xAE₁₆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108192" y="3493008"/>
            <a:ext cx="250545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10101110₂ binary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174 decimal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Binary → Decimal Conversion — Step by Step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631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convert binary to decimal: write out the place values (powers of 2), multiply each bit by its place value, then add the results.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1170432"/>
            <a:ext cx="86319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Example 1: Convert  10110011₂  to decimal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" y="1499616"/>
            <a:ext cx="950976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256032" y="1499616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773936"/>
            <a:ext cx="950976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256032" y="1773936"/>
            <a:ext cx="95097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6032" y="2359152"/>
            <a:ext cx="950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0976" y="2414016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16736" y="1499616"/>
            <a:ext cx="950976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316736" y="1499616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16736" y="1773936"/>
            <a:ext cx="950976" cy="53035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1316736" y="1773936"/>
            <a:ext cx="95097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16736" y="2359152"/>
            <a:ext cx="950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2414016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1499616"/>
            <a:ext cx="950976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2377440" y="1499616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1773936"/>
            <a:ext cx="950976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2377440" y="1773936"/>
            <a:ext cx="95097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377440" y="2359152"/>
            <a:ext cx="950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72384" y="2414016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38144" y="1499616"/>
            <a:ext cx="950976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3438144" y="1499616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38144" y="1773936"/>
            <a:ext cx="950976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3438144" y="1773936"/>
            <a:ext cx="95097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438144" y="2359152"/>
            <a:ext cx="950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33088" y="2414016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98848" y="1499616"/>
            <a:ext cx="950976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4498848" y="1499616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98848" y="1773936"/>
            <a:ext cx="950976" cy="53035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4498848" y="1773936"/>
            <a:ext cx="95097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498848" y="2359152"/>
            <a:ext cx="950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93792" y="2414016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59552" y="1499616"/>
            <a:ext cx="950976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9"/>
          <p:cNvSpPr/>
          <p:nvPr/>
        </p:nvSpPr>
        <p:spPr>
          <a:xfrm>
            <a:off x="5559552" y="1499616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59552" y="1773936"/>
            <a:ext cx="950976" cy="53035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5559552" y="1773936"/>
            <a:ext cx="95097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559552" y="2359152"/>
            <a:ext cx="950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54496" y="2414016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20256" y="1499616"/>
            <a:ext cx="950976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Text 45"/>
          <p:cNvSpPr/>
          <p:nvPr/>
        </p:nvSpPr>
        <p:spPr>
          <a:xfrm>
            <a:off x="6620256" y="1499616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20256" y="1773936"/>
            <a:ext cx="950976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9" name="Text 47"/>
          <p:cNvSpPr/>
          <p:nvPr/>
        </p:nvSpPr>
        <p:spPr>
          <a:xfrm>
            <a:off x="6620256" y="1773936"/>
            <a:ext cx="95097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620256" y="2359152"/>
            <a:ext cx="950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2414016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80960" y="1499616"/>
            <a:ext cx="950976" cy="256032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3" name="Text 51"/>
          <p:cNvSpPr/>
          <p:nvPr/>
        </p:nvSpPr>
        <p:spPr>
          <a:xfrm>
            <a:off x="7680960" y="1499616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680960" y="1773936"/>
            <a:ext cx="950976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5" name="Text 53"/>
          <p:cNvSpPr/>
          <p:nvPr/>
        </p:nvSpPr>
        <p:spPr>
          <a:xfrm>
            <a:off x="7680960" y="1773936"/>
            <a:ext cx="95097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7680960" y="2359152"/>
            <a:ext cx="950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56032" y="2633472"/>
            <a:ext cx="8631936" cy="91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8" name="Text 56"/>
          <p:cNvSpPr/>
          <p:nvPr/>
        </p:nvSpPr>
        <p:spPr>
          <a:xfrm>
            <a:off x="256032" y="2688336"/>
            <a:ext cx="8631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128 + 0 + 32 + 16 + 0 + 0 + 2 + 1  =  179₁₀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256032" y="3054096"/>
            <a:ext cx="86319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Example 2: Convert  00001111₂  to decimal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256032" y="3364992"/>
            <a:ext cx="950976" cy="457200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1" name="Text 59"/>
          <p:cNvSpPr/>
          <p:nvPr/>
        </p:nvSpPr>
        <p:spPr>
          <a:xfrm>
            <a:off x="256032" y="3364992"/>
            <a:ext cx="950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000" dirty="0"/>
          </a:p>
        </p:txBody>
      </p:sp>
      <p:sp>
        <p:nvSpPr>
          <p:cNvPr id="62" name="Shape 60"/>
          <p:cNvSpPr/>
          <p:nvPr/>
        </p:nvSpPr>
        <p:spPr>
          <a:xfrm>
            <a:off x="1316736" y="3364992"/>
            <a:ext cx="950976" cy="457200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3" name="Text 61"/>
          <p:cNvSpPr/>
          <p:nvPr/>
        </p:nvSpPr>
        <p:spPr>
          <a:xfrm>
            <a:off x="1316736" y="3364992"/>
            <a:ext cx="950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000" dirty="0"/>
          </a:p>
        </p:txBody>
      </p:sp>
      <p:sp>
        <p:nvSpPr>
          <p:cNvPr id="64" name="Shape 62"/>
          <p:cNvSpPr/>
          <p:nvPr/>
        </p:nvSpPr>
        <p:spPr>
          <a:xfrm>
            <a:off x="2377440" y="3364992"/>
            <a:ext cx="950976" cy="457200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Text 63"/>
          <p:cNvSpPr/>
          <p:nvPr/>
        </p:nvSpPr>
        <p:spPr>
          <a:xfrm>
            <a:off x="2377440" y="3364992"/>
            <a:ext cx="950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3438144" y="3364992"/>
            <a:ext cx="950976" cy="457200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7" name="Text 65"/>
          <p:cNvSpPr/>
          <p:nvPr/>
        </p:nvSpPr>
        <p:spPr>
          <a:xfrm>
            <a:off x="3438144" y="3364992"/>
            <a:ext cx="950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4498848" y="3364992"/>
            <a:ext cx="9509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9" name="Text 67"/>
          <p:cNvSpPr/>
          <p:nvPr/>
        </p:nvSpPr>
        <p:spPr>
          <a:xfrm>
            <a:off x="4498848" y="3364992"/>
            <a:ext cx="950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Shape 68"/>
          <p:cNvSpPr/>
          <p:nvPr/>
        </p:nvSpPr>
        <p:spPr>
          <a:xfrm>
            <a:off x="5559552" y="3364992"/>
            <a:ext cx="9509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1" name="Text 69"/>
          <p:cNvSpPr/>
          <p:nvPr/>
        </p:nvSpPr>
        <p:spPr>
          <a:xfrm>
            <a:off x="5559552" y="3364992"/>
            <a:ext cx="950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6620256" y="3364992"/>
            <a:ext cx="9509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3" name="Text 71"/>
          <p:cNvSpPr/>
          <p:nvPr/>
        </p:nvSpPr>
        <p:spPr>
          <a:xfrm>
            <a:off x="6620256" y="3364992"/>
            <a:ext cx="950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4" name="Shape 72"/>
          <p:cNvSpPr/>
          <p:nvPr/>
        </p:nvSpPr>
        <p:spPr>
          <a:xfrm>
            <a:off x="7680960" y="3364992"/>
            <a:ext cx="950976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5" name="Text 73"/>
          <p:cNvSpPr/>
          <p:nvPr/>
        </p:nvSpPr>
        <p:spPr>
          <a:xfrm>
            <a:off x="7680960" y="3364992"/>
            <a:ext cx="9509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256032" y="3895344"/>
            <a:ext cx="86319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0 + 0 + 0 + 0 + 8 + 4 + 2 + 1  =  15₁₀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256032" y="4224528"/>
            <a:ext cx="8631936" cy="438912"/>
          </a:xfrm>
          <a:prstGeom prst="rect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8" name="Text 76"/>
          <p:cNvSpPr/>
          <p:nvPr/>
        </p:nvSpPr>
        <p:spPr>
          <a:xfrm>
            <a:off x="402336" y="4242816"/>
            <a:ext cx="83393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💡 Shortcut: From right to left, place values double each time: 1, 2, 4, 8, 16, 32, 64, 128. Active bits (1) contribute their value; inactive bits (0) contribute nothing.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Decimal → Binary Conversion — Division Method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631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convert decimal to binary: repeatedly divide by 2 and record the remainder. Read remainders from bottom to top for the binary result.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1152144"/>
            <a:ext cx="86319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Example: Convert 179₁₀ to binary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463040"/>
            <a:ext cx="4974336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Dividend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72768" y="1481328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÷ Divisor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79776" y="1481328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= Quotient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86784" y="1481328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Remainder (bit)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1755648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256032" y="1755648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63040" y="1755648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1463040" y="1755648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70048" y="1755648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2670048" y="1755648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77056" y="1755648"/>
            <a:ext cx="1133856" cy="310896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3877056" y="1755648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93792" y="1755648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⬆ 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084832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256032" y="2084832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63040" y="2084832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1463040" y="2084832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70048" y="2084832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2670048" y="2084832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77056" y="2084832"/>
            <a:ext cx="1133856" cy="310896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3877056" y="2084832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032" y="2414016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256032" y="2414016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63040" y="2414016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1463040" y="2414016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70048" y="2414016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2670048" y="2414016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77056" y="2414016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7"/>
          <p:cNvSpPr/>
          <p:nvPr/>
        </p:nvSpPr>
        <p:spPr>
          <a:xfrm>
            <a:off x="3877056" y="2414016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6032" y="2743200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9"/>
          <p:cNvSpPr/>
          <p:nvPr/>
        </p:nvSpPr>
        <p:spPr>
          <a:xfrm>
            <a:off x="256032" y="2743200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463040" y="2743200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1463040" y="2743200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0048" y="2743200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Text 43"/>
          <p:cNvSpPr/>
          <p:nvPr/>
        </p:nvSpPr>
        <p:spPr>
          <a:xfrm>
            <a:off x="2670048" y="2743200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77056" y="2743200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Text 45"/>
          <p:cNvSpPr/>
          <p:nvPr/>
        </p:nvSpPr>
        <p:spPr>
          <a:xfrm>
            <a:off x="3877056" y="2743200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6032" y="3072384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9" name="Text 47"/>
          <p:cNvSpPr/>
          <p:nvPr/>
        </p:nvSpPr>
        <p:spPr>
          <a:xfrm>
            <a:off x="256032" y="3072384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463040" y="3072384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1" name="Text 49"/>
          <p:cNvSpPr/>
          <p:nvPr/>
        </p:nvSpPr>
        <p:spPr>
          <a:xfrm>
            <a:off x="1463040" y="3072384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70048" y="3072384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3" name="Text 51"/>
          <p:cNvSpPr/>
          <p:nvPr/>
        </p:nvSpPr>
        <p:spPr>
          <a:xfrm>
            <a:off x="2670048" y="3072384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877056" y="3072384"/>
            <a:ext cx="1133856" cy="310896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5" name="Text 53"/>
          <p:cNvSpPr/>
          <p:nvPr/>
        </p:nvSpPr>
        <p:spPr>
          <a:xfrm>
            <a:off x="3877056" y="3072384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56032" y="3401568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7" name="Text 55"/>
          <p:cNvSpPr/>
          <p:nvPr/>
        </p:nvSpPr>
        <p:spPr>
          <a:xfrm>
            <a:off x="256032" y="3401568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463040" y="3401568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9" name="Text 57"/>
          <p:cNvSpPr/>
          <p:nvPr/>
        </p:nvSpPr>
        <p:spPr>
          <a:xfrm>
            <a:off x="1463040" y="3401568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670048" y="3401568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1" name="Text 59"/>
          <p:cNvSpPr/>
          <p:nvPr/>
        </p:nvSpPr>
        <p:spPr>
          <a:xfrm>
            <a:off x="2670048" y="3401568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877056" y="3401568"/>
            <a:ext cx="1133856" cy="310896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3" name="Text 61"/>
          <p:cNvSpPr/>
          <p:nvPr/>
        </p:nvSpPr>
        <p:spPr>
          <a:xfrm>
            <a:off x="3877056" y="3401568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56032" y="3730752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Text 63"/>
          <p:cNvSpPr/>
          <p:nvPr/>
        </p:nvSpPr>
        <p:spPr>
          <a:xfrm>
            <a:off x="256032" y="3730752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463040" y="3730752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7" name="Text 65"/>
          <p:cNvSpPr/>
          <p:nvPr/>
        </p:nvSpPr>
        <p:spPr>
          <a:xfrm>
            <a:off x="1463040" y="3730752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670048" y="3730752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9" name="Text 67"/>
          <p:cNvSpPr/>
          <p:nvPr/>
        </p:nvSpPr>
        <p:spPr>
          <a:xfrm>
            <a:off x="2670048" y="3730752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877056" y="3730752"/>
            <a:ext cx="1133856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1" name="Text 69"/>
          <p:cNvSpPr/>
          <p:nvPr/>
        </p:nvSpPr>
        <p:spPr>
          <a:xfrm>
            <a:off x="3877056" y="3730752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56032" y="4059936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3" name="Text 71"/>
          <p:cNvSpPr/>
          <p:nvPr/>
        </p:nvSpPr>
        <p:spPr>
          <a:xfrm>
            <a:off x="256032" y="4059936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463040" y="4059936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5" name="Text 73"/>
          <p:cNvSpPr/>
          <p:nvPr/>
        </p:nvSpPr>
        <p:spPr>
          <a:xfrm>
            <a:off x="1463040" y="4059936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670048" y="4059936"/>
            <a:ext cx="11338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7" name="Text 75"/>
          <p:cNvSpPr/>
          <p:nvPr/>
        </p:nvSpPr>
        <p:spPr>
          <a:xfrm>
            <a:off x="2670048" y="4059936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877056" y="4059936"/>
            <a:ext cx="1133856" cy="310896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9" name="Text 77"/>
          <p:cNvSpPr/>
          <p:nvPr/>
        </p:nvSpPr>
        <p:spPr>
          <a:xfrm>
            <a:off x="3877056" y="4059936"/>
            <a:ext cx="11338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5193792" y="405993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⬆ Start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56032" y="4425696"/>
            <a:ext cx="49743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Read remainders bottom → top:  1 0 1 1 0 0 1 1₂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614416" y="1159663"/>
            <a:ext cx="3273552" cy="3819786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3" name="Shape 81"/>
          <p:cNvSpPr/>
          <p:nvPr/>
        </p:nvSpPr>
        <p:spPr>
          <a:xfrm>
            <a:off x="5614416" y="1152144"/>
            <a:ext cx="3273552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4" name="Text 82"/>
          <p:cNvSpPr/>
          <p:nvPr/>
        </p:nvSpPr>
        <p:spPr>
          <a:xfrm>
            <a:off x="5724144" y="1161288"/>
            <a:ext cx="30540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Alternative: Subtraction Method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5724144" y="1517904"/>
            <a:ext cx="305409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with the largest power of 2 ≤ your number. Subtract it (bit = 1), otherwise skip (bit = 0). Repeat for remaining powers.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614416" y="2084832"/>
            <a:ext cx="3273552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7" name="Text 85"/>
          <p:cNvSpPr/>
          <p:nvPr/>
        </p:nvSpPr>
        <p:spPr>
          <a:xfrm>
            <a:off x="5705856" y="208483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128: ≤ 179? Yes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589520" y="208483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bit=1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5614416" y="2414016"/>
            <a:ext cx="32735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0" name="Text 88"/>
          <p:cNvSpPr/>
          <p:nvPr/>
        </p:nvSpPr>
        <p:spPr>
          <a:xfrm>
            <a:off x="5705856" y="2414016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64: ≤ 51? No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589520" y="241401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bit=0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614416" y="2743200"/>
            <a:ext cx="3273552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3" name="Text 91"/>
          <p:cNvSpPr/>
          <p:nvPr/>
        </p:nvSpPr>
        <p:spPr>
          <a:xfrm>
            <a:off x="5705856" y="2743200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32: ≤ 51? Yes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589520" y="274320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bit=1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614416" y="3072384"/>
            <a:ext cx="32735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6" name="Text 94"/>
          <p:cNvSpPr/>
          <p:nvPr/>
        </p:nvSpPr>
        <p:spPr>
          <a:xfrm>
            <a:off x="5705856" y="3072384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16: ≤ 19? Yes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7589520" y="3072384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bit=1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5614416" y="3401568"/>
            <a:ext cx="3273552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9" name="Text 97"/>
          <p:cNvSpPr/>
          <p:nvPr/>
        </p:nvSpPr>
        <p:spPr>
          <a:xfrm>
            <a:off x="5705856" y="340156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8: ≤ 3? No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7589520" y="3401568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bit=0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614416" y="3730752"/>
            <a:ext cx="32735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2" name="Text 100"/>
          <p:cNvSpPr/>
          <p:nvPr/>
        </p:nvSpPr>
        <p:spPr>
          <a:xfrm>
            <a:off x="5705856" y="373075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4: ≤ 3? No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7589520" y="3730752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bit=0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614416" y="4059936"/>
            <a:ext cx="3273552" cy="310896"/>
          </a:xfrm>
          <a:prstGeom prst="rect">
            <a:avLst/>
          </a:prstGeom>
          <a:solidFill>
            <a:srgbClr val="EDF1F7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5" name="Text 103"/>
          <p:cNvSpPr/>
          <p:nvPr/>
        </p:nvSpPr>
        <p:spPr>
          <a:xfrm>
            <a:off x="5705856" y="4059936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2: ≤ 3? Yes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7589520" y="4059936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bit=1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5614416" y="4389120"/>
            <a:ext cx="32735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8" name="Text 106"/>
          <p:cNvSpPr/>
          <p:nvPr/>
        </p:nvSpPr>
        <p:spPr>
          <a:xfrm>
            <a:off x="5705856" y="4389120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1: ≤ 1? Yes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7589520" y="438912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bit=1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5614416" y="4681728"/>
            <a:ext cx="32735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Result:  10110011₂  ✓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Hexadecimal — Base 16 &amp; Conversion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631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Hex uses 16 symbols (0–9, A–F) where one hex digit equals exactly 4 bits (a nibble). A single byte = 2 hex digits. This is why forensic tools display data in hex.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56032" y="1152144"/>
          <a:ext cx="8631936" cy="1097280"/>
        </p:xfrm>
        <a:graphic>
          <a:graphicData uri="http://schemas.openxmlformats.org/drawingml/2006/table">
            <a:tbl>
              <a:tblPr/>
              <a:tblGrid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5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7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8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9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B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2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3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5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6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7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8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9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12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13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14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E4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15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7A9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0000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7A9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0001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7A9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0010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7A9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0011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7A9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0100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7A9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0101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7A9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0110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7A9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0111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7A9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1000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E7A9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1001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EA5E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1010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EA5E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1011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EA5E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1100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EA5E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1101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EA5E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1110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EA5E9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1111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56032" y="2359152"/>
            <a:ext cx="277977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256032" y="2359152"/>
            <a:ext cx="2779776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9"/>
          <p:cNvSpPr/>
          <p:nvPr/>
        </p:nvSpPr>
        <p:spPr>
          <a:xfrm>
            <a:off x="365760" y="237744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Binary → Hex  (group 4 bits)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779776"/>
            <a:ext cx="109728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1"/>
          <p:cNvSpPr/>
          <p:nvPr/>
        </p:nvSpPr>
        <p:spPr>
          <a:xfrm>
            <a:off x="530352" y="2761488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Split: 1010 1110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3163824"/>
            <a:ext cx="109728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3"/>
          <p:cNvSpPr/>
          <p:nvPr/>
        </p:nvSpPr>
        <p:spPr>
          <a:xfrm>
            <a:off x="530352" y="3145536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Each nibble separately: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" y="3547872"/>
            <a:ext cx="109728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5"/>
          <p:cNvSpPr/>
          <p:nvPr/>
        </p:nvSpPr>
        <p:spPr>
          <a:xfrm>
            <a:off x="530352" y="3529584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1010 = A (10 decimal)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3931920"/>
            <a:ext cx="109728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7"/>
          <p:cNvSpPr/>
          <p:nvPr/>
        </p:nvSpPr>
        <p:spPr>
          <a:xfrm>
            <a:off x="530352" y="3913632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1110 = E (14 decimal)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4315968"/>
            <a:ext cx="109728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19"/>
          <p:cNvSpPr/>
          <p:nvPr/>
        </p:nvSpPr>
        <p:spPr>
          <a:xfrm>
            <a:off x="530352" y="4297680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Result: 0xAE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63824" y="2359152"/>
            <a:ext cx="277977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4" name="Shape 21"/>
          <p:cNvSpPr/>
          <p:nvPr/>
        </p:nvSpPr>
        <p:spPr>
          <a:xfrm>
            <a:off x="3163824" y="2359152"/>
            <a:ext cx="2779776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2"/>
          <p:cNvSpPr/>
          <p:nvPr/>
        </p:nvSpPr>
        <p:spPr>
          <a:xfrm>
            <a:off x="3273552" y="237744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Hex → Binary  (expand each digit)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73552" y="2779776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4"/>
          <p:cNvSpPr/>
          <p:nvPr/>
        </p:nvSpPr>
        <p:spPr>
          <a:xfrm>
            <a:off x="3438144" y="2761488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0xFF: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73552" y="3163824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6"/>
          <p:cNvSpPr/>
          <p:nvPr/>
        </p:nvSpPr>
        <p:spPr>
          <a:xfrm>
            <a:off x="3438144" y="3145536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 = 1111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73552" y="3547872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8"/>
          <p:cNvSpPr/>
          <p:nvPr/>
        </p:nvSpPr>
        <p:spPr>
          <a:xfrm>
            <a:off x="3438144" y="3529584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 = 1111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273552" y="3931920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0"/>
          <p:cNvSpPr/>
          <p:nvPr/>
        </p:nvSpPr>
        <p:spPr>
          <a:xfrm>
            <a:off x="3438144" y="3913632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Result: 11111111₂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73552" y="4315968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2"/>
          <p:cNvSpPr/>
          <p:nvPr/>
        </p:nvSpPr>
        <p:spPr>
          <a:xfrm>
            <a:off x="3438144" y="4297680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255 decimal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71616" y="2359152"/>
            <a:ext cx="277977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7" name="Shape 34"/>
          <p:cNvSpPr/>
          <p:nvPr/>
        </p:nvSpPr>
        <p:spPr>
          <a:xfrm>
            <a:off x="6071616" y="2359152"/>
            <a:ext cx="2779776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5"/>
          <p:cNvSpPr/>
          <p:nvPr/>
        </p:nvSpPr>
        <p:spPr>
          <a:xfrm>
            <a:off x="6181344" y="237744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Hex → Decimal  (place values)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181344" y="2779776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0" name="Text 37"/>
          <p:cNvSpPr/>
          <p:nvPr/>
        </p:nvSpPr>
        <p:spPr>
          <a:xfrm>
            <a:off x="6345936" y="2761488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0xAE: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181344" y="3163824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Text 39"/>
          <p:cNvSpPr/>
          <p:nvPr/>
        </p:nvSpPr>
        <p:spPr>
          <a:xfrm>
            <a:off x="6345936" y="3145536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× 16¹ = 10 × 16 = 160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181344" y="3547872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Text 41"/>
          <p:cNvSpPr/>
          <p:nvPr/>
        </p:nvSpPr>
        <p:spPr>
          <a:xfrm>
            <a:off x="6345936" y="3529584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× 16⁰ = 14 × 1 = 14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181344" y="393192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Text 43"/>
          <p:cNvSpPr/>
          <p:nvPr/>
        </p:nvSpPr>
        <p:spPr>
          <a:xfrm>
            <a:off x="6345936" y="3913632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160 + 14 = 174₁₀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181344" y="431596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8" name="Text 45"/>
          <p:cNvSpPr/>
          <p:nvPr/>
        </p:nvSpPr>
        <p:spPr>
          <a:xfrm>
            <a:off x="6345936" y="4297680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 matches 10101110₂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54864"/>
            <a:ext cx="863193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Little Endian vs Big Endian — Byte Order in Memory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6319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Endianness describes the order in which bytes of a multi-byte value are stored in memory. It matters critically when parsing hex dumps in forensic investigations.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152144"/>
            <a:ext cx="8631936" cy="384048"/>
          </a:xfrm>
          <a:prstGeom prst="rect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402336" y="1170432"/>
            <a:ext cx="83393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Example value: 0x12345678  (a 4-byte / 32-bit integer)  |  Stored at memory address 0x1000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1682496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Big Endian: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9424" y="1645920"/>
            <a:ext cx="146304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2249424" y="166420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49424" y="1975104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0x1000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22192" y="1645920"/>
            <a:ext cx="146304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3822192" y="166420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22192" y="1975104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0x1001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394960" y="1645920"/>
            <a:ext cx="146304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5394960" y="166420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1975104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0x1002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67728" y="1645920"/>
            <a:ext cx="146304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6967728" y="166420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67728" y="1975104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0x1003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6032" y="2286000"/>
            <a:ext cx="86319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significant byte (12) comes FIRST — stored at the lowest address. Natural reading order — like writing a number left-to-right.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6032" y="2779776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Little Endian: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9424" y="2743200"/>
            <a:ext cx="146304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2249424" y="276148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249424" y="3072384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0x1000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22192" y="2743200"/>
            <a:ext cx="146304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3822192" y="276148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822192" y="3072384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0x1001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94960" y="2743200"/>
            <a:ext cx="146304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5394960" y="276148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3072384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0x1002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967728" y="2743200"/>
            <a:ext cx="146304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Text 34"/>
          <p:cNvSpPr/>
          <p:nvPr/>
        </p:nvSpPr>
        <p:spPr>
          <a:xfrm>
            <a:off x="6967728" y="276148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67728" y="3072384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0x1003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56032" y="3364992"/>
            <a:ext cx="86319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Least significant byte (78) comes FIRST — stored at the lowest address. Intel x86/x64 CPUs use this. FAT32, NTFS values are little-endian.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694176"/>
            <a:ext cx="863193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0" name="Shape 38"/>
          <p:cNvSpPr/>
          <p:nvPr/>
        </p:nvSpPr>
        <p:spPr>
          <a:xfrm>
            <a:off x="256032" y="3694176"/>
            <a:ext cx="219456" cy="9875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9"/>
          <p:cNvSpPr/>
          <p:nvPr/>
        </p:nvSpPr>
        <p:spPr>
          <a:xfrm>
            <a:off x="566928" y="373075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🔍 Forensic Application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" y="3968496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FAT32 Boot Sector: Bytes Per Sector stored as  00 02  → reverse to  02 00  = 0x0200 = 512 decimal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NTFS total sectors: stored as  F7 FF FF FF 00 00 00 00  → reads as 0x00000000FFFFFFF7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reverse byte order when reading multi-byte fields in FAT32/NTFS hex dumps.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73152"/>
            <a:ext cx="863193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Knowledge Check 2 — Number Systems &amp; Conversions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242816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4242816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365760" y="859536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88720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Convert  11001010₂  to decimal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438912" y="1773936"/>
            <a:ext cx="38770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Hint: List place values (128,64,32,16,8,4,2,1), multiply by each bit, sum the 1s.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81728" y="822960"/>
            <a:ext cx="4242816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4681728" y="822960"/>
            <a:ext cx="4242816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4791456" y="859536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91456" y="1188720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Convert  202₁₀  to binary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91456" y="1737360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4864608" y="1773936"/>
            <a:ext cx="38770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Hint: Divide repeatedly by 2. Read remainders bottom to top.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798064"/>
            <a:ext cx="4242816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256032" y="2798064"/>
            <a:ext cx="4242816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365760" y="283464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163824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Convert  0xCA  to binary and decimal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438912" y="3749040"/>
            <a:ext cx="38770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Hint: C = 1100, A = 1010. Expand each hex digit to 4 bits. Then sum place values.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81728" y="2798064"/>
            <a:ext cx="4242816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4681728" y="2798064"/>
            <a:ext cx="4242816" cy="31089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4791456" y="283464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91456" y="3163824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 FAT32 file size field reads:  80 1C 00 00  (4 bytes, little-endian). What is the file size in bytes?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91456" y="3712464"/>
            <a:ext cx="4023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4864608" y="3749040"/>
            <a:ext cx="387705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Hint: Reverse bytes (little-endian): 00 00 1C 80 = 0x00001C80. Convert 1C80 hex to decimal.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32320" y="479145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on next slide →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56032" y="73152"/>
            <a:ext cx="863193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Knowledge Check 2 — Answers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242816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4242816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365760" y="85953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 1: 11001010₂ → decimal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146304" cy="146304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566928" y="1133856"/>
            <a:ext cx="38221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128+64+0+0+8+0+2+0 = 202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408176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457200" y="1444752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 pattern: 1 1 0 0 1 0 1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Place values: 128+64+0+0+8+0+2+0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202₁₀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1728" y="822960"/>
            <a:ext cx="4242816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4681728" y="822960"/>
            <a:ext cx="424281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4791456" y="85953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 2: 202₁₀ → binary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91456" y="1152144"/>
            <a:ext cx="146304" cy="146304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4992624" y="1133856"/>
            <a:ext cx="38221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11001010₂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91456" y="1408176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4882896" y="1444752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202÷2=101 r0, 101÷2=50 r1, 50÷2=25 r0, 25÷2=12 r1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12÷2=6 r0, 6÷2=3 r0, 3÷2=1 r1, 1÷2=0 r1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Read up: 1 1 0 0 1 0 1 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816352"/>
            <a:ext cx="4242816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256032" y="2816352"/>
            <a:ext cx="4242816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365760" y="2852928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 3: 0xCA → binary + decimal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145536"/>
            <a:ext cx="146304" cy="146304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566928" y="3127248"/>
            <a:ext cx="38221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11001010₂ = 202₁₀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457200" y="3438144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C=1100, A=1010 → 11001010₂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128+64+0+0+8+0+2+0 = 202₁₀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Note: Same value as Ex 1 &amp; Ex 2 — all three represent 202!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81728" y="2816352"/>
            <a:ext cx="4242816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28"/>
          <p:cNvSpPr/>
          <p:nvPr/>
        </p:nvSpPr>
        <p:spPr>
          <a:xfrm>
            <a:off x="4681728" y="2816352"/>
            <a:ext cx="4242816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4791456" y="2852928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 4: 80 1C 00 00 (LE) → file size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91456" y="3145536"/>
            <a:ext cx="146304" cy="146304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4992624" y="3127248"/>
            <a:ext cx="38221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0x00001C80 = 7,296 bytes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91456" y="3401568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4882896" y="3438144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Reverse LE: 00 00 1C 80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0x00001C80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D2B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0×4096 + 1×256 + 12×16 + 8 = 7,296 bytes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11496</Words>
  <Application>WPS Presentation</Application>
  <PresentationFormat>On-screen Show (16:9)</PresentationFormat>
  <Paragraphs>1155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Pre-Lesson 3 — Foundations of Digital Storage (In-Depth)</dc:title>
  <dc:creator>Digital Forensics Course</dc:creator>
  <dc:subject>PptxGenJS Presentation</dc:subject>
  <cp:lastModifiedBy>Yaohan</cp:lastModifiedBy>
  <cp:revision>18</cp:revision>
  <dcterms:created xsi:type="dcterms:W3CDTF">2026-04-10T15:21:00Z</dcterms:created>
  <dcterms:modified xsi:type="dcterms:W3CDTF">2026-05-28T02:40:44Z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28611d-fe69-484f-b56b-0db8a0d79612_Enabled">
    <vt:lpwstr>true</vt:lpwstr>
  </property>
  <property fmtid="{D5CDD505-2E9C-101B-9397-08002B2CF9AE}" pid="3" name="MSIP_Label_d528611d-fe69-484f-b56b-0db8a0d79612_SetDate">
    <vt:lpwstr>2026-04-14T02:27:06Z</vt:lpwstr>
  </property>
  <property fmtid="{D5CDD505-2E9C-101B-9397-08002B2CF9AE}" pid="4" name="MSIP_Label_d528611d-fe69-484f-b56b-0db8a0d79612_Method">
    <vt:lpwstr>Privileged</vt:lpwstr>
  </property>
  <property fmtid="{D5CDD505-2E9C-101B-9397-08002B2CF9AE}" pid="5" name="MSIP_Label_d528611d-fe69-484f-b56b-0db8a0d79612_Name">
    <vt:lpwstr>Public</vt:lpwstr>
  </property>
  <property fmtid="{D5CDD505-2E9C-101B-9397-08002B2CF9AE}" pid="6" name="MSIP_Label_d528611d-fe69-484f-b56b-0db8a0d79612_SiteId">
    <vt:lpwstr>25a99bf0-8e72-472a-ae50-adfbdf0df6f1</vt:lpwstr>
  </property>
  <property fmtid="{D5CDD505-2E9C-101B-9397-08002B2CF9AE}" pid="7" name="MSIP_Label_d528611d-fe69-484f-b56b-0db8a0d79612_ActionId">
    <vt:lpwstr>af21a1f2-b4f5-493c-a726-d46d3ee9a321</vt:lpwstr>
  </property>
  <property fmtid="{D5CDD505-2E9C-101B-9397-08002B2CF9AE}" pid="8" name="MSIP_Label_d528611d-fe69-484f-b56b-0db8a0d79612_ContentBits">
    <vt:lpwstr>0</vt:lpwstr>
  </property>
  <property fmtid="{D5CDD505-2E9C-101B-9397-08002B2CF9AE}" pid="9" name="MSIP_Label_d528611d-fe69-484f-b56b-0db8a0d79612_Tag">
    <vt:lpwstr>10, 0, 1, 2</vt:lpwstr>
  </property>
  <property fmtid="{D5CDD505-2E9C-101B-9397-08002B2CF9AE}" pid="10" name="ICV">
    <vt:lpwstr>FEB19DEDCFB4462AA1DC1231832B99F9_12</vt:lpwstr>
  </property>
  <property fmtid="{D5CDD505-2E9C-101B-9397-08002B2CF9AE}" pid="11" name="KSOProductBuildVer">
    <vt:lpwstr>1033-12.1.0.25180</vt:lpwstr>
  </property>
</Properties>
</file>