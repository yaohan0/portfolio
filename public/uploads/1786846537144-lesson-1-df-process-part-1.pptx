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7"/>
  </p:notesMasterIdLst>
  <p:sldIdLst>
    <p:sldId id="256" r:id="rId5"/>
    <p:sldId id="288"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F8BB7A-DE34-5261-947C-22BE3261496B}" v="396" dt="2026-04-12T23:06:00.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 Shuhadah BINTE JALIL (TP)" userId="S::nurshuha@tp.edu.sg::6a975622-816e-4480-9323-6edcbb1b288f" providerId="AD" clId="Web-{36F8BB7A-DE34-5261-947C-22BE3261496B}"/>
    <pc:docChg chg="addSld delSld modSld">
      <pc:chgData name="Nur Shuhadah BINTE JALIL (TP)" userId="S::nurshuha@tp.edu.sg::6a975622-816e-4480-9323-6edcbb1b288f" providerId="AD" clId="Web-{36F8BB7A-DE34-5261-947C-22BE3261496B}" dt="2026-04-12T23:06:00.031" v="446" actId="14100"/>
      <pc:docMkLst>
        <pc:docMk/>
      </pc:docMkLst>
      <pc:sldChg chg="modSp">
        <pc:chgData name="Nur Shuhadah BINTE JALIL (TP)" userId="S::nurshuha@tp.edu.sg::6a975622-816e-4480-9323-6edcbb1b288f" providerId="AD" clId="Web-{36F8BB7A-DE34-5261-947C-22BE3261496B}" dt="2026-04-12T22:58:06.217" v="31" actId="1076"/>
        <pc:sldMkLst>
          <pc:docMk/>
          <pc:sldMk cId="0" sldId="268"/>
        </pc:sldMkLst>
        <pc:spChg chg="mod">
          <ac:chgData name="Nur Shuhadah BINTE JALIL (TP)" userId="S::nurshuha@tp.edu.sg::6a975622-816e-4480-9323-6edcbb1b288f" providerId="AD" clId="Web-{36F8BB7A-DE34-5261-947C-22BE3261496B}" dt="2026-04-12T22:56:43.356" v="22" actId="1076"/>
          <ac:spMkLst>
            <pc:docMk/>
            <pc:sldMk cId="0" sldId="268"/>
            <ac:spMk id="31" creationId="{00000000-0000-0000-0000-000000000000}"/>
          </ac:spMkLst>
        </pc:spChg>
        <pc:spChg chg="mod">
          <ac:chgData name="Nur Shuhadah BINTE JALIL (TP)" userId="S::nurshuha@tp.edu.sg::6a975622-816e-4480-9323-6edcbb1b288f" providerId="AD" clId="Web-{36F8BB7A-DE34-5261-947C-22BE3261496B}" dt="2026-04-12T22:56:48.716" v="23" actId="1076"/>
          <ac:spMkLst>
            <pc:docMk/>
            <pc:sldMk cId="0" sldId="268"/>
            <ac:spMk id="35" creationId="{00000000-0000-0000-0000-000000000000}"/>
          </ac:spMkLst>
        </pc:spChg>
        <pc:spChg chg="mod">
          <ac:chgData name="Nur Shuhadah BINTE JALIL (TP)" userId="S::nurshuha@tp.edu.sg::6a975622-816e-4480-9323-6edcbb1b288f" providerId="AD" clId="Web-{36F8BB7A-DE34-5261-947C-22BE3261496B}" dt="2026-04-12T22:58:06.217" v="31" actId="1076"/>
          <ac:spMkLst>
            <pc:docMk/>
            <pc:sldMk cId="0" sldId="268"/>
            <ac:spMk id="39" creationId="{00000000-0000-0000-0000-000000000000}"/>
          </ac:spMkLst>
        </pc:spChg>
      </pc:sldChg>
      <pc:sldChg chg="modSp">
        <pc:chgData name="Nur Shuhadah BINTE JALIL (TP)" userId="S::nurshuha@tp.edu.sg::6a975622-816e-4480-9323-6edcbb1b288f" providerId="AD" clId="Web-{36F8BB7A-DE34-5261-947C-22BE3261496B}" dt="2026-04-12T22:58:40.967" v="34" actId="1076"/>
        <pc:sldMkLst>
          <pc:docMk/>
          <pc:sldMk cId="0" sldId="270"/>
        </pc:sldMkLst>
        <pc:spChg chg="mod">
          <ac:chgData name="Nur Shuhadah BINTE JALIL (TP)" userId="S::nurshuha@tp.edu.sg::6a975622-816e-4480-9323-6edcbb1b288f" providerId="AD" clId="Web-{36F8BB7A-DE34-5261-947C-22BE3261496B}" dt="2026-04-12T22:58:40.967" v="34" actId="1076"/>
          <ac:spMkLst>
            <pc:docMk/>
            <pc:sldMk cId="0" sldId="270"/>
            <ac:spMk id="52" creationId="{00000000-0000-0000-0000-000000000000}"/>
          </ac:spMkLst>
        </pc:spChg>
      </pc:sldChg>
      <pc:sldChg chg="addSp delSp modSp modNotes">
        <pc:chgData name="Nur Shuhadah BINTE JALIL (TP)" userId="S::nurshuha@tp.edu.sg::6a975622-816e-4480-9323-6edcbb1b288f" providerId="AD" clId="Web-{36F8BB7A-DE34-5261-947C-22BE3261496B}" dt="2026-04-12T23:03:22.171" v="434"/>
        <pc:sldMkLst>
          <pc:docMk/>
          <pc:sldMk cId="0" sldId="272"/>
        </pc:sldMkLst>
        <pc:spChg chg="mod">
          <ac:chgData name="Nur Shuhadah BINTE JALIL (TP)" userId="S::nurshuha@tp.edu.sg::6a975622-816e-4480-9323-6edcbb1b288f" providerId="AD" clId="Web-{36F8BB7A-DE34-5261-947C-22BE3261496B}" dt="2026-04-12T23:01:40.812" v="218" actId="1076"/>
          <ac:spMkLst>
            <pc:docMk/>
            <pc:sldMk cId="0" sldId="272"/>
            <ac:spMk id="31" creationId="{00000000-0000-0000-0000-000000000000}"/>
          </ac:spMkLst>
        </pc:spChg>
        <pc:spChg chg="mod">
          <ac:chgData name="Nur Shuhadah BINTE JALIL (TP)" userId="S::nurshuha@tp.edu.sg::6a975622-816e-4480-9323-6edcbb1b288f" providerId="AD" clId="Web-{36F8BB7A-DE34-5261-947C-22BE3261496B}" dt="2026-04-12T23:01:40.812" v="217" actId="1076"/>
          <ac:spMkLst>
            <pc:docMk/>
            <pc:sldMk cId="0" sldId="272"/>
            <ac:spMk id="32" creationId="{00000000-0000-0000-0000-000000000000}"/>
          </ac:spMkLst>
        </pc:spChg>
        <pc:spChg chg="mod">
          <ac:chgData name="Nur Shuhadah BINTE JALIL (TP)" userId="S::nurshuha@tp.edu.sg::6a975622-816e-4480-9323-6edcbb1b288f" providerId="AD" clId="Web-{36F8BB7A-DE34-5261-947C-22BE3261496B}" dt="2026-04-12T23:01:40.812" v="216" actId="1076"/>
          <ac:spMkLst>
            <pc:docMk/>
            <pc:sldMk cId="0" sldId="272"/>
            <ac:spMk id="33" creationId="{00000000-0000-0000-0000-000000000000}"/>
          </ac:spMkLst>
        </pc:spChg>
        <pc:spChg chg="mod">
          <ac:chgData name="Nur Shuhadah BINTE JALIL (TP)" userId="S::nurshuha@tp.edu.sg::6a975622-816e-4480-9323-6edcbb1b288f" providerId="AD" clId="Web-{36F8BB7A-DE34-5261-947C-22BE3261496B}" dt="2026-04-12T23:01:40.812" v="215" actId="1076"/>
          <ac:spMkLst>
            <pc:docMk/>
            <pc:sldMk cId="0" sldId="272"/>
            <ac:spMk id="34" creationId="{00000000-0000-0000-0000-000000000000}"/>
          </ac:spMkLst>
        </pc:spChg>
        <pc:spChg chg="mod">
          <ac:chgData name="Nur Shuhadah BINTE JALIL (TP)" userId="S::nurshuha@tp.edu.sg::6a975622-816e-4480-9323-6edcbb1b288f" providerId="AD" clId="Web-{36F8BB7A-DE34-5261-947C-22BE3261496B}" dt="2026-04-12T23:01:40.812" v="214" actId="1076"/>
          <ac:spMkLst>
            <pc:docMk/>
            <pc:sldMk cId="0" sldId="272"/>
            <ac:spMk id="35" creationId="{00000000-0000-0000-0000-000000000000}"/>
          </ac:spMkLst>
        </pc:spChg>
        <pc:spChg chg="mod">
          <ac:chgData name="Nur Shuhadah BINTE JALIL (TP)" userId="S::nurshuha@tp.edu.sg::6a975622-816e-4480-9323-6edcbb1b288f" providerId="AD" clId="Web-{36F8BB7A-DE34-5261-947C-22BE3261496B}" dt="2026-04-12T23:01:40.812" v="213" actId="1076"/>
          <ac:spMkLst>
            <pc:docMk/>
            <pc:sldMk cId="0" sldId="272"/>
            <ac:spMk id="36" creationId="{00000000-0000-0000-0000-000000000000}"/>
          </ac:spMkLst>
        </pc:spChg>
        <pc:spChg chg="mod">
          <ac:chgData name="Nur Shuhadah BINTE JALIL (TP)" userId="S::nurshuha@tp.edu.sg::6a975622-816e-4480-9323-6edcbb1b288f" providerId="AD" clId="Web-{36F8BB7A-DE34-5261-947C-22BE3261496B}" dt="2026-04-12T23:01:40.812" v="212" actId="1076"/>
          <ac:spMkLst>
            <pc:docMk/>
            <pc:sldMk cId="0" sldId="272"/>
            <ac:spMk id="37" creationId="{00000000-0000-0000-0000-000000000000}"/>
          </ac:spMkLst>
        </pc:spChg>
        <pc:spChg chg="mod">
          <ac:chgData name="Nur Shuhadah BINTE JALIL (TP)" userId="S::nurshuha@tp.edu.sg::6a975622-816e-4480-9323-6edcbb1b288f" providerId="AD" clId="Web-{36F8BB7A-DE34-5261-947C-22BE3261496B}" dt="2026-04-12T23:01:40.812" v="211" actId="1076"/>
          <ac:spMkLst>
            <pc:docMk/>
            <pc:sldMk cId="0" sldId="272"/>
            <ac:spMk id="38" creationId="{00000000-0000-0000-0000-000000000000}"/>
          </ac:spMkLst>
        </pc:spChg>
        <pc:spChg chg="mod">
          <ac:chgData name="Nur Shuhadah BINTE JALIL (TP)" userId="S::nurshuha@tp.edu.sg::6a975622-816e-4480-9323-6edcbb1b288f" providerId="AD" clId="Web-{36F8BB7A-DE34-5261-947C-22BE3261496B}" dt="2026-04-12T23:01:40.812" v="210" actId="1076"/>
          <ac:spMkLst>
            <pc:docMk/>
            <pc:sldMk cId="0" sldId="272"/>
            <ac:spMk id="39" creationId="{00000000-0000-0000-0000-000000000000}"/>
          </ac:spMkLst>
        </pc:spChg>
        <pc:spChg chg="mod">
          <ac:chgData name="Nur Shuhadah BINTE JALIL (TP)" userId="S::nurshuha@tp.edu.sg::6a975622-816e-4480-9323-6edcbb1b288f" providerId="AD" clId="Web-{36F8BB7A-DE34-5261-947C-22BE3261496B}" dt="2026-04-12T23:01:40.812" v="209" actId="1076"/>
          <ac:spMkLst>
            <pc:docMk/>
            <pc:sldMk cId="0" sldId="272"/>
            <ac:spMk id="40" creationId="{00000000-0000-0000-0000-000000000000}"/>
          </ac:spMkLst>
        </pc:spChg>
        <pc:spChg chg="mod">
          <ac:chgData name="Nur Shuhadah BINTE JALIL (TP)" userId="S::nurshuha@tp.edu.sg::6a975622-816e-4480-9323-6edcbb1b288f" providerId="AD" clId="Web-{36F8BB7A-DE34-5261-947C-22BE3261496B}" dt="2026-04-12T23:01:40.812" v="208" actId="1076"/>
          <ac:spMkLst>
            <pc:docMk/>
            <pc:sldMk cId="0" sldId="272"/>
            <ac:spMk id="41" creationId="{00000000-0000-0000-0000-000000000000}"/>
          </ac:spMkLst>
        </pc:spChg>
        <pc:spChg chg="mod">
          <ac:chgData name="Nur Shuhadah BINTE JALIL (TP)" userId="S::nurshuha@tp.edu.sg::6a975622-816e-4480-9323-6edcbb1b288f" providerId="AD" clId="Web-{36F8BB7A-DE34-5261-947C-22BE3261496B}" dt="2026-04-12T23:01:40.812" v="207" actId="1076"/>
          <ac:spMkLst>
            <pc:docMk/>
            <pc:sldMk cId="0" sldId="272"/>
            <ac:spMk id="42" creationId="{00000000-0000-0000-0000-000000000000}"/>
          </ac:spMkLst>
        </pc:spChg>
        <pc:spChg chg="add del mod">
          <ac:chgData name="Nur Shuhadah BINTE JALIL (TP)" userId="S::nurshuha@tp.edu.sg::6a975622-816e-4480-9323-6edcbb1b288f" providerId="AD" clId="Web-{36F8BB7A-DE34-5261-947C-22BE3261496B}" dt="2026-04-12T23:03:22.171" v="434"/>
          <ac:spMkLst>
            <pc:docMk/>
            <pc:sldMk cId="0" sldId="272"/>
            <ac:spMk id="47" creationId="{00000000-0000-0000-0000-000000000000}"/>
          </ac:spMkLst>
        </pc:spChg>
        <pc:spChg chg="add del mod">
          <ac:chgData name="Nur Shuhadah BINTE JALIL (TP)" userId="S::nurshuha@tp.edu.sg::6a975622-816e-4480-9323-6edcbb1b288f" providerId="AD" clId="Web-{36F8BB7A-DE34-5261-947C-22BE3261496B}" dt="2026-04-12T23:03:22.171" v="433"/>
          <ac:spMkLst>
            <pc:docMk/>
            <pc:sldMk cId="0" sldId="272"/>
            <ac:spMk id="48" creationId="{00000000-0000-0000-0000-000000000000}"/>
          </ac:spMkLst>
        </pc:spChg>
        <pc:spChg chg="add del">
          <ac:chgData name="Nur Shuhadah BINTE JALIL (TP)" userId="S::nurshuha@tp.edu.sg::6a975622-816e-4480-9323-6edcbb1b288f" providerId="AD" clId="Web-{36F8BB7A-DE34-5261-947C-22BE3261496B}" dt="2026-04-12T23:01:43.968" v="224"/>
          <ac:spMkLst>
            <pc:docMk/>
            <pc:sldMk cId="0" sldId="272"/>
            <ac:spMk id="49" creationId="{00000000-0000-0000-0000-000000000000}"/>
          </ac:spMkLst>
        </pc:spChg>
        <pc:spChg chg="add del">
          <ac:chgData name="Nur Shuhadah BINTE JALIL (TP)" userId="S::nurshuha@tp.edu.sg::6a975622-816e-4480-9323-6edcbb1b288f" providerId="AD" clId="Web-{36F8BB7A-DE34-5261-947C-22BE3261496B}" dt="2026-04-12T23:01:43.968" v="225"/>
          <ac:spMkLst>
            <pc:docMk/>
            <pc:sldMk cId="0" sldId="272"/>
            <ac:spMk id="50" creationId="{00000000-0000-0000-0000-000000000000}"/>
          </ac:spMkLst>
        </pc:spChg>
        <pc:spChg chg="add del">
          <ac:chgData name="Nur Shuhadah BINTE JALIL (TP)" userId="S::nurshuha@tp.edu.sg::6a975622-816e-4480-9323-6edcbb1b288f" providerId="AD" clId="Web-{36F8BB7A-DE34-5261-947C-22BE3261496B}" dt="2026-04-12T23:01:43.968" v="226"/>
          <ac:spMkLst>
            <pc:docMk/>
            <pc:sldMk cId="0" sldId="272"/>
            <ac:spMk id="51" creationId="{00000000-0000-0000-0000-000000000000}"/>
          </ac:spMkLst>
        </pc:spChg>
        <pc:spChg chg="add del">
          <ac:chgData name="Nur Shuhadah BINTE JALIL (TP)" userId="S::nurshuha@tp.edu.sg::6a975622-816e-4480-9323-6edcbb1b288f" providerId="AD" clId="Web-{36F8BB7A-DE34-5261-947C-22BE3261496B}" dt="2026-04-12T23:01:43.968" v="227"/>
          <ac:spMkLst>
            <pc:docMk/>
            <pc:sldMk cId="0" sldId="272"/>
            <ac:spMk id="52" creationId="{00000000-0000-0000-0000-000000000000}"/>
          </ac:spMkLst>
        </pc:spChg>
        <pc:spChg chg="add del">
          <ac:chgData name="Nur Shuhadah BINTE JALIL (TP)" userId="S::nurshuha@tp.edu.sg::6a975622-816e-4480-9323-6edcbb1b288f" providerId="AD" clId="Web-{36F8BB7A-DE34-5261-947C-22BE3261496B}" dt="2026-04-12T23:01:43.968" v="228"/>
          <ac:spMkLst>
            <pc:docMk/>
            <pc:sldMk cId="0" sldId="272"/>
            <ac:spMk id="53" creationId="{00000000-0000-0000-0000-000000000000}"/>
          </ac:spMkLst>
        </pc:spChg>
        <pc:spChg chg="add del">
          <ac:chgData name="Nur Shuhadah BINTE JALIL (TP)" userId="S::nurshuha@tp.edu.sg::6a975622-816e-4480-9323-6edcbb1b288f" providerId="AD" clId="Web-{36F8BB7A-DE34-5261-947C-22BE3261496B}" dt="2026-04-12T23:01:43.968" v="229"/>
          <ac:spMkLst>
            <pc:docMk/>
            <pc:sldMk cId="0" sldId="272"/>
            <ac:spMk id="54" creationId="{00000000-0000-0000-0000-000000000000}"/>
          </ac:spMkLst>
        </pc:spChg>
        <pc:spChg chg="add del">
          <ac:chgData name="Nur Shuhadah BINTE JALIL (TP)" userId="S::nurshuha@tp.edu.sg::6a975622-816e-4480-9323-6edcbb1b288f" providerId="AD" clId="Web-{36F8BB7A-DE34-5261-947C-22BE3261496B}" dt="2026-04-12T23:01:43.968" v="230"/>
          <ac:spMkLst>
            <pc:docMk/>
            <pc:sldMk cId="0" sldId="272"/>
            <ac:spMk id="55" creationId="{00000000-0000-0000-0000-000000000000}"/>
          </ac:spMkLst>
        </pc:spChg>
        <pc:spChg chg="add del">
          <ac:chgData name="Nur Shuhadah BINTE JALIL (TP)" userId="S::nurshuha@tp.edu.sg::6a975622-816e-4480-9323-6edcbb1b288f" providerId="AD" clId="Web-{36F8BB7A-DE34-5261-947C-22BE3261496B}" dt="2026-04-12T23:01:43.734" v="219"/>
          <ac:spMkLst>
            <pc:docMk/>
            <pc:sldMk cId="0" sldId="272"/>
            <ac:spMk id="56" creationId="{00000000-0000-0000-0000-000000000000}"/>
          </ac:spMkLst>
        </pc:spChg>
        <pc:spChg chg="add del">
          <ac:chgData name="Nur Shuhadah BINTE JALIL (TP)" userId="S::nurshuha@tp.edu.sg::6a975622-816e-4480-9323-6edcbb1b288f" providerId="AD" clId="Web-{36F8BB7A-DE34-5261-947C-22BE3261496B}" dt="2026-04-12T23:01:43.968" v="231"/>
          <ac:spMkLst>
            <pc:docMk/>
            <pc:sldMk cId="0" sldId="272"/>
            <ac:spMk id="57" creationId="{00000000-0000-0000-0000-000000000000}"/>
          </ac:spMkLst>
        </pc:spChg>
        <pc:spChg chg="add del">
          <ac:chgData name="Nur Shuhadah BINTE JALIL (TP)" userId="S::nurshuha@tp.edu.sg::6a975622-816e-4480-9323-6edcbb1b288f" providerId="AD" clId="Web-{36F8BB7A-DE34-5261-947C-22BE3261496B}" dt="2026-04-12T23:01:43.968" v="232"/>
          <ac:spMkLst>
            <pc:docMk/>
            <pc:sldMk cId="0" sldId="272"/>
            <ac:spMk id="58" creationId="{00000000-0000-0000-0000-000000000000}"/>
          </ac:spMkLst>
        </pc:spChg>
        <pc:spChg chg="add del">
          <ac:chgData name="Nur Shuhadah BINTE JALIL (TP)" userId="S::nurshuha@tp.edu.sg::6a975622-816e-4480-9323-6edcbb1b288f" providerId="AD" clId="Web-{36F8BB7A-DE34-5261-947C-22BE3261496B}" dt="2026-04-12T23:01:43.968" v="233"/>
          <ac:spMkLst>
            <pc:docMk/>
            <pc:sldMk cId="0" sldId="272"/>
            <ac:spMk id="59" creationId="{00000000-0000-0000-0000-000000000000}"/>
          </ac:spMkLst>
        </pc:spChg>
        <pc:spChg chg="add del">
          <ac:chgData name="Nur Shuhadah BINTE JALIL (TP)" userId="S::nurshuha@tp.edu.sg::6a975622-816e-4480-9323-6edcbb1b288f" providerId="AD" clId="Web-{36F8BB7A-DE34-5261-947C-22BE3261496B}" dt="2026-04-12T23:01:43.968" v="234"/>
          <ac:spMkLst>
            <pc:docMk/>
            <pc:sldMk cId="0" sldId="272"/>
            <ac:spMk id="60" creationId="{00000000-0000-0000-0000-000000000000}"/>
          </ac:spMkLst>
        </pc:spChg>
        <pc:spChg chg="add del">
          <ac:chgData name="Nur Shuhadah BINTE JALIL (TP)" userId="S::nurshuha@tp.edu.sg::6a975622-816e-4480-9323-6edcbb1b288f" providerId="AD" clId="Web-{36F8BB7A-DE34-5261-947C-22BE3261496B}" dt="2026-04-12T23:01:43.968" v="235"/>
          <ac:spMkLst>
            <pc:docMk/>
            <pc:sldMk cId="0" sldId="272"/>
            <ac:spMk id="61" creationId="{00000000-0000-0000-0000-000000000000}"/>
          </ac:spMkLst>
        </pc:spChg>
        <pc:spChg chg="add del">
          <ac:chgData name="Nur Shuhadah BINTE JALIL (TP)" userId="S::nurshuha@tp.edu.sg::6a975622-816e-4480-9323-6edcbb1b288f" providerId="AD" clId="Web-{36F8BB7A-DE34-5261-947C-22BE3261496B}" dt="2026-04-12T23:01:43.734" v="220"/>
          <ac:spMkLst>
            <pc:docMk/>
            <pc:sldMk cId="0" sldId="272"/>
            <ac:spMk id="62" creationId="{00000000-0000-0000-0000-000000000000}"/>
          </ac:spMkLst>
        </pc:spChg>
        <pc:spChg chg="add del">
          <ac:chgData name="Nur Shuhadah BINTE JALIL (TP)" userId="S::nurshuha@tp.edu.sg::6a975622-816e-4480-9323-6edcbb1b288f" providerId="AD" clId="Web-{36F8BB7A-DE34-5261-947C-22BE3261496B}" dt="2026-04-12T23:01:43.968" v="236"/>
          <ac:spMkLst>
            <pc:docMk/>
            <pc:sldMk cId="0" sldId="272"/>
            <ac:spMk id="63" creationId="{00000000-0000-0000-0000-000000000000}"/>
          </ac:spMkLst>
        </pc:spChg>
        <pc:spChg chg="add del">
          <ac:chgData name="Nur Shuhadah BINTE JALIL (TP)" userId="S::nurshuha@tp.edu.sg::6a975622-816e-4480-9323-6edcbb1b288f" providerId="AD" clId="Web-{36F8BB7A-DE34-5261-947C-22BE3261496B}" dt="2026-04-12T23:01:43.968" v="237"/>
          <ac:spMkLst>
            <pc:docMk/>
            <pc:sldMk cId="0" sldId="272"/>
            <ac:spMk id="64" creationId="{00000000-0000-0000-0000-000000000000}"/>
          </ac:spMkLst>
        </pc:spChg>
        <pc:spChg chg="add del">
          <ac:chgData name="Nur Shuhadah BINTE JALIL (TP)" userId="S::nurshuha@tp.edu.sg::6a975622-816e-4480-9323-6edcbb1b288f" providerId="AD" clId="Web-{36F8BB7A-DE34-5261-947C-22BE3261496B}" dt="2026-04-12T23:01:43.968" v="238"/>
          <ac:spMkLst>
            <pc:docMk/>
            <pc:sldMk cId="0" sldId="272"/>
            <ac:spMk id="65" creationId="{00000000-0000-0000-0000-000000000000}"/>
          </ac:spMkLst>
        </pc:spChg>
        <pc:spChg chg="add del">
          <ac:chgData name="Nur Shuhadah BINTE JALIL (TP)" userId="S::nurshuha@tp.edu.sg::6a975622-816e-4480-9323-6edcbb1b288f" providerId="AD" clId="Web-{36F8BB7A-DE34-5261-947C-22BE3261496B}" dt="2026-04-12T23:01:43.968" v="239"/>
          <ac:spMkLst>
            <pc:docMk/>
            <pc:sldMk cId="0" sldId="272"/>
            <ac:spMk id="66" creationId="{00000000-0000-0000-0000-000000000000}"/>
          </ac:spMkLst>
        </pc:spChg>
        <pc:spChg chg="add del">
          <ac:chgData name="Nur Shuhadah BINTE JALIL (TP)" userId="S::nurshuha@tp.edu.sg::6a975622-816e-4480-9323-6edcbb1b288f" providerId="AD" clId="Web-{36F8BB7A-DE34-5261-947C-22BE3261496B}" dt="2026-04-12T23:01:43.968" v="240"/>
          <ac:spMkLst>
            <pc:docMk/>
            <pc:sldMk cId="0" sldId="272"/>
            <ac:spMk id="67" creationId="{00000000-0000-0000-0000-000000000000}"/>
          </ac:spMkLst>
        </pc:spChg>
        <pc:spChg chg="add del">
          <ac:chgData name="Nur Shuhadah BINTE JALIL (TP)" userId="S::nurshuha@tp.edu.sg::6a975622-816e-4480-9323-6edcbb1b288f" providerId="AD" clId="Web-{36F8BB7A-DE34-5261-947C-22BE3261496B}" dt="2026-04-12T23:01:43.734" v="221"/>
          <ac:spMkLst>
            <pc:docMk/>
            <pc:sldMk cId="0" sldId="272"/>
            <ac:spMk id="68" creationId="{00000000-0000-0000-0000-000000000000}"/>
          </ac:spMkLst>
        </pc:spChg>
        <pc:spChg chg="add del">
          <ac:chgData name="Nur Shuhadah BINTE JALIL (TP)" userId="S::nurshuha@tp.edu.sg::6a975622-816e-4480-9323-6edcbb1b288f" providerId="AD" clId="Web-{36F8BB7A-DE34-5261-947C-22BE3261496B}" dt="2026-04-12T23:01:43.968" v="241"/>
          <ac:spMkLst>
            <pc:docMk/>
            <pc:sldMk cId="0" sldId="272"/>
            <ac:spMk id="69" creationId="{00000000-0000-0000-0000-000000000000}"/>
          </ac:spMkLst>
        </pc:spChg>
        <pc:spChg chg="add del">
          <ac:chgData name="Nur Shuhadah BINTE JALIL (TP)" userId="S::nurshuha@tp.edu.sg::6a975622-816e-4480-9323-6edcbb1b288f" providerId="AD" clId="Web-{36F8BB7A-DE34-5261-947C-22BE3261496B}" dt="2026-04-12T23:01:43.968" v="242"/>
          <ac:spMkLst>
            <pc:docMk/>
            <pc:sldMk cId="0" sldId="272"/>
            <ac:spMk id="70" creationId="{00000000-0000-0000-0000-000000000000}"/>
          </ac:spMkLst>
        </pc:spChg>
        <pc:spChg chg="add del">
          <ac:chgData name="Nur Shuhadah BINTE JALIL (TP)" userId="S::nurshuha@tp.edu.sg::6a975622-816e-4480-9323-6edcbb1b288f" providerId="AD" clId="Web-{36F8BB7A-DE34-5261-947C-22BE3261496B}" dt="2026-04-12T23:01:43.968" v="243"/>
          <ac:spMkLst>
            <pc:docMk/>
            <pc:sldMk cId="0" sldId="272"/>
            <ac:spMk id="71" creationId="{00000000-0000-0000-0000-000000000000}"/>
          </ac:spMkLst>
        </pc:spChg>
        <pc:spChg chg="add del">
          <ac:chgData name="Nur Shuhadah BINTE JALIL (TP)" userId="S::nurshuha@tp.edu.sg::6a975622-816e-4480-9323-6edcbb1b288f" providerId="AD" clId="Web-{36F8BB7A-DE34-5261-947C-22BE3261496B}" dt="2026-04-12T23:01:43.968" v="244"/>
          <ac:spMkLst>
            <pc:docMk/>
            <pc:sldMk cId="0" sldId="272"/>
            <ac:spMk id="72" creationId="{00000000-0000-0000-0000-000000000000}"/>
          </ac:spMkLst>
        </pc:spChg>
        <pc:spChg chg="add del">
          <ac:chgData name="Nur Shuhadah BINTE JALIL (TP)" userId="S::nurshuha@tp.edu.sg::6a975622-816e-4480-9323-6edcbb1b288f" providerId="AD" clId="Web-{36F8BB7A-DE34-5261-947C-22BE3261496B}" dt="2026-04-12T23:01:43.968" v="245"/>
          <ac:spMkLst>
            <pc:docMk/>
            <pc:sldMk cId="0" sldId="272"/>
            <ac:spMk id="73" creationId="{00000000-0000-0000-0000-000000000000}"/>
          </ac:spMkLst>
        </pc:spChg>
        <pc:spChg chg="add del">
          <ac:chgData name="Nur Shuhadah BINTE JALIL (TP)" userId="S::nurshuha@tp.edu.sg::6a975622-816e-4480-9323-6edcbb1b288f" providerId="AD" clId="Web-{36F8BB7A-DE34-5261-947C-22BE3261496B}" dt="2026-04-12T23:01:43.734" v="222"/>
          <ac:spMkLst>
            <pc:docMk/>
            <pc:sldMk cId="0" sldId="272"/>
            <ac:spMk id="74" creationId="{00000000-0000-0000-0000-000000000000}"/>
          </ac:spMkLst>
        </pc:spChg>
        <pc:spChg chg="add del">
          <ac:chgData name="Nur Shuhadah BINTE JALIL (TP)" userId="S::nurshuha@tp.edu.sg::6a975622-816e-4480-9323-6edcbb1b288f" providerId="AD" clId="Web-{36F8BB7A-DE34-5261-947C-22BE3261496B}" dt="2026-04-12T23:01:43.968" v="246"/>
          <ac:spMkLst>
            <pc:docMk/>
            <pc:sldMk cId="0" sldId="272"/>
            <ac:spMk id="75" creationId="{00000000-0000-0000-0000-000000000000}"/>
          </ac:spMkLst>
        </pc:spChg>
        <pc:spChg chg="add del">
          <ac:chgData name="Nur Shuhadah BINTE JALIL (TP)" userId="S::nurshuha@tp.edu.sg::6a975622-816e-4480-9323-6edcbb1b288f" providerId="AD" clId="Web-{36F8BB7A-DE34-5261-947C-22BE3261496B}" dt="2026-04-12T23:01:43.968" v="247"/>
          <ac:spMkLst>
            <pc:docMk/>
            <pc:sldMk cId="0" sldId="272"/>
            <ac:spMk id="76" creationId="{00000000-0000-0000-0000-000000000000}"/>
          </ac:spMkLst>
        </pc:spChg>
        <pc:spChg chg="add del">
          <ac:chgData name="Nur Shuhadah BINTE JALIL (TP)" userId="S::nurshuha@tp.edu.sg::6a975622-816e-4480-9323-6edcbb1b288f" providerId="AD" clId="Web-{36F8BB7A-DE34-5261-947C-22BE3261496B}" dt="2026-04-12T23:01:43.968" v="248"/>
          <ac:spMkLst>
            <pc:docMk/>
            <pc:sldMk cId="0" sldId="272"/>
            <ac:spMk id="77" creationId="{00000000-0000-0000-0000-000000000000}"/>
          </ac:spMkLst>
        </pc:spChg>
        <pc:spChg chg="add del">
          <ac:chgData name="Nur Shuhadah BINTE JALIL (TP)" userId="S::nurshuha@tp.edu.sg::6a975622-816e-4480-9323-6edcbb1b288f" providerId="AD" clId="Web-{36F8BB7A-DE34-5261-947C-22BE3261496B}" dt="2026-04-12T23:01:43.968" v="249"/>
          <ac:spMkLst>
            <pc:docMk/>
            <pc:sldMk cId="0" sldId="272"/>
            <ac:spMk id="78" creationId="{00000000-0000-0000-0000-000000000000}"/>
          </ac:spMkLst>
        </pc:spChg>
        <pc:spChg chg="add del">
          <ac:chgData name="Nur Shuhadah BINTE JALIL (TP)" userId="S::nurshuha@tp.edu.sg::6a975622-816e-4480-9323-6edcbb1b288f" providerId="AD" clId="Web-{36F8BB7A-DE34-5261-947C-22BE3261496B}" dt="2026-04-12T23:01:43.968" v="250"/>
          <ac:spMkLst>
            <pc:docMk/>
            <pc:sldMk cId="0" sldId="272"/>
            <ac:spMk id="79" creationId="{00000000-0000-0000-0000-000000000000}"/>
          </ac:spMkLst>
        </pc:spChg>
        <pc:spChg chg="add del">
          <ac:chgData name="Nur Shuhadah BINTE JALIL (TP)" userId="S::nurshuha@tp.edu.sg::6a975622-816e-4480-9323-6edcbb1b288f" providerId="AD" clId="Web-{36F8BB7A-DE34-5261-947C-22BE3261496B}" dt="2026-04-12T23:01:43.734" v="223"/>
          <ac:spMkLst>
            <pc:docMk/>
            <pc:sldMk cId="0" sldId="272"/>
            <ac:spMk id="80" creationId="{00000000-0000-0000-0000-000000000000}"/>
          </ac:spMkLst>
        </pc:spChg>
        <pc:spChg chg="add del">
          <ac:chgData name="Nur Shuhadah BINTE JALIL (TP)" userId="S::nurshuha@tp.edu.sg::6a975622-816e-4480-9323-6edcbb1b288f" providerId="AD" clId="Web-{36F8BB7A-DE34-5261-947C-22BE3261496B}" dt="2026-04-12T23:01:43.968" v="251"/>
          <ac:spMkLst>
            <pc:docMk/>
            <pc:sldMk cId="0" sldId="272"/>
            <ac:spMk id="81" creationId="{00000000-0000-0000-0000-000000000000}"/>
          </ac:spMkLst>
        </pc:spChg>
        <pc:spChg chg="add del">
          <ac:chgData name="Nur Shuhadah BINTE JALIL (TP)" userId="S::nurshuha@tp.edu.sg::6a975622-816e-4480-9323-6edcbb1b288f" providerId="AD" clId="Web-{36F8BB7A-DE34-5261-947C-22BE3261496B}" dt="2026-04-12T23:01:43.968" v="252"/>
          <ac:spMkLst>
            <pc:docMk/>
            <pc:sldMk cId="0" sldId="272"/>
            <ac:spMk id="82" creationId="{00000000-0000-0000-0000-000000000000}"/>
          </ac:spMkLst>
        </pc:spChg>
        <pc:spChg chg="add del">
          <ac:chgData name="Nur Shuhadah BINTE JALIL (TP)" userId="S::nurshuha@tp.edu.sg::6a975622-816e-4480-9323-6edcbb1b288f" providerId="AD" clId="Web-{36F8BB7A-DE34-5261-947C-22BE3261496B}" dt="2026-04-12T23:01:43.968" v="253"/>
          <ac:spMkLst>
            <pc:docMk/>
            <pc:sldMk cId="0" sldId="272"/>
            <ac:spMk id="83" creationId="{00000000-0000-0000-0000-000000000000}"/>
          </ac:spMkLst>
        </pc:spChg>
        <pc:spChg chg="add del">
          <ac:chgData name="Nur Shuhadah BINTE JALIL (TP)" userId="S::nurshuha@tp.edu.sg::6a975622-816e-4480-9323-6edcbb1b288f" providerId="AD" clId="Web-{36F8BB7A-DE34-5261-947C-22BE3261496B}" dt="2026-04-12T23:01:43.968" v="254"/>
          <ac:spMkLst>
            <pc:docMk/>
            <pc:sldMk cId="0" sldId="272"/>
            <ac:spMk id="84" creationId="{00000000-0000-0000-0000-000000000000}"/>
          </ac:spMkLst>
        </pc:spChg>
        <pc:spChg chg="add del">
          <ac:chgData name="Nur Shuhadah BINTE JALIL (TP)" userId="S::nurshuha@tp.edu.sg::6a975622-816e-4480-9323-6edcbb1b288f" providerId="AD" clId="Web-{36F8BB7A-DE34-5261-947C-22BE3261496B}" dt="2026-04-12T23:01:43.968" v="255"/>
          <ac:spMkLst>
            <pc:docMk/>
            <pc:sldMk cId="0" sldId="272"/>
            <ac:spMk id="85" creationId="{00000000-0000-0000-0000-000000000000}"/>
          </ac:spMkLst>
        </pc:spChg>
        <pc:spChg chg="add del">
          <ac:chgData name="Nur Shuhadah BINTE JALIL (TP)" userId="S::nurshuha@tp.edu.sg::6a975622-816e-4480-9323-6edcbb1b288f" providerId="AD" clId="Web-{36F8BB7A-DE34-5261-947C-22BE3261496B}" dt="2026-04-12T23:03:22.171" v="432"/>
          <ac:spMkLst>
            <pc:docMk/>
            <pc:sldMk cId="0" sldId="272"/>
            <ac:spMk id="90" creationId="{00000000-0000-0000-0000-000000000000}"/>
          </ac:spMkLst>
        </pc:spChg>
        <pc:spChg chg="add del">
          <ac:chgData name="Nur Shuhadah BINTE JALIL (TP)" userId="S::nurshuha@tp.edu.sg::6a975622-816e-4480-9323-6edcbb1b288f" providerId="AD" clId="Web-{36F8BB7A-DE34-5261-947C-22BE3261496B}" dt="2026-04-12T23:03:22.156" v="431"/>
          <ac:spMkLst>
            <pc:docMk/>
            <pc:sldMk cId="0" sldId="272"/>
            <ac:spMk id="91" creationId="{00000000-0000-0000-0000-000000000000}"/>
          </ac:spMkLst>
        </pc:spChg>
      </pc:sldChg>
      <pc:sldChg chg="addSp modSp">
        <pc:chgData name="Nur Shuhadah BINTE JALIL (TP)" userId="S::nurshuha@tp.edu.sg::6a975622-816e-4480-9323-6edcbb1b288f" providerId="AD" clId="Web-{36F8BB7A-DE34-5261-947C-22BE3261496B}" dt="2026-04-12T23:05:04.328" v="440"/>
        <pc:sldMkLst>
          <pc:docMk/>
          <pc:sldMk cId="0" sldId="273"/>
        </pc:sldMkLst>
        <pc:spChg chg="add mod ord">
          <ac:chgData name="Nur Shuhadah BINTE JALIL (TP)" userId="S::nurshuha@tp.edu.sg::6a975622-816e-4480-9323-6edcbb1b288f" providerId="AD" clId="Web-{36F8BB7A-DE34-5261-947C-22BE3261496B}" dt="2026-04-12T23:04:26.797" v="437"/>
          <ac:spMkLst>
            <pc:docMk/>
            <pc:sldMk cId="0" sldId="273"/>
            <ac:spMk id="3" creationId="{2E462986-002F-CB8E-9687-F986DE23983A}"/>
          </ac:spMkLst>
        </pc:spChg>
        <pc:spChg chg="add mod ord">
          <ac:chgData name="Nur Shuhadah BINTE JALIL (TP)" userId="S::nurshuha@tp.edu.sg::6a975622-816e-4480-9323-6edcbb1b288f" providerId="AD" clId="Web-{36F8BB7A-DE34-5261-947C-22BE3261496B}" dt="2026-04-12T23:05:04.328" v="440"/>
          <ac:spMkLst>
            <pc:docMk/>
            <pc:sldMk cId="0" sldId="273"/>
            <ac:spMk id="4" creationId="{A33A0DBB-A58A-F38E-2EB2-D7F88A7830AA}"/>
          </ac:spMkLst>
        </pc:spChg>
      </pc:sldChg>
      <pc:sldChg chg="modSp">
        <pc:chgData name="Nur Shuhadah BINTE JALIL (TP)" userId="S::nurshuha@tp.edu.sg::6a975622-816e-4480-9323-6edcbb1b288f" providerId="AD" clId="Web-{36F8BB7A-DE34-5261-947C-22BE3261496B}" dt="2026-04-12T23:05:44.953" v="444" actId="1076"/>
        <pc:sldMkLst>
          <pc:docMk/>
          <pc:sldMk cId="0" sldId="274"/>
        </pc:sldMkLst>
        <pc:spChg chg="mod">
          <ac:chgData name="Nur Shuhadah BINTE JALIL (TP)" userId="S::nurshuha@tp.edu.sg::6a975622-816e-4480-9323-6edcbb1b288f" providerId="AD" clId="Web-{36F8BB7A-DE34-5261-947C-22BE3261496B}" dt="2026-04-12T23:05:39.984" v="443" actId="14100"/>
          <ac:spMkLst>
            <pc:docMk/>
            <pc:sldMk cId="0" sldId="274"/>
            <ac:spMk id="93" creationId="{00000000-0000-0000-0000-000000000000}"/>
          </ac:spMkLst>
        </pc:spChg>
        <pc:spChg chg="mod">
          <ac:chgData name="Nur Shuhadah BINTE JALIL (TP)" userId="S::nurshuha@tp.edu.sg::6a975622-816e-4480-9323-6edcbb1b288f" providerId="AD" clId="Web-{36F8BB7A-DE34-5261-947C-22BE3261496B}" dt="2026-04-12T23:05:44.953" v="444" actId="1076"/>
          <ac:spMkLst>
            <pc:docMk/>
            <pc:sldMk cId="0" sldId="274"/>
            <ac:spMk id="94" creationId="{00000000-0000-0000-0000-000000000000}"/>
          </ac:spMkLst>
        </pc:spChg>
      </pc:sldChg>
      <pc:sldChg chg="modSp">
        <pc:chgData name="Nur Shuhadah BINTE JALIL (TP)" userId="S::nurshuha@tp.edu.sg::6a975622-816e-4480-9323-6edcbb1b288f" providerId="AD" clId="Web-{36F8BB7A-DE34-5261-947C-22BE3261496B}" dt="2026-04-12T23:06:00.031" v="446" actId="14100"/>
        <pc:sldMkLst>
          <pc:docMk/>
          <pc:sldMk cId="0" sldId="275"/>
        </pc:sldMkLst>
        <pc:spChg chg="mod">
          <ac:chgData name="Nur Shuhadah BINTE JALIL (TP)" userId="S::nurshuha@tp.edu.sg::6a975622-816e-4480-9323-6edcbb1b288f" providerId="AD" clId="Web-{36F8BB7A-DE34-5261-947C-22BE3261496B}" dt="2026-04-12T23:06:00.031" v="446" actId="14100"/>
          <ac:spMkLst>
            <pc:docMk/>
            <pc:sldMk cId="0" sldId="275"/>
            <ac:spMk id="52" creationId="{00000000-0000-0000-0000-000000000000}"/>
          </ac:spMkLst>
        </pc:spChg>
        <pc:spChg chg="mod">
          <ac:chgData name="Nur Shuhadah BINTE JALIL (TP)" userId="S::nurshuha@tp.edu.sg::6a975622-816e-4480-9323-6edcbb1b288f" providerId="AD" clId="Web-{36F8BB7A-DE34-5261-947C-22BE3261496B}" dt="2026-04-12T23:05:54.344" v="445" actId="14100"/>
          <ac:spMkLst>
            <pc:docMk/>
            <pc:sldMk cId="0" sldId="275"/>
            <ac:spMk id="53" creationId="{00000000-0000-0000-0000-000000000000}"/>
          </ac:spMkLst>
        </pc:spChg>
      </pc:sldChg>
      <pc:sldChg chg="delSp modSp">
        <pc:chgData name="Nur Shuhadah BINTE JALIL (TP)" userId="S::nurshuha@tp.edu.sg::6a975622-816e-4480-9323-6edcbb1b288f" providerId="AD" clId="Web-{36F8BB7A-DE34-5261-947C-22BE3261496B}" dt="2026-04-12T22:56:17.043" v="19" actId="1076"/>
        <pc:sldMkLst>
          <pc:docMk/>
          <pc:sldMk cId="0" sldId="288"/>
        </pc:sldMkLst>
        <pc:spChg chg="mod">
          <ac:chgData name="Nur Shuhadah BINTE JALIL (TP)" userId="S::nurshuha@tp.edu.sg::6a975622-816e-4480-9323-6edcbb1b288f" providerId="AD" clId="Web-{36F8BB7A-DE34-5261-947C-22BE3261496B}" dt="2026-04-12T22:55:59.902" v="15" actId="1076"/>
          <ac:spMkLst>
            <pc:docMk/>
            <pc:sldMk cId="0" sldId="288"/>
            <ac:spMk id="18" creationId="{00000000-0000-0000-0000-000000000000}"/>
          </ac:spMkLst>
        </pc:spChg>
        <pc:spChg chg="mod">
          <ac:chgData name="Nur Shuhadah BINTE JALIL (TP)" userId="S::nurshuha@tp.edu.sg::6a975622-816e-4480-9323-6edcbb1b288f" providerId="AD" clId="Web-{36F8BB7A-DE34-5261-947C-22BE3261496B}" dt="2026-04-12T22:56:03.918" v="16" actId="1076"/>
          <ac:spMkLst>
            <pc:docMk/>
            <pc:sldMk cId="0" sldId="288"/>
            <ac:spMk id="22" creationId="{00000000-0000-0000-0000-000000000000}"/>
          </ac:spMkLst>
        </pc:spChg>
        <pc:spChg chg="mod">
          <ac:chgData name="Nur Shuhadah BINTE JALIL (TP)" userId="S::nurshuha@tp.edu.sg::6a975622-816e-4480-9323-6edcbb1b288f" providerId="AD" clId="Web-{36F8BB7A-DE34-5261-947C-22BE3261496B}" dt="2026-04-12T22:56:08.465" v="17" actId="1076"/>
          <ac:spMkLst>
            <pc:docMk/>
            <pc:sldMk cId="0" sldId="288"/>
            <ac:spMk id="23" creationId="{00000000-0000-0000-0000-000000000000}"/>
          </ac:spMkLst>
        </pc:spChg>
        <pc:spChg chg="mod">
          <ac:chgData name="Nur Shuhadah BINTE JALIL (TP)" userId="S::nurshuha@tp.edu.sg::6a975622-816e-4480-9323-6edcbb1b288f" providerId="AD" clId="Web-{36F8BB7A-DE34-5261-947C-22BE3261496B}" dt="2026-04-12T22:56:13.856" v="18" actId="1076"/>
          <ac:spMkLst>
            <pc:docMk/>
            <pc:sldMk cId="0" sldId="288"/>
            <ac:spMk id="24" creationId="{00000000-0000-0000-0000-000000000000}"/>
          </ac:spMkLst>
        </pc:spChg>
        <pc:spChg chg="mod">
          <ac:chgData name="Nur Shuhadah BINTE JALIL (TP)" userId="S::nurshuha@tp.edu.sg::6a975622-816e-4480-9323-6edcbb1b288f" providerId="AD" clId="Web-{36F8BB7A-DE34-5261-947C-22BE3261496B}" dt="2026-04-12T22:56:17.043" v="19" actId="1076"/>
          <ac:spMkLst>
            <pc:docMk/>
            <pc:sldMk cId="0" sldId="288"/>
            <ac:spMk id="25" creationId="{00000000-0000-0000-0000-000000000000}"/>
          </ac:spMkLst>
        </pc:spChg>
        <pc:spChg chg="del">
          <ac:chgData name="Nur Shuhadah BINTE JALIL (TP)" userId="S::nurshuha@tp.edu.sg::6a975622-816e-4480-9323-6edcbb1b288f" providerId="AD" clId="Web-{36F8BB7A-DE34-5261-947C-22BE3261496B}" dt="2026-04-12T22:55:26.386" v="11"/>
          <ac:spMkLst>
            <pc:docMk/>
            <pc:sldMk cId="0" sldId="288"/>
            <ac:spMk id="45" creationId="{00000000-0000-0000-0000-000000000000}"/>
          </ac:spMkLst>
        </pc:spChg>
        <pc:spChg chg="del">
          <ac:chgData name="Nur Shuhadah BINTE JALIL (TP)" userId="S::nurshuha@tp.edu.sg::6a975622-816e-4480-9323-6edcbb1b288f" providerId="AD" clId="Web-{36F8BB7A-DE34-5261-947C-22BE3261496B}" dt="2026-04-12T22:55:26.386" v="10"/>
          <ac:spMkLst>
            <pc:docMk/>
            <pc:sldMk cId="0" sldId="288"/>
            <ac:spMk id="46" creationId="{00000000-0000-0000-0000-000000000000}"/>
          </ac:spMkLst>
        </pc:spChg>
        <pc:spChg chg="del">
          <ac:chgData name="Nur Shuhadah BINTE JALIL (TP)" userId="S::nurshuha@tp.edu.sg::6a975622-816e-4480-9323-6edcbb1b288f" providerId="AD" clId="Web-{36F8BB7A-DE34-5261-947C-22BE3261496B}" dt="2026-04-12T22:55:26.386" v="9"/>
          <ac:spMkLst>
            <pc:docMk/>
            <pc:sldMk cId="0" sldId="288"/>
            <ac:spMk id="47" creationId="{00000000-0000-0000-0000-000000000000}"/>
          </ac:spMkLst>
        </pc:spChg>
        <pc:spChg chg="del">
          <ac:chgData name="Nur Shuhadah BINTE JALIL (TP)" userId="S::nurshuha@tp.edu.sg::6a975622-816e-4480-9323-6edcbb1b288f" providerId="AD" clId="Web-{36F8BB7A-DE34-5261-947C-22BE3261496B}" dt="2026-04-12T22:55:26.386" v="8"/>
          <ac:spMkLst>
            <pc:docMk/>
            <pc:sldMk cId="0" sldId="288"/>
            <ac:spMk id="48" creationId="{00000000-0000-0000-0000-000000000000}"/>
          </ac:spMkLst>
        </pc:spChg>
        <pc:spChg chg="del">
          <ac:chgData name="Nur Shuhadah BINTE JALIL (TP)" userId="S::nurshuha@tp.edu.sg::6a975622-816e-4480-9323-6edcbb1b288f" providerId="AD" clId="Web-{36F8BB7A-DE34-5261-947C-22BE3261496B}" dt="2026-04-12T22:55:26.386" v="7"/>
          <ac:spMkLst>
            <pc:docMk/>
            <pc:sldMk cId="0" sldId="288"/>
            <ac:spMk id="49" creationId="{00000000-0000-0000-0000-000000000000}"/>
          </ac:spMkLst>
        </pc:spChg>
        <pc:spChg chg="del">
          <ac:chgData name="Nur Shuhadah BINTE JALIL (TP)" userId="S::nurshuha@tp.edu.sg::6a975622-816e-4480-9323-6edcbb1b288f" providerId="AD" clId="Web-{36F8BB7A-DE34-5261-947C-22BE3261496B}" dt="2026-04-12T22:55:26.386" v="6"/>
          <ac:spMkLst>
            <pc:docMk/>
            <pc:sldMk cId="0" sldId="288"/>
            <ac:spMk id="50" creationId="{00000000-0000-0000-0000-000000000000}"/>
          </ac:spMkLst>
        </pc:spChg>
        <pc:spChg chg="del">
          <ac:chgData name="Nur Shuhadah BINTE JALIL (TP)" userId="S::nurshuha@tp.edu.sg::6a975622-816e-4480-9323-6edcbb1b288f" providerId="AD" clId="Web-{36F8BB7A-DE34-5261-947C-22BE3261496B}" dt="2026-04-12T22:55:26.386" v="5"/>
          <ac:spMkLst>
            <pc:docMk/>
            <pc:sldMk cId="0" sldId="288"/>
            <ac:spMk id="51" creationId="{00000000-0000-0000-0000-000000000000}"/>
          </ac:spMkLst>
        </pc:spChg>
        <pc:spChg chg="del">
          <ac:chgData name="Nur Shuhadah BINTE JALIL (TP)" userId="S::nurshuha@tp.edu.sg::6a975622-816e-4480-9323-6edcbb1b288f" providerId="AD" clId="Web-{36F8BB7A-DE34-5261-947C-22BE3261496B}" dt="2026-04-12T22:55:26.386" v="4"/>
          <ac:spMkLst>
            <pc:docMk/>
            <pc:sldMk cId="0" sldId="288"/>
            <ac:spMk id="52" creationId="{00000000-0000-0000-0000-000000000000}"/>
          </ac:spMkLst>
        </pc:spChg>
        <pc:spChg chg="del">
          <ac:chgData name="Nur Shuhadah BINTE JALIL (TP)" userId="S::nurshuha@tp.edu.sg::6a975622-816e-4480-9323-6edcbb1b288f" providerId="AD" clId="Web-{36F8BB7A-DE34-5261-947C-22BE3261496B}" dt="2026-04-12T22:55:26.386" v="3"/>
          <ac:spMkLst>
            <pc:docMk/>
            <pc:sldMk cId="0" sldId="288"/>
            <ac:spMk id="53" creationId="{00000000-0000-0000-0000-000000000000}"/>
          </ac:spMkLst>
        </pc:spChg>
        <pc:spChg chg="del">
          <ac:chgData name="Nur Shuhadah BINTE JALIL (TP)" userId="S::nurshuha@tp.edu.sg::6a975622-816e-4480-9323-6edcbb1b288f" providerId="AD" clId="Web-{36F8BB7A-DE34-5261-947C-22BE3261496B}" dt="2026-04-12T22:55:26.386" v="2"/>
          <ac:spMkLst>
            <pc:docMk/>
            <pc:sldMk cId="0" sldId="288"/>
            <ac:spMk id="54" creationId="{00000000-0000-0000-0000-000000000000}"/>
          </ac:spMkLst>
        </pc:spChg>
        <pc:spChg chg="del">
          <ac:chgData name="Nur Shuhadah BINTE JALIL (TP)" userId="S::nurshuha@tp.edu.sg::6a975622-816e-4480-9323-6edcbb1b288f" providerId="AD" clId="Web-{36F8BB7A-DE34-5261-947C-22BE3261496B}" dt="2026-04-12T22:55:26.386" v="1"/>
          <ac:spMkLst>
            <pc:docMk/>
            <pc:sldMk cId="0" sldId="288"/>
            <ac:spMk id="55" creationId="{00000000-0000-0000-0000-000000000000}"/>
          </ac:spMkLst>
        </pc:spChg>
        <pc:spChg chg="del">
          <ac:chgData name="Nur Shuhadah BINTE JALIL (TP)" userId="S::nurshuha@tp.edu.sg::6a975622-816e-4480-9323-6edcbb1b288f" providerId="AD" clId="Web-{36F8BB7A-DE34-5261-947C-22BE3261496B}" dt="2026-04-12T22:55:26.386" v="0"/>
          <ac:spMkLst>
            <pc:docMk/>
            <pc:sldMk cId="0" sldId="288"/>
            <ac:spMk id="56" creationId="{00000000-0000-0000-0000-000000000000}"/>
          </ac:spMkLst>
        </pc:spChg>
      </pc:sldChg>
      <pc:sldChg chg="addSp delSp modSp add del replId">
        <pc:chgData name="Nur Shuhadah BINTE JALIL (TP)" userId="S::nurshuha@tp.edu.sg::6a975622-816e-4480-9323-6edcbb1b288f" providerId="AD" clId="Web-{36F8BB7A-DE34-5261-947C-22BE3261496B}" dt="2026-04-12T23:01:46.749" v="374"/>
        <pc:sldMkLst>
          <pc:docMk/>
          <pc:sldMk cId="3866564376" sldId="289"/>
        </pc:sldMkLst>
        <pc:spChg chg="add del">
          <ac:chgData name="Nur Shuhadah BINTE JALIL (TP)" userId="S::nurshuha@tp.edu.sg::6a975622-816e-4480-9323-6edcbb1b288f" providerId="AD" clId="Web-{36F8BB7A-DE34-5261-947C-22BE3261496B}" dt="2026-04-12T23:01:45.749" v="335"/>
          <ac:spMkLst>
            <pc:docMk/>
            <pc:sldMk cId="3866564376" sldId="289"/>
            <ac:spMk id="6" creationId="{35C0F620-9F06-458B-25C8-2519B09734EC}"/>
          </ac:spMkLst>
        </pc:spChg>
        <pc:spChg chg="add del">
          <ac:chgData name="Nur Shuhadah BINTE JALIL (TP)" userId="S::nurshuha@tp.edu.sg::6a975622-816e-4480-9323-6edcbb1b288f" providerId="AD" clId="Web-{36F8BB7A-DE34-5261-947C-22BE3261496B}" dt="2026-04-12T23:01:45.749" v="336"/>
          <ac:spMkLst>
            <pc:docMk/>
            <pc:sldMk cId="3866564376" sldId="289"/>
            <ac:spMk id="7" creationId="{7334B38A-82CF-7E86-A793-6EC03AB91D4C}"/>
          </ac:spMkLst>
        </pc:spChg>
        <pc:spChg chg="add del">
          <ac:chgData name="Nur Shuhadah BINTE JALIL (TP)" userId="S::nurshuha@tp.edu.sg::6a975622-816e-4480-9323-6edcbb1b288f" providerId="AD" clId="Web-{36F8BB7A-DE34-5261-947C-22BE3261496B}" dt="2026-04-12T23:01:45.749" v="337"/>
          <ac:spMkLst>
            <pc:docMk/>
            <pc:sldMk cId="3866564376" sldId="289"/>
            <ac:spMk id="8" creationId="{58CFD684-32C3-BDBD-C81C-4AD718EDB8CF}"/>
          </ac:spMkLst>
        </pc:spChg>
        <pc:spChg chg="add del">
          <ac:chgData name="Nur Shuhadah BINTE JALIL (TP)" userId="S::nurshuha@tp.edu.sg::6a975622-816e-4480-9323-6edcbb1b288f" providerId="AD" clId="Web-{36F8BB7A-DE34-5261-947C-22BE3261496B}" dt="2026-04-12T23:01:45.749" v="338"/>
          <ac:spMkLst>
            <pc:docMk/>
            <pc:sldMk cId="3866564376" sldId="289"/>
            <ac:spMk id="9" creationId="{5520D60C-790B-A9D4-4644-58BCEBCA84C7}"/>
          </ac:spMkLst>
        </pc:spChg>
        <pc:spChg chg="add del">
          <ac:chgData name="Nur Shuhadah BINTE JALIL (TP)" userId="S::nurshuha@tp.edu.sg::6a975622-816e-4480-9323-6edcbb1b288f" providerId="AD" clId="Web-{36F8BB7A-DE34-5261-947C-22BE3261496B}" dt="2026-04-12T23:01:45.749" v="339"/>
          <ac:spMkLst>
            <pc:docMk/>
            <pc:sldMk cId="3866564376" sldId="289"/>
            <ac:spMk id="10" creationId="{A31D9A42-43AD-BEE3-FAB4-5EDDAC98D4C0}"/>
          </ac:spMkLst>
        </pc:spChg>
        <pc:spChg chg="add del">
          <ac:chgData name="Nur Shuhadah BINTE JALIL (TP)" userId="S::nurshuha@tp.edu.sg::6a975622-816e-4480-9323-6edcbb1b288f" providerId="AD" clId="Web-{36F8BB7A-DE34-5261-947C-22BE3261496B}" dt="2026-04-12T23:01:45.749" v="340"/>
          <ac:spMkLst>
            <pc:docMk/>
            <pc:sldMk cId="3866564376" sldId="289"/>
            <ac:spMk id="11" creationId="{320FE92F-F1B5-FB99-91D6-E91792C084C1}"/>
          </ac:spMkLst>
        </pc:spChg>
        <pc:spChg chg="add del">
          <ac:chgData name="Nur Shuhadah BINTE JALIL (TP)" userId="S::nurshuha@tp.edu.sg::6a975622-816e-4480-9323-6edcbb1b288f" providerId="AD" clId="Web-{36F8BB7A-DE34-5261-947C-22BE3261496B}" dt="2026-04-12T23:01:45.749" v="341"/>
          <ac:spMkLst>
            <pc:docMk/>
            <pc:sldMk cId="3866564376" sldId="289"/>
            <ac:spMk id="12" creationId="{6C220969-3C12-2A38-5A66-41AB49EE2A7D}"/>
          </ac:spMkLst>
        </pc:spChg>
        <pc:spChg chg="add del">
          <ac:chgData name="Nur Shuhadah BINTE JALIL (TP)" userId="S::nurshuha@tp.edu.sg::6a975622-816e-4480-9323-6edcbb1b288f" providerId="AD" clId="Web-{36F8BB7A-DE34-5261-947C-22BE3261496B}" dt="2026-04-12T23:01:45.749" v="342"/>
          <ac:spMkLst>
            <pc:docMk/>
            <pc:sldMk cId="3866564376" sldId="289"/>
            <ac:spMk id="13" creationId="{7C040650-2A37-5C8E-0DD4-8B839BC8D67C}"/>
          </ac:spMkLst>
        </pc:spChg>
        <pc:spChg chg="add del">
          <ac:chgData name="Nur Shuhadah BINTE JALIL (TP)" userId="S::nurshuha@tp.edu.sg::6a975622-816e-4480-9323-6edcbb1b288f" providerId="AD" clId="Web-{36F8BB7A-DE34-5261-947C-22BE3261496B}" dt="2026-04-12T23:01:45.749" v="343"/>
          <ac:spMkLst>
            <pc:docMk/>
            <pc:sldMk cId="3866564376" sldId="289"/>
            <ac:spMk id="14" creationId="{C023A946-E705-D177-4E5D-0CB89F1AAF82}"/>
          </ac:spMkLst>
        </pc:spChg>
        <pc:spChg chg="add del">
          <ac:chgData name="Nur Shuhadah BINTE JALIL (TP)" userId="S::nurshuha@tp.edu.sg::6a975622-816e-4480-9323-6edcbb1b288f" providerId="AD" clId="Web-{36F8BB7A-DE34-5261-947C-22BE3261496B}" dt="2026-04-12T23:01:45.749" v="344"/>
          <ac:spMkLst>
            <pc:docMk/>
            <pc:sldMk cId="3866564376" sldId="289"/>
            <ac:spMk id="15" creationId="{16F44497-AD30-9BA1-867B-94B086379440}"/>
          </ac:spMkLst>
        </pc:spChg>
        <pc:spChg chg="add del">
          <ac:chgData name="Nur Shuhadah BINTE JALIL (TP)" userId="S::nurshuha@tp.edu.sg::6a975622-816e-4480-9323-6edcbb1b288f" providerId="AD" clId="Web-{36F8BB7A-DE34-5261-947C-22BE3261496B}" dt="2026-04-12T23:01:45.749" v="345"/>
          <ac:spMkLst>
            <pc:docMk/>
            <pc:sldMk cId="3866564376" sldId="289"/>
            <ac:spMk id="16" creationId="{B22BC947-30C0-A448-364F-B3032CD90A00}"/>
          </ac:spMkLst>
        </pc:spChg>
        <pc:spChg chg="add del">
          <ac:chgData name="Nur Shuhadah BINTE JALIL (TP)" userId="S::nurshuha@tp.edu.sg::6a975622-816e-4480-9323-6edcbb1b288f" providerId="AD" clId="Web-{36F8BB7A-DE34-5261-947C-22BE3261496B}" dt="2026-04-12T23:01:45.765" v="346"/>
          <ac:spMkLst>
            <pc:docMk/>
            <pc:sldMk cId="3866564376" sldId="289"/>
            <ac:spMk id="17" creationId="{2D4C3A7F-0877-6FF3-4C50-1337B328C540}"/>
          </ac:spMkLst>
        </pc:spChg>
        <pc:spChg chg="add del">
          <ac:chgData name="Nur Shuhadah BINTE JALIL (TP)" userId="S::nurshuha@tp.edu.sg::6a975622-816e-4480-9323-6edcbb1b288f" providerId="AD" clId="Web-{36F8BB7A-DE34-5261-947C-22BE3261496B}" dt="2026-04-12T23:01:45.765" v="347"/>
          <ac:spMkLst>
            <pc:docMk/>
            <pc:sldMk cId="3866564376" sldId="289"/>
            <ac:spMk id="18" creationId="{2BC56F8D-3392-2290-82F7-51C09032F6E4}"/>
          </ac:spMkLst>
        </pc:spChg>
        <pc:spChg chg="add del">
          <ac:chgData name="Nur Shuhadah BINTE JALIL (TP)" userId="S::nurshuha@tp.edu.sg::6a975622-816e-4480-9323-6edcbb1b288f" providerId="AD" clId="Web-{36F8BB7A-DE34-5261-947C-22BE3261496B}" dt="2026-04-12T23:01:45.765" v="348"/>
          <ac:spMkLst>
            <pc:docMk/>
            <pc:sldMk cId="3866564376" sldId="289"/>
            <ac:spMk id="19" creationId="{81AF8D3C-9163-8E52-A052-7A2B1AF867E9}"/>
          </ac:spMkLst>
        </pc:spChg>
        <pc:spChg chg="add del">
          <ac:chgData name="Nur Shuhadah BINTE JALIL (TP)" userId="S::nurshuha@tp.edu.sg::6a975622-816e-4480-9323-6edcbb1b288f" providerId="AD" clId="Web-{36F8BB7A-DE34-5261-947C-22BE3261496B}" dt="2026-04-12T23:01:45.765" v="349"/>
          <ac:spMkLst>
            <pc:docMk/>
            <pc:sldMk cId="3866564376" sldId="289"/>
            <ac:spMk id="20" creationId="{02DFF9F6-A9B2-0295-A8B6-2960F4940E82}"/>
          </ac:spMkLst>
        </pc:spChg>
        <pc:spChg chg="add del">
          <ac:chgData name="Nur Shuhadah BINTE JALIL (TP)" userId="S::nurshuha@tp.edu.sg::6a975622-816e-4480-9323-6edcbb1b288f" providerId="AD" clId="Web-{36F8BB7A-DE34-5261-947C-22BE3261496B}" dt="2026-04-12T23:01:45.765" v="350"/>
          <ac:spMkLst>
            <pc:docMk/>
            <pc:sldMk cId="3866564376" sldId="289"/>
            <ac:spMk id="21" creationId="{DEC67FFC-DEEE-D5D7-0F70-A192ABEB6386}"/>
          </ac:spMkLst>
        </pc:spChg>
        <pc:spChg chg="add del">
          <ac:chgData name="Nur Shuhadah BINTE JALIL (TP)" userId="S::nurshuha@tp.edu.sg::6a975622-816e-4480-9323-6edcbb1b288f" providerId="AD" clId="Web-{36F8BB7A-DE34-5261-947C-22BE3261496B}" dt="2026-04-12T23:01:45.765" v="351"/>
          <ac:spMkLst>
            <pc:docMk/>
            <pc:sldMk cId="3866564376" sldId="289"/>
            <ac:spMk id="22" creationId="{A8B03F3B-DB27-276A-0FE0-76B13B0FDD1D}"/>
          </ac:spMkLst>
        </pc:spChg>
        <pc:spChg chg="add del">
          <ac:chgData name="Nur Shuhadah BINTE JALIL (TP)" userId="S::nurshuha@tp.edu.sg::6a975622-816e-4480-9323-6edcbb1b288f" providerId="AD" clId="Web-{36F8BB7A-DE34-5261-947C-22BE3261496B}" dt="2026-04-12T23:01:45.765" v="352"/>
          <ac:spMkLst>
            <pc:docMk/>
            <pc:sldMk cId="3866564376" sldId="289"/>
            <ac:spMk id="23" creationId="{DC20052C-D715-12E0-8692-9E0879ED12DD}"/>
          </ac:spMkLst>
        </pc:spChg>
        <pc:spChg chg="add del">
          <ac:chgData name="Nur Shuhadah BINTE JALIL (TP)" userId="S::nurshuha@tp.edu.sg::6a975622-816e-4480-9323-6edcbb1b288f" providerId="AD" clId="Web-{36F8BB7A-DE34-5261-947C-22BE3261496B}" dt="2026-04-12T23:01:45.765" v="353"/>
          <ac:spMkLst>
            <pc:docMk/>
            <pc:sldMk cId="3866564376" sldId="289"/>
            <ac:spMk id="24" creationId="{F348DB8C-F4ED-F9A4-02A1-B60501D48B9D}"/>
          </ac:spMkLst>
        </pc:spChg>
        <pc:spChg chg="add del">
          <ac:chgData name="Nur Shuhadah BINTE JALIL (TP)" userId="S::nurshuha@tp.edu.sg::6a975622-816e-4480-9323-6edcbb1b288f" providerId="AD" clId="Web-{36F8BB7A-DE34-5261-947C-22BE3261496B}" dt="2026-04-12T23:01:45.765" v="354"/>
          <ac:spMkLst>
            <pc:docMk/>
            <pc:sldMk cId="3866564376" sldId="289"/>
            <ac:spMk id="25" creationId="{DFCC3200-C6B7-33DD-3F0C-D1F80017C40C}"/>
          </ac:spMkLst>
        </pc:spChg>
        <pc:spChg chg="add del">
          <ac:chgData name="Nur Shuhadah BINTE JALIL (TP)" userId="S::nurshuha@tp.edu.sg::6a975622-816e-4480-9323-6edcbb1b288f" providerId="AD" clId="Web-{36F8BB7A-DE34-5261-947C-22BE3261496B}" dt="2026-04-12T23:01:45.765" v="355"/>
          <ac:spMkLst>
            <pc:docMk/>
            <pc:sldMk cId="3866564376" sldId="289"/>
            <ac:spMk id="26" creationId="{3D2EF7C9-43CF-D30C-35FF-5E6DF3F17746}"/>
          </ac:spMkLst>
        </pc:spChg>
        <pc:spChg chg="add del">
          <ac:chgData name="Nur Shuhadah BINTE JALIL (TP)" userId="S::nurshuha@tp.edu.sg::6a975622-816e-4480-9323-6edcbb1b288f" providerId="AD" clId="Web-{36F8BB7A-DE34-5261-947C-22BE3261496B}" dt="2026-04-12T23:01:45.765" v="356"/>
          <ac:spMkLst>
            <pc:docMk/>
            <pc:sldMk cId="3866564376" sldId="289"/>
            <ac:spMk id="27" creationId="{A2FBDAA7-57DF-B794-F739-FC4DA95E76F1}"/>
          </ac:spMkLst>
        </pc:spChg>
        <pc:spChg chg="add del">
          <ac:chgData name="Nur Shuhadah BINTE JALIL (TP)" userId="S::nurshuha@tp.edu.sg::6a975622-816e-4480-9323-6edcbb1b288f" providerId="AD" clId="Web-{36F8BB7A-DE34-5261-947C-22BE3261496B}" dt="2026-04-12T23:01:45.765" v="357"/>
          <ac:spMkLst>
            <pc:docMk/>
            <pc:sldMk cId="3866564376" sldId="289"/>
            <ac:spMk id="28" creationId="{7031317F-07D8-0B1B-9616-C855B20294CF}"/>
          </ac:spMkLst>
        </pc:spChg>
        <pc:spChg chg="add del">
          <ac:chgData name="Nur Shuhadah BINTE JALIL (TP)" userId="S::nurshuha@tp.edu.sg::6a975622-816e-4480-9323-6edcbb1b288f" providerId="AD" clId="Web-{36F8BB7A-DE34-5261-947C-22BE3261496B}" dt="2026-04-12T23:01:45.765" v="358"/>
          <ac:spMkLst>
            <pc:docMk/>
            <pc:sldMk cId="3866564376" sldId="289"/>
            <ac:spMk id="29" creationId="{81501F21-5D67-3AF6-05C4-43F7207F2C6C}"/>
          </ac:spMkLst>
        </pc:spChg>
        <pc:spChg chg="add del">
          <ac:chgData name="Nur Shuhadah BINTE JALIL (TP)" userId="S::nurshuha@tp.edu.sg::6a975622-816e-4480-9323-6edcbb1b288f" providerId="AD" clId="Web-{36F8BB7A-DE34-5261-947C-22BE3261496B}" dt="2026-04-12T23:01:45.765" v="359"/>
          <ac:spMkLst>
            <pc:docMk/>
            <pc:sldMk cId="3866564376" sldId="289"/>
            <ac:spMk id="30" creationId="{F274DEA4-C006-9C61-1157-53EE30ABFA7D}"/>
          </ac:spMkLst>
        </pc:spChg>
        <pc:spChg chg="add del">
          <ac:chgData name="Nur Shuhadah BINTE JALIL (TP)" userId="S::nurshuha@tp.edu.sg::6a975622-816e-4480-9323-6edcbb1b288f" providerId="AD" clId="Web-{36F8BB7A-DE34-5261-947C-22BE3261496B}" dt="2026-04-12T23:01:45.765" v="360"/>
          <ac:spMkLst>
            <pc:docMk/>
            <pc:sldMk cId="3866564376" sldId="289"/>
            <ac:spMk id="31" creationId="{9B9D1BFB-3C4D-6F06-5F48-4156CDCC3B81}"/>
          </ac:spMkLst>
        </pc:spChg>
        <pc:spChg chg="add del">
          <ac:chgData name="Nur Shuhadah BINTE JALIL (TP)" userId="S::nurshuha@tp.edu.sg::6a975622-816e-4480-9323-6edcbb1b288f" providerId="AD" clId="Web-{36F8BB7A-DE34-5261-947C-22BE3261496B}" dt="2026-04-12T23:01:45.765" v="361"/>
          <ac:spMkLst>
            <pc:docMk/>
            <pc:sldMk cId="3866564376" sldId="289"/>
            <ac:spMk id="32" creationId="{65B0E024-9C56-3FD2-8729-F735AF8C404E}"/>
          </ac:spMkLst>
        </pc:spChg>
        <pc:spChg chg="add del">
          <ac:chgData name="Nur Shuhadah BINTE JALIL (TP)" userId="S::nurshuha@tp.edu.sg::6a975622-816e-4480-9323-6edcbb1b288f" providerId="AD" clId="Web-{36F8BB7A-DE34-5261-947C-22BE3261496B}" dt="2026-04-12T23:01:45.765" v="362"/>
          <ac:spMkLst>
            <pc:docMk/>
            <pc:sldMk cId="3866564376" sldId="289"/>
            <ac:spMk id="33" creationId="{FA2453E1-7453-B75F-F006-00D600406971}"/>
          </ac:spMkLst>
        </pc:spChg>
        <pc:spChg chg="add del">
          <ac:chgData name="Nur Shuhadah BINTE JALIL (TP)" userId="S::nurshuha@tp.edu.sg::6a975622-816e-4480-9323-6edcbb1b288f" providerId="AD" clId="Web-{36F8BB7A-DE34-5261-947C-22BE3261496B}" dt="2026-04-12T23:01:45.765" v="363"/>
          <ac:spMkLst>
            <pc:docMk/>
            <pc:sldMk cId="3866564376" sldId="289"/>
            <ac:spMk id="34" creationId="{A6B62A95-46B4-CF11-8986-D478BD7750DC}"/>
          </ac:spMkLst>
        </pc:spChg>
        <pc:spChg chg="add del">
          <ac:chgData name="Nur Shuhadah BINTE JALIL (TP)" userId="S::nurshuha@tp.edu.sg::6a975622-816e-4480-9323-6edcbb1b288f" providerId="AD" clId="Web-{36F8BB7A-DE34-5261-947C-22BE3261496B}" dt="2026-04-12T23:01:45.765" v="364"/>
          <ac:spMkLst>
            <pc:docMk/>
            <pc:sldMk cId="3866564376" sldId="289"/>
            <ac:spMk id="35" creationId="{8906E770-FE18-1FDD-36E0-07741656BFC1}"/>
          </ac:spMkLst>
        </pc:spChg>
        <pc:spChg chg="add del">
          <ac:chgData name="Nur Shuhadah BINTE JALIL (TP)" userId="S::nurshuha@tp.edu.sg::6a975622-816e-4480-9323-6edcbb1b288f" providerId="AD" clId="Web-{36F8BB7A-DE34-5261-947C-22BE3261496B}" dt="2026-04-12T23:01:45.765" v="365"/>
          <ac:spMkLst>
            <pc:docMk/>
            <pc:sldMk cId="3866564376" sldId="289"/>
            <ac:spMk id="36" creationId="{4041ECAB-50EC-F233-9FEB-F17C20FAE62F}"/>
          </ac:spMkLst>
        </pc:spChg>
        <pc:spChg chg="add del">
          <ac:chgData name="Nur Shuhadah BINTE JALIL (TP)" userId="S::nurshuha@tp.edu.sg::6a975622-816e-4480-9323-6edcbb1b288f" providerId="AD" clId="Web-{36F8BB7A-DE34-5261-947C-22BE3261496B}" dt="2026-04-12T23:01:45.765" v="366"/>
          <ac:spMkLst>
            <pc:docMk/>
            <pc:sldMk cId="3866564376" sldId="289"/>
            <ac:spMk id="37" creationId="{BD6A217A-5853-D3F6-4FC5-244C04BC64F6}"/>
          </ac:spMkLst>
        </pc:spChg>
        <pc:spChg chg="add del">
          <ac:chgData name="Nur Shuhadah BINTE JALIL (TP)" userId="S::nurshuha@tp.edu.sg::6a975622-816e-4480-9323-6edcbb1b288f" providerId="AD" clId="Web-{36F8BB7A-DE34-5261-947C-22BE3261496B}" dt="2026-04-12T23:01:45.765" v="367"/>
          <ac:spMkLst>
            <pc:docMk/>
            <pc:sldMk cId="3866564376" sldId="289"/>
            <ac:spMk id="38" creationId="{52093522-EEB7-393D-E49D-0BBBAEEF34F3}"/>
          </ac:spMkLst>
        </pc:spChg>
        <pc:spChg chg="add del">
          <ac:chgData name="Nur Shuhadah BINTE JALIL (TP)" userId="S::nurshuha@tp.edu.sg::6a975622-816e-4480-9323-6edcbb1b288f" providerId="AD" clId="Web-{36F8BB7A-DE34-5261-947C-22BE3261496B}" dt="2026-04-12T23:01:45.765" v="368"/>
          <ac:spMkLst>
            <pc:docMk/>
            <pc:sldMk cId="3866564376" sldId="289"/>
            <ac:spMk id="39" creationId="{8066F7C2-269E-5B4C-A681-B101E7FC54F8}"/>
          </ac:spMkLst>
        </pc:spChg>
        <pc:spChg chg="add del">
          <ac:chgData name="Nur Shuhadah BINTE JALIL (TP)" userId="S::nurshuha@tp.edu.sg::6a975622-816e-4480-9323-6edcbb1b288f" providerId="AD" clId="Web-{36F8BB7A-DE34-5261-947C-22BE3261496B}" dt="2026-04-12T23:01:45.765" v="369"/>
          <ac:spMkLst>
            <pc:docMk/>
            <pc:sldMk cId="3866564376" sldId="289"/>
            <ac:spMk id="40" creationId="{73EB46C1-0C77-5AB7-D543-51E1DBC21B78}"/>
          </ac:spMkLst>
        </pc:spChg>
        <pc:spChg chg="add del">
          <ac:chgData name="Nur Shuhadah BINTE JALIL (TP)" userId="S::nurshuha@tp.edu.sg::6a975622-816e-4480-9323-6edcbb1b288f" providerId="AD" clId="Web-{36F8BB7A-DE34-5261-947C-22BE3261496B}" dt="2026-04-12T23:01:45.765" v="370"/>
          <ac:spMkLst>
            <pc:docMk/>
            <pc:sldMk cId="3866564376" sldId="289"/>
            <ac:spMk id="41" creationId="{BC4E820F-AC51-49E7-3AEB-33D20106A0C5}"/>
          </ac:spMkLst>
        </pc:spChg>
        <pc:spChg chg="add del">
          <ac:chgData name="Nur Shuhadah BINTE JALIL (TP)" userId="S::nurshuha@tp.edu.sg::6a975622-816e-4480-9323-6edcbb1b288f" providerId="AD" clId="Web-{36F8BB7A-DE34-5261-947C-22BE3261496B}" dt="2026-04-12T23:01:45.765" v="371"/>
          <ac:spMkLst>
            <pc:docMk/>
            <pc:sldMk cId="3866564376" sldId="289"/>
            <ac:spMk id="42" creationId="{F737AF44-2059-5B52-78A1-8CF12B430E01}"/>
          </ac:spMkLst>
        </pc:spChg>
        <pc:spChg chg="add del">
          <ac:chgData name="Nur Shuhadah BINTE JALIL (TP)" userId="S::nurshuha@tp.edu.sg::6a975622-816e-4480-9323-6edcbb1b288f" providerId="AD" clId="Web-{36F8BB7A-DE34-5261-947C-22BE3261496B}" dt="2026-04-12T23:01:45.765" v="372"/>
          <ac:spMkLst>
            <pc:docMk/>
            <pc:sldMk cId="3866564376" sldId="289"/>
            <ac:spMk id="47" creationId="{C8144D23-AA92-DE66-733E-C56785E18DBC}"/>
          </ac:spMkLst>
        </pc:spChg>
        <pc:spChg chg="add del">
          <ac:chgData name="Nur Shuhadah BINTE JALIL (TP)" userId="S::nurshuha@tp.edu.sg::6a975622-816e-4480-9323-6edcbb1b288f" providerId="AD" clId="Web-{36F8BB7A-DE34-5261-947C-22BE3261496B}" dt="2026-04-12T23:01:45.765" v="373"/>
          <ac:spMkLst>
            <pc:docMk/>
            <pc:sldMk cId="3866564376" sldId="289"/>
            <ac:spMk id="48" creationId="{CE1889F9-1A94-2B09-4A77-B56F49CD399E}"/>
          </ac:spMkLst>
        </pc:spChg>
        <pc:spChg chg="mod">
          <ac:chgData name="Nur Shuhadah BINTE JALIL (TP)" userId="S::nurshuha@tp.edu.sg::6a975622-816e-4480-9323-6edcbb1b288f" providerId="AD" clId="Web-{36F8BB7A-DE34-5261-947C-22BE3261496B}" dt="2026-04-12T23:01:45.202" v="334" actId="1076"/>
          <ac:spMkLst>
            <pc:docMk/>
            <pc:sldMk cId="3866564376" sldId="289"/>
            <ac:spMk id="49" creationId="{6455392F-D25E-C85B-A693-75C892485F04}"/>
          </ac:spMkLst>
        </pc:spChg>
        <pc:spChg chg="mod">
          <ac:chgData name="Nur Shuhadah BINTE JALIL (TP)" userId="S::nurshuha@tp.edu.sg::6a975622-816e-4480-9323-6edcbb1b288f" providerId="AD" clId="Web-{36F8BB7A-DE34-5261-947C-22BE3261496B}" dt="2026-04-12T23:01:45.202" v="333" actId="1076"/>
          <ac:spMkLst>
            <pc:docMk/>
            <pc:sldMk cId="3866564376" sldId="289"/>
            <ac:spMk id="50" creationId="{E46F9D9D-DFD4-38B0-D593-2BC754A0938D}"/>
          </ac:spMkLst>
        </pc:spChg>
        <pc:spChg chg="mod">
          <ac:chgData name="Nur Shuhadah BINTE JALIL (TP)" userId="S::nurshuha@tp.edu.sg::6a975622-816e-4480-9323-6edcbb1b288f" providerId="AD" clId="Web-{36F8BB7A-DE34-5261-947C-22BE3261496B}" dt="2026-04-12T23:01:45.202" v="332" actId="1076"/>
          <ac:spMkLst>
            <pc:docMk/>
            <pc:sldMk cId="3866564376" sldId="289"/>
            <ac:spMk id="51" creationId="{1518440A-504B-0008-7115-7126C84E7213}"/>
          </ac:spMkLst>
        </pc:spChg>
        <pc:spChg chg="mod">
          <ac:chgData name="Nur Shuhadah BINTE JALIL (TP)" userId="S::nurshuha@tp.edu.sg::6a975622-816e-4480-9323-6edcbb1b288f" providerId="AD" clId="Web-{36F8BB7A-DE34-5261-947C-22BE3261496B}" dt="2026-04-12T23:01:45.202" v="331" actId="1076"/>
          <ac:spMkLst>
            <pc:docMk/>
            <pc:sldMk cId="3866564376" sldId="289"/>
            <ac:spMk id="52" creationId="{DDC07D51-D58B-1A49-43AA-BDD8B09B7798}"/>
          </ac:spMkLst>
        </pc:spChg>
        <pc:spChg chg="mod">
          <ac:chgData name="Nur Shuhadah BINTE JALIL (TP)" userId="S::nurshuha@tp.edu.sg::6a975622-816e-4480-9323-6edcbb1b288f" providerId="AD" clId="Web-{36F8BB7A-DE34-5261-947C-22BE3261496B}" dt="2026-04-12T23:01:45.202" v="330" actId="1076"/>
          <ac:spMkLst>
            <pc:docMk/>
            <pc:sldMk cId="3866564376" sldId="289"/>
            <ac:spMk id="53" creationId="{17BE2D28-F36B-6A27-F39F-0908A7E32357}"/>
          </ac:spMkLst>
        </pc:spChg>
        <pc:spChg chg="mod">
          <ac:chgData name="Nur Shuhadah BINTE JALIL (TP)" userId="S::nurshuha@tp.edu.sg::6a975622-816e-4480-9323-6edcbb1b288f" providerId="AD" clId="Web-{36F8BB7A-DE34-5261-947C-22BE3261496B}" dt="2026-04-12T23:01:45.202" v="329" actId="1076"/>
          <ac:spMkLst>
            <pc:docMk/>
            <pc:sldMk cId="3866564376" sldId="289"/>
            <ac:spMk id="54" creationId="{84166C2B-BA65-DC9D-56EB-D8412B2EFDF0}"/>
          </ac:spMkLst>
        </pc:spChg>
        <pc:spChg chg="mod">
          <ac:chgData name="Nur Shuhadah BINTE JALIL (TP)" userId="S::nurshuha@tp.edu.sg::6a975622-816e-4480-9323-6edcbb1b288f" providerId="AD" clId="Web-{36F8BB7A-DE34-5261-947C-22BE3261496B}" dt="2026-04-12T23:01:45.202" v="328" actId="1076"/>
          <ac:spMkLst>
            <pc:docMk/>
            <pc:sldMk cId="3866564376" sldId="289"/>
            <ac:spMk id="55" creationId="{EF3ADC4F-93AA-C8E3-EA0F-A973166BA54E}"/>
          </ac:spMkLst>
        </pc:spChg>
        <pc:spChg chg="mod">
          <ac:chgData name="Nur Shuhadah BINTE JALIL (TP)" userId="S::nurshuha@tp.edu.sg::6a975622-816e-4480-9323-6edcbb1b288f" providerId="AD" clId="Web-{36F8BB7A-DE34-5261-947C-22BE3261496B}" dt="2026-04-12T23:01:45.202" v="327" actId="1076"/>
          <ac:spMkLst>
            <pc:docMk/>
            <pc:sldMk cId="3866564376" sldId="289"/>
            <ac:spMk id="56" creationId="{FACED58C-C1C9-6955-D3D7-192EE75A7330}"/>
          </ac:spMkLst>
        </pc:spChg>
        <pc:spChg chg="mod">
          <ac:chgData name="Nur Shuhadah BINTE JALIL (TP)" userId="S::nurshuha@tp.edu.sg::6a975622-816e-4480-9323-6edcbb1b288f" providerId="AD" clId="Web-{36F8BB7A-DE34-5261-947C-22BE3261496B}" dt="2026-04-12T23:01:45.202" v="326" actId="1076"/>
          <ac:spMkLst>
            <pc:docMk/>
            <pc:sldMk cId="3866564376" sldId="289"/>
            <ac:spMk id="57" creationId="{6CDD78AE-F00C-858D-098C-6ECA99DCFE14}"/>
          </ac:spMkLst>
        </pc:spChg>
        <pc:spChg chg="mod">
          <ac:chgData name="Nur Shuhadah BINTE JALIL (TP)" userId="S::nurshuha@tp.edu.sg::6a975622-816e-4480-9323-6edcbb1b288f" providerId="AD" clId="Web-{36F8BB7A-DE34-5261-947C-22BE3261496B}" dt="2026-04-12T23:01:45.202" v="325" actId="1076"/>
          <ac:spMkLst>
            <pc:docMk/>
            <pc:sldMk cId="3866564376" sldId="289"/>
            <ac:spMk id="58" creationId="{53E07C0E-D834-68E6-9CDE-31794A1B3B14}"/>
          </ac:spMkLst>
        </pc:spChg>
        <pc:spChg chg="mod">
          <ac:chgData name="Nur Shuhadah BINTE JALIL (TP)" userId="S::nurshuha@tp.edu.sg::6a975622-816e-4480-9323-6edcbb1b288f" providerId="AD" clId="Web-{36F8BB7A-DE34-5261-947C-22BE3261496B}" dt="2026-04-12T23:01:45.202" v="324" actId="1076"/>
          <ac:spMkLst>
            <pc:docMk/>
            <pc:sldMk cId="3866564376" sldId="289"/>
            <ac:spMk id="59" creationId="{0FE76E6E-AD51-07E7-8515-05ECA257ED09}"/>
          </ac:spMkLst>
        </pc:spChg>
        <pc:spChg chg="mod">
          <ac:chgData name="Nur Shuhadah BINTE JALIL (TP)" userId="S::nurshuha@tp.edu.sg::6a975622-816e-4480-9323-6edcbb1b288f" providerId="AD" clId="Web-{36F8BB7A-DE34-5261-947C-22BE3261496B}" dt="2026-04-12T23:01:45.202" v="323" actId="1076"/>
          <ac:spMkLst>
            <pc:docMk/>
            <pc:sldMk cId="3866564376" sldId="289"/>
            <ac:spMk id="60" creationId="{6A5DD18A-BC10-CEEC-9F60-0ABB1D35FC85}"/>
          </ac:spMkLst>
        </pc:spChg>
        <pc:spChg chg="mod">
          <ac:chgData name="Nur Shuhadah BINTE JALIL (TP)" userId="S::nurshuha@tp.edu.sg::6a975622-816e-4480-9323-6edcbb1b288f" providerId="AD" clId="Web-{36F8BB7A-DE34-5261-947C-22BE3261496B}" dt="2026-04-12T23:01:45.202" v="322" actId="1076"/>
          <ac:spMkLst>
            <pc:docMk/>
            <pc:sldMk cId="3866564376" sldId="289"/>
            <ac:spMk id="61" creationId="{7B50022C-DFA5-73E3-4D2E-E11E1EE144C6}"/>
          </ac:spMkLst>
        </pc:spChg>
        <pc:spChg chg="mod">
          <ac:chgData name="Nur Shuhadah BINTE JALIL (TP)" userId="S::nurshuha@tp.edu.sg::6a975622-816e-4480-9323-6edcbb1b288f" providerId="AD" clId="Web-{36F8BB7A-DE34-5261-947C-22BE3261496B}" dt="2026-04-12T23:01:45.187" v="321" actId="1076"/>
          <ac:spMkLst>
            <pc:docMk/>
            <pc:sldMk cId="3866564376" sldId="289"/>
            <ac:spMk id="62" creationId="{74F97725-C1B1-D2C2-AE77-A61F6C303A1A}"/>
          </ac:spMkLst>
        </pc:spChg>
        <pc:spChg chg="mod">
          <ac:chgData name="Nur Shuhadah BINTE JALIL (TP)" userId="S::nurshuha@tp.edu.sg::6a975622-816e-4480-9323-6edcbb1b288f" providerId="AD" clId="Web-{36F8BB7A-DE34-5261-947C-22BE3261496B}" dt="2026-04-12T23:01:45.187" v="320" actId="1076"/>
          <ac:spMkLst>
            <pc:docMk/>
            <pc:sldMk cId="3866564376" sldId="289"/>
            <ac:spMk id="63" creationId="{B43CB673-525A-EF5C-245C-3BBFF9630F5E}"/>
          </ac:spMkLst>
        </pc:spChg>
        <pc:spChg chg="mod">
          <ac:chgData name="Nur Shuhadah BINTE JALIL (TP)" userId="S::nurshuha@tp.edu.sg::6a975622-816e-4480-9323-6edcbb1b288f" providerId="AD" clId="Web-{36F8BB7A-DE34-5261-947C-22BE3261496B}" dt="2026-04-12T23:01:45.187" v="319" actId="1076"/>
          <ac:spMkLst>
            <pc:docMk/>
            <pc:sldMk cId="3866564376" sldId="289"/>
            <ac:spMk id="64" creationId="{60D2B6FE-0AAD-BDF3-9F73-5C8F76AF2A68}"/>
          </ac:spMkLst>
        </pc:spChg>
        <pc:spChg chg="mod">
          <ac:chgData name="Nur Shuhadah BINTE JALIL (TP)" userId="S::nurshuha@tp.edu.sg::6a975622-816e-4480-9323-6edcbb1b288f" providerId="AD" clId="Web-{36F8BB7A-DE34-5261-947C-22BE3261496B}" dt="2026-04-12T23:01:45.187" v="318" actId="1076"/>
          <ac:spMkLst>
            <pc:docMk/>
            <pc:sldMk cId="3866564376" sldId="289"/>
            <ac:spMk id="65" creationId="{05A0BEA0-022D-BA46-1364-A31678E1FF59}"/>
          </ac:spMkLst>
        </pc:spChg>
        <pc:spChg chg="mod">
          <ac:chgData name="Nur Shuhadah BINTE JALIL (TP)" userId="S::nurshuha@tp.edu.sg::6a975622-816e-4480-9323-6edcbb1b288f" providerId="AD" clId="Web-{36F8BB7A-DE34-5261-947C-22BE3261496B}" dt="2026-04-12T23:01:45.187" v="317" actId="1076"/>
          <ac:spMkLst>
            <pc:docMk/>
            <pc:sldMk cId="3866564376" sldId="289"/>
            <ac:spMk id="66" creationId="{9C9AC587-2622-C008-5D0A-8A0DA29EF0F6}"/>
          </ac:spMkLst>
        </pc:spChg>
        <pc:spChg chg="mod">
          <ac:chgData name="Nur Shuhadah BINTE JALIL (TP)" userId="S::nurshuha@tp.edu.sg::6a975622-816e-4480-9323-6edcbb1b288f" providerId="AD" clId="Web-{36F8BB7A-DE34-5261-947C-22BE3261496B}" dt="2026-04-12T23:01:45.187" v="316" actId="1076"/>
          <ac:spMkLst>
            <pc:docMk/>
            <pc:sldMk cId="3866564376" sldId="289"/>
            <ac:spMk id="67" creationId="{5EA40DF3-086A-036A-6827-9AFF30D47538}"/>
          </ac:spMkLst>
        </pc:spChg>
        <pc:spChg chg="mod">
          <ac:chgData name="Nur Shuhadah BINTE JALIL (TP)" userId="S::nurshuha@tp.edu.sg::6a975622-816e-4480-9323-6edcbb1b288f" providerId="AD" clId="Web-{36F8BB7A-DE34-5261-947C-22BE3261496B}" dt="2026-04-12T23:01:45.187" v="315" actId="1076"/>
          <ac:spMkLst>
            <pc:docMk/>
            <pc:sldMk cId="3866564376" sldId="289"/>
            <ac:spMk id="68" creationId="{CC0FC868-F3F1-3C61-77AB-E5E5D56BDFEE}"/>
          </ac:spMkLst>
        </pc:spChg>
        <pc:spChg chg="mod">
          <ac:chgData name="Nur Shuhadah BINTE JALIL (TP)" userId="S::nurshuha@tp.edu.sg::6a975622-816e-4480-9323-6edcbb1b288f" providerId="AD" clId="Web-{36F8BB7A-DE34-5261-947C-22BE3261496B}" dt="2026-04-12T23:01:45.187" v="314" actId="1076"/>
          <ac:spMkLst>
            <pc:docMk/>
            <pc:sldMk cId="3866564376" sldId="289"/>
            <ac:spMk id="69" creationId="{20203D99-6AC2-599B-AD09-F9F70C72A157}"/>
          </ac:spMkLst>
        </pc:spChg>
        <pc:spChg chg="mod">
          <ac:chgData name="Nur Shuhadah BINTE JALIL (TP)" userId="S::nurshuha@tp.edu.sg::6a975622-816e-4480-9323-6edcbb1b288f" providerId="AD" clId="Web-{36F8BB7A-DE34-5261-947C-22BE3261496B}" dt="2026-04-12T23:01:45.187" v="313" actId="1076"/>
          <ac:spMkLst>
            <pc:docMk/>
            <pc:sldMk cId="3866564376" sldId="289"/>
            <ac:spMk id="70" creationId="{591F99DB-F8E1-F161-5095-21B431318526}"/>
          </ac:spMkLst>
        </pc:spChg>
        <pc:spChg chg="mod">
          <ac:chgData name="Nur Shuhadah BINTE JALIL (TP)" userId="S::nurshuha@tp.edu.sg::6a975622-816e-4480-9323-6edcbb1b288f" providerId="AD" clId="Web-{36F8BB7A-DE34-5261-947C-22BE3261496B}" dt="2026-04-12T23:01:45.187" v="312" actId="1076"/>
          <ac:spMkLst>
            <pc:docMk/>
            <pc:sldMk cId="3866564376" sldId="289"/>
            <ac:spMk id="71" creationId="{5E2113A0-C50B-CAB5-641A-D94C58D5860A}"/>
          </ac:spMkLst>
        </pc:spChg>
        <pc:spChg chg="mod">
          <ac:chgData name="Nur Shuhadah BINTE JALIL (TP)" userId="S::nurshuha@tp.edu.sg::6a975622-816e-4480-9323-6edcbb1b288f" providerId="AD" clId="Web-{36F8BB7A-DE34-5261-947C-22BE3261496B}" dt="2026-04-12T23:01:45.187" v="311" actId="1076"/>
          <ac:spMkLst>
            <pc:docMk/>
            <pc:sldMk cId="3866564376" sldId="289"/>
            <ac:spMk id="72" creationId="{9881BF79-2B05-48BD-ED37-C55420DB5D08}"/>
          </ac:spMkLst>
        </pc:spChg>
        <pc:spChg chg="mod">
          <ac:chgData name="Nur Shuhadah BINTE JALIL (TP)" userId="S::nurshuha@tp.edu.sg::6a975622-816e-4480-9323-6edcbb1b288f" providerId="AD" clId="Web-{36F8BB7A-DE34-5261-947C-22BE3261496B}" dt="2026-04-12T23:01:45.187" v="310" actId="1076"/>
          <ac:spMkLst>
            <pc:docMk/>
            <pc:sldMk cId="3866564376" sldId="289"/>
            <ac:spMk id="73" creationId="{CCA3D32D-7AC0-E261-8C0D-025B32A7460D}"/>
          </ac:spMkLst>
        </pc:spChg>
        <pc:spChg chg="mod">
          <ac:chgData name="Nur Shuhadah BINTE JALIL (TP)" userId="S::nurshuha@tp.edu.sg::6a975622-816e-4480-9323-6edcbb1b288f" providerId="AD" clId="Web-{36F8BB7A-DE34-5261-947C-22BE3261496B}" dt="2026-04-12T23:01:45.187" v="309" actId="1076"/>
          <ac:spMkLst>
            <pc:docMk/>
            <pc:sldMk cId="3866564376" sldId="289"/>
            <ac:spMk id="74" creationId="{BD60DBBF-E447-6E87-0B06-B25A61D86F7B}"/>
          </ac:spMkLst>
        </pc:spChg>
        <pc:spChg chg="mod">
          <ac:chgData name="Nur Shuhadah BINTE JALIL (TP)" userId="S::nurshuha@tp.edu.sg::6a975622-816e-4480-9323-6edcbb1b288f" providerId="AD" clId="Web-{36F8BB7A-DE34-5261-947C-22BE3261496B}" dt="2026-04-12T23:01:45.187" v="308" actId="1076"/>
          <ac:spMkLst>
            <pc:docMk/>
            <pc:sldMk cId="3866564376" sldId="289"/>
            <ac:spMk id="75" creationId="{E561DDB8-AB54-3BEE-56D1-B1D9A95B86FA}"/>
          </ac:spMkLst>
        </pc:spChg>
        <pc:spChg chg="mod">
          <ac:chgData name="Nur Shuhadah BINTE JALIL (TP)" userId="S::nurshuha@tp.edu.sg::6a975622-816e-4480-9323-6edcbb1b288f" providerId="AD" clId="Web-{36F8BB7A-DE34-5261-947C-22BE3261496B}" dt="2026-04-12T23:01:45.187" v="307" actId="1076"/>
          <ac:spMkLst>
            <pc:docMk/>
            <pc:sldMk cId="3866564376" sldId="289"/>
            <ac:spMk id="76" creationId="{50F87664-0C9D-C0F5-FE84-F001618FF247}"/>
          </ac:spMkLst>
        </pc:spChg>
        <pc:spChg chg="mod">
          <ac:chgData name="Nur Shuhadah BINTE JALIL (TP)" userId="S::nurshuha@tp.edu.sg::6a975622-816e-4480-9323-6edcbb1b288f" providerId="AD" clId="Web-{36F8BB7A-DE34-5261-947C-22BE3261496B}" dt="2026-04-12T23:01:45.187" v="306" actId="1076"/>
          <ac:spMkLst>
            <pc:docMk/>
            <pc:sldMk cId="3866564376" sldId="289"/>
            <ac:spMk id="77" creationId="{CDC2DE7B-D886-A438-24AA-697A66219A42}"/>
          </ac:spMkLst>
        </pc:spChg>
        <pc:spChg chg="mod">
          <ac:chgData name="Nur Shuhadah BINTE JALIL (TP)" userId="S::nurshuha@tp.edu.sg::6a975622-816e-4480-9323-6edcbb1b288f" providerId="AD" clId="Web-{36F8BB7A-DE34-5261-947C-22BE3261496B}" dt="2026-04-12T23:01:45.187" v="305" actId="1076"/>
          <ac:spMkLst>
            <pc:docMk/>
            <pc:sldMk cId="3866564376" sldId="289"/>
            <ac:spMk id="78" creationId="{81ED05B8-96A9-CB09-A8C4-2FAB524E2039}"/>
          </ac:spMkLst>
        </pc:spChg>
        <pc:spChg chg="mod">
          <ac:chgData name="Nur Shuhadah BINTE JALIL (TP)" userId="S::nurshuha@tp.edu.sg::6a975622-816e-4480-9323-6edcbb1b288f" providerId="AD" clId="Web-{36F8BB7A-DE34-5261-947C-22BE3261496B}" dt="2026-04-12T23:01:45.187" v="304" actId="1076"/>
          <ac:spMkLst>
            <pc:docMk/>
            <pc:sldMk cId="3866564376" sldId="289"/>
            <ac:spMk id="79" creationId="{C8762BF2-4A3C-8209-5E8D-9EF57D473FBC}"/>
          </ac:spMkLst>
        </pc:spChg>
        <pc:spChg chg="mod">
          <ac:chgData name="Nur Shuhadah BINTE JALIL (TP)" userId="S::nurshuha@tp.edu.sg::6a975622-816e-4480-9323-6edcbb1b288f" providerId="AD" clId="Web-{36F8BB7A-DE34-5261-947C-22BE3261496B}" dt="2026-04-12T23:01:45.187" v="303" actId="1076"/>
          <ac:spMkLst>
            <pc:docMk/>
            <pc:sldMk cId="3866564376" sldId="289"/>
            <ac:spMk id="80" creationId="{5A70C58A-2D47-E94F-6EBC-A6CCA176C7C1}"/>
          </ac:spMkLst>
        </pc:spChg>
        <pc:spChg chg="mod">
          <ac:chgData name="Nur Shuhadah BINTE JALIL (TP)" userId="S::nurshuha@tp.edu.sg::6a975622-816e-4480-9323-6edcbb1b288f" providerId="AD" clId="Web-{36F8BB7A-DE34-5261-947C-22BE3261496B}" dt="2026-04-12T23:01:45.187" v="302" actId="1076"/>
          <ac:spMkLst>
            <pc:docMk/>
            <pc:sldMk cId="3866564376" sldId="289"/>
            <ac:spMk id="81" creationId="{1480CA72-FEAA-0F78-9D47-F9B8F8C6EE87}"/>
          </ac:spMkLst>
        </pc:spChg>
        <pc:spChg chg="mod">
          <ac:chgData name="Nur Shuhadah BINTE JALIL (TP)" userId="S::nurshuha@tp.edu.sg::6a975622-816e-4480-9323-6edcbb1b288f" providerId="AD" clId="Web-{36F8BB7A-DE34-5261-947C-22BE3261496B}" dt="2026-04-12T23:01:45.187" v="301" actId="1076"/>
          <ac:spMkLst>
            <pc:docMk/>
            <pc:sldMk cId="3866564376" sldId="289"/>
            <ac:spMk id="82" creationId="{445EB8FC-567A-7CFC-2FA6-D01A1755F843}"/>
          </ac:spMkLst>
        </pc:spChg>
        <pc:spChg chg="mod">
          <ac:chgData name="Nur Shuhadah BINTE JALIL (TP)" userId="S::nurshuha@tp.edu.sg::6a975622-816e-4480-9323-6edcbb1b288f" providerId="AD" clId="Web-{36F8BB7A-DE34-5261-947C-22BE3261496B}" dt="2026-04-12T23:01:45.187" v="300" actId="1076"/>
          <ac:spMkLst>
            <pc:docMk/>
            <pc:sldMk cId="3866564376" sldId="289"/>
            <ac:spMk id="83" creationId="{177203C9-AF06-86C5-A022-B65AFE3401BD}"/>
          </ac:spMkLst>
        </pc:spChg>
        <pc:spChg chg="mod">
          <ac:chgData name="Nur Shuhadah BINTE JALIL (TP)" userId="S::nurshuha@tp.edu.sg::6a975622-816e-4480-9323-6edcbb1b288f" providerId="AD" clId="Web-{36F8BB7A-DE34-5261-947C-22BE3261496B}" dt="2026-04-12T23:01:45.187" v="299" actId="1076"/>
          <ac:spMkLst>
            <pc:docMk/>
            <pc:sldMk cId="3866564376" sldId="289"/>
            <ac:spMk id="84" creationId="{C297F173-92BB-7332-BC6F-13A729848681}"/>
          </ac:spMkLst>
        </pc:spChg>
        <pc:spChg chg="mod">
          <ac:chgData name="Nur Shuhadah BINTE JALIL (TP)" userId="S::nurshuha@tp.edu.sg::6a975622-816e-4480-9323-6edcbb1b288f" providerId="AD" clId="Web-{36F8BB7A-DE34-5261-947C-22BE3261496B}" dt="2026-04-12T23:01:45.187" v="298" actId="1076"/>
          <ac:spMkLst>
            <pc:docMk/>
            <pc:sldMk cId="3866564376" sldId="289"/>
            <ac:spMk id="85" creationId="{8D432944-646E-01CB-C771-F18474ABF8C6}"/>
          </ac:spMkLst>
        </pc:spChg>
        <pc:spChg chg="mod">
          <ac:chgData name="Nur Shuhadah BINTE JALIL (TP)" userId="S::nurshuha@tp.edu.sg::6a975622-816e-4480-9323-6edcbb1b288f" providerId="AD" clId="Web-{36F8BB7A-DE34-5261-947C-22BE3261496B}" dt="2026-04-12T23:01:45.187" v="297" actId="1076"/>
          <ac:spMkLst>
            <pc:docMk/>
            <pc:sldMk cId="3866564376" sldId="289"/>
            <ac:spMk id="90" creationId="{B621A888-744E-7680-524B-12E471311A5D}"/>
          </ac:spMkLst>
        </pc:spChg>
        <pc:spChg chg="mod">
          <ac:chgData name="Nur Shuhadah BINTE JALIL (TP)" userId="S::nurshuha@tp.edu.sg::6a975622-816e-4480-9323-6edcbb1b288f" providerId="AD" clId="Web-{36F8BB7A-DE34-5261-947C-22BE3261496B}" dt="2026-04-12T23:01:45.187" v="296" actId="1076"/>
          <ac:spMkLst>
            <pc:docMk/>
            <pc:sldMk cId="3866564376" sldId="289"/>
            <ac:spMk id="91" creationId="{5B6AAFE8-BD44-C9CB-11CF-47A9E43D7E9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18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Apply write blocker &amp; image - </a:t>
            </a:r>
            <a:r>
              <a:rPr lang="en-US" dirty="0"/>
              <a:t>Once powered off, attach hardware write blocker before connecting to forensic </a:t>
            </a:r>
            <a:r>
              <a:rPr lang="en-US" dirty="0" err="1"/>
              <a:t>workstation.Hash</a:t>
            </a:r>
            <a:r>
              <a:rPr lang="en-US" dirty="0"/>
              <a:t> source, create image, verify hash.</a:t>
            </a:r>
          </a:p>
          <a:p>
            <a:r>
              <a:rPr lang="en-US" b="1"/>
              <a:t>Verify image hash &amp; seal - </a:t>
            </a:r>
            <a:r>
              <a:rPr lang="en-US" dirty="0"/>
              <a:t>Hash the completed image. Confirm match with source hash. Re-bag original with tamper-evident seal. Sign chain of custody.</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47472" cy="5143500"/>
          </a:xfrm>
          <a:prstGeom prst="rect">
            <a:avLst/>
          </a:prstGeom>
          <a:solidFill>
            <a:srgbClr val="00B4D8"/>
          </a:solidFill>
          <a:ln w="12700">
            <a:solidFill>
              <a:srgbClr val="00B4D8"/>
            </a:solidFill>
            <a:prstDash val="solid"/>
          </a:ln>
        </p:spPr>
        <p:txBody>
          <a:bodyPr/>
          <a:lstStyle/>
          <a:p>
            <a:endParaRPr lang="en-SG"/>
          </a:p>
        </p:txBody>
      </p:sp>
      <p:sp>
        <p:nvSpPr>
          <p:cNvPr id="3" name="Shape 1"/>
          <p:cNvSpPr/>
          <p:nvPr/>
        </p:nvSpPr>
        <p:spPr>
          <a:xfrm>
            <a:off x="6583680" y="-731520"/>
            <a:ext cx="3291840" cy="3291840"/>
          </a:xfrm>
          <a:prstGeom prst="ellipse">
            <a:avLst/>
          </a:prstGeom>
          <a:noFill/>
          <a:ln w="12700">
            <a:solidFill>
              <a:srgbClr val="FFFFFF">
                <a:alpha val="5000"/>
              </a:srgbClr>
            </a:solidFill>
            <a:prstDash val="solid"/>
          </a:ln>
        </p:spPr>
        <p:txBody>
          <a:bodyPr/>
          <a:lstStyle/>
          <a:p>
            <a:endParaRPr lang="en-SG"/>
          </a:p>
        </p:txBody>
      </p:sp>
      <p:sp>
        <p:nvSpPr>
          <p:cNvPr id="4" name="Shape 2"/>
          <p:cNvSpPr/>
          <p:nvPr/>
        </p:nvSpPr>
        <p:spPr>
          <a:xfrm>
            <a:off x="7315200" y="2560320"/>
            <a:ext cx="2011680" cy="2011680"/>
          </a:xfrm>
          <a:prstGeom prst="ellipse">
            <a:avLst/>
          </a:prstGeom>
          <a:solidFill>
            <a:srgbClr val="00B4D8">
              <a:alpha val="12000"/>
            </a:srgbClr>
          </a:solidFill>
          <a:ln w="12700">
            <a:solidFill>
              <a:srgbClr val="00B4D8">
                <a:alpha val="12000"/>
              </a:srgbClr>
            </a:solidFill>
            <a:prstDash val="solid"/>
          </a:ln>
        </p:spPr>
        <p:txBody>
          <a:bodyPr/>
          <a:lstStyle/>
          <a:p>
            <a:endParaRPr lang="en-SG"/>
          </a:p>
        </p:txBody>
      </p:sp>
      <p:sp>
        <p:nvSpPr>
          <p:cNvPr id="5" name="Text 3"/>
          <p:cNvSpPr/>
          <p:nvPr/>
        </p:nvSpPr>
        <p:spPr>
          <a:xfrm>
            <a:off x="566928" y="502920"/>
            <a:ext cx="6583680" cy="2194560"/>
          </a:xfrm>
          <a:prstGeom prst="rect">
            <a:avLst/>
          </a:prstGeom>
          <a:noFill/>
          <a:ln/>
        </p:spPr>
        <p:txBody>
          <a:bodyPr wrap="square" rtlCol="0" anchor="ctr"/>
          <a:lstStyle/>
          <a:p>
            <a:pPr marL="0" indent="0">
              <a:buNone/>
            </a:pPr>
            <a:r>
              <a:rPr lang="en-US" sz="6200" b="1" kern="0" spc="100" dirty="0">
                <a:solidFill>
                  <a:srgbClr val="1A1A2E"/>
                </a:solidFill>
                <a:latin typeface="Trebuchet MS" pitchFamily="34" charset="0"/>
                <a:ea typeface="Trebuchet MS" pitchFamily="34" charset="-122"/>
                <a:cs typeface="Trebuchet MS" pitchFamily="34" charset="-120"/>
              </a:rPr>
              <a:t>DIGITAL</a:t>
            </a:r>
            <a:endParaRPr lang="en-US" sz="6200" dirty="0"/>
          </a:p>
          <a:p>
            <a:pPr marL="0" indent="0">
              <a:buNone/>
            </a:pPr>
            <a:r>
              <a:rPr lang="en-US" sz="6200" b="1" kern="0" spc="100" dirty="0">
                <a:solidFill>
                  <a:srgbClr val="1A1A2E"/>
                </a:solidFill>
                <a:latin typeface="Trebuchet MS" pitchFamily="34" charset="0"/>
                <a:ea typeface="Trebuchet MS" pitchFamily="34" charset="-122"/>
                <a:cs typeface="Trebuchet MS" pitchFamily="34" charset="-120"/>
              </a:rPr>
              <a:t>FORENSICS</a:t>
            </a:r>
            <a:endParaRPr lang="en-US" sz="6200" dirty="0"/>
          </a:p>
        </p:txBody>
      </p:sp>
      <p:sp>
        <p:nvSpPr>
          <p:cNvPr id="6" name="Text 4"/>
          <p:cNvSpPr/>
          <p:nvPr/>
        </p:nvSpPr>
        <p:spPr>
          <a:xfrm>
            <a:off x="566928" y="2743200"/>
            <a:ext cx="7132320" cy="475488"/>
          </a:xfrm>
          <a:prstGeom prst="rect">
            <a:avLst/>
          </a:prstGeom>
          <a:noFill/>
          <a:ln/>
        </p:spPr>
        <p:txBody>
          <a:bodyPr wrap="square" rtlCol="0" anchor="ctr"/>
          <a:lstStyle/>
          <a:p>
            <a:pPr marL="0" indent="0">
              <a:buNone/>
            </a:pPr>
            <a:r>
              <a:rPr lang="en-US" sz="1600" i="1" dirty="0">
                <a:solidFill>
                  <a:srgbClr val="00B4D8"/>
                </a:solidFill>
                <a:latin typeface="Calibri" pitchFamily="34" charset="0"/>
                <a:ea typeface="Calibri" pitchFamily="34" charset="-122"/>
                <a:cs typeface="Calibri" pitchFamily="34" charset="-120"/>
              </a:rPr>
              <a:t>Week 1 — Foundations, Investigation Process &amp; Evidence Collection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FFFFF"/>
          </a:solidFill>
          <a:ln w="12700">
            <a:solidFill>
              <a:srgbClr val="FFFFFF"/>
            </a:solidFill>
            <a:prstDash val="solid"/>
          </a:ln>
        </p:spPr>
        <p:txBody>
          <a:bodyPr/>
          <a:lstStyle/>
          <a:p>
            <a:endParaRPr lang="en-SG"/>
          </a:p>
        </p:txBody>
      </p:sp>
      <p:sp>
        <p:nvSpPr>
          <p:cNvPr id="3" name="Text 1"/>
          <p:cNvSpPr/>
          <p:nvPr/>
        </p:nvSpPr>
        <p:spPr>
          <a:xfrm>
            <a:off x="274320" y="155448"/>
            <a:ext cx="8595360" cy="402336"/>
          </a:xfrm>
          <a:prstGeom prst="rect">
            <a:avLst/>
          </a:prstGeom>
          <a:noFill/>
          <a:ln/>
        </p:spPr>
        <p:txBody>
          <a:bodyPr wrap="square" rtlCol="0" anchor="ctr"/>
          <a:lstStyle/>
          <a:p>
            <a:pPr marL="0" indent="0">
              <a:buNone/>
            </a:pPr>
            <a:r>
              <a:rPr lang="en-US" sz="2000" b="1" dirty="0">
                <a:solidFill>
                  <a:srgbClr val="1A1A2E"/>
                </a:solidFill>
                <a:latin typeface="Trebuchet MS" pitchFamily="34" charset="0"/>
                <a:ea typeface="Trebuchet MS" pitchFamily="34" charset="-122"/>
                <a:cs typeface="Trebuchet MS" pitchFamily="34" charset="-120"/>
              </a:rPr>
              <a:t>Learning Journey — Week 1 Course Roadmap</a:t>
            </a:r>
            <a:endParaRPr lang="en-US" sz="2000" dirty="0"/>
          </a:p>
        </p:txBody>
      </p:sp>
      <p:sp>
        <p:nvSpPr>
          <p:cNvPr id="4" name="Shape 2"/>
          <p:cNvSpPr/>
          <p:nvPr/>
        </p:nvSpPr>
        <p:spPr>
          <a:xfrm>
            <a:off x="91440" y="822960"/>
            <a:ext cx="2871216" cy="1901952"/>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5" name="Shape 3"/>
          <p:cNvSpPr/>
          <p:nvPr/>
        </p:nvSpPr>
        <p:spPr>
          <a:xfrm>
            <a:off x="91440" y="822960"/>
            <a:ext cx="2871216" cy="402336"/>
          </a:xfrm>
          <a:prstGeom prst="rect">
            <a:avLst/>
          </a:prstGeom>
          <a:solidFill>
            <a:srgbClr val="00B4D8"/>
          </a:solidFill>
          <a:ln w="12700">
            <a:solidFill>
              <a:srgbClr val="00B4D8"/>
            </a:solidFill>
            <a:prstDash val="solid"/>
          </a:ln>
        </p:spPr>
        <p:txBody>
          <a:bodyPr/>
          <a:lstStyle/>
          <a:p>
            <a:endParaRPr lang="en-SG"/>
          </a:p>
        </p:txBody>
      </p:sp>
      <p:sp>
        <p:nvSpPr>
          <p:cNvPr id="6" name="Text 4"/>
          <p:cNvSpPr/>
          <p:nvPr/>
        </p:nvSpPr>
        <p:spPr>
          <a:xfrm>
            <a:off x="182880" y="886968"/>
            <a:ext cx="2688336" cy="256032"/>
          </a:xfrm>
          <a:prstGeom prst="rect">
            <a:avLst/>
          </a:prstGeom>
          <a:noFill/>
          <a:ln/>
        </p:spPr>
        <p:txBody>
          <a:bodyPr wrap="square" lIns="0" tIns="0" rIns="0" bIns="0" rtlCol="0" anchor="ctr"/>
          <a:lstStyle/>
          <a:p>
            <a:pPr marL="0" indent="0">
              <a:buNone/>
            </a:pPr>
            <a:r>
              <a:rPr lang="en-US" sz="1150" b="1" kern="0" spc="100" dirty="0">
                <a:solidFill>
                  <a:srgbClr val="000000"/>
                </a:solidFill>
                <a:latin typeface="Trebuchet MS" pitchFamily="34" charset="0"/>
                <a:ea typeface="Trebuchet MS" pitchFamily="34" charset="-122"/>
                <a:cs typeface="Trebuchet MS" pitchFamily="34" charset="-120"/>
              </a:rPr>
              <a:t>01  REMEMBER</a:t>
            </a:r>
            <a:endParaRPr lang="en-US" sz="1150" dirty="0"/>
          </a:p>
        </p:txBody>
      </p:sp>
      <p:sp>
        <p:nvSpPr>
          <p:cNvPr id="7" name="Text 5"/>
          <p:cNvSpPr/>
          <p:nvPr/>
        </p:nvSpPr>
        <p:spPr>
          <a:xfrm>
            <a:off x="201168" y="1298448"/>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Definition of Digital Forensics</a:t>
            </a:r>
            <a:endParaRPr lang="en-US" sz="1000" dirty="0"/>
          </a:p>
        </p:txBody>
      </p:sp>
      <p:sp>
        <p:nvSpPr>
          <p:cNvPr id="8" name="Text 6"/>
          <p:cNvSpPr/>
          <p:nvPr/>
        </p:nvSpPr>
        <p:spPr>
          <a:xfrm>
            <a:off x="201168" y="1627632"/>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Locard's Exchange Principle</a:t>
            </a:r>
            <a:endParaRPr lang="en-US" sz="1000" dirty="0"/>
          </a:p>
        </p:txBody>
      </p:sp>
      <p:sp>
        <p:nvSpPr>
          <p:cNvPr id="9" name="Text 7"/>
          <p:cNvSpPr/>
          <p:nvPr/>
        </p:nvSpPr>
        <p:spPr>
          <a:xfrm>
            <a:off x="201168" y="1956816"/>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Sub-categories of DF</a:t>
            </a:r>
            <a:endParaRPr lang="en-US" sz="1000" dirty="0"/>
          </a:p>
        </p:txBody>
      </p:sp>
      <p:sp>
        <p:nvSpPr>
          <p:cNvPr id="10" name="Text 8"/>
          <p:cNvSpPr/>
          <p:nvPr/>
        </p:nvSpPr>
        <p:spPr>
          <a:xfrm>
            <a:off x="201168" y="2286000"/>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Types of Storage Media</a:t>
            </a:r>
            <a:endParaRPr lang="en-US" sz="1000" dirty="0"/>
          </a:p>
        </p:txBody>
      </p:sp>
      <p:sp>
        <p:nvSpPr>
          <p:cNvPr id="11" name="Shape 9"/>
          <p:cNvSpPr/>
          <p:nvPr/>
        </p:nvSpPr>
        <p:spPr>
          <a:xfrm>
            <a:off x="3081528" y="822960"/>
            <a:ext cx="2871216" cy="190195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12" name="Shape 10"/>
          <p:cNvSpPr/>
          <p:nvPr/>
        </p:nvSpPr>
        <p:spPr>
          <a:xfrm>
            <a:off x="3081528" y="822960"/>
            <a:ext cx="2871216" cy="402336"/>
          </a:xfrm>
          <a:prstGeom prst="rect">
            <a:avLst/>
          </a:prstGeom>
          <a:solidFill>
            <a:srgbClr val="06D6A0"/>
          </a:solidFill>
          <a:ln w="12700">
            <a:solidFill>
              <a:srgbClr val="06D6A0"/>
            </a:solidFill>
            <a:prstDash val="solid"/>
          </a:ln>
        </p:spPr>
        <p:txBody>
          <a:bodyPr/>
          <a:lstStyle/>
          <a:p>
            <a:endParaRPr lang="en-SG"/>
          </a:p>
        </p:txBody>
      </p:sp>
      <p:sp>
        <p:nvSpPr>
          <p:cNvPr id="13" name="Text 11"/>
          <p:cNvSpPr/>
          <p:nvPr/>
        </p:nvSpPr>
        <p:spPr>
          <a:xfrm>
            <a:off x="3172968" y="886968"/>
            <a:ext cx="2688336" cy="256032"/>
          </a:xfrm>
          <a:prstGeom prst="rect">
            <a:avLst/>
          </a:prstGeom>
          <a:noFill/>
          <a:ln/>
        </p:spPr>
        <p:txBody>
          <a:bodyPr wrap="square" lIns="0" tIns="0" rIns="0" bIns="0" rtlCol="0" anchor="ctr"/>
          <a:lstStyle/>
          <a:p>
            <a:pPr marL="0" indent="0">
              <a:buNone/>
            </a:pPr>
            <a:r>
              <a:rPr lang="en-US" sz="1150" b="1" kern="0" spc="100" dirty="0">
                <a:solidFill>
                  <a:srgbClr val="1A1A2E"/>
                </a:solidFill>
                <a:latin typeface="Trebuchet MS" pitchFamily="34" charset="0"/>
                <a:ea typeface="Trebuchet MS" pitchFamily="34" charset="-122"/>
                <a:cs typeface="Trebuchet MS" pitchFamily="34" charset="-120"/>
              </a:rPr>
              <a:t>02  UNDERSTAND</a:t>
            </a:r>
            <a:endParaRPr lang="en-US" sz="1150" dirty="0"/>
          </a:p>
        </p:txBody>
      </p:sp>
      <p:sp>
        <p:nvSpPr>
          <p:cNvPr id="14" name="Text 12"/>
          <p:cNvSpPr/>
          <p:nvPr/>
        </p:nvSpPr>
        <p:spPr>
          <a:xfrm>
            <a:off x="3191256" y="1298448"/>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What is Digital Evidence?</a:t>
            </a:r>
            <a:endParaRPr lang="en-US" sz="1000" dirty="0"/>
          </a:p>
        </p:txBody>
      </p:sp>
      <p:sp>
        <p:nvSpPr>
          <p:cNvPr id="15" name="Text 13"/>
          <p:cNvSpPr/>
          <p:nvPr/>
        </p:nvSpPr>
        <p:spPr>
          <a:xfrm>
            <a:off x="3191256" y="1627632"/>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Digital Forensics in Criminal Cases</a:t>
            </a:r>
            <a:endParaRPr lang="en-US" sz="1000" dirty="0"/>
          </a:p>
        </p:txBody>
      </p:sp>
      <p:sp>
        <p:nvSpPr>
          <p:cNvPr id="16" name="Text 14"/>
          <p:cNvSpPr/>
          <p:nvPr/>
        </p:nvSpPr>
        <p:spPr>
          <a:xfrm>
            <a:off x="3191256" y="1956816"/>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Digital Forensics in Corporate Crime</a:t>
            </a:r>
            <a:endParaRPr lang="en-US" sz="1000" dirty="0"/>
          </a:p>
        </p:txBody>
      </p:sp>
      <p:sp>
        <p:nvSpPr>
          <p:cNvPr id="17" name="Text 15"/>
          <p:cNvSpPr/>
          <p:nvPr/>
        </p:nvSpPr>
        <p:spPr>
          <a:xfrm>
            <a:off x="3191256" y="2286000"/>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Common Cyber Crimes</a:t>
            </a:r>
            <a:endParaRPr lang="en-US" sz="1000" dirty="0"/>
          </a:p>
        </p:txBody>
      </p:sp>
      <p:sp>
        <p:nvSpPr>
          <p:cNvPr id="18" name="Shape 16"/>
          <p:cNvSpPr/>
          <p:nvPr/>
        </p:nvSpPr>
        <p:spPr>
          <a:xfrm>
            <a:off x="6071616" y="822960"/>
            <a:ext cx="2871216" cy="1901952"/>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6071616" y="822960"/>
            <a:ext cx="2871216" cy="402336"/>
          </a:xfrm>
          <a:prstGeom prst="rect">
            <a:avLst/>
          </a:prstGeom>
          <a:solidFill>
            <a:srgbClr val="FFB703"/>
          </a:solidFill>
          <a:ln w="12700">
            <a:solidFill>
              <a:srgbClr val="FFB703"/>
            </a:solidFill>
            <a:prstDash val="solid"/>
          </a:ln>
        </p:spPr>
        <p:txBody>
          <a:bodyPr/>
          <a:lstStyle/>
          <a:p>
            <a:endParaRPr lang="en-SG"/>
          </a:p>
        </p:txBody>
      </p:sp>
      <p:sp>
        <p:nvSpPr>
          <p:cNvPr id="20" name="Text 18"/>
          <p:cNvSpPr/>
          <p:nvPr/>
        </p:nvSpPr>
        <p:spPr>
          <a:xfrm>
            <a:off x="6163056" y="886968"/>
            <a:ext cx="2688336" cy="256032"/>
          </a:xfrm>
          <a:prstGeom prst="rect">
            <a:avLst/>
          </a:prstGeom>
          <a:noFill/>
          <a:ln/>
        </p:spPr>
        <p:txBody>
          <a:bodyPr wrap="square" lIns="0" tIns="0" rIns="0" bIns="0" rtlCol="0" anchor="ctr"/>
          <a:lstStyle/>
          <a:p>
            <a:pPr marL="0" indent="0">
              <a:buNone/>
            </a:pPr>
            <a:r>
              <a:rPr lang="en-US" sz="1150" b="1" kern="0" spc="100" dirty="0">
                <a:solidFill>
                  <a:srgbClr val="000000"/>
                </a:solidFill>
                <a:latin typeface="Trebuchet MS" pitchFamily="34" charset="0"/>
                <a:ea typeface="Trebuchet MS" pitchFamily="34" charset="-122"/>
                <a:cs typeface="Trebuchet MS" pitchFamily="34" charset="-120"/>
              </a:rPr>
              <a:t>03  APPLY</a:t>
            </a:r>
            <a:endParaRPr lang="en-US" sz="1150" dirty="0"/>
          </a:p>
        </p:txBody>
      </p:sp>
      <p:sp>
        <p:nvSpPr>
          <p:cNvPr id="21" name="Text 19"/>
          <p:cNvSpPr/>
          <p:nvPr/>
        </p:nvSpPr>
        <p:spPr>
          <a:xfrm>
            <a:off x="6181344" y="1298448"/>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The Forensic Investigation Process</a:t>
            </a:r>
            <a:endParaRPr lang="en-US" sz="1000" dirty="0"/>
          </a:p>
        </p:txBody>
      </p:sp>
      <p:sp>
        <p:nvSpPr>
          <p:cNvPr id="22" name="Text 20"/>
          <p:cNvSpPr/>
          <p:nvPr/>
        </p:nvSpPr>
        <p:spPr>
          <a:xfrm>
            <a:off x="6181344" y="1603820"/>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Identification — Warrant &amp; Scene Integrity</a:t>
            </a:r>
            <a:endParaRPr lang="en-US" sz="1000" dirty="0"/>
          </a:p>
        </p:txBody>
      </p:sp>
      <p:sp>
        <p:nvSpPr>
          <p:cNvPr id="23" name="Text 21"/>
          <p:cNvSpPr/>
          <p:nvPr/>
        </p:nvSpPr>
        <p:spPr>
          <a:xfrm>
            <a:off x="6181344" y="1909191"/>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Preservation — Principles &amp; Procedures</a:t>
            </a:r>
            <a:endParaRPr lang="en-US" sz="1000" dirty="0"/>
          </a:p>
        </p:txBody>
      </p:sp>
      <p:sp>
        <p:nvSpPr>
          <p:cNvPr id="24" name="Text 22"/>
          <p:cNvSpPr/>
          <p:nvPr/>
        </p:nvSpPr>
        <p:spPr>
          <a:xfrm>
            <a:off x="6181344" y="2214563"/>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Computer &amp; Mobile Device Preservation</a:t>
            </a:r>
            <a:endParaRPr lang="en-US" sz="1000" dirty="0"/>
          </a:p>
        </p:txBody>
      </p:sp>
      <p:sp>
        <p:nvSpPr>
          <p:cNvPr id="25" name="Text 23"/>
          <p:cNvSpPr/>
          <p:nvPr/>
        </p:nvSpPr>
        <p:spPr>
          <a:xfrm>
            <a:off x="6165469" y="2440559"/>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Collection — Goals, Volatile Data &amp; Acquisition</a:t>
            </a:r>
            <a:endParaRPr lang="en-US" sz="1000" dirty="0"/>
          </a:p>
        </p:txBody>
      </p:sp>
      <p:sp>
        <p:nvSpPr>
          <p:cNvPr id="26" name="Text 24"/>
          <p:cNvSpPr/>
          <p:nvPr/>
        </p:nvSpPr>
        <p:spPr>
          <a:xfrm>
            <a:off x="6181344" y="2944368"/>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Collection — Documentation, Packaging &amp; Labelling</a:t>
            </a:r>
            <a:endParaRPr lang="en-US" sz="1000" dirty="0"/>
          </a:p>
        </p:txBody>
      </p:sp>
      <p:sp>
        <p:nvSpPr>
          <p:cNvPr id="27" name="Text 25"/>
          <p:cNvSpPr/>
          <p:nvPr/>
        </p:nvSpPr>
        <p:spPr>
          <a:xfrm>
            <a:off x="6181344" y="3273552"/>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Chain of Custody</a:t>
            </a:r>
            <a:endParaRPr lang="en-US" sz="1000" dirty="0"/>
          </a:p>
        </p:txBody>
      </p:sp>
      <p:sp>
        <p:nvSpPr>
          <p:cNvPr id="28" name="Shape 26"/>
          <p:cNvSpPr/>
          <p:nvPr/>
        </p:nvSpPr>
        <p:spPr>
          <a:xfrm>
            <a:off x="91440" y="2871216"/>
            <a:ext cx="2871216" cy="1901952"/>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9" name="Shape 27"/>
          <p:cNvSpPr/>
          <p:nvPr/>
        </p:nvSpPr>
        <p:spPr>
          <a:xfrm>
            <a:off x="91440" y="2871216"/>
            <a:ext cx="2871216" cy="402336"/>
          </a:xfrm>
          <a:prstGeom prst="rect">
            <a:avLst/>
          </a:prstGeom>
          <a:solidFill>
            <a:srgbClr val="FB8500"/>
          </a:solidFill>
          <a:ln w="12700">
            <a:solidFill>
              <a:srgbClr val="FB8500"/>
            </a:solidFill>
            <a:prstDash val="solid"/>
          </a:ln>
        </p:spPr>
        <p:txBody>
          <a:bodyPr/>
          <a:lstStyle/>
          <a:p>
            <a:endParaRPr lang="en-SG"/>
          </a:p>
        </p:txBody>
      </p:sp>
      <p:sp>
        <p:nvSpPr>
          <p:cNvPr id="30" name="Text 28"/>
          <p:cNvSpPr/>
          <p:nvPr/>
        </p:nvSpPr>
        <p:spPr>
          <a:xfrm>
            <a:off x="182880" y="2935224"/>
            <a:ext cx="2688336" cy="256032"/>
          </a:xfrm>
          <a:prstGeom prst="rect">
            <a:avLst/>
          </a:prstGeom>
          <a:noFill/>
          <a:ln/>
        </p:spPr>
        <p:txBody>
          <a:bodyPr wrap="square" lIns="0" tIns="0" rIns="0" bIns="0" rtlCol="0" anchor="ctr"/>
          <a:lstStyle/>
          <a:p>
            <a:pPr marL="0" indent="0">
              <a:buNone/>
            </a:pPr>
            <a:r>
              <a:rPr lang="en-US" sz="1150" b="1" kern="0" spc="100" dirty="0">
                <a:solidFill>
                  <a:srgbClr val="1A1A2E"/>
                </a:solidFill>
                <a:latin typeface="Trebuchet MS" pitchFamily="34" charset="0"/>
                <a:ea typeface="Trebuchet MS" pitchFamily="34" charset="-122"/>
                <a:cs typeface="Trebuchet MS" pitchFamily="34" charset="-120"/>
              </a:rPr>
              <a:t>04  ANALYSE</a:t>
            </a:r>
            <a:endParaRPr lang="en-US" sz="1150" dirty="0"/>
          </a:p>
        </p:txBody>
      </p:sp>
      <p:sp>
        <p:nvSpPr>
          <p:cNvPr id="31" name="Text 29"/>
          <p:cNvSpPr/>
          <p:nvPr/>
        </p:nvSpPr>
        <p:spPr>
          <a:xfrm>
            <a:off x="201168" y="3346704"/>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Challenges in the Threat Landscape</a:t>
            </a:r>
            <a:endParaRPr lang="en-US" sz="1000" dirty="0"/>
          </a:p>
        </p:txBody>
      </p:sp>
      <p:sp>
        <p:nvSpPr>
          <p:cNvPr id="32" name="Text 30"/>
          <p:cNvSpPr/>
          <p:nvPr/>
        </p:nvSpPr>
        <p:spPr>
          <a:xfrm>
            <a:off x="201168" y="3675888"/>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Anti-Digital Forensics Methods</a:t>
            </a:r>
            <a:endParaRPr lang="en-US" sz="1000" dirty="0"/>
          </a:p>
        </p:txBody>
      </p:sp>
      <p:sp>
        <p:nvSpPr>
          <p:cNvPr id="33" name="Text 31"/>
          <p:cNvSpPr/>
          <p:nvPr/>
        </p:nvSpPr>
        <p:spPr>
          <a:xfrm>
            <a:off x="201168" y="4005072"/>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Live vs Dead &amp; Volatile Data</a:t>
            </a:r>
            <a:endParaRPr lang="en-US" sz="1000" dirty="0"/>
          </a:p>
        </p:txBody>
      </p:sp>
      <p:sp>
        <p:nvSpPr>
          <p:cNvPr id="34" name="Text 32"/>
          <p:cNvSpPr/>
          <p:nvPr/>
        </p:nvSpPr>
        <p:spPr>
          <a:xfrm>
            <a:off x="201168" y="4334256"/>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The 5WH Investigation Framework</a:t>
            </a:r>
            <a:endParaRPr lang="en-US" sz="1000" dirty="0"/>
          </a:p>
        </p:txBody>
      </p:sp>
      <p:sp>
        <p:nvSpPr>
          <p:cNvPr id="35" name="Shape 33"/>
          <p:cNvSpPr/>
          <p:nvPr/>
        </p:nvSpPr>
        <p:spPr>
          <a:xfrm>
            <a:off x="3081528" y="2871216"/>
            <a:ext cx="2871216" cy="1901952"/>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36" name="Shape 34"/>
          <p:cNvSpPr/>
          <p:nvPr/>
        </p:nvSpPr>
        <p:spPr>
          <a:xfrm>
            <a:off x="3081528" y="2871216"/>
            <a:ext cx="2871216" cy="402336"/>
          </a:xfrm>
          <a:prstGeom prst="rect">
            <a:avLst/>
          </a:prstGeom>
          <a:solidFill>
            <a:srgbClr val="9B5DE5"/>
          </a:solidFill>
          <a:ln w="12700">
            <a:solidFill>
              <a:srgbClr val="9B5DE5"/>
            </a:solidFill>
            <a:prstDash val="solid"/>
          </a:ln>
        </p:spPr>
        <p:txBody>
          <a:bodyPr/>
          <a:lstStyle/>
          <a:p>
            <a:endParaRPr lang="en-SG"/>
          </a:p>
        </p:txBody>
      </p:sp>
      <p:sp>
        <p:nvSpPr>
          <p:cNvPr id="37" name="Text 35"/>
          <p:cNvSpPr/>
          <p:nvPr/>
        </p:nvSpPr>
        <p:spPr>
          <a:xfrm>
            <a:off x="3172968" y="2935224"/>
            <a:ext cx="2688336" cy="256032"/>
          </a:xfrm>
          <a:prstGeom prst="rect">
            <a:avLst/>
          </a:prstGeom>
          <a:noFill/>
          <a:ln/>
        </p:spPr>
        <p:txBody>
          <a:bodyPr wrap="square" lIns="0" tIns="0" rIns="0" bIns="0" rtlCol="0" anchor="ctr"/>
          <a:lstStyle/>
          <a:p>
            <a:pPr marL="0" indent="0">
              <a:buNone/>
            </a:pPr>
            <a:r>
              <a:rPr lang="en-US" sz="1150" b="1" kern="0" spc="100" dirty="0">
                <a:solidFill>
                  <a:srgbClr val="1A1A2E"/>
                </a:solidFill>
                <a:latin typeface="Trebuchet MS" pitchFamily="34" charset="0"/>
                <a:ea typeface="Trebuchet MS" pitchFamily="34" charset="-122"/>
                <a:cs typeface="Trebuchet MS" pitchFamily="34" charset="-120"/>
              </a:rPr>
              <a:t>05  EVALUATE</a:t>
            </a:r>
            <a:endParaRPr lang="en-US" sz="1150" dirty="0"/>
          </a:p>
        </p:txBody>
      </p:sp>
      <p:sp>
        <p:nvSpPr>
          <p:cNvPr id="38" name="Text 36"/>
          <p:cNvSpPr/>
          <p:nvPr/>
        </p:nvSpPr>
        <p:spPr>
          <a:xfrm>
            <a:off x="3191256" y="3346704"/>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Professional Conduct &amp; Ethics</a:t>
            </a:r>
            <a:endParaRPr lang="en-US" sz="1000" dirty="0"/>
          </a:p>
        </p:txBody>
      </p:sp>
      <p:sp>
        <p:nvSpPr>
          <p:cNvPr id="39" name="Text 37"/>
          <p:cNvSpPr/>
          <p:nvPr/>
        </p:nvSpPr>
        <p:spPr>
          <a:xfrm>
            <a:off x="3191256" y="3675888"/>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Inculpatory vs Exculpatory Evidence</a:t>
            </a:r>
            <a:endParaRPr lang="en-US" sz="1000" dirty="0"/>
          </a:p>
        </p:txBody>
      </p:sp>
      <p:sp>
        <p:nvSpPr>
          <p:cNvPr id="40" name="Shape 38"/>
          <p:cNvSpPr/>
          <p:nvPr/>
        </p:nvSpPr>
        <p:spPr>
          <a:xfrm>
            <a:off x="6071616" y="2871216"/>
            <a:ext cx="2871216" cy="1901952"/>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41" name="Shape 39"/>
          <p:cNvSpPr/>
          <p:nvPr/>
        </p:nvSpPr>
        <p:spPr>
          <a:xfrm>
            <a:off x="6071616" y="2871216"/>
            <a:ext cx="2871216" cy="402336"/>
          </a:xfrm>
          <a:prstGeom prst="rect">
            <a:avLst/>
          </a:prstGeom>
          <a:solidFill>
            <a:srgbClr val="EF233C"/>
          </a:solidFill>
          <a:ln w="12700">
            <a:solidFill>
              <a:srgbClr val="EF233C"/>
            </a:solidFill>
            <a:prstDash val="solid"/>
          </a:ln>
        </p:spPr>
        <p:txBody>
          <a:bodyPr/>
          <a:lstStyle/>
          <a:p>
            <a:endParaRPr lang="en-SG"/>
          </a:p>
        </p:txBody>
      </p:sp>
      <p:sp>
        <p:nvSpPr>
          <p:cNvPr id="42" name="Text 40"/>
          <p:cNvSpPr/>
          <p:nvPr/>
        </p:nvSpPr>
        <p:spPr>
          <a:xfrm>
            <a:off x="6163056" y="2935224"/>
            <a:ext cx="2688336" cy="256032"/>
          </a:xfrm>
          <a:prstGeom prst="rect">
            <a:avLst/>
          </a:prstGeom>
          <a:noFill/>
          <a:ln/>
        </p:spPr>
        <p:txBody>
          <a:bodyPr wrap="square" lIns="0" tIns="0" rIns="0" bIns="0" rtlCol="0" anchor="ctr"/>
          <a:lstStyle/>
          <a:p>
            <a:pPr marL="0" indent="0">
              <a:buNone/>
            </a:pPr>
            <a:r>
              <a:rPr lang="en-US" sz="1150" b="1" kern="0" spc="100" dirty="0">
                <a:solidFill>
                  <a:srgbClr val="1A1A2E"/>
                </a:solidFill>
                <a:latin typeface="Trebuchet MS" pitchFamily="34" charset="0"/>
                <a:ea typeface="Trebuchet MS" pitchFamily="34" charset="-122"/>
                <a:cs typeface="Trebuchet MS" pitchFamily="34" charset="-120"/>
              </a:rPr>
              <a:t>06  CREATE</a:t>
            </a:r>
            <a:endParaRPr lang="en-US" sz="1150" dirty="0"/>
          </a:p>
        </p:txBody>
      </p:sp>
      <p:sp>
        <p:nvSpPr>
          <p:cNvPr id="43" name="Text 41"/>
          <p:cNvSpPr/>
          <p:nvPr/>
        </p:nvSpPr>
        <p:spPr>
          <a:xfrm>
            <a:off x="6181344" y="3346704"/>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Forensic Software &amp; Hardware Tools</a:t>
            </a:r>
            <a:endParaRPr lang="en-US" sz="1000" dirty="0"/>
          </a:p>
        </p:txBody>
      </p:sp>
      <p:sp>
        <p:nvSpPr>
          <p:cNvPr id="44" name="Text 42"/>
          <p:cNvSpPr/>
          <p:nvPr/>
        </p:nvSpPr>
        <p:spPr>
          <a:xfrm>
            <a:off x="6181344" y="3675888"/>
            <a:ext cx="2651760" cy="301752"/>
          </a:xfrm>
          <a:prstGeom prst="rect">
            <a:avLst/>
          </a:prstGeom>
          <a:noFill/>
          <a:ln/>
        </p:spPr>
        <p:txBody>
          <a:bodyPr wrap="square" rtlCol="0" anchor="ctr"/>
          <a:lstStyle/>
          <a:p>
            <a:r>
              <a:rPr lang="en-US" sz="1000" dirty="0">
                <a:solidFill>
                  <a:srgbClr val="1A1A2E"/>
                </a:solidFill>
                <a:latin typeface="Calibri" pitchFamily="34" charset="0"/>
                <a:ea typeface="Calibri" pitchFamily="34" charset="-122"/>
                <a:cs typeface="Calibri" pitchFamily="34" charset="-120"/>
              </a:rPr>
              <a:t>Module Summary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00B4D8"/>
          </a:solidFill>
          <a:ln w="12700">
            <a:solidFill>
              <a:srgbClr val="00B4D8"/>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a:ln/>
        </p:spPr>
        <p:txBody>
          <a:bodyPr wrap="square" lIns="0" tIns="0" rIns="0" bIns="0" rtlCol="0" anchor="ctr"/>
          <a:lstStyle/>
          <a:p>
            <a:pPr marL="0" indent="0" algn="ctr">
              <a:buNone/>
            </a:pPr>
            <a:r>
              <a:rPr lang="en-US" sz="9600" b="1" dirty="0">
                <a:solidFill>
                  <a:srgbClr val="1A1A2E"/>
                </a:solidFill>
                <a:latin typeface="Trebuchet MS" pitchFamily="34" charset="0"/>
                <a:ea typeface="Trebuchet MS" pitchFamily="34" charset="-122"/>
                <a:cs typeface="Trebuchet MS" pitchFamily="34" charset="-120"/>
              </a:rPr>
              <a:t>01</a:t>
            </a:r>
            <a:endParaRPr lang="en-US" sz="9600" dirty="0"/>
          </a:p>
        </p:txBody>
      </p:sp>
      <p:sp>
        <p:nvSpPr>
          <p:cNvPr id="6" name="Text 4"/>
          <p:cNvSpPr/>
          <p:nvPr/>
        </p:nvSpPr>
        <p:spPr>
          <a:xfrm>
            <a:off x="201168" y="1938528"/>
            <a:ext cx="3657600" cy="914400"/>
          </a:xfrm>
          <a:prstGeom prst="rect">
            <a:avLst/>
          </a:prstGeom>
          <a:noFill/>
          <a:ln/>
        </p:spPr>
        <p:txBody>
          <a:bodyPr wrap="square" rtlCol="0" anchor="ctr"/>
          <a:lstStyle/>
          <a:p>
            <a:pPr marL="0" indent="0" algn="ctr">
              <a:buNone/>
            </a:pPr>
            <a:r>
              <a:rPr lang="en-US" sz="1300" i="1" dirty="0">
                <a:solidFill>
                  <a:srgbClr val="000000"/>
                </a:solidFill>
                <a:latin typeface="Calibri" pitchFamily="34" charset="0"/>
                <a:ea typeface="Calibri" pitchFamily="34" charset="-122"/>
                <a:cs typeface="Calibri" pitchFamily="34" charset="-120"/>
              </a:rPr>
              <a:t>Key facts, definitions and foundational vocabulary</a:t>
            </a:r>
            <a:endParaRPr lang="en-US" sz="1300" dirty="0"/>
          </a:p>
        </p:txBody>
      </p:sp>
      <p:sp>
        <p:nvSpPr>
          <p:cNvPr id="7" name="Text 5"/>
          <p:cNvSpPr/>
          <p:nvPr/>
        </p:nvSpPr>
        <p:spPr>
          <a:xfrm>
            <a:off x="4572000" y="566928"/>
            <a:ext cx="4297680" cy="329184"/>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4663440" y="1115568"/>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1</a:t>
            </a:r>
            <a:endParaRPr lang="en-US" sz="1100" dirty="0"/>
          </a:p>
        </p:txBody>
      </p:sp>
      <p:sp>
        <p:nvSpPr>
          <p:cNvPr id="11" name="Text 9"/>
          <p:cNvSpPr/>
          <p:nvPr/>
        </p:nvSpPr>
        <p:spPr>
          <a:xfrm>
            <a:off x="5166360" y="1097280"/>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Definition of Digital Forensics</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00B4D8"/>
          </a:solidFill>
          <a:ln w="12700">
            <a:solidFill>
              <a:srgbClr val="00B4D8"/>
            </a:solidFill>
            <a:prstDash val="solid"/>
          </a:ln>
        </p:spPr>
        <p:txBody>
          <a:bodyPr/>
          <a:lstStyle/>
          <a:p>
            <a:endParaRPr lang="en-SG"/>
          </a:p>
        </p:txBody>
      </p:sp>
      <p:sp>
        <p:nvSpPr>
          <p:cNvPr id="14" name="Text 12"/>
          <p:cNvSpPr/>
          <p:nvPr/>
        </p:nvSpPr>
        <p:spPr>
          <a:xfrm>
            <a:off x="4663440" y="1773936"/>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2</a:t>
            </a:r>
            <a:endParaRPr lang="en-US" sz="1100" dirty="0"/>
          </a:p>
        </p:txBody>
      </p:sp>
      <p:sp>
        <p:nvSpPr>
          <p:cNvPr id="15" name="Text 13"/>
          <p:cNvSpPr/>
          <p:nvPr/>
        </p:nvSpPr>
        <p:spPr>
          <a:xfrm>
            <a:off x="5166360" y="1755648"/>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Locard's Exchange Principle</a:t>
            </a:r>
            <a:endParaRPr lang="en-US" sz="1200" dirty="0"/>
          </a:p>
        </p:txBody>
      </p:sp>
      <p:sp>
        <p:nvSpPr>
          <p:cNvPr id="16" name="Shape 14"/>
          <p:cNvSpPr/>
          <p:nvPr/>
        </p:nvSpPr>
        <p:spPr>
          <a:xfrm>
            <a:off x="4572000" y="2322576"/>
            <a:ext cx="4297680" cy="566928"/>
          </a:xfrm>
          <a:prstGeom prst="rect">
            <a:avLst/>
          </a:prstGeom>
          <a:noFill/>
          <a:ln w="12700">
            <a:solidFill>
              <a:srgbClr val="FFFFFF">
                <a:alpha val="20000"/>
              </a:srgbClr>
            </a:solidFill>
            <a:prstDash val="solid"/>
          </a:ln>
        </p:spPr>
        <p:txBody>
          <a:bodyPr/>
          <a:lstStyle/>
          <a:p>
            <a:endParaRPr lang="en-SG"/>
          </a:p>
        </p:txBody>
      </p:sp>
      <p:sp>
        <p:nvSpPr>
          <p:cNvPr id="17" name="Shape 15"/>
          <p:cNvSpPr/>
          <p:nvPr/>
        </p:nvSpPr>
        <p:spPr>
          <a:xfrm>
            <a:off x="4663440" y="2386584"/>
            <a:ext cx="402336" cy="402336"/>
          </a:xfrm>
          <a:prstGeom prst="ellipse">
            <a:avLst/>
          </a:prstGeom>
          <a:solidFill>
            <a:srgbClr val="00B4D8"/>
          </a:solidFill>
          <a:ln w="12700">
            <a:solidFill>
              <a:srgbClr val="00B4D8"/>
            </a:solidFill>
            <a:prstDash val="solid"/>
          </a:ln>
        </p:spPr>
        <p:txBody>
          <a:bodyPr/>
          <a:lstStyle/>
          <a:p>
            <a:endParaRPr lang="en-SG"/>
          </a:p>
        </p:txBody>
      </p:sp>
      <p:sp>
        <p:nvSpPr>
          <p:cNvPr id="18" name="Text 16"/>
          <p:cNvSpPr/>
          <p:nvPr/>
        </p:nvSpPr>
        <p:spPr>
          <a:xfrm>
            <a:off x="4663440" y="2432304"/>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3</a:t>
            </a:r>
            <a:endParaRPr lang="en-US" sz="1100" dirty="0"/>
          </a:p>
        </p:txBody>
      </p:sp>
      <p:sp>
        <p:nvSpPr>
          <p:cNvPr id="19" name="Text 17"/>
          <p:cNvSpPr/>
          <p:nvPr/>
        </p:nvSpPr>
        <p:spPr>
          <a:xfrm>
            <a:off x="5166360" y="2414016"/>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Sub-categories of Digital Forensics</a:t>
            </a:r>
            <a:endParaRPr lang="en-US" sz="1200" dirty="0"/>
          </a:p>
        </p:txBody>
      </p:sp>
      <p:sp>
        <p:nvSpPr>
          <p:cNvPr id="20" name="Shape 18"/>
          <p:cNvSpPr/>
          <p:nvPr/>
        </p:nvSpPr>
        <p:spPr>
          <a:xfrm>
            <a:off x="4572000" y="2980944"/>
            <a:ext cx="4297680" cy="566928"/>
          </a:xfrm>
          <a:prstGeom prst="rect">
            <a:avLst/>
          </a:prstGeom>
          <a:noFill/>
          <a:ln w="12700">
            <a:solidFill>
              <a:srgbClr val="FFFFFF">
                <a:alpha val="20000"/>
              </a:srgbClr>
            </a:solidFill>
            <a:prstDash val="solid"/>
          </a:ln>
        </p:spPr>
        <p:txBody>
          <a:bodyPr/>
          <a:lstStyle/>
          <a:p>
            <a:endParaRPr lang="en-SG"/>
          </a:p>
        </p:txBody>
      </p:sp>
      <p:sp>
        <p:nvSpPr>
          <p:cNvPr id="21" name="Shape 19"/>
          <p:cNvSpPr/>
          <p:nvPr/>
        </p:nvSpPr>
        <p:spPr>
          <a:xfrm>
            <a:off x="4663440" y="3044952"/>
            <a:ext cx="402336" cy="402336"/>
          </a:xfrm>
          <a:prstGeom prst="ellipse">
            <a:avLst/>
          </a:prstGeom>
          <a:solidFill>
            <a:srgbClr val="00B4D8"/>
          </a:solidFill>
          <a:ln w="12700">
            <a:solidFill>
              <a:srgbClr val="00B4D8"/>
            </a:solidFill>
            <a:prstDash val="solid"/>
          </a:ln>
        </p:spPr>
        <p:txBody>
          <a:bodyPr/>
          <a:lstStyle/>
          <a:p>
            <a:endParaRPr lang="en-SG"/>
          </a:p>
        </p:txBody>
      </p:sp>
      <p:sp>
        <p:nvSpPr>
          <p:cNvPr id="22" name="Text 20"/>
          <p:cNvSpPr/>
          <p:nvPr/>
        </p:nvSpPr>
        <p:spPr>
          <a:xfrm>
            <a:off x="4663440" y="3090672"/>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4</a:t>
            </a:r>
            <a:endParaRPr lang="en-US" sz="1100" dirty="0"/>
          </a:p>
        </p:txBody>
      </p:sp>
      <p:sp>
        <p:nvSpPr>
          <p:cNvPr id="23" name="Text 21"/>
          <p:cNvSpPr/>
          <p:nvPr/>
        </p:nvSpPr>
        <p:spPr>
          <a:xfrm>
            <a:off x="5166360" y="3072384"/>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Types of Storage Media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B4D8"/>
          </a:solidFill>
          <a:ln w="12700">
            <a:solidFill>
              <a:srgbClr val="00B4D8"/>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Definition of Digital Forensics</a:t>
            </a:r>
            <a:endParaRPr lang="en-US" sz="1700" dirty="0"/>
          </a:p>
        </p:txBody>
      </p:sp>
      <p:sp>
        <p:nvSpPr>
          <p:cNvPr id="6" name="Shape 4"/>
          <p:cNvSpPr/>
          <p:nvPr/>
        </p:nvSpPr>
        <p:spPr>
          <a:xfrm>
            <a:off x="164592" y="841248"/>
            <a:ext cx="5394960" cy="1664208"/>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7" name="Text 5"/>
          <p:cNvSpPr/>
          <p:nvPr/>
        </p:nvSpPr>
        <p:spPr>
          <a:xfrm>
            <a:off x="292608" y="914400"/>
            <a:ext cx="5120640" cy="310896"/>
          </a:xfrm>
          <a:prstGeom prst="rect">
            <a:avLst/>
          </a:prstGeom>
          <a:noFill/>
          <a:ln/>
        </p:spPr>
        <p:txBody>
          <a:bodyPr wrap="square" rtlCol="0" anchor="ctr"/>
          <a:lstStyle/>
          <a:p>
            <a:pPr marL="0" indent="0">
              <a:buNone/>
            </a:pPr>
            <a:r>
              <a:rPr lang="en-US" sz="1400" b="1" dirty="0">
                <a:solidFill>
                  <a:srgbClr val="00B4D8"/>
                </a:solidFill>
                <a:latin typeface="Trebuchet MS" pitchFamily="34" charset="0"/>
                <a:ea typeface="Trebuchet MS" pitchFamily="34" charset="-122"/>
                <a:cs typeface="Trebuchet MS" pitchFamily="34" charset="-120"/>
              </a:rPr>
              <a:t>Digital Forensics</a:t>
            </a:r>
            <a:endParaRPr lang="en-US" sz="1400" dirty="0"/>
          </a:p>
        </p:txBody>
      </p:sp>
      <p:sp>
        <p:nvSpPr>
          <p:cNvPr id="8" name="Text 6"/>
          <p:cNvSpPr/>
          <p:nvPr/>
        </p:nvSpPr>
        <p:spPr>
          <a:xfrm>
            <a:off x="292608" y="1261872"/>
            <a:ext cx="5120640" cy="114300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The application of scientifically proven methods to collect, preserve, examine and present digital evidence in a manner that is legally admissible in a court of law.</a:t>
            </a:r>
            <a:endParaRPr lang="en-US" sz="1200" dirty="0"/>
          </a:p>
        </p:txBody>
      </p:sp>
      <p:sp>
        <p:nvSpPr>
          <p:cNvPr id="9" name="Shape 7"/>
          <p:cNvSpPr/>
          <p:nvPr/>
        </p:nvSpPr>
        <p:spPr>
          <a:xfrm>
            <a:off x="5724144" y="841248"/>
            <a:ext cx="3255264" cy="365760"/>
          </a:xfrm>
          <a:prstGeom prst="rect">
            <a:avLst/>
          </a:prstGeom>
          <a:solidFill>
            <a:srgbClr val="EEF6FB"/>
          </a:solidFill>
          <a:ln w="12700">
            <a:solidFill>
              <a:srgbClr val="2E4068"/>
            </a:solidFill>
            <a:prstDash val="solid"/>
          </a:ln>
          <a:effectLst>
            <a:outerShdw blurRad="152400" dist="50800" dir="8100000" algn="bl" rotWithShape="0">
              <a:srgbClr val="000000">
                <a:alpha val="40000"/>
              </a:srgbClr>
            </a:outerShdw>
          </a:effectLst>
        </p:spPr>
        <p:txBody>
          <a:bodyPr/>
          <a:lstStyle/>
          <a:p>
            <a:endParaRPr lang="en-SG"/>
          </a:p>
        </p:txBody>
      </p:sp>
      <p:sp>
        <p:nvSpPr>
          <p:cNvPr id="10" name="Shape 8"/>
          <p:cNvSpPr/>
          <p:nvPr/>
        </p:nvSpPr>
        <p:spPr>
          <a:xfrm>
            <a:off x="5724144" y="841248"/>
            <a:ext cx="182880" cy="365760"/>
          </a:xfrm>
          <a:prstGeom prst="rect">
            <a:avLst/>
          </a:prstGeom>
          <a:solidFill>
            <a:srgbClr val="2E4068"/>
          </a:solidFill>
          <a:ln w="12700">
            <a:solidFill>
              <a:srgbClr val="2E4068"/>
            </a:solidFill>
            <a:prstDash val="solid"/>
          </a:ln>
        </p:spPr>
        <p:txBody>
          <a:bodyPr/>
          <a:lstStyle/>
          <a:p>
            <a:endParaRPr lang="en-SG"/>
          </a:p>
        </p:txBody>
      </p:sp>
      <p:sp>
        <p:nvSpPr>
          <p:cNvPr id="11" name="Text 9"/>
          <p:cNvSpPr/>
          <p:nvPr/>
        </p:nvSpPr>
        <p:spPr>
          <a:xfrm>
            <a:off x="5998464" y="877824"/>
            <a:ext cx="2834640" cy="164592"/>
          </a:xfrm>
          <a:prstGeom prst="rect">
            <a:avLst/>
          </a:prstGeom>
          <a:noFill/>
          <a:ln/>
        </p:spPr>
        <p:txBody>
          <a:bodyPr wrap="square" lIns="0" tIns="0" rIns="0" bIns="0" rtlCol="0" anchor="ctr"/>
          <a:lstStyle/>
          <a:p>
            <a:pPr marL="0" indent="0">
              <a:buNone/>
            </a:pPr>
            <a:r>
              <a:rPr lang="en-US" sz="1100" b="1" dirty="0">
                <a:solidFill>
                  <a:srgbClr val="00B4D8"/>
                </a:solidFill>
                <a:latin typeface="Trebuchet MS" pitchFamily="34" charset="0"/>
                <a:ea typeface="Trebuchet MS" pitchFamily="34" charset="-122"/>
                <a:cs typeface="Trebuchet MS" pitchFamily="34" charset="-120"/>
              </a:rPr>
              <a:t>Admissibility</a:t>
            </a:r>
            <a:endParaRPr lang="en-US" sz="1100" dirty="0"/>
          </a:p>
        </p:txBody>
      </p:sp>
      <p:sp>
        <p:nvSpPr>
          <p:cNvPr id="12" name="Text 10"/>
          <p:cNvSpPr/>
          <p:nvPr/>
        </p:nvSpPr>
        <p:spPr>
          <a:xfrm>
            <a:off x="5998464" y="1042416"/>
            <a:ext cx="2834640" cy="128016"/>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Evidence must be accepted and usable in court</a:t>
            </a:r>
            <a:endParaRPr lang="en-US" sz="950" dirty="0"/>
          </a:p>
        </p:txBody>
      </p:sp>
      <p:sp>
        <p:nvSpPr>
          <p:cNvPr id="13" name="Shape 11"/>
          <p:cNvSpPr/>
          <p:nvPr/>
        </p:nvSpPr>
        <p:spPr>
          <a:xfrm>
            <a:off x="5724144" y="1261872"/>
            <a:ext cx="3255264" cy="365760"/>
          </a:xfrm>
          <a:prstGeom prst="rect">
            <a:avLst/>
          </a:prstGeom>
          <a:solidFill>
            <a:srgbClr val="EEF6FB"/>
          </a:solidFill>
          <a:ln w="12700">
            <a:solidFill>
              <a:srgbClr val="2E4068"/>
            </a:solidFill>
            <a:prstDash val="solid"/>
          </a:ln>
          <a:effectLst>
            <a:outerShdw blurRad="152400" dist="50800" dir="8100000" algn="bl" rotWithShape="0">
              <a:srgbClr val="000000">
                <a:alpha val="40000"/>
              </a:srgbClr>
            </a:outerShdw>
          </a:effectLst>
        </p:spPr>
        <p:txBody>
          <a:bodyPr/>
          <a:lstStyle/>
          <a:p>
            <a:endParaRPr lang="en-SG"/>
          </a:p>
        </p:txBody>
      </p:sp>
      <p:sp>
        <p:nvSpPr>
          <p:cNvPr id="14" name="Shape 12"/>
          <p:cNvSpPr/>
          <p:nvPr/>
        </p:nvSpPr>
        <p:spPr>
          <a:xfrm>
            <a:off x="5724144" y="1261872"/>
            <a:ext cx="182880" cy="365760"/>
          </a:xfrm>
          <a:prstGeom prst="rect">
            <a:avLst/>
          </a:prstGeom>
          <a:solidFill>
            <a:srgbClr val="2E4068"/>
          </a:solidFill>
          <a:ln w="12700">
            <a:solidFill>
              <a:srgbClr val="2E4068"/>
            </a:solidFill>
            <a:prstDash val="solid"/>
          </a:ln>
        </p:spPr>
        <p:txBody>
          <a:bodyPr/>
          <a:lstStyle/>
          <a:p>
            <a:endParaRPr lang="en-SG"/>
          </a:p>
        </p:txBody>
      </p:sp>
      <p:sp>
        <p:nvSpPr>
          <p:cNvPr id="15" name="Text 13"/>
          <p:cNvSpPr/>
          <p:nvPr/>
        </p:nvSpPr>
        <p:spPr>
          <a:xfrm>
            <a:off x="5998464" y="1298448"/>
            <a:ext cx="2834640" cy="164592"/>
          </a:xfrm>
          <a:prstGeom prst="rect">
            <a:avLst/>
          </a:prstGeom>
          <a:noFill/>
          <a:ln/>
        </p:spPr>
        <p:txBody>
          <a:bodyPr wrap="square" lIns="0" tIns="0" rIns="0" bIns="0" rtlCol="0" anchor="ctr"/>
          <a:lstStyle/>
          <a:p>
            <a:pPr marL="0" indent="0">
              <a:buNone/>
            </a:pPr>
            <a:r>
              <a:rPr lang="en-US" sz="1100" b="1" dirty="0">
                <a:solidFill>
                  <a:srgbClr val="00B4D8"/>
                </a:solidFill>
                <a:latin typeface="Trebuchet MS" pitchFamily="34" charset="0"/>
                <a:ea typeface="Trebuchet MS" pitchFamily="34" charset="-122"/>
                <a:cs typeface="Trebuchet MS" pitchFamily="34" charset="-120"/>
              </a:rPr>
              <a:t>Authenticity</a:t>
            </a:r>
            <a:endParaRPr lang="en-US" sz="1100" dirty="0"/>
          </a:p>
        </p:txBody>
      </p:sp>
      <p:sp>
        <p:nvSpPr>
          <p:cNvPr id="16" name="Text 14"/>
          <p:cNvSpPr/>
          <p:nvPr/>
        </p:nvSpPr>
        <p:spPr>
          <a:xfrm>
            <a:off x="5998464" y="1463040"/>
            <a:ext cx="2834640" cy="128016"/>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Evidence has not been altered since collection</a:t>
            </a:r>
            <a:endParaRPr lang="en-US" sz="950" dirty="0"/>
          </a:p>
        </p:txBody>
      </p:sp>
      <p:sp>
        <p:nvSpPr>
          <p:cNvPr id="17" name="Shape 15"/>
          <p:cNvSpPr/>
          <p:nvPr/>
        </p:nvSpPr>
        <p:spPr>
          <a:xfrm>
            <a:off x="5724144" y="1682496"/>
            <a:ext cx="3255264" cy="365760"/>
          </a:xfrm>
          <a:prstGeom prst="rect">
            <a:avLst/>
          </a:prstGeom>
          <a:solidFill>
            <a:srgbClr val="EEF6FB"/>
          </a:solidFill>
          <a:ln w="12700">
            <a:solidFill>
              <a:srgbClr val="2E4068"/>
            </a:solidFill>
            <a:prstDash val="solid"/>
          </a:ln>
          <a:effectLst>
            <a:outerShdw blurRad="152400" dist="50800" dir="8100000" algn="bl" rotWithShape="0">
              <a:srgbClr val="000000">
                <a:alpha val="40000"/>
              </a:srgbClr>
            </a:outerShdw>
          </a:effectLst>
        </p:spPr>
        <p:txBody>
          <a:bodyPr/>
          <a:lstStyle/>
          <a:p>
            <a:endParaRPr lang="en-SG"/>
          </a:p>
        </p:txBody>
      </p:sp>
      <p:sp>
        <p:nvSpPr>
          <p:cNvPr id="18" name="Shape 16"/>
          <p:cNvSpPr/>
          <p:nvPr/>
        </p:nvSpPr>
        <p:spPr>
          <a:xfrm>
            <a:off x="5724144" y="1682496"/>
            <a:ext cx="182880" cy="365760"/>
          </a:xfrm>
          <a:prstGeom prst="rect">
            <a:avLst/>
          </a:prstGeom>
          <a:solidFill>
            <a:srgbClr val="2E4068"/>
          </a:solidFill>
          <a:ln w="12700">
            <a:solidFill>
              <a:srgbClr val="2E4068"/>
            </a:solidFill>
            <a:prstDash val="solid"/>
          </a:ln>
        </p:spPr>
        <p:txBody>
          <a:bodyPr/>
          <a:lstStyle/>
          <a:p>
            <a:endParaRPr lang="en-SG"/>
          </a:p>
        </p:txBody>
      </p:sp>
      <p:sp>
        <p:nvSpPr>
          <p:cNvPr id="19" name="Text 17"/>
          <p:cNvSpPr/>
          <p:nvPr/>
        </p:nvSpPr>
        <p:spPr>
          <a:xfrm>
            <a:off x="5998464" y="1719072"/>
            <a:ext cx="2834640" cy="164592"/>
          </a:xfrm>
          <a:prstGeom prst="rect">
            <a:avLst/>
          </a:prstGeom>
          <a:noFill/>
          <a:ln/>
        </p:spPr>
        <p:txBody>
          <a:bodyPr wrap="square" lIns="0" tIns="0" rIns="0" bIns="0" rtlCol="0" anchor="ctr"/>
          <a:lstStyle/>
          <a:p>
            <a:pPr marL="0" indent="0">
              <a:buNone/>
            </a:pPr>
            <a:r>
              <a:rPr lang="en-US" sz="1100" b="1" dirty="0">
                <a:solidFill>
                  <a:srgbClr val="00B4D8"/>
                </a:solidFill>
                <a:latin typeface="Trebuchet MS" pitchFamily="34" charset="0"/>
                <a:ea typeface="Trebuchet MS" pitchFamily="34" charset="-122"/>
                <a:cs typeface="Trebuchet MS" pitchFamily="34" charset="-120"/>
              </a:rPr>
              <a:t>Completeness</a:t>
            </a:r>
            <a:endParaRPr lang="en-US" sz="1100" dirty="0"/>
          </a:p>
        </p:txBody>
      </p:sp>
      <p:sp>
        <p:nvSpPr>
          <p:cNvPr id="20" name="Text 18"/>
          <p:cNvSpPr/>
          <p:nvPr/>
        </p:nvSpPr>
        <p:spPr>
          <a:xfrm>
            <a:off x="5998464" y="1883664"/>
            <a:ext cx="2834640" cy="128016"/>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Full and unbiased picture of the evidence collected</a:t>
            </a:r>
            <a:endParaRPr lang="en-US" sz="950" dirty="0"/>
          </a:p>
        </p:txBody>
      </p:sp>
      <p:sp>
        <p:nvSpPr>
          <p:cNvPr id="21" name="Shape 19"/>
          <p:cNvSpPr/>
          <p:nvPr/>
        </p:nvSpPr>
        <p:spPr>
          <a:xfrm>
            <a:off x="5724144" y="2103120"/>
            <a:ext cx="3255264" cy="365760"/>
          </a:xfrm>
          <a:prstGeom prst="rect">
            <a:avLst/>
          </a:prstGeom>
          <a:solidFill>
            <a:srgbClr val="EEF6FB"/>
          </a:solidFill>
          <a:ln w="12700">
            <a:solidFill>
              <a:srgbClr val="2E4068"/>
            </a:solidFill>
            <a:prstDash val="solid"/>
          </a:ln>
          <a:effectLst>
            <a:outerShdw blurRad="152400" dist="50800" dir="8100000" algn="bl" rotWithShape="0">
              <a:srgbClr val="000000">
                <a:alpha val="40000"/>
              </a:srgbClr>
            </a:outerShdw>
          </a:effectLst>
        </p:spPr>
        <p:txBody>
          <a:bodyPr/>
          <a:lstStyle/>
          <a:p>
            <a:endParaRPr lang="en-SG"/>
          </a:p>
        </p:txBody>
      </p:sp>
      <p:sp>
        <p:nvSpPr>
          <p:cNvPr id="22" name="Shape 20"/>
          <p:cNvSpPr/>
          <p:nvPr/>
        </p:nvSpPr>
        <p:spPr>
          <a:xfrm>
            <a:off x="5724144" y="2103120"/>
            <a:ext cx="182880" cy="365760"/>
          </a:xfrm>
          <a:prstGeom prst="rect">
            <a:avLst/>
          </a:prstGeom>
          <a:solidFill>
            <a:srgbClr val="2E4068"/>
          </a:solidFill>
          <a:ln w="12700">
            <a:solidFill>
              <a:srgbClr val="2E4068"/>
            </a:solidFill>
            <a:prstDash val="solid"/>
          </a:ln>
        </p:spPr>
        <p:txBody>
          <a:bodyPr/>
          <a:lstStyle/>
          <a:p>
            <a:endParaRPr lang="en-SG"/>
          </a:p>
        </p:txBody>
      </p:sp>
      <p:sp>
        <p:nvSpPr>
          <p:cNvPr id="23" name="Text 21"/>
          <p:cNvSpPr/>
          <p:nvPr/>
        </p:nvSpPr>
        <p:spPr>
          <a:xfrm>
            <a:off x="5998464" y="2139696"/>
            <a:ext cx="2834640" cy="164592"/>
          </a:xfrm>
          <a:prstGeom prst="rect">
            <a:avLst/>
          </a:prstGeom>
          <a:noFill/>
          <a:ln/>
        </p:spPr>
        <p:txBody>
          <a:bodyPr wrap="square" lIns="0" tIns="0" rIns="0" bIns="0" rtlCol="0" anchor="ctr"/>
          <a:lstStyle/>
          <a:p>
            <a:pPr marL="0" indent="0">
              <a:buNone/>
            </a:pPr>
            <a:r>
              <a:rPr lang="en-US" sz="1100" b="1" dirty="0">
                <a:solidFill>
                  <a:srgbClr val="00B4D8"/>
                </a:solidFill>
                <a:latin typeface="Trebuchet MS" pitchFamily="34" charset="0"/>
                <a:ea typeface="Trebuchet MS" pitchFamily="34" charset="-122"/>
                <a:cs typeface="Trebuchet MS" pitchFamily="34" charset="-120"/>
              </a:rPr>
              <a:t>Reliability</a:t>
            </a:r>
            <a:endParaRPr lang="en-US" sz="1100" dirty="0"/>
          </a:p>
        </p:txBody>
      </p:sp>
      <p:sp>
        <p:nvSpPr>
          <p:cNvPr id="24" name="Text 22"/>
          <p:cNvSpPr/>
          <p:nvPr/>
        </p:nvSpPr>
        <p:spPr>
          <a:xfrm>
            <a:off x="5998464" y="2304288"/>
            <a:ext cx="2834640" cy="128016"/>
          </a:xfrm>
          <a:prstGeom prst="rect">
            <a:avLst/>
          </a:prstGeom>
          <a:noFill/>
          <a:ln/>
        </p:spPr>
        <p:txBody>
          <a:bodyPr wrap="square" lIns="0" tIns="0" rIns="0" bIns="0" rtlCol="0" anchor="ctr"/>
          <a:lstStyle/>
          <a:p>
            <a:pPr marL="0" indent="0">
              <a:buNone/>
            </a:pPr>
            <a:r>
              <a:rPr lang="en-US" sz="950" dirty="0">
                <a:solidFill>
                  <a:srgbClr val="475569"/>
                </a:solidFill>
                <a:latin typeface="Calibri" pitchFamily="34" charset="0"/>
                <a:ea typeface="Calibri" pitchFamily="34" charset="-122"/>
                <a:cs typeface="Calibri" pitchFamily="34" charset="-120"/>
              </a:rPr>
              <a:t>Findings are repeatable and consistently produced</a:t>
            </a:r>
            <a:endParaRPr lang="en-US" sz="950" dirty="0"/>
          </a:p>
        </p:txBody>
      </p:sp>
      <p:sp>
        <p:nvSpPr>
          <p:cNvPr id="25" name="Shape 23"/>
          <p:cNvSpPr/>
          <p:nvPr/>
        </p:nvSpPr>
        <p:spPr>
          <a:xfrm>
            <a:off x="164592" y="2633472"/>
            <a:ext cx="2633472" cy="1792224"/>
          </a:xfrm>
          <a:prstGeom prst="rect">
            <a:avLst/>
          </a:prstGeom>
          <a:solidFill>
            <a:srgbClr val="EEF6FB"/>
          </a:solidFill>
          <a:ln w="12700">
            <a:solidFill>
              <a:srgbClr val="2E4068"/>
            </a:solidFill>
            <a:prstDash val="solid"/>
          </a:ln>
          <a:effectLst>
            <a:outerShdw blurRad="152400" dist="50800" dir="8100000" algn="bl" rotWithShape="0">
              <a:srgbClr val="000000">
                <a:alpha val="40000"/>
              </a:srgbClr>
            </a:outerShdw>
          </a:effectLst>
        </p:spPr>
        <p:txBody>
          <a:bodyPr/>
          <a:lstStyle/>
          <a:p>
            <a:endParaRPr lang="en-SG"/>
          </a:p>
        </p:txBody>
      </p:sp>
      <p:sp>
        <p:nvSpPr>
          <p:cNvPr id="26" name="Text 24"/>
          <p:cNvSpPr/>
          <p:nvPr/>
        </p:nvSpPr>
        <p:spPr>
          <a:xfrm>
            <a:off x="274320" y="2706624"/>
            <a:ext cx="2450592" cy="274320"/>
          </a:xfrm>
          <a:prstGeom prst="rect">
            <a:avLst/>
          </a:prstGeom>
          <a:noFill/>
          <a:ln/>
        </p:spPr>
        <p:txBody>
          <a:bodyPr wrap="square" rtlCol="0" anchor="ctr"/>
          <a:lstStyle/>
          <a:p>
            <a:pPr marL="0" indent="0">
              <a:buNone/>
            </a:pPr>
            <a:r>
              <a:rPr lang="en-US" sz="1200" b="1" dirty="0">
                <a:solidFill>
                  <a:srgbClr val="06D6A0"/>
                </a:solidFill>
                <a:latin typeface="Trebuchet MS" pitchFamily="34" charset="0"/>
                <a:ea typeface="Trebuchet MS" pitchFamily="34" charset="-122"/>
                <a:cs typeface="Trebuchet MS" pitchFamily="34" charset="-120"/>
              </a:rPr>
              <a:t>Also Known As</a:t>
            </a:r>
            <a:endParaRPr lang="en-US" sz="1200" dirty="0"/>
          </a:p>
        </p:txBody>
      </p:sp>
      <p:sp>
        <p:nvSpPr>
          <p:cNvPr id="27" name="Text 25"/>
          <p:cNvSpPr/>
          <p:nvPr/>
        </p:nvSpPr>
        <p:spPr>
          <a:xfrm>
            <a:off x="274320" y="3035808"/>
            <a:ext cx="2450592" cy="292608"/>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Computer Forensics</a:t>
            </a:r>
            <a:endParaRPr lang="en-US" sz="1100" dirty="0"/>
          </a:p>
        </p:txBody>
      </p:sp>
      <p:sp>
        <p:nvSpPr>
          <p:cNvPr id="28" name="Text 26"/>
          <p:cNvSpPr/>
          <p:nvPr/>
        </p:nvSpPr>
        <p:spPr>
          <a:xfrm>
            <a:off x="274320" y="3355848"/>
            <a:ext cx="2450592" cy="292608"/>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Cyber Forensics</a:t>
            </a:r>
            <a:endParaRPr lang="en-US" sz="1100" dirty="0"/>
          </a:p>
        </p:txBody>
      </p:sp>
      <p:sp>
        <p:nvSpPr>
          <p:cNvPr id="29" name="Text 27"/>
          <p:cNvSpPr/>
          <p:nvPr/>
        </p:nvSpPr>
        <p:spPr>
          <a:xfrm>
            <a:off x="274320" y="3675888"/>
            <a:ext cx="2450592" cy="292608"/>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Digital Investigation</a:t>
            </a:r>
            <a:endParaRPr lang="en-US" sz="1100" dirty="0"/>
          </a:p>
        </p:txBody>
      </p:sp>
      <p:sp>
        <p:nvSpPr>
          <p:cNvPr id="30" name="Text 28"/>
          <p:cNvSpPr/>
          <p:nvPr/>
        </p:nvSpPr>
        <p:spPr>
          <a:xfrm>
            <a:off x="274320" y="3995928"/>
            <a:ext cx="2450592" cy="292608"/>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e-Discovery</a:t>
            </a:r>
            <a:endParaRPr lang="en-US" sz="1100" dirty="0"/>
          </a:p>
        </p:txBody>
      </p:sp>
      <p:sp>
        <p:nvSpPr>
          <p:cNvPr id="31" name="Shape 29"/>
          <p:cNvSpPr/>
          <p:nvPr/>
        </p:nvSpPr>
        <p:spPr>
          <a:xfrm>
            <a:off x="2962656" y="2633472"/>
            <a:ext cx="2633472" cy="1792224"/>
          </a:xfrm>
          <a:prstGeom prst="rect">
            <a:avLst/>
          </a:prstGeom>
          <a:solidFill>
            <a:srgbClr val="EEF6FB"/>
          </a:solidFill>
          <a:ln w="12700">
            <a:solidFill>
              <a:srgbClr val="2E4068"/>
            </a:solidFill>
            <a:prstDash val="solid"/>
          </a:ln>
          <a:effectLst>
            <a:outerShdw blurRad="152400" dist="50800" dir="8100000" algn="bl" rotWithShape="0">
              <a:srgbClr val="000000">
                <a:alpha val="40000"/>
              </a:srgbClr>
            </a:outerShdw>
          </a:effectLst>
        </p:spPr>
        <p:txBody>
          <a:bodyPr/>
          <a:lstStyle/>
          <a:p>
            <a:endParaRPr lang="en-SG"/>
          </a:p>
        </p:txBody>
      </p:sp>
      <p:sp>
        <p:nvSpPr>
          <p:cNvPr id="32" name="Text 30"/>
          <p:cNvSpPr/>
          <p:nvPr/>
        </p:nvSpPr>
        <p:spPr>
          <a:xfrm>
            <a:off x="3072384" y="2706624"/>
            <a:ext cx="2450592" cy="274320"/>
          </a:xfrm>
          <a:prstGeom prst="rect">
            <a:avLst/>
          </a:prstGeom>
          <a:noFill/>
          <a:ln/>
        </p:spPr>
        <p:txBody>
          <a:bodyPr wrap="square" rtlCol="0" anchor="ctr"/>
          <a:lstStyle/>
          <a:p>
            <a:pPr marL="0" indent="0">
              <a:buNone/>
            </a:pPr>
            <a:r>
              <a:rPr lang="en-US" sz="1200" b="1" dirty="0">
                <a:solidFill>
                  <a:srgbClr val="06D6A0"/>
                </a:solidFill>
                <a:latin typeface="Trebuchet MS" pitchFamily="34" charset="0"/>
                <a:ea typeface="Trebuchet MS" pitchFamily="34" charset="-122"/>
                <a:cs typeface="Trebuchet MS" pitchFamily="34" charset="-120"/>
              </a:rPr>
              <a:t>Core Objectives</a:t>
            </a:r>
            <a:endParaRPr lang="en-US" sz="1200" dirty="0"/>
          </a:p>
        </p:txBody>
      </p:sp>
      <p:sp>
        <p:nvSpPr>
          <p:cNvPr id="33" name="Text 31"/>
          <p:cNvSpPr/>
          <p:nvPr/>
        </p:nvSpPr>
        <p:spPr>
          <a:xfrm>
            <a:off x="3072384" y="3035808"/>
            <a:ext cx="2450592" cy="292608"/>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Identify digital evidence</a:t>
            </a:r>
            <a:endParaRPr lang="en-US" sz="1100" dirty="0"/>
          </a:p>
        </p:txBody>
      </p:sp>
      <p:sp>
        <p:nvSpPr>
          <p:cNvPr id="34" name="Text 32"/>
          <p:cNvSpPr/>
          <p:nvPr/>
        </p:nvSpPr>
        <p:spPr>
          <a:xfrm>
            <a:off x="3072384" y="3355848"/>
            <a:ext cx="2450592" cy="292608"/>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Preserve chain of custody</a:t>
            </a:r>
            <a:endParaRPr lang="en-US" sz="1100" dirty="0"/>
          </a:p>
        </p:txBody>
      </p:sp>
      <p:sp>
        <p:nvSpPr>
          <p:cNvPr id="35" name="Text 33"/>
          <p:cNvSpPr/>
          <p:nvPr/>
        </p:nvSpPr>
        <p:spPr>
          <a:xfrm>
            <a:off x="3072384" y="3675888"/>
            <a:ext cx="2450592" cy="292608"/>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Analyse &amp; reconstruct events</a:t>
            </a:r>
            <a:endParaRPr lang="en-US" sz="1100" dirty="0"/>
          </a:p>
        </p:txBody>
      </p:sp>
      <p:sp>
        <p:nvSpPr>
          <p:cNvPr id="36" name="Text 34"/>
          <p:cNvSpPr/>
          <p:nvPr/>
        </p:nvSpPr>
        <p:spPr>
          <a:xfrm>
            <a:off x="3072384" y="3995928"/>
            <a:ext cx="2450592" cy="292608"/>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Report findings clearly</a:t>
            </a:r>
            <a:endParaRPr lang="en-US" sz="1100" dirty="0"/>
          </a:p>
        </p:txBody>
      </p:sp>
      <p:sp>
        <p:nvSpPr>
          <p:cNvPr id="37" name="Shape 35"/>
          <p:cNvSpPr/>
          <p:nvPr/>
        </p:nvSpPr>
        <p:spPr>
          <a:xfrm>
            <a:off x="5724144" y="2633472"/>
            <a:ext cx="3255264" cy="1792224"/>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38" name="Text 36"/>
          <p:cNvSpPr/>
          <p:nvPr/>
        </p:nvSpPr>
        <p:spPr>
          <a:xfrm>
            <a:off x="5852160" y="2761488"/>
            <a:ext cx="3017520" cy="1207008"/>
          </a:xfrm>
          <a:prstGeom prst="rect">
            <a:avLst/>
          </a:prstGeom>
          <a:noFill/>
          <a:ln/>
        </p:spPr>
        <p:txBody>
          <a:bodyPr wrap="square" rtlCol="0" anchor="ctr"/>
          <a:lstStyle/>
          <a:p>
            <a:pPr marL="0" indent="0">
              <a:buNone/>
            </a:pPr>
            <a:r>
              <a:rPr lang="en-US" sz="1150" i="1" dirty="0">
                <a:solidFill>
                  <a:srgbClr val="1A1A2E"/>
                </a:solidFill>
                <a:latin typeface="Calibri" pitchFamily="34" charset="0"/>
                <a:ea typeface="Calibri" pitchFamily="34" charset="-122"/>
                <a:cs typeface="Calibri" pitchFamily="34" charset="-120"/>
              </a:rPr>
              <a:t>"Digital evidence is fragile — it can be easily altered, damaged or destroyed without leaving obvious traces."</a:t>
            </a:r>
            <a:endParaRPr lang="en-US" sz="1150" dirty="0"/>
          </a:p>
        </p:txBody>
      </p:sp>
      <p:sp>
        <p:nvSpPr>
          <p:cNvPr id="39" name="Text 37"/>
          <p:cNvSpPr/>
          <p:nvPr/>
        </p:nvSpPr>
        <p:spPr>
          <a:xfrm>
            <a:off x="5852160" y="4078224"/>
            <a:ext cx="3017520" cy="256032"/>
          </a:xfrm>
          <a:prstGeom prst="rect">
            <a:avLst/>
          </a:prstGeom>
          <a:noFill/>
          <a:ln/>
        </p:spPr>
        <p:txBody>
          <a:bodyPr wrap="square" rtlCol="0" anchor="ctr"/>
          <a:lstStyle/>
          <a:p>
            <a:pPr marL="0" indent="0">
              <a:buNone/>
            </a:pPr>
            <a:r>
              <a:rPr lang="en-US" sz="900" b="1" dirty="0">
                <a:solidFill>
                  <a:srgbClr val="00B4D8"/>
                </a:solidFill>
                <a:latin typeface="Calibri" pitchFamily="34" charset="0"/>
                <a:ea typeface="Calibri" pitchFamily="34" charset="-122"/>
                <a:cs typeface="Calibri" pitchFamily="34" charset="-120"/>
              </a:rPr>
              <a:t>— Fundamental principle of digital evidence handling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B4D8"/>
          </a:solidFill>
          <a:ln w="12700">
            <a:solidFill>
              <a:srgbClr val="00B4D8"/>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Locard's Exchange Principle</a:t>
            </a:r>
            <a:endParaRPr lang="en-US" sz="1700" dirty="0"/>
          </a:p>
        </p:txBody>
      </p:sp>
      <p:sp>
        <p:nvSpPr>
          <p:cNvPr id="6" name="Shape 4"/>
          <p:cNvSpPr/>
          <p:nvPr/>
        </p:nvSpPr>
        <p:spPr>
          <a:xfrm>
            <a:off x="164592" y="841248"/>
            <a:ext cx="2468880" cy="3950208"/>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7" name="Text 5"/>
          <p:cNvSpPr/>
          <p:nvPr/>
        </p:nvSpPr>
        <p:spPr>
          <a:xfrm>
            <a:off x="256032" y="914400"/>
            <a:ext cx="2304288" cy="329184"/>
          </a:xfrm>
          <a:prstGeom prst="rect">
            <a:avLst/>
          </a:prstGeom>
          <a:noFill/>
          <a:ln/>
        </p:spPr>
        <p:txBody>
          <a:bodyPr wrap="square" rtlCol="0" anchor="ctr"/>
          <a:lstStyle/>
          <a:p>
            <a:pPr marL="0" indent="0" algn="ctr">
              <a:buNone/>
            </a:pPr>
            <a:r>
              <a:rPr lang="en-US" sz="1300" b="1" dirty="0">
                <a:solidFill>
                  <a:srgbClr val="1A1A2E"/>
                </a:solidFill>
                <a:latin typeface="Trebuchet MS" pitchFamily="34" charset="0"/>
                <a:ea typeface="Trebuchet MS" pitchFamily="34" charset="-122"/>
                <a:cs typeface="Trebuchet MS" pitchFamily="34" charset="-120"/>
              </a:rPr>
              <a:t>Dr. Edmond Locard</a:t>
            </a:r>
            <a:endParaRPr lang="en-US" sz="1300" dirty="0"/>
          </a:p>
        </p:txBody>
      </p:sp>
      <p:sp>
        <p:nvSpPr>
          <p:cNvPr id="8" name="Text 6"/>
          <p:cNvSpPr/>
          <p:nvPr/>
        </p:nvSpPr>
        <p:spPr>
          <a:xfrm>
            <a:off x="256032" y="1243584"/>
            <a:ext cx="2304288" cy="219456"/>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1877–1966</a:t>
            </a:r>
            <a:endParaRPr lang="en-US" sz="1000" dirty="0"/>
          </a:p>
        </p:txBody>
      </p:sp>
      <p:sp>
        <p:nvSpPr>
          <p:cNvPr id="9" name="Text 7"/>
          <p:cNvSpPr/>
          <p:nvPr/>
        </p:nvSpPr>
        <p:spPr>
          <a:xfrm>
            <a:off x="256032" y="1536192"/>
            <a:ext cx="2304288" cy="1005840"/>
          </a:xfrm>
          <a:prstGeom prst="rect">
            <a:avLst/>
          </a:prstGeom>
          <a:noFill/>
          <a:ln/>
        </p:spPr>
        <p:txBody>
          <a:bodyPr wrap="square" rtlCol="0" anchor="ctr"/>
          <a:lstStyle/>
          <a:p>
            <a:pPr marL="0" indent="0" algn="ctr">
              <a:buNone/>
            </a:pPr>
            <a:r>
              <a:rPr lang="en-US" sz="1050" dirty="0">
                <a:solidFill>
                  <a:srgbClr val="1A1A2E"/>
                </a:solidFill>
                <a:latin typeface="Calibri" pitchFamily="34" charset="0"/>
                <a:ea typeface="Calibri" pitchFamily="34" charset="-122"/>
                <a:cs typeface="Calibri" pitchFamily="34" charset="-120"/>
              </a:rPr>
              <a:t>French forensic scientist, known as the 'Sherlock Holmes of France'. Pioneer of criminal investigation — founded the world's first crime laboratory in Lyon.</a:t>
            </a:r>
            <a:endParaRPr lang="en-US" sz="1050" dirty="0"/>
          </a:p>
        </p:txBody>
      </p:sp>
      <p:sp>
        <p:nvSpPr>
          <p:cNvPr id="10" name="Shape 8"/>
          <p:cNvSpPr/>
          <p:nvPr/>
        </p:nvSpPr>
        <p:spPr>
          <a:xfrm>
            <a:off x="164592" y="2706624"/>
            <a:ext cx="2468880" cy="932688"/>
          </a:xfrm>
          <a:prstGeom prst="rect">
            <a:avLst/>
          </a:prstGeom>
          <a:solidFill>
            <a:srgbClr val="00B4D8"/>
          </a:solidFill>
          <a:ln w="12700">
            <a:solidFill>
              <a:srgbClr val="00B4D8"/>
            </a:solidFill>
            <a:prstDash val="solid"/>
          </a:ln>
        </p:spPr>
        <p:txBody>
          <a:bodyPr/>
          <a:lstStyle/>
          <a:p>
            <a:endParaRPr lang="en-SG"/>
          </a:p>
        </p:txBody>
      </p:sp>
      <p:sp>
        <p:nvSpPr>
          <p:cNvPr id="11" name="Text 9"/>
          <p:cNvSpPr/>
          <p:nvPr/>
        </p:nvSpPr>
        <p:spPr>
          <a:xfrm>
            <a:off x="201168" y="2743200"/>
            <a:ext cx="2395728" cy="841248"/>
          </a:xfrm>
          <a:prstGeom prst="rect">
            <a:avLst/>
          </a:prstGeom>
          <a:noFill/>
          <a:ln/>
        </p:spPr>
        <p:txBody>
          <a:bodyPr wrap="square" rtlCol="0" anchor="ctr"/>
          <a:lstStyle/>
          <a:p>
            <a:pPr marL="0" indent="0" algn="ctr">
              <a:buNone/>
            </a:pPr>
            <a:r>
              <a:rPr lang="en-US" sz="1500" b="1" dirty="0">
                <a:solidFill>
                  <a:srgbClr val="000000"/>
                </a:solidFill>
                <a:latin typeface="Trebuchet MS" pitchFamily="34" charset="0"/>
                <a:ea typeface="Trebuchet MS" pitchFamily="34" charset="-122"/>
                <a:cs typeface="Trebuchet MS" pitchFamily="34" charset="-120"/>
              </a:rPr>
              <a:t>"Every contact</a:t>
            </a:r>
            <a:endParaRPr lang="en-US" sz="1500" dirty="0"/>
          </a:p>
          <a:p>
            <a:pPr marL="0" indent="0" algn="ctr">
              <a:buNone/>
            </a:pPr>
            <a:r>
              <a:rPr lang="en-US" sz="1500" b="1" dirty="0">
                <a:solidFill>
                  <a:srgbClr val="000000"/>
                </a:solidFill>
                <a:latin typeface="Trebuchet MS" pitchFamily="34" charset="0"/>
                <a:ea typeface="Trebuchet MS" pitchFamily="34" charset="-122"/>
                <a:cs typeface="Trebuchet MS" pitchFamily="34" charset="-120"/>
              </a:rPr>
              <a:t>leaves a trace"</a:t>
            </a:r>
            <a:endParaRPr lang="en-US" sz="1500" dirty="0"/>
          </a:p>
        </p:txBody>
      </p:sp>
      <p:sp>
        <p:nvSpPr>
          <p:cNvPr id="12" name="Shape 10"/>
          <p:cNvSpPr/>
          <p:nvPr/>
        </p:nvSpPr>
        <p:spPr>
          <a:xfrm>
            <a:off x="2798064" y="841248"/>
            <a:ext cx="6181344" cy="1261872"/>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3" name="Text 11"/>
          <p:cNvSpPr/>
          <p:nvPr/>
        </p:nvSpPr>
        <p:spPr>
          <a:xfrm>
            <a:off x="2926080" y="914400"/>
            <a:ext cx="5943600" cy="274320"/>
          </a:xfrm>
          <a:prstGeom prst="rect">
            <a:avLst/>
          </a:prstGeom>
          <a:noFill/>
          <a:ln/>
        </p:spPr>
        <p:txBody>
          <a:bodyPr wrap="square" rtlCol="0" anchor="ctr"/>
          <a:lstStyle/>
          <a:p>
            <a:pPr marL="0" indent="0">
              <a:buNone/>
            </a:pPr>
            <a:r>
              <a:rPr lang="en-US" sz="1300" b="1" dirty="0">
                <a:solidFill>
                  <a:srgbClr val="00B4D8"/>
                </a:solidFill>
                <a:latin typeface="Trebuchet MS" pitchFamily="34" charset="0"/>
                <a:ea typeface="Trebuchet MS" pitchFamily="34" charset="-122"/>
                <a:cs typeface="Trebuchet MS" pitchFamily="34" charset="-120"/>
              </a:rPr>
              <a:t>The Principle</a:t>
            </a:r>
            <a:endParaRPr lang="en-US" sz="1300" dirty="0"/>
          </a:p>
        </p:txBody>
      </p:sp>
      <p:sp>
        <p:nvSpPr>
          <p:cNvPr id="14" name="Text 12"/>
          <p:cNvSpPr/>
          <p:nvPr/>
        </p:nvSpPr>
        <p:spPr>
          <a:xfrm>
            <a:off x="2926080" y="1207008"/>
            <a:ext cx="5943600" cy="80467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When two entities come into contact, each leaves a trace on the other. In digital forensics, every interaction with a system leaves behind artefacts — log entries, metadata, registry changes, and network packets. An attacker who accesses a system ALWAYS leaves traces. Our job is to find, preserve, and interpret them.</a:t>
            </a:r>
            <a:endParaRPr lang="en-US" sz="1100" dirty="0"/>
          </a:p>
        </p:txBody>
      </p:sp>
      <p:sp>
        <p:nvSpPr>
          <p:cNvPr id="15" name="Shape 13"/>
          <p:cNvSpPr/>
          <p:nvPr/>
        </p:nvSpPr>
        <p:spPr>
          <a:xfrm>
            <a:off x="2798064" y="2249424"/>
            <a:ext cx="1993392" cy="2542032"/>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16" name="Shape 14"/>
          <p:cNvSpPr/>
          <p:nvPr/>
        </p:nvSpPr>
        <p:spPr>
          <a:xfrm>
            <a:off x="2798064" y="2249424"/>
            <a:ext cx="1993392" cy="347472"/>
          </a:xfrm>
          <a:prstGeom prst="rect">
            <a:avLst/>
          </a:prstGeom>
          <a:solidFill>
            <a:srgbClr val="FB8500"/>
          </a:solidFill>
          <a:ln w="12700">
            <a:solidFill>
              <a:srgbClr val="FB8500"/>
            </a:solidFill>
            <a:prstDash val="solid"/>
          </a:ln>
        </p:spPr>
        <p:txBody>
          <a:bodyPr/>
          <a:lstStyle/>
          <a:p>
            <a:endParaRPr lang="en-SG"/>
          </a:p>
        </p:txBody>
      </p:sp>
      <p:sp>
        <p:nvSpPr>
          <p:cNvPr id="17" name="Text 15"/>
          <p:cNvSpPr/>
          <p:nvPr/>
        </p:nvSpPr>
        <p:spPr>
          <a:xfrm>
            <a:off x="2907792" y="2304288"/>
            <a:ext cx="1792224"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Physical World</a:t>
            </a:r>
            <a:endParaRPr lang="en-US" sz="1150" dirty="0"/>
          </a:p>
        </p:txBody>
      </p:sp>
      <p:sp>
        <p:nvSpPr>
          <p:cNvPr id="18" name="Text 16"/>
          <p:cNvSpPr/>
          <p:nvPr/>
        </p:nvSpPr>
        <p:spPr>
          <a:xfrm>
            <a:off x="2889504" y="2670048"/>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Fingerprints</a:t>
            </a:r>
            <a:endParaRPr lang="en-US" sz="1000" dirty="0"/>
          </a:p>
        </p:txBody>
      </p:sp>
      <p:sp>
        <p:nvSpPr>
          <p:cNvPr id="19" name="Text 17"/>
          <p:cNvSpPr/>
          <p:nvPr/>
        </p:nvSpPr>
        <p:spPr>
          <a:xfrm>
            <a:off x="2889504" y="3072384"/>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Hair / fibre transfer</a:t>
            </a:r>
            <a:endParaRPr lang="en-US" sz="1000" dirty="0"/>
          </a:p>
        </p:txBody>
      </p:sp>
      <p:sp>
        <p:nvSpPr>
          <p:cNvPr id="20" name="Text 18"/>
          <p:cNvSpPr/>
          <p:nvPr/>
        </p:nvSpPr>
        <p:spPr>
          <a:xfrm>
            <a:off x="2889504" y="3474720"/>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Footprints</a:t>
            </a:r>
            <a:endParaRPr lang="en-US" sz="1000" dirty="0"/>
          </a:p>
        </p:txBody>
      </p:sp>
      <p:sp>
        <p:nvSpPr>
          <p:cNvPr id="21" name="Text 19"/>
          <p:cNvSpPr/>
          <p:nvPr/>
        </p:nvSpPr>
        <p:spPr>
          <a:xfrm>
            <a:off x="2889504" y="3877056"/>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Tool mark impressions</a:t>
            </a:r>
            <a:endParaRPr lang="en-US" sz="1000" dirty="0"/>
          </a:p>
        </p:txBody>
      </p:sp>
      <p:sp>
        <p:nvSpPr>
          <p:cNvPr id="22" name="Shape 20"/>
          <p:cNvSpPr/>
          <p:nvPr/>
        </p:nvSpPr>
        <p:spPr>
          <a:xfrm>
            <a:off x="4864608" y="2249424"/>
            <a:ext cx="1993392" cy="254203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23" name="Shape 21"/>
          <p:cNvSpPr/>
          <p:nvPr/>
        </p:nvSpPr>
        <p:spPr>
          <a:xfrm>
            <a:off x="4864608" y="2249424"/>
            <a:ext cx="1993392" cy="347472"/>
          </a:xfrm>
          <a:prstGeom prst="rect">
            <a:avLst/>
          </a:prstGeom>
          <a:solidFill>
            <a:srgbClr val="06D6A0"/>
          </a:solidFill>
          <a:ln w="12700">
            <a:solidFill>
              <a:srgbClr val="06D6A0"/>
            </a:solidFill>
            <a:prstDash val="solid"/>
          </a:ln>
        </p:spPr>
        <p:txBody>
          <a:bodyPr/>
          <a:lstStyle/>
          <a:p>
            <a:endParaRPr lang="en-SG"/>
          </a:p>
        </p:txBody>
      </p:sp>
      <p:sp>
        <p:nvSpPr>
          <p:cNvPr id="24" name="Text 22"/>
          <p:cNvSpPr/>
          <p:nvPr/>
        </p:nvSpPr>
        <p:spPr>
          <a:xfrm>
            <a:off x="4974336" y="2304288"/>
            <a:ext cx="1792224"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Digital World</a:t>
            </a:r>
            <a:endParaRPr lang="en-US" sz="1150" dirty="0"/>
          </a:p>
        </p:txBody>
      </p:sp>
      <p:sp>
        <p:nvSpPr>
          <p:cNvPr id="25" name="Text 23"/>
          <p:cNvSpPr/>
          <p:nvPr/>
        </p:nvSpPr>
        <p:spPr>
          <a:xfrm>
            <a:off x="4956048" y="2670048"/>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Log files &amp; timestamps</a:t>
            </a:r>
            <a:endParaRPr lang="en-US" sz="1000" dirty="0"/>
          </a:p>
        </p:txBody>
      </p:sp>
      <p:sp>
        <p:nvSpPr>
          <p:cNvPr id="26" name="Text 24"/>
          <p:cNvSpPr/>
          <p:nvPr/>
        </p:nvSpPr>
        <p:spPr>
          <a:xfrm>
            <a:off x="4956048" y="3072384"/>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Metadata in documents</a:t>
            </a:r>
            <a:endParaRPr lang="en-US" sz="1000" dirty="0"/>
          </a:p>
        </p:txBody>
      </p:sp>
      <p:sp>
        <p:nvSpPr>
          <p:cNvPr id="27" name="Text 25"/>
          <p:cNvSpPr/>
          <p:nvPr/>
        </p:nvSpPr>
        <p:spPr>
          <a:xfrm>
            <a:off x="4956048" y="3474720"/>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Browser history &amp; cache</a:t>
            </a:r>
            <a:endParaRPr lang="en-US" sz="1000" dirty="0"/>
          </a:p>
        </p:txBody>
      </p:sp>
      <p:sp>
        <p:nvSpPr>
          <p:cNvPr id="28" name="Text 26"/>
          <p:cNvSpPr/>
          <p:nvPr/>
        </p:nvSpPr>
        <p:spPr>
          <a:xfrm>
            <a:off x="4956048" y="3877056"/>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Registry &amp; system artefacts</a:t>
            </a:r>
            <a:endParaRPr lang="en-US" sz="1000" dirty="0"/>
          </a:p>
        </p:txBody>
      </p:sp>
      <p:sp>
        <p:nvSpPr>
          <p:cNvPr id="29" name="Shape 27"/>
          <p:cNvSpPr/>
          <p:nvPr/>
        </p:nvSpPr>
        <p:spPr>
          <a:xfrm>
            <a:off x="6931152" y="2249424"/>
            <a:ext cx="1993392" cy="2542032"/>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30" name="Shape 28"/>
          <p:cNvSpPr/>
          <p:nvPr/>
        </p:nvSpPr>
        <p:spPr>
          <a:xfrm>
            <a:off x="6931152" y="2249424"/>
            <a:ext cx="1993392" cy="347472"/>
          </a:xfrm>
          <a:prstGeom prst="rect">
            <a:avLst/>
          </a:prstGeom>
          <a:solidFill>
            <a:srgbClr val="00B4D8"/>
          </a:solidFill>
          <a:ln w="12700">
            <a:solidFill>
              <a:srgbClr val="00B4D8"/>
            </a:solidFill>
            <a:prstDash val="solid"/>
          </a:ln>
        </p:spPr>
        <p:txBody>
          <a:bodyPr/>
          <a:lstStyle/>
          <a:p>
            <a:endParaRPr lang="en-SG"/>
          </a:p>
        </p:txBody>
      </p:sp>
      <p:sp>
        <p:nvSpPr>
          <p:cNvPr id="31" name="Text 29"/>
          <p:cNvSpPr/>
          <p:nvPr/>
        </p:nvSpPr>
        <p:spPr>
          <a:xfrm>
            <a:off x="7040880" y="2304288"/>
            <a:ext cx="1792224"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Implication</a:t>
            </a:r>
            <a:endParaRPr lang="en-US" sz="1150" dirty="0"/>
          </a:p>
        </p:txBody>
      </p:sp>
      <p:sp>
        <p:nvSpPr>
          <p:cNvPr id="32" name="Text 30"/>
          <p:cNvSpPr/>
          <p:nvPr/>
        </p:nvSpPr>
        <p:spPr>
          <a:xfrm>
            <a:off x="7022592" y="2670048"/>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Attackers always leave traces</a:t>
            </a:r>
            <a:endParaRPr lang="en-US" sz="1000" dirty="0"/>
          </a:p>
        </p:txBody>
      </p:sp>
      <p:sp>
        <p:nvSpPr>
          <p:cNvPr id="33" name="Text 31"/>
          <p:cNvSpPr/>
          <p:nvPr/>
        </p:nvSpPr>
        <p:spPr>
          <a:xfrm>
            <a:off x="7022592" y="3072384"/>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Investigator must NOT alter evidence</a:t>
            </a:r>
            <a:endParaRPr lang="en-US" sz="1000" dirty="0"/>
          </a:p>
        </p:txBody>
      </p:sp>
      <p:sp>
        <p:nvSpPr>
          <p:cNvPr id="34" name="Text 32"/>
          <p:cNvSpPr/>
          <p:nvPr/>
        </p:nvSpPr>
        <p:spPr>
          <a:xfrm>
            <a:off x="7022592" y="3474720"/>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Chain of custody is vital</a:t>
            </a:r>
            <a:endParaRPr lang="en-US" sz="1000" dirty="0"/>
          </a:p>
        </p:txBody>
      </p:sp>
      <p:sp>
        <p:nvSpPr>
          <p:cNvPr id="35" name="Text 33"/>
          <p:cNvSpPr/>
          <p:nvPr/>
        </p:nvSpPr>
        <p:spPr>
          <a:xfrm>
            <a:off x="7022592" y="3877056"/>
            <a:ext cx="1810512" cy="365760"/>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Evidence is perishable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B4D8"/>
          </a:solidFill>
          <a:ln w="12700">
            <a:solidFill>
              <a:srgbClr val="00B4D8"/>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Sub-categories of Digital Forensics</a:t>
            </a:r>
            <a:endParaRPr lang="en-US" sz="1700" dirty="0"/>
          </a:p>
        </p:txBody>
      </p:sp>
      <p:sp>
        <p:nvSpPr>
          <p:cNvPr id="6" name="Shape 4"/>
          <p:cNvSpPr/>
          <p:nvPr/>
        </p:nvSpPr>
        <p:spPr>
          <a:xfrm>
            <a:off x="91440" y="841248"/>
            <a:ext cx="2121408" cy="181051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91440" y="841248"/>
            <a:ext cx="2121408" cy="347472"/>
          </a:xfrm>
          <a:prstGeom prst="rect">
            <a:avLst/>
          </a:prstGeom>
          <a:solidFill>
            <a:srgbClr val="06D6A0"/>
          </a:solidFill>
          <a:ln w="12700">
            <a:solidFill>
              <a:srgbClr val="06D6A0"/>
            </a:solidFill>
            <a:prstDash val="solid"/>
          </a:ln>
        </p:spPr>
        <p:txBody>
          <a:bodyPr/>
          <a:lstStyle/>
          <a:p>
            <a:endParaRPr lang="en-SG"/>
          </a:p>
        </p:txBody>
      </p:sp>
      <p:sp>
        <p:nvSpPr>
          <p:cNvPr id="8" name="Text 6"/>
          <p:cNvSpPr/>
          <p:nvPr/>
        </p:nvSpPr>
        <p:spPr>
          <a:xfrm>
            <a:off x="201168" y="896112"/>
            <a:ext cx="192024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Computer Forensics</a:t>
            </a:r>
            <a:endParaRPr lang="en-US" sz="1150" dirty="0"/>
          </a:p>
        </p:txBody>
      </p:sp>
      <p:sp>
        <p:nvSpPr>
          <p:cNvPr id="9" name="Text 7"/>
          <p:cNvSpPr/>
          <p:nvPr/>
        </p:nvSpPr>
        <p:spPr>
          <a:xfrm>
            <a:off x="182880" y="1261872"/>
            <a:ext cx="1938528" cy="13167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Laptops, desktops, workstations. File system analysis, deleted file recovery, OS artefacts and Windows Registry.</a:t>
            </a:r>
            <a:endParaRPr lang="en-US" sz="950" dirty="0"/>
          </a:p>
        </p:txBody>
      </p:sp>
      <p:sp>
        <p:nvSpPr>
          <p:cNvPr id="10" name="Shape 8"/>
          <p:cNvSpPr/>
          <p:nvPr/>
        </p:nvSpPr>
        <p:spPr>
          <a:xfrm>
            <a:off x="2322576" y="841248"/>
            <a:ext cx="2121408" cy="1810512"/>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2322576" y="841248"/>
            <a:ext cx="2121408" cy="347472"/>
          </a:xfrm>
          <a:prstGeom prst="rect">
            <a:avLst/>
          </a:prstGeom>
          <a:solidFill>
            <a:srgbClr val="00B4D8"/>
          </a:solidFill>
          <a:ln w="12700">
            <a:solidFill>
              <a:srgbClr val="00B4D8"/>
            </a:solidFill>
            <a:prstDash val="solid"/>
          </a:ln>
        </p:spPr>
        <p:txBody>
          <a:bodyPr/>
          <a:lstStyle/>
          <a:p>
            <a:endParaRPr lang="en-SG"/>
          </a:p>
        </p:txBody>
      </p:sp>
      <p:sp>
        <p:nvSpPr>
          <p:cNvPr id="12" name="Text 10"/>
          <p:cNvSpPr/>
          <p:nvPr/>
        </p:nvSpPr>
        <p:spPr>
          <a:xfrm>
            <a:off x="2432304" y="896112"/>
            <a:ext cx="192024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Mobile Device Forensics</a:t>
            </a:r>
            <a:endParaRPr lang="en-US" sz="1150" dirty="0"/>
          </a:p>
        </p:txBody>
      </p:sp>
      <p:sp>
        <p:nvSpPr>
          <p:cNvPr id="13" name="Text 11"/>
          <p:cNvSpPr/>
          <p:nvPr/>
        </p:nvSpPr>
        <p:spPr>
          <a:xfrm>
            <a:off x="2414016" y="1261872"/>
            <a:ext cx="1938528" cy="13167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Smartphones &amp; tablets. SMS, app data, GPS history, call logs, encrypted messaging data.</a:t>
            </a:r>
            <a:endParaRPr lang="en-US" sz="950" dirty="0"/>
          </a:p>
        </p:txBody>
      </p:sp>
      <p:sp>
        <p:nvSpPr>
          <p:cNvPr id="14" name="Shape 12"/>
          <p:cNvSpPr/>
          <p:nvPr/>
        </p:nvSpPr>
        <p:spPr>
          <a:xfrm>
            <a:off x="4553712" y="841248"/>
            <a:ext cx="2121408" cy="1810512"/>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5" name="Shape 13"/>
          <p:cNvSpPr/>
          <p:nvPr/>
        </p:nvSpPr>
        <p:spPr>
          <a:xfrm>
            <a:off x="4553712" y="841248"/>
            <a:ext cx="2121408" cy="347472"/>
          </a:xfrm>
          <a:prstGeom prst="rect">
            <a:avLst/>
          </a:prstGeom>
          <a:solidFill>
            <a:srgbClr val="FFB703"/>
          </a:solidFill>
          <a:ln w="12700">
            <a:solidFill>
              <a:srgbClr val="FFB703"/>
            </a:solidFill>
            <a:prstDash val="solid"/>
          </a:ln>
        </p:spPr>
        <p:txBody>
          <a:bodyPr/>
          <a:lstStyle/>
          <a:p>
            <a:endParaRPr lang="en-SG"/>
          </a:p>
        </p:txBody>
      </p:sp>
      <p:sp>
        <p:nvSpPr>
          <p:cNvPr id="16" name="Text 14"/>
          <p:cNvSpPr/>
          <p:nvPr/>
        </p:nvSpPr>
        <p:spPr>
          <a:xfrm>
            <a:off x="4663440" y="896112"/>
            <a:ext cx="192024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Network Forensics</a:t>
            </a:r>
            <a:endParaRPr lang="en-US" sz="1150" dirty="0"/>
          </a:p>
        </p:txBody>
      </p:sp>
      <p:sp>
        <p:nvSpPr>
          <p:cNvPr id="17" name="Text 15"/>
          <p:cNvSpPr/>
          <p:nvPr/>
        </p:nvSpPr>
        <p:spPr>
          <a:xfrm>
            <a:off x="4645152" y="1261872"/>
            <a:ext cx="1938528" cy="13167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Packet captures, firewall logs, intrusion detection alerts, and traffic pattern analysis across networks.</a:t>
            </a:r>
            <a:endParaRPr lang="en-US" sz="950" dirty="0"/>
          </a:p>
        </p:txBody>
      </p:sp>
      <p:sp>
        <p:nvSpPr>
          <p:cNvPr id="18" name="Shape 16"/>
          <p:cNvSpPr/>
          <p:nvPr/>
        </p:nvSpPr>
        <p:spPr>
          <a:xfrm>
            <a:off x="6784848" y="841248"/>
            <a:ext cx="2121408" cy="1810512"/>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6784848" y="841248"/>
            <a:ext cx="2121408" cy="347472"/>
          </a:xfrm>
          <a:prstGeom prst="rect">
            <a:avLst/>
          </a:prstGeom>
          <a:solidFill>
            <a:srgbClr val="9B5DE5"/>
          </a:solidFill>
          <a:ln w="12700">
            <a:solidFill>
              <a:srgbClr val="9B5DE5"/>
            </a:solidFill>
            <a:prstDash val="solid"/>
          </a:ln>
        </p:spPr>
        <p:txBody>
          <a:bodyPr/>
          <a:lstStyle/>
          <a:p>
            <a:endParaRPr lang="en-SG"/>
          </a:p>
        </p:txBody>
      </p:sp>
      <p:sp>
        <p:nvSpPr>
          <p:cNvPr id="20" name="Text 18"/>
          <p:cNvSpPr/>
          <p:nvPr/>
        </p:nvSpPr>
        <p:spPr>
          <a:xfrm>
            <a:off x="6894576" y="896112"/>
            <a:ext cx="192024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Cloud Forensics</a:t>
            </a:r>
            <a:endParaRPr lang="en-US" sz="1150" dirty="0"/>
          </a:p>
        </p:txBody>
      </p:sp>
      <p:sp>
        <p:nvSpPr>
          <p:cNvPr id="21" name="Text 19"/>
          <p:cNvSpPr/>
          <p:nvPr/>
        </p:nvSpPr>
        <p:spPr>
          <a:xfrm>
            <a:off x="6876288" y="1261872"/>
            <a:ext cx="1938528" cy="13167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Data on cloud platforms (AWS, Azure, GCP). Jurisdictional challenges, log acquisition, provider cooperation.</a:t>
            </a:r>
            <a:endParaRPr lang="en-US" sz="950" dirty="0"/>
          </a:p>
        </p:txBody>
      </p:sp>
      <p:sp>
        <p:nvSpPr>
          <p:cNvPr id="22" name="Shape 20"/>
          <p:cNvSpPr/>
          <p:nvPr/>
        </p:nvSpPr>
        <p:spPr>
          <a:xfrm>
            <a:off x="91440" y="2779776"/>
            <a:ext cx="2121408" cy="1810512"/>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3" name="Shape 21"/>
          <p:cNvSpPr/>
          <p:nvPr/>
        </p:nvSpPr>
        <p:spPr>
          <a:xfrm>
            <a:off x="91440" y="2779776"/>
            <a:ext cx="2121408" cy="347472"/>
          </a:xfrm>
          <a:prstGeom prst="rect">
            <a:avLst/>
          </a:prstGeom>
          <a:solidFill>
            <a:srgbClr val="FB8500"/>
          </a:solidFill>
          <a:ln w="12700">
            <a:solidFill>
              <a:srgbClr val="FB8500"/>
            </a:solidFill>
            <a:prstDash val="solid"/>
          </a:ln>
        </p:spPr>
        <p:txBody>
          <a:bodyPr/>
          <a:lstStyle/>
          <a:p>
            <a:endParaRPr lang="en-SG"/>
          </a:p>
        </p:txBody>
      </p:sp>
      <p:sp>
        <p:nvSpPr>
          <p:cNvPr id="24" name="Text 22"/>
          <p:cNvSpPr/>
          <p:nvPr/>
        </p:nvSpPr>
        <p:spPr>
          <a:xfrm>
            <a:off x="201168" y="2834640"/>
            <a:ext cx="192024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IoT Forensics</a:t>
            </a:r>
            <a:endParaRPr lang="en-US" sz="1150" dirty="0"/>
          </a:p>
        </p:txBody>
      </p:sp>
      <p:sp>
        <p:nvSpPr>
          <p:cNvPr id="25" name="Text 23"/>
          <p:cNvSpPr/>
          <p:nvPr/>
        </p:nvSpPr>
        <p:spPr>
          <a:xfrm>
            <a:off x="182880" y="3200400"/>
            <a:ext cx="1938528" cy="13167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Smart devices, wearables, sensors. Non-standard OS, limited storage, highly volatile and proprietary data.</a:t>
            </a:r>
            <a:endParaRPr lang="en-US" sz="950" dirty="0"/>
          </a:p>
        </p:txBody>
      </p:sp>
      <p:sp>
        <p:nvSpPr>
          <p:cNvPr id="26" name="Shape 24"/>
          <p:cNvSpPr/>
          <p:nvPr/>
        </p:nvSpPr>
        <p:spPr>
          <a:xfrm>
            <a:off x="2322576" y="2779776"/>
            <a:ext cx="2121408" cy="1810512"/>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2322576" y="2779776"/>
            <a:ext cx="2121408" cy="347472"/>
          </a:xfrm>
          <a:prstGeom prst="rect">
            <a:avLst/>
          </a:prstGeom>
          <a:solidFill>
            <a:srgbClr val="EF233C"/>
          </a:solidFill>
          <a:ln w="12700">
            <a:solidFill>
              <a:srgbClr val="EF233C"/>
            </a:solidFill>
            <a:prstDash val="solid"/>
          </a:ln>
        </p:spPr>
        <p:txBody>
          <a:bodyPr/>
          <a:lstStyle/>
          <a:p>
            <a:endParaRPr lang="en-SG"/>
          </a:p>
        </p:txBody>
      </p:sp>
      <p:sp>
        <p:nvSpPr>
          <p:cNvPr id="28" name="Text 26"/>
          <p:cNvSpPr/>
          <p:nvPr/>
        </p:nvSpPr>
        <p:spPr>
          <a:xfrm>
            <a:off x="2432304" y="2834640"/>
            <a:ext cx="192024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Memory Forensics</a:t>
            </a:r>
            <a:endParaRPr lang="en-US" sz="1150" dirty="0"/>
          </a:p>
        </p:txBody>
      </p:sp>
      <p:sp>
        <p:nvSpPr>
          <p:cNvPr id="29" name="Text 27"/>
          <p:cNvSpPr/>
          <p:nvPr/>
        </p:nvSpPr>
        <p:spPr>
          <a:xfrm>
            <a:off x="2414016" y="3200400"/>
            <a:ext cx="1938528" cy="13167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RAM acquisition, process analysis, encryption key recovery from live running systems.</a:t>
            </a:r>
            <a:endParaRPr lang="en-US" sz="950" dirty="0"/>
          </a:p>
        </p:txBody>
      </p:sp>
      <p:sp>
        <p:nvSpPr>
          <p:cNvPr id="30" name="Shape 28"/>
          <p:cNvSpPr/>
          <p:nvPr/>
        </p:nvSpPr>
        <p:spPr>
          <a:xfrm>
            <a:off x="4553712" y="2779776"/>
            <a:ext cx="2121408" cy="181051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31" name="Shape 29"/>
          <p:cNvSpPr/>
          <p:nvPr/>
        </p:nvSpPr>
        <p:spPr>
          <a:xfrm>
            <a:off x="4553712" y="2779776"/>
            <a:ext cx="2121408" cy="347472"/>
          </a:xfrm>
          <a:prstGeom prst="rect">
            <a:avLst/>
          </a:prstGeom>
          <a:solidFill>
            <a:srgbClr val="06D6A0"/>
          </a:solidFill>
          <a:ln w="12700">
            <a:solidFill>
              <a:srgbClr val="06D6A0"/>
            </a:solidFill>
            <a:prstDash val="solid"/>
          </a:ln>
        </p:spPr>
        <p:txBody>
          <a:bodyPr/>
          <a:lstStyle/>
          <a:p>
            <a:endParaRPr lang="en-SG"/>
          </a:p>
        </p:txBody>
      </p:sp>
      <p:sp>
        <p:nvSpPr>
          <p:cNvPr id="32" name="Text 30"/>
          <p:cNvSpPr/>
          <p:nvPr/>
        </p:nvSpPr>
        <p:spPr>
          <a:xfrm>
            <a:off x="4663440" y="2834640"/>
            <a:ext cx="192024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Automotive Forensics</a:t>
            </a:r>
            <a:endParaRPr lang="en-US" sz="1150" dirty="0"/>
          </a:p>
        </p:txBody>
      </p:sp>
      <p:sp>
        <p:nvSpPr>
          <p:cNvPr id="33" name="Text 31"/>
          <p:cNvSpPr/>
          <p:nvPr/>
        </p:nvSpPr>
        <p:spPr>
          <a:xfrm>
            <a:off x="4645152" y="3200400"/>
            <a:ext cx="1938528" cy="13167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Vehicle ECUs, telematics, GPS, dashcam footage and CAN bus communication data.</a:t>
            </a:r>
            <a:endParaRPr lang="en-US" sz="950" dirty="0"/>
          </a:p>
        </p:txBody>
      </p:sp>
      <p:sp>
        <p:nvSpPr>
          <p:cNvPr id="34" name="Shape 32"/>
          <p:cNvSpPr/>
          <p:nvPr/>
        </p:nvSpPr>
        <p:spPr>
          <a:xfrm>
            <a:off x="6784848" y="2779776"/>
            <a:ext cx="2121408" cy="1810512"/>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35" name="Shape 33"/>
          <p:cNvSpPr/>
          <p:nvPr/>
        </p:nvSpPr>
        <p:spPr>
          <a:xfrm>
            <a:off x="6784848" y="2779776"/>
            <a:ext cx="2121408" cy="347472"/>
          </a:xfrm>
          <a:prstGeom prst="rect">
            <a:avLst/>
          </a:prstGeom>
          <a:solidFill>
            <a:srgbClr val="FFB703"/>
          </a:solidFill>
          <a:ln w="12700">
            <a:solidFill>
              <a:srgbClr val="FFB703"/>
            </a:solidFill>
            <a:prstDash val="solid"/>
          </a:ln>
        </p:spPr>
        <p:txBody>
          <a:bodyPr/>
          <a:lstStyle/>
          <a:p>
            <a:endParaRPr lang="en-SG"/>
          </a:p>
        </p:txBody>
      </p:sp>
      <p:sp>
        <p:nvSpPr>
          <p:cNvPr id="36" name="Text 34"/>
          <p:cNvSpPr/>
          <p:nvPr/>
        </p:nvSpPr>
        <p:spPr>
          <a:xfrm>
            <a:off x="6894576" y="2834640"/>
            <a:ext cx="192024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Drone Forensics</a:t>
            </a:r>
            <a:endParaRPr lang="en-US" sz="1150" dirty="0"/>
          </a:p>
        </p:txBody>
      </p:sp>
      <p:sp>
        <p:nvSpPr>
          <p:cNvPr id="37" name="Text 35"/>
          <p:cNvSpPr/>
          <p:nvPr/>
        </p:nvSpPr>
        <p:spPr>
          <a:xfrm>
            <a:off x="6876288" y="3200400"/>
            <a:ext cx="1938528" cy="1316736"/>
          </a:xfrm>
          <a:prstGeom prst="rect">
            <a:avLst/>
          </a:prstGeom>
          <a:noFill/>
          <a:ln/>
        </p:spPr>
        <p:txBody>
          <a:bodyPr wrap="square" rtlCol="0" anchor="ctr"/>
          <a:lstStyle/>
          <a:p>
            <a:pPr marL="0" indent="0">
              <a:buNone/>
            </a:pPr>
            <a:r>
              <a:rPr lang="en-US" sz="950" dirty="0">
                <a:solidFill>
                  <a:srgbClr val="1A1A2E"/>
                </a:solidFill>
                <a:latin typeface="Calibri" pitchFamily="34" charset="0"/>
                <a:ea typeface="Calibri" pitchFamily="34" charset="-122"/>
                <a:cs typeface="Calibri" pitchFamily="34" charset="-120"/>
              </a:rPr>
              <a:t>Flight logs, GPS waypoints, control signals, onboard camera footage and telemetry data.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0B4D8"/>
          </a:solidFill>
          <a:ln w="12700">
            <a:solidFill>
              <a:srgbClr val="00B4D8"/>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Types of Storage Media Analysed in Digital Forensics</a:t>
            </a:r>
            <a:endParaRPr lang="en-US" sz="1700" dirty="0"/>
          </a:p>
        </p:txBody>
      </p:sp>
      <p:sp>
        <p:nvSpPr>
          <p:cNvPr id="6" name="Shape 4"/>
          <p:cNvSpPr/>
          <p:nvPr/>
        </p:nvSpPr>
        <p:spPr>
          <a:xfrm>
            <a:off x="91440" y="841248"/>
            <a:ext cx="2871216" cy="1207008"/>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91440" y="841248"/>
            <a:ext cx="2871216" cy="347472"/>
          </a:xfrm>
          <a:prstGeom prst="rect">
            <a:avLst/>
          </a:prstGeom>
          <a:solidFill>
            <a:srgbClr val="06D6A0"/>
          </a:solidFill>
          <a:ln w="12700">
            <a:solidFill>
              <a:srgbClr val="06D6A0"/>
            </a:solidFill>
            <a:prstDash val="solid"/>
          </a:ln>
        </p:spPr>
        <p:txBody>
          <a:bodyPr/>
          <a:lstStyle/>
          <a:p>
            <a:endParaRPr lang="en-SG"/>
          </a:p>
        </p:txBody>
      </p:sp>
      <p:sp>
        <p:nvSpPr>
          <p:cNvPr id="8" name="Text 6"/>
          <p:cNvSpPr/>
          <p:nvPr/>
        </p:nvSpPr>
        <p:spPr>
          <a:xfrm>
            <a:off x="201168" y="896112"/>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Hard Disk Drive (HDD)</a:t>
            </a:r>
            <a:endParaRPr lang="en-US" sz="1150" dirty="0"/>
          </a:p>
        </p:txBody>
      </p:sp>
      <p:sp>
        <p:nvSpPr>
          <p:cNvPr id="9" name="Text 7"/>
          <p:cNvSpPr/>
          <p:nvPr/>
        </p:nvSpPr>
        <p:spPr>
          <a:xfrm>
            <a:off x="182880" y="1261872"/>
            <a:ext cx="2688336"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Magnetic platters. Holds OS, files, deleted data in unallocated space. Best for deleted file recovery.</a:t>
            </a:r>
            <a:endParaRPr lang="en-US" sz="1000" dirty="0"/>
          </a:p>
        </p:txBody>
      </p:sp>
      <p:sp>
        <p:nvSpPr>
          <p:cNvPr id="10" name="Shape 8"/>
          <p:cNvSpPr/>
          <p:nvPr/>
        </p:nvSpPr>
        <p:spPr>
          <a:xfrm>
            <a:off x="3081528" y="841248"/>
            <a:ext cx="2871216" cy="1207008"/>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3081528" y="841248"/>
            <a:ext cx="2871216" cy="347472"/>
          </a:xfrm>
          <a:prstGeom prst="rect">
            <a:avLst/>
          </a:prstGeom>
          <a:solidFill>
            <a:srgbClr val="00B4D8"/>
          </a:solidFill>
          <a:ln w="12700">
            <a:solidFill>
              <a:srgbClr val="00B4D8"/>
            </a:solidFill>
            <a:prstDash val="solid"/>
          </a:ln>
        </p:spPr>
        <p:txBody>
          <a:bodyPr/>
          <a:lstStyle/>
          <a:p>
            <a:endParaRPr lang="en-SG"/>
          </a:p>
        </p:txBody>
      </p:sp>
      <p:sp>
        <p:nvSpPr>
          <p:cNvPr id="12" name="Text 10"/>
          <p:cNvSpPr/>
          <p:nvPr/>
        </p:nvSpPr>
        <p:spPr>
          <a:xfrm>
            <a:off x="3191256" y="896112"/>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Solid State Drive (SSD)</a:t>
            </a:r>
            <a:endParaRPr lang="en-US" sz="1150" dirty="0"/>
          </a:p>
        </p:txBody>
      </p:sp>
      <p:sp>
        <p:nvSpPr>
          <p:cNvPr id="13" name="Text 11"/>
          <p:cNvSpPr/>
          <p:nvPr/>
        </p:nvSpPr>
        <p:spPr>
          <a:xfrm>
            <a:off x="3172968" y="1261872"/>
            <a:ext cx="2688336"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NAND flash with TRIM command. Complicates recovery — wear levelling distributes data across chips.</a:t>
            </a:r>
            <a:endParaRPr lang="en-US" sz="1000" dirty="0"/>
          </a:p>
        </p:txBody>
      </p:sp>
      <p:sp>
        <p:nvSpPr>
          <p:cNvPr id="14" name="Shape 12"/>
          <p:cNvSpPr/>
          <p:nvPr/>
        </p:nvSpPr>
        <p:spPr>
          <a:xfrm>
            <a:off x="6071616" y="841248"/>
            <a:ext cx="2871216" cy="1207008"/>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5" name="Shape 13"/>
          <p:cNvSpPr/>
          <p:nvPr/>
        </p:nvSpPr>
        <p:spPr>
          <a:xfrm>
            <a:off x="6071616" y="841248"/>
            <a:ext cx="2871216" cy="347472"/>
          </a:xfrm>
          <a:prstGeom prst="rect">
            <a:avLst/>
          </a:prstGeom>
          <a:solidFill>
            <a:srgbClr val="FFB703"/>
          </a:solidFill>
          <a:ln w="12700">
            <a:solidFill>
              <a:srgbClr val="FFB703"/>
            </a:solidFill>
            <a:prstDash val="solid"/>
          </a:ln>
        </p:spPr>
        <p:txBody>
          <a:bodyPr/>
          <a:lstStyle/>
          <a:p>
            <a:endParaRPr lang="en-SG"/>
          </a:p>
        </p:txBody>
      </p:sp>
      <p:sp>
        <p:nvSpPr>
          <p:cNvPr id="16" name="Text 14"/>
          <p:cNvSpPr/>
          <p:nvPr/>
        </p:nvSpPr>
        <p:spPr>
          <a:xfrm>
            <a:off x="6181344" y="896112"/>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USB Flash Drive</a:t>
            </a:r>
            <a:endParaRPr lang="en-US" sz="1150" dirty="0"/>
          </a:p>
        </p:txBody>
      </p:sp>
      <p:sp>
        <p:nvSpPr>
          <p:cNvPr id="17" name="Text 15"/>
          <p:cNvSpPr/>
          <p:nvPr/>
        </p:nvSpPr>
        <p:spPr>
          <a:xfrm>
            <a:off x="6163056" y="1261872"/>
            <a:ext cx="2688336"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Portable and easily concealed. May contain encrypted or hidden volumes. Common in data theft cases.</a:t>
            </a:r>
            <a:endParaRPr lang="en-US" sz="1000" dirty="0"/>
          </a:p>
        </p:txBody>
      </p:sp>
      <p:sp>
        <p:nvSpPr>
          <p:cNvPr id="18" name="Shape 16"/>
          <p:cNvSpPr/>
          <p:nvPr/>
        </p:nvSpPr>
        <p:spPr>
          <a:xfrm>
            <a:off x="91440" y="2176272"/>
            <a:ext cx="2871216" cy="1207008"/>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91440" y="2176272"/>
            <a:ext cx="2871216" cy="347472"/>
          </a:xfrm>
          <a:prstGeom prst="rect">
            <a:avLst/>
          </a:prstGeom>
          <a:solidFill>
            <a:srgbClr val="FFB703"/>
          </a:solidFill>
          <a:ln w="12700">
            <a:solidFill>
              <a:srgbClr val="FFB703"/>
            </a:solidFill>
            <a:prstDash val="solid"/>
          </a:ln>
        </p:spPr>
        <p:txBody>
          <a:bodyPr/>
          <a:lstStyle/>
          <a:p>
            <a:endParaRPr lang="en-SG"/>
          </a:p>
        </p:txBody>
      </p:sp>
      <p:sp>
        <p:nvSpPr>
          <p:cNvPr id="20" name="Text 18"/>
          <p:cNvSpPr/>
          <p:nvPr/>
        </p:nvSpPr>
        <p:spPr>
          <a:xfrm>
            <a:off x="201168" y="2231136"/>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SD / MicroSD Card</a:t>
            </a:r>
            <a:endParaRPr lang="en-US" sz="1150" dirty="0"/>
          </a:p>
        </p:txBody>
      </p:sp>
      <p:sp>
        <p:nvSpPr>
          <p:cNvPr id="21" name="Text 19"/>
          <p:cNvSpPr/>
          <p:nvPr/>
        </p:nvSpPr>
        <p:spPr>
          <a:xfrm>
            <a:off x="182880" y="2596896"/>
            <a:ext cx="2688336"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Used in cameras, phones, drones. Quick formats — underlying data often highly recoverable.</a:t>
            </a:r>
            <a:endParaRPr lang="en-US" sz="1000" dirty="0"/>
          </a:p>
        </p:txBody>
      </p:sp>
      <p:sp>
        <p:nvSpPr>
          <p:cNvPr id="22" name="Shape 20"/>
          <p:cNvSpPr/>
          <p:nvPr/>
        </p:nvSpPr>
        <p:spPr>
          <a:xfrm>
            <a:off x="3081528" y="2176272"/>
            <a:ext cx="2871216" cy="1207008"/>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23" name="Shape 21"/>
          <p:cNvSpPr/>
          <p:nvPr/>
        </p:nvSpPr>
        <p:spPr>
          <a:xfrm>
            <a:off x="3081528" y="2176272"/>
            <a:ext cx="2871216" cy="347472"/>
          </a:xfrm>
          <a:prstGeom prst="rect">
            <a:avLst/>
          </a:prstGeom>
          <a:solidFill>
            <a:srgbClr val="9B5DE5"/>
          </a:solidFill>
          <a:ln w="12700">
            <a:solidFill>
              <a:srgbClr val="9B5DE5"/>
            </a:solidFill>
            <a:prstDash val="solid"/>
          </a:ln>
        </p:spPr>
        <p:txBody>
          <a:bodyPr/>
          <a:lstStyle/>
          <a:p>
            <a:endParaRPr lang="en-SG"/>
          </a:p>
        </p:txBody>
      </p:sp>
      <p:sp>
        <p:nvSpPr>
          <p:cNvPr id="24" name="Text 22"/>
          <p:cNvSpPr/>
          <p:nvPr/>
        </p:nvSpPr>
        <p:spPr>
          <a:xfrm>
            <a:off x="3191256" y="2231136"/>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Optical Media (CD/DVD)</a:t>
            </a:r>
            <a:endParaRPr lang="en-US" sz="1150" dirty="0"/>
          </a:p>
        </p:txBody>
      </p:sp>
      <p:sp>
        <p:nvSpPr>
          <p:cNvPr id="25" name="Text 23"/>
          <p:cNvSpPr/>
          <p:nvPr/>
        </p:nvSpPr>
        <p:spPr>
          <a:xfrm>
            <a:off x="3172968" y="2596896"/>
            <a:ext cx="2688336"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Write-once or rewritable. Cannot be write-blocked. Used for archiving and data handoffs.</a:t>
            </a:r>
            <a:endParaRPr lang="en-US" sz="1000" dirty="0"/>
          </a:p>
        </p:txBody>
      </p:sp>
      <p:sp>
        <p:nvSpPr>
          <p:cNvPr id="26" name="Shape 24"/>
          <p:cNvSpPr/>
          <p:nvPr/>
        </p:nvSpPr>
        <p:spPr>
          <a:xfrm>
            <a:off x="6071616" y="2176272"/>
            <a:ext cx="2871216" cy="1207008"/>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6071616" y="2176272"/>
            <a:ext cx="2871216" cy="347472"/>
          </a:xfrm>
          <a:prstGeom prst="rect">
            <a:avLst/>
          </a:prstGeom>
          <a:solidFill>
            <a:srgbClr val="FB8500"/>
          </a:solidFill>
          <a:ln w="12700">
            <a:solidFill>
              <a:srgbClr val="FB8500"/>
            </a:solidFill>
            <a:prstDash val="solid"/>
          </a:ln>
        </p:spPr>
        <p:txBody>
          <a:bodyPr/>
          <a:lstStyle/>
          <a:p>
            <a:endParaRPr lang="en-SG"/>
          </a:p>
        </p:txBody>
      </p:sp>
      <p:sp>
        <p:nvSpPr>
          <p:cNvPr id="28" name="Text 26"/>
          <p:cNvSpPr/>
          <p:nvPr/>
        </p:nvSpPr>
        <p:spPr>
          <a:xfrm>
            <a:off x="6181344" y="2231136"/>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Mobile Device Storage</a:t>
            </a:r>
            <a:endParaRPr lang="en-US" sz="1150" dirty="0"/>
          </a:p>
        </p:txBody>
      </p:sp>
      <p:sp>
        <p:nvSpPr>
          <p:cNvPr id="29" name="Text 27"/>
          <p:cNvSpPr/>
          <p:nvPr/>
        </p:nvSpPr>
        <p:spPr>
          <a:xfrm>
            <a:off x="6163056" y="2596896"/>
            <a:ext cx="2688336"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eMMC/UFS chip. Requires chip-off or JTAG for locked/damaged devices.</a:t>
            </a:r>
            <a:endParaRPr lang="en-US" sz="1000" dirty="0"/>
          </a:p>
        </p:txBody>
      </p:sp>
      <p:sp>
        <p:nvSpPr>
          <p:cNvPr id="30" name="Shape 28"/>
          <p:cNvSpPr/>
          <p:nvPr/>
        </p:nvSpPr>
        <p:spPr>
          <a:xfrm>
            <a:off x="91440" y="3511296"/>
            <a:ext cx="2871216" cy="1207008"/>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31" name="Shape 29"/>
          <p:cNvSpPr/>
          <p:nvPr/>
        </p:nvSpPr>
        <p:spPr>
          <a:xfrm>
            <a:off x="91440" y="3511296"/>
            <a:ext cx="2871216" cy="347472"/>
          </a:xfrm>
          <a:prstGeom prst="rect">
            <a:avLst/>
          </a:prstGeom>
          <a:solidFill>
            <a:srgbClr val="EF233C"/>
          </a:solidFill>
          <a:ln w="12700">
            <a:solidFill>
              <a:srgbClr val="EF233C"/>
            </a:solidFill>
            <a:prstDash val="solid"/>
          </a:ln>
        </p:spPr>
        <p:txBody>
          <a:bodyPr/>
          <a:lstStyle/>
          <a:p>
            <a:endParaRPr lang="en-SG"/>
          </a:p>
        </p:txBody>
      </p:sp>
      <p:sp>
        <p:nvSpPr>
          <p:cNvPr id="32" name="Text 30"/>
          <p:cNvSpPr/>
          <p:nvPr/>
        </p:nvSpPr>
        <p:spPr>
          <a:xfrm>
            <a:off x="201168" y="3566160"/>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RAM / Volatile Memory</a:t>
            </a:r>
            <a:endParaRPr lang="en-US" sz="1150" dirty="0"/>
          </a:p>
        </p:txBody>
      </p:sp>
      <p:sp>
        <p:nvSpPr>
          <p:cNvPr id="33" name="Text 31"/>
          <p:cNvSpPr/>
          <p:nvPr/>
        </p:nvSpPr>
        <p:spPr>
          <a:xfrm>
            <a:off x="182880" y="3931920"/>
            <a:ext cx="2688336"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Lost on power-off. Contains encryption keys, running processes, clipboard data, logged-in sessions.</a:t>
            </a:r>
            <a:endParaRPr lang="en-US" sz="1000" dirty="0"/>
          </a:p>
        </p:txBody>
      </p:sp>
      <p:sp>
        <p:nvSpPr>
          <p:cNvPr id="34" name="Shape 32"/>
          <p:cNvSpPr/>
          <p:nvPr/>
        </p:nvSpPr>
        <p:spPr>
          <a:xfrm>
            <a:off x="3081528" y="3511296"/>
            <a:ext cx="2871216" cy="1207008"/>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35" name="Shape 33"/>
          <p:cNvSpPr/>
          <p:nvPr/>
        </p:nvSpPr>
        <p:spPr>
          <a:xfrm>
            <a:off x="3081528" y="3511296"/>
            <a:ext cx="2871216" cy="347472"/>
          </a:xfrm>
          <a:prstGeom prst="rect">
            <a:avLst/>
          </a:prstGeom>
          <a:solidFill>
            <a:srgbClr val="06D6A0"/>
          </a:solidFill>
          <a:ln w="12700">
            <a:solidFill>
              <a:srgbClr val="06D6A0"/>
            </a:solidFill>
            <a:prstDash val="solid"/>
          </a:ln>
        </p:spPr>
        <p:txBody>
          <a:bodyPr/>
          <a:lstStyle/>
          <a:p>
            <a:endParaRPr lang="en-SG"/>
          </a:p>
        </p:txBody>
      </p:sp>
      <p:sp>
        <p:nvSpPr>
          <p:cNvPr id="36" name="Text 34"/>
          <p:cNvSpPr/>
          <p:nvPr/>
        </p:nvSpPr>
        <p:spPr>
          <a:xfrm>
            <a:off x="3191256" y="3566160"/>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Cloud &amp; Remote Storage</a:t>
            </a:r>
            <a:endParaRPr lang="en-US" sz="1150" dirty="0"/>
          </a:p>
        </p:txBody>
      </p:sp>
      <p:sp>
        <p:nvSpPr>
          <p:cNvPr id="37" name="Text 35"/>
          <p:cNvSpPr/>
          <p:nvPr/>
        </p:nvSpPr>
        <p:spPr>
          <a:xfrm>
            <a:off x="3172968" y="3931920"/>
            <a:ext cx="2688336"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Data hosted off-site across jurisdictions. Requires legal process (MLAT) to obtain from providers.</a:t>
            </a:r>
            <a:endParaRPr lang="en-US" sz="1000" dirty="0"/>
          </a:p>
        </p:txBody>
      </p:sp>
      <p:sp>
        <p:nvSpPr>
          <p:cNvPr id="38" name="Shape 36"/>
          <p:cNvSpPr/>
          <p:nvPr/>
        </p:nvSpPr>
        <p:spPr>
          <a:xfrm>
            <a:off x="6071616" y="3511296"/>
            <a:ext cx="2871216" cy="1207008"/>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39" name="Shape 37"/>
          <p:cNvSpPr/>
          <p:nvPr/>
        </p:nvSpPr>
        <p:spPr>
          <a:xfrm>
            <a:off x="6071616" y="3511296"/>
            <a:ext cx="2871216" cy="347472"/>
          </a:xfrm>
          <a:prstGeom prst="rect">
            <a:avLst/>
          </a:prstGeom>
          <a:solidFill>
            <a:srgbClr val="00B4D8"/>
          </a:solidFill>
          <a:ln w="12700">
            <a:solidFill>
              <a:srgbClr val="00B4D8"/>
            </a:solidFill>
            <a:prstDash val="solid"/>
          </a:ln>
        </p:spPr>
        <p:txBody>
          <a:bodyPr/>
          <a:lstStyle/>
          <a:p>
            <a:endParaRPr lang="en-SG"/>
          </a:p>
        </p:txBody>
      </p:sp>
      <p:sp>
        <p:nvSpPr>
          <p:cNvPr id="40" name="Text 38"/>
          <p:cNvSpPr/>
          <p:nvPr/>
        </p:nvSpPr>
        <p:spPr>
          <a:xfrm>
            <a:off x="6181344" y="3566160"/>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Tape &amp; Archival Media</a:t>
            </a:r>
            <a:endParaRPr lang="en-US" sz="1150" dirty="0"/>
          </a:p>
        </p:txBody>
      </p:sp>
      <p:sp>
        <p:nvSpPr>
          <p:cNvPr id="41" name="Text 39"/>
          <p:cNvSpPr/>
          <p:nvPr/>
        </p:nvSpPr>
        <p:spPr>
          <a:xfrm>
            <a:off x="6163056" y="3931920"/>
            <a:ext cx="2688336" cy="713232"/>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LTO tape in enterprise backup systems. Slow to acquire but holds years of archived organisational data.</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06D6A0"/>
          </a:solidFill>
          <a:ln w="12700">
            <a:solidFill>
              <a:srgbClr val="06D6A0"/>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a:ln/>
        </p:spPr>
        <p:txBody>
          <a:bodyPr wrap="square" lIns="0" tIns="0" rIns="0" bIns="0" rtlCol="0" anchor="ctr"/>
          <a:lstStyle/>
          <a:p>
            <a:pPr marL="0" indent="0" algn="ctr">
              <a:buNone/>
            </a:pPr>
            <a:r>
              <a:rPr lang="en-US" sz="9600" b="1" dirty="0">
                <a:solidFill>
                  <a:srgbClr val="1A1A2E"/>
                </a:solidFill>
                <a:latin typeface="Trebuchet MS" pitchFamily="34" charset="0"/>
                <a:ea typeface="Trebuchet MS" pitchFamily="34" charset="-122"/>
                <a:cs typeface="Trebuchet MS" pitchFamily="34" charset="-120"/>
              </a:rPr>
              <a:t>02</a:t>
            </a:r>
            <a:endParaRPr lang="en-US" sz="9600" dirty="0"/>
          </a:p>
        </p:txBody>
      </p:sp>
      <p:sp>
        <p:nvSpPr>
          <p:cNvPr id="6" name="Text 4"/>
          <p:cNvSpPr/>
          <p:nvPr/>
        </p:nvSpPr>
        <p:spPr>
          <a:xfrm>
            <a:off x="201168" y="1938528"/>
            <a:ext cx="3657600" cy="914400"/>
          </a:xfrm>
          <a:prstGeom prst="rect">
            <a:avLst/>
          </a:prstGeom>
          <a:noFill/>
          <a:ln/>
        </p:spPr>
        <p:txBody>
          <a:bodyPr wrap="square" rtlCol="0" anchor="ctr"/>
          <a:lstStyle/>
          <a:p>
            <a:pPr marL="0" indent="0" algn="ctr">
              <a:buNone/>
            </a:pPr>
            <a:r>
              <a:rPr lang="en-US" sz="1300" i="1" dirty="0">
                <a:solidFill>
                  <a:srgbClr val="000000"/>
                </a:solidFill>
                <a:latin typeface="Calibri" pitchFamily="34" charset="0"/>
                <a:ea typeface="Calibri" pitchFamily="34" charset="-122"/>
                <a:cs typeface="Calibri" pitchFamily="34" charset="-120"/>
              </a:rPr>
              <a:t>Understanding digital evidence and how forensics applies across case types</a:t>
            </a:r>
            <a:endParaRPr lang="en-US" sz="1300" dirty="0"/>
          </a:p>
        </p:txBody>
      </p:sp>
      <p:sp>
        <p:nvSpPr>
          <p:cNvPr id="7" name="Text 5"/>
          <p:cNvSpPr/>
          <p:nvPr/>
        </p:nvSpPr>
        <p:spPr>
          <a:xfrm>
            <a:off x="4572000" y="566928"/>
            <a:ext cx="4297680" cy="329184"/>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06D6A0"/>
          </a:solidFill>
          <a:ln w="12700">
            <a:solidFill>
              <a:srgbClr val="06D6A0"/>
            </a:solidFill>
            <a:prstDash val="solid"/>
          </a:ln>
        </p:spPr>
        <p:txBody>
          <a:bodyPr/>
          <a:lstStyle/>
          <a:p>
            <a:endParaRPr lang="en-SG"/>
          </a:p>
        </p:txBody>
      </p:sp>
      <p:sp>
        <p:nvSpPr>
          <p:cNvPr id="10" name="Text 8"/>
          <p:cNvSpPr/>
          <p:nvPr/>
        </p:nvSpPr>
        <p:spPr>
          <a:xfrm>
            <a:off x="4663440" y="1115568"/>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1</a:t>
            </a:r>
            <a:endParaRPr lang="en-US" sz="1100" dirty="0"/>
          </a:p>
        </p:txBody>
      </p:sp>
      <p:sp>
        <p:nvSpPr>
          <p:cNvPr id="11" name="Text 9"/>
          <p:cNvSpPr/>
          <p:nvPr/>
        </p:nvSpPr>
        <p:spPr>
          <a:xfrm>
            <a:off x="5166360" y="1097280"/>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Digital Evidence &amp; Its Relationship to Investigations</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06D6A0"/>
          </a:solidFill>
          <a:ln w="12700">
            <a:solidFill>
              <a:srgbClr val="06D6A0"/>
            </a:solidFill>
            <a:prstDash val="solid"/>
          </a:ln>
        </p:spPr>
        <p:txBody>
          <a:bodyPr/>
          <a:lstStyle/>
          <a:p>
            <a:endParaRPr lang="en-SG"/>
          </a:p>
        </p:txBody>
      </p:sp>
      <p:sp>
        <p:nvSpPr>
          <p:cNvPr id="14" name="Text 12"/>
          <p:cNvSpPr/>
          <p:nvPr/>
        </p:nvSpPr>
        <p:spPr>
          <a:xfrm>
            <a:off x="4663440" y="1773936"/>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2</a:t>
            </a:r>
            <a:endParaRPr lang="en-US" sz="1100" dirty="0"/>
          </a:p>
        </p:txBody>
      </p:sp>
      <p:sp>
        <p:nvSpPr>
          <p:cNvPr id="15" name="Text 13"/>
          <p:cNvSpPr/>
          <p:nvPr/>
        </p:nvSpPr>
        <p:spPr>
          <a:xfrm>
            <a:off x="5166360" y="1755648"/>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Digital Forensics in Criminal Cases</a:t>
            </a:r>
            <a:endParaRPr lang="en-US" sz="1200" dirty="0"/>
          </a:p>
        </p:txBody>
      </p:sp>
      <p:sp>
        <p:nvSpPr>
          <p:cNvPr id="16" name="Shape 14"/>
          <p:cNvSpPr/>
          <p:nvPr/>
        </p:nvSpPr>
        <p:spPr>
          <a:xfrm>
            <a:off x="4572000" y="2322576"/>
            <a:ext cx="4297680" cy="566928"/>
          </a:xfrm>
          <a:prstGeom prst="rect">
            <a:avLst/>
          </a:prstGeom>
          <a:noFill/>
          <a:ln w="12700">
            <a:solidFill>
              <a:srgbClr val="FFFFFF">
                <a:alpha val="20000"/>
              </a:srgbClr>
            </a:solidFill>
            <a:prstDash val="solid"/>
          </a:ln>
        </p:spPr>
        <p:txBody>
          <a:bodyPr/>
          <a:lstStyle/>
          <a:p>
            <a:endParaRPr lang="en-SG"/>
          </a:p>
        </p:txBody>
      </p:sp>
      <p:sp>
        <p:nvSpPr>
          <p:cNvPr id="17" name="Shape 15"/>
          <p:cNvSpPr/>
          <p:nvPr/>
        </p:nvSpPr>
        <p:spPr>
          <a:xfrm>
            <a:off x="4663440" y="2386584"/>
            <a:ext cx="402336" cy="402336"/>
          </a:xfrm>
          <a:prstGeom prst="ellipse">
            <a:avLst/>
          </a:prstGeom>
          <a:solidFill>
            <a:srgbClr val="06D6A0"/>
          </a:solidFill>
          <a:ln w="12700">
            <a:solidFill>
              <a:srgbClr val="06D6A0"/>
            </a:solidFill>
            <a:prstDash val="solid"/>
          </a:ln>
        </p:spPr>
        <p:txBody>
          <a:bodyPr/>
          <a:lstStyle/>
          <a:p>
            <a:endParaRPr lang="en-SG"/>
          </a:p>
        </p:txBody>
      </p:sp>
      <p:sp>
        <p:nvSpPr>
          <p:cNvPr id="18" name="Text 16"/>
          <p:cNvSpPr/>
          <p:nvPr/>
        </p:nvSpPr>
        <p:spPr>
          <a:xfrm>
            <a:off x="4663440" y="2432304"/>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3</a:t>
            </a:r>
            <a:endParaRPr lang="en-US" sz="1100" dirty="0"/>
          </a:p>
        </p:txBody>
      </p:sp>
      <p:sp>
        <p:nvSpPr>
          <p:cNvPr id="19" name="Text 17"/>
          <p:cNvSpPr/>
          <p:nvPr/>
        </p:nvSpPr>
        <p:spPr>
          <a:xfrm>
            <a:off x="5166360" y="2414016"/>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Digital Forensics in Corporate Crime</a:t>
            </a:r>
            <a:endParaRPr lang="en-US" sz="1200" dirty="0"/>
          </a:p>
        </p:txBody>
      </p:sp>
      <p:sp>
        <p:nvSpPr>
          <p:cNvPr id="20" name="Shape 18"/>
          <p:cNvSpPr/>
          <p:nvPr/>
        </p:nvSpPr>
        <p:spPr>
          <a:xfrm>
            <a:off x="4572000" y="2980944"/>
            <a:ext cx="4297680" cy="566928"/>
          </a:xfrm>
          <a:prstGeom prst="rect">
            <a:avLst/>
          </a:prstGeom>
          <a:noFill/>
          <a:ln w="12700">
            <a:solidFill>
              <a:srgbClr val="FFFFFF">
                <a:alpha val="20000"/>
              </a:srgbClr>
            </a:solidFill>
            <a:prstDash val="solid"/>
          </a:ln>
        </p:spPr>
        <p:txBody>
          <a:bodyPr/>
          <a:lstStyle/>
          <a:p>
            <a:endParaRPr lang="en-SG"/>
          </a:p>
        </p:txBody>
      </p:sp>
      <p:sp>
        <p:nvSpPr>
          <p:cNvPr id="21" name="Shape 19"/>
          <p:cNvSpPr/>
          <p:nvPr/>
        </p:nvSpPr>
        <p:spPr>
          <a:xfrm>
            <a:off x="4663440" y="3044952"/>
            <a:ext cx="402336" cy="402336"/>
          </a:xfrm>
          <a:prstGeom prst="ellipse">
            <a:avLst/>
          </a:prstGeom>
          <a:solidFill>
            <a:srgbClr val="06D6A0"/>
          </a:solidFill>
          <a:ln w="12700">
            <a:solidFill>
              <a:srgbClr val="06D6A0"/>
            </a:solidFill>
            <a:prstDash val="solid"/>
          </a:ln>
        </p:spPr>
        <p:txBody>
          <a:bodyPr/>
          <a:lstStyle/>
          <a:p>
            <a:endParaRPr lang="en-SG"/>
          </a:p>
        </p:txBody>
      </p:sp>
      <p:sp>
        <p:nvSpPr>
          <p:cNvPr id="22" name="Text 20"/>
          <p:cNvSpPr/>
          <p:nvPr/>
        </p:nvSpPr>
        <p:spPr>
          <a:xfrm>
            <a:off x="4663440" y="3090672"/>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4</a:t>
            </a:r>
            <a:endParaRPr lang="en-US" sz="1100" dirty="0"/>
          </a:p>
        </p:txBody>
      </p:sp>
      <p:sp>
        <p:nvSpPr>
          <p:cNvPr id="23" name="Text 21"/>
          <p:cNvSpPr/>
          <p:nvPr/>
        </p:nvSpPr>
        <p:spPr>
          <a:xfrm>
            <a:off x="5166360" y="3072384"/>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Common Cyber Crimes &amp; Key Digital Evidence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D6A0"/>
          </a:solidFill>
          <a:ln w="12700">
            <a:solidFill>
              <a:srgbClr val="06D6A0"/>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What is Digital Evidence &amp; How Does It Relate to Investigations?</a:t>
            </a:r>
            <a:endParaRPr lang="en-US" sz="1700" dirty="0"/>
          </a:p>
        </p:txBody>
      </p:sp>
      <p:sp>
        <p:nvSpPr>
          <p:cNvPr id="6" name="Shape 4"/>
          <p:cNvSpPr/>
          <p:nvPr/>
        </p:nvSpPr>
        <p:spPr>
          <a:xfrm>
            <a:off x="164592" y="841248"/>
            <a:ext cx="4279392" cy="1225296"/>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7" name="Text 5"/>
          <p:cNvSpPr/>
          <p:nvPr/>
        </p:nvSpPr>
        <p:spPr>
          <a:xfrm>
            <a:off x="274320" y="914400"/>
            <a:ext cx="4096512" cy="292608"/>
          </a:xfrm>
          <a:prstGeom prst="rect">
            <a:avLst/>
          </a:prstGeom>
          <a:noFill/>
          <a:ln/>
        </p:spPr>
        <p:txBody>
          <a:bodyPr wrap="square" rtlCol="0" anchor="ctr"/>
          <a:lstStyle/>
          <a:p>
            <a:pPr marL="0" indent="0">
              <a:buNone/>
            </a:pPr>
            <a:r>
              <a:rPr lang="en-US" sz="1400" b="1" dirty="0">
                <a:solidFill>
                  <a:srgbClr val="06D6A0"/>
                </a:solidFill>
                <a:latin typeface="Trebuchet MS" pitchFamily="34" charset="0"/>
                <a:ea typeface="Trebuchet MS" pitchFamily="34" charset="-122"/>
                <a:cs typeface="Trebuchet MS" pitchFamily="34" charset="-120"/>
              </a:rPr>
              <a:t>Digital Evidence</a:t>
            </a:r>
            <a:endParaRPr lang="en-US" sz="1400" dirty="0"/>
          </a:p>
        </p:txBody>
      </p:sp>
      <p:sp>
        <p:nvSpPr>
          <p:cNvPr id="8" name="Text 6"/>
          <p:cNvSpPr/>
          <p:nvPr/>
        </p:nvSpPr>
        <p:spPr>
          <a:xfrm>
            <a:off x="274320" y="1225296"/>
            <a:ext cx="4096512" cy="74980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Any information stored or transmitted in digital form that may be used in a legal proceeding — files, emails, logs, images, metadata, and network traffic.</a:t>
            </a:r>
            <a:endParaRPr lang="en-US" sz="1150" dirty="0"/>
          </a:p>
        </p:txBody>
      </p:sp>
      <p:sp>
        <p:nvSpPr>
          <p:cNvPr id="9" name="Shape 7"/>
          <p:cNvSpPr/>
          <p:nvPr/>
        </p:nvSpPr>
        <p:spPr>
          <a:xfrm>
            <a:off x="4700016" y="841248"/>
            <a:ext cx="4279392" cy="1225296"/>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0" name="Text 8"/>
          <p:cNvSpPr/>
          <p:nvPr/>
        </p:nvSpPr>
        <p:spPr>
          <a:xfrm>
            <a:off x="4809744" y="914400"/>
            <a:ext cx="4096512" cy="292608"/>
          </a:xfrm>
          <a:prstGeom prst="rect">
            <a:avLst/>
          </a:prstGeom>
          <a:noFill/>
          <a:ln/>
        </p:spPr>
        <p:txBody>
          <a:bodyPr wrap="square" rtlCol="0" anchor="ctr"/>
          <a:lstStyle/>
          <a:p>
            <a:pPr marL="0" indent="0">
              <a:buNone/>
            </a:pPr>
            <a:r>
              <a:rPr lang="en-US" sz="1400" b="1" dirty="0">
                <a:solidFill>
                  <a:srgbClr val="FFB703"/>
                </a:solidFill>
                <a:latin typeface="Trebuchet MS" pitchFamily="34" charset="0"/>
                <a:ea typeface="Trebuchet MS" pitchFamily="34" charset="-122"/>
                <a:cs typeface="Trebuchet MS" pitchFamily="34" charset="-120"/>
              </a:rPr>
              <a:t>Digital Forensic Investigation</a:t>
            </a:r>
            <a:endParaRPr lang="en-US" sz="1400" dirty="0"/>
          </a:p>
        </p:txBody>
      </p:sp>
      <p:sp>
        <p:nvSpPr>
          <p:cNvPr id="11" name="Text 9"/>
          <p:cNvSpPr/>
          <p:nvPr/>
        </p:nvSpPr>
        <p:spPr>
          <a:xfrm>
            <a:off x="4809744" y="1225296"/>
            <a:ext cx="4096512" cy="74980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The structured scientific process used to identify, preserve, collect, examine, analyse and present digital evidence in a legally admissible way.</a:t>
            </a:r>
            <a:endParaRPr lang="en-US" sz="1150" dirty="0"/>
          </a:p>
        </p:txBody>
      </p:sp>
      <p:sp>
        <p:nvSpPr>
          <p:cNvPr id="12" name="Shape 10"/>
          <p:cNvSpPr/>
          <p:nvPr/>
        </p:nvSpPr>
        <p:spPr>
          <a:xfrm>
            <a:off x="164592" y="2194560"/>
            <a:ext cx="8814816" cy="384048"/>
          </a:xfrm>
          <a:prstGeom prst="rect">
            <a:avLst/>
          </a:prstGeom>
          <a:solidFill>
            <a:srgbClr val="06D6A0"/>
          </a:solidFill>
          <a:ln w="12700">
            <a:solidFill>
              <a:srgbClr val="06D6A0"/>
            </a:solidFill>
            <a:prstDash val="solid"/>
          </a:ln>
        </p:spPr>
        <p:txBody>
          <a:bodyPr/>
          <a:lstStyle/>
          <a:p>
            <a:endParaRPr lang="en-SG"/>
          </a:p>
        </p:txBody>
      </p:sp>
      <p:sp>
        <p:nvSpPr>
          <p:cNvPr id="13" name="Text 11"/>
          <p:cNvSpPr/>
          <p:nvPr/>
        </p:nvSpPr>
        <p:spPr>
          <a:xfrm>
            <a:off x="274320" y="2231136"/>
            <a:ext cx="8595360" cy="274320"/>
          </a:xfrm>
          <a:prstGeom prst="rect">
            <a:avLst/>
          </a:prstGeom>
          <a:noFill/>
          <a:ln/>
        </p:spPr>
        <p:txBody>
          <a:bodyPr wrap="square" rtlCol="0" anchor="ctr"/>
          <a:lstStyle/>
          <a:p>
            <a:pPr marL="0" indent="0" algn="ctr">
              <a:buNone/>
            </a:pPr>
            <a:r>
              <a:rPr lang="en-US" sz="1200" b="1" dirty="0">
                <a:solidFill>
                  <a:srgbClr val="000000"/>
                </a:solidFill>
                <a:latin typeface="Trebuchet MS" pitchFamily="34" charset="0"/>
                <a:ea typeface="Trebuchet MS" pitchFamily="34" charset="-122"/>
                <a:cs typeface="Trebuchet MS" pitchFamily="34" charset="-120"/>
              </a:rPr>
              <a:t>Digital Evidence is the SUBJECT  ·  Digital Forensic Investigation is the METHOD used to find and prove it.</a:t>
            </a:r>
            <a:endParaRPr lang="en-US" sz="1200" dirty="0"/>
          </a:p>
        </p:txBody>
      </p:sp>
      <p:sp>
        <p:nvSpPr>
          <p:cNvPr id="14" name="Shape 12"/>
          <p:cNvSpPr/>
          <p:nvPr/>
        </p:nvSpPr>
        <p:spPr>
          <a:xfrm>
            <a:off x="164592" y="2706624"/>
            <a:ext cx="4279392" cy="1042416"/>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5" name="Shape 13"/>
          <p:cNvSpPr/>
          <p:nvPr/>
        </p:nvSpPr>
        <p:spPr>
          <a:xfrm>
            <a:off x="164592" y="2706624"/>
            <a:ext cx="4279392" cy="310896"/>
          </a:xfrm>
          <a:prstGeom prst="rect">
            <a:avLst/>
          </a:prstGeom>
          <a:solidFill>
            <a:srgbClr val="00B4D8"/>
          </a:solidFill>
          <a:ln w="12700">
            <a:solidFill>
              <a:srgbClr val="00B4D8"/>
            </a:solidFill>
            <a:prstDash val="solid"/>
          </a:ln>
        </p:spPr>
        <p:txBody>
          <a:bodyPr/>
          <a:lstStyle/>
          <a:p>
            <a:endParaRPr lang="en-SG"/>
          </a:p>
        </p:txBody>
      </p:sp>
      <p:sp>
        <p:nvSpPr>
          <p:cNvPr id="16" name="Text 14"/>
          <p:cNvSpPr/>
          <p:nvPr/>
        </p:nvSpPr>
        <p:spPr>
          <a:xfrm>
            <a:off x="256032" y="2743200"/>
            <a:ext cx="411480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Evidence drives investigation</a:t>
            </a:r>
            <a:endParaRPr lang="en-US" sz="1150" dirty="0"/>
          </a:p>
        </p:txBody>
      </p:sp>
      <p:sp>
        <p:nvSpPr>
          <p:cNvPr id="17" name="Text 15"/>
          <p:cNvSpPr/>
          <p:nvPr/>
        </p:nvSpPr>
        <p:spPr>
          <a:xfrm>
            <a:off x="256032" y="3090672"/>
            <a:ext cx="4114800" cy="56692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The type of crime determines which devices and data sources are examined first. Evidence defines the scope.</a:t>
            </a:r>
            <a:endParaRPr lang="en-US" sz="1050" dirty="0"/>
          </a:p>
        </p:txBody>
      </p:sp>
      <p:sp>
        <p:nvSpPr>
          <p:cNvPr id="18" name="Shape 16"/>
          <p:cNvSpPr/>
          <p:nvPr/>
        </p:nvSpPr>
        <p:spPr>
          <a:xfrm>
            <a:off x="4626864" y="2706624"/>
            <a:ext cx="4279392" cy="1042416"/>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4626864" y="2706624"/>
            <a:ext cx="4279392" cy="310896"/>
          </a:xfrm>
          <a:prstGeom prst="rect">
            <a:avLst/>
          </a:prstGeom>
          <a:solidFill>
            <a:srgbClr val="06D6A0"/>
          </a:solidFill>
          <a:ln w="12700">
            <a:solidFill>
              <a:srgbClr val="06D6A0"/>
            </a:solidFill>
            <a:prstDash val="solid"/>
          </a:ln>
        </p:spPr>
        <p:txBody>
          <a:bodyPr/>
          <a:lstStyle/>
          <a:p>
            <a:endParaRPr lang="en-SG"/>
          </a:p>
        </p:txBody>
      </p:sp>
      <p:sp>
        <p:nvSpPr>
          <p:cNvPr id="20" name="Text 18"/>
          <p:cNvSpPr/>
          <p:nvPr/>
        </p:nvSpPr>
        <p:spPr>
          <a:xfrm>
            <a:off x="4718304" y="2743200"/>
            <a:ext cx="411480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Investigation validates evidence</a:t>
            </a:r>
            <a:endParaRPr lang="en-US" sz="1150" dirty="0"/>
          </a:p>
        </p:txBody>
      </p:sp>
      <p:sp>
        <p:nvSpPr>
          <p:cNvPr id="21" name="Text 19"/>
          <p:cNvSpPr/>
          <p:nvPr/>
        </p:nvSpPr>
        <p:spPr>
          <a:xfrm>
            <a:off x="4718304" y="3090672"/>
            <a:ext cx="4114800" cy="56692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Without proper forensic process, digital evidence is inadmissible. Investigation ensures authenticity.</a:t>
            </a:r>
            <a:endParaRPr lang="en-US" sz="1050" dirty="0"/>
          </a:p>
        </p:txBody>
      </p:sp>
      <p:sp>
        <p:nvSpPr>
          <p:cNvPr id="22" name="Shape 20"/>
          <p:cNvSpPr/>
          <p:nvPr/>
        </p:nvSpPr>
        <p:spPr>
          <a:xfrm>
            <a:off x="164592" y="3877056"/>
            <a:ext cx="4279392" cy="1042416"/>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23" name="Shape 21"/>
          <p:cNvSpPr/>
          <p:nvPr/>
        </p:nvSpPr>
        <p:spPr>
          <a:xfrm>
            <a:off x="164592" y="3877056"/>
            <a:ext cx="4279392" cy="310896"/>
          </a:xfrm>
          <a:prstGeom prst="rect">
            <a:avLst/>
          </a:prstGeom>
          <a:solidFill>
            <a:srgbClr val="FFB703"/>
          </a:solidFill>
          <a:ln w="12700">
            <a:solidFill>
              <a:srgbClr val="FFB703"/>
            </a:solidFill>
            <a:prstDash val="solid"/>
          </a:ln>
        </p:spPr>
        <p:txBody>
          <a:bodyPr/>
          <a:lstStyle/>
          <a:p>
            <a:endParaRPr lang="en-SG"/>
          </a:p>
        </p:txBody>
      </p:sp>
      <p:sp>
        <p:nvSpPr>
          <p:cNvPr id="24" name="Text 22"/>
          <p:cNvSpPr/>
          <p:nvPr/>
        </p:nvSpPr>
        <p:spPr>
          <a:xfrm>
            <a:off x="256032" y="3913632"/>
            <a:ext cx="411480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Integrity is non-negotiable</a:t>
            </a:r>
            <a:endParaRPr lang="en-US" sz="1150" dirty="0"/>
          </a:p>
        </p:txBody>
      </p:sp>
      <p:sp>
        <p:nvSpPr>
          <p:cNvPr id="25" name="Text 23"/>
          <p:cNvSpPr/>
          <p:nvPr/>
        </p:nvSpPr>
        <p:spPr>
          <a:xfrm>
            <a:off x="256032" y="4261104"/>
            <a:ext cx="4114800" cy="56692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Hash values (MD5/SHA-256) prove evidence hasn't changed since collection. A changed hash means inadmissible.</a:t>
            </a:r>
            <a:endParaRPr lang="en-US" sz="1050" dirty="0"/>
          </a:p>
        </p:txBody>
      </p:sp>
      <p:sp>
        <p:nvSpPr>
          <p:cNvPr id="26" name="Shape 24"/>
          <p:cNvSpPr/>
          <p:nvPr/>
        </p:nvSpPr>
        <p:spPr>
          <a:xfrm>
            <a:off x="4626864" y="3877056"/>
            <a:ext cx="4279392" cy="1042416"/>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4626864" y="3877056"/>
            <a:ext cx="4279392" cy="310896"/>
          </a:xfrm>
          <a:prstGeom prst="rect">
            <a:avLst/>
          </a:prstGeom>
          <a:solidFill>
            <a:srgbClr val="FB8500"/>
          </a:solidFill>
          <a:ln w="12700">
            <a:solidFill>
              <a:srgbClr val="FB8500"/>
            </a:solidFill>
            <a:prstDash val="solid"/>
          </a:ln>
        </p:spPr>
        <p:txBody>
          <a:bodyPr/>
          <a:lstStyle/>
          <a:p>
            <a:endParaRPr lang="en-SG"/>
          </a:p>
        </p:txBody>
      </p:sp>
      <p:sp>
        <p:nvSpPr>
          <p:cNvPr id="28" name="Text 26"/>
          <p:cNvSpPr/>
          <p:nvPr/>
        </p:nvSpPr>
        <p:spPr>
          <a:xfrm>
            <a:off x="4718304" y="3913632"/>
            <a:ext cx="4114800"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Context gives evidence meaning</a:t>
            </a:r>
            <a:endParaRPr lang="en-US" sz="1150" dirty="0"/>
          </a:p>
        </p:txBody>
      </p:sp>
      <p:sp>
        <p:nvSpPr>
          <p:cNvPr id="29" name="Text 27"/>
          <p:cNvSpPr/>
          <p:nvPr/>
        </p:nvSpPr>
        <p:spPr>
          <a:xfrm>
            <a:off x="4718304" y="4261104"/>
            <a:ext cx="4114800" cy="566928"/>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 log entry alone means nothing. Forensic analysis provides the who, what, when, where and why for court.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D6A0"/>
          </a:solidFill>
          <a:ln w="12700">
            <a:solidFill>
              <a:srgbClr val="06D6A0"/>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Digital Forensics in Criminal Investigations</a:t>
            </a:r>
            <a:endParaRPr lang="en-US" sz="1700" dirty="0"/>
          </a:p>
        </p:txBody>
      </p:sp>
      <p:sp>
        <p:nvSpPr>
          <p:cNvPr id="6" name="Shape 4"/>
          <p:cNvSpPr/>
          <p:nvPr/>
        </p:nvSpPr>
        <p:spPr>
          <a:xfrm>
            <a:off x="164592" y="841248"/>
            <a:ext cx="4160520" cy="2249424"/>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7" name="Text 5"/>
          <p:cNvSpPr/>
          <p:nvPr/>
        </p:nvSpPr>
        <p:spPr>
          <a:xfrm>
            <a:off x="274320" y="914400"/>
            <a:ext cx="3931920" cy="274320"/>
          </a:xfrm>
          <a:prstGeom prst="rect">
            <a:avLst/>
          </a:prstGeom>
          <a:noFill/>
          <a:ln/>
        </p:spPr>
        <p:txBody>
          <a:bodyPr wrap="square" rtlCol="0" anchor="ctr"/>
          <a:lstStyle/>
          <a:p>
            <a:pPr marL="0" indent="0">
              <a:buNone/>
            </a:pPr>
            <a:r>
              <a:rPr lang="en-US" sz="1300" b="1" dirty="0">
                <a:solidFill>
                  <a:srgbClr val="06D6A0"/>
                </a:solidFill>
                <a:latin typeface="Trebuchet MS" pitchFamily="34" charset="0"/>
                <a:ea typeface="Trebuchet MS" pitchFamily="34" charset="-122"/>
                <a:cs typeface="Trebuchet MS" pitchFamily="34" charset="-120"/>
              </a:rPr>
              <a:t>How Digital Forensics Helps</a:t>
            </a:r>
            <a:endParaRPr lang="en-US" sz="1300" dirty="0"/>
          </a:p>
        </p:txBody>
      </p:sp>
      <p:sp>
        <p:nvSpPr>
          <p:cNvPr id="8" name="Text 6"/>
          <p:cNvSpPr/>
          <p:nvPr/>
        </p:nvSpPr>
        <p:spPr>
          <a:xfrm>
            <a:off x="274320" y="1243584"/>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Recover deleted messages, photos &amp; files</a:t>
            </a:r>
            <a:endParaRPr lang="en-US" sz="1100" dirty="0"/>
          </a:p>
        </p:txBody>
      </p:sp>
      <p:sp>
        <p:nvSpPr>
          <p:cNvPr id="9" name="Text 7"/>
          <p:cNvSpPr/>
          <p:nvPr/>
        </p:nvSpPr>
        <p:spPr>
          <a:xfrm>
            <a:off x="274320" y="1545336"/>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Establish a timeline from device logs</a:t>
            </a:r>
            <a:endParaRPr lang="en-US" sz="1100" dirty="0"/>
          </a:p>
        </p:txBody>
      </p:sp>
      <p:sp>
        <p:nvSpPr>
          <p:cNvPr id="10" name="Text 8"/>
          <p:cNvSpPr/>
          <p:nvPr/>
        </p:nvSpPr>
        <p:spPr>
          <a:xfrm>
            <a:off x="274320" y="1847088"/>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Identify suspects via IP addresses &amp; accounts</a:t>
            </a:r>
            <a:endParaRPr lang="en-US" sz="1100" dirty="0"/>
          </a:p>
        </p:txBody>
      </p:sp>
      <p:sp>
        <p:nvSpPr>
          <p:cNvPr id="11" name="Text 9"/>
          <p:cNvSpPr/>
          <p:nvPr/>
        </p:nvSpPr>
        <p:spPr>
          <a:xfrm>
            <a:off x="274320" y="2148840"/>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Prove or disprove an alibi with GPS data</a:t>
            </a:r>
            <a:endParaRPr lang="en-US" sz="1100" dirty="0"/>
          </a:p>
        </p:txBody>
      </p:sp>
      <p:sp>
        <p:nvSpPr>
          <p:cNvPr id="12" name="Text 10"/>
          <p:cNvSpPr/>
          <p:nvPr/>
        </p:nvSpPr>
        <p:spPr>
          <a:xfrm>
            <a:off x="274320" y="2450592"/>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Uncover communications between accomplices</a:t>
            </a:r>
            <a:endParaRPr lang="en-US" sz="1100" dirty="0"/>
          </a:p>
        </p:txBody>
      </p:sp>
      <p:sp>
        <p:nvSpPr>
          <p:cNvPr id="13" name="Text 11"/>
          <p:cNvSpPr/>
          <p:nvPr/>
        </p:nvSpPr>
        <p:spPr>
          <a:xfrm>
            <a:off x="274320" y="2752344"/>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Recover CCTV footage and digital media</a:t>
            </a:r>
            <a:endParaRPr lang="en-US" sz="1100" dirty="0"/>
          </a:p>
        </p:txBody>
      </p:sp>
      <p:sp>
        <p:nvSpPr>
          <p:cNvPr id="14" name="Shape 12"/>
          <p:cNvSpPr/>
          <p:nvPr/>
        </p:nvSpPr>
        <p:spPr>
          <a:xfrm>
            <a:off x="4498848" y="841248"/>
            <a:ext cx="4480560" cy="1554480"/>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15" name="Shape 13"/>
          <p:cNvSpPr/>
          <p:nvPr/>
        </p:nvSpPr>
        <p:spPr>
          <a:xfrm>
            <a:off x="4498848" y="841248"/>
            <a:ext cx="4480560" cy="347472"/>
          </a:xfrm>
          <a:prstGeom prst="rect">
            <a:avLst/>
          </a:prstGeom>
          <a:solidFill>
            <a:srgbClr val="FB8500"/>
          </a:solidFill>
          <a:ln w="12700">
            <a:solidFill>
              <a:srgbClr val="FB8500"/>
            </a:solidFill>
            <a:prstDash val="solid"/>
          </a:ln>
        </p:spPr>
        <p:txBody>
          <a:bodyPr/>
          <a:lstStyle/>
          <a:p>
            <a:endParaRPr lang="en-SG"/>
          </a:p>
        </p:txBody>
      </p:sp>
      <p:sp>
        <p:nvSpPr>
          <p:cNvPr id="16" name="Text 14"/>
          <p:cNvSpPr/>
          <p:nvPr/>
        </p:nvSpPr>
        <p:spPr>
          <a:xfrm>
            <a:off x="4608576" y="896112"/>
            <a:ext cx="4279392"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CASE STUDY 1  —  Murder Investigation</a:t>
            </a:r>
            <a:endParaRPr lang="en-US" sz="1150" dirty="0"/>
          </a:p>
        </p:txBody>
      </p:sp>
      <p:sp>
        <p:nvSpPr>
          <p:cNvPr id="17" name="Text 15"/>
          <p:cNvSpPr/>
          <p:nvPr/>
        </p:nvSpPr>
        <p:spPr>
          <a:xfrm>
            <a:off x="4608576" y="1243584"/>
            <a:ext cx="4261104" cy="10607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Investigators recovered deleted WhatsApp messages and GPS location history from the suspect's smartphone. The digital evidence placed the suspect at the crime scene, directly contradicted their stated alibi, and contributed to a successful conviction.</a:t>
            </a:r>
            <a:endParaRPr lang="en-US" sz="1050" dirty="0"/>
          </a:p>
        </p:txBody>
      </p:sp>
      <p:sp>
        <p:nvSpPr>
          <p:cNvPr id="18" name="Shape 16"/>
          <p:cNvSpPr/>
          <p:nvPr/>
        </p:nvSpPr>
        <p:spPr>
          <a:xfrm>
            <a:off x="4498848" y="2542032"/>
            <a:ext cx="4480560" cy="1554480"/>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4498848" y="2542032"/>
            <a:ext cx="4480560" cy="347472"/>
          </a:xfrm>
          <a:prstGeom prst="rect">
            <a:avLst/>
          </a:prstGeom>
          <a:solidFill>
            <a:srgbClr val="9B5DE5"/>
          </a:solidFill>
          <a:ln w="12700">
            <a:solidFill>
              <a:srgbClr val="9B5DE5"/>
            </a:solidFill>
            <a:prstDash val="solid"/>
          </a:ln>
        </p:spPr>
        <p:txBody>
          <a:bodyPr/>
          <a:lstStyle/>
          <a:p>
            <a:endParaRPr lang="en-SG"/>
          </a:p>
        </p:txBody>
      </p:sp>
      <p:sp>
        <p:nvSpPr>
          <p:cNvPr id="20" name="Text 18"/>
          <p:cNvSpPr/>
          <p:nvPr/>
        </p:nvSpPr>
        <p:spPr>
          <a:xfrm>
            <a:off x="4608576" y="2596896"/>
            <a:ext cx="4279392"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CASE STUDY 2  —  Child Exploitation Network</a:t>
            </a:r>
            <a:endParaRPr lang="en-US" sz="1150" dirty="0"/>
          </a:p>
        </p:txBody>
      </p:sp>
      <p:sp>
        <p:nvSpPr>
          <p:cNvPr id="21" name="Text 19"/>
          <p:cNvSpPr/>
          <p:nvPr/>
        </p:nvSpPr>
        <p:spPr>
          <a:xfrm>
            <a:off x="4608576" y="2944368"/>
            <a:ext cx="4261104" cy="10607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Operation Avalanche (Europol, 2016) dismantled a global network. Forensic investigators recovered encrypted files, traced Bitcoin transactions, and linked IP addresses to suspects in 30+ countries — leading to 800+ arrests across multiple jurisdictions.</a:t>
            </a:r>
            <a:endParaRPr lang="en-US" sz="1050" dirty="0"/>
          </a:p>
        </p:txBody>
      </p:sp>
      <p:sp>
        <p:nvSpPr>
          <p:cNvPr id="22" name="Shape 20"/>
          <p:cNvSpPr/>
          <p:nvPr/>
        </p:nvSpPr>
        <p:spPr>
          <a:xfrm>
            <a:off x="164592" y="3218688"/>
            <a:ext cx="4160520" cy="1517904"/>
          </a:xfrm>
          <a:prstGeom prst="rect">
            <a:avLst/>
          </a:prstGeom>
          <a:solidFill>
            <a:srgbClr val="EEF6FB"/>
          </a:solidFill>
          <a:ln w="12700">
            <a:solidFill>
              <a:srgbClr val="2E4068"/>
            </a:solidFill>
            <a:prstDash val="solid"/>
          </a:ln>
          <a:effectLst>
            <a:outerShdw blurRad="152400" dist="50800" dir="8100000" algn="bl" rotWithShape="0">
              <a:srgbClr val="000000">
                <a:alpha val="40000"/>
              </a:srgbClr>
            </a:outerShdw>
          </a:effectLst>
        </p:spPr>
        <p:txBody>
          <a:bodyPr/>
          <a:lstStyle/>
          <a:p>
            <a:endParaRPr lang="en-SG"/>
          </a:p>
        </p:txBody>
      </p:sp>
      <p:sp>
        <p:nvSpPr>
          <p:cNvPr id="23" name="Text 21"/>
          <p:cNvSpPr/>
          <p:nvPr/>
        </p:nvSpPr>
        <p:spPr>
          <a:xfrm>
            <a:off x="274320" y="3291840"/>
            <a:ext cx="3931920" cy="274320"/>
          </a:xfrm>
          <a:prstGeom prst="rect">
            <a:avLst/>
          </a:prstGeom>
          <a:noFill/>
          <a:ln/>
        </p:spPr>
        <p:txBody>
          <a:bodyPr wrap="square" rtlCol="0" anchor="ctr"/>
          <a:lstStyle/>
          <a:p>
            <a:pPr marL="0" indent="0">
              <a:buNone/>
            </a:pPr>
            <a:r>
              <a:rPr lang="en-US" sz="1150" b="1" dirty="0">
                <a:solidFill>
                  <a:srgbClr val="06D6A0"/>
                </a:solidFill>
                <a:latin typeface="Trebuchet MS" pitchFamily="34" charset="0"/>
                <a:ea typeface="Trebuchet MS" pitchFamily="34" charset="-122"/>
                <a:cs typeface="Trebuchet MS" pitchFamily="34" charset="-120"/>
              </a:rPr>
              <a:t>Typical Digital Evidence in Criminal Cases</a:t>
            </a:r>
            <a:endParaRPr lang="en-US" sz="1150" dirty="0"/>
          </a:p>
        </p:txBody>
      </p:sp>
      <p:sp>
        <p:nvSpPr>
          <p:cNvPr id="24" name="Text 22"/>
          <p:cNvSpPr/>
          <p:nvPr/>
        </p:nvSpPr>
        <p:spPr>
          <a:xfrm>
            <a:off x="274320" y="3621024"/>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Call logs, SMS &amp; messaging app data</a:t>
            </a:r>
            <a:endParaRPr lang="en-US" sz="1000" dirty="0"/>
          </a:p>
        </p:txBody>
      </p:sp>
      <p:sp>
        <p:nvSpPr>
          <p:cNvPr id="25" name="Text 23"/>
          <p:cNvSpPr/>
          <p:nvPr/>
        </p:nvSpPr>
        <p:spPr>
          <a:xfrm>
            <a:off x="274320" y="3840480"/>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Browser history &amp; search queries</a:t>
            </a:r>
            <a:endParaRPr lang="en-US" sz="1000" dirty="0"/>
          </a:p>
        </p:txBody>
      </p:sp>
      <p:sp>
        <p:nvSpPr>
          <p:cNvPr id="26" name="Text 24"/>
          <p:cNvSpPr/>
          <p:nvPr/>
        </p:nvSpPr>
        <p:spPr>
          <a:xfrm>
            <a:off x="274320" y="4059936"/>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GPS &amp; location data</a:t>
            </a:r>
            <a:endParaRPr lang="en-US" sz="1000" dirty="0"/>
          </a:p>
        </p:txBody>
      </p:sp>
      <p:sp>
        <p:nvSpPr>
          <p:cNvPr id="27" name="Text 25"/>
          <p:cNvSpPr/>
          <p:nvPr/>
        </p:nvSpPr>
        <p:spPr>
          <a:xfrm>
            <a:off x="274320" y="4279392"/>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Email communications</a:t>
            </a:r>
            <a:endParaRPr lang="en-US" sz="1000" dirty="0"/>
          </a:p>
        </p:txBody>
      </p:sp>
      <p:sp>
        <p:nvSpPr>
          <p:cNvPr id="28" name="Text 26"/>
          <p:cNvSpPr/>
          <p:nvPr/>
        </p:nvSpPr>
        <p:spPr>
          <a:xfrm>
            <a:off x="274320" y="4498848"/>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Photos, videos &amp; EXIF metadata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D6A0"/>
          </a:solidFill>
          <a:ln w="12700">
            <a:solidFill>
              <a:srgbClr val="06D6A0"/>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Digital Forensics in Corporate Crime Investigations</a:t>
            </a:r>
            <a:endParaRPr lang="en-US" sz="1700" dirty="0"/>
          </a:p>
        </p:txBody>
      </p:sp>
      <p:sp>
        <p:nvSpPr>
          <p:cNvPr id="6" name="Shape 4"/>
          <p:cNvSpPr/>
          <p:nvPr/>
        </p:nvSpPr>
        <p:spPr>
          <a:xfrm>
            <a:off x="164592" y="841248"/>
            <a:ext cx="4160520" cy="2249424"/>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7" name="Text 5"/>
          <p:cNvSpPr/>
          <p:nvPr/>
        </p:nvSpPr>
        <p:spPr>
          <a:xfrm>
            <a:off x="274320" y="914400"/>
            <a:ext cx="3931920" cy="274320"/>
          </a:xfrm>
          <a:prstGeom prst="rect">
            <a:avLst/>
          </a:prstGeom>
          <a:noFill/>
          <a:ln/>
        </p:spPr>
        <p:txBody>
          <a:bodyPr wrap="square" rtlCol="0" anchor="ctr"/>
          <a:lstStyle/>
          <a:p>
            <a:pPr marL="0" indent="0">
              <a:buNone/>
            </a:pPr>
            <a:r>
              <a:rPr lang="en-US" sz="1300" b="1" dirty="0">
                <a:solidFill>
                  <a:srgbClr val="06D6A0"/>
                </a:solidFill>
                <a:latin typeface="Trebuchet MS" pitchFamily="34" charset="0"/>
                <a:ea typeface="Trebuchet MS" pitchFamily="34" charset="-122"/>
                <a:cs typeface="Trebuchet MS" pitchFamily="34" charset="-120"/>
              </a:rPr>
              <a:t>How Digital Forensics Helps</a:t>
            </a:r>
            <a:endParaRPr lang="en-US" sz="1300" dirty="0"/>
          </a:p>
        </p:txBody>
      </p:sp>
      <p:sp>
        <p:nvSpPr>
          <p:cNvPr id="8" name="Text 6"/>
          <p:cNvSpPr/>
          <p:nvPr/>
        </p:nvSpPr>
        <p:spPr>
          <a:xfrm>
            <a:off x="274320" y="1243584"/>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Recover emails proving insider trading or fraud</a:t>
            </a:r>
            <a:endParaRPr lang="en-US" sz="1100" dirty="0"/>
          </a:p>
        </p:txBody>
      </p:sp>
      <p:sp>
        <p:nvSpPr>
          <p:cNvPr id="9" name="Text 7"/>
          <p:cNvSpPr/>
          <p:nvPr/>
        </p:nvSpPr>
        <p:spPr>
          <a:xfrm>
            <a:off x="274320" y="1545336"/>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Trace unauthorised data access or data theft</a:t>
            </a:r>
            <a:endParaRPr lang="en-US" sz="1100" dirty="0"/>
          </a:p>
        </p:txBody>
      </p:sp>
      <p:sp>
        <p:nvSpPr>
          <p:cNvPr id="10" name="Text 8"/>
          <p:cNvSpPr/>
          <p:nvPr/>
        </p:nvSpPr>
        <p:spPr>
          <a:xfrm>
            <a:off x="274320" y="1847088"/>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Analyse financial records and transaction logs</a:t>
            </a:r>
            <a:endParaRPr lang="en-US" sz="1100" dirty="0"/>
          </a:p>
        </p:txBody>
      </p:sp>
      <p:sp>
        <p:nvSpPr>
          <p:cNvPr id="11" name="Text 9"/>
          <p:cNvSpPr/>
          <p:nvPr/>
        </p:nvSpPr>
        <p:spPr>
          <a:xfrm>
            <a:off x="274320" y="2148840"/>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Identify who accessed confidential files and when</a:t>
            </a:r>
            <a:endParaRPr lang="en-US" sz="1100" dirty="0"/>
          </a:p>
        </p:txBody>
      </p:sp>
      <p:sp>
        <p:nvSpPr>
          <p:cNvPr id="12" name="Text 10"/>
          <p:cNvSpPr/>
          <p:nvPr/>
        </p:nvSpPr>
        <p:spPr>
          <a:xfrm>
            <a:off x="274320" y="2450592"/>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Preserve evidence for civil or regulatory proceedings</a:t>
            </a:r>
            <a:endParaRPr lang="en-US" sz="1100" dirty="0"/>
          </a:p>
        </p:txBody>
      </p:sp>
      <p:sp>
        <p:nvSpPr>
          <p:cNvPr id="13" name="Text 11"/>
          <p:cNvSpPr/>
          <p:nvPr/>
        </p:nvSpPr>
        <p:spPr>
          <a:xfrm>
            <a:off x="274320" y="2752344"/>
            <a:ext cx="3931920" cy="274320"/>
          </a:xfrm>
          <a:prstGeom prst="rect">
            <a:avLst/>
          </a:prstGeom>
          <a:noFill/>
          <a:ln/>
        </p:spPr>
        <p:txBody>
          <a:bodyPr wrap="square" rtlCol="0" anchor="ctr"/>
          <a:lstStyle/>
          <a:p>
            <a:pPr marL="342900" indent="-342900">
              <a:buSzPct val="100000"/>
              <a:buChar char="•"/>
            </a:pPr>
            <a:r>
              <a:rPr lang="en-US" sz="1100" dirty="0">
                <a:solidFill>
                  <a:srgbClr val="1A1A2E"/>
                </a:solidFill>
                <a:latin typeface="Calibri" pitchFamily="34" charset="0"/>
                <a:ea typeface="Calibri" pitchFamily="34" charset="-122"/>
                <a:cs typeface="Calibri" pitchFamily="34" charset="-120"/>
              </a:rPr>
              <a:t>Reconstruct deleted documents &amp; communications</a:t>
            </a:r>
            <a:endParaRPr lang="en-US" sz="1100" dirty="0"/>
          </a:p>
        </p:txBody>
      </p:sp>
      <p:sp>
        <p:nvSpPr>
          <p:cNvPr id="14" name="Shape 12"/>
          <p:cNvSpPr/>
          <p:nvPr/>
        </p:nvSpPr>
        <p:spPr>
          <a:xfrm>
            <a:off x="4498848" y="841248"/>
            <a:ext cx="4480560" cy="1554480"/>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5" name="Shape 13"/>
          <p:cNvSpPr/>
          <p:nvPr/>
        </p:nvSpPr>
        <p:spPr>
          <a:xfrm>
            <a:off x="4498848" y="841248"/>
            <a:ext cx="4480560" cy="347472"/>
          </a:xfrm>
          <a:prstGeom prst="rect">
            <a:avLst/>
          </a:prstGeom>
          <a:solidFill>
            <a:srgbClr val="FFB703"/>
          </a:solidFill>
          <a:ln w="12700">
            <a:solidFill>
              <a:srgbClr val="FFB703"/>
            </a:solidFill>
            <a:prstDash val="solid"/>
          </a:ln>
        </p:spPr>
        <p:txBody>
          <a:bodyPr/>
          <a:lstStyle/>
          <a:p>
            <a:endParaRPr lang="en-SG"/>
          </a:p>
        </p:txBody>
      </p:sp>
      <p:sp>
        <p:nvSpPr>
          <p:cNvPr id="16" name="Text 14"/>
          <p:cNvSpPr/>
          <p:nvPr/>
        </p:nvSpPr>
        <p:spPr>
          <a:xfrm>
            <a:off x="4608576" y="896112"/>
            <a:ext cx="4279392"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CASE STUDY 1  —  Enron Fraud (USA, 2001)</a:t>
            </a:r>
            <a:endParaRPr lang="en-US" sz="1150" dirty="0"/>
          </a:p>
        </p:txBody>
      </p:sp>
      <p:sp>
        <p:nvSpPr>
          <p:cNvPr id="17" name="Text 15"/>
          <p:cNvSpPr/>
          <p:nvPr/>
        </p:nvSpPr>
        <p:spPr>
          <a:xfrm>
            <a:off x="4608576" y="1243584"/>
            <a:ext cx="4261104" cy="10607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Investigators recovered 1.6 million emails after executives attempted to shred documents and wipe systems. Email analysis proved deliberate accounting fraud, leading to convictions and the collapse of Arthur Andersen LLP.</a:t>
            </a:r>
            <a:endParaRPr lang="en-US" sz="1050" dirty="0"/>
          </a:p>
        </p:txBody>
      </p:sp>
      <p:sp>
        <p:nvSpPr>
          <p:cNvPr id="18" name="Shape 16"/>
          <p:cNvSpPr/>
          <p:nvPr/>
        </p:nvSpPr>
        <p:spPr>
          <a:xfrm>
            <a:off x="4498848" y="2542032"/>
            <a:ext cx="4480560" cy="1554480"/>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4498848" y="2542032"/>
            <a:ext cx="4480560" cy="347472"/>
          </a:xfrm>
          <a:prstGeom prst="rect">
            <a:avLst/>
          </a:prstGeom>
          <a:solidFill>
            <a:srgbClr val="00B4D8"/>
          </a:solidFill>
          <a:ln w="12700">
            <a:solidFill>
              <a:srgbClr val="00B4D8"/>
            </a:solidFill>
            <a:prstDash val="solid"/>
          </a:ln>
        </p:spPr>
        <p:txBody>
          <a:bodyPr/>
          <a:lstStyle/>
          <a:p>
            <a:endParaRPr lang="en-SG"/>
          </a:p>
        </p:txBody>
      </p:sp>
      <p:sp>
        <p:nvSpPr>
          <p:cNvPr id="20" name="Text 18"/>
          <p:cNvSpPr/>
          <p:nvPr/>
        </p:nvSpPr>
        <p:spPr>
          <a:xfrm>
            <a:off x="4608576" y="2596896"/>
            <a:ext cx="4279392"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CASE STUDY 2  —  Employee Data Theft</a:t>
            </a:r>
            <a:endParaRPr lang="en-US" sz="1150" dirty="0"/>
          </a:p>
        </p:txBody>
      </p:sp>
      <p:sp>
        <p:nvSpPr>
          <p:cNvPr id="21" name="Text 19"/>
          <p:cNvSpPr/>
          <p:nvPr/>
        </p:nvSpPr>
        <p:spPr>
          <a:xfrm>
            <a:off x="4608576" y="2944368"/>
            <a:ext cx="4261104" cy="106070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 bank discovered a departing employee had copied 50,000 customer records to a personal USB drive. Forensics confirmed the transfer through Windows event logs, USB registry artefacts, and file access timestamps — used in both criminal and civil proceedings.</a:t>
            </a:r>
            <a:endParaRPr lang="en-US" sz="1050" dirty="0"/>
          </a:p>
        </p:txBody>
      </p:sp>
      <p:sp>
        <p:nvSpPr>
          <p:cNvPr id="22" name="Shape 20"/>
          <p:cNvSpPr/>
          <p:nvPr/>
        </p:nvSpPr>
        <p:spPr>
          <a:xfrm>
            <a:off x="164592" y="3218688"/>
            <a:ext cx="4160520" cy="1517904"/>
          </a:xfrm>
          <a:prstGeom prst="rect">
            <a:avLst/>
          </a:prstGeom>
          <a:solidFill>
            <a:srgbClr val="EEF6FB"/>
          </a:solidFill>
          <a:ln w="12700">
            <a:solidFill>
              <a:srgbClr val="2E4068"/>
            </a:solidFill>
            <a:prstDash val="solid"/>
          </a:ln>
          <a:effectLst>
            <a:outerShdw blurRad="152400" dist="50800" dir="8100000" algn="bl" rotWithShape="0">
              <a:srgbClr val="000000">
                <a:alpha val="40000"/>
              </a:srgbClr>
            </a:outerShdw>
          </a:effectLst>
        </p:spPr>
        <p:txBody>
          <a:bodyPr/>
          <a:lstStyle/>
          <a:p>
            <a:endParaRPr lang="en-SG"/>
          </a:p>
        </p:txBody>
      </p:sp>
      <p:sp>
        <p:nvSpPr>
          <p:cNvPr id="23" name="Text 21"/>
          <p:cNvSpPr/>
          <p:nvPr/>
        </p:nvSpPr>
        <p:spPr>
          <a:xfrm>
            <a:off x="274320" y="3291840"/>
            <a:ext cx="3931920" cy="274320"/>
          </a:xfrm>
          <a:prstGeom prst="rect">
            <a:avLst/>
          </a:prstGeom>
          <a:noFill/>
          <a:ln/>
        </p:spPr>
        <p:txBody>
          <a:bodyPr wrap="square" rtlCol="0" anchor="ctr"/>
          <a:lstStyle/>
          <a:p>
            <a:pPr marL="0" indent="0">
              <a:buNone/>
            </a:pPr>
            <a:r>
              <a:rPr lang="en-US" sz="1150" b="1" dirty="0">
                <a:solidFill>
                  <a:srgbClr val="06D6A0"/>
                </a:solidFill>
                <a:latin typeface="Trebuchet MS" pitchFamily="34" charset="0"/>
                <a:ea typeface="Trebuchet MS" pitchFamily="34" charset="-122"/>
                <a:cs typeface="Trebuchet MS" pitchFamily="34" charset="-120"/>
              </a:rPr>
              <a:t>Typical Digital Evidence in Corporate Cases</a:t>
            </a:r>
            <a:endParaRPr lang="en-US" sz="1150" dirty="0"/>
          </a:p>
        </p:txBody>
      </p:sp>
      <p:sp>
        <p:nvSpPr>
          <p:cNvPr id="24" name="Text 22"/>
          <p:cNvSpPr/>
          <p:nvPr/>
        </p:nvSpPr>
        <p:spPr>
          <a:xfrm>
            <a:off x="274320" y="3621024"/>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Corporate emails &amp; calendar data</a:t>
            </a:r>
            <a:endParaRPr lang="en-US" sz="1000" dirty="0"/>
          </a:p>
        </p:txBody>
      </p:sp>
      <p:sp>
        <p:nvSpPr>
          <p:cNvPr id="25" name="Text 23"/>
          <p:cNvSpPr/>
          <p:nvPr/>
        </p:nvSpPr>
        <p:spPr>
          <a:xfrm>
            <a:off x="274320" y="3840480"/>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Server &amp; database access logs</a:t>
            </a:r>
            <a:endParaRPr lang="en-US" sz="1000" dirty="0"/>
          </a:p>
        </p:txBody>
      </p:sp>
      <p:sp>
        <p:nvSpPr>
          <p:cNvPr id="26" name="Text 24"/>
          <p:cNvSpPr/>
          <p:nvPr/>
        </p:nvSpPr>
        <p:spPr>
          <a:xfrm>
            <a:off x="274320" y="4059936"/>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USB / removable media artefacts</a:t>
            </a:r>
            <a:endParaRPr lang="en-US" sz="1000" dirty="0"/>
          </a:p>
        </p:txBody>
      </p:sp>
      <p:sp>
        <p:nvSpPr>
          <p:cNvPr id="27" name="Text 25"/>
          <p:cNvSpPr/>
          <p:nvPr/>
        </p:nvSpPr>
        <p:spPr>
          <a:xfrm>
            <a:off x="274320" y="4279392"/>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Financial system transaction records</a:t>
            </a:r>
            <a:endParaRPr lang="en-US" sz="1000" dirty="0"/>
          </a:p>
        </p:txBody>
      </p:sp>
      <p:sp>
        <p:nvSpPr>
          <p:cNvPr id="28" name="Text 26"/>
          <p:cNvSpPr/>
          <p:nvPr/>
        </p:nvSpPr>
        <p:spPr>
          <a:xfrm>
            <a:off x="274320" y="4498848"/>
            <a:ext cx="3931920" cy="201168"/>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Cloud storage audit trails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6D6A0"/>
          </a:solidFill>
          <a:ln w="12700">
            <a:solidFill>
              <a:srgbClr val="06D6A0"/>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Common Cyber Crimes &amp; Key Digital Evidence</a:t>
            </a:r>
            <a:endParaRPr lang="en-US" sz="1700" dirty="0"/>
          </a:p>
        </p:txBody>
      </p:sp>
      <p:sp>
        <p:nvSpPr>
          <p:cNvPr id="6" name="Shape 4"/>
          <p:cNvSpPr/>
          <p:nvPr/>
        </p:nvSpPr>
        <p:spPr>
          <a:xfrm>
            <a:off x="164592" y="841248"/>
            <a:ext cx="4279392" cy="1243584"/>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64592" y="841248"/>
            <a:ext cx="182880" cy="1243584"/>
          </a:xfrm>
          <a:prstGeom prst="rect">
            <a:avLst/>
          </a:prstGeom>
          <a:solidFill>
            <a:srgbClr val="FFB703"/>
          </a:solidFill>
          <a:ln w="12700">
            <a:solidFill>
              <a:srgbClr val="FFB703"/>
            </a:solidFill>
            <a:prstDash val="solid"/>
          </a:ln>
        </p:spPr>
        <p:txBody>
          <a:bodyPr/>
          <a:lstStyle/>
          <a:p>
            <a:endParaRPr lang="en-SG"/>
          </a:p>
        </p:txBody>
      </p:sp>
      <p:sp>
        <p:nvSpPr>
          <p:cNvPr id="8" name="Text 6"/>
          <p:cNvSpPr/>
          <p:nvPr/>
        </p:nvSpPr>
        <p:spPr>
          <a:xfrm>
            <a:off x="438912" y="896112"/>
            <a:ext cx="3913632"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Phishing / Scam</a:t>
            </a:r>
            <a:endParaRPr lang="en-US" sz="1300" dirty="0"/>
          </a:p>
        </p:txBody>
      </p:sp>
      <p:sp>
        <p:nvSpPr>
          <p:cNvPr id="9" name="Text 7"/>
          <p:cNvSpPr/>
          <p:nvPr/>
        </p:nvSpPr>
        <p:spPr>
          <a:xfrm>
            <a:off x="438912" y="1188720"/>
            <a:ext cx="3913632"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Fake messages trick people into giving passwords or money.</a:t>
            </a:r>
            <a:endParaRPr lang="en-US" sz="1050" dirty="0"/>
          </a:p>
        </p:txBody>
      </p:sp>
      <p:sp>
        <p:nvSpPr>
          <p:cNvPr id="10" name="Text 8"/>
          <p:cNvSpPr/>
          <p:nvPr/>
        </p:nvSpPr>
        <p:spPr>
          <a:xfrm>
            <a:off x="438912" y="1591056"/>
            <a:ext cx="3913632" cy="384048"/>
          </a:xfrm>
          <a:prstGeom prst="rect">
            <a:avLst/>
          </a:prstGeom>
          <a:noFill/>
          <a:ln/>
        </p:spPr>
        <p:txBody>
          <a:bodyPr wrap="square" rtlCol="0" anchor="ctr"/>
          <a:lstStyle/>
          <a:p>
            <a:pPr marL="0" indent="0">
              <a:buNone/>
            </a:pPr>
            <a:r>
              <a:rPr lang="en-US" sz="1000" i="1" dirty="0">
                <a:solidFill>
                  <a:srgbClr val="FFB703"/>
                </a:solidFill>
                <a:latin typeface="Calibri" pitchFamily="34" charset="0"/>
                <a:ea typeface="Calibri" pitchFamily="34" charset="-122"/>
                <a:cs typeface="Calibri" pitchFamily="34" charset="-120"/>
              </a:rPr>
              <a:t>Evidence: Email headers, sender IP, phishing URL, bank transfer logs</a:t>
            </a:r>
            <a:endParaRPr lang="en-US" sz="1000" dirty="0"/>
          </a:p>
        </p:txBody>
      </p:sp>
      <p:sp>
        <p:nvSpPr>
          <p:cNvPr id="11" name="Shape 9"/>
          <p:cNvSpPr/>
          <p:nvPr/>
        </p:nvSpPr>
        <p:spPr>
          <a:xfrm>
            <a:off x="4626864" y="841248"/>
            <a:ext cx="4279392" cy="1243584"/>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12" name="Shape 10"/>
          <p:cNvSpPr/>
          <p:nvPr/>
        </p:nvSpPr>
        <p:spPr>
          <a:xfrm>
            <a:off x="4626864" y="841248"/>
            <a:ext cx="182880" cy="1243584"/>
          </a:xfrm>
          <a:prstGeom prst="rect">
            <a:avLst/>
          </a:prstGeom>
          <a:solidFill>
            <a:srgbClr val="FB8500"/>
          </a:solidFill>
          <a:ln w="12700">
            <a:solidFill>
              <a:srgbClr val="FB8500"/>
            </a:solidFill>
            <a:prstDash val="solid"/>
          </a:ln>
        </p:spPr>
        <p:txBody>
          <a:bodyPr/>
          <a:lstStyle/>
          <a:p>
            <a:endParaRPr lang="en-SG"/>
          </a:p>
        </p:txBody>
      </p:sp>
      <p:sp>
        <p:nvSpPr>
          <p:cNvPr id="13" name="Text 11"/>
          <p:cNvSpPr/>
          <p:nvPr/>
        </p:nvSpPr>
        <p:spPr>
          <a:xfrm>
            <a:off x="4901184" y="896112"/>
            <a:ext cx="3913632"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Cyberbullying</a:t>
            </a:r>
            <a:endParaRPr lang="en-US" sz="1300" dirty="0"/>
          </a:p>
        </p:txBody>
      </p:sp>
      <p:sp>
        <p:nvSpPr>
          <p:cNvPr id="14" name="Text 12"/>
          <p:cNvSpPr/>
          <p:nvPr/>
        </p:nvSpPr>
        <p:spPr>
          <a:xfrm>
            <a:off x="4901184" y="1188720"/>
            <a:ext cx="3913632"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Harassment or threats sent online via social media or chat apps.</a:t>
            </a:r>
            <a:endParaRPr lang="en-US" sz="1050" dirty="0"/>
          </a:p>
        </p:txBody>
      </p:sp>
      <p:sp>
        <p:nvSpPr>
          <p:cNvPr id="15" name="Text 13"/>
          <p:cNvSpPr/>
          <p:nvPr/>
        </p:nvSpPr>
        <p:spPr>
          <a:xfrm>
            <a:off x="4901184" y="1591056"/>
            <a:ext cx="3913632" cy="384048"/>
          </a:xfrm>
          <a:prstGeom prst="rect">
            <a:avLst/>
          </a:prstGeom>
          <a:noFill/>
          <a:ln/>
        </p:spPr>
        <p:txBody>
          <a:bodyPr wrap="square" rtlCol="0" anchor="ctr"/>
          <a:lstStyle/>
          <a:p>
            <a:pPr marL="0" indent="0">
              <a:buNone/>
            </a:pPr>
            <a:r>
              <a:rPr lang="en-US" sz="1000" i="1" dirty="0">
                <a:solidFill>
                  <a:srgbClr val="FB8500"/>
                </a:solidFill>
                <a:latin typeface="Calibri" pitchFamily="34" charset="0"/>
                <a:ea typeface="Calibri" pitchFamily="34" charset="-122"/>
                <a:cs typeface="Calibri" pitchFamily="34" charset="-120"/>
              </a:rPr>
              <a:t>Evidence: Screenshot metadata, account logins, message timestamps, IPs</a:t>
            </a:r>
            <a:endParaRPr lang="en-US" sz="1000" dirty="0"/>
          </a:p>
        </p:txBody>
      </p:sp>
      <p:sp>
        <p:nvSpPr>
          <p:cNvPr id="16" name="Shape 14"/>
          <p:cNvSpPr/>
          <p:nvPr/>
        </p:nvSpPr>
        <p:spPr>
          <a:xfrm>
            <a:off x="164592" y="2212848"/>
            <a:ext cx="4279392" cy="1243584"/>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17" name="Shape 15"/>
          <p:cNvSpPr/>
          <p:nvPr/>
        </p:nvSpPr>
        <p:spPr>
          <a:xfrm>
            <a:off x="164592" y="2212848"/>
            <a:ext cx="182880" cy="1243584"/>
          </a:xfrm>
          <a:prstGeom prst="rect">
            <a:avLst/>
          </a:prstGeom>
          <a:solidFill>
            <a:srgbClr val="06D6A0"/>
          </a:solidFill>
          <a:ln w="12700">
            <a:solidFill>
              <a:srgbClr val="06D6A0"/>
            </a:solidFill>
            <a:prstDash val="solid"/>
          </a:ln>
        </p:spPr>
        <p:txBody>
          <a:bodyPr/>
          <a:lstStyle/>
          <a:p>
            <a:endParaRPr lang="en-SG"/>
          </a:p>
        </p:txBody>
      </p:sp>
      <p:sp>
        <p:nvSpPr>
          <p:cNvPr id="18" name="Text 16"/>
          <p:cNvSpPr/>
          <p:nvPr/>
        </p:nvSpPr>
        <p:spPr>
          <a:xfrm>
            <a:off x="438912" y="2267712"/>
            <a:ext cx="3913632"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Hacking / Unauthorised Access</a:t>
            </a:r>
            <a:endParaRPr lang="en-US" sz="1300" dirty="0"/>
          </a:p>
        </p:txBody>
      </p:sp>
      <p:sp>
        <p:nvSpPr>
          <p:cNvPr id="19" name="Text 17"/>
          <p:cNvSpPr/>
          <p:nvPr/>
        </p:nvSpPr>
        <p:spPr>
          <a:xfrm>
            <a:off x="438912" y="2560320"/>
            <a:ext cx="3913632"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Breaking into accounts or systems without permission.</a:t>
            </a:r>
            <a:endParaRPr lang="en-US" sz="1050" dirty="0"/>
          </a:p>
        </p:txBody>
      </p:sp>
      <p:sp>
        <p:nvSpPr>
          <p:cNvPr id="20" name="Text 18"/>
          <p:cNvSpPr/>
          <p:nvPr/>
        </p:nvSpPr>
        <p:spPr>
          <a:xfrm>
            <a:off x="438912" y="2962656"/>
            <a:ext cx="3913632" cy="384048"/>
          </a:xfrm>
          <a:prstGeom prst="rect">
            <a:avLst/>
          </a:prstGeom>
          <a:noFill/>
          <a:ln/>
        </p:spPr>
        <p:txBody>
          <a:bodyPr wrap="square" rtlCol="0" anchor="ctr"/>
          <a:lstStyle/>
          <a:p>
            <a:pPr marL="0" indent="0">
              <a:buNone/>
            </a:pPr>
            <a:r>
              <a:rPr lang="en-US" sz="1000" i="1" dirty="0">
                <a:solidFill>
                  <a:srgbClr val="06D6A0"/>
                </a:solidFill>
                <a:latin typeface="Calibri" pitchFamily="34" charset="0"/>
                <a:ea typeface="Calibri" pitchFamily="34" charset="-122"/>
                <a:cs typeface="Calibri" pitchFamily="34" charset="-120"/>
              </a:rPr>
              <a:t>Evidence: Server logs, failed logins, malware files, network captures</a:t>
            </a:r>
            <a:endParaRPr lang="en-US" sz="1000" dirty="0"/>
          </a:p>
        </p:txBody>
      </p:sp>
      <p:sp>
        <p:nvSpPr>
          <p:cNvPr id="21" name="Shape 19"/>
          <p:cNvSpPr/>
          <p:nvPr/>
        </p:nvSpPr>
        <p:spPr>
          <a:xfrm>
            <a:off x="4626864" y="2212848"/>
            <a:ext cx="4279392" cy="1243584"/>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22" name="Shape 20"/>
          <p:cNvSpPr/>
          <p:nvPr/>
        </p:nvSpPr>
        <p:spPr>
          <a:xfrm>
            <a:off x="4626864" y="2212848"/>
            <a:ext cx="182880" cy="1243584"/>
          </a:xfrm>
          <a:prstGeom prst="rect">
            <a:avLst/>
          </a:prstGeom>
          <a:solidFill>
            <a:srgbClr val="9B5DE5"/>
          </a:solidFill>
          <a:ln w="12700">
            <a:solidFill>
              <a:srgbClr val="9B5DE5"/>
            </a:solidFill>
            <a:prstDash val="solid"/>
          </a:ln>
        </p:spPr>
        <p:txBody>
          <a:bodyPr/>
          <a:lstStyle/>
          <a:p>
            <a:endParaRPr lang="en-SG"/>
          </a:p>
        </p:txBody>
      </p:sp>
      <p:sp>
        <p:nvSpPr>
          <p:cNvPr id="23" name="Text 21"/>
          <p:cNvSpPr/>
          <p:nvPr/>
        </p:nvSpPr>
        <p:spPr>
          <a:xfrm>
            <a:off x="4901184" y="2267712"/>
            <a:ext cx="3913632"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Ransomware Attack</a:t>
            </a:r>
            <a:endParaRPr lang="en-US" sz="1300" dirty="0"/>
          </a:p>
        </p:txBody>
      </p:sp>
      <p:sp>
        <p:nvSpPr>
          <p:cNvPr id="24" name="Text 22"/>
          <p:cNvSpPr/>
          <p:nvPr/>
        </p:nvSpPr>
        <p:spPr>
          <a:xfrm>
            <a:off x="4901184" y="2560320"/>
            <a:ext cx="3913632"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Malicious software locks files and demands payment to unlock them.</a:t>
            </a:r>
            <a:endParaRPr lang="en-US" sz="1050" dirty="0"/>
          </a:p>
        </p:txBody>
      </p:sp>
      <p:sp>
        <p:nvSpPr>
          <p:cNvPr id="25" name="Text 23"/>
          <p:cNvSpPr/>
          <p:nvPr/>
        </p:nvSpPr>
        <p:spPr>
          <a:xfrm>
            <a:off x="4901184" y="2962656"/>
            <a:ext cx="3913632" cy="384048"/>
          </a:xfrm>
          <a:prstGeom prst="rect">
            <a:avLst/>
          </a:prstGeom>
          <a:noFill/>
          <a:ln/>
        </p:spPr>
        <p:txBody>
          <a:bodyPr wrap="square" rtlCol="0" anchor="ctr"/>
          <a:lstStyle/>
          <a:p>
            <a:pPr marL="0" indent="0">
              <a:buNone/>
            </a:pPr>
            <a:r>
              <a:rPr lang="en-US" sz="1000" i="1" dirty="0">
                <a:solidFill>
                  <a:srgbClr val="9B5DE5"/>
                </a:solidFill>
                <a:latin typeface="Calibri" pitchFamily="34" charset="0"/>
                <a:ea typeface="Calibri" pitchFamily="34" charset="-122"/>
                <a:cs typeface="Calibri" pitchFamily="34" charset="-120"/>
              </a:rPr>
              <a:t>Evidence: Malware sample, ransom note, encryption keys, Bitcoin wallets</a:t>
            </a:r>
            <a:endParaRPr lang="en-US" sz="1000" dirty="0"/>
          </a:p>
        </p:txBody>
      </p:sp>
      <p:sp>
        <p:nvSpPr>
          <p:cNvPr id="26" name="Shape 24"/>
          <p:cNvSpPr/>
          <p:nvPr/>
        </p:nvSpPr>
        <p:spPr>
          <a:xfrm>
            <a:off x="164592" y="3584448"/>
            <a:ext cx="4279392" cy="1243584"/>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164592" y="3584448"/>
            <a:ext cx="182880" cy="1243584"/>
          </a:xfrm>
          <a:prstGeom prst="rect">
            <a:avLst/>
          </a:prstGeom>
          <a:solidFill>
            <a:srgbClr val="00B4D8"/>
          </a:solidFill>
          <a:ln w="12700">
            <a:solidFill>
              <a:srgbClr val="00B4D8"/>
            </a:solidFill>
            <a:prstDash val="solid"/>
          </a:ln>
        </p:spPr>
        <p:txBody>
          <a:bodyPr/>
          <a:lstStyle/>
          <a:p>
            <a:endParaRPr lang="en-SG"/>
          </a:p>
        </p:txBody>
      </p:sp>
      <p:sp>
        <p:nvSpPr>
          <p:cNvPr id="28" name="Text 26"/>
          <p:cNvSpPr/>
          <p:nvPr/>
        </p:nvSpPr>
        <p:spPr>
          <a:xfrm>
            <a:off x="438912" y="3639312"/>
            <a:ext cx="3913632"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Online Fraud / Identity Theft</a:t>
            </a:r>
            <a:endParaRPr lang="en-US" sz="1300" dirty="0"/>
          </a:p>
        </p:txBody>
      </p:sp>
      <p:sp>
        <p:nvSpPr>
          <p:cNvPr id="29" name="Text 27"/>
          <p:cNvSpPr/>
          <p:nvPr/>
        </p:nvSpPr>
        <p:spPr>
          <a:xfrm>
            <a:off x="438912" y="3931920"/>
            <a:ext cx="3913632"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Stealing personal info to impersonate someone or commit financial fraud.</a:t>
            </a:r>
            <a:endParaRPr lang="en-US" sz="1050" dirty="0"/>
          </a:p>
        </p:txBody>
      </p:sp>
      <p:sp>
        <p:nvSpPr>
          <p:cNvPr id="30" name="Text 28"/>
          <p:cNvSpPr/>
          <p:nvPr/>
        </p:nvSpPr>
        <p:spPr>
          <a:xfrm>
            <a:off x="438912" y="4334256"/>
            <a:ext cx="3913632" cy="384048"/>
          </a:xfrm>
          <a:prstGeom prst="rect">
            <a:avLst/>
          </a:prstGeom>
          <a:noFill/>
          <a:ln/>
        </p:spPr>
        <p:txBody>
          <a:bodyPr wrap="square" rtlCol="0" anchor="ctr"/>
          <a:lstStyle/>
          <a:p>
            <a:pPr marL="0" indent="0">
              <a:buNone/>
            </a:pPr>
            <a:r>
              <a:rPr lang="en-US" sz="1000" i="1" dirty="0">
                <a:solidFill>
                  <a:srgbClr val="00B4D8"/>
                </a:solidFill>
                <a:latin typeface="Calibri" pitchFamily="34" charset="0"/>
                <a:ea typeface="Calibri" pitchFamily="34" charset="-122"/>
                <a:cs typeface="Calibri" pitchFamily="34" charset="-120"/>
              </a:rPr>
              <a:t>Evidence: Browser data, transaction logs, purchased credentials</a:t>
            </a:r>
            <a:endParaRPr lang="en-US" sz="1000" dirty="0"/>
          </a:p>
        </p:txBody>
      </p:sp>
      <p:sp>
        <p:nvSpPr>
          <p:cNvPr id="31" name="Shape 29"/>
          <p:cNvSpPr/>
          <p:nvPr/>
        </p:nvSpPr>
        <p:spPr>
          <a:xfrm>
            <a:off x="4626864" y="3584448"/>
            <a:ext cx="4279392" cy="1243584"/>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32" name="Shape 30"/>
          <p:cNvSpPr/>
          <p:nvPr/>
        </p:nvSpPr>
        <p:spPr>
          <a:xfrm>
            <a:off x="4626864" y="3584448"/>
            <a:ext cx="182880" cy="1243584"/>
          </a:xfrm>
          <a:prstGeom prst="rect">
            <a:avLst/>
          </a:prstGeom>
          <a:solidFill>
            <a:srgbClr val="EF233C"/>
          </a:solidFill>
          <a:ln w="12700">
            <a:solidFill>
              <a:srgbClr val="EF233C"/>
            </a:solidFill>
            <a:prstDash val="solid"/>
          </a:ln>
        </p:spPr>
        <p:txBody>
          <a:bodyPr/>
          <a:lstStyle/>
          <a:p>
            <a:endParaRPr lang="en-SG"/>
          </a:p>
        </p:txBody>
      </p:sp>
      <p:sp>
        <p:nvSpPr>
          <p:cNvPr id="33" name="Text 31"/>
          <p:cNvSpPr/>
          <p:nvPr/>
        </p:nvSpPr>
        <p:spPr>
          <a:xfrm>
            <a:off x="4901184" y="3639312"/>
            <a:ext cx="3913632"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Illegal Content Distribution</a:t>
            </a:r>
            <a:endParaRPr lang="en-US" sz="1300" dirty="0"/>
          </a:p>
        </p:txBody>
      </p:sp>
      <p:sp>
        <p:nvSpPr>
          <p:cNvPr id="34" name="Text 32"/>
          <p:cNvSpPr/>
          <p:nvPr/>
        </p:nvSpPr>
        <p:spPr>
          <a:xfrm>
            <a:off x="4901184" y="3931920"/>
            <a:ext cx="3913632" cy="3474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Sharing restricted or illegal content (piracy, harmful material) online.</a:t>
            </a:r>
            <a:endParaRPr lang="en-US" sz="1050" dirty="0"/>
          </a:p>
        </p:txBody>
      </p:sp>
      <p:sp>
        <p:nvSpPr>
          <p:cNvPr id="35" name="Text 33"/>
          <p:cNvSpPr/>
          <p:nvPr/>
        </p:nvSpPr>
        <p:spPr>
          <a:xfrm>
            <a:off x="4901184" y="4334256"/>
            <a:ext cx="3913632" cy="384048"/>
          </a:xfrm>
          <a:prstGeom prst="rect">
            <a:avLst/>
          </a:prstGeom>
          <a:noFill/>
          <a:ln/>
        </p:spPr>
        <p:txBody>
          <a:bodyPr wrap="square" rtlCol="0" anchor="ctr"/>
          <a:lstStyle/>
          <a:p>
            <a:pPr marL="0" indent="0">
              <a:buNone/>
            </a:pPr>
            <a:r>
              <a:rPr lang="en-US" sz="1000" i="1" dirty="0">
                <a:solidFill>
                  <a:srgbClr val="EF233C"/>
                </a:solidFill>
                <a:latin typeface="Calibri" pitchFamily="34" charset="0"/>
                <a:ea typeface="Calibri" pitchFamily="34" charset="-122"/>
                <a:cs typeface="Calibri" pitchFamily="34" charset="-120"/>
              </a:rPr>
              <a:t>Evidence: File hashes, P2P logs, download history, storage artefacts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FFB703"/>
          </a:solidFill>
          <a:ln w="12700">
            <a:solidFill>
              <a:srgbClr val="FFB703"/>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a:ln/>
        </p:spPr>
        <p:txBody>
          <a:bodyPr wrap="square" lIns="0" tIns="0" rIns="0" bIns="0" rtlCol="0" anchor="ctr"/>
          <a:lstStyle/>
          <a:p>
            <a:pPr marL="0" indent="0" algn="ctr">
              <a:buNone/>
            </a:pPr>
            <a:r>
              <a:rPr lang="en-US" sz="9600" b="1" dirty="0">
                <a:solidFill>
                  <a:srgbClr val="1A1A2E"/>
                </a:solidFill>
                <a:latin typeface="Trebuchet MS" pitchFamily="34" charset="0"/>
                <a:ea typeface="Trebuchet MS" pitchFamily="34" charset="-122"/>
                <a:cs typeface="Trebuchet MS" pitchFamily="34" charset="-120"/>
              </a:rPr>
              <a:t>03</a:t>
            </a:r>
            <a:endParaRPr lang="en-US" sz="9600" dirty="0"/>
          </a:p>
        </p:txBody>
      </p:sp>
      <p:sp>
        <p:nvSpPr>
          <p:cNvPr id="6" name="Text 4"/>
          <p:cNvSpPr/>
          <p:nvPr/>
        </p:nvSpPr>
        <p:spPr>
          <a:xfrm>
            <a:off x="201168" y="1938528"/>
            <a:ext cx="3657600" cy="914400"/>
          </a:xfrm>
          <a:prstGeom prst="rect">
            <a:avLst/>
          </a:prstGeom>
          <a:noFill/>
          <a:ln/>
        </p:spPr>
        <p:txBody>
          <a:bodyPr wrap="square" rtlCol="0" anchor="ctr"/>
          <a:lstStyle/>
          <a:p>
            <a:pPr marL="0" indent="0" algn="ctr">
              <a:buNone/>
            </a:pPr>
            <a:r>
              <a:rPr lang="en-US" sz="1300" i="1" dirty="0">
                <a:solidFill>
                  <a:srgbClr val="000000"/>
                </a:solidFill>
                <a:latin typeface="Calibri" pitchFamily="34" charset="0"/>
                <a:ea typeface="Calibri" pitchFamily="34" charset="-122"/>
                <a:cs typeface="Calibri" pitchFamily="34" charset="-120"/>
              </a:rPr>
              <a:t>Apply forensic procedures step-by-step at real crime scenes</a:t>
            </a:r>
            <a:endParaRPr lang="en-US" sz="1300" dirty="0"/>
          </a:p>
        </p:txBody>
      </p:sp>
      <p:sp>
        <p:nvSpPr>
          <p:cNvPr id="7" name="Text 5"/>
          <p:cNvSpPr/>
          <p:nvPr/>
        </p:nvSpPr>
        <p:spPr>
          <a:xfrm>
            <a:off x="4572000" y="566928"/>
            <a:ext cx="4297680" cy="329184"/>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FFB703"/>
          </a:solidFill>
          <a:ln w="12700">
            <a:solidFill>
              <a:srgbClr val="FFB703"/>
            </a:solidFill>
            <a:prstDash val="solid"/>
          </a:ln>
        </p:spPr>
        <p:txBody>
          <a:bodyPr/>
          <a:lstStyle/>
          <a:p>
            <a:endParaRPr lang="en-SG"/>
          </a:p>
        </p:txBody>
      </p:sp>
      <p:sp>
        <p:nvSpPr>
          <p:cNvPr id="10" name="Text 8"/>
          <p:cNvSpPr/>
          <p:nvPr/>
        </p:nvSpPr>
        <p:spPr>
          <a:xfrm>
            <a:off x="4663440" y="1115568"/>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1</a:t>
            </a:r>
            <a:endParaRPr lang="en-US" sz="1100" dirty="0"/>
          </a:p>
        </p:txBody>
      </p:sp>
      <p:sp>
        <p:nvSpPr>
          <p:cNvPr id="11" name="Text 9"/>
          <p:cNvSpPr/>
          <p:nvPr/>
        </p:nvSpPr>
        <p:spPr>
          <a:xfrm>
            <a:off x="5166360" y="1097280"/>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The Forensic Investigation Process</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FFB703"/>
          </a:solidFill>
          <a:ln w="12700">
            <a:solidFill>
              <a:srgbClr val="FFB703"/>
            </a:solidFill>
            <a:prstDash val="solid"/>
          </a:ln>
        </p:spPr>
        <p:txBody>
          <a:bodyPr/>
          <a:lstStyle/>
          <a:p>
            <a:endParaRPr lang="en-SG"/>
          </a:p>
        </p:txBody>
      </p:sp>
      <p:sp>
        <p:nvSpPr>
          <p:cNvPr id="14" name="Text 12"/>
          <p:cNvSpPr/>
          <p:nvPr/>
        </p:nvSpPr>
        <p:spPr>
          <a:xfrm>
            <a:off x="4663440" y="1773936"/>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2</a:t>
            </a:r>
            <a:endParaRPr lang="en-US" sz="1100" dirty="0"/>
          </a:p>
        </p:txBody>
      </p:sp>
      <p:sp>
        <p:nvSpPr>
          <p:cNvPr id="15" name="Text 13"/>
          <p:cNvSpPr/>
          <p:nvPr/>
        </p:nvSpPr>
        <p:spPr>
          <a:xfrm>
            <a:off x="5166360" y="1755648"/>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Identification — Warrant &amp; Scene Integrity</a:t>
            </a:r>
            <a:endParaRPr lang="en-US" sz="1200" dirty="0"/>
          </a:p>
        </p:txBody>
      </p:sp>
      <p:sp>
        <p:nvSpPr>
          <p:cNvPr id="16" name="Shape 14"/>
          <p:cNvSpPr/>
          <p:nvPr/>
        </p:nvSpPr>
        <p:spPr>
          <a:xfrm>
            <a:off x="4572000" y="2322576"/>
            <a:ext cx="4297680" cy="566928"/>
          </a:xfrm>
          <a:prstGeom prst="rect">
            <a:avLst/>
          </a:prstGeom>
          <a:noFill/>
          <a:ln w="12700">
            <a:solidFill>
              <a:srgbClr val="FFFFFF">
                <a:alpha val="20000"/>
              </a:srgbClr>
            </a:solidFill>
            <a:prstDash val="solid"/>
          </a:ln>
        </p:spPr>
        <p:txBody>
          <a:bodyPr/>
          <a:lstStyle/>
          <a:p>
            <a:endParaRPr lang="en-SG"/>
          </a:p>
        </p:txBody>
      </p:sp>
      <p:sp>
        <p:nvSpPr>
          <p:cNvPr id="17" name="Shape 15"/>
          <p:cNvSpPr/>
          <p:nvPr/>
        </p:nvSpPr>
        <p:spPr>
          <a:xfrm>
            <a:off x="4663440" y="2386584"/>
            <a:ext cx="402336" cy="402336"/>
          </a:xfrm>
          <a:prstGeom prst="ellipse">
            <a:avLst/>
          </a:prstGeom>
          <a:solidFill>
            <a:srgbClr val="FFB703"/>
          </a:solidFill>
          <a:ln w="12700">
            <a:solidFill>
              <a:srgbClr val="FFB703"/>
            </a:solidFill>
            <a:prstDash val="solid"/>
          </a:ln>
        </p:spPr>
        <p:txBody>
          <a:bodyPr/>
          <a:lstStyle/>
          <a:p>
            <a:endParaRPr lang="en-SG"/>
          </a:p>
        </p:txBody>
      </p:sp>
      <p:sp>
        <p:nvSpPr>
          <p:cNvPr id="18" name="Text 16"/>
          <p:cNvSpPr/>
          <p:nvPr/>
        </p:nvSpPr>
        <p:spPr>
          <a:xfrm>
            <a:off x="4663440" y="2432304"/>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3</a:t>
            </a:r>
            <a:endParaRPr lang="en-US" sz="1100" dirty="0"/>
          </a:p>
        </p:txBody>
      </p:sp>
      <p:sp>
        <p:nvSpPr>
          <p:cNvPr id="19" name="Text 17"/>
          <p:cNvSpPr/>
          <p:nvPr/>
        </p:nvSpPr>
        <p:spPr>
          <a:xfrm>
            <a:off x="5166360" y="2414016"/>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Preservation Principles &amp; Integrity Assurance</a:t>
            </a:r>
            <a:endParaRPr lang="en-US" sz="1200" dirty="0"/>
          </a:p>
        </p:txBody>
      </p:sp>
      <p:sp>
        <p:nvSpPr>
          <p:cNvPr id="20" name="Shape 18"/>
          <p:cNvSpPr/>
          <p:nvPr/>
        </p:nvSpPr>
        <p:spPr>
          <a:xfrm>
            <a:off x="4572000" y="2980944"/>
            <a:ext cx="4297680" cy="566928"/>
          </a:xfrm>
          <a:prstGeom prst="rect">
            <a:avLst/>
          </a:prstGeom>
          <a:noFill/>
          <a:ln w="12700">
            <a:solidFill>
              <a:srgbClr val="FFFFFF">
                <a:alpha val="20000"/>
              </a:srgbClr>
            </a:solidFill>
            <a:prstDash val="solid"/>
          </a:ln>
        </p:spPr>
        <p:txBody>
          <a:bodyPr/>
          <a:lstStyle/>
          <a:p>
            <a:endParaRPr lang="en-SG"/>
          </a:p>
        </p:txBody>
      </p:sp>
      <p:sp>
        <p:nvSpPr>
          <p:cNvPr id="21" name="Shape 19"/>
          <p:cNvSpPr/>
          <p:nvPr/>
        </p:nvSpPr>
        <p:spPr>
          <a:xfrm>
            <a:off x="4663440" y="3044952"/>
            <a:ext cx="402336" cy="402336"/>
          </a:xfrm>
          <a:prstGeom prst="ellipse">
            <a:avLst/>
          </a:prstGeom>
          <a:solidFill>
            <a:srgbClr val="FFB703"/>
          </a:solidFill>
          <a:ln w="12700">
            <a:solidFill>
              <a:srgbClr val="FFB703"/>
            </a:solidFill>
            <a:prstDash val="solid"/>
          </a:ln>
        </p:spPr>
        <p:txBody>
          <a:bodyPr/>
          <a:lstStyle/>
          <a:p>
            <a:endParaRPr lang="en-SG"/>
          </a:p>
        </p:txBody>
      </p:sp>
      <p:sp>
        <p:nvSpPr>
          <p:cNvPr id="22" name="Text 20"/>
          <p:cNvSpPr/>
          <p:nvPr/>
        </p:nvSpPr>
        <p:spPr>
          <a:xfrm>
            <a:off x="4663440" y="3090672"/>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4</a:t>
            </a:r>
            <a:endParaRPr lang="en-US" sz="1100" dirty="0"/>
          </a:p>
        </p:txBody>
      </p:sp>
      <p:sp>
        <p:nvSpPr>
          <p:cNvPr id="23" name="Text 21"/>
          <p:cNvSpPr/>
          <p:nvPr/>
        </p:nvSpPr>
        <p:spPr>
          <a:xfrm>
            <a:off x="5166360" y="3072384"/>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Computer Device Preservation — ON vs OFF</a:t>
            </a:r>
            <a:endParaRPr lang="en-US" sz="1200" dirty="0"/>
          </a:p>
        </p:txBody>
      </p:sp>
      <p:sp>
        <p:nvSpPr>
          <p:cNvPr id="24" name="Shape 22"/>
          <p:cNvSpPr/>
          <p:nvPr/>
        </p:nvSpPr>
        <p:spPr>
          <a:xfrm>
            <a:off x="4572000" y="3639312"/>
            <a:ext cx="4297680" cy="566928"/>
          </a:xfrm>
          <a:prstGeom prst="rect">
            <a:avLst/>
          </a:prstGeom>
          <a:noFill/>
          <a:ln w="12700">
            <a:solidFill>
              <a:srgbClr val="FFFFFF">
                <a:alpha val="20000"/>
              </a:srgbClr>
            </a:solidFill>
            <a:prstDash val="solid"/>
          </a:ln>
        </p:spPr>
        <p:txBody>
          <a:bodyPr/>
          <a:lstStyle/>
          <a:p>
            <a:endParaRPr lang="en-SG"/>
          </a:p>
        </p:txBody>
      </p:sp>
      <p:sp>
        <p:nvSpPr>
          <p:cNvPr id="25" name="Shape 23"/>
          <p:cNvSpPr/>
          <p:nvPr/>
        </p:nvSpPr>
        <p:spPr>
          <a:xfrm>
            <a:off x="4663440" y="3703320"/>
            <a:ext cx="402336" cy="402336"/>
          </a:xfrm>
          <a:prstGeom prst="ellipse">
            <a:avLst/>
          </a:prstGeom>
          <a:solidFill>
            <a:srgbClr val="FFB703"/>
          </a:solidFill>
          <a:ln w="12700">
            <a:solidFill>
              <a:srgbClr val="FFB703"/>
            </a:solidFill>
            <a:prstDash val="solid"/>
          </a:ln>
        </p:spPr>
        <p:txBody>
          <a:bodyPr/>
          <a:lstStyle/>
          <a:p>
            <a:endParaRPr lang="en-SG"/>
          </a:p>
        </p:txBody>
      </p:sp>
      <p:sp>
        <p:nvSpPr>
          <p:cNvPr id="26" name="Text 24"/>
          <p:cNvSpPr/>
          <p:nvPr/>
        </p:nvSpPr>
        <p:spPr>
          <a:xfrm>
            <a:off x="4663440" y="3749040"/>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5</a:t>
            </a:r>
            <a:endParaRPr lang="en-US" sz="1100" dirty="0"/>
          </a:p>
        </p:txBody>
      </p:sp>
      <p:sp>
        <p:nvSpPr>
          <p:cNvPr id="27" name="Text 25"/>
          <p:cNvSpPr/>
          <p:nvPr/>
        </p:nvSpPr>
        <p:spPr>
          <a:xfrm>
            <a:off x="5166360" y="3730752"/>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Mobile Device Preservation — ON vs OFF</a:t>
            </a:r>
            <a:endParaRPr lang="en-US" sz="1200" dirty="0"/>
          </a:p>
        </p:txBody>
      </p:sp>
      <p:sp>
        <p:nvSpPr>
          <p:cNvPr id="28" name="Shape 26"/>
          <p:cNvSpPr/>
          <p:nvPr/>
        </p:nvSpPr>
        <p:spPr>
          <a:xfrm>
            <a:off x="4572000" y="4297680"/>
            <a:ext cx="4297680" cy="566928"/>
          </a:xfrm>
          <a:prstGeom prst="rect">
            <a:avLst/>
          </a:prstGeom>
          <a:noFill/>
          <a:ln w="12700">
            <a:solidFill>
              <a:srgbClr val="FFFFFF">
                <a:alpha val="20000"/>
              </a:srgbClr>
            </a:solidFill>
            <a:prstDash val="solid"/>
          </a:ln>
        </p:spPr>
        <p:txBody>
          <a:bodyPr/>
          <a:lstStyle/>
          <a:p>
            <a:endParaRPr lang="en-SG"/>
          </a:p>
        </p:txBody>
      </p:sp>
      <p:sp>
        <p:nvSpPr>
          <p:cNvPr id="29" name="Shape 27"/>
          <p:cNvSpPr/>
          <p:nvPr/>
        </p:nvSpPr>
        <p:spPr>
          <a:xfrm>
            <a:off x="4663440" y="4361688"/>
            <a:ext cx="402336" cy="402336"/>
          </a:xfrm>
          <a:prstGeom prst="ellipse">
            <a:avLst/>
          </a:prstGeom>
          <a:solidFill>
            <a:srgbClr val="FFB703"/>
          </a:solidFill>
          <a:ln w="12700">
            <a:solidFill>
              <a:srgbClr val="FFB703"/>
            </a:solidFill>
            <a:prstDash val="solid"/>
          </a:ln>
        </p:spPr>
        <p:txBody>
          <a:bodyPr/>
          <a:lstStyle/>
          <a:p>
            <a:endParaRPr lang="en-SG"/>
          </a:p>
        </p:txBody>
      </p:sp>
      <p:sp>
        <p:nvSpPr>
          <p:cNvPr id="30" name="Text 28"/>
          <p:cNvSpPr/>
          <p:nvPr/>
        </p:nvSpPr>
        <p:spPr>
          <a:xfrm>
            <a:off x="4663440" y="4407408"/>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6</a:t>
            </a:r>
            <a:endParaRPr lang="en-US" sz="1100" dirty="0"/>
          </a:p>
        </p:txBody>
      </p:sp>
      <p:sp>
        <p:nvSpPr>
          <p:cNvPr id="31" name="Text 29"/>
          <p:cNvSpPr/>
          <p:nvPr/>
        </p:nvSpPr>
        <p:spPr>
          <a:xfrm>
            <a:off x="5166360" y="4293870"/>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Collection — Goals, Volatile Data &amp; Acquisition Types</a:t>
            </a:r>
            <a:endParaRPr lang="en-US" sz="1200" dirty="0"/>
          </a:p>
        </p:txBody>
      </p:sp>
      <p:sp>
        <p:nvSpPr>
          <p:cNvPr id="35" name="Text 33"/>
          <p:cNvSpPr/>
          <p:nvPr/>
        </p:nvSpPr>
        <p:spPr>
          <a:xfrm>
            <a:off x="5166360" y="4523613"/>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Collection — Documentation, Packaging &amp; Labelling</a:t>
            </a:r>
            <a:endParaRPr lang="en-US" sz="1200" dirty="0"/>
          </a:p>
        </p:txBody>
      </p:sp>
      <p:sp>
        <p:nvSpPr>
          <p:cNvPr id="39" name="Text 37"/>
          <p:cNvSpPr/>
          <p:nvPr/>
        </p:nvSpPr>
        <p:spPr>
          <a:xfrm>
            <a:off x="5166360" y="4793044"/>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Chain of Custody — Definition &amp; Form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The Forensic Investigation Process</a:t>
            </a:r>
            <a:endParaRPr lang="en-US" sz="1700" dirty="0"/>
          </a:p>
        </p:txBody>
      </p:sp>
      <p:sp>
        <p:nvSpPr>
          <p:cNvPr id="6" name="Shape 4"/>
          <p:cNvSpPr/>
          <p:nvPr/>
        </p:nvSpPr>
        <p:spPr>
          <a:xfrm>
            <a:off x="91440" y="841248"/>
            <a:ext cx="2871216" cy="1773936"/>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82880" y="932688"/>
            <a:ext cx="530352" cy="530352"/>
          </a:xfrm>
          <a:prstGeom prst="ellipse">
            <a:avLst/>
          </a:prstGeom>
          <a:solidFill>
            <a:srgbClr val="06D6A0"/>
          </a:solidFill>
          <a:ln w="12700">
            <a:solidFill>
              <a:srgbClr val="06D6A0"/>
            </a:solidFill>
            <a:prstDash val="solid"/>
          </a:ln>
        </p:spPr>
        <p:txBody>
          <a:bodyPr/>
          <a:lstStyle/>
          <a:p>
            <a:endParaRPr lang="en-SG"/>
          </a:p>
        </p:txBody>
      </p:sp>
      <p:sp>
        <p:nvSpPr>
          <p:cNvPr id="8" name="Text 6"/>
          <p:cNvSpPr/>
          <p:nvPr/>
        </p:nvSpPr>
        <p:spPr>
          <a:xfrm>
            <a:off x="182880" y="1005840"/>
            <a:ext cx="530352" cy="329184"/>
          </a:xfrm>
          <a:prstGeom prst="rect">
            <a:avLst/>
          </a:prstGeom>
          <a:noFill/>
          <a:ln/>
        </p:spPr>
        <p:txBody>
          <a:bodyPr wrap="square" lIns="0" tIns="0" rIns="0" bIns="0" rtlCol="0" anchor="ctr"/>
          <a:lstStyle/>
          <a:p>
            <a:pPr marL="0" indent="0" algn="ctr">
              <a:buNone/>
            </a:pPr>
            <a:r>
              <a:rPr lang="en-US" sz="1300" b="1" dirty="0">
                <a:solidFill>
                  <a:srgbClr val="1A1A2E"/>
                </a:solidFill>
                <a:latin typeface="Trebuchet MS" pitchFamily="34" charset="0"/>
                <a:ea typeface="Trebuchet MS" pitchFamily="34" charset="-122"/>
                <a:cs typeface="Trebuchet MS" pitchFamily="34" charset="-120"/>
              </a:rPr>
              <a:t>01</a:t>
            </a:r>
            <a:endParaRPr lang="en-US" sz="1300" dirty="0"/>
          </a:p>
        </p:txBody>
      </p:sp>
      <p:sp>
        <p:nvSpPr>
          <p:cNvPr id="9" name="Text 7"/>
          <p:cNvSpPr/>
          <p:nvPr/>
        </p:nvSpPr>
        <p:spPr>
          <a:xfrm>
            <a:off x="822960" y="1005840"/>
            <a:ext cx="2066544" cy="329184"/>
          </a:xfrm>
          <a:prstGeom prst="rect">
            <a:avLst/>
          </a:prstGeom>
          <a:noFill/>
          <a:ln/>
        </p:spPr>
        <p:txBody>
          <a:bodyPr wrap="square" rtlCol="0" anchor="ctr"/>
          <a:lstStyle/>
          <a:p>
            <a:pPr marL="0" indent="0">
              <a:buNone/>
            </a:pPr>
            <a:r>
              <a:rPr lang="en-US" sz="1400" b="1" dirty="0">
                <a:solidFill>
                  <a:srgbClr val="06D6A0"/>
                </a:solidFill>
                <a:latin typeface="Trebuchet MS" pitchFamily="34" charset="0"/>
                <a:ea typeface="Trebuchet MS" pitchFamily="34" charset="-122"/>
                <a:cs typeface="Trebuchet MS" pitchFamily="34" charset="-120"/>
              </a:rPr>
              <a:t>Identification</a:t>
            </a:r>
            <a:endParaRPr lang="en-US" sz="1400" dirty="0"/>
          </a:p>
        </p:txBody>
      </p:sp>
      <p:sp>
        <p:nvSpPr>
          <p:cNvPr id="10" name="Text 8"/>
          <p:cNvSpPr/>
          <p:nvPr/>
        </p:nvSpPr>
        <p:spPr>
          <a:xfrm>
            <a:off x="182880" y="1572768"/>
            <a:ext cx="2688336" cy="9509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Recognise evidence sources. Define the scope. Obtain legal authority (warrant). Identify all digital devices and data locations relevant to the investigation.</a:t>
            </a:r>
            <a:endParaRPr lang="en-US" sz="1000" dirty="0"/>
          </a:p>
        </p:txBody>
      </p:sp>
      <p:sp>
        <p:nvSpPr>
          <p:cNvPr id="11" name="Shape 9"/>
          <p:cNvSpPr/>
          <p:nvPr/>
        </p:nvSpPr>
        <p:spPr>
          <a:xfrm>
            <a:off x="3081528" y="841248"/>
            <a:ext cx="2871216" cy="1773936"/>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2" name="Shape 10"/>
          <p:cNvSpPr/>
          <p:nvPr/>
        </p:nvSpPr>
        <p:spPr>
          <a:xfrm>
            <a:off x="3172968" y="932688"/>
            <a:ext cx="530352" cy="530352"/>
          </a:xfrm>
          <a:prstGeom prst="ellipse">
            <a:avLst/>
          </a:prstGeom>
          <a:solidFill>
            <a:srgbClr val="00B4D8"/>
          </a:solidFill>
          <a:ln w="12700">
            <a:solidFill>
              <a:srgbClr val="00B4D8"/>
            </a:solidFill>
            <a:prstDash val="solid"/>
          </a:ln>
        </p:spPr>
        <p:txBody>
          <a:bodyPr/>
          <a:lstStyle/>
          <a:p>
            <a:endParaRPr lang="en-SG"/>
          </a:p>
        </p:txBody>
      </p:sp>
      <p:sp>
        <p:nvSpPr>
          <p:cNvPr id="13" name="Text 11"/>
          <p:cNvSpPr/>
          <p:nvPr/>
        </p:nvSpPr>
        <p:spPr>
          <a:xfrm>
            <a:off x="3172968" y="1005840"/>
            <a:ext cx="530352" cy="329184"/>
          </a:xfrm>
          <a:prstGeom prst="rect">
            <a:avLst/>
          </a:prstGeom>
          <a:noFill/>
          <a:ln/>
        </p:spPr>
        <p:txBody>
          <a:bodyPr wrap="square" lIns="0" tIns="0" rIns="0" bIns="0" rtlCol="0" anchor="ct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02</a:t>
            </a:r>
            <a:endParaRPr lang="en-US" sz="1300" dirty="0"/>
          </a:p>
        </p:txBody>
      </p:sp>
      <p:sp>
        <p:nvSpPr>
          <p:cNvPr id="14" name="Text 12"/>
          <p:cNvSpPr/>
          <p:nvPr/>
        </p:nvSpPr>
        <p:spPr>
          <a:xfrm>
            <a:off x="3813048" y="1005840"/>
            <a:ext cx="2066544" cy="329184"/>
          </a:xfrm>
          <a:prstGeom prst="rect">
            <a:avLst/>
          </a:prstGeom>
          <a:noFill/>
          <a:ln/>
        </p:spPr>
        <p:txBody>
          <a:bodyPr wrap="square" rtlCol="0" anchor="ctr"/>
          <a:lstStyle/>
          <a:p>
            <a:pPr marL="0" indent="0">
              <a:buNone/>
            </a:pPr>
            <a:r>
              <a:rPr lang="en-US" sz="1400" b="1" dirty="0">
                <a:solidFill>
                  <a:srgbClr val="00B4D8"/>
                </a:solidFill>
                <a:latin typeface="Trebuchet MS" pitchFamily="34" charset="0"/>
                <a:ea typeface="Trebuchet MS" pitchFamily="34" charset="-122"/>
                <a:cs typeface="Trebuchet MS" pitchFamily="34" charset="-120"/>
              </a:rPr>
              <a:t>Preservation</a:t>
            </a:r>
            <a:endParaRPr lang="en-US" sz="1400" dirty="0"/>
          </a:p>
        </p:txBody>
      </p:sp>
      <p:sp>
        <p:nvSpPr>
          <p:cNvPr id="15" name="Text 13"/>
          <p:cNvSpPr/>
          <p:nvPr/>
        </p:nvSpPr>
        <p:spPr>
          <a:xfrm>
            <a:off x="3172968" y="1572768"/>
            <a:ext cx="2688336" cy="9509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Prevent alteration. Apply write blockers. Create forensic images of all media. Calculate and record hash values (MD5/SHA-256). Initiate chain of custody documentation.</a:t>
            </a:r>
            <a:endParaRPr lang="en-US" sz="1000" dirty="0"/>
          </a:p>
        </p:txBody>
      </p:sp>
      <p:sp>
        <p:nvSpPr>
          <p:cNvPr id="16" name="Shape 14"/>
          <p:cNvSpPr/>
          <p:nvPr/>
        </p:nvSpPr>
        <p:spPr>
          <a:xfrm>
            <a:off x="6071616" y="841248"/>
            <a:ext cx="2871216" cy="1773936"/>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7" name="Shape 15"/>
          <p:cNvSpPr/>
          <p:nvPr/>
        </p:nvSpPr>
        <p:spPr>
          <a:xfrm>
            <a:off x="6163056" y="932688"/>
            <a:ext cx="530352" cy="530352"/>
          </a:xfrm>
          <a:prstGeom prst="ellipse">
            <a:avLst/>
          </a:prstGeom>
          <a:solidFill>
            <a:srgbClr val="FFB703"/>
          </a:solidFill>
          <a:ln w="12700">
            <a:solidFill>
              <a:srgbClr val="FFB703"/>
            </a:solidFill>
            <a:prstDash val="solid"/>
          </a:ln>
        </p:spPr>
        <p:txBody>
          <a:bodyPr/>
          <a:lstStyle/>
          <a:p>
            <a:endParaRPr lang="en-SG"/>
          </a:p>
        </p:txBody>
      </p:sp>
      <p:sp>
        <p:nvSpPr>
          <p:cNvPr id="18" name="Text 16"/>
          <p:cNvSpPr/>
          <p:nvPr/>
        </p:nvSpPr>
        <p:spPr>
          <a:xfrm>
            <a:off x="6163056" y="1005840"/>
            <a:ext cx="530352" cy="329184"/>
          </a:xfrm>
          <a:prstGeom prst="rect">
            <a:avLst/>
          </a:prstGeom>
          <a:noFill/>
          <a:ln/>
        </p:spPr>
        <p:txBody>
          <a:bodyPr wrap="square" lIns="0" tIns="0" rIns="0" bIns="0" rtlCol="0" anchor="ctr"/>
          <a:lstStyle/>
          <a:p>
            <a:pPr marL="0" indent="0" algn="ctr">
              <a:buNone/>
            </a:pPr>
            <a:r>
              <a:rPr lang="en-US" sz="1300" b="1" dirty="0">
                <a:solidFill>
                  <a:srgbClr val="000000"/>
                </a:solidFill>
                <a:latin typeface="Trebuchet MS" pitchFamily="34" charset="0"/>
                <a:ea typeface="Trebuchet MS" pitchFamily="34" charset="-122"/>
                <a:cs typeface="Trebuchet MS" pitchFamily="34" charset="-120"/>
              </a:rPr>
              <a:t>03</a:t>
            </a:r>
            <a:endParaRPr lang="en-US" sz="1300" dirty="0"/>
          </a:p>
        </p:txBody>
      </p:sp>
      <p:sp>
        <p:nvSpPr>
          <p:cNvPr id="19" name="Text 17"/>
          <p:cNvSpPr/>
          <p:nvPr/>
        </p:nvSpPr>
        <p:spPr>
          <a:xfrm>
            <a:off x="6803136" y="1005840"/>
            <a:ext cx="2066544" cy="329184"/>
          </a:xfrm>
          <a:prstGeom prst="rect">
            <a:avLst/>
          </a:prstGeom>
          <a:noFill/>
          <a:ln/>
        </p:spPr>
        <p:txBody>
          <a:bodyPr wrap="square" rtlCol="0" anchor="ctr"/>
          <a:lstStyle/>
          <a:p>
            <a:pPr marL="0" indent="0">
              <a:buNone/>
            </a:pPr>
            <a:r>
              <a:rPr lang="en-US" sz="1400" b="1" dirty="0">
                <a:solidFill>
                  <a:srgbClr val="FFB703"/>
                </a:solidFill>
                <a:latin typeface="Trebuchet MS" pitchFamily="34" charset="0"/>
                <a:ea typeface="Trebuchet MS" pitchFamily="34" charset="-122"/>
                <a:cs typeface="Trebuchet MS" pitchFamily="34" charset="-120"/>
              </a:rPr>
              <a:t>Collection</a:t>
            </a:r>
            <a:endParaRPr lang="en-US" sz="1400" dirty="0"/>
          </a:p>
        </p:txBody>
      </p:sp>
      <p:sp>
        <p:nvSpPr>
          <p:cNvPr id="20" name="Text 18"/>
          <p:cNvSpPr/>
          <p:nvPr/>
        </p:nvSpPr>
        <p:spPr>
          <a:xfrm>
            <a:off x="6163056" y="1572768"/>
            <a:ext cx="2688336" cy="9509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Systematically gather evidence. Prioritise volatile data first (RAM, network state). Photograph the scene. Document every item collected with exhibit numbers.</a:t>
            </a:r>
            <a:endParaRPr lang="en-US" sz="1000" dirty="0"/>
          </a:p>
        </p:txBody>
      </p:sp>
      <p:sp>
        <p:nvSpPr>
          <p:cNvPr id="21" name="Shape 19"/>
          <p:cNvSpPr/>
          <p:nvPr/>
        </p:nvSpPr>
        <p:spPr>
          <a:xfrm>
            <a:off x="91440" y="2743200"/>
            <a:ext cx="2871216" cy="1773936"/>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2" name="Shape 20"/>
          <p:cNvSpPr/>
          <p:nvPr/>
        </p:nvSpPr>
        <p:spPr>
          <a:xfrm>
            <a:off x="182880" y="2834640"/>
            <a:ext cx="530352" cy="530352"/>
          </a:xfrm>
          <a:prstGeom prst="ellipse">
            <a:avLst/>
          </a:prstGeom>
          <a:solidFill>
            <a:srgbClr val="FB8500"/>
          </a:solidFill>
          <a:ln w="12700">
            <a:solidFill>
              <a:srgbClr val="FB8500"/>
            </a:solidFill>
            <a:prstDash val="solid"/>
          </a:ln>
        </p:spPr>
        <p:txBody>
          <a:bodyPr/>
          <a:lstStyle/>
          <a:p>
            <a:endParaRPr lang="en-SG"/>
          </a:p>
        </p:txBody>
      </p:sp>
      <p:sp>
        <p:nvSpPr>
          <p:cNvPr id="23" name="Text 21"/>
          <p:cNvSpPr/>
          <p:nvPr/>
        </p:nvSpPr>
        <p:spPr>
          <a:xfrm>
            <a:off x="182880" y="2907792"/>
            <a:ext cx="530352" cy="329184"/>
          </a:xfrm>
          <a:prstGeom prst="rect">
            <a:avLst/>
          </a:prstGeom>
          <a:noFill/>
          <a:ln/>
        </p:spPr>
        <p:txBody>
          <a:bodyPr wrap="square" lIns="0" tIns="0" rIns="0" bIns="0" rtlCol="0" anchor="ctr"/>
          <a:lstStyle/>
          <a:p>
            <a:pPr marL="0" indent="0" algn="ctr">
              <a:buNone/>
            </a:pPr>
            <a:r>
              <a:rPr lang="en-US" sz="1300" b="1" dirty="0">
                <a:solidFill>
                  <a:srgbClr val="1A1A2E"/>
                </a:solidFill>
                <a:latin typeface="Trebuchet MS" pitchFamily="34" charset="0"/>
                <a:ea typeface="Trebuchet MS" pitchFamily="34" charset="-122"/>
                <a:cs typeface="Trebuchet MS" pitchFamily="34" charset="-120"/>
              </a:rPr>
              <a:t>04</a:t>
            </a:r>
            <a:endParaRPr lang="en-US" sz="1300" dirty="0"/>
          </a:p>
        </p:txBody>
      </p:sp>
      <p:sp>
        <p:nvSpPr>
          <p:cNvPr id="24" name="Text 22"/>
          <p:cNvSpPr/>
          <p:nvPr/>
        </p:nvSpPr>
        <p:spPr>
          <a:xfrm>
            <a:off x="822960" y="2907792"/>
            <a:ext cx="2066544" cy="329184"/>
          </a:xfrm>
          <a:prstGeom prst="rect">
            <a:avLst/>
          </a:prstGeom>
          <a:noFill/>
          <a:ln/>
        </p:spPr>
        <p:txBody>
          <a:bodyPr wrap="square" rtlCol="0" anchor="ctr"/>
          <a:lstStyle/>
          <a:p>
            <a:pPr marL="0" indent="0">
              <a:buNone/>
            </a:pPr>
            <a:r>
              <a:rPr lang="en-US" sz="1400" b="1" dirty="0">
                <a:solidFill>
                  <a:srgbClr val="FB8500"/>
                </a:solidFill>
                <a:latin typeface="Trebuchet MS" pitchFamily="34" charset="0"/>
                <a:ea typeface="Trebuchet MS" pitchFamily="34" charset="-122"/>
                <a:cs typeface="Trebuchet MS" pitchFamily="34" charset="-120"/>
              </a:rPr>
              <a:t>Examination</a:t>
            </a:r>
            <a:endParaRPr lang="en-US" sz="1400" dirty="0"/>
          </a:p>
        </p:txBody>
      </p:sp>
      <p:sp>
        <p:nvSpPr>
          <p:cNvPr id="25" name="Text 23"/>
          <p:cNvSpPr/>
          <p:nvPr/>
        </p:nvSpPr>
        <p:spPr>
          <a:xfrm>
            <a:off x="182880" y="3474720"/>
            <a:ext cx="2688336" cy="9509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Extract and filter data from acquired images. Recover deleted files. Decrypt content. Parse artefacts from browser history, registry, event logs, and application data.</a:t>
            </a:r>
            <a:endParaRPr lang="en-US" sz="1000" dirty="0"/>
          </a:p>
        </p:txBody>
      </p:sp>
      <p:sp>
        <p:nvSpPr>
          <p:cNvPr id="26" name="Shape 24"/>
          <p:cNvSpPr/>
          <p:nvPr/>
        </p:nvSpPr>
        <p:spPr>
          <a:xfrm>
            <a:off x="3081528" y="2743200"/>
            <a:ext cx="2871216" cy="1773936"/>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3172968" y="2834640"/>
            <a:ext cx="530352" cy="530352"/>
          </a:xfrm>
          <a:prstGeom prst="ellipse">
            <a:avLst/>
          </a:prstGeom>
          <a:solidFill>
            <a:srgbClr val="9B5DE5"/>
          </a:solidFill>
          <a:ln w="12700">
            <a:solidFill>
              <a:srgbClr val="9B5DE5"/>
            </a:solidFill>
            <a:prstDash val="solid"/>
          </a:ln>
        </p:spPr>
        <p:txBody>
          <a:bodyPr/>
          <a:lstStyle/>
          <a:p>
            <a:endParaRPr lang="en-SG"/>
          </a:p>
        </p:txBody>
      </p:sp>
      <p:sp>
        <p:nvSpPr>
          <p:cNvPr id="28" name="Text 26"/>
          <p:cNvSpPr/>
          <p:nvPr/>
        </p:nvSpPr>
        <p:spPr>
          <a:xfrm>
            <a:off x="3172968" y="2907792"/>
            <a:ext cx="530352" cy="329184"/>
          </a:xfrm>
          <a:prstGeom prst="rect">
            <a:avLst/>
          </a:prstGeom>
          <a:noFill/>
          <a:ln/>
        </p:spPr>
        <p:txBody>
          <a:bodyPr wrap="square" lIns="0" tIns="0" rIns="0" bIns="0" rtlCol="0" anchor="ctr"/>
          <a:lstStyle/>
          <a:p>
            <a:pPr marL="0" indent="0" algn="ctr">
              <a:buNone/>
            </a:pPr>
            <a:r>
              <a:rPr lang="en-US" sz="1300" b="1" dirty="0">
                <a:solidFill>
                  <a:srgbClr val="1A1A2E"/>
                </a:solidFill>
                <a:latin typeface="Trebuchet MS" pitchFamily="34" charset="0"/>
                <a:ea typeface="Trebuchet MS" pitchFamily="34" charset="-122"/>
                <a:cs typeface="Trebuchet MS" pitchFamily="34" charset="-120"/>
              </a:rPr>
              <a:t>05</a:t>
            </a:r>
            <a:endParaRPr lang="en-US" sz="1300" dirty="0"/>
          </a:p>
        </p:txBody>
      </p:sp>
      <p:sp>
        <p:nvSpPr>
          <p:cNvPr id="29" name="Text 27"/>
          <p:cNvSpPr/>
          <p:nvPr/>
        </p:nvSpPr>
        <p:spPr>
          <a:xfrm>
            <a:off x="3813048" y="2907792"/>
            <a:ext cx="2066544" cy="329184"/>
          </a:xfrm>
          <a:prstGeom prst="rect">
            <a:avLst/>
          </a:prstGeom>
          <a:noFill/>
          <a:ln/>
        </p:spPr>
        <p:txBody>
          <a:bodyPr wrap="square" rtlCol="0" anchor="ctr"/>
          <a:lstStyle/>
          <a:p>
            <a:pPr marL="0" indent="0">
              <a:buNone/>
            </a:pPr>
            <a:r>
              <a:rPr lang="en-US" sz="1400" b="1" dirty="0">
                <a:solidFill>
                  <a:srgbClr val="9B5DE5"/>
                </a:solidFill>
                <a:latin typeface="Trebuchet MS" pitchFamily="34" charset="0"/>
                <a:ea typeface="Trebuchet MS" pitchFamily="34" charset="-122"/>
                <a:cs typeface="Trebuchet MS" pitchFamily="34" charset="-120"/>
              </a:rPr>
              <a:t>Analysis</a:t>
            </a:r>
            <a:endParaRPr lang="en-US" sz="1400" dirty="0"/>
          </a:p>
        </p:txBody>
      </p:sp>
      <p:sp>
        <p:nvSpPr>
          <p:cNvPr id="30" name="Text 28"/>
          <p:cNvSpPr/>
          <p:nvPr/>
        </p:nvSpPr>
        <p:spPr>
          <a:xfrm>
            <a:off x="3172968" y="3474720"/>
            <a:ext cx="2688336" cy="9509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Interpret evidence in context. Reconstruct the event timeline. Answer the 5WH questions. Link findings to people, places, times, and actions.</a:t>
            </a:r>
            <a:endParaRPr lang="en-US" sz="1000" dirty="0"/>
          </a:p>
        </p:txBody>
      </p:sp>
      <p:sp>
        <p:nvSpPr>
          <p:cNvPr id="31" name="Shape 29"/>
          <p:cNvSpPr/>
          <p:nvPr/>
        </p:nvSpPr>
        <p:spPr>
          <a:xfrm>
            <a:off x="6071616" y="2743200"/>
            <a:ext cx="2871216" cy="1773936"/>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32" name="Shape 30"/>
          <p:cNvSpPr/>
          <p:nvPr/>
        </p:nvSpPr>
        <p:spPr>
          <a:xfrm>
            <a:off x="6163056" y="2834640"/>
            <a:ext cx="530352" cy="530352"/>
          </a:xfrm>
          <a:prstGeom prst="ellipse">
            <a:avLst/>
          </a:prstGeom>
          <a:solidFill>
            <a:srgbClr val="EF233C"/>
          </a:solidFill>
          <a:ln w="12700">
            <a:solidFill>
              <a:srgbClr val="EF233C"/>
            </a:solidFill>
            <a:prstDash val="solid"/>
          </a:ln>
        </p:spPr>
        <p:txBody>
          <a:bodyPr/>
          <a:lstStyle/>
          <a:p>
            <a:endParaRPr lang="en-SG"/>
          </a:p>
        </p:txBody>
      </p:sp>
      <p:sp>
        <p:nvSpPr>
          <p:cNvPr id="33" name="Text 31"/>
          <p:cNvSpPr/>
          <p:nvPr/>
        </p:nvSpPr>
        <p:spPr>
          <a:xfrm>
            <a:off x="6163056" y="2907792"/>
            <a:ext cx="530352" cy="329184"/>
          </a:xfrm>
          <a:prstGeom prst="rect">
            <a:avLst/>
          </a:prstGeom>
          <a:noFill/>
          <a:ln/>
        </p:spPr>
        <p:txBody>
          <a:bodyPr wrap="square" lIns="0" tIns="0" rIns="0" bIns="0" rtlCol="0" anchor="ctr"/>
          <a:lstStyle/>
          <a:p>
            <a:pPr marL="0" indent="0" algn="ctr">
              <a:buNone/>
            </a:pPr>
            <a:r>
              <a:rPr lang="en-US" sz="1300" b="1" dirty="0">
                <a:solidFill>
                  <a:srgbClr val="1A1A2E"/>
                </a:solidFill>
                <a:latin typeface="Trebuchet MS" pitchFamily="34" charset="0"/>
                <a:ea typeface="Trebuchet MS" pitchFamily="34" charset="-122"/>
                <a:cs typeface="Trebuchet MS" pitchFamily="34" charset="-120"/>
              </a:rPr>
              <a:t>06</a:t>
            </a:r>
            <a:endParaRPr lang="en-US" sz="1300" dirty="0"/>
          </a:p>
        </p:txBody>
      </p:sp>
      <p:sp>
        <p:nvSpPr>
          <p:cNvPr id="34" name="Text 32"/>
          <p:cNvSpPr/>
          <p:nvPr/>
        </p:nvSpPr>
        <p:spPr>
          <a:xfrm>
            <a:off x="6803136" y="2907792"/>
            <a:ext cx="2066544" cy="329184"/>
          </a:xfrm>
          <a:prstGeom prst="rect">
            <a:avLst/>
          </a:prstGeom>
          <a:noFill/>
          <a:ln/>
        </p:spPr>
        <p:txBody>
          <a:bodyPr wrap="square" rtlCol="0" anchor="ctr"/>
          <a:lstStyle/>
          <a:p>
            <a:pPr marL="0" indent="0">
              <a:buNone/>
            </a:pPr>
            <a:r>
              <a:rPr lang="en-US" sz="1400" b="1" dirty="0">
                <a:solidFill>
                  <a:srgbClr val="EF233C"/>
                </a:solidFill>
                <a:latin typeface="Trebuchet MS" pitchFamily="34" charset="0"/>
                <a:ea typeface="Trebuchet MS" pitchFamily="34" charset="-122"/>
                <a:cs typeface="Trebuchet MS" pitchFamily="34" charset="-120"/>
              </a:rPr>
              <a:t>Reporting</a:t>
            </a:r>
            <a:endParaRPr lang="en-US" sz="1400" dirty="0"/>
          </a:p>
        </p:txBody>
      </p:sp>
      <p:sp>
        <p:nvSpPr>
          <p:cNvPr id="35" name="Text 33"/>
          <p:cNvSpPr/>
          <p:nvPr/>
        </p:nvSpPr>
        <p:spPr>
          <a:xfrm>
            <a:off x="6163056" y="3474720"/>
            <a:ext cx="2688336" cy="95097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Document all findings clearly and objectively. Write expert witness reports. Present technical findings in plain language. Withstand cross-examination in court.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Stage 01 — Identification: Warrant Authority &amp; Scene Integrity</a:t>
            </a:r>
            <a:endParaRPr lang="en-US" sz="1700" dirty="0"/>
          </a:p>
        </p:txBody>
      </p:sp>
      <p:sp>
        <p:nvSpPr>
          <p:cNvPr id="6" name="Shape 4"/>
          <p:cNvSpPr/>
          <p:nvPr/>
        </p:nvSpPr>
        <p:spPr>
          <a:xfrm>
            <a:off x="109728" y="841248"/>
            <a:ext cx="4352544" cy="391363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09728" y="841248"/>
            <a:ext cx="4352544" cy="365760"/>
          </a:xfrm>
          <a:prstGeom prst="rect">
            <a:avLst/>
          </a:prstGeom>
          <a:solidFill>
            <a:srgbClr val="06D6A0"/>
          </a:solidFill>
          <a:ln w="12700">
            <a:solidFill>
              <a:srgbClr val="06D6A0"/>
            </a:solidFill>
            <a:prstDash val="solid"/>
          </a:ln>
        </p:spPr>
        <p:txBody>
          <a:bodyPr/>
          <a:lstStyle/>
          <a:p>
            <a:endParaRPr lang="en-SG"/>
          </a:p>
        </p:txBody>
      </p:sp>
      <p:sp>
        <p:nvSpPr>
          <p:cNvPr id="8" name="Text 6"/>
          <p:cNvSpPr/>
          <p:nvPr/>
        </p:nvSpPr>
        <p:spPr>
          <a:xfrm>
            <a:off x="219456" y="868680"/>
            <a:ext cx="4169664" cy="256032"/>
          </a:xfrm>
          <a:prstGeom prst="rect">
            <a:avLst/>
          </a:prstGeom>
          <a:noFill/>
          <a:ln/>
        </p:spPr>
        <p:txBody>
          <a:bodyPr wrap="square" lIns="0" tIns="0" rIns="0" bIns="0" rtlCol="0" anchor="ctr"/>
          <a:lstStyle/>
          <a:p>
            <a:pPr marL="0" indent="0">
              <a:buNone/>
            </a:pPr>
            <a:r>
              <a:rPr lang="en-US" sz="1150" b="1" dirty="0">
                <a:solidFill>
                  <a:srgbClr val="000000"/>
                </a:solidFill>
                <a:latin typeface="Trebuchet MS" pitchFamily="34" charset="0"/>
                <a:ea typeface="Trebuchet MS" pitchFamily="34" charset="-122"/>
                <a:cs typeface="Trebuchet MS" pitchFamily="34" charset="-120"/>
              </a:rPr>
              <a:t>WHY A WARRANT IS NON-NEGOTIABLE</a:t>
            </a:r>
            <a:endParaRPr lang="en-US" sz="1150" dirty="0"/>
          </a:p>
        </p:txBody>
      </p:sp>
      <p:sp>
        <p:nvSpPr>
          <p:cNvPr id="9" name="Shape 7"/>
          <p:cNvSpPr/>
          <p:nvPr/>
        </p:nvSpPr>
        <p:spPr>
          <a:xfrm>
            <a:off x="201168" y="1298448"/>
            <a:ext cx="4151376" cy="457200"/>
          </a:xfrm>
          <a:prstGeom prst="roundRect">
            <a:avLst>
              <a:gd name="adj" fmla="val 12000"/>
            </a:avLst>
          </a:prstGeom>
          <a:solidFill>
            <a:srgbClr val="EEF6FB"/>
          </a:solidFill>
          <a:ln w="12700">
            <a:solidFill>
              <a:srgbClr val="06D6A0"/>
            </a:solidFill>
            <a:prstDash val="solid"/>
          </a:ln>
        </p:spPr>
        <p:txBody>
          <a:bodyPr/>
          <a:lstStyle/>
          <a:p>
            <a:endParaRPr lang="en-SG"/>
          </a:p>
        </p:txBody>
      </p:sp>
      <p:sp>
        <p:nvSpPr>
          <p:cNvPr id="10" name="Text 8"/>
          <p:cNvSpPr/>
          <p:nvPr/>
        </p:nvSpPr>
        <p:spPr>
          <a:xfrm>
            <a:off x="310896" y="1325880"/>
            <a:ext cx="3950208" cy="201168"/>
          </a:xfrm>
          <a:prstGeom prst="rect">
            <a:avLst/>
          </a:prstGeom>
          <a:noFill/>
          <a:ln/>
        </p:spPr>
        <p:txBody>
          <a:bodyPr wrap="square" lIns="0" tIns="0" rIns="0" bIns="0" rtlCol="0" anchor="ctr"/>
          <a:lstStyle/>
          <a:p>
            <a:pPr marL="0" indent="0">
              <a:buNone/>
            </a:pPr>
            <a:r>
              <a:rPr lang="en-US" sz="950" b="1" dirty="0">
                <a:solidFill>
                  <a:srgbClr val="06D6A0"/>
                </a:solidFill>
                <a:latin typeface="Trebuchet MS" pitchFamily="34" charset="0"/>
                <a:ea typeface="Trebuchet MS" pitchFamily="34" charset="-122"/>
                <a:cs typeface="Trebuchet MS" pitchFamily="34" charset="-120"/>
              </a:rPr>
              <a:t>1  Suspicion / Intelligence</a:t>
            </a:r>
            <a:endParaRPr lang="en-US" sz="950" dirty="0"/>
          </a:p>
        </p:txBody>
      </p:sp>
      <p:sp>
        <p:nvSpPr>
          <p:cNvPr id="11" name="Text 9"/>
          <p:cNvSpPr/>
          <p:nvPr/>
        </p:nvSpPr>
        <p:spPr>
          <a:xfrm>
            <a:off x="310896" y="1527048"/>
            <a:ext cx="3950208" cy="201168"/>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Officer or analyst identifies probable cause — evidence of criminal activity may reside on a device.</a:t>
            </a:r>
            <a:endParaRPr lang="en-US" sz="850" dirty="0"/>
          </a:p>
        </p:txBody>
      </p:sp>
      <p:sp>
        <p:nvSpPr>
          <p:cNvPr id="12" name="Shape 10"/>
          <p:cNvSpPr/>
          <p:nvPr/>
        </p:nvSpPr>
        <p:spPr>
          <a:xfrm>
            <a:off x="2066544" y="1737360"/>
            <a:ext cx="54864" cy="128016"/>
          </a:xfrm>
          <a:prstGeom prst="rect">
            <a:avLst/>
          </a:prstGeom>
          <a:solidFill>
            <a:srgbClr val="06D6A0">
              <a:alpha val="60000"/>
            </a:srgbClr>
          </a:solidFill>
          <a:ln w="12700">
            <a:solidFill>
              <a:srgbClr val="06D6A0">
                <a:alpha val="60000"/>
              </a:srgbClr>
            </a:solidFill>
            <a:prstDash val="solid"/>
          </a:ln>
        </p:spPr>
        <p:txBody>
          <a:bodyPr/>
          <a:lstStyle/>
          <a:p>
            <a:endParaRPr lang="en-SG"/>
          </a:p>
        </p:txBody>
      </p:sp>
      <p:sp>
        <p:nvSpPr>
          <p:cNvPr id="13" name="Shape 11"/>
          <p:cNvSpPr/>
          <p:nvPr/>
        </p:nvSpPr>
        <p:spPr>
          <a:xfrm>
            <a:off x="201168" y="1847088"/>
            <a:ext cx="4151376" cy="457200"/>
          </a:xfrm>
          <a:prstGeom prst="roundRect">
            <a:avLst>
              <a:gd name="adj" fmla="val 12000"/>
            </a:avLst>
          </a:prstGeom>
          <a:solidFill>
            <a:srgbClr val="EEF6FB"/>
          </a:solidFill>
          <a:ln w="12700">
            <a:solidFill>
              <a:srgbClr val="06D6A0"/>
            </a:solidFill>
            <a:prstDash val="solid"/>
          </a:ln>
        </p:spPr>
        <p:txBody>
          <a:bodyPr/>
          <a:lstStyle/>
          <a:p>
            <a:endParaRPr lang="en-SG"/>
          </a:p>
        </p:txBody>
      </p:sp>
      <p:sp>
        <p:nvSpPr>
          <p:cNvPr id="14" name="Text 12"/>
          <p:cNvSpPr/>
          <p:nvPr/>
        </p:nvSpPr>
        <p:spPr>
          <a:xfrm>
            <a:off x="310896" y="1874520"/>
            <a:ext cx="3950208" cy="201168"/>
          </a:xfrm>
          <a:prstGeom prst="rect">
            <a:avLst/>
          </a:prstGeom>
          <a:noFill/>
          <a:ln/>
        </p:spPr>
        <p:txBody>
          <a:bodyPr wrap="square" lIns="0" tIns="0" rIns="0" bIns="0" rtlCol="0" anchor="ctr"/>
          <a:lstStyle/>
          <a:p>
            <a:pPr marL="0" indent="0">
              <a:buNone/>
            </a:pPr>
            <a:r>
              <a:rPr lang="en-US" sz="950" b="1" dirty="0">
                <a:solidFill>
                  <a:srgbClr val="06D6A0"/>
                </a:solidFill>
                <a:latin typeface="Trebuchet MS" pitchFamily="34" charset="0"/>
                <a:ea typeface="Trebuchet MS" pitchFamily="34" charset="-122"/>
                <a:cs typeface="Trebuchet MS" pitchFamily="34" charset="-120"/>
              </a:rPr>
              <a:t>2  Application to Court</a:t>
            </a:r>
            <a:endParaRPr lang="en-US" sz="950" dirty="0"/>
          </a:p>
        </p:txBody>
      </p:sp>
      <p:sp>
        <p:nvSpPr>
          <p:cNvPr id="15" name="Text 13"/>
          <p:cNvSpPr/>
          <p:nvPr/>
        </p:nvSpPr>
        <p:spPr>
          <a:xfrm>
            <a:off x="310896" y="2075688"/>
            <a:ext cx="3950208" cy="201168"/>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Investigating officer submits sworn affidavit. Must specify devices, locations, and offences.</a:t>
            </a:r>
            <a:endParaRPr lang="en-US" sz="850" dirty="0"/>
          </a:p>
        </p:txBody>
      </p:sp>
      <p:sp>
        <p:nvSpPr>
          <p:cNvPr id="16" name="Shape 14"/>
          <p:cNvSpPr/>
          <p:nvPr/>
        </p:nvSpPr>
        <p:spPr>
          <a:xfrm>
            <a:off x="2066544" y="2286000"/>
            <a:ext cx="54864" cy="128016"/>
          </a:xfrm>
          <a:prstGeom prst="rect">
            <a:avLst/>
          </a:prstGeom>
          <a:solidFill>
            <a:srgbClr val="06D6A0">
              <a:alpha val="60000"/>
            </a:srgbClr>
          </a:solidFill>
          <a:ln w="12700">
            <a:solidFill>
              <a:srgbClr val="06D6A0">
                <a:alpha val="60000"/>
              </a:srgbClr>
            </a:solidFill>
            <a:prstDash val="solid"/>
          </a:ln>
        </p:spPr>
        <p:txBody>
          <a:bodyPr/>
          <a:lstStyle/>
          <a:p>
            <a:endParaRPr lang="en-SG"/>
          </a:p>
        </p:txBody>
      </p:sp>
      <p:sp>
        <p:nvSpPr>
          <p:cNvPr id="17" name="Shape 15"/>
          <p:cNvSpPr/>
          <p:nvPr/>
        </p:nvSpPr>
        <p:spPr>
          <a:xfrm>
            <a:off x="201168" y="2395728"/>
            <a:ext cx="4151376" cy="457200"/>
          </a:xfrm>
          <a:prstGeom prst="roundRect">
            <a:avLst>
              <a:gd name="adj" fmla="val 12000"/>
            </a:avLst>
          </a:prstGeom>
          <a:solidFill>
            <a:srgbClr val="EEF6FB"/>
          </a:solidFill>
          <a:ln w="12700">
            <a:solidFill>
              <a:srgbClr val="06D6A0"/>
            </a:solidFill>
            <a:prstDash val="solid"/>
          </a:ln>
        </p:spPr>
        <p:txBody>
          <a:bodyPr/>
          <a:lstStyle/>
          <a:p>
            <a:endParaRPr lang="en-SG"/>
          </a:p>
        </p:txBody>
      </p:sp>
      <p:sp>
        <p:nvSpPr>
          <p:cNvPr id="18" name="Text 16"/>
          <p:cNvSpPr/>
          <p:nvPr/>
        </p:nvSpPr>
        <p:spPr>
          <a:xfrm>
            <a:off x="310896" y="2423160"/>
            <a:ext cx="3950208" cy="201168"/>
          </a:xfrm>
          <a:prstGeom prst="rect">
            <a:avLst/>
          </a:prstGeom>
          <a:noFill/>
          <a:ln/>
        </p:spPr>
        <p:txBody>
          <a:bodyPr wrap="square" lIns="0" tIns="0" rIns="0" bIns="0" rtlCol="0" anchor="ctr"/>
          <a:lstStyle/>
          <a:p>
            <a:pPr marL="0" indent="0">
              <a:buNone/>
            </a:pPr>
            <a:r>
              <a:rPr lang="en-US" sz="950" b="1" dirty="0">
                <a:solidFill>
                  <a:srgbClr val="06D6A0"/>
                </a:solidFill>
                <a:latin typeface="Trebuchet MS" pitchFamily="34" charset="0"/>
                <a:ea typeface="Trebuchet MS" pitchFamily="34" charset="-122"/>
                <a:cs typeface="Trebuchet MS" pitchFamily="34" charset="-120"/>
              </a:rPr>
              <a:t>3  Magistrate / Judge Reviews</a:t>
            </a:r>
            <a:endParaRPr lang="en-US" sz="950" dirty="0"/>
          </a:p>
        </p:txBody>
      </p:sp>
      <p:sp>
        <p:nvSpPr>
          <p:cNvPr id="19" name="Text 17"/>
          <p:cNvSpPr/>
          <p:nvPr/>
        </p:nvSpPr>
        <p:spPr>
          <a:xfrm>
            <a:off x="310896" y="2624328"/>
            <a:ext cx="3950208" cy="201168"/>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Independent review ensures proportionality and protects Article 9 / Fourth Amendment rights.</a:t>
            </a:r>
            <a:endParaRPr lang="en-US" sz="850" dirty="0"/>
          </a:p>
        </p:txBody>
      </p:sp>
      <p:sp>
        <p:nvSpPr>
          <p:cNvPr id="20" name="Shape 18"/>
          <p:cNvSpPr/>
          <p:nvPr/>
        </p:nvSpPr>
        <p:spPr>
          <a:xfrm>
            <a:off x="2066544" y="2834640"/>
            <a:ext cx="54864" cy="128016"/>
          </a:xfrm>
          <a:prstGeom prst="rect">
            <a:avLst/>
          </a:prstGeom>
          <a:solidFill>
            <a:srgbClr val="06D6A0">
              <a:alpha val="60000"/>
            </a:srgbClr>
          </a:solidFill>
          <a:ln w="12700">
            <a:solidFill>
              <a:srgbClr val="06D6A0">
                <a:alpha val="60000"/>
              </a:srgbClr>
            </a:solidFill>
            <a:prstDash val="solid"/>
          </a:ln>
        </p:spPr>
        <p:txBody>
          <a:bodyPr/>
          <a:lstStyle/>
          <a:p>
            <a:endParaRPr lang="en-SG"/>
          </a:p>
        </p:txBody>
      </p:sp>
      <p:sp>
        <p:nvSpPr>
          <p:cNvPr id="21" name="Shape 19"/>
          <p:cNvSpPr/>
          <p:nvPr/>
        </p:nvSpPr>
        <p:spPr>
          <a:xfrm>
            <a:off x="201168" y="2944368"/>
            <a:ext cx="4151376" cy="457200"/>
          </a:xfrm>
          <a:prstGeom prst="roundRect">
            <a:avLst>
              <a:gd name="adj" fmla="val 12000"/>
            </a:avLst>
          </a:prstGeom>
          <a:solidFill>
            <a:srgbClr val="06D6A0"/>
          </a:solidFill>
          <a:ln w="12700">
            <a:solidFill>
              <a:srgbClr val="06D6A0"/>
            </a:solidFill>
            <a:prstDash val="solid"/>
          </a:ln>
        </p:spPr>
        <p:txBody>
          <a:bodyPr/>
          <a:lstStyle/>
          <a:p>
            <a:endParaRPr lang="en-SG"/>
          </a:p>
        </p:txBody>
      </p:sp>
      <p:sp>
        <p:nvSpPr>
          <p:cNvPr id="22" name="Text 20"/>
          <p:cNvSpPr/>
          <p:nvPr/>
        </p:nvSpPr>
        <p:spPr>
          <a:xfrm>
            <a:off x="310896" y="2971800"/>
            <a:ext cx="3950208" cy="201168"/>
          </a:xfrm>
          <a:prstGeom prst="rect">
            <a:avLst/>
          </a:prstGeom>
          <a:noFill/>
          <a:ln/>
        </p:spPr>
        <p:txBody>
          <a:bodyPr wrap="square" lIns="0" tIns="0" rIns="0" bIns="0" rtlCol="0" anchor="ctr"/>
          <a:lstStyle/>
          <a:p>
            <a:pPr marL="0" indent="0">
              <a:buNone/>
            </a:pPr>
            <a:r>
              <a:rPr lang="en-US" sz="950" b="1" dirty="0">
                <a:solidFill>
                  <a:srgbClr val="000000"/>
                </a:solidFill>
                <a:latin typeface="Trebuchet MS" pitchFamily="34" charset="0"/>
                <a:ea typeface="Trebuchet MS" pitchFamily="34" charset="-122"/>
                <a:cs typeface="Trebuchet MS" pitchFamily="34" charset="-120"/>
              </a:rPr>
              <a:t>4  Warrant Issued</a:t>
            </a:r>
            <a:endParaRPr lang="en-US" sz="950" dirty="0"/>
          </a:p>
        </p:txBody>
      </p:sp>
      <p:sp>
        <p:nvSpPr>
          <p:cNvPr id="23" name="Text 21"/>
          <p:cNvSpPr/>
          <p:nvPr/>
        </p:nvSpPr>
        <p:spPr>
          <a:xfrm>
            <a:off x="310896" y="3172968"/>
            <a:ext cx="3950208" cy="201168"/>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Warrant defines scope. Investigators may ONLY seize what is specified — over-seizure is illegal.</a:t>
            </a:r>
            <a:endParaRPr lang="en-US" sz="850" dirty="0"/>
          </a:p>
        </p:txBody>
      </p:sp>
      <p:sp>
        <p:nvSpPr>
          <p:cNvPr id="24" name="Shape 22"/>
          <p:cNvSpPr/>
          <p:nvPr/>
        </p:nvSpPr>
        <p:spPr>
          <a:xfrm>
            <a:off x="2066544" y="3383280"/>
            <a:ext cx="54864" cy="128016"/>
          </a:xfrm>
          <a:prstGeom prst="rect">
            <a:avLst/>
          </a:prstGeom>
          <a:solidFill>
            <a:srgbClr val="06D6A0">
              <a:alpha val="60000"/>
            </a:srgbClr>
          </a:solidFill>
          <a:ln w="12700">
            <a:solidFill>
              <a:srgbClr val="06D6A0">
                <a:alpha val="60000"/>
              </a:srgbClr>
            </a:solidFill>
            <a:prstDash val="solid"/>
          </a:ln>
        </p:spPr>
        <p:txBody>
          <a:bodyPr/>
          <a:lstStyle/>
          <a:p>
            <a:endParaRPr lang="en-SG"/>
          </a:p>
        </p:txBody>
      </p:sp>
      <p:sp>
        <p:nvSpPr>
          <p:cNvPr id="25" name="Shape 23"/>
          <p:cNvSpPr/>
          <p:nvPr/>
        </p:nvSpPr>
        <p:spPr>
          <a:xfrm>
            <a:off x="201168" y="3493008"/>
            <a:ext cx="4151376" cy="457200"/>
          </a:xfrm>
          <a:prstGeom prst="roundRect">
            <a:avLst>
              <a:gd name="adj" fmla="val 12000"/>
            </a:avLst>
          </a:prstGeom>
          <a:solidFill>
            <a:srgbClr val="EEF6FB"/>
          </a:solidFill>
          <a:ln w="12700">
            <a:solidFill>
              <a:srgbClr val="06D6A0"/>
            </a:solidFill>
            <a:prstDash val="solid"/>
          </a:ln>
        </p:spPr>
        <p:txBody>
          <a:bodyPr/>
          <a:lstStyle/>
          <a:p>
            <a:endParaRPr lang="en-SG"/>
          </a:p>
        </p:txBody>
      </p:sp>
      <p:sp>
        <p:nvSpPr>
          <p:cNvPr id="26" name="Text 24"/>
          <p:cNvSpPr/>
          <p:nvPr/>
        </p:nvSpPr>
        <p:spPr>
          <a:xfrm>
            <a:off x="310896" y="3520440"/>
            <a:ext cx="3950208" cy="201168"/>
          </a:xfrm>
          <a:prstGeom prst="rect">
            <a:avLst/>
          </a:prstGeom>
          <a:noFill/>
          <a:ln/>
        </p:spPr>
        <p:txBody>
          <a:bodyPr wrap="square" lIns="0" tIns="0" rIns="0" bIns="0" rtlCol="0" anchor="ctr"/>
          <a:lstStyle/>
          <a:p>
            <a:pPr marL="0" indent="0">
              <a:buNone/>
            </a:pPr>
            <a:r>
              <a:rPr lang="en-US" sz="950" b="1" dirty="0">
                <a:solidFill>
                  <a:srgbClr val="06D6A0"/>
                </a:solidFill>
                <a:latin typeface="Trebuchet MS" pitchFamily="34" charset="0"/>
                <a:ea typeface="Trebuchet MS" pitchFamily="34" charset="-122"/>
                <a:cs typeface="Trebuchet MS" pitchFamily="34" charset="-120"/>
              </a:rPr>
              <a:t>5  Execution &amp; Documentation</a:t>
            </a:r>
            <a:endParaRPr lang="en-US" sz="950" dirty="0"/>
          </a:p>
        </p:txBody>
      </p:sp>
      <p:sp>
        <p:nvSpPr>
          <p:cNvPr id="27" name="Text 25"/>
          <p:cNvSpPr/>
          <p:nvPr/>
        </p:nvSpPr>
        <p:spPr>
          <a:xfrm>
            <a:off x="310896" y="3721608"/>
            <a:ext cx="3950208" cy="201168"/>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Search conducted. Every item seized is itemised. Copies of warrant left on-scene with occupants.</a:t>
            </a:r>
            <a:endParaRPr lang="en-US" sz="850" dirty="0"/>
          </a:p>
        </p:txBody>
      </p:sp>
      <p:sp>
        <p:nvSpPr>
          <p:cNvPr id="28" name="Shape 26"/>
          <p:cNvSpPr/>
          <p:nvPr/>
        </p:nvSpPr>
        <p:spPr>
          <a:xfrm>
            <a:off x="4681728" y="841248"/>
            <a:ext cx="4352544" cy="3913632"/>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29" name="Shape 27"/>
          <p:cNvSpPr/>
          <p:nvPr/>
        </p:nvSpPr>
        <p:spPr>
          <a:xfrm>
            <a:off x="4681728" y="841248"/>
            <a:ext cx="4352544" cy="365760"/>
          </a:xfrm>
          <a:prstGeom prst="rect">
            <a:avLst/>
          </a:prstGeom>
          <a:solidFill>
            <a:srgbClr val="FFB703"/>
          </a:solidFill>
          <a:ln w="12700">
            <a:solidFill>
              <a:srgbClr val="FFB703"/>
            </a:solidFill>
            <a:prstDash val="solid"/>
          </a:ln>
        </p:spPr>
        <p:txBody>
          <a:bodyPr/>
          <a:lstStyle/>
          <a:p>
            <a:endParaRPr lang="en-SG"/>
          </a:p>
        </p:txBody>
      </p:sp>
      <p:sp>
        <p:nvSpPr>
          <p:cNvPr id="30" name="Text 28"/>
          <p:cNvSpPr/>
          <p:nvPr/>
        </p:nvSpPr>
        <p:spPr>
          <a:xfrm>
            <a:off x="4791456" y="868680"/>
            <a:ext cx="4169664" cy="256032"/>
          </a:xfrm>
          <a:prstGeom prst="rect">
            <a:avLst/>
          </a:prstGeom>
          <a:noFill/>
          <a:ln/>
        </p:spPr>
        <p:txBody>
          <a:bodyPr wrap="square" lIns="0" tIns="0" rIns="0" bIns="0" rtlCol="0" anchor="ctr"/>
          <a:lstStyle/>
          <a:p>
            <a:pPr marL="0" indent="0">
              <a:buNone/>
            </a:pPr>
            <a:r>
              <a:rPr lang="en-US" sz="1150" b="1" dirty="0">
                <a:solidFill>
                  <a:srgbClr val="000000"/>
                </a:solidFill>
                <a:latin typeface="Trebuchet MS" pitchFamily="34" charset="0"/>
                <a:ea typeface="Trebuchet MS" pitchFamily="34" charset="-122"/>
                <a:cs typeface="Trebuchet MS" pitchFamily="34" charset="-120"/>
              </a:rPr>
              <a:t>MAINTAINING INTEGRITY AT THE SCENE</a:t>
            </a:r>
            <a:endParaRPr lang="en-US" sz="1150" dirty="0"/>
          </a:p>
        </p:txBody>
      </p:sp>
      <p:sp>
        <p:nvSpPr>
          <p:cNvPr id="31" name="Shape 29"/>
          <p:cNvSpPr/>
          <p:nvPr/>
        </p:nvSpPr>
        <p:spPr>
          <a:xfrm>
            <a:off x="4773168" y="1298448"/>
            <a:ext cx="2029968" cy="1591056"/>
          </a:xfrm>
          <a:prstGeom prst="roundRect">
            <a:avLst>
              <a:gd name="adj" fmla="val 4598"/>
            </a:avLst>
          </a:prstGeom>
          <a:solidFill>
            <a:srgbClr val="EEF6FB"/>
          </a:solidFill>
          <a:ln w="12700">
            <a:solidFill>
              <a:srgbClr val="00B4D8"/>
            </a:solidFill>
            <a:prstDash val="solid"/>
          </a:ln>
        </p:spPr>
        <p:txBody>
          <a:bodyPr/>
          <a:lstStyle/>
          <a:p>
            <a:endParaRPr lang="en-SG"/>
          </a:p>
        </p:txBody>
      </p:sp>
      <p:sp>
        <p:nvSpPr>
          <p:cNvPr id="32" name="Shape 30"/>
          <p:cNvSpPr/>
          <p:nvPr/>
        </p:nvSpPr>
        <p:spPr>
          <a:xfrm>
            <a:off x="5522976" y="1353312"/>
            <a:ext cx="530352" cy="530352"/>
          </a:xfrm>
          <a:prstGeom prst="ellipse">
            <a:avLst/>
          </a:prstGeom>
          <a:solidFill>
            <a:srgbClr val="00B4D8">
              <a:alpha val="90000"/>
            </a:srgbClr>
          </a:solidFill>
          <a:ln w="12700">
            <a:solidFill>
              <a:srgbClr val="00B4D8"/>
            </a:solidFill>
            <a:prstDash val="solid"/>
          </a:ln>
        </p:spPr>
        <p:txBody>
          <a:bodyPr/>
          <a:lstStyle/>
          <a:p>
            <a:endParaRPr lang="en-SG"/>
          </a:p>
        </p:txBody>
      </p:sp>
      <p:sp>
        <p:nvSpPr>
          <p:cNvPr id="33" name="Text 31"/>
          <p:cNvSpPr/>
          <p:nvPr/>
        </p:nvSpPr>
        <p:spPr>
          <a:xfrm>
            <a:off x="5522976" y="1389888"/>
            <a:ext cx="530352" cy="420624"/>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34" name="Text 32"/>
          <p:cNvSpPr/>
          <p:nvPr/>
        </p:nvSpPr>
        <p:spPr>
          <a:xfrm>
            <a:off x="4846320" y="1938528"/>
            <a:ext cx="1883664" cy="329184"/>
          </a:xfrm>
          <a:prstGeom prst="rect">
            <a:avLst/>
          </a:prstGeom>
          <a:noFill/>
          <a:ln/>
        </p:spPr>
        <p:txBody>
          <a:bodyPr wrap="square" lIns="0" tIns="0" rIns="0" bIns="0" rtlCol="0" anchor="ctr"/>
          <a:lstStyle/>
          <a:p>
            <a:pPr marL="0" indent="0" algn="ctr">
              <a:buNone/>
            </a:pPr>
            <a:r>
              <a:rPr lang="en-US" sz="950" b="1" dirty="0">
                <a:solidFill>
                  <a:srgbClr val="00B4D8"/>
                </a:solidFill>
                <a:latin typeface="Trebuchet MS" pitchFamily="34" charset="0"/>
                <a:ea typeface="Trebuchet MS" pitchFamily="34" charset="-122"/>
                <a:cs typeface="Trebuchet MS" pitchFamily="34" charset="-120"/>
              </a:rPr>
              <a:t>Photograph Before Touching</a:t>
            </a:r>
            <a:endParaRPr lang="en-US" sz="950" dirty="0"/>
          </a:p>
        </p:txBody>
      </p:sp>
      <p:sp>
        <p:nvSpPr>
          <p:cNvPr id="35" name="Text 33"/>
          <p:cNvSpPr/>
          <p:nvPr/>
        </p:nvSpPr>
        <p:spPr>
          <a:xfrm>
            <a:off x="4846320" y="2267712"/>
            <a:ext cx="1883664" cy="566928"/>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Take wide, medium and close-up photos of every device. Capture screen state (on/off). Record cables, connections and surroundings.</a:t>
            </a:r>
            <a:endParaRPr lang="en-US" sz="850" dirty="0"/>
          </a:p>
        </p:txBody>
      </p:sp>
      <p:sp>
        <p:nvSpPr>
          <p:cNvPr id="36" name="Shape 34"/>
          <p:cNvSpPr/>
          <p:nvPr/>
        </p:nvSpPr>
        <p:spPr>
          <a:xfrm>
            <a:off x="6876288" y="1298448"/>
            <a:ext cx="2029968" cy="1591056"/>
          </a:xfrm>
          <a:prstGeom prst="roundRect">
            <a:avLst>
              <a:gd name="adj" fmla="val 4598"/>
            </a:avLst>
          </a:prstGeom>
          <a:solidFill>
            <a:srgbClr val="EEF6FB"/>
          </a:solidFill>
          <a:ln w="12700">
            <a:solidFill>
              <a:srgbClr val="06D6A0"/>
            </a:solidFill>
            <a:prstDash val="solid"/>
          </a:ln>
        </p:spPr>
        <p:txBody>
          <a:bodyPr/>
          <a:lstStyle/>
          <a:p>
            <a:endParaRPr lang="en-SG"/>
          </a:p>
        </p:txBody>
      </p:sp>
      <p:sp>
        <p:nvSpPr>
          <p:cNvPr id="37" name="Shape 35"/>
          <p:cNvSpPr/>
          <p:nvPr/>
        </p:nvSpPr>
        <p:spPr>
          <a:xfrm>
            <a:off x="7626096" y="1353312"/>
            <a:ext cx="530352" cy="530352"/>
          </a:xfrm>
          <a:prstGeom prst="ellipse">
            <a:avLst/>
          </a:prstGeom>
          <a:solidFill>
            <a:srgbClr val="06D6A0">
              <a:alpha val="90000"/>
            </a:srgbClr>
          </a:solidFill>
          <a:ln w="12700">
            <a:solidFill>
              <a:srgbClr val="06D6A0"/>
            </a:solidFill>
            <a:prstDash val="solid"/>
          </a:ln>
        </p:spPr>
        <p:txBody>
          <a:bodyPr/>
          <a:lstStyle/>
          <a:p>
            <a:endParaRPr lang="en-SG"/>
          </a:p>
        </p:txBody>
      </p:sp>
      <p:sp>
        <p:nvSpPr>
          <p:cNvPr id="38" name="Text 36"/>
          <p:cNvSpPr/>
          <p:nvPr/>
        </p:nvSpPr>
        <p:spPr>
          <a:xfrm>
            <a:off x="7626096" y="1389888"/>
            <a:ext cx="530352" cy="420624"/>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39" name="Text 37"/>
          <p:cNvSpPr/>
          <p:nvPr/>
        </p:nvSpPr>
        <p:spPr>
          <a:xfrm>
            <a:off x="6949440" y="1938528"/>
            <a:ext cx="1883664" cy="329184"/>
          </a:xfrm>
          <a:prstGeom prst="rect">
            <a:avLst/>
          </a:prstGeom>
          <a:noFill/>
          <a:ln/>
        </p:spPr>
        <p:txBody>
          <a:bodyPr wrap="square" lIns="0" tIns="0" rIns="0" bIns="0" rtlCol="0" anchor="ctr"/>
          <a:lstStyle/>
          <a:p>
            <a:pPr marL="0" indent="0" algn="ctr">
              <a:buNone/>
            </a:pPr>
            <a:r>
              <a:rPr lang="en-US" sz="950" b="1" dirty="0">
                <a:solidFill>
                  <a:srgbClr val="06D6A0"/>
                </a:solidFill>
                <a:latin typeface="Trebuchet MS" pitchFamily="34" charset="0"/>
                <a:ea typeface="Trebuchet MS" pitchFamily="34" charset="-122"/>
                <a:cs typeface="Trebuchet MS" pitchFamily="34" charset="-120"/>
              </a:rPr>
              <a:t>Log Every Action</a:t>
            </a:r>
            <a:endParaRPr lang="en-US" sz="950" dirty="0"/>
          </a:p>
        </p:txBody>
      </p:sp>
      <p:sp>
        <p:nvSpPr>
          <p:cNvPr id="40" name="Text 38"/>
          <p:cNvSpPr/>
          <p:nvPr/>
        </p:nvSpPr>
        <p:spPr>
          <a:xfrm>
            <a:off x="6949440" y="2267712"/>
            <a:ext cx="1883664" cy="566928"/>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Maintain a contemporaneous handwritten log. Every action — however small — is timestamped and signed. Silence the diary, not the facts.</a:t>
            </a:r>
            <a:endParaRPr lang="en-US" sz="850" dirty="0"/>
          </a:p>
        </p:txBody>
      </p:sp>
      <p:sp>
        <p:nvSpPr>
          <p:cNvPr id="41" name="Shape 39"/>
          <p:cNvSpPr/>
          <p:nvPr/>
        </p:nvSpPr>
        <p:spPr>
          <a:xfrm>
            <a:off x="4773168" y="3017520"/>
            <a:ext cx="2029968" cy="1591056"/>
          </a:xfrm>
          <a:prstGeom prst="roundRect">
            <a:avLst>
              <a:gd name="adj" fmla="val 4598"/>
            </a:avLst>
          </a:prstGeom>
          <a:solidFill>
            <a:srgbClr val="EEF6FB"/>
          </a:solidFill>
          <a:ln w="12700">
            <a:solidFill>
              <a:srgbClr val="9B5DE5"/>
            </a:solidFill>
            <a:prstDash val="solid"/>
          </a:ln>
        </p:spPr>
        <p:txBody>
          <a:bodyPr/>
          <a:lstStyle/>
          <a:p>
            <a:endParaRPr lang="en-SG"/>
          </a:p>
        </p:txBody>
      </p:sp>
      <p:sp>
        <p:nvSpPr>
          <p:cNvPr id="42" name="Shape 40"/>
          <p:cNvSpPr/>
          <p:nvPr/>
        </p:nvSpPr>
        <p:spPr>
          <a:xfrm>
            <a:off x="5522976" y="3072384"/>
            <a:ext cx="530352" cy="530352"/>
          </a:xfrm>
          <a:prstGeom prst="ellipse">
            <a:avLst/>
          </a:prstGeom>
          <a:solidFill>
            <a:srgbClr val="9B5DE5">
              <a:alpha val="90000"/>
            </a:srgbClr>
          </a:solidFill>
          <a:ln w="12700">
            <a:solidFill>
              <a:srgbClr val="9B5DE5"/>
            </a:solidFill>
            <a:prstDash val="solid"/>
          </a:ln>
        </p:spPr>
        <p:txBody>
          <a:bodyPr/>
          <a:lstStyle/>
          <a:p>
            <a:endParaRPr lang="en-SG"/>
          </a:p>
        </p:txBody>
      </p:sp>
      <p:sp>
        <p:nvSpPr>
          <p:cNvPr id="43" name="Text 41"/>
          <p:cNvSpPr/>
          <p:nvPr/>
        </p:nvSpPr>
        <p:spPr>
          <a:xfrm>
            <a:off x="5522976" y="3108960"/>
            <a:ext cx="530352" cy="420624"/>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44" name="Text 42"/>
          <p:cNvSpPr/>
          <p:nvPr/>
        </p:nvSpPr>
        <p:spPr>
          <a:xfrm>
            <a:off x="4846320" y="3657600"/>
            <a:ext cx="1883664" cy="329184"/>
          </a:xfrm>
          <a:prstGeom prst="rect">
            <a:avLst/>
          </a:prstGeom>
          <a:noFill/>
          <a:ln/>
        </p:spPr>
        <p:txBody>
          <a:bodyPr wrap="square" lIns="0" tIns="0" rIns="0" bIns="0" rtlCol="0" anchor="ctr"/>
          <a:lstStyle/>
          <a:p>
            <a:pPr marL="0" indent="0" algn="ctr">
              <a:buNone/>
            </a:pPr>
            <a:r>
              <a:rPr lang="en-US" sz="950" b="1" dirty="0">
                <a:solidFill>
                  <a:srgbClr val="9B5DE5"/>
                </a:solidFill>
                <a:latin typeface="Trebuchet MS" pitchFamily="34" charset="0"/>
                <a:ea typeface="Trebuchet MS" pitchFamily="34" charset="-122"/>
                <a:cs typeface="Trebuchet MS" pitchFamily="34" charset="-120"/>
              </a:rPr>
              <a:t>Restrict Access</a:t>
            </a:r>
            <a:endParaRPr lang="en-US" sz="950" dirty="0"/>
          </a:p>
        </p:txBody>
      </p:sp>
      <p:sp>
        <p:nvSpPr>
          <p:cNvPr id="45" name="Text 43"/>
          <p:cNvSpPr/>
          <p:nvPr/>
        </p:nvSpPr>
        <p:spPr>
          <a:xfrm>
            <a:off x="4846320" y="3986784"/>
            <a:ext cx="1883664" cy="566928"/>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Establish a cordon. Only authorised personnel enter. Log all entries/exits. Prevent cross-contamination from other devices or personnel.</a:t>
            </a:r>
            <a:endParaRPr lang="en-US" sz="850" dirty="0"/>
          </a:p>
        </p:txBody>
      </p:sp>
      <p:sp>
        <p:nvSpPr>
          <p:cNvPr id="46" name="Shape 44"/>
          <p:cNvSpPr/>
          <p:nvPr/>
        </p:nvSpPr>
        <p:spPr>
          <a:xfrm>
            <a:off x="6876288" y="3017520"/>
            <a:ext cx="2029968" cy="1591056"/>
          </a:xfrm>
          <a:prstGeom prst="roundRect">
            <a:avLst>
              <a:gd name="adj" fmla="val 4598"/>
            </a:avLst>
          </a:prstGeom>
          <a:solidFill>
            <a:srgbClr val="EEF6FB"/>
          </a:solidFill>
          <a:ln w="12700">
            <a:solidFill>
              <a:srgbClr val="FFB703"/>
            </a:solidFill>
            <a:prstDash val="solid"/>
          </a:ln>
        </p:spPr>
        <p:txBody>
          <a:bodyPr/>
          <a:lstStyle/>
          <a:p>
            <a:endParaRPr lang="en-SG"/>
          </a:p>
        </p:txBody>
      </p:sp>
      <p:sp>
        <p:nvSpPr>
          <p:cNvPr id="47" name="Shape 45"/>
          <p:cNvSpPr/>
          <p:nvPr/>
        </p:nvSpPr>
        <p:spPr>
          <a:xfrm>
            <a:off x="7626096" y="3072384"/>
            <a:ext cx="530352" cy="530352"/>
          </a:xfrm>
          <a:prstGeom prst="ellipse">
            <a:avLst/>
          </a:prstGeom>
          <a:solidFill>
            <a:srgbClr val="FFB703">
              <a:alpha val="90000"/>
            </a:srgbClr>
          </a:solidFill>
          <a:ln w="12700">
            <a:solidFill>
              <a:srgbClr val="FFB703"/>
            </a:solidFill>
            <a:prstDash val="solid"/>
          </a:ln>
        </p:spPr>
        <p:txBody>
          <a:bodyPr/>
          <a:lstStyle/>
          <a:p>
            <a:endParaRPr lang="en-SG"/>
          </a:p>
        </p:txBody>
      </p:sp>
      <p:sp>
        <p:nvSpPr>
          <p:cNvPr id="48" name="Text 46"/>
          <p:cNvSpPr/>
          <p:nvPr/>
        </p:nvSpPr>
        <p:spPr>
          <a:xfrm>
            <a:off x="7626096" y="3108960"/>
            <a:ext cx="530352" cy="420624"/>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49" name="Text 47"/>
          <p:cNvSpPr/>
          <p:nvPr/>
        </p:nvSpPr>
        <p:spPr>
          <a:xfrm>
            <a:off x="6949440" y="3657600"/>
            <a:ext cx="1883664" cy="329184"/>
          </a:xfrm>
          <a:prstGeom prst="rect">
            <a:avLst/>
          </a:prstGeom>
          <a:noFill/>
          <a:ln/>
        </p:spPr>
        <p:txBody>
          <a:bodyPr wrap="square" lIns="0" tIns="0" rIns="0" bIns="0" rtlCol="0" anchor="ctr"/>
          <a:lstStyle/>
          <a:p>
            <a:pPr marL="0" indent="0" algn="ctr">
              <a:buNone/>
            </a:pPr>
            <a:r>
              <a:rPr lang="en-US" sz="950" b="1" dirty="0">
                <a:solidFill>
                  <a:srgbClr val="FFB703"/>
                </a:solidFill>
                <a:latin typeface="Trebuchet MS" pitchFamily="34" charset="0"/>
                <a:ea typeface="Trebuchet MS" pitchFamily="34" charset="-122"/>
                <a:cs typeface="Trebuchet MS" pitchFamily="34" charset="-120"/>
              </a:rPr>
              <a:t>Package &amp; Label on-Scene</a:t>
            </a:r>
            <a:endParaRPr lang="en-US" sz="950" dirty="0"/>
          </a:p>
        </p:txBody>
      </p:sp>
      <p:sp>
        <p:nvSpPr>
          <p:cNvPr id="50" name="Text 48"/>
          <p:cNvSpPr/>
          <p:nvPr/>
        </p:nvSpPr>
        <p:spPr>
          <a:xfrm>
            <a:off x="6949440" y="3986784"/>
            <a:ext cx="1883664" cy="566928"/>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Seal devices in anti-static bags immediately. Label with exhibit number, date, time, and seizing officer. Apply tamper-evident seals.</a:t>
            </a:r>
            <a:endParaRPr lang="en-US" sz="850" dirty="0"/>
          </a:p>
        </p:txBody>
      </p:sp>
      <p:sp>
        <p:nvSpPr>
          <p:cNvPr id="51" name="Shape 49"/>
          <p:cNvSpPr/>
          <p:nvPr/>
        </p:nvSpPr>
        <p:spPr>
          <a:xfrm>
            <a:off x="4773168" y="4553712"/>
            <a:ext cx="4151376" cy="164592"/>
          </a:xfrm>
          <a:prstGeom prst="rect">
            <a:avLst/>
          </a:prstGeom>
          <a:solidFill>
            <a:srgbClr val="EF233C">
              <a:alpha val="90000"/>
            </a:srgbClr>
          </a:solidFill>
          <a:ln w="12700">
            <a:solidFill>
              <a:srgbClr val="EF233C"/>
            </a:solidFill>
            <a:prstDash val="solid"/>
          </a:ln>
        </p:spPr>
        <p:txBody>
          <a:bodyPr/>
          <a:lstStyle/>
          <a:p>
            <a:endParaRPr lang="en-SG"/>
          </a:p>
        </p:txBody>
      </p:sp>
      <p:sp>
        <p:nvSpPr>
          <p:cNvPr id="52" name="Text 50"/>
          <p:cNvSpPr/>
          <p:nvPr/>
        </p:nvSpPr>
        <p:spPr>
          <a:xfrm>
            <a:off x="4682744" y="4546981"/>
            <a:ext cx="4707699" cy="209804"/>
          </a:xfrm>
          <a:prstGeom prst="rect">
            <a:avLst/>
          </a:prstGeom>
          <a:noFill/>
          <a:ln/>
        </p:spPr>
        <p:txBody>
          <a:bodyPr wrap="square" rtlCol="0" anchor="ctr"/>
          <a:lstStyle/>
          <a:p>
            <a:pPr marL="0" indent="0">
              <a:buNone/>
            </a:pPr>
            <a:r>
              <a:rPr lang="en-US" sz="850" b="1" i="1" dirty="0">
                <a:solidFill>
                  <a:srgbClr val="1A1A2E"/>
                </a:solidFill>
                <a:latin typeface="Calibri" pitchFamily="34" charset="0"/>
                <a:ea typeface="Calibri" pitchFamily="34" charset="-122"/>
                <a:cs typeface="Calibri" pitchFamily="34" charset="-120"/>
              </a:rPr>
              <a:t>⚠  Contaminating the scene is irreversible — evidence excluded at court cannot be re-collected.</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Stage 02 — Preservation: Principles &amp; Integrity Assurance</a:t>
            </a:r>
            <a:endParaRPr lang="en-US" sz="1700" dirty="0"/>
          </a:p>
        </p:txBody>
      </p:sp>
      <p:sp>
        <p:nvSpPr>
          <p:cNvPr id="6" name="Shape 4"/>
          <p:cNvSpPr/>
          <p:nvPr/>
        </p:nvSpPr>
        <p:spPr>
          <a:xfrm>
            <a:off x="109728" y="841248"/>
            <a:ext cx="8924544" cy="438912"/>
          </a:xfrm>
          <a:prstGeom prst="rect">
            <a:avLst/>
          </a:prstGeom>
          <a:solidFill>
            <a:srgbClr val="EEF6FB"/>
          </a:solidFill>
          <a:ln w="12700">
            <a:solidFill>
              <a:srgbClr val="00B4D8"/>
            </a:solidFill>
            <a:prstDash val="solid"/>
          </a:ln>
        </p:spPr>
        <p:txBody>
          <a:bodyPr/>
          <a:lstStyle/>
          <a:p>
            <a:endParaRPr lang="en-SG"/>
          </a:p>
        </p:txBody>
      </p:sp>
      <p:sp>
        <p:nvSpPr>
          <p:cNvPr id="7" name="Shape 5"/>
          <p:cNvSpPr/>
          <p:nvPr/>
        </p:nvSpPr>
        <p:spPr>
          <a:xfrm>
            <a:off x="109728" y="841248"/>
            <a:ext cx="164592" cy="438912"/>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347472" y="914400"/>
            <a:ext cx="658368" cy="256032"/>
          </a:xfrm>
          <a:prstGeom prst="rect">
            <a:avLst/>
          </a:prstGeom>
          <a:noFill/>
          <a:ln/>
        </p:spPr>
        <p:txBody>
          <a:bodyPr wrap="square" lIns="0" tIns="0" rIns="0" bIns="0" rtlCol="0" anchor="ctr"/>
          <a:lstStyle/>
          <a:p>
            <a:pPr marL="0" indent="0">
              <a:buNone/>
            </a:pPr>
            <a:r>
              <a:rPr lang="en-US" sz="1100" b="1" dirty="0">
                <a:solidFill>
                  <a:srgbClr val="00B4D8"/>
                </a:solidFill>
                <a:latin typeface="Trebuchet MS" pitchFamily="34" charset="0"/>
                <a:ea typeface="Trebuchet MS" pitchFamily="34" charset="-122"/>
                <a:cs typeface="Trebuchet MS" pitchFamily="34" charset="-120"/>
              </a:rPr>
              <a:t>Goal:</a:t>
            </a:r>
            <a:endParaRPr lang="en-US" sz="1100" dirty="0"/>
          </a:p>
        </p:txBody>
      </p:sp>
      <p:sp>
        <p:nvSpPr>
          <p:cNvPr id="9" name="Text 7"/>
          <p:cNvSpPr/>
          <p:nvPr/>
        </p:nvSpPr>
        <p:spPr>
          <a:xfrm>
            <a:off x="1024128" y="914400"/>
            <a:ext cx="7900416" cy="31089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Prevent any alteration to digital evidence from the moment it is identified. Even opening a file — without writing to it — can silently update its Last Accessed timestamp and destroy evidential value.</a:t>
            </a:r>
            <a:endParaRPr lang="en-US" sz="1000" dirty="0"/>
          </a:p>
        </p:txBody>
      </p:sp>
      <p:sp>
        <p:nvSpPr>
          <p:cNvPr id="10" name="Shape 8"/>
          <p:cNvSpPr/>
          <p:nvPr/>
        </p:nvSpPr>
        <p:spPr>
          <a:xfrm>
            <a:off x="109728" y="1371600"/>
            <a:ext cx="4352544" cy="3364992"/>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109728" y="1371600"/>
            <a:ext cx="4352544" cy="347472"/>
          </a:xfrm>
          <a:prstGeom prst="rect">
            <a:avLst/>
          </a:prstGeom>
          <a:solidFill>
            <a:srgbClr val="00B4D8"/>
          </a:solidFill>
          <a:ln w="12700">
            <a:solidFill>
              <a:srgbClr val="00B4D8"/>
            </a:solidFill>
            <a:prstDash val="solid"/>
          </a:ln>
        </p:spPr>
        <p:txBody>
          <a:bodyPr/>
          <a:lstStyle/>
          <a:p>
            <a:endParaRPr lang="en-SG"/>
          </a:p>
        </p:txBody>
      </p:sp>
      <p:sp>
        <p:nvSpPr>
          <p:cNvPr id="12" name="Text 10"/>
          <p:cNvSpPr/>
          <p:nvPr/>
        </p:nvSpPr>
        <p:spPr>
          <a:xfrm>
            <a:off x="219456" y="1399032"/>
            <a:ext cx="4169664" cy="237744"/>
          </a:xfrm>
          <a:prstGeom prst="rect">
            <a:avLst/>
          </a:prstGeom>
          <a:noFill/>
          <a:ln/>
        </p:spPr>
        <p:txBody>
          <a:bodyPr wrap="square" lIns="0" tIns="0" rIns="0" bIns="0" rtlCol="0" anchor="ctr"/>
          <a:lstStyle/>
          <a:p>
            <a:pPr marL="0" indent="0">
              <a:buNone/>
            </a:pPr>
            <a:r>
              <a:rPr lang="en-US" sz="1100" b="1" dirty="0">
                <a:solidFill>
                  <a:srgbClr val="000000"/>
                </a:solidFill>
                <a:latin typeface="Trebuchet MS" pitchFamily="34" charset="0"/>
                <a:ea typeface="Trebuchet MS" pitchFamily="34" charset="-122"/>
                <a:cs typeface="Trebuchet MS" pitchFamily="34" charset="-120"/>
              </a:rPr>
              <a:t>CORE PRESERVATION TOOLS &amp; TECHNIQUES</a:t>
            </a:r>
            <a:endParaRPr lang="en-US" sz="1100" dirty="0"/>
          </a:p>
        </p:txBody>
      </p:sp>
      <p:sp>
        <p:nvSpPr>
          <p:cNvPr id="13" name="Shape 11"/>
          <p:cNvSpPr/>
          <p:nvPr/>
        </p:nvSpPr>
        <p:spPr>
          <a:xfrm>
            <a:off x="182880" y="1792224"/>
            <a:ext cx="4187952" cy="896112"/>
          </a:xfrm>
          <a:prstGeom prst="rect">
            <a:avLst/>
          </a:prstGeom>
          <a:solidFill>
            <a:srgbClr val="EEF6FB"/>
          </a:solidFill>
          <a:ln w="12700">
            <a:solidFill>
              <a:srgbClr val="00B4D8"/>
            </a:solidFill>
            <a:prstDash val="solid"/>
          </a:ln>
        </p:spPr>
        <p:txBody>
          <a:bodyPr/>
          <a:lstStyle/>
          <a:p>
            <a:endParaRPr lang="en-SG"/>
          </a:p>
        </p:txBody>
      </p:sp>
      <p:sp>
        <p:nvSpPr>
          <p:cNvPr id="14" name="Text 12"/>
          <p:cNvSpPr/>
          <p:nvPr/>
        </p:nvSpPr>
        <p:spPr>
          <a:xfrm>
            <a:off x="219456" y="1847088"/>
            <a:ext cx="402336"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5" name="Text 13"/>
          <p:cNvSpPr/>
          <p:nvPr/>
        </p:nvSpPr>
        <p:spPr>
          <a:xfrm>
            <a:off x="676656" y="1847088"/>
            <a:ext cx="3621024" cy="219456"/>
          </a:xfrm>
          <a:prstGeom prst="rect">
            <a:avLst/>
          </a:prstGeom>
          <a:noFill/>
          <a:ln/>
        </p:spPr>
        <p:txBody>
          <a:bodyPr wrap="square" lIns="0" tIns="0" rIns="0" bIns="0" rtlCol="0" anchor="ctr"/>
          <a:lstStyle/>
          <a:p>
            <a:pPr marL="0" indent="0">
              <a:buNone/>
            </a:pPr>
            <a:r>
              <a:rPr lang="en-US" sz="1050" b="1" dirty="0">
                <a:solidFill>
                  <a:srgbClr val="00B4D8"/>
                </a:solidFill>
                <a:latin typeface="Trebuchet MS" pitchFamily="34" charset="0"/>
                <a:ea typeface="Trebuchet MS" pitchFamily="34" charset="-122"/>
                <a:cs typeface="Trebuchet MS" pitchFamily="34" charset="-120"/>
              </a:rPr>
              <a:t>Hardware Write Blockers</a:t>
            </a:r>
            <a:endParaRPr lang="en-US" sz="1050" dirty="0"/>
          </a:p>
        </p:txBody>
      </p:sp>
      <p:sp>
        <p:nvSpPr>
          <p:cNvPr id="16" name="Text 14"/>
          <p:cNvSpPr/>
          <p:nvPr/>
        </p:nvSpPr>
        <p:spPr>
          <a:xfrm>
            <a:off x="676656" y="2084832"/>
            <a:ext cx="3621024" cy="53035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Devices such as the Tableau T35es or Wiebetech Forensic UltraDock physically intercept all write commands between the forensic workstation and the evidence drive. No software setting can replicate this guarantee — always use hardware for drives.</a:t>
            </a:r>
            <a:endParaRPr lang="en-US" sz="850" dirty="0"/>
          </a:p>
        </p:txBody>
      </p:sp>
      <p:sp>
        <p:nvSpPr>
          <p:cNvPr id="17" name="Shape 15"/>
          <p:cNvSpPr/>
          <p:nvPr/>
        </p:nvSpPr>
        <p:spPr>
          <a:xfrm>
            <a:off x="182880" y="2779776"/>
            <a:ext cx="4187952" cy="896112"/>
          </a:xfrm>
          <a:prstGeom prst="rect">
            <a:avLst/>
          </a:prstGeom>
          <a:solidFill>
            <a:srgbClr val="EEF6FB"/>
          </a:solidFill>
          <a:ln w="12700">
            <a:solidFill>
              <a:srgbClr val="00B4D8"/>
            </a:solidFill>
            <a:prstDash val="solid"/>
          </a:ln>
        </p:spPr>
        <p:txBody>
          <a:bodyPr/>
          <a:lstStyle/>
          <a:p>
            <a:endParaRPr lang="en-SG"/>
          </a:p>
        </p:txBody>
      </p:sp>
      <p:sp>
        <p:nvSpPr>
          <p:cNvPr id="18" name="Text 16"/>
          <p:cNvSpPr/>
          <p:nvPr/>
        </p:nvSpPr>
        <p:spPr>
          <a:xfrm>
            <a:off x="219456" y="2834640"/>
            <a:ext cx="402336"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9" name="Text 17"/>
          <p:cNvSpPr/>
          <p:nvPr/>
        </p:nvSpPr>
        <p:spPr>
          <a:xfrm>
            <a:off x="676656" y="2834640"/>
            <a:ext cx="3621024" cy="219456"/>
          </a:xfrm>
          <a:prstGeom prst="rect">
            <a:avLst/>
          </a:prstGeom>
          <a:noFill/>
          <a:ln/>
        </p:spPr>
        <p:txBody>
          <a:bodyPr wrap="square" lIns="0" tIns="0" rIns="0" bIns="0" rtlCol="0" anchor="ctr"/>
          <a:lstStyle/>
          <a:p>
            <a:pPr marL="0" indent="0">
              <a:buNone/>
            </a:pPr>
            <a:r>
              <a:rPr lang="en-US" sz="1050" b="1" dirty="0">
                <a:solidFill>
                  <a:srgbClr val="00B4D8"/>
                </a:solidFill>
                <a:latin typeface="Trebuchet MS" pitchFamily="34" charset="0"/>
                <a:ea typeface="Trebuchet MS" pitchFamily="34" charset="-122"/>
                <a:cs typeface="Trebuchet MS" pitchFamily="34" charset="-120"/>
              </a:rPr>
              <a:t>Forensic Imaging (Bit-for-Bit Copy)</a:t>
            </a:r>
            <a:endParaRPr lang="en-US" sz="1050" dirty="0"/>
          </a:p>
        </p:txBody>
      </p:sp>
      <p:sp>
        <p:nvSpPr>
          <p:cNvPr id="20" name="Text 18"/>
          <p:cNvSpPr/>
          <p:nvPr/>
        </p:nvSpPr>
        <p:spPr>
          <a:xfrm>
            <a:off x="676656" y="3072384"/>
            <a:ext cx="3621024" cy="53035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Tools like FTK Imager, dc3dd, or Guymager create an exact sector-by-sector duplicate — including empty space, slack space, and deleted files. Every subsequent examination is performed on the IMAGE, never the original.</a:t>
            </a:r>
            <a:endParaRPr lang="en-US" sz="850" dirty="0"/>
          </a:p>
        </p:txBody>
      </p:sp>
      <p:sp>
        <p:nvSpPr>
          <p:cNvPr id="21" name="Shape 19"/>
          <p:cNvSpPr/>
          <p:nvPr/>
        </p:nvSpPr>
        <p:spPr>
          <a:xfrm>
            <a:off x="182880" y="3767328"/>
            <a:ext cx="4187952" cy="896112"/>
          </a:xfrm>
          <a:prstGeom prst="rect">
            <a:avLst/>
          </a:prstGeom>
          <a:solidFill>
            <a:srgbClr val="EEF6FB"/>
          </a:solidFill>
          <a:ln w="12700">
            <a:solidFill>
              <a:srgbClr val="00B4D8"/>
            </a:solidFill>
            <a:prstDash val="solid"/>
          </a:ln>
        </p:spPr>
        <p:txBody>
          <a:bodyPr/>
          <a:lstStyle/>
          <a:p>
            <a:endParaRPr lang="en-SG"/>
          </a:p>
        </p:txBody>
      </p:sp>
      <p:sp>
        <p:nvSpPr>
          <p:cNvPr id="22" name="Text 20"/>
          <p:cNvSpPr/>
          <p:nvPr/>
        </p:nvSpPr>
        <p:spPr>
          <a:xfrm>
            <a:off x="219456" y="3822192"/>
            <a:ext cx="402336" cy="402336"/>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3" name="Text 21"/>
          <p:cNvSpPr/>
          <p:nvPr/>
        </p:nvSpPr>
        <p:spPr>
          <a:xfrm>
            <a:off x="676656" y="3822192"/>
            <a:ext cx="3621024" cy="219456"/>
          </a:xfrm>
          <a:prstGeom prst="rect">
            <a:avLst/>
          </a:prstGeom>
          <a:noFill/>
          <a:ln/>
        </p:spPr>
        <p:txBody>
          <a:bodyPr wrap="square" lIns="0" tIns="0" rIns="0" bIns="0" rtlCol="0" anchor="ctr"/>
          <a:lstStyle/>
          <a:p>
            <a:pPr marL="0" indent="0">
              <a:buNone/>
            </a:pPr>
            <a:r>
              <a:rPr lang="en-US" sz="1050" b="1" dirty="0">
                <a:solidFill>
                  <a:srgbClr val="00B4D8"/>
                </a:solidFill>
                <a:latin typeface="Trebuchet MS" pitchFamily="34" charset="0"/>
                <a:ea typeface="Trebuchet MS" pitchFamily="34" charset="-122"/>
                <a:cs typeface="Trebuchet MS" pitchFamily="34" charset="-120"/>
              </a:rPr>
              <a:t>Faraday Isolation for Mobile Devices</a:t>
            </a:r>
            <a:endParaRPr lang="en-US" sz="1050" dirty="0"/>
          </a:p>
        </p:txBody>
      </p:sp>
      <p:sp>
        <p:nvSpPr>
          <p:cNvPr id="24" name="Text 22"/>
          <p:cNvSpPr/>
          <p:nvPr/>
        </p:nvSpPr>
        <p:spPr>
          <a:xfrm>
            <a:off x="676656" y="4059936"/>
            <a:ext cx="3621024" cy="530352"/>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Mobile devices must be placed in Faraday bags or cages immediately upon seizure. This blocks all cellular, Wi-Fi, and Bluetooth signals, preventing remote wipe commands and evidence destruction from the moment of seizure.</a:t>
            </a:r>
            <a:endParaRPr lang="en-US" sz="850" dirty="0"/>
          </a:p>
        </p:txBody>
      </p:sp>
      <p:sp>
        <p:nvSpPr>
          <p:cNvPr id="25" name="Shape 23"/>
          <p:cNvSpPr/>
          <p:nvPr/>
        </p:nvSpPr>
        <p:spPr>
          <a:xfrm>
            <a:off x="4681728" y="1371600"/>
            <a:ext cx="4352544" cy="3364992"/>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26" name="Shape 24"/>
          <p:cNvSpPr/>
          <p:nvPr/>
        </p:nvSpPr>
        <p:spPr>
          <a:xfrm>
            <a:off x="4681728" y="1371600"/>
            <a:ext cx="4352544" cy="347472"/>
          </a:xfrm>
          <a:prstGeom prst="rect">
            <a:avLst/>
          </a:prstGeom>
          <a:solidFill>
            <a:srgbClr val="06D6A0"/>
          </a:solidFill>
          <a:ln w="12700">
            <a:solidFill>
              <a:srgbClr val="06D6A0"/>
            </a:solidFill>
            <a:prstDash val="solid"/>
          </a:ln>
        </p:spPr>
        <p:txBody>
          <a:bodyPr/>
          <a:lstStyle/>
          <a:p>
            <a:endParaRPr lang="en-SG"/>
          </a:p>
        </p:txBody>
      </p:sp>
      <p:sp>
        <p:nvSpPr>
          <p:cNvPr id="27" name="Text 25"/>
          <p:cNvSpPr/>
          <p:nvPr/>
        </p:nvSpPr>
        <p:spPr>
          <a:xfrm>
            <a:off x="4791456" y="1399032"/>
            <a:ext cx="4169664" cy="237744"/>
          </a:xfrm>
          <a:prstGeom prst="rect">
            <a:avLst/>
          </a:prstGeom>
          <a:noFill/>
          <a:ln/>
        </p:spPr>
        <p:txBody>
          <a:bodyPr wrap="square" lIns="0" tIns="0" rIns="0" bIns="0" rtlCol="0" anchor="ctr"/>
          <a:lstStyle/>
          <a:p>
            <a:pPr marL="0" indent="0">
              <a:buNone/>
            </a:pPr>
            <a:r>
              <a:rPr lang="en-US" sz="1100" b="1" dirty="0">
                <a:solidFill>
                  <a:srgbClr val="000000"/>
                </a:solidFill>
                <a:latin typeface="Trebuchet MS" pitchFamily="34" charset="0"/>
                <a:ea typeface="Trebuchet MS" pitchFamily="34" charset="-122"/>
                <a:cs typeface="Trebuchet MS" pitchFamily="34" charset="-120"/>
              </a:rPr>
              <a:t>VERIFYING INTEGRITY WITH HASH VALUES</a:t>
            </a:r>
            <a:endParaRPr lang="en-US" sz="1100" dirty="0"/>
          </a:p>
        </p:txBody>
      </p:sp>
      <p:sp>
        <p:nvSpPr>
          <p:cNvPr id="28" name="Shape 26"/>
          <p:cNvSpPr/>
          <p:nvPr/>
        </p:nvSpPr>
        <p:spPr>
          <a:xfrm>
            <a:off x="4773168" y="1792224"/>
            <a:ext cx="4151376" cy="475488"/>
          </a:xfrm>
          <a:prstGeom prst="roundRect">
            <a:avLst>
              <a:gd name="adj" fmla="val 11538"/>
            </a:avLst>
          </a:prstGeom>
          <a:solidFill>
            <a:srgbClr val="EEF6FB"/>
          </a:solidFill>
          <a:ln w="12700">
            <a:solidFill>
              <a:srgbClr val="06D6A0"/>
            </a:solidFill>
            <a:prstDash val="solid"/>
          </a:ln>
        </p:spPr>
        <p:txBody>
          <a:bodyPr/>
          <a:lstStyle/>
          <a:p>
            <a:endParaRPr lang="en-SG"/>
          </a:p>
        </p:txBody>
      </p:sp>
      <p:sp>
        <p:nvSpPr>
          <p:cNvPr id="29" name="Text 27"/>
          <p:cNvSpPr/>
          <p:nvPr/>
        </p:nvSpPr>
        <p:spPr>
          <a:xfrm>
            <a:off x="4846320" y="1828800"/>
            <a:ext cx="4005072" cy="402336"/>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A hash is a fixed-length digital fingerprint. Alter even a single bit — the hash changes completely. Identical hashes = identical data. It is mathematically impossible to tamper undetected.</a:t>
            </a:r>
            <a:endParaRPr lang="en-US" sz="900" dirty="0"/>
          </a:p>
        </p:txBody>
      </p:sp>
      <p:sp>
        <p:nvSpPr>
          <p:cNvPr id="30" name="Shape 28"/>
          <p:cNvSpPr/>
          <p:nvPr/>
        </p:nvSpPr>
        <p:spPr>
          <a:xfrm>
            <a:off x="4773168" y="2340864"/>
            <a:ext cx="4151376" cy="694944"/>
          </a:xfrm>
          <a:prstGeom prst="rect">
            <a:avLst/>
          </a:prstGeom>
          <a:solidFill>
            <a:srgbClr val="EEF6FB"/>
          </a:solidFill>
          <a:ln w="12700">
            <a:solidFill>
              <a:srgbClr val="FB8500"/>
            </a:solidFill>
            <a:prstDash val="solid"/>
          </a:ln>
        </p:spPr>
        <p:txBody>
          <a:bodyPr/>
          <a:lstStyle/>
          <a:p>
            <a:endParaRPr lang="en-SG"/>
          </a:p>
        </p:txBody>
      </p:sp>
      <p:sp>
        <p:nvSpPr>
          <p:cNvPr id="31" name="Shape 29"/>
          <p:cNvSpPr/>
          <p:nvPr/>
        </p:nvSpPr>
        <p:spPr>
          <a:xfrm>
            <a:off x="4809744" y="2414016"/>
            <a:ext cx="768096" cy="237744"/>
          </a:xfrm>
          <a:prstGeom prst="roundRect">
            <a:avLst>
              <a:gd name="adj" fmla="val 19231"/>
            </a:avLst>
          </a:prstGeom>
          <a:solidFill>
            <a:srgbClr val="FB8500"/>
          </a:solidFill>
          <a:ln w="12700">
            <a:solidFill>
              <a:srgbClr val="FB8500"/>
            </a:solidFill>
            <a:prstDash val="solid"/>
          </a:ln>
        </p:spPr>
        <p:txBody>
          <a:bodyPr/>
          <a:lstStyle/>
          <a:p>
            <a:endParaRPr lang="en-SG"/>
          </a:p>
        </p:txBody>
      </p:sp>
      <p:sp>
        <p:nvSpPr>
          <p:cNvPr id="32" name="Text 30"/>
          <p:cNvSpPr/>
          <p:nvPr/>
        </p:nvSpPr>
        <p:spPr>
          <a:xfrm>
            <a:off x="4809744" y="2423160"/>
            <a:ext cx="768096" cy="18288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CRC-32</a:t>
            </a:r>
            <a:endParaRPr lang="en-US" sz="1000" dirty="0"/>
          </a:p>
        </p:txBody>
      </p:sp>
      <p:sp>
        <p:nvSpPr>
          <p:cNvPr id="33" name="Text 31"/>
          <p:cNvSpPr/>
          <p:nvPr/>
        </p:nvSpPr>
        <p:spPr>
          <a:xfrm>
            <a:off x="4809744" y="2688336"/>
            <a:ext cx="768096" cy="146304"/>
          </a:xfrm>
          <a:prstGeom prst="rect">
            <a:avLst/>
          </a:prstGeom>
          <a:noFill/>
          <a:ln/>
        </p:spPr>
        <p:txBody>
          <a:bodyPr wrap="square" rtlCol="0" anchor="ctr"/>
          <a:lstStyle/>
          <a:p>
            <a:pPr marL="0" indent="0" algn="ctr">
              <a:buNone/>
            </a:pPr>
            <a:r>
              <a:rPr lang="en-US" sz="800" b="1" dirty="0">
                <a:solidFill>
                  <a:srgbClr val="FB8500"/>
                </a:solidFill>
                <a:latin typeface="Calibri" pitchFamily="34" charset="0"/>
                <a:ea typeface="Calibri" pitchFamily="34" charset="-122"/>
                <a:cs typeface="Calibri" pitchFamily="34" charset="-120"/>
              </a:rPr>
              <a:t>32-bit</a:t>
            </a:r>
            <a:endParaRPr lang="en-US" sz="800" dirty="0"/>
          </a:p>
        </p:txBody>
      </p:sp>
      <p:sp>
        <p:nvSpPr>
          <p:cNvPr id="34" name="Text 32"/>
          <p:cNvSpPr/>
          <p:nvPr/>
        </p:nvSpPr>
        <p:spPr>
          <a:xfrm>
            <a:off x="5632704" y="2377440"/>
            <a:ext cx="3255264" cy="310896"/>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Rapid error-detection during data transfer. NOT forensically acceptable as standalone proof.</a:t>
            </a:r>
            <a:endParaRPr lang="en-US" sz="850" dirty="0"/>
          </a:p>
        </p:txBody>
      </p:sp>
      <p:sp>
        <p:nvSpPr>
          <p:cNvPr id="35" name="Text 33"/>
          <p:cNvSpPr/>
          <p:nvPr/>
        </p:nvSpPr>
        <p:spPr>
          <a:xfrm>
            <a:off x="5632704" y="2724912"/>
            <a:ext cx="3255264" cy="256032"/>
          </a:xfrm>
          <a:prstGeom prst="rect">
            <a:avLst/>
          </a:prstGeom>
          <a:noFill/>
          <a:ln/>
        </p:spPr>
        <p:txBody>
          <a:bodyPr wrap="square" rtlCol="0" anchor="ctr"/>
          <a:lstStyle/>
          <a:p>
            <a:pPr marL="0" indent="0">
              <a:buNone/>
            </a:pPr>
            <a:r>
              <a:rPr lang="en-US" sz="800" i="1" dirty="0">
                <a:solidFill>
                  <a:srgbClr val="EF233C"/>
                </a:solidFill>
                <a:latin typeface="Calibri" pitchFamily="34" charset="0"/>
                <a:ea typeface="Calibri" pitchFamily="34" charset="-122"/>
                <a:cs typeface="Calibri" pitchFamily="34" charset="-120"/>
              </a:rPr>
              <a:t>⚠ Too many known collisions — never rely on CRC-32 alone in a court context.</a:t>
            </a:r>
            <a:endParaRPr lang="en-US" sz="800" dirty="0"/>
          </a:p>
        </p:txBody>
      </p:sp>
      <p:sp>
        <p:nvSpPr>
          <p:cNvPr id="36" name="Shape 34"/>
          <p:cNvSpPr/>
          <p:nvPr/>
        </p:nvSpPr>
        <p:spPr>
          <a:xfrm>
            <a:off x="4773168" y="3108960"/>
            <a:ext cx="4151376" cy="694944"/>
          </a:xfrm>
          <a:prstGeom prst="rect">
            <a:avLst/>
          </a:prstGeom>
          <a:solidFill>
            <a:srgbClr val="EEF6FB"/>
          </a:solidFill>
          <a:ln w="12700">
            <a:solidFill>
              <a:srgbClr val="FFB703"/>
            </a:solidFill>
            <a:prstDash val="solid"/>
          </a:ln>
        </p:spPr>
        <p:txBody>
          <a:bodyPr/>
          <a:lstStyle/>
          <a:p>
            <a:endParaRPr lang="en-SG"/>
          </a:p>
        </p:txBody>
      </p:sp>
      <p:sp>
        <p:nvSpPr>
          <p:cNvPr id="37" name="Shape 35"/>
          <p:cNvSpPr/>
          <p:nvPr/>
        </p:nvSpPr>
        <p:spPr>
          <a:xfrm>
            <a:off x="4809744" y="3182112"/>
            <a:ext cx="768096" cy="237744"/>
          </a:xfrm>
          <a:prstGeom prst="roundRect">
            <a:avLst>
              <a:gd name="adj" fmla="val 19231"/>
            </a:avLst>
          </a:prstGeom>
          <a:solidFill>
            <a:srgbClr val="FFB703"/>
          </a:solidFill>
          <a:ln w="12700">
            <a:solidFill>
              <a:srgbClr val="FFB703"/>
            </a:solidFill>
            <a:prstDash val="solid"/>
          </a:ln>
        </p:spPr>
        <p:txBody>
          <a:bodyPr/>
          <a:lstStyle/>
          <a:p>
            <a:endParaRPr lang="en-SG"/>
          </a:p>
        </p:txBody>
      </p:sp>
      <p:sp>
        <p:nvSpPr>
          <p:cNvPr id="38" name="Text 36"/>
          <p:cNvSpPr/>
          <p:nvPr/>
        </p:nvSpPr>
        <p:spPr>
          <a:xfrm>
            <a:off x="4809744" y="3191256"/>
            <a:ext cx="768096" cy="18288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MD5</a:t>
            </a:r>
            <a:endParaRPr lang="en-US" sz="1000" dirty="0"/>
          </a:p>
        </p:txBody>
      </p:sp>
      <p:sp>
        <p:nvSpPr>
          <p:cNvPr id="39" name="Text 37"/>
          <p:cNvSpPr/>
          <p:nvPr/>
        </p:nvSpPr>
        <p:spPr>
          <a:xfrm>
            <a:off x="4809744" y="3456432"/>
            <a:ext cx="768096" cy="146304"/>
          </a:xfrm>
          <a:prstGeom prst="rect">
            <a:avLst/>
          </a:prstGeom>
          <a:noFill/>
          <a:ln/>
        </p:spPr>
        <p:txBody>
          <a:bodyPr wrap="square" rtlCol="0" anchor="ctr"/>
          <a:lstStyle/>
          <a:p>
            <a:pPr marL="0" indent="0" algn="ctr">
              <a:buNone/>
            </a:pPr>
            <a:r>
              <a:rPr lang="en-US" sz="800" b="1" dirty="0">
                <a:solidFill>
                  <a:srgbClr val="FFB703"/>
                </a:solidFill>
                <a:latin typeface="Calibri" pitchFamily="34" charset="0"/>
                <a:ea typeface="Calibri" pitchFamily="34" charset="-122"/>
                <a:cs typeface="Calibri" pitchFamily="34" charset="-120"/>
              </a:rPr>
              <a:t>128-bit</a:t>
            </a:r>
            <a:endParaRPr lang="en-US" sz="800" dirty="0"/>
          </a:p>
        </p:txBody>
      </p:sp>
      <p:sp>
        <p:nvSpPr>
          <p:cNvPr id="40" name="Text 38"/>
          <p:cNvSpPr/>
          <p:nvPr/>
        </p:nvSpPr>
        <p:spPr>
          <a:xfrm>
            <a:off x="5632704" y="3145536"/>
            <a:ext cx="3255264" cy="310896"/>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Industry-standard for forensic imaging verification. Supported natively in FTK Imager, EnCase, Autopsy.</a:t>
            </a:r>
            <a:endParaRPr lang="en-US" sz="850" dirty="0"/>
          </a:p>
        </p:txBody>
      </p:sp>
      <p:sp>
        <p:nvSpPr>
          <p:cNvPr id="41" name="Text 39"/>
          <p:cNvSpPr/>
          <p:nvPr/>
        </p:nvSpPr>
        <p:spPr>
          <a:xfrm>
            <a:off x="5632704" y="3493008"/>
            <a:ext cx="3255264" cy="256032"/>
          </a:xfrm>
          <a:prstGeom prst="rect">
            <a:avLst/>
          </a:prstGeom>
          <a:noFill/>
          <a:ln/>
        </p:spPr>
        <p:txBody>
          <a:bodyPr wrap="square" rtlCol="0" anchor="ctr"/>
          <a:lstStyle/>
          <a:p>
            <a:pPr marL="0" indent="0">
              <a:buNone/>
            </a:pPr>
            <a:r>
              <a:rPr lang="en-US" sz="800" i="1" dirty="0">
                <a:solidFill>
                  <a:srgbClr val="EF233C"/>
                </a:solidFill>
                <a:latin typeface="Calibri" pitchFamily="34" charset="0"/>
                <a:ea typeface="Calibri" pitchFamily="34" charset="-122"/>
                <a:cs typeface="Calibri" pitchFamily="34" charset="-120"/>
              </a:rPr>
              <a:t>⚠ Collision vulnerabilities exist. Always pair with SHA-256 for court submissions.</a:t>
            </a:r>
            <a:endParaRPr lang="en-US" sz="800" dirty="0"/>
          </a:p>
        </p:txBody>
      </p:sp>
      <p:sp>
        <p:nvSpPr>
          <p:cNvPr id="42" name="Shape 40"/>
          <p:cNvSpPr/>
          <p:nvPr/>
        </p:nvSpPr>
        <p:spPr>
          <a:xfrm>
            <a:off x="4773168" y="3877056"/>
            <a:ext cx="4151376" cy="694944"/>
          </a:xfrm>
          <a:prstGeom prst="rect">
            <a:avLst/>
          </a:prstGeom>
          <a:solidFill>
            <a:srgbClr val="EEF6FB"/>
          </a:solidFill>
          <a:ln w="12700">
            <a:solidFill>
              <a:srgbClr val="06D6A0"/>
            </a:solidFill>
            <a:prstDash val="solid"/>
          </a:ln>
        </p:spPr>
        <p:txBody>
          <a:bodyPr/>
          <a:lstStyle/>
          <a:p>
            <a:endParaRPr lang="en-SG"/>
          </a:p>
        </p:txBody>
      </p:sp>
      <p:sp>
        <p:nvSpPr>
          <p:cNvPr id="43" name="Shape 41"/>
          <p:cNvSpPr/>
          <p:nvPr/>
        </p:nvSpPr>
        <p:spPr>
          <a:xfrm>
            <a:off x="4809744" y="3950208"/>
            <a:ext cx="768096" cy="237744"/>
          </a:xfrm>
          <a:prstGeom prst="roundRect">
            <a:avLst>
              <a:gd name="adj" fmla="val 19231"/>
            </a:avLst>
          </a:prstGeom>
          <a:solidFill>
            <a:srgbClr val="06D6A0"/>
          </a:solidFill>
          <a:ln w="12700">
            <a:solidFill>
              <a:srgbClr val="06D6A0"/>
            </a:solidFill>
            <a:prstDash val="solid"/>
          </a:ln>
        </p:spPr>
        <p:txBody>
          <a:bodyPr/>
          <a:lstStyle/>
          <a:p>
            <a:endParaRPr lang="en-SG"/>
          </a:p>
        </p:txBody>
      </p:sp>
      <p:sp>
        <p:nvSpPr>
          <p:cNvPr id="44" name="Text 42"/>
          <p:cNvSpPr/>
          <p:nvPr/>
        </p:nvSpPr>
        <p:spPr>
          <a:xfrm>
            <a:off x="4809744" y="3959352"/>
            <a:ext cx="768096" cy="182880"/>
          </a:xfrm>
          <a:prstGeom prst="rect">
            <a:avLst/>
          </a:prstGeom>
          <a:noFill/>
          <a:ln/>
        </p:spPr>
        <p:txBody>
          <a:bodyPr wrap="square" lIns="0" tIns="0" rIns="0" bIns="0"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SHA-256</a:t>
            </a:r>
            <a:endParaRPr lang="en-US" sz="1000" dirty="0"/>
          </a:p>
        </p:txBody>
      </p:sp>
      <p:sp>
        <p:nvSpPr>
          <p:cNvPr id="45" name="Text 43"/>
          <p:cNvSpPr/>
          <p:nvPr/>
        </p:nvSpPr>
        <p:spPr>
          <a:xfrm>
            <a:off x="4809744" y="4224528"/>
            <a:ext cx="768096" cy="146304"/>
          </a:xfrm>
          <a:prstGeom prst="rect">
            <a:avLst/>
          </a:prstGeom>
          <a:noFill/>
          <a:ln/>
        </p:spPr>
        <p:txBody>
          <a:bodyPr wrap="square" rtlCol="0" anchor="ctr"/>
          <a:lstStyle/>
          <a:p>
            <a:pPr marL="0" indent="0" algn="ctr">
              <a:buNone/>
            </a:pPr>
            <a:r>
              <a:rPr lang="en-US" sz="800" b="1" dirty="0">
                <a:solidFill>
                  <a:srgbClr val="06D6A0"/>
                </a:solidFill>
                <a:latin typeface="Calibri" pitchFamily="34" charset="0"/>
                <a:ea typeface="Calibri" pitchFamily="34" charset="-122"/>
                <a:cs typeface="Calibri" pitchFamily="34" charset="-120"/>
              </a:rPr>
              <a:t>256-bit</a:t>
            </a:r>
            <a:endParaRPr lang="en-US" sz="800" dirty="0"/>
          </a:p>
        </p:txBody>
      </p:sp>
      <p:sp>
        <p:nvSpPr>
          <p:cNvPr id="46" name="Text 44"/>
          <p:cNvSpPr/>
          <p:nvPr/>
        </p:nvSpPr>
        <p:spPr>
          <a:xfrm>
            <a:off x="5632704" y="3913632"/>
            <a:ext cx="3255264" cy="310896"/>
          </a:xfrm>
          <a:prstGeom prst="rect">
            <a:avLst/>
          </a:prstGeom>
          <a:noFill/>
          <a:ln/>
        </p:spPr>
        <p:txBody>
          <a:bodyPr wrap="square" rtlCol="0" anchor="ctr"/>
          <a:lstStyle/>
          <a:p>
            <a:pPr marL="0" indent="0">
              <a:buNone/>
            </a:pPr>
            <a:r>
              <a:rPr lang="en-US" sz="850" dirty="0">
                <a:solidFill>
                  <a:srgbClr val="1A1A2E"/>
                </a:solidFill>
                <a:latin typeface="Calibri" pitchFamily="34" charset="0"/>
                <a:ea typeface="Calibri" pitchFamily="34" charset="-122"/>
                <a:cs typeface="Calibri" pitchFamily="34" charset="-120"/>
              </a:rPr>
              <a:t>Gold standard. Collision-resistant. Accepted by courts globally including Singapore, UK, and USA.</a:t>
            </a:r>
            <a:endParaRPr lang="en-US" sz="850" dirty="0"/>
          </a:p>
        </p:txBody>
      </p:sp>
      <p:sp>
        <p:nvSpPr>
          <p:cNvPr id="47" name="Text 45"/>
          <p:cNvSpPr/>
          <p:nvPr/>
        </p:nvSpPr>
        <p:spPr>
          <a:xfrm>
            <a:off x="5632704" y="4261104"/>
            <a:ext cx="3255264" cy="256032"/>
          </a:xfrm>
          <a:prstGeom prst="rect">
            <a:avLst/>
          </a:prstGeom>
          <a:noFill/>
          <a:ln/>
        </p:spPr>
        <p:txBody>
          <a:bodyPr wrap="square" rtlCol="0" anchor="ctr"/>
          <a:lstStyle/>
          <a:p>
            <a:pPr marL="0" indent="0">
              <a:buNone/>
            </a:pPr>
            <a:r>
              <a:rPr lang="en-US" sz="800" i="1" dirty="0">
                <a:solidFill>
                  <a:srgbClr val="EF233C"/>
                </a:solidFill>
                <a:latin typeface="Calibri" pitchFamily="34" charset="0"/>
                <a:ea typeface="Calibri" pitchFamily="34" charset="-122"/>
                <a:cs typeface="Calibri" pitchFamily="34" charset="-120"/>
              </a:rPr>
              <a:t>⚠ Marginally slower than MD5 — but this is the only acceptable standard for serious casework.</a:t>
            </a:r>
            <a:endParaRPr lang="en-US" sz="800" dirty="0"/>
          </a:p>
        </p:txBody>
      </p:sp>
      <p:sp>
        <p:nvSpPr>
          <p:cNvPr id="48" name="Shape 46"/>
          <p:cNvSpPr/>
          <p:nvPr/>
        </p:nvSpPr>
        <p:spPr>
          <a:xfrm>
            <a:off x="4773168" y="4654296"/>
            <a:ext cx="4151376" cy="128016"/>
          </a:xfrm>
          <a:prstGeom prst="rect">
            <a:avLst/>
          </a:prstGeom>
          <a:solidFill>
            <a:srgbClr val="06D6A0">
              <a:alpha val="85000"/>
            </a:srgbClr>
          </a:solidFill>
          <a:ln w="12700">
            <a:solidFill>
              <a:srgbClr val="06D6A0"/>
            </a:solidFill>
            <a:prstDash val="solid"/>
          </a:ln>
        </p:spPr>
        <p:txBody>
          <a:bodyPr/>
          <a:lstStyle/>
          <a:p>
            <a:endParaRPr lang="en-SG"/>
          </a:p>
        </p:txBody>
      </p:sp>
      <p:sp>
        <p:nvSpPr>
          <p:cNvPr id="49" name="Text 47"/>
          <p:cNvSpPr/>
          <p:nvPr/>
        </p:nvSpPr>
        <p:spPr>
          <a:xfrm>
            <a:off x="4828032" y="4663440"/>
            <a:ext cx="4078224" cy="109728"/>
          </a:xfrm>
          <a:prstGeom prst="rect">
            <a:avLst/>
          </a:prstGeom>
          <a:noFill/>
          <a:ln/>
        </p:spPr>
        <p:txBody>
          <a:bodyPr wrap="square" rtlCol="0" anchor="ctr"/>
          <a:lstStyle/>
          <a:p>
            <a:pPr marL="0" indent="0">
              <a:buNone/>
            </a:pPr>
            <a:r>
              <a:rPr lang="en-US" sz="800" b="1" dirty="0">
                <a:solidFill>
                  <a:srgbClr val="000000"/>
                </a:solidFill>
                <a:latin typeface="Calibri" pitchFamily="34" charset="0"/>
                <a:ea typeface="Calibri" pitchFamily="34" charset="-122"/>
                <a:cs typeface="Calibri" pitchFamily="34" charset="-120"/>
              </a:rPr>
              <a:t>✓  Source hash = Image hash  →  Integrity CONFIRMED. Mismatch = evidence chain broken.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Preservation of Computer Devices — Powered ON vs Powered OFF</a:t>
            </a:r>
            <a:endParaRPr lang="en-US" sz="1700" dirty="0"/>
          </a:p>
        </p:txBody>
      </p:sp>
      <p:sp>
        <p:nvSpPr>
          <p:cNvPr id="6" name="Shape 4"/>
          <p:cNvSpPr/>
          <p:nvPr/>
        </p:nvSpPr>
        <p:spPr>
          <a:xfrm>
            <a:off x="109728" y="841248"/>
            <a:ext cx="4352544" cy="347472"/>
          </a:xfrm>
          <a:prstGeom prst="rect">
            <a:avLst/>
          </a:prstGeom>
          <a:solidFill>
            <a:srgbClr val="06D6A0"/>
          </a:solidFill>
          <a:ln w="12700">
            <a:solidFill>
              <a:srgbClr val="06D6A0"/>
            </a:solidFill>
            <a:prstDash val="solid"/>
          </a:ln>
        </p:spPr>
        <p:txBody>
          <a:bodyPr/>
          <a:lstStyle/>
          <a:p>
            <a:endParaRPr lang="en-SG"/>
          </a:p>
        </p:txBody>
      </p:sp>
      <p:sp>
        <p:nvSpPr>
          <p:cNvPr id="7" name="Text 5"/>
          <p:cNvSpPr/>
          <p:nvPr/>
        </p:nvSpPr>
        <p:spPr>
          <a:xfrm>
            <a:off x="219456" y="886968"/>
            <a:ext cx="4169664" cy="237744"/>
          </a:xfrm>
          <a:prstGeom prst="rect">
            <a:avLst/>
          </a:prstGeom>
          <a:noFill/>
          <a:ln/>
        </p:spPr>
        <p:txBody>
          <a:bodyPr wrap="square" lIns="0" tIns="0" rIns="0" bIns="0" rtlCol="0" anchor="ctr"/>
          <a:lstStyle/>
          <a:p>
            <a:pPr marL="0" indent="0">
              <a:buNone/>
            </a:pPr>
            <a:r>
              <a:rPr lang="en-US" sz="1200" b="1" dirty="0">
                <a:solidFill>
                  <a:srgbClr val="000000"/>
                </a:solidFill>
                <a:latin typeface="Trebuchet MS" pitchFamily="34" charset="0"/>
                <a:ea typeface="Trebuchet MS" pitchFamily="34" charset="-122"/>
                <a:cs typeface="Trebuchet MS" pitchFamily="34" charset="-120"/>
              </a:rPr>
              <a:t>💻  COMPUTER — POWERED ON</a:t>
            </a:r>
            <a:endParaRPr lang="en-US" sz="1200" dirty="0"/>
          </a:p>
        </p:txBody>
      </p:sp>
      <p:sp>
        <p:nvSpPr>
          <p:cNvPr id="8" name="Shape 6"/>
          <p:cNvSpPr/>
          <p:nvPr/>
        </p:nvSpPr>
        <p:spPr>
          <a:xfrm>
            <a:off x="109728" y="1225296"/>
            <a:ext cx="4352544" cy="548640"/>
          </a:xfrm>
          <a:prstGeom prst="roundRect">
            <a:avLst>
              <a:gd name="adj" fmla="val 8333"/>
            </a:avLst>
          </a:prstGeom>
          <a:solidFill>
            <a:srgbClr val="06D6A0"/>
          </a:solidFill>
          <a:ln w="12700">
            <a:solidFill>
              <a:srgbClr val="06D6A0"/>
            </a:solidFill>
            <a:prstDash val="solid"/>
          </a:ln>
        </p:spPr>
        <p:txBody>
          <a:bodyPr/>
          <a:lstStyle/>
          <a:p>
            <a:endParaRPr lang="en-SG"/>
          </a:p>
        </p:txBody>
      </p:sp>
      <p:sp>
        <p:nvSpPr>
          <p:cNvPr id="9" name="Shape 7"/>
          <p:cNvSpPr/>
          <p:nvPr/>
        </p:nvSpPr>
        <p:spPr>
          <a:xfrm>
            <a:off x="164592" y="1271016"/>
            <a:ext cx="256032" cy="256032"/>
          </a:xfrm>
          <a:prstGeom prst="ellipse">
            <a:avLst/>
          </a:prstGeom>
          <a:solidFill>
            <a:srgbClr val="FFFFFF"/>
          </a:solidFill>
          <a:ln w="12700">
            <a:solidFill>
              <a:srgbClr val="FFFFFF"/>
            </a:solidFill>
            <a:prstDash val="solid"/>
          </a:ln>
        </p:spPr>
        <p:txBody>
          <a:bodyPr/>
          <a:lstStyle/>
          <a:p>
            <a:endParaRPr lang="en-SG"/>
          </a:p>
        </p:txBody>
      </p:sp>
      <p:sp>
        <p:nvSpPr>
          <p:cNvPr id="10" name="Text 8"/>
          <p:cNvSpPr/>
          <p:nvPr/>
        </p:nvSpPr>
        <p:spPr>
          <a:xfrm>
            <a:off x="164592" y="1289304"/>
            <a:ext cx="256032" cy="182880"/>
          </a:xfrm>
          <a:prstGeom prst="rect">
            <a:avLst/>
          </a:prstGeom>
          <a:noFill/>
          <a:ln/>
        </p:spPr>
        <p:txBody>
          <a:bodyPr wrap="square" lIns="0" tIns="0" rIns="0" bIns="0" rtlCol="0" anchor="ctr"/>
          <a:lstStyle/>
          <a:p>
            <a:pPr marL="0" indent="0" algn="ctr">
              <a:buNone/>
            </a:pPr>
            <a:r>
              <a:rPr lang="en-US" sz="750" b="1" dirty="0">
                <a:solidFill>
                  <a:srgbClr val="06D6A0"/>
                </a:solidFill>
                <a:latin typeface="Trebuchet MS" pitchFamily="34" charset="0"/>
                <a:ea typeface="Trebuchet MS" pitchFamily="34" charset="-122"/>
                <a:cs typeface="Trebuchet MS" pitchFamily="34" charset="-120"/>
              </a:rPr>
              <a:t>1</a:t>
            </a:r>
            <a:endParaRPr lang="en-US" sz="750" dirty="0"/>
          </a:p>
        </p:txBody>
      </p:sp>
      <p:sp>
        <p:nvSpPr>
          <p:cNvPr id="11" name="Text 9"/>
          <p:cNvSpPr/>
          <p:nvPr/>
        </p:nvSpPr>
        <p:spPr>
          <a:xfrm>
            <a:off x="475488" y="1261872"/>
            <a:ext cx="3913632" cy="182880"/>
          </a:xfrm>
          <a:prstGeom prst="rect">
            <a:avLst/>
          </a:prstGeom>
          <a:noFill/>
          <a:ln/>
        </p:spPr>
        <p:txBody>
          <a:bodyPr wrap="square" lIns="0" tIns="0" rIns="0" bIns="0" rtlCol="0" anchor="ctr"/>
          <a:lstStyle/>
          <a:p>
            <a:pPr marL="0" indent="0">
              <a:buNone/>
            </a:pPr>
            <a:r>
              <a:rPr lang="en-US" sz="900" b="1" dirty="0">
                <a:solidFill>
                  <a:srgbClr val="000000"/>
                </a:solidFill>
                <a:latin typeface="Trebuchet MS" pitchFamily="34" charset="0"/>
                <a:ea typeface="Trebuchet MS" pitchFamily="34" charset="-122"/>
                <a:cs typeface="Trebuchet MS" pitchFamily="34" charset="-120"/>
              </a:rPr>
              <a:t>Do NOT shut down</a:t>
            </a:r>
            <a:endParaRPr lang="en-US" sz="900" dirty="0"/>
          </a:p>
        </p:txBody>
      </p:sp>
      <p:sp>
        <p:nvSpPr>
          <p:cNvPr id="12" name="Text 10"/>
          <p:cNvSpPr/>
          <p:nvPr/>
        </p:nvSpPr>
        <p:spPr>
          <a:xfrm>
            <a:off x="475488" y="1444752"/>
            <a:ext cx="3913632" cy="292608"/>
          </a:xfrm>
          <a:prstGeom prst="rect">
            <a:avLst/>
          </a:prstGeom>
          <a:noFill/>
          <a:ln/>
        </p:spPr>
        <p:txBody>
          <a:bodyPr wrap="square" rtlCol="0" anchor="ctr"/>
          <a:lstStyle/>
          <a:p>
            <a:pPr marL="0" indent="0">
              <a:buNone/>
            </a:pPr>
            <a:r>
              <a:rPr lang="en-US" sz="750" dirty="0">
                <a:solidFill>
                  <a:srgbClr val="000000"/>
                </a:solidFill>
                <a:latin typeface="Calibri" pitchFamily="34" charset="0"/>
                <a:ea typeface="Calibri" pitchFamily="34" charset="-122"/>
                <a:cs typeface="Calibri" pitchFamily="34" charset="-120"/>
              </a:rPr>
              <a:t>Abrupt shutdown destroys volatile RAM — encryption keys, open sessions, running processes are gone forever.</a:t>
            </a:r>
            <a:endParaRPr lang="en-US" sz="750" dirty="0"/>
          </a:p>
        </p:txBody>
      </p:sp>
      <p:sp>
        <p:nvSpPr>
          <p:cNvPr id="13" name="Shape 11"/>
          <p:cNvSpPr/>
          <p:nvPr/>
        </p:nvSpPr>
        <p:spPr>
          <a:xfrm>
            <a:off x="2263140" y="1773936"/>
            <a:ext cx="45720" cy="73152"/>
          </a:xfrm>
          <a:prstGeom prst="rect">
            <a:avLst/>
          </a:prstGeom>
          <a:solidFill>
            <a:srgbClr val="06D6A0">
              <a:alpha val="80000"/>
            </a:srgbClr>
          </a:solidFill>
          <a:ln w="12700">
            <a:solidFill>
              <a:srgbClr val="06D6A0">
                <a:alpha val="80000"/>
              </a:srgbClr>
            </a:solidFill>
            <a:prstDash val="solid"/>
          </a:ln>
        </p:spPr>
        <p:txBody>
          <a:bodyPr/>
          <a:lstStyle/>
          <a:p>
            <a:endParaRPr lang="en-SG"/>
          </a:p>
        </p:txBody>
      </p:sp>
      <p:sp>
        <p:nvSpPr>
          <p:cNvPr id="14" name="Shape 12"/>
          <p:cNvSpPr/>
          <p:nvPr/>
        </p:nvSpPr>
        <p:spPr>
          <a:xfrm>
            <a:off x="109728" y="1847088"/>
            <a:ext cx="4352544" cy="548640"/>
          </a:xfrm>
          <a:prstGeom prst="roundRect">
            <a:avLst>
              <a:gd name="adj" fmla="val 8333"/>
            </a:avLst>
          </a:prstGeom>
          <a:solidFill>
            <a:srgbClr val="EEF6FB"/>
          </a:solidFill>
          <a:ln w="12700">
            <a:solidFill>
              <a:srgbClr val="06D6A0"/>
            </a:solidFill>
            <a:prstDash val="solid"/>
          </a:ln>
        </p:spPr>
        <p:txBody>
          <a:bodyPr/>
          <a:lstStyle/>
          <a:p>
            <a:endParaRPr lang="en-SG"/>
          </a:p>
        </p:txBody>
      </p:sp>
      <p:sp>
        <p:nvSpPr>
          <p:cNvPr id="15" name="Shape 13"/>
          <p:cNvSpPr/>
          <p:nvPr/>
        </p:nvSpPr>
        <p:spPr>
          <a:xfrm>
            <a:off x="164592" y="1892808"/>
            <a:ext cx="256032" cy="256032"/>
          </a:xfrm>
          <a:prstGeom prst="ellipse">
            <a:avLst/>
          </a:prstGeom>
          <a:solidFill>
            <a:srgbClr val="06D6A0"/>
          </a:solidFill>
          <a:ln w="12700">
            <a:solidFill>
              <a:srgbClr val="06D6A0"/>
            </a:solidFill>
            <a:prstDash val="solid"/>
          </a:ln>
        </p:spPr>
        <p:txBody>
          <a:bodyPr/>
          <a:lstStyle/>
          <a:p>
            <a:endParaRPr lang="en-SG"/>
          </a:p>
        </p:txBody>
      </p:sp>
      <p:sp>
        <p:nvSpPr>
          <p:cNvPr id="16" name="Text 14"/>
          <p:cNvSpPr/>
          <p:nvPr/>
        </p:nvSpPr>
        <p:spPr>
          <a:xfrm>
            <a:off x="164592" y="1911096"/>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2</a:t>
            </a:r>
            <a:endParaRPr lang="en-US" sz="750" dirty="0"/>
          </a:p>
        </p:txBody>
      </p:sp>
      <p:sp>
        <p:nvSpPr>
          <p:cNvPr id="17" name="Text 15"/>
          <p:cNvSpPr/>
          <p:nvPr/>
        </p:nvSpPr>
        <p:spPr>
          <a:xfrm>
            <a:off x="475488" y="1883664"/>
            <a:ext cx="3913632" cy="182880"/>
          </a:xfrm>
          <a:prstGeom prst="rect">
            <a:avLst/>
          </a:prstGeom>
          <a:noFill/>
          <a:ln/>
        </p:spPr>
        <p:txBody>
          <a:bodyPr wrap="square" lIns="0" tIns="0" rIns="0" bIns="0" rtlCol="0" anchor="ctr"/>
          <a:lstStyle/>
          <a:p>
            <a:pPr marL="0" indent="0">
              <a:buNone/>
            </a:pPr>
            <a:r>
              <a:rPr lang="en-US" sz="900" b="1" dirty="0">
                <a:solidFill>
                  <a:srgbClr val="06D6A0"/>
                </a:solidFill>
                <a:latin typeface="Trebuchet MS" pitchFamily="34" charset="0"/>
                <a:ea typeface="Trebuchet MS" pitchFamily="34" charset="-122"/>
                <a:cs typeface="Trebuchet MS" pitchFamily="34" charset="-120"/>
              </a:rPr>
              <a:t>Photograph screen immediately</a:t>
            </a:r>
            <a:endParaRPr lang="en-US" sz="900" dirty="0"/>
          </a:p>
        </p:txBody>
      </p:sp>
      <p:sp>
        <p:nvSpPr>
          <p:cNvPr id="18" name="Text 16"/>
          <p:cNvSpPr/>
          <p:nvPr/>
        </p:nvSpPr>
        <p:spPr>
          <a:xfrm>
            <a:off x="475488" y="2066544"/>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Capture visible windows, logged-in user, network connections, open applications. Time-stamp the photo.</a:t>
            </a:r>
            <a:endParaRPr lang="en-US" sz="750" dirty="0"/>
          </a:p>
        </p:txBody>
      </p:sp>
      <p:sp>
        <p:nvSpPr>
          <p:cNvPr id="19" name="Shape 17"/>
          <p:cNvSpPr/>
          <p:nvPr/>
        </p:nvSpPr>
        <p:spPr>
          <a:xfrm>
            <a:off x="2263140" y="2395728"/>
            <a:ext cx="45720" cy="73152"/>
          </a:xfrm>
          <a:prstGeom prst="rect">
            <a:avLst/>
          </a:prstGeom>
          <a:solidFill>
            <a:srgbClr val="06D6A0">
              <a:alpha val="80000"/>
            </a:srgbClr>
          </a:solidFill>
          <a:ln w="12700">
            <a:solidFill>
              <a:srgbClr val="06D6A0">
                <a:alpha val="80000"/>
              </a:srgbClr>
            </a:solidFill>
            <a:prstDash val="solid"/>
          </a:ln>
        </p:spPr>
        <p:txBody>
          <a:bodyPr/>
          <a:lstStyle/>
          <a:p>
            <a:endParaRPr lang="en-SG"/>
          </a:p>
        </p:txBody>
      </p:sp>
      <p:sp>
        <p:nvSpPr>
          <p:cNvPr id="20" name="Shape 18"/>
          <p:cNvSpPr/>
          <p:nvPr/>
        </p:nvSpPr>
        <p:spPr>
          <a:xfrm>
            <a:off x="109728" y="2468880"/>
            <a:ext cx="4352544" cy="548640"/>
          </a:xfrm>
          <a:prstGeom prst="roundRect">
            <a:avLst>
              <a:gd name="adj" fmla="val 8333"/>
            </a:avLst>
          </a:prstGeom>
          <a:solidFill>
            <a:srgbClr val="EEF6FB"/>
          </a:solidFill>
          <a:ln w="12700">
            <a:solidFill>
              <a:srgbClr val="06D6A0"/>
            </a:solidFill>
            <a:prstDash val="solid"/>
          </a:ln>
        </p:spPr>
        <p:txBody>
          <a:bodyPr/>
          <a:lstStyle/>
          <a:p>
            <a:endParaRPr lang="en-SG"/>
          </a:p>
        </p:txBody>
      </p:sp>
      <p:sp>
        <p:nvSpPr>
          <p:cNvPr id="21" name="Shape 19"/>
          <p:cNvSpPr/>
          <p:nvPr/>
        </p:nvSpPr>
        <p:spPr>
          <a:xfrm>
            <a:off x="164592" y="2514600"/>
            <a:ext cx="256032" cy="256032"/>
          </a:xfrm>
          <a:prstGeom prst="ellipse">
            <a:avLst/>
          </a:prstGeom>
          <a:solidFill>
            <a:srgbClr val="06D6A0"/>
          </a:solidFill>
          <a:ln w="12700">
            <a:solidFill>
              <a:srgbClr val="06D6A0"/>
            </a:solidFill>
            <a:prstDash val="solid"/>
          </a:ln>
        </p:spPr>
        <p:txBody>
          <a:bodyPr/>
          <a:lstStyle/>
          <a:p>
            <a:endParaRPr lang="en-SG"/>
          </a:p>
        </p:txBody>
      </p:sp>
      <p:sp>
        <p:nvSpPr>
          <p:cNvPr id="22" name="Text 20"/>
          <p:cNvSpPr/>
          <p:nvPr/>
        </p:nvSpPr>
        <p:spPr>
          <a:xfrm>
            <a:off x="164592" y="2532888"/>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3</a:t>
            </a:r>
            <a:endParaRPr lang="en-US" sz="750" dirty="0"/>
          </a:p>
        </p:txBody>
      </p:sp>
      <p:sp>
        <p:nvSpPr>
          <p:cNvPr id="23" name="Text 21"/>
          <p:cNvSpPr/>
          <p:nvPr/>
        </p:nvSpPr>
        <p:spPr>
          <a:xfrm>
            <a:off x="475488" y="2505456"/>
            <a:ext cx="3913632" cy="182880"/>
          </a:xfrm>
          <a:prstGeom prst="rect">
            <a:avLst/>
          </a:prstGeom>
          <a:noFill/>
          <a:ln/>
        </p:spPr>
        <p:txBody>
          <a:bodyPr wrap="square" lIns="0" tIns="0" rIns="0" bIns="0" rtlCol="0" anchor="ctr"/>
          <a:lstStyle/>
          <a:p>
            <a:pPr marL="0" indent="0">
              <a:buNone/>
            </a:pPr>
            <a:r>
              <a:rPr lang="en-US" sz="900" b="1" dirty="0">
                <a:solidFill>
                  <a:srgbClr val="06D6A0"/>
                </a:solidFill>
                <a:latin typeface="Trebuchet MS" pitchFamily="34" charset="0"/>
                <a:ea typeface="Trebuchet MS" pitchFamily="34" charset="-122"/>
                <a:cs typeface="Trebuchet MS" pitchFamily="34" charset="-120"/>
              </a:rPr>
              <a:t>Collect volatile data first</a:t>
            </a:r>
            <a:endParaRPr lang="en-US" sz="900" dirty="0"/>
          </a:p>
        </p:txBody>
      </p:sp>
      <p:sp>
        <p:nvSpPr>
          <p:cNvPr id="24" name="Text 22"/>
          <p:cNvSpPr/>
          <p:nvPr/>
        </p:nvSpPr>
        <p:spPr>
          <a:xfrm>
            <a:off x="475488" y="2688336"/>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Run a RAM capture tool (e.g. Magnet RAM Capture, WinPMem). Document running processes, open network sockets, logged-in users.</a:t>
            </a:r>
            <a:endParaRPr lang="en-US" sz="750" dirty="0"/>
          </a:p>
        </p:txBody>
      </p:sp>
      <p:sp>
        <p:nvSpPr>
          <p:cNvPr id="25" name="Shape 23"/>
          <p:cNvSpPr/>
          <p:nvPr/>
        </p:nvSpPr>
        <p:spPr>
          <a:xfrm>
            <a:off x="2263140" y="3017520"/>
            <a:ext cx="45720" cy="73152"/>
          </a:xfrm>
          <a:prstGeom prst="rect">
            <a:avLst/>
          </a:prstGeom>
          <a:solidFill>
            <a:srgbClr val="06D6A0">
              <a:alpha val="80000"/>
            </a:srgbClr>
          </a:solidFill>
          <a:ln w="12700">
            <a:solidFill>
              <a:srgbClr val="06D6A0">
                <a:alpha val="80000"/>
              </a:srgbClr>
            </a:solidFill>
            <a:prstDash val="solid"/>
          </a:ln>
        </p:spPr>
        <p:txBody>
          <a:bodyPr/>
          <a:lstStyle/>
          <a:p>
            <a:endParaRPr lang="en-SG"/>
          </a:p>
        </p:txBody>
      </p:sp>
      <p:sp>
        <p:nvSpPr>
          <p:cNvPr id="26" name="Shape 24"/>
          <p:cNvSpPr/>
          <p:nvPr/>
        </p:nvSpPr>
        <p:spPr>
          <a:xfrm>
            <a:off x="109728" y="3090672"/>
            <a:ext cx="4352544" cy="548640"/>
          </a:xfrm>
          <a:prstGeom prst="roundRect">
            <a:avLst>
              <a:gd name="adj" fmla="val 8333"/>
            </a:avLst>
          </a:prstGeom>
          <a:solidFill>
            <a:srgbClr val="EEF6FB"/>
          </a:solidFill>
          <a:ln w="12700">
            <a:solidFill>
              <a:srgbClr val="06D6A0"/>
            </a:solidFill>
            <a:prstDash val="solid"/>
          </a:ln>
        </p:spPr>
        <p:txBody>
          <a:bodyPr/>
          <a:lstStyle/>
          <a:p>
            <a:endParaRPr lang="en-SG"/>
          </a:p>
        </p:txBody>
      </p:sp>
      <p:sp>
        <p:nvSpPr>
          <p:cNvPr id="27" name="Shape 25"/>
          <p:cNvSpPr/>
          <p:nvPr/>
        </p:nvSpPr>
        <p:spPr>
          <a:xfrm>
            <a:off x="164592" y="3136392"/>
            <a:ext cx="256032" cy="256032"/>
          </a:xfrm>
          <a:prstGeom prst="ellipse">
            <a:avLst/>
          </a:prstGeom>
          <a:solidFill>
            <a:srgbClr val="06D6A0"/>
          </a:solidFill>
          <a:ln w="12700">
            <a:solidFill>
              <a:srgbClr val="06D6A0"/>
            </a:solidFill>
            <a:prstDash val="solid"/>
          </a:ln>
        </p:spPr>
        <p:txBody>
          <a:bodyPr/>
          <a:lstStyle/>
          <a:p>
            <a:endParaRPr lang="en-SG"/>
          </a:p>
        </p:txBody>
      </p:sp>
      <p:sp>
        <p:nvSpPr>
          <p:cNvPr id="28" name="Text 26"/>
          <p:cNvSpPr/>
          <p:nvPr/>
        </p:nvSpPr>
        <p:spPr>
          <a:xfrm>
            <a:off x="164592" y="3154680"/>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4</a:t>
            </a:r>
            <a:endParaRPr lang="en-US" sz="750" dirty="0"/>
          </a:p>
        </p:txBody>
      </p:sp>
      <p:sp>
        <p:nvSpPr>
          <p:cNvPr id="29" name="Text 27"/>
          <p:cNvSpPr/>
          <p:nvPr/>
        </p:nvSpPr>
        <p:spPr>
          <a:xfrm>
            <a:off x="475488" y="3127248"/>
            <a:ext cx="3913632" cy="182880"/>
          </a:xfrm>
          <a:prstGeom prst="rect">
            <a:avLst/>
          </a:prstGeom>
          <a:noFill/>
          <a:ln/>
        </p:spPr>
        <p:txBody>
          <a:bodyPr wrap="square" lIns="0" tIns="0" rIns="0" bIns="0" rtlCol="0" anchor="ctr"/>
          <a:lstStyle/>
          <a:p>
            <a:pPr marL="0" indent="0">
              <a:buNone/>
            </a:pPr>
            <a:r>
              <a:rPr lang="en-US" sz="900" b="1" dirty="0">
                <a:solidFill>
                  <a:srgbClr val="06D6A0"/>
                </a:solidFill>
                <a:latin typeface="Trebuchet MS" pitchFamily="34" charset="0"/>
                <a:ea typeface="Trebuchet MS" pitchFamily="34" charset="-122"/>
                <a:cs typeface="Trebuchet MS" pitchFamily="34" charset="-120"/>
              </a:rPr>
              <a:t>Note all network connections</a:t>
            </a:r>
            <a:endParaRPr lang="en-US" sz="900" dirty="0"/>
          </a:p>
        </p:txBody>
      </p:sp>
      <p:sp>
        <p:nvSpPr>
          <p:cNvPr id="30" name="Text 28"/>
          <p:cNvSpPr/>
          <p:nvPr/>
        </p:nvSpPr>
        <p:spPr>
          <a:xfrm>
            <a:off x="475488" y="3310128"/>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Record active IP connections, Wi-Fi SSIDs, VPN state. These disappear on shutdown and cannot be recovered from disk.</a:t>
            </a:r>
            <a:endParaRPr lang="en-US" sz="750" dirty="0"/>
          </a:p>
        </p:txBody>
      </p:sp>
      <p:sp>
        <p:nvSpPr>
          <p:cNvPr id="31" name="Shape 29"/>
          <p:cNvSpPr/>
          <p:nvPr/>
        </p:nvSpPr>
        <p:spPr>
          <a:xfrm>
            <a:off x="2263140" y="3639312"/>
            <a:ext cx="45720" cy="73152"/>
          </a:xfrm>
          <a:prstGeom prst="rect">
            <a:avLst/>
          </a:prstGeom>
          <a:solidFill>
            <a:srgbClr val="06D6A0">
              <a:alpha val="80000"/>
            </a:srgbClr>
          </a:solidFill>
          <a:ln w="12700">
            <a:solidFill>
              <a:srgbClr val="06D6A0">
                <a:alpha val="80000"/>
              </a:srgbClr>
            </a:solidFill>
            <a:prstDash val="solid"/>
          </a:ln>
        </p:spPr>
        <p:txBody>
          <a:bodyPr/>
          <a:lstStyle/>
          <a:p>
            <a:endParaRPr lang="en-SG"/>
          </a:p>
        </p:txBody>
      </p:sp>
      <p:sp>
        <p:nvSpPr>
          <p:cNvPr id="32" name="Shape 30"/>
          <p:cNvSpPr/>
          <p:nvPr/>
        </p:nvSpPr>
        <p:spPr>
          <a:xfrm>
            <a:off x="109728" y="3712464"/>
            <a:ext cx="4352544" cy="548640"/>
          </a:xfrm>
          <a:prstGeom prst="roundRect">
            <a:avLst>
              <a:gd name="adj" fmla="val 8333"/>
            </a:avLst>
          </a:prstGeom>
          <a:solidFill>
            <a:srgbClr val="EEF6FB"/>
          </a:solidFill>
          <a:ln w="12700">
            <a:solidFill>
              <a:srgbClr val="06D6A0"/>
            </a:solidFill>
            <a:prstDash val="solid"/>
          </a:ln>
        </p:spPr>
        <p:txBody>
          <a:bodyPr/>
          <a:lstStyle/>
          <a:p>
            <a:endParaRPr lang="en-SG"/>
          </a:p>
        </p:txBody>
      </p:sp>
      <p:sp>
        <p:nvSpPr>
          <p:cNvPr id="33" name="Shape 31"/>
          <p:cNvSpPr/>
          <p:nvPr/>
        </p:nvSpPr>
        <p:spPr>
          <a:xfrm>
            <a:off x="164592" y="3758184"/>
            <a:ext cx="256032" cy="256032"/>
          </a:xfrm>
          <a:prstGeom prst="ellipse">
            <a:avLst/>
          </a:prstGeom>
          <a:solidFill>
            <a:srgbClr val="06D6A0"/>
          </a:solidFill>
          <a:ln w="12700">
            <a:solidFill>
              <a:srgbClr val="06D6A0"/>
            </a:solidFill>
            <a:prstDash val="solid"/>
          </a:ln>
        </p:spPr>
        <p:txBody>
          <a:bodyPr/>
          <a:lstStyle/>
          <a:p>
            <a:endParaRPr lang="en-SG"/>
          </a:p>
        </p:txBody>
      </p:sp>
      <p:sp>
        <p:nvSpPr>
          <p:cNvPr id="34" name="Text 32"/>
          <p:cNvSpPr/>
          <p:nvPr/>
        </p:nvSpPr>
        <p:spPr>
          <a:xfrm>
            <a:off x="164592" y="3776472"/>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5</a:t>
            </a:r>
            <a:endParaRPr lang="en-US" sz="750" dirty="0"/>
          </a:p>
        </p:txBody>
      </p:sp>
      <p:sp>
        <p:nvSpPr>
          <p:cNvPr id="35" name="Text 33"/>
          <p:cNvSpPr/>
          <p:nvPr/>
        </p:nvSpPr>
        <p:spPr>
          <a:xfrm>
            <a:off x="475488" y="3749040"/>
            <a:ext cx="3913632" cy="182880"/>
          </a:xfrm>
          <a:prstGeom prst="rect">
            <a:avLst/>
          </a:prstGeom>
          <a:noFill/>
          <a:ln/>
        </p:spPr>
        <p:txBody>
          <a:bodyPr wrap="square" lIns="0" tIns="0" rIns="0" bIns="0" rtlCol="0" anchor="ctr"/>
          <a:lstStyle/>
          <a:p>
            <a:pPr marL="0" indent="0">
              <a:buNone/>
            </a:pPr>
            <a:r>
              <a:rPr lang="en-US" sz="900" b="1" dirty="0">
                <a:solidFill>
                  <a:srgbClr val="06D6A0"/>
                </a:solidFill>
                <a:latin typeface="Trebuchet MS" pitchFamily="34" charset="0"/>
                <a:ea typeface="Trebuchet MS" pitchFamily="34" charset="-122"/>
                <a:cs typeface="Trebuchet MS" pitchFamily="34" charset="-120"/>
              </a:rPr>
              <a:t>Disconnect network — carefully</a:t>
            </a:r>
            <a:endParaRPr lang="en-US" sz="900" dirty="0"/>
          </a:p>
        </p:txBody>
      </p:sp>
      <p:sp>
        <p:nvSpPr>
          <p:cNvPr id="36" name="Text 34"/>
          <p:cNvSpPr/>
          <p:nvPr/>
        </p:nvSpPr>
        <p:spPr>
          <a:xfrm>
            <a:off x="475488" y="3931920"/>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Unplug Ethernet OR place in Faraday cage. Do NOT use OS network settings — commands alter timestamps and logs.</a:t>
            </a:r>
            <a:endParaRPr lang="en-US" sz="750" dirty="0"/>
          </a:p>
        </p:txBody>
      </p:sp>
      <p:sp>
        <p:nvSpPr>
          <p:cNvPr id="37" name="Shape 35"/>
          <p:cNvSpPr/>
          <p:nvPr/>
        </p:nvSpPr>
        <p:spPr>
          <a:xfrm>
            <a:off x="2263140" y="4261104"/>
            <a:ext cx="45720" cy="73152"/>
          </a:xfrm>
          <a:prstGeom prst="rect">
            <a:avLst/>
          </a:prstGeom>
          <a:solidFill>
            <a:srgbClr val="06D6A0">
              <a:alpha val="80000"/>
            </a:srgbClr>
          </a:solidFill>
          <a:ln w="12700">
            <a:solidFill>
              <a:srgbClr val="06D6A0">
                <a:alpha val="80000"/>
              </a:srgbClr>
            </a:solidFill>
            <a:prstDash val="solid"/>
          </a:ln>
        </p:spPr>
        <p:txBody>
          <a:bodyPr/>
          <a:lstStyle/>
          <a:p>
            <a:endParaRPr lang="en-SG"/>
          </a:p>
        </p:txBody>
      </p:sp>
      <p:sp>
        <p:nvSpPr>
          <p:cNvPr id="38" name="Shape 36"/>
          <p:cNvSpPr/>
          <p:nvPr/>
        </p:nvSpPr>
        <p:spPr>
          <a:xfrm>
            <a:off x="109728" y="4334256"/>
            <a:ext cx="4352544" cy="548640"/>
          </a:xfrm>
          <a:prstGeom prst="roundRect">
            <a:avLst>
              <a:gd name="adj" fmla="val 8333"/>
            </a:avLst>
          </a:prstGeom>
          <a:solidFill>
            <a:srgbClr val="EEF6FB"/>
          </a:solidFill>
          <a:ln w="12700">
            <a:solidFill>
              <a:srgbClr val="06D6A0"/>
            </a:solidFill>
            <a:prstDash val="solid"/>
          </a:ln>
        </p:spPr>
        <p:txBody>
          <a:bodyPr/>
          <a:lstStyle/>
          <a:p>
            <a:endParaRPr lang="en-SG"/>
          </a:p>
        </p:txBody>
      </p:sp>
      <p:sp>
        <p:nvSpPr>
          <p:cNvPr id="39" name="Shape 37"/>
          <p:cNvSpPr/>
          <p:nvPr/>
        </p:nvSpPr>
        <p:spPr>
          <a:xfrm>
            <a:off x="164592" y="4379976"/>
            <a:ext cx="256032" cy="256032"/>
          </a:xfrm>
          <a:prstGeom prst="ellipse">
            <a:avLst/>
          </a:prstGeom>
          <a:solidFill>
            <a:srgbClr val="06D6A0"/>
          </a:solidFill>
          <a:ln w="12700">
            <a:solidFill>
              <a:srgbClr val="06D6A0"/>
            </a:solidFill>
            <a:prstDash val="solid"/>
          </a:ln>
        </p:spPr>
        <p:txBody>
          <a:bodyPr/>
          <a:lstStyle/>
          <a:p>
            <a:endParaRPr lang="en-SG"/>
          </a:p>
        </p:txBody>
      </p:sp>
      <p:sp>
        <p:nvSpPr>
          <p:cNvPr id="40" name="Text 38"/>
          <p:cNvSpPr/>
          <p:nvPr/>
        </p:nvSpPr>
        <p:spPr>
          <a:xfrm>
            <a:off x="164592" y="4398264"/>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6</a:t>
            </a:r>
            <a:endParaRPr lang="en-US" sz="750" dirty="0"/>
          </a:p>
        </p:txBody>
      </p:sp>
      <p:sp>
        <p:nvSpPr>
          <p:cNvPr id="41" name="Text 39"/>
          <p:cNvSpPr/>
          <p:nvPr/>
        </p:nvSpPr>
        <p:spPr>
          <a:xfrm>
            <a:off x="475488" y="4370832"/>
            <a:ext cx="3913632" cy="182880"/>
          </a:xfrm>
          <a:prstGeom prst="rect">
            <a:avLst/>
          </a:prstGeom>
          <a:noFill/>
          <a:ln/>
        </p:spPr>
        <p:txBody>
          <a:bodyPr wrap="square" lIns="0" tIns="0" rIns="0" bIns="0" rtlCol="0" anchor="ctr"/>
          <a:lstStyle/>
          <a:p>
            <a:pPr marL="0" indent="0">
              <a:buNone/>
            </a:pPr>
            <a:r>
              <a:rPr lang="en-US" sz="900" b="1" dirty="0">
                <a:solidFill>
                  <a:srgbClr val="06D6A0"/>
                </a:solidFill>
                <a:latin typeface="Trebuchet MS" pitchFamily="34" charset="0"/>
                <a:ea typeface="Trebuchet MS" pitchFamily="34" charset="-122"/>
                <a:cs typeface="Trebuchet MS" pitchFamily="34" charset="-120"/>
              </a:rPr>
              <a:t>Initiate controlled shutdown</a:t>
            </a:r>
            <a:endParaRPr lang="en-US" sz="900" dirty="0"/>
          </a:p>
        </p:txBody>
      </p:sp>
      <p:sp>
        <p:nvSpPr>
          <p:cNvPr id="42" name="Text 40"/>
          <p:cNvSpPr/>
          <p:nvPr/>
        </p:nvSpPr>
        <p:spPr>
          <a:xfrm>
            <a:off x="475488" y="4553712"/>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After volatile capture is complete, use a controlled shutdown (Start &gt; Shut Down) to flush buffers cleanly. Document exact time.</a:t>
            </a:r>
            <a:endParaRPr lang="en-US" sz="750" dirty="0"/>
          </a:p>
        </p:txBody>
      </p:sp>
      <p:sp>
        <p:nvSpPr>
          <p:cNvPr id="49" name="Shape 47"/>
          <p:cNvSpPr/>
          <p:nvPr/>
        </p:nvSpPr>
        <p:spPr>
          <a:xfrm>
            <a:off x="4663440" y="841248"/>
            <a:ext cx="4352544" cy="347472"/>
          </a:xfrm>
          <a:prstGeom prst="rect">
            <a:avLst/>
          </a:prstGeom>
          <a:solidFill>
            <a:srgbClr val="00B4D8"/>
          </a:solidFill>
          <a:ln w="12700">
            <a:solidFill>
              <a:srgbClr val="00B4D8"/>
            </a:solidFill>
            <a:prstDash val="solid"/>
          </a:ln>
        </p:spPr>
        <p:txBody>
          <a:bodyPr/>
          <a:lstStyle/>
          <a:p>
            <a:endParaRPr lang="en-SG"/>
          </a:p>
        </p:txBody>
      </p:sp>
      <p:sp>
        <p:nvSpPr>
          <p:cNvPr id="50" name="Text 48"/>
          <p:cNvSpPr/>
          <p:nvPr/>
        </p:nvSpPr>
        <p:spPr>
          <a:xfrm>
            <a:off x="4773168" y="886968"/>
            <a:ext cx="4169664" cy="237744"/>
          </a:xfrm>
          <a:prstGeom prst="rect">
            <a:avLst/>
          </a:prstGeom>
          <a:noFill/>
          <a:ln/>
        </p:spPr>
        <p:txBody>
          <a:bodyPr wrap="square" lIns="0" tIns="0" rIns="0" bIns="0" rtlCol="0" anchor="ctr"/>
          <a:lstStyle/>
          <a:p>
            <a:pPr marL="0" indent="0">
              <a:buNone/>
            </a:pPr>
            <a:r>
              <a:rPr lang="en-US" sz="1200" b="1" dirty="0">
                <a:solidFill>
                  <a:srgbClr val="000000"/>
                </a:solidFill>
                <a:latin typeface="Trebuchet MS" pitchFamily="34" charset="0"/>
                <a:ea typeface="Trebuchet MS" pitchFamily="34" charset="-122"/>
                <a:cs typeface="Trebuchet MS" pitchFamily="34" charset="-120"/>
              </a:rPr>
              <a:t>💻  COMPUTER — POWERED OFF</a:t>
            </a:r>
            <a:endParaRPr lang="en-US" sz="1200" dirty="0"/>
          </a:p>
        </p:txBody>
      </p:sp>
      <p:sp>
        <p:nvSpPr>
          <p:cNvPr id="51" name="Shape 49"/>
          <p:cNvSpPr/>
          <p:nvPr/>
        </p:nvSpPr>
        <p:spPr>
          <a:xfrm>
            <a:off x="4663440" y="1225296"/>
            <a:ext cx="4352544" cy="548640"/>
          </a:xfrm>
          <a:prstGeom prst="roundRect">
            <a:avLst>
              <a:gd name="adj" fmla="val 8333"/>
            </a:avLst>
          </a:prstGeom>
          <a:solidFill>
            <a:srgbClr val="00B4D8"/>
          </a:solidFill>
          <a:ln w="12700">
            <a:solidFill>
              <a:srgbClr val="00B4D8"/>
            </a:solidFill>
            <a:prstDash val="solid"/>
          </a:ln>
        </p:spPr>
        <p:txBody>
          <a:bodyPr/>
          <a:lstStyle/>
          <a:p>
            <a:endParaRPr lang="en-SG"/>
          </a:p>
        </p:txBody>
      </p:sp>
      <p:sp>
        <p:nvSpPr>
          <p:cNvPr id="52" name="Shape 50"/>
          <p:cNvSpPr/>
          <p:nvPr/>
        </p:nvSpPr>
        <p:spPr>
          <a:xfrm>
            <a:off x="4718304" y="1271016"/>
            <a:ext cx="256032" cy="256032"/>
          </a:xfrm>
          <a:prstGeom prst="ellipse">
            <a:avLst/>
          </a:prstGeom>
          <a:solidFill>
            <a:srgbClr val="FFFFFF"/>
          </a:solidFill>
          <a:ln w="12700">
            <a:solidFill>
              <a:srgbClr val="FFFFFF"/>
            </a:solidFill>
            <a:prstDash val="solid"/>
          </a:ln>
        </p:spPr>
        <p:txBody>
          <a:bodyPr/>
          <a:lstStyle/>
          <a:p>
            <a:endParaRPr lang="en-SG"/>
          </a:p>
        </p:txBody>
      </p:sp>
      <p:sp>
        <p:nvSpPr>
          <p:cNvPr id="53" name="Text 51"/>
          <p:cNvSpPr/>
          <p:nvPr/>
        </p:nvSpPr>
        <p:spPr>
          <a:xfrm>
            <a:off x="4718304" y="1289304"/>
            <a:ext cx="256032" cy="182880"/>
          </a:xfrm>
          <a:prstGeom prst="rect">
            <a:avLst/>
          </a:prstGeom>
          <a:noFill/>
          <a:ln/>
        </p:spPr>
        <p:txBody>
          <a:bodyPr wrap="square" lIns="0" tIns="0" rIns="0" bIns="0" rtlCol="0" anchor="ctr"/>
          <a:lstStyle/>
          <a:p>
            <a:pPr marL="0" indent="0" algn="ctr">
              <a:buNone/>
            </a:pPr>
            <a:r>
              <a:rPr lang="en-US" sz="750" b="1" dirty="0">
                <a:solidFill>
                  <a:srgbClr val="00B4D8"/>
                </a:solidFill>
                <a:latin typeface="Trebuchet MS" pitchFamily="34" charset="0"/>
                <a:ea typeface="Trebuchet MS" pitchFamily="34" charset="-122"/>
                <a:cs typeface="Trebuchet MS" pitchFamily="34" charset="-120"/>
              </a:rPr>
              <a:t>1</a:t>
            </a:r>
            <a:endParaRPr lang="en-US" sz="750" dirty="0"/>
          </a:p>
        </p:txBody>
      </p:sp>
      <p:sp>
        <p:nvSpPr>
          <p:cNvPr id="54" name="Text 52"/>
          <p:cNvSpPr/>
          <p:nvPr/>
        </p:nvSpPr>
        <p:spPr>
          <a:xfrm>
            <a:off x="5029200" y="1261872"/>
            <a:ext cx="3913632" cy="182880"/>
          </a:xfrm>
          <a:prstGeom prst="rect">
            <a:avLst/>
          </a:prstGeom>
          <a:noFill/>
          <a:ln/>
        </p:spPr>
        <p:txBody>
          <a:bodyPr wrap="square" lIns="0" tIns="0" rIns="0" bIns="0" rtlCol="0" anchor="ctr"/>
          <a:lstStyle/>
          <a:p>
            <a:pPr marL="0" indent="0">
              <a:buNone/>
            </a:pPr>
            <a:r>
              <a:rPr lang="en-US" sz="900" b="1" dirty="0">
                <a:solidFill>
                  <a:srgbClr val="000000"/>
                </a:solidFill>
                <a:latin typeface="Trebuchet MS" pitchFamily="34" charset="0"/>
                <a:ea typeface="Trebuchet MS" pitchFamily="34" charset="-122"/>
                <a:cs typeface="Trebuchet MS" pitchFamily="34" charset="-120"/>
              </a:rPr>
              <a:t>Do NOT power on</a:t>
            </a:r>
            <a:endParaRPr lang="en-US" sz="900" dirty="0"/>
          </a:p>
        </p:txBody>
      </p:sp>
      <p:sp>
        <p:nvSpPr>
          <p:cNvPr id="55" name="Text 53"/>
          <p:cNvSpPr/>
          <p:nvPr/>
        </p:nvSpPr>
        <p:spPr>
          <a:xfrm>
            <a:off x="5029200" y="1444752"/>
            <a:ext cx="3913632" cy="292608"/>
          </a:xfrm>
          <a:prstGeom prst="rect">
            <a:avLst/>
          </a:prstGeom>
          <a:noFill/>
          <a:ln/>
        </p:spPr>
        <p:txBody>
          <a:bodyPr wrap="square" rtlCol="0" anchor="ctr"/>
          <a:lstStyle/>
          <a:p>
            <a:pPr marL="0" indent="0">
              <a:buNone/>
            </a:pPr>
            <a:r>
              <a:rPr lang="en-US" sz="750" dirty="0">
                <a:solidFill>
                  <a:srgbClr val="000000"/>
                </a:solidFill>
                <a:latin typeface="Calibri" pitchFamily="34" charset="0"/>
                <a:ea typeface="Calibri" pitchFamily="34" charset="-122"/>
                <a:cs typeface="Calibri" pitchFamily="34" charset="-120"/>
              </a:rPr>
              <a:t>Powering on a device runs the OS — writing swap files, boot logs, and artefacts to disk. This contaminates the evidence.</a:t>
            </a:r>
            <a:endParaRPr lang="en-US" sz="750" dirty="0"/>
          </a:p>
        </p:txBody>
      </p:sp>
      <p:sp>
        <p:nvSpPr>
          <p:cNvPr id="56" name="Shape 54"/>
          <p:cNvSpPr/>
          <p:nvPr/>
        </p:nvSpPr>
        <p:spPr>
          <a:xfrm>
            <a:off x="6816852" y="1773936"/>
            <a:ext cx="45720" cy="73152"/>
          </a:xfrm>
          <a:prstGeom prst="rect">
            <a:avLst/>
          </a:prstGeom>
          <a:solidFill>
            <a:srgbClr val="00B4D8">
              <a:alpha val="80000"/>
            </a:srgbClr>
          </a:solidFill>
          <a:ln w="12700">
            <a:solidFill>
              <a:srgbClr val="00B4D8">
                <a:alpha val="80000"/>
              </a:srgbClr>
            </a:solidFill>
            <a:prstDash val="solid"/>
          </a:ln>
        </p:spPr>
        <p:txBody>
          <a:bodyPr/>
          <a:lstStyle/>
          <a:p>
            <a:endParaRPr lang="en-SG"/>
          </a:p>
        </p:txBody>
      </p:sp>
      <p:sp>
        <p:nvSpPr>
          <p:cNvPr id="57" name="Shape 55"/>
          <p:cNvSpPr/>
          <p:nvPr/>
        </p:nvSpPr>
        <p:spPr>
          <a:xfrm>
            <a:off x="4663440" y="1847088"/>
            <a:ext cx="4352544" cy="548640"/>
          </a:xfrm>
          <a:prstGeom prst="roundRect">
            <a:avLst>
              <a:gd name="adj" fmla="val 8333"/>
            </a:avLst>
          </a:prstGeom>
          <a:solidFill>
            <a:srgbClr val="EEF6FB"/>
          </a:solidFill>
          <a:ln w="12700">
            <a:solidFill>
              <a:srgbClr val="00B4D8"/>
            </a:solidFill>
            <a:prstDash val="solid"/>
          </a:ln>
        </p:spPr>
        <p:txBody>
          <a:bodyPr/>
          <a:lstStyle/>
          <a:p>
            <a:endParaRPr lang="en-SG"/>
          </a:p>
        </p:txBody>
      </p:sp>
      <p:sp>
        <p:nvSpPr>
          <p:cNvPr id="58" name="Shape 56"/>
          <p:cNvSpPr/>
          <p:nvPr/>
        </p:nvSpPr>
        <p:spPr>
          <a:xfrm>
            <a:off x="4718304" y="1892808"/>
            <a:ext cx="256032" cy="256032"/>
          </a:xfrm>
          <a:prstGeom prst="ellipse">
            <a:avLst/>
          </a:prstGeom>
          <a:solidFill>
            <a:srgbClr val="00B4D8"/>
          </a:solidFill>
          <a:ln w="12700">
            <a:solidFill>
              <a:srgbClr val="00B4D8"/>
            </a:solidFill>
            <a:prstDash val="solid"/>
          </a:ln>
        </p:spPr>
        <p:txBody>
          <a:bodyPr/>
          <a:lstStyle/>
          <a:p>
            <a:endParaRPr lang="en-SG"/>
          </a:p>
        </p:txBody>
      </p:sp>
      <p:sp>
        <p:nvSpPr>
          <p:cNvPr id="59" name="Text 57"/>
          <p:cNvSpPr/>
          <p:nvPr/>
        </p:nvSpPr>
        <p:spPr>
          <a:xfrm>
            <a:off x="4718304" y="1911096"/>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2</a:t>
            </a:r>
            <a:endParaRPr lang="en-US" sz="750" dirty="0"/>
          </a:p>
        </p:txBody>
      </p:sp>
      <p:sp>
        <p:nvSpPr>
          <p:cNvPr id="60" name="Text 58"/>
          <p:cNvSpPr/>
          <p:nvPr/>
        </p:nvSpPr>
        <p:spPr>
          <a:xfrm>
            <a:off x="5029200" y="1883664"/>
            <a:ext cx="3913632" cy="182880"/>
          </a:xfrm>
          <a:prstGeom prst="rect">
            <a:avLst/>
          </a:prstGeom>
          <a:noFill/>
          <a:ln/>
        </p:spPr>
        <p:txBody>
          <a:bodyPr wrap="square" lIns="0" tIns="0" rIns="0" bIns="0" rtlCol="0" anchor="ctr"/>
          <a:lstStyle/>
          <a:p>
            <a:pPr marL="0" indent="0">
              <a:buNone/>
            </a:pPr>
            <a:r>
              <a:rPr lang="en-US" sz="900" b="1" dirty="0">
                <a:solidFill>
                  <a:srgbClr val="00B4D8"/>
                </a:solidFill>
                <a:latin typeface="Trebuchet MS" pitchFamily="34" charset="0"/>
                <a:ea typeface="Trebuchet MS" pitchFamily="34" charset="-122"/>
                <a:cs typeface="Trebuchet MS" pitchFamily="34" charset="-120"/>
              </a:rPr>
              <a:t>Photograph the device</a:t>
            </a:r>
            <a:endParaRPr lang="en-US" sz="900" dirty="0"/>
          </a:p>
        </p:txBody>
      </p:sp>
      <p:sp>
        <p:nvSpPr>
          <p:cNvPr id="61" name="Text 59"/>
          <p:cNvSpPr/>
          <p:nvPr/>
        </p:nvSpPr>
        <p:spPr>
          <a:xfrm>
            <a:off x="5029200" y="2066544"/>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Capture front, back, ports, connected cables, any visible labels. Note model, serial number, and physical condition.</a:t>
            </a:r>
            <a:endParaRPr lang="en-US" sz="750" dirty="0"/>
          </a:p>
        </p:txBody>
      </p:sp>
      <p:sp>
        <p:nvSpPr>
          <p:cNvPr id="62" name="Shape 60"/>
          <p:cNvSpPr/>
          <p:nvPr/>
        </p:nvSpPr>
        <p:spPr>
          <a:xfrm>
            <a:off x="6816852" y="2395728"/>
            <a:ext cx="45720" cy="73152"/>
          </a:xfrm>
          <a:prstGeom prst="rect">
            <a:avLst/>
          </a:prstGeom>
          <a:solidFill>
            <a:srgbClr val="00B4D8">
              <a:alpha val="80000"/>
            </a:srgbClr>
          </a:solidFill>
          <a:ln w="12700">
            <a:solidFill>
              <a:srgbClr val="00B4D8">
                <a:alpha val="80000"/>
              </a:srgbClr>
            </a:solidFill>
            <a:prstDash val="solid"/>
          </a:ln>
        </p:spPr>
        <p:txBody>
          <a:bodyPr/>
          <a:lstStyle/>
          <a:p>
            <a:endParaRPr lang="en-SG"/>
          </a:p>
        </p:txBody>
      </p:sp>
      <p:sp>
        <p:nvSpPr>
          <p:cNvPr id="63" name="Shape 61"/>
          <p:cNvSpPr/>
          <p:nvPr/>
        </p:nvSpPr>
        <p:spPr>
          <a:xfrm>
            <a:off x="4663440" y="2468880"/>
            <a:ext cx="4352544" cy="548640"/>
          </a:xfrm>
          <a:prstGeom prst="roundRect">
            <a:avLst>
              <a:gd name="adj" fmla="val 8333"/>
            </a:avLst>
          </a:prstGeom>
          <a:solidFill>
            <a:srgbClr val="EEF6FB"/>
          </a:solidFill>
          <a:ln w="12700">
            <a:solidFill>
              <a:srgbClr val="00B4D8"/>
            </a:solidFill>
            <a:prstDash val="solid"/>
          </a:ln>
        </p:spPr>
        <p:txBody>
          <a:bodyPr/>
          <a:lstStyle/>
          <a:p>
            <a:endParaRPr lang="en-SG"/>
          </a:p>
        </p:txBody>
      </p:sp>
      <p:sp>
        <p:nvSpPr>
          <p:cNvPr id="64" name="Shape 62"/>
          <p:cNvSpPr/>
          <p:nvPr/>
        </p:nvSpPr>
        <p:spPr>
          <a:xfrm>
            <a:off x="4718304" y="2514600"/>
            <a:ext cx="256032" cy="256032"/>
          </a:xfrm>
          <a:prstGeom prst="ellipse">
            <a:avLst/>
          </a:prstGeom>
          <a:solidFill>
            <a:srgbClr val="00B4D8"/>
          </a:solidFill>
          <a:ln w="12700">
            <a:solidFill>
              <a:srgbClr val="00B4D8"/>
            </a:solidFill>
            <a:prstDash val="solid"/>
          </a:ln>
        </p:spPr>
        <p:txBody>
          <a:bodyPr/>
          <a:lstStyle/>
          <a:p>
            <a:endParaRPr lang="en-SG"/>
          </a:p>
        </p:txBody>
      </p:sp>
      <p:sp>
        <p:nvSpPr>
          <p:cNvPr id="65" name="Text 63"/>
          <p:cNvSpPr/>
          <p:nvPr/>
        </p:nvSpPr>
        <p:spPr>
          <a:xfrm>
            <a:off x="4718304" y="2532888"/>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3</a:t>
            </a:r>
            <a:endParaRPr lang="en-US" sz="750" dirty="0"/>
          </a:p>
        </p:txBody>
      </p:sp>
      <p:sp>
        <p:nvSpPr>
          <p:cNvPr id="66" name="Text 64"/>
          <p:cNvSpPr/>
          <p:nvPr/>
        </p:nvSpPr>
        <p:spPr>
          <a:xfrm>
            <a:off x="5029200" y="2505456"/>
            <a:ext cx="3913632" cy="182880"/>
          </a:xfrm>
          <a:prstGeom prst="rect">
            <a:avLst/>
          </a:prstGeom>
          <a:noFill/>
          <a:ln/>
        </p:spPr>
        <p:txBody>
          <a:bodyPr wrap="square" lIns="0" tIns="0" rIns="0" bIns="0" rtlCol="0" anchor="ctr"/>
          <a:lstStyle/>
          <a:p>
            <a:pPr marL="0" indent="0">
              <a:buNone/>
            </a:pPr>
            <a:r>
              <a:rPr lang="en-US" sz="900" b="1" dirty="0">
                <a:solidFill>
                  <a:srgbClr val="00B4D8"/>
                </a:solidFill>
                <a:latin typeface="Trebuchet MS" pitchFamily="34" charset="0"/>
                <a:ea typeface="Trebuchet MS" pitchFamily="34" charset="-122"/>
                <a:cs typeface="Trebuchet MS" pitchFamily="34" charset="-120"/>
              </a:rPr>
              <a:t>Remove power source</a:t>
            </a:r>
            <a:endParaRPr lang="en-US" sz="900" dirty="0"/>
          </a:p>
        </p:txBody>
      </p:sp>
      <p:sp>
        <p:nvSpPr>
          <p:cNvPr id="67" name="Text 65"/>
          <p:cNvSpPr/>
          <p:nvPr/>
        </p:nvSpPr>
        <p:spPr>
          <a:xfrm>
            <a:off x="5029200" y="2688336"/>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Unplug mains power. If laptop, remove the battery if accessible — prevents accidental boot and any remote wipe attempts.</a:t>
            </a:r>
            <a:endParaRPr lang="en-US" sz="750" dirty="0"/>
          </a:p>
        </p:txBody>
      </p:sp>
      <p:sp>
        <p:nvSpPr>
          <p:cNvPr id="68" name="Shape 66"/>
          <p:cNvSpPr/>
          <p:nvPr/>
        </p:nvSpPr>
        <p:spPr>
          <a:xfrm>
            <a:off x="6816852" y="3017520"/>
            <a:ext cx="45720" cy="73152"/>
          </a:xfrm>
          <a:prstGeom prst="rect">
            <a:avLst/>
          </a:prstGeom>
          <a:solidFill>
            <a:srgbClr val="00B4D8">
              <a:alpha val="80000"/>
            </a:srgbClr>
          </a:solidFill>
          <a:ln w="12700">
            <a:solidFill>
              <a:srgbClr val="00B4D8">
                <a:alpha val="80000"/>
              </a:srgbClr>
            </a:solidFill>
            <a:prstDash val="solid"/>
          </a:ln>
        </p:spPr>
        <p:txBody>
          <a:bodyPr/>
          <a:lstStyle/>
          <a:p>
            <a:endParaRPr lang="en-SG"/>
          </a:p>
        </p:txBody>
      </p:sp>
      <p:sp>
        <p:nvSpPr>
          <p:cNvPr id="69" name="Shape 67"/>
          <p:cNvSpPr/>
          <p:nvPr/>
        </p:nvSpPr>
        <p:spPr>
          <a:xfrm>
            <a:off x="4663440" y="3090672"/>
            <a:ext cx="4352544" cy="548640"/>
          </a:xfrm>
          <a:prstGeom prst="roundRect">
            <a:avLst>
              <a:gd name="adj" fmla="val 8333"/>
            </a:avLst>
          </a:prstGeom>
          <a:solidFill>
            <a:srgbClr val="EEF6FB"/>
          </a:solidFill>
          <a:ln w="12700">
            <a:solidFill>
              <a:srgbClr val="00B4D8"/>
            </a:solidFill>
            <a:prstDash val="solid"/>
          </a:ln>
        </p:spPr>
        <p:txBody>
          <a:bodyPr/>
          <a:lstStyle/>
          <a:p>
            <a:endParaRPr lang="en-SG"/>
          </a:p>
        </p:txBody>
      </p:sp>
      <p:sp>
        <p:nvSpPr>
          <p:cNvPr id="70" name="Shape 68"/>
          <p:cNvSpPr/>
          <p:nvPr/>
        </p:nvSpPr>
        <p:spPr>
          <a:xfrm>
            <a:off x="4718304" y="3136392"/>
            <a:ext cx="256032" cy="256032"/>
          </a:xfrm>
          <a:prstGeom prst="ellipse">
            <a:avLst/>
          </a:prstGeom>
          <a:solidFill>
            <a:srgbClr val="00B4D8"/>
          </a:solidFill>
          <a:ln w="12700">
            <a:solidFill>
              <a:srgbClr val="00B4D8"/>
            </a:solidFill>
            <a:prstDash val="solid"/>
          </a:ln>
        </p:spPr>
        <p:txBody>
          <a:bodyPr/>
          <a:lstStyle/>
          <a:p>
            <a:endParaRPr lang="en-SG"/>
          </a:p>
        </p:txBody>
      </p:sp>
      <p:sp>
        <p:nvSpPr>
          <p:cNvPr id="71" name="Text 69"/>
          <p:cNvSpPr/>
          <p:nvPr/>
        </p:nvSpPr>
        <p:spPr>
          <a:xfrm>
            <a:off x="4718304" y="3154680"/>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4</a:t>
            </a:r>
            <a:endParaRPr lang="en-US" sz="750" dirty="0"/>
          </a:p>
        </p:txBody>
      </p:sp>
      <p:sp>
        <p:nvSpPr>
          <p:cNvPr id="72" name="Text 70"/>
          <p:cNvSpPr/>
          <p:nvPr/>
        </p:nvSpPr>
        <p:spPr>
          <a:xfrm>
            <a:off x="5029200" y="3127248"/>
            <a:ext cx="3913632" cy="182880"/>
          </a:xfrm>
          <a:prstGeom prst="rect">
            <a:avLst/>
          </a:prstGeom>
          <a:noFill/>
          <a:ln/>
        </p:spPr>
        <p:txBody>
          <a:bodyPr wrap="square" lIns="0" tIns="0" rIns="0" bIns="0" rtlCol="0" anchor="ctr"/>
          <a:lstStyle/>
          <a:p>
            <a:pPr marL="0" indent="0">
              <a:buNone/>
            </a:pPr>
            <a:r>
              <a:rPr lang="en-US" sz="900" b="1" dirty="0">
                <a:solidFill>
                  <a:srgbClr val="00B4D8"/>
                </a:solidFill>
                <a:latin typeface="Trebuchet MS" pitchFamily="34" charset="0"/>
                <a:ea typeface="Trebuchet MS" pitchFamily="34" charset="-122"/>
                <a:cs typeface="Trebuchet MS" pitchFamily="34" charset="-120"/>
              </a:rPr>
              <a:t>Attach hardware write blocker</a:t>
            </a:r>
            <a:endParaRPr lang="en-US" sz="900" dirty="0"/>
          </a:p>
        </p:txBody>
      </p:sp>
      <p:sp>
        <p:nvSpPr>
          <p:cNvPr id="73" name="Text 71"/>
          <p:cNvSpPr/>
          <p:nvPr/>
        </p:nvSpPr>
        <p:spPr>
          <a:xfrm>
            <a:off x="5029200" y="3310128"/>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Connect the Tableau or equivalent hardware write blocker before any drive connection. Verify read-only mode with test write attempt.</a:t>
            </a:r>
            <a:endParaRPr lang="en-US" sz="750" dirty="0"/>
          </a:p>
        </p:txBody>
      </p:sp>
      <p:sp>
        <p:nvSpPr>
          <p:cNvPr id="74" name="Shape 72"/>
          <p:cNvSpPr/>
          <p:nvPr/>
        </p:nvSpPr>
        <p:spPr>
          <a:xfrm>
            <a:off x="6816852" y="3639312"/>
            <a:ext cx="45720" cy="73152"/>
          </a:xfrm>
          <a:prstGeom prst="rect">
            <a:avLst/>
          </a:prstGeom>
          <a:solidFill>
            <a:srgbClr val="00B4D8">
              <a:alpha val="80000"/>
            </a:srgbClr>
          </a:solidFill>
          <a:ln w="12700">
            <a:solidFill>
              <a:srgbClr val="00B4D8">
                <a:alpha val="80000"/>
              </a:srgbClr>
            </a:solidFill>
            <a:prstDash val="solid"/>
          </a:ln>
        </p:spPr>
        <p:txBody>
          <a:bodyPr/>
          <a:lstStyle/>
          <a:p>
            <a:endParaRPr lang="en-SG"/>
          </a:p>
        </p:txBody>
      </p:sp>
      <p:sp>
        <p:nvSpPr>
          <p:cNvPr id="75" name="Shape 73"/>
          <p:cNvSpPr/>
          <p:nvPr/>
        </p:nvSpPr>
        <p:spPr>
          <a:xfrm>
            <a:off x="4663440" y="3712464"/>
            <a:ext cx="4352544" cy="548640"/>
          </a:xfrm>
          <a:prstGeom prst="roundRect">
            <a:avLst>
              <a:gd name="adj" fmla="val 8333"/>
            </a:avLst>
          </a:prstGeom>
          <a:solidFill>
            <a:srgbClr val="EEF6FB"/>
          </a:solidFill>
          <a:ln w="12700">
            <a:solidFill>
              <a:srgbClr val="00B4D8"/>
            </a:solidFill>
            <a:prstDash val="solid"/>
          </a:ln>
        </p:spPr>
        <p:txBody>
          <a:bodyPr/>
          <a:lstStyle/>
          <a:p>
            <a:endParaRPr lang="en-SG"/>
          </a:p>
        </p:txBody>
      </p:sp>
      <p:sp>
        <p:nvSpPr>
          <p:cNvPr id="76" name="Shape 74"/>
          <p:cNvSpPr/>
          <p:nvPr/>
        </p:nvSpPr>
        <p:spPr>
          <a:xfrm>
            <a:off x="4718304" y="3758184"/>
            <a:ext cx="256032" cy="256032"/>
          </a:xfrm>
          <a:prstGeom prst="ellipse">
            <a:avLst/>
          </a:prstGeom>
          <a:solidFill>
            <a:srgbClr val="00B4D8"/>
          </a:solidFill>
          <a:ln w="12700">
            <a:solidFill>
              <a:srgbClr val="00B4D8"/>
            </a:solidFill>
            <a:prstDash val="solid"/>
          </a:ln>
        </p:spPr>
        <p:txBody>
          <a:bodyPr/>
          <a:lstStyle/>
          <a:p>
            <a:endParaRPr lang="en-SG"/>
          </a:p>
        </p:txBody>
      </p:sp>
      <p:sp>
        <p:nvSpPr>
          <p:cNvPr id="77" name="Text 75"/>
          <p:cNvSpPr/>
          <p:nvPr/>
        </p:nvSpPr>
        <p:spPr>
          <a:xfrm>
            <a:off x="4718304" y="3776472"/>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5</a:t>
            </a:r>
            <a:endParaRPr lang="en-US" sz="750" dirty="0"/>
          </a:p>
        </p:txBody>
      </p:sp>
      <p:sp>
        <p:nvSpPr>
          <p:cNvPr id="78" name="Text 76"/>
          <p:cNvSpPr/>
          <p:nvPr/>
        </p:nvSpPr>
        <p:spPr>
          <a:xfrm>
            <a:off x="5029200" y="3749040"/>
            <a:ext cx="3913632" cy="182880"/>
          </a:xfrm>
          <a:prstGeom prst="rect">
            <a:avLst/>
          </a:prstGeom>
          <a:noFill/>
          <a:ln/>
        </p:spPr>
        <p:txBody>
          <a:bodyPr wrap="square" lIns="0" tIns="0" rIns="0" bIns="0" rtlCol="0" anchor="ctr"/>
          <a:lstStyle/>
          <a:p>
            <a:pPr marL="0" indent="0">
              <a:buNone/>
            </a:pPr>
            <a:r>
              <a:rPr lang="en-US" sz="900" b="1" dirty="0">
                <a:solidFill>
                  <a:srgbClr val="00B4D8"/>
                </a:solidFill>
                <a:latin typeface="Trebuchet MS" pitchFamily="34" charset="0"/>
                <a:ea typeface="Trebuchet MS" pitchFamily="34" charset="-122"/>
                <a:cs typeface="Trebuchet MS" pitchFamily="34" charset="-120"/>
              </a:rPr>
              <a:t>Calculate source hash</a:t>
            </a:r>
            <a:endParaRPr lang="en-US" sz="900" dirty="0"/>
          </a:p>
        </p:txBody>
      </p:sp>
      <p:sp>
        <p:nvSpPr>
          <p:cNvPr id="79" name="Text 77"/>
          <p:cNvSpPr/>
          <p:nvPr/>
        </p:nvSpPr>
        <p:spPr>
          <a:xfrm>
            <a:off x="5029200" y="3931920"/>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Run MD5 and SHA-256 on the original drive through the write blocker. Record both hash values with timestamp in case notes.</a:t>
            </a:r>
            <a:endParaRPr lang="en-US" sz="750" dirty="0"/>
          </a:p>
        </p:txBody>
      </p:sp>
      <p:sp>
        <p:nvSpPr>
          <p:cNvPr id="80" name="Shape 78"/>
          <p:cNvSpPr/>
          <p:nvPr/>
        </p:nvSpPr>
        <p:spPr>
          <a:xfrm>
            <a:off x="6816852" y="4261104"/>
            <a:ext cx="45720" cy="73152"/>
          </a:xfrm>
          <a:prstGeom prst="rect">
            <a:avLst/>
          </a:prstGeom>
          <a:solidFill>
            <a:srgbClr val="00B4D8">
              <a:alpha val="80000"/>
            </a:srgbClr>
          </a:solidFill>
          <a:ln w="12700">
            <a:solidFill>
              <a:srgbClr val="00B4D8">
                <a:alpha val="80000"/>
              </a:srgbClr>
            </a:solidFill>
            <a:prstDash val="solid"/>
          </a:ln>
        </p:spPr>
        <p:txBody>
          <a:bodyPr/>
          <a:lstStyle/>
          <a:p>
            <a:endParaRPr lang="en-SG"/>
          </a:p>
        </p:txBody>
      </p:sp>
      <p:sp>
        <p:nvSpPr>
          <p:cNvPr id="81" name="Shape 79"/>
          <p:cNvSpPr/>
          <p:nvPr/>
        </p:nvSpPr>
        <p:spPr>
          <a:xfrm>
            <a:off x="4663440" y="4334256"/>
            <a:ext cx="4352544" cy="548640"/>
          </a:xfrm>
          <a:prstGeom prst="roundRect">
            <a:avLst>
              <a:gd name="adj" fmla="val 8333"/>
            </a:avLst>
          </a:prstGeom>
          <a:solidFill>
            <a:srgbClr val="EEF6FB"/>
          </a:solidFill>
          <a:ln w="12700">
            <a:solidFill>
              <a:srgbClr val="00B4D8"/>
            </a:solidFill>
            <a:prstDash val="solid"/>
          </a:ln>
        </p:spPr>
        <p:txBody>
          <a:bodyPr/>
          <a:lstStyle/>
          <a:p>
            <a:endParaRPr lang="en-SG"/>
          </a:p>
        </p:txBody>
      </p:sp>
      <p:sp>
        <p:nvSpPr>
          <p:cNvPr id="82" name="Shape 80"/>
          <p:cNvSpPr/>
          <p:nvPr/>
        </p:nvSpPr>
        <p:spPr>
          <a:xfrm>
            <a:off x="4718304" y="4379976"/>
            <a:ext cx="256032" cy="256032"/>
          </a:xfrm>
          <a:prstGeom prst="ellipse">
            <a:avLst/>
          </a:prstGeom>
          <a:solidFill>
            <a:srgbClr val="00B4D8"/>
          </a:solidFill>
          <a:ln w="12700">
            <a:solidFill>
              <a:srgbClr val="00B4D8"/>
            </a:solidFill>
            <a:prstDash val="solid"/>
          </a:ln>
        </p:spPr>
        <p:txBody>
          <a:bodyPr/>
          <a:lstStyle/>
          <a:p>
            <a:endParaRPr lang="en-SG"/>
          </a:p>
        </p:txBody>
      </p:sp>
      <p:sp>
        <p:nvSpPr>
          <p:cNvPr id="83" name="Text 81"/>
          <p:cNvSpPr/>
          <p:nvPr/>
        </p:nvSpPr>
        <p:spPr>
          <a:xfrm>
            <a:off x="4718304" y="4398264"/>
            <a:ext cx="256032" cy="182880"/>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6</a:t>
            </a:r>
            <a:endParaRPr lang="en-US" sz="750" dirty="0"/>
          </a:p>
        </p:txBody>
      </p:sp>
      <p:sp>
        <p:nvSpPr>
          <p:cNvPr id="84" name="Text 82"/>
          <p:cNvSpPr/>
          <p:nvPr/>
        </p:nvSpPr>
        <p:spPr>
          <a:xfrm>
            <a:off x="5029200" y="4370832"/>
            <a:ext cx="3913632" cy="182880"/>
          </a:xfrm>
          <a:prstGeom prst="rect">
            <a:avLst/>
          </a:prstGeom>
          <a:noFill/>
          <a:ln/>
        </p:spPr>
        <p:txBody>
          <a:bodyPr wrap="square" lIns="0" tIns="0" rIns="0" bIns="0" rtlCol="0" anchor="ctr"/>
          <a:lstStyle/>
          <a:p>
            <a:pPr marL="0" indent="0">
              <a:buNone/>
            </a:pPr>
            <a:r>
              <a:rPr lang="en-US" sz="900" b="1" dirty="0">
                <a:solidFill>
                  <a:srgbClr val="00B4D8"/>
                </a:solidFill>
                <a:latin typeface="Trebuchet MS" pitchFamily="34" charset="0"/>
                <a:ea typeface="Trebuchet MS" pitchFamily="34" charset="-122"/>
                <a:cs typeface="Trebuchet MS" pitchFamily="34" charset="-120"/>
              </a:rPr>
              <a:t>Create forensic image</a:t>
            </a:r>
            <a:endParaRPr lang="en-US" sz="900" dirty="0"/>
          </a:p>
        </p:txBody>
      </p:sp>
      <p:sp>
        <p:nvSpPr>
          <p:cNvPr id="85" name="Text 83"/>
          <p:cNvSpPr/>
          <p:nvPr/>
        </p:nvSpPr>
        <p:spPr>
          <a:xfrm>
            <a:off x="5029200" y="4553712"/>
            <a:ext cx="3913632" cy="292608"/>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Use FTK Imager or dc3dd to create E01 or DD image. Log tool name, version, start time, end time, image size.</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4" name="Shape 109">
            <a:extLst>
              <a:ext uri="{FF2B5EF4-FFF2-40B4-BE49-F238E27FC236}">
                <a16:creationId xmlns:a16="http://schemas.microsoft.com/office/drawing/2014/main" id="{A33A0DBB-A58A-F38E-2EB2-D7F88A7830AA}"/>
              </a:ext>
            </a:extLst>
          </p:cNvPr>
          <p:cNvSpPr/>
          <p:nvPr/>
        </p:nvSpPr>
        <p:spPr>
          <a:xfrm>
            <a:off x="4681727" y="4722113"/>
            <a:ext cx="4370832" cy="365760"/>
          </a:xfrm>
          <a:prstGeom prst="roundRect">
            <a:avLst>
              <a:gd name="adj" fmla="val 10000"/>
            </a:avLst>
          </a:prstGeom>
          <a:solidFill>
            <a:srgbClr val="EEF6FB"/>
          </a:solidFill>
          <a:ln w="12700">
            <a:solidFill>
              <a:srgbClr val="FFB703"/>
            </a:solidFill>
            <a:prstDash val="solid"/>
          </a:ln>
        </p:spPr>
        <p:txBody>
          <a:bodyPr/>
          <a:lstStyle/>
          <a:p>
            <a:endParaRPr lang="en-SG"/>
          </a:p>
        </p:txBody>
      </p:sp>
      <p:sp>
        <p:nvSpPr>
          <p:cNvPr id="3" name="Shape 92">
            <a:extLst>
              <a:ext uri="{FF2B5EF4-FFF2-40B4-BE49-F238E27FC236}">
                <a16:creationId xmlns:a16="http://schemas.microsoft.com/office/drawing/2014/main" id="{2E462986-002F-CB8E-9687-F986DE23983A}"/>
              </a:ext>
            </a:extLst>
          </p:cNvPr>
          <p:cNvSpPr/>
          <p:nvPr/>
        </p:nvSpPr>
        <p:spPr>
          <a:xfrm>
            <a:off x="101068" y="4722460"/>
            <a:ext cx="4370832" cy="365760"/>
          </a:xfrm>
          <a:prstGeom prst="roundRect">
            <a:avLst>
              <a:gd name="adj" fmla="val 10000"/>
            </a:avLst>
          </a:prstGeom>
          <a:solidFill>
            <a:srgbClr val="EEF6FB"/>
          </a:solidFill>
          <a:ln w="12700">
            <a:solidFill>
              <a:srgbClr val="00B4D8"/>
            </a:solidFill>
            <a:prstDash val="solid"/>
          </a:ln>
        </p:spPr>
        <p:txBody>
          <a:bodyPr/>
          <a:lstStyle/>
          <a:p>
            <a:endParaRPr lang="en-SG"/>
          </a:p>
        </p:txBody>
      </p:sp>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Preservation of Mobile Devices — Powered ON vs Powered OFF</a:t>
            </a:r>
            <a:endParaRPr lang="en-US" sz="1700" dirty="0"/>
          </a:p>
        </p:txBody>
      </p:sp>
      <p:sp>
        <p:nvSpPr>
          <p:cNvPr id="6" name="Shape 4"/>
          <p:cNvSpPr/>
          <p:nvPr/>
        </p:nvSpPr>
        <p:spPr>
          <a:xfrm>
            <a:off x="109728" y="850392"/>
            <a:ext cx="4370832" cy="329184"/>
          </a:xfrm>
          <a:prstGeom prst="rect">
            <a:avLst/>
          </a:prstGeom>
          <a:solidFill>
            <a:srgbClr val="06D6A0"/>
          </a:solidFill>
          <a:ln w="12700">
            <a:solidFill>
              <a:srgbClr val="06D6A0"/>
            </a:solidFill>
            <a:prstDash val="solid"/>
          </a:ln>
        </p:spPr>
        <p:txBody>
          <a:bodyPr/>
          <a:lstStyle/>
          <a:p>
            <a:endParaRPr lang="en-SG"/>
          </a:p>
        </p:txBody>
      </p:sp>
      <p:sp>
        <p:nvSpPr>
          <p:cNvPr id="7" name="Text 5"/>
          <p:cNvSpPr/>
          <p:nvPr/>
        </p:nvSpPr>
        <p:spPr>
          <a:xfrm>
            <a:off x="201168" y="886968"/>
            <a:ext cx="4224528" cy="237744"/>
          </a:xfrm>
          <a:prstGeom prst="rect">
            <a:avLst/>
          </a:prstGeom>
          <a:noFill/>
          <a:ln/>
        </p:spPr>
        <p:txBody>
          <a:bodyPr wrap="square" lIns="0" tIns="0" rIns="0" bIns="0" rtlCol="0" anchor="ctr"/>
          <a:lstStyle/>
          <a:p>
            <a:pPr marL="0" indent="0">
              <a:buNone/>
            </a:pPr>
            <a:r>
              <a:rPr lang="en-US" sz="1050" b="1" dirty="0">
                <a:solidFill>
                  <a:srgbClr val="000000"/>
                </a:solidFill>
                <a:latin typeface="Trebuchet MS" pitchFamily="34" charset="0"/>
                <a:ea typeface="Trebuchet MS" pitchFamily="34" charset="-122"/>
                <a:cs typeface="Trebuchet MS" pitchFamily="34" charset="-120"/>
              </a:rPr>
              <a:t>📱  WITH EXTERNAL MEMORY CARD (SD)</a:t>
            </a:r>
            <a:endParaRPr lang="en-US" sz="1050" dirty="0"/>
          </a:p>
        </p:txBody>
      </p:sp>
      <p:sp>
        <p:nvSpPr>
          <p:cNvPr id="8" name="Shape 6"/>
          <p:cNvSpPr/>
          <p:nvPr/>
        </p:nvSpPr>
        <p:spPr>
          <a:xfrm>
            <a:off x="4681728" y="850392"/>
            <a:ext cx="4370832" cy="329184"/>
          </a:xfrm>
          <a:prstGeom prst="rect">
            <a:avLst/>
          </a:prstGeom>
          <a:solidFill>
            <a:srgbClr val="9B5DE5"/>
          </a:solidFill>
          <a:ln w="12700">
            <a:solidFill>
              <a:srgbClr val="9B5DE5"/>
            </a:solidFill>
            <a:prstDash val="solid"/>
          </a:ln>
        </p:spPr>
        <p:txBody>
          <a:bodyPr/>
          <a:lstStyle/>
          <a:p>
            <a:endParaRPr lang="en-SG"/>
          </a:p>
        </p:txBody>
      </p:sp>
      <p:sp>
        <p:nvSpPr>
          <p:cNvPr id="9" name="Text 7"/>
          <p:cNvSpPr/>
          <p:nvPr/>
        </p:nvSpPr>
        <p:spPr>
          <a:xfrm>
            <a:off x="4773168" y="886968"/>
            <a:ext cx="4224528" cy="237744"/>
          </a:xfrm>
          <a:prstGeom prst="rect">
            <a:avLst/>
          </a:prstGeom>
          <a:noFill/>
          <a:ln/>
        </p:spPr>
        <p:txBody>
          <a:bodyPr wrap="square" lIns="0" tIns="0" rIns="0" bIns="0" rtlCol="0" anchor="ctr"/>
          <a:lstStyle/>
          <a:p>
            <a:pPr marL="0" indent="0">
              <a:buNone/>
            </a:pPr>
            <a:r>
              <a:rPr lang="en-US" sz="1050" b="1" dirty="0">
                <a:solidFill>
                  <a:srgbClr val="1A1A2E"/>
                </a:solidFill>
                <a:latin typeface="Trebuchet MS" pitchFamily="34" charset="0"/>
                <a:ea typeface="Trebuchet MS" pitchFamily="34" charset="-122"/>
                <a:cs typeface="Trebuchet MS" pitchFamily="34" charset="-120"/>
              </a:rPr>
              <a:t>📱  WITHOUT EXTERNAL MEMORY CARD</a:t>
            </a:r>
            <a:endParaRPr lang="en-US" sz="1050" dirty="0"/>
          </a:p>
        </p:txBody>
      </p:sp>
      <p:sp>
        <p:nvSpPr>
          <p:cNvPr id="10" name="Shape 8"/>
          <p:cNvSpPr/>
          <p:nvPr/>
        </p:nvSpPr>
        <p:spPr>
          <a:xfrm>
            <a:off x="109728" y="1179576"/>
            <a:ext cx="4370832" cy="219456"/>
          </a:xfrm>
          <a:prstGeom prst="rect">
            <a:avLst/>
          </a:prstGeom>
          <a:solidFill>
            <a:srgbClr val="FFFFFF"/>
          </a:solidFill>
          <a:ln w="12700">
            <a:solidFill>
              <a:srgbClr val="06D6A0"/>
            </a:solidFill>
            <a:prstDash val="solid"/>
          </a:ln>
        </p:spPr>
        <p:txBody>
          <a:bodyPr/>
          <a:lstStyle/>
          <a:p>
            <a:endParaRPr lang="en-SG"/>
          </a:p>
        </p:txBody>
      </p:sp>
      <p:sp>
        <p:nvSpPr>
          <p:cNvPr id="11" name="Text 9"/>
          <p:cNvSpPr/>
          <p:nvPr/>
        </p:nvSpPr>
        <p:spPr>
          <a:xfrm>
            <a:off x="201168" y="1197864"/>
            <a:ext cx="4224528" cy="164592"/>
          </a:xfrm>
          <a:prstGeom prst="rect">
            <a:avLst/>
          </a:prstGeom>
          <a:noFill/>
          <a:ln/>
        </p:spPr>
        <p:txBody>
          <a:bodyPr wrap="square" lIns="0" tIns="0" rIns="0" bIns="0" rtlCol="0" anchor="ctr"/>
          <a:lstStyle/>
          <a:p>
            <a:pPr marL="0" indent="0">
              <a:buNone/>
            </a:pPr>
            <a:r>
              <a:rPr lang="en-US" sz="900" b="1" dirty="0">
                <a:solidFill>
                  <a:srgbClr val="06D6A0"/>
                </a:solidFill>
                <a:latin typeface="Trebuchet MS" pitchFamily="34" charset="0"/>
                <a:ea typeface="Trebuchet MS" pitchFamily="34" charset="-122"/>
                <a:cs typeface="Trebuchet MS" pitchFamily="34" charset="-120"/>
              </a:rPr>
              <a:t>⚡  POWERED ON</a:t>
            </a:r>
            <a:endParaRPr lang="en-US" sz="900" dirty="0"/>
          </a:p>
        </p:txBody>
      </p:sp>
      <p:sp>
        <p:nvSpPr>
          <p:cNvPr id="12" name="Shape 10"/>
          <p:cNvSpPr/>
          <p:nvPr/>
        </p:nvSpPr>
        <p:spPr>
          <a:xfrm>
            <a:off x="4681728" y="1179576"/>
            <a:ext cx="4370832" cy="219456"/>
          </a:xfrm>
          <a:prstGeom prst="rect">
            <a:avLst/>
          </a:prstGeom>
          <a:solidFill>
            <a:srgbClr val="FFFFFF"/>
          </a:solidFill>
          <a:ln w="12700">
            <a:solidFill>
              <a:srgbClr val="9B5DE5"/>
            </a:solidFill>
            <a:prstDash val="solid"/>
          </a:ln>
        </p:spPr>
        <p:txBody>
          <a:bodyPr/>
          <a:lstStyle/>
          <a:p>
            <a:endParaRPr lang="en-SG"/>
          </a:p>
        </p:txBody>
      </p:sp>
      <p:sp>
        <p:nvSpPr>
          <p:cNvPr id="13" name="Text 11"/>
          <p:cNvSpPr/>
          <p:nvPr/>
        </p:nvSpPr>
        <p:spPr>
          <a:xfrm>
            <a:off x="4773168" y="1197864"/>
            <a:ext cx="4224528" cy="164592"/>
          </a:xfrm>
          <a:prstGeom prst="rect">
            <a:avLst/>
          </a:prstGeom>
          <a:noFill/>
          <a:ln/>
        </p:spPr>
        <p:txBody>
          <a:bodyPr wrap="square" lIns="0" tIns="0" rIns="0" bIns="0" rtlCol="0" anchor="ctr"/>
          <a:lstStyle/>
          <a:p>
            <a:pPr marL="0" indent="0">
              <a:buNone/>
            </a:pPr>
            <a:r>
              <a:rPr lang="en-US" sz="900" b="1" dirty="0">
                <a:solidFill>
                  <a:srgbClr val="9B5DE5"/>
                </a:solidFill>
                <a:latin typeface="Trebuchet MS" pitchFamily="34" charset="0"/>
                <a:ea typeface="Trebuchet MS" pitchFamily="34" charset="-122"/>
                <a:cs typeface="Trebuchet MS" pitchFamily="34" charset="-120"/>
              </a:rPr>
              <a:t>⚡  POWERED ON</a:t>
            </a:r>
            <a:endParaRPr lang="en-US" sz="900" dirty="0"/>
          </a:p>
        </p:txBody>
      </p:sp>
      <p:sp>
        <p:nvSpPr>
          <p:cNvPr id="14" name="Shape 12"/>
          <p:cNvSpPr/>
          <p:nvPr/>
        </p:nvSpPr>
        <p:spPr>
          <a:xfrm>
            <a:off x="109728" y="2834640"/>
            <a:ext cx="4370832" cy="219456"/>
          </a:xfrm>
          <a:prstGeom prst="rect">
            <a:avLst/>
          </a:prstGeom>
          <a:solidFill>
            <a:srgbClr val="FFFFFF"/>
          </a:solidFill>
          <a:ln w="12700">
            <a:solidFill>
              <a:srgbClr val="00B4D8"/>
            </a:solidFill>
            <a:prstDash val="solid"/>
          </a:ln>
        </p:spPr>
        <p:txBody>
          <a:bodyPr/>
          <a:lstStyle/>
          <a:p>
            <a:endParaRPr lang="en-SG"/>
          </a:p>
        </p:txBody>
      </p:sp>
      <p:sp>
        <p:nvSpPr>
          <p:cNvPr id="15" name="Text 13"/>
          <p:cNvSpPr/>
          <p:nvPr/>
        </p:nvSpPr>
        <p:spPr>
          <a:xfrm>
            <a:off x="201168" y="2852928"/>
            <a:ext cx="4224528" cy="164592"/>
          </a:xfrm>
          <a:prstGeom prst="rect">
            <a:avLst/>
          </a:prstGeom>
          <a:noFill/>
          <a:ln/>
        </p:spPr>
        <p:txBody>
          <a:bodyPr wrap="square" lIns="0" tIns="0" rIns="0" bIns="0" rtlCol="0" anchor="ctr"/>
          <a:lstStyle/>
          <a:p>
            <a:pPr marL="0" indent="0">
              <a:buNone/>
            </a:pPr>
            <a:r>
              <a:rPr lang="en-US" sz="900" b="1" dirty="0">
                <a:solidFill>
                  <a:srgbClr val="00B4D8"/>
                </a:solidFill>
                <a:latin typeface="Trebuchet MS" pitchFamily="34" charset="0"/>
                <a:ea typeface="Trebuchet MS" pitchFamily="34" charset="-122"/>
                <a:cs typeface="Trebuchet MS" pitchFamily="34" charset="-120"/>
              </a:rPr>
              <a:t>🔴  POWERED OFF</a:t>
            </a:r>
            <a:endParaRPr lang="en-US" sz="900" dirty="0"/>
          </a:p>
        </p:txBody>
      </p:sp>
      <p:sp>
        <p:nvSpPr>
          <p:cNvPr id="16" name="Shape 14"/>
          <p:cNvSpPr/>
          <p:nvPr/>
        </p:nvSpPr>
        <p:spPr>
          <a:xfrm>
            <a:off x="4681728" y="2834640"/>
            <a:ext cx="4370832" cy="219456"/>
          </a:xfrm>
          <a:prstGeom prst="rect">
            <a:avLst/>
          </a:prstGeom>
          <a:solidFill>
            <a:srgbClr val="FFFFFF"/>
          </a:solidFill>
          <a:ln w="12700">
            <a:solidFill>
              <a:srgbClr val="FFB703"/>
            </a:solidFill>
            <a:prstDash val="solid"/>
          </a:ln>
        </p:spPr>
        <p:txBody>
          <a:bodyPr/>
          <a:lstStyle/>
          <a:p>
            <a:endParaRPr lang="en-SG"/>
          </a:p>
        </p:txBody>
      </p:sp>
      <p:sp>
        <p:nvSpPr>
          <p:cNvPr id="17" name="Text 15"/>
          <p:cNvSpPr/>
          <p:nvPr/>
        </p:nvSpPr>
        <p:spPr>
          <a:xfrm>
            <a:off x="4773168" y="2852928"/>
            <a:ext cx="4224528" cy="164592"/>
          </a:xfrm>
          <a:prstGeom prst="rect">
            <a:avLst/>
          </a:prstGeom>
          <a:noFill/>
          <a:ln/>
        </p:spPr>
        <p:txBody>
          <a:bodyPr wrap="square" lIns="0" tIns="0" rIns="0" bIns="0" rtlCol="0" anchor="ctr"/>
          <a:lstStyle/>
          <a:p>
            <a:pPr marL="0" indent="0">
              <a:buNone/>
            </a:pPr>
            <a:r>
              <a:rPr lang="en-US" sz="900" b="1" dirty="0">
                <a:solidFill>
                  <a:srgbClr val="FFB703"/>
                </a:solidFill>
                <a:latin typeface="Trebuchet MS" pitchFamily="34" charset="0"/>
                <a:ea typeface="Trebuchet MS" pitchFamily="34" charset="-122"/>
                <a:cs typeface="Trebuchet MS" pitchFamily="34" charset="-120"/>
              </a:rPr>
              <a:t>🔴  POWERED OFF</a:t>
            </a:r>
            <a:endParaRPr lang="en-US" sz="900" dirty="0"/>
          </a:p>
        </p:txBody>
      </p:sp>
      <p:sp>
        <p:nvSpPr>
          <p:cNvPr id="18" name="Shape 16"/>
          <p:cNvSpPr/>
          <p:nvPr/>
        </p:nvSpPr>
        <p:spPr>
          <a:xfrm>
            <a:off x="109728" y="1417320"/>
            <a:ext cx="4370832" cy="365760"/>
          </a:xfrm>
          <a:prstGeom prst="roundRect">
            <a:avLst>
              <a:gd name="adj" fmla="val 10000"/>
            </a:avLst>
          </a:prstGeom>
          <a:solidFill>
            <a:srgbClr val="EEF6FB"/>
          </a:solidFill>
          <a:ln w="12700">
            <a:solidFill>
              <a:srgbClr val="06D6A0"/>
            </a:solidFill>
            <a:prstDash val="solid"/>
          </a:ln>
        </p:spPr>
        <p:txBody>
          <a:bodyPr/>
          <a:lstStyle/>
          <a:p>
            <a:endParaRPr lang="en-SG"/>
          </a:p>
        </p:txBody>
      </p:sp>
      <p:sp>
        <p:nvSpPr>
          <p:cNvPr id="19" name="Shape 17"/>
          <p:cNvSpPr/>
          <p:nvPr/>
        </p:nvSpPr>
        <p:spPr>
          <a:xfrm>
            <a:off x="155448" y="1453896"/>
            <a:ext cx="201168" cy="201168"/>
          </a:xfrm>
          <a:prstGeom prst="ellipse">
            <a:avLst/>
          </a:prstGeom>
          <a:solidFill>
            <a:srgbClr val="06D6A0"/>
          </a:solidFill>
          <a:ln w="12700">
            <a:solidFill>
              <a:srgbClr val="06D6A0"/>
            </a:solidFill>
            <a:prstDash val="solid"/>
          </a:ln>
        </p:spPr>
        <p:txBody>
          <a:bodyPr/>
          <a:lstStyle/>
          <a:p>
            <a:endParaRPr lang="en-SG"/>
          </a:p>
        </p:txBody>
      </p:sp>
      <p:sp>
        <p:nvSpPr>
          <p:cNvPr id="20" name="Text 18"/>
          <p:cNvSpPr/>
          <p:nvPr/>
        </p:nvSpPr>
        <p:spPr>
          <a:xfrm>
            <a:off x="155448" y="1463040"/>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1</a:t>
            </a:r>
            <a:endParaRPr lang="en-US" sz="650" dirty="0"/>
          </a:p>
        </p:txBody>
      </p:sp>
      <p:sp>
        <p:nvSpPr>
          <p:cNvPr id="21" name="Text 19"/>
          <p:cNvSpPr/>
          <p:nvPr/>
        </p:nvSpPr>
        <p:spPr>
          <a:xfrm>
            <a:off x="384048" y="1444752"/>
            <a:ext cx="4041648" cy="146304"/>
          </a:xfrm>
          <a:prstGeom prst="rect">
            <a:avLst/>
          </a:prstGeom>
          <a:noFill/>
          <a:ln/>
        </p:spPr>
        <p:txBody>
          <a:bodyPr wrap="square" lIns="0" tIns="0" rIns="0" bIns="0" rtlCol="0" anchor="ctr"/>
          <a:lstStyle/>
          <a:p>
            <a:pPr marL="0" indent="0">
              <a:buNone/>
            </a:pPr>
            <a:r>
              <a:rPr lang="en-US" sz="750" b="1" dirty="0">
                <a:solidFill>
                  <a:srgbClr val="06D6A0"/>
                </a:solidFill>
                <a:latin typeface="Trebuchet MS" pitchFamily="34" charset="0"/>
                <a:ea typeface="Trebuchet MS" pitchFamily="34" charset="-122"/>
                <a:cs typeface="Trebuchet MS" pitchFamily="34" charset="-120"/>
              </a:rPr>
              <a:t>Faraday bag immediately</a:t>
            </a:r>
            <a:endParaRPr lang="en-US" sz="750" dirty="0"/>
          </a:p>
        </p:txBody>
      </p:sp>
      <p:sp>
        <p:nvSpPr>
          <p:cNvPr id="22" name="Text 20"/>
          <p:cNvSpPr/>
          <p:nvPr/>
        </p:nvSpPr>
        <p:spPr>
          <a:xfrm>
            <a:off x="384048" y="1581912"/>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Block all signals. Do NOT disable Wi-Fi through settings — this modifies logs.</a:t>
            </a:r>
            <a:endParaRPr lang="en-US" sz="650" dirty="0"/>
          </a:p>
        </p:txBody>
      </p:sp>
      <p:sp>
        <p:nvSpPr>
          <p:cNvPr id="23" name="Shape 21"/>
          <p:cNvSpPr/>
          <p:nvPr/>
        </p:nvSpPr>
        <p:spPr>
          <a:xfrm>
            <a:off x="2276856" y="1783080"/>
            <a:ext cx="36576" cy="45720"/>
          </a:xfrm>
          <a:prstGeom prst="rect">
            <a:avLst/>
          </a:prstGeom>
          <a:solidFill>
            <a:srgbClr val="06D6A0">
              <a:alpha val="75000"/>
            </a:srgbClr>
          </a:solidFill>
          <a:ln w="12700">
            <a:solidFill>
              <a:srgbClr val="06D6A0">
                <a:alpha val="75000"/>
              </a:srgbClr>
            </a:solidFill>
            <a:prstDash val="solid"/>
          </a:ln>
        </p:spPr>
        <p:txBody>
          <a:bodyPr/>
          <a:lstStyle/>
          <a:p>
            <a:endParaRPr lang="en-SG"/>
          </a:p>
        </p:txBody>
      </p:sp>
      <p:sp>
        <p:nvSpPr>
          <p:cNvPr id="24" name="Shape 22"/>
          <p:cNvSpPr/>
          <p:nvPr/>
        </p:nvSpPr>
        <p:spPr>
          <a:xfrm>
            <a:off x="109728" y="1828800"/>
            <a:ext cx="4370832" cy="365760"/>
          </a:xfrm>
          <a:prstGeom prst="roundRect">
            <a:avLst>
              <a:gd name="adj" fmla="val 10000"/>
            </a:avLst>
          </a:prstGeom>
          <a:solidFill>
            <a:srgbClr val="EEF6FB"/>
          </a:solidFill>
          <a:ln w="12700">
            <a:solidFill>
              <a:srgbClr val="06D6A0"/>
            </a:solidFill>
            <a:prstDash val="solid"/>
          </a:ln>
        </p:spPr>
        <p:txBody>
          <a:bodyPr/>
          <a:lstStyle/>
          <a:p>
            <a:endParaRPr lang="en-SG"/>
          </a:p>
        </p:txBody>
      </p:sp>
      <p:sp>
        <p:nvSpPr>
          <p:cNvPr id="25" name="Shape 23"/>
          <p:cNvSpPr/>
          <p:nvPr/>
        </p:nvSpPr>
        <p:spPr>
          <a:xfrm>
            <a:off x="155448" y="1865376"/>
            <a:ext cx="201168" cy="201168"/>
          </a:xfrm>
          <a:prstGeom prst="ellipse">
            <a:avLst/>
          </a:prstGeom>
          <a:solidFill>
            <a:srgbClr val="06D6A0"/>
          </a:solidFill>
          <a:ln w="12700">
            <a:solidFill>
              <a:srgbClr val="06D6A0"/>
            </a:solidFill>
            <a:prstDash val="solid"/>
          </a:ln>
        </p:spPr>
        <p:txBody>
          <a:bodyPr/>
          <a:lstStyle/>
          <a:p>
            <a:endParaRPr lang="en-SG"/>
          </a:p>
        </p:txBody>
      </p:sp>
      <p:sp>
        <p:nvSpPr>
          <p:cNvPr id="26" name="Text 24"/>
          <p:cNvSpPr/>
          <p:nvPr/>
        </p:nvSpPr>
        <p:spPr>
          <a:xfrm>
            <a:off x="155448" y="1874520"/>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2</a:t>
            </a:r>
            <a:endParaRPr lang="en-US" sz="650" dirty="0"/>
          </a:p>
        </p:txBody>
      </p:sp>
      <p:sp>
        <p:nvSpPr>
          <p:cNvPr id="27" name="Text 25"/>
          <p:cNvSpPr/>
          <p:nvPr/>
        </p:nvSpPr>
        <p:spPr>
          <a:xfrm>
            <a:off x="384048" y="1856232"/>
            <a:ext cx="4041648" cy="146304"/>
          </a:xfrm>
          <a:prstGeom prst="rect">
            <a:avLst/>
          </a:prstGeom>
          <a:noFill/>
          <a:ln/>
        </p:spPr>
        <p:txBody>
          <a:bodyPr wrap="square" lIns="0" tIns="0" rIns="0" bIns="0" rtlCol="0" anchor="ctr"/>
          <a:lstStyle/>
          <a:p>
            <a:pPr marL="0" indent="0">
              <a:buNone/>
            </a:pPr>
            <a:r>
              <a:rPr lang="en-US" sz="750" b="1" dirty="0">
                <a:solidFill>
                  <a:srgbClr val="06D6A0"/>
                </a:solidFill>
                <a:latin typeface="Trebuchet MS" pitchFamily="34" charset="0"/>
                <a:ea typeface="Trebuchet MS" pitchFamily="34" charset="-122"/>
                <a:cs typeface="Trebuchet MS" pitchFamily="34" charset="-120"/>
              </a:rPr>
              <a:t>Photograph screen</a:t>
            </a:r>
            <a:endParaRPr lang="en-US" sz="750" dirty="0"/>
          </a:p>
        </p:txBody>
      </p:sp>
      <p:sp>
        <p:nvSpPr>
          <p:cNvPr id="28" name="Text 26"/>
          <p:cNvSpPr/>
          <p:nvPr/>
        </p:nvSpPr>
        <p:spPr>
          <a:xfrm>
            <a:off x="384048" y="1993392"/>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Capture notifications, unlocked state, visible apps.</a:t>
            </a:r>
            <a:endParaRPr lang="en-US" sz="650" dirty="0"/>
          </a:p>
        </p:txBody>
      </p:sp>
      <p:sp>
        <p:nvSpPr>
          <p:cNvPr id="29" name="Shape 27"/>
          <p:cNvSpPr/>
          <p:nvPr/>
        </p:nvSpPr>
        <p:spPr>
          <a:xfrm>
            <a:off x="2276856" y="2194560"/>
            <a:ext cx="36576" cy="45720"/>
          </a:xfrm>
          <a:prstGeom prst="rect">
            <a:avLst/>
          </a:prstGeom>
          <a:solidFill>
            <a:srgbClr val="06D6A0">
              <a:alpha val="75000"/>
            </a:srgbClr>
          </a:solidFill>
          <a:ln w="12700">
            <a:solidFill>
              <a:srgbClr val="06D6A0">
                <a:alpha val="75000"/>
              </a:srgbClr>
            </a:solidFill>
            <a:prstDash val="solid"/>
          </a:ln>
        </p:spPr>
        <p:txBody>
          <a:bodyPr/>
          <a:lstStyle/>
          <a:p>
            <a:endParaRPr lang="en-SG"/>
          </a:p>
        </p:txBody>
      </p:sp>
      <p:sp>
        <p:nvSpPr>
          <p:cNvPr id="30" name="Shape 28"/>
          <p:cNvSpPr/>
          <p:nvPr/>
        </p:nvSpPr>
        <p:spPr>
          <a:xfrm>
            <a:off x="109728" y="2240280"/>
            <a:ext cx="4370832" cy="365760"/>
          </a:xfrm>
          <a:prstGeom prst="roundRect">
            <a:avLst>
              <a:gd name="adj" fmla="val 10000"/>
            </a:avLst>
          </a:prstGeom>
          <a:solidFill>
            <a:srgbClr val="FFFFFF"/>
          </a:solidFill>
          <a:ln w="12700">
            <a:solidFill>
              <a:srgbClr val="EF233C"/>
            </a:solidFill>
            <a:prstDash val="solid"/>
          </a:ln>
        </p:spPr>
        <p:txBody>
          <a:bodyPr/>
          <a:lstStyle/>
          <a:p>
            <a:endParaRPr lang="en-SG"/>
          </a:p>
        </p:txBody>
      </p:sp>
      <p:sp>
        <p:nvSpPr>
          <p:cNvPr id="31" name="Shape 29"/>
          <p:cNvSpPr/>
          <p:nvPr/>
        </p:nvSpPr>
        <p:spPr>
          <a:xfrm>
            <a:off x="155448" y="2276856"/>
            <a:ext cx="201168" cy="201168"/>
          </a:xfrm>
          <a:prstGeom prst="ellipse">
            <a:avLst/>
          </a:prstGeom>
          <a:solidFill>
            <a:srgbClr val="06D6A0"/>
          </a:solidFill>
          <a:ln w="12700">
            <a:solidFill>
              <a:srgbClr val="06D6A0"/>
            </a:solidFill>
            <a:prstDash val="solid"/>
          </a:ln>
        </p:spPr>
        <p:txBody>
          <a:bodyPr/>
          <a:lstStyle/>
          <a:p>
            <a:endParaRPr lang="en-SG"/>
          </a:p>
        </p:txBody>
      </p:sp>
      <p:sp>
        <p:nvSpPr>
          <p:cNvPr id="32" name="Text 30"/>
          <p:cNvSpPr/>
          <p:nvPr/>
        </p:nvSpPr>
        <p:spPr>
          <a:xfrm>
            <a:off x="155448" y="2286000"/>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3</a:t>
            </a:r>
            <a:endParaRPr lang="en-US" sz="650" dirty="0"/>
          </a:p>
        </p:txBody>
      </p:sp>
      <p:sp>
        <p:nvSpPr>
          <p:cNvPr id="33" name="Text 31"/>
          <p:cNvSpPr/>
          <p:nvPr/>
        </p:nvSpPr>
        <p:spPr>
          <a:xfrm>
            <a:off x="384048" y="2267712"/>
            <a:ext cx="4041648" cy="146304"/>
          </a:xfrm>
          <a:prstGeom prst="rect">
            <a:avLst/>
          </a:prstGeom>
          <a:noFill/>
          <a:ln/>
        </p:spPr>
        <p:txBody>
          <a:bodyPr wrap="square" lIns="0" tIns="0" rIns="0" bIns="0" rtlCol="0" anchor="ctr"/>
          <a:lstStyle/>
          <a:p>
            <a:pPr marL="0" indent="0">
              <a:buNone/>
            </a:pPr>
            <a:r>
              <a:rPr lang="en-US" sz="750" b="1" dirty="0">
                <a:solidFill>
                  <a:srgbClr val="EF233C"/>
                </a:solidFill>
                <a:latin typeface="Trebuchet MS" pitchFamily="34" charset="0"/>
                <a:ea typeface="Trebuchet MS" pitchFamily="34" charset="-122"/>
                <a:cs typeface="Trebuchet MS" pitchFamily="34" charset="-120"/>
              </a:rPr>
              <a:t>Do NOT remove SD card yet</a:t>
            </a:r>
            <a:endParaRPr lang="en-US" sz="750" dirty="0"/>
          </a:p>
        </p:txBody>
      </p:sp>
      <p:sp>
        <p:nvSpPr>
          <p:cNvPr id="34" name="Text 32"/>
          <p:cNvSpPr/>
          <p:nvPr/>
        </p:nvSpPr>
        <p:spPr>
          <a:xfrm>
            <a:off x="384048" y="2404872"/>
            <a:ext cx="4041648" cy="182880"/>
          </a:xfrm>
          <a:prstGeom prst="rect">
            <a:avLst/>
          </a:prstGeom>
          <a:noFill/>
          <a:ln/>
        </p:spPr>
        <p:txBody>
          <a:bodyPr wrap="square" rtlCol="0" anchor="ctr"/>
          <a:lstStyle/>
          <a:p>
            <a:pPr marL="0" indent="0">
              <a:buNone/>
            </a:pPr>
            <a:r>
              <a:rPr lang="en-US" sz="650" dirty="0">
                <a:solidFill>
                  <a:srgbClr val="EF233C"/>
                </a:solidFill>
                <a:latin typeface="Calibri" pitchFamily="34" charset="0"/>
                <a:ea typeface="Calibri" pitchFamily="34" charset="-122"/>
                <a:cs typeface="Calibri" pitchFamily="34" charset="-120"/>
              </a:rPr>
              <a:t>SD card may contain active files in use. Removal before imaging risks partial writes.</a:t>
            </a:r>
            <a:endParaRPr lang="en-US" sz="650" dirty="0"/>
          </a:p>
        </p:txBody>
      </p:sp>
      <p:sp>
        <p:nvSpPr>
          <p:cNvPr id="35" name="Shape 33"/>
          <p:cNvSpPr/>
          <p:nvPr/>
        </p:nvSpPr>
        <p:spPr>
          <a:xfrm>
            <a:off x="2276856" y="2606040"/>
            <a:ext cx="36576" cy="45720"/>
          </a:xfrm>
          <a:prstGeom prst="rect">
            <a:avLst/>
          </a:prstGeom>
          <a:solidFill>
            <a:srgbClr val="06D6A0">
              <a:alpha val="75000"/>
            </a:srgbClr>
          </a:solidFill>
          <a:ln w="12700">
            <a:solidFill>
              <a:srgbClr val="06D6A0">
                <a:alpha val="75000"/>
              </a:srgbClr>
            </a:solidFill>
            <a:prstDash val="solid"/>
          </a:ln>
        </p:spPr>
        <p:txBody>
          <a:bodyPr/>
          <a:lstStyle/>
          <a:p>
            <a:endParaRPr lang="en-SG"/>
          </a:p>
        </p:txBody>
      </p:sp>
      <p:sp>
        <p:nvSpPr>
          <p:cNvPr id="36" name="Shape 34"/>
          <p:cNvSpPr/>
          <p:nvPr/>
        </p:nvSpPr>
        <p:spPr>
          <a:xfrm>
            <a:off x="109728" y="2651760"/>
            <a:ext cx="4370832" cy="365760"/>
          </a:xfrm>
          <a:prstGeom prst="roundRect">
            <a:avLst>
              <a:gd name="adj" fmla="val 10000"/>
            </a:avLst>
          </a:prstGeom>
          <a:solidFill>
            <a:srgbClr val="EEF6FB"/>
          </a:solidFill>
          <a:ln w="12700">
            <a:solidFill>
              <a:srgbClr val="06D6A0"/>
            </a:solidFill>
            <a:prstDash val="solid"/>
          </a:ln>
        </p:spPr>
        <p:txBody>
          <a:bodyPr/>
          <a:lstStyle/>
          <a:p>
            <a:endParaRPr lang="en-SG"/>
          </a:p>
        </p:txBody>
      </p:sp>
      <p:sp>
        <p:nvSpPr>
          <p:cNvPr id="37" name="Shape 35"/>
          <p:cNvSpPr/>
          <p:nvPr/>
        </p:nvSpPr>
        <p:spPr>
          <a:xfrm>
            <a:off x="155448" y="2688336"/>
            <a:ext cx="201168" cy="201168"/>
          </a:xfrm>
          <a:prstGeom prst="ellipse">
            <a:avLst/>
          </a:prstGeom>
          <a:solidFill>
            <a:srgbClr val="06D6A0"/>
          </a:solidFill>
          <a:ln w="12700">
            <a:solidFill>
              <a:srgbClr val="06D6A0"/>
            </a:solidFill>
            <a:prstDash val="solid"/>
          </a:ln>
        </p:spPr>
        <p:txBody>
          <a:bodyPr/>
          <a:lstStyle/>
          <a:p>
            <a:endParaRPr lang="en-SG"/>
          </a:p>
        </p:txBody>
      </p:sp>
      <p:sp>
        <p:nvSpPr>
          <p:cNvPr id="38" name="Text 36"/>
          <p:cNvSpPr/>
          <p:nvPr/>
        </p:nvSpPr>
        <p:spPr>
          <a:xfrm>
            <a:off x="155448" y="2697480"/>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4</a:t>
            </a:r>
            <a:endParaRPr lang="en-US" sz="650" dirty="0"/>
          </a:p>
        </p:txBody>
      </p:sp>
      <p:sp>
        <p:nvSpPr>
          <p:cNvPr id="39" name="Text 37"/>
          <p:cNvSpPr/>
          <p:nvPr/>
        </p:nvSpPr>
        <p:spPr>
          <a:xfrm>
            <a:off x="384048" y="2679192"/>
            <a:ext cx="4041648" cy="146304"/>
          </a:xfrm>
          <a:prstGeom prst="rect">
            <a:avLst/>
          </a:prstGeom>
          <a:noFill/>
          <a:ln/>
        </p:spPr>
        <p:txBody>
          <a:bodyPr wrap="square" lIns="0" tIns="0" rIns="0" bIns="0" rtlCol="0" anchor="ctr"/>
          <a:lstStyle/>
          <a:p>
            <a:pPr marL="0" indent="0">
              <a:buNone/>
            </a:pPr>
            <a:r>
              <a:rPr lang="en-US" sz="750" b="1" dirty="0">
                <a:solidFill>
                  <a:srgbClr val="06D6A0"/>
                </a:solidFill>
                <a:latin typeface="Trebuchet MS" pitchFamily="34" charset="0"/>
                <a:ea typeface="Trebuchet MS" pitchFamily="34" charset="-122"/>
                <a:cs typeface="Trebuchet MS" pitchFamily="34" charset="-120"/>
              </a:rPr>
              <a:t>Use logical extraction tool</a:t>
            </a:r>
            <a:endParaRPr lang="en-US" sz="750" dirty="0"/>
          </a:p>
        </p:txBody>
      </p:sp>
      <p:sp>
        <p:nvSpPr>
          <p:cNvPr id="40" name="Text 38"/>
          <p:cNvSpPr/>
          <p:nvPr/>
        </p:nvSpPr>
        <p:spPr>
          <a:xfrm>
            <a:off x="384048" y="2816352"/>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Tools: Cellebrite UFED, MSAB XRY. Perform logical extraction while device is on.</a:t>
            </a:r>
            <a:endParaRPr lang="en-US" sz="650" dirty="0"/>
          </a:p>
        </p:txBody>
      </p:sp>
      <p:sp>
        <p:nvSpPr>
          <p:cNvPr id="41" name="Shape 39"/>
          <p:cNvSpPr/>
          <p:nvPr/>
        </p:nvSpPr>
        <p:spPr>
          <a:xfrm>
            <a:off x="2276856" y="3017520"/>
            <a:ext cx="36576" cy="45720"/>
          </a:xfrm>
          <a:prstGeom prst="rect">
            <a:avLst/>
          </a:prstGeom>
          <a:solidFill>
            <a:srgbClr val="06D6A0">
              <a:alpha val="75000"/>
            </a:srgbClr>
          </a:solidFill>
          <a:ln w="12700">
            <a:solidFill>
              <a:srgbClr val="06D6A0">
                <a:alpha val="75000"/>
              </a:srgbClr>
            </a:solidFill>
            <a:prstDash val="solid"/>
          </a:ln>
        </p:spPr>
        <p:txBody>
          <a:bodyPr/>
          <a:lstStyle/>
          <a:p>
            <a:endParaRPr lang="en-SG"/>
          </a:p>
        </p:txBody>
      </p:sp>
      <p:sp>
        <p:nvSpPr>
          <p:cNvPr id="42" name="Shape 40"/>
          <p:cNvSpPr/>
          <p:nvPr/>
        </p:nvSpPr>
        <p:spPr>
          <a:xfrm>
            <a:off x="109728" y="3063240"/>
            <a:ext cx="4370832" cy="365760"/>
          </a:xfrm>
          <a:prstGeom prst="roundRect">
            <a:avLst>
              <a:gd name="adj" fmla="val 10000"/>
            </a:avLst>
          </a:prstGeom>
          <a:solidFill>
            <a:srgbClr val="06D6A0"/>
          </a:solidFill>
          <a:ln w="12700">
            <a:solidFill>
              <a:srgbClr val="000000"/>
            </a:solidFill>
            <a:prstDash val="solid"/>
          </a:ln>
        </p:spPr>
        <p:txBody>
          <a:bodyPr/>
          <a:lstStyle/>
          <a:p>
            <a:endParaRPr lang="en-SG"/>
          </a:p>
        </p:txBody>
      </p:sp>
      <p:sp>
        <p:nvSpPr>
          <p:cNvPr id="43" name="Shape 41"/>
          <p:cNvSpPr/>
          <p:nvPr/>
        </p:nvSpPr>
        <p:spPr>
          <a:xfrm>
            <a:off x="155448" y="3099816"/>
            <a:ext cx="201168" cy="201168"/>
          </a:xfrm>
          <a:prstGeom prst="ellipse">
            <a:avLst/>
          </a:prstGeom>
          <a:solidFill>
            <a:srgbClr val="FFFFFF"/>
          </a:solidFill>
          <a:ln w="12700">
            <a:solidFill>
              <a:srgbClr val="FFFFFF"/>
            </a:solidFill>
            <a:prstDash val="solid"/>
          </a:ln>
        </p:spPr>
        <p:txBody>
          <a:bodyPr/>
          <a:lstStyle/>
          <a:p>
            <a:endParaRPr lang="en-SG"/>
          </a:p>
        </p:txBody>
      </p:sp>
      <p:sp>
        <p:nvSpPr>
          <p:cNvPr id="44" name="Text 42"/>
          <p:cNvSpPr/>
          <p:nvPr/>
        </p:nvSpPr>
        <p:spPr>
          <a:xfrm>
            <a:off x="155448" y="3108960"/>
            <a:ext cx="201168" cy="146304"/>
          </a:xfrm>
          <a:prstGeom prst="rect">
            <a:avLst/>
          </a:prstGeom>
          <a:noFill/>
          <a:ln/>
        </p:spPr>
        <p:txBody>
          <a:bodyPr wrap="square" lIns="0" tIns="0" rIns="0" bIns="0" rtlCol="0" anchor="ctr"/>
          <a:lstStyle/>
          <a:p>
            <a:pPr marL="0" indent="0" algn="ctr">
              <a:buNone/>
            </a:pPr>
            <a:r>
              <a:rPr lang="en-US" sz="650" b="1" dirty="0">
                <a:solidFill>
                  <a:srgbClr val="06D6A0"/>
                </a:solidFill>
                <a:latin typeface="Trebuchet MS" pitchFamily="34" charset="0"/>
                <a:ea typeface="Trebuchet MS" pitchFamily="34" charset="-122"/>
                <a:cs typeface="Trebuchet MS" pitchFamily="34" charset="-120"/>
              </a:rPr>
              <a:t>5</a:t>
            </a:r>
            <a:endParaRPr lang="en-US" sz="650" dirty="0"/>
          </a:p>
        </p:txBody>
      </p:sp>
      <p:sp>
        <p:nvSpPr>
          <p:cNvPr id="45" name="Text 43"/>
          <p:cNvSpPr/>
          <p:nvPr/>
        </p:nvSpPr>
        <p:spPr>
          <a:xfrm>
            <a:off x="384048" y="3090672"/>
            <a:ext cx="4041648" cy="146304"/>
          </a:xfrm>
          <a:prstGeom prst="rect">
            <a:avLst/>
          </a:prstGeom>
          <a:noFill/>
          <a:ln/>
        </p:spPr>
        <p:txBody>
          <a:bodyPr wrap="square" lIns="0" tIns="0" rIns="0" bIns="0" rtlCol="0" anchor="ctr"/>
          <a:lstStyle/>
          <a:p>
            <a:pPr marL="0" indent="0">
              <a:buNone/>
            </a:pPr>
            <a:r>
              <a:rPr lang="en-US" sz="750" b="1" dirty="0">
                <a:solidFill>
                  <a:srgbClr val="000000"/>
                </a:solidFill>
                <a:latin typeface="Trebuchet MS" pitchFamily="34" charset="0"/>
                <a:ea typeface="Trebuchet MS" pitchFamily="34" charset="-122"/>
                <a:cs typeface="Trebuchet MS" pitchFamily="34" charset="-120"/>
              </a:rPr>
              <a:t>Then power off — remove SD</a:t>
            </a:r>
            <a:endParaRPr lang="en-US" sz="750" dirty="0"/>
          </a:p>
        </p:txBody>
      </p:sp>
      <p:sp>
        <p:nvSpPr>
          <p:cNvPr id="46" name="Text 44"/>
          <p:cNvSpPr/>
          <p:nvPr/>
        </p:nvSpPr>
        <p:spPr>
          <a:xfrm>
            <a:off x="384048" y="3227832"/>
            <a:ext cx="4041648" cy="182880"/>
          </a:xfrm>
          <a:prstGeom prst="rect">
            <a:avLst/>
          </a:prstGeom>
          <a:noFill/>
          <a:ln/>
        </p:spPr>
        <p:txBody>
          <a:bodyPr wrap="square" rtlCol="0" anchor="ctr"/>
          <a:lstStyle/>
          <a:p>
            <a:pPr marL="0" indent="0">
              <a:buNone/>
            </a:pPr>
            <a:r>
              <a:rPr lang="en-US" sz="650" dirty="0">
                <a:solidFill>
                  <a:srgbClr val="000000"/>
                </a:solidFill>
                <a:latin typeface="Calibri" pitchFamily="34" charset="0"/>
                <a:ea typeface="Calibri" pitchFamily="34" charset="-122"/>
                <a:cs typeface="Calibri" pitchFamily="34" charset="-120"/>
              </a:rPr>
              <a:t>Power off safely. Remove SD card. Image SD separately with write blocker.</a:t>
            </a:r>
            <a:endParaRPr lang="en-US" sz="650" dirty="0"/>
          </a:p>
        </p:txBody>
      </p:sp>
      <p:sp>
        <p:nvSpPr>
          <p:cNvPr id="47" name="Shape 45"/>
          <p:cNvSpPr/>
          <p:nvPr/>
        </p:nvSpPr>
        <p:spPr>
          <a:xfrm>
            <a:off x="4681728" y="1417320"/>
            <a:ext cx="4370832" cy="365760"/>
          </a:xfrm>
          <a:prstGeom prst="roundRect">
            <a:avLst>
              <a:gd name="adj" fmla="val 10000"/>
            </a:avLst>
          </a:prstGeom>
          <a:solidFill>
            <a:srgbClr val="EEF6FB"/>
          </a:solidFill>
          <a:ln w="12700">
            <a:solidFill>
              <a:srgbClr val="9B5DE5"/>
            </a:solidFill>
            <a:prstDash val="solid"/>
          </a:ln>
        </p:spPr>
        <p:txBody>
          <a:bodyPr/>
          <a:lstStyle/>
          <a:p>
            <a:endParaRPr lang="en-SG"/>
          </a:p>
        </p:txBody>
      </p:sp>
      <p:sp>
        <p:nvSpPr>
          <p:cNvPr id="48" name="Shape 46"/>
          <p:cNvSpPr/>
          <p:nvPr/>
        </p:nvSpPr>
        <p:spPr>
          <a:xfrm>
            <a:off x="4727448" y="1453896"/>
            <a:ext cx="201168" cy="201168"/>
          </a:xfrm>
          <a:prstGeom prst="ellipse">
            <a:avLst/>
          </a:prstGeom>
          <a:solidFill>
            <a:srgbClr val="9B5DE5"/>
          </a:solidFill>
          <a:ln w="12700">
            <a:solidFill>
              <a:srgbClr val="9B5DE5"/>
            </a:solidFill>
            <a:prstDash val="solid"/>
          </a:ln>
        </p:spPr>
        <p:txBody>
          <a:bodyPr/>
          <a:lstStyle/>
          <a:p>
            <a:endParaRPr lang="en-SG"/>
          </a:p>
        </p:txBody>
      </p:sp>
      <p:sp>
        <p:nvSpPr>
          <p:cNvPr id="49" name="Text 47"/>
          <p:cNvSpPr/>
          <p:nvPr/>
        </p:nvSpPr>
        <p:spPr>
          <a:xfrm>
            <a:off x="4727448" y="1463040"/>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1</a:t>
            </a:r>
            <a:endParaRPr lang="en-US" sz="650" dirty="0"/>
          </a:p>
        </p:txBody>
      </p:sp>
      <p:sp>
        <p:nvSpPr>
          <p:cNvPr id="50" name="Text 48"/>
          <p:cNvSpPr/>
          <p:nvPr/>
        </p:nvSpPr>
        <p:spPr>
          <a:xfrm>
            <a:off x="4956048" y="1444752"/>
            <a:ext cx="4041648" cy="146304"/>
          </a:xfrm>
          <a:prstGeom prst="rect">
            <a:avLst/>
          </a:prstGeom>
          <a:noFill/>
          <a:ln/>
        </p:spPr>
        <p:txBody>
          <a:bodyPr wrap="square" lIns="0" tIns="0" rIns="0" bIns="0" rtlCol="0" anchor="ctr"/>
          <a:lstStyle/>
          <a:p>
            <a:pPr marL="0" indent="0">
              <a:buNone/>
            </a:pPr>
            <a:r>
              <a:rPr lang="en-US" sz="750" b="1" dirty="0">
                <a:solidFill>
                  <a:srgbClr val="9B5DE5"/>
                </a:solidFill>
                <a:latin typeface="Trebuchet MS" pitchFamily="34" charset="0"/>
                <a:ea typeface="Trebuchet MS" pitchFamily="34" charset="-122"/>
                <a:cs typeface="Trebuchet MS" pitchFamily="34" charset="-120"/>
              </a:rPr>
              <a:t>Faraday bag immediately</a:t>
            </a:r>
            <a:endParaRPr lang="en-US" sz="750" dirty="0"/>
          </a:p>
        </p:txBody>
      </p:sp>
      <p:sp>
        <p:nvSpPr>
          <p:cNvPr id="51" name="Text 49"/>
          <p:cNvSpPr/>
          <p:nvPr/>
        </p:nvSpPr>
        <p:spPr>
          <a:xfrm>
            <a:off x="4956048" y="1581912"/>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Block cellular, Wi-Fi, Bluetooth at the hardware level. No exceptions.</a:t>
            </a:r>
            <a:endParaRPr lang="en-US" sz="650" dirty="0"/>
          </a:p>
        </p:txBody>
      </p:sp>
      <p:sp>
        <p:nvSpPr>
          <p:cNvPr id="52" name="Shape 50"/>
          <p:cNvSpPr/>
          <p:nvPr/>
        </p:nvSpPr>
        <p:spPr>
          <a:xfrm>
            <a:off x="6848856" y="1783080"/>
            <a:ext cx="36576" cy="45720"/>
          </a:xfrm>
          <a:prstGeom prst="rect">
            <a:avLst/>
          </a:prstGeom>
          <a:solidFill>
            <a:srgbClr val="9B5DE5">
              <a:alpha val="75000"/>
            </a:srgbClr>
          </a:solidFill>
          <a:ln w="12700">
            <a:solidFill>
              <a:srgbClr val="9B5DE5">
                <a:alpha val="75000"/>
              </a:srgbClr>
            </a:solidFill>
            <a:prstDash val="solid"/>
          </a:ln>
        </p:spPr>
        <p:txBody>
          <a:bodyPr/>
          <a:lstStyle/>
          <a:p>
            <a:endParaRPr lang="en-SG"/>
          </a:p>
        </p:txBody>
      </p:sp>
      <p:sp>
        <p:nvSpPr>
          <p:cNvPr id="53" name="Shape 51"/>
          <p:cNvSpPr/>
          <p:nvPr/>
        </p:nvSpPr>
        <p:spPr>
          <a:xfrm>
            <a:off x="4681728" y="1828800"/>
            <a:ext cx="4370832" cy="365760"/>
          </a:xfrm>
          <a:prstGeom prst="roundRect">
            <a:avLst>
              <a:gd name="adj" fmla="val 10000"/>
            </a:avLst>
          </a:prstGeom>
          <a:solidFill>
            <a:srgbClr val="EEF6FB"/>
          </a:solidFill>
          <a:ln w="12700">
            <a:solidFill>
              <a:srgbClr val="9B5DE5"/>
            </a:solidFill>
            <a:prstDash val="solid"/>
          </a:ln>
        </p:spPr>
        <p:txBody>
          <a:bodyPr/>
          <a:lstStyle/>
          <a:p>
            <a:endParaRPr lang="en-SG"/>
          </a:p>
        </p:txBody>
      </p:sp>
      <p:sp>
        <p:nvSpPr>
          <p:cNvPr id="54" name="Shape 52"/>
          <p:cNvSpPr/>
          <p:nvPr/>
        </p:nvSpPr>
        <p:spPr>
          <a:xfrm>
            <a:off x="4727448" y="1865376"/>
            <a:ext cx="201168" cy="201168"/>
          </a:xfrm>
          <a:prstGeom prst="ellipse">
            <a:avLst/>
          </a:prstGeom>
          <a:solidFill>
            <a:srgbClr val="9B5DE5"/>
          </a:solidFill>
          <a:ln w="12700">
            <a:solidFill>
              <a:srgbClr val="9B5DE5"/>
            </a:solidFill>
            <a:prstDash val="solid"/>
          </a:ln>
        </p:spPr>
        <p:txBody>
          <a:bodyPr/>
          <a:lstStyle/>
          <a:p>
            <a:endParaRPr lang="en-SG"/>
          </a:p>
        </p:txBody>
      </p:sp>
      <p:sp>
        <p:nvSpPr>
          <p:cNvPr id="55" name="Text 53"/>
          <p:cNvSpPr/>
          <p:nvPr/>
        </p:nvSpPr>
        <p:spPr>
          <a:xfrm>
            <a:off x="4727448" y="1874520"/>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2</a:t>
            </a:r>
            <a:endParaRPr lang="en-US" sz="650" dirty="0"/>
          </a:p>
        </p:txBody>
      </p:sp>
      <p:sp>
        <p:nvSpPr>
          <p:cNvPr id="56" name="Text 54"/>
          <p:cNvSpPr/>
          <p:nvPr/>
        </p:nvSpPr>
        <p:spPr>
          <a:xfrm>
            <a:off x="4956048" y="1856232"/>
            <a:ext cx="4041648" cy="146304"/>
          </a:xfrm>
          <a:prstGeom prst="rect">
            <a:avLst/>
          </a:prstGeom>
          <a:noFill/>
          <a:ln/>
        </p:spPr>
        <p:txBody>
          <a:bodyPr wrap="square" lIns="0" tIns="0" rIns="0" bIns="0" rtlCol="0" anchor="ctr"/>
          <a:lstStyle/>
          <a:p>
            <a:pPr marL="0" indent="0">
              <a:buNone/>
            </a:pPr>
            <a:r>
              <a:rPr lang="en-US" sz="750" b="1" dirty="0">
                <a:solidFill>
                  <a:srgbClr val="9B5DE5"/>
                </a:solidFill>
                <a:latin typeface="Trebuchet MS" pitchFamily="34" charset="0"/>
                <a:ea typeface="Trebuchet MS" pitchFamily="34" charset="-122"/>
                <a:cs typeface="Trebuchet MS" pitchFamily="34" charset="-120"/>
              </a:rPr>
              <a:t>Photograph screen state</a:t>
            </a:r>
            <a:endParaRPr lang="en-US" sz="750" dirty="0"/>
          </a:p>
        </p:txBody>
      </p:sp>
      <p:sp>
        <p:nvSpPr>
          <p:cNvPr id="57" name="Text 55"/>
          <p:cNvSpPr/>
          <p:nvPr/>
        </p:nvSpPr>
        <p:spPr>
          <a:xfrm>
            <a:off x="4956048" y="1993392"/>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Record all visible data — notifications, logged-in accounts, app state.</a:t>
            </a:r>
            <a:endParaRPr lang="en-US" sz="650" dirty="0"/>
          </a:p>
        </p:txBody>
      </p:sp>
      <p:sp>
        <p:nvSpPr>
          <p:cNvPr id="58" name="Shape 56"/>
          <p:cNvSpPr/>
          <p:nvPr/>
        </p:nvSpPr>
        <p:spPr>
          <a:xfrm>
            <a:off x="6848856" y="2194560"/>
            <a:ext cx="36576" cy="45720"/>
          </a:xfrm>
          <a:prstGeom prst="rect">
            <a:avLst/>
          </a:prstGeom>
          <a:solidFill>
            <a:srgbClr val="9B5DE5">
              <a:alpha val="75000"/>
            </a:srgbClr>
          </a:solidFill>
          <a:ln w="12700">
            <a:solidFill>
              <a:srgbClr val="9B5DE5">
                <a:alpha val="75000"/>
              </a:srgbClr>
            </a:solidFill>
            <a:prstDash val="solid"/>
          </a:ln>
        </p:spPr>
        <p:txBody>
          <a:bodyPr/>
          <a:lstStyle/>
          <a:p>
            <a:endParaRPr lang="en-SG"/>
          </a:p>
        </p:txBody>
      </p:sp>
      <p:sp>
        <p:nvSpPr>
          <p:cNvPr id="59" name="Shape 57"/>
          <p:cNvSpPr/>
          <p:nvPr/>
        </p:nvSpPr>
        <p:spPr>
          <a:xfrm>
            <a:off x="4681728" y="2240280"/>
            <a:ext cx="4370832" cy="365760"/>
          </a:xfrm>
          <a:prstGeom prst="roundRect">
            <a:avLst>
              <a:gd name="adj" fmla="val 10000"/>
            </a:avLst>
          </a:prstGeom>
          <a:solidFill>
            <a:srgbClr val="EEF6FB"/>
          </a:solidFill>
          <a:ln w="12700">
            <a:solidFill>
              <a:srgbClr val="9B5DE5"/>
            </a:solidFill>
            <a:prstDash val="solid"/>
          </a:ln>
        </p:spPr>
        <p:txBody>
          <a:bodyPr/>
          <a:lstStyle/>
          <a:p>
            <a:endParaRPr lang="en-SG"/>
          </a:p>
        </p:txBody>
      </p:sp>
      <p:sp>
        <p:nvSpPr>
          <p:cNvPr id="60" name="Shape 58"/>
          <p:cNvSpPr/>
          <p:nvPr/>
        </p:nvSpPr>
        <p:spPr>
          <a:xfrm>
            <a:off x="4727448" y="2276856"/>
            <a:ext cx="201168" cy="201168"/>
          </a:xfrm>
          <a:prstGeom prst="ellipse">
            <a:avLst/>
          </a:prstGeom>
          <a:solidFill>
            <a:srgbClr val="9B5DE5"/>
          </a:solidFill>
          <a:ln w="12700">
            <a:solidFill>
              <a:srgbClr val="9B5DE5"/>
            </a:solidFill>
            <a:prstDash val="solid"/>
          </a:ln>
        </p:spPr>
        <p:txBody>
          <a:bodyPr/>
          <a:lstStyle/>
          <a:p>
            <a:endParaRPr lang="en-SG"/>
          </a:p>
        </p:txBody>
      </p:sp>
      <p:sp>
        <p:nvSpPr>
          <p:cNvPr id="61" name="Text 59"/>
          <p:cNvSpPr/>
          <p:nvPr/>
        </p:nvSpPr>
        <p:spPr>
          <a:xfrm>
            <a:off x="4727448" y="2286000"/>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3</a:t>
            </a:r>
            <a:endParaRPr lang="en-US" sz="650" dirty="0"/>
          </a:p>
        </p:txBody>
      </p:sp>
      <p:sp>
        <p:nvSpPr>
          <p:cNvPr id="62" name="Text 60"/>
          <p:cNvSpPr/>
          <p:nvPr/>
        </p:nvSpPr>
        <p:spPr>
          <a:xfrm>
            <a:off x="4956048" y="2267712"/>
            <a:ext cx="4041648" cy="146304"/>
          </a:xfrm>
          <a:prstGeom prst="rect">
            <a:avLst/>
          </a:prstGeom>
          <a:noFill/>
          <a:ln/>
        </p:spPr>
        <p:txBody>
          <a:bodyPr wrap="square" lIns="0" tIns="0" rIns="0" bIns="0" rtlCol="0" anchor="ctr"/>
          <a:lstStyle/>
          <a:p>
            <a:pPr marL="0" indent="0">
              <a:buNone/>
            </a:pPr>
            <a:r>
              <a:rPr lang="en-US" sz="750" b="1" dirty="0">
                <a:solidFill>
                  <a:srgbClr val="9B5DE5"/>
                </a:solidFill>
                <a:latin typeface="Trebuchet MS" pitchFamily="34" charset="0"/>
                <a:ea typeface="Trebuchet MS" pitchFamily="34" charset="-122"/>
                <a:cs typeface="Trebuchet MS" pitchFamily="34" charset="-120"/>
              </a:rPr>
              <a:t>Enable aeroplane mode</a:t>
            </a:r>
            <a:endParaRPr lang="en-US" sz="750" dirty="0"/>
          </a:p>
        </p:txBody>
      </p:sp>
      <p:sp>
        <p:nvSpPr>
          <p:cNvPr id="63" name="Text 61"/>
          <p:cNvSpPr/>
          <p:nvPr/>
        </p:nvSpPr>
        <p:spPr>
          <a:xfrm>
            <a:off x="4956048" y="2404872"/>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Only if device remains unlocked and you can do so without navigating menus deeply.</a:t>
            </a:r>
            <a:endParaRPr lang="en-US" sz="650" dirty="0"/>
          </a:p>
        </p:txBody>
      </p:sp>
      <p:sp>
        <p:nvSpPr>
          <p:cNvPr id="64" name="Shape 62"/>
          <p:cNvSpPr/>
          <p:nvPr/>
        </p:nvSpPr>
        <p:spPr>
          <a:xfrm>
            <a:off x="6848856" y="2606040"/>
            <a:ext cx="36576" cy="45720"/>
          </a:xfrm>
          <a:prstGeom prst="rect">
            <a:avLst/>
          </a:prstGeom>
          <a:solidFill>
            <a:srgbClr val="9B5DE5">
              <a:alpha val="75000"/>
            </a:srgbClr>
          </a:solidFill>
          <a:ln w="12700">
            <a:solidFill>
              <a:srgbClr val="9B5DE5">
                <a:alpha val="75000"/>
              </a:srgbClr>
            </a:solidFill>
            <a:prstDash val="solid"/>
          </a:ln>
        </p:spPr>
        <p:txBody>
          <a:bodyPr/>
          <a:lstStyle/>
          <a:p>
            <a:endParaRPr lang="en-SG"/>
          </a:p>
        </p:txBody>
      </p:sp>
      <p:sp>
        <p:nvSpPr>
          <p:cNvPr id="65" name="Shape 63"/>
          <p:cNvSpPr/>
          <p:nvPr/>
        </p:nvSpPr>
        <p:spPr>
          <a:xfrm>
            <a:off x="4681728" y="2651760"/>
            <a:ext cx="4370832" cy="365760"/>
          </a:xfrm>
          <a:prstGeom prst="roundRect">
            <a:avLst>
              <a:gd name="adj" fmla="val 10000"/>
            </a:avLst>
          </a:prstGeom>
          <a:solidFill>
            <a:srgbClr val="EEF6FB"/>
          </a:solidFill>
          <a:ln w="12700">
            <a:solidFill>
              <a:srgbClr val="9B5DE5"/>
            </a:solidFill>
            <a:prstDash val="solid"/>
          </a:ln>
        </p:spPr>
        <p:txBody>
          <a:bodyPr/>
          <a:lstStyle/>
          <a:p>
            <a:endParaRPr lang="en-SG"/>
          </a:p>
        </p:txBody>
      </p:sp>
      <p:sp>
        <p:nvSpPr>
          <p:cNvPr id="66" name="Shape 64"/>
          <p:cNvSpPr/>
          <p:nvPr/>
        </p:nvSpPr>
        <p:spPr>
          <a:xfrm>
            <a:off x="4727448" y="2688336"/>
            <a:ext cx="201168" cy="201168"/>
          </a:xfrm>
          <a:prstGeom prst="ellipse">
            <a:avLst/>
          </a:prstGeom>
          <a:solidFill>
            <a:srgbClr val="9B5DE5"/>
          </a:solidFill>
          <a:ln w="12700">
            <a:solidFill>
              <a:srgbClr val="9B5DE5"/>
            </a:solidFill>
            <a:prstDash val="solid"/>
          </a:ln>
        </p:spPr>
        <p:txBody>
          <a:bodyPr/>
          <a:lstStyle/>
          <a:p>
            <a:endParaRPr lang="en-SG"/>
          </a:p>
        </p:txBody>
      </p:sp>
      <p:sp>
        <p:nvSpPr>
          <p:cNvPr id="67" name="Text 65"/>
          <p:cNvSpPr/>
          <p:nvPr/>
        </p:nvSpPr>
        <p:spPr>
          <a:xfrm>
            <a:off x="4727448" y="2697480"/>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4</a:t>
            </a:r>
            <a:endParaRPr lang="en-US" sz="650" dirty="0"/>
          </a:p>
        </p:txBody>
      </p:sp>
      <p:sp>
        <p:nvSpPr>
          <p:cNvPr id="68" name="Text 66"/>
          <p:cNvSpPr/>
          <p:nvPr/>
        </p:nvSpPr>
        <p:spPr>
          <a:xfrm>
            <a:off x="4956048" y="2679192"/>
            <a:ext cx="4041648" cy="146304"/>
          </a:xfrm>
          <a:prstGeom prst="rect">
            <a:avLst/>
          </a:prstGeom>
          <a:noFill/>
          <a:ln/>
        </p:spPr>
        <p:txBody>
          <a:bodyPr wrap="square" lIns="0" tIns="0" rIns="0" bIns="0" rtlCol="0" anchor="ctr"/>
          <a:lstStyle/>
          <a:p>
            <a:pPr marL="0" indent="0">
              <a:buNone/>
            </a:pPr>
            <a:r>
              <a:rPr lang="en-US" sz="750" b="1" dirty="0">
                <a:solidFill>
                  <a:srgbClr val="9B5DE5"/>
                </a:solidFill>
                <a:latin typeface="Trebuchet MS" pitchFamily="34" charset="0"/>
                <a:ea typeface="Trebuchet MS" pitchFamily="34" charset="-122"/>
                <a:cs typeface="Trebuchet MS" pitchFamily="34" charset="-120"/>
              </a:rPr>
              <a:t>Perform logical extraction</a:t>
            </a:r>
            <a:endParaRPr lang="en-US" sz="750" dirty="0"/>
          </a:p>
        </p:txBody>
      </p:sp>
      <p:sp>
        <p:nvSpPr>
          <p:cNvPr id="69" name="Text 67"/>
          <p:cNvSpPr/>
          <p:nvPr/>
        </p:nvSpPr>
        <p:spPr>
          <a:xfrm>
            <a:off x="4956048" y="2816352"/>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Cellebrite UFED or MSAB XRY. Extract contacts, messages, call logs, app data.</a:t>
            </a:r>
            <a:endParaRPr lang="en-US" sz="650" dirty="0"/>
          </a:p>
        </p:txBody>
      </p:sp>
      <p:sp>
        <p:nvSpPr>
          <p:cNvPr id="70" name="Shape 68"/>
          <p:cNvSpPr/>
          <p:nvPr/>
        </p:nvSpPr>
        <p:spPr>
          <a:xfrm>
            <a:off x="6848856" y="3017520"/>
            <a:ext cx="36576" cy="45720"/>
          </a:xfrm>
          <a:prstGeom prst="rect">
            <a:avLst/>
          </a:prstGeom>
          <a:solidFill>
            <a:srgbClr val="9B5DE5">
              <a:alpha val="75000"/>
            </a:srgbClr>
          </a:solidFill>
          <a:ln w="12700">
            <a:solidFill>
              <a:srgbClr val="9B5DE5">
                <a:alpha val="75000"/>
              </a:srgbClr>
            </a:solidFill>
            <a:prstDash val="solid"/>
          </a:ln>
        </p:spPr>
        <p:txBody>
          <a:bodyPr/>
          <a:lstStyle/>
          <a:p>
            <a:endParaRPr lang="en-SG"/>
          </a:p>
        </p:txBody>
      </p:sp>
      <p:sp>
        <p:nvSpPr>
          <p:cNvPr id="71" name="Shape 69"/>
          <p:cNvSpPr/>
          <p:nvPr/>
        </p:nvSpPr>
        <p:spPr>
          <a:xfrm>
            <a:off x="4681728" y="3063240"/>
            <a:ext cx="4370832" cy="365760"/>
          </a:xfrm>
          <a:prstGeom prst="roundRect">
            <a:avLst>
              <a:gd name="adj" fmla="val 10000"/>
            </a:avLst>
          </a:prstGeom>
          <a:solidFill>
            <a:srgbClr val="9B5DE5"/>
          </a:solidFill>
          <a:ln w="12700">
            <a:solidFill>
              <a:srgbClr val="000000"/>
            </a:solidFill>
            <a:prstDash val="solid"/>
          </a:ln>
        </p:spPr>
        <p:txBody>
          <a:bodyPr/>
          <a:lstStyle/>
          <a:p>
            <a:endParaRPr lang="en-SG"/>
          </a:p>
        </p:txBody>
      </p:sp>
      <p:sp>
        <p:nvSpPr>
          <p:cNvPr id="72" name="Shape 70"/>
          <p:cNvSpPr/>
          <p:nvPr/>
        </p:nvSpPr>
        <p:spPr>
          <a:xfrm>
            <a:off x="4727448" y="3099816"/>
            <a:ext cx="201168" cy="201168"/>
          </a:xfrm>
          <a:prstGeom prst="ellipse">
            <a:avLst/>
          </a:prstGeom>
          <a:solidFill>
            <a:srgbClr val="FFFFFF"/>
          </a:solidFill>
          <a:ln w="12700">
            <a:solidFill>
              <a:srgbClr val="FFFFFF"/>
            </a:solidFill>
            <a:prstDash val="solid"/>
          </a:ln>
        </p:spPr>
        <p:txBody>
          <a:bodyPr/>
          <a:lstStyle/>
          <a:p>
            <a:endParaRPr lang="en-SG"/>
          </a:p>
        </p:txBody>
      </p:sp>
      <p:sp>
        <p:nvSpPr>
          <p:cNvPr id="73" name="Text 71"/>
          <p:cNvSpPr/>
          <p:nvPr/>
        </p:nvSpPr>
        <p:spPr>
          <a:xfrm>
            <a:off x="4727448" y="3108960"/>
            <a:ext cx="201168" cy="146304"/>
          </a:xfrm>
          <a:prstGeom prst="rect">
            <a:avLst/>
          </a:prstGeom>
          <a:noFill/>
          <a:ln/>
        </p:spPr>
        <p:txBody>
          <a:bodyPr wrap="square" lIns="0" tIns="0" rIns="0" bIns="0" rtlCol="0" anchor="ctr"/>
          <a:lstStyle/>
          <a:p>
            <a:pPr marL="0" indent="0" algn="ctr">
              <a:buNone/>
            </a:pPr>
            <a:r>
              <a:rPr lang="en-US" sz="650" b="1" dirty="0">
                <a:solidFill>
                  <a:srgbClr val="9B5DE5"/>
                </a:solidFill>
                <a:latin typeface="Trebuchet MS" pitchFamily="34" charset="0"/>
                <a:ea typeface="Trebuchet MS" pitchFamily="34" charset="-122"/>
                <a:cs typeface="Trebuchet MS" pitchFamily="34" charset="-120"/>
              </a:rPr>
              <a:t>5</a:t>
            </a:r>
            <a:endParaRPr lang="en-US" sz="650" dirty="0"/>
          </a:p>
        </p:txBody>
      </p:sp>
      <p:sp>
        <p:nvSpPr>
          <p:cNvPr id="74" name="Text 72"/>
          <p:cNvSpPr/>
          <p:nvPr/>
        </p:nvSpPr>
        <p:spPr>
          <a:xfrm>
            <a:off x="4956048" y="3090672"/>
            <a:ext cx="4041648" cy="146304"/>
          </a:xfrm>
          <a:prstGeom prst="rect">
            <a:avLst/>
          </a:prstGeom>
          <a:noFill/>
          <a:ln/>
        </p:spPr>
        <p:txBody>
          <a:bodyPr wrap="square" lIns="0" tIns="0" rIns="0" bIns="0" rtlCol="0" anchor="ctr"/>
          <a:lstStyle/>
          <a:p>
            <a:pPr marL="0" indent="0">
              <a:buNone/>
            </a:pPr>
            <a:r>
              <a:rPr lang="en-US" sz="750" b="1" dirty="0">
                <a:solidFill>
                  <a:srgbClr val="000000"/>
                </a:solidFill>
                <a:latin typeface="Trebuchet MS" pitchFamily="34" charset="0"/>
                <a:ea typeface="Trebuchet MS" pitchFamily="34" charset="-122"/>
                <a:cs typeface="Trebuchet MS" pitchFamily="34" charset="-120"/>
              </a:rPr>
              <a:t>Power off &amp; seal device</a:t>
            </a:r>
            <a:endParaRPr lang="en-US" sz="750" dirty="0"/>
          </a:p>
        </p:txBody>
      </p:sp>
      <p:sp>
        <p:nvSpPr>
          <p:cNvPr id="75" name="Text 73"/>
          <p:cNvSpPr/>
          <p:nvPr/>
        </p:nvSpPr>
        <p:spPr>
          <a:xfrm>
            <a:off x="4956048" y="3227832"/>
            <a:ext cx="4041648" cy="182880"/>
          </a:xfrm>
          <a:prstGeom prst="rect">
            <a:avLst/>
          </a:prstGeom>
          <a:noFill/>
          <a:ln/>
        </p:spPr>
        <p:txBody>
          <a:bodyPr wrap="square" rtlCol="0" anchor="ctr"/>
          <a:lstStyle/>
          <a:p>
            <a:pPr marL="0" indent="0">
              <a:buNone/>
            </a:pPr>
            <a:r>
              <a:rPr lang="en-US" sz="650" dirty="0">
                <a:solidFill>
                  <a:srgbClr val="000000"/>
                </a:solidFill>
                <a:latin typeface="Calibri" pitchFamily="34" charset="0"/>
                <a:ea typeface="Calibri" pitchFamily="34" charset="-122"/>
                <a:cs typeface="Calibri" pitchFamily="34" charset="-120"/>
              </a:rPr>
              <a:t>Controlled shutdown. Bag in anti-static/Faraday pouch. Label and seal.</a:t>
            </a:r>
            <a:endParaRPr lang="en-US" sz="650" dirty="0"/>
          </a:p>
        </p:txBody>
      </p:sp>
      <p:sp>
        <p:nvSpPr>
          <p:cNvPr id="76" name="Shape 74"/>
          <p:cNvSpPr/>
          <p:nvPr/>
        </p:nvSpPr>
        <p:spPr>
          <a:xfrm>
            <a:off x="109728" y="3072384"/>
            <a:ext cx="4370832" cy="365760"/>
          </a:xfrm>
          <a:prstGeom prst="roundRect">
            <a:avLst>
              <a:gd name="adj" fmla="val 10000"/>
            </a:avLst>
          </a:prstGeom>
          <a:solidFill>
            <a:srgbClr val="FFFFFF"/>
          </a:solidFill>
          <a:ln w="12700">
            <a:solidFill>
              <a:srgbClr val="EF233C"/>
            </a:solidFill>
            <a:prstDash val="solid"/>
          </a:ln>
        </p:spPr>
        <p:txBody>
          <a:bodyPr/>
          <a:lstStyle/>
          <a:p>
            <a:endParaRPr lang="en-SG"/>
          </a:p>
        </p:txBody>
      </p:sp>
      <p:sp>
        <p:nvSpPr>
          <p:cNvPr id="77" name="Shape 75"/>
          <p:cNvSpPr/>
          <p:nvPr/>
        </p:nvSpPr>
        <p:spPr>
          <a:xfrm>
            <a:off x="155448" y="3108960"/>
            <a:ext cx="201168" cy="201168"/>
          </a:xfrm>
          <a:prstGeom prst="ellipse">
            <a:avLst/>
          </a:prstGeom>
          <a:solidFill>
            <a:srgbClr val="00B4D8"/>
          </a:solidFill>
          <a:ln w="12700">
            <a:solidFill>
              <a:srgbClr val="00B4D8"/>
            </a:solidFill>
            <a:prstDash val="solid"/>
          </a:ln>
        </p:spPr>
        <p:txBody>
          <a:bodyPr/>
          <a:lstStyle/>
          <a:p>
            <a:endParaRPr lang="en-SG"/>
          </a:p>
        </p:txBody>
      </p:sp>
      <p:sp>
        <p:nvSpPr>
          <p:cNvPr id="78" name="Text 76"/>
          <p:cNvSpPr/>
          <p:nvPr/>
        </p:nvSpPr>
        <p:spPr>
          <a:xfrm>
            <a:off x="155448" y="3118104"/>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1</a:t>
            </a:r>
            <a:endParaRPr lang="en-US" sz="650" dirty="0"/>
          </a:p>
        </p:txBody>
      </p:sp>
      <p:sp>
        <p:nvSpPr>
          <p:cNvPr id="79" name="Text 77"/>
          <p:cNvSpPr/>
          <p:nvPr/>
        </p:nvSpPr>
        <p:spPr>
          <a:xfrm>
            <a:off x="384048" y="3099816"/>
            <a:ext cx="4041648" cy="146304"/>
          </a:xfrm>
          <a:prstGeom prst="rect">
            <a:avLst/>
          </a:prstGeom>
          <a:noFill/>
          <a:ln/>
        </p:spPr>
        <p:txBody>
          <a:bodyPr wrap="square" lIns="0" tIns="0" rIns="0" bIns="0" rtlCol="0" anchor="ctr"/>
          <a:lstStyle/>
          <a:p>
            <a:pPr marL="0" indent="0">
              <a:buNone/>
            </a:pPr>
            <a:r>
              <a:rPr lang="en-US" sz="750" b="1" dirty="0">
                <a:solidFill>
                  <a:srgbClr val="EF233C"/>
                </a:solidFill>
                <a:latin typeface="Trebuchet MS" pitchFamily="34" charset="0"/>
                <a:ea typeface="Trebuchet MS" pitchFamily="34" charset="-122"/>
                <a:cs typeface="Trebuchet MS" pitchFamily="34" charset="-120"/>
              </a:rPr>
              <a:t>Do NOT power on</a:t>
            </a:r>
            <a:endParaRPr lang="en-US" sz="750" dirty="0"/>
          </a:p>
        </p:txBody>
      </p:sp>
      <p:sp>
        <p:nvSpPr>
          <p:cNvPr id="80" name="Text 78"/>
          <p:cNvSpPr/>
          <p:nvPr/>
        </p:nvSpPr>
        <p:spPr>
          <a:xfrm>
            <a:off x="384048" y="3236976"/>
            <a:ext cx="4041648" cy="182880"/>
          </a:xfrm>
          <a:prstGeom prst="rect">
            <a:avLst/>
          </a:prstGeom>
          <a:noFill/>
          <a:ln/>
        </p:spPr>
        <p:txBody>
          <a:bodyPr wrap="square" rtlCol="0" anchor="ctr"/>
          <a:lstStyle/>
          <a:p>
            <a:pPr marL="0" indent="0">
              <a:buNone/>
            </a:pPr>
            <a:r>
              <a:rPr lang="en-US" sz="650" dirty="0">
                <a:solidFill>
                  <a:srgbClr val="EF233C"/>
                </a:solidFill>
                <a:latin typeface="Calibri" pitchFamily="34" charset="0"/>
                <a:ea typeface="Calibri" pitchFamily="34" charset="-122"/>
                <a:cs typeface="Calibri" pitchFamily="34" charset="-120"/>
              </a:rPr>
              <a:t>Powering on runs the OS and can trigger remote management or wipe commands.</a:t>
            </a:r>
            <a:endParaRPr lang="en-US" sz="650" dirty="0"/>
          </a:p>
        </p:txBody>
      </p:sp>
      <p:sp>
        <p:nvSpPr>
          <p:cNvPr id="81" name="Shape 79"/>
          <p:cNvSpPr/>
          <p:nvPr/>
        </p:nvSpPr>
        <p:spPr>
          <a:xfrm>
            <a:off x="2276856" y="3438144"/>
            <a:ext cx="36576" cy="45720"/>
          </a:xfrm>
          <a:prstGeom prst="rect">
            <a:avLst/>
          </a:prstGeom>
          <a:solidFill>
            <a:srgbClr val="00B4D8">
              <a:alpha val="75000"/>
            </a:srgbClr>
          </a:solidFill>
          <a:ln w="12700">
            <a:solidFill>
              <a:srgbClr val="00B4D8">
                <a:alpha val="75000"/>
              </a:srgbClr>
            </a:solidFill>
            <a:prstDash val="solid"/>
          </a:ln>
        </p:spPr>
        <p:txBody>
          <a:bodyPr/>
          <a:lstStyle/>
          <a:p>
            <a:endParaRPr lang="en-SG"/>
          </a:p>
        </p:txBody>
      </p:sp>
      <p:sp>
        <p:nvSpPr>
          <p:cNvPr id="82" name="Shape 80"/>
          <p:cNvSpPr/>
          <p:nvPr/>
        </p:nvSpPr>
        <p:spPr>
          <a:xfrm>
            <a:off x="109728" y="3483864"/>
            <a:ext cx="4370832" cy="365760"/>
          </a:xfrm>
          <a:prstGeom prst="roundRect">
            <a:avLst>
              <a:gd name="adj" fmla="val 10000"/>
            </a:avLst>
          </a:prstGeom>
          <a:solidFill>
            <a:srgbClr val="EEF6FB"/>
          </a:solidFill>
          <a:ln w="12700">
            <a:solidFill>
              <a:srgbClr val="00B4D8"/>
            </a:solidFill>
            <a:prstDash val="solid"/>
          </a:ln>
        </p:spPr>
        <p:txBody>
          <a:bodyPr/>
          <a:lstStyle/>
          <a:p>
            <a:endParaRPr lang="en-SG"/>
          </a:p>
        </p:txBody>
      </p:sp>
      <p:sp>
        <p:nvSpPr>
          <p:cNvPr id="83" name="Shape 81"/>
          <p:cNvSpPr/>
          <p:nvPr/>
        </p:nvSpPr>
        <p:spPr>
          <a:xfrm>
            <a:off x="155448" y="3520440"/>
            <a:ext cx="201168" cy="201168"/>
          </a:xfrm>
          <a:prstGeom prst="ellipse">
            <a:avLst/>
          </a:prstGeom>
          <a:solidFill>
            <a:srgbClr val="00B4D8"/>
          </a:solidFill>
          <a:ln w="12700">
            <a:solidFill>
              <a:srgbClr val="00B4D8"/>
            </a:solidFill>
            <a:prstDash val="solid"/>
          </a:ln>
        </p:spPr>
        <p:txBody>
          <a:bodyPr/>
          <a:lstStyle/>
          <a:p>
            <a:endParaRPr lang="en-SG"/>
          </a:p>
        </p:txBody>
      </p:sp>
      <p:sp>
        <p:nvSpPr>
          <p:cNvPr id="84" name="Text 82"/>
          <p:cNvSpPr/>
          <p:nvPr/>
        </p:nvSpPr>
        <p:spPr>
          <a:xfrm>
            <a:off x="155448" y="3529584"/>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2</a:t>
            </a:r>
            <a:endParaRPr lang="en-US" sz="650" dirty="0"/>
          </a:p>
        </p:txBody>
      </p:sp>
      <p:sp>
        <p:nvSpPr>
          <p:cNvPr id="85" name="Text 83"/>
          <p:cNvSpPr/>
          <p:nvPr/>
        </p:nvSpPr>
        <p:spPr>
          <a:xfrm>
            <a:off x="384048" y="3511296"/>
            <a:ext cx="4041648" cy="146304"/>
          </a:xfrm>
          <a:prstGeom prst="rect">
            <a:avLst/>
          </a:prstGeom>
          <a:noFill/>
          <a:ln/>
        </p:spPr>
        <p:txBody>
          <a:bodyPr wrap="square" lIns="0" tIns="0" rIns="0" bIns="0" rtlCol="0" anchor="ctr"/>
          <a:lstStyle/>
          <a:p>
            <a:pPr marL="0" indent="0">
              <a:buNone/>
            </a:pPr>
            <a:r>
              <a:rPr lang="en-US" sz="750" b="1" dirty="0">
                <a:solidFill>
                  <a:srgbClr val="00B4D8"/>
                </a:solidFill>
                <a:latin typeface="Trebuchet MS" pitchFamily="34" charset="0"/>
                <a:ea typeface="Trebuchet MS" pitchFamily="34" charset="-122"/>
                <a:cs typeface="Trebuchet MS" pitchFamily="34" charset="-120"/>
              </a:rPr>
              <a:t>Place in Faraday bag</a:t>
            </a:r>
            <a:endParaRPr lang="en-US" sz="750" dirty="0"/>
          </a:p>
        </p:txBody>
      </p:sp>
      <p:sp>
        <p:nvSpPr>
          <p:cNvPr id="86" name="Text 84"/>
          <p:cNvSpPr/>
          <p:nvPr/>
        </p:nvSpPr>
        <p:spPr>
          <a:xfrm>
            <a:off x="384048" y="3648456"/>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Even off devices can power on if charged. Block all signals before transport.</a:t>
            </a:r>
            <a:endParaRPr lang="en-US" sz="650" dirty="0"/>
          </a:p>
        </p:txBody>
      </p:sp>
      <p:sp>
        <p:nvSpPr>
          <p:cNvPr id="87" name="Shape 85"/>
          <p:cNvSpPr/>
          <p:nvPr/>
        </p:nvSpPr>
        <p:spPr>
          <a:xfrm>
            <a:off x="2276856" y="3849624"/>
            <a:ext cx="36576" cy="45720"/>
          </a:xfrm>
          <a:prstGeom prst="rect">
            <a:avLst/>
          </a:prstGeom>
          <a:solidFill>
            <a:srgbClr val="00B4D8">
              <a:alpha val="75000"/>
            </a:srgbClr>
          </a:solidFill>
          <a:ln w="12700">
            <a:solidFill>
              <a:srgbClr val="00B4D8">
                <a:alpha val="75000"/>
              </a:srgbClr>
            </a:solidFill>
            <a:prstDash val="solid"/>
          </a:ln>
        </p:spPr>
        <p:txBody>
          <a:bodyPr/>
          <a:lstStyle/>
          <a:p>
            <a:endParaRPr lang="en-SG"/>
          </a:p>
        </p:txBody>
      </p:sp>
      <p:sp>
        <p:nvSpPr>
          <p:cNvPr id="88" name="Shape 86"/>
          <p:cNvSpPr/>
          <p:nvPr/>
        </p:nvSpPr>
        <p:spPr>
          <a:xfrm>
            <a:off x="109728" y="3895344"/>
            <a:ext cx="4370832" cy="365760"/>
          </a:xfrm>
          <a:prstGeom prst="roundRect">
            <a:avLst>
              <a:gd name="adj" fmla="val 10000"/>
            </a:avLst>
          </a:prstGeom>
          <a:solidFill>
            <a:srgbClr val="EEF6FB"/>
          </a:solidFill>
          <a:ln w="12700">
            <a:solidFill>
              <a:srgbClr val="00B4D8"/>
            </a:solidFill>
            <a:prstDash val="solid"/>
          </a:ln>
        </p:spPr>
        <p:txBody>
          <a:bodyPr/>
          <a:lstStyle/>
          <a:p>
            <a:endParaRPr lang="en-SG"/>
          </a:p>
        </p:txBody>
      </p:sp>
      <p:sp>
        <p:nvSpPr>
          <p:cNvPr id="89" name="Shape 87"/>
          <p:cNvSpPr/>
          <p:nvPr/>
        </p:nvSpPr>
        <p:spPr>
          <a:xfrm>
            <a:off x="155448" y="3931920"/>
            <a:ext cx="201168" cy="201168"/>
          </a:xfrm>
          <a:prstGeom prst="ellipse">
            <a:avLst/>
          </a:prstGeom>
          <a:solidFill>
            <a:srgbClr val="00B4D8"/>
          </a:solidFill>
          <a:ln w="12700">
            <a:solidFill>
              <a:srgbClr val="00B4D8"/>
            </a:solidFill>
            <a:prstDash val="solid"/>
          </a:ln>
        </p:spPr>
        <p:txBody>
          <a:bodyPr/>
          <a:lstStyle/>
          <a:p>
            <a:endParaRPr lang="en-SG"/>
          </a:p>
        </p:txBody>
      </p:sp>
      <p:sp>
        <p:nvSpPr>
          <p:cNvPr id="90" name="Text 88"/>
          <p:cNvSpPr/>
          <p:nvPr/>
        </p:nvSpPr>
        <p:spPr>
          <a:xfrm>
            <a:off x="155448" y="3941064"/>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3</a:t>
            </a:r>
            <a:endParaRPr lang="en-US" sz="650" dirty="0"/>
          </a:p>
        </p:txBody>
      </p:sp>
      <p:sp>
        <p:nvSpPr>
          <p:cNvPr id="91" name="Text 89"/>
          <p:cNvSpPr/>
          <p:nvPr/>
        </p:nvSpPr>
        <p:spPr>
          <a:xfrm>
            <a:off x="384048" y="3922776"/>
            <a:ext cx="4041648" cy="146304"/>
          </a:xfrm>
          <a:prstGeom prst="rect">
            <a:avLst/>
          </a:prstGeom>
          <a:noFill/>
          <a:ln/>
        </p:spPr>
        <p:txBody>
          <a:bodyPr wrap="square" lIns="0" tIns="0" rIns="0" bIns="0" rtlCol="0" anchor="ctr"/>
          <a:lstStyle/>
          <a:p>
            <a:pPr marL="0" indent="0">
              <a:buNone/>
            </a:pPr>
            <a:r>
              <a:rPr lang="en-US" sz="750" b="1" dirty="0">
                <a:solidFill>
                  <a:srgbClr val="00B4D8"/>
                </a:solidFill>
                <a:latin typeface="Trebuchet MS" pitchFamily="34" charset="0"/>
                <a:ea typeface="Trebuchet MS" pitchFamily="34" charset="-122"/>
                <a:cs typeface="Trebuchet MS" pitchFamily="34" charset="-120"/>
              </a:rPr>
              <a:t>Remove SD card carefully</a:t>
            </a:r>
            <a:endParaRPr lang="en-US" sz="750" dirty="0"/>
          </a:p>
        </p:txBody>
      </p:sp>
      <p:sp>
        <p:nvSpPr>
          <p:cNvPr id="92" name="Text 90"/>
          <p:cNvSpPr/>
          <p:nvPr/>
        </p:nvSpPr>
        <p:spPr>
          <a:xfrm>
            <a:off x="384048" y="4059936"/>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Use appropriate SIM/SD ejector. Place SD in separate evidence bag with label.</a:t>
            </a:r>
            <a:endParaRPr lang="en-US" sz="650" dirty="0"/>
          </a:p>
        </p:txBody>
      </p:sp>
      <p:sp>
        <p:nvSpPr>
          <p:cNvPr id="93" name="Shape 91"/>
          <p:cNvSpPr/>
          <p:nvPr/>
        </p:nvSpPr>
        <p:spPr>
          <a:xfrm>
            <a:off x="2276856" y="4261104"/>
            <a:ext cx="36576" cy="45720"/>
          </a:xfrm>
          <a:prstGeom prst="rect">
            <a:avLst/>
          </a:prstGeom>
          <a:solidFill>
            <a:srgbClr val="00B4D8">
              <a:alpha val="75000"/>
            </a:srgbClr>
          </a:solidFill>
          <a:ln w="12700">
            <a:solidFill>
              <a:srgbClr val="00B4D8">
                <a:alpha val="75000"/>
              </a:srgbClr>
            </a:solidFill>
            <a:prstDash val="solid"/>
          </a:ln>
        </p:spPr>
        <p:txBody>
          <a:bodyPr/>
          <a:lstStyle/>
          <a:p>
            <a:endParaRPr lang="en-SG"/>
          </a:p>
        </p:txBody>
      </p:sp>
      <p:sp>
        <p:nvSpPr>
          <p:cNvPr id="94" name="Shape 92"/>
          <p:cNvSpPr/>
          <p:nvPr/>
        </p:nvSpPr>
        <p:spPr>
          <a:xfrm>
            <a:off x="109728" y="4306824"/>
            <a:ext cx="4370832" cy="365760"/>
          </a:xfrm>
          <a:prstGeom prst="roundRect">
            <a:avLst>
              <a:gd name="adj" fmla="val 10000"/>
            </a:avLst>
          </a:prstGeom>
          <a:solidFill>
            <a:srgbClr val="EEF6FB"/>
          </a:solidFill>
          <a:ln w="12700">
            <a:solidFill>
              <a:srgbClr val="00B4D8"/>
            </a:solidFill>
            <a:prstDash val="solid"/>
          </a:ln>
        </p:spPr>
        <p:txBody>
          <a:bodyPr/>
          <a:lstStyle/>
          <a:p>
            <a:endParaRPr lang="en-SG"/>
          </a:p>
        </p:txBody>
      </p:sp>
      <p:sp>
        <p:nvSpPr>
          <p:cNvPr id="95" name="Shape 93"/>
          <p:cNvSpPr/>
          <p:nvPr/>
        </p:nvSpPr>
        <p:spPr>
          <a:xfrm>
            <a:off x="155448" y="4343400"/>
            <a:ext cx="201168" cy="201168"/>
          </a:xfrm>
          <a:prstGeom prst="ellipse">
            <a:avLst/>
          </a:prstGeom>
          <a:solidFill>
            <a:srgbClr val="00B4D8"/>
          </a:solidFill>
          <a:ln w="12700">
            <a:solidFill>
              <a:srgbClr val="00B4D8"/>
            </a:solidFill>
            <a:prstDash val="solid"/>
          </a:ln>
        </p:spPr>
        <p:txBody>
          <a:bodyPr/>
          <a:lstStyle/>
          <a:p>
            <a:endParaRPr lang="en-SG"/>
          </a:p>
        </p:txBody>
      </p:sp>
      <p:sp>
        <p:nvSpPr>
          <p:cNvPr id="96" name="Text 94"/>
          <p:cNvSpPr/>
          <p:nvPr/>
        </p:nvSpPr>
        <p:spPr>
          <a:xfrm>
            <a:off x="155448" y="4352544"/>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4</a:t>
            </a:r>
            <a:endParaRPr lang="en-US" sz="650" dirty="0"/>
          </a:p>
        </p:txBody>
      </p:sp>
      <p:sp>
        <p:nvSpPr>
          <p:cNvPr id="97" name="Text 95"/>
          <p:cNvSpPr/>
          <p:nvPr/>
        </p:nvSpPr>
        <p:spPr>
          <a:xfrm>
            <a:off x="384048" y="4334256"/>
            <a:ext cx="4041648" cy="146304"/>
          </a:xfrm>
          <a:prstGeom prst="rect">
            <a:avLst/>
          </a:prstGeom>
          <a:noFill/>
          <a:ln/>
        </p:spPr>
        <p:txBody>
          <a:bodyPr wrap="square" lIns="0" tIns="0" rIns="0" bIns="0" rtlCol="0" anchor="ctr"/>
          <a:lstStyle/>
          <a:p>
            <a:pPr marL="0" indent="0">
              <a:buNone/>
            </a:pPr>
            <a:r>
              <a:rPr lang="en-US" sz="750" b="1" dirty="0">
                <a:solidFill>
                  <a:srgbClr val="00B4D8"/>
                </a:solidFill>
                <a:latin typeface="Trebuchet MS" pitchFamily="34" charset="0"/>
                <a:ea typeface="Trebuchet MS" pitchFamily="34" charset="-122"/>
                <a:cs typeface="Trebuchet MS" pitchFamily="34" charset="-120"/>
              </a:rPr>
              <a:t>Image SD card first</a:t>
            </a:r>
            <a:endParaRPr lang="en-US" sz="750" dirty="0"/>
          </a:p>
        </p:txBody>
      </p:sp>
      <p:sp>
        <p:nvSpPr>
          <p:cNvPr id="98" name="Text 96"/>
          <p:cNvSpPr/>
          <p:nvPr/>
        </p:nvSpPr>
        <p:spPr>
          <a:xfrm>
            <a:off x="384048" y="4471416"/>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Connect SD via write blocker. Hash source, create image (e.g. E01), verify hash.</a:t>
            </a:r>
            <a:endParaRPr lang="en-US" sz="650" dirty="0"/>
          </a:p>
        </p:txBody>
      </p:sp>
      <p:sp>
        <p:nvSpPr>
          <p:cNvPr id="99" name="Shape 97"/>
          <p:cNvSpPr/>
          <p:nvPr/>
        </p:nvSpPr>
        <p:spPr>
          <a:xfrm>
            <a:off x="2276856" y="4672584"/>
            <a:ext cx="36576" cy="45720"/>
          </a:xfrm>
          <a:prstGeom prst="rect">
            <a:avLst/>
          </a:prstGeom>
          <a:solidFill>
            <a:srgbClr val="00B4D8">
              <a:alpha val="75000"/>
            </a:srgbClr>
          </a:solidFill>
          <a:ln w="12700">
            <a:solidFill>
              <a:srgbClr val="00B4D8">
                <a:alpha val="75000"/>
              </a:srgbClr>
            </a:solidFill>
            <a:prstDash val="solid"/>
          </a:ln>
        </p:spPr>
        <p:txBody>
          <a:bodyPr/>
          <a:lstStyle/>
          <a:p>
            <a:endParaRPr lang="en-SG"/>
          </a:p>
        </p:txBody>
      </p:sp>
      <p:sp>
        <p:nvSpPr>
          <p:cNvPr id="102" name="Text 100"/>
          <p:cNvSpPr/>
          <p:nvPr/>
        </p:nvSpPr>
        <p:spPr>
          <a:xfrm>
            <a:off x="155448" y="4764024"/>
            <a:ext cx="201168" cy="146304"/>
          </a:xfrm>
          <a:prstGeom prst="rect">
            <a:avLst/>
          </a:prstGeom>
          <a:noFill/>
          <a:ln/>
        </p:spPr>
        <p:txBody>
          <a:bodyPr wrap="square" lIns="0" tIns="0" rIns="0" bIns="0" rtlCol="0" anchor="ctr"/>
          <a:lstStyle/>
          <a:p>
            <a:pPr marL="0" indent="0" algn="ctr">
              <a:buNone/>
            </a:pPr>
            <a:r>
              <a:rPr lang="en-US" sz="650" b="1" dirty="0">
                <a:solidFill>
                  <a:srgbClr val="00B4D8"/>
                </a:solidFill>
                <a:latin typeface="Trebuchet MS" pitchFamily="34" charset="0"/>
                <a:ea typeface="Trebuchet MS" pitchFamily="34" charset="-122"/>
                <a:cs typeface="Trebuchet MS" pitchFamily="34" charset="-120"/>
              </a:rPr>
              <a:t>5</a:t>
            </a:r>
            <a:endParaRPr lang="en-US" sz="650" dirty="0"/>
          </a:p>
        </p:txBody>
      </p:sp>
      <p:sp>
        <p:nvSpPr>
          <p:cNvPr id="103" name="Text 101"/>
          <p:cNvSpPr/>
          <p:nvPr/>
        </p:nvSpPr>
        <p:spPr>
          <a:xfrm>
            <a:off x="384048" y="4745736"/>
            <a:ext cx="4041648" cy="146304"/>
          </a:xfrm>
          <a:prstGeom prst="rect">
            <a:avLst/>
          </a:prstGeom>
          <a:noFill/>
          <a:ln/>
        </p:spPr>
        <p:txBody>
          <a:bodyPr wrap="square" lIns="0" tIns="0" rIns="0" bIns="0" rtlCol="0" anchor="ctr"/>
          <a:lstStyle/>
          <a:p>
            <a:pPr marL="0" indent="0">
              <a:buNone/>
            </a:pPr>
            <a:r>
              <a:rPr lang="en-US" sz="750" b="1" dirty="0">
                <a:solidFill>
                  <a:srgbClr val="000000"/>
                </a:solidFill>
                <a:latin typeface="Trebuchet MS" pitchFamily="34" charset="0"/>
                <a:ea typeface="Trebuchet MS" pitchFamily="34" charset="-122"/>
                <a:cs typeface="Trebuchet MS" pitchFamily="34" charset="-120"/>
              </a:rPr>
              <a:t>Submit device for lab imaging</a:t>
            </a:r>
            <a:endParaRPr lang="en-US" sz="750" dirty="0"/>
          </a:p>
        </p:txBody>
      </p:sp>
      <p:sp>
        <p:nvSpPr>
          <p:cNvPr id="104" name="Text 102"/>
          <p:cNvSpPr/>
          <p:nvPr/>
        </p:nvSpPr>
        <p:spPr>
          <a:xfrm>
            <a:off x="384048" y="4882896"/>
            <a:ext cx="4041648" cy="182880"/>
          </a:xfrm>
          <a:prstGeom prst="rect">
            <a:avLst/>
          </a:prstGeom>
          <a:noFill/>
          <a:ln/>
        </p:spPr>
        <p:txBody>
          <a:bodyPr wrap="square" rtlCol="0" anchor="ctr"/>
          <a:lstStyle/>
          <a:p>
            <a:pPr marL="0" indent="0">
              <a:buNone/>
            </a:pPr>
            <a:r>
              <a:rPr lang="en-US" sz="650" dirty="0">
                <a:solidFill>
                  <a:srgbClr val="000000"/>
                </a:solidFill>
                <a:latin typeface="Calibri" pitchFamily="34" charset="0"/>
                <a:ea typeface="Calibri" pitchFamily="34" charset="-122"/>
                <a:cs typeface="Calibri" pitchFamily="34" charset="-120"/>
              </a:rPr>
              <a:t>Full chip-off or JTAG imaging in lab. Seal device with tamper-evident tape.</a:t>
            </a:r>
            <a:endParaRPr lang="en-US" sz="650" dirty="0"/>
          </a:p>
        </p:txBody>
      </p:sp>
      <p:sp>
        <p:nvSpPr>
          <p:cNvPr id="105" name="Shape 103"/>
          <p:cNvSpPr/>
          <p:nvPr/>
        </p:nvSpPr>
        <p:spPr>
          <a:xfrm>
            <a:off x="4681728" y="3072384"/>
            <a:ext cx="4370832" cy="365760"/>
          </a:xfrm>
          <a:prstGeom prst="roundRect">
            <a:avLst>
              <a:gd name="adj" fmla="val 10000"/>
            </a:avLst>
          </a:prstGeom>
          <a:solidFill>
            <a:srgbClr val="FFFFFF"/>
          </a:solidFill>
          <a:ln w="12700">
            <a:solidFill>
              <a:srgbClr val="EF233C"/>
            </a:solidFill>
            <a:prstDash val="solid"/>
          </a:ln>
        </p:spPr>
        <p:txBody>
          <a:bodyPr/>
          <a:lstStyle/>
          <a:p>
            <a:endParaRPr lang="en-SG"/>
          </a:p>
        </p:txBody>
      </p:sp>
      <p:sp>
        <p:nvSpPr>
          <p:cNvPr id="106" name="Shape 104"/>
          <p:cNvSpPr/>
          <p:nvPr/>
        </p:nvSpPr>
        <p:spPr>
          <a:xfrm>
            <a:off x="4727448" y="3108960"/>
            <a:ext cx="201168" cy="201168"/>
          </a:xfrm>
          <a:prstGeom prst="ellipse">
            <a:avLst/>
          </a:prstGeom>
          <a:solidFill>
            <a:srgbClr val="FFB703"/>
          </a:solidFill>
          <a:ln w="12700">
            <a:solidFill>
              <a:srgbClr val="FFB703"/>
            </a:solidFill>
            <a:prstDash val="solid"/>
          </a:ln>
        </p:spPr>
        <p:txBody>
          <a:bodyPr/>
          <a:lstStyle/>
          <a:p>
            <a:endParaRPr lang="en-SG"/>
          </a:p>
        </p:txBody>
      </p:sp>
      <p:sp>
        <p:nvSpPr>
          <p:cNvPr id="107" name="Text 105"/>
          <p:cNvSpPr/>
          <p:nvPr/>
        </p:nvSpPr>
        <p:spPr>
          <a:xfrm>
            <a:off x="4727448" y="3118104"/>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1</a:t>
            </a:r>
            <a:endParaRPr lang="en-US" sz="650" dirty="0"/>
          </a:p>
        </p:txBody>
      </p:sp>
      <p:sp>
        <p:nvSpPr>
          <p:cNvPr id="108" name="Text 106"/>
          <p:cNvSpPr/>
          <p:nvPr/>
        </p:nvSpPr>
        <p:spPr>
          <a:xfrm>
            <a:off x="4956048" y="3099816"/>
            <a:ext cx="4041648" cy="146304"/>
          </a:xfrm>
          <a:prstGeom prst="rect">
            <a:avLst/>
          </a:prstGeom>
          <a:noFill/>
          <a:ln/>
        </p:spPr>
        <p:txBody>
          <a:bodyPr wrap="square" lIns="0" tIns="0" rIns="0" bIns="0" rtlCol="0" anchor="ctr"/>
          <a:lstStyle/>
          <a:p>
            <a:pPr marL="0" indent="0">
              <a:buNone/>
            </a:pPr>
            <a:r>
              <a:rPr lang="en-US" sz="750" b="1" dirty="0">
                <a:solidFill>
                  <a:srgbClr val="EF233C"/>
                </a:solidFill>
                <a:latin typeface="Trebuchet MS" pitchFamily="34" charset="0"/>
                <a:ea typeface="Trebuchet MS" pitchFamily="34" charset="-122"/>
                <a:cs typeface="Trebuchet MS" pitchFamily="34" charset="-120"/>
              </a:rPr>
              <a:t>Do NOT power on</a:t>
            </a:r>
            <a:endParaRPr lang="en-US" sz="750" dirty="0"/>
          </a:p>
        </p:txBody>
      </p:sp>
      <p:sp>
        <p:nvSpPr>
          <p:cNvPr id="109" name="Text 107"/>
          <p:cNvSpPr/>
          <p:nvPr/>
        </p:nvSpPr>
        <p:spPr>
          <a:xfrm>
            <a:off x="4956048" y="3236976"/>
            <a:ext cx="4041648" cy="182880"/>
          </a:xfrm>
          <a:prstGeom prst="rect">
            <a:avLst/>
          </a:prstGeom>
          <a:noFill/>
          <a:ln/>
        </p:spPr>
        <p:txBody>
          <a:bodyPr wrap="square" rtlCol="0" anchor="ctr"/>
          <a:lstStyle/>
          <a:p>
            <a:pPr marL="0" indent="0">
              <a:buNone/>
            </a:pPr>
            <a:r>
              <a:rPr lang="en-US" sz="650" dirty="0">
                <a:solidFill>
                  <a:srgbClr val="EF233C"/>
                </a:solidFill>
                <a:latin typeface="Calibri" pitchFamily="34" charset="0"/>
                <a:ea typeface="Calibri" pitchFamily="34" charset="-122"/>
                <a:cs typeface="Calibri" pitchFamily="34" charset="-120"/>
              </a:rPr>
              <a:t>No exceptions — even for 'quick checks'. Any boot modifies the file system.</a:t>
            </a:r>
            <a:endParaRPr lang="en-US" sz="650" dirty="0"/>
          </a:p>
        </p:txBody>
      </p:sp>
      <p:sp>
        <p:nvSpPr>
          <p:cNvPr id="110" name="Shape 108"/>
          <p:cNvSpPr/>
          <p:nvPr/>
        </p:nvSpPr>
        <p:spPr>
          <a:xfrm>
            <a:off x="6848856" y="3438144"/>
            <a:ext cx="36576" cy="45720"/>
          </a:xfrm>
          <a:prstGeom prst="rect">
            <a:avLst/>
          </a:prstGeom>
          <a:solidFill>
            <a:srgbClr val="FFB703">
              <a:alpha val="75000"/>
            </a:srgbClr>
          </a:solidFill>
          <a:ln w="12700">
            <a:solidFill>
              <a:srgbClr val="FFB703">
                <a:alpha val="75000"/>
              </a:srgbClr>
            </a:solidFill>
            <a:prstDash val="solid"/>
          </a:ln>
        </p:spPr>
        <p:txBody>
          <a:bodyPr/>
          <a:lstStyle/>
          <a:p>
            <a:endParaRPr lang="en-SG"/>
          </a:p>
        </p:txBody>
      </p:sp>
      <p:sp>
        <p:nvSpPr>
          <p:cNvPr id="111" name="Shape 109"/>
          <p:cNvSpPr/>
          <p:nvPr/>
        </p:nvSpPr>
        <p:spPr>
          <a:xfrm>
            <a:off x="4681728" y="3483864"/>
            <a:ext cx="4370832" cy="365760"/>
          </a:xfrm>
          <a:prstGeom prst="roundRect">
            <a:avLst>
              <a:gd name="adj" fmla="val 10000"/>
            </a:avLst>
          </a:prstGeom>
          <a:solidFill>
            <a:srgbClr val="EEF6FB"/>
          </a:solidFill>
          <a:ln w="12700">
            <a:solidFill>
              <a:srgbClr val="FFB703"/>
            </a:solidFill>
            <a:prstDash val="solid"/>
          </a:ln>
        </p:spPr>
        <p:txBody>
          <a:bodyPr/>
          <a:lstStyle/>
          <a:p>
            <a:endParaRPr lang="en-SG"/>
          </a:p>
        </p:txBody>
      </p:sp>
      <p:sp>
        <p:nvSpPr>
          <p:cNvPr id="112" name="Shape 110"/>
          <p:cNvSpPr/>
          <p:nvPr/>
        </p:nvSpPr>
        <p:spPr>
          <a:xfrm>
            <a:off x="4727448" y="3520440"/>
            <a:ext cx="201168" cy="201168"/>
          </a:xfrm>
          <a:prstGeom prst="ellipse">
            <a:avLst/>
          </a:prstGeom>
          <a:solidFill>
            <a:srgbClr val="FFB703"/>
          </a:solidFill>
          <a:ln w="12700">
            <a:solidFill>
              <a:srgbClr val="FFB703"/>
            </a:solidFill>
            <a:prstDash val="solid"/>
          </a:ln>
        </p:spPr>
        <p:txBody>
          <a:bodyPr/>
          <a:lstStyle/>
          <a:p>
            <a:endParaRPr lang="en-SG"/>
          </a:p>
        </p:txBody>
      </p:sp>
      <p:sp>
        <p:nvSpPr>
          <p:cNvPr id="113" name="Text 111"/>
          <p:cNvSpPr/>
          <p:nvPr/>
        </p:nvSpPr>
        <p:spPr>
          <a:xfrm>
            <a:off x="4727448" y="3529584"/>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2</a:t>
            </a:r>
            <a:endParaRPr lang="en-US" sz="650" dirty="0"/>
          </a:p>
        </p:txBody>
      </p:sp>
      <p:sp>
        <p:nvSpPr>
          <p:cNvPr id="114" name="Text 112"/>
          <p:cNvSpPr/>
          <p:nvPr/>
        </p:nvSpPr>
        <p:spPr>
          <a:xfrm>
            <a:off x="4956048" y="3511296"/>
            <a:ext cx="4041648" cy="146304"/>
          </a:xfrm>
          <a:prstGeom prst="rect">
            <a:avLst/>
          </a:prstGeom>
          <a:noFill/>
          <a:ln/>
        </p:spPr>
        <p:txBody>
          <a:bodyPr wrap="square" lIns="0" tIns="0" rIns="0" bIns="0" rtlCol="0" anchor="ctr"/>
          <a:lstStyle/>
          <a:p>
            <a:pPr marL="0" indent="0">
              <a:buNone/>
            </a:pPr>
            <a:r>
              <a:rPr lang="en-US" sz="750" b="1" dirty="0">
                <a:solidFill>
                  <a:srgbClr val="FFB703"/>
                </a:solidFill>
                <a:latin typeface="Trebuchet MS" pitchFamily="34" charset="0"/>
                <a:ea typeface="Trebuchet MS" pitchFamily="34" charset="-122"/>
                <a:cs typeface="Trebuchet MS" pitchFamily="34" charset="-120"/>
              </a:rPr>
              <a:t>Faraday bag immediately</a:t>
            </a:r>
            <a:endParaRPr lang="en-US" sz="750" dirty="0"/>
          </a:p>
        </p:txBody>
      </p:sp>
      <p:sp>
        <p:nvSpPr>
          <p:cNvPr id="115" name="Text 113"/>
          <p:cNvSpPr/>
          <p:nvPr/>
        </p:nvSpPr>
        <p:spPr>
          <a:xfrm>
            <a:off x="4956048" y="3648456"/>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Bag before transport. Even a powered-off phone can receive a remote wipe on power-on.</a:t>
            </a:r>
            <a:endParaRPr lang="en-US" sz="650" dirty="0"/>
          </a:p>
        </p:txBody>
      </p:sp>
      <p:sp>
        <p:nvSpPr>
          <p:cNvPr id="116" name="Shape 114"/>
          <p:cNvSpPr/>
          <p:nvPr/>
        </p:nvSpPr>
        <p:spPr>
          <a:xfrm>
            <a:off x="6848856" y="3849624"/>
            <a:ext cx="36576" cy="45720"/>
          </a:xfrm>
          <a:prstGeom prst="rect">
            <a:avLst/>
          </a:prstGeom>
          <a:solidFill>
            <a:srgbClr val="FFB703">
              <a:alpha val="75000"/>
            </a:srgbClr>
          </a:solidFill>
          <a:ln w="12700">
            <a:solidFill>
              <a:srgbClr val="FFB703">
                <a:alpha val="75000"/>
              </a:srgbClr>
            </a:solidFill>
            <a:prstDash val="solid"/>
          </a:ln>
        </p:spPr>
        <p:txBody>
          <a:bodyPr/>
          <a:lstStyle/>
          <a:p>
            <a:endParaRPr lang="en-SG"/>
          </a:p>
        </p:txBody>
      </p:sp>
      <p:sp>
        <p:nvSpPr>
          <p:cNvPr id="117" name="Shape 115"/>
          <p:cNvSpPr/>
          <p:nvPr/>
        </p:nvSpPr>
        <p:spPr>
          <a:xfrm>
            <a:off x="4681728" y="3895344"/>
            <a:ext cx="4370832" cy="365760"/>
          </a:xfrm>
          <a:prstGeom prst="roundRect">
            <a:avLst>
              <a:gd name="adj" fmla="val 10000"/>
            </a:avLst>
          </a:prstGeom>
          <a:solidFill>
            <a:srgbClr val="EEF6FB"/>
          </a:solidFill>
          <a:ln w="12700">
            <a:solidFill>
              <a:srgbClr val="FFB703"/>
            </a:solidFill>
            <a:prstDash val="solid"/>
          </a:ln>
        </p:spPr>
        <p:txBody>
          <a:bodyPr/>
          <a:lstStyle/>
          <a:p>
            <a:endParaRPr lang="en-SG"/>
          </a:p>
        </p:txBody>
      </p:sp>
      <p:sp>
        <p:nvSpPr>
          <p:cNvPr id="118" name="Shape 116"/>
          <p:cNvSpPr/>
          <p:nvPr/>
        </p:nvSpPr>
        <p:spPr>
          <a:xfrm>
            <a:off x="4727448" y="3931920"/>
            <a:ext cx="201168" cy="201168"/>
          </a:xfrm>
          <a:prstGeom prst="ellipse">
            <a:avLst/>
          </a:prstGeom>
          <a:solidFill>
            <a:srgbClr val="FFB703"/>
          </a:solidFill>
          <a:ln w="12700">
            <a:solidFill>
              <a:srgbClr val="FFB703"/>
            </a:solidFill>
            <a:prstDash val="solid"/>
          </a:ln>
        </p:spPr>
        <p:txBody>
          <a:bodyPr/>
          <a:lstStyle/>
          <a:p>
            <a:endParaRPr lang="en-SG"/>
          </a:p>
        </p:txBody>
      </p:sp>
      <p:sp>
        <p:nvSpPr>
          <p:cNvPr id="119" name="Text 117"/>
          <p:cNvSpPr/>
          <p:nvPr/>
        </p:nvSpPr>
        <p:spPr>
          <a:xfrm>
            <a:off x="4727448" y="3941064"/>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3</a:t>
            </a:r>
            <a:endParaRPr lang="en-US" sz="650" dirty="0"/>
          </a:p>
        </p:txBody>
      </p:sp>
      <p:sp>
        <p:nvSpPr>
          <p:cNvPr id="120" name="Text 118"/>
          <p:cNvSpPr/>
          <p:nvPr/>
        </p:nvSpPr>
        <p:spPr>
          <a:xfrm>
            <a:off x="4956048" y="3922776"/>
            <a:ext cx="4041648" cy="146304"/>
          </a:xfrm>
          <a:prstGeom prst="rect">
            <a:avLst/>
          </a:prstGeom>
          <a:noFill/>
          <a:ln/>
        </p:spPr>
        <p:txBody>
          <a:bodyPr wrap="square" lIns="0" tIns="0" rIns="0" bIns="0" rtlCol="0" anchor="ctr"/>
          <a:lstStyle/>
          <a:p>
            <a:pPr marL="0" indent="0">
              <a:buNone/>
            </a:pPr>
            <a:r>
              <a:rPr lang="en-US" sz="750" b="1" dirty="0">
                <a:solidFill>
                  <a:srgbClr val="FFB703"/>
                </a:solidFill>
                <a:latin typeface="Trebuchet MS" pitchFamily="34" charset="0"/>
                <a:ea typeface="Trebuchet MS" pitchFamily="34" charset="-122"/>
                <a:cs typeface="Trebuchet MS" pitchFamily="34" charset="-120"/>
              </a:rPr>
              <a:t>Document physical details</a:t>
            </a:r>
            <a:endParaRPr lang="en-US" sz="750" dirty="0"/>
          </a:p>
        </p:txBody>
      </p:sp>
      <p:sp>
        <p:nvSpPr>
          <p:cNvPr id="121" name="Text 119"/>
          <p:cNvSpPr/>
          <p:nvPr/>
        </p:nvSpPr>
        <p:spPr>
          <a:xfrm>
            <a:off x="4956048" y="4059936"/>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Photograph device, record IMEI (printed on phone or SIM tray), model, colour.</a:t>
            </a:r>
            <a:endParaRPr lang="en-US" sz="650" dirty="0"/>
          </a:p>
        </p:txBody>
      </p:sp>
      <p:sp>
        <p:nvSpPr>
          <p:cNvPr id="122" name="Shape 120"/>
          <p:cNvSpPr/>
          <p:nvPr/>
        </p:nvSpPr>
        <p:spPr>
          <a:xfrm>
            <a:off x="6848856" y="4261104"/>
            <a:ext cx="36576" cy="45720"/>
          </a:xfrm>
          <a:prstGeom prst="rect">
            <a:avLst/>
          </a:prstGeom>
          <a:solidFill>
            <a:srgbClr val="FFB703">
              <a:alpha val="75000"/>
            </a:srgbClr>
          </a:solidFill>
          <a:ln w="12700">
            <a:solidFill>
              <a:srgbClr val="FFB703">
                <a:alpha val="75000"/>
              </a:srgbClr>
            </a:solidFill>
            <a:prstDash val="solid"/>
          </a:ln>
        </p:spPr>
        <p:txBody>
          <a:bodyPr/>
          <a:lstStyle/>
          <a:p>
            <a:endParaRPr lang="en-SG"/>
          </a:p>
        </p:txBody>
      </p:sp>
      <p:sp>
        <p:nvSpPr>
          <p:cNvPr id="123" name="Shape 121"/>
          <p:cNvSpPr/>
          <p:nvPr/>
        </p:nvSpPr>
        <p:spPr>
          <a:xfrm>
            <a:off x="4681728" y="4306824"/>
            <a:ext cx="4370832" cy="365760"/>
          </a:xfrm>
          <a:prstGeom prst="roundRect">
            <a:avLst>
              <a:gd name="adj" fmla="val 10000"/>
            </a:avLst>
          </a:prstGeom>
          <a:solidFill>
            <a:srgbClr val="EEF6FB"/>
          </a:solidFill>
          <a:ln w="12700">
            <a:solidFill>
              <a:srgbClr val="FFB703"/>
            </a:solidFill>
            <a:prstDash val="solid"/>
          </a:ln>
        </p:spPr>
        <p:txBody>
          <a:bodyPr/>
          <a:lstStyle/>
          <a:p>
            <a:endParaRPr lang="en-SG"/>
          </a:p>
        </p:txBody>
      </p:sp>
      <p:sp>
        <p:nvSpPr>
          <p:cNvPr id="124" name="Shape 122"/>
          <p:cNvSpPr/>
          <p:nvPr/>
        </p:nvSpPr>
        <p:spPr>
          <a:xfrm>
            <a:off x="4727448" y="4343400"/>
            <a:ext cx="201168" cy="201168"/>
          </a:xfrm>
          <a:prstGeom prst="ellipse">
            <a:avLst/>
          </a:prstGeom>
          <a:solidFill>
            <a:srgbClr val="FFB703"/>
          </a:solidFill>
          <a:ln w="12700">
            <a:solidFill>
              <a:srgbClr val="FFB703"/>
            </a:solidFill>
            <a:prstDash val="solid"/>
          </a:ln>
        </p:spPr>
        <p:txBody>
          <a:bodyPr/>
          <a:lstStyle/>
          <a:p>
            <a:endParaRPr lang="en-SG"/>
          </a:p>
        </p:txBody>
      </p:sp>
      <p:sp>
        <p:nvSpPr>
          <p:cNvPr id="125" name="Text 123"/>
          <p:cNvSpPr/>
          <p:nvPr/>
        </p:nvSpPr>
        <p:spPr>
          <a:xfrm>
            <a:off x="4727448" y="4352544"/>
            <a:ext cx="201168" cy="146304"/>
          </a:xfrm>
          <a:prstGeom prst="rect">
            <a:avLst/>
          </a:prstGeom>
          <a:noFill/>
          <a:ln/>
        </p:spPr>
        <p:txBody>
          <a:bodyPr wrap="square" lIns="0" tIns="0" rIns="0" bIns="0" rtlCol="0" anchor="ctr"/>
          <a:lstStyle/>
          <a:p>
            <a:pPr marL="0" indent="0" algn="ctr">
              <a:buNone/>
            </a:pPr>
            <a:r>
              <a:rPr lang="en-US" sz="650" b="1" dirty="0">
                <a:solidFill>
                  <a:srgbClr val="000000"/>
                </a:solidFill>
                <a:latin typeface="Trebuchet MS" pitchFamily="34" charset="0"/>
                <a:ea typeface="Trebuchet MS" pitchFamily="34" charset="-122"/>
                <a:cs typeface="Trebuchet MS" pitchFamily="34" charset="-120"/>
              </a:rPr>
              <a:t>4</a:t>
            </a:r>
            <a:endParaRPr lang="en-US" sz="650" dirty="0"/>
          </a:p>
        </p:txBody>
      </p:sp>
      <p:sp>
        <p:nvSpPr>
          <p:cNvPr id="126" name="Text 124"/>
          <p:cNvSpPr/>
          <p:nvPr/>
        </p:nvSpPr>
        <p:spPr>
          <a:xfrm>
            <a:off x="4956048" y="4334256"/>
            <a:ext cx="4041648" cy="146304"/>
          </a:xfrm>
          <a:prstGeom prst="rect">
            <a:avLst/>
          </a:prstGeom>
          <a:noFill/>
          <a:ln/>
        </p:spPr>
        <p:txBody>
          <a:bodyPr wrap="square" lIns="0" tIns="0" rIns="0" bIns="0" rtlCol="0" anchor="ctr"/>
          <a:lstStyle/>
          <a:p>
            <a:pPr marL="0" indent="0">
              <a:buNone/>
            </a:pPr>
            <a:r>
              <a:rPr lang="en-US" sz="750" b="1" dirty="0">
                <a:solidFill>
                  <a:srgbClr val="FFB703"/>
                </a:solidFill>
                <a:latin typeface="Trebuchet MS" pitchFamily="34" charset="0"/>
                <a:ea typeface="Trebuchet MS" pitchFamily="34" charset="-122"/>
                <a:cs typeface="Trebuchet MS" pitchFamily="34" charset="-120"/>
              </a:rPr>
              <a:t>Transport to lab</a:t>
            </a:r>
            <a:endParaRPr lang="en-US" sz="750" dirty="0"/>
          </a:p>
        </p:txBody>
      </p:sp>
      <p:sp>
        <p:nvSpPr>
          <p:cNvPr id="127" name="Text 125"/>
          <p:cNvSpPr/>
          <p:nvPr/>
        </p:nvSpPr>
        <p:spPr>
          <a:xfrm>
            <a:off x="4956048" y="4471416"/>
            <a:ext cx="4041648" cy="182880"/>
          </a:xfrm>
          <a:prstGeom prst="rect">
            <a:avLst/>
          </a:prstGeom>
          <a:noFill/>
          <a:ln/>
        </p:spPr>
        <p:txBody>
          <a:bodyPr wrap="square" rtlCol="0" anchor="ctr"/>
          <a:lstStyle/>
          <a:p>
            <a:pPr marL="0" indent="0">
              <a:buNone/>
            </a:pPr>
            <a:r>
              <a:rPr lang="en-US" sz="650" dirty="0">
                <a:solidFill>
                  <a:srgbClr val="1A1A2E"/>
                </a:solidFill>
                <a:latin typeface="Calibri" pitchFamily="34" charset="0"/>
                <a:ea typeface="Calibri" pitchFamily="34" charset="-122"/>
                <a:cs typeface="Calibri" pitchFamily="34" charset="-120"/>
              </a:rPr>
              <a:t>Maintain Faraday isolation throughout. Log every person who handles the device.</a:t>
            </a:r>
            <a:endParaRPr lang="en-US" sz="650" dirty="0"/>
          </a:p>
        </p:txBody>
      </p:sp>
      <p:sp>
        <p:nvSpPr>
          <p:cNvPr id="128" name="Shape 126"/>
          <p:cNvSpPr/>
          <p:nvPr/>
        </p:nvSpPr>
        <p:spPr>
          <a:xfrm>
            <a:off x="6848856" y="4672584"/>
            <a:ext cx="36576" cy="45720"/>
          </a:xfrm>
          <a:prstGeom prst="rect">
            <a:avLst/>
          </a:prstGeom>
          <a:solidFill>
            <a:srgbClr val="FFB703">
              <a:alpha val="75000"/>
            </a:srgbClr>
          </a:solidFill>
          <a:ln w="12700">
            <a:solidFill>
              <a:srgbClr val="FFB703">
                <a:alpha val="75000"/>
              </a:srgbClr>
            </a:solidFill>
            <a:prstDash val="solid"/>
          </a:ln>
        </p:spPr>
        <p:txBody>
          <a:bodyPr/>
          <a:lstStyle/>
          <a:p>
            <a:endParaRPr lang="en-SG"/>
          </a:p>
        </p:txBody>
      </p:sp>
      <p:sp>
        <p:nvSpPr>
          <p:cNvPr id="131" name="Text 129"/>
          <p:cNvSpPr/>
          <p:nvPr/>
        </p:nvSpPr>
        <p:spPr>
          <a:xfrm>
            <a:off x="4727448" y="4764024"/>
            <a:ext cx="201168" cy="146304"/>
          </a:xfrm>
          <a:prstGeom prst="rect">
            <a:avLst/>
          </a:prstGeom>
          <a:noFill/>
          <a:ln/>
        </p:spPr>
        <p:txBody>
          <a:bodyPr wrap="square" lIns="0" tIns="0" rIns="0" bIns="0" rtlCol="0" anchor="ctr"/>
          <a:lstStyle/>
          <a:p>
            <a:pPr marL="0" indent="0" algn="ctr">
              <a:buNone/>
            </a:pPr>
            <a:r>
              <a:rPr lang="en-US" sz="650" b="1" dirty="0">
                <a:solidFill>
                  <a:srgbClr val="FFB703"/>
                </a:solidFill>
                <a:latin typeface="Trebuchet MS" pitchFamily="34" charset="0"/>
                <a:ea typeface="Trebuchet MS" pitchFamily="34" charset="-122"/>
                <a:cs typeface="Trebuchet MS" pitchFamily="34" charset="-120"/>
              </a:rPr>
              <a:t>5</a:t>
            </a:r>
            <a:endParaRPr lang="en-US" sz="650" dirty="0"/>
          </a:p>
        </p:txBody>
      </p:sp>
      <p:sp>
        <p:nvSpPr>
          <p:cNvPr id="132" name="Text 130"/>
          <p:cNvSpPr/>
          <p:nvPr/>
        </p:nvSpPr>
        <p:spPr>
          <a:xfrm>
            <a:off x="4956048" y="4745736"/>
            <a:ext cx="4041648" cy="146304"/>
          </a:xfrm>
          <a:prstGeom prst="rect">
            <a:avLst/>
          </a:prstGeom>
          <a:noFill/>
          <a:ln/>
        </p:spPr>
        <p:txBody>
          <a:bodyPr wrap="square" lIns="0" tIns="0" rIns="0" bIns="0" rtlCol="0" anchor="ctr"/>
          <a:lstStyle/>
          <a:p>
            <a:pPr marL="0" indent="0">
              <a:buNone/>
            </a:pPr>
            <a:r>
              <a:rPr lang="en-US" sz="750" b="1" dirty="0">
                <a:solidFill>
                  <a:srgbClr val="000000"/>
                </a:solidFill>
                <a:latin typeface="Trebuchet MS" pitchFamily="34" charset="0"/>
                <a:ea typeface="Trebuchet MS" pitchFamily="34" charset="-122"/>
                <a:cs typeface="Trebuchet MS" pitchFamily="34" charset="-120"/>
              </a:rPr>
              <a:t>Lab: chip-off or JTAG</a:t>
            </a:r>
            <a:endParaRPr lang="en-US" sz="750" dirty="0"/>
          </a:p>
        </p:txBody>
      </p:sp>
      <p:sp>
        <p:nvSpPr>
          <p:cNvPr id="133" name="Text 131"/>
          <p:cNvSpPr/>
          <p:nvPr/>
        </p:nvSpPr>
        <p:spPr>
          <a:xfrm>
            <a:off x="4956048" y="4882896"/>
            <a:ext cx="4041648" cy="182880"/>
          </a:xfrm>
          <a:prstGeom prst="rect">
            <a:avLst/>
          </a:prstGeom>
          <a:noFill/>
          <a:ln/>
        </p:spPr>
        <p:txBody>
          <a:bodyPr wrap="square" rtlCol="0" anchor="ctr"/>
          <a:lstStyle/>
          <a:p>
            <a:pPr marL="0" indent="0">
              <a:buNone/>
            </a:pPr>
            <a:r>
              <a:rPr lang="en-US" sz="650" dirty="0">
                <a:solidFill>
                  <a:srgbClr val="000000"/>
                </a:solidFill>
                <a:latin typeface="Calibri" pitchFamily="34" charset="0"/>
                <a:ea typeface="Calibri" pitchFamily="34" charset="-122"/>
                <a:cs typeface="Calibri" pitchFamily="34" charset="-120"/>
              </a:rPr>
              <a:t>Forensic lab performs advanced extraction. Seal device in evidence bag. Chain of custody continues.</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Stage 03 — Collection: Goals, Volatile Data &amp; Acquisition Types</a:t>
            </a:r>
            <a:endParaRPr lang="en-US" sz="1700" dirty="0"/>
          </a:p>
        </p:txBody>
      </p:sp>
      <p:sp>
        <p:nvSpPr>
          <p:cNvPr id="6" name="Shape 4"/>
          <p:cNvSpPr/>
          <p:nvPr/>
        </p:nvSpPr>
        <p:spPr>
          <a:xfrm>
            <a:off x="109728" y="841248"/>
            <a:ext cx="8924544" cy="420624"/>
          </a:xfrm>
          <a:prstGeom prst="rect">
            <a:avLst/>
          </a:prstGeom>
          <a:solidFill>
            <a:srgbClr val="EEF6FB"/>
          </a:solidFill>
          <a:ln w="12700">
            <a:solidFill>
              <a:srgbClr val="FFB703"/>
            </a:solidFill>
            <a:prstDash val="solid"/>
          </a:ln>
        </p:spPr>
        <p:txBody>
          <a:bodyPr/>
          <a:lstStyle/>
          <a:p>
            <a:endParaRPr lang="en-SG"/>
          </a:p>
        </p:txBody>
      </p:sp>
      <p:sp>
        <p:nvSpPr>
          <p:cNvPr id="7" name="Shape 5"/>
          <p:cNvSpPr/>
          <p:nvPr/>
        </p:nvSpPr>
        <p:spPr>
          <a:xfrm>
            <a:off x="109728" y="841248"/>
            <a:ext cx="164592" cy="420624"/>
          </a:xfrm>
          <a:prstGeom prst="rect">
            <a:avLst/>
          </a:prstGeom>
          <a:solidFill>
            <a:srgbClr val="FFB703"/>
          </a:solidFill>
          <a:ln w="12700">
            <a:solidFill>
              <a:srgbClr val="FFB703"/>
            </a:solidFill>
            <a:prstDash val="solid"/>
          </a:ln>
        </p:spPr>
        <p:txBody>
          <a:bodyPr/>
          <a:lstStyle/>
          <a:p>
            <a:endParaRPr lang="en-SG"/>
          </a:p>
        </p:txBody>
      </p:sp>
      <p:sp>
        <p:nvSpPr>
          <p:cNvPr id="8" name="Text 6"/>
          <p:cNvSpPr/>
          <p:nvPr/>
        </p:nvSpPr>
        <p:spPr>
          <a:xfrm>
            <a:off x="347472" y="914400"/>
            <a:ext cx="640080" cy="237744"/>
          </a:xfrm>
          <a:prstGeom prst="rect">
            <a:avLst/>
          </a:prstGeom>
          <a:noFill/>
          <a:ln/>
        </p:spPr>
        <p:txBody>
          <a:bodyPr wrap="square" lIns="0" tIns="0" rIns="0" bIns="0" rtlCol="0" anchor="ctr"/>
          <a:lstStyle/>
          <a:p>
            <a:pPr marL="0" indent="0">
              <a:buNone/>
            </a:pPr>
            <a:r>
              <a:rPr lang="en-US" sz="1100" b="1" dirty="0">
                <a:solidFill>
                  <a:srgbClr val="FFB703"/>
                </a:solidFill>
                <a:latin typeface="Trebuchet MS" pitchFamily="34" charset="0"/>
                <a:ea typeface="Trebuchet MS" pitchFamily="34" charset="-122"/>
                <a:cs typeface="Trebuchet MS" pitchFamily="34" charset="-120"/>
              </a:rPr>
              <a:t>Goal:</a:t>
            </a:r>
            <a:endParaRPr lang="en-US" sz="1100" dirty="0"/>
          </a:p>
        </p:txBody>
      </p:sp>
      <p:sp>
        <p:nvSpPr>
          <p:cNvPr id="9" name="Text 7"/>
          <p:cNvSpPr/>
          <p:nvPr/>
        </p:nvSpPr>
        <p:spPr>
          <a:xfrm>
            <a:off x="1005840" y="914400"/>
            <a:ext cx="7918704" cy="310896"/>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Systematically gather all relevant digital evidence in a documented, repeatable, legally defensible manner — without altering the state of any device in the process.</a:t>
            </a:r>
            <a:endParaRPr lang="en-US" sz="1000" dirty="0"/>
          </a:p>
        </p:txBody>
      </p:sp>
      <p:sp>
        <p:nvSpPr>
          <p:cNvPr id="10" name="Shape 8"/>
          <p:cNvSpPr/>
          <p:nvPr/>
        </p:nvSpPr>
        <p:spPr>
          <a:xfrm>
            <a:off x="109728" y="1335024"/>
            <a:ext cx="2999232" cy="3401568"/>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109728" y="1335024"/>
            <a:ext cx="2999232" cy="347472"/>
          </a:xfrm>
          <a:prstGeom prst="rect">
            <a:avLst/>
          </a:prstGeom>
          <a:solidFill>
            <a:srgbClr val="EF233C"/>
          </a:solidFill>
          <a:ln w="12700">
            <a:solidFill>
              <a:srgbClr val="EF233C"/>
            </a:solidFill>
            <a:prstDash val="solid"/>
          </a:ln>
        </p:spPr>
        <p:txBody>
          <a:bodyPr/>
          <a:lstStyle/>
          <a:p>
            <a:endParaRPr lang="en-SG"/>
          </a:p>
        </p:txBody>
      </p:sp>
      <p:sp>
        <p:nvSpPr>
          <p:cNvPr id="12" name="Text 10"/>
          <p:cNvSpPr/>
          <p:nvPr/>
        </p:nvSpPr>
        <p:spPr>
          <a:xfrm>
            <a:off x="201168" y="1362456"/>
            <a:ext cx="2834640" cy="237744"/>
          </a:xfrm>
          <a:prstGeom prst="rect">
            <a:avLst/>
          </a:prstGeom>
          <a:noFill/>
          <a:ln/>
        </p:spPr>
        <p:txBody>
          <a:bodyPr wrap="square" lIns="0" tIns="0" rIns="0" bIns="0" rtlCol="0" anchor="ctr"/>
          <a:lstStyle/>
          <a:p>
            <a:pPr marL="0" indent="0">
              <a:buNone/>
            </a:pPr>
            <a:r>
              <a:rPr lang="en-US" sz="1100" b="1" dirty="0">
                <a:solidFill>
                  <a:srgbClr val="1A1A2E"/>
                </a:solidFill>
                <a:latin typeface="Trebuchet MS" pitchFamily="34" charset="0"/>
                <a:ea typeface="Trebuchet MS" pitchFamily="34" charset="-122"/>
                <a:cs typeface="Trebuchet MS" pitchFamily="34" charset="-120"/>
              </a:rPr>
              <a:t>⚡  PRIORITISE VOLATILE DATA</a:t>
            </a:r>
            <a:endParaRPr lang="en-US" sz="1100" dirty="0"/>
          </a:p>
        </p:txBody>
      </p:sp>
      <p:sp>
        <p:nvSpPr>
          <p:cNvPr id="13" name="Shape 11"/>
          <p:cNvSpPr/>
          <p:nvPr/>
        </p:nvSpPr>
        <p:spPr>
          <a:xfrm>
            <a:off x="201168" y="1737360"/>
            <a:ext cx="2798064" cy="457200"/>
          </a:xfrm>
          <a:prstGeom prst="roundRect">
            <a:avLst>
              <a:gd name="adj" fmla="val 10000"/>
            </a:avLst>
          </a:prstGeom>
          <a:solidFill>
            <a:srgbClr val="EEF6FB"/>
          </a:solidFill>
          <a:ln w="12700">
            <a:solidFill>
              <a:srgbClr val="EF233C"/>
            </a:solidFill>
            <a:prstDash val="solid"/>
          </a:ln>
        </p:spPr>
        <p:txBody>
          <a:bodyPr/>
          <a:lstStyle/>
          <a:p>
            <a:endParaRPr lang="en-SG"/>
          </a:p>
        </p:txBody>
      </p:sp>
      <p:sp>
        <p:nvSpPr>
          <p:cNvPr id="14" name="Text 12"/>
          <p:cNvSpPr/>
          <p:nvPr/>
        </p:nvSpPr>
        <p:spPr>
          <a:xfrm>
            <a:off x="256032" y="1773936"/>
            <a:ext cx="2724912" cy="365760"/>
          </a:xfrm>
          <a:prstGeom prst="rect">
            <a:avLst/>
          </a:prstGeom>
          <a:noFill/>
          <a:ln/>
        </p:spPr>
        <p:txBody>
          <a:bodyPr wrap="square" rtlCol="0" anchor="ctr"/>
          <a:lstStyle/>
          <a:p>
            <a:pPr marL="0" indent="0">
              <a:buNone/>
            </a:pPr>
            <a:r>
              <a:rPr lang="en-US" sz="850" i="1" dirty="0">
                <a:solidFill>
                  <a:srgbClr val="EF233C"/>
                </a:solidFill>
                <a:latin typeface="Calibri" pitchFamily="34" charset="0"/>
                <a:ea typeface="Calibri" pitchFamily="34" charset="-122"/>
                <a:cs typeface="Calibri" pitchFamily="34" charset="-120"/>
              </a:rPr>
              <a:t>Volatile data exists ONLY in memory. Once the device loses power, it is gone permanently and cannot be recovered from disk — no exceptions.</a:t>
            </a:r>
            <a:endParaRPr lang="en-US" sz="850" dirty="0"/>
          </a:p>
        </p:txBody>
      </p:sp>
      <p:sp>
        <p:nvSpPr>
          <p:cNvPr id="15" name="Text 13"/>
          <p:cNvSpPr/>
          <p:nvPr/>
        </p:nvSpPr>
        <p:spPr>
          <a:xfrm>
            <a:off x="201168" y="2249424"/>
            <a:ext cx="2834640" cy="201168"/>
          </a:xfrm>
          <a:prstGeom prst="rect">
            <a:avLst/>
          </a:prstGeom>
          <a:noFill/>
          <a:ln/>
        </p:spPr>
        <p:txBody>
          <a:bodyPr wrap="square" rtlCol="0" anchor="ctr"/>
          <a:lstStyle/>
          <a:p>
            <a:pPr marL="0" indent="0">
              <a:buNone/>
            </a:pPr>
            <a:r>
              <a:rPr lang="en-US" sz="900" b="1" dirty="0">
                <a:solidFill>
                  <a:srgbClr val="EF233C"/>
                </a:solidFill>
                <a:latin typeface="Trebuchet MS" pitchFamily="34" charset="0"/>
                <a:ea typeface="Trebuchet MS" pitchFamily="34" charset="-122"/>
                <a:cs typeface="Trebuchet MS" pitchFamily="34" charset="-120"/>
              </a:rPr>
              <a:t>Order of Volatility — Collect First to Last:</a:t>
            </a:r>
            <a:endParaRPr lang="en-US" sz="900" dirty="0"/>
          </a:p>
        </p:txBody>
      </p:sp>
      <p:sp>
        <p:nvSpPr>
          <p:cNvPr id="16" name="Shape 14"/>
          <p:cNvSpPr/>
          <p:nvPr/>
        </p:nvSpPr>
        <p:spPr>
          <a:xfrm>
            <a:off x="201168" y="2487168"/>
            <a:ext cx="2798064" cy="292608"/>
          </a:xfrm>
          <a:prstGeom prst="rect">
            <a:avLst/>
          </a:prstGeom>
          <a:solidFill>
            <a:srgbClr val="EF233C"/>
          </a:solidFill>
          <a:ln w="12700">
            <a:solidFill>
              <a:srgbClr val="EF233C"/>
            </a:solidFill>
            <a:prstDash val="solid"/>
          </a:ln>
        </p:spPr>
        <p:txBody>
          <a:bodyPr/>
          <a:lstStyle/>
          <a:p>
            <a:endParaRPr lang="en-SG"/>
          </a:p>
        </p:txBody>
      </p:sp>
      <p:sp>
        <p:nvSpPr>
          <p:cNvPr id="17" name="Shape 15"/>
          <p:cNvSpPr/>
          <p:nvPr/>
        </p:nvSpPr>
        <p:spPr>
          <a:xfrm>
            <a:off x="219456" y="2523744"/>
            <a:ext cx="310896" cy="201168"/>
          </a:xfrm>
          <a:prstGeom prst="roundRect">
            <a:avLst>
              <a:gd name="adj" fmla="val 18182"/>
            </a:avLst>
          </a:prstGeom>
          <a:solidFill>
            <a:srgbClr val="FFFFFF"/>
          </a:solidFill>
          <a:ln w="12700">
            <a:solidFill>
              <a:srgbClr val="FFFFFF"/>
            </a:solidFill>
            <a:prstDash val="solid"/>
          </a:ln>
        </p:spPr>
        <p:txBody>
          <a:bodyPr/>
          <a:lstStyle/>
          <a:p>
            <a:endParaRPr lang="en-SG"/>
          </a:p>
        </p:txBody>
      </p:sp>
      <p:sp>
        <p:nvSpPr>
          <p:cNvPr id="18" name="Text 16"/>
          <p:cNvSpPr/>
          <p:nvPr/>
        </p:nvSpPr>
        <p:spPr>
          <a:xfrm>
            <a:off x="219456" y="2532888"/>
            <a:ext cx="310896" cy="146304"/>
          </a:xfrm>
          <a:prstGeom prst="rect">
            <a:avLst/>
          </a:prstGeom>
          <a:noFill/>
          <a:ln/>
        </p:spPr>
        <p:txBody>
          <a:bodyPr wrap="square" lIns="0" tIns="0" rIns="0" bIns="0" rtlCol="0" anchor="ctr"/>
          <a:lstStyle/>
          <a:p>
            <a:pPr marL="0" indent="0" algn="ctr">
              <a:buNone/>
            </a:pPr>
            <a:r>
              <a:rPr lang="en-US" sz="700" b="1" dirty="0">
                <a:solidFill>
                  <a:srgbClr val="EF233C"/>
                </a:solidFill>
                <a:latin typeface="Trebuchet MS" pitchFamily="34" charset="0"/>
                <a:ea typeface="Trebuchet MS" pitchFamily="34" charset="-122"/>
                <a:cs typeface="Trebuchet MS" pitchFamily="34" charset="-120"/>
              </a:rPr>
              <a:t>1st</a:t>
            </a:r>
            <a:endParaRPr lang="en-US" sz="700" dirty="0"/>
          </a:p>
        </p:txBody>
      </p:sp>
      <p:sp>
        <p:nvSpPr>
          <p:cNvPr id="19" name="Text 17"/>
          <p:cNvSpPr/>
          <p:nvPr/>
        </p:nvSpPr>
        <p:spPr>
          <a:xfrm>
            <a:off x="585216" y="2514600"/>
            <a:ext cx="2377440" cy="146304"/>
          </a:xfrm>
          <a:prstGeom prst="rect">
            <a:avLst/>
          </a:prstGeom>
          <a:noFill/>
          <a:ln/>
        </p:spPr>
        <p:txBody>
          <a:bodyPr wrap="square" lIns="0" tIns="0" rIns="0" bIns="0" rtlCol="0" anchor="ctr"/>
          <a:lstStyle/>
          <a:p>
            <a:pPr marL="0" indent="0">
              <a:buNone/>
            </a:pPr>
            <a:r>
              <a:rPr lang="en-US" sz="850" b="1" dirty="0">
                <a:solidFill>
                  <a:srgbClr val="000000"/>
                </a:solidFill>
                <a:latin typeface="Trebuchet MS" pitchFamily="34" charset="0"/>
                <a:ea typeface="Trebuchet MS" pitchFamily="34" charset="-122"/>
                <a:cs typeface="Trebuchet MS" pitchFamily="34" charset="-120"/>
              </a:rPr>
              <a:t>CPU registers &amp; cache</a:t>
            </a:r>
            <a:endParaRPr lang="en-US" sz="850" dirty="0"/>
          </a:p>
        </p:txBody>
      </p:sp>
      <p:sp>
        <p:nvSpPr>
          <p:cNvPr id="20" name="Text 18"/>
          <p:cNvSpPr/>
          <p:nvPr/>
        </p:nvSpPr>
        <p:spPr>
          <a:xfrm>
            <a:off x="585216" y="2651760"/>
            <a:ext cx="2377440" cy="109728"/>
          </a:xfrm>
          <a:prstGeom prst="rect">
            <a:avLst/>
          </a:prstGeom>
          <a:noFill/>
          <a:ln/>
        </p:spPr>
        <p:txBody>
          <a:bodyPr wrap="square" rtlCol="0" anchor="ctr"/>
          <a:lstStyle/>
          <a:p>
            <a:pPr marL="0" indent="0">
              <a:buNone/>
            </a:pPr>
            <a:r>
              <a:rPr lang="en-US" sz="700" dirty="0">
                <a:solidFill>
                  <a:srgbClr val="000000"/>
                </a:solidFill>
                <a:latin typeface="Calibri" pitchFamily="34" charset="0"/>
                <a:ea typeface="Calibri" pitchFamily="34" charset="-122"/>
                <a:cs typeface="Calibri" pitchFamily="34" charset="-120"/>
              </a:rPr>
              <a:t>Milliseconds of existence</a:t>
            </a:r>
            <a:endParaRPr lang="en-US" sz="700" dirty="0"/>
          </a:p>
        </p:txBody>
      </p:sp>
      <p:sp>
        <p:nvSpPr>
          <p:cNvPr id="21" name="Shape 19"/>
          <p:cNvSpPr/>
          <p:nvPr/>
        </p:nvSpPr>
        <p:spPr>
          <a:xfrm>
            <a:off x="201168" y="2825496"/>
            <a:ext cx="2798064" cy="292608"/>
          </a:xfrm>
          <a:prstGeom prst="rect">
            <a:avLst/>
          </a:prstGeom>
          <a:solidFill>
            <a:srgbClr val="EF233C"/>
          </a:solidFill>
          <a:ln w="12700">
            <a:solidFill>
              <a:srgbClr val="EF233C"/>
            </a:solidFill>
            <a:prstDash val="solid"/>
          </a:ln>
        </p:spPr>
        <p:txBody>
          <a:bodyPr/>
          <a:lstStyle/>
          <a:p>
            <a:endParaRPr lang="en-SG"/>
          </a:p>
        </p:txBody>
      </p:sp>
      <p:sp>
        <p:nvSpPr>
          <p:cNvPr id="22" name="Shape 20"/>
          <p:cNvSpPr/>
          <p:nvPr/>
        </p:nvSpPr>
        <p:spPr>
          <a:xfrm>
            <a:off x="219456" y="2862072"/>
            <a:ext cx="310896" cy="201168"/>
          </a:xfrm>
          <a:prstGeom prst="roundRect">
            <a:avLst>
              <a:gd name="adj" fmla="val 18182"/>
            </a:avLst>
          </a:prstGeom>
          <a:solidFill>
            <a:srgbClr val="FFFFFF"/>
          </a:solidFill>
          <a:ln w="12700">
            <a:solidFill>
              <a:srgbClr val="FFFFFF"/>
            </a:solidFill>
            <a:prstDash val="solid"/>
          </a:ln>
        </p:spPr>
        <p:txBody>
          <a:bodyPr/>
          <a:lstStyle/>
          <a:p>
            <a:endParaRPr lang="en-SG"/>
          </a:p>
        </p:txBody>
      </p:sp>
      <p:sp>
        <p:nvSpPr>
          <p:cNvPr id="23" name="Text 21"/>
          <p:cNvSpPr/>
          <p:nvPr/>
        </p:nvSpPr>
        <p:spPr>
          <a:xfrm>
            <a:off x="219456" y="2871216"/>
            <a:ext cx="310896" cy="146304"/>
          </a:xfrm>
          <a:prstGeom prst="rect">
            <a:avLst/>
          </a:prstGeom>
          <a:noFill/>
          <a:ln/>
        </p:spPr>
        <p:txBody>
          <a:bodyPr wrap="square" lIns="0" tIns="0" rIns="0" bIns="0" rtlCol="0" anchor="ctr"/>
          <a:lstStyle/>
          <a:p>
            <a:pPr marL="0" indent="0" algn="ctr">
              <a:buNone/>
            </a:pPr>
            <a:r>
              <a:rPr lang="en-US" sz="700" b="1" dirty="0">
                <a:solidFill>
                  <a:srgbClr val="EF233C"/>
                </a:solidFill>
                <a:latin typeface="Trebuchet MS" pitchFamily="34" charset="0"/>
                <a:ea typeface="Trebuchet MS" pitchFamily="34" charset="-122"/>
                <a:cs typeface="Trebuchet MS" pitchFamily="34" charset="-120"/>
              </a:rPr>
              <a:t>2nd</a:t>
            </a:r>
            <a:endParaRPr lang="en-US" sz="700" dirty="0"/>
          </a:p>
        </p:txBody>
      </p:sp>
      <p:sp>
        <p:nvSpPr>
          <p:cNvPr id="24" name="Text 22"/>
          <p:cNvSpPr/>
          <p:nvPr/>
        </p:nvSpPr>
        <p:spPr>
          <a:xfrm>
            <a:off x="585216" y="2852928"/>
            <a:ext cx="2377440" cy="146304"/>
          </a:xfrm>
          <a:prstGeom prst="rect">
            <a:avLst/>
          </a:prstGeom>
          <a:noFill/>
          <a:ln/>
        </p:spPr>
        <p:txBody>
          <a:bodyPr wrap="square" lIns="0" tIns="0" rIns="0" bIns="0" rtlCol="0" anchor="ctr"/>
          <a:lstStyle/>
          <a:p>
            <a:pPr marL="0" indent="0">
              <a:buNone/>
            </a:pPr>
            <a:r>
              <a:rPr lang="en-US" sz="850" b="1" dirty="0">
                <a:solidFill>
                  <a:srgbClr val="000000"/>
                </a:solidFill>
                <a:latin typeface="Trebuchet MS" pitchFamily="34" charset="0"/>
                <a:ea typeface="Trebuchet MS" pitchFamily="34" charset="-122"/>
                <a:cs typeface="Trebuchet MS" pitchFamily="34" charset="-120"/>
              </a:rPr>
              <a:t>RAM / System Memory</a:t>
            </a:r>
            <a:endParaRPr lang="en-US" sz="850" dirty="0"/>
          </a:p>
        </p:txBody>
      </p:sp>
      <p:sp>
        <p:nvSpPr>
          <p:cNvPr id="25" name="Text 23"/>
          <p:cNvSpPr/>
          <p:nvPr/>
        </p:nvSpPr>
        <p:spPr>
          <a:xfrm>
            <a:off x="585216" y="2990088"/>
            <a:ext cx="2377440" cy="109728"/>
          </a:xfrm>
          <a:prstGeom prst="rect">
            <a:avLst/>
          </a:prstGeom>
          <a:noFill/>
          <a:ln/>
        </p:spPr>
        <p:txBody>
          <a:bodyPr wrap="square" rtlCol="0" anchor="ctr"/>
          <a:lstStyle/>
          <a:p>
            <a:pPr marL="0" indent="0">
              <a:buNone/>
            </a:pPr>
            <a:r>
              <a:rPr lang="en-US" sz="700" dirty="0">
                <a:solidFill>
                  <a:srgbClr val="000000"/>
                </a:solidFill>
                <a:latin typeface="Calibri" pitchFamily="34" charset="0"/>
                <a:ea typeface="Calibri" pitchFamily="34" charset="-122"/>
                <a:cs typeface="Calibri" pitchFamily="34" charset="-120"/>
              </a:rPr>
              <a:t>Running processes, open files, encryption keys, typed passwords</a:t>
            </a:r>
            <a:endParaRPr lang="en-US" sz="700" dirty="0"/>
          </a:p>
        </p:txBody>
      </p:sp>
      <p:sp>
        <p:nvSpPr>
          <p:cNvPr id="26" name="Shape 24"/>
          <p:cNvSpPr/>
          <p:nvPr/>
        </p:nvSpPr>
        <p:spPr>
          <a:xfrm>
            <a:off x="201168" y="3163824"/>
            <a:ext cx="2798064" cy="292608"/>
          </a:xfrm>
          <a:prstGeom prst="rect">
            <a:avLst/>
          </a:prstGeom>
          <a:solidFill>
            <a:srgbClr val="EEF6FB"/>
          </a:solidFill>
          <a:ln w="12700">
            <a:solidFill>
              <a:srgbClr val="2E4068"/>
            </a:solidFill>
            <a:prstDash val="solid"/>
          </a:ln>
        </p:spPr>
        <p:txBody>
          <a:bodyPr/>
          <a:lstStyle/>
          <a:p>
            <a:endParaRPr lang="en-SG"/>
          </a:p>
        </p:txBody>
      </p:sp>
      <p:sp>
        <p:nvSpPr>
          <p:cNvPr id="27" name="Shape 25"/>
          <p:cNvSpPr/>
          <p:nvPr/>
        </p:nvSpPr>
        <p:spPr>
          <a:xfrm>
            <a:off x="219456" y="3200400"/>
            <a:ext cx="310896" cy="201168"/>
          </a:xfrm>
          <a:prstGeom prst="roundRect">
            <a:avLst>
              <a:gd name="adj" fmla="val 18182"/>
            </a:avLst>
          </a:prstGeom>
          <a:solidFill>
            <a:srgbClr val="EF233C"/>
          </a:solidFill>
          <a:ln w="12700">
            <a:solidFill>
              <a:srgbClr val="EF233C"/>
            </a:solidFill>
            <a:prstDash val="solid"/>
          </a:ln>
        </p:spPr>
        <p:txBody>
          <a:bodyPr/>
          <a:lstStyle/>
          <a:p>
            <a:endParaRPr lang="en-SG"/>
          </a:p>
        </p:txBody>
      </p:sp>
      <p:sp>
        <p:nvSpPr>
          <p:cNvPr id="28" name="Text 26"/>
          <p:cNvSpPr/>
          <p:nvPr/>
        </p:nvSpPr>
        <p:spPr>
          <a:xfrm>
            <a:off x="219456" y="3209544"/>
            <a:ext cx="310896" cy="146304"/>
          </a:xfrm>
          <a:prstGeom prst="rect">
            <a:avLst/>
          </a:prstGeom>
          <a:noFill/>
          <a:ln/>
        </p:spPr>
        <p:txBody>
          <a:bodyPr wrap="square" lIns="0" tIns="0" rIns="0" bIns="0" rtlCol="0" anchor="ctr"/>
          <a:lstStyle/>
          <a:p>
            <a:pPr marL="0" indent="0" algn="ctr">
              <a:buNone/>
            </a:pPr>
            <a:r>
              <a:rPr lang="en-US" sz="700" b="1" dirty="0">
                <a:solidFill>
                  <a:srgbClr val="000000"/>
                </a:solidFill>
                <a:latin typeface="Trebuchet MS" pitchFamily="34" charset="0"/>
                <a:ea typeface="Trebuchet MS" pitchFamily="34" charset="-122"/>
                <a:cs typeface="Trebuchet MS" pitchFamily="34" charset="-120"/>
              </a:rPr>
              <a:t>3rd</a:t>
            </a:r>
            <a:endParaRPr lang="en-US" sz="700" dirty="0"/>
          </a:p>
        </p:txBody>
      </p:sp>
      <p:sp>
        <p:nvSpPr>
          <p:cNvPr id="29" name="Text 27"/>
          <p:cNvSpPr/>
          <p:nvPr/>
        </p:nvSpPr>
        <p:spPr>
          <a:xfrm>
            <a:off x="585216" y="3191256"/>
            <a:ext cx="2377440" cy="146304"/>
          </a:xfrm>
          <a:prstGeom prst="rect">
            <a:avLst/>
          </a:prstGeom>
          <a:noFill/>
          <a:ln/>
        </p:spPr>
        <p:txBody>
          <a:bodyPr wrap="square" lIns="0" tIns="0" rIns="0" bIns="0" rtlCol="0" anchor="ctr"/>
          <a:lstStyle/>
          <a:p>
            <a:pPr marL="0" indent="0">
              <a:buNone/>
            </a:pPr>
            <a:r>
              <a:rPr lang="en-US" sz="850" b="1" dirty="0">
                <a:solidFill>
                  <a:srgbClr val="1A1A2E"/>
                </a:solidFill>
                <a:latin typeface="Trebuchet MS" pitchFamily="34" charset="0"/>
                <a:ea typeface="Trebuchet MS" pitchFamily="34" charset="-122"/>
                <a:cs typeface="Trebuchet MS" pitchFamily="34" charset="-120"/>
              </a:rPr>
              <a:t>Network state</a:t>
            </a:r>
            <a:endParaRPr lang="en-US" sz="850" dirty="0"/>
          </a:p>
        </p:txBody>
      </p:sp>
      <p:sp>
        <p:nvSpPr>
          <p:cNvPr id="30" name="Text 28"/>
          <p:cNvSpPr/>
          <p:nvPr/>
        </p:nvSpPr>
        <p:spPr>
          <a:xfrm>
            <a:off x="585216" y="3328416"/>
            <a:ext cx="2377440" cy="109728"/>
          </a:xfrm>
          <a:prstGeom prst="rect">
            <a:avLst/>
          </a:prstGeom>
          <a:noFill/>
          <a:ln/>
        </p:spPr>
        <p:txBody>
          <a:bodyPr wrap="square" rtlCol="0" anchor="ctr"/>
          <a:lstStyle/>
          <a:p>
            <a:pPr marL="0" indent="0">
              <a:buNone/>
            </a:pPr>
            <a:r>
              <a:rPr lang="en-US" sz="700" dirty="0">
                <a:solidFill>
                  <a:srgbClr val="475569"/>
                </a:solidFill>
                <a:latin typeface="Calibri" pitchFamily="34" charset="0"/>
                <a:ea typeface="Calibri" pitchFamily="34" charset="-122"/>
                <a:cs typeface="Calibri" pitchFamily="34" charset="-120"/>
              </a:rPr>
              <a:t>Active connections, ARP cache, routing tables</a:t>
            </a:r>
            <a:endParaRPr lang="en-US" sz="700" dirty="0"/>
          </a:p>
        </p:txBody>
      </p:sp>
      <p:sp>
        <p:nvSpPr>
          <p:cNvPr id="31" name="Shape 29"/>
          <p:cNvSpPr/>
          <p:nvPr/>
        </p:nvSpPr>
        <p:spPr>
          <a:xfrm>
            <a:off x="201168" y="3502152"/>
            <a:ext cx="2798064" cy="292608"/>
          </a:xfrm>
          <a:prstGeom prst="rect">
            <a:avLst/>
          </a:prstGeom>
          <a:solidFill>
            <a:srgbClr val="EEF6FB"/>
          </a:solidFill>
          <a:ln w="12700">
            <a:solidFill>
              <a:srgbClr val="2E4068"/>
            </a:solidFill>
            <a:prstDash val="solid"/>
          </a:ln>
        </p:spPr>
        <p:txBody>
          <a:bodyPr/>
          <a:lstStyle/>
          <a:p>
            <a:endParaRPr lang="en-SG"/>
          </a:p>
        </p:txBody>
      </p:sp>
      <p:sp>
        <p:nvSpPr>
          <p:cNvPr id="32" name="Shape 30"/>
          <p:cNvSpPr/>
          <p:nvPr/>
        </p:nvSpPr>
        <p:spPr>
          <a:xfrm>
            <a:off x="219456" y="3538728"/>
            <a:ext cx="310896" cy="201168"/>
          </a:xfrm>
          <a:prstGeom prst="roundRect">
            <a:avLst>
              <a:gd name="adj" fmla="val 18182"/>
            </a:avLst>
          </a:prstGeom>
          <a:solidFill>
            <a:srgbClr val="EF233C"/>
          </a:solidFill>
          <a:ln w="12700">
            <a:solidFill>
              <a:srgbClr val="EF233C"/>
            </a:solidFill>
            <a:prstDash val="solid"/>
          </a:ln>
        </p:spPr>
        <p:txBody>
          <a:bodyPr/>
          <a:lstStyle/>
          <a:p>
            <a:endParaRPr lang="en-SG"/>
          </a:p>
        </p:txBody>
      </p:sp>
      <p:sp>
        <p:nvSpPr>
          <p:cNvPr id="33" name="Text 31"/>
          <p:cNvSpPr/>
          <p:nvPr/>
        </p:nvSpPr>
        <p:spPr>
          <a:xfrm>
            <a:off x="219456" y="3547872"/>
            <a:ext cx="310896" cy="146304"/>
          </a:xfrm>
          <a:prstGeom prst="rect">
            <a:avLst/>
          </a:prstGeom>
          <a:noFill/>
          <a:ln/>
        </p:spPr>
        <p:txBody>
          <a:bodyPr wrap="square" lIns="0" tIns="0" rIns="0" bIns="0" rtlCol="0" anchor="ctr"/>
          <a:lstStyle/>
          <a:p>
            <a:pPr marL="0" indent="0" algn="ctr">
              <a:buNone/>
            </a:pPr>
            <a:r>
              <a:rPr lang="en-US" sz="700" b="1" dirty="0">
                <a:solidFill>
                  <a:srgbClr val="000000"/>
                </a:solidFill>
                <a:latin typeface="Trebuchet MS" pitchFamily="34" charset="0"/>
                <a:ea typeface="Trebuchet MS" pitchFamily="34" charset="-122"/>
                <a:cs typeface="Trebuchet MS" pitchFamily="34" charset="-120"/>
              </a:rPr>
              <a:t>4th</a:t>
            </a:r>
            <a:endParaRPr lang="en-US" sz="700" dirty="0"/>
          </a:p>
        </p:txBody>
      </p:sp>
      <p:sp>
        <p:nvSpPr>
          <p:cNvPr id="34" name="Text 32"/>
          <p:cNvSpPr/>
          <p:nvPr/>
        </p:nvSpPr>
        <p:spPr>
          <a:xfrm>
            <a:off x="585216" y="3529584"/>
            <a:ext cx="2377440" cy="146304"/>
          </a:xfrm>
          <a:prstGeom prst="rect">
            <a:avLst/>
          </a:prstGeom>
          <a:noFill/>
          <a:ln/>
        </p:spPr>
        <p:txBody>
          <a:bodyPr wrap="square" lIns="0" tIns="0" rIns="0" bIns="0" rtlCol="0" anchor="ctr"/>
          <a:lstStyle/>
          <a:p>
            <a:pPr marL="0" indent="0">
              <a:buNone/>
            </a:pPr>
            <a:r>
              <a:rPr lang="en-US" sz="850" b="1" dirty="0">
                <a:solidFill>
                  <a:srgbClr val="1A1A2E"/>
                </a:solidFill>
                <a:latin typeface="Trebuchet MS" pitchFamily="34" charset="0"/>
                <a:ea typeface="Trebuchet MS" pitchFamily="34" charset="-122"/>
                <a:cs typeface="Trebuchet MS" pitchFamily="34" charset="-120"/>
              </a:rPr>
              <a:t>Running processes</a:t>
            </a:r>
            <a:endParaRPr lang="en-US" sz="850" dirty="0"/>
          </a:p>
        </p:txBody>
      </p:sp>
      <p:sp>
        <p:nvSpPr>
          <p:cNvPr id="35" name="Text 33"/>
          <p:cNvSpPr/>
          <p:nvPr/>
        </p:nvSpPr>
        <p:spPr>
          <a:xfrm>
            <a:off x="585216" y="3666744"/>
            <a:ext cx="2377440" cy="109728"/>
          </a:xfrm>
          <a:prstGeom prst="rect">
            <a:avLst/>
          </a:prstGeom>
          <a:noFill/>
          <a:ln/>
        </p:spPr>
        <p:txBody>
          <a:bodyPr wrap="square" rtlCol="0" anchor="ctr"/>
          <a:lstStyle/>
          <a:p>
            <a:pPr marL="0" indent="0">
              <a:buNone/>
            </a:pPr>
            <a:r>
              <a:rPr lang="en-US" sz="700" dirty="0">
                <a:solidFill>
                  <a:srgbClr val="475569"/>
                </a:solidFill>
                <a:latin typeface="Calibri" pitchFamily="34" charset="0"/>
                <a:ea typeface="Calibri" pitchFamily="34" charset="-122"/>
                <a:cs typeface="Calibri" pitchFamily="34" charset="-120"/>
              </a:rPr>
              <a:t>Process list, open handles, DLLs in memory</a:t>
            </a:r>
            <a:endParaRPr lang="en-US" sz="700" dirty="0"/>
          </a:p>
        </p:txBody>
      </p:sp>
      <p:sp>
        <p:nvSpPr>
          <p:cNvPr id="36" name="Shape 34"/>
          <p:cNvSpPr/>
          <p:nvPr/>
        </p:nvSpPr>
        <p:spPr>
          <a:xfrm>
            <a:off x="201168" y="3840480"/>
            <a:ext cx="2798064" cy="292608"/>
          </a:xfrm>
          <a:prstGeom prst="rect">
            <a:avLst/>
          </a:prstGeom>
          <a:solidFill>
            <a:srgbClr val="EEF6FB"/>
          </a:solidFill>
          <a:ln w="12700">
            <a:solidFill>
              <a:srgbClr val="2E4068"/>
            </a:solidFill>
            <a:prstDash val="solid"/>
          </a:ln>
        </p:spPr>
        <p:txBody>
          <a:bodyPr/>
          <a:lstStyle/>
          <a:p>
            <a:endParaRPr lang="en-SG"/>
          </a:p>
        </p:txBody>
      </p:sp>
      <p:sp>
        <p:nvSpPr>
          <p:cNvPr id="37" name="Shape 35"/>
          <p:cNvSpPr/>
          <p:nvPr/>
        </p:nvSpPr>
        <p:spPr>
          <a:xfrm>
            <a:off x="219456" y="3877056"/>
            <a:ext cx="310896" cy="201168"/>
          </a:xfrm>
          <a:prstGeom prst="roundRect">
            <a:avLst>
              <a:gd name="adj" fmla="val 18182"/>
            </a:avLst>
          </a:prstGeom>
          <a:solidFill>
            <a:srgbClr val="EF233C"/>
          </a:solidFill>
          <a:ln w="12700">
            <a:solidFill>
              <a:srgbClr val="EF233C"/>
            </a:solidFill>
            <a:prstDash val="solid"/>
          </a:ln>
        </p:spPr>
        <p:txBody>
          <a:bodyPr/>
          <a:lstStyle/>
          <a:p>
            <a:endParaRPr lang="en-SG"/>
          </a:p>
        </p:txBody>
      </p:sp>
      <p:sp>
        <p:nvSpPr>
          <p:cNvPr id="38" name="Text 36"/>
          <p:cNvSpPr/>
          <p:nvPr/>
        </p:nvSpPr>
        <p:spPr>
          <a:xfrm>
            <a:off x="219456" y="3886200"/>
            <a:ext cx="310896" cy="146304"/>
          </a:xfrm>
          <a:prstGeom prst="rect">
            <a:avLst/>
          </a:prstGeom>
          <a:noFill/>
          <a:ln/>
        </p:spPr>
        <p:txBody>
          <a:bodyPr wrap="square" lIns="0" tIns="0" rIns="0" bIns="0" rtlCol="0" anchor="ctr"/>
          <a:lstStyle/>
          <a:p>
            <a:pPr marL="0" indent="0" algn="ctr">
              <a:buNone/>
            </a:pPr>
            <a:r>
              <a:rPr lang="en-US" sz="700" b="1" dirty="0">
                <a:solidFill>
                  <a:srgbClr val="000000"/>
                </a:solidFill>
                <a:latin typeface="Trebuchet MS" pitchFamily="34" charset="0"/>
                <a:ea typeface="Trebuchet MS" pitchFamily="34" charset="-122"/>
                <a:cs typeface="Trebuchet MS" pitchFamily="34" charset="-120"/>
              </a:rPr>
              <a:t>5th</a:t>
            </a:r>
            <a:endParaRPr lang="en-US" sz="700" dirty="0"/>
          </a:p>
        </p:txBody>
      </p:sp>
      <p:sp>
        <p:nvSpPr>
          <p:cNvPr id="39" name="Text 37"/>
          <p:cNvSpPr/>
          <p:nvPr/>
        </p:nvSpPr>
        <p:spPr>
          <a:xfrm>
            <a:off x="585216" y="3867912"/>
            <a:ext cx="2377440" cy="146304"/>
          </a:xfrm>
          <a:prstGeom prst="rect">
            <a:avLst/>
          </a:prstGeom>
          <a:noFill/>
          <a:ln/>
        </p:spPr>
        <p:txBody>
          <a:bodyPr wrap="square" lIns="0" tIns="0" rIns="0" bIns="0" rtlCol="0" anchor="ctr"/>
          <a:lstStyle/>
          <a:p>
            <a:pPr marL="0" indent="0">
              <a:buNone/>
            </a:pPr>
            <a:r>
              <a:rPr lang="en-US" sz="850" b="1" dirty="0">
                <a:solidFill>
                  <a:srgbClr val="1A1A2E"/>
                </a:solidFill>
                <a:latin typeface="Trebuchet MS" pitchFamily="34" charset="0"/>
                <a:ea typeface="Trebuchet MS" pitchFamily="34" charset="-122"/>
                <a:cs typeface="Trebuchet MS" pitchFamily="34" charset="-120"/>
              </a:rPr>
              <a:t>Temp files &amp; swap space</a:t>
            </a:r>
            <a:endParaRPr lang="en-US" sz="850" dirty="0"/>
          </a:p>
        </p:txBody>
      </p:sp>
      <p:sp>
        <p:nvSpPr>
          <p:cNvPr id="40" name="Text 38"/>
          <p:cNvSpPr/>
          <p:nvPr/>
        </p:nvSpPr>
        <p:spPr>
          <a:xfrm>
            <a:off x="585216" y="4005072"/>
            <a:ext cx="2377440" cy="109728"/>
          </a:xfrm>
          <a:prstGeom prst="rect">
            <a:avLst/>
          </a:prstGeom>
          <a:noFill/>
          <a:ln/>
        </p:spPr>
        <p:txBody>
          <a:bodyPr wrap="square" rtlCol="0" anchor="ctr"/>
          <a:lstStyle/>
          <a:p>
            <a:pPr marL="0" indent="0">
              <a:buNone/>
            </a:pPr>
            <a:r>
              <a:rPr lang="en-US" sz="700" dirty="0">
                <a:solidFill>
                  <a:srgbClr val="475569"/>
                </a:solidFill>
                <a:latin typeface="Calibri" pitchFamily="34" charset="0"/>
                <a:ea typeface="Calibri" pitchFamily="34" charset="-122"/>
                <a:cs typeface="Calibri" pitchFamily="34" charset="-120"/>
              </a:rPr>
              <a:t>OS paging file — partial memory snapshots</a:t>
            </a:r>
            <a:endParaRPr lang="en-US" sz="700" dirty="0"/>
          </a:p>
        </p:txBody>
      </p:sp>
      <p:sp>
        <p:nvSpPr>
          <p:cNvPr id="41" name="Shape 39"/>
          <p:cNvSpPr/>
          <p:nvPr/>
        </p:nvSpPr>
        <p:spPr>
          <a:xfrm>
            <a:off x="201168" y="4178808"/>
            <a:ext cx="2798064" cy="292608"/>
          </a:xfrm>
          <a:prstGeom prst="rect">
            <a:avLst/>
          </a:prstGeom>
          <a:solidFill>
            <a:srgbClr val="EEF6FB"/>
          </a:solidFill>
          <a:ln w="12700">
            <a:solidFill>
              <a:srgbClr val="2E4068"/>
            </a:solidFill>
            <a:prstDash val="solid"/>
          </a:ln>
        </p:spPr>
        <p:txBody>
          <a:bodyPr/>
          <a:lstStyle/>
          <a:p>
            <a:endParaRPr lang="en-SG"/>
          </a:p>
        </p:txBody>
      </p:sp>
      <p:sp>
        <p:nvSpPr>
          <p:cNvPr id="42" name="Shape 40"/>
          <p:cNvSpPr/>
          <p:nvPr/>
        </p:nvSpPr>
        <p:spPr>
          <a:xfrm>
            <a:off x="219456" y="4215384"/>
            <a:ext cx="310896" cy="201168"/>
          </a:xfrm>
          <a:prstGeom prst="roundRect">
            <a:avLst>
              <a:gd name="adj" fmla="val 18182"/>
            </a:avLst>
          </a:prstGeom>
          <a:solidFill>
            <a:srgbClr val="EF233C"/>
          </a:solidFill>
          <a:ln w="12700">
            <a:solidFill>
              <a:srgbClr val="EF233C"/>
            </a:solidFill>
            <a:prstDash val="solid"/>
          </a:ln>
        </p:spPr>
        <p:txBody>
          <a:bodyPr/>
          <a:lstStyle/>
          <a:p>
            <a:endParaRPr lang="en-SG"/>
          </a:p>
        </p:txBody>
      </p:sp>
      <p:sp>
        <p:nvSpPr>
          <p:cNvPr id="43" name="Text 41"/>
          <p:cNvSpPr/>
          <p:nvPr/>
        </p:nvSpPr>
        <p:spPr>
          <a:xfrm>
            <a:off x="219456" y="4224528"/>
            <a:ext cx="310896" cy="146304"/>
          </a:xfrm>
          <a:prstGeom prst="rect">
            <a:avLst/>
          </a:prstGeom>
          <a:noFill/>
          <a:ln/>
        </p:spPr>
        <p:txBody>
          <a:bodyPr wrap="square" lIns="0" tIns="0" rIns="0" bIns="0" rtlCol="0" anchor="ctr"/>
          <a:lstStyle/>
          <a:p>
            <a:pPr marL="0" indent="0" algn="ctr">
              <a:buNone/>
            </a:pPr>
            <a:r>
              <a:rPr lang="en-US" sz="700" b="1" dirty="0">
                <a:solidFill>
                  <a:srgbClr val="000000"/>
                </a:solidFill>
                <a:latin typeface="Trebuchet MS" pitchFamily="34" charset="0"/>
                <a:ea typeface="Trebuchet MS" pitchFamily="34" charset="-122"/>
                <a:cs typeface="Trebuchet MS" pitchFamily="34" charset="-120"/>
              </a:rPr>
              <a:t>6th</a:t>
            </a:r>
            <a:endParaRPr lang="en-US" sz="700" dirty="0"/>
          </a:p>
        </p:txBody>
      </p:sp>
      <p:sp>
        <p:nvSpPr>
          <p:cNvPr id="44" name="Text 42"/>
          <p:cNvSpPr/>
          <p:nvPr/>
        </p:nvSpPr>
        <p:spPr>
          <a:xfrm>
            <a:off x="585216" y="4206240"/>
            <a:ext cx="2377440" cy="146304"/>
          </a:xfrm>
          <a:prstGeom prst="rect">
            <a:avLst/>
          </a:prstGeom>
          <a:noFill/>
          <a:ln/>
        </p:spPr>
        <p:txBody>
          <a:bodyPr wrap="square" lIns="0" tIns="0" rIns="0" bIns="0" rtlCol="0" anchor="ctr"/>
          <a:lstStyle/>
          <a:p>
            <a:pPr marL="0" indent="0">
              <a:buNone/>
            </a:pPr>
            <a:r>
              <a:rPr lang="en-US" sz="850" b="1" dirty="0">
                <a:solidFill>
                  <a:srgbClr val="1A1A2E"/>
                </a:solidFill>
                <a:latin typeface="Trebuchet MS" pitchFamily="34" charset="0"/>
                <a:ea typeface="Trebuchet MS" pitchFamily="34" charset="-122"/>
                <a:cs typeface="Trebuchet MS" pitchFamily="34" charset="-120"/>
              </a:rPr>
              <a:t>Disk / storage media</a:t>
            </a:r>
            <a:endParaRPr lang="en-US" sz="850" dirty="0"/>
          </a:p>
        </p:txBody>
      </p:sp>
      <p:sp>
        <p:nvSpPr>
          <p:cNvPr id="45" name="Text 43"/>
          <p:cNvSpPr/>
          <p:nvPr/>
        </p:nvSpPr>
        <p:spPr>
          <a:xfrm>
            <a:off x="585216" y="4343400"/>
            <a:ext cx="2377440" cy="109728"/>
          </a:xfrm>
          <a:prstGeom prst="rect">
            <a:avLst/>
          </a:prstGeom>
          <a:noFill/>
          <a:ln/>
        </p:spPr>
        <p:txBody>
          <a:bodyPr wrap="square" rtlCol="0" anchor="ctr"/>
          <a:lstStyle/>
          <a:p>
            <a:pPr marL="0" indent="0">
              <a:buNone/>
            </a:pPr>
            <a:r>
              <a:rPr lang="en-US" sz="700" dirty="0">
                <a:solidFill>
                  <a:srgbClr val="475569"/>
                </a:solidFill>
                <a:latin typeface="Calibri" pitchFamily="34" charset="0"/>
                <a:ea typeface="Calibri" pitchFamily="34" charset="-122"/>
                <a:cs typeface="Calibri" pitchFamily="34" charset="-120"/>
              </a:rPr>
              <a:t>Least volatile — survives power loss</a:t>
            </a:r>
            <a:endParaRPr lang="en-US" sz="700" dirty="0"/>
          </a:p>
        </p:txBody>
      </p:sp>
      <p:sp>
        <p:nvSpPr>
          <p:cNvPr id="46" name="Shape 44"/>
          <p:cNvSpPr/>
          <p:nvPr/>
        </p:nvSpPr>
        <p:spPr>
          <a:xfrm>
            <a:off x="3255264" y="1335024"/>
            <a:ext cx="5669280" cy="3401568"/>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47" name="Shape 45"/>
          <p:cNvSpPr/>
          <p:nvPr/>
        </p:nvSpPr>
        <p:spPr>
          <a:xfrm>
            <a:off x="3255264" y="1335024"/>
            <a:ext cx="5669280" cy="347472"/>
          </a:xfrm>
          <a:prstGeom prst="rect">
            <a:avLst/>
          </a:prstGeom>
          <a:solidFill>
            <a:srgbClr val="06D6A0"/>
          </a:solidFill>
          <a:ln w="12700">
            <a:solidFill>
              <a:srgbClr val="06D6A0"/>
            </a:solidFill>
            <a:prstDash val="solid"/>
          </a:ln>
        </p:spPr>
        <p:txBody>
          <a:bodyPr/>
          <a:lstStyle/>
          <a:p>
            <a:endParaRPr lang="en-SG"/>
          </a:p>
        </p:txBody>
      </p:sp>
      <p:sp>
        <p:nvSpPr>
          <p:cNvPr id="48" name="Text 46"/>
          <p:cNvSpPr/>
          <p:nvPr/>
        </p:nvSpPr>
        <p:spPr>
          <a:xfrm>
            <a:off x="3364992" y="1362456"/>
            <a:ext cx="5486400" cy="237744"/>
          </a:xfrm>
          <a:prstGeom prst="rect">
            <a:avLst/>
          </a:prstGeom>
          <a:noFill/>
          <a:ln/>
        </p:spPr>
        <p:txBody>
          <a:bodyPr wrap="square" lIns="0" tIns="0" rIns="0" bIns="0" rtlCol="0" anchor="ctr"/>
          <a:lstStyle/>
          <a:p>
            <a:pPr marL="0" indent="0">
              <a:buNone/>
            </a:pPr>
            <a:r>
              <a:rPr lang="en-US" sz="1100" b="1" dirty="0">
                <a:solidFill>
                  <a:srgbClr val="000000"/>
                </a:solidFill>
                <a:latin typeface="Trebuchet MS" pitchFamily="34" charset="0"/>
                <a:ea typeface="Trebuchet MS" pitchFamily="34" charset="-122"/>
                <a:cs typeface="Trebuchet MS" pitchFamily="34" charset="-120"/>
              </a:rPr>
              <a:t>PHYSICAL vs LOGICAL ACQUISITION</a:t>
            </a:r>
            <a:endParaRPr lang="en-US" sz="1100" dirty="0"/>
          </a:p>
        </p:txBody>
      </p:sp>
      <p:sp>
        <p:nvSpPr>
          <p:cNvPr id="49" name="Shape 47"/>
          <p:cNvSpPr/>
          <p:nvPr/>
        </p:nvSpPr>
        <p:spPr>
          <a:xfrm>
            <a:off x="3346704" y="1737360"/>
            <a:ext cx="2697480" cy="274320"/>
          </a:xfrm>
          <a:prstGeom prst="rect">
            <a:avLst/>
          </a:prstGeom>
          <a:solidFill>
            <a:srgbClr val="06D6A0"/>
          </a:solidFill>
          <a:ln w="12700">
            <a:solidFill>
              <a:srgbClr val="06D6A0"/>
            </a:solidFill>
            <a:prstDash val="solid"/>
          </a:ln>
        </p:spPr>
        <p:txBody>
          <a:bodyPr/>
          <a:lstStyle/>
          <a:p>
            <a:endParaRPr lang="en-SG"/>
          </a:p>
        </p:txBody>
      </p:sp>
      <p:sp>
        <p:nvSpPr>
          <p:cNvPr id="50" name="Text 48"/>
          <p:cNvSpPr/>
          <p:nvPr/>
        </p:nvSpPr>
        <p:spPr>
          <a:xfrm>
            <a:off x="3346704" y="1755648"/>
            <a:ext cx="2697480" cy="201168"/>
          </a:xfrm>
          <a:prstGeom prst="rect">
            <a:avLst/>
          </a:prstGeom>
          <a:noFill/>
          <a:ln/>
        </p:spPr>
        <p:txBody>
          <a:bodyPr wrap="square" rtlCol="0" anchor="ctr"/>
          <a:lstStyle/>
          <a:p>
            <a:pPr marL="0" indent="0" algn="ctr">
              <a:buNone/>
            </a:pPr>
            <a:r>
              <a:rPr lang="en-US" sz="1000" b="1" dirty="0">
                <a:solidFill>
                  <a:srgbClr val="000000"/>
                </a:solidFill>
                <a:latin typeface="Trebuchet MS" pitchFamily="34" charset="0"/>
                <a:ea typeface="Trebuchet MS" pitchFamily="34" charset="-122"/>
                <a:cs typeface="Trebuchet MS" pitchFamily="34" charset="-120"/>
              </a:rPr>
              <a:t>PHYSICAL</a:t>
            </a:r>
            <a:endParaRPr lang="en-US" sz="1000" dirty="0"/>
          </a:p>
        </p:txBody>
      </p:sp>
      <p:sp>
        <p:nvSpPr>
          <p:cNvPr id="51" name="Shape 49"/>
          <p:cNvSpPr/>
          <p:nvPr/>
        </p:nvSpPr>
        <p:spPr>
          <a:xfrm>
            <a:off x="3346704" y="2066544"/>
            <a:ext cx="2697480" cy="329184"/>
          </a:xfrm>
          <a:prstGeom prst="rect">
            <a:avLst/>
          </a:prstGeom>
          <a:solidFill>
            <a:srgbClr val="EEF6FB"/>
          </a:solidFill>
          <a:ln w="12700">
            <a:solidFill>
              <a:srgbClr val="06D6A0"/>
            </a:solidFill>
            <a:prstDash val="solid"/>
          </a:ln>
        </p:spPr>
        <p:txBody>
          <a:bodyPr/>
          <a:lstStyle/>
          <a:p>
            <a:endParaRPr lang="en-SG"/>
          </a:p>
        </p:txBody>
      </p:sp>
      <p:sp>
        <p:nvSpPr>
          <p:cNvPr id="52" name="Text 50"/>
          <p:cNvSpPr/>
          <p:nvPr/>
        </p:nvSpPr>
        <p:spPr>
          <a:xfrm>
            <a:off x="3364992" y="210312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53" name="Text 51"/>
          <p:cNvSpPr/>
          <p:nvPr/>
        </p:nvSpPr>
        <p:spPr>
          <a:xfrm>
            <a:off x="3621024" y="2084832"/>
            <a:ext cx="2258568" cy="164592"/>
          </a:xfrm>
          <a:prstGeom prst="rect">
            <a:avLst/>
          </a:prstGeom>
          <a:noFill/>
          <a:ln/>
        </p:spPr>
        <p:txBody>
          <a:bodyPr wrap="square" lIns="0" tIns="0" rIns="0" bIns="0" rtlCol="0" anchor="ctr"/>
          <a:lstStyle/>
          <a:p>
            <a:pPr marL="0" indent="0">
              <a:buNone/>
            </a:pPr>
            <a:r>
              <a:rPr lang="en-US" sz="850" b="1" dirty="0">
                <a:solidFill>
                  <a:srgbClr val="06D6A0"/>
                </a:solidFill>
                <a:latin typeface="Trebuchet MS" pitchFamily="34" charset="0"/>
                <a:ea typeface="Trebuchet MS" pitchFamily="34" charset="-122"/>
                <a:cs typeface="Trebuchet MS" pitchFamily="34" charset="-120"/>
              </a:rPr>
              <a:t>Bit-for-bit copy of entire device</a:t>
            </a:r>
            <a:endParaRPr lang="en-US" sz="850" dirty="0"/>
          </a:p>
        </p:txBody>
      </p:sp>
      <p:sp>
        <p:nvSpPr>
          <p:cNvPr id="54" name="Text 52"/>
          <p:cNvSpPr/>
          <p:nvPr/>
        </p:nvSpPr>
        <p:spPr>
          <a:xfrm>
            <a:off x="3621024" y="2231136"/>
            <a:ext cx="225856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Every sector including unallocated space, deleted files, and slack space.</a:t>
            </a:r>
            <a:endParaRPr lang="en-US" sz="750" dirty="0"/>
          </a:p>
        </p:txBody>
      </p:sp>
      <p:sp>
        <p:nvSpPr>
          <p:cNvPr id="55" name="Shape 53"/>
          <p:cNvSpPr/>
          <p:nvPr/>
        </p:nvSpPr>
        <p:spPr>
          <a:xfrm>
            <a:off x="3346704" y="2432304"/>
            <a:ext cx="2697480" cy="329184"/>
          </a:xfrm>
          <a:prstGeom prst="rect">
            <a:avLst/>
          </a:prstGeom>
          <a:solidFill>
            <a:srgbClr val="EEF6FB"/>
          </a:solidFill>
          <a:ln w="12700">
            <a:solidFill>
              <a:srgbClr val="06D6A0"/>
            </a:solidFill>
            <a:prstDash val="solid"/>
          </a:ln>
        </p:spPr>
        <p:txBody>
          <a:bodyPr/>
          <a:lstStyle/>
          <a:p>
            <a:endParaRPr lang="en-SG"/>
          </a:p>
        </p:txBody>
      </p:sp>
      <p:sp>
        <p:nvSpPr>
          <p:cNvPr id="56" name="Text 54"/>
          <p:cNvSpPr/>
          <p:nvPr/>
        </p:nvSpPr>
        <p:spPr>
          <a:xfrm>
            <a:off x="3364992" y="246888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57" name="Text 55"/>
          <p:cNvSpPr/>
          <p:nvPr/>
        </p:nvSpPr>
        <p:spPr>
          <a:xfrm>
            <a:off x="3621024" y="2450592"/>
            <a:ext cx="2258568" cy="164592"/>
          </a:xfrm>
          <a:prstGeom prst="rect">
            <a:avLst/>
          </a:prstGeom>
          <a:noFill/>
          <a:ln/>
        </p:spPr>
        <p:txBody>
          <a:bodyPr wrap="square" lIns="0" tIns="0" rIns="0" bIns="0" rtlCol="0" anchor="ctr"/>
          <a:lstStyle/>
          <a:p>
            <a:pPr marL="0" indent="0">
              <a:buNone/>
            </a:pPr>
            <a:r>
              <a:rPr lang="en-US" sz="850" b="1" dirty="0">
                <a:solidFill>
                  <a:srgbClr val="06D6A0"/>
                </a:solidFill>
                <a:latin typeface="Trebuchet MS" pitchFamily="34" charset="0"/>
                <a:ea typeface="Trebuchet MS" pitchFamily="34" charset="-122"/>
                <a:cs typeface="Trebuchet MS" pitchFamily="34" charset="-120"/>
              </a:rPr>
              <a:t>Recovers deleted &amp; hidden data</a:t>
            </a:r>
            <a:endParaRPr lang="en-US" sz="850" dirty="0"/>
          </a:p>
        </p:txBody>
      </p:sp>
      <p:sp>
        <p:nvSpPr>
          <p:cNvPr id="58" name="Text 56"/>
          <p:cNvSpPr/>
          <p:nvPr/>
        </p:nvSpPr>
        <p:spPr>
          <a:xfrm>
            <a:off x="3621024" y="2596896"/>
            <a:ext cx="225856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File carving possible. Recovers artefacts the OS considers 'gone'.</a:t>
            </a:r>
            <a:endParaRPr lang="en-US" sz="750" dirty="0"/>
          </a:p>
        </p:txBody>
      </p:sp>
      <p:sp>
        <p:nvSpPr>
          <p:cNvPr id="59" name="Shape 57"/>
          <p:cNvSpPr/>
          <p:nvPr/>
        </p:nvSpPr>
        <p:spPr>
          <a:xfrm>
            <a:off x="3346704" y="2798064"/>
            <a:ext cx="2697480" cy="329184"/>
          </a:xfrm>
          <a:prstGeom prst="rect">
            <a:avLst/>
          </a:prstGeom>
          <a:solidFill>
            <a:srgbClr val="EEF6FB"/>
          </a:solidFill>
          <a:ln w="12700">
            <a:solidFill>
              <a:srgbClr val="06D6A0"/>
            </a:solidFill>
            <a:prstDash val="solid"/>
          </a:ln>
        </p:spPr>
        <p:txBody>
          <a:bodyPr/>
          <a:lstStyle/>
          <a:p>
            <a:endParaRPr lang="en-SG"/>
          </a:p>
        </p:txBody>
      </p:sp>
      <p:sp>
        <p:nvSpPr>
          <p:cNvPr id="60" name="Text 58"/>
          <p:cNvSpPr/>
          <p:nvPr/>
        </p:nvSpPr>
        <p:spPr>
          <a:xfrm>
            <a:off x="3364992" y="283464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61" name="Text 59"/>
          <p:cNvSpPr/>
          <p:nvPr/>
        </p:nvSpPr>
        <p:spPr>
          <a:xfrm>
            <a:off x="3621024" y="2816352"/>
            <a:ext cx="2258568" cy="164592"/>
          </a:xfrm>
          <a:prstGeom prst="rect">
            <a:avLst/>
          </a:prstGeom>
          <a:noFill/>
          <a:ln/>
        </p:spPr>
        <p:txBody>
          <a:bodyPr wrap="square" lIns="0" tIns="0" rIns="0" bIns="0" rtlCol="0" anchor="ctr"/>
          <a:lstStyle/>
          <a:p>
            <a:pPr marL="0" indent="0">
              <a:buNone/>
            </a:pPr>
            <a:r>
              <a:rPr lang="en-US" sz="850" b="1" dirty="0">
                <a:solidFill>
                  <a:srgbClr val="06D6A0"/>
                </a:solidFill>
                <a:latin typeface="Trebuchet MS" pitchFamily="34" charset="0"/>
                <a:ea typeface="Trebuchet MS" pitchFamily="34" charset="-122"/>
                <a:cs typeface="Trebuchet MS" pitchFamily="34" charset="-120"/>
              </a:rPr>
              <a:t>The forensic gold standard</a:t>
            </a:r>
            <a:endParaRPr lang="en-US" sz="850" dirty="0"/>
          </a:p>
        </p:txBody>
      </p:sp>
      <p:sp>
        <p:nvSpPr>
          <p:cNvPr id="62" name="Text 60"/>
          <p:cNvSpPr/>
          <p:nvPr/>
        </p:nvSpPr>
        <p:spPr>
          <a:xfrm>
            <a:off x="3621024" y="2962656"/>
            <a:ext cx="225856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Required for criminal proceedings. Produces a verifiable forensic image (E01/DD).</a:t>
            </a:r>
            <a:endParaRPr lang="en-US" sz="750" dirty="0"/>
          </a:p>
        </p:txBody>
      </p:sp>
      <p:sp>
        <p:nvSpPr>
          <p:cNvPr id="63" name="Shape 61"/>
          <p:cNvSpPr/>
          <p:nvPr/>
        </p:nvSpPr>
        <p:spPr>
          <a:xfrm>
            <a:off x="3346704" y="3163824"/>
            <a:ext cx="2697480" cy="329184"/>
          </a:xfrm>
          <a:prstGeom prst="rect">
            <a:avLst/>
          </a:prstGeom>
          <a:solidFill>
            <a:srgbClr val="EEF6FB"/>
          </a:solidFill>
          <a:ln w="12700">
            <a:solidFill>
              <a:srgbClr val="2E4068"/>
            </a:solidFill>
            <a:prstDash val="solid"/>
          </a:ln>
        </p:spPr>
        <p:txBody>
          <a:bodyPr/>
          <a:lstStyle/>
          <a:p>
            <a:endParaRPr lang="en-SG"/>
          </a:p>
        </p:txBody>
      </p:sp>
      <p:sp>
        <p:nvSpPr>
          <p:cNvPr id="64" name="Text 62"/>
          <p:cNvSpPr/>
          <p:nvPr/>
        </p:nvSpPr>
        <p:spPr>
          <a:xfrm>
            <a:off x="3364992" y="320040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65" name="Text 63"/>
          <p:cNvSpPr/>
          <p:nvPr/>
        </p:nvSpPr>
        <p:spPr>
          <a:xfrm>
            <a:off x="3621024" y="3182112"/>
            <a:ext cx="2258568" cy="164592"/>
          </a:xfrm>
          <a:prstGeom prst="rect">
            <a:avLst/>
          </a:prstGeom>
          <a:noFill/>
          <a:ln/>
        </p:spPr>
        <p:txBody>
          <a:bodyPr wrap="square" lIns="0" tIns="0" rIns="0" bIns="0" rtlCol="0" anchor="ctr"/>
          <a:lstStyle/>
          <a:p>
            <a:pPr marL="0" indent="0">
              <a:buNone/>
            </a:pPr>
            <a:r>
              <a:rPr lang="en-US" sz="850" b="1" dirty="0">
                <a:solidFill>
                  <a:srgbClr val="1A1A2E"/>
                </a:solidFill>
                <a:latin typeface="Trebuchet MS" pitchFamily="34" charset="0"/>
                <a:ea typeface="Trebuchet MS" pitchFamily="34" charset="-122"/>
                <a:cs typeface="Trebuchet MS" pitchFamily="34" charset="-120"/>
              </a:rPr>
              <a:t>Requires write blocker</a:t>
            </a:r>
            <a:endParaRPr lang="en-US" sz="850" dirty="0"/>
          </a:p>
        </p:txBody>
      </p:sp>
      <p:sp>
        <p:nvSpPr>
          <p:cNvPr id="66" name="Text 64"/>
          <p:cNvSpPr/>
          <p:nvPr/>
        </p:nvSpPr>
        <p:spPr>
          <a:xfrm>
            <a:off x="3621024" y="3328416"/>
            <a:ext cx="225856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Hardware write blocker mandatory. Without it, any access is evidentially compromised.</a:t>
            </a:r>
            <a:endParaRPr lang="en-US" sz="750" dirty="0"/>
          </a:p>
        </p:txBody>
      </p:sp>
      <p:sp>
        <p:nvSpPr>
          <p:cNvPr id="67" name="Shape 65"/>
          <p:cNvSpPr/>
          <p:nvPr/>
        </p:nvSpPr>
        <p:spPr>
          <a:xfrm>
            <a:off x="3346704" y="3529584"/>
            <a:ext cx="2697480" cy="329184"/>
          </a:xfrm>
          <a:prstGeom prst="rect">
            <a:avLst/>
          </a:prstGeom>
          <a:solidFill>
            <a:srgbClr val="EEF6FB"/>
          </a:solidFill>
          <a:ln w="12700">
            <a:solidFill>
              <a:srgbClr val="2E4068"/>
            </a:solidFill>
            <a:prstDash val="solid"/>
          </a:ln>
        </p:spPr>
        <p:txBody>
          <a:bodyPr/>
          <a:lstStyle/>
          <a:p>
            <a:endParaRPr lang="en-SG"/>
          </a:p>
        </p:txBody>
      </p:sp>
      <p:sp>
        <p:nvSpPr>
          <p:cNvPr id="68" name="Text 66"/>
          <p:cNvSpPr/>
          <p:nvPr/>
        </p:nvSpPr>
        <p:spPr>
          <a:xfrm>
            <a:off x="3364992" y="356616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69" name="Text 67"/>
          <p:cNvSpPr/>
          <p:nvPr/>
        </p:nvSpPr>
        <p:spPr>
          <a:xfrm>
            <a:off x="3621024" y="3547872"/>
            <a:ext cx="2258568" cy="164592"/>
          </a:xfrm>
          <a:prstGeom prst="rect">
            <a:avLst/>
          </a:prstGeom>
          <a:noFill/>
          <a:ln/>
        </p:spPr>
        <p:txBody>
          <a:bodyPr wrap="square" lIns="0" tIns="0" rIns="0" bIns="0" rtlCol="0" anchor="ctr"/>
          <a:lstStyle/>
          <a:p>
            <a:pPr marL="0" indent="0">
              <a:buNone/>
            </a:pPr>
            <a:r>
              <a:rPr lang="en-US" sz="850" b="1" dirty="0">
                <a:solidFill>
                  <a:srgbClr val="1A1A2E"/>
                </a:solidFill>
                <a:latin typeface="Trebuchet MS" pitchFamily="34" charset="0"/>
                <a:ea typeface="Trebuchet MS" pitchFamily="34" charset="-122"/>
                <a:cs typeface="Trebuchet MS" pitchFamily="34" charset="-120"/>
              </a:rPr>
              <a:t>Slower — hours for large drives</a:t>
            </a:r>
            <a:endParaRPr lang="en-US" sz="850" dirty="0"/>
          </a:p>
        </p:txBody>
      </p:sp>
      <p:sp>
        <p:nvSpPr>
          <p:cNvPr id="70" name="Text 68"/>
          <p:cNvSpPr/>
          <p:nvPr/>
        </p:nvSpPr>
        <p:spPr>
          <a:xfrm>
            <a:off x="3621024" y="3694176"/>
            <a:ext cx="225856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A 1TB drive can take 3–8 hours depending on imaging tool and drive health.</a:t>
            </a:r>
            <a:endParaRPr lang="en-US" sz="750" dirty="0"/>
          </a:p>
        </p:txBody>
      </p:sp>
      <p:sp>
        <p:nvSpPr>
          <p:cNvPr id="71" name="Shape 69"/>
          <p:cNvSpPr/>
          <p:nvPr/>
        </p:nvSpPr>
        <p:spPr>
          <a:xfrm>
            <a:off x="6135624" y="1737360"/>
            <a:ext cx="2697480" cy="274320"/>
          </a:xfrm>
          <a:prstGeom prst="rect">
            <a:avLst/>
          </a:prstGeom>
          <a:solidFill>
            <a:srgbClr val="FB8500"/>
          </a:solidFill>
          <a:ln w="12700">
            <a:solidFill>
              <a:srgbClr val="FB8500"/>
            </a:solidFill>
            <a:prstDash val="solid"/>
          </a:ln>
        </p:spPr>
        <p:txBody>
          <a:bodyPr/>
          <a:lstStyle/>
          <a:p>
            <a:endParaRPr lang="en-SG"/>
          </a:p>
        </p:txBody>
      </p:sp>
      <p:sp>
        <p:nvSpPr>
          <p:cNvPr id="72" name="Text 70"/>
          <p:cNvSpPr/>
          <p:nvPr/>
        </p:nvSpPr>
        <p:spPr>
          <a:xfrm>
            <a:off x="6135624" y="1755648"/>
            <a:ext cx="2697480" cy="201168"/>
          </a:xfrm>
          <a:prstGeom prst="rect">
            <a:avLst/>
          </a:prstGeom>
          <a:noFill/>
          <a:ln/>
        </p:spPr>
        <p:txBody>
          <a:bodyPr wrap="square" rtlCol="0" anchor="ctr"/>
          <a:lstStyle/>
          <a:p>
            <a:pPr marL="0" indent="0" algn="ctr">
              <a:buNone/>
            </a:pPr>
            <a:r>
              <a:rPr lang="en-US" sz="1000" b="1" dirty="0">
                <a:solidFill>
                  <a:srgbClr val="1A1A2E"/>
                </a:solidFill>
                <a:latin typeface="Trebuchet MS" pitchFamily="34" charset="0"/>
                <a:ea typeface="Trebuchet MS" pitchFamily="34" charset="-122"/>
                <a:cs typeface="Trebuchet MS" pitchFamily="34" charset="-120"/>
              </a:rPr>
              <a:t>LOGICAL</a:t>
            </a:r>
            <a:endParaRPr lang="en-US" sz="1000" dirty="0"/>
          </a:p>
        </p:txBody>
      </p:sp>
      <p:sp>
        <p:nvSpPr>
          <p:cNvPr id="73" name="Shape 71"/>
          <p:cNvSpPr/>
          <p:nvPr/>
        </p:nvSpPr>
        <p:spPr>
          <a:xfrm>
            <a:off x="6135624" y="2066544"/>
            <a:ext cx="2697480" cy="329184"/>
          </a:xfrm>
          <a:prstGeom prst="rect">
            <a:avLst/>
          </a:prstGeom>
          <a:solidFill>
            <a:srgbClr val="EEF6FB"/>
          </a:solidFill>
          <a:ln w="12700">
            <a:solidFill>
              <a:srgbClr val="2E4068"/>
            </a:solidFill>
            <a:prstDash val="solid"/>
          </a:ln>
        </p:spPr>
        <p:txBody>
          <a:bodyPr/>
          <a:lstStyle/>
          <a:p>
            <a:endParaRPr lang="en-SG"/>
          </a:p>
        </p:txBody>
      </p:sp>
      <p:sp>
        <p:nvSpPr>
          <p:cNvPr id="74" name="Text 72"/>
          <p:cNvSpPr/>
          <p:nvPr/>
        </p:nvSpPr>
        <p:spPr>
          <a:xfrm>
            <a:off x="6153912" y="210312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75" name="Text 73"/>
          <p:cNvSpPr/>
          <p:nvPr/>
        </p:nvSpPr>
        <p:spPr>
          <a:xfrm>
            <a:off x="6409944" y="2084832"/>
            <a:ext cx="2350008" cy="164592"/>
          </a:xfrm>
          <a:prstGeom prst="rect">
            <a:avLst/>
          </a:prstGeom>
          <a:noFill/>
          <a:ln/>
        </p:spPr>
        <p:txBody>
          <a:bodyPr wrap="square" lIns="0" tIns="0" rIns="0" bIns="0" rtlCol="0" anchor="ctr"/>
          <a:lstStyle/>
          <a:p>
            <a:pPr marL="0" indent="0">
              <a:buNone/>
            </a:pPr>
            <a:r>
              <a:rPr lang="en-US" sz="850" b="1" dirty="0">
                <a:solidFill>
                  <a:srgbClr val="1A1A2E"/>
                </a:solidFill>
                <a:latin typeface="Trebuchet MS" pitchFamily="34" charset="0"/>
                <a:ea typeface="Trebuchet MS" pitchFamily="34" charset="-122"/>
                <a:cs typeface="Trebuchet MS" pitchFamily="34" charset="-120"/>
              </a:rPr>
              <a:t>Copies only active, visible files</a:t>
            </a:r>
            <a:endParaRPr lang="en-US" sz="850" dirty="0"/>
          </a:p>
        </p:txBody>
      </p:sp>
      <p:sp>
        <p:nvSpPr>
          <p:cNvPr id="76" name="Text 74"/>
          <p:cNvSpPr/>
          <p:nvPr/>
        </p:nvSpPr>
        <p:spPr>
          <a:xfrm>
            <a:off x="6409944" y="2231136"/>
            <a:ext cx="235000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What the OS currently sees — no unallocated space, no deleted files.</a:t>
            </a:r>
            <a:endParaRPr lang="en-US" sz="750" dirty="0"/>
          </a:p>
        </p:txBody>
      </p:sp>
      <p:sp>
        <p:nvSpPr>
          <p:cNvPr id="77" name="Shape 75"/>
          <p:cNvSpPr/>
          <p:nvPr/>
        </p:nvSpPr>
        <p:spPr>
          <a:xfrm>
            <a:off x="6135624" y="2432304"/>
            <a:ext cx="2697480" cy="329184"/>
          </a:xfrm>
          <a:prstGeom prst="rect">
            <a:avLst/>
          </a:prstGeom>
          <a:solidFill>
            <a:srgbClr val="EEF6FB"/>
          </a:solidFill>
          <a:ln w="12700">
            <a:solidFill>
              <a:srgbClr val="2E4068"/>
            </a:solidFill>
            <a:prstDash val="solid"/>
          </a:ln>
        </p:spPr>
        <p:txBody>
          <a:bodyPr/>
          <a:lstStyle/>
          <a:p>
            <a:endParaRPr lang="en-SG"/>
          </a:p>
        </p:txBody>
      </p:sp>
      <p:sp>
        <p:nvSpPr>
          <p:cNvPr id="78" name="Text 76"/>
          <p:cNvSpPr/>
          <p:nvPr/>
        </p:nvSpPr>
        <p:spPr>
          <a:xfrm>
            <a:off x="6153912" y="246888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79" name="Text 77"/>
          <p:cNvSpPr/>
          <p:nvPr/>
        </p:nvSpPr>
        <p:spPr>
          <a:xfrm>
            <a:off x="6409944" y="2450592"/>
            <a:ext cx="2350008" cy="164592"/>
          </a:xfrm>
          <a:prstGeom prst="rect">
            <a:avLst/>
          </a:prstGeom>
          <a:noFill/>
          <a:ln/>
        </p:spPr>
        <p:txBody>
          <a:bodyPr wrap="square" lIns="0" tIns="0" rIns="0" bIns="0" rtlCol="0" anchor="ctr"/>
          <a:lstStyle/>
          <a:p>
            <a:pPr marL="0" indent="0">
              <a:buNone/>
            </a:pPr>
            <a:r>
              <a:rPr lang="en-US" sz="850" b="1" dirty="0">
                <a:solidFill>
                  <a:srgbClr val="1A1A2E"/>
                </a:solidFill>
                <a:latin typeface="Trebuchet MS" pitchFamily="34" charset="0"/>
                <a:ea typeface="Trebuchet MS" pitchFamily="34" charset="-122"/>
                <a:cs typeface="Trebuchet MS" pitchFamily="34" charset="-120"/>
              </a:rPr>
              <a:t>Fast — minutes to complete</a:t>
            </a:r>
            <a:endParaRPr lang="en-US" sz="850" dirty="0"/>
          </a:p>
        </p:txBody>
      </p:sp>
      <p:sp>
        <p:nvSpPr>
          <p:cNvPr id="80" name="Text 78"/>
          <p:cNvSpPr/>
          <p:nvPr/>
        </p:nvSpPr>
        <p:spPr>
          <a:xfrm>
            <a:off x="6409944" y="2596896"/>
            <a:ext cx="235000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Useful for triage or when time is critical (suspect about to be released).</a:t>
            </a:r>
            <a:endParaRPr lang="en-US" sz="750" dirty="0"/>
          </a:p>
        </p:txBody>
      </p:sp>
      <p:sp>
        <p:nvSpPr>
          <p:cNvPr id="81" name="Shape 79"/>
          <p:cNvSpPr/>
          <p:nvPr/>
        </p:nvSpPr>
        <p:spPr>
          <a:xfrm>
            <a:off x="6135624" y="2798064"/>
            <a:ext cx="2697480" cy="329184"/>
          </a:xfrm>
          <a:prstGeom prst="rect">
            <a:avLst/>
          </a:prstGeom>
          <a:solidFill>
            <a:srgbClr val="EEF6FB"/>
          </a:solidFill>
          <a:ln w="12700">
            <a:solidFill>
              <a:srgbClr val="2E4068"/>
            </a:solidFill>
            <a:prstDash val="solid"/>
          </a:ln>
        </p:spPr>
        <p:txBody>
          <a:bodyPr/>
          <a:lstStyle/>
          <a:p>
            <a:endParaRPr lang="en-SG"/>
          </a:p>
        </p:txBody>
      </p:sp>
      <p:sp>
        <p:nvSpPr>
          <p:cNvPr id="82" name="Text 80"/>
          <p:cNvSpPr/>
          <p:nvPr/>
        </p:nvSpPr>
        <p:spPr>
          <a:xfrm>
            <a:off x="6153912" y="283464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83" name="Text 81"/>
          <p:cNvSpPr/>
          <p:nvPr/>
        </p:nvSpPr>
        <p:spPr>
          <a:xfrm>
            <a:off x="6409944" y="2816352"/>
            <a:ext cx="2350008" cy="164592"/>
          </a:xfrm>
          <a:prstGeom prst="rect">
            <a:avLst/>
          </a:prstGeom>
          <a:noFill/>
          <a:ln/>
        </p:spPr>
        <p:txBody>
          <a:bodyPr wrap="square" lIns="0" tIns="0" rIns="0" bIns="0" rtlCol="0" anchor="ctr"/>
          <a:lstStyle/>
          <a:p>
            <a:pPr marL="0" indent="0">
              <a:buNone/>
            </a:pPr>
            <a:r>
              <a:rPr lang="en-US" sz="850" b="1" dirty="0">
                <a:solidFill>
                  <a:srgbClr val="1A1A2E"/>
                </a:solidFill>
                <a:latin typeface="Trebuchet MS" pitchFamily="34" charset="0"/>
                <a:ea typeface="Trebuchet MS" pitchFamily="34" charset="-122"/>
                <a:cs typeface="Trebuchet MS" pitchFamily="34" charset="-120"/>
              </a:rPr>
              <a:t>Common for mobile devices</a:t>
            </a:r>
            <a:endParaRPr lang="en-US" sz="850" dirty="0"/>
          </a:p>
        </p:txBody>
      </p:sp>
      <p:sp>
        <p:nvSpPr>
          <p:cNvPr id="84" name="Text 82"/>
          <p:cNvSpPr/>
          <p:nvPr/>
        </p:nvSpPr>
        <p:spPr>
          <a:xfrm>
            <a:off x="6409944" y="2962656"/>
            <a:ext cx="235000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UFED logical extraction used when physical extraction is not possible or lawful.</a:t>
            </a:r>
            <a:endParaRPr lang="en-US" sz="750" dirty="0"/>
          </a:p>
        </p:txBody>
      </p:sp>
      <p:sp>
        <p:nvSpPr>
          <p:cNvPr id="85" name="Shape 83"/>
          <p:cNvSpPr/>
          <p:nvPr/>
        </p:nvSpPr>
        <p:spPr>
          <a:xfrm>
            <a:off x="6135624" y="3163824"/>
            <a:ext cx="2697480" cy="329184"/>
          </a:xfrm>
          <a:prstGeom prst="rect">
            <a:avLst/>
          </a:prstGeom>
          <a:solidFill>
            <a:srgbClr val="EEF6FB"/>
          </a:solidFill>
          <a:ln w="12700">
            <a:solidFill>
              <a:srgbClr val="EF233C"/>
            </a:solidFill>
            <a:prstDash val="solid"/>
          </a:ln>
        </p:spPr>
        <p:txBody>
          <a:bodyPr/>
          <a:lstStyle/>
          <a:p>
            <a:endParaRPr lang="en-SG"/>
          </a:p>
        </p:txBody>
      </p:sp>
      <p:sp>
        <p:nvSpPr>
          <p:cNvPr id="86" name="Text 84"/>
          <p:cNvSpPr/>
          <p:nvPr/>
        </p:nvSpPr>
        <p:spPr>
          <a:xfrm>
            <a:off x="6153912" y="320040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87" name="Text 85"/>
          <p:cNvSpPr/>
          <p:nvPr/>
        </p:nvSpPr>
        <p:spPr>
          <a:xfrm>
            <a:off x="6409944" y="3182112"/>
            <a:ext cx="2350008" cy="164592"/>
          </a:xfrm>
          <a:prstGeom prst="rect">
            <a:avLst/>
          </a:prstGeom>
          <a:noFill/>
          <a:ln/>
        </p:spPr>
        <p:txBody>
          <a:bodyPr wrap="square" lIns="0" tIns="0" rIns="0" bIns="0" rtlCol="0" anchor="ctr"/>
          <a:lstStyle/>
          <a:p>
            <a:pPr marL="0" indent="0">
              <a:buNone/>
            </a:pPr>
            <a:r>
              <a:rPr lang="en-US" sz="850" b="1" dirty="0">
                <a:solidFill>
                  <a:srgbClr val="EF233C"/>
                </a:solidFill>
                <a:latin typeface="Trebuchet MS" pitchFamily="34" charset="0"/>
                <a:ea typeface="Trebuchet MS" pitchFamily="34" charset="-122"/>
                <a:cs typeface="Trebuchet MS" pitchFamily="34" charset="-120"/>
              </a:rPr>
              <a:t>Cannot recover deleted data</a:t>
            </a:r>
            <a:endParaRPr lang="en-US" sz="850" dirty="0"/>
          </a:p>
        </p:txBody>
      </p:sp>
      <p:sp>
        <p:nvSpPr>
          <p:cNvPr id="88" name="Text 86"/>
          <p:cNvSpPr/>
          <p:nvPr/>
        </p:nvSpPr>
        <p:spPr>
          <a:xfrm>
            <a:off x="6409944" y="3328416"/>
            <a:ext cx="235000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Deleted file entries are not copied. Significant investigative blind spot.</a:t>
            </a:r>
            <a:endParaRPr lang="en-US" sz="750" dirty="0"/>
          </a:p>
        </p:txBody>
      </p:sp>
      <p:sp>
        <p:nvSpPr>
          <p:cNvPr id="89" name="Shape 87"/>
          <p:cNvSpPr/>
          <p:nvPr/>
        </p:nvSpPr>
        <p:spPr>
          <a:xfrm>
            <a:off x="6135624" y="3529584"/>
            <a:ext cx="2697480" cy="329184"/>
          </a:xfrm>
          <a:prstGeom prst="rect">
            <a:avLst/>
          </a:prstGeom>
          <a:solidFill>
            <a:srgbClr val="EEF6FB"/>
          </a:solidFill>
          <a:ln w="12700">
            <a:solidFill>
              <a:srgbClr val="EF233C"/>
            </a:solidFill>
            <a:prstDash val="solid"/>
          </a:ln>
        </p:spPr>
        <p:txBody>
          <a:bodyPr/>
          <a:lstStyle/>
          <a:p>
            <a:endParaRPr lang="en-SG"/>
          </a:p>
        </p:txBody>
      </p:sp>
      <p:sp>
        <p:nvSpPr>
          <p:cNvPr id="90" name="Text 88"/>
          <p:cNvSpPr/>
          <p:nvPr/>
        </p:nvSpPr>
        <p:spPr>
          <a:xfrm>
            <a:off x="6153912" y="3566160"/>
            <a:ext cx="237744" cy="237744"/>
          </a:xfrm>
          <a:prstGeom prst="rect">
            <a:avLst/>
          </a:prstGeom>
          <a:noFill/>
          <a:ln/>
        </p:spPr>
        <p:txBody>
          <a:bodyPr wrap="square" lIns="0" tIns="0" rIns="0" bIns="0" rtlCol="0" anchor="ctr"/>
          <a:lstStyle/>
          <a:p>
            <a:pPr marL="0" indent="0" algn="ctr">
              <a:buNone/>
            </a:pPr>
            <a:r>
              <a:rPr lang="en-US" sz="1000" dirty="0">
                <a:solidFill>
                  <a:srgbClr val="000000"/>
                </a:solidFill>
              </a:rPr>
              <a:t>⚠️</a:t>
            </a:r>
            <a:endParaRPr lang="en-US" sz="1000" dirty="0"/>
          </a:p>
        </p:txBody>
      </p:sp>
      <p:sp>
        <p:nvSpPr>
          <p:cNvPr id="91" name="Text 89"/>
          <p:cNvSpPr/>
          <p:nvPr/>
        </p:nvSpPr>
        <p:spPr>
          <a:xfrm>
            <a:off x="6409944" y="3547872"/>
            <a:ext cx="2350008" cy="164592"/>
          </a:xfrm>
          <a:prstGeom prst="rect">
            <a:avLst/>
          </a:prstGeom>
          <a:noFill/>
          <a:ln/>
        </p:spPr>
        <p:txBody>
          <a:bodyPr wrap="square" lIns="0" tIns="0" rIns="0" bIns="0" rtlCol="0" anchor="ctr"/>
          <a:lstStyle/>
          <a:p>
            <a:pPr marL="0" indent="0">
              <a:buNone/>
            </a:pPr>
            <a:r>
              <a:rPr lang="en-US" sz="850" b="1" dirty="0">
                <a:solidFill>
                  <a:srgbClr val="EF233C"/>
                </a:solidFill>
                <a:latin typeface="Trebuchet MS" pitchFamily="34" charset="0"/>
                <a:ea typeface="Trebuchet MS" pitchFamily="34" charset="-122"/>
                <a:cs typeface="Trebuchet MS" pitchFamily="34" charset="-120"/>
              </a:rPr>
              <a:t>NOT the forensic standard</a:t>
            </a:r>
            <a:endParaRPr lang="en-US" sz="850" dirty="0"/>
          </a:p>
        </p:txBody>
      </p:sp>
      <p:sp>
        <p:nvSpPr>
          <p:cNvPr id="92" name="Text 90"/>
          <p:cNvSpPr/>
          <p:nvPr/>
        </p:nvSpPr>
        <p:spPr>
          <a:xfrm>
            <a:off x="6409944" y="3694176"/>
            <a:ext cx="2350008" cy="146304"/>
          </a:xfrm>
          <a:prstGeom prst="rect">
            <a:avLst/>
          </a:prstGeom>
          <a:noFill/>
          <a:ln/>
        </p:spPr>
        <p:txBody>
          <a:bodyPr wrap="square" rtlCol="0" anchor="ctr"/>
          <a:lstStyle/>
          <a:p>
            <a:pPr marL="0" indent="0">
              <a:buNone/>
            </a:pPr>
            <a:r>
              <a:rPr lang="en-US" sz="750" dirty="0">
                <a:solidFill>
                  <a:srgbClr val="1A1A2E"/>
                </a:solidFill>
                <a:latin typeface="Calibri" pitchFamily="34" charset="0"/>
                <a:ea typeface="Calibri" pitchFamily="34" charset="-122"/>
                <a:cs typeface="Calibri" pitchFamily="34" charset="-120"/>
              </a:rPr>
              <a:t>Acceptable only for triage, speed-critical scenarios, or where physical is impossible.</a:t>
            </a:r>
            <a:endParaRPr lang="en-US" sz="750" dirty="0"/>
          </a:p>
        </p:txBody>
      </p:sp>
      <p:sp>
        <p:nvSpPr>
          <p:cNvPr id="93" name="Shape 91"/>
          <p:cNvSpPr/>
          <p:nvPr/>
        </p:nvSpPr>
        <p:spPr>
          <a:xfrm>
            <a:off x="3364022" y="4464281"/>
            <a:ext cx="5459453" cy="283880"/>
          </a:xfrm>
          <a:prstGeom prst="rect">
            <a:avLst/>
          </a:prstGeom>
          <a:solidFill>
            <a:srgbClr val="06D6A0">
              <a:alpha val="85000"/>
            </a:srgbClr>
          </a:solidFill>
          <a:ln w="12700">
            <a:solidFill>
              <a:srgbClr val="06D6A0"/>
            </a:solidFill>
            <a:prstDash val="solid"/>
          </a:ln>
        </p:spPr>
        <p:txBody>
          <a:bodyPr/>
          <a:lstStyle/>
          <a:p>
            <a:endParaRPr lang="en-SG"/>
          </a:p>
        </p:txBody>
      </p:sp>
      <p:sp>
        <p:nvSpPr>
          <p:cNvPr id="94" name="Text 92"/>
          <p:cNvSpPr/>
          <p:nvPr/>
        </p:nvSpPr>
        <p:spPr>
          <a:xfrm>
            <a:off x="3349614" y="4343540"/>
            <a:ext cx="5394960" cy="568659"/>
          </a:xfrm>
          <a:prstGeom prst="rect">
            <a:avLst/>
          </a:prstGeom>
          <a:noFill/>
          <a:ln/>
        </p:spPr>
        <p:txBody>
          <a:bodyPr wrap="square" rtlCol="0" anchor="ctr"/>
          <a:lstStyle/>
          <a:p>
            <a:pPr marL="0" indent="0">
              <a:buNone/>
            </a:pPr>
            <a:r>
              <a:rPr lang="en-US" sz="800" b="1" dirty="0">
                <a:solidFill>
                  <a:srgbClr val="000000"/>
                </a:solidFill>
                <a:latin typeface="Calibri" pitchFamily="34" charset="0"/>
                <a:ea typeface="Calibri" pitchFamily="34" charset="-122"/>
                <a:cs typeface="Calibri" pitchFamily="34" charset="-120"/>
              </a:rPr>
              <a:t>In criminal cases: always attempt Physical first. Fall back to Logical only when device encryption, hardware damage, or legal constraints prevent it.</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Stage 03 — Collection: Documentation, Packaging &amp; Labelling</a:t>
            </a:r>
            <a:endParaRPr lang="en-US" sz="1700" dirty="0"/>
          </a:p>
        </p:txBody>
      </p:sp>
      <p:sp>
        <p:nvSpPr>
          <p:cNvPr id="6" name="Shape 4"/>
          <p:cNvSpPr/>
          <p:nvPr/>
        </p:nvSpPr>
        <p:spPr>
          <a:xfrm>
            <a:off x="109728" y="841248"/>
            <a:ext cx="4352544" cy="3913632"/>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09728" y="841248"/>
            <a:ext cx="4352544" cy="347472"/>
          </a:xfrm>
          <a:prstGeom prst="rect">
            <a:avLst/>
          </a:prstGeom>
          <a:solidFill>
            <a:srgbClr val="FFB703"/>
          </a:solidFill>
          <a:ln w="12700">
            <a:solidFill>
              <a:srgbClr val="FFB703"/>
            </a:solidFill>
            <a:prstDash val="solid"/>
          </a:ln>
        </p:spPr>
        <p:txBody>
          <a:bodyPr/>
          <a:lstStyle/>
          <a:p>
            <a:endParaRPr lang="en-SG"/>
          </a:p>
        </p:txBody>
      </p:sp>
      <p:sp>
        <p:nvSpPr>
          <p:cNvPr id="8" name="Text 6"/>
          <p:cNvSpPr/>
          <p:nvPr/>
        </p:nvSpPr>
        <p:spPr>
          <a:xfrm>
            <a:off x="201168" y="868680"/>
            <a:ext cx="4187952" cy="237744"/>
          </a:xfrm>
          <a:prstGeom prst="rect">
            <a:avLst/>
          </a:prstGeom>
          <a:noFill/>
          <a:ln/>
        </p:spPr>
        <p:txBody>
          <a:bodyPr wrap="square" lIns="0" tIns="0" rIns="0" bIns="0" rtlCol="0" anchor="ctr"/>
          <a:lstStyle/>
          <a:p>
            <a:pPr marL="0" indent="0">
              <a:buNone/>
            </a:pPr>
            <a:r>
              <a:rPr lang="en-US" sz="1200" b="1" dirty="0">
                <a:solidFill>
                  <a:srgbClr val="000000"/>
                </a:solidFill>
                <a:latin typeface="Trebuchet MS" pitchFamily="34" charset="0"/>
                <a:ea typeface="Trebuchet MS" pitchFamily="34" charset="-122"/>
                <a:cs typeface="Trebuchet MS" pitchFamily="34" charset="-120"/>
              </a:rPr>
              <a:t>📋  DOCUMENT EVERYTHING</a:t>
            </a:r>
            <a:endParaRPr lang="en-US" sz="1200" dirty="0"/>
          </a:p>
        </p:txBody>
      </p:sp>
      <p:sp>
        <p:nvSpPr>
          <p:cNvPr id="9" name="Shape 7"/>
          <p:cNvSpPr/>
          <p:nvPr/>
        </p:nvSpPr>
        <p:spPr>
          <a:xfrm>
            <a:off x="182880" y="1243584"/>
            <a:ext cx="4187952" cy="640080"/>
          </a:xfrm>
          <a:prstGeom prst="rect">
            <a:avLst/>
          </a:prstGeom>
          <a:solidFill>
            <a:srgbClr val="EEF6FB"/>
          </a:solidFill>
          <a:ln w="12700">
            <a:solidFill>
              <a:srgbClr val="FFB703"/>
            </a:solidFill>
            <a:prstDash val="solid"/>
          </a:ln>
        </p:spPr>
        <p:txBody>
          <a:bodyPr/>
          <a:lstStyle/>
          <a:p>
            <a:endParaRPr lang="en-SG"/>
          </a:p>
        </p:txBody>
      </p:sp>
      <p:sp>
        <p:nvSpPr>
          <p:cNvPr id="10" name="Text 8"/>
          <p:cNvSpPr/>
          <p:nvPr/>
        </p:nvSpPr>
        <p:spPr>
          <a:xfrm>
            <a:off x="201168" y="1298448"/>
            <a:ext cx="347472" cy="34747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1" name="Text 9"/>
          <p:cNvSpPr/>
          <p:nvPr/>
        </p:nvSpPr>
        <p:spPr>
          <a:xfrm>
            <a:off x="603504" y="1280160"/>
            <a:ext cx="3712464" cy="201168"/>
          </a:xfrm>
          <a:prstGeom prst="rect">
            <a:avLst/>
          </a:prstGeom>
          <a:noFill/>
          <a:ln/>
        </p:spPr>
        <p:txBody>
          <a:bodyPr wrap="square" lIns="0" tIns="0" rIns="0" bIns="0" rtlCol="0" anchor="ctr"/>
          <a:lstStyle/>
          <a:p>
            <a:pPr marL="0" indent="0">
              <a:buNone/>
            </a:pPr>
            <a:r>
              <a:rPr lang="en-US" sz="950" b="1" dirty="0">
                <a:solidFill>
                  <a:srgbClr val="FFB703"/>
                </a:solidFill>
                <a:latin typeface="Trebuchet MS" pitchFamily="34" charset="0"/>
                <a:ea typeface="Trebuchet MS" pitchFamily="34" charset="-122"/>
                <a:cs typeface="Trebuchet MS" pitchFamily="34" charset="-120"/>
              </a:rPr>
              <a:t>Photograph Before You Touch Anything</a:t>
            </a:r>
            <a:endParaRPr lang="en-US" sz="950" dirty="0"/>
          </a:p>
        </p:txBody>
      </p:sp>
      <p:sp>
        <p:nvSpPr>
          <p:cNvPr id="12" name="Text 10"/>
          <p:cNvSpPr/>
          <p:nvPr/>
        </p:nvSpPr>
        <p:spPr>
          <a:xfrm>
            <a:off x="603504" y="1481328"/>
            <a:ext cx="3712464" cy="36576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Take wide-angle, medium, and close-up photographs of every device in situ. Capture on/off state, screen contents, cable connections, surrounding items, and any notes or sticky labels visible. The scene photograph is your before state — you cannot recreate it.</a:t>
            </a:r>
            <a:endParaRPr lang="en-US" sz="800" dirty="0"/>
          </a:p>
        </p:txBody>
      </p:sp>
      <p:sp>
        <p:nvSpPr>
          <p:cNvPr id="13" name="Shape 11"/>
          <p:cNvSpPr/>
          <p:nvPr/>
        </p:nvSpPr>
        <p:spPr>
          <a:xfrm>
            <a:off x="182880" y="1938528"/>
            <a:ext cx="4187952" cy="640080"/>
          </a:xfrm>
          <a:prstGeom prst="rect">
            <a:avLst/>
          </a:prstGeom>
          <a:solidFill>
            <a:srgbClr val="EEF6FB"/>
          </a:solidFill>
          <a:ln w="12700">
            <a:solidFill>
              <a:srgbClr val="FFB703"/>
            </a:solidFill>
            <a:prstDash val="solid"/>
          </a:ln>
        </p:spPr>
        <p:txBody>
          <a:bodyPr/>
          <a:lstStyle/>
          <a:p>
            <a:endParaRPr lang="en-SG"/>
          </a:p>
        </p:txBody>
      </p:sp>
      <p:sp>
        <p:nvSpPr>
          <p:cNvPr id="14" name="Text 12"/>
          <p:cNvSpPr/>
          <p:nvPr/>
        </p:nvSpPr>
        <p:spPr>
          <a:xfrm>
            <a:off x="201168" y="1993392"/>
            <a:ext cx="347472" cy="34747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5" name="Text 13"/>
          <p:cNvSpPr/>
          <p:nvPr/>
        </p:nvSpPr>
        <p:spPr>
          <a:xfrm>
            <a:off x="603504" y="1975104"/>
            <a:ext cx="3712464" cy="201168"/>
          </a:xfrm>
          <a:prstGeom prst="rect">
            <a:avLst/>
          </a:prstGeom>
          <a:noFill/>
          <a:ln/>
        </p:spPr>
        <p:txBody>
          <a:bodyPr wrap="square" lIns="0" tIns="0" rIns="0" bIns="0" rtlCol="0" anchor="ctr"/>
          <a:lstStyle/>
          <a:p>
            <a:pPr marL="0" indent="0">
              <a:buNone/>
            </a:pPr>
            <a:r>
              <a:rPr lang="en-US" sz="950" b="1" dirty="0">
                <a:solidFill>
                  <a:srgbClr val="FFB703"/>
                </a:solidFill>
                <a:latin typeface="Trebuchet MS" pitchFamily="34" charset="0"/>
                <a:ea typeface="Trebuchet MS" pitchFamily="34" charset="-122"/>
                <a:cs typeface="Trebuchet MS" pitchFamily="34" charset="-120"/>
              </a:rPr>
              <a:t>Record Device State &amp; System Time</a:t>
            </a:r>
            <a:endParaRPr lang="en-US" sz="950" dirty="0"/>
          </a:p>
        </p:txBody>
      </p:sp>
      <p:sp>
        <p:nvSpPr>
          <p:cNvPr id="16" name="Text 14"/>
          <p:cNvSpPr/>
          <p:nvPr/>
        </p:nvSpPr>
        <p:spPr>
          <a:xfrm>
            <a:off x="603504" y="2176272"/>
            <a:ext cx="3712464" cy="36576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Note whether device is ON or OFF. If ON — record the system clock display and compare to a known reference time. Document any time offset. A device clock running 47 minutes fast means every timestamp must be adjusted by that delta.</a:t>
            </a:r>
            <a:endParaRPr lang="en-US" sz="800" dirty="0"/>
          </a:p>
        </p:txBody>
      </p:sp>
      <p:sp>
        <p:nvSpPr>
          <p:cNvPr id="17" name="Shape 15"/>
          <p:cNvSpPr/>
          <p:nvPr/>
        </p:nvSpPr>
        <p:spPr>
          <a:xfrm>
            <a:off x="182880" y="2633472"/>
            <a:ext cx="4187952" cy="640080"/>
          </a:xfrm>
          <a:prstGeom prst="rect">
            <a:avLst/>
          </a:prstGeom>
          <a:solidFill>
            <a:srgbClr val="EEF6FB"/>
          </a:solidFill>
          <a:ln w="12700">
            <a:solidFill>
              <a:srgbClr val="FFB703"/>
            </a:solidFill>
            <a:prstDash val="solid"/>
          </a:ln>
        </p:spPr>
        <p:txBody>
          <a:bodyPr/>
          <a:lstStyle/>
          <a:p>
            <a:endParaRPr lang="en-SG"/>
          </a:p>
        </p:txBody>
      </p:sp>
      <p:sp>
        <p:nvSpPr>
          <p:cNvPr id="18" name="Text 16"/>
          <p:cNvSpPr/>
          <p:nvPr/>
        </p:nvSpPr>
        <p:spPr>
          <a:xfrm>
            <a:off x="201168" y="2688336"/>
            <a:ext cx="347472" cy="34747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9" name="Text 17"/>
          <p:cNvSpPr/>
          <p:nvPr/>
        </p:nvSpPr>
        <p:spPr>
          <a:xfrm>
            <a:off x="603504" y="2670048"/>
            <a:ext cx="3712464" cy="201168"/>
          </a:xfrm>
          <a:prstGeom prst="rect">
            <a:avLst/>
          </a:prstGeom>
          <a:noFill/>
          <a:ln/>
        </p:spPr>
        <p:txBody>
          <a:bodyPr wrap="square" lIns="0" tIns="0" rIns="0" bIns="0" rtlCol="0" anchor="ctr"/>
          <a:lstStyle/>
          <a:p>
            <a:pPr marL="0" indent="0">
              <a:buNone/>
            </a:pPr>
            <a:r>
              <a:rPr lang="en-US" sz="950" b="1" dirty="0">
                <a:solidFill>
                  <a:srgbClr val="FFB703"/>
                </a:solidFill>
                <a:latin typeface="Trebuchet MS" pitchFamily="34" charset="0"/>
                <a:ea typeface="Trebuchet MS" pitchFamily="34" charset="-122"/>
                <a:cs typeface="Trebuchet MS" pitchFamily="34" charset="-120"/>
              </a:rPr>
              <a:t>Record All Identifiers</a:t>
            </a:r>
            <a:endParaRPr lang="en-US" sz="950" dirty="0"/>
          </a:p>
        </p:txBody>
      </p:sp>
      <p:sp>
        <p:nvSpPr>
          <p:cNvPr id="20" name="Text 18"/>
          <p:cNvSpPr/>
          <p:nvPr/>
        </p:nvSpPr>
        <p:spPr>
          <a:xfrm>
            <a:off x="603504" y="2871216"/>
            <a:ext cx="3712464" cy="36576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Serial number (usually on base/back). IMEI (phones — *#06# or SIM tray). MAC address (if visible). Model number and OS version if screen is accessible. Exhibit number affixed immediately.</a:t>
            </a:r>
            <a:endParaRPr lang="en-US" sz="800" dirty="0"/>
          </a:p>
        </p:txBody>
      </p:sp>
      <p:sp>
        <p:nvSpPr>
          <p:cNvPr id="21" name="Shape 19"/>
          <p:cNvSpPr/>
          <p:nvPr/>
        </p:nvSpPr>
        <p:spPr>
          <a:xfrm>
            <a:off x="182880" y="3328416"/>
            <a:ext cx="4187952" cy="640080"/>
          </a:xfrm>
          <a:prstGeom prst="rect">
            <a:avLst/>
          </a:prstGeom>
          <a:solidFill>
            <a:srgbClr val="EEF6FB"/>
          </a:solidFill>
          <a:ln w="12700">
            <a:solidFill>
              <a:srgbClr val="FFB703"/>
            </a:solidFill>
            <a:prstDash val="solid"/>
          </a:ln>
        </p:spPr>
        <p:txBody>
          <a:bodyPr/>
          <a:lstStyle/>
          <a:p>
            <a:endParaRPr lang="en-SG"/>
          </a:p>
        </p:txBody>
      </p:sp>
      <p:sp>
        <p:nvSpPr>
          <p:cNvPr id="22" name="Text 20"/>
          <p:cNvSpPr/>
          <p:nvPr/>
        </p:nvSpPr>
        <p:spPr>
          <a:xfrm>
            <a:off x="201168" y="3383280"/>
            <a:ext cx="347472" cy="34747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603504" y="3364992"/>
            <a:ext cx="3712464" cy="201168"/>
          </a:xfrm>
          <a:prstGeom prst="rect">
            <a:avLst/>
          </a:prstGeom>
          <a:noFill/>
          <a:ln/>
        </p:spPr>
        <p:txBody>
          <a:bodyPr wrap="square" lIns="0" tIns="0" rIns="0" bIns="0" rtlCol="0" anchor="ctr"/>
          <a:lstStyle/>
          <a:p>
            <a:pPr marL="0" indent="0">
              <a:buNone/>
            </a:pPr>
            <a:r>
              <a:rPr lang="en-US" sz="950" b="1" dirty="0">
                <a:solidFill>
                  <a:srgbClr val="FFB703"/>
                </a:solidFill>
                <a:latin typeface="Trebuchet MS" pitchFamily="34" charset="0"/>
                <a:ea typeface="Trebuchet MS" pitchFamily="34" charset="-122"/>
                <a:cs typeface="Trebuchet MS" pitchFamily="34" charset="-120"/>
              </a:rPr>
              <a:t>Contemporaneous Notes — No Exceptions</a:t>
            </a:r>
            <a:endParaRPr lang="en-US" sz="950" dirty="0"/>
          </a:p>
        </p:txBody>
      </p:sp>
      <p:sp>
        <p:nvSpPr>
          <p:cNvPr id="24" name="Text 22"/>
          <p:cNvSpPr/>
          <p:nvPr/>
        </p:nvSpPr>
        <p:spPr>
          <a:xfrm>
            <a:off x="603504" y="3566160"/>
            <a:ext cx="3712464" cy="36576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Write notes in real time. Do not reconstruct from memory later. Record every action taken, every observation made, every person present. Your notes are disclosable and will be scrutinised in cross-examination.</a:t>
            </a:r>
            <a:endParaRPr lang="en-US" sz="800" dirty="0"/>
          </a:p>
        </p:txBody>
      </p:sp>
      <p:sp>
        <p:nvSpPr>
          <p:cNvPr id="25" name="Shape 23"/>
          <p:cNvSpPr/>
          <p:nvPr/>
        </p:nvSpPr>
        <p:spPr>
          <a:xfrm>
            <a:off x="182880" y="4023360"/>
            <a:ext cx="4187952" cy="640080"/>
          </a:xfrm>
          <a:prstGeom prst="rect">
            <a:avLst/>
          </a:prstGeom>
          <a:solidFill>
            <a:srgbClr val="EEF6FB"/>
          </a:solidFill>
          <a:ln w="12700">
            <a:solidFill>
              <a:srgbClr val="FFB703"/>
            </a:solidFill>
            <a:prstDash val="solid"/>
          </a:ln>
        </p:spPr>
        <p:txBody>
          <a:bodyPr/>
          <a:lstStyle/>
          <a:p>
            <a:endParaRPr lang="en-SG"/>
          </a:p>
        </p:txBody>
      </p:sp>
      <p:sp>
        <p:nvSpPr>
          <p:cNvPr id="26" name="Text 24"/>
          <p:cNvSpPr/>
          <p:nvPr/>
        </p:nvSpPr>
        <p:spPr>
          <a:xfrm>
            <a:off x="201168" y="4078224"/>
            <a:ext cx="347472" cy="347472"/>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7" name="Text 25"/>
          <p:cNvSpPr/>
          <p:nvPr/>
        </p:nvSpPr>
        <p:spPr>
          <a:xfrm>
            <a:off x="603504" y="4059936"/>
            <a:ext cx="3712464" cy="201168"/>
          </a:xfrm>
          <a:prstGeom prst="rect">
            <a:avLst/>
          </a:prstGeom>
          <a:noFill/>
          <a:ln/>
        </p:spPr>
        <p:txBody>
          <a:bodyPr wrap="square" lIns="0" tIns="0" rIns="0" bIns="0" rtlCol="0" anchor="ctr"/>
          <a:lstStyle/>
          <a:p>
            <a:pPr marL="0" indent="0">
              <a:buNone/>
            </a:pPr>
            <a:r>
              <a:rPr lang="en-US" sz="950" b="1" dirty="0">
                <a:solidFill>
                  <a:srgbClr val="FFB703"/>
                </a:solidFill>
                <a:latin typeface="Trebuchet MS" pitchFamily="34" charset="0"/>
                <a:ea typeface="Trebuchet MS" pitchFamily="34" charset="-122"/>
                <a:cs typeface="Trebuchet MS" pitchFamily="34" charset="-120"/>
              </a:rPr>
              <a:t>Scene Sketch / Diagram</a:t>
            </a:r>
            <a:endParaRPr lang="en-US" sz="950" dirty="0"/>
          </a:p>
        </p:txBody>
      </p:sp>
      <p:sp>
        <p:nvSpPr>
          <p:cNvPr id="28" name="Text 26"/>
          <p:cNvSpPr/>
          <p:nvPr/>
        </p:nvSpPr>
        <p:spPr>
          <a:xfrm>
            <a:off x="603504" y="4261104"/>
            <a:ext cx="3712464" cy="365760"/>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Hand-draw or digitally record device positions relative to each other and to the room. Note distances. This places digital evidence in physical context — critical for establishing whose device was where.</a:t>
            </a:r>
            <a:endParaRPr lang="en-US" sz="800" dirty="0"/>
          </a:p>
        </p:txBody>
      </p:sp>
      <p:sp>
        <p:nvSpPr>
          <p:cNvPr id="29" name="Shape 27"/>
          <p:cNvSpPr/>
          <p:nvPr/>
        </p:nvSpPr>
        <p:spPr>
          <a:xfrm>
            <a:off x="4681728" y="841248"/>
            <a:ext cx="4352544" cy="3913632"/>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30" name="Shape 28"/>
          <p:cNvSpPr/>
          <p:nvPr/>
        </p:nvSpPr>
        <p:spPr>
          <a:xfrm>
            <a:off x="4681728" y="841248"/>
            <a:ext cx="4352544" cy="347472"/>
          </a:xfrm>
          <a:prstGeom prst="rect">
            <a:avLst/>
          </a:prstGeom>
          <a:solidFill>
            <a:srgbClr val="00B4D8"/>
          </a:solidFill>
          <a:ln w="12700">
            <a:solidFill>
              <a:srgbClr val="00B4D8"/>
            </a:solidFill>
            <a:prstDash val="solid"/>
          </a:ln>
        </p:spPr>
        <p:txBody>
          <a:bodyPr/>
          <a:lstStyle/>
          <a:p>
            <a:endParaRPr lang="en-SG"/>
          </a:p>
        </p:txBody>
      </p:sp>
      <p:sp>
        <p:nvSpPr>
          <p:cNvPr id="31" name="Text 29"/>
          <p:cNvSpPr/>
          <p:nvPr/>
        </p:nvSpPr>
        <p:spPr>
          <a:xfrm>
            <a:off x="4773168" y="868680"/>
            <a:ext cx="4187952" cy="237744"/>
          </a:xfrm>
          <a:prstGeom prst="rect">
            <a:avLst/>
          </a:prstGeom>
          <a:noFill/>
          <a:ln/>
        </p:spPr>
        <p:txBody>
          <a:bodyPr wrap="square" lIns="0" tIns="0" rIns="0" bIns="0" rtlCol="0" anchor="ctr"/>
          <a:lstStyle/>
          <a:p>
            <a:pPr marL="0" indent="0">
              <a:buNone/>
            </a:pPr>
            <a:r>
              <a:rPr lang="en-US" sz="1200" b="1" dirty="0">
                <a:solidFill>
                  <a:srgbClr val="000000"/>
                </a:solidFill>
                <a:latin typeface="Trebuchet MS" pitchFamily="34" charset="0"/>
                <a:ea typeface="Trebuchet MS" pitchFamily="34" charset="-122"/>
                <a:cs typeface="Trebuchet MS" pitchFamily="34" charset="-120"/>
              </a:rPr>
              <a:t>📦  PACKAGING &amp; LABELLING</a:t>
            </a:r>
            <a:endParaRPr lang="en-US" sz="1200" dirty="0"/>
          </a:p>
        </p:txBody>
      </p:sp>
      <p:sp>
        <p:nvSpPr>
          <p:cNvPr id="32" name="Shape 30"/>
          <p:cNvSpPr/>
          <p:nvPr/>
        </p:nvSpPr>
        <p:spPr>
          <a:xfrm>
            <a:off x="4773168" y="1243584"/>
            <a:ext cx="2048256" cy="1627632"/>
          </a:xfrm>
          <a:prstGeom prst="roundRect">
            <a:avLst>
              <a:gd name="adj" fmla="val 4494"/>
            </a:avLst>
          </a:prstGeom>
          <a:solidFill>
            <a:srgbClr val="EEF6FB"/>
          </a:solidFill>
          <a:ln w="12700">
            <a:solidFill>
              <a:srgbClr val="FB8500"/>
            </a:solidFill>
            <a:prstDash val="solid"/>
          </a:ln>
        </p:spPr>
        <p:txBody>
          <a:bodyPr/>
          <a:lstStyle/>
          <a:p>
            <a:endParaRPr lang="en-SG"/>
          </a:p>
        </p:txBody>
      </p:sp>
      <p:sp>
        <p:nvSpPr>
          <p:cNvPr id="33" name="Shape 31"/>
          <p:cNvSpPr/>
          <p:nvPr/>
        </p:nvSpPr>
        <p:spPr>
          <a:xfrm>
            <a:off x="5522976" y="1298448"/>
            <a:ext cx="548640" cy="548640"/>
          </a:xfrm>
          <a:prstGeom prst="ellipse">
            <a:avLst/>
          </a:prstGeom>
          <a:solidFill>
            <a:srgbClr val="FB8500">
              <a:alpha val="90000"/>
            </a:srgbClr>
          </a:solidFill>
          <a:ln w="12700">
            <a:solidFill>
              <a:srgbClr val="FB8500"/>
            </a:solidFill>
            <a:prstDash val="solid"/>
          </a:ln>
        </p:spPr>
        <p:txBody>
          <a:bodyPr/>
          <a:lstStyle/>
          <a:p>
            <a:endParaRPr lang="en-SG"/>
          </a:p>
        </p:txBody>
      </p:sp>
      <p:sp>
        <p:nvSpPr>
          <p:cNvPr id="34" name="Text 32"/>
          <p:cNvSpPr/>
          <p:nvPr/>
        </p:nvSpPr>
        <p:spPr>
          <a:xfrm>
            <a:off x="5522976" y="1335024"/>
            <a:ext cx="548640" cy="43891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5" name="Text 33"/>
          <p:cNvSpPr/>
          <p:nvPr/>
        </p:nvSpPr>
        <p:spPr>
          <a:xfrm>
            <a:off x="4846320" y="1901952"/>
            <a:ext cx="1920240" cy="310896"/>
          </a:xfrm>
          <a:prstGeom prst="rect">
            <a:avLst/>
          </a:prstGeom>
          <a:noFill/>
          <a:ln/>
        </p:spPr>
        <p:txBody>
          <a:bodyPr wrap="square" rtlCol="0" anchor="ctr"/>
          <a:lstStyle/>
          <a:p>
            <a:pPr marL="0" indent="0" algn="ctr">
              <a:buNone/>
            </a:pPr>
            <a:r>
              <a:rPr lang="en-US" sz="900" b="1" dirty="0">
                <a:solidFill>
                  <a:srgbClr val="FB8500"/>
                </a:solidFill>
                <a:latin typeface="Trebuchet MS" pitchFamily="34" charset="0"/>
                <a:ea typeface="Trebuchet MS" pitchFamily="34" charset="-122"/>
                <a:cs typeface="Trebuchet MS" pitchFamily="34" charset="-120"/>
              </a:rPr>
              <a:t>Anti-Static Bags for Electronics</a:t>
            </a:r>
            <a:endParaRPr lang="en-US" sz="900" dirty="0"/>
          </a:p>
        </p:txBody>
      </p:sp>
      <p:sp>
        <p:nvSpPr>
          <p:cNvPr id="36" name="Text 34"/>
          <p:cNvSpPr/>
          <p:nvPr/>
        </p:nvSpPr>
        <p:spPr>
          <a:xfrm>
            <a:off x="4846320" y="2231136"/>
            <a:ext cx="1920240" cy="585216"/>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All drives, phones, and circuit boards go into anti-static (ESD) bags. Static discharge can corrupt data or damage chips. Never use ordinary plastic bags for storage media.</a:t>
            </a:r>
            <a:endParaRPr lang="en-US" sz="800" dirty="0"/>
          </a:p>
        </p:txBody>
      </p:sp>
      <p:sp>
        <p:nvSpPr>
          <p:cNvPr id="37" name="Shape 35"/>
          <p:cNvSpPr/>
          <p:nvPr/>
        </p:nvSpPr>
        <p:spPr>
          <a:xfrm>
            <a:off x="6876288" y="1243584"/>
            <a:ext cx="2048256" cy="1627632"/>
          </a:xfrm>
          <a:prstGeom prst="roundRect">
            <a:avLst>
              <a:gd name="adj" fmla="val 4494"/>
            </a:avLst>
          </a:prstGeom>
          <a:solidFill>
            <a:srgbClr val="EEF6FB"/>
          </a:solidFill>
          <a:ln w="12700">
            <a:solidFill>
              <a:srgbClr val="9B5DE5"/>
            </a:solidFill>
            <a:prstDash val="solid"/>
          </a:ln>
        </p:spPr>
        <p:txBody>
          <a:bodyPr/>
          <a:lstStyle/>
          <a:p>
            <a:endParaRPr lang="en-SG"/>
          </a:p>
        </p:txBody>
      </p:sp>
      <p:sp>
        <p:nvSpPr>
          <p:cNvPr id="38" name="Shape 36"/>
          <p:cNvSpPr/>
          <p:nvPr/>
        </p:nvSpPr>
        <p:spPr>
          <a:xfrm>
            <a:off x="7626096" y="1298448"/>
            <a:ext cx="548640" cy="548640"/>
          </a:xfrm>
          <a:prstGeom prst="ellipse">
            <a:avLst/>
          </a:prstGeom>
          <a:solidFill>
            <a:srgbClr val="9B5DE5">
              <a:alpha val="90000"/>
            </a:srgbClr>
          </a:solidFill>
          <a:ln w="12700">
            <a:solidFill>
              <a:srgbClr val="9B5DE5"/>
            </a:solidFill>
            <a:prstDash val="solid"/>
          </a:ln>
        </p:spPr>
        <p:txBody>
          <a:bodyPr/>
          <a:lstStyle/>
          <a:p>
            <a:endParaRPr lang="en-SG"/>
          </a:p>
        </p:txBody>
      </p:sp>
      <p:sp>
        <p:nvSpPr>
          <p:cNvPr id="39" name="Text 37"/>
          <p:cNvSpPr/>
          <p:nvPr/>
        </p:nvSpPr>
        <p:spPr>
          <a:xfrm>
            <a:off x="7626096" y="1335024"/>
            <a:ext cx="548640" cy="43891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0" name="Text 38"/>
          <p:cNvSpPr/>
          <p:nvPr/>
        </p:nvSpPr>
        <p:spPr>
          <a:xfrm>
            <a:off x="6949440" y="1901952"/>
            <a:ext cx="1920240" cy="310896"/>
          </a:xfrm>
          <a:prstGeom prst="rect">
            <a:avLst/>
          </a:prstGeom>
          <a:noFill/>
          <a:ln/>
        </p:spPr>
        <p:txBody>
          <a:bodyPr wrap="square" rtlCol="0" anchor="ctr"/>
          <a:lstStyle/>
          <a:p>
            <a:pPr marL="0" indent="0" algn="ctr">
              <a:buNone/>
            </a:pPr>
            <a:r>
              <a:rPr lang="en-US" sz="900" b="1" dirty="0">
                <a:solidFill>
                  <a:srgbClr val="9B5DE5"/>
                </a:solidFill>
                <a:latin typeface="Trebuchet MS" pitchFamily="34" charset="0"/>
                <a:ea typeface="Trebuchet MS" pitchFamily="34" charset="-122"/>
                <a:cs typeface="Trebuchet MS" pitchFamily="34" charset="-120"/>
              </a:rPr>
              <a:t>Faraday Bags for Mobile Devices</a:t>
            </a:r>
            <a:endParaRPr lang="en-US" sz="900" dirty="0"/>
          </a:p>
        </p:txBody>
      </p:sp>
      <p:sp>
        <p:nvSpPr>
          <p:cNvPr id="41" name="Text 39"/>
          <p:cNvSpPr/>
          <p:nvPr/>
        </p:nvSpPr>
        <p:spPr>
          <a:xfrm>
            <a:off x="6949440" y="2231136"/>
            <a:ext cx="1920240" cy="585216"/>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Phones, tablets, and GPS devices require Faraday isolation even after seizure. A powered-off device may auto-boot and receive a remote wipe on network reconnection.</a:t>
            </a:r>
            <a:endParaRPr lang="en-US" sz="800" dirty="0"/>
          </a:p>
        </p:txBody>
      </p:sp>
      <p:sp>
        <p:nvSpPr>
          <p:cNvPr id="42" name="Shape 40"/>
          <p:cNvSpPr/>
          <p:nvPr/>
        </p:nvSpPr>
        <p:spPr>
          <a:xfrm>
            <a:off x="4773168" y="2980944"/>
            <a:ext cx="2048256" cy="1627632"/>
          </a:xfrm>
          <a:prstGeom prst="roundRect">
            <a:avLst>
              <a:gd name="adj" fmla="val 4494"/>
            </a:avLst>
          </a:prstGeom>
          <a:solidFill>
            <a:srgbClr val="EEF6FB"/>
          </a:solidFill>
          <a:ln w="12700">
            <a:solidFill>
              <a:srgbClr val="FFB703"/>
            </a:solidFill>
            <a:prstDash val="solid"/>
          </a:ln>
        </p:spPr>
        <p:txBody>
          <a:bodyPr/>
          <a:lstStyle/>
          <a:p>
            <a:endParaRPr lang="en-SG"/>
          </a:p>
        </p:txBody>
      </p:sp>
      <p:sp>
        <p:nvSpPr>
          <p:cNvPr id="43" name="Shape 41"/>
          <p:cNvSpPr/>
          <p:nvPr/>
        </p:nvSpPr>
        <p:spPr>
          <a:xfrm>
            <a:off x="5522976" y="3035808"/>
            <a:ext cx="548640" cy="548640"/>
          </a:xfrm>
          <a:prstGeom prst="ellipse">
            <a:avLst/>
          </a:prstGeom>
          <a:solidFill>
            <a:srgbClr val="FFB703">
              <a:alpha val="90000"/>
            </a:srgbClr>
          </a:solidFill>
          <a:ln w="12700">
            <a:solidFill>
              <a:srgbClr val="FFB703"/>
            </a:solidFill>
            <a:prstDash val="solid"/>
          </a:ln>
        </p:spPr>
        <p:txBody>
          <a:bodyPr/>
          <a:lstStyle/>
          <a:p>
            <a:endParaRPr lang="en-SG"/>
          </a:p>
        </p:txBody>
      </p:sp>
      <p:sp>
        <p:nvSpPr>
          <p:cNvPr id="44" name="Text 42"/>
          <p:cNvSpPr/>
          <p:nvPr/>
        </p:nvSpPr>
        <p:spPr>
          <a:xfrm>
            <a:off x="5522976" y="3072384"/>
            <a:ext cx="548640" cy="43891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5" name="Text 43"/>
          <p:cNvSpPr/>
          <p:nvPr/>
        </p:nvSpPr>
        <p:spPr>
          <a:xfrm>
            <a:off x="4846320" y="3639312"/>
            <a:ext cx="1920240" cy="310896"/>
          </a:xfrm>
          <a:prstGeom prst="rect">
            <a:avLst/>
          </a:prstGeom>
          <a:noFill/>
          <a:ln/>
        </p:spPr>
        <p:txBody>
          <a:bodyPr wrap="square" rtlCol="0" anchor="ctr"/>
          <a:lstStyle/>
          <a:p>
            <a:pPr marL="0" indent="0" algn="ctr">
              <a:buNone/>
            </a:pPr>
            <a:r>
              <a:rPr lang="en-US" sz="900" b="1" dirty="0">
                <a:solidFill>
                  <a:srgbClr val="FFB703"/>
                </a:solidFill>
                <a:latin typeface="Trebuchet MS" pitchFamily="34" charset="0"/>
                <a:ea typeface="Trebuchet MS" pitchFamily="34" charset="-122"/>
                <a:cs typeface="Trebuchet MS" pitchFamily="34" charset="-120"/>
              </a:rPr>
              <a:t>Label Every Item Immediately</a:t>
            </a:r>
            <a:endParaRPr lang="en-US" sz="900" dirty="0"/>
          </a:p>
        </p:txBody>
      </p:sp>
      <p:sp>
        <p:nvSpPr>
          <p:cNvPr id="46" name="Text 44"/>
          <p:cNvSpPr/>
          <p:nvPr/>
        </p:nvSpPr>
        <p:spPr>
          <a:xfrm>
            <a:off x="4846320" y="3968496"/>
            <a:ext cx="1920240" cy="585216"/>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Each bag receives: Exhibit number · Date &amp; time seized · Seizing officer name &amp; badge · Case/investigation reference · Brief description of item. Label before sealing — never after.</a:t>
            </a:r>
            <a:endParaRPr lang="en-US" sz="800" dirty="0"/>
          </a:p>
        </p:txBody>
      </p:sp>
      <p:sp>
        <p:nvSpPr>
          <p:cNvPr id="47" name="Shape 45"/>
          <p:cNvSpPr/>
          <p:nvPr/>
        </p:nvSpPr>
        <p:spPr>
          <a:xfrm>
            <a:off x="6876288" y="2980944"/>
            <a:ext cx="2048256" cy="1627632"/>
          </a:xfrm>
          <a:prstGeom prst="roundRect">
            <a:avLst>
              <a:gd name="adj" fmla="val 4494"/>
            </a:avLst>
          </a:prstGeom>
          <a:solidFill>
            <a:srgbClr val="EEF6FB"/>
          </a:solidFill>
          <a:ln w="12700">
            <a:solidFill>
              <a:srgbClr val="06D6A0"/>
            </a:solidFill>
            <a:prstDash val="solid"/>
          </a:ln>
        </p:spPr>
        <p:txBody>
          <a:bodyPr/>
          <a:lstStyle/>
          <a:p>
            <a:endParaRPr lang="en-SG"/>
          </a:p>
        </p:txBody>
      </p:sp>
      <p:sp>
        <p:nvSpPr>
          <p:cNvPr id="48" name="Shape 46"/>
          <p:cNvSpPr/>
          <p:nvPr/>
        </p:nvSpPr>
        <p:spPr>
          <a:xfrm>
            <a:off x="7626096" y="3035808"/>
            <a:ext cx="548640" cy="548640"/>
          </a:xfrm>
          <a:prstGeom prst="ellipse">
            <a:avLst/>
          </a:prstGeom>
          <a:solidFill>
            <a:srgbClr val="06D6A0">
              <a:alpha val="90000"/>
            </a:srgbClr>
          </a:solidFill>
          <a:ln w="12700">
            <a:solidFill>
              <a:srgbClr val="06D6A0"/>
            </a:solidFill>
            <a:prstDash val="solid"/>
          </a:ln>
        </p:spPr>
        <p:txBody>
          <a:bodyPr/>
          <a:lstStyle/>
          <a:p>
            <a:endParaRPr lang="en-SG"/>
          </a:p>
        </p:txBody>
      </p:sp>
      <p:sp>
        <p:nvSpPr>
          <p:cNvPr id="49" name="Text 47"/>
          <p:cNvSpPr/>
          <p:nvPr/>
        </p:nvSpPr>
        <p:spPr>
          <a:xfrm>
            <a:off x="7626096" y="3072384"/>
            <a:ext cx="548640" cy="438912"/>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50" name="Text 48"/>
          <p:cNvSpPr/>
          <p:nvPr/>
        </p:nvSpPr>
        <p:spPr>
          <a:xfrm>
            <a:off x="6949440" y="3639312"/>
            <a:ext cx="1920240" cy="310896"/>
          </a:xfrm>
          <a:prstGeom prst="rect">
            <a:avLst/>
          </a:prstGeom>
          <a:noFill/>
          <a:ln/>
        </p:spPr>
        <p:txBody>
          <a:bodyPr wrap="square" rtlCol="0" anchor="ctr"/>
          <a:lstStyle/>
          <a:p>
            <a:pPr marL="0" indent="0" algn="ctr">
              <a:buNone/>
            </a:pPr>
            <a:r>
              <a:rPr lang="en-US" sz="900" b="1" dirty="0">
                <a:solidFill>
                  <a:srgbClr val="06D6A0"/>
                </a:solidFill>
                <a:latin typeface="Trebuchet MS" pitchFamily="34" charset="0"/>
                <a:ea typeface="Trebuchet MS" pitchFamily="34" charset="-122"/>
                <a:cs typeface="Trebuchet MS" pitchFamily="34" charset="-120"/>
              </a:rPr>
              <a:t>Tamper-Evident Seals</a:t>
            </a:r>
            <a:endParaRPr lang="en-US" sz="900" dirty="0"/>
          </a:p>
        </p:txBody>
      </p:sp>
      <p:sp>
        <p:nvSpPr>
          <p:cNvPr id="51" name="Text 49"/>
          <p:cNvSpPr/>
          <p:nvPr/>
        </p:nvSpPr>
        <p:spPr>
          <a:xfrm>
            <a:off x="6949440" y="3968496"/>
            <a:ext cx="1920240" cy="585216"/>
          </a:xfrm>
          <a:prstGeom prst="rect">
            <a:avLst/>
          </a:prstGeom>
          <a:noFill/>
          <a:ln/>
        </p:spPr>
        <p:txBody>
          <a:bodyPr wrap="square" rtlCol="0" anchor="ctr"/>
          <a:lstStyle/>
          <a:p>
            <a:pPr marL="0" indent="0">
              <a:buNone/>
            </a:pPr>
            <a:r>
              <a:rPr lang="en-US" sz="800" dirty="0">
                <a:solidFill>
                  <a:srgbClr val="1A1A2E"/>
                </a:solidFill>
                <a:latin typeface="Calibri" pitchFamily="34" charset="0"/>
                <a:ea typeface="Calibri" pitchFamily="34" charset="-122"/>
                <a:cs typeface="Calibri" pitchFamily="34" charset="-120"/>
              </a:rPr>
              <a:t>Apply tamper-evident tape across all openings. Officer signs across the seal. Any attempt to open the bag will visibly break the seal — providing court-admissible proof of integrity.</a:t>
            </a:r>
            <a:endParaRPr lang="en-US" sz="800" dirty="0"/>
          </a:p>
        </p:txBody>
      </p:sp>
      <p:sp>
        <p:nvSpPr>
          <p:cNvPr id="52" name="Shape 50"/>
          <p:cNvSpPr/>
          <p:nvPr/>
        </p:nvSpPr>
        <p:spPr>
          <a:xfrm>
            <a:off x="4773168" y="4628804"/>
            <a:ext cx="4151376" cy="266561"/>
          </a:xfrm>
          <a:prstGeom prst="rect">
            <a:avLst/>
          </a:prstGeom>
          <a:solidFill>
            <a:srgbClr val="EF233C">
              <a:alpha val="90000"/>
            </a:srgbClr>
          </a:solidFill>
          <a:ln w="12700">
            <a:solidFill>
              <a:srgbClr val="EF233C"/>
            </a:solidFill>
            <a:prstDash val="solid"/>
          </a:ln>
        </p:spPr>
        <p:txBody>
          <a:bodyPr/>
          <a:lstStyle/>
          <a:p>
            <a:endParaRPr lang="en-SG"/>
          </a:p>
        </p:txBody>
      </p:sp>
      <p:sp>
        <p:nvSpPr>
          <p:cNvPr id="53" name="Text 51"/>
          <p:cNvSpPr/>
          <p:nvPr/>
        </p:nvSpPr>
        <p:spPr>
          <a:xfrm>
            <a:off x="4845350" y="4663925"/>
            <a:ext cx="4086883" cy="265591"/>
          </a:xfrm>
          <a:prstGeom prst="rect">
            <a:avLst/>
          </a:prstGeom>
          <a:noFill/>
          <a:ln/>
        </p:spPr>
        <p:txBody>
          <a:bodyPr wrap="square" rtlCol="0" anchor="ctr"/>
          <a:lstStyle/>
          <a:p>
            <a:pPr marL="0" indent="0">
              <a:buNone/>
            </a:pPr>
            <a:r>
              <a:rPr lang="en-US" sz="800" b="1" i="1" dirty="0">
                <a:solidFill>
                  <a:srgbClr val="1A1A2E"/>
                </a:solidFill>
                <a:latin typeface="Calibri" pitchFamily="34" charset="0"/>
                <a:ea typeface="Calibri" pitchFamily="34" charset="-122"/>
                <a:cs typeface="Calibri" pitchFamily="34" charset="-120"/>
              </a:rPr>
              <a:t>⚠  Mislabelling or improper packaging has caused major prosecutions to collapse. There are no shortcuts at this stage.</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FB703"/>
          </a:solidFill>
          <a:ln w="12700">
            <a:solidFill>
              <a:srgbClr val="FFB703"/>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Chain of Custody — Definition &amp; Draft Form</a:t>
            </a:r>
            <a:endParaRPr lang="en-US" sz="1700" dirty="0"/>
          </a:p>
        </p:txBody>
      </p:sp>
      <p:sp>
        <p:nvSpPr>
          <p:cNvPr id="6" name="Shape 4"/>
          <p:cNvSpPr/>
          <p:nvPr/>
        </p:nvSpPr>
        <p:spPr>
          <a:xfrm>
            <a:off x="164592" y="841248"/>
            <a:ext cx="8814816" cy="530352"/>
          </a:xfrm>
          <a:prstGeom prst="rect">
            <a:avLst/>
          </a:prstGeom>
          <a:solidFill>
            <a:srgbClr val="EEF6FB"/>
          </a:solidFill>
          <a:ln w="12700">
            <a:solidFill>
              <a:srgbClr val="2E4068"/>
            </a:solidFill>
            <a:prstDash val="solid"/>
          </a:ln>
        </p:spPr>
        <p:txBody>
          <a:bodyPr/>
          <a:lstStyle/>
          <a:p>
            <a:endParaRPr lang="en-SG"/>
          </a:p>
        </p:txBody>
      </p:sp>
      <p:sp>
        <p:nvSpPr>
          <p:cNvPr id="7" name="Text 5"/>
          <p:cNvSpPr/>
          <p:nvPr/>
        </p:nvSpPr>
        <p:spPr>
          <a:xfrm>
            <a:off x="274320" y="914400"/>
            <a:ext cx="1097280" cy="256032"/>
          </a:xfrm>
          <a:prstGeom prst="rect">
            <a:avLst/>
          </a:prstGeom>
          <a:noFill/>
          <a:ln/>
        </p:spPr>
        <p:txBody>
          <a:bodyPr wrap="square" lIns="0" tIns="0" rIns="0" bIns="0" rtlCol="0" anchor="ctr"/>
          <a:lstStyle/>
          <a:p>
            <a:pPr marL="0" indent="0">
              <a:buNone/>
            </a:pPr>
            <a:r>
              <a:rPr lang="en-US" sz="1200" b="1" dirty="0">
                <a:solidFill>
                  <a:srgbClr val="FFB703"/>
                </a:solidFill>
                <a:latin typeface="Trebuchet MS" pitchFamily="34" charset="0"/>
                <a:ea typeface="Trebuchet MS" pitchFamily="34" charset="-122"/>
                <a:cs typeface="Trebuchet MS" pitchFamily="34" charset="-120"/>
              </a:rPr>
              <a:t>Definition:</a:t>
            </a:r>
            <a:endParaRPr lang="en-US" sz="1200" dirty="0"/>
          </a:p>
        </p:txBody>
      </p:sp>
      <p:sp>
        <p:nvSpPr>
          <p:cNvPr id="8" name="Text 6"/>
          <p:cNvSpPr/>
          <p:nvPr/>
        </p:nvSpPr>
        <p:spPr>
          <a:xfrm>
            <a:off x="1335024" y="914400"/>
            <a:ext cx="7516368" cy="384048"/>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A Chain of Custody Form records every person who handles evidence — from first collection to court presentation — proving it has not been tampered with, lost, or contaminated.</a:t>
            </a:r>
            <a:endParaRPr lang="en-US" sz="1150" dirty="0"/>
          </a:p>
        </p:txBody>
      </p:sp>
      <p:sp>
        <p:nvSpPr>
          <p:cNvPr id="9" name="Shape 7"/>
          <p:cNvSpPr/>
          <p:nvPr/>
        </p:nvSpPr>
        <p:spPr>
          <a:xfrm>
            <a:off x="164592" y="1481328"/>
            <a:ext cx="8814816" cy="3255264"/>
          </a:xfrm>
          <a:prstGeom prst="rect">
            <a:avLst/>
          </a:prstGeom>
          <a:solidFill>
            <a:srgbClr val="EEF6FB"/>
          </a:solidFill>
          <a:ln w="12700">
            <a:solidFill>
              <a:srgbClr val="2E4068"/>
            </a:solidFill>
            <a:prstDash val="solid"/>
          </a:ln>
          <a:effectLst>
            <a:outerShdw blurRad="152400" dist="50800" dir="8100000" algn="bl" rotWithShape="0">
              <a:srgbClr val="000000">
                <a:alpha val="40000"/>
              </a:srgbClr>
            </a:outerShdw>
          </a:effectLst>
        </p:spPr>
        <p:txBody>
          <a:bodyPr/>
          <a:lstStyle/>
          <a:p>
            <a:endParaRPr lang="en-SG"/>
          </a:p>
        </p:txBody>
      </p:sp>
      <p:sp>
        <p:nvSpPr>
          <p:cNvPr id="10" name="Shape 8"/>
          <p:cNvSpPr/>
          <p:nvPr/>
        </p:nvSpPr>
        <p:spPr>
          <a:xfrm>
            <a:off x="164592" y="1481328"/>
            <a:ext cx="8814816" cy="420624"/>
          </a:xfrm>
          <a:prstGeom prst="rect">
            <a:avLst/>
          </a:prstGeom>
          <a:solidFill>
            <a:srgbClr val="FFFFFF"/>
          </a:solidFill>
          <a:ln w="12700">
            <a:solidFill>
              <a:srgbClr val="FFFFFF"/>
            </a:solidFill>
            <a:prstDash val="solid"/>
          </a:ln>
        </p:spPr>
        <p:txBody>
          <a:bodyPr/>
          <a:lstStyle/>
          <a:p>
            <a:endParaRPr lang="en-SG"/>
          </a:p>
        </p:txBody>
      </p:sp>
      <p:sp>
        <p:nvSpPr>
          <p:cNvPr id="11" name="Text 9"/>
          <p:cNvSpPr/>
          <p:nvPr/>
        </p:nvSpPr>
        <p:spPr>
          <a:xfrm>
            <a:off x="256032" y="1536192"/>
            <a:ext cx="8631936" cy="274320"/>
          </a:xfrm>
          <a:prstGeom prst="rect">
            <a:avLst/>
          </a:prstGeom>
          <a:noFill/>
          <a:ln/>
        </p:spPr>
        <p:txBody>
          <a:bodyPr wrap="square" rtlCol="0" anchor="ctr"/>
          <a:lstStyle/>
          <a:p>
            <a:pPr marL="0" indent="0" algn="ctr">
              <a:buNone/>
            </a:pPr>
            <a:r>
              <a:rPr lang="en-US" sz="1200" b="1" kern="0" spc="100" dirty="0">
                <a:solidFill>
                  <a:srgbClr val="1A1A2E"/>
                </a:solidFill>
                <a:latin typeface="Trebuchet MS" pitchFamily="34" charset="0"/>
                <a:ea typeface="Trebuchet MS" pitchFamily="34" charset="-122"/>
                <a:cs typeface="Trebuchet MS" pitchFamily="34" charset="-120"/>
              </a:rPr>
              <a:t>CHAIN OF CUSTODY FORM  —  DIGITAL EVIDENCE</a:t>
            </a:r>
            <a:endParaRPr lang="en-US" sz="1200" dirty="0"/>
          </a:p>
        </p:txBody>
      </p:sp>
      <p:sp>
        <p:nvSpPr>
          <p:cNvPr id="12" name="Shape 10"/>
          <p:cNvSpPr/>
          <p:nvPr/>
        </p:nvSpPr>
        <p:spPr>
          <a:xfrm>
            <a:off x="164592" y="1920240"/>
            <a:ext cx="2871216" cy="402336"/>
          </a:xfrm>
          <a:prstGeom prst="rect">
            <a:avLst/>
          </a:prstGeom>
          <a:solidFill>
            <a:srgbClr val="EEF6FB"/>
          </a:solidFill>
          <a:ln w="12700">
            <a:solidFill>
              <a:srgbClr val="2E4068"/>
            </a:solidFill>
            <a:prstDash val="solid"/>
          </a:ln>
        </p:spPr>
        <p:txBody>
          <a:bodyPr/>
          <a:lstStyle/>
          <a:p>
            <a:endParaRPr lang="en-SG"/>
          </a:p>
        </p:txBody>
      </p:sp>
      <p:sp>
        <p:nvSpPr>
          <p:cNvPr id="13" name="Text 11"/>
          <p:cNvSpPr/>
          <p:nvPr/>
        </p:nvSpPr>
        <p:spPr>
          <a:xfrm>
            <a:off x="256032" y="1938528"/>
            <a:ext cx="2706624" cy="164592"/>
          </a:xfrm>
          <a:prstGeom prst="rect">
            <a:avLst/>
          </a:prstGeom>
          <a:noFill/>
          <a:ln/>
        </p:spPr>
        <p:txBody>
          <a:bodyPr wrap="square" rtlCol="0" anchor="ctr"/>
          <a:lstStyle/>
          <a:p>
            <a:pPr marL="0" indent="0">
              <a:buNone/>
            </a:pPr>
            <a:r>
              <a:rPr lang="en-US" sz="800" dirty="0">
                <a:solidFill>
                  <a:srgbClr val="475569"/>
                </a:solidFill>
                <a:latin typeface="Calibri" pitchFamily="34" charset="0"/>
                <a:ea typeface="Calibri" pitchFamily="34" charset="-122"/>
                <a:cs typeface="Calibri" pitchFamily="34" charset="-120"/>
              </a:rPr>
              <a:t>Case Number</a:t>
            </a:r>
            <a:endParaRPr lang="en-US" sz="800" dirty="0"/>
          </a:p>
        </p:txBody>
      </p:sp>
      <p:sp>
        <p:nvSpPr>
          <p:cNvPr id="14" name="Text 12"/>
          <p:cNvSpPr/>
          <p:nvPr/>
        </p:nvSpPr>
        <p:spPr>
          <a:xfrm>
            <a:off x="256032" y="2084832"/>
            <a:ext cx="2706624" cy="201168"/>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DF-2025-0042</a:t>
            </a:r>
            <a:endParaRPr lang="en-US" sz="1100" dirty="0"/>
          </a:p>
        </p:txBody>
      </p:sp>
      <p:sp>
        <p:nvSpPr>
          <p:cNvPr id="15" name="Shape 13"/>
          <p:cNvSpPr/>
          <p:nvPr/>
        </p:nvSpPr>
        <p:spPr>
          <a:xfrm>
            <a:off x="3072384" y="1920240"/>
            <a:ext cx="2871216" cy="402336"/>
          </a:xfrm>
          <a:prstGeom prst="rect">
            <a:avLst/>
          </a:prstGeom>
          <a:solidFill>
            <a:srgbClr val="EEF6FB"/>
          </a:solidFill>
          <a:ln w="12700">
            <a:solidFill>
              <a:srgbClr val="2E4068"/>
            </a:solidFill>
            <a:prstDash val="solid"/>
          </a:ln>
        </p:spPr>
        <p:txBody>
          <a:bodyPr/>
          <a:lstStyle/>
          <a:p>
            <a:endParaRPr lang="en-SG"/>
          </a:p>
        </p:txBody>
      </p:sp>
      <p:sp>
        <p:nvSpPr>
          <p:cNvPr id="16" name="Text 14"/>
          <p:cNvSpPr/>
          <p:nvPr/>
        </p:nvSpPr>
        <p:spPr>
          <a:xfrm>
            <a:off x="3163824" y="1938528"/>
            <a:ext cx="2706624" cy="164592"/>
          </a:xfrm>
          <a:prstGeom prst="rect">
            <a:avLst/>
          </a:prstGeom>
          <a:noFill/>
          <a:ln/>
        </p:spPr>
        <p:txBody>
          <a:bodyPr wrap="square" rtlCol="0" anchor="ctr"/>
          <a:lstStyle/>
          <a:p>
            <a:pPr marL="0" indent="0">
              <a:buNone/>
            </a:pPr>
            <a:r>
              <a:rPr lang="en-US" sz="800" dirty="0">
                <a:solidFill>
                  <a:srgbClr val="475569"/>
                </a:solidFill>
                <a:latin typeface="Calibri" pitchFamily="34" charset="0"/>
                <a:ea typeface="Calibri" pitchFamily="34" charset="-122"/>
                <a:cs typeface="Calibri" pitchFamily="34" charset="-120"/>
              </a:rPr>
              <a:t>Investigating Officer</a:t>
            </a:r>
            <a:endParaRPr lang="en-US" sz="800" dirty="0"/>
          </a:p>
        </p:txBody>
      </p:sp>
      <p:sp>
        <p:nvSpPr>
          <p:cNvPr id="17" name="Text 15"/>
          <p:cNvSpPr/>
          <p:nvPr/>
        </p:nvSpPr>
        <p:spPr>
          <a:xfrm>
            <a:off x="3163824" y="2084832"/>
            <a:ext cx="2706624" cy="201168"/>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SSgt. Jane Tan</a:t>
            </a:r>
            <a:endParaRPr lang="en-US" sz="1100" dirty="0"/>
          </a:p>
        </p:txBody>
      </p:sp>
      <p:sp>
        <p:nvSpPr>
          <p:cNvPr id="18" name="Shape 16"/>
          <p:cNvSpPr/>
          <p:nvPr/>
        </p:nvSpPr>
        <p:spPr>
          <a:xfrm>
            <a:off x="5980176" y="1920240"/>
            <a:ext cx="2999232" cy="402336"/>
          </a:xfrm>
          <a:prstGeom prst="rect">
            <a:avLst/>
          </a:prstGeom>
          <a:solidFill>
            <a:srgbClr val="EEF6FB"/>
          </a:solidFill>
          <a:ln w="12700">
            <a:solidFill>
              <a:srgbClr val="2E4068"/>
            </a:solidFill>
            <a:prstDash val="solid"/>
          </a:ln>
        </p:spPr>
        <p:txBody>
          <a:bodyPr/>
          <a:lstStyle/>
          <a:p>
            <a:endParaRPr lang="en-SG"/>
          </a:p>
        </p:txBody>
      </p:sp>
      <p:sp>
        <p:nvSpPr>
          <p:cNvPr id="19" name="Text 17"/>
          <p:cNvSpPr/>
          <p:nvPr/>
        </p:nvSpPr>
        <p:spPr>
          <a:xfrm>
            <a:off x="6071616" y="1938528"/>
            <a:ext cx="2834640" cy="164592"/>
          </a:xfrm>
          <a:prstGeom prst="rect">
            <a:avLst/>
          </a:prstGeom>
          <a:noFill/>
          <a:ln/>
        </p:spPr>
        <p:txBody>
          <a:bodyPr wrap="square" rtlCol="0" anchor="ctr"/>
          <a:lstStyle/>
          <a:p>
            <a:pPr marL="0" indent="0">
              <a:buNone/>
            </a:pPr>
            <a:r>
              <a:rPr lang="en-US" sz="800" dirty="0">
                <a:solidFill>
                  <a:srgbClr val="475569"/>
                </a:solidFill>
                <a:latin typeface="Calibri" pitchFamily="34" charset="0"/>
                <a:ea typeface="Calibri" pitchFamily="34" charset="-122"/>
                <a:cs typeface="Calibri" pitchFamily="34" charset="-120"/>
              </a:rPr>
              <a:t>Date / Time of Collection</a:t>
            </a:r>
            <a:endParaRPr lang="en-US" sz="800" dirty="0"/>
          </a:p>
        </p:txBody>
      </p:sp>
      <p:sp>
        <p:nvSpPr>
          <p:cNvPr id="20" name="Text 18"/>
          <p:cNvSpPr/>
          <p:nvPr/>
        </p:nvSpPr>
        <p:spPr>
          <a:xfrm>
            <a:off x="6071616" y="2084832"/>
            <a:ext cx="2834640" cy="201168"/>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10 Mar 2025  |  14:32 hrs</a:t>
            </a:r>
            <a:endParaRPr lang="en-US" sz="1100" dirty="0"/>
          </a:p>
        </p:txBody>
      </p:sp>
      <p:sp>
        <p:nvSpPr>
          <p:cNvPr id="21" name="Shape 19"/>
          <p:cNvSpPr/>
          <p:nvPr/>
        </p:nvSpPr>
        <p:spPr>
          <a:xfrm>
            <a:off x="164592" y="2350008"/>
            <a:ext cx="4297680" cy="402336"/>
          </a:xfrm>
          <a:prstGeom prst="rect">
            <a:avLst/>
          </a:prstGeom>
          <a:solidFill>
            <a:srgbClr val="EEF6FB"/>
          </a:solidFill>
          <a:ln w="12700">
            <a:solidFill>
              <a:srgbClr val="2E4068"/>
            </a:solidFill>
            <a:prstDash val="solid"/>
          </a:ln>
        </p:spPr>
        <p:txBody>
          <a:bodyPr/>
          <a:lstStyle/>
          <a:p>
            <a:endParaRPr lang="en-SG"/>
          </a:p>
        </p:txBody>
      </p:sp>
      <p:sp>
        <p:nvSpPr>
          <p:cNvPr id="22" name="Text 20"/>
          <p:cNvSpPr/>
          <p:nvPr/>
        </p:nvSpPr>
        <p:spPr>
          <a:xfrm>
            <a:off x="256032" y="2368296"/>
            <a:ext cx="4133088" cy="164592"/>
          </a:xfrm>
          <a:prstGeom prst="rect">
            <a:avLst/>
          </a:prstGeom>
          <a:noFill/>
          <a:ln/>
        </p:spPr>
        <p:txBody>
          <a:bodyPr wrap="square" rtlCol="0" anchor="ctr"/>
          <a:lstStyle/>
          <a:p>
            <a:pPr marL="0" indent="0">
              <a:buNone/>
            </a:pPr>
            <a:r>
              <a:rPr lang="en-US" sz="800" dirty="0">
                <a:solidFill>
                  <a:srgbClr val="475569"/>
                </a:solidFill>
                <a:latin typeface="Calibri" pitchFamily="34" charset="0"/>
                <a:ea typeface="Calibri" pitchFamily="34" charset="-122"/>
                <a:cs typeface="Calibri" pitchFamily="34" charset="-120"/>
              </a:rPr>
              <a:t>Description of Evidence</a:t>
            </a:r>
            <a:endParaRPr lang="en-US" sz="800" dirty="0"/>
          </a:p>
        </p:txBody>
      </p:sp>
      <p:sp>
        <p:nvSpPr>
          <p:cNvPr id="23" name="Text 21"/>
          <p:cNvSpPr/>
          <p:nvPr/>
        </p:nvSpPr>
        <p:spPr>
          <a:xfrm>
            <a:off x="256032" y="2514600"/>
            <a:ext cx="4133088" cy="201168"/>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Apple iPhone 14 Pro — Black — IMEI: 35-209900-176543-4</a:t>
            </a:r>
            <a:endParaRPr lang="en-US" sz="1100" dirty="0"/>
          </a:p>
        </p:txBody>
      </p:sp>
      <p:sp>
        <p:nvSpPr>
          <p:cNvPr id="24" name="Shape 22"/>
          <p:cNvSpPr/>
          <p:nvPr/>
        </p:nvSpPr>
        <p:spPr>
          <a:xfrm>
            <a:off x="4498848" y="2350008"/>
            <a:ext cx="1463040" cy="402336"/>
          </a:xfrm>
          <a:prstGeom prst="rect">
            <a:avLst/>
          </a:prstGeom>
          <a:solidFill>
            <a:srgbClr val="EEF6FB"/>
          </a:solidFill>
          <a:ln w="12700">
            <a:solidFill>
              <a:srgbClr val="2E4068"/>
            </a:solidFill>
            <a:prstDash val="solid"/>
          </a:ln>
        </p:spPr>
        <p:txBody>
          <a:bodyPr/>
          <a:lstStyle/>
          <a:p>
            <a:endParaRPr lang="en-SG"/>
          </a:p>
        </p:txBody>
      </p:sp>
      <p:sp>
        <p:nvSpPr>
          <p:cNvPr id="25" name="Text 23"/>
          <p:cNvSpPr/>
          <p:nvPr/>
        </p:nvSpPr>
        <p:spPr>
          <a:xfrm>
            <a:off x="4590288" y="2368296"/>
            <a:ext cx="1298448" cy="164592"/>
          </a:xfrm>
          <a:prstGeom prst="rect">
            <a:avLst/>
          </a:prstGeom>
          <a:noFill/>
          <a:ln/>
        </p:spPr>
        <p:txBody>
          <a:bodyPr wrap="square" rtlCol="0" anchor="ctr"/>
          <a:lstStyle/>
          <a:p>
            <a:pPr marL="0" indent="0">
              <a:buNone/>
            </a:pPr>
            <a:r>
              <a:rPr lang="en-US" sz="800" dirty="0">
                <a:solidFill>
                  <a:srgbClr val="475569"/>
                </a:solidFill>
                <a:latin typeface="Calibri" pitchFamily="34" charset="0"/>
                <a:ea typeface="Calibri" pitchFamily="34" charset="-122"/>
                <a:cs typeface="Calibri" pitchFamily="34" charset="-120"/>
              </a:rPr>
              <a:t>Exhibit No.</a:t>
            </a:r>
            <a:endParaRPr lang="en-US" sz="800" dirty="0"/>
          </a:p>
        </p:txBody>
      </p:sp>
      <p:sp>
        <p:nvSpPr>
          <p:cNvPr id="26" name="Text 24"/>
          <p:cNvSpPr/>
          <p:nvPr/>
        </p:nvSpPr>
        <p:spPr>
          <a:xfrm>
            <a:off x="4590288" y="2514600"/>
            <a:ext cx="1298448" cy="201168"/>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EX-007</a:t>
            </a:r>
            <a:endParaRPr lang="en-US" sz="1100" dirty="0"/>
          </a:p>
        </p:txBody>
      </p:sp>
      <p:sp>
        <p:nvSpPr>
          <p:cNvPr id="27" name="Shape 25"/>
          <p:cNvSpPr/>
          <p:nvPr/>
        </p:nvSpPr>
        <p:spPr>
          <a:xfrm>
            <a:off x="5998464" y="2350008"/>
            <a:ext cx="2980944" cy="402336"/>
          </a:xfrm>
          <a:prstGeom prst="rect">
            <a:avLst/>
          </a:prstGeom>
          <a:solidFill>
            <a:srgbClr val="EEF6FB"/>
          </a:solidFill>
          <a:ln w="12700">
            <a:solidFill>
              <a:srgbClr val="2E4068"/>
            </a:solidFill>
            <a:prstDash val="solid"/>
          </a:ln>
        </p:spPr>
        <p:txBody>
          <a:bodyPr/>
          <a:lstStyle/>
          <a:p>
            <a:endParaRPr lang="en-SG"/>
          </a:p>
        </p:txBody>
      </p:sp>
      <p:sp>
        <p:nvSpPr>
          <p:cNvPr id="28" name="Text 26"/>
          <p:cNvSpPr/>
          <p:nvPr/>
        </p:nvSpPr>
        <p:spPr>
          <a:xfrm>
            <a:off x="6089904" y="2368296"/>
            <a:ext cx="2816352" cy="164592"/>
          </a:xfrm>
          <a:prstGeom prst="rect">
            <a:avLst/>
          </a:prstGeom>
          <a:noFill/>
          <a:ln/>
        </p:spPr>
        <p:txBody>
          <a:bodyPr wrap="square" rtlCol="0" anchor="ctr"/>
          <a:lstStyle/>
          <a:p>
            <a:pPr marL="0" indent="0">
              <a:buNone/>
            </a:pPr>
            <a:r>
              <a:rPr lang="en-US" sz="800" dirty="0">
                <a:solidFill>
                  <a:srgbClr val="475569"/>
                </a:solidFill>
                <a:latin typeface="Calibri" pitchFamily="34" charset="0"/>
                <a:ea typeface="Calibri" pitchFamily="34" charset="-122"/>
                <a:cs typeface="Calibri" pitchFamily="34" charset="-120"/>
              </a:rPr>
              <a:t>Hash Value (SHA-256)</a:t>
            </a:r>
            <a:endParaRPr lang="en-US" sz="800" dirty="0"/>
          </a:p>
        </p:txBody>
      </p:sp>
      <p:sp>
        <p:nvSpPr>
          <p:cNvPr id="29" name="Text 27"/>
          <p:cNvSpPr/>
          <p:nvPr/>
        </p:nvSpPr>
        <p:spPr>
          <a:xfrm>
            <a:off x="6089904" y="2514600"/>
            <a:ext cx="2816352" cy="201168"/>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a3f2b8...d94e1c</a:t>
            </a:r>
            <a:endParaRPr lang="en-US" sz="1100" dirty="0"/>
          </a:p>
        </p:txBody>
      </p:sp>
      <p:sp>
        <p:nvSpPr>
          <p:cNvPr id="30" name="Shape 28"/>
          <p:cNvSpPr/>
          <p:nvPr/>
        </p:nvSpPr>
        <p:spPr>
          <a:xfrm>
            <a:off x="164592" y="2779776"/>
            <a:ext cx="8814816" cy="274320"/>
          </a:xfrm>
          <a:prstGeom prst="rect">
            <a:avLst/>
          </a:prstGeom>
          <a:solidFill>
            <a:srgbClr val="2E4068"/>
          </a:solidFill>
          <a:ln w="12700">
            <a:solidFill>
              <a:srgbClr val="2E4068"/>
            </a:solidFill>
            <a:prstDash val="solid"/>
          </a:ln>
        </p:spPr>
        <p:txBody>
          <a:bodyPr/>
          <a:lstStyle/>
          <a:p>
            <a:endParaRPr lang="en-SG"/>
          </a:p>
        </p:txBody>
      </p:sp>
      <p:sp>
        <p:nvSpPr>
          <p:cNvPr id="31" name="Text 29"/>
          <p:cNvSpPr/>
          <p:nvPr/>
        </p:nvSpPr>
        <p:spPr>
          <a:xfrm>
            <a:off x="182880" y="2807208"/>
            <a:ext cx="1371600" cy="201168"/>
          </a:xfrm>
          <a:prstGeom prst="rect">
            <a:avLst/>
          </a:prstGeom>
          <a:noFill/>
          <a:ln/>
        </p:spPr>
        <p:txBody>
          <a:bodyPr wrap="square" rtlCol="0" anchor="ctr"/>
          <a:lstStyle/>
          <a:p>
            <a:pPr marL="0" indent="0">
              <a:buNone/>
            </a:pPr>
            <a:r>
              <a:rPr lang="en-US" sz="900" b="1" dirty="0">
                <a:solidFill>
                  <a:srgbClr val="1A1A2E"/>
                </a:solidFill>
                <a:latin typeface="Trebuchet MS" pitchFamily="34" charset="0"/>
                <a:ea typeface="Trebuchet MS" pitchFamily="34" charset="-122"/>
                <a:cs typeface="Trebuchet MS" pitchFamily="34" charset="-120"/>
              </a:rPr>
              <a:t>Date / Time</a:t>
            </a:r>
            <a:endParaRPr lang="en-US" sz="900" dirty="0"/>
          </a:p>
        </p:txBody>
      </p:sp>
      <p:sp>
        <p:nvSpPr>
          <p:cNvPr id="32" name="Text 30"/>
          <p:cNvSpPr/>
          <p:nvPr/>
        </p:nvSpPr>
        <p:spPr>
          <a:xfrm>
            <a:off x="1572768" y="2807208"/>
            <a:ext cx="1645920" cy="201168"/>
          </a:xfrm>
          <a:prstGeom prst="rect">
            <a:avLst/>
          </a:prstGeom>
          <a:noFill/>
          <a:ln/>
        </p:spPr>
        <p:txBody>
          <a:bodyPr wrap="square" rtlCol="0" anchor="ctr"/>
          <a:lstStyle/>
          <a:p>
            <a:pPr marL="0" indent="0">
              <a:buNone/>
            </a:pPr>
            <a:r>
              <a:rPr lang="en-US" sz="900" b="1" dirty="0">
                <a:solidFill>
                  <a:srgbClr val="1A1A2E"/>
                </a:solidFill>
                <a:latin typeface="Trebuchet MS" pitchFamily="34" charset="0"/>
                <a:ea typeface="Trebuchet MS" pitchFamily="34" charset="-122"/>
                <a:cs typeface="Trebuchet MS" pitchFamily="34" charset="-120"/>
              </a:rPr>
              <a:t>Released By</a:t>
            </a:r>
            <a:endParaRPr lang="en-US" sz="900" dirty="0"/>
          </a:p>
        </p:txBody>
      </p:sp>
      <p:sp>
        <p:nvSpPr>
          <p:cNvPr id="33" name="Text 31"/>
          <p:cNvSpPr/>
          <p:nvPr/>
        </p:nvSpPr>
        <p:spPr>
          <a:xfrm>
            <a:off x="3236976" y="2807208"/>
            <a:ext cx="1645920" cy="201168"/>
          </a:xfrm>
          <a:prstGeom prst="rect">
            <a:avLst/>
          </a:prstGeom>
          <a:noFill/>
          <a:ln/>
        </p:spPr>
        <p:txBody>
          <a:bodyPr wrap="square" rtlCol="0" anchor="ctr"/>
          <a:lstStyle/>
          <a:p>
            <a:pPr marL="0" indent="0">
              <a:buNone/>
            </a:pPr>
            <a:r>
              <a:rPr lang="en-US" sz="900" b="1" dirty="0">
                <a:solidFill>
                  <a:srgbClr val="1A1A2E"/>
                </a:solidFill>
                <a:latin typeface="Trebuchet MS" pitchFamily="34" charset="0"/>
                <a:ea typeface="Trebuchet MS" pitchFamily="34" charset="-122"/>
                <a:cs typeface="Trebuchet MS" pitchFamily="34" charset="-120"/>
              </a:rPr>
              <a:t>Received By</a:t>
            </a:r>
            <a:endParaRPr lang="en-US" sz="900" dirty="0"/>
          </a:p>
        </p:txBody>
      </p:sp>
      <p:sp>
        <p:nvSpPr>
          <p:cNvPr id="34" name="Text 32"/>
          <p:cNvSpPr/>
          <p:nvPr/>
        </p:nvSpPr>
        <p:spPr>
          <a:xfrm>
            <a:off x="4901184" y="2807208"/>
            <a:ext cx="2523744" cy="201168"/>
          </a:xfrm>
          <a:prstGeom prst="rect">
            <a:avLst/>
          </a:prstGeom>
          <a:noFill/>
          <a:ln/>
        </p:spPr>
        <p:txBody>
          <a:bodyPr wrap="square" rtlCol="0" anchor="ctr"/>
          <a:lstStyle/>
          <a:p>
            <a:pPr marL="0" indent="0">
              <a:buNone/>
            </a:pPr>
            <a:r>
              <a:rPr lang="en-US" sz="900" b="1" dirty="0">
                <a:solidFill>
                  <a:srgbClr val="1A1A2E"/>
                </a:solidFill>
                <a:latin typeface="Trebuchet MS" pitchFamily="34" charset="0"/>
                <a:ea typeface="Trebuchet MS" pitchFamily="34" charset="-122"/>
                <a:cs typeface="Trebuchet MS" pitchFamily="34" charset="-120"/>
              </a:rPr>
              <a:t>Purpose / Reason</a:t>
            </a:r>
            <a:endParaRPr lang="en-US" sz="900" dirty="0"/>
          </a:p>
        </p:txBody>
      </p:sp>
      <p:sp>
        <p:nvSpPr>
          <p:cNvPr id="35" name="Text 33"/>
          <p:cNvSpPr/>
          <p:nvPr/>
        </p:nvSpPr>
        <p:spPr>
          <a:xfrm>
            <a:off x="7443216" y="2807208"/>
            <a:ext cx="1627632" cy="201168"/>
          </a:xfrm>
          <a:prstGeom prst="rect">
            <a:avLst/>
          </a:prstGeom>
          <a:noFill/>
          <a:ln/>
        </p:spPr>
        <p:txBody>
          <a:bodyPr wrap="square" rtlCol="0" anchor="ctr"/>
          <a:lstStyle/>
          <a:p>
            <a:pPr marL="0" indent="0">
              <a:buNone/>
            </a:pPr>
            <a:r>
              <a:rPr lang="en-US" sz="900" b="1" dirty="0">
                <a:solidFill>
                  <a:srgbClr val="1A1A2E"/>
                </a:solidFill>
                <a:latin typeface="Trebuchet MS" pitchFamily="34" charset="0"/>
                <a:ea typeface="Trebuchet MS" pitchFamily="34" charset="-122"/>
                <a:cs typeface="Trebuchet MS" pitchFamily="34" charset="-120"/>
              </a:rPr>
              <a:t>Signature</a:t>
            </a:r>
            <a:endParaRPr lang="en-US" sz="900" dirty="0"/>
          </a:p>
        </p:txBody>
      </p:sp>
      <p:sp>
        <p:nvSpPr>
          <p:cNvPr id="36" name="Shape 34"/>
          <p:cNvSpPr/>
          <p:nvPr/>
        </p:nvSpPr>
        <p:spPr>
          <a:xfrm>
            <a:off x="164592" y="3072384"/>
            <a:ext cx="8814816" cy="256032"/>
          </a:xfrm>
          <a:prstGeom prst="rect">
            <a:avLst/>
          </a:prstGeom>
          <a:solidFill>
            <a:srgbClr val="EEF6FB"/>
          </a:solidFill>
          <a:ln w="12700">
            <a:solidFill>
              <a:srgbClr val="2E4068"/>
            </a:solidFill>
            <a:prstDash val="solid"/>
          </a:ln>
        </p:spPr>
        <p:txBody>
          <a:bodyPr/>
          <a:lstStyle/>
          <a:p>
            <a:endParaRPr lang="en-SG"/>
          </a:p>
        </p:txBody>
      </p:sp>
      <p:sp>
        <p:nvSpPr>
          <p:cNvPr id="37" name="Text 35"/>
          <p:cNvSpPr/>
          <p:nvPr/>
        </p:nvSpPr>
        <p:spPr>
          <a:xfrm>
            <a:off x="182880" y="3108960"/>
            <a:ext cx="1371600"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10 Mar 25 14:32</a:t>
            </a:r>
            <a:endParaRPr lang="en-US" sz="900" dirty="0"/>
          </a:p>
        </p:txBody>
      </p:sp>
      <p:sp>
        <p:nvSpPr>
          <p:cNvPr id="38" name="Text 36"/>
          <p:cNvSpPr/>
          <p:nvPr/>
        </p:nvSpPr>
        <p:spPr>
          <a:xfrm>
            <a:off x="1572768" y="3108960"/>
            <a:ext cx="1645920"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SSgt Jane Tan</a:t>
            </a:r>
            <a:endParaRPr lang="en-US" sz="900" dirty="0"/>
          </a:p>
        </p:txBody>
      </p:sp>
      <p:sp>
        <p:nvSpPr>
          <p:cNvPr id="39" name="Text 37"/>
          <p:cNvSpPr/>
          <p:nvPr/>
        </p:nvSpPr>
        <p:spPr>
          <a:xfrm>
            <a:off x="3236976" y="3108960"/>
            <a:ext cx="1645920"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Cpl Ahmad Yusof</a:t>
            </a:r>
            <a:endParaRPr lang="en-US" sz="900" dirty="0"/>
          </a:p>
        </p:txBody>
      </p:sp>
      <p:sp>
        <p:nvSpPr>
          <p:cNvPr id="40" name="Text 38"/>
          <p:cNvSpPr/>
          <p:nvPr/>
        </p:nvSpPr>
        <p:spPr>
          <a:xfrm>
            <a:off x="4901184" y="3108960"/>
            <a:ext cx="2523744"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Transport to lab</a:t>
            </a:r>
            <a:endParaRPr lang="en-US" sz="900" dirty="0"/>
          </a:p>
        </p:txBody>
      </p:sp>
      <p:sp>
        <p:nvSpPr>
          <p:cNvPr id="41" name="Text 39"/>
          <p:cNvSpPr/>
          <p:nvPr/>
        </p:nvSpPr>
        <p:spPr>
          <a:xfrm>
            <a:off x="7443216" y="3108960"/>
            <a:ext cx="1627632"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42" name="Shape 40"/>
          <p:cNvSpPr/>
          <p:nvPr/>
        </p:nvSpPr>
        <p:spPr>
          <a:xfrm>
            <a:off x="164592" y="3346704"/>
            <a:ext cx="8814816" cy="256032"/>
          </a:xfrm>
          <a:prstGeom prst="rect">
            <a:avLst/>
          </a:prstGeom>
          <a:solidFill>
            <a:srgbClr val="EEF6FB"/>
          </a:solidFill>
          <a:ln w="12700">
            <a:solidFill>
              <a:srgbClr val="2E4068"/>
            </a:solidFill>
            <a:prstDash val="solid"/>
          </a:ln>
        </p:spPr>
        <p:txBody>
          <a:bodyPr/>
          <a:lstStyle/>
          <a:p>
            <a:endParaRPr lang="en-SG"/>
          </a:p>
        </p:txBody>
      </p:sp>
      <p:sp>
        <p:nvSpPr>
          <p:cNvPr id="43" name="Text 41"/>
          <p:cNvSpPr/>
          <p:nvPr/>
        </p:nvSpPr>
        <p:spPr>
          <a:xfrm>
            <a:off x="182880" y="3383280"/>
            <a:ext cx="1371600"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10 Mar 25 16:00</a:t>
            </a:r>
            <a:endParaRPr lang="en-US" sz="900" dirty="0"/>
          </a:p>
        </p:txBody>
      </p:sp>
      <p:sp>
        <p:nvSpPr>
          <p:cNvPr id="44" name="Text 42"/>
          <p:cNvSpPr/>
          <p:nvPr/>
        </p:nvSpPr>
        <p:spPr>
          <a:xfrm>
            <a:off x="1572768" y="3383280"/>
            <a:ext cx="1645920"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Cpl Ahmad Yusof</a:t>
            </a:r>
            <a:endParaRPr lang="en-US" sz="900" dirty="0"/>
          </a:p>
        </p:txBody>
      </p:sp>
      <p:sp>
        <p:nvSpPr>
          <p:cNvPr id="45" name="Text 43"/>
          <p:cNvSpPr/>
          <p:nvPr/>
        </p:nvSpPr>
        <p:spPr>
          <a:xfrm>
            <a:off x="3236976" y="3383280"/>
            <a:ext cx="1645920"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Dr. Sarah Lim</a:t>
            </a:r>
            <a:endParaRPr lang="en-US" sz="900" dirty="0"/>
          </a:p>
        </p:txBody>
      </p:sp>
      <p:sp>
        <p:nvSpPr>
          <p:cNvPr id="46" name="Text 44"/>
          <p:cNvSpPr/>
          <p:nvPr/>
        </p:nvSpPr>
        <p:spPr>
          <a:xfrm>
            <a:off x="4901184" y="3383280"/>
            <a:ext cx="2523744"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Forensic imaging</a:t>
            </a:r>
            <a:endParaRPr lang="en-US" sz="900" dirty="0"/>
          </a:p>
        </p:txBody>
      </p:sp>
      <p:sp>
        <p:nvSpPr>
          <p:cNvPr id="47" name="Text 45"/>
          <p:cNvSpPr/>
          <p:nvPr/>
        </p:nvSpPr>
        <p:spPr>
          <a:xfrm>
            <a:off x="7443216" y="3383280"/>
            <a:ext cx="1627632"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48" name="Shape 46"/>
          <p:cNvSpPr/>
          <p:nvPr/>
        </p:nvSpPr>
        <p:spPr>
          <a:xfrm>
            <a:off x="164592" y="3621024"/>
            <a:ext cx="8814816" cy="256032"/>
          </a:xfrm>
          <a:prstGeom prst="rect">
            <a:avLst/>
          </a:prstGeom>
          <a:solidFill>
            <a:srgbClr val="EEF6FB"/>
          </a:solidFill>
          <a:ln w="12700">
            <a:solidFill>
              <a:srgbClr val="2E4068"/>
            </a:solidFill>
            <a:prstDash val="solid"/>
          </a:ln>
        </p:spPr>
        <p:txBody>
          <a:bodyPr/>
          <a:lstStyle/>
          <a:p>
            <a:endParaRPr lang="en-SG"/>
          </a:p>
        </p:txBody>
      </p:sp>
      <p:sp>
        <p:nvSpPr>
          <p:cNvPr id="49" name="Text 47"/>
          <p:cNvSpPr/>
          <p:nvPr/>
        </p:nvSpPr>
        <p:spPr>
          <a:xfrm>
            <a:off x="182880" y="3657600"/>
            <a:ext cx="1371600"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11 Mar 25 09:15</a:t>
            </a:r>
            <a:endParaRPr lang="en-US" sz="900" dirty="0"/>
          </a:p>
        </p:txBody>
      </p:sp>
      <p:sp>
        <p:nvSpPr>
          <p:cNvPr id="50" name="Text 48"/>
          <p:cNvSpPr/>
          <p:nvPr/>
        </p:nvSpPr>
        <p:spPr>
          <a:xfrm>
            <a:off x="1572768" y="3657600"/>
            <a:ext cx="1645920"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Dr. Sarah Lim</a:t>
            </a:r>
            <a:endParaRPr lang="en-US" sz="900" dirty="0"/>
          </a:p>
        </p:txBody>
      </p:sp>
      <p:sp>
        <p:nvSpPr>
          <p:cNvPr id="51" name="Text 49"/>
          <p:cNvSpPr/>
          <p:nvPr/>
        </p:nvSpPr>
        <p:spPr>
          <a:xfrm>
            <a:off x="3236976" y="3657600"/>
            <a:ext cx="1645920"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DPP Rachel Ng</a:t>
            </a:r>
            <a:endParaRPr lang="en-US" sz="900" dirty="0"/>
          </a:p>
        </p:txBody>
      </p:sp>
      <p:sp>
        <p:nvSpPr>
          <p:cNvPr id="52" name="Text 50"/>
          <p:cNvSpPr/>
          <p:nvPr/>
        </p:nvSpPr>
        <p:spPr>
          <a:xfrm>
            <a:off x="4901184" y="3657600"/>
            <a:ext cx="2523744"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Court presentation</a:t>
            </a:r>
            <a:endParaRPr lang="en-US" sz="900" dirty="0"/>
          </a:p>
        </p:txBody>
      </p:sp>
      <p:sp>
        <p:nvSpPr>
          <p:cNvPr id="53" name="Text 51"/>
          <p:cNvSpPr/>
          <p:nvPr/>
        </p:nvSpPr>
        <p:spPr>
          <a:xfrm>
            <a:off x="7443216" y="3657600"/>
            <a:ext cx="1627632" cy="182880"/>
          </a:xfrm>
          <a:prstGeom prst="rect">
            <a:avLst/>
          </a:prstGeom>
          <a:noFill/>
          <a:ln/>
        </p:spPr>
        <p:txBody>
          <a:bodyPr wrap="square"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54" name="Text 52"/>
          <p:cNvSpPr/>
          <p:nvPr/>
        </p:nvSpPr>
        <p:spPr>
          <a:xfrm>
            <a:off x="164592" y="4901184"/>
            <a:ext cx="8814816" cy="0"/>
          </a:xfrm>
          <a:prstGeom prst="rect">
            <a:avLst/>
          </a:prstGeom>
          <a:noFill/>
          <a:ln/>
        </p:spPr>
        <p:txBody>
          <a:bodyPr wrap="square" rtlCol="0" anchor="ctr"/>
          <a:lstStyle/>
          <a:p>
            <a:pPr marL="0" indent="0">
              <a:buNone/>
            </a:pPr>
            <a:r>
              <a:rPr lang="en-US" sz="1050" b="1" i="1" dirty="0">
                <a:solidFill>
                  <a:srgbClr val="EF233C"/>
                </a:solidFill>
                <a:latin typeface="Calibri" pitchFamily="34" charset="0"/>
                <a:ea typeface="Calibri" pitchFamily="34" charset="-122"/>
                <a:cs typeface="Calibri" pitchFamily="34" charset="-120"/>
              </a:rPr>
              <a:t>⚠  Any break in the chain of custody — missing signatures, unexplained gaps — can cause all evidence to be rejected by the court.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FB8500"/>
          </a:solidFill>
          <a:ln w="12700">
            <a:solidFill>
              <a:srgbClr val="FB8500"/>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a:ln/>
        </p:spPr>
        <p:txBody>
          <a:bodyPr wrap="square" lIns="0" tIns="0" rIns="0" bIns="0" rtlCol="0" anchor="ctr"/>
          <a:lstStyle/>
          <a:p>
            <a:pPr marL="0" indent="0" algn="ctr">
              <a:buNone/>
            </a:pPr>
            <a:r>
              <a:rPr lang="en-US" sz="9600" b="1" dirty="0">
                <a:solidFill>
                  <a:srgbClr val="1A1A2E"/>
                </a:solidFill>
                <a:latin typeface="Trebuchet MS" pitchFamily="34" charset="0"/>
                <a:ea typeface="Trebuchet MS" pitchFamily="34" charset="-122"/>
                <a:cs typeface="Trebuchet MS" pitchFamily="34" charset="-120"/>
              </a:rPr>
              <a:t>04</a:t>
            </a:r>
            <a:endParaRPr lang="en-US" sz="9600" dirty="0"/>
          </a:p>
        </p:txBody>
      </p:sp>
      <p:sp>
        <p:nvSpPr>
          <p:cNvPr id="6" name="Text 4"/>
          <p:cNvSpPr/>
          <p:nvPr/>
        </p:nvSpPr>
        <p:spPr>
          <a:xfrm>
            <a:off x="201168" y="1938528"/>
            <a:ext cx="3657600" cy="914400"/>
          </a:xfrm>
          <a:prstGeom prst="rect">
            <a:avLst/>
          </a:prstGeom>
          <a:noFill/>
          <a:ln/>
        </p:spPr>
        <p:txBody>
          <a:bodyPr wrap="square" rtlCol="0" anchor="ctr"/>
          <a:lstStyle/>
          <a:p>
            <a:pPr marL="0" indent="0" algn="ctr">
              <a:buNone/>
            </a:pPr>
            <a:r>
              <a:rPr lang="en-US" sz="1300" i="1" dirty="0">
                <a:solidFill>
                  <a:srgbClr val="000000"/>
                </a:solidFill>
                <a:latin typeface="Calibri" pitchFamily="34" charset="0"/>
                <a:ea typeface="Calibri" pitchFamily="34" charset="-122"/>
                <a:cs typeface="Calibri" pitchFamily="34" charset="-120"/>
              </a:rPr>
              <a:t>Examining complex investigative challenges and adversarial techniques</a:t>
            </a:r>
            <a:endParaRPr lang="en-US" sz="1300" dirty="0"/>
          </a:p>
        </p:txBody>
      </p:sp>
      <p:sp>
        <p:nvSpPr>
          <p:cNvPr id="7" name="Text 5"/>
          <p:cNvSpPr/>
          <p:nvPr/>
        </p:nvSpPr>
        <p:spPr>
          <a:xfrm>
            <a:off x="4572000" y="566928"/>
            <a:ext cx="4297680" cy="329184"/>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FB8500"/>
          </a:solidFill>
          <a:ln w="12700">
            <a:solidFill>
              <a:srgbClr val="FB8500"/>
            </a:solidFill>
            <a:prstDash val="solid"/>
          </a:ln>
        </p:spPr>
        <p:txBody>
          <a:bodyPr/>
          <a:lstStyle/>
          <a:p>
            <a:endParaRPr lang="en-SG"/>
          </a:p>
        </p:txBody>
      </p:sp>
      <p:sp>
        <p:nvSpPr>
          <p:cNvPr id="10" name="Text 8"/>
          <p:cNvSpPr/>
          <p:nvPr/>
        </p:nvSpPr>
        <p:spPr>
          <a:xfrm>
            <a:off x="4663440" y="1115568"/>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1</a:t>
            </a:r>
            <a:endParaRPr lang="en-US" sz="1100" dirty="0"/>
          </a:p>
        </p:txBody>
      </p:sp>
      <p:sp>
        <p:nvSpPr>
          <p:cNvPr id="11" name="Text 9"/>
          <p:cNvSpPr/>
          <p:nvPr/>
        </p:nvSpPr>
        <p:spPr>
          <a:xfrm>
            <a:off x="5166360" y="1097280"/>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Challenges in the Current Threat Landscape</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FB8500"/>
          </a:solidFill>
          <a:ln w="12700">
            <a:solidFill>
              <a:srgbClr val="FB8500"/>
            </a:solidFill>
            <a:prstDash val="solid"/>
          </a:ln>
        </p:spPr>
        <p:txBody>
          <a:bodyPr/>
          <a:lstStyle/>
          <a:p>
            <a:endParaRPr lang="en-SG"/>
          </a:p>
        </p:txBody>
      </p:sp>
      <p:sp>
        <p:nvSpPr>
          <p:cNvPr id="14" name="Text 12"/>
          <p:cNvSpPr/>
          <p:nvPr/>
        </p:nvSpPr>
        <p:spPr>
          <a:xfrm>
            <a:off x="4663440" y="1773936"/>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2</a:t>
            </a:r>
            <a:endParaRPr lang="en-US" sz="1100" dirty="0"/>
          </a:p>
        </p:txBody>
      </p:sp>
      <p:sp>
        <p:nvSpPr>
          <p:cNvPr id="15" name="Text 13"/>
          <p:cNvSpPr/>
          <p:nvPr/>
        </p:nvSpPr>
        <p:spPr>
          <a:xfrm>
            <a:off x="5166360" y="1755648"/>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Anti-Digital Forensics Methods</a:t>
            </a:r>
            <a:endParaRPr lang="en-US" sz="1200" dirty="0"/>
          </a:p>
        </p:txBody>
      </p:sp>
      <p:sp>
        <p:nvSpPr>
          <p:cNvPr id="16" name="Shape 14"/>
          <p:cNvSpPr/>
          <p:nvPr/>
        </p:nvSpPr>
        <p:spPr>
          <a:xfrm>
            <a:off x="4572000" y="2322576"/>
            <a:ext cx="4297680" cy="566928"/>
          </a:xfrm>
          <a:prstGeom prst="rect">
            <a:avLst/>
          </a:prstGeom>
          <a:noFill/>
          <a:ln w="12700">
            <a:solidFill>
              <a:srgbClr val="FFFFFF">
                <a:alpha val="20000"/>
              </a:srgbClr>
            </a:solidFill>
            <a:prstDash val="solid"/>
          </a:ln>
        </p:spPr>
        <p:txBody>
          <a:bodyPr/>
          <a:lstStyle/>
          <a:p>
            <a:endParaRPr lang="en-SG"/>
          </a:p>
        </p:txBody>
      </p:sp>
      <p:sp>
        <p:nvSpPr>
          <p:cNvPr id="17" name="Shape 15"/>
          <p:cNvSpPr/>
          <p:nvPr/>
        </p:nvSpPr>
        <p:spPr>
          <a:xfrm>
            <a:off x="4663440" y="2386584"/>
            <a:ext cx="402336" cy="402336"/>
          </a:xfrm>
          <a:prstGeom prst="ellipse">
            <a:avLst/>
          </a:prstGeom>
          <a:solidFill>
            <a:srgbClr val="FB8500"/>
          </a:solidFill>
          <a:ln w="12700">
            <a:solidFill>
              <a:srgbClr val="FB8500"/>
            </a:solidFill>
            <a:prstDash val="solid"/>
          </a:ln>
        </p:spPr>
        <p:txBody>
          <a:bodyPr/>
          <a:lstStyle/>
          <a:p>
            <a:endParaRPr lang="en-SG"/>
          </a:p>
        </p:txBody>
      </p:sp>
      <p:sp>
        <p:nvSpPr>
          <p:cNvPr id="18" name="Text 16"/>
          <p:cNvSpPr/>
          <p:nvPr/>
        </p:nvSpPr>
        <p:spPr>
          <a:xfrm>
            <a:off x="4663440" y="2432304"/>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3</a:t>
            </a:r>
            <a:endParaRPr lang="en-US" sz="1100" dirty="0"/>
          </a:p>
        </p:txBody>
      </p:sp>
      <p:sp>
        <p:nvSpPr>
          <p:cNvPr id="19" name="Text 17"/>
          <p:cNvSpPr/>
          <p:nvPr/>
        </p:nvSpPr>
        <p:spPr>
          <a:xfrm>
            <a:off x="5166360" y="2414016"/>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Live vs Dead Acquisition &amp; Volatile Data</a:t>
            </a:r>
            <a:endParaRPr lang="en-US" sz="1200" dirty="0"/>
          </a:p>
        </p:txBody>
      </p:sp>
      <p:sp>
        <p:nvSpPr>
          <p:cNvPr id="20" name="Shape 18"/>
          <p:cNvSpPr/>
          <p:nvPr/>
        </p:nvSpPr>
        <p:spPr>
          <a:xfrm>
            <a:off x="4572000" y="2980944"/>
            <a:ext cx="4297680" cy="566928"/>
          </a:xfrm>
          <a:prstGeom prst="rect">
            <a:avLst/>
          </a:prstGeom>
          <a:noFill/>
          <a:ln w="12700">
            <a:solidFill>
              <a:srgbClr val="FFFFFF">
                <a:alpha val="20000"/>
              </a:srgbClr>
            </a:solidFill>
            <a:prstDash val="solid"/>
          </a:ln>
        </p:spPr>
        <p:txBody>
          <a:bodyPr/>
          <a:lstStyle/>
          <a:p>
            <a:endParaRPr lang="en-SG"/>
          </a:p>
        </p:txBody>
      </p:sp>
      <p:sp>
        <p:nvSpPr>
          <p:cNvPr id="21" name="Shape 19"/>
          <p:cNvSpPr/>
          <p:nvPr/>
        </p:nvSpPr>
        <p:spPr>
          <a:xfrm>
            <a:off x="4663440" y="3044952"/>
            <a:ext cx="402336" cy="402336"/>
          </a:xfrm>
          <a:prstGeom prst="ellipse">
            <a:avLst/>
          </a:prstGeom>
          <a:solidFill>
            <a:srgbClr val="FB8500"/>
          </a:solidFill>
          <a:ln w="12700">
            <a:solidFill>
              <a:srgbClr val="FB8500"/>
            </a:solidFill>
            <a:prstDash val="solid"/>
          </a:ln>
        </p:spPr>
        <p:txBody>
          <a:bodyPr/>
          <a:lstStyle/>
          <a:p>
            <a:endParaRPr lang="en-SG"/>
          </a:p>
        </p:txBody>
      </p:sp>
      <p:sp>
        <p:nvSpPr>
          <p:cNvPr id="22" name="Text 20"/>
          <p:cNvSpPr/>
          <p:nvPr/>
        </p:nvSpPr>
        <p:spPr>
          <a:xfrm>
            <a:off x="4663440" y="3090672"/>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4</a:t>
            </a:r>
            <a:endParaRPr lang="en-US" sz="1100" dirty="0"/>
          </a:p>
        </p:txBody>
      </p:sp>
      <p:sp>
        <p:nvSpPr>
          <p:cNvPr id="23" name="Text 21"/>
          <p:cNvSpPr/>
          <p:nvPr/>
        </p:nvSpPr>
        <p:spPr>
          <a:xfrm>
            <a:off x="5166360" y="3072384"/>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The 5WH Investigation Framework</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B8500"/>
          </a:solidFill>
          <a:ln w="12700">
            <a:solidFill>
              <a:srgbClr val="FB8500"/>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Challenges in the Current Threat Landscape</a:t>
            </a:r>
            <a:endParaRPr lang="en-US" sz="1700" dirty="0"/>
          </a:p>
        </p:txBody>
      </p:sp>
      <p:sp>
        <p:nvSpPr>
          <p:cNvPr id="6" name="Shape 4"/>
          <p:cNvSpPr/>
          <p:nvPr/>
        </p:nvSpPr>
        <p:spPr>
          <a:xfrm>
            <a:off x="164592" y="841248"/>
            <a:ext cx="4279392" cy="1243584"/>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64592" y="841248"/>
            <a:ext cx="182880" cy="1243584"/>
          </a:xfrm>
          <a:prstGeom prst="rect">
            <a:avLst/>
          </a:prstGeom>
          <a:solidFill>
            <a:srgbClr val="EF233C"/>
          </a:solidFill>
          <a:ln w="12700">
            <a:solidFill>
              <a:srgbClr val="EF233C"/>
            </a:solidFill>
            <a:prstDash val="solid"/>
          </a:ln>
        </p:spPr>
        <p:txBody>
          <a:bodyPr/>
          <a:lstStyle/>
          <a:p>
            <a:endParaRPr lang="en-SG"/>
          </a:p>
        </p:txBody>
      </p:sp>
      <p:sp>
        <p:nvSpPr>
          <p:cNvPr id="8" name="Text 6"/>
          <p:cNvSpPr/>
          <p:nvPr/>
        </p:nvSpPr>
        <p:spPr>
          <a:xfrm>
            <a:off x="457200" y="896112"/>
            <a:ext cx="3895344"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Encryption &amp; Anti-Forensics</a:t>
            </a:r>
            <a:endParaRPr lang="en-US" sz="1300" dirty="0"/>
          </a:p>
        </p:txBody>
      </p:sp>
      <p:sp>
        <p:nvSpPr>
          <p:cNvPr id="9" name="Text 7"/>
          <p:cNvSpPr/>
          <p:nvPr/>
        </p:nvSpPr>
        <p:spPr>
          <a:xfrm>
            <a:off x="457200" y="1207008"/>
            <a:ext cx="3895344" cy="768096"/>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Full disk encryption, secure delete tools, and deliberate data destruction (timestomping, log wiping) actively obstruct investigations.</a:t>
            </a:r>
            <a:endParaRPr lang="en-US" sz="1050" dirty="0"/>
          </a:p>
        </p:txBody>
      </p:sp>
      <p:sp>
        <p:nvSpPr>
          <p:cNvPr id="10" name="Shape 8"/>
          <p:cNvSpPr/>
          <p:nvPr/>
        </p:nvSpPr>
        <p:spPr>
          <a:xfrm>
            <a:off x="4626864" y="841248"/>
            <a:ext cx="4279392" cy="1243584"/>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4626864" y="841248"/>
            <a:ext cx="182880" cy="1243584"/>
          </a:xfrm>
          <a:prstGeom prst="rect">
            <a:avLst/>
          </a:prstGeom>
          <a:solidFill>
            <a:srgbClr val="FFB703"/>
          </a:solidFill>
          <a:ln w="12700">
            <a:solidFill>
              <a:srgbClr val="FFB703"/>
            </a:solidFill>
            <a:prstDash val="solid"/>
          </a:ln>
        </p:spPr>
        <p:txBody>
          <a:bodyPr/>
          <a:lstStyle/>
          <a:p>
            <a:endParaRPr lang="en-SG"/>
          </a:p>
        </p:txBody>
      </p:sp>
      <p:sp>
        <p:nvSpPr>
          <p:cNvPr id="12" name="Text 10"/>
          <p:cNvSpPr/>
          <p:nvPr/>
        </p:nvSpPr>
        <p:spPr>
          <a:xfrm>
            <a:off x="4919472" y="896112"/>
            <a:ext cx="3895344"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Volume &amp; Velocity of Data</a:t>
            </a:r>
            <a:endParaRPr lang="en-US" sz="1300" dirty="0"/>
          </a:p>
        </p:txBody>
      </p:sp>
      <p:sp>
        <p:nvSpPr>
          <p:cNvPr id="13" name="Text 11"/>
          <p:cNvSpPr/>
          <p:nvPr/>
        </p:nvSpPr>
        <p:spPr>
          <a:xfrm>
            <a:off x="4919472" y="1207008"/>
            <a:ext cx="3895344" cy="768096"/>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Modern cases involve terabytes across multiple devices and platforms. Processing speed and tool validation are constant pressures.</a:t>
            </a:r>
            <a:endParaRPr lang="en-US" sz="1050" dirty="0"/>
          </a:p>
        </p:txBody>
      </p:sp>
      <p:sp>
        <p:nvSpPr>
          <p:cNvPr id="14" name="Shape 12"/>
          <p:cNvSpPr/>
          <p:nvPr/>
        </p:nvSpPr>
        <p:spPr>
          <a:xfrm>
            <a:off x="164592" y="2212848"/>
            <a:ext cx="4279392" cy="1243584"/>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15" name="Shape 13"/>
          <p:cNvSpPr/>
          <p:nvPr/>
        </p:nvSpPr>
        <p:spPr>
          <a:xfrm>
            <a:off x="164592" y="2212848"/>
            <a:ext cx="182880" cy="1243584"/>
          </a:xfrm>
          <a:prstGeom prst="rect">
            <a:avLst/>
          </a:prstGeom>
          <a:solidFill>
            <a:srgbClr val="06D6A0"/>
          </a:solidFill>
          <a:ln w="12700">
            <a:solidFill>
              <a:srgbClr val="06D6A0"/>
            </a:solidFill>
            <a:prstDash val="solid"/>
          </a:ln>
        </p:spPr>
        <p:txBody>
          <a:bodyPr/>
          <a:lstStyle/>
          <a:p>
            <a:endParaRPr lang="en-SG"/>
          </a:p>
        </p:txBody>
      </p:sp>
      <p:sp>
        <p:nvSpPr>
          <p:cNvPr id="16" name="Text 14"/>
          <p:cNvSpPr/>
          <p:nvPr/>
        </p:nvSpPr>
        <p:spPr>
          <a:xfrm>
            <a:off x="457200" y="2267712"/>
            <a:ext cx="3895344"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Cloud &amp; Jurisdiction</a:t>
            </a:r>
            <a:endParaRPr lang="en-US" sz="1300" dirty="0"/>
          </a:p>
        </p:txBody>
      </p:sp>
      <p:sp>
        <p:nvSpPr>
          <p:cNvPr id="17" name="Text 15"/>
          <p:cNvSpPr/>
          <p:nvPr/>
        </p:nvSpPr>
        <p:spPr>
          <a:xfrm>
            <a:off x="457200" y="2578608"/>
            <a:ext cx="3895344" cy="768096"/>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Data stored across multiple countries under different legal frameworks. Mutual Legal Assistance Treaties (MLATs) are slow and complex.</a:t>
            </a:r>
            <a:endParaRPr lang="en-US" sz="1050" dirty="0"/>
          </a:p>
        </p:txBody>
      </p:sp>
      <p:sp>
        <p:nvSpPr>
          <p:cNvPr id="18" name="Shape 16"/>
          <p:cNvSpPr/>
          <p:nvPr/>
        </p:nvSpPr>
        <p:spPr>
          <a:xfrm>
            <a:off x="4626864" y="2212848"/>
            <a:ext cx="4279392" cy="1243584"/>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4626864" y="2212848"/>
            <a:ext cx="182880" cy="1243584"/>
          </a:xfrm>
          <a:prstGeom prst="rect">
            <a:avLst/>
          </a:prstGeom>
          <a:solidFill>
            <a:srgbClr val="00B4D8"/>
          </a:solidFill>
          <a:ln w="12700">
            <a:solidFill>
              <a:srgbClr val="00B4D8"/>
            </a:solidFill>
            <a:prstDash val="solid"/>
          </a:ln>
        </p:spPr>
        <p:txBody>
          <a:bodyPr/>
          <a:lstStyle/>
          <a:p>
            <a:endParaRPr lang="en-SG"/>
          </a:p>
        </p:txBody>
      </p:sp>
      <p:sp>
        <p:nvSpPr>
          <p:cNvPr id="20" name="Text 18"/>
          <p:cNvSpPr/>
          <p:nvPr/>
        </p:nvSpPr>
        <p:spPr>
          <a:xfrm>
            <a:off x="4919472" y="2267712"/>
            <a:ext cx="3895344"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Volatile Evidence</a:t>
            </a:r>
            <a:endParaRPr lang="en-US" sz="1300" dirty="0"/>
          </a:p>
        </p:txBody>
      </p:sp>
      <p:sp>
        <p:nvSpPr>
          <p:cNvPr id="21" name="Text 19"/>
          <p:cNvSpPr/>
          <p:nvPr/>
        </p:nvSpPr>
        <p:spPr>
          <a:xfrm>
            <a:off x="4919472" y="2578608"/>
            <a:ext cx="3895344" cy="768096"/>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RAM, running processes, and active network connections vanish on shutdown. Live forensics must be performed before powering down.</a:t>
            </a:r>
            <a:endParaRPr lang="en-US" sz="1050" dirty="0"/>
          </a:p>
        </p:txBody>
      </p:sp>
      <p:sp>
        <p:nvSpPr>
          <p:cNvPr id="22" name="Shape 20"/>
          <p:cNvSpPr/>
          <p:nvPr/>
        </p:nvSpPr>
        <p:spPr>
          <a:xfrm>
            <a:off x="164592" y="3584448"/>
            <a:ext cx="4279392" cy="1243584"/>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23" name="Shape 21"/>
          <p:cNvSpPr/>
          <p:nvPr/>
        </p:nvSpPr>
        <p:spPr>
          <a:xfrm>
            <a:off x="164592" y="3584448"/>
            <a:ext cx="182880" cy="1243584"/>
          </a:xfrm>
          <a:prstGeom prst="rect">
            <a:avLst/>
          </a:prstGeom>
          <a:solidFill>
            <a:srgbClr val="9B5DE5"/>
          </a:solidFill>
          <a:ln w="12700">
            <a:solidFill>
              <a:srgbClr val="9B5DE5"/>
            </a:solidFill>
            <a:prstDash val="solid"/>
          </a:ln>
        </p:spPr>
        <p:txBody>
          <a:bodyPr/>
          <a:lstStyle/>
          <a:p>
            <a:endParaRPr lang="en-SG"/>
          </a:p>
        </p:txBody>
      </p:sp>
      <p:sp>
        <p:nvSpPr>
          <p:cNvPr id="24" name="Text 22"/>
          <p:cNvSpPr/>
          <p:nvPr/>
        </p:nvSpPr>
        <p:spPr>
          <a:xfrm>
            <a:off x="457200" y="3639312"/>
            <a:ext cx="3895344"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AI &amp; Deepfakes</a:t>
            </a:r>
            <a:endParaRPr lang="en-US" sz="1300" dirty="0"/>
          </a:p>
        </p:txBody>
      </p:sp>
      <p:sp>
        <p:nvSpPr>
          <p:cNvPr id="25" name="Text 23"/>
          <p:cNvSpPr/>
          <p:nvPr/>
        </p:nvSpPr>
        <p:spPr>
          <a:xfrm>
            <a:off x="457200" y="3950208"/>
            <a:ext cx="3895344" cy="768096"/>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AI-generated synthetic media challenges evidence authenticity. Investigators must now verify whether media itself has been manufactured.</a:t>
            </a:r>
            <a:endParaRPr lang="en-US" sz="1050" dirty="0"/>
          </a:p>
        </p:txBody>
      </p:sp>
      <p:sp>
        <p:nvSpPr>
          <p:cNvPr id="26" name="Shape 24"/>
          <p:cNvSpPr/>
          <p:nvPr/>
        </p:nvSpPr>
        <p:spPr>
          <a:xfrm>
            <a:off x="4626864" y="3584448"/>
            <a:ext cx="4279392" cy="1243584"/>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4626864" y="3584448"/>
            <a:ext cx="182880" cy="1243584"/>
          </a:xfrm>
          <a:prstGeom prst="rect">
            <a:avLst/>
          </a:prstGeom>
          <a:solidFill>
            <a:srgbClr val="FB8500"/>
          </a:solidFill>
          <a:ln w="12700">
            <a:solidFill>
              <a:srgbClr val="FB8500"/>
            </a:solidFill>
            <a:prstDash val="solid"/>
          </a:ln>
        </p:spPr>
        <p:txBody>
          <a:bodyPr/>
          <a:lstStyle/>
          <a:p>
            <a:endParaRPr lang="en-SG"/>
          </a:p>
        </p:txBody>
      </p:sp>
      <p:sp>
        <p:nvSpPr>
          <p:cNvPr id="28" name="Text 26"/>
          <p:cNvSpPr/>
          <p:nvPr/>
        </p:nvSpPr>
        <p:spPr>
          <a:xfrm>
            <a:off x="4919472" y="3639312"/>
            <a:ext cx="3895344" cy="274320"/>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Legal &amp; Ethical Constraints</a:t>
            </a:r>
            <a:endParaRPr lang="en-US" sz="1300" dirty="0"/>
          </a:p>
        </p:txBody>
      </p:sp>
      <p:sp>
        <p:nvSpPr>
          <p:cNvPr id="29" name="Text 27"/>
          <p:cNvSpPr/>
          <p:nvPr/>
        </p:nvSpPr>
        <p:spPr>
          <a:xfrm>
            <a:off x="4919472" y="3950208"/>
            <a:ext cx="3895344" cy="768096"/>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Privacy laws (GDPR, PDPA), rights of suspects, and chain of custody rules constrain how evidence may be acquired and used in court.</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B8500"/>
          </a:solidFill>
          <a:ln w="12700">
            <a:solidFill>
              <a:srgbClr val="FB8500"/>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Anti-Digital Forensics Methods</a:t>
            </a:r>
            <a:endParaRPr lang="en-US" sz="1700" dirty="0"/>
          </a:p>
        </p:txBody>
      </p:sp>
      <p:sp>
        <p:nvSpPr>
          <p:cNvPr id="6" name="Shape 4"/>
          <p:cNvSpPr/>
          <p:nvPr/>
        </p:nvSpPr>
        <p:spPr>
          <a:xfrm>
            <a:off x="164592" y="841248"/>
            <a:ext cx="8814816" cy="402336"/>
          </a:xfrm>
          <a:prstGeom prst="rect">
            <a:avLst/>
          </a:prstGeom>
          <a:solidFill>
            <a:srgbClr val="EEF6FB"/>
          </a:solidFill>
          <a:ln w="12700">
            <a:solidFill>
              <a:srgbClr val="2E4068"/>
            </a:solidFill>
            <a:prstDash val="solid"/>
          </a:ln>
        </p:spPr>
        <p:txBody>
          <a:bodyPr/>
          <a:lstStyle/>
          <a:p>
            <a:endParaRPr lang="en-SG"/>
          </a:p>
        </p:txBody>
      </p:sp>
      <p:sp>
        <p:nvSpPr>
          <p:cNvPr id="7" name="Text 5"/>
          <p:cNvSpPr/>
          <p:nvPr/>
        </p:nvSpPr>
        <p:spPr>
          <a:xfrm>
            <a:off x="274320" y="896112"/>
            <a:ext cx="8595360" cy="274320"/>
          </a:xfrm>
          <a:prstGeom prst="rect">
            <a:avLst/>
          </a:prstGeom>
          <a:noFill/>
          <a:ln/>
        </p:spPr>
        <p:txBody>
          <a:bodyPr wrap="square" rtlCol="0" anchor="ctr"/>
          <a:lstStyle/>
          <a:p>
            <a:pPr marL="0" indent="0">
              <a:buNone/>
            </a:pPr>
            <a:r>
              <a:rPr lang="en-US" sz="1100" i="1" dirty="0">
                <a:solidFill>
                  <a:srgbClr val="1A1A2E"/>
                </a:solidFill>
                <a:latin typeface="Calibri" pitchFamily="34" charset="0"/>
                <a:ea typeface="Calibri" pitchFamily="34" charset="-122"/>
                <a:cs typeface="Calibri" pitchFamily="34" charset="-120"/>
              </a:rPr>
              <a:t>Anti-forensics refers to techniques used to prevent, confuse, or undermine a digital forensic investigation. As practitioners, we must know how adversaries attempt to defeat us.</a:t>
            </a:r>
            <a:endParaRPr lang="en-US" sz="1100" dirty="0"/>
          </a:p>
        </p:txBody>
      </p:sp>
      <p:sp>
        <p:nvSpPr>
          <p:cNvPr id="8" name="Shape 6"/>
          <p:cNvSpPr/>
          <p:nvPr/>
        </p:nvSpPr>
        <p:spPr>
          <a:xfrm>
            <a:off x="91440" y="1371600"/>
            <a:ext cx="2871216" cy="1499616"/>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9" name="Shape 7"/>
          <p:cNvSpPr/>
          <p:nvPr/>
        </p:nvSpPr>
        <p:spPr>
          <a:xfrm>
            <a:off x="91440" y="1371600"/>
            <a:ext cx="2871216" cy="347472"/>
          </a:xfrm>
          <a:prstGeom prst="rect">
            <a:avLst/>
          </a:prstGeom>
          <a:solidFill>
            <a:srgbClr val="EF233C"/>
          </a:solidFill>
          <a:ln w="12700">
            <a:solidFill>
              <a:srgbClr val="EF233C"/>
            </a:solidFill>
            <a:prstDash val="solid"/>
          </a:ln>
        </p:spPr>
        <p:txBody>
          <a:bodyPr/>
          <a:lstStyle/>
          <a:p>
            <a:endParaRPr lang="en-SG"/>
          </a:p>
        </p:txBody>
      </p:sp>
      <p:sp>
        <p:nvSpPr>
          <p:cNvPr id="10" name="Text 8"/>
          <p:cNvSpPr/>
          <p:nvPr/>
        </p:nvSpPr>
        <p:spPr>
          <a:xfrm>
            <a:off x="201168" y="1426464"/>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Data Deletion &amp; Wiping</a:t>
            </a:r>
            <a:endParaRPr lang="en-US" sz="1150" dirty="0"/>
          </a:p>
        </p:txBody>
      </p:sp>
      <p:sp>
        <p:nvSpPr>
          <p:cNvPr id="11" name="Text 9"/>
          <p:cNvSpPr/>
          <p:nvPr/>
        </p:nvSpPr>
        <p:spPr>
          <a:xfrm>
            <a:off x="182880" y="1792224"/>
            <a:ext cx="2688336" cy="10058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Tools like DBAN and Eraser overwrite data multiple times — unlike standard deletion, wiped data cannot be recovered from unallocated space.</a:t>
            </a:r>
            <a:endParaRPr lang="en-US" sz="1000" dirty="0"/>
          </a:p>
        </p:txBody>
      </p:sp>
      <p:sp>
        <p:nvSpPr>
          <p:cNvPr id="12" name="Shape 10"/>
          <p:cNvSpPr/>
          <p:nvPr/>
        </p:nvSpPr>
        <p:spPr>
          <a:xfrm>
            <a:off x="3081528" y="1371600"/>
            <a:ext cx="2871216" cy="1499616"/>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13" name="Shape 11"/>
          <p:cNvSpPr/>
          <p:nvPr/>
        </p:nvSpPr>
        <p:spPr>
          <a:xfrm>
            <a:off x="3081528" y="1371600"/>
            <a:ext cx="2871216" cy="347472"/>
          </a:xfrm>
          <a:prstGeom prst="rect">
            <a:avLst/>
          </a:prstGeom>
          <a:solidFill>
            <a:srgbClr val="9B5DE5"/>
          </a:solidFill>
          <a:ln w="12700">
            <a:solidFill>
              <a:srgbClr val="9B5DE5"/>
            </a:solidFill>
            <a:prstDash val="solid"/>
          </a:ln>
        </p:spPr>
        <p:txBody>
          <a:bodyPr/>
          <a:lstStyle/>
          <a:p>
            <a:endParaRPr lang="en-SG"/>
          </a:p>
        </p:txBody>
      </p:sp>
      <p:sp>
        <p:nvSpPr>
          <p:cNvPr id="14" name="Text 12"/>
          <p:cNvSpPr/>
          <p:nvPr/>
        </p:nvSpPr>
        <p:spPr>
          <a:xfrm>
            <a:off x="3191256" y="1426464"/>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Encryption</a:t>
            </a:r>
            <a:endParaRPr lang="en-US" sz="1150" dirty="0"/>
          </a:p>
        </p:txBody>
      </p:sp>
      <p:sp>
        <p:nvSpPr>
          <p:cNvPr id="15" name="Text 13"/>
          <p:cNvSpPr/>
          <p:nvPr/>
        </p:nvSpPr>
        <p:spPr>
          <a:xfrm>
            <a:off x="3172968" y="1792224"/>
            <a:ext cx="2688336" cy="10058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Full disk encryption (BitLocker, VeraCrypt) prevents access without the key — even with physical possession of the drive.</a:t>
            </a:r>
            <a:endParaRPr lang="en-US" sz="1000" dirty="0"/>
          </a:p>
        </p:txBody>
      </p:sp>
      <p:sp>
        <p:nvSpPr>
          <p:cNvPr id="16" name="Shape 14"/>
          <p:cNvSpPr/>
          <p:nvPr/>
        </p:nvSpPr>
        <p:spPr>
          <a:xfrm>
            <a:off x="6071616" y="1371600"/>
            <a:ext cx="2871216" cy="1499616"/>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17" name="Shape 15"/>
          <p:cNvSpPr/>
          <p:nvPr/>
        </p:nvSpPr>
        <p:spPr>
          <a:xfrm>
            <a:off x="6071616" y="1371600"/>
            <a:ext cx="2871216" cy="347472"/>
          </a:xfrm>
          <a:prstGeom prst="rect">
            <a:avLst/>
          </a:prstGeom>
          <a:solidFill>
            <a:srgbClr val="FB8500"/>
          </a:solidFill>
          <a:ln w="12700">
            <a:solidFill>
              <a:srgbClr val="FB8500"/>
            </a:solidFill>
            <a:prstDash val="solid"/>
          </a:ln>
        </p:spPr>
        <p:txBody>
          <a:bodyPr/>
          <a:lstStyle/>
          <a:p>
            <a:endParaRPr lang="en-SG"/>
          </a:p>
        </p:txBody>
      </p:sp>
      <p:sp>
        <p:nvSpPr>
          <p:cNvPr id="18" name="Text 16"/>
          <p:cNvSpPr/>
          <p:nvPr/>
        </p:nvSpPr>
        <p:spPr>
          <a:xfrm>
            <a:off x="6181344" y="1426464"/>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Timestomping</a:t>
            </a:r>
            <a:endParaRPr lang="en-US" sz="1150" dirty="0"/>
          </a:p>
        </p:txBody>
      </p:sp>
      <p:sp>
        <p:nvSpPr>
          <p:cNvPr id="19" name="Text 17"/>
          <p:cNvSpPr/>
          <p:nvPr/>
        </p:nvSpPr>
        <p:spPr>
          <a:xfrm>
            <a:off x="6163056" y="1792224"/>
            <a:ext cx="2688336" cy="10058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Deliberately altering file timestamps (created/modified/accessed dates) to mislead investigators about when events occurred.</a:t>
            </a:r>
            <a:endParaRPr lang="en-US" sz="1000" dirty="0"/>
          </a:p>
        </p:txBody>
      </p:sp>
      <p:sp>
        <p:nvSpPr>
          <p:cNvPr id="20" name="Shape 18"/>
          <p:cNvSpPr/>
          <p:nvPr/>
        </p:nvSpPr>
        <p:spPr>
          <a:xfrm>
            <a:off x="91440" y="2999232"/>
            <a:ext cx="2871216" cy="1499616"/>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21" name="Shape 19"/>
          <p:cNvSpPr/>
          <p:nvPr/>
        </p:nvSpPr>
        <p:spPr>
          <a:xfrm>
            <a:off x="91440" y="2999232"/>
            <a:ext cx="2871216" cy="347472"/>
          </a:xfrm>
          <a:prstGeom prst="rect">
            <a:avLst/>
          </a:prstGeom>
          <a:solidFill>
            <a:srgbClr val="06D6A0"/>
          </a:solidFill>
          <a:ln w="12700">
            <a:solidFill>
              <a:srgbClr val="06D6A0"/>
            </a:solidFill>
            <a:prstDash val="solid"/>
          </a:ln>
        </p:spPr>
        <p:txBody>
          <a:bodyPr/>
          <a:lstStyle/>
          <a:p>
            <a:endParaRPr lang="en-SG"/>
          </a:p>
        </p:txBody>
      </p:sp>
      <p:sp>
        <p:nvSpPr>
          <p:cNvPr id="22" name="Text 20"/>
          <p:cNvSpPr/>
          <p:nvPr/>
        </p:nvSpPr>
        <p:spPr>
          <a:xfrm>
            <a:off x="201168" y="3054096"/>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Steganography</a:t>
            </a:r>
            <a:endParaRPr lang="en-US" sz="1150" dirty="0"/>
          </a:p>
        </p:txBody>
      </p:sp>
      <p:sp>
        <p:nvSpPr>
          <p:cNvPr id="23" name="Text 21"/>
          <p:cNvSpPr/>
          <p:nvPr/>
        </p:nvSpPr>
        <p:spPr>
          <a:xfrm>
            <a:off x="182880" y="3419856"/>
            <a:ext cx="2688336" cy="10058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Hiding secret data inside ordinary-looking files like images or audio — undetectable to the naked eye, but found with forensic tools.</a:t>
            </a:r>
            <a:endParaRPr lang="en-US" sz="1000" dirty="0"/>
          </a:p>
        </p:txBody>
      </p:sp>
      <p:sp>
        <p:nvSpPr>
          <p:cNvPr id="24" name="Shape 22"/>
          <p:cNvSpPr/>
          <p:nvPr/>
        </p:nvSpPr>
        <p:spPr>
          <a:xfrm>
            <a:off x="3081528" y="2999232"/>
            <a:ext cx="2871216" cy="1499616"/>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25" name="Shape 23"/>
          <p:cNvSpPr/>
          <p:nvPr/>
        </p:nvSpPr>
        <p:spPr>
          <a:xfrm>
            <a:off x="3081528" y="2999232"/>
            <a:ext cx="2871216" cy="347472"/>
          </a:xfrm>
          <a:prstGeom prst="rect">
            <a:avLst/>
          </a:prstGeom>
          <a:solidFill>
            <a:srgbClr val="FFB703"/>
          </a:solidFill>
          <a:ln w="12700">
            <a:solidFill>
              <a:srgbClr val="FFB703"/>
            </a:solidFill>
            <a:prstDash val="solid"/>
          </a:ln>
        </p:spPr>
        <p:txBody>
          <a:bodyPr/>
          <a:lstStyle/>
          <a:p>
            <a:endParaRPr lang="en-SG"/>
          </a:p>
        </p:txBody>
      </p:sp>
      <p:sp>
        <p:nvSpPr>
          <p:cNvPr id="26" name="Text 24"/>
          <p:cNvSpPr/>
          <p:nvPr/>
        </p:nvSpPr>
        <p:spPr>
          <a:xfrm>
            <a:off x="3191256" y="3054096"/>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Log Tampering</a:t>
            </a:r>
            <a:endParaRPr lang="en-US" sz="1150" dirty="0"/>
          </a:p>
        </p:txBody>
      </p:sp>
      <p:sp>
        <p:nvSpPr>
          <p:cNvPr id="27" name="Text 25"/>
          <p:cNvSpPr/>
          <p:nvPr/>
        </p:nvSpPr>
        <p:spPr>
          <a:xfrm>
            <a:off x="3172968" y="3419856"/>
            <a:ext cx="2688336" cy="10058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Deleting or modifying system logs, browser history, or event logs. Investigators look for gaps in log sequences as indicators of tampering.</a:t>
            </a:r>
            <a:endParaRPr lang="en-US" sz="1000" dirty="0"/>
          </a:p>
        </p:txBody>
      </p:sp>
      <p:sp>
        <p:nvSpPr>
          <p:cNvPr id="28" name="Shape 26"/>
          <p:cNvSpPr/>
          <p:nvPr/>
        </p:nvSpPr>
        <p:spPr>
          <a:xfrm>
            <a:off x="6071616" y="2999232"/>
            <a:ext cx="2871216" cy="1499616"/>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29" name="Shape 27"/>
          <p:cNvSpPr/>
          <p:nvPr/>
        </p:nvSpPr>
        <p:spPr>
          <a:xfrm>
            <a:off x="6071616" y="2999232"/>
            <a:ext cx="2871216" cy="347472"/>
          </a:xfrm>
          <a:prstGeom prst="rect">
            <a:avLst/>
          </a:prstGeom>
          <a:solidFill>
            <a:srgbClr val="00B4D8"/>
          </a:solidFill>
          <a:ln w="12700">
            <a:solidFill>
              <a:srgbClr val="00B4D8"/>
            </a:solidFill>
            <a:prstDash val="solid"/>
          </a:ln>
        </p:spPr>
        <p:txBody>
          <a:bodyPr/>
          <a:lstStyle/>
          <a:p>
            <a:endParaRPr lang="en-SG"/>
          </a:p>
        </p:txBody>
      </p:sp>
      <p:sp>
        <p:nvSpPr>
          <p:cNvPr id="30" name="Text 28"/>
          <p:cNvSpPr/>
          <p:nvPr/>
        </p:nvSpPr>
        <p:spPr>
          <a:xfrm>
            <a:off x="6181344" y="3054096"/>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Anonymisation &amp; VPNs</a:t>
            </a:r>
            <a:endParaRPr lang="en-US" sz="1150" dirty="0"/>
          </a:p>
        </p:txBody>
      </p:sp>
      <p:sp>
        <p:nvSpPr>
          <p:cNvPr id="31" name="Text 29"/>
          <p:cNvSpPr/>
          <p:nvPr/>
        </p:nvSpPr>
        <p:spPr>
          <a:xfrm>
            <a:off x="6163056" y="3419856"/>
            <a:ext cx="2688336" cy="1005840"/>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Using VPNs, Tor, or anonymous accounts to mask the true IP address. Tracing these requires legal cooperation from ISPs and providers.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B8500"/>
          </a:solidFill>
          <a:ln w="12700">
            <a:solidFill>
              <a:srgbClr val="FB8500"/>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Live vs Dead Acquisition  &amp;  Volatile vs Non-Volatile Data</a:t>
            </a:r>
            <a:endParaRPr lang="en-US" sz="1700" dirty="0"/>
          </a:p>
        </p:txBody>
      </p:sp>
      <p:sp>
        <p:nvSpPr>
          <p:cNvPr id="6" name="Shape 4"/>
          <p:cNvSpPr/>
          <p:nvPr/>
        </p:nvSpPr>
        <p:spPr>
          <a:xfrm>
            <a:off x="109728" y="841248"/>
            <a:ext cx="4352544" cy="1993392"/>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09728" y="841248"/>
            <a:ext cx="4352544" cy="384048"/>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219456" y="877824"/>
            <a:ext cx="4133088" cy="274320"/>
          </a:xfrm>
          <a:prstGeom prst="rect">
            <a:avLst/>
          </a:prstGeom>
          <a:noFill/>
          <a:ln/>
        </p:spPr>
        <p:txBody>
          <a:bodyPr wrap="square" lIns="0" tIns="0" rIns="0" bIns="0" rtlCol="0" anchor="ctr"/>
          <a:lstStyle/>
          <a:p>
            <a:pPr marL="0" indent="0">
              <a:buNone/>
            </a:pPr>
            <a:r>
              <a:rPr lang="en-US" sz="1400" b="1" dirty="0">
                <a:solidFill>
                  <a:srgbClr val="000000"/>
                </a:solidFill>
                <a:latin typeface="Trebuchet MS" pitchFamily="34" charset="0"/>
                <a:ea typeface="Trebuchet MS" pitchFamily="34" charset="-122"/>
                <a:cs typeface="Trebuchet MS" pitchFamily="34" charset="-120"/>
              </a:rPr>
              <a:t>LIVE ACQUISITION</a:t>
            </a:r>
            <a:endParaRPr lang="en-US" sz="1400" dirty="0"/>
          </a:p>
        </p:txBody>
      </p:sp>
      <p:sp>
        <p:nvSpPr>
          <p:cNvPr id="9" name="Text 7"/>
          <p:cNvSpPr/>
          <p:nvPr/>
        </p:nvSpPr>
        <p:spPr>
          <a:xfrm>
            <a:off x="219456" y="1298448"/>
            <a:ext cx="4133088" cy="237744"/>
          </a:xfrm>
          <a:prstGeom prst="rect">
            <a:avLst/>
          </a:prstGeom>
          <a:noFill/>
          <a:ln/>
        </p:spPr>
        <p:txBody>
          <a:bodyPr wrap="square" rtlCol="0" anchor="ctr"/>
          <a:lstStyle/>
          <a:p>
            <a:pPr marL="0" indent="0">
              <a:buNone/>
            </a:pPr>
            <a:r>
              <a:rPr lang="en-US" sz="1150" b="1" dirty="0">
                <a:solidFill>
                  <a:srgbClr val="1A1A2E"/>
                </a:solidFill>
                <a:latin typeface="Calibri" pitchFamily="34" charset="0"/>
                <a:ea typeface="Calibri" pitchFamily="34" charset="-122"/>
                <a:cs typeface="Calibri" pitchFamily="34" charset="-120"/>
              </a:rPr>
              <a:t>Device is POWERED ON during acquisition.</a:t>
            </a:r>
            <a:endParaRPr lang="en-US" sz="1150" dirty="0"/>
          </a:p>
        </p:txBody>
      </p:sp>
      <p:sp>
        <p:nvSpPr>
          <p:cNvPr id="10" name="Text 8"/>
          <p:cNvSpPr/>
          <p:nvPr/>
        </p:nvSpPr>
        <p:spPr>
          <a:xfrm>
            <a:off x="219456" y="1572768"/>
            <a:ext cx="4133088" cy="115214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Captures volatile data (RAM, processes, network state)</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 Useful when encryption is active — keys may be in memory</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 Risk of evidence alteration if mishandled</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 Used for: active ransomware cases, live hacking incidents</a:t>
            </a:r>
            <a:endParaRPr lang="en-US" sz="1050" dirty="0"/>
          </a:p>
        </p:txBody>
      </p:sp>
      <p:sp>
        <p:nvSpPr>
          <p:cNvPr id="11" name="Shape 9"/>
          <p:cNvSpPr/>
          <p:nvPr/>
        </p:nvSpPr>
        <p:spPr>
          <a:xfrm>
            <a:off x="4681728" y="841248"/>
            <a:ext cx="4352544" cy="1993392"/>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12" name="Shape 10"/>
          <p:cNvSpPr/>
          <p:nvPr/>
        </p:nvSpPr>
        <p:spPr>
          <a:xfrm>
            <a:off x="4681728" y="841248"/>
            <a:ext cx="4352544" cy="384048"/>
          </a:xfrm>
          <a:prstGeom prst="rect">
            <a:avLst/>
          </a:prstGeom>
          <a:solidFill>
            <a:srgbClr val="EF233C"/>
          </a:solidFill>
          <a:ln w="12700">
            <a:solidFill>
              <a:srgbClr val="EF233C"/>
            </a:solidFill>
            <a:prstDash val="solid"/>
          </a:ln>
        </p:spPr>
        <p:txBody>
          <a:bodyPr/>
          <a:lstStyle/>
          <a:p>
            <a:endParaRPr lang="en-SG"/>
          </a:p>
        </p:txBody>
      </p:sp>
      <p:sp>
        <p:nvSpPr>
          <p:cNvPr id="13" name="Text 11"/>
          <p:cNvSpPr/>
          <p:nvPr/>
        </p:nvSpPr>
        <p:spPr>
          <a:xfrm>
            <a:off x="4791456" y="877824"/>
            <a:ext cx="4133088" cy="274320"/>
          </a:xfrm>
          <a:prstGeom prst="rect">
            <a:avLst/>
          </a:prstGeom>
          <a:noFill/>
          <a:ln/>
        </p:spPr>
        <p:txBody>
          <a:bodyPr wrap="square" lIns="0" tIns="0" rIns="0" bIns="0" rtlCol="0" anchor="ctr"/>
          <a:lstStyle/>
          <a:p>
            <a:pPr marL="0" indent="0">
              <a:buNone/>
            </a:pPr>
            <a:r>
              <a:rPr lang="en-US" sz="1400" b="1" dirty="0">
                <a:solidFill>
                  <a:srgbClr val="1A1A2E"/>
                </a:solidFill>
                <a:latin typeface="Trebuchet MS" pitchFamily="34" charset="0"/>
                <a:ea typeface="Trebuchet MS" pitchFamily="34" charset="-122"/>
                <a:cs typeface="Trebuchet MS" pitchFamily="34" charset="-120"/>
              </a:rPr>
              <a:t>DEAD (STATIC) ACQUISITION</a:t>
            </a:r>
            <a:endParaRPr lang="en-US" sz="1400" dirty="0"/>
          </a:p>
        </p:txBody>
      </p:sp>
      <p:sp>
        <p:nvSpPr>
          <p:cNvPr id="14" name="Text 12"/>
          <p:cNvSpPr/>
          <p:nvPr/>
        </p:nvSpPr>
        <p:spPr>
          <a:xfrm>
            <a:off x="4791456" y="1298448"/>
            <a:ext cx="4133088" cy="237744"/>
          </a:xfrm>
          <a:prstGeom prst="rect">
            <a:avLst/>
          </a:prstGeom>
          <a:noFill/>
          <a:ln/>
        </p:spPr>
        <p:txBody>
          <a:bodyPr wrap="square" rtlCol="0" anchor="ctr"/>
          <a:lstStyle/>
          <a:p>
            <a:pPr marL="0" indent="0">
              <a:buNone/>
            </a:pPr>
            <a:r>
              <a:rPr lang="en-US" sz="1150" b="1" dirty="0">
                <a:solidFill>
                  <a:srgbClr val="1A1A2E"/>
                </a:solidFill>
                <a:latin typeface="Calibri" pitchFamily="34" charset="0"/>
                <a:ea typeface="Calibri" pitchFamily="34" charset="-122"/>
                <a:cs typeface="Calibri" pitchFamily="34" charset="-120"/>
              </a:rPr>
              <a:t>Device is POWERED OFF during acquisition.</a:t>
            </a:r>
            <a:endParaRPr lang="en-US" sz="1150" dirty="0"/>
          </a:p>
        </p:txBody>
      </p:sp>
      <p:sp>
        <p:nvSpPr>
          <p:cNvPr id="15" name="Text 13"/>
          <p:cNvSpPr/>
          <p:nvPr/>
        </p:nvSpPr>
        <p:spPr>
          <a:xfrm>
            <a:off x="4791456" y="1572768"/>
            <a:ext cx="4133088" cy="1152144"/>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 Safer — no risk of accidental changes to stored data</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 Standard for seized devices from crime scenes</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 Volatile data permanently lost on shutdown</a:t>
            </a: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 Used for: seized hard drives, cold case investigations</a:t>
            </a:r>
            <a:endParaRPr lang="en-US" sz="1050" dirty="0"/>
          </a:p>
        </p:txBody>
      </p:sp>
      <p:sp>
        <p:nvSpPr>
          <p:cNvPr id="16" name="Shape 14"/>
          <p:cNvSpPr/>
          <p:nvPr/>
        </p:nvSpPr>
        <p:spPr>
          <a:xfrm>
            <a:off x="109728" y="2962656"/>
            <a:ext cx="4352544" cy="1828800"/>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7" name="Shape 15"/>
          <p:cNvSpPr/>
          <p:nvPr/>
        </p:nvSpPr>
        <p:spPr>
          <a:xfrm>
            <a:off x="109728" y="2962656"/>
            <a:ext cx="4352544" cy="384048"/>
          </a:xfrm>
          <a:prstGeom prst="rect">
            <a:avLst/>
          </a:prstGeom>
          <a:solidFill>
            <a:srgbClr val="FFB703"/>
          </a:solidFill>
          <a:ln w="12700">
            <a:solidFill>
              <a:srgbClr val="FFB703"/>
            </a:solidFill>
            <a:prstDash val="solid"/>
          </a:ln>
        </p:spPr>
        <p:txBody>
          <a:bodyPr/>
          <a:lstStyle/>
          <a:p>
            <a:endParaRPr lang="en-SG"/>
          </a:p>
        </p:txBody>
      </p:sp>
      <p:sp>
        <p:nvSpPr>
          <p:cNvPr id="18" name="Text 16"/>
          <p:cNvSpPr/>
          <p:nvPr/>
        </p:nvSpPr>
        <p:spPr>
          <a:xfrm>
            <a:off x="219456" y="2999232"/>
            <a:ext cx="4133088" cy="274320"/>
          </a:xfrm>
          <a:prstGeom prst="rect">
            <a:avLst/>
          </a:prstGeom>
          <a:noFill/>
          <a:ln/>
        </p:spPr>
        <p:txBody>
          <a:bodyPr wrap="square" lIns="0" tIns="0" rIns="0" bIns="0" rtlCol="0" anchor="ctr"/>
          <a:lstStyle/>
          <a:p>
            <a:pPr marL="0" indent="0">
              <a:buNone/>
            </a:pPr>
            <a:r>
              <a:rPr lang="en-US" sz="1400" b="1" dirty="0">
                <a:solidFill>
                  <a:srgbClr val="000000"/>
                </a:solidFill>
                <a:latin typeface="Trebuchet MS" pitchFamily="34" charset="0"/>
                <a:ea typeface="Trebuchet MS" pitchFamily="34" charset="-122"/>
                <a:cs typeface="Trebuchet MS" pitchFamily="34" charset="-120"/>
              </a:rPr>
              <a:t>VOLATILE DATA</a:t>
            </a:r>
            <a:endParaRPr lang="en-US" sz="1400" dirty="0"/>
          </a:p>
        </p:txBody>
      </p:sp>
      <p:sp>
        <p:nvSpPr>
          <p:cNvPr id="19" name="Text 17"/>
          <p:cNvSpPr/>
          <p:nvPr/>
        </p:nvSpPr>
        <p:spPr>
          <a:xfrm>
            <a:off x="219456" y="3419856"/>
            <a:ext cx="4133088" cy="219456"/>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DISAPPEARS when power is removed:</a:t>
            </a:r>
            <a:endParaRPr lang="en-US" sz="1100" dirty="0"/>
          </a:p>
        </p:txBody>
      </p:sp>
      <p:sp>
        <p:nvSpPr>
          <p:cNvPr id="20" name="Text 18"/>
          <p:cNvSpPr/>
          <p:nvPr/>
        </p:nvSpPr>
        <p:spPr>
          <a:xfrm>
            <a:off x="219456" y="367588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RAM / Computer Memory</a:t>
            </a:r>
            <a:endParaRPr lang="en-US" sz="1000" dirty="0"/>
          </a:p>
        </p:txBody>
      </p:sp>
      <p:sp>
        <p:nvSpPr>
          <p:cNvPr id="21" name="Text 19"/>
          <p:cNvSpPr/>
          <p:nvPr/>
        </p:nvSpPr>
        <p:spPr>
          <a:xfrm>
            <a:off x="219456" y="385876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Running programs &amp; processes</a:t>
            </a:r>
            <a:endParaRPr lang="en-US" sz="1000" dirty="0"/>
          </a:p>
        </p:txBody>
      </p:sp>
      <p:sp>
        <p:nvSpPr>
          <p:cNvPr id="22" name="Text 20"/>
          <p:cNvSpPr/>
          <p:nvPr/>
        </p:nvSpPr>
        <p:spPr>
          <a:xfrm>
            <a:off x="219456" y="404164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Active network connections</a:t>
            </a:r>
            <a:endParaRPr lang="en-US" sz="1000" dirty="0"/>
          </a:p>
        </p:txBody>
      </p:sp>
      <p:sp>
        <p:nvSpPr>
          <p:cNvPr id="23" name="Text 21"/>
          <p:cNvSpPr/>
          <p:nvPr/>
        </p:nvSpPr>
        <p:spPr>
          <a:xfrm>
            <a:off x="219456" y="422452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Logged-in user sessions</a:t>
            </a:r>
            <a:endParaRPr lang="en-US" sz="1000" dirty="0"/>
          </a:p>
        </p:txBody>
      </p:sp>
      <p:sp>
        <p:nvSpPr>
          <p:cNvPr id="24" name="Text 22"/>
          <p:cNvSpPr/>
          <p:nvPr/>
        </p:nvSpPr>
        <p:spPr>
          <a:xfrm>
            <a:off x="219456" y="440740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Clipboard contents</a:t>
            </a:r>
            <a:endParaRPr lang="en-US" sz="1000" dirty="0"/>
          </a:p>
        </p:txBody>
      </p:sp>
      <p:sp>
        <p:nvSpPr>
          <p:cNvPr id="25" name="Text 23"/>
          <p:cNvSpPr/>
          <p:nvPr/>
        </p:nvSpPr>
        <p:spPr>
          <a:xfrm>
            <a:off x="219456" y="459028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Encryption keys in memory</a:t>
            </a:r>
            <a:endParaRPr lang="en-US" sz="1000" dirty="0"/>
          </a:p>
        </p:txBody>
      </p:sp>
      <p:sp>
        <p:nvSpPr>
          <p:cNvPr id="26" name="Shape 24"/>
          <p:cNvSpPr/>
          <p:nvPr/>
        </p:nvSpPr>
        <p:spPr>
          <a:xfrm>
            <a:off x="4681728" y="2962656"/>
            <a:ext cx="4352544" cy="1828800"/>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4681728" y="2962656"/>
            <a:ext cx="4352544" cy="384048"/>
          </a:xfrm>
          <a:prstGeom prst="rect">
            <a:avLst/>
          </a:prstGeom>
          <a:solidFill>
            <a:srgbClr val="9B5DE5"/>
          </a:solidFill>
          <a:ln w="12700">
            <a:solidFill>
              <a:srgbClr val="9B5DE5"/>
            </a:solidFill>
            <a:prstDash val="solid"/>
          </a:ln>
        </p:spPr>
        <p:txBody>
          <a:bodyPr/>
          <a:lstStyle/>
          <a:p>
            <a:endParaRPr lang="en-SG"/>
          </a:p>
        </p:txBody>
      </p:sp>
      <p:sp>
        <p:nvSpPr>
          <p:cNvPr id="28" name="Text 26"/>
          <p:cNvSpPr/>
          <p:nvPr/>
        </p:nvSpPr>
        <p:spPr>
          <a:xfrm>
            <a:off x="4791456" y="2999232"/>
            <a:ext cx="4133088" cy="274320"/>
          </a:xfrm>
          <a:prstGeom prst="rect">
            <a:avLst/>
          </a:prstGeom>
          <a:noFill/>
          <a:ln/>
        </p:spPr>
        <p:txBody>
          <a:bodyPr wrap="square" lIns="0" tIns="0" rIns="0" bIns="0" rtlCol="0" anchor="ctr"/>
          <a:lstStyle/>
          <a:p>
            <a:pPr marL="0" indent="0">
              <a:buNone/>
            </a:pPr>
            <a:r>
              <a:rPr lang="en-US" sz="1400" b="1" dirty="0">
                <a:solidFill>
                  <a:srgbClr val="1A1A2E"/>
                </a:solidFill>
                <a:latin typeface="Trebuchet MS" pitchFamily="34" charset="0"/>
                <a:ea typeface="Trebuchet MS" pitchFamily="34" charset="-122"/>
                <a:cs typeface="Trebuchet MS" pitchFamily="34" charset="-120"/>
              </a:rPr>
              <a:t>NON-VOLATILE DATA</a:t>
            </a:r>
            <a:endParaRPr lang="en-US" sz="1400" dirty="0"/>
          </a:p>
        </p:txBody>
      </p:sp>
      <p:sp>
        <p:nvSpPr>
          <p:cNvPr id="29" name="Text 27"/>
          <p:cNvSpPr/>
          <p:nvPr/>
        </p:nvSpPr>
        <p:spPr>
          <a:xfrm>
            <a:off x="4791456" y="3419856"/>
            <a:ext cx="4133088" cy="219456"/>
          </a:xfrm>
          <a:prstGeom prst="rect">
            <a:avLst/>
          </a:prstGeom>
          <a:noFill/>
          <a:ln/>
        </p:spPr>
        <p:txBody>
          <a:bodyPr wrap="square" rtlCol="0" anchor="ctr"/>
          <a:lstStyle/>
          <a:p>
            <a:pPr marL="0" indent="0">
              <a:buNone/>
            </a:pPr>
            <a:r>
              <a:rPr lang="en-US" sz="1100" b="1" dirty="0">
                <a:solidFill>
                  <a:srgbClr val="1A1A2E"/>
                </a:solidFill>
                <a:latin typeface="Calibri" pitchFamily="34" charset="0"/>
                <a:ea typeface="Calibri" pitchFamily="34" charset="-122"/>
                <a:cs typeface="Calibri" pitchFamily="34" charset="-120"/>
              </a:rPr>
              <a:t>PERSISTS when power is removed:</a:t>
            </a:r>
            <a:endParaRPr lang="en-US" sz="1100" dirty="0"/>
          </a:p>
        </p:txBody>
      </p:sp>
      <p:sp>
        <p:nvSpPr>
          <p:cNvPr id="30" name="Text 28"/>
          <p:cNvSpPr/>
          <p:nvPr/>
        </p:nvSpPr>
        <p:spPr>
          <a:xfrm>
            <a:off x="4791456" y="367588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Hard drives &amp; SSDs</a:t>
            </a:r>
            <a:endParaRPr lang="en-US" sz="1000" dirty="0"/>
          </a:p>
        </p:txBody>
      </p:sp>
      <p:sp>
        <p:nvSpPr>
          <p:cNvPr id="31" name="Text 29"/>
          <p:cNvSpPr/>
          <p:nvPr/>
        </p:nvSpPr>
        <p:spPr>
          <a:xfrm>
            <a:off x="4791456" y="385876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USB flash drives &amp; SD cards</a:t>
            </a:r>
            <a:endParaRPr lang="en-US" sz="1000" dirty="0"/>
          </a:p>
        </p:txBody>
      </p:sp>
      <p:sp>
        <p:nvSpPr>
          <p:cNvPr id="32" name="Text 30"/>
          <p:cNvSpPr/>
          <p:nvPr/>
        </p:nvSpPr>
        <p:spPr>
          <a:xfrm>
            <a:off x="4791456" y="404164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Files, documents &amp; databases</a:t>
            </a:r>
            <a:endParaRPr lang="en-US" sz="1000" dirty="0"/>
          </a:p>
        </p:txBody>
      </p:sp>
      <p:sp>
        <p:nvSpPr>
          <p:cNvPr id="33" name="Text 31"/>
          <p:cNvSpPr/>
          <p:nvPr/>
        </p:nvSpPr>
        <p:spPr>
          <a:xfrm>
            <a:off x="4791456" y="422452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Browser history &amp; cookies</a:t>
            </a:r>
            <a:endParaRPr lang="en-US" sz="1000" dirty="0"/>
          </a:p>
        </p:txBody>
      </p:sp>
      <p:sp>
        <p:nvSpPr>
          <p:cNvPr id="34" name="Text 32"/>
          <p:cNvSpPr/>
          <p:nvPr/>
        </p:nvSpPr>
        <p:spPr>
          <a:xfrm>
            <a:off x="4791456" y="440740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System logs &amp; registry</a:t>
            </a:r>
            <a:endParaRPr lang="en-US" sz="1000" dirty="0"/>
          </a:p>
        </p:txBody>
      </p:sp>
      <p:sp>
        <p:nvSpPr>
          <p:cNvPr id="35" name="Text 33"/>
          <p:cNvSpPr/>
          <p:nvPr/>
        </p:nvSpPr>
        <p:spPr>
          <a:xfrm>
            <a:off x="4791456" y="4590288"/>
            <a:ext cx="4133088" cy="164592"/>
          </a:xfrm>
          <a:prstGeom prst="rect">
            <a:avLst/>
          </a:prstGeom>
          <a:noFill/>
          <a:ln/>
        </p:spPr>
        <p:txBody>
          <a:bodyPr wrap="square" rtlCol="0" anchor="ctr"/>
          <a:lstStyle/>
          <a:p>
            <a:pPr marL="342900" indent="-342900">
              <a:buSzPct val="100000"/>
              <a:buChar char="•"/>
            </a:pPr>
            <a:r>
              <a:rPr lang="en-US" sz="1000" dirty="0">
                <a:solidFill>
                  <a:srgbClr val="1A1A2E"/>
                </a:solidFill>
                <a:latin typeface="Calibri" pitchFamily="34" charset="0"/>
                <a:ea typeface="Calibri" pitchFamily="34" charset="-122"/>
                <a:cs typeface="Calibri" pitchFamily="34" charset="-120"/>
              </a:rPr>
              <a:t>Email archives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FB8500"/>
          </a:solidFill>
          <a:ln w="12700">
            <a:solidFill>
              <a:srgbClr val="FB8500"/>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The 5WH Framework in Digital Forensic Investigations</a:t>
            </a:r>
            <a:endParaRPr lang="en-US" sz="1700" dirty="0"/>
          </a:p>
        </p:txBody>
      </p:sp>
      <p:sp>
        <p:nvSpPr>
          <p:cNvPr id="6" name="Shape 4"/>
          <p:cNvSpPr/>
          <p:nvPr/>
        </p:nvSpPr>
        <p:spPr>
          <a:xfrm>
            <a:off x="164592" y="841248"/>
            <a:ext cx="8814816" cy="347472"/>
          </a:xfrm>
          <a:prstGeom prst="rect">
            <a:avLst/>
          </a:prstGeom>
          <a:solidFill>
            <a:srgbClr val="EEF6FB"/>
          </a:solidFill>
          <a:ln w="12700">
            <a:solidFill>
              <a:srgbClr val="2E4068"/>
            </a:solidFill>
            <a:prstDash val="solid"/>
          </a:ln>
        </p:spPr>
        <p:txBody>
          <a:bodyPr/>
          <a:lstStyle/>
          <a:p>
            <a:endParaRPr lang="en-SG"/>
          </a:p>
        </p:txBody>
      </p:sp>
      <p:sp>
        <p:nvSpPr>
          <p:cNvPr id="7" name="Text 5"/>
          <p:cNvSpPr/>
          <p:nvPr/>
        </p:nvSpPr>
        <p:spPr>
          <a:xfrm>
            <a:off x="274320" y="896112"/>
            <a:ext cx="8595360" cy="219456"/>
          </a:xfrm>
          <a:prstGeom prst="rect">
            <a:avLst/>
          </a:prstGeom>
          <a:noFill/>
          <a:ln/>
        </p:spPr>
        <p:txBody>
          <a:bodyPr wrap="square" rtlCol="0" anchor="ctr"/>
          <a:lstStyle/>
          <a:p>
            <a:pPr marL="0" indent="0">
              <a:buNone/>
            </a:pPr>
            <a:r>
              <a:rPr lang="en-US" sz="1100" i="1" dirty="0">
                <a:solidFill>
                  <a:srgbClr val="1A1A2E"/>
                </a:solidFill>
                <a:latin typeface="Calibri" pitchFamily="34" charset="0"/>
                <a:ea typeface="Calibri" pitchFamily="34" charset="-122"/>
                <a:cs typeface="Calibri" pitchFamily="34" charset="-120"/>
              </a:rPr>
              <a:t>Every investigation must answer these six fundamental questions — they guide what evidence to look for and how to structure your findings.</a:t>
            </a:r>
            <a:endParaRPr lang="en-US" sz="1100" dirty="0"/>
          </a:p>
        </p:txBody>
      </p:sp>
      <p:sp>
        <p:nvSpPr>
          <p:cNvPr id="8" name="Shape 6"/>
          <p:cNvSpPr/>
          <p:nvPr/>
        </p:nvSpPr>
        <p:spPr>
          <a:xfrm>
            <a:off x="91440" y="1316736"/>
            <a:ext cx="2871216" cy="1481328"/>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9" name="Shape 7"/>
          <p:cNvSpPr/>
          <p:nvPr/>
        </p:nvSpPr>
        <p:spPr>
          <a:xfrm>
            <a:off x="182880" y="1408176"/>
            <a:ext cx="548640" cy="548640"/>
          </a:xfrm>
          <a:prstGeom prst="ellipse">
            <a:avLst/>
          </a:prstGeom>
          <a:solidFill>
            <a:srgbClr val="EF233C"/>
          </a:solidFill>
          <a:ln w="12700">
            <a:solidFill>
              <a:srgbClr val="EF233C"/>
            </a:solidFill>
            <a:prstDash val="solid"/>
          </a:ln>
        </p:spPr>
        <p:txBody>
          <a:bodyPr/>
          <a:lstStyle/>
          <a:p>
            <a:endParaRPr lang="en-SG"/>
          </a:p>
        </p:txBody>
      </p:sp>
      <p:sp>
        <p:nvSpPr>
          <p:cNvPr id="10" name="Text 8"/>
          <p:cNvSpPr/>
          <p:nvPr/>
        </p:nvSpPr>
        <p:spPr>
          <a:xfrm>
            <a:off x="182880" y="1490472"/>
            <a:ext cx="548640" cy="329184"/>
          </a:xfrm>
          <a:prstGeom prst="rect">
            <a:avLst/>
          </a:prstGeom>
          <a:noFill/>
          <a:ln/>
        </p:spPr>
        <p:txBody>
          <a:bodyPr wrap="square" lIns="0" tIns="0" rIns="0" bIns="0" rtlCol="0" anchor="ctr"/>
          <a:lstStyle/>
          <a:p>
            <a:pPr marL="0" indent="0" algn="ctr">
              <a:buNone/>
            </a:pPr>
            <a:r>
              <a:rPr lang="en-US" sz="1200" b="1" dirty="0">
                <a:solidFill>
                  <a:srgbClr val="1A1A2E"/>
                </a:solidFill>
                <a:latin typeface="Trebuchet MS" pitchFamily="34" charset="0"/>
                <a:ea typeface="Trebuchet MS" pitchFamily="34" charset="-122"/>
                <a:cs typeface="Trebuchet MS" pitchFamily="34" charset="-120"/>
              </a:rPr>
              <a:t>WHO?</a:t>
            </a:r>
            <a:endParaRPr lang="en-US" sz="1200" dirty="0"/>
          </a:p>
        </p:txBody>
      </p:sp>
      <p:sp>
        <p:nvSpPr>
          <p:cNvPr id="11" name="Text 9"/>
          <p:cNvSpPr/>
          <p:nvPr/>
        </p:nvSpPr>
        <p:spPr>
          <a:xfrm>
            <a:off x="841248" y="1481328"/>
            <a:ext cx="2048256" cy="310896"/>
          </a:xfrm>
          <a:prstGeom prst="rect">
            <a:avLst/>
          </a:prstGeom>
          <a:noFill/>
          <a:ln/>
        </p:spPr>
        <p:txBody>
          <a:bodyPr wrap="square" rtlCol="0" anchor="ctr"/>
          <a:lstStyle/>
          <a:p>
            <a:pPr marL="0" indent="0">
              <a:buNone/>
            </a:pPr>
            <a:r>
              <a:rPr lang="en-US" sz="1200" b="1" dirty="0">
                <a:solidFill>
                  <a:srgbClr val="EF233C"/>
                </a:solidFill>
                <a:latin typeface="Trebuchet MS" pitchFamily="34" charset="0"/>
                <a:ea typeface="Trebuchet MS" pitchFamily="34" charset="-122"/>
                <a:cs typeface="Trebuchet MS" pitchFamily="34" charset="-120"/>
              </a:rPr>
              <a:t>Who committed the act?</a:t>
            </a:r>
            <a:endParaRPr lang="en-US" sz="1200" dirty="0"/>
          </a:p>
        </p:txBody>
      </p:sp>
      <p:sp>
        <p:nvSpPr>
          <p:cNvPr id="12" name="Text 10"/>
          <p:cNvSpPr/>
          <p:nvPr/>
        </p:nvSpPr>
        <p:spPr>
          <a:xfrm>
            <a:off x="182880" y="2084832"/>
            <a:ext cx="2688336" cy="603504"/>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User accounts, login records, email addresses, IP attribution, biometric data (fingerprint unlocks)</a:t>
            </a:r>
            <a:endParaRPr lang="en-US" sz="1000" dirty="0"/>
          </a:p>
        </p:txBody>
      </p:sp>
      <p:sp>
        <p:nvSpPr>
          <p:cNvPr id="13" name="Shape 11"/>
          <p:cNvSpPr/>
          <p:nvPr/>
        </p:nvSpPr>
        <p:spPr>
          <a:xfrm>
            <a:off x="3081528" y="1316736"/>
            <a:ext cx="2871216" cy="1481328"/>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14" name="Shape 12"/>
          <p:cNvSpPr/>
          <p:nvPr/>
        </p:nvSpPr>
        <p:spPr>
          <a:xfrm>
            <a:off x="3172968" y="1408176"/>
            <a:ext cx="548640" cy="548640"/>
          </a:xfrm>
          <a:prstGeom prst="ellipse">
            <a:avLst/>
          </a:prstGeom>
          <a:solidFill>
            <a:srgbClr val="FB8500"/>
          </a:solidFill>
          <a:ln w="12700">
            <a:solidFill>
              <a:srgbClr val="FB8500"/>
            </a:solidFill>
            <a:prstDash val="solid"/>
          </a:ln>
        </p:spPr>
        <p:txBody>
          <a:bodyPr/>
          <a:lstStyle/>
          <a:p>
            <a:endParaRPr lang="en-SG"/>
          </a:p>
        </p:txBody>
      </p:sp>
      <p:sp>
        <p:nvSpPr>
          <p:cNvPr id="15" name="Text 13"/>
          <p:cNvSpPr/>
          <p:nvPr/>
        </p:nvSpPr>
        <p:spPr>
          <a:xfrm>
            <a:off x="3172968" y="1490472"/>
            <a:ext cx="548640" cy="329184"/>
          </a:xfrm>
          <a:prstGeom prst="rect">
            <a:avLst/>
          </a:prstGeom>
          <a:noFill/>
          <a:ln/>
        </p:spPr>
        <p:txBody>
          <a:bodyPr wrap="square" lIns="0" tIns="0" rIns="0" bIns="0" rtlCol="0" anchor="ctr"/>
          <a:lstStyle/>
          <a:p>
            <a:pPr marL="0" indent="0" algn="ctr">
              <a:buNone/>
            </a:pPr>
            <a:r>
              <a:rPr lang="en-US" sz="1200" b="1" dirty="0">
                <a:solidFill>
                  <a:srgbClr val="1A1A2E"/>
                </a:solidFill>
                <a:latin typeface="Trebuchet MS" pitchFamily="34" charset="0"/>
                <a:ea typeface="Trebuchet MS" pitchFamily="34" charset="-122"/>
                <a:cs typeface="Trebuchet MS" pitchFamily="34" charset="-120"/>
              </a:rPr>
              <a:t>WHAT?</a:t>
            </a:r>
            <a:endParaRPr lang="en-US" sz="1200" dirty="0"/>
          </a:p>
        </p:txBody>
      </p:sp>
      <p:sp>
        <p:nvSpPr>
          <p:cNvPr id="16" name="Text 14"/>
          <p:cNvSpPr/>
          <p:nvPr/>
        </p:nvSpPr>
        <p:spPr>
          <a:xfrm>
            <a:off x="3831336" y="1481328"/>
            <a:ext cx="2048256" cy="310896"/>
          </a:xfrm>
          <a:prstGeom prst="rect">
            <a:avLst/>
          </a:prstGeom>
          <a:noFill/>
          <a:ln/>
        </p:spPr>
        <p:txBody>
          <a:bodyPr wrap="square" rtlCol="0" anchor="ctr"/>
          <a:lstStyle/>
          <a:p>
            <a:pPr marL="0" indent="0">
              <a:buNone/>
            </a:pPr>
            <a:r>
              <a:rPr lang="en-US" sz="1200" b="1" dirty="0">
                <a:solidFill>
                  <a:srgbClr val="FB8500"/>
                </a:solidFill>
                <a:latin typeface="Trebuchet MS" pitchFamily="34" charset="0"/>
                <a:ea typeface="Trebuchet MS" pitchFamily="34" charset="-122"/>
                <a:cs typeface="Trebuchet MS" pitchFamily="34" charset="-120"/>
              </a:rPr>
              <a:t>What happened?</a:t>
            </a:r>
            <a:endParaRPr lang="en-US" sz="1200" dirty="0"/>
          </a:p>
        </p:txBody>
      </p:sp>
      <p:sp>
        <p:nvSpPr>
          <p:cNvPr id="17" name="Text 15"/>
          <p:cNvSpPr/>
          <p:nvPr/>
        </p:nvSpPr>
        <p:spPr>
          <a:xfrm>
            <a:off x="3172968" y="2084832"/>
            <a:ext cx="2688336" cy="603504"/>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File access logs, system events, malware behaviour, data exfiltrated, commands executed</a:t>
            </a:r>
            <a:endParaRPr lang="en-US" sz="1000" dirty="0"/>
          </a:p>
        </p:txBody>
      </p:sp>
      <p:sp>
        <p:nvSpPr>
          <p:cNvPr id="18" name="Shape 16"/>
          <p:cNvSpPr/>
          <p:nvPr/>
        </p:nvSpPr>
        <p:spPr>
          <a:xfrm>
            <a:off x="6071616" y="1316736"/>
            <a:ext cx="2871216" cy="1481328"/>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6163056" y="1408176"/>
            <a:ext cx="548640" cy="548640"/>
          </a:xfrm>
          <a:prstGeom prst="ellipse">
            <a:avLst/>
          </a:prstGeom>
          <a:solidFill>
            <a:srgbClr val="FFB703"/>
          </a:solidFill>
          <a:ln w="12700">
            <a:solidFill>
              <a:srgbClr val="FFB703"/>
            </a:solidFill>
            <a:prstDash val="solid"/>
          </a:ln>
        </p:spPr>
        <p:txBody>
          <a:bodyPr/>
          <a:lstStyle/>
          <a:p>
            <a:endParaRPr lang="en-SG"/>
          </a:p>
        </p:txBody>
      </p:sp>
      <p:sp>
        <p:nvSpPr>
          <p:cNvPr id="20" name="Text 18"/>
          <p:cNvSpPr/>
          <p:nvPr/>
        </p:nvSpPr>
        <p:spPr>
          <a:xfrm>
            <a:off x="6163056" y="1490472"/>
            <a:ext cx="548640" cy="329184"/>
          </a:xfrm>
          <a:prstGeom prst="rect">
            <a:avLst/>
          </a:prstGeom>
          <a:noFill/>
          <a:ln/>
        </p:spPr>
        <p:txBody>
          <a:bodyPr wrap="square" lIns="0" tIns="0" rIns="0" bIns="0" rtlCol="0" anchor="ctr"/>
          <a:lstStyle/>
          <a:p>
            <a:pPr marL="0" indent="0" algn="ctr">
              <a:buNone/>
            </a:pPr>
            <a:r>
              <a:rPr lang="en-US" sz="1200" b="1" dirty="0">
                <a:solidFill>
                  <a:srgbClr val="000000"/>
                </a:solidFill>
                <a:latin typeface="Trebuchet MS" pitchFamily="34" charset="0"/>
                <a:ea typeface="Trebuchet MS" pitchFamily="34" charset="-122"/>
                <a:cs typeface="Trebuchet MS" pitchFamily="34" charset="-120"/>
              </a:rPr>
              <a:t>WHEN?</a:t>
            </a:r>
            <a:endParaRPr lang="en-US" sz="1200" dirty="0"/>
          </a:p>
        </p:txBody>
      </p:sp>
      <p:sp>
        <p:nvSpPr>
          <p:cNvPr id="21" name="Text 19"/>
          <p:cNvSpPr/>
          <p:nvPr/>
        </p:nvSpPr>
        <p:spPr>
          <a:xfrm>
            <a:off x="6821424" y="1481328"/>
            <a:ext cx="2048256" cy="310896"/>
          </a:xfrm>
          <a:prstGeom prst="rect">
            <a:avLst/>
          </a:prstGeom>
          <a:noFill/>
          <a:ln/>
        </p:spPr>
        <p:txBody>
          <a:bodyPr wrap="square" rtlCol="0" anchor="ctr"/>
          <a:lstStyle/>
          <a:p>
            <a:pPr marL="0" indent="0">
              <a:buNone/>
            </a:pPr>
            <a:r>
              <a:rPr lang="en-US" sz="1200" b="1" dirty="0">
                <a:solidFill>
                  <a:srgbClr val="FFB703"/>
                </a:solidFill>
                <a:latin typeface="Trebuchet MS" pitchFamily="34" charset="0"/>
                <a:ea typeface="Trebuchet MS" pitchFamily="34" charset="-122"/>
                <a:cs typeface="Trebuchet MS" pitchFamily="34" charset="-120"/>
              </a:rPr>
              <a:t>When did it happen?</a:t>
            </a:r>
            <a:endParaRPr lang="en-US" sz="1200" dirty="0"/>
          </a:p>
        </p:txBody>
      </p:sp>
      <p:sp>
        <p:nvSpPr>
          <p:cNvPr id="22" name="Text 20"/>
          <p:cNvSpPr/>
          <p:nvPr/>
        </p:nvSpPr>
        <p:spPr>
          <a:xfrm>
            <a:off x="6163056" y="2084832"/>
            <a:ext cx="2688336" cy="603504"/>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File timestamps, event log entries with dates/times, metadata, CCTV timestamps, browser history</a:t>
            </a:r>
            <a:endParaRPr lang="en-US" sz="1000" dirty="0"/>
          </a:p>
        </p:txBody>
      </p:sp>
      <p:sp>
        <p:nvSpPr>
          <p:cNvPr id="23" name="Shape 21"/>
          <p:cNvSpPr/>
          <p:nvPr/>
        </p:nvSpPr>
        <p:spPr>
          <a:xfrm>
            <a:off x="91440" y="2926080"/>
            <a:ext cx="2871216" cy="1481328"/>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24" name="Shape 22"/>
          <p:cNvSpPr/>
          <p:nvPr/>
        </p:nvSpPr>
        <p:spPr>
          <a:xfrm>
            <a:off x="182880" y="3017520"/>
            <a:ext cx="548640" cy="548640"/>
          </a:xfrm>
          <a:prstGeom prst="ellipse">
            <a:avLst/>
          </a:prstGeom>
          <a:solidFill>
            <a:srgbClr val="00B4D8"/>
          </a:solidFill>
          <a:ln w="12700">
            <a:solidFill>
              <a:srgbClr val="00B4D8"/>
            </a:solidFill>
            <a:prstDash val="solid"/>
          </a:ln>
        </p:spPr>
        <p:txBody>
          <a:bodyPr/>
          <a:lstStyle/>
          <a:p>
            <a:endParaRPr lang="en-SG"/>
          </a:p>
        </p:txBody>
      </p:sp>
      <p:sp>
        <p:nvSpPr>
          <p:cNvPr id="25" name="Text 23"/>
          <p:cNvSpPr/>
          <p:nvPr/>
        </p:nvSpPr>
        <p:spPr>
          <a:xfrm>
            <a:off x="182880" y="3099816"/>
            <a:ext cx="548640" cy="329184"/>
          </a:xfrm>
          <a:prstGeom prst="rect">
            <a:avLst/>
          </a:prstGeom>
          <a:noFill/>
          <a:ln/>
        </p:spPr>
        <p:txBody>
          <a:bodyPr wrap="square" lIns="0" tIns="0" rIns="0" bIns="0" rtlCol="0" anchor="ctr"/>
          <a:lstStyle/>
          <a:p>
            <a:pPr marL="0" indent="0" algn="ctr">
              <a:buNone/>
            </a:pPr>
            <a:r>
              <a:rPr lang="en-US" sz="1200" b="1" dirty="0">
                <a:solidFill>
                  <a:srgbClr val="000000"/>
                </a:solidFill>
                <a:latin typeface="Trebuchet MS" pitchFamily="34" charset="0"/>
                <a:ea typeface="Trebuchet MS" pitchFamily="34" charset="-122"/>
                <a:cs typeface="Trebuchet MS" pitchFamily="34" charset="-120"/>
              </a:rPr>
              <a:t>WHERE?</a:t>
            </a:r>
            <a:endParaRPr lang="en-US" sz="1200" dirty="0"/>
          </a:p>
        </p:txBody>
      </p:sp>
      <p:sp>
        <p:nvSpPr>
          <p:cNvPr id="26" name="Text 24"/>
          <p:cNvSpPr/>
          <p:nvPr/>
        </p:nvSpPr>
        <p:spPr>
          <a:xfrm>
            <a:off x="841248" y="3090672"/>
            <a:ext cx="2048256" cy="310896"/>
          </a:xfrm>
          <a:prstGeom prst="rect">
            <a:avLst/>
          </a:prstGeom>
          <a:noFill/>
          <a:ln/>
        </p:spPr>
        <p:txBody>
          <a:bodyPr wrap="square" rtlCol="0" anchor="ctr"/>
          <a:lstStyle/>
          <a:p>
            <a:pPr marL="0" indent="0">
              <a:buNone/>
            </a:pPr>
            <a:r>
              <a:rPr lang="en-US" sz="1200" b="1" dirty="0">
                <a:solidFill>
                  <a:srgbClr val="00B4D8"/>
                </a:solidFill>
                <a:latin typeface="Trebuchet MS" pitchFamily="34" charset="0"/>
                <a:ea typeface="Trebuchet MS" pitchFamily="34" charset="-122"/>
                <a:cs typeface="Trebuchet MS" pitchFamily="34" charset="-120"/>
              </a:rPr>
              <a:t>Where did it happen?</a:t>
            </a:r>
            <a:endParaRPr lang="en-US" sz="1200" dirty="0"/>
          </a:p>
        </p:txBody>
      </p:sp>
      <p:sp>
        <p:nvSpPr>
          <p:cNvPr id="27" name="Text 25"/>
          <p:cNvSpPr/>
          <p:nvPr/>
        </p:nvSpPr>
        <p:spPr>
          <a:xfrm>
            <a:off x="182880" y="3694176"/>
            <a:ext cx="2688336" cy="603504"/>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IP geolocation, GPS coordinates in photo metadata, Wi-Fi connection records, cell tower data</a:t>
            </a:r>
            <a:endParaRPr lang="en-US" sz="1000" dirty="0"/>
          </a:p>
        </p:txBody>
      </p:sp>
      <p:sp>
        <p:nvSpPr>
          <p:cNvPr id="28" name="Shape 26"/>
          <p:cNvSpPr/>
          <p:nvPr/>
        </p:nvSpPr>
        <p:spPr>
          <a:xfrm>
            <a:off x="3081528" y="2926080"/>
            <a:ext cx="2871216" cy="1481328"/>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29" name="Shape 27"/>
          <p:cNvSpPr/>
          <p:nvPr/>
        </p:nvSpPr>
        <p:spPr>
          <a:xfrm>
            <a:off x="3172968" y="3017520"/>
            <a:ext cx="548640" cy="548640"/>
          </a:xfrm>
          <a:prstGeom prst="ellipse">
            <a:avLst/>
          </a:prstGeom>
          <a:solidFill>
            <a:srgbClr val="9B5DE5"/>
          </a:solidFill>
          <a:ln w="12700">
            <a:solidFill>
              <a:srgbClr val="9B5DE5"/>
            </a:solidFill>
            <a:prstDash val="solid"/>
          </a:ln>
        </p:spPr>
        <p:txBody>
          <a:bodyPr/>
          <a:lstStyle/>
          <a:p>
            <a:endParaRPr lang="en-SG"/>
          </a:p>
        </p:txBody>
      </p:sp>
      <p:sp>
        <p:nvSpPr>
          <p:cNvPr id="30" name="Text 28"/>
          <p:cNvSpPr/>
          <p:nvPr/>
        </p:nvSpPr>
        <p:spPr>
          <a:xfrm>
            <a:off x="3172968" y="3099816"/>
            <a:ext cx="548640" cy="329184"/>
          </a:xfrm>
          <a:prstGeom prst="rect">
            <a:avLst/>
          </a:prstGeom>
          <a:noFill/>
          <a:ln/>
        </p:spPr>
        <p:txBody>
          <a:bodyPr wrap="square" lIns="0" tIns="0" rIns="0" bIns="0" rtlCol="0" anchor="ctr"/>
          <a:lstStyle/>
          <a:p>
            <a:pPr marL="0" indent="0" algn="ctr">
              <a:buNone/>
            </a:pPr>
            <a:r>
              <a:rPr lang="en-US" sz="1200" b="1" dirty="0">
                <a:solidFill>
                  <a:srgbClr val="1A1A2E"/>
                </a:solidFill>
                <a:latin typeface="Trebuchet MS" pitchFamily="34" charset="0"/>
                <a:ea typeface="Trebuchet MS" pitchFamily="34" charset="-122"/>
                <a:cs typeface="Trebuchet MS" pitchFamily="34" charset="-120"/>
              </a:rPr>
              <a:t>WHY?</a:t>
            </a:r>
            <a:endParaRPr lang="en-US" sz="1200" dirty="0"/>
          </a:p>
        </p:txBody>
      </p:sp>
      <p:sp>
        <p:nvSpPr>
          <p:cNvPr id="31" name="Text 29"/>
          <p:cNvSpPr/>
          <p:nvPr/>
        </p:nvSpPr>
        <p:spPr>
          <a:xfrm>
            <a:off x="3831336" y="3090672"/>
            <a:ext cx="2048256" cy="310896"/>
          </a:xfrm>
          <a:prstGeom prst="rect">
            <a:avLst/>
          </a:prstGeom>
          <a:noFill/>
          <a:ln/>
        </p:spPr>
        <p:txBody>
          <a:bodyPr wrap="square" rtlCol="0" anchor="ctr"/>
          <a:lstStyle/>
          <a:p>
            <a:pPr marL="0" indent="0">
              <a:buNone/>
            </a:pPr>
            <a:r>
              <a:rPr lang="en-US" sz="1200" b="1" dirty="0">
                <a:solidFill>
                  <a:srgbClr val="9B5DE5"/>
                </a:solidFill>
                <a:latin typeface="Trebuchet MS" pitchFamily="34" charset="0"/>
                <a:ea typeface="Trebuchet MS" pitchFamily="34" charset="-122"/>
                <a:cs typeface="Trebuchet MS" pitchFamily="34" charset="-120"/>
              </a:rPr>
              <a:t>Why did it happen?</a:t>
            </a:r>
            <a:endParaRPr lang="en-US" sz="1200" dirty="0"/>
          </a:p>
        </p:txBody>
      </p:sp>
      <p:sp>
        <p:nvSpPr>
          <p:cNvPr id="32" name="Text 30"/>
          <p:cNvSpPr/>
          <p:nvPr/>
        </p:nvSpPr>
        <p:spPr>
          <a:xfrm>
            <a:off x="3172968" y="3694176"/>
            <a:ext cx="2688336" cy="603504"/>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Search history revealing motive, communications about intent, financial records, prior incidents</a:t>
            </a:r>
            <a:endParaRPr lang="en-US" sz="1000" dirty="0"/>
          </a:p>
        </p:txBody>
      </p:sp>
      <p:sp>
        <p:nvSpPr>
          <p:cNvPr id="33" name="Shape 31"/>
          <p:cNvSpPr/>
          <p:nvPr/>
        </p:nvSpPr>
        <p:spPr>
          <a:xfrm>
            <a:off x="6071616" y="2926080"/>
            <a:ext cx="2871216" cy="1481328"/>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34" name="Shape 32"/>
          <p:cNvSpPr/>
          <p:nvPr/>
        </p:nvSpPr>
        <p:spPr>
          <a:xfrm>
            <a:off x="6163056" y="3017520"/>
            <a:ext cx="548640" cy="548640"/>
          </a:xfrm>
          <a:prstGeom prst="ellipse">
            <a:avLst/>
          </a:prstGeom>
          <a:solidFill>
            <a:srgbClr val="06D6A0"/>
          </a:solidFill>
          <a:ln w="12700">
            <a:solidFill>
              <a:srgbClr val="06D6A0"/>
            </a:solidFill>
            <a:prstDash val="solid"/>
          </a:ln>
        </p:spPr>
        <p:txBody>
          <a:bodyPr/>
          <a:lstStyle/>
          <a:p>
            <a:endParaRPr lang="en-SG"/>
          </a:p>
        </p:txBody>
      </p:sp>
      <p:sp>
        <p:nvSpPr>
          <p:cNvPr id="35" name="Text 33"/>
          <p:cNvSpPr/>
          <p:nvPr/>
        </p:nvSpPr>
        <p:spPr>
          <a:xfrm>
            <a:off x="6163056" y="3099816"/>
            <a:ext cx="548640" cy="329184"/>
          </a:xfrm>
          <a:prstGeom prst="rect">
            <a:avLst/>
          </a:prstGeom>
          <a:noFill/>
          <a:ln/>
        </p:spPr>
        <p:txBody>
          <a:bodyPr wrap="square" lIns="0" tIns="0" rIns="0" bIns="0" rtlCol="0" anchor="ctr"/>
          <a:lstStyle/>
          <a:p>
            <a:pPr marL="0" indent="0" algn="ctr">
              <a:buNone/>
            </a:pPr>
            <a:r>
              <a:rPr lang="en-US" sz="1200" b="1" dirty="0">
                <a:solidFill>
                  <a:srgbClr val="1A1A2E"/>
                </a:solidFill>
                <a:latin typeface="Trebuchet MS" pitchFamily="34" charset="0"/>
                <a:ea typeface="Trebuchet MS" pitchFamily="34" charset="-122"/>
                <a:cs typeface="Trebuchet MS" pitchFamily="34" charset="-120"/>
              </a:rPr>
              <a:t>HOW?</a:t>
            </a:r>
            <a:endParaRPr lang="en-US" sz="1200" dirty="0"/>
          </a:p>
        </p:txBody>
      </p:sp>
      <p:sp>
        <p:nvSpPr>
          <p:cNvPr id="36" name="Text 34"/>
          <p:cNvSpPr/>
          <p:nvPr/>
        </p:nvSpPr>
        <p:spPr>
          <a:xfrm>
            <a:off x="6821424" y="3090672"/>
            <a:ext cx="2048256" cy="310896"/>
          </a:xfrm>
          <a:prstGeom prst="rect">
            <a:avLst/>
          </a:prstGeom>
          <a:noFill/>
          <a:ln/>
        </p:spPr>
        <p:txBody>
          <a:bodyPr wrap="square" rtlCol="0" anchor="ctr"/>
          <a:lstStyle/>
          <a:p>
            <a:pPr marL="0" indent="0">
              <a:buNone/>
            </a:pPr>
            <a:r>
              <a:rPr lang="en-US" sz="1200" b="1" dirty="0">
                <a:solidFill>
                  <a:srgbClr val="06D6A0"/>
                </a:solidFill>
                <a:latin typeface="Trebuchet MS" pitchFamily="34" charset="0"/>
                <a:ea typeface="Trebuchet MS" pitchFamily="34" charset="-122"/>
                <a:cs typeface="Trebuchet MS" pitchFamily="34" charset="-120"/>
              </a:rPr>
              <a:t>How was it done?</a:t>
            </a:r>
            <a:endParaRPr lang="en-US" sz="1200" dirty="0"/>
          </a:p>
        </p:txBody>
      </p:sp>
      <p:sp>
        <p:nvSpPr>
          <p:cNvPr id="37" name="Text 35"/>
          <p:cNvSpPr/>
          <p:nvPr/>
        </p:nvSpPr>
        <p:spPr>
          <a:xfrm>
            <a:off x="6163056" y="3694176"/>
            <a:ext cx="2688336" cy="603504"/>
          </a:xfrm>
          <a:prstGeom prst="rect">
            <a:avLst/>
          </a:prstGeom>
          <a:noFill/>
          <a:ln/>
        </p:spPr>
        <p:txBody>
          <a:bodyPr wrap="square" rtlCol="0" anchor="ctr"/>
          <a:lstStyle/>
          <a:p>
            <a:pPr marL="0" indent="0">
              <a:buNone/>
            </a:pPr>
            <a:r>
              <a:rPr lang="en-US" sz="1000" dirty="0">
                <a:solidFill>
                  <a:srgbClr val="1A1A2E"/>
                </a:solidFill>
                <a:latin typeface="Calibri" pitchFamily="34" charset="0"/>
                <a:ea typeface="Calibri" pitchFamily="34" charset="-122"/>
                <a:cs typeface="Calibri" pitchFamily="34" charset="-120"/>
              </a:rPr>
              <a:t>Malware/exploit used, attack vector (phishing/USB), tools installed, network intrusion logs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9B5DE5"/>
          </a:solidFill>
          <a:ln w="12700">
            <a:solidFill>
              <a:srgbClr val="9B5DE5"/>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a:ln/>
        </p:spPr>
        <p:txBody>
          <a:bodyPr wrap="square" lIns="0" tIns="0" rIns="0" bIns="0" rtlCol="0" anchor="ctr"/>
          <a:lstStyle/>
          <a:p>
            <a:pPr marL="0" indent="0" algn="ctr">
              <a:buNone/>
            </a:pPr>
            <a:r>
              <a:rPr lang="en-US" sz="9600" b="1" dirty="0">
                <a:solidFill>
                  <a:srgbClr val="1A1A2E"/>
                </a:solidFill>
                <a:latin typeface="Trebuchet MS" pitchFamily="34" charset="0"/>
                <a:ea typeface="Trebuchet MS" pitchFamily="34" charset="-122"/>
                <a:cs typeface="Trebuchet MS" pitchFamily="34" charset="-120"/>
              </a:rPr>
              <a:t>05</a:t>
            </a:r>
            <a:endParaRPr lang="en-US" sz="9600" dirty="0"/>
          </a:p>
        </p:txBody>
      </p:sp>
      <p:sp>
        <p:nvSpPr>
          <p:cNvPr id="6" name="Text 4"/>
          <p:cNvSpPr/>
          <p:nvPr/>
        </p:nvSpPr>
        <p:spPr>
          <a:xfrm>
            <a:off x="201168" y="1938528"/>
            <a:ext cx="3657600" cy="914400"/>
          </a:xfrm>
          <a:prstGeom prst="rect">
            <a:avLst/>
          </a:prstGeom>
          <a:noFill/>
          <a:ln/>
        </p:spPr>
        <p:txBody>
          <a:bodyPr wrap="square" rtlCol="0" anchor="ctr"/>
          <a:lstStyle/>
          <a:p>
            <a:pPr marL="0" indent="0" algn="ctr">
              <a:buNone/>
            </a:pPr>
            <a:r>
              <a:rPr lang="en-US" sz="1300" i="1" dirty="0">
                <a:solidFill>
                  <a:srgbClr val="000000"/>
                </a:solidFill>
                <a:latin typeface="Calibri" pitchFamily="34" charset="0"/>
                <a:ea typeface="Calibri" pitchFamily="34" charset="-122"/>
                <a:cs typeface="Calibri" pitchFamily="34" charset="-120"/>
              </a:rPr>
              <a:t>Professional standards, ethical obligations and evidence classification</a:t>
            </a:r>
            <a:endParaRPr lang="en-US" sz="1300" dirty="0"/>
          </a:p>
        </p:txBody>
      </p:sp>
      <p:sp>
        <p:nvSpPr>
          <p:cNvPr id="7" name="Text 5"/>
          <p:cNvSpPr/>
          <p:nvPr/>
        </p:nvSpPr>
        <p:spPr>
          <a:xfrm>
            <a:off x="4572000" y="566928"/>
            <a:ext cx="4297680" cy="329184"/>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9B5DE5"/>
          </a:solidFill>
          <a:ln w="12700">
            <a:solidFill>
              <a:srgbClr val="9B5DE5"/>
            </a:solidFill>
            <a:prstDash val="solid"/>
          </a:ln>
        </p:spPr>
        <p:txBody>
          <a:bodyPr/>
          <a:lstStyle/>
          <a:p>
            <a:endParaRPr lang="en-SG"/>
          </a:p>
        </p:txBody>
      </p:sp>
      <p:sp>
        <p:nvSpPr>
          <p:cNvPr id="10" name="Text 8"/>
          <p:cNvSpPr/>
          <p:nvPr/>
        </p:nvSpPr>
        <p:spPr>
          <a:xfrm>
            <a:off x="4663440" y="1115568"/>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1</a:t>
            </a:r>
            <a:endParaRPr lang="en-US" sz="1100" dirty="0"/>
          </a:p>
        </p:txBody>
      </p:sp>
      <p:sp>
        <p:nvSpPr>
          <p:cNvPr id="11" name="Text 9"/>
          <p:cNvSpPr/>
          <p:nvPr/>
        </p:nvSpPr>
        <p:spPr>
          <a:xfrm>
            <a:off x="5166360" y="1097280"/>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Professional Conduct &amp; Ethics</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9B5DE5"/>
          </a:solidFill>
          <a:ln w="12700">
            <a:solidFill>
              <a:srgbClr val="9B5DE5"/>
            </a:solidFill>
            <a:prstDash val="solid"/>
          </a:ln>
        </p:spPr>
        <p:txBody>
          <a:bodyPr/>
          <a:lstStyle/>
          <a:p>
            <a:endParaRPr lang="en-SG"/>
          </a:p>
        </p:txBody>
      </p:sp>
      <p:sp>
        <p:nvSpPr>
          <p:cNvPr id="14" name="Text 12"/>
          <p:cNvSpPr/>
          <p:nvPr/>
        </p:nvSpPr>
        <p:spPr>
          <a:xfrm>
            <a:off x="4663440" y="1773936"/>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2</a:t>
            </a:r>
            <a:endParaRPr lang="en-US" sz="1100" dirty="0"/>
          </a:p>
        </p:txBody>
      </p:sp>
      <p:sp>
        <p:nvSpPr>
          <p:cNvPr id="15" name="Text 13"/>
          <p:cNvSpPr/>
          <p:nvPr/>
        </p:nvSpPr>
        <p:spPr>
          <a:xfrm>
            <a:off x="5166360" y="1755648"/>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Inculpatory vs Exculpatory Evidence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9B5DE5"/>
          </a:solidFill>
          <a:ln w="12700">
            <a:solidFill>
              <a:srgbClr val="9B5DE5"/>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Professional Conduct of Digital Forensic Investigators</a:t>
            </a:r>
            <a:endParaRPr lang="en-US" sz="1700" dirty="0"/>
          </a:p>
        </p:txBody>
      </p:sp>
      <p:sp>
        <p:nvSpPr>
          <p:cNvPr id="6" name="Shape 4"/>
          <p:cNvSpPr/>
          <p:nvPr/>
        </p:nvSpPr>
        <p:spPr>
          <a:xfrm>
            <a:off x="91440" y="841248"/>
            <a:ext cx="2871216" cy="1773936"/>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91440" y="841248"/>
            <a:ext cx="2871216" cy="347472"/>
          </a:xfrm>
          <a:prstGeom prst="rect">
            <a:avLst/>
          </a:prstGeom>
          <a:solidFill>
            <a:srgbClr val="00B4D8"/>
          </a:solidFill>
          <a:ln w="12700">
            <a:solidFill>
              <a:srgbClr val="00B4D8"/>
            </a:solidFill>
            <a:prstDash val="solid"/>
          </a:ln>
        </p:spPr>
        <p:txBody>
          <a:bodyPr/>
          <a:lstStyle/>
          <a:p>
            <a:endParaRPr lang="en-SG"/>
          </a:p>
        </p:txBody>
      </p:sp>
      <p:sp>
        <p:nvSpPr>
          <p:cNvPr id="8" name="Text 6"/>
          <p:cNvSpPr/>
          <p:nvPr/>
        </p:nvSpPr>
        <p:spPr>
          <a:xfrm>
            <a:off x="201168" y="896112"/>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Integrity</a:t>
            </a:r>
            <a:endParaRPr lang="en-US" sz="1150" dirty="0"/>
          </a:p>
        </p:txBody>
      </p:sp>
      <p:sp>
        <p:nvSpPr>
          <p:cNvPr id="9" name="Text 7"/>
          <p:cNvSpPr/>
          <p:nvPr/>
        </p:nvSpPr>
        <p:spPr>
          <a:xfrm>
            <a:off x="182880" y="1261872"/>
            <a:ext cx="2688336" cy="12618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Never fabricate, exaggerate, or selectively present findings. Your role is to reveal the truth — not to secure a conviction for either side.</a:t>
            </a:r>
            <a:endParaRPr lang="en-US" sz="1050" dirty="0"/>
          </a:p>
        </p:txBody>
      </p:sp>
      <p:sp>
        <p:nvSpPr>
          <p:cNvPr id="10" name="Shape 8"/>
          <p:cNvSpPr/>
          <p:nvPr/>
        </p:nvSpPr>
        <p:spPr>
          <a:xfrm>
            <a:off x="3081528" y="841248"/>
            <a:ext cx="2871216" cy="1773936"/>
          </a:xfrm>
          <a:prstGeom prst="rect">
            <a:avLst/>
          </a:prstGeom>
          <a:solidFill>
            <a:srgbClr val="EEF6FB"/>
          </a:solidFill>
          <a:ln w="12700">
            <a:solidFill>
              <a:srgbClr val="06D6A0"/>
            </a:solidFill>
            <a:prstDash val="solid"/>
          </a:ln>
          <a:effectLst>
            <a:outerShdw blurRad="152400" dist="50800" dir="8100000" algn="bl" rotWithShape="0">
              <a:srgbClr val="000000">
                <a:alpha val="40000"/>
              </a:srgbClr>
            </a:outerShdw>
          </a:effectLst>
        </p:spPr>
        <p:txBody>
          <a:bodyPr/>
          <a:lstStyle/>
          <a:p>
            <a:endParaRPr lang="en-SG"/>
          </a:p>
        </p:txBody>
      </p:sp>
      <p:sp>
        <p:nvSpPr>
          <p:cNvPr id="11" name="Shape 9"/>
          <p:cNvSpPr/>
          <p:nvPr/>
        </p:nvSpPr>
        <p:spPr>
          <a:xfrm>
            <a:off x="3081528" y="841248"/>
            <a:ext cx="2871216" cy="347472"/>
          </a:xfrm>
          <a:prstGeom prst="rect">
            <a:avLst/>
          </a:prstGeom>
          <a:solidFill>
            <a:srgbClr val="06D6A0"/>
          </a:solidFill>
          <a:ln w="12700">
            <a:solidFill>
              <a:srgbClr val="06D6A0"/>
            </a:solidFill>
            <a:prstDash val="solid"/>
          </a:ln>
        </p:spPr>
        <p:txBody>
          <a:bodyPr/>
          <a:lstStyle/>
          <a:p>
            <a:endParaRPr lang="en-SG"/>
          </a:p>
        </p:txBody>
      </p:sp>
      <p:sp>
        <p:nvSpPr>
          <p:cNvPr id="12" name="Text 10"/>
          <p:cNvSpPr/>
          <p:nvPr/>
        </p:nvSpPr>
        <p:spPr>
          <a:xfrm>
            <a:off x="3191256" y="896112"/>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Objectivity</a:t>
            </a:r>
            <a:endParaRPr lang="en-US" sz="1150" dirty="0"/>
          </a:p>
        </p:txBody>
      </p:sp>
      <p:sp>
        <p:nvSpPr>
          <p:cNvPr id="13" name="Text 11"/>
          <p:cNvSpPr/>
          <p:nvPr/>
        </p:nvSpPr>
        <p:spPr>
          <a:xfrm>
            <a:off x="3172968" y="1261872"/>
            <a:ext cx="2688336" cy="12618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Remain impartial at all times. Report ALL findings — those that support and those that contradict the prosecution or defence theory.</a:t>
            </a:r>
            <a:endParaRPr lang="en-US" sz="1050" dirty="0"/>
          </a:p>
        </p:txBody>
      </p:sp>
      <p:sp>
        <p:nvSpPr>
          <p:cNvPr id="14" name="Shape 12"/>
          <p:cNvSpPr/>
          <p:nvPr/>
        </p:nvSpPr>
        <p:spPr>
          <a:xfrm>
            <a:off x="6071616" y="841248"/>
            <a:ext cx="2871216" cy="1773936"/>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15" name="Shape 13"/>
          <p:cNvSpPr/>
          <p:nvPr/>
        </p:nvSpPr>
        <p:spPr>
          <a:xfrm>
            <a:off x="6071616" y="841248"/>
            <a:ext cx="2871216" cy="347472"/>
          </a:xfrm>
          <a:prstGeom prst="rect">
            <a:avLst/>
          </a:prstGeom>
          <a:solidFill>
            <a:srgbClr val="9B5DE5"/>
          </a:solidFill>
          <a:ln w="12700">
            <a:solidFill>
              <a:srgbClr val="9B5DE5"/>
            </a:solidFill>
            <a:prstDash val="solid"/>
          </a:ln>
        </p:spPr>
        <p:txBody>
          <a:bodyPr/>
          <a:lstStyle/>
          <a:p>
            <a:endParaRPr lang="en-SG"/>
          </a:p>
        </p:txBody>
      </p:sp>
      <p:sp>
        <p:nvSpPr>
          <p:cNvPr id="16" name="Text 14"/>
          <p:cNvSpPr/>
          <p:nvPr/>
        </p:nvSpPr>
        <p:spPr>
          <a:xfrm>
            <a:off x="6181344" y="896112"/>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Competence</a:t>
            </a:r>
            <a:endParaRPr lang="en-US" sz="1150" dirty="0"/>
          </a:p>
        </p:txBody>
      </p:sp>
      <p:sp>
        <p:nvSpPr>
          <p:cNvPr id="17" name="Text 15"/>
          <p:cNvSpPr/>
          <p:nvPr/>
        </p:nvSpPr>
        <p:spPr>
          <a:xfrm>
            <a:off x="6163056" y="1261872"/>
            <a:ext cx="2688336" cy="12618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Only undertake work within your expertise. Stay current with evolving technology, tools, and legal requirements through CPD.</a:t>
            </a:r>
            <a:endParaRPr lang="en-US" sz="1050" dirty="0"/>
          </a:p>
        </p:txBody>
      </p:sp>
      <p:sp>
        <p:nvSpPr>
          <p:cNvPr id="18" name="Shape 16"/>
          <p:cNvSpPr/>
          <p:nvPr/>
        </p:nvSpPr>
        <p:spPr>
          <a:xfrm>
            <a:off x="91440" y="2743200"/>
            <a:ext cx="2871216" cy="1773936"/>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19" name="Shape 17"/>
          <p:cNvSpPr/>
          <p:nvPr/>
        </p:nvSpPr>
        <p:spPr>
          <a:xfrm>
            <a:off x="91440" y="2743200"/>
            <a:ext cx="2871216" cy="347472"/>
          </a:xfrm>
          <a:prstGeom prst="rect">
            <a:avLst/>
          </a:prstGeom>
          <a:solidFill>
            <a:srgbClr val="FFB703"/>
          </a:solidFill>
          <a:ln w="12700">
            <a:solidFill>
              <a:srgbClr val="FFB703"/>
            </a:solidFill>
            <a:prstDash val="solid"/>
          </a:ln>
        </p:spPr>
        <p:txBody>
          <a:bodyPr/>
          <a:lstStyle/>
          <a:p>
            <a:endParaRPr lang="en-SG"/>
          </a:p>
        </p:txBody>
      </p:sp>
      <p:sp>
        <p:nvSpPr>
          <p:cNvPr id="20" name="Text 18"/>
          <p:cNvSpPr/>
          <p:nvPr/>
        </p:nvSpPr>
        <p:spPr>
          <a:xfrm>
            <a:off x="201168" y="2798064"/>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Confidentiality</a:t>
            </a:r>
            <a:endParaRPr lang="en-US" sz="1150" dirty="0"/>
          </a:p>
        </p:txBody>
      </p:sp>
      <p:sp>
        <p:nvSpPr>
          <p:cNvPr id="21" name="Text 19"/>
          <p:cNvSpPr/>
          <p:nvPr/>
        </p:nvSpPr>
        <p:spPr>
          <a:xfrm>
            <a:off x="182880" y="3163824"/>
            <a:ext cx="2688336" cy="12618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Treat all evidence and details as strictly confidential. Disclose only to authorised parties via proper legal channels.</a:t>
            </a:r>
            <a:endParaRPr lang="en-US" sz="1050" dirty="0"/>
          </a:p>
        </p:txBody>
      </p:sp>
      <p:sp>
        <p:nvSpPr>
          <p:cNvPr id="22" name="Shape 20"/>
          <p:cNvSpPr/>
          <p:nvPr/>
        </p:nvSpPr>
        <p:spPr>
          <a:xfrm>
            <a:off x="3081528" y="2743200"/>
            <a:ext cx="2871216" cy="1773936"/>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23" name="Shape 21"/>
          <p:cNvSpPr/>
          <p:nvPr/>
        </p:nvSpPr>
        <p:spPr>
          <a:xfrm>
            <a:off x="3081528" y="2743200"/>
            <a:ext cx="2871216" cy="347472"/>
          </a:xfrm>
          <a:prstGeom prst="rect">
            <a:avLst/>
          </a:prstGeom>
          <a:solidFill>
            <a:srgbClr val="FB8500"/>
          </a:solidFill>
          <a:ln w="12700">
            <a:solidFill>
              <a:srgbClr val="FB8500"/>
            </a:solidFill>
            <a:prstDash val="solid"/>
          </a:ln>
        </p:spPr>
        <p:txBody>
          <a:bodyPr/>
          <a:lstStyle/>
          <a:p>
            <a:endParaRPr lang="en-SG"/>
          </a:p>
        </p:txBody>
      </p:sp>
      <p:sp>
        <p:nvSpPr>
          <p:cNvPr id="24" name="Text 22"/>
          <p:cNvSpPr/>
          <p:nvPr/>
        </p:nvSpPr>
        <p:spPr>
          <a:xfrm>
            <a:off x="3191256" y="2798064"/>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Transparency</a:t>
            </a:r>
            <a:endParaRPr lang="en-US" sz="1150" dirty="0"/>
          </a:p>
        </p:txBody>
      </p:sp>
      <p:sp>
        <p:nvSpPr>
          <p:cNvPr id="25" name="Text 23"/>
          <p:cNvSpPr/>
          <p:nvPr/>
        </p:nvSpPr>
        <p:spPr>
          <a:xfrm>
            <a:off x="3172968" y="3163824"/>
            <a:ext cx="2688336" cy="12618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Document every action taken. Methods, tools, and processes must be clearly recorded so findings can be independently verified.</a:t>
            </a:r>
            <a:endParaRPr lang="en-US" sz="1050" dirty="0"/>
          </a:p>
        </p:txBody>
      </p:sp>
      <p:sp>
        <p:nvSpPr>
          <p:cNvPr id="26" name="Shape 24"/>
          <p:cNvSpPr/>
          <p:nvPr/>
        </p:nvSpPr>
        <p:spPr>
          <a:xfrm>
            <a:off x="6071616" y="2743200"/>
            <a:ext cx="2871216" cy="1773936"/>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6071616" y="2743200"/>
            <a:ext cx="2871216" cy="347472"/>
          </a:xfrm>
          <a:prstGeom prst="rect">
            <a:avLst/>
          </a:prstGeom>
          <a:solidFill>
            <a:srgbClr val="EF233C"/>
          </a:solidFill>
          <a:ln w="12700">
            <a:solidFill>
              <a:srgbClr val="EF233C"/>
            </a:solidFill>
            <a:prstDash val="solid"/>
          </a:ln>
        </p:spPr>
        <p:txBody>
          <a:bodyPr/>
          <a:lstStyle/>
          <a:p>
            <a:endParaRPr lang="en-SG"/>
          </a:p>
        </p:txBody>
      </p:sp>
      <p:sp>
        <p:nvSpPr>
          <p:cNvPr id="28" name="Text 26"/>
          <p:cNvSpPr/>
          <p:nvPr/>
        </p:nvSpPr>
        <p:spPr>
          <a:xfrm>
            <a:off x="6181344" y="2798064"/>
            <a:ext cx="2670048" cy="237744"/>
          </a:xfrm>
          <a:prstGeom prst="rect">
            <a:avLst/>
          </a:prstGeom>
          <a:noFill/>
          <a:ln/>
        </p:spPr>
        <p:txBody>
          <a:bodyPr wrap="square" lIns="0" tIns="0" rIns="0" bIns="0" rtlCol="0" anchor="ctr"/>
          <a:lstStyle/>
          <a:p>
            <a:pPr marL="0" indent="0">
              <a:buNone/>
            </a:pPr>
            <a:r>
              <a:rPr lang="en-US" sz="1150" b="1" dirty="0">
                <a:solidFill>
                  <a:srgbClr val="1A1A2E"/>
                </a:solidFill>
                <a:latin typeface="Trebuchet MS" pitchFamily="34" charset="0"/>
                <a:ea typeface="Trebuchet MS" pitchFamily="34" charset="-122"/>
                <a:cs typeface="Trebuchet MS" pitchFamily="34" charset="-120"/>
              </a:rPr>
              <a:t>Legal Compliance</a:t>
            </a:r>
            <a:endParaRPr lang="en-US" sz="1150" dirty="0"/>
          </a:p>
        </p:txBody>
      </p:sp>
      <p:sp>
        <p:nvSpPr>
          <p:cNvPr id="29" name="Text 27"/>
          <p:cNvSpPr/>
          <p:nvPr/>
        </p:nvSpPr>
        <p:spPr>
          <a:xfrm>
            <a:off x="6163056" y="3163824"/>
            <a:ext cx="2688336" cy="1261872"/>
          </a:xfrm>
          <a:prstGeom prst="rect">
            <a:avLst/>
          </a:prstGeom>
          <a:noFill/>
          <a:ln/>
        </p:spPr>
        <p:txBody>
          <a:bodyPr wrap="square" rtlCol="0" anchor="ctr"/>
          <a:lstStyle/>
          <a:p>
            <a:pPr marL="0" indent="0">
              <a:buNone/>
            </a:pPr>
            <a:r>
              <a:rPr lang="en-US" sz="1050" dirty="0">
                <a:solidFill>
                  <a:srgbClr val="1A1A2E"/>
                </a:solidFill>
                <a:latin typeface="Calibri" pitchFamily="34" charset="0"/>
                <a:ea typeface="Calibri" pitchFamily="34" charset="-122"/>
                <a:cs typeface="Calibri" pitchFamily="34" charset="-120"/>
              </a:rPr>
              <a:t>Work strictly within the law. Obtain proper authority before accessing devices. Violating privacy laws can invalidate all evidence gathered.</a:t>
            </a:r>
            <a:endParaRPr lang="en-US" sz="1050" dirty="0"/>
          </a:p>
        </p:txBody>
      </p:sp>
      <p:sp>
        <p:nvSpPr>
          <p:cNvPr id="31" name="Text 29"/>
          <p:cNvSpPr/>
          <p:nvPr/>
        </p:nvSpPr>
        <p:spPr>
          <a:xfrm>
            <a:off x="274320" y="4773168"/>
            <a:ext cx="8595360" cy="0"/>
          </a:xfrm>
          <a:prstGeom prst="rect">
            <a:avLst/>
          </a:prstGeom>
          <a:noFill/>
          <a:ln/>
        </p:spPr>
        <p:txBody>
          <a:bodyPr wrap="square" rtlCol="0" anchor="ctr"/>
          <a:lstStyle/>
          <a:p>
            <a:pPr marL="0" indent="0">
              <a:buNone/>
            </a:pPr>
            <a:r>
              <a:rPr lang="en-US" sz="1050" i="1" dirty="0">
                <a:solidFill>
                  <a:srgbClr val="475569"/>
                </a:solidFill>
                <a:latin typeface="Calibri" pitchFamily="34" charset="0"/>
                <a:ea typeface="Calibri" pitchFamily="34" charset="-122"/>
                <a:cs typeface="Calibri" pitchFamily="34" charset="-120"/>
              </a:rPr>
              <a:t>Remember: Your expert opinion can send someone to prison — or free an innocent person. That responsibility demands the highest ethical standards.</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9B5DE5"/>
          </a:solidFill>
          <a:ln w="12700">
            <a:solidFill>
              <a:srgbClr val="9B5DE5"/>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Inculpatory vs Exculpatory Evidence</a:t>
            </a:r>
            <a:endParaRPr lang="en-US" sz="1700" dirty="0"/>
          </a:p>
        </p:txBody>
      </p:sp>
      <p:sp>
        <p:nvSpPr>
          <p:cNvPr id="6" name="Shape 4"/>
          <p:cNvSpPr/>
          <p:nvPr/>
        </p:nvSpPr>
        <p:spPr>
          <a:xfrm>
            <a:off x="164592" y="841248"/>
            <a:ext cx="4279392" cy="3895344"/>
          </a:xfrm>
          <a:prstGeom prst="rect">
            <a:avLst/>
          </a:prstGeom>
          <a:solidFill>
            <a:srgbClr val="EEF6FB"/>
          </a:solidFill>
          <a:ln w="12700">
            <a:solidFill>
              <a:srgbClr val="EF233C"/>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64592" y="841248"/>
            <a:ext cx="4279392" cy="475488"/>
          </a:xfrm>
          <a:prstGeom prst="rect">
            <a:avLst/>
          </a:prstGeom>
          <a:solidFill>
            <a:srgbClr val="EF233C"/>
          </a:solidFill>
          <a:ln w="12700">
            <a:solidFill>
              <a:srgbClr val="EF233C"/>
            </a:solidFill>
            <a:prstDash val="solid"/>
          </a:ln>
        </p:spPr>
        <p:txBody>
          <a:bodyPr/>
          <a:lstStyle/>
          <a:p>
            <a:endParaRPr lang="en-SG"/>
          </a:p>
        </p:txBody>
      </p:sp>
      <p:sp>
        <p:nvSpPr>
          <p:cNvPr id="8" name="Text 6"/>
          <p:cNvSpPr/>
          <p:nvPr/>
        </p:nvSpPr>
        <p:spPr>
          <a:xfrm>
            <a:off x="274320" y="896112"/>
            <a:ext cx="4096512" cy="310896"/>
          </a:xfrm>
          <a:prstGeom prst="rect">
            <a:avLst/>
          </a:prstGeom>
          <a:noFill/>
          <a:ln/>
        </p:spPr>
        <p:txBody>
          <a:bodyPr wrap="square" lIns="0" tIns="0" rIns="0" bIns="0" rtlCol="0" anchor="ctr"/>
          <a:lstStyle/>
          <a:p>
            <a:pPr marL="0" indent="0">
              <a:buNone/>
            </a:pPr>
            <a:r>
              <a:rPr lang="en-US" sz="1800" b="1" kern="0" spc="200" dirty="0">
                <a:solidFill>
                  <a:srgbClr val="1A1A2E"/>
                </a:solidFill>
                <a:latin typeface="Trebuchet MS" pitchFamily="34" charset="0"/>
                <a:ea typeface="Trebuchet MS" pitchFamily="34" charset="-122"/>
                <a:cs typeface="Trebuchet MS" pitchFamily="34" charset="-120"/>
              </a:rPr>
              <a:t>INCULPATORY</a:t>
            </a:r>
            <a:endParaRPr lang="en-US" sz="1800" dirty="0"/>
          </a:p>
        </p:txBody>
      </p:sp>
      <p:sp>
        <p:nvSpPr>
          <p:cNvPr id="9" name="Text 7"/>
          <p:cNvSpPr/>
          <p:nvPr/>
        </p:nvSpPr>
        <p:spPr>
          <a:xfrm>
            <a:off x="274320" y="1408176"/>
            <a:ext cx="4096512" cy="420624"/>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Evidence that tends to PROVE GUILT or link a suspect to the offence.</a:t>
            </a:r>
            <a:endParaRPr lang="en-US" sz="1200" dirty="0"/>
          </a:p>
        </p:txBody>
      </p:sp>
      <p:sp>
        <p:nvSpPr>
          <p:cNvPr id="10" name="Text 8"/>
          <p:cNvSpPr/>
          <p:nvPr/>
        </p:nvSpPr>
        <p:spPr>
          <a:xfrm>
            <a:off x="274320" y="1865376"/>
            <a:ext cx="4096512" cy="274320"/>
          </a:xfrm>
          <a:prstGeom prst="rect">
            <a:avLst/>
          </a:prstGeom>
          <a:noFill/>
          <a:ln/>
        </p:spPr>
        <p:txBody>
          <a:bodyPr wrap="square"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Think of it as: evidence pointing the finger AT the suspect.</a:t>
            </a:r>
            <a:endParaRPr lang="en-US" sz="1100" dirty="0"/>
          </a:p>
        </p:txBody>
      </p:sp>
      <p:sp>
        <p:nvSpPr>
          <p:cNvPr id="11" name="Text 9"/>
          <p:cNvSpPr/>
          <p:nvPr/>
        </p:nvSpPr>
        <p:spPr>
          <a:xfrm>
            <a:off x="274320" y="2231136"/>
            <a:ext cx="4096512" cy="256032"/>
          </a:xfrm>
          <a:prstGeom prst="rect">
            <a:avLst/>
          </a:prstGeom>
          <a:noFill/>
          <a:ln/>
        </p:spPr>
        <p:txBody>
          <a:bodyPr wrap="square" rtlCol="0" anchor="ctr"/>
          <a:lstStyle/>
          <a:p>
            <a:pPr marL="0" indent="0">
              <a:buNone/>
            </a:pPr>
            <a:r>
              <a:rPr lang="en-US" sz="1200" b="1" dirty="0">
                <a:solidFill>
                  <a:srgbClr val="EF233C"/>
                </a:solidFill>
                <a:latin typeface="Trebuchet MS" pitchFamily="34" charset="0"/>
                <a:ea typeface="Trebuchet MS" pitchFamily="34" charset="-122"/>
                <a:cs typeface="Trebuchet MS" pitchFamily="34" charset="-120"/>
              </a:rPr>
              <a:t>Digital Examples:</a:t>
            </a:r>
            <a:endParaRPr lang="en-US" sz="1200" dirty="0"/>
          </a:p>
        </p:txBody>
      </p:sp>
      <p:sp>
        <p:nvSpPr>
          <p:cNvPr id="12" name="Text 10"/>
          <p:cNvSpPr/>
          <p:nvPr/>
        </p:nvSpPr>
        <p:spPr>
          <a:xfrm>
            <a:off x="274320" y="254203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Browser search showing 'how to hack a bank'</a:t>
            </a:r>
            <a:endParaRPr lang="en-US" sz="1050" dirty="0"/>
          </a:p>
        </p:txBody>
      </p:sp>
      <p:sp>
        <p:nvSpPr>
          <p:cNvPr id="13" name="Text 11"/>
          <p:cNvSpPr/>
          <p:nvPr/>
        </p:nvSpPr>
        <p:spPr>
          <a:xfrm>
            <a:off x="274320" y="290779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Chat logs proving contact with co-conspirators</a:t>
            </a:r>
            <a:endParaRPr lang="en-US" sz="1050" dirty="0"/>
          </a:p>
        </p:txBody>
      </p:sp>
      <p:sp>
        <p:nvSpPr>
          <p:cNvPr id="14" name="Text 12"/>
          <p:cNvSpPr/>
          <p:nvPr/>
        </p:nvSpPr>
        <p:spPr>
          <a:xfrm>
            <a:off x="274320" y="327355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File metadata showing suspect created a malicious file</a:t>
            </a:r>
            <a:endParaRPr lang="en-US" sz="1050" dirty="0"/>
          </a:p>
        </p:txBody>
      </p:sp>
      <p:sp>
        <p:nvSpPr>
          <p:cNvPr id="15" name="Text 13"/>
          <p:cNvSpPr/>
          <p:nvPr/>
        </p:nvSpPr>
        <p:spPr>
          <a:xfrm>
            <a:off x="274320" y="363931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GPS data placing suspect at the crime scene</a:t>
            </a:r>
            <a:endParaRPr lang="en-US" sz="1050" dirty="0"/>
          </a:p>
        </p:txBody>
      </p:sp>
      <p:sp>
        <p:nvSpPr>
          <p:cNvPr id="16" name="Text 14"/>
          <p:cNvSpPr/>
          <p:nvPr/>
        </p:nvSpPr>
        <p:spPr>
          <a:xfrm>
            <a:off x="274320" y="400507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Email from suspect's account containing stolen data</a:t>
            </a:r>
            <a:endParaRPr lang="en-US" sz="1050" dirty="0"/>
          </a:p>
        </p:txBody>
      </p:sp>
      <p:sp>
        <p:nvSpPr>
          <p:cNvPr id="17" name="Shape 15"/>
          <p:cNvSpPr/>
          <p:nvPr/>
        </p:nvSpPr>
        <p:spPr>
          <a:xfrm>
            <a:off x="4700016" y="841248"/>
            <a:ext cx="4279392" cy="3895344"/>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18" name="Shape 16"/>
          <p:cNvSpPr/>
          <p:nvPr/>
        </p:nvSpPr>
        <p:spPr>
          <a:xfrm>
            <a:off x="4700016" y="841248"/>
            <a:ext cx="4279392" cy="475488"/>
          </a:xfrm>
          <a:prstGeom prst="rect">
            <a:avLst/>
          </a:prstGeom>
          <a:solidFill>
            <a:srgbClr val="00B4D8"/>
          </a:solidFill>
          <a:ln w="12700">
            <a:solidFill>
              <a:srgbClr val="00B4D8"/>
            </a:solidFill>
            <a:prstDash val="solid"/>
          </a:ln>
        </p:spPr>
        <p:txBody>
          <a:bodyPr/>
          <a:lstStyle/>
          <a:p>
            <a:endParaRPr lang="en-SG"/>
          </a:p>
        </p:txBody>
      </p:sp>
      <p:sp>
        <p:nvSpPr>
          <p:cNvPr id="19" name="Text 17"/>
          <p:cNvSpPr/>
          <p:nvPr/>
        </p:nvSpPr>
        <p:spPr>
          <a:xfrm>
            <a:off x="4809744" y="896112"/>
            <a:ext cx="4096512" cy="310896"/>
          </a:xfrm>
          <a:prstGeom prst="rect">
            <a:avLst/>
          </a:prstGeom>
          <a:noFill/>
          <a:ln/>
        </p:spPr>
        <p:txBody>
          <a:bodyPr wrap="square" lIns="0" tIns="0" rIns="0" bIns="0" rtlCol="0" anchor="ctr"/>
          <a:lstStyle/>
          <a:p>
            <a:pPr marL="0" indent="0">
              <a:buNone/>
            </a:pPr>
            <a:r>
              <a:rPr lang="en-US" sz="1800" b="1" kern="0" spc="200" dirty="0">
                <a:solidFill>
                  <a:srgbClr val="000000"/>
                </a:solidFill>
                <a:latin typeface="Trebuchet MS" pitchFamily="34" charset="0"/>
                <a:ea typeface="Trebuchet MS" pitchFamily="34" charset="-122"/>
                <a:cs typeface="Trebuchet MS" pitchFamily="34" charset="-120"/>
              </a:rPr>
              <a:t>EXCULPATORY</a:t>
            </a:r>
            <a:endParaRPr lang="en-US" sz="1800" dirty="0"/>
          </a:p>
        </p:txBody>
      </p:sp>
      <p:sp>
        <p:nvSpPr>
          <p:cNvPr id="20" name="Text 18"/>
          <p:cNvSpPr/>
          <p:nvPr/>
        </p:nvSpPr>
        <p:spPr>
          <a:xfrm>
            <a:off x="4809744" y="1408176"/>
            <a:ext cx="4096512" cy="420624"/>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Evidence that tends to DISPROVE GUILT or support a suspect's innocence.</a:t>
            </a:r>
            <a:endParaRPr lang="en-US" sz="1200" dirty="0"/>
          </a:p>
        </p:txBody>
      </p:sp>
      <p:sp>
        <p:nvSpPr>
          <p:cNvPr id="21" name="Text 19"/>
          <p:cNvSpPr/>
          <p:nvPr/>
        </p:nvSpPr>
        <p:spPr>
          <a:xfrm>
            <a:off x="4809744" y="1865376"/>
            <a:ext cx="4096512" cy="274320"/>
          </a:xfrm>
          <a:prstGeom prst="rect">
            <a:avLst/>
          </a:prstGeom>
          <a:noFill/>
          <a:ln/>
        </p:spPr>
        <p:txBody>
          <a:bodyPr wrap="square" rtlCol="0" anchor="ctr"/>
          <a:lstStyle/>
          <a:p>
            <a:pPr marL="0" indent="0">
              <a:buNone/>
            </a:pPr>
            <a:r>
              <a:rPr lang="en-US" sz="1100" i="1" dirty="0">
                <a:solidFill>
                  <a:srgbClr val="475569"/>
                </a:solidFill>
                <a:latin typeface="Calibri" pitchFamily="34" charset="0"/>
                <a:ea typeface="Calibri" pitchFamily="34" charset="-122"/>
                <a:cs typeface="Calibri" pitchFamily="34" charset="-120"/>
              </a:rPr>
              <a:t>Think of it as: evidence taking the finger OFF the suspect.</a:t>
            </a:r>
            <a:endParaRPr lang="en-US" sz="1100" dirty="0"/>
          </a:p>
        </p:txBody>
      </p:sp>
      <p:sp>
        <p:nvSpPr>
          <p:cNvPr id="22" name="Text 20"/>
          <p:cNvSpPr/>
          <p:nvPr/>
        </p:nvSpPr>
        <p:spPr>
          <a:xfrm>
            <a:off x="4809744" y="2231136"/>
            <a:ext cx="4096512" cy="256032"/>
          </a:xfrm>
          <a:prstGeom prst="rect">
            <a:avLst/>
          </a:prstGeom>
          <a:noFill/>
          <a:ln/>
        </p:spPr>
        <p:txBody>
          <a:bodyPr wrap="square" rtlCol="0" anchor="ctr"/>
          <a:lstStyle/>
          <a:p>
            <a:pPr marL="0" indent="0">
              <a:buNone/>
            </a:pPr>
            <a:r>
              <a:rPr lang="en-US" sz="1200" b="1" dirty="0">
                <a:solidFill>
                  <a:srgbClr val="00B4D8"/>
                </a:solidFill>
                <a:latin typeface="Trebuchet MS" pitchFamily="34" charset="0"/>
                <a:ea typeface="Trebuchet MS" pitchFamily="34" charset="-122"/>
                <a:cs typeface="Trebuchet MS" pitchFamily="34" charset="-120"/>
              </a:rPr>
              <a:t>Digital Examples:</a:t>
            </a:r>
            <a:endParaRPr lang="en-US" sz="1200" dirty="0"/>
          </a:p>
        </p:txBody>
      </p:sp>
      <p:sp>
        <p:nvSpPr>
          <p:cNvPr id="23" name="Text 21"/>
          <p:cNvSpPr/>
          <p:nvPr/>
        </p:nvSpPr>
        <p:spPr>
          <a:xfrm>
            <a:off x="4809744" y="254203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Login records showing suspect NOT logged in during breach</a:t>
            </a:r>
            <a:endParaRPr lang="en-US" sz="1050" dirty="0"/>
          </a:p>
        </p:txBody>
      </p:sp>
      <p:sp>
        <p:nvSpPr>
          <p:cNvPr id="24" name="Text 22"/>
          <p:cNvSpPr/>
          <p:nvPr/>
        </p:nvSpPr>
        <p:spPr>
          <a:xfrm>
            <a:off x="4809744" y="290779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GPS data proving suspect was in another city at the time</a:t>
            </a:r>
            <a:endParaRPr lang="en-US" sz="1050" dirty="0"/>
          </a:p>
        </p:txBody>
      </p:sp>
      <p:sp>
        <p:nvSpPr>
          <p:cNvPr id="25" name="Text 23"/>
          <p:cNvSpPr/>
          <p:nvPr/>
        </p:nvSpPr>
        <p:spPr>
          <a:xfrm>
            <a:off x="4809744" y="327355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System logs showing another account performed the action</a:t>
            </a:r>
            <a:endParaRPr lang="en-US" sz="1050" dirty="0"/>
          </a:p>
        </p:txBody>
      </p:sp>
      <p:sp>
        <p:nvSpPr>
          <p:cNvPr id="26" name="Text 24"/>
          <p:cNvSpPr/>
          <p:nvPr/>
        </p:nvSpPr>
        <p:spPr>
          <a:xfrm>
            <a:off x="4809744" y="363931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Alibi confirmed by CCTV footage from a public camera</a:t>
            </a:r>
            <a:endParaRPr lang="en-US" sz="1050" dirty="0"/>
          </a:p>
        </p:txBody>
      </p:sp>
      <p:sp>
        <p:nvSpPr>
          <p:cNvPr id="27" name="Text 25"/>
          <p:cNvSpPr/>
          <p:nvPr/>
        </p:nvSpPr>
        <p:spPr>
          <a:xfrm>
            <a:off x="4809744" y="4005072"/>
            <a:ext cx="4096512" cy="338328"/>
          </a:xfrm>
          <a:prstGeom prst="rect">
            <a:avLst/>
          </a:prstGeom>
          <a:noFill/>
          <a:ln/>
        </p:spPr>
        <p:txBody>
          <a:bodyPr wrap="square" rtlCol="0" anchor="ctr"/>
          <a:lstStyle/>
          <a:p>
            <a:pPr marL="342900" indent="-342900">
              <a:buSzPct val="100000"/>
              <a:buChar char="•"/>
            </a:pPr>
            <a:r>
              <a:rPr lang="en-US" sz="1050" dirty="0">
                <a:solidFill>
                  <a:srgbClr val="1A1A2E"/>
                </a:solidFill>
                <a:latin typeface="Calibri" pitchFamily="34" charset="0"/>
                <a:ea typeface="Calibri" pitchFamily="34" charset="-122"/>
                <a:cs typeface="Calibri" pitchFamily="34" charset="-120"/>
              </a:rPr>
              <a:t>No malware or hacking tools found on suspect's devices</a:t>
            </a:r>
            <a:endParaRPr lang="en-US" sz="1050" dirty="0"/>
          </a:p>
        </p:txBody>
      </p:sp>
      <p:sp>
        <p:nvSpPr>
          <p:cNvPr id="28" name="Text 26"/>
          <p:cNvSpPr/>
          <p:nvPr/>
        </p:nvSpPr>
        <p:spPr>
          <a:xfrm>
            <a:off x="164592" y="4901184"/>
            <a:ext cx="8814816" cy="0"/>
          </a:xfrm>
          <a:prstGeom prst="rect">
            <a:avLst/>
          </a:prstGeom>
          <a:noFill/>
          <a:ln/>
        </p:spPr>
        <p:txBody>
          <a:bodyPr wrap="square" rtlCol="0" anchor="ctr"/>
          <a:lstStyle/>
          <a:p>
            <a:pPr marL="0" indent="0">
              <a:buNone/>
            </a:pPr>
            <a:r>
              <a:rPr lang="en-US" sz="1050" b="1" i="1" dirty="0">
                <a:solidFill>
                  <a:srgbClr val="9B5DE5"/>
                </a:solidFill>
                <a:latin typeface="Calibri" pitchFamily="34" charset="0"/>
                <a:ea typeface="Calibri" pitchFamily="34" charset="-122"/>
                <a:cs typeface="Calibri" pitchFamily="34" charset="-120"/>
              </a:rPr>
              <a:t>⚖  A professional investigator collects BOTH types — presenting only inculpatory evidence is a serious breach of professional ethics and legal obligations.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114800" cy="5143500"/>
          </a:xfrm>
          <a:prstGeom prst="rect">
            <a:avLst/>
          </a:prstGeom>
          <a:solidFill>
            <a:srgbClr val="EF233C"/>
          </a:solidFill>
          <a:ln w="12700">
            <a:solidFill>
              <a:srgbClr val="EF233C"/>
            </a:solidFill>
            <a:prstDash val="solid"/>
          </a:ln>
        </p:spPr>
        <p:txBody>
          <a:bodyPr/>
          <a:lstStyle/>
          <a:p>
            <a:endParaRPr lang="en-SG"/>
          </a:p>
        </p:txBody>
      </p:sp>
      <p:sp>
        <p:nvSpPr>
          <p:cNvPr id="3" name="Shape 1"/>
          <p:cNvSpPr/>
          <p:nvPr/>
        </p:nvSpPr>
        <p:spPr>
          <a:xfrm>
            <a:off x="-1097280" y="3474720"/>
            <a:ext cx="3474720" cy="3474720"/>
          </a:xfrm>
          <a:prstGeom prst="ellipse">
            <a:avLst/>
          </a:prstGeom>
          <a:noFill/>
          <a:ln w="12700">
            <a:solidFill>
              <a:srgbClr val="FFFFFF">
                <a:alpha val="10000"/>
              </a:srgbClr>
            </a:solidFill>
            <a:prstDash val="solid"/>
          </a:ln>
        </p:spPr>
        <p:txBody>
          <a:bodyPr/>
          <a:lstStyle/>
          <a:p>
            <a:endParaRPr lang="en-SG"/>
          </a:p>
        </p:txBody>
      </p:sp>
      <p:sp>
        <p:nvSpPr>
          <p:cNvPr id="4" name="Text 2"/>
          <p:cNvSpPr/>
          <p:nvPr/>
        </p:nvSpPr>
        <p:spPr>
          <a:xfrm>
            <a:off x="274320" y="320040"/>
            <a:ext cx="3566160" cy="1645920"/>
          </a:xfrm>
          <a:prstGeom prst="rect">
            <a:avLst/>
          </a:prstGeom>
          <a:noFill/>
          <a:ln/>
        </p:spPr>
        <p:txBody>
          <a:bodyPr wrap="square" lIns="0" tIns="0" rIns="0" bIns="0" rtlCol="0" anchor="ctr"/>
          <a:lstStyle/>
          <a:p>
            <a:pPr marL="0" indent="0" algn="ctr">
              <a:buNone/>
            </a:pPr>
            <a:r>
              <a:rPr lang="en-US" sz="9600" b="1" dirty="0">
                <a:solidFill>
                  <a:srgbClr val="1A1A2E"/>
                </a:solidFill>
                <a:latin typeface="Trebuchet MS" pitchFamily="34" charset="0"/>
                <a:ea typeface="Trebuchet MS" pitchFamily="34" charset="-122"/>
                <a:cs typeface="Trebuchet MS" pitchFamily="34" charset="-120"/>
              </a:rPr>
              <a:t>06</a:t>
            </a:r>
            <a:endParaRPr lang="en-US" sz="9600" dirty="0"/>
          </a:p>
        </p:txBody>
      </p:sp>
      <p:sp>
        <p:nvSpPr>
          <p:cNvPr id="6" name="Text 4"/>
          <p:cNvSpPr/>
          <p:nvPr/>
        </p:nvSpPr>
        <p:spPr>
          <a:xfrm>
            <a:off x="201168" y="1938528"/>
            <a:ext cx="3657600" cy="914400"/>
          </a:xfrm>
          <a:prstGeom prst="rect">
            <a:avLst/>
          </a:prstGeom>
          <a:noFill/>
          <a:ln/>
        </p:spPr>
        <p:txBody>
          <a:bodyPr wrap="square" rtlCol="0" anchor="ctr"/>
          <a:lstStyle/>
          <a:p>
            <a:pPr marL="0" indent="0" algn="ctr">
              <a:buNone/>
            </a:pPr>
            <a:r>
              <a:rPr lang="en-US" sz="1300" i="1" dirty="0">
                <a:solidFill>
                  <a:srgbClr val="000000"/>
                </a:solidFill>
                <a:latin typeface="Calibri" pitchFamily="34" charset="0"/>
                <a:ea typeface="Calibri" pitchFamily="34" charset="-122"/>
                <a:cs typeface="Calibri" pitchFamily="34" charset="-120"/>
              </a:rPr>
              <a:t>Bringing it all together — tools, techniques and the complete investigation workflow</a:t>
            </a:r>
            <a:endParaRPr lang="en-US" sz="1300" dirty="0"/>
          </a:p>
        </p:txBody>
      </p:sp>
      <p:sp>
        <p:nvSpPr>
          <p:cNvPr id="7" name="Text 5"/>
          <p:cNvSpPr/>
          <p:nvPr/>
        </p:nvSpPr>
        <p:spPr>
          <a:xfrm>
            <a:off x="4572000" y="566928"/>
            <a:ext cx="4297680" cy="329184"/>
          </a:xfrm>
          <a:prstGeom prst="rect">
            <a:avLst/>
          </a:prstGeom>
          <a:noFill/>
          <a:ln/>
        </p:spPr>
        <p:txBody>
          <a:bodyPr wrap="square" rtlCol="0" anchor="ctr"/>
          <a:lstStyle/>
          <a:p>
            <a:pPr marL="0" indent="0">
              <a:buNone/>
            </a:pPr>
            <a:r>
              <a:rPr lang="en-US" sz="1300" b="1" dirty="0">
                <a:solidFill>
                  <a:srgbClr val="1A1A2E"/>
                </a:solidFill>
                <a:latin typeface="Trebuchet MS" pitchFamily="34" charset="0"/>
                <a:ea typeface="Trebuchet MS" pitchFamily="34" charset="-122"/>
                <a:cs typeface="Trebuchet MS" pitchFamily="34" charset="-120"/>
              </a:rPr>
              <a:t>In this section:</a:t>
            </a:r>
            <a:endParaRPr lang="en-US" sz="1300" dirty="0"/>
          </a:p>
        </p:txBody>
      </p:sp>
      <p:sp>
        <p:nvSpPr>
          <p:cNvPr id="8" name="Shape 6"/>
          <p:cNvSpPr/>
          <p:nvPr/>
        </p:nvSpPr>
        <p:spPr>
          <a:xfrm>
            <a:off x="4572000" y="1005840"/>
            <a:ext cx="4297680" cy="566928"/>
          </a:xfrm>
          <a:prstGeom prst="rect">
            <a:avLst/>
          </a:prstGeom>
          <a:noFill/>
          <a:ln w="12700">
            <a:solidFill>
              <a:srgbClr val="FFFFFF">
                <a:alpha val="20000"/>
              </a:srgbClr>
            </a:solidFill>
            <a:prstDash val="solid"/>
          </a:ln>
        </p:spPr>
        <p:txBody>
          <a:bodyPr/>
          <a:lstStyle/>
          <a:p>
            <a:endParaRPr lang="en-SG"/>
          </a:p>
        </p:txBody>
      </p:sp>
      <p:sp>
        <p:nvSpPr>
          <p:cNvPr id="9" name="Shape 7"/>
          <p:cNvSpPr/>
          <p:nvPr/>
        </p:nvSpPr>
        <p:spPr>
          <a:xfrm>
            <a:off x="4663440" y="1069848"/>
            <a:ext cx="402336" cy="402336"/>
          </a:xfrm>
          <a:prstGeom prst="ellipse">
            <a:avLst/>
          </a:prstGeom>
          <a:solidFill>
            <a:srgbClr val="EF233C"/>
          </a:solidFill>
          <a:ln w="12700">
            <a:solidFill>
              <a:srgbClr val="EF233C"/>
            </a:solidFill>
            <a:prstDash val="solid"/>
          </a:ln>
        </p:spPr>
        <p:txBody>
          <a:bodyPr/>
          <a:lstStyle/>
          <a:p>
            <a:endParaRPr lang="en-SG"/>
          </a:p>
        </p:txBody>
      </p:sp>
      <p:sp>
        <p:nvSpPr>
          <p:cNvPr id="10" name="Text 8"/>
          <p:cNvSpPr/>
          <p:nvPr/>
        </p:nvSpPr>
        <p:spPr>
          <a:xfrm>
            <a:off x="4663440" y="1115568"/>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1</a:t>
            </a:r>
            <a:endParaRPr lang="en-US" sz="1100" dirty="0"/>
          </a:p>
        </p:txBody>
      </p:sp>
      <p:sp>
        <p:nvSpPr>
          <p:cNvPr id="11" name="Text 9"/>
          <p:cNvSpPr/>
          <p:nvPr/>
        </p:nvSpPr>
        <p:spPr>
          <a:xfrm>
            <a:off x="5166360" y="1097280"/>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Forensic Software &amp; Hardware Tools</a:t>
            </a:r>
            <a:endParaRPr lang="en-US" sz="1200" dirty="0"/>
          </a:p>
        </p:txBody>
      </p:sp>
      <p:sp>
        <p:nvSpPr>
          <p:cNvPr id="12" name="Shape 10"/>
          <p:cNvSpPr/>
          <p:nvPr/>
        </p:nvSpPr>
        <p:spPr>
          <a:xfrm>
            <a:off x="4572000" y="1664208"/>
            <a:ext cx="4297680" cy="566928"/>
          </a:xfrm>
          <a:prstGeom prst="rect">
            <a:avLst/>
          </a:prstGeom>
          <a:noFill/>
          <a:ln w="12700">
            <a:solidFill>
              <a:srgbClr val="FFFFFF">
                <a:alpha val="20000"/>
              </a:srgbClr>
            </a:solidFill>
            <a:prstDash val="solid"/>
          </a:ln>
        </p:spPr>
        <p:txBody>
          <a:bodyPr/>
          <a:lstStyle/>
          <a:p>
            <a:endParaRPr lang="en-SG"/>
          </a:p>
        </p:txBody>
      </p:sp>
      <p:sp>
        <p:nvSpPr>
          <p:cNvPr id="13" name="Shape 11"/>
          <p:cNvSpPr/>
          <p:nvPr/>
        </p:nvSpPr>
        <p:spPr>
          <a:xfrm>
            <a:off x="4663440" y="1728216"/>
            <a:ext cx="402336" cy="402336"/>
          </a:xfrm>
          <a:prstGeom prst="ellipse">
            <a:avLst/>
          </a:prstGeom>
          <a:solidFill>
            <a:srgbClr val="EF233C"/>
          </a:solidFill>
          <a:ln w="12700">
            <a:solidFill>
              <a:srgbClr val="EF233C"/>
            </a:solidFill>
            <a:prstDash val="solid"/>
          </a:ln>
        </p:spPr>
        <p:txBody>
          <a:bodyPr/>
          <a:lstStyle/>
          <a:p>
            <a:endParaRPr lang="en-SG"/>
          </a:p>
        </p:txBody>
      </p:sp>
      <p:sp>
        <p:nvSpPr>
          <p:cNvPr id="14" name="Text 12"/>
          <p:cNvSpPr/>
          <p:nvPr/>
        </p:nvSpPr>
        <p:spPr>
          <a:xfrm>
            <a:off x="4663440" y="1773936"/>
            <a:ext cx="402336" cy="274320"/>
          </a:xfrm>
          <a:prstGeom prst="rect">
            <a:avLst/>
          </a:prstGeom>
          <a:noFill/>
          <a:ln/>
        </p:spPr>
        <p:txBody>
          <a:bodyPr wrap="square" lIns="0" tIns="0" rIns="0" bIns="0" rtlCol="0" anchor="ctr"/>
          <a:lstStyle/>
          <a:p>
            <a:pPr marL="0" indent="0" algn="ctr">
              <a:buNone/>
            </a:pPr>
            <a:r>
              <a:rPr lang="en-US" sz="1100" b="1" dirty="0">
                <a:solidFill>
                  <a:srgbClr val="000000"/>
                </a:solidFill>
                <a:latin typeface="Trebuchet MS" pitchFamily="34" charset="0"/>
                <a:ea typeface="Trebuchet MS" pitchFamily="34" charset="-122"/>
                <a:cs typeface="Trebuchet MS" pitchFamily="34" charset="-120"/>
              </a:rPr>
              <a:t>2</a:t>
            </a:r>
            <a:endParaRPr lang="en-US" sz="1100" dirty="0"/>
          </a:p>
        </p:txBody>
      </p:sp>
      <p:sp>
        <p:nvSpPr>
          <p:cNvPr id="15" name="Text 13"/>
          <p:cNvSpPr/>
          <p:nvPr/>
        </p:nvSpPr>
        <p:spPr>
          <a:xfrm>
            <a:off x="5166360" y="1755648"/>
            <a:ext cx="3611880" cy="34747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Module Summary — Full Learning Journey</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EF233C"/>
          </a:solidFill>
          <a:ln w="12700">
            <a:solidFill>
              <a:srgbClr val="EF233C"/>
            </a:solidFill>
            <a:prstDash val="solid"/>
          </a:ln>
        </p:spPr>
        <p:txBody>
          <a:bodyPr/>
          <a:lstStyle/>
          <a:p>
            <a:endParaRPr lang="en-SG"/>
          </a:p>
        </p:txBody>
      </p:sp>
      <p:sp>
        <p:nvSpPr>
          <p:cNvPr id="5" name="Text 3"/>
          <p:cNvSpPr/>
          <p:nvPr/>
        </p:nvSpPr>
        <p:spPr>
          <a:xfrm>
            <a:off x="256032" y="329184"/>
            <a:ext cx="8631936" cy="347472"/>
          </a:xfrm>
          <a:prstGeom prst="rect">
            <a:avLst/>
          </a:prstGeom>
          <a:noFill/>
          <a:ln/>
        </p:spPr>
        <p:txBody>
          <a:bodyPr wrap="square" lIns="0" tIns="0" rIns="0" bIns="0" rtlCol="0" anchor="ctr"/>
          <a:lstStyle/>
          <a:p>
            <a:pPr marL="0" indent="0">
              <a:buNone/>
            </a:pPr>
            <a:r>
              <a:rPr lang="en-US" sz="1700" b="1" dirty="0">
                <a:solidFill>
                  <a:srgbClr val="000000"/>
                </a:solidFill>
                <a:latin typeface="Trebuchet MS" pitchFamily="34" charset="0"/>
                <a:ea typeface="Trebuchet MS" pitchFamily="34" charset="-122"/>
                <a:cs typeface="Trebuchet MS" pitchFamily="34" charset="-120"/>
              </a:rPr>
              <a:t>Forensic Tools Mapped to the Investigation Process</a:t>
            </a:r>
            <a:endParaRPr lang="en-US" sz="1700" dirty="0"/>
          </a:p>
        </p:txBody>
      </p:sp>
      <p:sp>
        <p:nvSpPr>
          <p:cNvPr id="6" name="Shape 4"/>
          <p:cNvSpPr/>
          <p:nvPr/>
        </p:nvSpPr>
        <p:spPr>
          <a:xfrm>
            <a:off x="109728" y="841248"/>
            <a:ext cx="4407408" cy="1874520"/>
          </a:xfrm>
          <a:prstGeom prst="rect">
            <a:avLst/>
          </a:prstGeom>
          <a:solidFill>
            <a:srgbClr val="EEF6FB"/>
          </a:solidFill>
          <a:ln w="12700">
            <a:solidFill>
              <a:srgbClr val="00B4D8"/>
            </a:solidFill>
            <a:prstDash val="solid"/>
          </a:ln>
          <a:effectLst>
            <a:outerShdw blurRad="152400" dist="50800" dir="8100000" algn="bl" rotWithShape="0">
              <a:srgbClr val="000000">
                <a:alpha val="40000"/>
              </a:srgbClr>
            </a:outerShdw>
          </a:effectLst>
        </p:spPr>
        <p:txBody>
          <a:bodyPr/>
          <a:lstStyle/>
          <a:p>
            <a:endParaRPr lang="en-SG"/>
          </a:p>
        </p:txBody>
      </p:sp>
      <p:sp>
        <p:nvSpPr>
          <p:cNvPr id="7" name="Shape 5"/>
          <p:cNvSpPr/>
          <p:nvPr/>
        </p:nvSpPr>
        <p:spPr>
          <a:xfrm>
            <a:off x="109728" y="841248"/>
            <a:ext cx="4407408" cy="329184"/>
          </a:xfrm>
          <a:prstGeom prst="rect">
            <a:avLst/>
          </a:prstGeom>
          <a:solidFill>
            <a:srgbClr val="00B4D8"/>
          </a:solidFill>
          <a:ln w="12700">
            <a:solidFill>
              <a:srgbClr val="00B4D8"/>
            </a:solidFill>
            <a:prstDash val="solid"/>
          </a:ln>
        </p:spPr>
        <p:txBody>
          <a:bodyPr/>
          <a:lstStyle/>
          <a:p>
            <a:endParaRPr lang="en-SG"/>
          </a:p>
        </p:txBody>
      </p:sp>
      <p:sp>
        <p:nvSpPr>
          <p:cNvPr id="8" name="Shape 6"/>
          <p:cNvSpPr/>
          <p:nvPr/>
        </p:nvSpPr>
        <p:spPr>
          <a:xfrm>
            <a:off x="182880" y="886968"/>
            <a:ext cx="237744" cy="237744"/>
          </a:xfrm>
          <a:prstGeom prst="ellipse">
            <a:avLst/>
          </a:prstGeom>
          <a:solidFill>
            <a:srgbClr val="FFFFFF">
              <a:alpha val="70000"/>
            </a:srgbClr>
          </a:solidFill>
          <a:ln w="12700">
            <a:solidFill>
              <a:srgbClr val="FFFFFF">
                <a:alpha val="70000"/>
              </a:srgbClr>
            </a:solidFill>
            <a:prstDash val="solid"/>
          </a:ln>
        </p:spPr>
        <p:txBody>
          <a:bodyPr/>
          <a:lstStyle/>
          <a:p>
            <a:endParaRPr lang="en-SG"/>
          </a:p>
        </p:txBody>
      </p:sp>
      <p:sp>
        <p:nvSpPr>
          <p:cNvPr id="9" name="Text 7"/>
          <p:cNvSpPr/>
          <p:nvPr/>
        </p:nvSpPr>
        <p:spPr>
          <a:xfrm>
            <a:off x="182880" y="905256"/>
            <a:ext cx="237744"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02</a:t>
            </a:r>
            <a:endParaRPr lang="en-US" sz="850" dirty="0"/>
          </a:p>
        </p:txBody>
      </p:sp>
      <p:sp>
        <p:nvSpPr>
          <p:cNvPr id="10" name="Text 8"/>
          <p:cNvSpPr/>
          <p:nvPr/>
        </p:nvSpPr>
        <p:spPr>
          <a:xfrm>
            <a:off x="493776" y="896112"/>
            <a:ext cx="3931920" cy="219456"/>
          </a:xfrm>
          <a:prstGeom prst="rect">
            <a:avLst/>
          </a:prstGeom>
          <a:noFill/>
          <a:ln/>
        </p:spPr>
        <p:txBody>
          <a:bodyPr wrap="square" lIns="0" tIns="0" rIns="0" bIns="0" rtlCol="0" anchor="ctr"/>
          <a:lstStyle/>
          <a:p>
            <a:pPr marL="0" indent="0">
              <a:buNone/>
            </a:pPr>
            <a:r>
              <a:rPr lang="en-US" sz="1100" b="1" kern="0" spc="150" dirty="0">
                <a:solidFill>
                  <a:srgbClr val="000000"/>
                </a:solidFill>
                <a:latin typeface="Trebuchet MS" pitchFamily="34" charset="0"/>
                <a:ea typeface="Trebuchet MS" pitchFamily="34" charset="-122"/>
                <a:cs typeface="Trebuchet MS" pitchFamily="34" charset="-120"/>
              </a:rPr>
              <a:t>PRESERVATION</a:t>
            </a:r>
            <a:endParaRPr lang="en-US" sz="1100" dirty="0"/>
          </a:p>
        </p:txBody>
      </p:sp>
      <p:sp>
        <p:nvSpPr>
          <p:cNvPr id="11" name="Shape 9"/>
          <p:cNvSpPr/>
          <p:nvPr/>
        </p:nvSpPr>
        <p:spPr>
          <a:xfrm>
            <a:off x="146304" y="1225296"/>
            <a:ext cx="4334256" cy="347472"/>
          </a:xfrm>
          <a:prstGeom prst="rect">
            <a:avLst/>
          </a:prstGeom>
          <a:solidFill>
            <a:srgbClr val="EEF6FB"/>
          </a:solidFill>
          <a:ln w="12700">
            <a:solidFill>
              <a:srgbClr val="2E4068"/>
            </a:solidFill>
            <a:prstDash val="solid"/>
          </a:ln>
        </p:spPr>
        <p:txBody>
          <a:bodyPr/>
          <a:lstStyle/>
          <a:p>
            <a:endParaRPr lang="en-SG"/>
          </a:p>
        </p:txBody>
      </p:sp>
      <p:sp>
        <p:nvSpPr>
          <p:cNvPr id="12" name="Shape 10"/>
          <p:cNvSpPr/>
          <p:nvPr/>
        </p:nvSpPr>
        <p:spPr>
          <a:xfrm>
            <a:off x="182880" y="1316736"/>
            <a:ext cx="329184" cy="164592"/>
          </a:xfrm>
          <a:prstGeom prst="roundRect">
            <a:avLst>
              <a:gd name="adj" fmla="val 22222"/>
            </a:avLst>
          </a:prstGeom>
          <a:solidFill>
            <a:srgbClr val="FFB703"/>
          </a:solidFill>
          <a:ln w="12700">
            <a:solidFill>
              <a:srgbClr val="FFB703"/>
            </a:solidFill>
            <a:prstDash val="solid"/>
          </a:ln>
        </p:spPr>
        <p:txBody>
          <a:bodyPr/>
          <a:lstStyle/>
          <a:p>
            <a:endParaRPr lang="en-SG"/>
          </a:p>
        </p:txBody>
      </p:sp>
      <p:sp>
        <p:nvSpPr>
          <p:cNvPr id="13" name="Text 11"/>
          <p:cNvSpPr/>
          <p:nvPr/>
        </p:nvSpPr>
        <p:spPr>
          <a:xfrm>
            <a:off x="182880" y="1316736"/>
            <a:ext cx="329184" cy="164592"/>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HW</a:t>
            </a:r>
            <a:endParaRPr lang="en-US" sz="750" dirty="0"/>
          </a:p>
        </p:txBody>
      </p:sp>
      <p:sp>
        <p:nvSpPr>
          <p:cNvPr id="14" name="Text 12"/>
          <p:cNvSpPr/>
          <p:nvPr/>
        </p:nvSpPr>
        <p:spPr>
          <a:xfrm>
            <a:off x="566928" y="1243584"/>
            <a:ext cx="3840480" cy="182880"/>
          </a:xfrm>
          <a:prstGeom prst="rect">
            <a:avLst/>
          </a:prstGeom>
          <a:noFill/>
          <a:ln/>
        </p:spPr>
        <p:txBody>
          <a:bodyPr wrap="square" lIns="0" tIns="0" rIns="0" bIns="0" rtlCol="0" anchor="ctr"/>
          <a:lstStyle/>
          <a:p>
            <a:pPr marL="0" indent="0">
              <a:buNone/>
            </a:pPr>
            <a:r>
              <a:rPr lang="en-US" sz="1000" b="1" dirty="0">
                <a:solidFill>
                  <a:srgbClr val="00B4D8"/>
                </a:solidFill>
                <a:latin typeface="Trebuchet MS" pitchFamily="34" charset="0"/>
                <a:ea typeface="Trebuchet MS" pitchFamily="34" charset="-122"/>
                <a:cs typeface="Trebuchet MS" pitchFamily="34" charset="-120"/>
              </a:rPr>
              <a:t>Write Blocker (e.g. Tableau)</a:t>
            </a:r>
            <a:endParaRPr lang="en-US" sz="1000" dirty="0"/>
          </a:p>
        </p:txBody>
      </p:sp>
      <p:sp>
        <p:nvSpPr>
          <p:cNvPr id="15" name="Text 13"/>
          <p:cNvSpPr/>
          <p:nvPr/>
        </p:nvSpPr>
        <p:spPr>
          <a:xfrm>
            <a:off x="566928" y="1408176"/>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Prevents any writes to original media — mandatory before imaging.</a:t>
            </a:r>
            <a:endParaRPr lang="en-US" sz="850" dirty="0"/>
          </a:p>
        </p:txBody>
      </p:sp>
      <p:sp>
        <p:nvSpPr>
          <p:cNvPr id="16" name="Shape 14"/>
          <p:cNvSpPr/>
          <p:nvPr/>
        </p:nvSpPr>
        <p:spPr>
          <a:xfrm>
            <a:off x="146304" y="1591056"/>
            <a:ext cx="4334256" cy="347472"/>
          </a:xfrm>
          <a:prstGeom prst="rect">
            <a:avLst/>
          </a:prstGeom>
          <a:solidFill>
            <a:srgbClr val="EEF6FB"/>
          </a:solidFill>
          <a:ln w="12700">
            <a:solidFill>
              <a:srgbClr val="2E4068"/>
            </a:solidFill>
            <a:prstDash val="solid"/>
          </a:ln>
        </p:spPr>
        <p:txBody>
          <a:bodyPr/>
          <a:lstStyle/>
          <a:p>
            <a:endParaRPr lang="en-SG"/>
          </a:p>
        </p:txBody>
      </p:sp>
      <p:sp>
        <p:nvSpPr>
          <p:cNvPr id="17" name="Shape 15"/>
          <p:cNvSpPr/>
          <p:nvPr/>
        </p:nvSpPr>
        <p:spPr>
          <a:xfrm>
            <a:off x="182880" y="1682496"/>
            <a:ext cx="329184" cy="164592"/>
          </a:xfrm>
          <a:prstGeom prst="roundRect">
            <a:avLst>
              <a:gd name="adj" fmla="val 22222"/>
            </a:avLst>
          </a:prstGeom>
          <a:solidFill>
            <a:srgbClr val="FFB703"/>
          </a:solidFill>
          <a:ln w="12700">
            <a:solidFill>
              <a:srgbClr val="FFB703"/>
            </a:solidFill>
            <a:prstDash val="solid"/>
          </a:ln>
        </p:spPr>
        <p:txBody>
          <a:bodyPr/>
          <a:lstStyle/>
          <a:p>
            <a:endParaRPr lang="en-SG"/>
          </a:p>
        </p:txBody>
      </p:sp>
      <p:sp>
        <p:nvSpPr>
          <p:cNvPr id="18" name="Text 16"/>
          <p:cNvSpPr/>
          <p:nvPr/>
        </p:nvSpPr>
        <p:spPr>
          <a:xfrm>
            <a:off x="182880" y="1682496"/>
            <a:ext cx="329184" cy="164592"/>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HW</a:t>
            </a:r>
            <a:endParaRPr lang="en-US" sz="750" dirty="0"/>
          </a:p>
        </p:txBody>
      </p:sp>
      <p:sp>
        <p:nvSpPr>
          <p:cNvPr id="19" name="Text 17"/>
          <p:cNvSpPr/>
          <p:nvPr/>
        </p:nvSpPr>
        <p:spPr>
          <a:xfrm>
            <a:off x="566928" y="1609344"/>
            <a:ext cx="3840480" cy="182880"/>
          </a:xfrm>
          <a:prstGeom prst="rect">
            <a:avLst/>
          </a:prstGeom>
          <a:noFill/>
          <a:ln/>
        </p:spPr>
        <p:txBody>
          <a:bodyPr wrap="square" lIns="0" tIns="0" rIns="0" bIns="0" rtlCol="0" anchor="ctr"/>
          <a:lstStyle/>
          <a:p>
            <a:pPr marL="0" indent="0">
              <a:buNone/>
            </a:pPr>
            <a:r>
              <a:rPr lang="en-US" sz="1000" b="1" dirty="0">
                <a:solidFill>
                  <a:srgbClr val="00B4D8"/>
                </a:solidFill>
                <a:latin typeface="Trebuchet MS" pitchFamily="34" charset="0"/>
                <a:ea typeface="Trebuchet MS" pitchFamily="34" charset="-122"/>
                <a:cs typeface="Trebuchet MS" pitchFamily="34" charset="-120"/>
              </a:rPr>
              <a:t>Faraday Bag / Box</a:t>
            </a:r>
            <a:endParaRPr lang="en-US" sz="1000" dirty="0"/>
          </a:p>
        </p:txBody>
      </p:sp>
      <p:sp>
        <p:nvSpPr>
          <p:cNvPr id="20" name="Text 18"/>
          <p:cNvSpPr/>
          <p:nvPr/>
        </p:nvSpPr>
        <p:spPr>
          <a:xfrm>
            <a:off x="566928" y="1773936"/>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Shields seized devices from remote-wipe signals.</a:t>
            </a:r>
            <a:endParaRPr lang="en-US" sz="850" dirty="0"/>
          </a:p>
        </p:txBody>
      </p:sp>
      <p:sp>
        <p:nvSpPr>
          <p:cNvPr id="21" name="Shape 19"/>
          <p:cNvSpPr/>
          <p:nvPr/>
        </p:nvSpPr>
        <p:spPr>
          <a:xfrm>
            <a:off x="146304" y="1956816"/>
            <a:ext cx="4334256" cy="347472"/>
          </a:xfrm>
          <a:prstGeom prst="rect">
            <a:avLst/>
          </a:prstGeom>
          <a:solidFill>
            <a:srgbClr val="EEF6FB"/>
          </a:solidFill>
          <a:ln w="12700">
            <a:solidFill>
              <a:srgbClr val="2E4068"/>
            </a:solidFill>
            <a:prstDash val="solid"/>
          </a:ln>
        </p:spPr>
        <p:txBody>
          <a:bodyPr/>
          <a:lstStyle/>
          <a:p>
            <a:endParaRPr lang="en-SG"/>
          </a:p>
        </p:txBody>
      </p:sp>
      <p:sp>
        <p:nvSpPr>
          <p:cNvPr id="22" name="Shape 20"/>
          <p:cNvSpPr/>
          <p:nvPr/>
        </p:nvSpPr>
        <p:spPr>
          <a:xfrm>
            <a:off x="182880" y="2048256"/>
            <a:ext cx="329184" cy="164592"/>
          </a:xfrm>
          <a:prstGeom prst="roundRect">
            <a:avLst>
              <a:gd name="adj" fmla="val 22222"/>
            </a:avLst>
          </a:prstGeom>
          <a:solidFill>
            <a:srgbClr val="FFB703"/>
          </a:solidFill>
          <a:ln w="12700">
            <a:solidFill>
              <a:srgbClr val="FFB703"/>
            </a:solidFill>
            <a:prstDash val="solid"/>
          </a:ln>
        </p:spPr>
        <p:txBody>
          <a:bodyPr/>
          <a:lstStyle/>
          <a:p>
            <a:endParaRPr lang="en-SG"/>
          </a:p>
        </p:txBody>
      </p:sp>
      <p:sp>
        <p:nvSpPr>
          <p:cNvPr id="23" name="Text 21"/>
          <p:cNvSpPr/>
          <p:nvPr/>
        </p:nvSpPr>
        <p:spPr>
          <a:xfrm>
            <a:off x="182880" y="2048256"/>
            <a:ext cx="329184" cy="164592"/>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HW</a:t>
            </a:r>
            <a:endParaRPr lang="en-US" sz="750" dirty="0"/>
          </a:p>
        </p:txBody>
      </p:sp>
      <p:sp>
        <p:nvSpPr>
          <p:cNvPr id="24" name="Text 22"/>
          <p:cNvSpPr/>
          <p:nvPr/>
        </p:nvSpPr>
        <p:spPr>
          <a:xfrm>
            <a:off x="566928" y="1975104"/>
            <a:ext cx="3840480" cy="182880"/>
          </a:xfrm>
          <a:prstGeom prst="rect">
            <a:avLst/>
          </a:prstGeom>
          <a:noFill/>
          <a:ln/>
        </p:spPr>
        <p:txBody>
          <a:bodyPr wrap="square" lIns="0" tIns="0" rIns="0" bIns="0" rtlCol="0" anchor="ctr"/>
          <a:lstStyle/>
          <a:p>
            <a:pPr marL="0" indent="0">
              <a:buNone/>
            </a:pPr>
            <a:r>
              <a:rPr lang="en-US" sz="1000" b="1" dirty="0">
                <a:solidFill>
                  <a:srgbClr val="00B4D8"/>
                </a:solidFill>
                <a:latin typeface="Trebuchet MS" pitchFamily="34" charset="0"/>
                <a:ea typeface="Trebuchet MS" pitchFamily="34" charset="-122"/>
                <a:cs typeface="Trebuchet MS" pitchFamily="34" charset="-120"/>
              </a:rPr>
              <a:t>USB / Drive Write Blocker Kits</a:t>
            </a:r>
            <a:endParaRPr lang="en-US" sz="1000" dirty="0"/>
          </a:p>
        </p:txBody>
      </p:sp>
      <p:sp>
        <p:nvSpPr>
          <p:cNvPr id="25" name="Text 23"/>
          <p:cNvSpPr/>
          <p:nvPr/>
        </p:nvSpPr>
        <p:spPr>
          <a:xfrm>
            <a:off x="566928" y="2139696"/>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Portable field kits for on-scene preservation.</a:t>
            </a:r>
            <a:endParaRPr lang="en-US" sz="850" dirty="0"/>
          </a:p>
        </p:txBody>
      </p:sp>
      <p:sp>
        <p:nvSpPr>
          <p:cNvPr id="26" name="Shape 24"/>
          <p:cNvSpPr/>
          <p:nvPr/>
        </p:nvSpPr>
        <p:spPr>
          <a:xfrm>
            <a:off x="4626864" y="841248"/>
            <a:ext cx="4407408" cy="1874520"/>
          </a:xfrm>
          <a:prstGeom prst="rect">
            <a:avLst/>
          </a:prstGeom>
          <a:solidFill>
            <a:srgbClr val="EEF6FB"/>
          </a:solidFill>
          <a:ln w="12700">
            <a:solidFill>
              <a:srgbClr val="FFB703"/>
            </a:solidFill>
            <a:prstDash val="solid"/>
          </a:ln>
          <a:effectLst>
            <a:outerShdw blurRad="152400" dist="50800" dir="8100000" algn="bl" rotWithShape="0">
              <a:srgbClr val="000000">
                <a:alpha val="40000"/>
              </a:srgbClr>
            </a:outerShdw>
          </a:effectLst>
        </p:spPr>
        <p:txBody>
          <a:bodyPr/>
          <a:lstStyle/>
          <a:p>
            <a:endParaRPr lang="en-SG"/>
          </a:p>
        </p:txBody>
      </p:sp>
      <p:sp>
        <p:nvSpPr>
          <p:cNvPr id="27" name="Shape 25"/>
          <p:cNvSpPr/>
          <p:nvPr/>
        </p:nvSpPr>
        <p:spPr>
          <a:xfrm>
            <a:off x="4626864" y="841248"/>
            <a:ext cx="4407408" cy="329184"/>
          </a:xfrm>
          <a:prstGeom prst="rect">
            <a:avLst/>
          </a:prstGeom>
          <a:solidFill>
            <a:srgbClr val="FFB703"/>
          </a:solidFill>
          <a:ln w="12700">
            <a:solidFill>
              <a:srgbClr val="FFB703"/>
            </a:solidFill>
            <a:prstDash val="solid"/>
          </a:ln>
        </p:spPr>
        <p:txBody>
          <a:bodyPr/>
          <a:lstStyle/>
          <a:p>
            <a:endParaRPr lang="en-SG"/>
          </a:p>
        </p:txBody>
      </p:sp>
      <p:sp>
        <p:nvSpPr>
          <p:cNvPr id="28" name="Shape 26"/>
          <p:cNvSpPr/>
          <p:nvPr/>
        </p:nvSpPr>
        <p:spPr>
          <a:xfrm>
            <a:off x="4700016" y="886968"/>
            <a:ext cx="237744" cy="237744"/>
          </a:xfrm>
          <a:prstGeom prst="ellipse">
            <a:avLst/>
          </a:prstGeom>
          <a:solidFill>
            <a:srgbClr val="FFFFFF">
              <a:alpha val="70000"/>
            </a:srgbClr>
          </a:solidFill>
          <a:ln w="12700">
            <a:solidFill>
              <a:srgbClr val="FFFFFF">
                <a:alpha val="70000"/>
              </a:srgbClr>
            </a:solidFill>
            <a:prstDash val="solid"/>
          </a:ln>
        </p:spPr>
        <p:txBody>
          <a:bodyPr/>
          <a:lstStyle/>
          <a:p>
            <a:endParaRPr lang="en-SG"/>
          </a:p>
        </p:txBody>
      </p:sp>
      <p:sp>
        <p:nvSpPr>
          <p:cNvPr id="29" name="Text 27"/>
          <p:cNvSpPr/>
          <p:nvPr/>
        </p:nvSpPr>
        <p:spPr>
          <a:xfrm>
            <a:off x="4700016" y="905256"/>
            <a:ext cx="237744"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03</a:t>
            </a:r>
            <a:endParaRPr lang="en-US" sz="850" dirty="0"/>
          </a:p>
        </p:txBody>
      </p:sp>
      <p:sp>
        <p:nvSpPr>
          <p:cNvPr id="30" name="Text 28"/>
          <p:cNvSpPr/>
          <p:nvPr/>
        </p:nvSpPr>
        <p:spPr>
          <a:xfrm>
            <a:off x="5010912" y="896112"/>
            <a:ext cx="3931920" cy="219456"/>
          </a:xfrm>
          <a:prstGeom prst="rect">
            <a:avLst/>
          </a:prstGeom>
          <a:noFill/>
          <a:ln/>
        </p:spPr>
        <p:txBody>
          <a:bodyPr wrap="square" lIns="0" tIns="0" rIns="0" bIns="0" rtlCol="0" anchor="ctr"/>
          <a:lstStyle/>
          <a:p>
            <a:pPr marL="0" indent="0">
              <a:buNone/>
            </a:pPr>
            <a:r>
              <a:rPr lang="en-US" sz="1100" b="1" kern="0" spc="150" dirty="0">
                <a:solidFill>
                  <a:srgbClr val="000000"/>
                </a:solidFill>
                <a:latin typeface="Trebuchet MS" pitchFamily="34" charset="0"/>
                <a:ea typeface="Trebuchet MS" pitchFamily="34" charset="-122"/>
                <a:cs typeface="Trebuchet MS" pitchFamily="34" charset="-120"/>
              </a:rPr>
              <a:t>COLLECTION</a:t>
            </a:r>
            <a:endParaRPr lang="en-US" sz="1100" dirty="0"/>
          </a:p>
        </p:txBody>
      </p:sp>
      <p:sp>
        <p:nvSpPr>
          <p:cNvPr id="31" name="Shape 29"/>
          <p:cNvSpPr/>
          <p:nvPr/>
        </p:nvSpPr>
        <p:spPr>
          <a:xfrm>
            <a:off x="4663440" y="1225296"/>
            <a:ext cx="4334256" cy="347472"/>
          </a:xfrm>
          <a:prstGeom prst="rect">
            <a:avLst/>
          </a:prstGeom>
          <a:solidFill>
            <a:srgbClr val="EEF6FB"/>
          </a:solidFill>
          <a:ln w="12700">
            <a:solidFill>
              <a:srgbClr val="2E4068"/>
            </a:solidFill>
            <a:prstDash val="solid"/>
          </a:ln>
        </p:spPr>
        <p:txBody>
          <a:bodyPr/>
          <a:lstStyle/>
          <a:p>
            <a:endParaRPr lang="en-SG"/>
          </a:p>
        </p:txBody>
      </p:sp>
      <p:sp>
        <p:nvSpPr>
          <p:cNvPr id="32" name="Shape 30"/>
          <p:cNvSpPr/>
          <p:nvPr/>
        </p:nvSpPr>
        <p:spPr>
          <a:xfrm>
            <a:off x="4700016" y="1316736"/>
            <a:ext cx="329184" cy="164592"/>
          </a:xfrm>
          <a:prstGeom prst="roundRect">
            <a:avLst>
              <a:gd name="adj" fmla="val 22222"/>
            </a:avLst>
          </a:prstGeom>
          <a:solidFill>
            <a:srgbClr val="FFB703"/>
          </a:solidFill>
          <a:ln w="12700">
            <a:solidFill>
              <a:srgbClr val="FFB703"/>
            </a:solidFill>
            <a:prstDash val="solid"/>
          </a:ln>
        </p:spPr>
        <p:txBody>
          <a:bodyPr/>
          <a:lstStyle/>
          <a:p>
            <a:endParaRPr lang="en-SG"/>
          </a:p>
        </p:txBody>
      </p:sp>
      <p:sp>
        <p:nvSpPr>
          <p:cNvPr id="33" name="Text 31"/>
          <p:cNvSpPr/>
          <p:nvPr/>
        </p:nvSpPr>
        <p:spPr>
          <a:xfrm>
            <a:off x="4700016" y="1316736"/>
            <a:ext cx="329184" cy="164592"/>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HW</a:t>
            </a:r>
            <a:endParaRPr lang="en-US" sz="750" dirty="0"/>
          </a:p>
        </p:txBody>
      </p:sp>
      <p:sp>
        <p:nvSpPr>
          <p:cNvPr id="34" name="Text 32"/>
          <p:cNvSpPr/>
          <p:nvPr/>
        </p:nvSpPr>
        <p:spPr>
          <a:xfrm>
            <a:off x="5084064" y="1243584"/>
            <a:ext cx="3840480" cy="182880"/>
          </a:xfrm>
          <a:prstGeom prst="rect">
            <a:avLst/>
          </a:prstGeom>
          <a:noFill/>
          <a:ln/>
        </p:spPr>
        <p:txBody>
          <a:bodyPr wrap="square" lIns="0" tIns="0" rIns="0" bIns="0" rtlCol="0" anchor="ctr"/>
          <a:lstStyle/>
          <a:p>
            <a:pPr marL="0" indent="0">
              <a:buNone/>
            </a:pPr>
            <a:r>
              <a:rPr lang="en-US" sz="1000" b="1" dirty="0">
                <a:solidFill>
                  <a:srgbClr val="FFB703"/>
                </a:solidFill>
                <a:latin typeface="Trebuchet MS" pitchFamily="34" charset="0"/>
                <a:ea typeface="Trebuchet MS" pitchFamily="34" charset="-122"/>
                <a:cs typeface="Trebuchet MS" pitchFamily="34" charset="-120"/>
              </a:rPr>
              <a:t>Forensic Duplicator (Logicube Falcon)</a:t>
            </a:r>
            <a:endParaRPr lang="en-US" sz="1000" dirty="0"/>
          </a:p>
        </p:txBody>
      </p:sp>
      <p:sp>
        <p:nvSpPr>
          <p:cNvPr id="35" name="Text 33"/>
          <p:cNvSpPr/>
          <p:nvPr/>
        </p:nvSpPr>
        <p:spPr>
          <a:xfrm>
            <a:off x="5084064" y="1408176"/>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Standalone bit-for-bit hardware imaging in the field.</a:t>
            </a:r>
            <a:endParaRPr lang="en-US" sz="850" dirty="0"/>
          </a:p>
        </p:txBody>
      </p:sp>
      <p:sp>
        <p:nvSpPr>
          <p:cNvPr id="36" name="Shape 34"/>
          <p:cNvSpPr/>
          <p:nvPr/>
        </p:nvSpPr>
        <p:spPr>
          <a:xfrm>
            <a:off x="4663440" y="1591056"/>
            <a:ext cx="4334256" cy="347472"/>
          </a:xfrm>
          <a:prstGeom prst="rect">
            <a:avLst/>
          </a:prstGeom>
          <a:solidFill>
            <a:srgbClr val="EEF6FB"/>
          </a:solidFill>
          <a:ln w="12700">
            <a:solidFill>
              <a:srgbClr val="2E4068"/>
            </a:solidFill>
            <a:prstDash val="solid"/>
          </a:ln>
        </p:spPr>
        <p:txBody>
          <a:bodyPr/>
          <a:lstStyle/>
          <a:p>
            <a:endParaRPr lang="en-SG"/>
          </a:p>
        </p:txBody>
      </p:sp>
      <p:sp>
        <p:nvSpPr>
          <p:cNvPr id="37" name="Shape 35"/>
          <p:cNvSpPr/>
          <p:nvPr/>
        </p:nvSpPr>
        <p:spPr>
          <a:xfrm>
            <a:off x="4700016" y="1682496"/>
            <a:ext cx="329184" cy="164592"/>
          </a:xfrm>
          <a:prstGeom prst="roundRect">
            <a:avLst>
              <a:gd name="adj" fmla="val 22222"/>
            </a:avLst>
          </a:prstGeom>
          <a:solidFill>
            <a:srgbClr val="06D6A0"/>
          </a:solidFill>
          <a:ln w="12700">
            <a:solidFill>
              <a:srgbClr val="06D6A0"/>
            </a:solidFill>
            <a:prstDash val="solid"/>
          </a:ln>
        </p:spPr>
        <p:txBody>
          <a:bodyPr/>
          <a:lstStyle/>
          <a:p>
            <a:endParaRPr lang="en-SG"/>
          </a:p>
        </p:txBody>
      </p:sp>
      <p:sp>
        <p:nvSpPr>
          <p:cNvPr id="38" name="Text 36"/>
          <p:cNvSpPr/>
          <p:nvPr/>
        </p:nvSpPr>
        <p:spPr>
          <a:xfrm>
            <a:off x="4700016" y="1682496"/>
            <a:ext cx="329184" cy="164592"/>
          </a:xfrm>
          <a:prstGeom prst="rect">
            <a:avLst/>
          </a:prstGeom>
          <a:noFill/>
          <a:ln/>
        </p:spPr>
        <p:txBody>
          <a:bodyPr wrap="square" lIns="0" tIns="0" rIns="0" bIns="0" rtlCol="0" anchor="ctr"/>
          <a:lstStyle/>
          <a:p>
            <a:pPr marL="0" indent="0" algn="ctr">
              <a:buNone/>
            </a:pPr>
            <a:r>
              <a:rPr lang="en-US" sz="750" b="1" dirty="0">
                <a:solidFill>
                  <a:srgbClr val="1A1A2E"/>
                </a:solidFill>
                <a:latin typeface="Trebuchet MS" pitchFamily="34" charset="0"/>
                <a:ea typeface="Trebuchet MS" pitchFamily="34" charset="-122"/>
                <a:cs typeface="Trebuchet MS" pitchFamily="34" charset="-120"/>
              </a:rPr>
              <a:t>SW</a:t>
            </a:r>
            <a:endParaRPr lang="en-US" sz="750" dirty="0"/>
          </a:p>
        </p:txBody>
      </p:sp>
      <p:sp>
        <p:nvSpPr>
          <p:cNvPr id="39" name="Text 37"/>
          <p:cNvSpPr/>
          <p:nvPr/>
        </p:nvSpPr>
        <p:spPr>
          <a:xfrm>
            <a:off x="5084064" y="1609344"/>
            <a:ext cx="3840480" cy="182880"/>
          </a:xfrm>
          <a:prstGeom prst="rect">
            <a:avLst/>
          </a:prstGeom>
          <a:noFill/>
          <a:ln/>
        </p:spPr>
        <p:txBody>
          <a:bodyPr wrap="square" lIns="0" tIns="0" rIns="0" bIns="0" rtlCol="0" anchor="ctr"/>
          <a:lstStyle/>
          <a:p>
            <a:pPr marL="0" indent="0">
              <a:buNone/>
            </a:pPr>
            <a:r>
              <a:rPr lang="en-US" sz="1000" b="1" dirty="0">
                <a:solidFill>
                  <a:srgbClr val="FFB703"/>
                </a:solidFill>
                <a:latin typeface="Trebuchet MS" pitchFamily="34" charset="0"/>
                <a:ea typeface="Trebuchet MS" pitchFamily="34" charset="-122"/>
                <a:cs typeface="Trebuchet MS" pitchFamily="34" charset="-120"/>
              </a:rPr>
              <a:t>Cellebrite UFED</a:t>
            </a:r>
            <a:endParaRPr lang="en-US" sz="1000" dirty="0"/>
          </a:p>
        </p:txBody>
      </p:sp>
      <p:sp>
        <p:nvSpPr>
          <p:cNvPr id="40" name="Text 38"/>
          <p:cNvSpPr/>
          <p:nvPr/>
        </p:nvSpPr>
        <p:spPr>
          <a:xfrm>
            <a:off x="5084064" y="1773936"/>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Physically extracts data from locked / damaged smartphones.</a:t>
            </a:r>
            <a:endParaRPr lang="en-US" sz="850" dirty="0"/>
          </a:p>
        </p:txBody>
      </p:sp>
      <p:sp>
        <p:nvSpPr>
          <p:cNvPr id="41" name="Shape 39"/>
          <p:cNvSpPr/>
          <p:nvPr/>
        </p:nvSpPr>
        <p:spPr>
          <a:xfrm>
            <a:off x="4663440" y="1956816"/>
            <a:ext cx="4334256" cy="347472"/>
          </a:xfrm>
          <a:prstGeom prst="rect">
            <a:avLst/>
          </a:prstGeom>
          <a:solidFill>
            <a:srgbClr val="EEF6FB"/>
          </a:solidFill>
          <a:ln w="12700">
            <a:solidFill>
              <a:srgbClr val="2E4068"/>
            </a:solidFill>
            <a:prstDash val="solid"/>
          </a:ln>
        </p:spPr>
        <p:txBody>
          <a:bodyPr/>
          <a:lstStyle/>
          <a:p>
            <a:endParaRPr lang="en-SG"/>
          </a:p>
        </p:txBody>
      </p:sp>
      <p:sp>
        <p:nvSpPr>
          <p:cNvPr id="42" name="Shape 40"/>
          <p:cNvSpPr/>
          <p:nvPr/>
        </p:nvSpPr>
        <p:spPr>
          <a:xfrm>
            <a:off x="4700016" y="2048256"/>
            <a:ext cx="329184" cy="164592"/>
          </a:xfrm>
          <a:prstGeom prst="roundRect">
            <a:avLst>
              <a:gd name="adj" fmla="val 22222"/>
            </a:avLst>
          </a:prstGeom>
          <a:solidFill>
            <a:srgbClr val="FFB703"/>
          </a:solidFill>
          <a:ln w="12700">
            <a:solidFill>
              <a:srgbClr val="FFB703"/>
            </a:solidFill>
            <a:prstDash val="solid"/>
          </a:ln>
        </p:spPr>
        <p:txBody>
          <a:bodyPr/>
          <a:lstStyle/>
          <a:p>
            <a:endParaRPr lang="en-SG"/>
          </a:p>
        </p:txBody>
      </p:sp>
      <p:sp>
        <p:nvSpPr>
          <p:cNvPr id="43" name="Text 41"/>
          <p:cNvSpPr/>
          <p:nvPr/>
        </p:nvSpPr>
        <p:spPr>
          <a:xfrm>
            <a:off x="4700016" y="2048256"/>
            <a:ext cx="329184" cy="164592"/>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HW</a:t>
            </a:r>
            <a:endParaRPr lang="en-US" sz="750" dirty="0"/>
          </a:p>
        </p:txBody>
      </p:sp>
      <p:sp>
        <p:nvSpPr>
          <p:cNvPr id="44" name="Text 42"/>
          <p:cNvSpPr/>
          <p:nvPr/>
        </p:nvSpPr>
        <p:spPr>
          <a:xfrm>
            <a:off x="5084064" y="1975104"/>
            <a:ext cx="3840480" cy="182880"/>
          </a:xfrm>
          <a:prstGeom prst="rect">
            <a:avLst/>
          </a:prstGeom>
          <a:noFill/>
          <a:ln/>
        </p:spPr>
        <p:txBody>
          <a:bodyPr wrap="square" lIns="0" tIns="0" rIns="0" bIns="0" rtlCol="0" anchor="ctr"/>
          <a:lstStyle/>
          <a:p>
            <a:pPr marL="0" indent="0">
              <a:buNone/>
            </a:pPr>
            <a:r>
              <a:rPr lang="en-US" sz="1000" b="1" dirty="0">
                <a:solidFill>
                  <a:srgbClr val="FFB703"/>
                </a:solidFill>
                <a:latin typeface="Trebuchet MS" pitchFamily="34" charset="0"/>
                <a:ea typeface="Trebuchet MS" pitchFamily="34" charset="-122"/>
                <a:cs typeface="Trebuchet MS" pitchFamily="34" charset="-120"/>
              </a:rPr>
              <a:t>JTAG / Chip-Off Tools</a:t>
            </a:r>
            <a:endParaRPr lang="en-US" sz="1000" dirty="0"/>
          </a:p>
        </p:txBody>
      </p:sp>
      <p:sp>
        <p:nvSpPr>
          <p:cNvPr id="45" name="Text 43"/>
          <p:cNvSpPr/>
          <p:nvPr/>
        </p:nvSpPr>
        <p:spPr>
          <a:xfrm>
            <a:off x="5084064" y="2139696"/>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Direct memory-chip extraction for damaged devices.</a:t>
            </a:r>
            <a:endParaRPr lang="en-US" sz="850" dirty="0"/>
          </a:p>
        </p:txBody>
      </p:sp>
      <p:sp>
        <p:nvSpPr>
          <p:cNvPr id="46" name="Shape 44"/>
          <p:cNvSpPr/>
          <p:nvPr/>
        </p:nvSpPr>
        <p:spPr>
          <a:xfrm>
            <a:off x="4663440" y="2322576"/>
            <a:ext cx="4334256" cy="347472"/>
          </a:xfrm>
          <a:prstGeom prst="rect">
            <a:avLst/>
          </a:prstGeom>
          <a:solidFill>
            <a:srgbClr val="EEF6FB"/>
          </a:solidFill>
          <a:ln w="12700">
            <a:solidFill>
              <a:srgbClr val="2E4068"/>
            </a:solidFill>
            <a:prstDash val="solid"/>
          </a:ln>
        </p:spPr>
        <p:txBody>
          <a:bodyPr/>
          <a:lstStyle/>
          <a:p>
            <a:endParaRPr lang="en-SG"/>
          </a:p>
        </p:txBody>
      </p:sp>
      <p:sp>
        <p:nvSpPr>
          <p:cNvPr id="47" name="Shape 45"/>
          <p:cNvSpPr/>
          <p:nvPr/>
        </p:nvSpPr>
        <p:spPr>
          <a:xfrm>
            <a:off x="4700016" y="2414016"/>
            <a:ext cx="329184" cy="164592"/>
          </a:xfrm>
          <a:prstGeom prst="roundRect">
            <a:avLst>
              <a:gd name="adj" fmla="val 22222"/>
            </a:avLst>
          </a:prstGeom>
          <a:solidFill>
            <a:srgbClr val="06D6A0"/>
          </a:solidFill>
          <a:ln w="12700">
            <a:solidFill>
              <a:srgbClr val="06D6A0"/>
            </a:solidFill>
            <a:prstDash val="solid"/>
          </a:ln>
        </p:spPr>
        <p:txBody>
          <a:bodyPr/>
          <a:lstStyle/>
          <a:p>
            <a:endParaRPr lang="en-SG"/>
          </a:p>
        </p:txBody>
      </p:sp>
      <p:sp>
        <p:nvSpPr>
          <p:cNvPr id="48" name="Text 46"/>
          <p:cNvSpPr/>
          <p:nvPr/>
        </p:nvSpPr>
        <p:spPr>
          <a:xfrm>
            <a:off x="4700016" y="2414016"/>
            <a:ext cx="329184" cy="164592"/>
          </a:xfrm>
          <a:prstGeom prst="rect">
            <a:avLst/>
          </a:prstGeom>
          <a:noFill/>
          <a:ln/>
        </p:spPr>
        <p:txBody>
          <a:bodyPr wrap="square" lIns="0" tIns="0" rIns="0" bIns="0" rtlCol="0" anchor="ctr"/>
          <a:lstStyle/>
          <a:p>
            <a:pPr marL="0" indent="0" algn="ctr">
              <a:buNone/>
            </a:pPr>
            <a:r>
              <a:rPr lang="en-US" sz="750" b="1" dirty="0">
                <a:solidFill>
                  <a:srgbClr val="1A1A2E"/>
                </a:solidFill>
                <a:latin typeface="Trebuchet MS" pitchFamily="34" charset="0"/>
                <a:ea typeface="Trebuchet MS" pitchFamily="34" charset="-122"/>
                <a:cs typeface="Trebuchet MS" pitchFamily="34" charset="-120"/>
              </a:rPr>
              <a:t>SW</a:t>
            </a:r>
            <a:endParaRPr lang="en-US" sz="750" dirty="0"/>
          </a:p>
        </p:txBody>
      </p:sp>
      <p:sp>
        <p:nvSpPr>
          <p:cNvPr id="49" name="Text 47"/>
          <p:cNvSpPr/>
          <p:nvPr/>
        </p:nvSpPr>
        <p:spPr>
          <a:xfrm>
            <a:off x="5084064" y="2340864"/>
            <a:ext cx="3840480" cy="182880"/>
          </a:xfrm>
          <a:prstGeom prst="rect">
            <a:avLst/>
          </a:prstGeom>
          <a:noFill/>
          <a:ln/>
        </p:spPr>
        <p:txBody>
          <a:bodyPr wrap="square" lIns="0" tIns="0" rIns="0" bIns="0" rtlCol="0" anchor="ctr"/>
          <a:lstStyle/>
          <a:p>
            <a:pPr marL="0" indent="0">
              <a:buNone/>
            </a:pPr>
            <a:r>
              <a:rPr lang="en-US" sz="1000" b="1" dirty="0">
                <a:solidFill>
                  <a:srgbClr val="FFB703"/>
                </a:solidFill>
                <a:latin typeface="Trebuchet MS" pitchFamily="34" charset="0"/>
                <a:ea typeface="Trebuchet MS" pitchFamily="34" charset="-122"/>
                <a:cs typeface="Trebuchet MS" pitchFamily="34" charset="-120"/>
              </a:rPr>
              <a:t>Volatility</a:t>
            </a:r>
            <a:endParaRPr lang="en-US" sz="1000" dirty="0"/>
          </a:p>
        </p:txBody>
      </p:sp>
      <p:sp>
        <p:nvSpPr>
          <p:cNvPr id="50" name="Text 48"/>
          <p:cNvSpPr/>
          <p:nvPr/>
        </p:nvSpPr>
        <p:spPr>
          <a:xfrm>
            <a:off x="5084064" y="2505456"/>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Captures volatile RAM from live systems before shutdown.</a:t>
            </a:r>
            <a:endParaRPr lang="en-US" sz="850" dirty="0"/>
          </a:p>
        </p:txBody>
      </p:sp>
      <p:sp>
        <p:nvSpPr>
          <p:cNvPr id="51" name="Shape 49"/>
          <p:cNvSpPr/>
          <p:nvPr/>
        </p:nvSpPr>
        <p:spPr>
          <a:xfrm>
            <a:off x="109728" y="2834640"/>
            <a:ext cx="4407408" cy="1874520"/>
          </a:xfrm>
          <a:prstGeom prst="rect">
            <a:avLst/>
          </a:prstGeom>
          <a:solidFill>
            <a:srgbClr val="EEF6FB"/>
          </a:solidFill>
          <a:ln w="12700">
            <a:solidFill>
              <a:srgbClr val="FB8500"/>
            </a:solidFill>
            <a:prstDash val="solid"/>
          </a:ln>
          <a:effectLst>
            <a:outerShdw blurRad="152400" dist="50800" dir="8100000" algn="bl" rotWithShape="0">
              <a:srgbClr val="000000">
                <a:alpha val="40000"/>
              </a:srgbClr>
            </a:outerShdw>
          </a:effectLst>
        </p:spPr>
        <p:txBody>
          <a:bodyPr/>
          <a:lstStyle/>
          <a:p>
            <a:endParaRPr lang="en-SG"/>
          </a:p>
        </p:txBody>
      </p:sp>
      <p:sp>
        <p:nvSpPr>
          <p:cNvPr id="52" name="Shape 50"/>
          <p:cNvSpPr/>
          <p:nvPr/>
        </p:nvSpPr>
        <p:spPr>
          <a:xfrm>
            <a:off x="109728" y="2834640"/>
            <a:ext cx="4407408" cy="329184"/>
          </a:xfrm>
          <a:prstGeom prst="rect">
            <a:avLst/>
          </a:prstGeom>
          <a:solidFill>
            <a:srgbClr val="FB8500"/>
          </a:solidFill>
          <a:ln w="12700">
            <a:solidFill>
              <a:srgbClr val="FB8500"/>
            </a:solidFill>
            <a:prstDash val="solid"/>
          </a:ln>
        </p:spPr>
        <p:txBody>
          <a:bodyPr/>
          <a:lstStyle/>
          <a:p>
            <a:endParaRPr lang="en-SG"/>
          </a:p>
        </p:txBody>
      </p:sp>
      <p:sp>
        <p:nvSpPr>
          <p:cNvPr id="53" name="Shape 51"/>
          <p:cNvSpPr/>
          <p:nvPr/>
        </p:nvSpPr>
        <p:spPr>
          <a:xfrm>
            <a:off x="182880" y="2880360"/>
            <a:ext cx="237744" cy="237744"/>
          </a:xfrm>
          <a:prstGeom prst="ellipse">
            <a:avLst/>
          </a:prstGeom>
          <a:solidFill>
            <a:srgbClr val="FFFFFF">
              <a:alpha val="70000"/>
            </a:srgbClr>
          </a:solidFill>
          <a:ln w="12700">
            <a:solidFill>
              <a:srgbClr val="FFFFFF">
                <a:alpha val="70000"/>
              </a:srgbClr>
            </a:solidFill>
            <a:prstDash val="solid"/>
          </a:ln>
        </p:spPr>
        <p:txBody>
          <a:bodyPr/>
          <a:lstStyle/>
          <a:p>
            <a:endParaRPr lang="en-SG"/>
          </a:p>
        </p:txBody>
      </p:sp>
      <p:sp>
        <p:nvSpPr>
          <p:cNvPr id="54" name="Text 52"/>
          <p:cNvSpPr/>
          <p:nvPr/>
        </p:nvSpPr>
        <p:spPr>
          <a:xfrm>
            <a:off x="182880" y="2898648"/>
            <a:ext cx="237744"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04</a:t>
            </a:r>
            <a:endParaRPr lang="en-US" sz="850" dirty="0"/>
          </a:p>
        </p:txBody>
      </p:sp>
      <p:sp>
        <p:nvSpPr>
          <p:cNvPr id="55" name="Text 53"/>
          <p:cNvSpPr/>
          <p:nvPr/>
        </p:nvSpPr>
        <p:spPr>
          <a:xfrm>
            <a:off x="493776" y="2889504"/>
            <a:ext cx="3931920" cy="219456"/>
          </a:xfrm>
          <a:prstGeom prst="rect">
            <a:avLst/>
          </a:prstGeom>
          <a:noFill/>
          <a:ln/>
        </p:spPr>
        <p:txBody>
          <a:bodyPr wrap="square" lIns="0" tIns="0" rIns="0" bIns="0" rtlCol="0" anchor="ctr"/>
          <a:lstStyle/>
          <a:p>
            <a:pPr marL="0" indent="0">
              <a:buNone/>
            </a:pPr>
            <a:r>
              <a:rPr lang="en-US" sz="1100" b="1" kern="0" spc="150" dirty="0">
                <a:solidFill>
                  <a:srgbClr val="1A1A2E"/>
                </a:solidFill>
                <a:latin typeface="Trebuchet MS" pitchFamily="34" charset="0"/>
                <a:ea typeface="Trebuchet MS" pitchFamily="34" charset="-122"/>
                <a:cs typeface="Trebuchet MS" pitchFamily="34" charset="-120"/>
              </a:rPr>
              <a:t>EXAMINATION</a:t>
            </a:r>
            <a:endParaRPr lang="en-US" sz="1100" dirty="0"/>
          </a:p>
        </p:txBody>
      </p:sp>
      <p:sp>
        <p:nvSpPr>
          <p:cNvPr id="56" name="Shape 54"/>
          <p:cNvSpPr/>
          <p:nvPr/>
        </p:nvSpPr>
        <p:spPr>
          <a:xfrm>
            <a:off x="146304" y="3218688"/>
            <a:ext cx="4334256" cy="347472"/>
          </a:xfrm>
          <a:prstGeom prst="rect">
            <a:avLst/>
          </a:prstGeom>
          <a:solidFill>
            <a:srgbClr val="EEF6FB"/>
          </a:solidFill>
          <a:ln w="12700">
            <a:solidFill>
              <a:srgbClr val="2E4068"/>
            </a:solidFill>
            <a:prstDash val="solid"/>
          </a:ln>
        </p:spPr>
        <p:txBody>
          <a:bodyPr/>
          <a:lstStyle/>
          <a:p>
            <a:endParaRPr lang="en-SG"/>
          </a:p>
        </p:txBody>
      </p:sp>
      <p:sp>
        <p:nvSpPr>
          <p:cNvPr id="57" name="Shape 55"/>
          <p:cNvSpPr/>
          <p:nvPr/>
        </p:nvSpPr>
        <p:spPr>
          <a:xfrm>
            <a:off x="182880" y="3310128"/>
            <a:ext cx="329184" cy="164592"/>
          </a:xfrm>
          <a:prstGeom prst="roundRect">
            <a:avLst>
              <a:gd name="adj" fmla="val 22222"/>
            </a:avLst>
          </a:prstGeom>
          <a:solidFill>
            <a:srgbClr val="06D6A0"/>
          </a:solidFill>
          <a:ln w="12700">
            <a:solidFill>
              <a:srgbClr val="06D6A0"/>
            </a:solidFill>
            <a:prstDash val="solid"/>
          </a:ln>
        </p:spPr>
        <p:txBody>
          <a:bodyPr/>
          <a:lstStyle/>
          <a:p>
            <a:endParaRPr lang="en-SG"/>
          </a:p>
        </p:txBody>
      </p:sp>
      <p:sp>
        <p:nvSpPr>
          <p:cNvPr id="58" name="Text 56"/>
          <p:cNvSpPr/>
          <p:nvPr/>
        </p:nvSpPr>
        <p:spPr>
          <a:xfrm>
            <a:off x="182880" y="3310128"/>
            <a:ext cx="329184" cy="164592"/>
          </a:xfrm>
          <a:prstGeom prst="rect">
            <a:avLst/>
          </a:prstGeom>
          <a:noFill/>
          <a:ln/>
        </p:spPr>
        <p:txBody>
          <a:bodyPr wrap="square" lIns="0" tIns="0" rIns="0" bIns="0" rtlCol="0" anchor="ctr"/>
          <a:lstStyle/>
          <a:p>
            <a:pPr marL="0" indent="0" algn="ctr">
              <a:buNone/>
            </a:pPr>
            <a:r>
              <a:rPr lang="en-US" sz="750" b="1" dirty="0">
                <a:solidFill>
                  <a:srgbClr val="1A1A2E"/>
                </a:solidFill>
                <a:latin typeface="Trebuchet MS" pitchFamily="34" charset="0"/>
                <a:ea typeface="Trebuchet MS" pitchFamily="34" charset="-122"/>
                <a:cs typeface="Trebuchet MS" pitchFamily="34" charset="-120"/>
              </a:rPr>
              <a:t>SW</a:t>
            </a:r>
            <a:endParaRPr lang="en-US" sz="750" dirty="0"/>
          </a:p>
        </p:txBody>
      </p:sp>
      <p:sp>
        <p:nvSpPr>
          <p:cNvPr id="59" name="Text 57"/>
          <p:cNvSpPr/>
          <p:nvPr/>
        </p:nvSpPr>
        <p:spPr>
          <a:xfrm>
            <a:off x="566928" y="3236976"/>
            <a:ext cx="3840480" cy="182880"/>
          </a:xfrm>
          <a:prstGeom prst="rect">
            <a:avLst/>
          </a:prstGeom>
          <a:noFill/>
          <a:ln/>
        </p:spPr>
        <p:txBody>
          <a:bodyPr wrap="square" lIns="0" tIns="0" rIns="0" bIns="0" rtlCol="0" anchor="ctr"/>
          <a:lstStyle/>
          <a:p>
            <a:pPr marL="0" indent="0">
              <a:buNone/>
            </a:pPr>
            <a:r>
              <a:rPr lang="en-US" sz="1000" b="1" dirty="0">
                <a:solidFill>
                  <a:srgbClr val="FB8500"/>
                </a:solidFill>
                <a:latin typeface="Trebuchet MS" pitchFamily="34" charset="0"/>
                <a:ea typeface="Trebuchet MS" pitchFamily="34" charset="-122"/>
                <a:cs typeface="Trebuchet MS" pitchFamily="34" charset="-120"/>
              </a:rPr>
              <a:t>Autopsy / The Sleuth Kit</a:t>
            </a:r>
            <a:endParaRPr lang="en-US" sz="1000" dirty="0"/>
          </a:p>
        </p:txBody>
      </p:sp>
      <p:sp>
        <p:nvSpPr>
          <p:cNvPr id="60" name="Text 58"/>
          <p:cNvSpPr/>
          <p:nvPr/>
        </p:nvSpPr>
        <p:spPr>
          <a:xfrm>
            <a:off x="566928" y="3401568"/>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Parses file systems, recovers deleted files, browses disk images.</a:t>
            </a:r>
            <a:endParaRPr lang="en-US" sz="850" dirty="0"/>
          </a:p>
        </p:txBody>
      </p:sp>
      <p:sp>
        <p:nvSpPr>
          <p:cNvPr id="61" name="Shape 59"/>
          <p:cNvSpPr/>
          <p:nvPr/>
        </p:nvSpPr>
        <p:spPr>
          <a:xfrm>
            <a:off x="146304" y="3584448"/>
            <a:ext cx="4334256" cy="347472"/>
          </a:xfrm>
          <a:prstGeom prst="rect">
            <a:avLst/>
          </a:prstGeom>
          <a:solidFill>
            <a:srgbClr val="EEF6FB"/>
          </a:solidFill>
          <a:ln w="12700">
            <a:solidFill>
              <a:srgbClr val="2E4068"/>
            </a:solidFill>
            <a:prstDash val="solid"/>
          </a:ln>
        </p:spPr>
        <p:txBody>
          <a:bodyPr/>
          <a:lstStyle/>
          <a:p>
            <a:endParaRPr lang="en-SG"/>
          </a:p>
        </p:txBody>
      </p:sp>
      <p:sp>
        <p:nvSpPr>
          <p:cNvPr id="62" name="Shape 60"/>
          <p:cNvSpPr/>
          <p:nvPr/>
        </p:nvSpPr>
        <p:spPr>
          <a:xfrm>
            <a:off x="182880" y="3675888"/>
            <a:ext cx="329184" cy="164592"/>
          </a:xfrm>
          <a:prstGeom prst="roundRect">
            <a:avLst>
              <a:gd name="adj" fmla="val 22222"/>
            </a:avLst>
          </a:prstGeom>
          <a:solidFill>
            <a:srgbClr val="06D6A0"/>
          </a:solidFill>
          <a:ln w="12700">
            <a:solidFill>
              <a:srgbClr val="06D6A0"/>
            </a:solidFill>
            <a:prstDash val="solid"/>
          </a:ln>
        </p:spPr>
        <p:txBody>
          <a:bodyPr/>
          <a:lstStyle/>
          <a:p>
            <a:endParaRPr lang="en-SG"/>
          </a:p>
        </p:txBody>
      </p:sp>
      <p:sp>
        <p:nvSpPr>
          <p:cNvPr id="63" name="Text 61"/>
          <p:cNvSpPr/>
          <p:nvPr/>
        </p:nvSpPr>
        <p:spPr>
          <a:xfrm>
            <a:off x="182880" y="3675888"/>
            <a:ext cx="329184" cy="164592"/>
          </a:xfrm>
          <a:prstGeom prst="rect">
            <a:avLst/>
          </a:prstGeom>
          <a:noFill/>
          <a:ln/>
        </p:spPr>
        <p:txBody>
          <a:bodyPr wrap="square" lIns="0" tIns="0" rIns="0" bIns="0" rtlCol="0" anchor="ctr"/>
          <a:lstStyle/>
          <a:p>
            <a:pPr marL="0" indent="0" algn="ctr">
              <a:buNone/>
            </a:pPr>
            <a:r>
              <a:rPr lang="en-US" sz="750" b="1" dirty="0">
                <a:solidFill>
                  <a:srgbClr val="1A1A2E"/>
                </a:solidFill>
                <a:latin typeface="Trebuchet MS" pitchFamily="34" charset="0"/>
                <a:ea typeface="Trebuchet MS" pitchFamily="34" charset="-122"/>
                <a:cs typeface="Trebuchet MS" pitchFamily="34" charset="-120"/>
              </a:rPr>
              <a:t>SW</a:t>
            </a:r>
            <a:endParaRPr lang="en-US" sz="750" dirty="0"/>
          </a:p>
        </p:txBody>
      </p:sp>
      <p:sp>
        <p:nvSpPr>
          <p:cNvPr id="64" name="Text 62"/>
          <p:cNvSpPr/>
          <p:nvPr/>
        </p:nvSpPr>
        <p:spPr>
          <a:xfrm>
            <a:off x="566928" y="3602736"/>
            <a:ext cx="3840480" cy="182880"/>
          </a:xfrm>
          <a:prstGeom prst="rect">
            <a:avLst/>
          </a:prstGeom>
          <a:noFill/>
          <a:ln/>
        </p:spPr>
        <p:txBody>
          <a:bodyPr wrap="square" lIns="0" tIns="0" rIns="0" bIns="0" rtlCol="0" anchor="ctr"/>
          <a:lstStyle/>
          <a:p>
            <a:pPr marL="0" indent="0">
              <a:buNone/>
            </a:pPr>
            <a:r>
              <a:rPr lang="en-US" sz="1000" b="1" dirty="0">
                <a:solidFill>
                  <a:srgbClr val="FB8500"/>
                </a:solidFill>
                <a:latin typeface="Trebuchet MS" pitchFamily="34" charset="0"/>
                <a:ea typeface="Trebuchet MS" pitchFamily="34" charset="-122"/>
                <a:cs typeface="Trebuchet MS" pitchFamily="34" charset="-120"/>
              </a:rPr>
              <a:t>FTK (Forensic Toolkit)</a:t>
            </a:r>
            <a:endParaRPr lang="en-US" sz="1000" dirty="0"/>
          </a:p>
        </p:txBody>
      </p:sp>
      <p:sp>
        <p:nvSpPr>
          <p:cNvPr id="65" name="Text 63"/>
          <p:cNvSpPr/>
          <p:nvPr/>
        </p:nvSpPr>
        <p:spPr>
          <a:xfrm>
            <a:off x="566928" y="3767328"/>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Disk imaging, file carving, email parsing, and full-text indexing.</a:t>
            </a:r>
            <a:endParaRPr lang="en-US" sz="850" dirty="0"/>
          </a:p>
        </p:txBody>
      </p:sp>
      <p:sp>
        <p:nvSpPr>
          <p:cNvPr id="66" name="Shape 64"/>
          <p:cNvSpPr/>
          <p:nvPr/>
        </p:nvSpPr>
        <p:spPr>
          <a:xfrm>
            <a:off x="146304" y="3950208"/>
            <a:ext cx="4334256" cy="347472"/>
          </a:xfrm>
          <a:prstGeom prst="rect">
            <a:avLst/>
          </a:prstGeom>
          <a:solidFill>
            <a:srgbClr val="EEF6FB"/>
          </a:solidFill>
          <a:ln w="12700">
            <a:solidFill>
              <a:srgbClr val="2E4068"/>
            </a:solidFill>
            <a:prstDash val="solid"/>
          </a:ln>
        </p:spPr>
        <p:txBody>
          <a:bodyPr/>
          <a:lstStyle/>
          <a:p>
            <a:endParaRPr lang="en-SG"/>
          </a:p>
        </p:txBody>
      </p:sp>
      <p:sp>
        <p:nvSpPr>
          <p:cNvPr id="67" name="Shape 65"/>
          <p:cNvSpPr/>
          <p:nvPr/>
        </p:nvSpPr>
        <p:spPr>
          <a:xfrm>
            <a:off x="182880" y="4041648"/>
            <a:ext cx="329184" cy="164592"/>
          </a:xfrm>
          <a:prstGeom prst="roundRect">
            <a:avLst>
              <a:gd name="adj" fmla="val 22222"/>
            </a:avLst>
          </a:prstGeom>
          <a:solidFill>
            <a:srgbClr val="06D6A0"/>
          </a:solidFill>
          <a:ln w="12700">
            <a:solidFill>
              <a:srgbClr val="06D6A0"/>
            </a:solidFill>
            <a:prstDash val="solid"/>
          </a:ln>
        </p:spPr>
        <p:txBody>
          <a:bodyPr/>
          <a:lstStyle/>
          <a:p>
            <a:endParaRPr lang="en-SG"/>
          </a:p>
        </p:txBody>
      </p:sp>
      <p:sp>
        <p:nvSpPr>
          <p:cNvPr id="68" name="Text 66"/>
          <p:cNvSpPr/>
          <p:nvPr/>
        </p:nvSpPr>
        <p:spPr>
          <a:xfrm>
            <a:off x="182880" y="4041648"/>
            <a:ext cx="329184" cy="164592"/>
          </a:xfrm>
          <a:prstGeom prst="rect">
            <a:avLst/>
          </a:prstGeom>
          <a:noFill/>
          <a:ln/>
        </p:spPr>
        <p:txBody>
          <a:bodyPr wrap="square" lIns="0" tIns="0" rIns="0" bIns="0" rtlCol="0" anchor="ctr"/>
          <a:lstStyle/>
          <a:p>
            <a:pPr marL="0" indent="0" algn="ctr">
              <a:buNone/>
            </a:pPr>
            <a:r>
              <a:rPr lang="en-US" sz="750" b="1" dirty="0">
                <a:solidFill>
                  <a:srgbClr val="1A1A2E"/>
                </a:solidFill>
                <a:latin typeface="Trebuchet MS" pitchFamily="34" charset="0"/>
                <a:ea typeface="Trebuchet MS" pitchFamily="34" charset="-122"/>
                <a:cs typeface="Trebuchet MS" pitchFamily="34" charset="-120"/>
              </a:rPr>
              <a:t>SW</a:t>
            </a:r>
            <a:endParaRPr lang="en-US" sz="750" dirty="0"/>
          </a:p>
        </p:txBody>
      </p:sp>
      <p:sp>
        <p:nvSpPr>
          <p:cNvPr id="69" name="Text 67"/>
          <p:cNvSpPr/>
          <p:nvPr/>
        </p:nvSpPr>
        <p:spPr>
          <a:xfrm>
            <a:off x="566928" y="3968496"/>
            <a:ext cx="3840480" cy="182880"/>
          </a:xfrm>
          <a:prstGeom prst="rect">
            <a:avLst/>
          </a:prstGeom>
          <a:noFill/>
          <a:ln/>
        </p:spPr>
        <p:txBody>
          <a:bodyPr wrap="square" lIns="0" tIns="0" rIns="0" bIns="0" rtlCol="0" anchor="ctr"/>
          <a:lstStyle/>
          <a:p>
            <a:pPr marL="0" indent="0">
              <a:buNone/>
            </a:pPr>
            <a:r>
              <a:rPr lang="en-US" sz="1000" b="1" dirty="0">
                <a:solidFill>
                  <a:srgbClr val="FB8500"/>
                </a:solidFill>
                <a:latin typeface="Trebuchet MS" pitchFamily="34" charset="0"/>
                <a:ea typeface="Trebuchet MS" pitchFamily="34" charset="-122"/>
                <a:cs typeface="Trebuchet MS" pitchFamily="34" charset="-120"/>
              </a:rPr>
              <a:t>Magnet AXIOM</a:t>
            </a:r>
            <a:endParaRPr lang="en-US" sz="1000" dirty="0"/>
          </a:p>
        </p:txBody>
      </p:sp>
      <p:sp>
        <p:nvSpPr>
          <p:cNvPr id="70" name="Text 68"/>
          <p:cNvSpPr/>
          <p:nvPr/>
        </p:nvSpPr>
        <p:spPr>
          <a:xfrm>
            <a:off x="566928" y="4133088"/>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Extracts artefacts from computers, mobiles and cloud in one platform.</a:t>
            </a:r>
            <a:endParaRPr lang="en-US" sz="850" dirty="0"/>
          </a:p>
        </p:txBody>
      </p:sp>
      <p:sp>
        <p:nvSpPr>
          <p:cNvPr id="71" name="Shape 69"/>
          <p:cNvSpPr/>
          <p:nvPr/>
        </p:nvSpPr>
        <p:spPr>
          <a:xfrm>
            <a:off x="146304" y="4315968"/>
            <a:ext cx="4334256" cy="347472"/>
          </a:xfrm>
          <a:prstGeom prst="rect">
            <a:avLst/>
          </a:prstGeom>
          <a:solidFill>
            <a:srgbClr val="EEF6FB"/>
          </a:solidFill>
          <a:ln w="12700">
            <a:solidFill>
              <a:srgbClr val="2E4068"/>
            </a:solidFill>
            <a:prstDash val="solid"/>
          </a:ln>
        </p:spPr>
        <p:txBody>
          <a:bodyPr/>
          <a:lstStyle/>
          <a:p>
            <a:endParaRPr lang="en-SG"/>
          </a:p>
        </p:txBody>
      </p:sp>
      <p:sp>
        <p:nvSpPr>
          <p:cNvPr id="72" name="Shape 70"/>
          <p:cNvSpPr/>
          <p:nvPr/>
        </p:nvSpPr>
        <p:spPr>
          <a:xfrm>
            <a:off x="182880" y="4407408"/>
            <a:ext cx="329184" cy="164592"/>
          </a:xfrm>
          <a:prstGeom prst="roundRect">
            <a:avLst>
              <a:gd name="adj" fmla="val 22222"/>
            </a:avLst>
          </a:prstGeom>
          <a:solidFill>
            <a:srgbClr val="FFB703"/>
          </a:solidFill>
          <a:ln w="12700">
            <a:solidFill>
              <a:srgbClr val="FFB703"/>
            </a:solidFill>
            <a:prstDash val="solid"/>
          </a:ln>
        </p:spPr>
        <p:txBody>
          <a:bodyPr/>
          <a:lstStyle/>
          <a:p>
            <a:endParaRPr lang="en-SG"/>
          </a:p>
        </p:txBody>
      </p:sp>
      <p:sp>
        <p:nvSpPr>
          <p:cNvPr id="73" name="Text 71"/>
          <p:cNvSpPr/>
          <p:nvPr/>
        </p:nvSpPr>
        <p:spPr>
          <a:xfrm>
            <a:off x="182880" y="4407408"/>
            <a:ext cx="329184" cy="164592"/>
          </a:xfrm>
          <a:prstGeom prst="rect">
            <a:avLst/>
          </a:prstGeom>
          <a:noFill/>
          <a:ln/>
        </p:spPr>
        <p:txBody>
          <a:bodyPr wrap="square" lIns="0" tIns="0" rIns="0" bIns="0" rtlCol="0" anchor="ctr"/>
          <a:lstStyle/>
          <a:p>
            <a:pPr marL="0" indent="0" algn="ctr">
              <a:buNone/>
            </a:pPr>
            <a:r>
              <a:rPr lang="en-US" sz="750" b="1" dirty="0">
                <a:solidFill>
                  <a:srgbClr val="000000"/>
                </a:solidFill>
                <a:latin typeface="Trebuchet MS" pitchFamily="34" charset="0"/>
                <a:ea typeface="Trebuchet MS" pitchFamily="34" charset="-122"/>
                <a:cs typeface="Trebuchet MS" pitchFamily="34" charset="-120"/>
              </a:rPr>
              <a:t>HW</a:t>
            </a:r>
            <a:endParaRPr lang="en-US" sz="750" dirty="0"/>
          </a:p>
        </p:txBody>
      </p:sp>
      <p:sp>
        <p:nvSpPr>
          <p:cNvPr id="74" name="Text 72"/>
          <p:cNvSpPr/>
          <p:nvPr/>
        </p:nvSpPr>
        <p:spPr>
          <a:xfrm>
            <a:off x="566928" y="4334256"/>
            <a:ext cx="3840480" cy="182880"/>
          </a:xfrm>
          <a:prstGeom prst="rect">
            <a:avLst/>
          </a:prstGeom>
          <a:noFill/>
          <a:ln/>
        </p:spPr>
        <p:txBody>
          <a:bodyPr wrap="square" lIns="0" tIns="0" rIns="0" bIns="0" rtlCol="0" anchor="ctr"/>
          <a:lstStyle/>
          <a:p>
            <a:pPr marL="0" indent="0">
              <a:buNone/>
            </a:pPr>
            <a:r>
              <a:rPr lang="en-US" sz="1000" b="1" dirty="0">
                <a:solidFill>
                  <a:srgbClr val="FB8500"/>
                </a:solidFill>
                <a:latin typeface="Trebuchet MS" pitchFamily="34" charset="0"/>
                <a:ea typeface="Trebuchet MS" pitchFamily="34" charset="-122"/>
                <a:cs typeface="Trebuchet MS" pitchFamily="34" charset="-120"/>
              </a:rPr>
              <a:t>FRED Workstation</a:t>
            </a:r>
            <a:endParaRPr lang="en-US" sz="1000" dirty="0"/>
          </a:p>
        </p:txBody>
      </p:sp>
      <p:sp>
        <p:nvSpPr>
          <p:cNvPr id="75" name="Text 73"/>
          <p:cNvSpPr/>
          <p:nvPr/>
        </p:nvSpPr>
        <p:spPr>
          <a:xfrm>
            <a:off x="566928" y="4498848"/>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Lab workstation with built-in write blockers and drive interfaces.</a:t>
            </a:r>
            <a:endParaRPr lang="en-US" sz="850" dirty="0"/>
          </a:p>
        </p:txBody>
      </p:sp>
      <p:sp>
        <p:nvSpPr>
          <p:cNvPr id="76" name="Shape 74"/>
          <p:cNvSpPr/>
          <p:nvPr/>
        </p:nvSpPr>
        <p:spPr>
          <a:xfrm>
            <a:off x="4626864" y="2834640"/>
            <a:ext cx="4407408" cy="1874520"/>
          </a:xfrm>
          <a:prstGeom prst="rect">
            <a:avLst/>
          </a:prstGeom>
          <a:solidFill>
            <a:srgbClr val="EEF6FB"/>
          </a:solidFill>
          <a:ln w="12700">
            <a:solidFill>
              <a:srgbClr val="9B5DE5"/>
            </a:solidFill>
            <a:prstDash val="solid"/>
          </a:ln>
          <a:effectLst>
            <a:outerShdw blurRad="152400" dist="50800" dir="8100000" algn="bl" rotWithShape="0">
              <a:srgbClr val="000000">
                <a:alpha val="40000"/>
              </a:srgbClr>
            </a:outerShdw>
          </a:effectLst>
        </p:spPr>
        <p:txBody>
          <a:bodyPr/>
          <a:lstStyle/>
          <a:p>
            <a:endParaRPr lang="en-SG"/>
          </a:p>
        </p:txBody>
      </p:sp>
      <p:sp>
        <p:nvSpPr>
          <p:cNvPr id="77" name="Shape 75"/>
          <p:cNvSpPr/>
          <p:nvPr/>
        </p:nvSpPr>
        <p:spPr>
          <a:xfrm>
            <a:off x="4626864" y="2834640"/>
            <a:ext cx="4407408" cy="329184"/>
          </a:xfrm>
          <a:prstGeom prst="rect">
            <a:avLst/>
          </a:prstGeom>
          <a:solidFill>
            <a:srgbClr val="9B5DE5"/>
          </a:solidFill>
          <a:ln w="12700">
            <a:solidFill>
              <a:srgbClr val="9B5DE5"/>
            </a:solidFill>
            <a:prstDash val="solid"/>
          </a:ln>
        </p:spPr>
        <p:txBody>
          <a:bodyPr/>
          <a:lstStyle/>
          <a:p>
            <a:endParaRPr lang="en-SG"/>
          </a:p>
        </p:txBody>
      </p:sp>
      <p:sp>
        <p:nvSpPr>
          <p:cNvPr id="78" name="Shape 76"/>
          <p:cNvSpPr/>
          <p:nvPr/>
        </p:nvSpPr>
        <p:spPr>
          <a:xfrm>
            <a:off x="4700016" y="2880360"/>
            <a:ext cx="237744" cy="237744"/>
          </a:xfrm>
          <a:prstGeom prst="ellipse">
            <a:avLst/>
          </a:prstGeom>
          <a:solidFill>
            <a:srgbClr val="FFFFFF">
              <a:alpha val="70000"/>
            </a:srgbClr>
          </a:solidFill>
          <a:ln w="12700">
            <a:solidFill>
              <a:srgbClr val="FFFFFF">
                <a:alpha val="70000"/>
              </a:srgbClr>
            </a:solidFill>
            <a:prstDash val="solid"/>
          </a:ln>
        </p:spPr>
        <p:txBody>
          <a:bodyPr/>
          <a:lstStyle/>
          <a:p>
            <a:endParaRPr lang="en-SG"/>
          </a:p>
        </p:txBody>
      </p:sp>
      <p:sp>
        <p:nvSpPr>
          <p:cNvPr id="79" name="Text 77"/>
          <p:cNvSpPr/>
          <p:nvPr/>
        </p:nvSpPr>
        <p:spPr>
          <a:xfrm>
            <a:off x="4700016" y="2898648"/>
            <a:ext cx="237744"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05</a:t>
            </a:r>
            <a:endParaRPr lang="en-US" sz="850" dirty="0"/>
          </a:p>
        </p:txBody>
      </p:sp>
      <p:sp>
        <p:nvSpPr>
          <p:cNvPr id="80" name="Text 78"/>
          <p:cNvSpPr/>
          <p:nvPr/>
        </p:nvSpPr>
        <p:spPr>
          <a:xfrm>
            <a:off x="5010912" y="2889504"/>
            <a:ext cx="3931920" cy="219456"/>
          </a:xfrm>
          <a:prstGeom prst="rect">
            <a:avLst/>
          </a:prstGeom>
          <a:noFill/>
          <a:ln/>
        </p:spPr>
        <p:txBody>
          <a:bodyPr wrap="square" lIns="0" tIns="0" rIns="0" bIns="0" rtlCol="0" anchor="ctr"/>
          <a:lstStyle/>
          <a:p>
            <a:pPr marL="0" indent="0">
              <a:buNone/>
            </a:pPr>
            <a:r>
              <a:rPr lang="en-US" sz="1100" b="1" kern="0" spc="150" dirty="0">
                <a:solidFill>
                  <a:srgbClr val="1A1A2E"/>
                </a:solidFill>
                <a:latin typeface="Trebuchet MS" pitchFamily="34" charset="0"/>
                <a:ea typeface="Trebuchet MS" pitchFamily="34" charset="-122"/>
                <a:cs typeface="Trebuchet MS" pitchFamily="34" charset="-120"/>
              </a:rPr>
              <a:t>ANALYSIS</a:t>
            </a:r>
            <a:endParaRPr lang="en-US" sz="1100" dirty="0"/>
          </a:p>
        </p:txBody>
      </p:sp>
      <p:sp>
        <p:nvSpPr>
          <p:cNvPr id="81" name="Shape 79"/>
          <p:cNvSpPr/>
          <p:nvPr/>
        </p:nvSpPr>
        <p:spPr>
          <a:xfrm>
            <a:off x="4663440" y="3218688"/>
            <a:ext cx="4334256" cy="347472"/>
          </a:xfrm>
          <a:prstGeom prst="rect">
            <a:avLst/>
          </a:prstGeom>
          <a:solidFill>
            <a:srgbClr val="EEF6FB"/>
          </a:solidFill>
          <a:ln w="12700">
            <a:solidFill>
              <a:srgbClr val="2E4068"/>
            </a:solidFill>
            <a:prstDash val="solid"/>
          </a:ln>
        </p:spPr>
        <p:txBody>
          <a:bodyPr/>
          <a:lstStyle/>
          <a:p>
            <a:endParaRPr lang="en-SG"/>
          </a:p>
        </p:txBody>
      </p:sp>
      <p:sp>
        <p:nvSpPr>
          <p:cNvPr id="82" name="Shape 80"/>
          <p:cNvSpPr/>
          <p:nvPr/>
        </p:nvSpPr>
        <p:spPr>
          <a:xfrm>
            <a:off x="4700016" y="3310128"/>
            <a:ext cx="329184" cy="164592"/>
          </a:xfrm>
          <a:prstGeom prst="roundRect">
            <a:avLst>
              <a:gd name="adj" fmla="val 22222"/>
            </a:avLst>
          </a:prstGeom>
          <a:solidFill>
            <a:srgbClr val="06D6A0"/>
          </a:solidFill>
          <a:ln w="12700">
            <a:solidFill>
              <a:srgbClr val="06D6A0"/>
            </a:solidFill>
            <a:prstDash val="solid"/>
          </a:ln>
        </p:spPr>
        <p:txBody>
          <a:bodyPr/>
          <a:lstStyle/>
          <a:p>
            <a:endParaRPr lang="en-SG"/>
          </a:p>
        </p:txBody>
      </p:sp>
      <p:sp>
        <p:nvSpPr>
          <p:cNvPr id="83" name="Text 81"/>
          <p:cNvSpPr/>
          <p:nvPr/>
        </p:nvSpPr>
        <p:spPr>
          <a:xfrm>
            <a:off x="4700016" y="3310128"/>
            <a:ext cx="329184" cy="164592"/>
          </a:xfrm>
          <a:prstGeom prst="rect">
            <a:avLst/>
          </a:prstGeom>
          <a:noFill/>
          <a:ln/>
        </p:spPr>
        <p:txBody>
          <a:bodyPr wrap="square" lIns="0" tIns="0" rIns="0" bIns="0" rtlCol="0" anchor="ctr"/>
          <a:lstStyle/>
          <a:p>
            <a:pPr marL="0" indent="0" algn="ctr">
              <a:buNone/>
            </a:pPr>
            <a:r>
              <a:rPr lang="en-US" sz="750" b="1" dirty="0">
                <a:solidFill>
                  <a:srgbClr val="1A1A2E"/>
                </a:solidFill>
                <a:latin typeface="Trebuchet MS" pitchFamily="34" charset="0"/>
                <a:ea typeface="Trebuchet MS" pitchFamily="34" charset="-122"/>
                <a:cs typeface="Trebuchet MS" pitchFamily="34" charset="-120"/>
              </a:rPr>
              <a:t>SW</a:t>
            </a:r>
            <a:endParaRPr lang="en-US" sz="750" dirty="0"/>
          </a:p>
        </p:txBody>
      </p:sp>
      <p:sp>
        <p:nvSpPr>
          <p:cNvPr id="84" name="Text 82"/>
          <p:cNvSpPr/>
          <p:nvPr/>
        </p:nvSpPr>
        <p:spPr>
          <a:xfrm>
            <a:off x="5084064" y="3236976"/>
            <a:ext cx="3840480" cy="182880"/>
          </a:xfrm>
          <a:prstGeom prst="rect">
            <a:avLst/>
          </a:prstGeom>
          <a:noFill/>
          <a:ln/>
        </p:spPr>
        <p:txBody>
          <a:bodyPr wrap="square" lIns="0" tIns="0" rIns="0" bIns="0" rtlCol="0" anchor="ctr"/>
          <a:lstStyle/>
          <a:p>
            <a:pPr marL="0" indent="0">
              <a:buNone/>
            </a:pPr>
            <a:r>
              <a:rPr lang="en-US" sz="1000" b="1" dirty="0">
                <a:solidFill>
                  <a:srgbClr val="9B5DE5"/>
                </a:solidFill>
                <a:latin typeface="Trebuchet MS" pitchFamily="34" charset="0"/>
                <a:ea typeface="Trebuchet MS" pitchFamily="34" charset="-122"/>
                <a:cs typeface="Trebuchet MS" pitchFamily="34" charset="-120"/>
              </a:rPr>
              <a:t>Autopsy / The Sleuth Kit</a:t>
            </a:r>
            <a:endParaRPr lang="en-US" sz="1000" dirty="0"/>
          </a:p>
        </p:txBody>
      </p:sp>
      <p:sp>
        <p:nvSpPr>
          <p:cNvPr id="85" name="Text 83"/>
          <p:cNvSpPr/>
          <p:nvPr/>
        </p:nvSpPr>
        <p:spPr>
          <a:xfrm>
            <a:off x="5084064" y="3401568"/>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Timeline analysis, keyword search, and artefact correlation.</a:t>
            </a:r>
            <a:endParaRPr lang="en-US" sz="850" dirty="0"/>
          </a:p>
        </p:txBody>
      </p:sp>
      <p:sp>
        <p:nvSpPr>
          <p:cNvPr id="86" name="Shape 84"/>
          <p:cNvSpPr/>
          <p:nvPr/>
        </p:nvSpPr>
        <p:spPr>
          <a:xfrm>
            <a:off x="4663440" y="3584448"/>
            <a:ext cx="4334256" cy="347472"/>
          </a:xfrm>
          <a:prstGeom prst="rect">
            <a:avLst/>
          </a:prstGeom>
          <a:solidFill>
            <a:srgbClr val="EEF6FB"/>
          </a:solidFill>
          <a:ln w="12700">
            <a:solidFill>
              <a:srgbClr val="2E4068"/>
            </a:solidFill>
            <a:prstDash val="solid"/>
          </a:ln>
        </p:spPr>
        <p:txBody>
          <a:bodyPr/>
          <a:lstStyle/>
          <a:p>
            <a:endParaRPr lang="en-SG"/>
          </a:p>
        </p:txBody>
      </p:sp>
      <p:sp>
        <p:nvSpPr>
          <p:cNvPr id="87" name="Shape 85"/>
          <p:cNvSpPr/>
          <p:nvPr/>
        </p:nvSpPr>
        <p:spPr>
          <a:xfrm>
            <a:off x="4700016" y="3675888"/>
            <a:ext cx="329184" cy="164592"/>
          </a:xfrm>
          <a:prstGeom prst="roundRect">
            <a:avLst>
              <a:gd name="adj" fmla="val 22222"/>
            </a:avLst>
          </a:prstGeom>
          <a:solidFill>
            <a:srgbClr val="06D6A0"/>
          </a:solidFill>
          <a:ln w="12700">
            <a:solidFill>
              <a:srgbClr val="06D6A0"/>
            </a:solidFill>
            <a:prstDash val="solid"/>
          </a:ln>
        </p:spPr>
        <p:txBody>
          <a:bodyPr/>
          <a:lstStyle/>
          <a:p>
            <a:endParaRPr lang="en-SG"/>
          </a:p>
        </p:txBody>
      </p:sp>
      <p:sp>
        <p:nvSpPr>
          <p:cNvPr id="88" name="Text 86"/>
          <p:cNvSpPr/>
          <p:nvPr/>
        </p:nvSpPr>
        <p:spPr>
          <a:xfrm>
            <a:off x="4700016" y="3675888"/>
            <a:ext cx="329184" cy="164592"/>
          </a:xfrm>
          <a:prstGeom prst="rect">
            <a:avLst/>
          </a:prstGeom>
          <a:noFill/>
          <a:ln/>
        </p:spPr>
        <p:txBody>
          <a:bodyPr wrap="square" lIns="0" tIns="0" rIns="0" bIns="0" rtlCol="0" anchor="ctr"/>
          <a:lstStyle/>
          <a:p>
            <a:pPr marL="0" indent="0" algn="ctr">
              <a:buNone/>
            </a:pPr>
            <a:r>
              <a:rPr lang="en-US" sz="750" b="1" dirty="0">
                <a:solidFill>
                  <a:srgbClr val="1A1A2E"/>
                </a:solidFill>
                <a:latin typeface="Trebuchet MS" pitchFamily="34" charset="0"/>
                <a:ea typeface="Trebuchet MS" pitchFamily="34" charset="-122"/>
                <a:cs typeface="Trebuchet MS" pitchFamily="34" charset="-120"/>
              </a:rPr>
              <a:t>SW</a:t>
            </a:r>
            <a:endParaRPr lang="en-US" sz="750" dirty="0"/>
          </a:p>
        </p:txBody>
      </p:sp>
      <p:sp>
        <p:nvSpPr>
          <p:cNvPr id="89" name="Text 87"/>
          <p:cNvSpPr/>
          <p:nvPr/>
        </p:nvSpPr>
        <p:spPr>
          <a:xfrm>
            <a:off x="5084064" y="3602736"/>
            <a:ext cx="3840480" cy="182880"/>
          </a:xfrm>
          <a:prstGeom prst="rect">
            <a:avLst/>
          </a:prstGeom>
          <a:noFill/>
          <a:ln/>
        </p:spPr>
        <p:txBody>
          <a:bodyPr wrap="square" lIns="0" tIns="0" rIns="0" bIns="0" rtlCol="0" anchor="ctr"/>
          <a:lstStyle/>
          <a:p>
            <a:pPr marL="0" indent="0">
              <a:buNone/>
            </a:pPr>
            <a:r>
              <a:rPr lang="en-US" sz="1000" b="1" dirty="0">
                <a:solidFill>
                  <a:srgbClr val="9B5DE5"/>
                </a:solidFill>
                <a:latin typeface="Trebuchet MS" pitchFamily="34" charset="0"/>
                <a:ea typeface="Trebuchet MS" pitchFamily="34" charset="-122"/>
                <a:cs typeface="Trebuchet MS" pitchFamily="34" charset="-120"/>
              </a:rPr>
              <a:t>FTK (Forensic Toolkit)</a:t>
            </a:r>
            <a:endParaRPr lang="en-US" sz="1000" dirty="0"/>
          </a:p>
        </p:txBody>
      </p:sp>
      <p:sp>
        <p:nvSpPr>
          <p:cNvPr id="90" name="Text 88"/>
          <p:cNvSpPr/>
          <p:nvPr/>
        </p:nvSpPr>
        <p:spPr>
          <a:xfrm>
            <a:off x="5084064" y="3767328"/>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Indexed search, hash matching, and evidence correlation across exhibits.</a:t>
            </a:r>
            <a:endParaRPr lang="en-US" sz="850" dirty="0"/>
          </a:p>
        </p:txBody>
      </p:sp>
      <p:sp>
        <p:nvSpPr>
          <p:cNvPr id="91" name="Shape 89"/>
          <p:cNvSpPr/>
          <p:nvPr/>
        </p:nvSpPr>
        <p:spPr>
          <a:xfrm>
            <a:off x="4663440" y="3950208"/>
            <a:ext cx="4334256" cy="347472"/>
          </a:xfrm>
          <a:prstGeom prst="rect">
            <a:avLst/>
          </a:prstGeom>
          <a:solidFill>
            <a:srgbClr val="EEF6FB"/>
          </a:solidFill>
          <a:ln w="12700">
            <a:solidFill>
              <a:srgbClr val="2E4068"/>
            </a:solidFill>
            <a:prstDash val="solid"/>
          </a:ln>
        </p:spPr>
        <p:txBody>
          <a:bodyPr/>
          <a:lstStyle/>
          <a:p>
            <a:endParaRPr lang="en-SG"/>
          </a:p>
        </p:txBody>
      </p:sp>
      <p:sp>
        <p:nvSpPr>
          <p:cNvPr id="92" name="Shape 90"/>
          <p:cNvSpPr/>
          <p:nvPr/>
        </p:nvSpPr>
        <p:spPr>
          <a:xfrm>
            <a:off x="4700016" y="4041648"/>
            <a:ext cx="329184" cy="164592"/>
          </a:xfrm>
          <a:prstGeom prst="roundRect">
            <a:avLst>
              <a:gd name="adj" fmla="val 22222"/>
            </a:avLst>
          </a:prstGeom>
          <a:solidFill>
            <a:srgbClr val="06D6A0"/>
          </a:solidFill>
          <a:ln w="12700">
            <a:solidFill>
              <a:srgbClr val="06D6A0"/>
            </a:solidFill>
            <a:prstDash val="solid"/>
          </a:ln>
        </p:spPr>
        <p:txBody>
          <a:bodyPr/>
          <a:lstStyle/>
          <a:p>
            <a:endParaRPr lang="en-SG"/>
          </a:p>
        </p:txBody>
      </p:sp>
      <p:sp>
        <p:nvSpPr>
          <p:cNvPr id="93" name="Text 91"/>
          <p:cNvSpPr/>
          <p:nvPr/>
        </p:nvSpPr>
        <p:spPr>
          <a:xfrm>
            <a:off x="4700016" y="4041648"/>
            <a:ext cx="329184" cy="164592"/>
          </a:xfrm>
          <a:prstGeom prst="rect">
            <a:avLst/>
          </a:prstGeom>
          <a:noFill/>
          <a:ln/>
        </p:spPr>
        <p:txBody>
          <a:bodyPr wrap="square" lIns="0" tIns="0" rIns="0" bIns="0" rtlCol="0" anchor="ctr"/>
          <a:lstStyle/>
          <a:p>
            <a:pPr marL="0" indent="0" algn="ctr">
              <a:buNone/>
            </a:pPr>
            <a:r>
              <a:rPr lang="en-US" sz="750" b="1" dirty="0">
                <a:solidFill>
                  <a:srgbClr val="1A1A2E"/>
                </a:solidFill>
                <a:latin typeface="Trebuchet MS" pitchFamily="34" charset="0"/>
                <a:ea typeface="Trebuchet MS" pitchFamily="34" charset="-122"/>
                <a:cs typeface="Trebuchet MS" pitchFamily="34" charset="-120"/>
              </a:rPr>
              <a:t>SW</a:t>
            </a:r>
            <a:endParaRPr lang="en-US" sz="750" dirty="0"/>
          </a:p>
        </p:txBody>
      </p:sp>
      <p:sp>
        <p:nvSpPr>
          <p:cNvPr id="94" name="Text 92"/>
          <p:cNvSpPr/>
          <p:nvPr/>
        </p:nvSpPr>
        <p:spPr>
          <a:xfrm>
            <a:off x="5084064" y="3968496"/>
            <a:ext cx="3840480" cy="182880"/>
          </a:xfrm>
          <a:prstGeom prst="rect">
            <a:avLst/>
          </a:prstGeom>
          <a:noFill/>
          <a:ln/>
        </p:spPr>
        <p:txBody>
          <a:bodyPr wrap="square" lIns="0" tIns="0" rIns="0" bIns="0" rtlCol="0" anchor="ctr"/>
          <a:lstStyle/>
          <a:p>
            <a:pPr marL="0" indent="0">
              <a:buNone/>
            </a:pPr>
            <a:r>
              <a:rPr lang="en-US" sz="1000" b="1" dirty="0">
                <a:solidFill>
                  <a:srgbClr val="9B5DE5"/>
                </a:solidFill>
                <a:latin typeface="Trebuchet MS" pitchFamily="34" charset="0"/>
                <a:ea typeface="Trebuchet MS" pitchFamily="34" charset="-122"/>
                <a:cs typeface="Trebuchet MS" pitchFamily="34" charset="-120"/>
              </a:rPr>
              <a:t>Wireshark</a:t>
            </a:r>
            <a:endParaRPr lang="en-US" sz="1000" dirty="0"/>
          </a:p>
        </p:txBody>
      </p:sp>
      <p:sp>
        <p:nvSpPr>
          <p:cNvPr id="95" name="Text 93"/>
          <p:cNvSpPr/>
          <p:nvPr/>
        </p:nvSpPr>
        <p:spPr>
          <a:xfrm>
            <a:off x="5084064" y="4133088"/>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Deep packet inspection — reconstructs network sessions and traffic.</a:t>
            </a:r>
            <a:endParaRPr lang="en-US" sz="850" dirty="0"/>
          </a:p>
        </p:txBody>
      </p:sp>
      <p:sp>
        <p:nvSpPr>
          <p:cNvPr id="96" name="Shape 94"/>
          <p:cNvSpPr/>
          <p:nvPr/>
        </p:nvSpPr>
        <p:spPr>
          <a:xfrm>
            <a:off x="4663440" y="4315968"/>
            <a:ext cx="4334256" cy="347472"/>
          </a:xfrm>
          <a:prstGeom prst="rect">
            <a:avLst/>
          </a:prstGeom>
          <a:solidFill>
            <a:srgbClr val="EEF6FB"/>
          </a:solidFill>
          <a:ln w="12700">
            <a:solidFill>
              <a:srgbClr val="2E4068"/>
            </a:solidFill>
            <a:prstDash val="solid"/>
          </a:ln>
        </p:spPr>
        <p:txBody>
          <a:bodyPr/>
          <a:lstStyle/>
          <a:p>
            <a:endParaRPr lang="en-SG"/>
          </a:p>
        </p:txBody>
      </p:sp>
      <p:sp>
        <p:nvSpPr>
          <p:cNvPr id="97" name="Shape 95"/>
          <p:cNvSpPr/>
          <p:nvPr/>
        </p:nvSpPr>
        <p:spPr>
          <a:xfrm>
            <a:off x="4700016" y="4407408"/>
            <a:ext cx="329184" cy="164592"/>
          </a:xfrm>
          <a:prstGeom prst="roundRect">
            <a:avLst>
              <a:gd name="adj" fmla="val 22222"/>
            </a:avLst>
          </a:prstGeom>
          <a:solidFill>
            <a:srgbClr val="06D6A0"/>
          </a:solidFill>
          <a:ln w="12700">
            <a:solidFill>
              <a:srgbClr val="06D6A0"/>
            </a:solidFill>
            <a:prstDash val="solid"/>
          </a:ln>
        </p:spPr>
        <p:txBody>
          <a:bodyPr/>
          <a:lstStyle/>
          <a:p>
            <a:endParaRPr lang="en-SG"/>
          </a:p>
        </p:txBody>
      </p:sp>
      <p:sp>
        <p:nvSpPr>
          <p:cNvPr id="98" name="Text 96"/>
          <p:cNvSpPr/>
          <p:nvPr/>
        </p:nvSpPr>
        <p:spPr>
          <a:xfrm>
            <a:off x="4700016" y="4407408"/>
            <a:ext cx="329184" cy="164592"/>
          </a:xfrm>
          <a:prstGeom prst="rect">
            <a:avLst/>
          </a:prstGeom>
          <a:noFill/>
          <a:ln/>
        </p:spPr>
        <p:txBody>
          <a:bodyPr wrap="square" lIns="0" tIns="0" rIns="0" bIns="0" rtlCol="0" anchor="ctr"/>
          <a:lstStyle/>
          <a:p>
            <a:pPr marL="0" indent="0" algn="ctr">
              <a:buNone/>
            </a:pPr>
            <a:r>
              <a:rPr lang="en-US" sz="750" b="1" dirty="0">
                <a:solidFill>
                  <a:srgbClr val="1A1A2E"/>
                </a:solidFill>
                <a:latin typeface="Trebuchet MS" pitchFamily="34" charset="0"/>
                <a:ea typeface="Trebuchet MS" pitchFamily="34" charset="-122"/>
                <a:cs typeface="Trebuchet MS" pitchFamily="34" charset="-120"/>
              </a:rPr>
              <a:t>SW</a:t>
            </a:r>
            <a:endParaRPr lang="en-US" sz="750" dirty="0"/>
          </a:p>
        </p:txBody>
      </p:sp>
      <p:sp>
        <p:nvSpPr>
          <p:cNvPr id="99" name="Text 97"/>
          <p:cNvSpPr/>
          <p:nvPr/>
        </p:nvSpPr>
        <p:spPr>
          <a:xfrm>
            <a:off x="5084064" y="4334256"/>
            <a:ext cx="3840480" cy="182880"/>
          </a:xfrm>
          <a:prstGeom prst="rect">
            <a:avLst/>
          </a:prstGeom>
          <a:noFill/>
          <a:ln/>
        </p:spPr>
        <p:txBody>
          <a:bodyPr wrap="square" lIns="0" tIns="0" rIns="0" bIns="0" rtlCol="0" anchor="ctr"/>
          <a:lstStyle/>
          <a:p>
            <a:pPr marL="0" indent="0">
              <a:buNone/>
            </a:pPr>
            <a:r>
              <a:rPr lang="en-US" sz="1000" b="1" dirty="0">
                <a:solidFill>
                  <a:srgbClr val="9B5DE5"/>
                </a:solidFill>
                <a:latin typeface="Trebuchet MS" pitchFamily="34" charset="0"/>
                <a:ea typeface="Trebuchet MS" pitchFamily="34" charset="-122"/>
                <a:cs typeface="Trebuchet MS" pitchFamily="34" charset="-120"/>
              </a:rPr>
              <a:t>Volatility</a:t>
            </a:r>
            <a:endParaRPr lang="en-US" sz="1000" dirty="0"/>
          </a:p>
        </p:txBody>
      </p:sp>
      <p:sp>
        <p:nvSpPr>
          <p:cNvPr id="100" name="Text 98"/>
          <p:cNvSpPr/>
          <p:nvPr/>
        </p:nvSpPr>
        <p:spPr>
          <a:xfrm>
            <a:off x="5084064" y="4498848"/>
            <a:ext cx="3840480" cy="155448"/>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Memory forensics — identifies running processes, injected code, keys.</a:t>
            </a:r>
            <a:endParaRPr lang="en-US" sz="850" dirty="0"/>
          </a:p>
        </p:txBody>
      </p:sp>
      <p:sp>
        <p:nvSpPr>
          <p:cNvPr id="103" name="Text 101"/>
          <p:cNvSpPr/>
          <p:nvPr/>
        </p:nvSpPr>
        <p:spPr>
          <a:xfrm>
            <a:off x="164592" y="4754880"/>
            <a:ext cx="256032" cy="91440"/>
          </a:xfrm>
          <a:prstGeom prst="rect">
            <a:avLst/>
          </a:prstGeom>
          <a:noFill/>
          <a:ln/>
        </p:spPr>
        <p:txBody>
          <a:bodyPr wrap="square" lIns="0" tIns="0" rIns="0" bIns="0" rtlCol="0" anchor="ctr"/>
          <a:lstStyle/>
          <a:p>
            <a:pPr marL="0" indent="0" algn="ctr">
              <a:buNone/>
            </a:pPr>
            <a:r>
              <a:rPr lang="en-US" sz="700" b="1" dirty="0">
                <a:solidFill>
                  <a:srgbClr val="1A1A2E"/>
                </a:solidFill>
                <a:latin typeface="Trebuchet MS" pitchFamily="34" charset="0"/>
                <a:ea typeface="Trebuchet MS" pitchFamily="34" charset="-122"/>
                <a:cs typeface="Trebuchet MS" pitchFamily="34" charset="-120"/>
              </a:rPr>
              <a:t>SW</a:t>
            </a:r>
            <a:endParaRPr lang="en-US" sz="700" dirty="0"/>
          </a:p>
        </p:txBody>
      </p:sp>
      <p:sp>
        <p:nvSpPr>
          <p:cNvPr id="104" name="Text 102"/>
          <p:cNvSpPr/>
          <p:nvPr/>
        </p:nvSpPr>
        <p:spPr>
          <a:xfrm>
            <a:off x="457200" y="4754880"/>
            <a:ext cx="658368" cy="91440"/>
          </a:xfrm>
          <a:prstGeom prst="rect">
            <a:avLst/>
          </a:prstGeom>
          <a:noFill/>
          <a:ln/>
        </p:spPr>
        <p:txBody>
          <a:bodyPr wrap="square" rtlCol="0" anchor="ctr"/>
          <a:lstStyle/>
          <a:p>
            <a:pPr marL="0" indent="0">
              <a:buNone/>
            </a:pPr>
            <a:r>
              <a:rPr lang="en-US" sz="750" dirty="0">
                <a:solidFill>
                  <a:srgbClr val="475569"/>
                </a:solidFill>
                <a:latin typeface="Calibri" pitchFamily="34" charset="0"/>
                <a:ea typeface="Calibri" pitchFamily="34" charset="-122"/>
                <a:cs typeface="Calibri" pitchFamily="34" charset="-120"/>
              </a:rPr>
              <a:t>= Software</a:t>
            </a:r>
            <a:endParaRPr lang="en-US" sz="750" dirty="0"/>
          </a:p>
        </p:txBody>
      </p:sp>
      <p:sp>
        <p:nvSpPr>
          <p:cNvPr id="105" name="Shape 103"/>
          <p:cNvSpPr/>
          <p:nvPr/>
        </p:nvSpPr>
        <p:spPr>
          <a:xfrm>
            <a:off x="1170432" y="4750308"/>
            <a:ext cx="256032" cy="118872"/>
          </a:xfrm>
          <a:prstGeom prst="roundRect">
            <a:avLst>
              <a:gd name="adj" fmla="val 23077"/>
            </a:avLst>
          </a:prstGeom>
          <a:solidFill>
            <a:srgbClr val="FFB703"/>
          </a:solidFill>
          <a:ln w="12700">
            <a:solidFill>
              <a:srgbClr val="FFB703"/>
            </a:solidFill>
            <a:prstDash val="solid"/>
          </a:ln>
        </p:spPr>
        <p:txBody>
          <a:bodyPr/>
          <a:lstStyle/>
          <a:p>
            <a:endParaRPr lang="en-SG"/>
          </a:p>
        </p:txBody>
      </p:sp>
      <p:sp>
        <p:nvSpPr>
          <p:cNvPr id="106" name="Text 104"/>
          <p:cNvSpPr/>
          <p:nvPr/>
        </p:nvSpPr>
        <p:spPr>
          <a:xfrm>
            <a:off x="1170432" y="4754880"/>
            <a:ext cx="256032" cy="91440"/>
          </a:xfrm>
          <a:prstGeom prst="rect">
            <a:avLst/>
          </a:prstGeom>
          <a:noFill/>
          <a:ln/>
        </p:spPr>
        <p:txBody>
          <a:bodyPr wrap="square" lIns="0" tIns="0" rIns="0" bIns="0" rtlCol="0" anchor="ctr"/>
          <a:lstStyle/>
          <a:p>
            <a:pPr marL="0" indent="0" algn="ctr">
              <a:buNone/>
            </a:pPr>
            <a:r>
              <a:rPr lang="en-US" sz="700" b="1" dirty="0">
                <a:solidFill>
                  <a:srgbClr val="000000"/>
                </a:solidFill>
                <a:latin typeface="Trebuchet MS" pitchFamily="34" charset="0"/>
                <a:ea typeface="Trebuchet MS" pitchFamily="34" charset="-122"/>
                <a:cs typeface="Trebuchet MS" pitchFamily="34" charset="-120"/>
              </a:rPr>
              <a:t>HW</a:t>
            </a:r>
            <a:endParaRPr lang="en-US" sz="700" dirty="0"/>
          </a:p>
        </p:txBody>
      </p:sp>
      <p:sp>
        <p:nvSpPr>
          <p:cNvPr id="107" name="Text 105"/>
          <p:cNvSpPr/>
          <p:nvPr/>
        </p:nvSpPr>
        <p:spPr>
          <a:xfrm>
            <a:off x="1463040" y="4754880"/>
            <a:ext cx="804672" cy="91440"/>
          </a:xfrm>
          <a:prstGeom prst="rect">
            <a:avLst/>
          </a:prstGeom>
          <a:noFill/>
          <a:ln/>
        </p:spPr>
        <p:txBody>
          <a:bodyPr wrap="square" rtlCol="0" anchor="ctr"/>
          <a:lstStyle/>
          <a:p>
            <a:pPr marL="0" indent="0">
              <a:buNone/>
            </a:pPr>
            <a:r>
              <a:rPr lang="en-US" sz="750" dirty="0">
                <a:solidFill>
                  <a:srgbClr val="475569"/>
                </a:solidFill>
                <a:latin typeface="Calibri" pitchFamily="34" charset="0"/>
                <a:ea typeface="Calibri" pitchFamily="34" charset="-122"/>
                <a:cs typeface="Calibri" pitchFamily="34" charset="-120"/>
              </a:rPr>
              <a:t>= Hardware  ·</a:t>
            </a:r>
            <a:endParaRPr lang="en-US" sz="750" dirty="0"/>
          </a:p>
        </p:txBody>
      </p:sp>
      <p:sp>
        <p:nvSpPr>
          <p:cNvPr id="108" name="Text 106"/>
          <p:cNvSpPr/>
          <p:nvPr/>
        </p:nvSpPr>
        <p:spPr>
          <a:xfrm>
            <a:off x="2304288" y="4745736"/>
            <a:ext cx="6638544" cy="109728"/>
          </a:xfrm>
          <a:prstGeom prst="rect">
            <a:avLst/>
          </a:prstGeom>
          <a:noFill/>
          <a:ln/>
        </p:spPr>
        <p:txBody>
          <a:bodyPr wrap="square" rtlCol="0" anchor="ctr"/>
          <a:lstStyle/>
          <a:p>
            <a:pPr marL="0" indent="0">
              <a:buNone/>
            </a:pPr>
            <a:r>
              <a:rPr lang="en-US" sz="750" i="1" dirty="0">
                <a:solidFill>
                  <a:srgbClr val="475569"/>
                </a:solidFill>
                <a:latin typeface="Calibri" pitchFamily="34" charset="0"/>
                <a:ea typeface="Calibri" pitchFamily="34" charset="-122"/>
                <a:cs typeface="Calibri" pitchFamily="34" charset="-120"/>
              </a:rPr>
              <a:t>Stage 01 Identification: general investigative skills, no specialist tools.  Stage 06 Reporting: CaseGuard, i2 Analyst's Notebook, or similar case management software.</a:t>
            </a:r>
            <a:endParaRPr lang="en-US" sz="7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FFFFFF"/>
          </a:solidFill>
          <a:ln w="12700">
            <a:solidFill>
              <a:srgbClr val="FFFFFF"/>
            </a:solidFill>
            <a:prstDash val="solid"/>
          </a:ln>
        </p:spPr>
        <p:txBody>
          <a:bodyPr/>
          <a:lstStyle/>
          <a:p>
            <a:endParaRPr lang="en-SG"/>
          </a:p>
        </p:txBody>
      </p:sp>
      <p:sp>
        <p:nvSpPr>
          <p:cNvPr id="3" name="Text 1"/>
          <p:cNvSpPr/>
          <p:nvPr/>
        </p:nvSpPr>
        <p:spPr>
          <a:xfrm>
            <a:off x="274320" y="155448"/>
            <a:ext cx="8595360" cy="402336"/>
          </a:xfrm>
          <a:prstGeom prst="rect">
            <a:avLst/>
          </a:prstGeom>
          <a:noFill/>
          <a:ln/>
        </p:spPr>
        <p:txBody>
          <a:bodyPr wrap="square" rtlCol="0" anchor="ctr"/>
          <a:lstStyle/>
          <a:p>
            <a:pPr marL="0" indent="0">
              <a:buNone/>
            </a:pPr>
            <a:r>
              <a:rPr lang="en-US" sz="2000" b="1" dirty="0">
                <a:solidFill>
                  <a:srgbClr val="1A1A2E"/>
                </a:solidFill>
                <a:latin typeface="Trebuchet MS" pitchFamily="34" charset="0"/>
                <a:ea typeface="Trebuchet MS" pitchFamily="34" charset="-122"/>
                <a:cs typeface="Trebuchet MS" pitchFamily="34" charset="-120"/>
              </a:rPr>
              <a:t>Module Summary — Full Learning Journey</a:t>
            </a:r>
            <a:endParaRPr lang="en-US" sz="2000" dirty="0"/>
          </a:p>
        </p:txBody>
      </p:sp>
      <p:sp>
        <p:nvSpPr>
          <p:cNvPr id="4" name="Shape 2"/>
          <p:cNvSpPr/>
          <p:nvPr/>
        </p:nvSpPr>
        <p:spPr>
          <a:xfrm>
            <a:off x="91440" y="804672"/>
            <a:ext cx="2871216" cy="438912"/>
          </a:xfrm>
          <a:prstGeom prst="rect">
            <a:avLst/>
          </a:prstGeom>
          <a:noFill/>
          <a:ln w="12700">
            <a:solidFill>
              <a:srgbClr val="00B4D8"/>
            </a:solidFill>
            <a:prstDash val="solid"/>
          </a:ln>
        </p:spPr>
        <p:txBody>
          <a:bodyPr/>
          <a:lstStyle/>
          <a:p>
            <a:endParaRPr lang="en-SG"/>
          </a:p>
        </p:txBody>
      </p:sp>
      <p:sp>
        <p:nvSpPr>
          <p:cNvPr id="5" name="Shape 3"/>
          <p:cNvSpPr/>
          <p:nvPr/>
        </p:nvSpPr>
        <p:spPr>
          <a:xfrm>
            <a:off x="146304" y="868680"/>
            <a:ext cx="310896" cy="310896"/>
          </a:xfrm>
          <a:prstGeom prst="ellipse">
            <a:avLst/>
          </a:prstGeom>
          <a:solidFill>
            <a:srgbClr val="00B4D8"/>
          </a:solidFill>
          <a:ln w="12700">
            <a:solidFill>
              <a:srgbClr val="00B4D8"/>
            </a:solidFill>
            <a:prstDash val="solid"/>
          </a:ln>
        </p:spPr>
        <p:txBody>
          <a:bodyPr/>
          <a:lstStyle/>
          <a:p>
            <a:endParaRPr lang="en-SG"/>
          </a:p>
        </p:txBody>
      </p:sp>
      <p:sp>
        <p:nvSpPr>
          <p:cNvPr id="6" name="Text 4"/>
          <p:cNvSpPr/>
          <p:nvPr/>
        </p:nvSpPr>
        <p:spPr>
          <a:xfrm>
            <a:off x="146304" y="923544"/>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01</a:t>
            </a:r>
            <a:endParaRPr lang="en-US" sz="850" dirty="0"/>
          </a:p>
        </p:txBody>
      </p:sp>
      <p:sp>
        <p:nvSpPr>
          <p:cNvPr id="7" name="Text 5"/>
          <p:cNvSpPr/>
          <p:nvPr/>
        </p:nvSpPr>
        <p:spPr>
          <a:xfrm>
            <a:off x="548640" y="914400"/>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Definition of Digital Forensics</a:t>
            </a:r>
            <a:endParaRPr lang="en-US" sz="1100" dirty="0"/>
          </a:p>
        </p:txBody>
      </p:sp>
      <p:sp>
        <p:nvSpPr>
          <p:cNvPr id="8" name="Shape 6"/>
          <p:cNvSpPr/>
          <p:nvPr/>
        </p:nvSpPr>
        <p:spPr>
          <a:xfrm>
            <a:off x="3081528" y="804672"/>
            <a:ext cx="2871216" cy="438912"/>
          </a:xfrm>
          <a:prstGeom prst="rect">
            <a:avLst/>
          </a:prstGeom>
          <a:noFill/>
          <a:ln w="12700">
            <a:solidFill>
              <a:srgbClr val="00B4D8"/>
            </a:solidFill>
            <a:prstDash val="solid"/>
          </a:ln>
        </p:spPr>
        <p:txBody>
          <a:bodyPr/>
          <a:lstStyle/>
          <a:p>
            <a:endParaRPr lang="en-SG"/>
          </a:p>
        </p:txBody>
      </p:sp>
      <p:sp>
        <p:nvSpPr>
          <p:cNvPr id="9" name="Shape 7"/>
          <p:cNvSpPr/>
          <p:nvPr/>
        </p:nvSpPr>
        <p:spPr>
          <a:xfrm>
            <a:off x="3136392" y="868680"/>
            <a:ext cx="310896" cy="310896"/>
          </a:xfrm>
          <a:prstGeom prst="ellipse">
            <a:avLst/>
          </a:prstGeom>
          <a:solidFill>
            <a:srgbClr val="00B4D8"/>
          </a:solidFill>
          <a:ln w="12700">
            <a:solidFill>
              <a:srgbClr val="00B4D8"/>
            </a:solidFill>
            <a:prstDash val="solid"/>
          </a:ln>
        </p:spPr>
        <p:txBody>
          <a:bodyPr/>
          <a:lstStyle/>
          <a:p>
            <a:endParaRPr lang="en-SG"/>
          </a:p>
        </p:txBody>
      </p:sp>
      <p:sp>
        <p:nvSpPr>
          <p:cNvPr id="10" name="Text 8"/>
          <p:cNvSpPr/>
          <p:nvPr/>
        </p:nvSpPr>
        <p:spPr>
          <a:xfrm>
            <a:off x="3136392" y="923544"/>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02</a:t>
            </a:r>
            <a:endParaRPr lang="en-US" sz="850" dirty="0"/>
          </a:p>
        </p:txBody>
      </p:sp>
      <p:sp>
        <p:nvSpPr>
          <p:cNvPr id="11" name="Text 9"/>
          <p:cNvSpPr/>
          <p:nvPr/>
        </p:nvSpPr>
        <p:spPr>
          <a:xfrm>
            <a:off x="3538728" y="914400"/>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Locard's Exchange Principle</a:t>
            </a:r>
            <a:endParaRPr lang="en-US" sz="1100" dirty="0"/>
          </a:p>
        </p:txBody>
      </p:sp>
      <p:sp>
        <p:nvSpPr>
          <p:cNvPr id="12" name="Shape 10"/>
          <p:cNvSpPr/>
          <p:nvPr/>
        </p:nvSpPr>
        <p:spPr>
          <a:xfrm>
            <a:off x="6071616" y="804672"/>
            <a:ext cx="2871216" cy="438912"/>
          </a:xfrm>
          <a:prstGeom prst="rect">
            <a:avLst/>
          </a:prstGeom>
          <a:noFill/>
          <a:ln w="12700">
            <a:solidFill>
              <a:srgbClr val="00B4D8"/>
            </a:solidFill>
            <a:prstDash val="solid"/>
          </a:ln>
        </p:spPr>
        <p:txBody>
          <a:bodyPr/>
          <a:lstStyle/>
          <a:p>
            <a:endParaRPr lang="en-SG"/>
          </a:p>
        </p:txBody>
      </p:sp>
      <p:sp>
        <p:nvSpPr>
          <p:cNvPr id="13" name="Shape 11"/>
          <p:cNvSpPr/>
          <p:nvPr/>
        </p:nvSpPr>
        <p:spPr>
          <a:xfrm>
            <a:off x="6126480" y="868680"/>
            <a:ext cx="310896" cy="310896"/>
          </a:xfrm>
          <a:prstGeom prst="ellipse">
            <a:avLst/>
          </a:prstGeom>
          <a:solidFill>
            <a:srgbClr val="00B4D8"/>
          </a:solidFill>
          <a:ln w="12700">
            <a:solidFill>
              <a:srgbClr val="00B4D8"/>
            </a:solidFill>
            <a:prstDash val="solid"/>
          </a:ln>
        </p:spPr>
        <p:txBody>
          <a:bodyPr/>
          <a:lstStyle/>
          <a:p>
            <a:endParaRPr lang="en-SG"/>
          </a:p>
        </p:txBody>
      </p:sp>
      <p:sp>
        <p:nvSpPr>
          <p:cNvPr id="14" name="Text 12"/>
          <p:cNvSpPr/>
          <p:nvPr/>
        </p:nvSpPr>
        <p:spPr>
          <a:xfrm>
            <a:off x="6126480" y="923544"/>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03</a:t>
            </a:r>
            <a:endParaRPr lang="en-US" sz="850" dirty="0"/>
          </a:p>
        </p:txBody>
      </p:sp>
      <p:sp>
        <p:nvSpPr>
          <p:cNvPr id="15" name="Text 13"/>
          <p:cNvSpPr/>
          <p:nvPr/>
        </p:nvSpPr>
        <p:spPr>
          <a:xfrm>
            <a:off x="6528816" y="914400"/>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Sub-categories of Digital Forensics</a:t>
            </a:r>
            <a:endParaRPr lang="en-US" sz="1100" dirty="0"/>
          </a:p>
        </p:txBody>
      </p:sp>
      <p:sp>
        <p:nvSpPr>
          <p:cNvPr id="16" name="Shape 14"/>
          <p:cNvSpPr/>
          <p:nvPr/>
        </p:nvSpPr>
        <p:spPr>
          <a:xfrm>
            <a:off x="91440" y="1316736"/>
            <a:ext cx="2871216" cy="438912"/>
          </a:xfrm>
          <a:prstGeom prst="rect">
            <a:avLst/>
          </a:prstGeom>
          <a:noFill/>
          <a:ln w="12700">
            <a:solidFill>
              <a:srgbClr val="00B4D8"/>
            </a:solidFill>
            <a:prstDash val="solid"/>
          </a:ln>
        </p:spPr>
        <p:txBody>
          <a:bodyPr/>
          <a:lstStyle/>
          <a:p>
            <a:endParaRPr lang="en-SG"/>
          </a:p>
        </p:txBody>
      </p:sp>
      <p:sp>
        <p:nvSpPr>
          <p:cNvPr id="17" name="Shape 15"/>
          <p:cNvSpPr/>
          <p:nvPr/>
        </p:nvSpPr>
        <p:spPr>
          <a:xfrm>
            <a:off x="146304" y="1380744"/>
            <a:ext cx="310896" cy="310896"/>
          </a:xfrm>
          <a:prstGeom prst="ellipse">
            <a:avLst/>
          </a:prstGeom>
          <a:solidFill>
            <a:srgbClr val="00B4D8"/>
          </a:solidFill>
          <a:ln w="12700">
            <a:solidFill>
              <a:srgbClr val="00B4D8"/>
            </a:solidFill>
            <a:prstDash val="solid"/>
          </a:ln>
        </p:spPr>
        <p:txBody>
          <a:bodyPr/>
          <a:lstStyle/>
          <a:p>
            <a:endParaRPr lang="en-SG"/>
          </a:p>
        </p:txBody>
      </p:sp>
      <p:sp>
        <p:nvSpPr>
          <p:cNvPr id="18" name="Text 16"/>
          <p:cNvSpPr/>
          <p:nvPr/>
        </p:nvSpPr>
        <p:spPr>
          <a:xfrm>
            <a:off x="146304" y="1435608"/>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04</a:t>
            </a:r>
            <a:endParaRPr lang="en-US" sz="850" dirty="0"/>
          </a:p>
        </p:txBody>
      </p:sp>
      <p:sp>
        <p:nvSpPr>
          <p:cNvPr id="19" name="Text 17"/>
          <p:cNvSpPr/>
          <p:nvPr/>
        </p:nvSpPr>
        <p:spPr>
          <a:xfrm>
            <a:off x="548640" y="1426464"/>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Types of Storage Media</a:t>
            </a:r>
            <a:endParaRPr lang="en-US" sz="1100" dirty="0"/>
          </a:p>
        </p:txBody>
      </p:sp>
      <p:sp>
        <p:nvSpPr>
          <p:cNvPr id="20" name="Shape 18"/>
          <p:cNvSpPr/>
          <p:nvPr/>
        </p:nvSpPr>
        <p:spPr>
          <a:xfrm>
            <a:off x="3081528" y="1316736"/>
            <a:ext cx="2871216" cy="438912"/>
          </a:xfrm>
          <a:prstGeom prst="rect">
            <a:avLst/>
          </a:prstGeom>
          <a:noFill/>
          <a:ln w="12700">
            <a:solidFill>
              <a:srgbClr val="06D6A0"/>
            </a:solidFill>
            <a:prstDash val="solid"/>
          </a:ln>
        </p:spPr>
        <p:txBody>
          <a:bodyPr/>
          <a:lstStyle/>
          <a:p>
            <a:endParaRPr lang="en-SG"/>
          </a:p>
        </p:txBody>
      </p:sp>
      <p:sp>
        <p:nvSpPr>
          <p:cNvPr id="21" name="Shape 19"/>
          <p:cNvSpPr/>
          <p:nvPr/>
        </p:nvSpPr>
        <p:spPr>
          <a:xfrm>
            <a:off x="3136392" y="1380744"/>
            <a:ext cx="310896" cy="310896"/>
          </a:xfrm>
          <a:prstGeom prst="ellipse">
            <a:avLst/>
          </a:prstGeom>
          <a:solidFill>
            <a:srgbClr val="06D6A0"/>
          </a:solidFill>
          <a:ln w="12700">
            <a:solidFill>
              <a:srgbClr val="06D6A0"/>
            </a:solidFill>
            <a:prstDash val="solid"/>
          </a:ln>
        </p:spPr>
        <p:txBody>
          <a:bodyPr/>
          <a:lstStyle/>
          <a:p>
            <a:endParaRPr lang="en-SG"/>
          </a:p>
        </p:txBody>
      </p:sp>
      <p:sp>
        <p:nvSpPr>
          <p:cNvPr id="22" name="Text 20"/>
          <p:cNvSpPr/>
          <p:nvPr/>
        </p:nvSpPr>
        <p:spPr>
          <a:xfrm>
            <a:off x="3136392" y="1435608"/>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05</a:t>
            </a:r>
            <a:endParaRPr lang="en-US" sz="850" dirty="0"/>
          </a:p>
        </p:txBody>
      </p:sp>
      <p:sp>
        <p:nvSpPr>
          <p:cNvPr id="23" name="Text 21"/>
          <p:cNvSpPr/>
          <p:nvPr/>
        </p:nvSpPr>
        <p:spPr>
          <a:xfrm>
            <a:off x="3538728" y="1426464"/>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Digital Evidence &amp; Investigations</a:t>
            </a:r>
            <a:endParaRPr lang="en-US" sz="1100" dirty="0"/>
          </a:p>
        </p:txBody>
      </p:sp>
      <p:sp>
        <p:nvSpPr>
          <p:cNvPr id="24" name="Shape 22"/>
          <p:cNvSpPr/>
          <p:nvPr/>
        </p:nvSpPr>
        <p:spPr>
          <a:xfrm>
            <a:off x="6071616" y="1316736"/>
            <a:ext cx="2871216" cy="438912"/>
          </a:xfrm>
          <a:prstGeom prst="rect">
            <a:avLst/>
          </a:prstGeom>
          <a:noFill/>
          <a:ln w="12700">
            <a:solidFill>
              <a:srgbClr val="06D6A0"/>
            </a:solidFill>
            <a:prstDash val="solid"/>
          </a:ln>
        </p:spPr>
        <p:txBody>
          <a:bodyPr/>
          <a:lstStyle/>
          <a:p>
            <a:endParaRPr lang="en-SG"/>
          </a:p>
        </p:txBody>
      </p:sp>
      <p:sp>
        <p:nvSpPr>
          <p:cNvPr id="25" name="Shape 23"/>
          <p:cNvSpPr/>
          <p:nvPr/>
        </p:nvSpPr>
        <p:spPr>
          <a:xfrm>
            <a:off x="6126480" y="1380744"/>
            <a:ext cx="310896" cy="310896"/>
          </a:xfrm>
          <a:prstGeom prst="ellipse">
            <a:avLst/>
          </a:prstGeom>
          <a:solidFill>
            <a:srgbClr val="06D6A0"/>
          </a:solidFill>
          <a:ln w="12700">
            <a:solidFill>
              <a:srgbClr val="06D6A0"/>
            </a:solidFill>
            <a:prstDash val="solid"/>
          </a:ln>
        </p:spPr>
        <p:txBody>
          <a:bodyPr/>
          <a:lstStyle/>
          <a:p>
            <a:endParaRPr lang="en-SG"/>
          </a:p>
        </p:txBody>
      </p:sp>
      <p:sp>
        <p:nvSpPr>
          <p:cNvPr id="26" name="Text 24"/>
          <p:cNvSpPr/>
          <p:nvPr/>
        </p:nvSpPr>
        <p:spPr>
          <a:xfrm>
            <a:off x="6126480" y="1435608"/>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06</a:t>
            </a:r>
            <a:endParaRPr lang="en-US" sz="850" dirty="0"/>
          </a:p>
        </p:txBody>
      </p:sp>
      <p:sp>
        <p:nvSpPr>
          <p:cNvPr id="27" name="Text 25"/>
          <p:cNvSpPr/>
          <p:nvPr/>
        </p:nvSpPr>
        <p:spPr>
          <a:xfrm>
            <a:off x="6528816" y="1426464"/>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Digital Forensics in Criminal Cases</a:t>
            </a:r>
            <a:endParaRPr lang="en-US" sz="1100" dirty="0"/>
          </a:p>
        </p:txBody>
      </p:sp>
      <p:sp>
        <p:nvSpPr>
          <p:cNvPr id="28" name="Shape 26"/>
          <p:cNvSpPr/>
          <p:nvPr/>
        </p:nvSpPr>
        <p:spPr>
          <a:xfrm>
            <a:off x="91440" y="1828800"/>
            <a:ext cx="2871216" cy="438912"/>
          </a:xfrm>
          <a:prstGeom prst="rect">
            <a:avLst/>
          </a:prstGeom>
          <a:noFill/>
          <a:ln w="12700">
            <a:solidFill>
              <a:srgbClr val="06D6A0"/>
            </a:solidFill>
            <a:prstDash val="solid"/>
          </a:ln>
        </p:spPr>
        <p:txBody>
          <a:bodyPr/>
          <a:lstStyle/>
          <a:p>
            <a:endParaRPr lang="en-SG"/>
          </a:p>
        </p:txBody>
      </p:sp>
      <p:sp>
        <p:nvSpPr>
          <p:cNvPr id="29" name="Shape 27"/>
          <p:cNvSpPr/>
          <p:nvPr/>
        </p:nvSpPr>
        <p:spPr>
          <a:xfrm>
            <a:off x="146304" y="1892808"/>
            <a:ext cx="310896" cy="310896"/>
          </a:xfrm>
          <a:prstGeom prst="ellipse">
            <a:avLst/>
          </a:prstGeom>
          <a:solidFill>
            <a:srgbClr val="06D6A0"/>
          </a:solidFill>
          <a:ln w="12700">
            <a:solidFill>
              <a:srgbClr val="06D6A0"/>
            </a:solidFill>
            <a:prstDash val="solid"/>
          </a:ln>
        </p:spPr>
        <p:txBody>
          <a:bodyPr/>
          <a:lstStyle/>
          <a:p>
            <a:endParaRPr lang="en-SG"/>
          </a:p>
        </p:txBody>
      </p:sp>
      <p:sp>
        <p:nvSpPr>
          <p:cNvPr id="30" name="Text 28"/>
          <p:cNvSpPr/>
          <p:nvPr/>
        </p:nvSpPr>
        <p:spPr>
          <a:xfrm>
            <a:off x="146304" y="1947672"/>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07</a:t>
            </a:r>
            <a:endParaRPr lang="en-US" sz="850" dirty="0"/>
          </a:p>
        </p:txBody>
      </p:sp>
      <p:sp>
        <p:nvSpPr>
          <p:cNvPr id="31" name="Text 29"/>
          <p:cNvSpPr/>
          <p:nvPr/>
        </p:nvSpPr>
        <p:spPr>
          <a:xfrm>
            <a:off x="548640" y="1938528"/>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Digital Forensics in Corporate Crime</a:t>
            </a:r>
            <a:endParaRPr lang="en-US" sz="1100" dirty="0"/>
          </a:p>
        </p:txBody>
      </p:sp>
      <p:sp>
        <p:nvSpPr>
          <p:cNvPr id="32" name="Shape 30"/>
          <p:cNvSpPr/>
          <p:nvPr/>
        </p:nvSpPr>
        <p:spPr>
          <a:xfrm>
            <a:off x="3081528" y="1828800"/>
            <a:ext cx="2871216" cy="438912"/>
          </a:xfrm>
          <a:prstGeom prst="rect">
            <a:avLst/>
          </a:prstGeom>
          <a:noFill/>
          <a:ln w="12700">
            <a:solidFill>
              <a:srgbClr val="06D6A0"/>
            </a:solidFill>
            <a:prstDash val="solid"/>
          </a:ln>
        </p:spPr>
        <p:txBody>
          <a:bodyPr/>
          <a:lstStyle/>
          <a:p>
            <a:endParaRPr lang="en-SG"/>
          </a:p>
        </p:txBody>
      </p:sp>
      <p:sp>
        <p:nvSpPr>
          <p:cNvPr id="33" name="Shape 31"/>
          <p:cNvSpPr/>
          <p:nvPr/>
        </p:nvSpPr>
        <p:spPr>
          <a:xfrm>
            <a:off x="3136392" y="1892808"/>
            <a:ext cx="310896" cy="310896"/>
          </a:xfrm>
          <a:prstGeom prst="ellipse">
            <a:avLst/>
          </a:prstGeom>
          <a:solidFill>
            <a:srgbClr val="06D6A0"/>
          </a:solidFill>
          <a:ln w="12700">
            <a:solidFill>
              <a:srgbClr val="06D6A0"/>
            </a:solidFill>
            <a:prstDash val="solid"/>
          </a:ln>
        </p:spPr>
        <p:txBody>
          <a:bodyPr/>
          <a:lstStyle/>
          <a:p>
            <a:endParaRPr lang="en-SG"/>
          </a:p>
        </p:txBody>
      </p:sp>
      <p:sp>
        <p:nvSpPr>
          <p:cNvPr id="34" name="Text 32"/>
          <p:cNvSpPr/>
          <p:nvPr/>
        </p:nvSpPr>
        <p:spPr>
          <a:xfrm>
            <a:off x="3136392" y="1947672"/>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08</a:t>
            </a:r>
            <a:endParaRPr lang="en-US" sz="850" dirty="0"/>
          </a:p>
        </p:txBody>
      </p:sp>
      <p:sp>
        <p:nvSpPr>
          <p:cNvPr id="35" name="Text 33"/>
          <p:cNvSpPr/>
          <p:nvPr/>
        </p:nvSpPr>
        <p:spPr>
          <a:xfrm>
            <a:off x="3538728" y="1938528"/>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Common Cyber Crimes &amp; Evidence</a:t>
            </a:r>
            <a:endParaRPr lang="en-US" sz="1100" dirty="0"/>
          </a:p>
        </p:txBody>
      </p:sp>
      <p:sp>
        <p:nvSpPr>
          <p:cNvPr id="36" name="Shape 34"/>
          <p:cNvSpPr/>
          <p:nvPr/>
        </p:nvSpPr>
        <p:spPr>
          <a:xfrm>
            <a:off x="6071616" y="1828800"/>
            <a:ext cx="2871216" cy="438912"/>
          </a:xfrm>
          <a:prstGeom prst="rect">
            <a:avLst/>
          </a:prstGeom>
          <a:noFill/>
          <a:ln w="12700">
            <a:solidFill>
              <a:srgbClr val="FFB703"/>
            </a:solidFill>
            <a:prstDash val="solid"/>
          </a:ln>
        </p:spPr>
        <p:txBody>
          <a:bodyPr/>
          <a:lstStyle/>
          <a:p>
            <a:endParaRPr lang="en-SG"/>
          </a:p>
        </p:txBody>
      </p:sp>
      <p:sp>
        <p:nvSpPr>
          <p:cNvPr id="37" name="Shape 35"/>
          <p:cNvSpPr/>
          <p:nvPr/>
        </p:nvSpPr>
        <p:spPr>
          <a:xfrm>
            <a:off x="6126480" y="1892808"/>
            <a:ext cx="310896" cy="310896"/>
          </a:xfrm>
          <a:prstGeom prst="ellipse">
            <a:avLst/>
          </a:prstGeom>
          <a:solidFill>
            <a:srgbClr val="FFB703"/>
          </a:solidFill>
          <a:ln w="12700">
            <a:solidFill>
              <a:srgbClr val="FFB703"/>
            </a:solidFill>
            <a:prstDash val="solid"/>
          </a:ln>
        </p:spPr>
        <p:txBody>
          <a:bodyPr/>
          <a:lstStyle/>
          <a:p>
            <a:endParaRPr lang="en-SG"/>
          </a:p>
        </p:txBody>
      </p:sp>
      <p:sp>
        <p:nvSpPr>
          <p:cNvPr id="38" name="Text 36"/>
          <p:cNvSpPr/>
          <p:nvPr/>
        </p:nvSpPr>
        <p:spPr>
          <a:xfrm>
            <a:off x="6126480" y="1947672"/>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09</a:t>
            </a:r>
            <a:endParaRPr lang="en-US" sz="850" dirty="0"/>
          </a:p>
        </p:txBody>
      </p:sp>
      <p:sp>
        <p:nvSpPr>
          <p:cNvPr id="39" name="Text 37"/>
          <p:cNvSpPr/>
          <p:nvPr/>
        </p:nvSpPr>
        <p:spPr>
          <a:xfrm>
            <a:off x="6528816" y="1938528"/>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The Forensic Investigation Process</a:t>
            </a:r>
            <a:endParaRPr lang="en-US" sz="1100" dirty="0"/>
          </a:p>
        </p:txBody>
      </p:sp>
      <p:sp>
        <p:nvSpPr>
          <p:cNvPr id="40" name="Shape 38"/>
          <p:cNvSpPr/>
          <p:nvPr/>
        </p:nvSpPr>
        <p:spPr>
          <a:xfrm>
            <a:off x="91440" y="2340864"/>
            <a:ext cx="2871216" cy="438912"/>
          </a:xfrm>
          <a:prstGeom prst="rect">
            <a:avLst/>
          </a:prstGeom>
          <a:noFill/>
          <a:ln w="12700">
            <a:solidFill>
              <a:srgbClr val="FFB703"/>
            </a:solidFill>
            <a:prstDash val="solid"/>
          </a:ln>
        </p:spPr>
        <p:txBody>
          <a:bodyPr/>
          <a:lstStyle/>
          <a:p>
            <a:endParaRPr lang="en-SG"/>
          </a:p>
        </p:txBody>
      </p:sp>
      <p:sp>
        <p:nvSpPr>
          <p:cNvPr id="41" name="Shape 39"/>
          <p:cNvSpPr/>
          <p:nvPr/>
        </p:nvSpPr>
        <p:spPr>
          <a:xfrm>
            <a:off x="146304" y="2404872"/>
            <a:ext cx="310896" cy="310896"/>
          </a:xfrm>
          <a:prstGeom prst="ellipse">
            <a:avLst/>
          </a:prstGeom>
          <a:solidFill>
            <a:srgbClr val="FFB703"/>
          </a:solidFill>
          <a:ln w="12700">
            <a:solidFill>
              <a:srgbClr val="FFB703"/>
            </a:solidFill>
            <a:prstDash val="solid"/>
          </a:ln>
        </p:spPr>
        <p:txBody>
          <a:bodyPr/>
          <a:lstStyle/>
          <a:p>
            <a:endParaRPr lang="en-SG"/>
          </a:p>
        </p:txBody>
      </p:sp>
      <p:sp>
        <p:nvSpPr>
          <p:cNvPr id="42" name="Text 40"/>
          <p:cNvSpPr/>
          <p:nvPr/>
        </p:nvSpPr>
        <p:spPr>
          <a:xfrm>
            <a:off x="146304" y="2459736"/>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10</a:t>
            </a:r>
            <a:endParaRPr lang="en-US" sz="850" dirty="0"/>
          </a:p>
        </p:txBody>
      </p:sp>
      <p:sp>
        <p:nvSpPr>
          <p:cNvPr id="43" name="Text 41"/>
          <p:cNvSpPr/>
          <p:nvPr/>
        </p:nvSpPr>
        <p:spPr>
          <a:xfrm>
            <a:off x="548640" y="2450592"/>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Identification — Warrant &amp; Scene Integrity</a:t>
            </a:r>
            <a:endParaRPr lang="en-US" sz="1100" dirty="0"/>
          </a:p>
        </p:txBody>
      </p:sp>
      <p:sp>
        <p:nvSpPr>
          <p:cNvPr id="44" name="Shape 42"/>
          <p:cNvSpPr/>
          <p:nvPr/>
        </p:nvSpPr>
        <p:spPr>
          <a:xfrm>
            <a:off x="3081528" y="2340864"/>
            <a:ext cx="2871216" cy="438912"/>
          </a:xfrm>
          <a:prstGeom prst="rect">
            <a:avLst/>
          </a:prstGeom>
          <a:noFill/>
          <a:ln w="12700">
            <a:solidFill>
              <a:srgbClr val="FFB703"/>
            </a:solidFill>
            <a:prstDash val="solid"/>
          </a:ln>
        </p:spPr>
        <p:txBody>
          <a:bodyPr/>
          <a:lstStyle/>
          <a:p>
            <a:endParaRPr lang="en-SG"/>
          </a:p>
        </p:txBody>
      </p:sp>
      <p:sp>
        <p:nvSpPr>
          <p:cNvPr id="45" name="Shape 43"/>
          <p:cNvSpPr/>
          <p:nvPr/>
        </p:nvSpPr>
        <p:spPr>
          <a:xfrm>
            <a:off x="3136392" y="2404872"/>
            <a:ext cx="310896" cy="310896"/>
          </a:xfrm>
          <a:prstGeom prst="ellipse">
            <a:avLst/>
          </a:prstGeom>
          <a:solidFill>
            <a:srgbClr val="FFB703"/>
          </a:solidFill>
          <a:ln w="12700">
            <a:solidFill>
              <a:srgbClr val="FFB703"/>
            </a:solidFill>
            <a:prstDash val="solid"/>
          </a:ln>
        </p:spPr>
        <p:txBody>
          <a:bodyPr/>
          <a:lstStyle/>
          <a:p>
            <a:endParaRPr lang="en-SG"/>
          </a:p>
        </p:txBody>
      </p:sp>
      <p:sp>
        <p:nvSpPr>
          <p:cNvPr id="46" name="Text 44"/>
          <p:cNvSpPr/>
          <p:nvPr/>
        </p:nvSpPr>
        <p:spPr>
          <a:xfrm>
            <a:off x="3136392" y="2459736"/>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11</a:t>
            </a:r>
            <a:endParaRPr lang="en-US" sz="850" dirty="0"/>
          </a:p>
        </p:txBody>
      </p:sp>
      <p:sp>
        <p:nvSpPr>
          <p:cNvPr id="47" name="Text 45"/>
          <p:cNvSpPr/>
          <p:nvPr/>
        </p:nvSpPr>
        <p:spPr>
          <a:xfrm>
            <a:off x="3538728" y="2450592"/>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Preservation — Principles &amp; Integrity Assurance</a:t>
            </a:r>
            <a:endParaRPr lang="en-US" sz="1100" dirty="0"/>
          </a:p>
        </p:txBody>
      </p:sp>
      <p:sp>
        <p:nvSpPr>
          <p:cNvPr id="48" name="Shape 46"/>
          <p:cNvSpPr/>
          <p:nvPr/>
        </p:nvSpPr>
        <p:spPr>
          <a:xfrm>
            <a:off x="6071616" y="2340864"/>
            <a:ext cx="2871216" cy="438912"/>
          </a:xfrm>
          <a:prstGeom prst="rect">
            <a:avLst/>
          </a:prstGeom>
          <a:noFill/>
          <a:ln w="12700">
            <a:solidFill>
              <a:srgbClr val="FFB703"/>
            </a:solidFill>
            <a:prstDash val="solid"/>
          </a:ln>
        </p:spPr>
        <p:txBody>
          <a:bodyPr/>
          <a:lstStyle/>
          <a:p>
            <a:endParaRPr lang="en-SG"/>
          </a:p>
        </p:txBody>
      </p:sp>
      <p:sp>
        <p:nvSpPr>
          <p:cNvPr id="49" name="Shape 47"/>
          <p:cNvSpPr/>
          <p:nvPr/>
        </p:nvSpPr>
        <p:spPr>
          <a:xfrm>
            <a:off x="6126480" y="2404872"/>
            <a:ext cx="310896" cy="310896"/>
          </a:xfrm>
          <a:prstGeom prst="ellipse">
            <a:avLst/>
          </a:prstGeom>
          <a:solidFill>
            <a:srgbClr val="FFB703"/>
          </a:solidFill>
          <a:ln w="12700">
            <a:solidFill>
              <a:srgbClr val="FFB703"/>
            </a:solidFill>
            <a:prstDash val="solid"/>
          </a:ln>
        </p:spPr>
        <p:txBody>
          <a:bodyPr/>
          <a:lstStyle/>
          <a:p>
            <a:endParaRPr lang="en-SG"/>
          </a:p>
        </p:txBody>
      </p:sp>
      <p:sp>
        <p:nvSpPr>
          <p:cNvPr id="50" name="Text 48"/>
          <p:cNvSpPr/>
          <p:nvPr/>
        </p:nvSpPr>
        <p:spPr>
          <a:xfrm>
            <a:off x="6126480" y="2459736"/>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12</a:t>
            </a:r>
            <a:endParaRPr lang="en-US" sz="850" dirty="0"/>
          </a:p>
        </p:txBody>
      </p:sp>
      <p:sp>
        <p:nvSpPr>
          <p:cNvPr id="51" name="Text 49"/>
          <p:cNvSpPr/>
          <p:nvPr/>
        </p:nvSpPr>
        <p:spPr>
          <a:xfrm>
            <a:off x="6528816" y="2450592"/>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Computer Device Preservation (ON / OFF)</a:t>
            </a:r>
            <a:endParaRPr lang="en-US" sz="1100" dirty="0"/>
          </a:p>
        </p:txBody>
      </p:sp>
      <p:sp>
        <p:nvSpPr>
          <p:cNvPr id="52" name="Shape 50"/>
          <p:cNvSpPr/>
          <p:nvPr/>
        </p:nvSpPr>
        <p:spPr>
          <a:xfrm>
            <a:off x="91440" y="2852928"/>
            <a:ext cx="2871216" cy="438912"/>
          </a:xfrm>
          <a:prstGeom prst="rect">
            <a:avLst/>
          </a:prstGeom>
          <a:noFill/>
          <a:ln w="12700">
            <a:solidFill>
              <a:srgbClr val="FFB703"/>
            </a:solidFill>
            <a:prstDash val="solid"/>
          </a:ln>
        </p:spPr>
        <p:txBody>
          <a:bodyPr/>
          <a:lstStyle/>
          <a:p>
            <a:endParaRPr lang="en-SG"/>
          </a:p>
        </p:txBody>
      </p:sp>
      <p:sp>
        <p:nvSpPr>
          <p:cNvPr id="53" name="Shape 51"/>
          <p:cNvSpPr/>
          <p:nvPr/>
        </p:nvSpPr>
        <p:spPr>
          <a:xfrm>
            <a:off x="146304" y="2916936"/>
            <a:ext cx="310896" cy="310896"/>
          </a:xfrm>
          <a:prstGeom prst="ellipse">
            <a:avLst/>
          </a:prstGeom>
          <a:solidFill>
            <a:srgbClr val="FFB703"/>
          </a:solidFill>
          <a:ln w="12700">
            <a:solidFill>
              <a:srgbClr val="FFB703"/>
            </a:solidFill>
            <a:prstDash val="solid"/>
          </a:ln>
        </p:spPr>
        <p:txBody>
          <a:bodyPr/>
          <a:lstStyle/>
          <a:p>
            <a:endParaRPr lang="en-SG"/>
          </a:p>
        </p:txBody>
      </p:sp>
      <p:sp>
        <p:nvSpPr>
          <p:cNvPr id="54" name="Text 52"/>
          <p:cNvSpPr/>
          <p:nvPr/>
        </p:nvSpPr>
        <p:spPr>
          <a:xfrm>
            <a:off x="146304" y="2971800"/>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13</a:t>
            </a:r>
            <a:endParaRPr lang="en-US" sz="850" dirty="0"/>
          </a:p>
        </p:txBody>
      </p:sp>
      <p:sp>
        <p:nvSpPr>
          <p:cNvPr id="55" name="Text 53"/>
          <p:cNvSpPr/>
          <p:nvPr/>
        </p:nvSpPr>
        <p:spPr>
          <a:xfrm>
            <a:off x="548640" y="2962656"/>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Mobile Device Preservation (ON / OFF)</a:t>
            </a:r>
            <a:endParaRPr lang="en-US" sz="1100" dirty="0"/>
          </a:p>
        </p:txBody>
      </p:sp>
      <p:sp>
        <p:nvSpPr>
          <p:cNvPr id="56" name="Shape 54"/>
          <p:cNvSpPr/>
          <p:nvPr/>
        </p:nvSpPr>
        <p:spPr>
          <a:xfrm>
            <a:off x="3081528" y="2852928"/>
            <a:ext cx="2871216" cy="438912"/>
          </a:xfrm>
          <a:prstGeom prst="rect">
            <a:avLst/>
          </a:prstGeom>
          <a:noFill/>
          <a:ln w="12700">
            <a:solidFill>
              <a:srgbClr val="FFB703"/>
            </a:solidFill>
            <a:prstDash val="solid"/>
          </a:ln>
        </p:spPr>
        <p:txBody>
          <a:bodyPr/>
          <a:lstStyle/>
          <a:p>
            <a:endParaRPr lang="en-SG"/>
          </a:p>
        </p:txBody>
      </p:sp>
      <p:sp>
        <p:nvSpPr>
          <p:cNvPr id="57" name="Shape 55"/>
          <p:cNvSpPr/>
          <p:nvPr/>
        </p:nvSpPr>
        <p:spPr>
          <a:xfrm>
            <a:off x="3136392" y="2916936"/>
            <a:ext cx="310896" cy="310896"/>
          </a:xfrm>
          <a:prstGeom prst="ellipse">
            <a:avLst/>
          </a:prstGeom>
          <a:solidFill>
            <a:srgbClr val="FFB703"/>
          </a:solidFill>
          <a:ln w="12700">
            <a:solidFill>
              <a:srgbClr val="FFB703"/>
            </a:solidFill>
            <a:prstDash val="solid"/>
          </a:ln>
        </p:spPr>
        <p:txBody>
          <a:bodyPr/>
          <a:lstStyle/>
          <a:p>
            <a:endParaRPr lang="en-SG"/>
          </a:p>
        </p:txBody>
      </p:sp>
      <p:sp>
        <p:nvSpPr>
          <p:cNvPr id="58" name="Text 56"/>
          <p:cNvSpPr/>
          <p:nvPr/>
        </p:nvSpPr>
        <p:spPr>
          <a:xfrm>
            <a:off x="3136392" y="2971800"/>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14</a:t>
            </a:r>
            <a:endParaRPr lang="en-US" sz="850" dirty="0"/>
          </a:p>
        </p:txBody>
      </p:sp>
      <p:sp>
        <p:nvSpPr>
          <p:cNvPr id="59" name="Text 57"/>
          <p:cNvSpPr/>
          <p:nvPr/>
        </p:nvSpPr>
        <p:spPr>
          <a:xfrm>
            <a:off x="3538728" y="2962656"/>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Collection — Goals, Volatile Data &amp; Acquisition</a:t>
            </a:r>
            <a:endParaRPr lang="en-US" sz="1100" dirty="0"/>
          </a:p>
        </p:txBody>
      </p:sp>
      <p:sp>
        <p:nvSpPr>
          <p:cNvPr id="60" name="Shape 58"/>
          <p:cNvSpPr/>
          <p:nvPr/>
        </p:nvSpPr>
        <p:spPr>
          <a:xfrm>
            <a:off x="6071616" y="2852928"/>
            <a:ext cx="2871216" cy="438912"/>
          </a:xfrm>
          <a:prstGeom prst="rect">
            <a:avLst/>
          </a:prstGeom>
          <a:noFill/>
          <a:ln w="12700">
            <a:solidFill>
              <a:srgbClr val="FFB703"/>
            </a:solidFill>
            <a:prstDash val="solid"/>
          </a:ln>
        </p:spPr>
        <p:txBody>
          <a:bodyPr/>
          <a:lstStyle/>
          <a:p>
            <a:endParaRPr lang="en-SG"/>
          </a:p>
        </p:txBody>
      </p:sp>
      <p:sp>
        <p:nvSpPr>
          <p:cNvPr id="61" name="Shape 59"/>
          <p:cNvSpPr/>
          <p:nvPr/>
        </p:nvSpPr>
        <p:spPr>
          <a:xfrm>
            <a:off x="6126480" y="2916936"/>
            <a:ext cx="310896" cy="310896"/>
          </a:xfrm>
          <a:prstGeom prst="ellipse">
            <a:avLst/>
          </a:prstGeom>
          <a:solidFill>
            <a:srgbClr val="FFB703"/>
          </a:solidFill>
          <a:ln w="12700">
            <a:solidFill>
              <a:srgbClr val="FFB703"/>
            </a:solidFill>
            <a:prstDash val="solid"/>
          </a:ln>
        </p:spPr>
        <p:txBody>
          <a:bodyPr/>
          <a:lstStyle/>
          <a:p>
            <a:endParaRPr lang="en-SG"/>
          </a:p>
        </p:txBody>
      </p:sp>
      <p:sp>
        <p:nvSpPr>
          <p:cNvPr id="62" name="Text 60"/>
          <p:cNvSpPr/>
          <p:nvPr/>
        </p:nvSpPr>
        <p:spPr>
          <a:xfrm>
            <a:off x="6126480" y="2971800"/>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15</a:t>
            </a:r>
            <a:endParaRPr lang="en-US" sz="850" dirty="0"/>
          </a:p>
        </p:txBody>
      </p:sp>
      <p:sp>
        <p:nvSpPr>
          <p:cNvPr id="63" name="Text 61"/>
          <p:cNvSpPr/>
          <p:nvPr/>
        </p:nvSpPr>
        <p:spPr>
          <a:xfrm>
            <a:off x="6528816" y="2962656"/>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Collection — Documentation, Packaging &amp; Labelling</a:t>
            </a:r>
            <a:endParaRPr lang="en-US" sz="1100" dirty="0"/>
          </a:p>
        </p:txBody>
      </p:sp>
      <p:sp>
        <p:nvSpPr>
          <p:cNvPr id="64" name="Shape 62"/>
          <p:cNvSpPr/>
          <p:nvPr/>
        </p:nvSpPr>
        <p:spPr>
          <a:xfrm>
            <a:off x="91440" y="3364992"/>
            <a:ext cx="2871216" cy="438912"/>
          </a:xfrm>
          <a:prstGeom prst="rect">
            <a:avLst/>
          </a:prstGeom>
          <a:noFill/>
          <a:ln w="12700">
            <a:solidFill>
              <a:srgbClr val="FFB703"/>
            </a:solidFill>
            <a:prstDash val="solid"/>
          </a:ln>
        </p:spPr>
        <p:txBody>
          <a:bodyPr/>
          <a:lstStyle/>
          <a:p>
            <a:endParaRPr lang="en-SG"/>
          </a:p>
        </p:txBody>
      </p:sp>
      <p:sp>
        <p:nvSpPr>
          <p:cNvPr id="65" name="Shape 63"/>
          <p:cNvSpPr/>
          <p:nvPr/>
        </p:nvSpPr>
        <p:spPr>
          <a:xfrm>
            <a:off x="146304" y="3429000"/>
            <a:ext cx="310896" cy="310896"/>
          </a:xfrm>
          <a:prstGeom prst="ellipse">
            <a:avLst/>
          </a:prstGeom>
          <a:solidFill>
            <a:srgbClr val="FFB703"/>
          </a:solidFill>
          <a:ln w="12700">
            <a:solidFill>
              <a:srgbClr val="FFB703"/>
            </a:solidFill>
            <a:prstDash val="solid"/>
          </a:ln>
        </p:spPr>
        <p:txBody>
          <a:bodyPr/>
          <a:lstStyle/>
          <a:p>
            <a:endParaRPr lang="en-SG"/>
          </a:p>
        </p:txBody>
      </p:sp>
      <p:sp>
        <p:nvSpPr>
          <p:cNvPr id="66" name="Text 64"/>
          <p:cNvSpPr/>
          <p:nvPr/>
        </p:nvSpPr>
        <p:spPr>
          <a:xfrm>
            <a:off x="146304" y="3483864"/>
            <a:ext cx="310896" cy="201168"/>
          </a:xfrm>
          <a:prstGeom prst="rect">
            <a:avLst/>
          </a:prstGeom>
          <a:noFill/>
          <a:ln/>
        </p:spPr>
        <p:txBody>
          <a:bodyPr wrap="square" lIns="0" tIns="0" rIns="0" bIns="0" rtlCol="0" anchor="ctr"/>
          <a:lstStyle/>
          <a:p>
            <a:pPr marL="0" indent="0" algn="ctr">
              <a:buNone/>
            </a:pPr>
            <a:r>
              <a:rPr lang="en-US" sz="850" b="1" dirty="0">
                <a:solidFill>
                  <a:srgbClr val="000000"/>
                </a:solidFill>
                <a:latin typeface="Trebuchet MS" pitchFamily="34" charset="0"/>
                <a:ea typeface="Trebuchet MS" pitchFamily="34" charset="-122"/>
                <a:cs typeface="Trebuchet MS" pitchFamily="34" charset="-120"/>
              </a:rPr>
              <a:t>16</a:t>
            </a:r>
            <a:endParaRPr lang="en-US" sz="850" dirty="0"/>
          </a:p>
        </p:txBody>
      </p:sp>
      <p:sp>
        <p:nvSpPr>
          <p:cNvPr id="67" name="Text 65"/>
          <p:cNvSpPr/>
          <p:nvPr/>
        </p:nvSpPr>
        <p:spPr>
          <a:xfrm>
            <a:off x="548640" y="3474720"/>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Chain of Custody</a:t>
            </a:r>
            <a:endParaRPr lang="en-US" sz="1100" dirty="0"/>
          </a:p>
        </p:txBody>
      </p:sp>
      <p:sp>
        <p:nvSpPr>
          <p:cNvPr id="68" name="Shape 66"/>
          <p:cNvSpPr/>
          <p:nvPr/>
        </p:nvSpPr>
        <p:spPr>
          <a:xfrm>
            <a:off x="3081528" y="3364992"/>
            <a:ext cx="2871216" cy="438912"/>
          </a:xfrm>
          <a:prstGeom prst="rect">
            <a:avLst/>
          </a:prstGeom>
          <a:noFill/>
          <a:ln w="12700">
            <a:solidFill>
              <a:srgbClr val="FB8500"/>
            </a:solidFill>
            <a:prstDash val="solid"/>
          </a:ln>
        </p:spPr>
        <p:txBody>
          <a:bodyPr/>
          <a:lstStyle/>
          <a:p>
            <a:endParaRPr lang="en-SG"/>
          </a:p>
        </p:txBody>
      </p:sp>
      <p:sp>
        <p:nvSpPr>
          <p:cNvPr id="69" name="Shape 67"/>
          <p:cNvSpPr/>
          <p:nvPr/>
        </p:nvSpPr>
        <p:spPr>
          <a:xfrm>
            <a:off x="3136392" y="3429000"/>
            <a:ext cx="310896" cy="310896"/>
          </a:xfrm>
          <a:prstGeom prst="ellipse">
            <a:avLst/>
          </a:prstGeom>
          <a:solidFill>
            <a:srgbClr val="FB8500"/>
          </a:solidFill>
          <a:ln w="12700">
            <a:solidFill>
              <a:srgbClr val="FB8500"/>
            </a:solidFill>
            <a:prstDash val="solid"/>
          </a:ln>
        </p:spPr>
        <p:txBody>
          <a:bodyPr/>
          <a:lstStyle/>
          <a:p>
            <a:endParaRPr lang="en-SG"/>
          </a:p>
        </p:txBody>
      </p:sp>
      <p:sp>
        <p:nvSpPr>
          <p:cNvPr id="70" name="Text 68"/>
          <p:cNvSpPr/>
          <p:nvPr/>
        </p:nvSpPr>
        <p:spPr>
          <a:xfrm>
            <a:off x="3136392" y="3483864"/>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17</a:t>
            </a:r>
            <a:endParaRPr lang="en-US" sz="850" dirty="0"/>
          </a:p>
        </p:txBody>
      </p:sp>
      <p:sp>
        <p:nvSpPr>
          <p:cNvPr id="71" name="Text 69"/>
          <p:cNvSpPr/>
          <p:nvPr/>
        </p:nvSpPr>
        <p:spPr>
          <a:xfrm>
            <a:off x="3538728" y="3474720"/>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Challenges in the Threat Landscape</a:t>
            </a:r>
            <a:endParaRPr lang="en-US" sz="1100" dirty="0"/>
          </a:p>
        </p:txBody>
      </p:sp>
      <p:sp>
        <p:nvSpPr>
          <p:cNvPr id="72" name="Shape 70"/>
          <p:cNvSpPr/>
          <p:nvPr/>
        </p:nvSpPr>
        <p:spPr>
          <a:xfrm>
            <a:off x="6071616" y="3364992"/>
            <a:ext cx="2871216" cy="438912"/>
          </a:xfrm>
          <a:prstGeom prst="rect">
            <a:avLst/>
          </a:prstGeom>
          <a:noFill/>
          <a:ln w="12700">
            <a:solidFill>
              <a:srgbClr val="FB8500"/>
            </a:solidFill>
            <a:prstDash val="solid"/>
          </a:ln>
        </p:spPr>
        <p:txBody>
          <a:bodyPr/>
          <a:lstStyle/>
          <a:p>
            <a:endParaRPr lang="en-SG"/>
          </a:p>
        </p:txBody>
      </p:sp>
      <p:sp>
        <p:nvSpPr>
          <p:cNvPr id="73" name="Shape 71"/>
          <p:cNvSpPr/>
          <p:nvPr/>
        </p:nvSpPr>
        <p:spPr>
          <a:xfrm>
            <a:off x="6126480" y="3429000"/>
            <a:ext cx="310896" cy="310896"/>
          </a:xfrm>
          <a:prstGeom prst="ellipse">
            <a:avLst/>
          </a:prstGeom>
          <a:solidFill>
            <a:srgbClr val="FB8500"/>
          </a:solidFill>
          <a:ln w="12700">
            <a:solidFill>
              <a:srgbClr val="FB8500"/>
            </a:solidFill>
            <a:prstDash val="solid"/>
          </a:ln>
        </p:spPr>
        <p:txBody>
          <a:bodyPr/>
          <a:lstStyle/>
          <a:p>
            <a:endParaRPr lang="en-SG"/>
          </a:p>
        </p:txBody>
      </p:sp>
      <p:sp>
        <p:nvSpPr>
          <p:cNvPr id="74" name="Text 72"/>
          <p:cNvSpPr/>
          <p:nvPr/>
        </p:nvSpPr>
        <p:spPr>
          <a:xfrm>
            <a:off x="6126480" y="3483864"/>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18</a:t>
            </a:r>
            <a:endParaRPr lang="en-US" sz="850" dirty="0"/>
          </a:p>
        </p:txBody>
      </p:sp>
      <p:sp>
        <p:nvSpPr>
          <p:cNvPr id="75" name="Text 73"/>
          <p:cNvSpPr/>
          <p:nvPr/>
        </p:nvSpPr>
        <p:spPr>
          <a:xfrm>
            <a:off x="6528816" y="3474720"/>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Anti-Digital Forensics Methods</a:t>
            </a:r>
            <a:endParaRPr lang="en-US" sz="1100" dirty="0"/>
          </a:p>
        </p:txBody>
      </p:sp>
      <p:sp>
        <p:nvSpPr>
          <p:cNvPr id="76" name="Shape 74"/>
          <p:cNvSpPr/>
          <p:nvPr/>
        </p:nvSpPr>
        <p:spPr>
          <a:xfrm>
            <a:off x="91440" y="3877056"/>
            <a:ext cx="2871216" cy="438912"/>
          </a:xfrm>
          <a:prstGeom prst="rect">
            <a:avLst/>
          </a:prstGeom>
          <a:noFill/>
          <a:ln w="12700">
            <a:solidFill>
              <a:srgbClr val="FB8500"/>
            </a:solidFill>
            <a:prstDash val="solid"/>
          </a:ln>
        </p:spPr>
        <p:txBody>
          <a:bodyPr/>
          <a:lstStyle/>
          <a:p>
            <a:endParaRPr lang="en-SG"/>
          </a:p>
        </p:txBody>
      </p:sp>
      <p:sp>
        <p:nvSpPr>
          <p:cNvPr id="77" name="Shape 75"/>
          <p:cNvSpPr/>
          <p:nvPr/>
        </p:nvSpPr>
        <p:spPr>
          <a:xfrm>
            <a:off x="146304" y="3941064"/>
            <a:ext cx="310896" cy="310896"/>
          </a:xfrm>
          <a:prstGeom prst="ellipse">
            <a:avLst/>
          </a:prstGeom>
          <a:solidFill>
            <a:srgbClr val="FB8500"/>
          </a:solidFill>
          <a:ln w="12700">
            <a:solidFill>
              <a:srgbClr val="FB8500"/>
            </a:solidFill>
            <a:prstDash val="solid"/>
          </a:ln>
        </p:spPr>
        <p:txBody>
          <a:bodyPr/>
          <a:lstStyle/>
          <a:p>
            <a:endParaRPr lang="en-SG"/>
          </a:p>
        </p:txBody>
      </p:sp>
      <p:sp>
        <p:nvSpPr>
          <p:cNvPr id="78" name="Text 76"/>
          <p:cNvSpPr/>
          <p:nvPr/>
        </p:nvSpPr>
        <p:spPr>
          <a:xfrm>
            <a:off x="146304" y="3995928"/>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19</a:t>
            </a:r>
            <a:endParaRPr lang="en-US" sz="850" dirty="0"/>
          </a:p>
        </p:txBody>
      </p:sp>
      <p:sp>
        <p:nvSpPr>
          <p:cNvPr id="79" name="Text 77"/>
          <p:cNvSpPr/>
          <p:nvPr/>
        </p:nvSpPr>
        <p:spPr>
          <a:xfrm>
            <a:off x="548640" y="3986784"/>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Live vs Dead &amp; Volatile Data</a:t>
            </a:r>
            <a:endParaRPr lang="en-US" sz="1100" dirty="0"/>
          </a:p>
        </p:txBody>
      </p:sp>
      <p:sp>
        <p:nvSpPr>
          <p:cNvPr id="80" name="Shape 78"/>
          <p:cNvSpPr/>
          <p:nvPr/>
        </p:nvSpPr>
        <p:spPr>
          <a:xfrm>
            <a:off x="3081528" y="3877056"/>
            <a:ext cx="2871216" cy="438912"/>
          </a:xfrm>
          <a:prstGeom prst="rect">
            <a:avLst/>
          </a:prstGeom>
          <a:noFill/>
          <a:ln w="12700">
            <a:solidFill>
              <a:srgbClr val="FB8500"/>
            </a:solidFill>
            <a:prstDash val="solid"/>
          </a:ln>
        </p:spPr>
        <p:txBody>
          <a:bodyPr/>
          <a:lstStyle/>
          <a:p>
            <a:endParaRPr lang="en-SG"/>
          </a:p>
        </p:txBody>
      </p:sp>
      <p:sp>
        <p:nvSpPr>
          <p:cNvPr id="81" name="Shape 79"/>
          <p:cNvSpPr/>
          <p:nvPr/>
        </p:nvSpPr>
        <p:spPr>
          <a:xfrm>
            <a:off x="3136392" y="3941064"/>
            <a:ext cx="310896" cy="310896"/>
          </a:xfrm>
          <a:prstGeom prst="ellipse">
            <a:avLst/>
          </a:prstGeom>
          <a:solidFill>
            <a:srgbClr val="FB8500"/>
          </a:solidFill>
          <a:ln w="12700">
            <a:solidFill>
              <a:srgbClr val="FB8500"/>
            </a:solidFill>
            <a:prstDash val="solid"/>
          </a:ln>
        </p:spPr>
        <p:txBody>
          <a:bodyPr/>
          <a:lstStyle/>
          <a:p>
            <a:endParaRPr lang="en-SG"/>
          </a:p>
        </p:txBody>
      </p:sp>
      <p:sp>
        <p:nvSpPr>
          <p:cNvPr id="82" name="Text 80"/>
          <p:cNvSpPr/>
          <p:nvPr/>
        </p:nvSpPr>
        <p:spPr>
          <a:xfrm>
            <a:off x="3136392" y="3995928"/>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20</a:t>
            </a:r>
            <a:endParaRPr lang="en-US" sz="850" dirty="0"/>
          </a:p>
        </p:txBody>
      </p:sp>
      <p:sp>
        <p:nvSpPr>
          <p:cNvPr id="83" name="Text 81"/>
          <p:cNvSpPr/>
          <p:nvPr/>
        </p:nvSpPr>
        <p:spPr>
          <a:xfrm>
            <a:off x="3538728" y="3986784"/>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The 5WH Investigation Framework</a:t>
            </a:r>
            <a:endParaRPr lang="en-US" sz="1100" dirty="0"/>
          </a:p>
        </p:txBody>
      </p:sp>
      <p:sp>
        <p:nvSpPr>
          <p:cNvPr id="84" name="Shape 82"/>
          <p:cNvSpPr/>
          <p:nvPr/>
        </p:nvSpPr>
        <p:spPr>
          <a:xfrm>
            <a:off x="6071616" y="3877056"/>
            <a:ext cx="2871216" cy="438912"/>
          </a:xfrm>
          <a:prstGeom prst="rect">
            <a:avLst/>
          </a:prstGeom>
          <a:noFill/>
          <a:ln w="12700">
            <a:solidFill>
              <a:srgbClr val="9B5DE5"/>
            </a:solidFill>
            <a:prstDash val="solid"/>
          </a:ln>
        </p:spPr>
        <p:txBody>
          <a:bodyPr/>
          <a:lstStyle/>
          <a:p>
            <a:endParaRPr lang="en-SG"/>
          </a:p>
        </p:txBody>
      </p:sp>
      <p:sp>
        <p:nvSpPr>
          <p:cNvPr id="85" name="Shape 83"/>
          <p:cNvSpPr/>
          <p:nvPr/>
        </p:nvSpPr>
        <p:spPr>
          <a:xfrm>
            <a:off x="6126480" y="3941064"/>
            <a:ext cx="310896" cy="310896"/>
          </a:xfrm>
          <a:prstGeom prst="ellipse">
            <a:avLst/>
          </a:prstGeom>
          <a:solidFill>
            <a:srgbClr val="9B5DE5"/>
          </a:solidFill>
          <a:ln w="12700">
            <a:solidFill>
              <a:srgbClr val="9B5DE5"/>
            </a:solidFill>
            <a:prstDash val="solid"/>
          </a:ln>
        </p:spPr>
        <p:txBody>
          <a:bodyPr/>
          <a:lstStyle/>
          <a:p>
            <a:endParaRPr lang="en-SG"/>
          </a:p>
        </p:txBody>
      </p:sp>
      <p:sp>
        <p:nvSpPr>
          <p:cNvPr id="86" name="Text 84"/>
          <p:cNvSpPr/>
          <p:nvPr/>
        </p:nvSpPr>
        <p:spPr>
          <a:xfrm>
            <a:off x="6126480" y="3995928"/>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21</a:t>
            </a:r>
            <a:endParaRPr lang="en-US" sz="850" dirty="0"/>
          </a:p>
        </p:txBody>
      </p:sp>
      <p:sp>
        <p:nvSpPr>
          <p:cNvPr id="87" name="Text 85"/>
          <p:cNvSpPr/>
          <p:nvPr/>
        </p:nvSpPr>
        <p:spPr>
          <a:xfrm>
            <a:off x="6528816" y="3986784"/>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Professional Conduct &amp; Ethics</a:t>
            </a:r>
            <a:endParaRPr lang="en-US" sz="1100" dirty="0"/>
          </a:p>
        </p:txBody>
      </p:sp>
      <p:sp>
        <p:nvSpPr>
          <p:cNvPr id="88" name="Shape 86"/>
          <p:cNvSpPr/>
          <p:nvPr/>
        </p:nvSpPr>
        <p:spPr>
          <a:xfrm>
            <a:off x="91440" y="4389120"/>
            <a:ext cx="2871216" cy="438912"/>
          </a:xfrm>
          <a:prstGeom prst="rect">
            <a:avLst/>
          </a:prstGeom>
          <a:noFill/>
          <a:ln w="12700">
            <a:solidFill>
              <a:srgbClr val="9B5DE5"/>
            </a:solidFill>
            <a:prstDash val="solid"/>
          </a:ln>
        </p:spPr>
        <p:txBody>
          <a:bodyPr/>
          <a:lstStyle/>
          <a:p>
            <a:endParaRPr lang="en-SG"/>
          </a:p>
        </p:txBody>
      </p:sp>
      <p:sp>
        <p:nvSpPr>
          <p:cNvPr id="89" name="Shape 87"/>
          <p:cNvSpPr/>
          <p:nvPr/>
        </p:nvSpPr>
        <p:spPr>
          <a:xfrm>
            <a:off x="146304" y="4453128"/>
            <a:ext cx="310896" cy="310896"/>
          </a:xfrm>
          <a:prstGeom prst="ellipse">
            <a:avLst/>
          </a:prstGeom>
          <a:solidFill>
            <a:srgbClr val="9B5DE5"/>
          </a:solidFill>
          <a:ln w="12700">
            <a:solidFill>
              <a:srgbClr val="9B5DE5"/>
            </a:solidFill>
            <a:prstDash val="solid"/>
          </a:ln>
        </p:spPr>
        <p:txBody>
          <a:bodyPr/>
          <a:lstStyle/>
          <a:p>
            <a:endParaRPr lang="en-SG"/>
          </a:p>
        </p:txBody>
      </p:sp>
      <p:sp>
        <p:nvSpPr>
          <p:cNvPr id="90" name="Text 88"/>
          <p:cNvSpPr/>
          <p:nvPr/>
        </p:nvSpPr>
        <p:spPr>
          <a:xfrm>
            <a:off x="146304" y="4507992"/>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22</a:t>
            </a:r>
            <a:endParaRPr lang="en-US" sz="850" dirty="0"/>
          </a:p>
        </p:txBody>
      </p:sp>
      <p:sp>
        <p:nvSpPr>
          <p:cNvPr id="91" name="Text 89"/>
          <p:cNvSpPr/>
          <p:nvPr/>
        </p:nvSpPr>
        <p:spPr>
          <a:xfrm>
            <a:off x="548640" y="4498848"/>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Inculpatory vs Exculpatory Evidence</a:t>
            </a:r>
            <a:endParaRPr lang="en-US" sz="1100" dirty="0"/>
          </a:p>
        </p:txBody>
      </p:sp>
      <p:sp>
        <p:nvSpPr>
          <p:cNvPr id="92" name="Shape 90"/>
          <p:cNvSpPr/>
          <p:nvPr/>
        </p:nvSpPr>
        <p:spPr>
          <a:xfrm>
            <a:off x="3081528" y="4389120"/>
            <a:ext cx="2871216" cy="438912"/>
          </a:xfrm>
          <a:prstGeom prst="rect">
            <a:avLst/>
          </a:prstGeom>
          <a:noFill/>
          <a:ln w="12700">
            <a:solidFill>
              <a:srgbClr val="EF233C"/>
            </a:solidFill>
            <a:prstDash val="solid"/>
          </a:ln>
        </p:spPr>
        <p:txBody>
          <a:bodyPr/>
          <a:lstStyle/>
          <a:p>
            <a:endParaRPr lang="en-SG"/>
          </a:p>
        </p:txBody>
      </p:sp>
      <p:sp>
        <p:nvSpPr>
          <p:cNvPr id="93" name="Shape 91"/>
          <p:cNvSpPr/>
          <p:nvPr/>
        </p:nvSpPr>
        <p:spPr>
          <a:xfrm>
            <a:off x="3136392" y="4453128"/>
            <a:ext cx="310896" cy="310896"/>
          </a:xfrm>
          <a:prstGeom prst="ellipse">
            <a:avLst/>
          </a:prstGeom>
          <a:solidFill>
            <a:srgbClr val="EF233C"/>
          </a:solidFill>
          <a:ln w="12700">
            <a:solidFill>
              <a:srgbClr val="EF233C"/>
            </a:solidFill>
            <a:prstDash val="solid"/>
          </a:ln>
        </p:spPr>
        <p:txBody>
          <a:bodyPr/>
          <a:lstStyle/>
          <a:p>
            <a:endParaRPr lang="en-SG"/>
          </a:p>
        </p:txBody>
      </p:sp>
      <p:sp>
        <p:nvSpPr>
          <p:cNvPr id="94" name="Text 92"/>
          <p:cNvSpPr/>
          <p:nvPr/>
        </p:nvSpPr>
        <p:spPr>
          <a:xfrm>
            <a:off x="3136392" y="4507992"/>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23</a:t>
            </a:r>
            <a:endParaRPr lang="en-US" sz="850" dirty="0"/>
          </a:p>
        </p:txBody>
      </p:sp>
      <p:sp>
        <p:nvSpPr>
          <p:cNvPr id="95" name="Text 93"/>
          <p:cNvSpPr/>
          <p:nvPr/>
        </p:nvSpPr>
        <p:spPr>
          <a:xfrm>
            <a:off x="3538728" y="4498848"/>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Forensic Software &amp; Hardware Tools</a:t>
            </a:r>
            <a:endParaRPr lang="en-US" sz="1100" dirty="0"/>
          </a:p>
        </p:txBody>
      </p:sp>
      <p:sp>
        <p:nvSpPr>
          <p:cNvPr id="96" name="Shape 94"/>
          <p:cNvSpPr/>
          <p:nvPr/>
        </p:nvSpPr>
        <p:spPr>
          <a:xfrm>
            <a:off x="6071616" y="4389120"/>
            <a:ext cx="2871216" cy="438912"/>
          </a:xfrm>
          <a:prstGeom prst="rect">
            <a:avLst/>
          </a:prstGeom>
          <a:noFill/>
          <a:ln w="12700">
            <a:solidFill>
              <a:srgbClr val="EF233C"/>
            </a:solidFill>
            <a:prstDash val="solid"/>
          </a:ln>
        </p:spPr>
        <p:txBody>
          <a:bodyPr/>
          <a:lstStyle/>
          <a:p>
            <a:endParaRPr lang="en-SG"/>
          </a:p>
        </p:txBody>
      </p:sp>
      <p:sp>
        <p:nvSpPr>
          <p:cNvPr id="97" name="Shape 95"/>
          <p:cNvSpPr/>
          <p:nvPr/>
        </p:nvSpPr>
        <p:spPr>
          <a:xfrm>
            <a:off x="6126480" y="4453128"/>
            <a:ext cx="310896" cy="310896"/>
          </a:xfrm>
          <a:prstGeom prst="ellipse">
            <a:avLst/>
          </a:prstGeom>
          <a:solidFill>
            <a:srgbClr val="EF233C"/>
          </a:solidFill>
          <a:ln w="12700">
            <a:solidFill>
              <a:srgbClr val="EF233C"/>
            </a:solidFill>
            <a:prstDash val="solid"/>
          </a:ln>
        </p:spPr>
        <p:txBody>
          <a:bodyPr/>
          <a:lstStyle/>
          <a:p>
            <a:endParaRPr lang="en-SG"/>
          </a:p>
        </p:txBody>
      </p:sp>
      <p:sp>
        <p:nvSpPr>
          <p:cNvPr id="98" name="Text 96"/>
          <p:cNvSpPr/>
          <p:nvPr/>
        </p:nvSpPr>
        <p:spPr>
          <a:xfrm>
            <a:off x="6126480" y="4507992"/>
            <a:ext cx="310896" cy="201168"/>
          </a:xfrm>
          <a:prstGeom prst="rect">
            <a:avLst/>
          </a:prstGeom>
          <a:noFill/>
          <a:ln/>
        </p:spPr>
        <p:txBody>
          <a:bodyPr wrap="square" lIns="0" tIns="0" rIns="0" bIns="0" rtlCol="0" anchor="ctr"/>
          <a:lstStyle/>
          <a:p>
            <a:pPr marL="0" indent="0" algn="ctr">
              <a:buNone/>
            </a:pPr>
            <a:r>
              <a:rPr lang="en-US" sz="850" b="1" dirty="0">
                <a:solidFill>
                  <a:srgbClr val="1A1A2E"/>
                </a:solidFill>
                <a:latin typeface="Trebuchet MS" pitchFamily="34" charset="0"/>
                <a:ea typeface="Trebuchet MS" pitchFamily="34" charset="-122"/>
                <a:cs typeface="Trebuchet MS" pitchFamily="34" charset="-120"/>
              </a:rPr>
              <a:t>24</a:t>
            </a:r>
            <a:endParaRPr lang="en-US" sz="850" dirty="0"/>
          </a:p>
        </p:txBody>
      </p:sp>
      <p:sp>
        <p:nvSpPr>
          <p:cNvPr id="99" name="Text 97"/>
          <p:cNvSpPr/>
          <p:nvPr/>
        </p:nvSpPr>
        <p:spPr>
          <a:xfrm>
            <a:off x="6528816" y="4498848"/>
            <a:ext cx="2377440" cy="237744"/>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Module Summary — Full Learning Journey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B12922E7882248BCC5AA3FA2F67AA5" ma:contentTypeVersion="21" ma:contentTypeDescription="Create a new document." ma:contentTypeScope="" ma:versionID="17eca64fb8526c6500046ce496af3705">
  <xsd:schema xmlns:xsd="http://www.w3.org/2001/XMLSchema" xmlns:xs="http://www.w3.org/2001/XMLSchema" xmlns:p="http://schemas.microsoft.com/office/2006/metadata/properties" xmlns:ns2="4b318d02-235f-4db9-ad34-20bb5fcc8063" xmlns:ns3="2732436f-90ae-4a0f-88e2-b128265cf4b3" targetNamespace="http://schemas.microsoft.com/office/2006/metadata/properties" ma:root="true" ma:fieldsID="0fc14c5fb12fcec4f3021900c42fd578" ns2:_="" ns3:_="">
    <xsd:import namespace="4b318d02-235f-4db9-ad34-20bb5fcc8063"/>
    <xsd:import namespace="2732436f-90ae-4a0f-88e2-b128265cf4b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bjectDetectorVersions" minOccurs="0"/>
                <xsd:element ref="ns3:MediaServiceGenerationTime" minOccurs="0"/>
                <xsd:element ref="ns3:MediaServiceEventHashCode" minOccurs="0"/>
                <xsd:element ref="ns3:MediaLengthInSeconds" minOccurs="0"/>
                <xsd:element ref="ns3:MediaServiceSearchProperties" minOccurs="0"/>
                <xsd:element ref="ns3:lcf76f155ced4ddcb4097134ff3c332f" minOccurs="0"/>
                <xsd:element ref="ns2:TaxCatchAll" minOccurs="0"/>
                <xsd:element ref="ns3:MediaServiceOC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318d02-235f-4db9-ad34-20bb5fcc8063" elementFormDefault="qualified">
    <xsd:import namespace="http://schemas.microsoft.com/office/2006/documentManagement/types"/>
    <xsd:import namespace="http://schemas.microsoft.com/office/infopath/2007/PartnerControls"/>
    <xsd:element name="SharedWithUsers" ma:index="4"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b7e268a5-46d0-4c07-95fc-ea0a071d2bd7}" ma:internalName="TaxCatchAll" ma:showField="CatchAllData" ma:web="4b318d02-235f-4db9-ad34-20bb5fcc806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32436f-90ae-4a0f-88e2-b128265cf4b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ObjectDetectorVersions" ma:index="13" nillable="true" ma:displayName="MediaServiceObjectDetectorVersions" ma:description="" ma:hidden="true" ma:internalName="MediaServiceObjectDetectorVersion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a45bf55a-4f35-4525-96d9-1748649c08ec"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732436f-90ae-4a0f-88e2-b128265cf4b3">
      <Terms xmlns="http://schemas.microsoft.com/office/infopath/2007/PartnerControls"/>
    </lcf76f155ced4ddcb4097134ff3c332f>
    <TaxCatchAll xmlns="4b318d02-235f-4db9-ad34-20bb5fcc806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B4FF3C9-8D01-48F4-AFFE-A63376BCFC86}"/>
</file>

<file path=customXml/itemProps2.xml><?xml version="1.0" encoding="utf-8"?>
<ds:datastoreItem xmlns:ds="http://schemas.openxmlformats.org/officeDocument/2006/customXml" ds:itemID="{EF36062C-DB39-43B7-B4AB-AEF26D74597A}">
  <ds:schemaRef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sharepoint/v3"/>
    <ds:schemaRef ds:uri="3e3fafd7-318f-4e4d-809b-9691c39d9c6f"/>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CB23EBCF-E132-476A-B0EB-6302C77259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TotalTime>
  <Words>5741</Words>
  <Application>Microsoft Office PowerPoint</Application>
  <PresentationFormat>On-screen Show (16:9)</PresentationFormat>
  <Paragraphs>813</Paragraphs>
  <Slides>32</Slides>
  <Notes>32</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PptxGenJS</dc:creator>
  <cp:lastModifiedBy>nur shuhadah jalil</cp:lastModifiedBy>
  <cp:revision>56</cp:revision>
  <dcterms:created xsi:type="dcterms:W3CDTF">2026-03-11T02:37:52Z</dcterms:created>
  <dcterms:modified xsi:type="dcterms:W3CDTF">2026-04-12T23:06:04Z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0x01010012B12922E7882248BCC5AA3FA2F67AA5</vt:lpwstr>
  </property>
  <property fmtid="{D5CDD505-2E9C-101B-9397-08002B2CF9AE}" pid="3" name="MSIP_Label_d528611d-fe69-484f-b56b-0db8a0d79612_Enabled">
    <vt:lpwstr>true</vt:lpwstr>
  </property>
  <property fmtid="{D5CDD505-2E9C-101B-9397-08002B2CF9AE}" pid="4" name="MSIP_Label_d528611d-fe69-484f-b56b-0db8a0d79612_SetDate">
    <vt:lpwstr>2026-03-11T05:23:31Z</vt:lpwstr>
  </property>
  <property fmtid="{D5CDD505-2E9C-101B-9397-08002B2CF9AE}" pid="5" name="MSIP_Label_d528611d-fe69-484f-b56b-0db8a0d79612_Method">
    <vt:lpwstr>Privileged</vt:lpwstr>
  </property>
  <property fmtid="{D5CDD505-2E9C-101B-9397-08002B2CF9AE}" pid="6" name="MSIP_Label_d528611d-fe69-484f-b56b-0db8a0d79612_Name">
    <vt:lpwstr>Public</vt:lpwstr>
  </property>
  <property fmtid="{D5CDD505-2E9C-101B-9397-08002B2CF9AE}" pid="7" name="MSIP_Label_d528611d-fe69-484f-b56b-0db8a0d79612_SiteId">
    <vt:lpwstr>25a99bf0-8e72-472a-ae50-adfbdf0df6f1</vt:lpwstr>
  </property>
  <property fmtid="{D5CDD505-2E9C-101B-9397-08002B2CF9AE}" pid="8" name="MSIP_Label_d528611d-fe69-484f-b56b-0db8a0d79612_ActionId">
    <vt:lpwstr>f60d985e-1618-44c5-bc3f-55ae5ddb4b6e</vt:lpwstr>
  </property>
  <property fmtid="{D5CDD505-2E9C-101B-9397-08002B2CF9AE}" pid="9" name="MSIP_Label_d528611d-fe69-484f-b56b-0db8a0d79612_ContentBits">
    <vt:lpwstr>0</vt:lpwstr>
  </property>
  <property fmtid="{D5CDD505-2E9C-101B-9397-08002B2CF9AE}" pid="10" name="MSIP_Label_d528611d-fe69-484f-b56b-0db8a0d79612_Tag">
    <vt:lpwstr>10, 0, 1, 2</vt:lpwstr>
  </property>
  <property fmtid="{D5CDD505-2E9C-101B-9397-08002B2CF9AE}" pid="11" name="Order">
    <vt:r8>160400</vt:r8>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_ExtendedDescription">
    <vt:lpwstr/>
  </property>
  <property fmtid="{D5CDD505-2E9C-101B-9397-08002B2CF9AE}" pid="16" name="TriggerFlowInfo">
    <vt:lpwstr/>
  </property>
  <property fmtid="{D5CDD505-2E9C-101B-9397-08002B2CF9AE}" pid="17" name="MediaServiceImageTags">
    <vt:lpwstr/>
  </property>
</Properties>
</file>