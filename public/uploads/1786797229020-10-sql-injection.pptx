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38" r:id="rId2"/>
    <p:sldId id="424" r:id="rId3"/>
    <p:sldId id="433" r:id="rId4"/>
    <p:sldId id="425" r:id="rId5"/>
    <p:sldId id="427" r:id="rId6"/>
    <p:sldId id="428" r:id="rId7"/>
    <p:sldId id="426" r:id="rId8"/>
    <p:sldId id="429" r:id="rId9"/>
    <p:sldId id="430" r:id="rId10"/>
    <p:sldId id="431" r:id="rId11"/>
    <p:sldId id="432" r:id="rId12"/>
    <p:sldId id="434" r:id="rId13"/>
    <p:sldId id="437" r:id="rId14"/>
    <p:sldId id="436" r:id="rId15"/>
    <p:sldId id="43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44A5C8"/>
    <a:srgbClr val="0099CC"/>
    <a:srgbClr val="003399"/>
    <a:srgbClr val="009999"/>
    <a:srgbClr val="0066FF"/>
    <a:srgbClr val="0000CC"/>
    <a:srgbClr val="339933"/>
    <a:srgbClr val="F2D5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71" autoAdjust="0"/>
    <p:restoredTop sz="90684" autoAdjust="0"/>
  </p:normalViewPr>
  <p:slideViewPr>
    <p:cSldViewPr>
      <p:cViewPr varScale="1">
        <p:scale>
          <a:sx n="89" d="100"/>
          <a:sy n="89" d="100"/>
        </p:scale>
        <p:origin x="1642" y="86"/>
      </p:cViewPr>
      <p:guideLst>
        <p:guide orient="horz" pos="2160"/>
        <p:guide pos="288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d Hamzah ALHABSHE (TP)" userId="56098383-c029-4b71-9f40-d47cb2c35257" providerId="ADAL" clId="{B40DBF88-1381-4CB3-AF73-6A87289A27D4}"/>
    <pc:docChg chg="custSel modSld">
      <pc:chgData name="Sayed Hamzah ALHABSHE (TP)" userId="56098383-c029-4b71-9f40-d47cb2c35257" providerId="ADAL" clId="{B40DBF88-1381-4CB3-AF73-6A87289A27D4}" dt="2022-05-16T10:48:51.189" v="40" actId="20577"/>
      <pc:docMkLst>
        <pc:docMk/>
      </pc:docMkLst>
      <pc:sldChg chg="modSp mod">
        <pc:chgData name="Sayed Hamzah ALHABSHE (TP)" userId="56098383-c029-4b71-9f40-d47cb2c35257" providerId="ADAL" clId="{B40DBF88-1381-4CB3-AF73-6A87289A27D4}" dt="2022-05-16T10:48:51.189" v="40" actId="20577"/>
        <pc:sldMkLst>
          <pc:docMk/>
          <pc:sldMk cId="3541941187" sldId="438"/>
        </pc:sldMkLst>
        <pc:spChg chg="mod">
          <ac:chgData name="Sayed Hamzah ALHABSHE (TP)" userId="56098383-c029-4b71-9f40-d47cb2c35257" providerId="ADAL" clId="{B40DBF88-1381-4CB3-AF73-6A87289A27D4}" dt="2022-05-16T10:48:51.189" v="40" actId="20577"/>
          <ac:spMkLst>
            <pc:docMk/>
            <pc:sldMk cId="3541941187" sldId="43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6/3/2024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ynopsys.com/blogs/software-security/attributes-of-secure-web-application-architecture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5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1405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>
                <a:hlinkClick r:id="rId3"/>
              </a:rPr>
              <a:t>https://www.synopsys.com/blogs/software-security/attributes-of-secure-web-application-architecture/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315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3810000" y="1066800"/>
            <a:ext cx="1524000" cy="9144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3810000" y="1219200"/>
            <a:ext cx="1524000" cy="9144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953000"/>
            <a:ext cx="8001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791200"/>
            <a:ext cx="8001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800"/>
            <a:ext cx="5055752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6629400" y="2286000"/>
            <a:ext cx="76201" cy="4952998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4533900" y="1866898"/>
            <a:ext cx="76200" cy="9144002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6200"/>
            <a:ext cx="73152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219200"/>
            <a:ext cx="7268029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4411349" y="2065651"/>
            <a:ext cx="321304" cy="91440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267200" y="6477000"/>
            <a:ext cx="472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7239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1371600"/>
            <a:ext cx="7239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cap="none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76200" y="4953000"/>
            <a:ext cx="8991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SQL Injection</a:t>
            </a:r>
            <a:endParaRPr lang="en-SG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194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76400"/>
            <a:ext cx="7268029" cy="4572000"/>
          </a:xfrm>
        </p:spPr>
        <p:txBody>
          <a:bodyPr>
            <a:normAutofit/>
          </a:bodyPr>
          <a:lstStyle/>
          <a:p>
            <a:r>
              <a:rPr lang="en-US" dirty="0"/>
              <a:t>Injection – ability to </a:t>
            </a:r>
            <a:r>
              <a:rPr lang="en-US" b="1" dirty="0"/>
              <a:t>provide user input </a:t>
            </a:r>
            <a:r>
              <a:rPr lang="en-US" dirty="0"/>
              <a:t>to result in </a:t>
            </a:r>
            <a:r>
              <a:rPr lang="en-US" b="1" dirty="0"/>
              <a:t>unintended </a:t>
            </a:r>
            <a:r>
              <a:rPr lang="en-US" dirty="0"/>
              <a:t>outcomes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Samples of Injection related vulnerabilities:</a:t>
            </a:r>
          </a:p>
          <a:p>
            <a:pPr lvl="1"/>
            <a:r>
              <a:rPr lang="en-US" b="1" dirty="0"/>
              <a:t>SQL Injection </a:t>
            </a:r>
            <a:r>
              <a:rPr lang="en-US" dirty="0"/>
              <a:t>(covered)</a:t>
            </a:r>
          </a:p>
          <a:p>
            <a:pPr lvl="1"/>
            <a:r>
              <a:rPr lang="en-US" dirty="0"/>
              <a:t>LDAP Injection</a:t>
            </a:r>
          </a:p>
          <a:p>
            <a:pPr lvl="1"/>
            <a:r>
              <a:rPr lang="en-US" dirty="0"/>
              <a:t>OS Command Injection</a:t>
            </a:r>
          </a:p>
          <a:p>
            <a:pPr lvl="1"/>
            <a:r>
              <a:rPr lang="en-US" dirty="0"/>
              <a:t>SMTP Header Injection</a:t>
            </a:r>
          </a:p>
          <a:p>
            <a:pPr lvl="1"/>
            <a:r>
              <a:rPr lang="en-US" dirty="0"/>
              <a:t>etc.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544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pic>
        <p:nvPicPr>
          <p:cNvPr id="1026" name="Picture 2" descr="Figure 1: A sample single-tier web application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7337778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00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perform SQL Injection, one must understand SQL</a:t>
            </a:r>
            <a:br>
              <a:rPr lang="en-US" dirty="0"/>
            </a:br>
            <a:endParaRPr lang="en-US" dirty="0"/>
          </a:p>
          <a:p>
            <a:r>
              <a:rPr lang="en-US" dirty="0"/>
              <a:t>SQL – Structured Query Language</a:t>
            </a:r>
            <a:br>
              <a:rPr lang="en-US" dirty="0"/>
            </a:br>
            <a:endParaRPr lang="en-US" dirty="0"/>
          </a:p>
          <a:p>
            <a:r>
              <a:rPr lang="en-US" dirty="0"/>
              <a:t>Language of the databases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/>
              <a:t>MSSQL</a:t>
            </a:r>
          </a:p>
          <a:p>
            <a:pPr lvl="1"/>
            <a:r>
              <a:rPr lang="en-US" dirty="0" err="1"/>
              <a:t>MariaDB</a:t>
            </a:r>
            <a:endParaRPr lang="en-US" dirty="0"/>
          </a:p>
          <a:p>
            <a:pPr lvl="1"/>
            <a:r>
              <a:rPr lang="en-US" dirty="0"/>
              <a:t>PostgreSQL</a:t>
            </a:r>
          </a:p>
          <a:p>
            <a:pPr lvl="1"/>
            <a:r>
              <a:rPr lang="en-US" dirty="0"/>
              <a:t>etc.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5887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19200"/>
            <a:ext cx="7420429" cy="50292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Think of databases like huge Excel tables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SQL Basic Syntax (SELECT statement)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&lt;column name 1&gt;,&lt;column name 2&gt;,..</a:t>
            </a:r>
          </a:p>
          <a:p>
            <a:pPr marL="0" indent="0">
              <a:buNone/>
            </a:pPr>
            <a:r>
              <a:rPr lang="en-US" dirty="0"/>
              <a:t>FROM &lt;database table name&gt;</a:t>
            </a:r>
          </a:p>
          <a:p>
            <a:pPr marL="0" indent="0">
              <a:buNone/>
            </a:pPr>
            <a:r>
              <a:rPr lang="en-US" dirty="0"/>
              <a:t>WHERE &lt;column name&gt; = &lt;specific value&gt;</a:t>
            </a:r>
          </a:p>
        </p:txBody>
      </p:sp>
    </p:spTree>
    <p:extLst>
      <p:ext uri="{BB962C8B-B14F-4D97-AF65-F5344CB8AC3E}">
        <p14:creationId xmlns:p14="http://schemas.microsoft.com/office/powerpoint/2010/main" val="328748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10897"/>
              </p:ext>
            </p:extLst>
          </p:nvPr>
        </p:nvGraphicFramePr>
        <p:xfrm>
          <a:off x="1731705" y="2745614"/>
          <a:ext cx="6096000" cy="2433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310039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41942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349826"/>
                    </a:ext>
                  </a:extLst>
                </a:gridCol>
              </a:tblGrid>
              <a:tr h="319436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profile_name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profile_pic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068477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dirty="0" err="1"/>
                        <a:t>hamzah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Sayed </a:t>
                      </a:r>
                      <a:r>
                        <a:rPr lang="en-US" dirty="0" err="1"/>
                        <a:t>Hamzah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http://img.google.com/img.jpg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06804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dirty="0" err="1"/>
                        <a:t>edmund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Edmund</a:t>
                      </a:r>
                      <a:r>
                        <a:rPr lang="en-US" baseline="0" dirty="0"/>
                        <a:t> Wee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http://img.google.com/img2.jpg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4098"/>
                  </a:ext>
                </a:extLst>
              </a:tr>
              <a:tr h="787651">
                <a:tc>
                  <a:txBody>
                    <a:bodyPr/>
                    <a:lstStyle/>
                    <a:p>
                      <a:r>
                        <a:rPr lang="en-US" dirty="0" err="1"/>
                        <a:t>john_doe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  <a:r>
                        <a:rPr lang="en-US" baseline="0" dirty="0"/>
                        <a:t> Doe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http://img.google.com/img3.jpg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959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26476" y="2288414"/>
            <a:ext cx="240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‘users’ Table</a:t>
            </a:r>
            <a:endParaRPr lang="en-SG" b="1" u="sng" dirty="0"/>
          </a:p>
        </p:txBody>
      </p:sp>
    </p:spTree>
    <p:extLst>
      <p:ext uri="{BB962C8B-B14F-4D97-AF65-F5344CB8AC3E}">
        <p14:creationId xmlns:p14="http://schemas.microsoft.com/office/powerpoint/2010/main" val="64607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Example</a:t>
            </a:r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users</a:t>
            </a:r>
          </a:p>
          <a:p>
            <a:pPr marL="0" indent="0">
              <a:buNone/>
            </a:pPr>
            <a:r>
              <a:rPr lang="en-US" dirty="0"/>
              <a:t>WHERE username = ‘</a:t>
            </a:r>
            <a:r>
              <a:rPr lang="en-US" dirty="0" err="1"/>
              <a:t>john_doe</a:t>
            </a:r>
            <a:r>
              <a:rPr lang="en-US" dirty="0"/>
              <a:t>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Result</a:t>
            </a:r>
          </a:p>
          <a:p>
            <a:pPr marL="0" indent="0">
              <a:buNone/>
            </a:pPr>
            <a:endParaRPr lang="en-SG" b="1" u="sng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15902"/>
              </p:ext>
            </p:extLst>
          </p:nvPr>
        </p:nvGraphicFramePr>
        <p:xfrm>
          <a:off x="1676400" y="4648200"/>
          <a:ext cx="6096000" cy="1153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310039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41942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349826"/>
                    </a:ext>
                  </a:extLst>
                </a:gridCol>
              </a:tblGrid>
              <a:tr h="319436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profile_name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profile_pic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068477"/>
                  </a:ext>
                </a:extLst>
              </a:tr>
              <a:tr h="787651">
                <a:tc>
                  <a:txBody>
                    <a:bodyPr/>
                    <a:lstStyle/>
                    <a:p>
                      <a:r>
                        <a:rPr lang="en-US" dirty="0" err="1"/>
                        <a:t>john_doe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  <a:r>
                        <a:rPr lang="en-US" baseline="0" dirty="0"/>
                        <a:t> Doe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http://img.google.com/img3.jpg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9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73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Quick check: What is the database output for the following SQL queries?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Example 1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profile_id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users</a:t>
            </a:r>
          </a:p>
          <a:p>
            <a:pPr marL="0" indent="0">
              <a:buNone/>
            </a:pPr>
            <a:r>
              <a:rPr lang="en-US" dirty="0"/>
              <a:t>WHERE username = ‘</a:t>
            </a:r>
            <a:r>
              <a:rPr lang="en-US" dirty="0" err="1"/>
              <a:t>john_doe</a:t>
            </a:r>
            <a:r>
              <a:rPr lang="en-US" dirty="0"/>
              <a:t>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Example 2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is_valid_user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users</a:t>
            </a:r>
            <a:endParaRPr lang="en-US" b="1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7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371600"/>
            <a:ext cx="3429000" cy="1981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Server-Side Code in </a:t>
            </a:r>
            <a:r>
              <a:rPr lang="en-US" sz="2400" b="1" u="sng" dirty="0" err="1"/>
              <a:t>profile.php</a:t>
            </a:r>
            <a:endParaRPr lang="en-US" sz="2400" b="1" u="sng" dirty="0"/>
          </a:p>
          <a:p>
            <a:pPr marL="0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id = </a:t>
            </a:r>
            <a:r>
              <a:rPr lang="en-US" sz="2000" b="1" dirty="0">
                <a:solidFill>
                  <a:srgbClr val="FF0000"/>
                </a:solidFill>
              </a:rPr>
              <a:t>$_GET[‘id’];</a:t>
            </a:r>
          </a:p>
          <a:p>
            <a:pPr marL="0" indent="0">
              <a:buNone/>
            </a:pPr>
            <a:r>
              <a:rPr lang="en-US" sz="2000" dirty="0"/>
              <a:t>String </a:t>
            </a:r>
            <a:r>
              <a:rPr lang="en-US" sz="2000" dirty="0" err="1"/>
              <a:t>stmt</a:t>
            </a:r>
            <a:r>
              <a:rPr lang="en-US" sz="2000" dirty="0"/>
              <a:t> = “SELECT * FROM users WHERE username =‘”.</a:t>
            </a:r>
            <a:r>
              <a:rPr lang="en-US" sz="2000" b="1" dirty="0">
                <a:solidFill>
                  <a:srgbClr val="FF0000"/>
                </a:solidFill>
              </a:rPr>
              <a:t>$id</a:t>
            </a:r>
            <a:r>
              <a:rPr lang="en-US" sz="2000" dirty="0"/>
              <a:t>.”’”;</a:t>
            </a:r>
          </a:p>
          <a:p>
            <a:pPr marL="0" indent="0">
              <a:buNone/>
            </a:pPr>
            <a:r>
              <a:rPr lang="en-US" sz="2000" dirty="0"/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371" y="3886200"/>
            <a:ext cx="239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https://www.xyz.com/profile.php?</a:t>
            </a:r>
            <a:r>
              <a:rPr lang="en-US" b="1" dirty="0">
                <a:solidFill>
                  <a:srgbClr val="FF0000"/>
                </a:solidFill>
              </a:rPr>
              <a:t>id=edmund</a:t>
            </a:r>
            <a:endParaRPr lang="en-SG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12192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Client</a:t>
            </a:r>
            <a:endParaRPr lang="en-SG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3721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Server</a:t>
            </a:r>
            <a:endParaRPr lang="en-SG" b="1" u="sng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133600" y="2161149"/>
            <a:ext cx="990600" cy="21060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47800" y="4160783"/>
            <a:ext cx="990600" cy="415103"/>
          </a:xfrm>
          <a:prstGeom prst="ellipse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971800" y="3732431"/>
            <a:ext cx="3352800" cy="1600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u="sng" dirty="0"/>
              <a:t>SQL Syntax for user input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users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WHERE username = ‘</a:t>
            </a:r>
            <a:r>
              <a:rPr lang="en-US" sz="2000" b="1" dirty="0" err="1">
                <a:solidFill>
                  <a:srgbClr val="FF0000"/>
                </a:solidFill>
              </a:rPr>
              <a:t>edmund</a:t>
            </a:r>
            <a:r>
              <a:rPr lang="en-US" sz="2000" dirty="0"/>
              <a:t>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52686" y="3048000"/>
            <a:ext cx="319314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4760"/>
              </p:ext>
            </p:extLst>
          </p:nvPr>
        </p:nvGraphicFramePr>
        <p:xfrm>
          <a:off x="6400801" y="2834640"/>
          <a:ext cx="2667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63100398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84419425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33349826"/>
                    </a:ext>
                  </a:extLst>
                </a:gridCol>
              </a:tblGrid>
              <a:tr h="354670">
                <a:tc>
                  <a:txBody>
                    <a:bodyPr/>
                    <a:lstStyle/>
                    <a:p>
                      <a:r>
                        <a:rPr lang="en-US" sz="1200" dirty="0"/>
                        <a:t>username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profile_pic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068477"/>
                  </a:ext>
                </a:extLst>
              </a:tr>
              <a:tr h="620673">
                <a:tc>
                  <a:txBody>
                    <a:bodyPr/>
                    <a:lstStyle/>
                    <a:p>
                      <a:r>
                        <a:rPr lang="en-US" sz="1200" dirty="0" err="1"/>
                        <a:t>edmund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Edmund</a:t>
                      </a:r>
                      <a:r>
                        <a:rPr lang="en-US" sz="1200" baseline="0" dirty="0"/>
                        <a:t> Wee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http://img.google.com/img2.jpg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4098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91400" y="23365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Result</a:t>
            </a:r>
            <a:endParaRPr lang="en-SG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228600" y="3581400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21" name="Rectangle 20"/>
          <p:cNvSpPr/>
          <p:nvPr/>
        </p:nvSpPr>
        <p:spPr>
          <a:xfrm>
            <a:off x="2862755" y="1104215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22" name="Rectangle 21"/>
          <p:cNvSpPr/>
          <p:nvPr/>
        </p:nvSpPr>
        <p:spPr>
          <a:xfrm>
            <a:off x="3094639" y="3427631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23" name="Rectangle 22"/>
          <p:cNvSpPr/>
          <p:nvPr/>
        </p:nvSpPr>
        <p:spPr>
          <a:xfrm>
            <a:off x="7642005" y="2055404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778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371600"/>
            <a:ext cx="3429000" cy="1981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Server-Side Code in </a:t>
            </a:r>
            <a:r>
              <a:rPr lang="en-US" sz="2400" b="1" u="sng" dirty="0" err="1"/>
              <a:t>profile.php</a:t>
            </a:r>
            <a:endParaRPr lang="en-US" sz="2400" b="1" u="sng" dirty="0"/>
          </a:p>
          <a:p>
            <a:pPr marL="0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$id = </a:t>
            </a:r>
            <a:r>
              <a:rPr lang="en-US" sz="2000" b="1" dirty="0">
                <a:solidFill>
                  <a:schemeClr val="tx1"/>
                </a:solidFill>
              </a:rPr>
              <a:t>$_GET[‘id’];</a:t>
            </a:r>
          </a:p>
          <a:p>
            <a:pPr marL="0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stmt</a:t>
            </a:r>
            <a:r>
              <a:rPr lang="en-US" sz="2000" dirty="0"/>
              <a:t> = “SELECT * FROM users WHERE username </a:t>
            </a:r>
            <a:r>
              <a:rPr lang="en-US" sz="2000" dirty="0">
                <a:solidFill>
                  <a:schemeClr val="tx1"/>
                </a:solidFill>
              </a:rPr>
              <a:t>=‘”.</a:t>
            </a:r>
            <a:r>
              <a:rPr lang="en-US" sz="2000" b="1" dirty="0">
                <a:solidFill>
                  <a:schemeClr val="tx1"/>
                </a:solidFill>
              </a:rPr>
              <a:t>$id</a:t>
            </a:r>
            <a:r>
              <a:rPr lang="en-US" sz="2000" dirty="0"/>
              <a:t>.”’”;</a:t>
            </a:r>
          </a:p>
          <a:p>
            <a:pPr marL="0" indent="0">
              <a:buNone/>
            </a:pPr>
            <a:r>
              <a:rPr lang="en-US" sz="2000" dirty="0"/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371" y="3886200"/>
            <a:ext cx="239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https://www.xyz.com/</a:t>
            </a:r>
            <a:r>
              <a:rPr lang="en-US" dirty="0" err="1"/>
              <a:t>profile.php?id</a:t>
            </a:r>
            <a:r>
              <a:rPr lang="en-US" dirty="0"/>
              <a:t>=</a:t>
            </a:r>
            <a:r>
              <a:rPr lang="en-US" b="1" dirty="0">
                <a:solidFill>
                  <a:srgbClr val="FF0000"/>
                </a:solidFill>
              </a:rPr>
              <a:t>’</a:t>
            </a:r>
            <a:endParaRPr lang="en-SG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12192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Client</a:t>
            </a:r>
            <a:endParaRPr lang="en-SG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3721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Server</a:t>
            </a:r>
            <a:endParaRPr lang="en-SG" b="1" u="sng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286000" y="2161150"/>
            <a:ext cx="838200" cy="16488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2971800" y="3732431"/>
            <a:ext cx="3276600" cy="1600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u="sng" dirty="0"/>
              <a:t>SQL Syntax with user input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users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WHERE username = ‘</a:t>
            </a:r>
            <a:r>
              <a:rPr lang="en-US" sz="2000" b="1" dirty="0">
                <a:solidFill>
                  <a:srgbClr val="FF0000"/>
                </a:solidFill>
              </a:rPr>
              <a:t>’</a:t>
            </a:r>
            <a:r>
              <a:rPr lang="en-US" sz="2000" dirty="0"/>
              <a:t>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52686" y="3048000"/>
            <a:ext cx="319314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7391400" y="23365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Result</a:t>
            </a:r>
            <a:endParaRPr lang="en-SG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228600" y="3581400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21" name="Rectangle 20"/>
          <p:cNvSpPr/>
          <p:nvPr/>
        </p:nvSpPr>
        <p:spPr>
          <a:xfrm>
            <a:off x="2862755" y="1104215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22" name="Rectangle 21"/>
          <p:cNvSpPr/>
          <p:nvPr/>
        </p:nvSpPr>
        <p:spPr>
          <a:xfrm>
            <a:off x="3094639" y="3427631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23" name="Rectangle 22"/>
          <p:cNvSpPr/>
          <p:nvPr/>
        </p:nvSpPr>
        <p:spPr>
          <a:xfrm>
            <a:off x="7642005" y="2055404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8848" y="1504608"/>
            <a:ext cx="2467429" cy="14865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I replace the value ‘</a:t>
            </a:r>
            <a:r>
              <a:rPr lang="en-US" dirty="0" err="1"/>
              <a:t>edmund</a:t>
            </a:r>
            <a:r>
              <a:rPr lang="en-US" dirty="0"/>
              <a:t>’ with a single quote?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7162800" y="2819400"/>
            <a:ext cx="167640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Error in SQL query! Database cannot process it!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650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371600"/>
            <a:ext cx="3429000" cy="1981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Server-Side Code in </a:t>
            </a:r>
            <a:r>
              <a:rPr lang="en-US" sz="2400" b="1" u="sng" dirty="0" err="1"/>
              <a:t>profile.php</a:t>
            </a:r>
            <a:endParaRPr lang="en-US" sz="2400" b="1" u="sng" dirty="0"/>
          </a:p>
          <a:p>
            <a:pPr marL="0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$id = </a:t>
            </a:r>
            <a:r>
              <a:rPr lang="en-US" sz="2000" b="1" dirty="0">
                <a:solidFill>
                  <a:schemeClr val="tx1"/>
                </a:solidFill>
              </a:rPr>
              <a:t>$_GET[‘id’];</a:t>
            </a:r>
          </a:p>
          <a:p>
            <a:pPr marL="0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stmt</a:t>
            </a:r>
            <a:r>
              <a:rPr lang="en-US" sz="2000" dirty="0"/>
              <a:t> = “SELECT * FROM users WHERE username </a:t>
            </a:r>
            <a:r>
              <a:rPr lang="en-US" sz="2000" dirty="0">
                <a:solidFill>
                  <a:schemeClr val="tx1"/>
                </a:solidFill>
              </a:rPr>
              <a:t>=‘”.</a:t>
            </a:r>
            <a:r>
              <a:rPr lang="en-US" sz="2000" b="1" dirty="0">
                <a:solidFill>
                  <a:schemeClr val="tx1"/>
                </a:solidFill>
              </a:rPr>
              <a:t>$id</a:t>
            </a:r>
            <a:r>
              <a:rPr lang="en-US" sz="2000" dirty="0"/>
              <a:t>.”’”;</a:t>
            </a:r>
          </a:p>
          <a:p>
            <a:pPr marL="0" indent="0">
              <a:buNone/>
            </a:pPr>
            <a:r>
              <a:rPr lang="en-US" sz="2000" dirty="0"/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371" y="3886200"/>
            <a:ext cx="239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https://www.xyz.com/</a:t>
            </a:r>
            <a:r>
              <a:rPr lang="en-US" dirty="0" err="1"/>
              <a:t>profile.php?id</a:t>
            </a:r>
            <a:r>
              <a:rPr lang="en-US" dirty="0"/>
              <a:t>=</a:t>
            </a:r>
            <a:r>
              <a:rPr lang="en-US" b="1" dirty="0">
                <a:solidFill>
                  <a:srgbClr val="FF0000"/>
                </a:solidFill>
              </a:rPr>
              <a:t>’ OR ‘1=1</a:t>
            </a:r>
            <a:endParaRPr lang="en-SG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12192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Client</a:t>
            </a:r>
            <a:endParaRPr lang="en-SG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3721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Server</a:t>
            </a:r>
            <a:endParaRPr lang="en-SG" b="1" u="sng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590798" y="2161150"/>
            <a:ext cx="533402" cy="11916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2971800" y="3732431"/>
            <a:ext cx="3276600" cy="1600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/>
              <a:t>SQL Syntax with user input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users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WHERE username = ‘</a:t>
            </a:r>
            <a:r>
              <a:rPr lang="en-US" sz="2000" b="1" dirty="0">
                <a:solidFill>
                  <a:srgbClr val="FF0000"/>
                </a:solidFill>
              </a:rPr>
              <a:t>’ OR ‘1=1</a:t>
            </a:r>
            <a:r>
              <a:rPr lang="en-US" sz="2000" dirty="0"/>
              <a:t>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52686" y="3048000"/>
            <a:ext cx="319314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7391400" y="23365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Result</a:t>
            </a:r>
            <a:endParaRPr lang="en-SG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228600" y="3581400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21" name="Rectangle 20"/>
          <p:cNvSpPr/>
          <p:nvPr/>
        </p:nvSpPr>
        <p:spPr>
          <a:xfrm>
            <a:off x="2862755" y="1104215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22" name="Rectangle 21"/>
          <p:cNvSpPr/>
          <p:nvPr/>
        </p:nvSpPr>
        <p:spPr>
          <a:xfrm>
            <a:off x="3094639" y="3427631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23" name="Rectangle 22"/>
          <p:cNvSpPr/>
          <p:nvPr/>
        </p:nvSpPr>
        <p:spPr>
          <a:xfrm>
            <a:off x="7642005" y="2055404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8848" y="1504608"/>
            <a:ext cx="2467429" cy="14865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I replace with the following value: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‘ OR 1=1#</a:t>
            </a:r>
            <a:endParaRPr lang="en-SG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44397"/>
              </p:ext>
            </p:extLst>
          </p:nvPr>
        </p:nvGraphicFramePr>
        <p:xfrm>
          <a:off x="6629398" y="2775578"/>
          <a:ext cx="2487012" cy="2525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004">
                  <a:extLst>
                    <a:ext uri="{9D8B030D-6E8A-4147-A177-3AD203B41FA5}">
                      <a16:colId xmlns:a16="http://schemas.microsoft.com/office/drawing/2014/main" val="2631003983"/>
                    </a:ext>
                  </a:extLst>
                </a:gridCol>
                <a:gridCol w="694998">
                  <a:extLst>
                    <a:ext uri="{9D8B030D-6E8A-4147-A177-3AD203B41FA5}">
                      <a16:colId xmlns:a16="http://schemas.microsoft.com/office/drawing/2014/main" val="1844194259"/>
                    </a:ext>
                  </a:extLst>
                </a:gridCol>
                <a:gridCol w="963010">
                  <a:extLst>
                    <a:ext uri="{9D8B030D-6E8A-4147-A177-3AD203B41FA5}">
                      <a16:colId xmlns:a16="http://schemas.microsoft.com/office/drawing/2014/main" val="333349826"/>
                    </a:ext>
                  </a:extLst>
                </a:gridCol>
              </a:tblGrid>
              <a:tr h="319436">
                <a:tc>
                  <a:txBody>
                    <a:bodyPr/>
                    <a:lstStyle/>
                    <a:p>
                      <a:r>
                        <a:rPr lang="en-US" sz="1200" dirty="0"/>
                        <a:t>username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profile_pic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068477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hamzah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Sayed </a:t>
                      </a:r>
                      <a:r>
                        <a:rPr lang="en-US" sz="1200" dirty="0" err="1"/>
                        <a:t>Hamzah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http://img.google.com/img.jpg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06804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sz="1200" dirty="0" err="1"/>
                        <a:t>edmund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Edmund</a:t>
                      </a:r>
                      <a:r>
                        <a:rPr lang="en-US" sz="1200" baseline="0" dirty="0"/>
                        <a:t> Wee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http://img.google.com/img2.jpg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4098"/>
                  </a:ext>
                </a:extLst>
              </a:tr>
              <a:tr h="787651">
                <a:tc>
                  <a:txBody>
                    <a:bodyPr/>
                    <a:lstStyle/>
                    <a:p>
                      <a:r>
                        <a:rPr lang="en-US" sz="1200" dirty="0" err="1"/>
                        <a:t>john_doe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John</a:t>
                      </a:r>
                      <a:r>
                        <a:rPr lang="en-US" sz="1200" baseline="0" dirty="0"/>
                        <a:t> Doe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http://img.google.com/img3.jpg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9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16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Impacts</a:t>
            </a:r>
          </a:p>
          <a:p>
            <a:pPr lvl="1"/>
            <a:r>
              <a:rPr lang="en-US" dirty="0" err="1"/>
              <a:t>Unauthorised</a:t>
            </a:r>
            <a:r>
              <a:rPr lang="en-US" dirty="0"/>
              <a:t> </a:t>
            </a:r>
            <a:r>
              <a:rPr lang="en-US" b="1" dirty="0"/>
              <a:t>read/write</a:t>
            </a:r>
            <a:r>
              <a:rPr lang="en-US" dirty="0"/>
              <a:t> operations on </a:t>
            </a:r>
            <a:r>
              <a:rPr lang="en-US" b="1" dirty="0"/>
              <a:t>data</a:t>
            </a:r>
            <a:r>
              <a:rPr lang="en-US" dirty="0"/>
              <a:t> stored in database</a:t>
            </a:r>
          </a:p>
          <a:p>
            <a:pPr lvl="1"/>
            <a:r>
              <a:rPr lang="en-US" dirty="0"/>
              <a:t>Remote Command Execution</a:t>
            </a:r>
          </a:p>
          <a:p>
            <a:pPr lvl="2"/>
            <a:r>
              <a:rPr lang="en-US" dirty="0"/>
              <a:t>Run OS commands on DB</a:t>
            </a:r>
            <a:br>
              <a:rPr lang="en-US" dirty="0"/>
            </a:br>
            <a:endParaRPr lang="en-SG" dirty="0"/>
          </a:p>
          <a:p>
            <a:r>
              <a:rPr lang="en-US" dirty="0"/>
              <a:t>Recommendation</a:t>
            </a:r>
          </a:p>
          <a:p>
            <a:pPr lvl="1"/>
            <a:r>
              <a:rPr lang="en-US" dirty="0"/>
              <a:t>Input Validation (will describe more in XSS)</a:t>
            </a:r>
          </a:p>
          <a:p>
            <a:pPr lvl="1"/>
            <a:r>
              <a:rPr lang="en-US" b="1" dirty="0" err="1"/>
              <a:t>Parameterised</a:t>
            </a:r>
            <a:r>
              <a:rPr lang="en-US" b="1" dirty="0"/>
              <a:t> Queries</a:t>
            </a:r>
          </a:p>
        </p:txBody>
      </p:sp>
    </p:spTree>
    <p:extLst>
      <p:ext uri="{BB962C8B-B14F-4D97-AF65-F5344CB8AC3E}">
        <p14:creationId xmlns:p14="http://schemas.microsoft.com/office/powerpoint/2010/main" val="214154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371600"/>
            <a:ext cx="3429000" cy="1981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Server-Side Code in </a:t>
            </a:r>
            <a:r>
              <a:rPr lang="en-US" sz="2400" b="1" u="sng" dirty="0" err="1"/>
              <a:t>profile.php</a:t>
            </a:r>
            <a:endParaRPr lang="en-US" sz="2400" b="1" u="sng" dirty="0"/>
          </a:p>
          <a:p>
            <a:pPr marL="0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$id = </a:t>
            </a:r>
            <a:r>
              <a:rPr lang="en-US" sz="2000" b="1" dirty="0">
                <a:solidFill>
                  <a:schemeClr val="tx1"/>
                </a:solidFill>
              </a:rPr>
              <a:t>$_GET[‘id’];</a:t>
            </a:r>
          </a:p>
          <a:p>
            <a:pPr marL="0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stmt</a:t>
            </a:r>
            <a:r>
              <a:rPr lang="en-US" sz="2000" dirty="0"/>
              <a:t> = “SELECT * FROM users WHERE username </a:t>
            </a:r>
            <a:r>
              <a:rPr lang="en-US" sz="2000" dirty="0">
                <a:solidFill>
                  <a:schemeClr val="tx1"/>
                </a:solidFill>
              </a:rPr>
              <a:t>=‘”.</a:t>
            </a:r>
            <a:r>
              <a:rPr lang="en-US" sz="2000" b="1" dirty="0">
                <a:solidFill>
                  <a:schemeClr val="tx1"/>
                </a:solidFill>
              </a:rPr>
              <a:t>$id</a:t>
            </a:r>
            <a:r>
              <a:rPr lang="en-US" sz="2000" dirty="0"/>
              <a:t>.”’”;</a:t>
            </a:r>
          </a:p>
          <a:p>
            <a:pPr marL="0" indent="0">
              <a:buNone/>
            </a:pPr>
            <a:r>
              <a:rPr lang="en-US" sz="2000" dirty="0"/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371" y="3886200"/>
            <a:ext cx="239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https://www.xyz.com/</a:t>
            </a:r>
            <a:r>
              <a:rPr lang="en-US" dirty="0" err="1"/>
              <a:t>profile.php?id</a:t>
            </a:r>
            <a:r>
              <a:rPr lang="en-US" dirty="0"/>
              <a:t>=</a:t>
            </a:r>
            <a:r>
              <a:rPr lang="en-US" b="1" dirty="0">
                <a:solidFill>
                  <a:srgbClr val="FF0000"/>
                </a:solidFill>
              </a:rPr>
              <a:t>’ OR ‘1=1</a:t>
            </a:r>
            <a:endParaRPr lang="en-SG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12192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Client</a:t>
            </a:r>
            <a:endParaRPr lang="en-SG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3721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Server</a:t>
            </a:r>
            <a:endParaRPr lang="en-SG" b="1" u="sng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828800" y="2161150"/>
            <a:ext cx="1295400" cy="15712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2971800" y="3732431"/>
            <a:ext cx="3276600" cy="1600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/>
              <a:t>SQL Syntax with user input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users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WHERE username = ‘</a:t>
            </a:r>
            <a:r>
              <a:rPr lang="en-US" sz="2000" b="1" u="sng" dirty="0">
                <a:solidFill>
                  <a:srgbClr val="FF0000"/>
                </a:solidFill>
              </a:rPr>
              <a:t>’ OR ‘1=1</a:t>
            </a:r>
            <a:r>
              <a:rPr lang="en-US" sz="2000" dirty="0"/>
              <a:t>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52686" y="3048000"/>
            <a:ext cx="319314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7391400" y="23365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Result</a:t>
            </a:r>
            <a:endParaRPr lang="en-SG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228600" y="3581400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21" name="Rectangle 20"/>
          <p:cNvSpPr/>
          <p:nvPr/>
        </p:nvSpPr>
        <p:spPr>
          <a:xfrm>
            <a:off x="2862755" y="1104215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22" name="Rectangle 21"/>
          <p:cNvSpPr/>
          <p:nvPr/>
        </p:nvSpPr>
        <p:spPr>
          <a:xfrm>
            <a:off x="3094639" y="3427631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23" name="Rectangle 22"/>
          <p:cNvSpPr/>
          <p:nvPr/>
        </p:nvSpPr>
        <p:spPr>
          <a:xfrm>
            <a:off x="7642005" y="2055404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8848" y="1504608"/>
            <a:ext cx="2467429" cy="14865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Inject following value with current server-side code (no prepared statement):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‘ OR ‘1=1</a:t>
            </a:r>
            <a:endParaRPr lang="en-SG" sz="16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629398" y="2775578"/>
          <a:ext cx="2487012" cy="2525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004">
                  <a:extLst>
                    <a:ext uri="{9D8B030D-6E8A-4147-A177-3AD203B41FA5}">
                      <a16:colId xmlns:a16="http://schemas.microsoft.com/office/drawing/2014/main" val="2631003983"/>
                    </a:ext>
                  </a:extLst>
                </a:gridCol>
                <a:gridCol w="694998">
                  <a:extLst>
                    <a:ext uri="{9D8B030D-6E8A-4147-A177-3AD203B41FA5}">
                      <a16:colId xmlns:a16="http://schemas.microsoft.com/office/drawing/2014/main" val="1844194259"/>
                    </a:ext>
                  </a:extLst>
                </a:gridCol>
                <a:gridCol w="963010">
                  <a:extLst>
                    <a:ext uri="{9D8B030D-6E8A-4147-A177-3AD203B41FA5}">
                      <a16:colId xmlns:a16="http://schemas.microsoft.com/office/drawing/2014/main" val="333349826"/>
                    </a:ext>
                  </a:extLst>
                </a:gridCol>
              </a:tblGrid>
              <a:tr h="319436">
                <a:tc>
                  <a:txBody>
                    <a:bodyPr/>
                    <a:lstStyle/>
                    <a:p>
                      <a:r>
                        <a:rPr lang="en-US" sz="1200" dirty="0"/>
                        <a:t>username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profile_name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profile_pic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068477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hamzah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Sayed </a:t>
                      </a:r>
                      <a:r>
                        <a:rPr lang="en-US" sz="1200" dirty="0" err="1"/>
                        <a:t>Hamzah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http://img.google.com/img.jpg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06804"/>
                  </a:ext>
                </a:extLst>
              </a:tr>
              <a:tr h="551356">
                <a:tc>
                  <a:txBody>
                    <a:bodyPr/>
                    <a:lstStyle/>
                    <a:p>
                      <a:r>
                        <a:rPr lang="en-US" sz="1200" dirty="0" err="1"/>
                        <a:t>edmund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Edmund</a:t>
                      </a:r>
                      <a:r>
                        <a:rPr lang="en-US" sz="1200" baseline="0" dirty="0"/>
                        <a:t> Wee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http://img.google.com/img2.jpg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4098"/>
                  </a:ext>
                </a:extLst>
              </a:tr>
              <a:tr h="787651">
                <a:tc>
                  <a:txBody>
                    <a:bodyPr/>
                    <a:lstStyle/>
                    <a:p>
                      <a:r>
                        <a:rPr lang="en-US" sz="1200" dirty="0" err="1"/>
                        <a:t>john_doe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John</a:t>
                      </a:r>
                      <a:r>
                        <a:rPr lang="en-US" sz="1200" baseline="0" dirty="0"/>
                        <a:t> Doe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http://img.google.com/img3.jpg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95984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3399439" y="5225758"/>
            <a:ext cx="1143000" cy="379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42439" y="5315174"/>
            <a:ext cx="140116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Input regarded as part of SQL syntax</a:t>
            </a:r>
          </a:p>
        </p:txBody>
      </p:sp>
    </p:spTree>
    <p:extLst>
      <p:ext uri="{BB962C8B-B14F-4D97-AF65-F5344CB8AC3E}">
        <p14:creationId xmlns:p14="http://schemas.microsoft.com/office/powerpoint/2010/main" val="213818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371600"/>
            <a:ext cx="3429000" cy="198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Server-Side Code in </a:t>
            </a:r>
            <a:r>
              <a:rPr lang="en-US" sz="2400" b="1" u="sng" dirty="0" err="1"/>
              <a:t>profile.php</a:t>
            </a:r>
            <a:endParaRPr lang="en-US" sz="2400" b="1" u="sng" dirty="0"/>
          </a:p>
          <a:p>
            <a:pPr marL="0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$id = </a:t>
            </a:r>
            <a:r>
              <a:rPr lang="en-US" sz="2000" b="1" dirty="0">
                <a:solidFill>
                  <a:schemeClr val="tx1"/>
                </a:solidFill>
              </a:rPr>
              <a:t>$_GET[‘id’];</a:t>
            </a:r>
          </a:p>
          <a:p>
            <a:pPr marL="0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stmt</a:t>
            </a:r>
            <a:r>
              <a:rPr lang="en-US" sz="2000" dirty="0"/>
              <a:t> = $conn-&gt;prepare(“SELECT * FROM users WHERE username </a:t>
            </a:r>
            <a:r>
              <a:rPr lang="en-US" sz="2000" dirty="0">
                <a:solidFill>
                  <a:schemeClr val="tx1"/>
                </a:solidFill>
              </a:rPr>
              <a:t>=</a:t>
            </a:r>
            <a:r>
              <a:rPr lang="en-US" sz="2000" dirty="0"/>
              <a:t> ‘?’”);</a:t>
            </a:r>
          </a:p>
          <a:p>
            <a:pPr marL="0" indent="0">
              <a:buNone/>
            </a:pPr>
            <a:r>
              <a:rPr lang="en-US" sz="2000" dirty="0"/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371" y="3886200"/>
            <a:ext cx="2391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https://www.xyz.com/</a:t>
            </a:r>
            <a:r>
              <a:rPr lang="en-US" dirty="0" err="1"/>
              <a:t>profile.php?id</a:t>
            </a:r>
            <a:r>
              <a:rPr lang="en-US" dirty="0"/>
              <a:t>=</a:t>
            </a:r>
            <a:r>
              <a:rPr lang="en-US" b="1" dirty="0">
                <a:solidFill>
                  <a:srgbClr val="FF0000"/>
                </a:solidFill>
              </a:rPr>
              <a:t>’ OR ‘1=1</a:t>
            </a:r>
            <a:endParaRPr lang="en-SG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12192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Client</a:t>
            </a:r>
            <a:endParaRPr lang="en-SG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5372100" y="5943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Server</a:t>
            </a:r>
            <a:endParaRPr lang="en-SG" b="1" u="sng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85800" y="2819400"/>
            <a:ext cx="2286000" cy="762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2971800" y="3732431"/>
            <a:ext cx="3276600" cy="1600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/>
              <a:t>SQL Syntax with user input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users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WHERE username = ‘</a:t>
            </a:r>
            <a:r>
              <a:rPr lang="en-US" sz="2000" b="1" u="sng" dirty="0">
                <a:solidFill>
                  <a:srgbClr val="FF0000"/>
                </a:solidFill>
              </a:rPr>
              <a:t>’ OR ‘1=1</a:t>
            </a:r>
            <a:r>
              <a:rPr lang="en-US" sz="2000" dirty="0"/>
              <a:t>’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52686" y="3048000"/>
            <a:ext cx="319314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/>
          <p:cNvSpPr txBox="1"/>
          <p:nvPr/>
        </p:nvSpPr>
        <p:spPr>
          <a:xfrm>
            <a:off x="7391400" y="233655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Result</a:t>
            </a:r>
            <a:endParaRPr lang="en-SG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228600" y="3581400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21" name="Rectangle 20"/>
          <p:cNvSpPr/>
          <p:nvPr/>
        </p:nvSpPr>
        <p:spPr>
          <a:xfrm>
            <a:off x="2862755" y="1104215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22" name="Rectangle 21"/>
          <p:cNvSpPr/>
          <p:nvPr/>
        </p:nvSpPr>
        <p:spPr>
          <a:xfrm>
            <a:off x="3094639" y="3427631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23" name="Rectangle 22"/>
          <p:cNvSpPr/>
          <p:nvPr/>
        </p:nvSpPr>
        <p:spPr>
          <a:xfrm>
            <a:off x="7642005" y="2055404"/>
            <a:ext cx="304800" cy="304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8848" y="1504608"/>
            <a:ext cx="2467429" cy="14865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Inject following value with modified server-side code </a:t>
            </a:r>
            <a:r>
              <a:rPr lang="en-US" sz="1600"/>
              <a:t>(with prepared </a:t>
            </a:r>
            <a:r>
              <a:rPr lang="en-US" sz="1600" dirty="0"/>
              <a:t>statement):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‘ OR 1=1#</a:t>
            </a:r>
            <a:endParaRPr lang="en-SG" sz="16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562600" y="4953000"/>
            <a:ext cx="1143000" cy="379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05600" y="4491042"/>
            <a:ext cx="2225895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Regarded as a String value, not part of the SQL command</a:t>
            </a:r>
          </a:p>
          <a:p>
            <a:endParaRPr lang="en-US" sz="1400" dirty="0"/>
          </a:p>
          <a:p>
            <a:r>
              <a:rPr lang="en-US" sz="1400" dirty="0"/>
              <a:t>DB looks for system whereby username is </a:t>
            </a:r>
            <a:r>
              <a:rPr lang="en-US" sz="1400" b="1" dirty="0"/>
              <a:t>‘ OR ‘1=1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1596653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OWASP Top 10 2017</a:t>
            </a:r>
            <a:br>
              <a:rPr lang="en-US" dirty="0"/>
            </a:br>
            <a:r>
              <a:rPr lang="en-US" dirty="0"/>
              <a:t>A1: Injection – SQL Injection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application functionalities to look out for when finding SQL injection vulnerabilities?</a:t>
            </a:r>
          </a:p>
          <a:p>
            <a:pPr lvl="1"/>
            <a:r>
              <a:rPr lang="en-US" dirty="0"/>
              <a:t>Viewing-based functionalities</a:t>
            </a:r>
          </a:p>
          <a:p>
            <a:pPr lvl="2"/>
            <a:r>
              <a:rPr lang="en-US" dirty="0"/>
              <a:t>Product info (‘</a:t>
            </a:r>
            <a:r>
              <a:rPr lang="en-US" dirty="0" err="1"/>
              <a:t>item.php?id</a:t>
            </a:r>
            <a:r>
              <a:rPr lang="en-US" dirty="0"/>
              <a:t>=2’, id is vulnerable parameter)</a:t>
            </a:r>
          </a:p>
          <a:p>
            <a:pPr lvl="1"/>
            <a:r>
              <a:rPr lang="en-US" dirty="0"/>
              <a:t>Creation/modification-based functionalities</a:t>
            </a:r>
          </a:p>
          <a:p>
            <a:pPr lvl="2"/>
            <a:r>
              <a:rPr lang="en-US" dirty="0"/>
              <a:t>Edit profile information</a:t>
            </a:r>
          </a:p>
          <a:p>
            <a:pPr lvl="1"/>
            <a:r>
              <a:rPr lang="en-US" dirty="0"/>
              <a:t>Authentication logic (checking username and password against database)</a:t>
            </a:r>
          </a:p>
        </p:txBody>
      </p:sp>
    </p:spTree>
    <p:extLst>
      <p:ext uri="{BB962C8B-B14F-4D97-AF65-F5344CB8AC3E}">
        <p14:creationId xmlns:p14="http://schemas.microsoft.com/office/powerpoint/2010/main" val="269229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6502</TotalTime>
  <Words>1059</Words>
  <Application>Microsoft Office PowerPoint</Application>
  <PresentationFormat>On-screen Show (4:3)</PresentationFormat>
  <Paragraphs>218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Calibri</vt:lpstr>
      <vt:lpstr>Times New Roman</vt:lpstr>
      <vt:lpstr>Office Theme</vt:lpstr>
      <vt:lpstr>PowerPoint Presentation</vt:lpstr>
      <vt:lpstr>OWASP Top 10 2017 A1: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  <vt:lpstr>OWASP Top 10 2017 A1: Injection – SQL Injection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Sayed Sayed Hamzah Bin Sayed Ali Alhabshe</cp:lastModifiedBy>
  <cp:revision>988</cp:revision>
  <dcterms:created xsi:type="dcterms:W3CDTF">2012-02-09T05:42:03Z</dcterms:created>
  <dcterms:modified xsi:type="dcterms:W3CDTF">2024-03-06T09:11:34Z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2019-12-19T09:33:12.4270747Z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1b2a598c-1de4-4d3f-9ecd-e6e2c9ba1fa9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2019-12-19T09:33:12.4270747Z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1b2a598c-1de4-4d3f-9ecd-e6e2c9ba1fa9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