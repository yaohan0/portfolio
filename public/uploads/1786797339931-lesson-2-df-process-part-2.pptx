
<file path=[Content_Types].xml><?xml version="1.0" encoding="utf-8"?>
<Types xmlns="http://schemas.openxmlformats.org/package/2006/content-types">
  <Default Extension="xml" ContentType="application/xml"/>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9"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customXml" Target="../customXml/item3.xml"/><Relationship Id="rId31" Type="http://schemas.openxmlformats.org/officeDocument/2006/relationships/customXml" Target="../customXml/item2.xml"/><Relationship Id="rId30" Type="http://schemas.openxmlformats.org/officeDocument/2006/relationships/customXml" Target="../customXml/item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FB8500"/>
          </a:solidFill>
          <a:ln w="12700">
            <a:solidFill>
              <a:srgbClr val="FB8500"/>
            </a:solidFill>
            <a:prstDash val="solid"/>
          </a:ln>
        </p:spPr>
        <p:txBody>
          <a:bodyPr/>
          <a:lstStyle/>
          <a:p>
            <a:endParaRPr lang="en-SG"/>
          </a:p>
        </p:txBody>
      </p:sp>
      <p:sp>
        <p:nvSpPr>
          <p:cNvPr id="3" name="Shape 1"/>
          <p:cNvSpPr/>
          <p:nvPr/>
        </p:nvSpPr>
        <p:spPr>
          <a:xfrm>
            <a:off x="6583680" y="-731520"/>
            <a:ext cx="3291840" cy="3291840"/>
          </a:xfrm>
          <a:prstGeom prst="ellipse">
            <a:avLst/>
          </a:prstGeom>
          <a:noFill/>
          <a:ln w="12700">
            <a:solidFill>
              <a:srgbClr val="FFFFFF">
                <a:alpha val="5000"/>
              </a:srgbClr>
            </a:solidFill>
            <a:prstDash val="solid"/>
          </a:ln>
        </p:spPr>
        <p:txBody>
          <a:bodyPr/>
          <a:lstStyle/>
          <a:p>
            <a:endParaRPr lang="en-SG"/>
          </a:p>
        </p:txBody>
      </p:sp>
      <p:sp>
        <p:nvSpPr>
          <p:cNvPr id="4" name="Shape 2"/>
          <p:cNvSpPr/>
          <p:nvPr/>
        </p:nvSpPr>
        <p:spPr>
          <a:xfrm>
            <a:off x="7315200" y="2560320"/>
            <a:ext cx="2011680" cy="2011680"/>
          </a:xfrm>
          <a:prstGeom prst="ellipse">
            <a:avLst/>
          </a:prstGeom>
          <a:solidFill>
            <a:srgbClr val="FB8500">
              <a:alpha val="12000"/>
            </a:srgbClr>
          </a:solidFill>
          <a:ln w="12700">
            <a:solidFill>
              <a:srgbClr val="FB8500">
                <a:alpha val="12000"/>
              </a:srgbClr>
            </a:solidFill>
            <a:prstDash val="solid"/>
          </a:ln>
        </p:spPr>
        <p:txBody>
          <a:bodyPr/>
          <a:lstStyle/>
          <a:p>
            <a:endParaRPr lang="en-SG"/>
          </a:p>
        </p:txBody>
      </p:sp>
      <p:sp>
        <p:nvSpPr>
          <p:cNvPr id="5" name="Text 3"/>
          <p:cNvSpPr/>
          <p:nvPr/>
        </p:nvSpPr>
        <p:spPr>
          <a:xfrm>
            <a:off x="566928" y="502920"/>
            <a:ext cx="6583680" cy="2194560"/>
          </a:xfrm>
          <a:prstGeom prst="rect">
            <a:avLst/>
          </a:prstGeom>
          <a:noFill/>
        </p:spPr>
        <p:txBody>
          <a:bodyPr wrap="square" rtlCol="0" anchor="ctr"/>
          <a:lstStyle/>
          <a:p>
            <a:pPr marL="0" indent="0">
              <a:buNone/>
            </a:pPr>
            <a:r>
              <a:rPr lang="en-US" sz="62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DIGITAL</a:t>
            </a:r>
            <a:endParaRPr lang="en-US" sz="6200" dirty="0"/>
          </a:p>
          <a:p>
            <a:pPr marL="0" indent="0">
              <a:buNone/>
            </a:pPr>
            <a:r>
              <a:rPr lang="en-US" sz="62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FORENSICS</a:t>
            </a:r>
            <a:endParaRPr lang="en-US" sz="6200" dirty="0"/>
          </a:p>
        </p:txBody>
      </p:sp>
      <p:sp>
        <p:nvSpPr>
          <p:cNvPr id="6" name="Text 4"/>
          <p:cNvSpPr/>
          <p:nvPr/>
        </p:nvSpPr>
        <p:spPr>
          <a:xfrm>
            <a:off x="566928" y="2743200"/>
            <a:ext cx="7132320" cy="475488"/>
          </a:xfrm>
          <a:prstGeom prst="rect">
            <a:avLst/>
          </a:prstGeom>
          <a:noFill/>
        </p:spPr>
        <p:txBody>
          <a:bodyPr wrap="square" rtlCol="0" anchor="ctr"/>
          <a:lstStyle/>
          <a:p>
            <a:pPr marL="0" indent="0">
              <a:buNone/>
            </a:pPr>
            <a:r>
              <a:rPr lang="en-US" sz="1600" i="1" dirty="0">
                <a:solidFill>
                  <a:srgbClr val="FB8500"/>
                </a:solidFill>
                <a:latin typeface="Calibri" panose="020F0502020204030204" pitchFamily="34" charset="0"/>
                <a:ea typeface="Calibri" panose="020F0502020204030204" pitchFamily="34" charset="-122"/>
                <a:cs typeface="Calibri" panose="020F0502020204030204" pitchFamily="34" charset="-120"/>
              </a:rPr>
              <a:t>Week 2 — Digital Evidence, Examination, Analysis &amp; Reporting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FFFFF"/>
          </a:solidFill>
          <a:ln w="12700">
            <a:solidFill>
              <a:srgbClr val="FFFFFF"/>
            </a:solidFill>
            <a:prstDash val="solid"/>
          </a:ln>
        </p:spPr>
        <p:txBody>
          <a:bodyPr/>
          <a:lstStyle/>
          <a:p>
            <a:endParaRPr lang="en-SG"/>
          </a:p>
        </p:txBody>
      </p:sp>
      <p:sp>
        <p:nvSpPr>
          <p:cNvPr id="3" name="Text 1"/>
          <p:cNvSpPr/>
          <p:nvPr/>
        </p:nvSpPr>
        <p:spPr>
          <a:xfrm>
            <a:off x="274320" y="137160"/>
            <a:ext cx="8595360" cy="402336"/>
          </a:xfrm>
          <a:prstGeom prst="rect">
            <a:avLst/>
          </a:prstGeom>
          <a:noFill/>
        </p:spPr>
        <p:txBody>
          <a:bodyPr wrap="square" rtlCol="0" anchor="ctr"/>
          <a:lstStyle/>
          <a:p>
            <a:pPr marL="0" indent="0">
              <a:buNone/>
            </a:pPr>
            <a:r>
              <a:rPr lang="en-US" sz="19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Learning Journey — Week 2 Course Roadmap</a:t>
            </a:r>
            <a:endParaRPr lang="en-US" sz="1900" dirty="0"/>
          </a:p>
        </p:txBody>
      </p:sp>
      <p:sp>
        <p:nvSpPr>
          <p:cNvPr id="4" name="Shape 2"/>
          <p:cNvSpPr/>
          <p:nvPr/>
        </p:nvSpPr>
        <p:spPr>
          <a:xfrm>
            <a:off x="109728" y="749808"/>
            <a:ext cx="2907792" cy="1956816"/>
          </a:xfrm>
          <a:prstGeom prst="rect">
            <a:avLst/>
          </a:prstGeom>
          <a:solidFill>
            <a:srgbClr val="EEF6FB"/>
          </a:solidFill>
          <a:ln w="12700">
            <a:solidFill>
              <a:srgbClr val="00B4D8"/>
            </a:solidFill>
            <a:prstDash val="solid"/>
          </a:ln>
        </p:spPr>
        <p:txBody>
          <a:bodyPr/>
          <a:lstStyle/>
          <a:p>
            <a:endParaRPr lang="en-SG"/>
          </a:p>
        </p:txBody>
      </p:sp>
      <p:sp>
        <p:nvSpPr>
          <p:cNvPr id="5" name="Shape 3"/>
          <p:cNvSpPr/>
          <p:nvPr/>
        </p:nvSpPr>
        <p:spPr>
          <a:xfrm>
            <a:off x="109728" y="749808"/>
            <a:ext cx="2907792" cy="384048"/>
          </a:xfrm>
          <a:prstGeom prst="rect">
            <a:avLst/>
          </a:prstGeom>
          <a:solidFill>
            <a:srgbClr val="00B4D8"/>
          </a:solidFill>
          <a:ln w="12700">
            <a:solidFill>
              <a:srgbClr val="00B4D8"/>
            </a:solidFill>
            <a:prstDash val="solid"/>
          </a:ln>
        </p:spPr>
        <p:txBody>
          <a:bodyPr/>
          <a:lstStyle/>
          <a:p>
            <a:endParaRPr lang="en-SG"/>
          </a:p>
        </p:txBody>
      </p:sp>
      <p:sp>
        <p:nvSpPr>
          <p:cNvPr id="6" name="Text 4"/>
          <p:cNvSpPr/>
          <p:nvPr/>
        </p:nvSpPr>
        <p:spPr>
          <a:xfrm>
            <a:off x="201168" y="804672"/>
            <a:ext cx="2706624" cy="237744"/>
          </a:xfrm>
          <a:prstGeom prst="rect">
            <a:avLst/>
          </a:prstGeom>
          <a:noFill/>
        </p:spPr>
        <p:txBody>
          <a:bodyPr wrap="square" rtlCol="0" anchor="ctr"/>
          <a:lstStyle/>
          <a:p>
            <a:pPr marL="0" indent="0">
              <a:buNone/>
            </a:pPr>
            <a:r>
              <a:rPr lang="en-US" sz="1150" b="1" kern="0" spc="1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  REMEMBER</a:t>
            </a:r>
            <a:endParaRPr lang="en-US" sz="1150" dirty="0"/>
          </a:p>
        </p:txBody>
      </p:sp>
      <p:sp>
        <p:nvSpPr>
          <p:cNvPr id="7" name="Text 5"/>
          <p:cNvSpPr/>
          <p:nvPr/>
        </p:nvSpPr>
        <p:spPr>
          <a:xfrm>
            <a:off x="237744" y="1207008"/>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Process Recap</a:t>
            </a:r>
            <a:endParaRPr lang="en-US" sz="1000" dirty="0"/>
          </a:p>
        </p:txBody>
      </p:sp>
      <p:sp>
        <p:nvSpPr>
          <p:cNvPr id="8" name="Text 6"/>
          <p:cNvSpPr/>
          <p:nvPr/>
        </p:nvSpPr>
        <p:spPr>
          <a:xfrm>
            <a:off x="237744" y="1554480"/>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What is Digital Evidence?</a:t>
            </a:r>
            <a:endParaRPr lang="en-US" sz="1000" dirty="0"/>
          </a:p>
        </p:txBody>
      </p:sp>
      <p:sp>
        <p:nvSpPr>
          <p:cNvPr id="9" name="Text 7"/>
          <p:cNvSpPr/>
          <p:nvPr/>
        </p:nvSpPr>
        <p:spPr>
          <a:xfrm>
            <a:off x="237744" y="1901952"/>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Rules of Digital Evidence</a:t>
            </a:r>
            <a:endParaRPr lang="en-US" sz="1000" dirty="0"/>
          </a:p>
        </p:txBody>
      </p:sp>
      <p:sp>
        <p:nvSpPr>
          <p:cNvPr id="10" name="Shape 8"/>
          <p:cNvSpPr/>
          <p:nvPr/>
        </p:nvSpPr>
        <p:spPr>
          <a:xfrm>
            <a:off x="3145536" y="749808"/>
            <a:ext cx="2907792" cy="1956816"/>
          </a:xfrm>
          <a:prstGeom prst="rect">
            <a:avLst/>
          </a:prstGeom>
          <a:solidFill>
            <a:srgbClr val="EEF6FB"/>
          </a:solidFill>
          <a:ln w="12700">
            <a:solidFill>
              <a:srgbClr val="06D6A0"/>
            </a:solidFill>
            <a:prstDash val="solid"/>
          </a:ln>
        </p:spPr>
        <p:txBody>
          <a:bodyPr/>
          <a:lstStyle/>
          <a:p>
            <a:endParaRPr lang="en-SG"/>
          </a:p>
        </p:txBody>
      </p:sp>
      <p:sp>
        <p:nvSpPr>
          <p:cNvPr id="11" name="Shape 9"/>
          <p:cNvSpPr/>
          <p:nvPr/>
        </p:nvSpPr>
        <p:spPr>
          <a:xfrm>
            <a:off x="3145536" y="749808"/>
            <a:ext cx="2907792" cy="384048"/>
          </a:xfrm>
          <a:prstGeom prst="rect">
            <a:avLst/>
          </a:prstGeom>
          <a:solidFill>
            <a:srgbClr val="06D6A0"/>
          </a:solidFill>
          <a:ln w="12700">
            <a:solidFill>
              <a:srgbClr val="06D6A0"/>
            </a:solidFill>
            <a:prstDash val="solid"/>
          </a:ln>
        </p:spPr>
        <p:txBody>
          <a:bodyPr/>
          <a:lstStyle/>
          <a:p>
            <a:endParaRPr lang="en-SG"/>
          </a:p>
        </p:txBody>
      </p:sp>
      <p:sp>
        <p:nvSpPr>
          <p:cNvPr id="12" name="Text 10"/>
          <p:cNvSpPr/>
          <p:nvPr/>
        </p:nvSpPr>
        <p:spPr>
          <a:xfrm>
            <a:off x="3236976" y="804672"/>
            <a:ext cx="2706624" cy="237744"/>
          </a:xfrm>
          <a:prstGeom prst="rect">
            <a:avLst/>
          </a:prstGeom>
          <a:noFill/>
        </p:spPr>
        <p:txBody>
          <a:bodyPr wrap="square" rtlCol="0" anchor="ctr"/>
          <a:lstStyle/>
          <a:p>
            <a:pPr marL="0" indent="0">
              <a:buNone/>
            </a:pPr>
            <a:r>
              <a:rPr lang="en-US" sz="115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02  UNDERSTAND</a:t>
            </a:r>
            <a:endParaRPr lang="en-US" sz="1150" dirty="0"/>
          </a:p>
        </p:txBody>
      </p:sp>
      <p:sp>
        <p:nvSpPr>
          <p:cNvPr id="13" name="Text 11"/>
          <p:cNvSpPr/>
          <p:nvPr/>
        </p:nvSpPr>
        <p:spPr>
          <a:xfrm>
            <a:off x="3273552" y="1207008"/>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Examination Phase — Artefact Extraction &amp; Analysis</a:t>
            </a:r>
            <a:endParaRPr lang="en-US" sz="1000" dirty="0"/>
          </a:p>
        </p:txBody>
      </p:sp>
      <p:sp>
        <p:nvSpPr>
          <p:cNvPr id="14" name="Shape 12"/>
          <p:cNvSpPr/>
          <p:nvPr/>
        </p:nvSpPr>
        <p:spPr>
          <a:xfrm>
            <a:off x="6181344" y="749808"/>
            <a:ext cx="2907792" cy="1956816"/>
          </a:xfrm>
          <a:prstGeom prst="rect">
            <a:avLst/>
          </a:prstGeom>
          <a:solidFill>
            <a:srgbClr val="EEF6FB"/>
          </a:solidFill>
          <a:ln w="12700">
            <a:solidFill>
              <a:srgbClr val="FFB703"/>
            </a:solidFill>
            <a:prstDash val="solid"/>
          </a:ln>
        </p:spPr>
        <p:txBody>
          <a:bodyPr/>
          <a:lstStyle/>
          <a:p>
            <a:endParaRPr lang="en-SG"/>
          </a:p>
        </p:txBody>
      </p:sp>
      <p:sp>
        <p:nvSpPr>
          <p:cNvPr id="15" name="Shape 13"/>
          <p:cNvSpPr/>
          <p:nvPr/>
        </p:nvSpPr>
        <p:spPr>
          <a:xfrm>
            <a:off x="6181344" y="749808"/>
            <a:ext cx="2907792" cy="384048"/>
          </a:xfrm>
          <a:prstGeom prst="rect">
            <a:avLst/>
          </a:prstGeom>
          <a:solidFill>
            <a:srgbClr val="FFB703"/>
          </a:solidFill>
          <a:ln w="12700">
            <a:solidFill>
              <a:srgbClr val="FFB703"/>
            </a:solidFill>
            <a:prstDash val="solid"/>
          </a:ln>
        </p:spPr>
        <p:txBody>
          <a:bodyPr/>
          <a:lstStyle/>
          <a:p>
            <a:endParaRPr lang="en-SG"/>
          </a:p>
        </p:txBody>
      </p:sp>
      <p:sp>
        <p:nvSpPr>
          <p:cNvPr id="16" name="Text 14"/>
          <p:cNvSpPr/>
          <p:nvPr/>
        </p:nvSpPr>
        <p:spPr>
          <a:xfrm>
            <a:off x="6272784" y="804672"/>
            <a:ext cx="2706624" cy="237744"/>
          </a:xfrm>
          <a:prstGeom prst="rect">
            <a:avLst/>
          </a:prstGeom>
          <a:noFill/>
        </p:spPr>
        <p:txBody>
          <a:bodyPr wrap="square" rtlCol="0" anchor="ctr"/>
          <a:lstStyle/>
          <a:p>
            <a:pPr marL="0" indent="0">
              <a:buNone/>
            </a:pPr>
            <a:r>
              <a:rPr lang="en-US" sz="1150" b="1" kern="0" spc="1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  APPLY</a:t>
            </a:r>
            <a:endParaRPr lang="en-US" sz="1150" dirty="0"/>
          </a:p>
        </p:txBody>
      </p:sp>
      <p:sp>
        <p:nvSpPr>
          <p:cNvPr id="17" name="Text 15"/>
          <p:cNvSpPr/>
          <p:nvPr/>
        </p:nvSpPr>
        <p:spPr>
          <a:xfrm>
            <a:off x="6309360" y="1207008"/>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Analysis Phase — Forensic Images &amp; Techniques</a:t>
            </a:r>
            <a:endParaRPr lang="en-US" sz="1000" dirty="0"/>
          </a:p>
        </p:txBody>
      </p:sp>
      <p:sp>
        <p:nvSpPr>
          <p:cNvPr id="18" name="Text 16"/>
          <p:cNvSpPr/>
          <p:nvPr/>
        </p:nvSpPr>
        <p:spPr>
          <a:xfrm>
            <a:off x="6309360" y="1554480"/>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MACB Timestamps — Definition &amp; Forensic Role</a:t>
            </a:r>
            <a:endParaRPr lang="en-US" sz="1000" dirty="0"/>
          </a:p>
        </p:txBody>
      </p:sp>
      <p:sp>
        <p:nvSpPr>
          <p:cNvPr id="19" name="Text 17"/>
          <p:cNvSpPr/>
          <p:nvPr/>
        </p:nvSpPr>
        <p:spPr>
          <a:xfrm>
            <a:off x="6309360" y="1901952"/>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Analysis Methodology &amp; 5WH Mapping</a:t>
            </a:r>
            <a:endParaRPr lang="en-US" sz="1000" dirty="0"/>
          </a:p>
        </p:txBody>
      </p:sp>
      <p:sp>
        <p:nvSpPr>
          <p:cNvPr id="20" name="Shape 18"/>
          <p:cNvSpPr/>
          <p:nvPr/>
        </p:nvSpPr>
        <p:spPr>
          <a:xfrm>
            <a:off x="109728" y="2816352"/>
            <a:ext cx="2907792" cy="1956816"/>
          </a:xfrm>
          <a:prstGeom prst="rect">
            <a:avLst/>
          </a:prstGeom>
          <a:solidFill>
            <a:srgbClr val="EEF6FB"/>
          </a:solidFill>
          <a:ln w="12700">
            <a:solidFill>
              <a:srgbClr val="FB8500"/>
            </a:solidFill>
            <a:prstDash val="solid"/>
          </a:ln>
        </p:spPr>
        <p:txBody>
          <a:bodyPr/>
          <a:lstStyle/>
          <a:p>
            <a:endParaRPr lang="en-SG"/>
          </a:p>
        </p:txBody>
      </p:sp>
      <p:sp>
        <p:nvSpPr>
          <p:cNvPr id="21" name="Shape 19"/>
          <p:cNvSpPr/>
          <p:nvPr/>
        </p:nvSpPr>
        <p:spPr>
          <a:xfrm>
            <a:off x="109728" y="2816352"/>
            <a:ext cx="2907792" cy="384048"/>
          </a:xfrm>
          <a:prstGeom prst="rect">
            <a:avLst/>
          </a:prstGeom>
          <a:solidFill>
            <a:srgbClr val="FB8500"/>
          </a:solidFill>
          <a:ln w="12700">
            <a:solidFill>
              <a:srgbClr val="FB8500"/>
            </a:solidFill>
            <a:prstDash val="solid"/>
          </a:ln>
        </p:spPr>
        <p:txBody>
          <a:bodyPr/>
          <a:lstStyle/>
          <a:p>
            <a:endParaRPr lang="en-SG"/>
          </a:p>
        </p:txBody>
      </p:sp>
      <p:sp>
        <p:nvSpPr>
          <p:cNvPr id="22" name="Text 20"/>
          <p:cNvSpPr/>
          <p:nvPr/>
        </p:nvSpPr>
        <p:spPr>
          <a:xfrm>
            <a:off x="201168" y="2871216"/>
            <a:ext cx="2706624" cy="237744"/>
          </a:xfrm>
          <a:prstGeom prst="rect">
            <a:avLst/>
          </a:prstGeom>
          <a:noFill/>
        </p:spPr>
        <p:txBody>
          <a:bodyPr wrap="square" rtlCol="0" anchor="ctr"/>
          <a:lstStyle/>
          <a:p>
            <a:pPr marL="0" indent="0">
              <a:buNone/>
            </a:pPr>
            <a:r>
              <a:rPr lang="en-US" sz="115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04  ANALYSE</a:t>
            </a:r>
            <a:endParaRPr lang="en-US" sz="1150" dirty="0"/>
          </a:p>
        </p:txBody>
      </p:sp>
      <p:sp>
        <p:nvSpPr>
          <p:cNvPr id="23" name="Text 21"/>
          <p:cNvSpPr/>
          <p:nvPr/>
        </p:nvSpPr>
        <p:spPr>
          <a:xfrm>
            <a:off x="237744" y="3273552"/>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Challenges in the Current Threat Landscape</a:t>
            </a:r>
            <a:endParaRPr lang="en-US" sz="1000" dirty="0"/>
          </a:p>
        </p:txBody>
      </p:sp>
      <p:sp>
        <p:nvSpPr>
          <p:cNvPr id="24" name="Text 22"/>
          <p:cNvSpPr/>
          <p:nvPr/>
        </p:nvSpPr>
        <p:spPr>
          <a:xfrm>
            <a:off x="237744" y="3621024"/>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Anti-Digital Forensics Methods</a:t>
            </a:r>
            <a:endParaRPr lang="en-US" sz="1000" dirty="0"/>
          </a:p>
        </p:txBody>
      </p:sp>
      <p:sp>
        <p:nvSpPr>
          <p:cNvPr id="25" name="Shape 23"/>
          <p:cNvSpPr/>
          <p:nvPr/>
        </p:nvSpPr>
        <p:spPr>
          <a:xfrm>
            <a:off x="3145536" y="2816352"/>
            <a:ext cx="2907792" cy="2377440"/>
          </a:xfrm>
          <a:prstGeom prst="rect">
            <a:avLst/>
          </a:prstGeom>
          <a:solidFill>
            <a:srgbClr val="EEF6FB"/>
          </a:solidFill>
          <a:ln w="12700">
            <a:solidFill>
              <a:srgbClr val="9B5DE5"/>
            </a:solidFill>
            <a:prstDash val="solid"/>
          </a:ln>
        </p:spPr>
        <p:txBody>
          <a:bodyPr/>
          <a:lstStyle/>
          <a:p>
            <a:endParaRPr lang="en-SG"/>
          </a:p>
        </p:txBody>
      </p:sp>
      <p:sp>
        <p:nvSpPr>
          <p:cNvPr id="26" name="Shape 24"/>
          <p:cNvSpPr/>
          <p:nvPr/>
        </p:nvSpPr>
        <p:spPr>
          <a:xfrm>
            <a:off x="3145536" y="2816352"/>
            <a:ext cx="2907792" cy="384048"/>
          </a:xfrm>
          <a:prstGeom prst="rect">
            <a:avLst/>
          </a:prstGeom>
          <a:solidFill>
            <a:srgbClr val="9B5DE5"/>
          </a:solidFill>
          <a:ln w="12700">
            <a:solidFill>
              <a:srgbClr val="9B5DE5"/>
            </a:solidFill>
            <a:prstDash val="solid"/>
          </a:ln>
        </p:spPr>
        <p:txBody>
          <a:bodyPr/>
          <a:lstStyle/>
          <a:p>
            <a:endParaRPr lang="en-SG"/>
          </a:p>
        </p:txBody>
      </p:sp>
      <p:sp>
        <p:nvSpPr>
          <p:cNvPr id="27" name="Text 25"/>
          <p:cNvSpPr/>
          <p:nvPr/>
        </p:nvSpPr>
        <p:spPr>
          <a:xfrm>
            <a:off x="3236976" y="2871216"/>
            <a:ext cx="2706624" cy="237744"/>
          </a:xfrm>
          <a:prstGeom prst="rect">
            <a:avLst/>
          </a:prstGeom>
          <a:noFill/>
        </p:spPr>
        <p:txBody>
          <a:bodyPr wrap="square" rtlCol="0" anchor="ctr"/>
          <a:lstStyle/>
          <a:p>
            <a:pPr marL="0" indent="0">
              <a:buNone/>
            </a:pPr>
            <a:r>
              <a:rPr lang="en-US" sz="115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05  EVALUATE</a:t>
            </a:r>
            <a:endParaRPr lang="en-US" sz="1150" dirty="0"/>
          </a:p>
        </p:txBody>
      </p:sp>
      <p:sp>
        <p:nvSpPr>
          <p:cNvPr id="28" name="Text 26"/>
          <p:cNvSpPr/>
          <p:nvPr/>
        </p:nvSpPr>
        <p:spPr>
          <a:xfrm>
            <a:off x="3273552" y="3273552"/>
            <a:ext cx="2633472"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Reporting — Overview &amp; Purpose</a:t>
            </a:r>
            <a:endParaRPr lang="en-US" sz="800" dirty="0"/>
          </a:p>
        </p:txBody>
      </p:sp>
      <p:sp>
        <p:nvSpPr>
          <p:cNvPr id="29" name="Text 27"/>
          <p:cNvSpPr/>
          <p:nvPr/>
        </p:nvSpPr>
        <p:spPr>
          <a:xfrm>
            <a:off x="3273552" y="3547872"/>
            <a:ext cx="2633472"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Sections Part 1: 01–04</a:t>
            </a:r>
            <a:endParaRPr lang="en-US" sz="800" dirty="0"/>
          </a:p>
        </p:txBody>
      </p:sp>
      <p:sp>
        <p:nvSpPr>
          <p:cNvPr id="30" name="Text 28"/>
          <p:cNvSpPr/>
          <p:nvPr/>
        </p:nvSpPr>
        <p:spPr>
          <a:xfrm>
            <a:off x="3273552" y="3822192"/>
            <a:ext cx="2633472"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Sections Part 2: 05–07</a:t>
            </a:r>
            <a:endParaRPr lang="en-US" sz="800" dirty="0"/>
          </a:p>
        </p:txBody>
      </p:sp>
      <p:sp>
        <p:nvSpPr>
          <p:cNvPr id="31" name="Text 29"/>
          <p:cNvSpPr/>
          <p:nvPr/>
        </p:nvSpPr>
        <p:spPr>
          <a:xfrm>
            <a:off x="3273552" y="4096512"/>
            <a:ext cx="2633472"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Writing Principles Part 1: 1–3</a:t>
            </a:r>
            <a:endParaRPr lang="en-US" sz="800" dirty="0"/>
          </a:p>
        </p:txBody>
      </p:sp>
      <p:sp>
        <p:nvSpPr>
          <p:cNvPr id="32" name="Text 30"/>
          <p:cNvSpPr/>
          <p:nvPr/>
        </p:nvSpPr>
        <p:spPr>
          <a:xfrm>
            <a:off x="3273552" y="4370832"/>
            <a:ext cx="2633472"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Writing Principles Part 2: 4–6 + Expert Witness</a:t>
            </a:r>
            <a:endParaRPr lang="en-US" sz="800" dirty="0"/>
          </a:p>
        </p:txBody>
      </p:sp>
      <p:sp>
        <p:nvSpPr>
          <p:cNvPr id="33" name="Shape 31"/>
          <p:cNvSpPr/>
          <p:nvPr/>
        </p:nvSpPr>
        <p:spPr>
          <a:xfrm>
            <a:off x="6181344" y="2816352"/>
            <a:ext cx="2907792" cy="1956816"/>
          </a:xfrm>
          <a:prstGeom prst="rect">
            <a:avLst/>
          </a:prstGeom>
          <a:solidFill>
            <a:srgbClr val="EEF6FB"/>
          </a:solidFill>
          <a:ln w="12700">
            <a:solidFill>
              <a:srgbClr val="EF233C"/>
            </a:solidFill>
            <a:prstDash val="solid"/>
          </a:ln>
        </p:spPr>
        <p:txBody>
          <a:bodyPr/>
          <a:lstStyle/>
          <a:p>
            <a:endParaRPr lang="en-SG"/>
          </a:p>
        </p:txBody>
      </p:sp>
      <p:sp>
        <p:nvSpPr>
          <p:cNvPr id="34" name="Shape 32"/>
          <p:cNvSpPr/>
          <p:nvPr/>
        </p:nvSpPr>
        <p:spPr>
          <a:xfrm>
            <a:off x="6181344" y="2816352"/>
            <a:ext cx="2907792" cy="384048"/>
          </a:xfrm>
          <a:prstGeom prst="rect">
            <a:avLst/>
          </a:prstGeom>
          <a:solidFill>
            <a:srgbClr val="EF233C"/>
          </a:solidFill>
          <a:ln w="12700">
            <a:solidFill>
              <a:srgbClr val="EF233C"/>
            </a:solidFill>
            <a:prstDash val="solid"/>
          </a:ln>
        </p:spPr>
        <p:txBody>
          <a:bodyPr/>
          <a:lstStyle/>
          <a:p>
            <a:endParaRPr lang="en-SG"/>
          </a:p>
        </p:txBody>
      </p:sp>
      <p:sp>
        <p:nvSpPr>
          <p:cNvPr id="35" name="Text 33"/>
          <p:cNvSpPr/>
          <p:nvPr/>
        </p:nvSpPr>
        <p:spPr>
          <a:xfrm>
            <a:off x="6272784" y="2871216"/>
            <a:ext cx="2706624" cy="237744"/>
          </a:xfrm>
          <a:prstGeom prst="rect">
            <a:avLst/>
          </a:prstGeom>
          <a:noFill/>
        </p:spPr>
        <p:txBody>
          <a:bodyPr wrap="square" rtlCol="0" anchor="ctr"/>
          <a:lstStyle/>
          <a:p>
            <a:pPr marL="0" indent="0">
              <a:buNone/>
            </a:pPr>
            <a:r>
              <a:rPr lang="en-US" sz="115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06  CREATE</a:t>
            </a:r>
            <a:endParaRPr lang="en-US" sz="1150" dirty="0"/>
          </a:p>
        </p:txBody>
      </p:sp>
      <p:sp>
        <p:nvSpPr>
          <p:cNvPr id="36" name="Text 34"/>
          <p:cNvSpPr/>
          <p:nvPr/>
        </p:nvSpPr>
        <p:spPr>
          <a:xfrm>
            <a:off x="6309360" y="3273552"/>
            <a:ext cx="2633472"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Module Summary — Week 2</a:t>
            </a:r>
            <a:endParaRPr lang="en-US" sz="1000" dirty="0"/>
          </a:p>
        </p:txBody>
      </p:sp>
      <p:sp>
        <p:nvSpPr>
          <p:cNvPr id="37" name="Shape 35"/>
          <p:cNvSpPr/>
          <p:nvPr/>
        </p:nvSpPr>
        <p:spPr>
          <a:xfrm>
            <a:off x="0" y="4828032"/>
            <a:ext cx="9144000" cy="315468"/>
          </a:xfrm>
          <a:prstGeom prst="rect">
            <a:avLst/>
          </a:prstGeom>
          <a:solidFill>
            <a:srgbClr val="FFFFFF"/>
          </a:solidFill>
          <a:ln w="12700">
            <a:solidFill>
              <a:srgbClr val="2E4068"/>
            </a:solidFill>
            <a:prstDash val="solid"/>
          </a:ln>
        </p:spPr>
        <p:txBody>
          <a:bodyPr/>
          <a:lstStyle/>
          <a:p>
            <a:endParaRPr lang="en-SG"/>
          </a:p>
        </p:txBody>
      </p:sp>
      <p:sp>
        <p:nvSpPr>
          <p:cNvPr id="38" name="Text 36"/>
          <p:cNvSpPr/>
          <p:nvPr/>
        </p:nvSpPr>
        <p:spPr>
          <a:xfrm>
            <a:off x="274320" y="4846320"/>
            <a:ext cx="8595360" cy="237744"/>
          </a:xfrm>
          <a:prstGeom prst="rect">
            <a:avLst/>
          </a:prstGeom>
          <a:noFill/>
        </p:spPr>
        <p:txBody>
          <a:bodyPr wrap="square" rtlCol="0" anchor="ctr"/>
          <a:lstStyle/>
          <a:p>
            <a:pPr marL="0" indent="0" algn="ctr">
              <a:buNone/>
            </a:pPr>
            <a:r>
              <a:rPr lang="en-US" sz="900" dirty="0">
                <a:solidFill>
                  <a:srgbClr val="475569"/>
                </a:solidFill>
                <a:latin typeface="Calibri" panose="020F0502020204030204" pitchFamily="34" charset="0"/>
                <a:ea typeface="Calibri" panose="020F0502020204030204" pitchFamily="34" charset="-122"/>
                <a:cs typeface="Calibri" panose="020F0502020204030204" pitchFamily="34" charset="-120"/>
              </a:rPr>
              <a:t>Digital Forensics  ·  Week 2  ·  Learning Module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p:spPr>
        <p:txBody>
          <a:bodyPr wrap="square" lIns="0" tIns="0" rIns="0" bIns="0" rtlCol="0" anchor="ctr"/>
          <a:lstStyle/>
          <a:p>
            <a:pPr marL="0" indent="0" algn="ctr">
              <a:buNone/>
            </a:pPr>
            <a:r>
              <a:rPr lang="en-US" sz="96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9600" dirty="0"/>
          </a:p>
        </p:txBody>
      </p:sp>
      <p:sp>
        <p:nvSpPr>
          <p:cNvPr id="6" name="Text 4"/>
          <p:cNvSpPr/>
          <p:nvPr/>
        </p:nvSpPr>
        <p:spPr>
          <a:xfrm>
            <a:off x="201168" y="1938528"/>
            <a:ext cx="3657600" cy="914400"/>
          </a:xfrm>
          <a:prstGeom prst="rect">
            <a:avLst/>
          </a:prstGeom>
          <a:noFill/>
        </p:spPr>
        <p:txBody>
          <a:bodyPr wrap="square" rtlCol="0" anchor="ctr"/>
          <a:lstStyle/>
          <a:p>
            <a:pPr marL="0" indent="0" algn="ctr">
              <a:buNone/>
            </a:pPr>
            <a:r>
              <a:rPr lang="en-US" sz="1300" i="1" dirty="0">
                <a:solidFill>
                  <a:srgbClr val="000000"/>
                </a:solidFill>
                <a:latin typeface="Calibri" panose="020F0502020204030204" pitchFamily="34" charset="0"/>
                <a:ea typeface="Calibri" panose="020F0502020204030204" pitchFamily="34" charset="-122"/>
                <a:cs typeface="Calibri" panose="020F0502020204030204" pitchFamily="34" charset="-120"/>
              </a:rPr>
              <a:t>Foundational knowledge — process, evidence, and legal requirements</a:t>
            </a:r>
            <a:endParaRPr lang="en-US" sz="1300" dirty="0"/>
          </a:p>
        </p:txBody>
      </p:sp>
      <p:sp>
        <p:nvSpPr>
          <p:cNvPr id="7" name="Text 5"/>
          <p:cNvSpPr/>
          <p:nvPr/>
        </p:nvSpPr>
        <p:spPr>
          <a:xfrm>
            <a:off x="4572000" y="566928"/>
            <a:ext cx="4297680" cy="329184"/>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663440" y="1115568"/>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100" dirty="0"/>
          </a:p>
        </p:txBody>
      </p:sp>
      <p:sp>
        <p:nvSpPr>
          <p:cNvPr id="11" name="Text 9"/>
          <p:cNvSpPr/>
          <p:nvPr/>
        </p:nvSpPr>
        <p:spPr>
          <a:xfrm>
            <a:off x="5166360" y="1097280"/>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The 6-Stage Forensic Investigation Process — Recap</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00B4D8"/>
          </a:solidFill>
          <a:ln w="12700">
            <a:solidFill>
              <a:srgbClr val="00B4D8"/>
            </a:solidFill>
            <a:prstDash val="solid"/>
          </a:ln>
        </p:spPr>
        <p:txBody>
          <a:bodyPr/>
          <a:lstStyle/>
          <a:p>
            <a:endParaRPr lang="en-SG"/>
          </a:p>
        </p:txBody>
      </p:sp>
      <p:sp>
        <p:nvSpPr>
          <p:cNvPr id="14" name="Text 12"/>
          <p:cNvSpPr/>
          <p:nvPr/>
        </p:nvSpPr>
        <p:spPr>
          <a:xfrm>
            <a:off x="4663440" y="1773936"/>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100" dirty="0"/>
          </a:p>
        </p:txBody>
      </p:sp>
      <p:sp>
        <p:nvSpPr>
          <p:cNvPr id="15" name="Text 13"/>
          <p:cNvSpPr/>
          <p:nvPr/>
        </p:nvSpPr>
        <p:spPr>
          <a:xfrm>
            <a:off x="5166360" y="1755648"/>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What is Digital Evidence? — Definition &amp; Rules of Admissibility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The 6-Stage Forensic Investigation Process — Week 2 Recap</a:t>
            </a:r>
            <a:endParaRPr lang="en-US" sz="1700" dirty="0"/>
          </a:p>
        </p:txBody>
      </p:sp>
      <p:sp>
        <p:nvSpPr>
          <p:cNvPr id="6" name="Shape 4"/>
          <p:cNvSpPr/>
          <p:nvPr/>
        </p:nvSpPr>
        <p:spPr>
          <a:xfrm>
            <a:off x="91440" y="841248"/>
            <a:ext cx="2871216" cy="177393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82880" y="932688"/>
            <a:ext cx="530352" cy="530352"/>
          </a:xfrm>
          <a:prstGeom prst="ellipse">
            <a:avLst/>
          </a:prstGeom>
          <a:solidFill>
            <a:srgbClr val="06D6A0"/>
          </a:solidFill>
          <a:ln w="12700">
            <a:solidFill>
              <a:srgbClr val="06D6A0"/>
            </a:solidFill>
            <a:prstDash val="solid"/>
          </a:ln>
        </p:spPr>
        <p:txBody>
          <a:bodyPr/>
          <a:lstStyle/>
          <a:p>
            <a:endParaRPr lang="en-SG"/>
          </a:p>
        </p:txBody>
      </p:sp>
      <p:sp>
        <p:nvSpPr>
          <p:cNvPr id="8" name="Text 6"/>
          <p:cNvSpPr/>
          <p:nvPr/>
        </p:nvSpPr>
        <p:spPr>
          <a:xfrm>
            <a:off x="182880" y="1005840"/>
            <a:ext cx="530352" cy="329184"/>
          </a:xfrm>
          <a:prstGeom prst="rect">
            <a:avLst/>
          </a:prstGeom>
          <a:noFill/>
        </p:spPr>
        <p:txBody>
          <a:bodyPr wrap="square" lIns="0" tIns="0" rIns="0" bIns="0" rtlCol="0" anchor="ctr"/>
          <a:lstStyle/>
          <a:p>
            <a:pPr marL="0" indent="0" algn="ctr">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1300" dirty="0"/>
          </a:p>
        </p:txBody>
      </p:sp>
      <p:sp>
        <p:nvSpPr>
          <p:cNvPr id="9" name="Text 7"/>
          <p:cNvSpPr/>
          <p:nvPr/>
        </p:nvSpPr>
        <p:spPr>
          <a:xfrm>
            <a:off x="822960" y="1005840"/>
            <a:ext cx="2066544" cy="329184"/>
          </a:xfrm>
          <a:prstGeom prst="rect">
            <a:avLst/>
          </a:prstGeom>
          <a:noFill/>
        </p:spPr>
        <p:txBody>
          <a:bodyPr wrap="square" rtlCol="0" anchor="ctr"/>
          <a:lstStyle/>
          <a:p>
            <a:pPr marL="0" indent="0">
              <a:buNone/>
            </a:pPr>
            <a:r>
              <a:rPr lang="en-US" sz="14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Identification</a:t>
            </a:r>
            <a:endParaRPr lang="en-US" sz="1400" dirty="0"/>
          </a:p>
        </p:txBody>
      </p:sp>
      <p:sp>
        <p:nvSpPr>
          <p:cNvPr id="10" name="Text 8"/>
          <p:cNvSpPr/>
          <p:nvPr/>
        </p:nvSpPr>
        <p:spPr>
          <a:xfrm>
            <a:off x="182880" y="1572768"/>
            <a:ext cx="2688336" cy="950976"/>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Establish legal authority (warrant). Define scope. Identify all devices and data sources. Photograph scene before touching anything.</a:t>
            </a:r>
            <a:endParaRPr lang="en-US" sz="950" dirty="0"/>
          </a:p>
        </p:txBody>
      </p:sp>
      <p:sp>
        <p:nvSpPr>
          <p:cNvPr id="11" name="Shape 9"/>
          <p:cNvSpPr/>
          <p:nvPr/>
        </p:nvSpPr>
        <p:spPr>
          <a:xfrm>
            <a:off x="3081528" y="841248"/>
            <a:ext cx="2871216" cy="177393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2" name="Shape 10"/>
          <p:cNvSpPr/>
          <p:nvPr/>
        </p:nvSpPr>
        <p:spPr>
          <a:xfrm>
            <a:off x="3172968" y="932688"/>
            <a:ext cx="530352" cy="530352"/>
          </a:xfrm>
          <a:prstGeom prst="ellipse">
            <a:avLst/>
          </a:prstGeom>
          <a:solidFill>
            <a:srgbClr val="00B4D8"/>
          </a:solidFill>
          <a:ln w="12700">
            <a:solidFill>
              <a:srgbClr val="00B4D8"/>
            </a:solidFill>
            <a:prstDash val="solid"/>
          </a:ln>
        </p:spPr>
        <p:txBody>
          <a:bodyPr/>
          <a:lstStyle/>
          <a:p>
            <a:endParaRPr lang="en-SG"/>
          </a:p>
        </p:txBody>
      </p:sp>
      <p:sp>
        <p:nvSpPr>
          <p:cNvPr id="13" name="Text 11"/>
          <p:cNvSpPr/>
          <p:nvPr/>
        </p:nvSpPr>
        <p:spPr>
          <a:xfrm>
            <a:off x="3172968" y="1005840"/>
            <a:ext cx="530352" cy="329184"/>
          </a:xfrm>
          <a:prstGeom prst="rect">
            <a:avLst/>
          </a:prstGeom>
          <a:noFill/>
        </p:spPr>
        <p:txBody>
          <a:bodyPr wrap="square" lIns="0" tIns="0" rIns="0" bIns="0" rtlCol="0" anchor="ctr"/>
          <a:lstStyle/>
          <a:p>
            <a:pPr marL="0" indent="0" algn="ctr">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1300" dirty="0"/>
          </a:p>
        </p:txBody>
      </p:sp>
      <p:sp>
        <p:nvSpPr>
          <p:cNvPr id="14" name="Text 12"/>
          <p:cNvSpPr/>
          <p:nvPr/>
        </p:nvSpPr>
        <p:spPr>
          <a:xfrm>
            <a:off x="3813048" y="1005840"/>
            <a:ext cx="2066544" cy="329184"/>
          </a:xfrm>
          <a:prstGeom prst="rect">
            <a:avLst/>
          </a:prstGeom>
          <a:noFill/>
        </p:spPr>
        <p:txBody>
          <a:bodyPr wrap="square" rtlCol="0" anchor="ctr"/>
          <a:lstStyle/>
          <a:p>
            <a:pPr marL="0" indent="0">
              <a:buNone/>
            </a:pPr>
            <a:r>
              <a:rPr lang="en-US" sz="1400" b="1" dirty="0">
                <a:solidFill>
                  <a:srgbClr val="00B4D8"/>
                </a:solidFill>
                <a:latin typeface="Trebuchet MS" panose="020B0603020202020204" pitchFamily="34" charset="0"/>
                <a:ea typeface="Trebuchet MS" panose="020B0603020202020204" pitchFamily="34" charset="-122"/>
                <a:cs typeface="Trebuchet MS" panose="020B0603020202020204" pitchFamily="34" charset="-120"/>
              </a:rPr>
              <a:t>Preservation</a:t>
            </a:r>
            <a:endParaRPr lang="en-US" sz="1400" dirty="0"/>
          </a:p>
        </p:txBody>
      </p:sp>
      <p:sp>
        <p:nvSpPr>
          <p:cNvPr id="15" name="Text 13"/>
          <p:cNvSpPr/>
          <p:nvPr/>
        </p:nvSpPr>
        <p:spPr>
          <a:xfrm>
            <a:off x="3172968" y="1572768"/>
            <a:ext cx="2688336" cy="950976"/>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Apply write blockers. Prevent any alteration. Faraday bags for mobile devices. Calculate baseline hash values. Initiate chain of custody.</a:t>
            </a:r>
            <a:endParaRPr lang="en-US" sz="950" dirty="0"/>
          </a:p>
        </p:txBody>
      </p:sp>
      <p:sp>
        <p:nvSpPr>
          <p:cNvPr id="16" name="Shape 14"/>
          <p:cNvSpPr/>
          <p:nvPr/>
        </p:nvSpPr>
        <p:spPr>
          <a:xfrm>
            <a:off x="6071616" y="841248"/>
            <a:ext cx="2871216" cy="177393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7" name="Shape 15"/>
          <p:cNvSpPr/>
          <p:nvPr/>
        </p:nvSpPr>
        <p:spPr>
          <a:xfrm>
            <a:off x="6163056" y="932688"/>
            <a:ext cx="530352" cy="530352"/>
          </a:xfrm>
          <a:prstGeom prst="ellipse">
            <a:avLst/>
          </a:prstGeom>
          <a:solidFill>
            <a:srgbClr val="FFB703"/>
          </a:solidFill>
          <a:ln w="12700">
            <a:solidFill>
              <a:srgbClr val="FFB703"/>
            </a:solidFill>
            <a:prstDash val="solid"/>
          </a:ln>
        </p:spPr>
        <p:txBody>
          <a:bodyPr/>
          <a:lstStyle/>
          <a:p>
            <a:endParaRPr lang="en-SG"/>
          </a:p>
        </p:txBody>
      </p:sp>
      <p:sp>
        <p:nvSpPr>
          <p:cNvPr id="18" name="Text 16"/>
          <p:cNvSpPr/>
          <p:nvPr/>
        </p:nvSpPr>
        <p:spPr>
          <a:xfrm>
            <a:off x="6163056" y="1005840"/>
            <a:ext cx="530352" cy="329184"/>
          </a:xfrm>
          <a:prstGeom prst="rect">
            <a:avLst/>
          </a:prstGeom>
          <a:noFill/>
        </p:spPr>
        <p:txBody>
          <a:bodyPr wrap="square" lIns="0" tIns="0" rIns="0" bIns="0" rtlCol="0" anchor="ctr"/>
          <a:lstStyle/>
          <a:p>
            <a:pPr marL="0" indent="0" algn="ctr">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1300" dirty="0"/>
          </a:p>
        </p:txBody>
      </p:sp>
      <p:sp>
        <p:nvSpPr>
          <p:cNvPr id="19" name="Text 17"/>
          <p:cNvSpPr/>
          <p:nvPr/>
        </p:nvSpPr>
        <p:spPr>
          <a:xfrm>
            <a:off x="6803136" y="1005840"/>
            <a:ext cx="2066544" cy="329184"/>
          </a:xfrm>
          <a:prstGeom prst="rect">
            <a:avLst/>
          </a:prstGeom>
          <a:noFill/>
        </p:spPr>
        <p:txBody>
          <a:bodyPr wrap="square" rtlCol="0" anchor="ctr"/>
          <a:lstStyle/>
          <a:p>
            <a:pPr marL="0" indent="0">
              <a:buNone/>
            </a:pPr>
            <a:r>
              <a:rPr lang="en-US" sz="14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Collection</a:t>
            </a:r>
            <a:endParaRPr lang="en-US" sz="1400" dirty="0"/>
          </a:p>
        </p:txBody>
      </p:sp>
      <p:sp>
        <p:nvSpPr>
          <p:cNvPr id="20" name="Text 18"/>
          <p:cNvSpPr/>
          <p:nvPr/>
        </p:nvSpPr>
        <p:spPr>
          <a:xfrm>
            <a:off x="6163056" y="1572768"/>
            <a:ext cx="2688336" cy="950976"/>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Acquire bit-for-bit forensic images. Prioritise volatile RAM first. Verify hash of image vs source. Document every action.</a:t>
            </a:r>
            <a:endParaRPr lang="en-US" sz="950" dirty="0"/>
          </a:p>
        </p:txBody>
      </p:sp>
      <p:sp>
        <p:nvSpPr>
          <p:cNvPr id="21" name="Shape 19"/>
          <p:cNvSpPr/>
          <p:nvPr/>
        </p:nvSpPr>
        <p:spPr>
          <a:xfrm>
            <a:off x="91440" y="2743200"/>
            <a:ext cx="2871216" cy="177393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2" name="Shape 20"/>
          <p:cNvSpPr/>
          <p:nvPr/>
        </p:nvSpPr>
        <p:spPr>
          <a:xfrm>
            <a:off x="182880" y="2834640"/>
            <a:ext cx="530352" cy="530352"/>
          </a:xfrm>
          <a:prstGeom prst="ellipse">
            <a:avLst/>
          </a:prstGeom>
          <a:solidFill>
            <a:srgbClr val="FB8500"/>
          </a:solidFill>
          <a:ln w="12700">
            <a:solidFill>
              <a:srgbClr val="FB8500"/>
            </a:solidFill>
            <a:prstDash val="solid"/>
          </a:ln>
        </p:spPr>
        <p:txBody>
          <a:bodyPr/>
          <a:lstStyle/>
          <a:p>
            <a:endParaRPr lang="en-SG"/>
          </a:p>
        </p:txBody>
      </p:sp>
      <p:sp>
        <p:nvSpPr>
          <p:cNvPr id="23" name="Text 21"/>
          <p:cNvSpPr/>
          <p:nvPr/>
        </p:nvSpPr>
        <p:spPr>
          <a:xfrm>
            <a:off x="182880" y="2907792"/>
            <a:ext cx="530352" cy="329184"/>
          </a:xfrm>
          <a:prstGeom prst="rect">
            <a:avLst/>
          </a:prstGeom>
          <a:noFill/>
        </p:spPr>
        <p:txBody>
          <a:bodyPr wrap="square" lIns="0" tIns="0" rIns="0" bIns="0" rtlCol="0" anchor="ctr"/>
          <a:lstStyle/>
          <a:p>
            <a:pPr marL="0" indent="0" algn="ctr">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1300" dirty="0"/>
          </a:p>
        </p:txBody>
      </p:sp>
      <p:sp>
        <p:nvSpPr>
          <p:cNvPr id="24" name="Text 22"/>
          <p:cNvSpPr/>
          <p:nvPr/>
        </p:nvSpPr>
        <p:spPr>
          <a:xfrm>
            <a:off x="822960" y="2907792"/>
            <a:ext cx="2066544" cy="329184"/>
          </a:xfrm>
          <a:prstGeom prst="rect">
            <a:avLst/>
          </a:prstGeom>
          <a:noFill/>
        </p:spPr>
        <p:txBody>
          <a:bodyPr wrap="square" rtlCol="0" anchor="ctr"/>
          <a:lstStyle/>
          <a:p>
            <a:pPr marL="0" indent="0">
              <a:buNone/>
            </a:pPr>
            <a:r>
              <a:rPr lang="en-US" sz="14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Examination</a:t>
            </a:r>
            <a:endParaRPr lang="en-US" sz="1400" dirty="0"/>
          </a:p>
        </p:txBody>
      </p:sp>
      <p:sp>
        <p:nvSpPr>
          <p:cNvPr id="25" name="Shape 23"/>
          <p:cNvSpPr/>
          <p:nvPr/>
        </p:nvSpPr>
        <p:spPr>
          <a:xfrm>
            <a:off x="822960" y="3236976"/>
            <a:ext cx="1097280" cy="201168"/>
          </a:xfrm>
          <a:prstGeom prst="roundRect">
            <a:avLst>
              <a:gd name="adj" fmla="val 22727"/>
            </a:avLst>
          </a:prstGeom>
          <a:solidFill>
            <a:srgbClr val="FB8500"/>
          </a:solidFill>
          <a:ln w="12700">
            <a:solidFill>
              <a:srgbClr val="FB8500"/>
            </a:solidFill>
            <a:prstDash val="solid"/>
          </a:ln>
        </p:spPr>
        <p:txBody>
          <a:bodyPr/>
          <a:lstStyle/>
          <a:p>
            <a:endParaRPr lang="en-SG"/>
          </a:p>
        </p:txBody>
      </p:sp>
      <p:sp>
        <p:nvSpPr>
          <p:cNvPr id="26" name="Text 24"/>
          <p:cNvSpPr/>
          <p:nvPr/>
        </p:nvSpPr>
        <p:spPr>
          <a:xfrm>
            <a:off x="822960" y="3264408"/>
            <a:ext cx="1097280" cy="146304"/>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WEEK 2</a:t>
            </a:r>
            <a:endParaRPr lang="en-US" sz="800" dirty="0"/>
          </a:p>
        </p:txBody>
      </p:sp>
      <p:sp>
        <p:nvSpPr>
          <p:cNvPr id="27" name="Text 25"/>
          <p:cNvSpPr/>
          <p:nvPr/>
        </p:nvSpPr>
        <p:spPr>
          <a:xfrm>
            <a:off x="182880" y="3511296"/>
            <a:ext cx="2688336" cy="914400"/>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THIS WEEK — Extract artefacts from images. Recover deleted files. Parse browser history, registry, event logs, application data.</a:t>
            </a:r>
            <a:endParaRPr lang="en-US" sz="950" dirty="0"/>
          </a:p>
        </p:txBody>
      </p:sp>
      <p:sp>
        <p:nvSpPr>
          <p:cNvPr id="28" name="Shape 26"/>
          <p:cNvSpPr/>
          <p:nvPr/>
        </p:nvSpPr>
        <p:spPr>
          <a:xfrm>
            <a:off x="3081528" y="2743200"/>
            <a:ext cx="2871216" cy="1773936"/>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9" name="Shape 27"/>
          <p:cNvSpPr/>
          <p:nvPr/>
        </p:nvSpPr>
        <p:spPr>
          <a:xfrm>
            <a:off x="3172968" y="2834640"/>
            <a:ext cx="530352" cy="530352"/>
          </a:xfrm>
          <a:prstGeom prst="ellipse">
            <a:avLst/>
          </a:prstGeom>
          <a:solidFill>
            <a:srgbClr val="9B5DE5"/>
          </a:solidFill>
          <a:ln w="12700">
            <a:solidFill>
              <a:srgbClr val="9B5DE5"/>
            </a:solidFill>
            <a:prstDash val="solid"/>
          </a:ln>
        </p:spPr>
        <p:txBody>
          <a:bodyPr/>
          <a:lstStyle/>
          <a:p>
            <a:endParaRPr lang="en-SG"/>
          </a:p>
        </p:txBody>
      </p:sp>
      <p:sp>
        <p:nvSpPr>
          <p:cNvPr id="30" name="Text 28"/>
          <p:cNvSpPr/>
          <p:nvPr/>
        </p:nvSpPr>
        <p:spPr>
          <a:xfrm>
            <a:off x="3172968" y="2907792"/>
            <a:ext cx="530352" cy="329184"/>
          </a:xfrm>
          <a:prstGeom prst="rect">
            <a:avLst/>
          </a:prstGeom>
          <a:noFill/>
        </p:spPr>
        <p:txBody>
          <a:bodyPr wrap="square" lIns="0" tIns="0" rIns="0" bIns="0" rtlCol="0" anchor="ctr"/>
          <a:lstStyle/>
          <a:p>
            <a:pPr marL="0" indent="0" algn="ctr">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1300" dirty="0"/>
          </a:p>
        </p:txBody>
      </p:sp>
      <p:sp>
        <p:nvSpPr>
          <p:cNvPr id="31" name="Text 29"/>
          <p:cNvSpPr/>
          <p:nvPr/>
        </p:nvSpPr>
        <p:spPr>
          <a:xfrm>
            <a:off x="3813048" y="2907792"/>
            <a:ext cx="2066544" cy="329184"/>
          </a:xfrm>
          <a:prstGeom prst="rect">
            <a:avLst/>
          </a:prstGeom>
          <a:noFill/>
        </p:spPr>
        <p:txBody>
          <a:bodyPr wrap="square" rtlCol="0" anchor="ctr"/>
          <a:lstStyle/>
          <a:p>
            <a:pPr marL="0" indent="0">
              <a:buNone/>
            </a:pPr>
            <a:r>
              <a:rPr lang="en-US" sz="14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Analysis</a:t>
            </a:r>
            <a:endParaRPr lang="en-US" sz="1400" dirty="0"/>
          </a:p>
        </p:txBody>
      </p:sp>
      <p:sp>
        <p:nvSpPr>
          <p:cNvPr id="32" name="Shape 30"/>
          <p:cNvSpPr/>
          <p:nvPr/>
        </p:nvSpPr>
        <p:spPr>
          <a:xfrm>
            <a:off x="3813048" y="3236976"/>
            <a:ext cx="1097280" cy="201168"/>
          </a:xfrm>
          <a:prstGeom prst="roundRect">
            <a:avLst>
              <a:gd name="adj" fmla="val 22727"/>
            </a:avLst>
          </a:prstGeom>
          <a:solidFill>
            <a:srgbClr val="9B5DE5"/>
          </a:solidFill>
          <a:ln w="12700">
            <a:solidFill>
              <a:srgbClr val="9B5DE5"/>
            </a:solidFill>
            <a:prstDash val="solid"/>
          </a:ln>
        </p:spPr>
        <p:txBody>
          <a:bodyPr/>
          <a:lstStyle/>
          <a:p>
            <a:endParaRPr lang="en-SG"/>
          </a:p>
        </p:txBody>
      </p:sp>
      <p:sp>
        <p:nvSpPr>
          <p:cNvPr id="33" name="Text 31"/>
          <p:cNvSpPr/>
          <p:nvPr/>
        </p:nvSpPr>
        <p:spPr>
          <a:xfrm>
            <a:off x="3813048" y="3264408"/>
            <a:ext cx="1097280" cy="146304"/>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WEEK 2</a:t>
            </a:r>
            <a:endParaRPr lang="en-US" sz="800" dirty="0"/>
          </a:p>
        </p:txBody>
      </p:sp>
      <p:sp>
        <p:nvSpPr>
          <p:cNvPr id="34" name="Text 32"/>
          <p:cNvSpPr/>
          <p:nvPr/>
        </p:nvSpPr>
        <p:spPr>
          <a:xfrm>
            <a:off x="3172968" y="3511296"/>
            <a:ext cx="2688336" cy="914400"/>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THIS WEEK — Interpret evidence in context. Apply MACB timestamps. Map artefacts to 5WH framework. Reconstruct timeline.</a:t>
            </a:r>
            <a:endParaRPr lang="en-US" sz="950" dirty="0"/>
          </a:p>
        </p:txBody>
      </p:sp>
      <p:sp>
        <p:nvSpPr>
          <p:cNvPr id="35" name="Shape 33"/>
          <p:cNvSpPr/>
          <p:nvPr/>
        </p:nvSpPr>
        <p:spPr>
          <a:xfrm>
            <a:off x="6071616" y="2743200"/>
            <a:ext cx="2871216" cy="1773936"/>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36" name="Shape 34"/>
          <p:cNvSpPr/>
          <p:nvPr/>
        </p:nvSpPr>
        <p:spPr>
          <a:xfrm>
            <a:off x="6163056" y="2834640"/>
            <a:ext cx="530352" cy="530352"/>
          </a:xfrm>
          <a:prstGeom prst="ellipse">
            <a:avLst/>
          </a:prstGeom>
          <a:solidFill>
            <a:srgbClr val="EF233C"/>
          </a:solidFill>
          <a:ln w="12700">
            <a:solidFill>
              <a:srgbClr val="EF233C"/>
            </a:solidFill>
            <a:prstDash val="solid"/>
          </a:ln>
        </p:spPr>
        <p:txBody>
          <a:bodyPr/>
          <a:lstStyle/>
          <a:p>
            <a:endParaRPr lang="en-SG"/>
          </a:p>
        </p:txBody>
      </p:sp>
      <p:sp>
        <p:nvSpPr>
          <p:cNvPr id="37" name="Text 35"/>
          <p:cNvSpPr/>
          <p:nvPr/>
        </p:nvSpPr>
        <p:spPr>
          <a:xfrm>
            <a:off x="6163056" y="2907792"/>
            <a:ext cx="530352" cy="329184"/>
          </a:xfrm>
          <a:prstGeom prst="rect">
            <a:avLst/>
          </a:prstGeom>
          <a:noFill/>
        </p:spPr>
        <p:txBody>
          <a:bodyPr wrap="square" lIns="0" tIns="0" rIns="0" bIns="0" rtlCol="0" anchor="ctr"/>
          <a:lstStyle/>
          <a:p>
            <a:pPr marL="0" indent="0" algn="ctr">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1300" dirty="0"/>
          </a:p>
        </p:txBody>
      </p:sp>
      <p:sp>
        <p:nvSpPr>
          <p:cNvPr id="38" name="Text 36"/>
          <p:cNvSpPr/>
          <p:nvPr/>
        </p:nvSpPr>
        <p:spPr>
          <a:xfrm>
            <a:off x="6803136" y="2907792"/>
            <a:ext cx="2066544" cy="329184"/>
          </a:xfrm>
          <a:prstGeom prst="rect">
            <a:avLst/>
          </a:prstGeom>
          <a:noFill/>
        </p:spPr>
        <p:txBody>
          <a:bodyPr wrap="square" rtlCol="0" anchor="ctr"/>
          <a:lstStyle/>
          <a:p>
            <a:pPr marL="0" indent="0">
              <a:buNone/>
            </a:pPr>
            <a:r>
              <a:rPr lang="en-US" sz="1400" b="1" dirty="0">
                <a:solidFill>
                  <a:srgbClr val="EF233C"/>
                </a:solidFill>
                <a:latin typeface="Trebuchet MS" panose="020B0603020202020204" pitchFamily="34" charset="0"/>
                <a:ea typeface="Trebuchet MS" panose="020B0603020202020204" pitchFamily="34" charset="-122"/>
                <a:cs typeface="Trebuchet MS" panose="020B0603020202020204" pitchFamily="34" charset="-120"/>
              </a:rPr>
              <a:t>Reporting</a:t>
            </a:r>
            <a:endParaRPr lang="en-US" sz="1400" dirty="0"/>
          </a:p>
        </p:txBody>
      </p:sp>
      <p:sp>
        <p:nvSpPr>
          <p:cNvPr id="39" name="Shape 37"/>
          <p:cNvSpPr/>
          <p:nvPr/>
        </p:nvSpPr>
        <p:spPr>
          <a:xfrm>
            <a:off x="6803136" y="3236976"/>
            <a:ext cx="1097280" cy="201168"/>
          </a:xfrm>
          <a:prstGeom prst="roundRect">
            <a:avLst>
              <a:gd name="adj" fmla="val 22727"/>
            </a:avLst>
          </a:prstGeom>
          <a:solidFill>
            <a:srgbClr val="EF233C"/>
          </a:solidFill>
          <a:ln w="12700">
            <a:solidFill>
              <a:srgbClr val="EF233C"/>
            </a:solidFill>
            <a:prstDash val="solid"/>
          </a:ln>
        </p:spPr>
        <p:txBody>
          <a:bodyPr/>
          <a:lstStyle/>
          <a:p>
            <a:endParaRPr lang="en-SG"/>
          </a:p>
        </p:txBody>
      </p:sp>
      <p:sp>
        <p:nvSpPr>
          <p:cNvPr id="40" name="Text 38"/>
          <p:cNvSpPr/>
          <p:nvPr/>
        </p:nvSpPr>
        <p:spPr>
          <a:xfrm>
            <a:off x="6803136" y="3264408"/>
            <a:ext cx="1097280" cy="146304"/>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WEEK 2</a:t>
            </a:r>
            <a:endParaRPr lang="en-US" sz="800" dirty="0"/>
          </a:p>
        </p:txBody>
      </p:sp>
      <p:sp>
        <p:nvSpPr>
          <p:cNvPr id="41" name="Text 39"/>
          <p:cNvSpPr/>
          <p:nvPr/>
        </p:nvSpPr>
        <p:spPr>
          <a:xfrm>
            <a:off x="6163056" y="3511296"/>
            <a:ext cx="2688336" cy="914400"/>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THIS WEEK — Document findings objectively. Write structured forensic report. Prepare for expert witness testimony in court.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What is Digital Evidence? — Definition &amp; Rules of Admissibility</a:t>
            </a:r>
            <a:endParaRPr lang="en-US" sz="1700" dirty="0"/>
          </a:p>
        </p:txBody>
      </p:sp>
      <p:sp>
        <p:nvSpPr>
          <p:cNvPr id="6" name="Shape 4"/>
          <p:cNvSpPr/>
          <p:nvPr/>
        </p:nvSpPr>
        <p:spPr>
          <a:xfrm>
            <a:off x="109728" y="822960"/>
            <a:ext cx="8924544" cy="566928"/>
          </a:xfrm>
          <a:prstGeom prst="rect">
            <a:avLst/>
          </a:prstGeom>
          <a:solidFill>
            <a:srgbClr val="EEF6FB"/>
          </a:solidFill>
          <a:ln w="12700">
            <a:solidFill>
              <a:srgbClr val="00B4D8"/>
            </a:solidFill>
            <a:prstDash val="solid"/>
          </a:ln>
        </p:spPr>
        <p:txBody>
          <a:bodyPr/>
          <a:lstStyle/>
          <a:p>
            <a:endParaRPr lang="en-SG"/>
          </a:p>
        </p:txBody>
      </p:sp>
      <p:sp>
        <p:nvSpPr>
          <p:cNvPr id="7" name="Shape 5"/>
          <p:cNvSpPr/>
          <p:nvPr/>
        </p:nvSpPr>
        <p:spPr>
          <a:xfrm>
            <a:off x="109728" y="822960"/>
            <a:ext cx="182880" cy="566928"/>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384048" y="896112"/>
            <a:ext cx="1005840" cy="237744"/>
          </a:xfrm>
          <a:prstGeom prst="rect">
            <a:avLst/>
          </a:prstGeom>
          <a:noFill/>
        </p:spPr>
        <p:txBody>
          <a:bodyPr wrap="square" lIns="0" tIns="0" rIns="0" bIns="0" rtlCol="0" anchor="ctr"/>
          <a:lstStyle/>
          <a:p>
            <a:pPr marL="0" indent="0">
              <a:buNone/>
            </a:pPr>
            <a:r>
              <a:rPr lang="en-US" sz="1100" b="1" dirty="0">
                <a:solidFill>
                  <a:srgbClr val="00B4D8"/>
                </a:solidFill>
                <a:latin typeface="Trebuchet MS" panose="020B0603020202020204" pitchFamily="34" charset="0"/>
                <a:ea typeface="Trebuchet MS" panose="020B0603020202020204" pitchFamily="34" charset="-122"/>
                <a:cs typeface="Trebuchet MS" panose="020B0603020202020204" pitchFamily="34" charset="-120"/>
              </a:rPr>
              <a:t>Definition:</a:t>
            </a:r>
            <a:endParaRPr lang="en-US" sz="1100" dirty="0"/>
          </a:p>
        </p:txBody>
      </p:sp>
      <p:sp>
        <p:nvSpPr>
          <p:cNvPr id="9" name="Text 7"/>
          <p:cNvSpPr/>
          <p:nvPr/>
        </p:nvSpPr>
        <p:spPr>
          <a:xfrm>
            <a:off x="1444752" y="886968"/>
            <a:ext cx="7461504" cy="45720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Digital evidence is any information or data stored or transmitted in digital form that may be relied upon in a court of law. It exists on computers, mobile phones, storage media, cloud services, and network infrastructure — and it can include files, logs, metadata, and communications.</a:t>
            </a:r>
            <a:endParaRPr lang="en-US" sz="1000" dirty="0"/>
          </a:p>
        </p:txBody>
      </p:sp>
      <p:sp>
        <p:nvSpPr>
          <p:cNvPr id="10" name="Shape 8"/>
          <p:cNvSpPr/>
          <p:nvPr/>
        </p:nvSpPr>
        <p:spPr>
          <a:xfrm>
            <a:off x="109728" y="1481328"/>
            <a:ext cx="2852928" cy="3255264"/>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109728" y="1481328"/>
            <a:ext cx="2852928" cy="384048"/>
          </a:xfrm>
          <a:prstGeom prst="rect">
            <a:avLst/>
          </a:prstGeom>
          <a:solidFill>
            <a:srgbClr val="06D6A0"/>
          </a:solidFill>
          <a:ln w="12700">
            <a:solidFill>
              <a:srgbClr val="06D6A0"/>
            </a:solidFill>
            <a:prstDash val="solid"/>
          </a:ln>
        </p:spPr>
        <p:txBody>
          <a:bodyPr/>
          <a:lstStyle/>
          <a:p>
            <a:endParaRPr lang="en-SG"/>
          </a:p>
        </p:txBody>
      </p:sp>
      <p:sp>
        <p:nvSpPr>
          <p:cNvPr id="12" name="Text 10"/>
          <p:cNvSpPr/>
          <p:nvPr/>
        </p:nvSpPr>
        <p:spPr>
          <a:xfrm>
            <a:off x="219456" y="1517904"/>
            <a:ext cx="2651760" cy="256032"/>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  AUTHENTIC</a:t>
            </a:r>
            <a:endParaRPr lang="en-US" sz="1300" dirty="0"/>
          </a:p>
        </p:txBody>
      </p:sp>
      <p:sp>
        <p:nvSpPr>
          <p:cNvPr id="13" name="Text 11"/>
          <p:cNvSpPr/>
          <p:nvPr/>
        </p:nvSpPr>
        <p:spPr>
          <a:xfrm>
            <a:off x="219456" y="1938528"/>
            <a:ext cx="2651760" cy="53035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The evidence must be what it purports to be. The examiner must prove it has not been altered, manufactured, or tampered with since it was first seized.</a:t>
            </a:r>
            <a:endParaRPr lang="en-US" sz="1000" dirty="0"/>
          </a:p>
        </p:txBody>
      </p:sp>
      <p:sp>
        <p:nvSpPr>
          <p:cNvPr id="14" name="Shape 12"/>
          <p:cNvSpPr/>
          <p:nvPr/>
        </p:nvSpPr>
        <p:spPr>
          <a:xfrm>
            <a:off x="201168" y="2542032"/>
            <a:ext cx="2651760" cy="658368"/>
          </a:xfrm>
          <a:prstGeom prst="rect">
            <a:avLst/>
          </a:prstGeom>
          <a:solidFill>
            <a:srgbClr val="EEF6FB"/>
          </a:solidFill>
          <a:ln w="12700">
            <a:solidFill>
              <a:srgbClr val="06D6A0"/>
            </a:solidFill>
            <a:prstDash val="solid"/>
          </a:ln>
        </p:spPr>
        <p:txBody>
          <a:bodyPr/>
          <a:lstStyle/>
          <a:p>
            <a:endParaRPr lang="en-SG"/>
          </a:p>
        </p:txBody>
      </p:sp>
      <p:sp>
        <p:nvSpPr>
          <p:cNvPr id="15" name="Text 13"/>
          <p:cNvSpPr/>
          <p:nvPr/>
        </p:nvSpPr>
        <p:spPr>
          <a:xfrm>
            <a:off x="237744" y="259689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6" name="Text 14"/>
          <p:cNvSpPr/>
          <p:nvPr/>
        </p:nvSpPr>
        <p:spPr>
          <a:xfrm>
            <a:off x="621792" y="2578608"/>
            <a:ext cx="2176272" cy="201168"/>
          </a:xfrm>
          <a:prstGeom prst="rect">
            <a:avLst/>
          </a:prstGeom>
          <a:noFill/>
        </p:spPr>
        <p:txBody>
          <a:bodyPr wrap="square" lIns="0" tIns="0" rIns="0" bIns="0" rtlCol="0" anchor="ctr"/>
          <a:lstStyle/>
          <a:p>
            <a:pPr marL="0" indent="0">
              <a:buNone/>
            </a:pPr>
            <a:r>
              <a:rPr lang="en-US" sz="95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Write blockers used at seizure</a:t>
            </a:r>
            <a:endParaRPr lang="en-US" sz="950" dirty="0"/>
          </a:p>
        </p:txBody>
      </p:sp>
      <p:sp>
        <p:nvSpPr>
          <p:cNvPr id="17" name="Text 15"/>
          <p:cNvSpPr/>
          <p:nvPr/>
        </p:nvSpPr>
        <p:spPr>
          <a:xfrm>
            <a:off x="621792" y="277977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Prevents any writes to the original device during acquisition.</a:t>
            </a:r>
            <a:endParaRPr lang="en-US" sz="850" dirty="0"/>
          </a:p>
        </p:txBody>
      </p:sp>
      <p:sp>
        <p:nvSpPr>
          <p:cNvPr id="18" name="Shape 16"/>
          <p:cNvSpPr/>
          <p:nvPr/>
        </p:nvSpPr>
        <p:spPr>
          <a:xfrm>
            <a:off x="201168" y="3273552"/>
            <a:ext cx="2651760" cy="658368"/>
          </a:xfrm>
          <a:prstGeom prst="rect">
            <a:avLst/>
          </a:prstGeom>
          <a:solidFill>
            <a:srgbClr val="EEF6FB"/>
          </a:solidFill>
          <a:ln w="12700">
            <a:solidFill>
              <a:srgbClr val="06D6A0"/>
            </a:solidFill>
            <a:prstDash val="solid"/>
          </a:ln>
        </p:spPr>
        <p:txBody>
          <a:bodyPr/>
          <a:lstStyle/>
          <a:p>
            <a:endParaRPr lang="en-SG"/>
          </a:p>
        </p:txBody>
      </p:sp>
      <p:sp>
        <p:nvSpPr>
          <p:cNvPr id="19" name="Text 17"/>
          <p:cNvSpPr/>
          <p:nvPr/>
        </p:nvSpPr>
        <p:spPr>
          <a:xfrm>
            <a:off x="237744" y="332841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0" name="Text 18"/>
          <p:cNvSpPr/>
          <p:nvPr/>
        </p:nvSpPr>
        <p:spPr>
          <a:xfrm>
            <a:off x="621792" y="3310128"/>
            <a:ext cx="2176272" cy="201168"/>
          </a:xfrm>
          <a:prstGeom prst="rect">
            <a:avLst/>
          </a:prstGeom>
          <a:noFill/>
        </p:spPr>
        <p:txBody>
          <a:bodyPr wrap="square" lIns="0" tIns="0" rIns="0" bIns="0" rtlCol="0" anchor="ctr"/>
          <a:lstStyle/>
          <a:p>
            <a:pPr marL="0" indent="0">
              <a:buNone/>
            </a:pPr>
            <a:r>
              <a:rPr lang="en-US" sz="95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Hash values recorded (MD5/SHA-256)</a:t>
            </a:r>
            <a:endParaRPr lang="en-US" sz="950" dirty="0"/>
          </a:p>
        </p:txBody>
      </p:sp>
      <p:sp>
        <p:nvSpPr>
          <p:cNvPr id="21" name="Text 19"/>
          <p:cNvSpPr/>
          <p:nvPr/>
        </p:nvSpPr>
        <p:spPr>
          <a:xfrm>
            <a:off x="621792" y="351129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Source hash = image hash proves the copy is identical to the original.</a:t>
            </a:r>
            <a:endParaRPr lang="en-US" sz="850" dirty="0"/>
          </a:p>
        </p:txBody>
      </p:sp>
      <p:sp>
        <p:nvSpPr>
          <p:cNvPr id="22" name="Shape 20"/>
          <p:cNvSpPr/>
          <p:nvPr/>
        </p:nvSpPr>
        <p:spPr>
          <a:xfrm>
            <a:off x="201168" y="4005072"/>
            <a:ext cx="2651760" cy="658368"/>
          </a:xfrm>
          <a:prstGeom prst="rect">
            <a:avLst/>
          </a:prstGeom>
          <a:solidFill>
            <a:srgbClr val="EEF6FB"/>
          </a:solidFill>
          <a:ln w="12700">
            <a:solidFill>
              <a:srgbClr val="06D6A0"/>
            </a:solidFill>
            <a:prstDash val="solid"/>
          </a:ln>
        </p:spPr>
        <p:txBody>
          <a:bodyPr/>
          <a:lstStyle/>
          <a:p>
            <a:endParaRPr lang="en-SG"/>
          </a:p>
        </p:txBody>
      </p:sp>
      <p:sp>
        <p:nvSpPr>
          <p:cNvPr id="23" name="Text 21"/>
          <p:cNvSpPr/>
          <p:nvPr/>
        </p:nvSpPr>
        <p:spPr>
          <a:xfrm>
            <a:off x="237744" y="405993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4" name="Text 22"/>
          <p:cNvSpPr/>
          <p:nvPr/>
        </p:nvSpPr>
        <p:spPr>
          <a:xfrm>
            <a:off x="621792" y="4041648"/>
            <a:ext cx="2176272" cy="201168"/>
          </a:xfrm>
          <a:prstGeom prst="rect">
            <a:avLst/>
          </a:prstGeom>
          <a:noFill/>
        </p:spPr>
        <p:txBody>
          <a:bodyPr wrap="square" lIns="0" tIns="0" rIns="0" bIns="0" rtlCol="0" anchor="ctr"/>
          <a:lstStyle/>
          <a:p>
            <a:pPr marL="0" indent="0">
              <a:buNone/>
            </a:pPr>
            <a:r>
              <a:rPr lang="en-US" sz="95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Chain of custody maintained</a:t>
            </a:r>
            <a:endParaRPr lang="en-US" sz="950" dirty="0"/>
          </a:p>
        </p:txBody>
      </p:sp>
      <p:sp>
        <p:nvSpPr>
          <p:cNvPr id="25" name="Text 23"/>
          <p:cNvSpPr/>
          <p:nvPr/>
        </p:nvSpPr>
        <p:spPr>
          <a:xfrm>
            <a:off x="621792" y="424281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Every transfer of evidence is signed and documented — no unexplained gaps.</a:t>
            </a:r>
            <a:endParaRPr lang="en-US" sz="850" dirty="0"/>
          </a:p>
        </p:txBody>
      </p:sp>
      <p:sp>
        <p:nvSpPr>
          <p:cNvPr id="26" name="Shape 24"/>
          <p:cNvSpPr/>
          <p:nvPr/>
        </p:nvSpPr>
        <p:spPr>
          <a:xfrm>
            <a:off x="3090672" y="1481328"/>
            <a:ext cx="2852928" cy="3255264"/>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3090672" y="1481328"/>
            <a:ext cx="2852928" cy="384048"/>
          </a:xfrm>
          <a:prstGeom prst="rect">
            <a:avLst/>
          </a:prstGeom>
          <a:solidFill>
            <a:srgbClr val="FFB703"/>
          </a:solidFill>
          <a:ln w="12700">
            <a:solidFill>
              <a:srgbClr val="FFB703"/>
            </a:solidFill>
            <a:prstDash val="solid"/>
          </a:ln>
        </p:spPr>
        <p:txBody>
          <a:bodyPr/>
          <a:lstStyle/>
          <a:p>
            <a:endParaRPr lang="en-SG"/>
          </a:p>
        </p:txBody>
      </p:sp>
      <p:sp>
        <p:nvSpPr>
          <p:cNvPr id="28" name="Text 26"/>
          <p:cNvSpPr/>
          <p:nvPr/>
        </p:nvSpPr>
        <p:spPr>
          <a:xfrm>
            <a:off x="3200400" y="1517904"/>
            <a:ext cx="2651760" cy="256032"/>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  RELIABLE</a:t>
            </a:r>
            <a:endParaRPr lang="en-US" sz="1300" dirty="0"/>
          </a:p>
        </p:txBody>
      </p:sp>
      <p:sp>
        <p:nvSpPr>
          <p:cNvPr id="29" name="Text 27"/>
          <p:cNvSpPr/>
          <p:nvPr/>
        </p:nvSpPr>
        <p:spPr>
          <a:xfrm>
            <a:off x="3200400" y="1938528"/>
            <a:ext cx="2651760" cy="53035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The methods used to obtain and analyse the evidence must be sound and repeatable. A competent second examiner using the same image and tools must reach the same findings.</a:t>
            </a:r>
            <a:endParaRPr lang="en-US" sz="1000" dirty="0"/>
          </a:p>
        </p:txBody>
      </p:sp>
      <p:sp>
        <p:nvSpPr>
          <p:cNvPr id="30" name="Shape 28"/>
          <p:cNvSpPr/>
          <p:nvPr/>
        </p:nvSpPr>
        <p:spPr>
          <a:xfrm>
            <a:off x="3182112" y="2542032"/>
            <a:ext cx="2651760" cy="658368"/>
          </a:xfrm>
          <a:prstGeom prst="rect">
            <a:avLst/>
          </a:prstGeom>
          <a:solidFill>
            <a:srgbClr val="EEF6FB"/>
          </a:solidFill>
          <a:ln w="12700">
            <a:solidFill>
              <a:srgbClr val="FFB703"/>
            </a:solidFill>
            <a:prstDash val="solid"/>
          </a:ln>
        </p:spPr>
        <p:txBody>
          <a:bodyPr/>
          <a:lstStyle/>
          <a:p>
            <a:endParaRPr lang="en-SG"/>
          </a:p>
        </p:txBody>
      </p:sp>
      <p:sp>
        <p:nvSpPr>
          <p:cNvPr id="31" name="Text 29"/>
          <p:cNvSpPr/>
          <p:nvPr/>
        </p:nvSpPr>
        <p:spPr>
          <a:xfrm>
            <a:off x="3218688" y="259689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2" name="Text 30"/>
          <p:cNvSpPr/>
          <p:nvPr/>
        </p:nvSpPr>
        <p:spPr>
          <a:xfrm>
            <a:off x="3602736" y="2578608"/>
            <a:ext cx="2176272" cy="201168"/>
          </a:xfrm>
          <a:prstGeom prst="rect">
            <a:avLst/>
          </a:prstGeom>
          <a:noFill/>
        </p:spPr>
        <p:txBody>
          <a:bodyPr wrap="square" lIns="0" tIns="0" rIns="0" bIns="0" rtlCol="0" anchor="ctr"/>
          <a:lstStyle/>
          <a:p>
            <a:pPr marL="0" indent="0">
              <a:buNone/>
            </a:pPr>
            <a:r>
              <a:rPr lang="en-US" sz="95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Validated, court-accepted tools</a:t>
            </a:r>
            <a:endParaRPr lang="en-US" sz="950" dirty="0"/>
          </a:p>
        </p:txBody>
      </p:sp>
      <p:sp>
        <p:nvSpPr>
          <p:cNvPr id="33" name="Text 31"/>
          <p:cNvSpPr/>
          <p:nvPr/>
        </p:nvSpPr>
        <p:spPr>
          <a:xfrm>
            <a:off x="3602736" y="277977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FTK, Autopsy, Cellebrite, X-Ways. Novel tools face Daubert/Frye scrutiny.</a:t>
            </a:r>
            <a:endParaRPr lang="en-US" sz="850" dirty="0"/>
          </a:p>
        </p:txBody>
      </p:sp>
      <p:sp>
        <p:nvSpPr>
          <p:cNvPr id="34" name="Shape 32"/>
          <p:cNvSpPr/>
          <p:nvPr/>
        </p:nvSpPr>
        <p:spPr>
          <a:xfrm>
            <a:off x="3182112" y="3273552"/>
            <a:ext cx="2651760" cy="658368"/>
          </a:xfrm>
          <a:prstGeom prst="rect">
            <a:avLst/>
          </a:prstGeom>
          <a:solidFill>
            <a:srgbClr val="EEF6FB"/>
          </a:solidFill>
          <a:ln w="12700">
            <a:solidFill>
              <a:srgbClr val="FFB703"/>
            </a:solidFill>
            <a:prstDash val="solid"/>
          </a:ln>
        </p:spPr>
        <p:txBody>
          <a:bodyPr/>
          <a:lstStyle/>
          <a:p>
            <a:endParaRPr lang="en-SG"/>
          </a:p>
        </p:txBody>
      </p:sp>
      <p:sp>
        <p:nvSpPr>
          <p:cNvPr id="35" name="Text 33"/>
          <p:cNvSpPr/>
          <p:nvPr/>
        </p:nvSpPr>
        <p:spPr>
          <a:xfrm>
            <a:off x="3218688" y="332841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6" name="Text 34"/>
          <p:cNvSpPr/>
          <p:nvPr/>
        </p:nvSpPr>
        <p:spPr>
          <a:xfrm>
            <a:off x="3602736" y="3310128"/>
            <a:ext cx="2176272" cy="201168"/>
          </a:xfrm>
          <a:prstGeom prst="rect">
            <a:avLst/>
          </a:prstGeom>
          <a:noFill/>
        </p:spPr>
        <p:txBody>
          <a:bodyPr wrap="square" lIns="0" tIns="0" rIns="0" bIns="0" rtlCol="0" anchor="ctr"/>
          <a:lstStyle/>
          <a:p>
            <a:pPr marL="0" indent="0">
              <a:buNone/>
            </a:pPr>
            <a:r>
              <a:rPr lang="en-US" sz="95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Documented methodology</a:t>
            </a:r>
            <a:endParaRPr lang="en-US" sz="950" dirty="0"/>
          </a:p>
        </p:txBody>
      </p:sp>
      <p:sp>
        <p:nvSpPr>
          <p:cNvPr id="37" name="Text 35"/>
          <p:cNvSpPr/>
          <p:nvPr/>
        </p:nvSpPr>
        <p:spPr>
          <a:xfrm>
            <a:off x="3602736" y="351129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Record every tool version, command, and decision made during examination.</a:t>
            </a:r>
            <a:endParaRPr lang="en-US" sz="850" dirty="0"/>
          </a:p>
        </p:txBody>
      </p:sp>
      <p:sp>
        <p:nvSpPr>
          <p:cNvPr id="38" name="Shape 36"/>
          <p:cNvSpPr/>
          <p:nvPr/>
        </p:nvSpPr>
        <p:spPr>
          <a:xfrm>
            <a:off x="3182112" y="4005072"/>
            <a:ext cx="2651760" cy="658368"/>
          </a:xfrm>
          <a:prstGeom prst="rect">
            <a:avLst/>
          </a:prstGeom>
          <a:solidFill>
            <a:srgbClr val="EEF6FB"/>
          </a:solidFill>
          <a:ln w="12700">
            <a:solidFill>
              <a:srgbClr val="FFB703"/>
            </a:solidFill>
            <a:prstDash val="solid"/>
          </a:ln>
        </p:spPr>
        <p:txBody>
          <a:bodyPr/>
          <a:lstStyle/>
          <a:p>
            <a:endParaRPr lang="en-SG"/>
          </a:p>
        </p:txBody>
      </p:sp>
      <p:sp>
        <p:nvSpPr>
          <p:cNvPr id="39" name="Text 37"/>
          <p:cNvSpPr/>
          <p:nvPr/>
        </p:nvSpPr>
        <p:spPr>
          <a:xfrm>
            <a:off x="3218688" y="405993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0" name="Text 38"/>
          <p:cNvSpPr/>
          <p:nvPr/>
        </p:nvSpPr>
        <p:spPr>
          <a:xfrm>
            <a:off x="3602736" y="4041648"/>
            <a:ext cx="2176272" cy="201168"/>
          </a:xfrm>
          <a:prstGeom prst="rect">
            <a:avLst/>
          </a:prstGeom>
          <a:noFill/>
        </p:spPr>
        <p:txBody>
          <a:bodyPr wrap="square" lIns="0" tIns="0" rIns="0" bIns="0" rtlCol="0" anchor="ctr"/>
          <a:lstStyle/>
          <a:p>
            <a:pPr marL="0" indent="0">
              <a:buNone/>
            </a:pPr>
            <a:r>
              <a:rPr lang="en-US" sz="95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Reproducible findings</a:t>
            </a:r>
            <a:endParaRPr lang="en-US" sz="950" dirty="0"/>
          </a:p>
        </p:txBody>
      </p:sp>
      <p:sp>
        <p:nvSpPr>
          <p:cNvPr id="41" name="Text 39"/>
          <p:cNvSpPr/>
          <p:nvPr/>
        </p:nvSpPr>
        <p:spPr>
          <a:xfrm>
            <a:off x="3602736" y="424281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Another competent examiner must be able to replicate results independently.</a:t>
            </a:r>
            <a:endParaRPr lang="en-US" sz="850" dirty="0"/>
          </a:p>
        </p:txBody>
      </p:sp>
      <p:sp>
        <p:nvSpPr>
          <p:cNvPr id="42" name="Shape 40"/>
          <p:cNvSpPr/>
          <p:nvPr/>
        </p:nvSpPr>
        <p:spPr>
          <a:xfrm>
            <a:off x="6071616" y="1481328"/>
            <a:ext cx="2852928" cy="3255264"/>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43" name="Shape 41"/>
          <p:cNvSpPr/>
          <p:nvPr/>
        </p:nvSpPr>
        <p:spPr>
          <a:xfrm>
            <a:off x="6071616" y="1481328"/>
            <a:ext cx="2852928" cy="384048"/>
          </a:xfrm>
          <a:prstGeom prst="rect">
            <a:avLst/>
          </a:prstGeom>
          <a:solidFill>
            <a:srgbClr val="9B5DE5"/>
          </a:solidFill>
          <a:ln w="12700">
            <a:solidFill>
              <a:srgbClr val="9B5DE5"/>
            </a:solidFill>
            <a:prstDash val="solid"/>
          </a:ln>
        </p:spPr>
        <p:txBody>
          <a:bodyPr/>
          <a:lstStyle/>
          <a:p>
            <a:endParaRPr lang="en-SG"/>
          </a:p>
        </p:txBody>
      </p:sp>
      <p:sp>
        <p:nvSpPr>
          <p:cNvPr id="44" name="Text 42"/>
          <p:cNvSpPr/>
          <p:nvPr/>
        </p:nvSpPr>
        <p:spPr>
          <a:xfrm>
            <a:off x="6181344" y="1517904"/>
            <a:ext cx="2651760" cy="256032"/>
          </a:xfrm>
          <a:prstGeom prst="rect">
            <a:avLst/>
          </a:prstGeom>
          <a:noFill/>
        </p:spPr>
        <p:txBody>
          <a:bodyPr wrap="square" lIns="0" tIns="0" rIns="0" bIns="0"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03  ADMISSIBLE</a:t>
            </a:r>
            <a:endParaRPr lang="en-US" sz="1300" dirty="0"/>
          </a:p>
        </p:txBody>
      </p:sp>
      <p:sp>
        <p:nvSpPr>
          <p:cNvPr id="45" name="Text 43"/>
          <p:cNvSpPr/>
          <p:nvPr/>
        </p:nvSpPr>
        <p:spPr>
          <a:xfrm>
            <a:off x="6181344" y="1938528"/>
            <a:ext cx="2651760" cy="53035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The evidence must be obtained lawfully and presented in a manner the court will accept. Even perfectly genuine evidence can be excluded if the rules of collection were violated.</a:t>
            </a:r>
            <a:endParaRPr lang="en-US" sz="1000" dirty="0"/>
          </a:p>
        </p:txBody>
      </p:sp>
      <p:sp>
        <p:nvSpPr>
          <p:cNvPr id="46" name="Shape 44"/>
          <p:cNvSpPr/>
          <p:nvPr/>
        </p:nvSpPr>
        <p:spPr>
          <a:xfrm>
            <a:off x="6163056" y="2542032"/>
            <a:ext cx="2651760" cy="658368"/>
          </a:xfrm>
          <a:prstGeom prst="rect">
            <a:avLst/>
          </a:prstGeom>
          <a:solidFill>
            <a:srgbClr val="EEF6FB"/>
          </a:solidFill>
          <a:ln w="12700">
            <a:solidFill>
              <a:srgbClr val="9B5DE5"/>
            </a:solidFill>
            <a:prstDash val="solid"/>
          </a:ln>
        </p:spPr>
        <p:txBody>
          <a:bodyPr/>
          <a:lstStyle/>
          <a:p>
            <a:endParaRPr lang="en-SG"/>
          </a:p>
        </p:txBody>
      </p:sp>
      <p:sp>
        <p:nvSpPr>
          <p:cNvPr id="47" name="Text 45"/>
          <p:cNvSpPr/>
          <p:nvPr/>
        </p:nvSpPr>
        <p:spPr>
          <a:xfrm>
            <a:off x="6199632" y="259689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8" name="Text 46"/>
          <p:cNvSpPr/>
          <p:nvPr/>
        </p:nvSpPr>
        <p:spPr>
          <a:xfrm>
            <a:off x="6583680" y="2578608"/>
            <a:ext cx="2176272" cy="201168"/>
          </a:xfrm>
          <a:prstGeom prst="rect">
            <a:avLst/>
          </a:prstGeom>
          <a:noFill/>
        </p:spPr>
        <p:txBody>
          <a:bodyPr wrap="square" lIns="0" tIns="0" rIns="0" bIns="0" rtlCol="0" anchor="ctr"/>
          <a:lstStyle/>
          <a:p>
            <a:pPr marL="0" indent="0">
              <a:buNone/>
            </a:pPr>
            <a:r>
              <a:rPr lang="en-US" sz="95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Obtained under lawful authority</a:t>
            </a:r>
            <a:endParaRPr lang="en-US" sz="950" dirty="0"/>
          </a:p>
        </p:txBody>
      </p:sp>
      <p:sp>
        <p:nvSpPr>
          <p:cNvPr id="49" name="Text 47"/>
          <p:cNvSpPr/>
          <p:nvPr/>
        </p:nvSpPr>
        <p:spPr>
          <a:xfrm>
            <a:off x="6583680" y="277977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 valid warrant or legal authorisation is required. Unlawfully seized evidence is excluded — 'fruit of the poisonous tree'.</a:t>
            </a:r>
            <a:endParaRPr lang="en-US" sz="850" dirty="0"/>
          </a:p>
        </p:txBody>
      </p:sp>
      <p:sp>
        <p:nvSpPr>
          <p:cNvPr id="50" name="Shape 48"/>
          <p:cNvSpPr/>
          <p:nvPr/>
        </p:nvSpPr>
        <p:spPr>
          <a:xfrm>
            <a:off x="6163056" y="3273552"/>
            <a:ext cx="2651760" cy="658368"/>
          </a:xfrm>
          <a:prstGeom prst="rect">
            <a:avLst/>
          </a:prstGeom>
          <a:solidFill>
            <a:srgbClr val="EEF6FB"/>
          </a:solidFill>
          <a:ln w="12700">
            <a:solidFill>
              <a:srgbClr val="9B5DE5"/>
            </a:solidFill>
            <a:prstDash val="solid"/>
          </a:ln>
        </p:spPr>
        <p:txBody>
          <a:bodyPr/>
          <a:lstStyle/>
          <a:p>
            <a:endParaRPr lang="en-SG"/>
          </a:p>
        </p:txBody>
      </p:sp>
      <p:sp>
        <p:nvSpPr>
          <p:cNvPr id="51" name="Text 49"/>
          <p:cNvSpPr/>
          <p:nvPr/>
        </p:nvSpPr>
        <p:spPr>
          <a:xfrm>
            <a:off x="6199632" y="332841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52" name="Text 50"/>
          <p:cNvSpPr/>
          <p:nvPr/>
        </p:nvSpPr>
        <p:spPr>
          <a:xfrm>
            <a:off x="6583680" y="3310128"/>
            <a:ext cx="2176272" cy="201168"/>
          </a:xfrm>
          <a:prstGeom prst="rect">
            <a:avLst/>
          </a:prstGeom>
          <a:noFill/>
        </p:spPr>
        <p:txBody>
          <a:bodyPr wrap="square" lIns="0" tIns="0" rIns="0" bIns="0" rtlCol="0" anchor="ctr"/>
          <a:lstStyle/>
          <a:p>
            <a:pPr marL="0" indent="0">
              <a:buNone/>
            </a:pPr>
            <a:r>
              <a:rPr lang="en-US" sz="95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Unbroken chain of custody</a:t>
            </a:r>
            <a:endParaRPr lang="en-US" sz="950" dirty="0"/>
          </a:p>
        </p:txBody>
      </p:sp>
      <p:sp>
        <p:nvSpPr>
          <p:cNvPr id="53" name="Text 51"/>
          <p:cNvSpPr/>
          <p:nvPr/>
        </p:nvSpPr>
        <p:spPr>
          <a:xfrm>
            <a:off x="6583680" y="351129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Any gap — missing signature, unexplained transfer — gives defence grounds to challenge admissibility.</a:t>
            </a:r>
            <a:endParaRPr lang="en-US" sz="850" dirty="0"/>
          </a:p>
        </p:txBody>
      </p:sp>
      <p:sp>
        <p:nvSpPr>
          <p:cNvPr id="54" name="Shape 52"/>
          <p:cNvSpPr/>
          <p:nvPr/>
        </p:nvSpPr>
        <p:spPr>
          <a:xfrm>
            <a:off x="6163056" y="4005072"/>
            <a:ext cx="2651760" cy="658368"/>
          </a:xfrm>
          <a:prstGeom prst="rect">
            <a:avLst/>
          </a:prstGeom>
          <a:solidFill>
            <a:srgbClr val="EEF6FB"/>
          </a:solidFill>
          <a:ln w="12700">
            <a:solidFill>
              <a:srgbClr val="9B5DE5"/>
            </a:solidFill>
            <a:prstDash val="solid"/>
          </a:ln>
        </p:spPr>
        <p:txBody>
          <a:bodyPr/>
          <a:lstStyle/>
          <a:p>
            <a:endParaRPr lang="en-SG"/>
          </a:p>
        </p:txBody>
      </p:sp>
      <p:sp>
        <p:nvSpPr>
          <p:cNvPr id="55" name="Text 53"/>
          <p:cNvSpPr/>
          <p:nvPr/>
        </p:nvSpPr>
        <p:spPr>
          <a:xfrm>
            <a:off x="6199632" y="4059936"/>
            <a:ext cx="329184"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56" name="Text 54"/>
          <p:cNvSpPr/>
          <p:nvPr/>
        </p:nvSpPr>
        <p:spPr>
          <a:xfrm>
            <a:off x="6583680" y="4041648"/>
            <a:ext cx="2176272" cy="201168"/>
          </a:xfrm>
          <a:prstGeom prst="rect">
            <a:avLst/>
          </a:prstGeom>
          <a:noFill/>
        </p:spPr>
        <p:txBody>
          <a:bodyPr wrap="square" lIns="0" tIns="0" rIns="0" bIns="0" rtlCol="0" anchor="ctr"/>
          <a:lstStyle/>
          <a:p>
            <a:pPr marL="0" indent="0">
              <a:buNone/>
            </a:pPr>
            <a:r>
              <a:rPr lang="en-US" sz="95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Presented clearly to the court</a:t>
            </a:r>
            <a:endParaRPr lang="en-US" sz="950" dirty="0"/>
          </a:p>
        </p:txBody>
      </p:sp>
      <p:sp>
        <p:nvSpPr>
          <p:cNvPr id="57" name="Text 55"/>
          <p:cNvSpPr/>
          <p:nvPr/>
        </p:nvSpPr>
        <p:spPr>
          <a:xfrm>
            <a:off x="6583680" y="4242816"/>
            <a:ext cx="2176272" cy="36576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Technical findings must be expressed in plain language. The judge and jury must be able to understand the evidence.</a:t>
            </a:r>
            <a:endParaRPr lang="en-US" sz="850" dirty="0"/>
          </a:p>
        </p:txBody>
      </p:sp>
      <p:sp>
        <p:nvSpPr>
          <p:cNvPr id="59" name="Text 57"/>
          <p:cNvSpPr/>
          <p:nvPr/>
        </p:nvSpPr>
        <p:spPr>
          <a:xfrm>
            <a:off x="182880" y="4843399"/>
            <a:ext cx="8778240" cy="91440"/>
          </a:xfrm>
          <a:prstGeom prst="rect">
            <a:avLst/>
          </a:prstGeom>
          <a:noFill/>
        </p:spPr>
        <p:txBody>
          <a:bodyPr wrap="square" rtlCol="0" anchor="ctr"/>
          <a:lstStyle/>
          <a:p>
            <a:pPr marL="0" indent="0">
              <a:buNone/>
            </a:pPr>
            <a:r>
              <a:rPr lang="en-US" sz="850" b="1" i="1" dirty="0">
                <a:solidFill>
                  <a:srgbClr val="1A1A2E"/>
                </a:solidFill>
                <a:latin typeface="Calibri" panose="020F0502020204030204" pitchFamily="34" charset="0"/>
                <a:ea typeface="Calibri" panose="020F0502020204030204" pitchFamily="34" charset="-122"/>
                <a:cs typeface="Calibri" panose="020F0502020204030204" pitchFamily="34" charset="-120"/>
              </a:rPr>
              <a:t>⚠  Failure on any one of these three pillars — Authentic, Reliable, Admissible — can result in all digital evidence being excluded from trial.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6D6A0"/>
          </a:solidFill>
          <a:ln w="12700">
            <a:solidFill>
              <a:srgbClr val="06D6A0"/>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p:spPr>
        <p:txBody>
          <a:bodyPr wrap="square" lIns="0" tIns="0" rIns="0" bIns="0" rtlCol="0" anchor="ctr"/>
          <a:lstStyle/>
          <a:p>
            <a:pPr marL="0" indent="0" algn="ctr">
              <a:buNone/>
            </a:pPr>
            <a:r>
              <a:rPr lang="en-US" sz="96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9600" dirty="0"/>
          </a:p>
        </p:txBody>
      </p:sp>
      <p:sp>
        <p:nvSpPr>
          <p:cNvPr id="6" name="Text 4"/>
          <p:cNvSpPr/>
          <p:nvPr/>
        </p:nvSpPr>
        <p:spPr>
          <a:xfrm>
            <a:off x="201168" y="1938528"/>
            <a:ext cx="3657600" cy="914400"/>
          </a:xfrm>
          <a:prstGeom prst="rect">
            <a:avLst/>
          </a:prstGeom>
          <a:noFill/>
        </p:spPr>
        <p:txBody>
          <a:bodyPr wrap="square" rtlCol="0" anchor="ctr"/>
          <a:lstStyle/>
          <a:p>
            <a:pPr marL="0" indent="0" algn="ctr">
              <a:buNone/>
            </a:pPr>
            <a:r>
              <a:rPr lang="en-US" sz="1300" i="1" dirty="0">
                <a:solidFill>
                  <a:srgbClr val="000000"/>
                </a:solidFill>
                <a:latin typeface="Calibri" panose="020F0502020204030204" pitchFamily="34" charset="0"/>
                <a:ea typeface="Calibri" panose="020F0502020204030204" pitchFamily="34" charset="-122"/>
                <a:cs typeface="Calibri" panose="020F0502020204030204" pitchFamily="34" charset="-120"/>
              </a:rPr>
              <a:t>Understanding what examiners do and how digital artefacts are extracted</a:t>
            </a:r>
            <a:endParaRPr lang="en-US" sz="1300" dirty="0"/>
          </a:p>
        </p:txBody>
      </p:sp>
      <p:sp>
        <p:nvSpPr>
          <p:cNvPr id="7" name="Text 5"/>
          <p:cNvSpPr/>
          <p:nvPr/>
        </p:nvSpPr>
        <p:spPr>
          <a:xfrm>
            <a:off x="4572000" y="566928"/>
            <a:ext cx="4297680" cy="329184"/>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06D6A0"/>
          </a:solidFill>
          <a:ln w="12700">
            <a:solidFill>
              <a:srgbClr val="06D6A0"/>
            </a:solidFill>
            <a:prstDash val="solid"/>
          </a:ln>
        </p:spPr>
        <p:txBody>
          <a:bodyPr/>
          <a:lstStyle/>
          <a:p>
            <a:endParaRPr lang="en-SG"/>
          </a:p>
        </p:txBody>
      </p:sp>
      <p:sp>
        <p:nvSpPr>
          <p:cNvPr id="10" name="Text 8"/>
          <p:cNvSpPr/>
          <p:nvPr/>
        </p:nvSpPr>
        <p:spPr>
          <a:xfrm>
            <a:off x="4663440" y="1115568"/>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100" dirty="0"/>
          </a:p>
        </p:txBody>
      </p:sp>
      <p:sp>
        <p:nvSpPr>
          <p:cNvPr id="11" name="Text 9"/>
          <p:cNvSpPr/>
          <p:nvPr/>
        </p:nvSpPr>
        <p:spPr>
          <a:xfrm>
            <a:off x="5166360" y="1097280"/>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Examination Phase — Artefact Extraction &amp; Analysis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D6A0"/>
          </a:solidFill>
          <a:ln w="12700">
            <a:solidFill>
              <a:srgbClr val="06D6A0"/>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04 — Examination: Extracting &amp; Parsing Digital Artefacts</a:t>
            </a:r>
            <a:endParaRPr lang="en-US" sz="1700" dirty="0"/>
          </a:p>
        </p:txBody>
      </p:sp>
      <p:sp>
        <p:nvSpPr>
          <p:cNvPr id="6" name="Shape 4"/>
          <p:cNvSpPr/>
          <p:nvPr/>
        </p:nvSpPr>
        <p:spPr>
          <a:xfrm>
            <a:off x="109728" y="841248"/>
            <a:ext cx="4352544" cy="391363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09728" y="841248"/>
            <a:ext cx="4352544" cy="365760"/>
          </a:xfrm>
          <a:prstGeom prst="rect">
            <a:avLst/>
          </a:prstGeom>
          <a:solidFill>
            <a:srgbClr val="06D6A0"/>
          </a:solidFill>
          <a:ln w="12700">
            <a:solidFill>
              <a:srgbClr val="06D6A0"/>
            </a:solidFill>
            <a:prstDash val="solid"/>
          </a:ln>
        </p:spPr>
        <p:txBody>
          <a:bodyPr/>
          <a:lstStyle/>
          <a:p>
            <a:endParaRPr lang="en-SG"/>
          </a:p>
        </p:txBody>
      </p:sp>
      <p:sp>
        <p:nvSpPr>
          <p:cNvPr id="8" name="Text 6"/>
          <p:cNvSpPr/>
          <p:nvPr/>
        </p:nvSpPr>
        <p:spPr>
          <a:xfrm>
            <a:off x="219456" y="868680"/>
            <a:ext cx="4133088" cy="256032"/>
          </a:xfrm>
          <a:prstGeom prst="rect">
            <a:avLst/>
          </a:prstGeom>
          <a:noFill/>
        </p:spPr>
        <p:txBody>
          <a:bodyPr wrap="square" lIns="0" tIns="0" rIns="0" bIns="0" rtlCol="0" anchor="ctr"/>
          <a:lstStyle/>
          <a:p>
            <a:pPr marL="0" indent="0">
              <a:buNone/>
            </a:pPr>
            <a:r>
              <a:rPr lang="en-US" sz="1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WHAT DOES AN EXAMINER DO?</a:t>
            </a:r>
            <a:endParaRPr lang="en-US" sz="1200" dirty="0"/>
          </a:p>
        </p:txBody>
      </p:sp>
      <p:sp>
        <p:nvSpPr>
          <p:cNvPr id="9" name="Text 7"/>
          <p:cNvSpPr/>
          <p:nvPr/>
        </p:nvSpPr>
        <p:spPr>
          <a:xfrm>
            <a:off x="219456" y="1280160"/>
            <a:ext cx="4133088" cy="201168"/>
          </a:xfrm>
          <a:prstGeom prst="rect">
            <a:avLst/>
          </a:prstGeom>
          <a:noFill/>
        </p:spPr>
        <p:txBody>
          <a:bodyPr wrap="square" rtlCol="0" anchor="ctr"/>
          <a:lstStyle/>
          <a:p>
            <a:pPr marL="0" indent="0">
              <a:buNone/>
            </a:pPr>
            <a:r>
              <a:rPr lang="en-US" sz="11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Mount the Forensic Image</a:t>
            </a:r>
            <a:endParaRPr lang="en-US" sz="1100" dirty="0"/>
          </a:p>
        </p:txBody>
      </p:sp>
      <p:sp>
        <p:nvSpPr>
          <p:cNvPr id="10" name="Text 8"/>
          <p:cNvSpPr/>
          <p:nvPr/>
        </p:nvSpPr>
        <p:spPr>
          <a:xfrm>
            <a:off x="219456" y="1481328"/>
            <a:ext cx="4133088" cy="329184"/>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Load the E01/DD image in read-only mode using Autopsy, FTK, or X-Ways. Never examine the original evidence drive directly.</a:t>
            </a:r>
            <a:endParaRPr lang="en-US" sz="900" dirty="0"/>
          </a:p>
        </p:txBody>
      </p:sp>
      <p:sp>
        <p:nvSpPr>
          <p:cNvPr id="11" name="Text 9"/>
          <p:cNvSpPr/>
          <p:nvPr/>
        </p:nvSpPr>
        <p:spPr>
          <a:xfrm>
            <a:off x="219456" y="1828800"/>
            <a:ext cx="4133088" cy="201168"/>
          </a:xfrm>
          <a:prstGeom prst="rect">
            <a:avLst/>
          </a:prstGeom>
          <a:noFill/>
        </p:spPr>
        <p:txBody>
          <a:bodyPr wrap="square" rtlCol="0" anchor="ctr"/>
          <a:lstStyle/>
          <a:p>
            <a:pPr marL="0" indent="0">
              <a:buNone/>
            </a:pPr>
            <a:r>
              <a:rPr lang="en-US" sz="11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File System Parsing</a:t>
            </a:r>
            <a:endParaRPr lang="en-US" sz="1100" dirty="0"/>
          </a:p>
        </p:txBody>
      </p:sp>
      <p:sp>
        <p:nvSpPr>
          <p:cNvPr id="12" name="Text 10"/>
          <p:cNvSpPr/>
          <p:nvPr/>
        </p:nvSpPr>
        <p:spPr>
          <a:xfrm>
            <a:off x="219456" y="2029968"/>
            <a:ext cx="4133088" cy="329184"/>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Identify file system type (NTFS, FAT32, APFS, ext4). Parse MFT (NTFS) or FAT tables to build the complete directory tree including deleted entries.</a:t>
            </a:r>
            <a:endParaRPr lang="en-US" sz="900" dirty="0"/>
          </a:p>
        </p:txBody>
      </p:sp>
      <p:sp>
        <p:nvSpPr>
          <p:cNvPr id="13" name="Text 11"/>
          <p:cNvSpPr/>
          <p:nvPr/>
        </p:nvSpPr>
        <p:spPr>
          <a:xfrm>
            <a:off x="219456" y="2377440"/>
            <a:ext cx="4133088" cy="201168"/>
          </a:xfrm>
          <a:prstGeom prst="rect">
            <a:avLst/>
          </a:prstGeom>
          <a:noFill/>
        </p:spPr>
        <p:txBody>
          <a:bodyPr wrap="square" rtlCol="0" anchor="ctr"/>
          <a:lstStyle/>
          <a:p>
            <a:pPr marL="0" indent="0">
              <a:buNone/>
            </a:pPr>
            <a:r>
              <a:rPr lang="en-US" sz="11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Deleted File Recovery</a:t>
            </a:r>
            <a:endParaRPr lang="en-US" sz="1100" dirty="0"/>
          </a:p>
        </p:txBody>
      </p:sp>
      <p:sp>
        <p:nvSpPr>
          <p:cNvPr id="14" name="Text 12"/>
          <p:cNvSpPr/>
          <p:nvPr/>
        </p:nvSpPr>
        <p:spPr>
          <a:xfrm>
            <a:off x="219456" y="2578608"/>
            <a:ext cx="4133088" cy="329184"/>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Files marked as deleted still exist in unallocated space until overwritten. File carving reconstructs files from raw data using known file headers/footers (magic bytes).</a:t>
            </a:r>
            <a:endParaRPr lang="en-US" sz="900" dirty="0"/>
          </a:p>
        </p:txBody>
      </p:sp>
      <p:sp>
        <p:nvSpPr>
          <p:cNvPr id="15" name="Text 13"/>
          <p:cNvSpPr/>
          <p:nvPr/>
        </p:nvSpPr>
        <p:spPr>
          <a:xfrm>
            <a:off x="219456" y="2926080"/>
            <a:ext cx="4133088" cy="201168"/>
          </a:xfrm>
          <a:prstGeom prst="rect">
            <a:avLst/>
          </a:prstGeom>
          <a:noFill/>
        </p:spPr>
        <p:txBody>
          <a:bodyPr wrap="square" rtlCol="0" anchor="ctr"/>
          <a:lstStyle/>
          <a:p>
            <a:pPr marL="0" indent="0">
              <a:buNone/>
            </a:pPr>
            <a:r>
              <a:rPr lang="en-US" sz="11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Registry Analysis (Windows)</a:t>
            </a:r>
            <a:endParaRPr lang="en-US" sz="1100" dirty="0"/>
          </a:p>
        </p:txBody>
      </p:sp>
      <p:sp>
        <p:nvSpPr>
          <p:cNvPr id="16" name="Text 14"/>
          <p:cNvSpPr/>
          <p:nvPr/>
        </p:nvSpPr>
        <p:spPr>
          <a:xfrm>
            <a:off x="219456" y="3127248"/>
            <a:ext cx="4133088" cy="329184"/>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Windows Registry stores user activity, installed software, USB connection history (USBSTOR), and autorun keys used by malware.</a:t>
            </a:r>
            <a:endParaRPr lang="en-US" sz="900" dirty="0"/>
          </a:p>
        </p:txBody>
      </p:sp>
      <p:sp>
        <p:nvSpPr>
          <p:cNvPr id="17" name="Text 15"/>
          <p:cNvSpPr/>
          <p:nvPr/>
        </p:nvSpPr>
        <p:spPr>
          <a:xfrm>
            <a:off x="219456" y="3474720"/>
            <a:ext cx="4133088" cy="201168"/>
          </a:xfrm>
          <a:prstGeom prst="rect">
            <a:avLst/>
          </a:prstGeom>
          <a:noFill/>
        </p:spPr>
        <p:txBody>
          <a:bodyPr wrap="square" rtlCol="0" anchor="ctr"/>
          <a:lstStyle/>
          <a:p>
            <a:pPr marL="0" indent="0">
              <a:buNone/>
            </a:pPr>
            <a:r>
              <a:rPr lang="en-US" sz="11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Event Log Analysis</a:t>
            </a:r>
            <a:endParaRPr lang="en-US" sz="1100" dirty="0"/>
          </a:p>
        </p:txBody>
      </p:sp>
      <p:sp>
        <p:nvSpPr>
          <p:cNvPr id="18" name="Text 16"/>
          <p:cNvSpPr/>
          <p:nvPr/>
        </p:nvSpPr>
        <p:spPr>
          <a:xfrm>
            <a:off x="219456" y="3675888"/>
            <a:ext cx="4133088" cy="329184"/>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Windows Event Logs (Security, System, Application) record logons, privilege escalation, service starts, and security policy changes — a timeline goldmine.</a:t>
            </a:r>
            <a:endParaRPr lang="en-US" sz="900" dirty="0"/>
          </a:p>
        </p:txBody>
      </p:sp>
      <p:sp>
        <p:nvSpPr>
          <p:cNvPr id="19" name="Text 17"/>
          <p:cNvSpPr/>
          <p:nvPr/>
        </p:nvSpPr>
        <p:spPr>
          <a:xfrm>
            <a:off x="219456" y="4023360"/>
            <a:ext cx="4133088" cy="201168"/>
          </a:xfrm>
          <a:prstGeom prst="rect">
            <a:avLst/>
          </a:prstGeom>
          <a:noFill/>
        </p:spPr>
        <p:txBody>
          <a:bodyPr wrap="square" rtlCol="0" anchor="ctr"/>
          <a:lstStyle/>
          <a:p>
            <a:pPr marL="0" indent="0">
              <a:buNone/>
            </a:pPr>
            <a:r>
              <a:rPr lang="en-US" sz="11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Browser &amp; App Artefacts</a:t>
            </a:r>
            <a:endParaRPr lang="en-US" sz="1100" dirty="0"/>
          </a:p>
        </p:txBody>
      </p:sp>
      <p:sp>
        <p:nvSpPr>
          <p:cNvPr id="20" name="Text 18"/>
          <p:cNvSpPr/>
          <p:nvPr/>
        </p:nvSpPr>
        <p:spPr>
          <a:xfrm>
            <a:off x="219456" y="4224528"/>
            <a:ext cx="4133088" cy="329184"/>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Parse Chrome/Firefox SQLite databases for browsing history, downloads, cookies, cached content, and search queries. Examine messaging app databases.</a:t>
            </a:r>
            <a:endParaRPr lang="en-US" sz="900" dirty="0"/>
          </a:p>
        </p:txBody>
      </p:sp>
      <p:sp>
        <p:nvSpPr>
          <p:cNvPr id="21" name="Shape 19"/>
          <p:cNvSpPr/>
          <p:nvPr/>
        </p:nvSpPr>
        <p:spPr>
          <a:xfrm>
            <a:off x="4681728" y="841248"/>
            <a:ext cx="4352544" cy="3913632"/>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2" name="Shape 20"/>
          <p:cNvSpPr/>
          <p:nvPr/>
        </p:nvSpPr>
        <p:spPr>
          <a:xfrm>
            <a:off x="4681728" y="841248"/>
            <a:ext cx="4352544" cy="365760"/>
          </a:xfrm>
          <a:prstGeom prst="rect">
            <a:avLst/>
          </a:prstGeom>
          <a:solidFill>
            <a:srgbClr val="FB8500"/>
          </a:solidFill>
          <a:ln w="12700">
            <a:solidFill>
              <a:srgbClr val="FB8500"/>
            </a:solidFill>
            <a:prstDash val="solid"/>
          </a:ln>
        </p:spPr>
        <p:txBody>
          <a:bodyPr/>
          <a:lstStyle/>
          <a:p>
            <a:endParaRPr lang="en-SG"/>
          </a:p>
        </p:txBody>
      </p:sp>
      <p:sp>
        <p:nvSpPr>
          <p:cNvPr id="23" name="Text 21"/>
          <p:cNvSpPr/>
          <p:nvPr/>
        </p:nvSpPr>
        <p:spPr>
          <a:xfrm>
            <a:off x="4791456" y="868680"/>
            <a:ext cx="4133088" cy="256032"/>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KEY ARTEFACT CATEGORIES</a:t>
            </a:r>
            <a:endParaRPr lang="en-US" sz="1200" dirty="0"/>
          </a:p>
        </p:txBody>
      </p:sp>
      <p:sp>
        <p:nvSpPr>
          <p:cNvPr id="24" name="Shape 22"/>
          <p:cNvSpPr/>
          <p:nvPr/>
        </p:nvSpPr>
        <p:spPr>
          <a:xfrm>
            <a:off x="4718304" y="1264412"/>
            <a:ext cx="4279392" cy="786384"/>
          </a:xfrm>
          <a:prstGeom prst="roundRect">
            <a:avLst>
              <a:gd name="adj" fmla="val 6977"/>
            </a:avLst>
          </a:prstGeom>
          <a:solidFill>
            <a:srgbClr val="EEF6FB"/>
          </a:solidFill>
          <a:ln w="12700">
            <a:solidFill>
              <a:srgbClr val="FB8500"/>
            </a:solidFill>
            <a:prstDash val="solid"/>
          </a:ln>
        </p:spPr>
        <p:txBody>
          <a:bodyPr/>
          <a:lstStyle/>
          <a:p>
            <a:endParaRPr lang="en-SG"/>
          </a:p>
        </p:txBody>
      </p:sp>
      <p:sp>
        <p:nvSpPr>
          <p:cNvPr id="25" name="Text 23"/>
          <p:cNvSpPr/>
          <p:nvPr/>
        </p:nvSpPr>
        <p:spPr>
          <a:xfrm>
            <a:off x="4809744" y="1298448"/>
            <a:ext cx="4096512" cy="237744"/>
          </a:xfrm>
          <a:prstGeom prst="rect">
            <a:avLst/>
          </a:prstGeom>
          <a:noFill/>
        </p:spPr>
        <p:txBody>
          <a:bodyPr wrap="square" rtlCol="0" anchor="ctr"/>
          <a:lstStyle/>
          <a:p>
            <a:pPr marL="0" indent="0">
              <a:buNone/>
            </a:pPr>
            <a:r>
              <a:rPr lang="en-US" sz="11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 File System</a:t>
            </a:r>
            <a:endParaRPr lang="en-US" sz="1100" dirty="0"/>
          </a:p>
        </p:txBody>
      </p:sp>
      <p:sp>
        <p:nvSpPr>
          <p:cNvPr id="26" name="Text 24"/>
          <p:cNvSpPr/>
          <p:nvPr/>
        </p:nvSpPr>
        <p:spPr>
          <a:xfrm>
            <a:off x="4809744" y="1536192"/>
            <a:ext cx="4096512" cy="45720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$MFT — Master File Table (NTFS)   ·   $LogFile — file system journal   ·   Slack space — partial file remnants   ·   Alternate Data Streams (ADS)</a:t>
            </a:r>
            <a:endParaRPr lang="en-US" sz="900" dirty="0"/>
          </a:p>
        </p:txBody>
      </p:sp>
      <p:sp>
        <p:nvSpPr>
          <p:cNvPr id="27" name="Shape 25"/>
          <p:cNvSpPr/>
          <p:nvPr/>
        </p:nvSpPr>
        <p:spPr>
          <a:xfrm>
            <a:off x="4718304" y="2157984"/>
            <a:ext cx="4279392" cy="786384"/>
          </a:xfrm>
          <a:prstGeom prst="roundRect">
            <a:avLst>
              <a:gd name="adj" fmla="val 6977"/>
            </a:avLst>
          </a:prstGeom>
          <a:solidFill>
            <a:srgbClr val="EEF6FB"/>
          </a:solidFill>
          <a:ln w="12700">
            <a:solidFill>
              <a:srgbClr val="FB8500"/>
            </a:solidFill>
            <a:prstDash val="solid"/>
          </a:ln>
        </p:spPr>
        <p:txBody>
          <a:bodyPr/>
          <a:lstStyle/>
          <a:p>
            <a:endParaRPr lang="en-SG"/>
          </a:p>
        </p:txBody>
      </p:sp>
      <p:sp>
        <p:nvSpPr>
          <p:cNvPr id="28" name="Text 26"/>
          <p:cNvSpPr/>
          <p:nvPr/>
        </p:nvSpPr>
        <p:spPr>
          <a:xfrm>
            <a:off x="4809744" y="2194560"/>
            <a:ext cx="4096512" cy="237744"/>
          </a:xfrm>
          <a:prstGeom prst="rect">
            <a:avLst/>
          </a:prstGeom>
          <a:noFill/>
        </p:spPr>
        <p:txBody>
          <a:bodyPr wrap="square" rtlCol="0" anchor="ctr"/>
          <a:lstStyle/>
          <a:p>
            <a:pPr marL="0" indent="0">
              <a:buNone/>
            </a:pPr>
            <a:r>
              <a:rPr lang="en-US" sz="11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 User Activity</a:t>
            </a:r>
            <a:endParaRPr lang="en-US" sz="1100" dirty="0"/>
          </a:p>
        </p:txBody>
      </p:sp>
      <p:sp>
        <p:nvSpPr>
          <p:cNvPr id="29" name="Text 27"/>
          <p:cNvSpPr/>
          <p:nvPr/>
        </p:nvSpPr>
        <p:spPr>
          <a:xfrm>
            <a:off x="4809744" y="2432304"/>
            <a:ext cx="4096512" cy="45720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Prefetch files (program execution)   ·   LNK / shortcut files (recently opened)   ·   Jump Lists (recent files per app)   ·   Shellbags (folder browsing history)</a:t>
            </a:r>
            <a:endParaRPr lang="en-US" sz="900" dirty="0"/>
          </a:p>
        </p:txBody>
      </p:sp>
      <p:sp>
        <p:nvSpPr>
          <p:cNvPr id="30" name="Shape 28"/>
          <p:cNvSpPr/>
          <p:nvPr/>
        </p:nvSpPr>
        <p:spPr>
          <a:xfrm>
            <a:off x="4718304" y="3054096"/>
            <a:ext cx="4279392" cy="786384"/>
          </a:xfrm>
          <a:prstGeom prst="roundRect">
            <a:avLst>
              <a:gd name="adj" fmla="val 6977"/>
            </a:avLst>
          </a:prstGeom>
          <a:solidFill>
            <a:srgbClr val="EEF6FB"/>
          </a:solidFill>
          <a:ln w="12700">
            <a:solidFill>
              <a:srgbClr val="FB8500"/>
            </a:solidFill>
            <a:prstDash val="solid"/>
          </a:ln>
        </p:spPr>
        <p:txBody>
          <a:bodyPr/>
          <a:lstStyle/>
          <a:p>
            <a:endParaRPr lang="en-SG"/>
          </a:p>
        </p:txBody>
      </p:sp>
      <p:sp>
        <p:nvSpPr>
          <p:cNvPr id="31" name="Text 29"/>
          <p:cNvSpPr/>
          <p:nvPr/>
        </p:nvSpPr>
        <p:spPr>
          <a:xfrm>
            <a:off x="4809744" y="3090672"/>
            <a:ext cx="4096512" cy="237744"/>
          </a:xfrm>
          <a:prstGeom prst="rect">
            <a:avLst/>
          </a:prstGeom>
          <a:noFill/>
        </p:spPr>
        <p:txBody>
          <a:bodyPr wrap="square" rtlCol="0" anchor="ctr"/>
          <a:lstStyle/>
          <a:p>
            <a:pPr marL="0" indent="0">
              <a:buNone/>
            </a:pPr>
            <a:r>
              <a:rPr lang="en-US" sz="11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 Network</a:t>
            </a:r>
            <a:endParaRPr lang="en-US" sz="1100" dirty="0"/>
          </a:p>
        </p:txBody>
      </p:sp>
      <p:sp>
        <p:nvSpPr>
          <p:cNvPr id="32" name="Text 30"/>
          <p:cNvSpPr/>
          <p:nvPr/>
        </p:nvSpPr>
        <p:spPr>
          <a:xfrm>
            <a:off x="4809744" y="3328416"/>
            <a:ext cx="4096512" cy="45720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Browser history &amp; cached pages   ·   DNS cache &amp; HOSTS file   ·   Firewall logs &amp; proxy logs   ·   Wi-Fi connection history (SSID list)</a:t>
            </a:r>
            <a:endParaRPr lang="en-US" sz="900" dirty="0"/>
          </a:p>
        </p:txBody>
      </p:sp>
      <p:sp>
        <p:nvSpPr>
          <p:cNvPr id="33" name="Shape 31"/>
          <p:cNvSpPr/>
          <p:nvPr/>
        </p:nvSpPr>
        <p:spPr>
          <a:xfrm>
            <a:off x="4718304" y="3950208"/>
            <a:ext cx="4279392" cy="786384"/>
          </a:xfrm>
          <a:prstGeom prst="roundRect">
            <a:avLst>
              <a:gd name="adj" fmla="val 6977"/>
            </a:avLst>
          </a:prstGeom>
          <a:solidFill>
            <a:srgbClr val="EEF6FB"/>
          </a:solidFill>
          <a:ln w="12700">
            <a:solidFill>
              <a:srgbClr val="FB8500"/>
            </a:solidFill>
            <a:prstDash val="solid"/>
          </a:ln>
        </p:spPr>
        <p:txBody>
          <a:bodyPr/>
          <a:lstStyle/>
          <a:p>
            <a:endParaRPr lang="en-SG"/>
          </a:p>
        </p:txBody>
      </p:sp>
      <p:sp>
        <p:nvSpPr>
          <p:cNvPr id="34" name="Text 32"/>
          <p:cNvSpPr/>
          <p:nvPr/>
        </p:nvSpPr>
        <p:spPr>
          <a:xfrm>
            <a:off x="4809744" y="3986784"/>
            <a:ext cx="4096512" cy="237744"/>
          </a:xfrm>
          <a:prstGeom prst="rect">
            <a:avLst/>
          </a:prstGeom>
          <a:noFill/>
        </p:spPr>
        <p:txBody>
          <a:bodyPr wrap="square" rtlCol="0" anchor="ctr"/>
          <a:lstStyle/>
          <a:p>
            <a:pPr marL="0" indent="0">
              <a:buNone/>
            </a:pPr>
            <a:r>
              <a:rPr lang="en-US" sz="11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 Anti-Forensics</a:t>
            </a:r>
            <a:endParaRPr lang="en-US" sz="1100" dirty="0"/>
          </a:p>
        </p:txBody>
      </p:sp>
      <p:sp>
        <p:nvSpPr>
          <p:cNvPr id="35" name="Text 33"/>
          <p:cNvSpPr/>
          <p:nvPr/>
        </p:nvSpPr>
        <p:spPr>
          <a:xfrm>
            <a:off x="4809744" y="4224528"/>
            <a:ext cx="4096512" cy="45720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Sparse MFT entries (deliberate gaps)   ·   Timestamp anomalies (timestomping)   ·   Encrypted containers (VeraCrypt)   ·   Log gaps / cleared event logs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FFB703"/>
          </a:solidFill>
          <a:ln w="12700">
            <a:solidFill>
              <a:srgbClr val="FFB703"/>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p:spPr>
        <p:txBody>
          <a:bodyPr wrap="square" lIns="0" tIns="0" rIns="0" bIns="0" rtlCol="0" anchor="ctr"/>
          <a:lstStyle/>
          <a:p>
            <a:pPr marL="0" indent="0" algn="ctr">
              <a:buNone/>
            </a:pPr>
            <a:r>
              <a:rPr lang="en-US" sz="96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9600" dirty="0"/>
          </a:p>
        </p:txBody>
      </p:sp>
      <p:sp>
        <p:nvSpPr>
          <p:cNvPr id="6" name="Text 4"/>
          <p:cNvSpPr/>
          <p:nvPr/>
        </p:nvSpPr>
        <p:spPr>
          <a:xfrm>
            <a:off x="201168" y="1938528"/>
            <a:ext cx="3657600" cy="914400"/>
          </a:xfrm>
          <a:prstGeom prst="rect">
            <a:avLst/>
          </a:prstGeom>
          <a:noFill/>
        </p:spPr>
        <p:txBody>
          <a:bodyPr wrap="square" rtlCol="0" anchor="ctr"/>
          <a:lstStyle/>
          <a:p>
            <a:pPr marL="0" indent="0" algn="ctr">
              <a:buNone/>
            </a:pPr>
            <a:r>
              <a:rPr lang="en-US" sz="1300" i="1" dirty="0">
                <a:solidFill>
                  <a:srgbClr val="000000"/>
                </a:solidFill>
                <a:latin typeface="Calibri" panose="020F0502020204030204" pitchFamily="34" charset="0"/>
                <a:ea typeface="Calibri" panose="020F0502020204030204" pitchFamily="34" charset="-122"/>
                <a:cs typeface="Calibri" panose="020F0502020204030204" pitchFamily="34" charset="-120"/>
              </a:rPr>
              <a:t>Applying analysis techniques to forensic images to reconstruct events</a:t>
            </a:r>
            <a:endParaRPr lang="en-US" sz="1300" dirty="0"/>
          </a:p>
        </p:txBody>
      </p:sp>
      <p:sp>
        <p:nvSpPr>
          <p:cNvPr id="7" name="Text 5"/>
          <p:cNvSpPr/>
          <p:nvPr/>
        </p:nvSpPr>
        <p:spPr>
          <a:xfrm>
            <a:off x="4572000" y="566928"/>
            <a:ext cx="4297680" cy="329184"/>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FFB703"/>
          </a:solidFill>
          <a:ln w="12700">
            <a:solidFill>
              <a:srgbClr val="FFB703"/>
            </a:solidFill>
            <a:prstDash val="solid"/>
          </a:ln>
        </p:spPr>
        <p:txBody>
          <a:bodyPr/>
          <a:lstStyle/>
          <a:p>
            <a:endParaRPr lang="en-SG"/>
          </a:p>
        </p:txBody>
      </p:sp>
      <p:sp>
        <p:nvSpPr>
          <p:cNvPr id="10" name="Text 8"/>
          <p:cNvSpPr/>
          <p:nvPr/>
        </p:nvSpPr>
        <p:spPr>
          <a:xfrm>
            <a:off x="4663440" y="1115568"/>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100" dirty="0"/>
          </a:p>
        </p:txBody>
      </p:sp>
      <p:sp>
        <p:nvSpPr>
          <p:cNvPr id="11" name="Text 9"/>
          <p:cNvSpPr/>
          <p:nvPr/>
        </p:nvSpPr>
        <p:spPr>
          <a:xfrm>
            <a:off x="5166360" y="1097280"/>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Analysis Phase — Working on a Forensic Image &amp; Key Techniques</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FFB703"/>
          </a:solidFill>
          <a:ln w="12700">
            <a:solidFill>
              <a:srgbClr val="FFB703"/>
            </a:solidFill>
            <a:prstDash val="solid"/>
          </a:ln>
        </p:spPr>
        <p:txBody>
          <a:bodyPr/>
          <a:lstStyle/>
          <a:p>
            <a:endParaRPr lang="en-SG"/>
          </a:p>
        </p:txBody>
      </p:sp>
      <p:sp>
        <p:nvSpPr>
          <p:cNvPr id="14" name="Text 12"/>
          <p:cNvSpPr/>
          <p:nvPr/>
        </p:nvSpPr>
        <p:spPr>
          <a:xfrm>
            <a:off x="4663440" y="1773936"/>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100" dirty="0"/>
          </a:p>
        </p:txBody>
      </p:sp>
      <p:sp>
        <p:nvSpPr>
          <p:cNvPr id="15" name="Text 13"/>
          <p:cNvSpPr/>
          <p:nvPr/>
        </p:nvSpPr>
        <p:spPr>
          <a:xfrm>
            <a:off x="5166360" y="1755648"/>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MACB Timestamps — Definition &amp; Forensic Role</a:t>
            </a:r>
            <a:endParaRPr lang="en-US" sz="1200" dirty="0"/>
          </a:p>
        </p:txBody>
      </p:sp>
      <p:sp>
        <p:nvSpPr>
          <p:cNvPr id="16" name="Shape 14"/>
          <p:cNvSpPr/>
          <p:nvPr/>
        </p:nvSpPr>
        <p:spPr>
          <a:xfrm>
            <a:off x="4572000" y="2322576"/>
            <a:ext cx="4297680" cy="566928"/>
          </a:xfrm>
          <a:prstGeom prst="rect">
            <a:avLst/>
          </a:prstGeom>
          <a:noFill/>
          <a:ln w="12700">
            <a:solidFill>
              <a:srgbClr val="FFFFFF">
                <a:alpha val="20000"/>
              </a:srgbClr>
            </a:solidFill>
            <a:prstDash val="solid"/>
          </a:ln>
        </p:spPr>
        <p:txBody>
          <a:bodyPr/>
          <a:lstStyle/>
          <a:p>
            <a:endParaRPr lang="en-SG"/>
          </a:p>
        </p:txBody>
      </p:sp>
      <p:sp>
        <p:nvSpPr>
          <p:cNvPr id="17" name="Shape 15"/>
          <p:cNvSpPr/>
          <p:nvPr/>
        </p:nvSpPr>
        <p:spPr>
          <a:xfrm>
            <a:off x="4663440" y="2386584"/>
            <a:ext cx="402336" cy="402336"/>
          </a:xfrm>
          <a:prstGeom prst="ellipse">
            <a:avLst/>
          </a:prstGeom>
          <a:solidFill>
            <a:srgbClr val="FFB703"/>
          </a:solidFill>
          <a:ln w="12700">
            <a:solidFill>
              <a:srgbClr val="FFB703"/>
            </a:solidFill>
            <a:prstDash val="solid"/>
          </a:ln>
        </p:spPr>
        <p:txBody>
          <a:bodyPr/>
          <a:lstStyle/>
          <a:p>
            <a:endParaRPr lang="en-SG"/>
          </a:p>
        </p:txBody>
      </p:sp>
      <p:sp>
        <p:nvSpPr>
          <p:cNvPr id="18" name="Text 16"/>
          <p:cNvSpPr/>
          <p:nvPr/>
        </p:nvSpPr>
        <p:spPr>
          <a:xfrm>
            <a:off x="4663440" y="2432304"/>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1100" dirty="0"/>
          </a:p>
        </p:txBody>
      </p:sp>
      <p:sp>
        <p:nvSpPr>
          <p:cNvPr id="19" name="Text 17"/>
          <p:cNvSpPr/>
          <p:nvPr/>
        </p:nvSpPr>
        <p:spPr>
          <a:xfrm>
            <a:off x="5166360" y="2414016"/>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Analysis Methodology &amp; Evidence-to-5WH Mapping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05 — Analysis: Working on a Forensic Image &amp; Key Techniques</a:t>
            </a:r>
            <a:endParaRPr lang="en-US" sz="1600" dirty="0"/>
          </a:p>
        </p:txBody>
      </p:sp>
      <p:sp>
        <p:nvSpPr>
          <p:cNvPr id="6" name="Shape 4"/>
          <p:cNvSpPr/>
          <p:nvPr/>
        </p:nvSpPr>
        <p:spPr>
          <a:xfrm>
            <a:off x="109728" y="822960"/>
            <a:ext cx="8924544" cy="438912"/>
          </a:xfrm>
          <a:prstGeom prst="rect">
            <a:avLst/>
          </a:prstGeom>
          <a:solidFill>
            <a:srgbClr val="EEF6FB"/>
          </a:solidFill>
          <a:ln w="12700">
            <a:solidFill>
              <a:srgbClr val="FFB703"/>
            </a:solidFill>
            <a:prstDash val="solid"/>
          </a:ln>
        </p:spPr>
        <p:txBody>
          <a:bodyPr/>
          <a:lstStyle/>
          <a:p>
            <a:endParaRPr lang="en-SG"/>
          </a:p>
        </p:txBody>
      </p:sp>
      <p:sp>
        <p:nvSpPr>
          <p:cNvPr id="7" name="Shape 5"/>
          <p:cNvSpPr/>
          <p:nvPr/>
        </p:nvSpPr>
        <p:spPr>
          <a:xfrm>
            <a:off x="109728" y="822960"/>
            <a:ext cx="182880" cy="438912"/>
          </a:xfrm>
          <a:prstGeom prst="rect">
            <a:avLst/>
          </a:prstGeom>
          <a:solidFill>
            <a:srgbClr val="FFB703"/>
          </a:solidFill>
          <a:ln w="12700">
            <a:solidFill>
              <a:srgbClr val="FFB703"/>
            </a:solidFill>
            <a:prstDash val="solid"/>
          </a:ln>
        </p:spPr>
        <p:txBody>
          <a:bodyPr/>
          <a:lstStyle/>
          <a:p>
            <a:endParaRPr lang="en-SG"/>
          </a:p>
        </p:txBody>
      </p:sp>
      <p:sp>
        <p:nvSpPr>
          <p:cNvPr id="8" name="Text 6"/>
          <p:cNvSpPr/>
          <p:nvPr/>
        </p:nvSpPr>
        <p:spPr>
          <a:xfrm>
            <a:off x="384048" y="896112"/>
            <a:ext cx="621792" cy="237744"/>
          </a:xfrm>
          <a:prstGeom prst="rect">
            <a:avLst/>
          </a:prstGeom>
          <a:noFill/>
        </p:spPr>
        <p:txBody>
          <a:bodyPr wrap="square" lIns="0" tIns="0" rIns="0" bIns="0" rtlCol="0" anchor="ctr"/>
          <a:lstStyle/>
          <a:p>
            <a:pPr marL="0" indent="0">
              <a:buNone/>
            </a:pPr>
            <a:r>
              <a:rPr lang="en-US" sz="11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Goal:</a:t>
            </a:r>
            <a:endParaRPr lang="en-US" sz="1100" dirty="0"/>
          </a:p>
        </p:txBody>
      </p:sp>
      <p:sp>
        <p:nvSpPr>
          <p:cNvPr id="9" name="Text 7"/>
          <p:cNvSpPr/>
          <p:nvPr/>
        </p:nvSpPr>
        <p:spPr>
          <a:xfrm>
            <a:off x="1042416" y="896112"/>
            <a:ext cx="7863840" cy="310896"/>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Interpret digital artefacts to reconstruct events, establish a timeline, and answer the 5WH questions — always working on a verified forensic copy, never on the original evidence.</a:t>
            </a:r>
            <a:endParaRPr lang="en-US" sz="1000" dirty="0"/>
          </a:p>
        </p:txBody>
      </p:sp>
      <p:sp>
        <p:nvSpPr>
          <p:cNvPr id="10" name="Shape 8"/>
          <p:cNvSpPr/>
          <p:nvPr/>
        </p:nvSpPr>
        <p:spPr>
          <a:xfrm>
            <a:off x="109728" y="1374711"/>
            <a:ext cx="4352544" cy="3544443"/>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109728" y="1335024"/>
            <a:ext cx="4352544" cy="365760"/>
          </a:xfrm>
          <a:prstGeom prst="rect">
            <a:avLst/>
          </a:prstGeom>
          <a:solidFill>
            <a:srgbClr val="FFB703"/>
          </a:solidFill>
          <a:ln w="12700">
            <a:solidFill>
              <a:srgbClr val="FFB703"/>
            </a:solidFill>
            <a:prstDash val="solid"/>
          </a:ln>
        </p:spPr>
        <p:txBody>
          <a:bodyPr/>
          <a:lstStyle/>
          <a:p>
            <a:endParaRPr lang="en-SG"/>
          </a:p>
        </p:txBody>
      </p:sp>
      <p:sp>
        <p:nvSpPr>
          <p:cNvPr id="12" name="Text 10"/>
          <p:cNvSpPr/>
          <p:nvPr/>
        </p:nvSpPr>
        <p:spPr>
          <a:xfrm>
            <a:off x="219456" y="1371600"/>
            <a:ext cx="4151376"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  BEST PRACTICE — WORKING ON A FORENSIC IMAGE</a:t>
            </a:r>
            <a:endParaRPr lang="en-US" sz="1100" dirty="0"/>
          </a:p>
        </p:txBody>
      </p:sp>
      <p:sp>
        <p:nvSpPr>
          <p:cNvPr id="13" name="Shape 11"/>
          <p:cNvSpPr/>
          <p:nvPr/>
        </p:nvSpPr>
        <p:spPr>
          <a:xfrm>
            <a:off x="201168" y="1773936"/>
            <a:ext cx="4151376" cy="530352"/>
          </a:xfrm>
          <a:prstGeom prst="roundRect">
            <a:avLst>
              <a:gd name="adj" fmla="val 8621"/>
            </a:avLst>
          </a:prstGeom>
          <a:solidFill>
            <a:srgbClr val="EEF6FB"/>
          </a:solidFill>
          <a:ln w="12700">
            <a:solidFill>
              <a:srgbClr val="FFB703"/>
            </a:solidFill>
            <a:prstDash val="solid"/>
          </a:ln>
        </p:spPr>
        <p:txBody>
          <a:bodyPr/>
          <a:lstStyle/>
          <a:p>
            <a:endParaRPr lang="en-SG"/>
          </a:p>
        </p:txBody>
      </p:sp>
      <p:sp>
        <p:nvSpPr>
          <p:cNvPr id="14" name="Text 12"/>
          <p:cNvSpPr/>
          <p:nvPr/>
        </p:nvSpPr>
        <p:spPr>
          <a:xfrm>
            <a:off x="274320" y="1810512"/>
            <a:ext cx="4023360" cy="438912"/>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Create a working duplicate of the forensic image before analysis begins. This preserves the verified master copy intact — the working copy absorbs all changes made by analysis tools, and can be discarded and re-created at any time.</a:t>
            </a:r>
            <a:endParaRPr lang="en-US" sz="950" dirty="0"/>
          </a:p>
        </p:txBody>
      </p:sp>
      <p:sp>
        <p:nvSpPr>
          <p:cNvPr id="15" name="Shape 13"/>
          <p:cNvSpPr/>
          <p:nvPr/>
        </p:nvSpPr>
        <p:spPr>
          <a:xfrm>
            <a:off x="201168" y="2377440"/>
            <a:ext cx="4151376" cy="457200"/>
          </a:xfrm>
          <a:prstGeom prst="rect">
            <a:avLst/>
          </a:prstGeom>
          <a:solidFill>
            <a:srgbClr val="EEF6FB"/>
          </a:solidFill>
          <a:ln w="12700">
            <a:solidFill>
              <a:srgbClr val="EF233C"/>
            </a:solidFill>
            <a:prstDash val="solid"/>
          </a:ln>
        </p:spPr>
        <p:txBody>
          <a:bodyPr/>
          <a:lstStyle/>
          <a:p>
            <a:endParaRPr lang="en-SG"/>
          </a:p>
        </p:txBody>
      </p:sp>
      <p:sp>
        <p:nvSpPr>
          <p:cNvPr id="16" name="Text 14"/>
          <p:cNvSpPr/>
          <p:nvPr/>
        </p:nvSpPr>
        <p:spPr>
          <a:xfrm>
            <a:off x="237744" y="2432304"/>
            <a:ext cx="347472" cy="347472"/>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7" name="Text 15"/>
          <p:cNvSpPr/>
          <p:nvPr/>
        </p:nvSpPr>
        <p:spPr>
          <a:xfrm>
            <a:off x="640080" y="2414016"/>
            <a:ext cx="3621024" cy="182880"/>
          </a:xfrm>
          <a:prstGeom prst="rect">
            <a:avLst/>
          </a:prstGeom>
          <a:noFill/>
        </p:spPr>
        <p:txBody>
          <a:bodyPr wrap="square" lIns="0" tIns="0" rIns="0" bIns="0" rtlCol="0" anchor="ctr"/>
          <a:lstStyle/>
          <a:p>
            <a:pPr marL="0" indent="0">
              <a:buNone/>
            </a:pPr>
            <a:r>
              <a:rPr lang="en-US" sz="1000" b="1" dirty="0">
                <a:solidFill>
                  <a:srgbClr val="EF233C"/>
                </a:solidFill>
                <a:latin typeface="Trebuchet MS" panose="020B0603020202020204" pitchFamily="34" charset="0"/>
                <a:ea typeface="Trebuchet MS" panose="020B0603020202020204" pitchFamily="34" charset="-122"/>
                <a:cs typeface="Trebuchet MS" panose="020B0603020202020204" pitchFamily="34" charset="-120"/>
              </a:rPr>
              <a:t>Original Evidence</a:t>
            </a:r>
            <a:endParaRPr lang="en-US" sz="1000" dirty="0"/>
          </a:p>
        </p:txBody>
      </p:sp>
      <p:sp>
        <p:nvSpPr>
          <p:cNvPr id="18" name="Text 16"/>
          <p:cNvSpPr/>
          <p:nvPr/>
        </p:nvSpPr>
        <p:spPr>
          <a:xfrm>
            <a:off x="640080" y="2596896"/>
            <a:ext cx="3621024" cy="20116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Physical device, seized with write blocker</a:t>
            </a:r>
            <a:endParaRPr lang="en-US" sz="850" dirty="0"/>
          </a:p>
        </p:txBody>
      </p:sp>
      <p:sp>
        <p:nvSpPr>
          <p:cNvPr id="19" name="Shape 17"/>
          <p:cNvSpPr/>
          <p:nvPr/>
        </p:nvSpPr>
        <p:spPr>
          <a:xfrm>
            <a:off x="2258568" y="2834640"/>
            <a:ext cx="54864" cy="64008"/>
          </a:xfrm>
          <a:prstGeom prst="rect">
            <a:avLst/>
          </a:prstGeom>
          <a:solidFill>
            <a:srgbClr val="FFB703">
              <a:alpha val="70000"/>
            </a:srgbClr>
          </a:solidFill>
          <a:ln w="12700">
            <a:solidFill>
              <a:srgbClr val="FFB703">
                <a:alpha val="70000"/>
              </a:srgbClr>
            </a:solidFill>
            <a:prstDash val="solid"/>
          </a:ln>
        </p:spPr>
        <p:txBody>
          <a:bodyPr/>
          <a:lstStyle/>
          <a:p>
            <a:endParaRPr lang="en-SG"/>
          </a:p>
        </p:txBody>
      </p:sp>
      <p:sp>
        <p:nvSpPr>
          <p:cNvPr id="20" name="Shape 18"/>
          <p:cNvSpPr/>
          <p:nvPr/>
        </p:nvSpPr>
        <p:spPr>
          <a:xfrm>
            <a:off x="201168" y="2907792"/>
            <a:ext cx="4151376" cy="457200"/>
          </a:xfrm>
          <a:prstGeom prst="rect">
            <a:avLst/>
          </a:prstGeom>
          <a:solidFill>
            <a:srgbClr val="00B4D8"/>
          </a:solidFill>
          <a:ln w="12700">
            <a:solidFill>
              <a:srgbClr val="00B4D8"/>
            </a:solidFill>
            <a:prstDash val="solid"/>
          </a:ln>
        </p:spPr>
        <p:txBody>
          <a:bodyPr/>
          <a:lstStyle/>
          <a:p>
            <a:endParaRPr lang="en-SG"/>
          </a:p>
        </p:txBody>
      </p:sp>
      <p:sp>
        <p:nvSpPr>
          <p:cNvPr id="21" name="Text 19"/>
          <p:cNvSpPr/>
          <p:nvPr/>
        </p:nvSpPr>
        <p:spPr>
          <a:xfrm>
            <a:off x="237744" y="2962656"/>
            <a:ext cx="347472" cy="347472"/>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2" name="Text 20"/>
          <p:cNvSpPr/>
          <p:nvPr/>
        </p:nvSpPr>
        <p:spPr>
          <a:xfrm>
            <a:off x="640080" y="2944368"/>
            <a:ext cx="3621024" cy="182880"/>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Master Forensic Image</a:t>
            </a:r>
            <a:endParaRPr lang="en-US" sz="1000" dirty="0"/>
          </a:p>
        </p:txBody>
      </p:sp>
      <p:sp>
        <p:nvSpPr>
          <p:cNvPr id="23" name="Text 21"/>
          <p:cNvSpPr/>
          <p:nvPr/>
        </p:nvSpPr>
        <p:spPr>
          <a:xfrm>
            <a:off x="640080" y="3127248"/>
            <a:ext cx="3621024" cy="201168"/>
          </a:xfrm>
          <a:prstGeom prst="rect">
            <a:avLst/>
          </a:prstGeom>
          <a:noFill/>
        </p:spPr>
        <p:txBody>
          <a:bodyPr wrap="square" rtlCol="0" anchor="ctr"/>
          <a:lstStyle/>
          <a:p>
            <a:pPr marL="0" indent="0">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E01 / DD / AFF4 — hash verified, sealed. NEVER open for analysis.</a:t>
            </a:r>
            <a:endParaRPr lang="en-US" sz="850" dirty="0"/>
          </a:p>
        </p:txBody>
      </p:sp>
      <p:sp>
        <p:nvSpPr>
          <p:cNvPr id="24" name="Shape 22"/>
          <p:cNvSpPr/>
          <p:nvPr/>
        </p:nvSpPr>
        <p:spPr>
          <a:xfrm>
            <a:off x="2258568" y="3364992"/>
            <a:ext cx="54864" cy="64008"/>
          </a:xfrm>
          <a:prstGeom prst="rect">
            <a:avLst/>
          </a:prstGeom>
          <a:solidFill>
            <a:srgbClr val="FFB703">
              <a:alpha val="70000"/>
            </a:srgbClr>
          </a:solidFill>
          <a:ln w="12700">
            <a:solidFill>
              <a:srgbClr val="FFB703">
                <a:alpha val="70000"/>
              </a:srgbClr>
            </a:solidFill>
            <a:prstDash val="solid"/>
          </a:ln>
        </p:spPr>
        <p:txBody>
          <a:bodyPr/>
          <a:lstStyle/>
          <a:p>
            <a:endParaRPr lang="en-SG"/>
          </a:p>
        </p:txBody>
      </p:sp>
      <p:sp>
        <p:nvSpPr>
          <p:cNvPr id="25" name="Shape 23"/>
          <p:cNvSpPr/>
          <p:nvPr/>
        </p:nvSpPr>
        <p:spPr>
          <a:xfrm>
            <a:off x="201168" y="3438144"/>
            <a:ext cx="4151376" cy="457200"/>
          </a:xfrm>
          <a:prstGeom prst="rect">
            <a:avLst/>
          </a:prstGeom>
          <a:solidFill>
            <a:srgbClr val="EEF6FB"/>
          </a:solidFill>
          <a:ln w="12700">
            <a:solidFill>
              <a:srgbClr val="FFB703"/>
            </a:solidFill>
            <a:prstDash val="solid"/>
          </a:ln>
        </p:spPr>
        <p:txBody>
          <a:bodyPr/>
          <a:lstStyle/>
          <a:p>
            <a:endParaRPr lang="en-SG"/>
          </a:p>
        </p:txBody>
      </p:sp>
      <p:sp>
        <p:nvSpPr>
          <p:cNvPr id="26" name="Text 24"/>
          <p:cNvSpPr/>
          <p:nvPr/>
        </p:nvSpPr>
        <p:spPr>
          <a:xfrm>
            <a:off x="237744" y="3493008"/>
            <a:ext cx="347472" cy="347472"/>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7" name="Text 25"/>
          <p:cNvSpPr/>
          <p:nvPr/>
        </p:nvSpPr>
        <p:spPr>
          <a:xfrm>
            <a:off x="640080" y="3474720"/>
            <a:ext cx="3621024" cy="182880"/>
          </a:xfrm>
          <a:prstGeom prst="rect">
            <a:avLst/>
          </a:prstGeom>
          <a:noFill/>
        </p:spPr>
        <p:txBody>
          <a:bodyPr wrap="square" lIns="0" tIns="0" rIns="0" bIns="0" rtlCol="0" anchor="ctr"/>
          <a:lstStyle/>
          <a:p>
            <a:pPr marL="0" indent="0">
              <a:buNone/>
            </a:pPr>
            <a:r>
              <a:rPr lang="en-US" sz="10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Working Duplicate</a:t>
            </a:r>
            <a:endParaRPr lang="en-US" sz="1000" dirty="0"/>
          </a:p>
        </p:txBody>
      </p:sp>
      <p:sp>
        <p:nvSpPr>
          <p:cNvPr id="28" name="Text 26"/>
          <p:cNvSpPr/>
          <p:nvPr/>
        </p:nvSpPr>
        <p:spPr>
          <a:xfrm>
            <a:off x="640080" y="3657600"/>
            <a:ext cx="3621024" cy="20116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Copy of master image — loaded into analysis tool</a:t>
            </a:r>
            <a:endParaRPr lang="en-US" sz="850" dirty="0"/>
          </a:p>
        </p:txBody>
      </p:sp>
      <p:sp>
        <p:nvSpPr>
          <p:cNvPr id="29" name="Shape 27"/>
          <p:cNvSpPr/>
          <p:nvPr/>
        </p:nvSpPr>
        <p:spPr>
          <a:xfrm>
            <a:off x="2258568" y="3895344"/>
            <a:ext cx="54864" cy="64008"/>
          </a:xfrm>
          <a:prstGeom prst="rect">
            <a:avLst/>
          </a:prstGeom>
          <a:solidFill>
            <a:srgbClr val="FFB703">
              <a:alpha val="70000"/>
            </a:srgbClr>
          </a:solidFill>
          <a:ln w="12700">
            <a:solidFill>
              <a:srgbClr val="FFB703">
                <a:alpha val="70000"/>
              </a:srgbClr>
            </a:solidFill>
            <a:prstDash val="solid"/>
          </a:ln>
        </p:spPr>
        <p:txBody>
          <a:bodyPr/>
          <a:lstStyle/>
          <a:p>
            <a:endParaRPr lang="en-SG"/>
          </a:p>
        </p:txBody>
      </p:sp>
      <p:sp>
        <p:nvSpPr>
          <p:cNvPr id="30" name="Shape 28"/>
          <p:cNvSpPr/>
          <p:nvPr/>
        </p:nvSpPr>
        <p:spPr>
          <a:xfrm>
            <a:off x="201168" y="3968496"/>
            <a:ext cx="4151376" cy="457200"/>
          </a:xfrm>
          <a:prstGeom prst="rect">
            <a:avLst/>
          </a:prstGeom>
          <a:solidFill>
            <a:srgbClr val="EEF6FB"/>
          </a:solidFill>
          <a:ln w="12700">
            <a:solidFill>
              <a:srgbClr val="06D6A0"/>
            </a:solidFill>
            <a:prstDash val="solid"/>
          </a:ln>
        </p:spPr>
        <p:txBody>
          <a:bodyPr/>
          <a:lstStyle/>
          <a:p>
            <a:endParaRPr lang="en-SG"/>
          </a:p>
        </p:txBody>
      </p:sp>
      <p:sp>
        <p:nvSpPr>
          <p:cNvPr id="31" name="Text 29"/>
          <p:cNvSpPr/>
          <p:nvPr/>
        </p:nvSpPr>
        <p:spPr>
          <a:xfrm>
            <a:off x="237744" y="4023360"/>
            <a:ext cx="347472" cy="347472"/>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2" name="Text 30"/>
          <p:cNvSpPr/>
          <p:nvPr/>
        </p:nvSpPr>
        <p:spPr>
          <a:xfrm>
            <a:off x="640080" y="4005072"/>
            <a:ext cx="3621024"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Analysis &amp; Findings</a:t>
            </a:r>
            <a:endParaRPr lang="en-US" sz="1000" dirty="0"/>
          </a:p>
        </p:txBody>
      </p:sp>
      <p:sp>
        <p:nvSpPr>
          <p:cNvPr id="33" name="Text 31"/>
          <p:cNvSpPr/>
          <p:nvPr/>
        </p:nvSpPr>
        <p:spPr>
          <a:xfrm>
            <a:off x="640080" y="4187952"/>
            <a:ext cx="3621024" cy="20116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Tools run on working copy. Can be re-created if needed.</a:t>
            </a:r>
            <a:endParaRPr lang="en-US" sz="850" dirty="0"/>
          </a:p>
        </p:txBody>
      </p:sp>
      <p:sp>
        <p:nvSpPr>
          <p:cNvPr id="34" name="Shape 32"/>
          <p:cNvSpPr/>
          <p:nvPr/>
        </p:nvSpPr>
        <p:spPr>
          <a:xfrm>
            <a:off x="217043" y="4506785"/>
            <a:ext cx="4151376" cy="314706"/>
          </a:xfrm>
          <a:prstGeom prst="rect">
            <a:avLst/>
          </a:prstGeom>
          <a:solidFill>
            <a:srgbClr val="EEF6FB"/>
          </a:solidFill>
          <a:ln w="12700">
            <a:solidFill>
              <a:srgbClr val="2E4068"/>
            </a:solidFill>
            <a:prstDash val="solid"/>
          </a:ln>
        </p:spPr>
        <p:txBody>
          <a:bodyPr/>
          <a:lstStyle/>
          <a:p>
            <a:endParaRPr lang="en-SG"/>
          </a:p>
        </p:txBody>
      </p:sp>
      <p:sp>
        <p:nvSpPr>
          <p:cNvPr id="35" name="Text 33"/>
          <p:cNvSpPr/>
          <p:nvPr/>
        </p:nvSpPr>
        <p:spPr>
          <a:xfrm>
            <a:off x="293307" y="4571492"/>
            <a:ext cx="1097280" cy="182880"/>
          </a:xfrm>
          <a:prstGeom prst="rect">
            <a:avLst/>
          </a:prstGeom>
          <a:noFill/>
        </p:spPr>
        <p:txBody>
          <a:bodyPr wrap="square" lIns="0" tIns="0" rIns="0" bIns="0" rtlCol="0" anchor="ctr"/>
          <a:lstStyle/>
          <a:p>
            <a:pPr marL="0" indent="0">
              <a:buNone/>
            </a:pPr>
            <a:r>
              <a:rPr lang="en-US" sz="9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Common Image Formats:</a:t>
            </a:r>
            <a:endParaRPr lang="en-US" sz="900" dirty="0"/>
          </a:p>
        </p:txBody>
      </p:sp>
      <p:sp>
        <p:nvSpPr>
          <p:cNvPr id="36" name="Text 34"/>
          <p:cNvSpPr/>
          <p:nvPr/>
        </p:nvSpPr>
        <p:spPr>
          <a:xfrm>
            <a:off x="1331913" y="4507992"/>
            <a:ext cx="3126930" cy="309880"/>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.E01 (EnCase — most common in courts)  ·  .DD / .IMG (raw bit-for-bit)  ·  .AFF4 (modern open standard)  ·  .L01 (logical image)</a:t>
            </a:r>
            <a:endParaRPr lang="en-US" sz="850" dirty="0"/>
          </a:p>
        </p:txBody>
      </p:sp>
      <p:sp>
        <p:nvSpPr>
          <p:cNvPr id="37" name="Shape 35"/>
          <p:cNvSpPr/>
          <p:nvPr/>
        </p:nvSpPr>
        <p:spPr>
          <a:xfrm>
            <a:off x="4681728" y="1493774"/>
            <a:ext cx="4352544" cy="3425380"/>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38" name="Shape 36"/>
          <p:cNvSpPr/>
          <p:nvPr/>
        </p:nvSpPr>
        <p:spPr>
          <a:xfrm>
            <a:off x="4681728" y="1335024"/>
            <a:ext cx="4352544" cy="365760"/>
          </a:xfrm>
          <a:prstGeom prst="rect">
            <a:avLst/>
          </a:prstGeom>
          <a:solidFill>
            <a:srgbClr val="06D6A0"/>
          </a:solidFill>
          <a:ln w="12700">
            <a:solidFill>
              <a:srgbClr val="06D6A0"/>
            </a:solidFill>
            <a:prstDash val="solid"/>
          </a:ln>
        </p:spPr>
        <p:txBody>
          <a:bodyPr/>
          <a:lstStyle/>
          <a:p>
            <a:endParaRPr lang="en-SG"/>
          </a:p>
        </p:txBody>
      </p:sp>
      <p:sp>
        <p:nvSpPr>
          <p:cNvPr id="39" name="Text 37"/>
          <p:cNvSpPr/>
          <p:nvPr/>
        </p:nvSpPr>
        <p:spPr>
          <a:xfrm>
            <a:off x="4791456" y="1371600"/>
            <a:ext cx="4151376"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  COMMON ANALYSIS TECHNIQUES</a:t>
            </a:r>
            <a:endParaRPr lang="en-US" sz="1100" dirty="0"/>
          </a:p>
        </p:txBody>
      </p:sp>
      <p:sp>
        <p:nvSpPr>
          <p:cNvPr id="40" name="Shape 38"/>
          <p:cNvSpPr/>
          <p:nvPr/>
        </p:nvSpPr>
        <p:spPr>
          <a:xfrm>
            <a:off x="4773168" y="1773936"/>
            <a:ext cx="4151376" cy="530352"/>
          </a:xfrm>
          <a:prstGeom prst="rect">
            <a:avLst/>
          </a:prstGeom>
          <a:solidFill>
            <a:srgbClr val="EEF6FB"/>
          </a:solidFill>
          <a:ln w="12700">
            <a:solidFill>
              <a:srgbClr val="06D6A0"/>
            </a:solidFill>
            <a:prstDash val="solid"/>
          </a:ln>
        </p:spPr>
        <p:txBody>
          <a:bodyPr/>
          <a:lstStyle/>
          <a:p>
            <a:endParaRPr lang="en-SG"/>
          </a:p>
        </p:txBody>
      </p:sp>
      <p:sp>
        <p:nvSpPr>
          <p:cNvPr id="41" name="Text 39"/>
          <p:cNvSpPr/>
          <p:nvPr/>
        </p:nvSpPr>
        <p:spPr>
          <a:xfrm>
            <a:off x="4809744" y="1828800"/>
            <a:ext cx="365760" cy="365760"/>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2" name="Text 40"/>
          <p:cNvSpPr/>
          <p:nvPr/>
        </p:nvSpPr>
        <p:spPr>
          <a:xfrm>
            <a:off x="5230368" y="1810512"/>
            <a:ext cx="3621024"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Anti-Steganography Analysis</a:t>
            </a:r>
            <a:endParaRPr lang="en-US" sz="1000" dirty="0"/>
          </a:p>
        </p:txBody>
      </p:sp>
      <p:sp>
        <p:nvSpPr>
          <p:cNvPr id="43" name="Text 41"/>
          <p:cNvSpPr/>
          <p:nvPr/>
        </p:nvSpPr>
        <p:spPr>
          <a:xfrm>
            <a:off x="5230368" y="1993392"/>
            <a:ext cx="3621024" cy="274320"/>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Detects hidden data embedded within image, audio, or document files. Tools (StegDetect, Autopsy steg modules) compare statistical properties of files against baseline. Unusual file sizes or entropy anomalies are red flags.</a:t>
            </a:r>
            <a:endParaRPr lang="en-US" sz="800" dirty="0"/>
          </a:p>
        </p:txBody>
      </p:sp>
      <p:sp>
        <p:nvSpPr>
          <p:cNvPr id="44" name="Shape 42"/>
          <p:cNvSpPr/>
          <p:nvPr/>
        </p:nvSpPr>
        <p:spPr>
          <a:xfrm>
            <a:off x="4773168" y="2377440"/>
            <a:ext cx="4151376" cy="530352"/>
          </a:xfrm>
          <a:prstGeom prst="rect">
            <a:avLst/>
          </a:prstGeom>
          <a:solidFill>
            <a:srgbClr val="EEF6FB"/>
          </a:solidFill>
          <a:ln w="12700">
            <a:solidFill>
              <a:srgbClr val="06D6A0"/>
            </a:solidFill>
            <a:prstDash val="solid"/>
          </a:ln>
        </p:spPr>
        <p:txBody>
          <a:bodyPr/>
          <a:lstStyle/>
          <a:p>
            <a:endParaRPr lang="en-SG"/>
          </a:p>
        </p:txBody>
      </p:sp>
      <p:sp>
        <p:nvSpPr>
          <p:cNvPr id="45" name="Text 43"/>
          <p:cNvSpPr/>
          <p:nvPr/>
        </p:nvSpPr>
        <p:spPr>
          <a:xfrm>
            <a:off x="4809744" y="2432304"/>
            <a:ext cx="365760" cy="365760"/>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6" name="Text 44"/>
          <p:cNvSpPr/>
          <p:nvPr/>
        </p:nvSpPr>
        <p:spPr>
          <a:xfrm>
            <a:off x="5230368" y="2414016"/>
            <a:ext cx="3621024"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Timeline Analysis</a:t>
            </a:r>
            <a:endParaRPr lang="en-US" sz="1000" dirty="0"/>
          </a:p>
        </p:txBody>
      </p:sp>
      <p:sp>
        <p:nvSpPr>
          <p:cNvPr id="47" name="Text 45"/>
          <p:cNvSpPr/>
          <p:nvPr/>
        </p:nvSpPr>
        <p:spPr>
          <a:xfrm>
            <a:off x="5230368" y="2596896"/>
            <a:ext cx="3621024" cy="274320"/>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Merge all MACB timestamps, event log entries, browser history, and application logs into a single super-timeline (Plaso / log2timeline). Reveals the sequence and timing of all activity on the device.</a:t>
            </a:r>
            <a:endParaRPr lang="en-US" sz="800" dirty="0"/>
          </a:p>
        </p:txBody>
      </p:sp>
      <p:sp>
        <p:nvSpPr>
          <p:cNvPr id="48" name="Shape 46"/>
          <p:cNvSpPr/>
          <p:nvPr/>
        </p:nvSpPr>
        <p:spPr>
          <a:xfrm>
            <a:off x="4773168" y="2980944"/>
            <a:ext cx="4151376" cy="530352"/>
          </a:xfrm>
          <a:prstGeom prst="rect">
            <a:avLst/>
          </a:prstGeom>
          <a:solidFill>
            <a:srgbClr val="EEF6FB"/>
          </a:solidFill>
          <a:ln w="12700">
            <a:solidFill>
              <a:srgbClr val="06D6A0"/>
            </a:solidFill>
            <a:prstDash val="solid"/>
          </a:ln>
        </p:spPr>
        <p:txBody>
          <a:bodyPr/>
          <a:lstStyle/>
          <a:p>
            <a:endParaRPr lang="en-SG"/>
          </a:p>
        </p:txBody>
      </p:sp>
      <p:sp>
        <p:nvSpPr>
          <p:cNvPr id="49" name="Text 47"/>
          <p:cNvSpPr/>
          <p:nvPr/>
        </p:nvSpPr>
        <p:spPr>
          <a:xfrm>
            <a:off x="4809744" y="3035808"/>
            <a:ext cx="365760" cy="365760"/>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50" name="Text 48"/>
          <p:cNvSpPr/>
          <p:nvPr/>
        </p:nvSpPr>
        <p:spPr>
          <a:xfrm>
            <a:off x="5230368" y="3017520"/>
            <a:ext cx="3621024"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User Activity Analysis</a:t>
            </a:r>
            <a:endParaRPr lang="en-US" sz="1000" dirty="0"/>
          </a:p>
        </p:txBody>
      </p:sp>
      <p:sp>
        <p:nvSpPr>
          <p:cNvPr id="51" name="Text 49"/>
          <p:cNvSpPr/>
          <p:nvPr/>
        </p:nvSpPr>
        <p:spPr>
          <a:xfrm>
            <a:off x="5230368" y="3200400"/>
            <a:ext cx="3621024" cy="274320"/>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Reconstruct what a specific user did: websites visited, documents opened, applications executed, USB devices connected, emails sent. Shellbags, Prefetch, LNK files, and Jump Lists are key sources.</a:t>
            </a:r>
            <a:endParaRPr lang="en-US" sz="800" dirty="0"/>
          </a:p>
        </p:txBody>
      </p:sp>
      <p:sp>
        <p:nvSpPr>
          <p:cNvPr id="52" name="Shape 50"/>
          <p:cNvSpPr/>
          <p:nvPr/>
        </p:nvSpPr>
        <p:spPr>
          <a:xfrm>
            <a:off x="4789043" y="3568573"/>
            <a:ext cx="4119626" cy="625602"/>
          </a:xfrm>
          <a:prstGeom prst="rect">
            <a:avLst/>
          </a:prstGeom>
          <a:solidFill>
            <a:srgbClr val="EEF6FB"/>
          </a:solidFill>
          <a:ln w="12700">
            <a:solidFill>
              <a:srgbClr val="06D6A0"/>
            </a:solidFill>
            <a:prstDash val="solid"/>
          </a:ln>
        </p:spPr>
        <p:txBody>
          <a:bodyPr/>
          <a:lstStyle/>
          <a:p>
            <a:endParaRPr lang="en-SG"/>
          </a:p>
        </p:txBody>
      </p:sp>
      <p:sp>
        <p:nvSpPr>
          <p:cNvPr id="53" name="Text 51"/>
          <p:cNvSpPr/>
          <p:nvPr/>
        </p:nvSpPr>
        <p:spPr>
          <a:xfrm>
            <a:off x="4809744" y="3639312"/>
            <a:ext cx="365760" cy="365760"/>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54" name="Text 52"/>
          <p:cNvSpPr/>
          <p:nvPr/>
        </p:nvSpPr>
        <p:spPr>
          <a:xfrm>
            <a:off x="5230368" y="3621024"/>
            <a:ext cx="3621024"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Login Account Attribution</a:t>
            </a:r>
            <a:endParaRPr lang="en-US" sz="1000" dirty="0"/>
          </a:p>
        </p:txBody>
      </p:sp>
      <p:sp>
        <p:nvSpPr>
          <p:cNvPr id="55" name="Text 53"/>
          <p:cNvSpPr/>
          <p:nvPr/>
        </p:nvSpPr>
        <p:spPr>
          <a:xfrm>
            <a:off x="5230368" y="3803904"/>
            <a:ext cx="3621024" cy="274320"/>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Event Log 4624 (successful logon) records username, logon type (interactive/remote/service), source IP, and timestamp. Links specific actions to a named account — critical for establishing who was at the keyboard.</a:t>
            </a:r>
            <a:endParaRPr lang="en-US" sz="800" dirty="0"/>
          </a:p>
        </p:txBody>
      </p:sp>
      <p:sp>
        <p:nvSpPr>
          <p:cNvPr id="56" name="Shape 54"/>
          <p:cNvSpPr/>
          <p:nvPr/>
        </p:nvSpPr>
        <p:spPr>
          <a:xfrm>
            <a:off x="4789043" y="4243514"/>
            <a:ext cx="4119626" cy="625602"/>
          </a:xfrm>
          <a:prstGeom prst="rect">
            <a:avLst/>
          </a:prstGeom>
          <a:solidFill>
            <a:srgbClr val="EEF6FB"/>
          </a:solidFill>
          <a:ln w="12700">
            <a:solidFill>
              <a:srgbClr val="06D6A0"/>
            </a:solidFill>
            <a:prstDash val="solid"/>
          </a:ln>
        </p:spPr>
        <p:txBody>
          <a:bodyPr/>
          <a:lstStyle/>
          <a:p>
            <a:endParaRPr lang="en-SG"/>
          </a:p>
        </p:txBody>
      </p:sp>
      <p:sp>
        <p:nvSpPr>
          <p:cNvPr id="57" name="Text 55"/>
          <p:cNvSpPr/>
          <p:nvPr/>
        </p:nvSpPr>
        <p:spPr>
          <a:xfrm>
            <a:off x="4809744" y="4290441"/>
            <a:ext cx="365760" cy="365760"/>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58" name="Text 56"/>
          <p:cNvSpPr/>
          <p:nvPr/>
        </p:nvSpPr>
        <p:spPr>
          <a:xfrm>
            <a:off x="5230368" y="4272153"/>
            <a:ext cx="3621024"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Keyword &amp; Hash Searching</a:t>
            </a:r>
            <a:endParaRPr lang="en-US" sz="1000" dirty="0"/>
          </a:p>
        </p:txBody>
      </p:sp>
      <p:sp>
        <p:nvSpPr>
          <p:cNvPr id="59" name="Text 57"/>
          <p:cNvSpPr/>
          <p:nvPr/>
        </p:nvSpPr>
        <p:spPr>
          <a:xfrm>
            <a:off x="5230368" y="4455033"/>
            <a:ext cx="3621024" cy="274320"/>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Search image for specific words, file names, or known-bad file hashes (e.g. NSAM/Project VIC hash sets for CSAM). Hash matching identifies known malware payloads without needing to open every file.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05 — Analysis: MACB Timestamps</a:t>
            </a:r>
            <a:endParaRPr lang="en-US" sz="1700" dirty="0"/>
          </a:p>
        </p:txBody>
      </p:sp>
      <p:sp>
        <p:nvSpPr>
          <p:cNvPr id="6" name="Shape 4"/>
          <p:cNvSpPr/>
          <p:nvPr/>
        </p:nvSpPr>
        <p:spPr>
          <a:xfrm>
            <a:off x="109728" y="822960"/>
            <a:ext cx="8924544" cy="658368"/>
          </a:xfrm>
          <a:prstGeom prst="rect">
            <a:avLst/>
          </a:prstGeom>
          <a:solidFill>
            <a:srgbClr val="EEF6FB"/>
          </a:solidFill>
          <a:ln w="12700">
            <a:solidFill>
              <a:srgbClr val="FFB703"/>
            </a:solidFill>
            <a:prstDash val="solid"/>
          </a:ln>
        </p:spPr>
        <p:txBody>
          <a:bodyPr/>
          <a:lstStyle/>
          <a:p>
            <a:endParaRPr lang="en-SG"/>
          </a:p>
        </p:txBody>
      </p:sp>
      <p:sp>
        <p:nvSpPr>
          <p:cNvPr id="7" name="Shape 5"/>
          <p:cNvSpPr/>
          <p:nvPr/>
        </p:nvSpPr>
        <p:spPr>
          <a:xfrm>
            <a:off x="109728" y="822960"/>
            <a:ext cx="201168" cy="658368"/>
          </a:xfrm>
          <a:prstGeom prst="rect">
            <a:avLst/>
          </a:prstGeom>
          <a:solidFill>
            <a:srgbClr val="FFB703"/>
          </a:solidFill>
          <a:ln w="12700">
            <a:solidFill>
              <a:srgbClr val="FFB703"/>
            </a:solidFill>
            <a:prstDash val="solid"/>
          </a:ln>
        </p:spPr>
        <p:txBody>
          <a:bodyPr/>
          <a:lstStyle/>
          <a:p>
            <a:endParaRPr lang="en-SG"/>
          </a:p>
        </p:txBody>
      </p:sp>
      <p:sp>
        <p:nvSpPr>
          <p:cNvPr id="8" name="Text 6"/>
          <p:cNvSpPr/>
          <p:nvPr/>
        </p:nvSpPr>
        <p:spPr>
          <a:xfrm>
            <a:off x="402336" y="850392"/>
            <a:ext cx="8412480" cy="201168"/>
          </a:xfrm>
          <a:prstGeom prst="rect">
            <a:avLst/>
          </a:prstGeom>
          <a:noFill/>
        </p:spPr>
        <p:txBody>
          <a:bodyPr wrap="square" lIns="0" tIns="0" rIns="0" bIns="0" rtlCol="0" anchor="ctr"/>
          <a:lstStyle/>
          <a:p>
            <a:pPr marL="0" indent="0">
              <a:buNone/>
            </a:pPr>
            <a:r>
              <a:rPr lang="en-US" sz="11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What are MACB Timestamps?</a:t>
            </a:r>
            <a:endParaRPr lang="en-US" sz="1100" dirty="0"/>
          </a:p>
        </p:txBody>
      </p:sp>
      <p:sp>
        <p:nvSpPr>
          <p:cNvPr id="9" name="Text 7"/>
          <p:cNvSpPr/>
          <p:nvPr/>
        </p:nvSpPr>
        <p:spPr>
          <a:xfrm>
            <a:off x="402336" y="1051560"/>
            <a:ext cx="8558784" cy="38404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MACB timestamps are four metadata values recorded by the NTFS file system for every file and folder on a Windows volume. Each records a different type of filesystem event. Together, they allow forensic examiners to reconstruct when files were created, accessed, modified, and moved — and to detect when those records have been deliberately falsified.</a:t>
            </a:r>
            <a:endParaRPr lang="en-US" sz="950" dirty="0"/>
          </a:p>
        </p:txBody>
      </p:sp>
      <p:sp>
        <p:nvSpPr>
          <p:cNvPr id="10" name="Shape 8"/>
          <p:cNvSpPr/>
          <p:nvPr/>
        </p:nvSpPr>
        <p:spPr>
          <a:xfrm>
            <a:off x="109728" y="1554480"/>
            <a:ext cx="2157984" cy="3090672"/>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109728" y="1554480"/>
            <a:ext cx="2157984" cy="621792"/>
          </a:xfrm>
          <a:prstGeom prst="rect">
            <a:avLst/>
          </a:prstGeom>
          <a:solidFill>
            <a:srgbClr val="EF233C"/>
          </a:solidFill>
          <a:ln w="12700">
            <a:solidFill>
              <a:srgbClr val="EF233C"/>
            </a:solidFill>
            <a:prstDash val="solid"/>
          </a:ln>
        </p:spPr>
        <p:txBody>
          <a:bodyPr/>
          <a:lstStyle/>
          <a:p>
            <a:endParaRPr lang="en-SG"/>
          </a:p>
        </p:txBody>
      </p:sp>
      <p:sp>
        <p:nvSpPr>
          <p:cNvPr id="12" name="Text 10"/>
          <p:cNvSpPr/>
          <p:nvPr/>
        </p:nvSpPr>
        <p:spPr>
          <a:xfrm>
            <a:off x="201168" y="1591056"/>
            <a:ext cx="475488" cy="512064"/>
          </a:xfrm>
          <a:prstGeom prst="rect">
            <a:avLst/>
          </a:prstGeom>
          <a:noFill/>
        </p:spPr>
        <p:txBody>
          <a:bodyPr wrap="square" lIns="0" tIns="0" rIns="0" bIns="0" rtlCol="0" anchor="ctr"/>
          <a:lstStyle/>
          <a:p>
            <a:pPr marL="0" indent="0" algn="ctr">
              <a:buNone/>
            </a:pPr>
            <a:r>
              <a:rPr lang="en-US" sz="2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M</a:t>
            </a:r>
            <a:endParaRPr lang="en-US" sz="2800" dirty="0"/>
          </a:p>
        </p:txBody>
      </p:sp>
      <p:sp>
        <p:nvSpPr>
          <p:cNvPr id="13" name="Text 11"/>
          <p:cNvSpPr/>
          <p:nvPr/>
        </p:nvSpPr>
        <p:spPr>
          <a:xfrm>
            <a:off x="713232" y="1609344"/>
            <a:ext cx="1463040"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Modified</a:t>
            </a:r>
            <a:endParaRPr lang="en-US" sz="1100" dirty="0"/>
          </a:p>
        </p:txBody>
      </p:sp>
      <p:sp>
        <p:nvSpPr>
          <p:cNvPr id="14" name="Text 12"/>
          <p:cNvSpPr/>
          <p:nvPr/>
        </p:nvSpPr>
        <p:spPr>
          <a:xfrm>
            <a:off x="713232" y="1847088"/>
            <a:ext cx="1463040" cy="182880"/>
          </a:xfrm>
          <a:prstGeom prst="rect">
            <a:avLst/>
          </a:prstGeom>
          <a:noFill/>
        </p:spPr>
        <p:txBody>
          <a:bodyPr wrap="square" lIns="0" tIns="0" rIns="0" bIns="0" rtlCol="0" anchor="ctr"/>
          <a:lstStyle/>
          <a:p>
            <a:pPr marL="0" indent="0">
              <a:buNone/>
            </a:pPr>
            <a:r>
              <a:rPr lang="en-US" sz="850" i="1" dirty="0">
                <a:solidFill>
                  <a:srgbClr val="1A1A2E"/>
                </a:solidFill>
                <a:latin typeface="Calibri" panose="020F0502020204030204" pitchFamily="34" charset="0"/>
                <a:ea typeface="Calibri" panose="020F0502020204030204" pitchFamily="34" charset="-122"/>
                <a:cs typeface="Calibri" panose="020F0502020204030204" pitchFamily="34" charset="-120"/>
              </a:rPr>
              <a:t>File content was last written</a:t>
            </a:r>
            <a:endParaRPr lang="en-US" sz="850" dirty="0"/>
          </a:p>
        </p:txBody>
      </p:sp>
      <p:sp>
        <p:nvSpPr>
          <p:cNvPr id="15" name="Text 13"/>
          <p:cNvSpPr/>
          <p:nvPr/>
        </p:nvSpPr>
        <p:spPr>
          <a:xfrm>
            <a:off x="201168" y="2249424"/>
            <a:ext cx="1975104" cy="162763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Records the date and time the FILE CONTENT (data) was last changed. This timestamp is stored in the $STANDARD_INFORMATION attribute of the MFT entry. It is the most frequently falsified timestamp by attackers using timestomping tools — examiners must always cross-check against $FILE_NAME.</a:t>
            </a:r>
            <a:endParaRPr lang="en-US" sz="850" dirty="0"/>
          </a:p>
        </p:txBody>
      </p:sp>
      <p:sp>
        <p:nvSpPr>
          <p:cNvPr id="16" name="Shape 14"/>
          <p:cNvSpPr/>
          <p:nvPr/>
        </p:nvSpPr>
        <p:spPr>
          <a:xfrm>
            <a:off x="182880" y="3931920"/>
            <a:ext cx="2011680" cy="768096"/>
          </a:xfrm>
          <a:prstGeom prst="rect">
            <a:avLst/>
          </a:prstGeom>
          <a:solidFill>
            <a:srgbClr val="EEF6FB"/>
          </a:solidFill>
          <a:ln w="12700">
            <a:solidFill>
              <a:srgbClr val="EF233C"/>
            </a:solidFill>
            <a:prstDash val="solid"/>
          </a:ln>
        </p:spPr>
        <p:txBody>
          <a:bodyPr/>
          <a:lstStyle/>
          <a:p>
            <a:endParaRPr lang="en-SG"/>
          </a:p>
        </p:txBody>
      </p:sp>
      <p:sp>
        <p:nvSpPr>
          <p:cNvPr id="17" name="Text 15"/>
          <p:cNvSpPr/>
          <p:nvPr/>
        </p:nvSpPr>
        <p:spPr>
          <a:xfrm>
            <a:off x="219456" y="3968496"/>
            <a:ext cx="1938528" cy="658368"/>
          </a:xfrm>
          <a:prstGeom prst="rect">
            <a:avLst/>
          </a:prstGeom>
          <a:noFill/>
        </p:spPr>
        <p:txBody>
          <a:bodyPr wrap="square" rtlCol="0" anchor="ctr"/>
          <a:lstStyle/>
          <a:p>
            <a:pPr marL="0" indent="0">
              <a:buNone/>
            </a:pPr>
            <a:r>
              <a:rPr lang="en-US" sz="800" dirty="0">
                <a:solidFill>
                  <a:srgbClr val="EF233C"/>
                </a:solidFill>
                <a:latin typeface="Calibri" panose="020F0502020204030204" pitchFamily="34" charset="0"/>
                <a:ea typeface="Calibri" panose="020F0502020204030204" pitchFamily="34" charset="-122"/>
                <a:cs typeface="Calibri" panose="020F0502020204030204" pitchFamily="34" charset="-120"/>
              </a:rPr>
              <a:t>Forensic value: Establishes when a file was last edited. Discrepancy between $SI and $FN Modified times indicates timestomping.</a:t>
            </a:r>
            <a:endParaRPr lang="en-US" sz="800" dirty="0"/>
          </a:p>
        </p:txBody>
      </p:sp>
      <p:sp>
        <p:nvSpPr>
          <p:cNvPr id="18" name="Shape 16"/>
          <p:cNvSpPr/>
          <p:nvPr/>
        </p:nvSpPr>
        <p:spPr>
          <a:xfrm>
            <a:off x="2359152" y="1554480"/>
            <a:ext cx="2157984" cy="3090672"/>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2359152" y="1554480"/>
            <a:ext cx="2157984" cy="621792"/>
          </a:xfrm>
          <a:prstGeom prst="rect">
            <a:avLst/>
          </a:prstGeom>
          <a:solidFill>
            <a:srgbClr val="FB8500"/>
          </a:solidFill>
          <a:ln w="12700">
            <a:solidFill>
              <a:srgbClr val="FB8500"/>
            </a:solidFill>
            <a:prstDash val="solid"/>
          </a:ln>
        </p:spPr>
        <p:txBody>
          <a:bodyPr/>
          <a:lstStyle/>
          <a:p>
            <a:endParaRPr lang="en-SG"/>
          </a:p>
        </p:txBody>
      </p:sp>
      <p:sp>
        <p:nvSpPr>
          <p:cNvPr id="20" name="Text 18"/>
          <p:cNvSpPr/>
          <p:nvPr/>
        </p:nvSpPr>
        <p:spPr>
          <a:xfrm>
            <a:off x="2450592" y="1591056"/>
            <a:ext cx="475488" cy="512064"/>
          </a:xfrm>
          <a:prstGeom prst="rect">
            <a:avLst/>
          </a:prstGeom>
          <a:noFill/>
        </p:spPr>
        <p:txBody>
          <a:bodyPr wrap="square" lIns="0" tIns="0" rIns="0" bIns="0" rtlCol="0" anchor="ctr"/>
          <a:lstStyle/>
          <a:p>
            <a:pPr marL="0" indent="0" algn="ctr">
              <a:buNone/>
            </a:pPr>
            <a:r>
              <a:rPr lang="en-US" sz="2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a:t>
            </a:r>
            <a:endParaRPr lang="en-US" sz="2800" dirty="0"/>
          </a:p>
        </p:txBody>
      </p:sp>
      <p:sp>
        <p:nvSpPr>
          <p:cNvPr id="21" name="Text 19"/>
          <p:cNvSpPr/>
          <p:nvPr/>
        </p:nvSpPr>
        <p:spPr>
          <a:xfrm>
            <a:off x="2962656" y="1609344"/>
            <a:ext cx="1463040"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Accessed</a:t>
            </a:r>
            <a:endParaRPr lang="en-US" sz="1100" dirty="0"/>
          </a:p>
        </p:txBody>
      </p:sp>
      <p:sp>
        <p:nvSpPr>
          <p:cNvPr id="22" name="Text 20"/>
          <p:cNvSpPr/>
          <p:nvPr/>
        </p:nvSpPr>
        <p:spPr>
          <a:xfrm>
            <a:off x="2962656" y="1847088"/>
            <a:ext cx="1463040" cy="182880"/>
          </a:xfrm>
          <a:prstGeom prst="rect">
            <a:avLst/>
          </a:prstGeom>
          <a:noFill/>
        </p:spPr>
        <p:txBody>
          <a:bodyPr wrap="square" lIns="0" tIns="0" rIns="0" bIns="0" rtlCol="0" anchor="ctr"/>
          <a:lstStyle/>
          <a:p>
            <a:pPr marL="0" indent="0">
              <a:buNone/>
            </a:pPr>
            <a:r>
              <a:rPr lang="en-US" sz="850" i="1" dirty="0">
                <a:solidFill>
                  <a:srgbClr val="1A1A2E"/>
                </a:solidFill>
                <a:latin typeface="Calibri" panose="020F0502020204030204" pitchFamily="34" charset="0"/>
                <a:ea typeface="Calibri" panose="020F0502020204030204" pitchFamily="34" charset="-122"/>
                <a:cs typeface="Calibri" panose="020F0502020204030204" pitchFamily="34" charset="-120"/>
              </a:rPr>
              <a:t>File was last read or executed</a:t>
            </a:r>
            <a:endParaRPr lang="en-US" sz="850" dirty="0"/>
          </a:p>
        </p:txBody>
      </p:sp>
      <p:sp>
        <p:nvSpPr>
          <p:cNvPr id="23" name="Text 21"/>
          <p:cNvSpPr/>
          <p:nvPr/>
        </p:nvSpPr>
        <p:spPr>
          <a:xfrm>
            <a:off x="2450592" y="2249424"/>
            <a:ext cx="1975104" cy="162763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Records the date and time the file was last READ, OPENED, or EXECUTED. On modern Windows systems (Vista and later), last-access updates are often disabled by default to improve performance — making this timestamp unreliable unless confirmed as enabled on the target system.</a:t>
            </a:r>
            <a:endParaRPr lang="en-US" sz="850" dirty="0"/>
          </a:p>
        </p:txBody>
      </p:sp>
      <p:sp>
        <p:nvSpPr>
          <p:cNvPr id="24" name="Shape 22"/>
          <p:cNvSpPr/>
          <p:nvPr/>
        </p:nvSpPr>
        <p:spPr>
          <a:xfrm>
            <a:off x="2432304" y="3931920"/>
            <a:ext cx="2011680" cy="768096"/>
          </a:xfrm>
          <a:prstGeom prst="rect">
            <a:avLst/>
          </a:prstGeom>
          <a:solidFill>
            <a:srgbClr val="EEF6FB"/>
          </a:solidFill>
          <a:ln w="12700">
            <a:solidFill>
              <a:srgbClr val="FB8500"/>
            </a:solidFill>
            <a:prstDash val="solid"/>
          </a:ln>
        </p:spPr>
        <p:txBody>
          <a:bodyPr/>
          <a:lstStyle/>
          <a:p>
            <a:endParaRPr lang="en-SG"/>
          </a:p>
        </p:txBody>
      </p:sp>
      <p:sp>
        <p:nvSpPr>
          <p:cNvPr id="25" name="Text 23"/>
          <p:cNvSpPr/>
          <p:nvPr/>
        </p:nvSpPr>
        <p:spPr>
          <a:xfrm>
            <a:off x="2468880" y="3968496"/>
            <a:ext cx="1938528" cy="658368"/>
          </a:xfrm>
          <a:prstGeom prst="rect">
            <a:avLst/>
          </a:prstGeom>
          <a:noFill/>
        </p:spPr>
        <p:txBody>
          <a:bodyPr wrap="square" rtlCol="0" anchor="ctr"/>
          <a:lstStyle/>
          <a:p>
            <a:pPr marL="0" indent="0">
              <a:buNone/>
            </a:pPr>
            <a:r>
              <a:rPr lang="en-US" sz="800" dirty="0">
                <a:solidFill>
                  <a:srgbClr val="FB8500"/>
                </a:solidFill>
                <a:latin typeface="Calibri" panose="020F0502020204030204" pitchFamily="34" charset="0"/>
                <a:ea typeface="Calibri" panose="020F0502020204030204" pitchFamily="34" charset="-122"/>
                <a:cs typeface="Calibri" panose="020F0502020204030204" pitchFamily="34" charset="-120"/>
              </a:rPr>
              <a:t>Forensic value: Can confirm program execution or document access, but must be used with caution. Always verify OS settings before relying on this value.</a:t>
            </a:r>
            <a:endParaRPr lang="en-US" sz="800" dirty="0"/>
          </a:p>
        </p:txBody>
      </p:sp>
      <p:sp>
        <p:nvSpPr>
          <p:cNvPr id="26" name="Shape 24"/>
          <p:cNvSpPr/>
          <p:nvPr/>
        </p:nvSpPr>
        <p:spPr>
          <a:xfrm>
            <a:off x="4608576" y="1554480"/>
            <a:ext cx="2157984" cy="3090672"/>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4608576" y="1554480"/>
            <a:ext cx="2157984" cy="621792"/>
          </a:xfrm>
          <a:prstGeom prst="rect">
            <a:avLst/>
          </a:prstGeom>
          <a:solidFill>
            <a:srgbClr val="9B5DE5"/>
          </a:solidFill>
          <a:ln w="12700">
            <a:solidFill>
              <a:srgbClr val="9B5DE5"/>
            </a:solidFill>
            <a:prstDash val="solid"/>
          </a:ln>
        </p:spPr>
        <p:txBody>
          <a:bodyPr/>
          <a:lstStyle/>
          <a:p>
            <a:endParaRPr lang="en-SG"/>
          </a:p>
        </p:txBody>
      </p:sp>
      <p:sp>
        <p:nvSpPr>
          <p:cNvPr id="28" name="Text 26"/>
          <p:cNvSpPr/>
          <p:nvPr/>
        </p:nvSpPr>
        <p:spPr>
          <a:xfrm>
            <a:off x="4700016" y="1591056"/>
            <a:ext cx="475488" cy="512064"/>
          </a:xfrm>
          <a:prstGeom prst="rect">
            <a:avLst/>
          </a:prstGeom>
          <a:noFill/>
        </p:spPr>
        <p:txBody>
          <a:bodyPr wrap="square" lIns="0" tIns="0" rIns="0" bIns="0" rtlCol="0" anchor="ctr"/>
          <a:lstStyle/>
          <a:p>
            <a:pPr marL="0" indent="0" algn="ctr">
              <a:buNone/>
            </a:pPr>
            <a:r>
              <a:rPr lang="en-US" sz="2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a:t>
            </a:r>
            <a:endParaRPr lang="en-US" sz="2800" dirty="0"/>
          </a:p>
        </p:txBody>
      </p:sp>
      <p:sp>
        <p:nvSpPr>
          <p:cNvPr id="29" name="Text 27"/>
          <p:cNvSpPr/>
          <p:nvPr/>
        </p:nvSpPr>
        <p:spPr>
          <a:xfrm>
            <a:off x="5212080" y="1609344"/>
            <a:ext cx="1463040"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Changed ($MFT Changed)</a:t>
            </a:r>
            <a:endParaRPr lang="en-US" sz="1100" dirty="0"/>
          </a:p>
        </p:txBody>
      </p:sp>
      <p:sp>
        <p:nvSpPr>
          <p:cNvPr id="30" name="Text 28"/>
          <p:cNvSpPr/>
          <p:nvPr/>
        </p:nvSpPr>
        <p:spPr>
          <a:xfrm>
            <a:off x="5212080" y="1847088"/>
            <a:ext cx="1463040" cy="182880"/>
          </a:xfrm>
          <a:prstGeom prst="rect">
            <a:avLst/>
          </a:prstGeom>
          <a:noFill/>
        </p:spPr>
        <p:txBody>
          <a:bodyPr wrap="square" lIns="0" tIns="0" rIns="0" bIns="0" rtlCol="0" anchor="ctr"/>
          <a:lstStyle/>
          <a:p>
            <a:pPr marL="0" indent="0">
              <a:buNone/>
            </a:pPr>
            <a:r>
              <a:rPr lang="en-US" sz="850" i="1" dirty="0">
                <a:solidFill>
                  <a:srgbClr val="1A1A2E"/>
                </a:solidFill>
                <a:latin typeface="Calibri" panose="020F0502020204030204" pitchFamily="34" charset="0"/>
                <a:ea typeface="Calibri" panose="020F0502020204030204" pitchFamily="34" charset="-122"/>
                <a:cs typeface="Calibri" panose="020F0502020204030204" pitchFamily="34" charset="-120"/>
              </a:rPr>
              <a:t>MFT entry metadata was last updated</a:t>
            </a:r>
            <a:endParaRPr lang="en-US" sz="850" dirty="0"/>
          </a:p>
        </p:txBody>
      </p:sp>
      <p:sp>
        <p:nvSpPr>
          <p:cNvPr id="31" name="Text 29"/>
          <p:cNvSpPr/>
          <p:nvPr/>
        </p:nvSpPr>
        <p:spPr>
          <a:xfrm>
            <a:off x="4700016" y="2249424"/>
            <a:ext cx="1975104" cy="162763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Records the date and time the MFT ENTRY METADATA was last changed — not the file content. This includes changes to file size, permissions, attribute flags, and parent folder references. It is stored in the $STANDARD_INFORMATION attribute and is distinct from the Modified (M) timestamp.</a:t>
            </a:r>
            <a:endParaRPr lang="en-US" sz="850" dirty="0"/>
          </a:p>
        </p:txBody>
      </p:sp>
      <p:sp>
        <p:nvSpPr>
          <p:cNvPr id="32" name="Shape 30"/>
          <p:cNvSpPr/>
          <p:nvPr/>
        </p:nvSpPr>
        <p:spPr>
          <a:xfrm>
            <a:off x="4681728" y="3931920"/>
            <a:ext cx="2011680" cy="768096"/>
          </a:xfrm>
          <a:prstGeom prst="rect">
            <a:avLst/>
          </a:prstGeom>
          <a:solidFill>
            <a:srgbClr val="EEF6FB"/>
          </a:solidFill>
          <a:ln w="12700">
            <a:solidFill>
              <a:srgbClr val="9B5DE5"/>
            </a:solidFill>
            <a:prstDash val="solid"/>
          </a:ln>
        </p:spPr>
        <p:txBody>
          <a:bodyPr/>
          <a:lstStyle/>
          <a:p>
            <a:endParaRPr lang="en-SG"/>
          </a:p>
        </p:txBody>
      </p:sp>
      <p:sp>
        <p:nvSpPr>
          <p:cNvPr id="33" name="Text 31"/>
          <p:cNvSpPr/>
          <p:nvPr/>
        </p:nvSpPr>
        <p:spPr>
          <a:xfrm>
            <a:off x="4718304" y="3968496"/>
            <a:ext cx="1938528" cy="658368"/>
          </a:xfrm>
          <a:prstGeom prst="rect">
            <a:avLst/>
          </a:prstGeom>
          <a:noFill/>
        </p:spPr>
        <p:txBody>
          <a:bodyPr wrap="square" rtlCol="0" anchor="ctr"/>
          <a:lstStyle/>
          <a:p>
            <a:pPr marL="0" indent="0">
              <a:buNone/>
            </a:pPr>
            <a:r>
              <a:rPr lang="en-US" sz="800" dirty="0">
                <a:solidFill>
                  <a:srgbClr val="9B5DE5"/>
                </a:solidFill>
                <a:latin typeface="Calibri" panose="020F0502020204030204" pitchFamily="34" charset="0"/>
                <a:ea typeface="Calibri" panose="020F0502020204030204" pitchFamily="34" charset="-122"/>
                <a:cs typeface="Calibri" panose="020F0502020204030204" pitchFamily="34" charset="-120"/>
              </a:rPr>
              <a:t>Forensic value: Updated whenever the file's metadata changes, even if content is untouched. Can reveal moves, renames, or permission changes.</a:t>
            </a:r>
            <a:endParaRPr lang="en-US" sz="800" dirty="0"/>
          </a:p>
        </p:txBody>
      </p:sp>
      <p:sp>
        <p:nvSpPr>
          <p:cNvPr id="34" name="Shape 32"/>
          <p:cNvSpPr/>
          <p:nvPr/>
        </p:nvSpPr>
        <p:spPr>
          <a:xfrm>
            <a:off x="6858000" y="1554480"/>
            <a:ext cx="2157984" cy="309067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35" name="Shape 33"/>
          <p:cNvSpPr/>
          <p:nvPr/>
        </p:nvSpPr>
        <p:spPr>
          <a:xfrm>
            <a:off x="6858000" y="1554480"/>
            <a:ext cx="2157984" cy="621792"/>
          </a:xfrm>
          <a:prstGeom prst="rect">
            <a:avLst/>
          </a:prstGeom>
          <a:solidFill>
            <a:srgbClr val="06D6A0"/>
          </a:solidFill>
          <a:ln w="12700">
            <a:solidFill>
              <a:srgbClr val="06D6A0"/>
            </a:solidFill>
            <a:prstDash val="solid"/>
          </a:ln>
        </p:spPr>
        <p:txBody>
          <a:bodyPr/>
          <a:lstStyle/>
          <a:p>
            <a:endParaRPr lang="en-SG"/>
          </a:p>
        </p:txBody>
      </p:sp>
      <p:sp>
        <p:nvSpPr>
          <p:cNvPr id="36" name="Text 34"/>
          <p:cNvSpPr/>
          <p:nvPr/>
        </p:nvSpPr>
        <p:spPr>
          <a:xfrm>
            <a:off x="6949440" y="1591056"/>
            <a:ext cx="475488" cy="512064"/>
          </a:xfrm>
          <a:prstGeom prst="rect">
            <a:avLst/>
          </a:prstGeom>
          <a:noFill/>
        </p:spPr>
        <p:txBody>
          <a:bodyPr wrap="square" lIns="0" tIns="0" rIns="0" bIns="0" rtlCol="0" anchor="ctr"/>
          <a:lstStyle/>
          <a:p>
            <a:pPr marL="0" indent="0" algn="ctr">
              <a:buNone/>
            </a:pPr>
            <a:r>
              <a:rPr lang="en-US" sz="2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a:t>
            </a:r>
            <a:endParaRPr lang="en-US" sz="2800" dirty="0"/>
          </a:p>
        </p:txBody>
      </p:sp>
      <p:sp>
        <p:nvSpPr>
          <p:cNvPr id="37" name="Text 35"/>
          <p:cNvSpPr/>
          <p:nvPr/>
        </p:nvSpPr>
        <p:spPr>
          <a:xfrm>
            <a:off x="7461504" y="1609344"/>
            <a:ext cx="1463040"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Born (Created)</a:t>
            </a:r>
            <a:endParaRPr lang="en-US" sz="1100" dirty="0"/>
          </a:p>
        </p:txBody>
      </p:sp>
      <p:sp>
        <p:nvSpPr>
          <p:cNvPr id="38" name="Text 36"/>
          <p:cNvSpPr/>
          <p:nvPr/>
        </p:nvSpPr>
        <p:spPr>
          <a:xfrm>
            <a:off x="7461504" y="1847088"/>
            <a:ext cx="1463040" cy="182880"/>
          </a:xfrm>
          <a:prstGeom prst="rect">
            <a:avLst/>
          </a:prstGeom>
          <a:noFill/>
        </p:spPr>
        <p:txBody>
          <a:bodyPr wrap="square" lIns="0" tIns="0" rIns="0" bIns="0" rtlCol="0" anchor="ctr"/>
          <a:lstStyle/>
          <a:p>
            <a:pPr marL="0" indent="0">
              <a:buNone/>
            </a:pPr>
            <a:r>
              <a:rPr lang="en-US" sz="850" i="1" dirty="0">
                <a:solidFill>
                  <a:srgbClr val="000000"/>
                </a:solidFill>
                <a:latin typeface="Calibri" panose="020F0502020204030204" pitchFamily="34" charset="0"/>
                <a:ea typeface="Calibri" panose="020F0502020204030204" pitchFamily="34" charset="-122"/>
                <a:cs typeface="Calibri" panose="020F0502020204030204" pitchFamily="34" charset="-120"/>
              </a:rPr>
              <a:t>File was created on this volume</a:t>
            </a:r>
            <a:endParaRPr lang="en-US" sz="850" dirty="0"/>
          </a:p>
        </p:txBody>
      </p:sp>
      <p:sp>
        <p:nvSpPr>
          <p:cNvPr id="39" name="Text 37"/>
          <p:cNvSpPr/>
          <p:nvPr/>
        </p:nvSpPr>
        <p:spPr>
          <a:xfrm>
            <a:off x="6949440" y="2249424"/>
            <a:ext cx="1975104" cy="162763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Records the date and time the file was CREATED on this specific volume. Important caveat: copying a file to a new volume resets the Born timestamp to the copy date, but the Modified timestamp carries over from the original. A Born timestamp that is LATER than the Modified timestamp is a strong indicator the file was copied.</a:t>
            </a:r>
            <a:endParaRPr lang="en-US" sz="850" dirty="0"/>
          </a:p>
        </p:txBody>
      </p:sp>
      <p:sp>
        <p:nvSpPr>
          <p:cNvPr id="40" name="Shape 38"/>
          <p:cNvSpPr/>
          <p:nvPr/>
        </p:nvSpPr>
        <p:spPr>
          <a:xfrm>
            <a:off x="6931152" y="3931920"/>
            <a:ext cx="2011680" cy="768096"/>
          </a:xfrm>
          <a:prstGeom prst="rect">
            <a:avLst/>
          </a:prstGeom>
          <a:solidFill>
            <a:srgbClr val="EEF6FB"/>
          </a:solidFill>
          <a:ln w="12700">
            <a:solidFill>
              <a:srgbClr val="06D6A0"/>
            </a:solidFill>
            <a:prstDash val="solid"/>
          </a:ln>
        </p:spPr>
        <p:txBody>
          <a:bodyPr/>
          <a:lstStyle/>
          <a:p>
            <a:endParaRPr lang="en-SG"/>
          </a:p>
        </p:txBody>
      </p:sp>
      <p:sp>
        <p:nvSpPr>
          <p:cNvPr id="41" name="Text 39"/>
          <p:cNvSpPr/>
          <p:nvPr/>
        </p:nvSpPr>
        <p:spPr>
          <a:xfrm>
            <a:off x="6967728" y="3968496"/>
            <a:ext cx="1938528" cy="658368"/>
          </a:xfrm>
          <a:prstGeom prst="rect">
            <a:avLst/>
          </a:prstGeom>
          <a:noFill/>
        </p:spPr>
        <p:txBody>
          <a:bodyPr wrap="square" rtlCol="0" anchor="ctr"/>
          <a:lstStyle/>
          <a:p>
            <a:pPr marL="0" indent="0">
              <a:buNone/>
            </a:pPr>
            <a:r>
              <a:rPr lang="en-US" sz="800" dirty="0">
                <a:solidFill>
                  <a:srgbClr val="06D6A0"/>
                </a:solidFill>
                <a:latin typeface="Calibri" panose="020F0502020204030204" pitchFamily="34" charset="0"/>
                <a:ea typeface="Calibri" panose="020F0502020204030204" pitchFamily="34" charset="-122"/>
                <a:cs typeface="Calibri" panose="020F0502020204030204" pitchFamily="34" charset="-120"/>
              </a:rPr>
              <a:t>Forensic value: Determines when a file first appeared on this system. Born &gt; Modified = file was copied from another location.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05 — Analysis: Methodology &amp; Evidence-to-5WH Mapping</a:t>
            </a:r>
            <a:endParaRPr lang="en-US" sz="1700" dirty="0"/>
          </a:p>
        </p:txBody>
      </p:sp>
      <p:sp>
        <p:nvSpPr>
          <p:cNvPr id="6" name="Shape 4"/>
          <p:cNvSpPr/>
          <p:nvPr/>
        </p:nvSpPr>
        <p:spPr>
          <a:xfrm>
            <a:off x="109728" y="841248"/>
            <a:ext cx="4352544" cy="3913632"/>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09728" y="841248"/>
            <a:ext cx="4352544" cy="365760"/>
          </a:xfrm>
          <a:prstGeom prst="rect">
            <a:avLst/>
          </a:prstGeom>
          <a:solidFill>
            <a:srgbClr val="FFB703"/>
          </a:solidFill>
          <a:ln w="12700">
            <a:solidFill>
              <a:srgbClr val="FFB703"/>
            </a:solidFill>
            <a:prstDash val="solid"/>
          </a:ln>
        </p:spPr>
        <p:txBody>
          <a:bodyPr/>
          <a:lstStyle/>
          <a:p>
            <a:endParaRPr lang="en-SG"/>
          </a:p>
        </p:txBody>
      </p:sp>
      <p:sp>
        <p:nvSpPr>
          <p:cNvPr id="8" name="Text 6"/>
          <p:cNvSpPr/>
          <p:nvPr/>
        </p:nvSpPr>
        <p:spPr>
          <a:xfrm>
            <a:off x="219456" y="868680"/>
            <a:ext cx="4169664" cy="256032"/>
          </a:xfrm>
          <a:prstGeom prst="rect">
            <a:avLst/>
          </a:prstGeom>
          <a:noFill/>
        </p:spPr>
        <p:txBody>
          <a:bodyPr wrap="square" lIns="0" tIns="0" rIns="0" bIns="0" rtlCol="0" anchor="ctr"/>
          <a:lstStyle/>
          <a:p>
            <a:pPr marL="0" indent="0">
              <a:buNone/>
            </a:pPr>
            <a:r>
              <a:rPr lang="en-US" sz="1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ANALYSIS METHODOLOGY</a:t>
            </a:r>
            <a:endParaRPr lang="en-US" sz="1200" dirty="0"/>
          </a:p>
        </p:txBody>
      </p:sp>
      <p:sp>
        <p:nvSpPr>
          <p:cNvPr id="9" name="Shape 7"/>
          <p:cNvSpPr/>
          <p:nvPr/>
        </p:nvSpPr>
        <p:spPr>
          <a:xfrm>
            <a:off x="182880" y="1280160"/>
            <a:ext cx="4187952" cy="475488"/>
          </a:xfrm>
          <a:prstGeom prst="rect">
            <a:avLst/>
          </a:prstGeom>
          <a:solidFill>
            <a:srgbClr val="FFB703"/>
          </a:solidFill>
          <a:ln w="12700">
            <a:solidFill>
              <a:srgbClr val="FFB703"/>
            </a:solidFill>
            <a:prstDash val="solid"/>
          </a:ln>
        </p:spPr>
        <p:txBody>
          <a:bodyPr/>
          <a:lstStyle/>
          <a:p>
            <a:endParaRPr lang="en-SG"/>
          </a:p>
        </p:txBody>
      </p:sp>
      <p:sp>
        <p:nvSpPr>
          <p:cNvPr id="10" name="Shape 8"/>
          <p:cNvSpPr/>
          <p:nvPr/>
        </p:nvSpPr>
        <p:spPr>
          <a:xfrm>
            <a:off x="219456" y="1353312"/>
            <a:ext cx="329184" cy="329184"/>
          </a:xfrm>
          <a:prstGeom prst="ellipse">
            <a:avLst/>
          </a:prstGeom>
          <a:solidFill>
            <a:srgbClr val="FFFFFF"/>
          </a:solidFill>
          <a:ln w="12700">
            <a:solidFill>
              <a:srgbClr val="FFFFFF"/>
            </a:solidFill>
            <a:prstDash val="solid"/>
          </a:ln>
        </p:spPr>
        <p:txBody>
          <a:bodyPr/>
          <a:lstStyle/>
          <a:p>
            <a:endParaRPr lang="en-SG"/>
          </a:p>
        </p:txBody>
      </p:sp>
      <p:sp>
        <p:nvSpPr>
          <p:cNvPr id="11" name="Text 9"/>
          <p:cNvSpPr/>
          <p:nvPr/>
        </p:nvSpPr>
        <p:spPr>
          <a:xfrm>
            <a:off x="219456" y="1389888"/>
            <a:ext cx="329184" cy="237744"/>
          </a:xfrm>
          <a:prstGeom prst="rect">
            <a:avLst/>
          </a:prstGeom>
          <a:noFill/>
        </p:spPr>
        <p:txBody>
          <a:bodyPr wrap="square" lIns="0" tIns="0" rIns="0" bIns="0" rtlCol="0" anchor="ctr"/>
          <a:lstStyle/>
          <a:p>
            <a:pPr marL="0" indent="0" algn="ctr">
              <a:buNone/>
            </a:pPr>
            <a:r>
              <a:rPr lang="en-US" sz="9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900" dirty="0"/>
          </a:p>
        </p:txBody>
      </p:sp>
      <p:sp>
        <p:nvSpPr>
          <p:cNvPr id="12" name="Text 10"/>
          <p:cNvSpPr/>
          <p:nvPr/>
        </p:nvSpPr>
        <p:spPr>
          <a:xfrm>
            <a:off x="621792" y="1316736"/>
            <a:ext cx="3694176"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Build a Super-Timeline</a:t>
            </a:r>
            <a:endParaRPr lang="en-US" sz="1000" dirty="0"/>
          </a:p>
        </p:txBody>
      </p:sp>
      <p:sp>
        <p:nvSpPr>
          <p:cNvPr id="13" name="Text 11"/>
          <p:cNvSpPr/>
          <p:nvPr/>
        </p:nvSpPr>
        <p:spPr>
          <a:xfrm>
            <a:off x="621792" y="1517904"/>
            <a:ext cx="3694176" cy="201168"/>
          </a:xfrm>
          <a:prstGeom prst="rect">
            <a:avLst/>
          </a:prstGeom>
          <a:noFill/>
        </p:spPr>
        <p:txBody>
          <a:bodyPr wrap="square" rtlCol="0" anchor="ctr"/>
          <a:lstStyle/>
          <a:p>
            <a:pPr marL="0" indent="0">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Merge all timestamp artefacts into one chronological log (Plaso / log2timeline). Shows EVERY event across all artefact sources.</a:t>
            </a:r>
            <a:endParaRPr lang="en-US" sz="850" dirty="0"/>
          </a:p>
        </p:txBody>
      </p:sp>
      <p:sp>
        <p:nvSpPr>
          <p:cNvPr id="14" name="Shape 12"/>
          <p:cNvSpPr/>
          <p:nvPr/>
        </p:nvSpPr>
        <p:spPr>
          <a:xfrm>
            <a:off x="182880" y="1828800"/>
            <a:ext cx="4187952" cy="475488"/>
          </a:xfrm>
          <a:prstGeom prst="rect">
            <a:avLst/>
          </a:prstGeom>
          <a:solidFill>
            <a:srgbClr val="EEF6FB"/>
          </a:solidFill>
          <a:ln w="12700">
            <a:solidFill>
              <a:srgbClr val="FFB703"/>
            </a:solidFill>
            <a:prstDash val="solid"/>
          </a:ln>
        </p:spPr>
        <p:txBody>
          <a:bodyPr/>
          <a:lstStyle/>
          <a:p>
            <a:endParaRPr lang="en-SG"/>
          </a:p>
        </p:txBody>
      </p:sp>
      <p:sp>
        <p:nvSpPr>
          <p:cNvPr id="15" name="Shape 13"/>
          <p:cNvSpPr/>
          <p:nvPr/>
        </p:nvSpPr>
        <p:spPr>
          <a:xfrm>
            <a:off x="219456" y="1901952"/>
            <a:ext cx="329184" cy="329184"/>
          </a:xfrm>
          <a:prstGeom prst="ellipse">
            <a:avLst/>
          </a:prstGeom>
          <a:solidFill>
            <a:srgbClr val="FFB703"/>
          </a:solidFill>
          <a:ln w="12700">
            <a:solidFill>
              <a:srgbClr val="FFB703"/>
            </a:solidFill>
            <a:prstDash val="solid"/>
          </a:ln>
        </p:spPr>
        <p:txBody>
          <a:bodyPr/>
          <a:lstStyle/>
          <a:p>
            <a:endParaRPr lang="en-SG"/>
          </a:p>
        </p:txBody>
      </p:sp>
      <p:sp>
        <p:nvSpPr>
          <p:cNvPr id="16" name="Text 14"/>
          <p:cNvSpPr/>
          <p:nvPr/>
        </p:nvSpPr>
        <p:spPr>
          <a:xfrm>
            <a:off x="219456" y="1938528"/>
            <a:ext cx="329184" cy="237744"/>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900" dirty="0"/>
          </a:p>
        </p:txBody>
      </p:sp>
      <p:sp>
        <p:nvSpPr>
          <p:cNvPr id="17" name="Text 15"/>
          <p:cNvSpPr/>
          <p:nvPr/>
        </p:nvSpPr>
        <p:spPr>
          <a:xfrm>
            <a:off x="621792" y="1865376"/>
            <a:ext cx="3694176" cy="201168"/>
          </a:xfrm>
          <a:prstGeom prst="rect">
            <a:avLst/>
          </a:prstGeom>
          <a:noFill/>
        </p:spPr>
        <p:txBody>
          <a:bodyPr wrap="square" lIns="0" tIns="0" rIns="0" bIns="0" rtlCol="0" anchor="ctr"/>
          <a:lstStyle/>
          <a:p>
            <a:pPr marL="0" indent="0">
              <a:buNone/>
            </a:pPr>
            <a:r>
              <a:rPr lang="en-US" sz="10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Identify Anchor Events</a:t>
            </a:r>
            <a:endParaRPr lang="en-US" sz="1000" dirty="0"/>
          </a:p>
        </p:txBody>
      </p:sp>
      <p:sp>
        <p:nvSpPr>
          <p:cNvPr id="18" name="Text 16"/>
          <p:cNvSpPr/>
          <p:nvPr/>
        </p:nvSpPr>
        <p:spPr>
          <a:xfrm>
            <a:off x="621792" y="2066544"/>
            <a:ext cx="3694176" cy="20116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Find known events — malware execution time, data exfil transfer, login after hours. Work backwards and forwards from anchors.</a:t>
            </a:r>
            <a:endParaRPr lang="en-US" sz="850" dirty="0"/>
          </a:p>
        </p:txBody>
      </p:sp>
      <p:sp>
        <p:nvSpPr>
          <p:cNvPr id="19" name="Shape 17"/>
          <p:cNvSpPr/>
          <p:nvPr/>
        </p:nvSpPr>
        <p:spPr>
          <a:xfrm>
            <a:off x="182880" y="2377440"/>
            <a:ext cx="4187952" cy="475488"/>
          </a:xfrm>
          <a:prstGeom prst="rect">
            <a:avLst/>
          </a:prstGeom>
          <a:solidFill>
            <a:srgbClr val="EEF6FB"/>
          </a:solidFill>
          <a:ln w="12700">
            <a:solidFill>
              <a:srgbClr val="FFB703"/>
            </a:solidFill>
            <a:prstDash val="solid"/>
          </a:ln>
        </p:spPr>
        <p:txBody>
          <a:bodyPr/>
          <a:lstStyle/>
          <a:p>
            <a:endParaRPr lang="en-SG"/>
          </a:p>
        </p:txBody>
      </p:sp>
      <p:sp>
        <p:nvSpPr>
          <p:cNvPr id="20" name="Shape 18"/>
          <p:cNvSpPr/>
          <p:nvPr/>
        </p:nvSpPr>
        <p:spPr>
          <a:xfrm>
            <a:off x="219456" y="2450592"/>
            <a:ext cx="329184" cy="329184"/>
          </a:xfrm>
          <a:prstGeom prst="ellipse">
            <a:avLst/>
          </a:prstGeom>
          <a:solidFill>
            <a:srgbClr val="FFB703"/>
          </a:solidFill>
          <a:ln w="12700">
            <a:solidFill>
              <a:srgbClr val="FFB703"/>
            </a:solidFill>
            <a:prstDash val="solid"/>
          </a:ln>
        </p:spPr>
        <p:txBody>
          <a:bodyPr/>
          <a:lstStyle/>
          <a:p>
            <a:endParaRPr lang="en-SG"/>
          </a:p>
        </p:txBody>
      </p:sp>
      <p:sp>
        <p:nvSpPr>
          <p:cNvPr id="21" name="Text 19"/>
          <p:cNvSpPr/>
          <p:nvPr/>
        </p:nvSpPr>
        <p:spPr>
          <a:xfrm>
            <a:off x="219456" y="2487168"/>
            <a:ext cx="329184" cy="237744"/>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900" dirty="0"/>
          </a:p>
        </p:txBody>
      </p:sp>
      <p:sp>
        <p:nvSpPr>
          <p:cNvPr id="22" name="Text 20"/>
          <p:cNvSpPr/>
          <p:nvPr/>
        </p:nvSpPr>
        <p:spPr>
          <a:xfrm>
            <a:off x="621792" y="2414016"/>
            <a:ext cx="3694176" cy="201168"/>
          </a:xfrm>
          <a:prstGeom prst="rect">
            <a:avLst/>
          </a:prstGeom>
          <a:noFill/>
        </p:spPr>
        <p:txBody>
          <a:bodyPr wrap="square" lIns="0" tIns="0" rIns="0" bIns="0" rtlCol="0" anchor="ctr"/>
          <a:lstStyle/>
          <a:p>
            <a:pPr marL="0" indent="0">
              <a:buNone/>
            </a:pPr>
            <a:r>
              <a:rPr lang="en-US" sz="10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Correlate Across Sources</a:t>
            </a:r>
            <a:endParaRPr lang="en-US" sz="1000" dirty="0"/>
          </a:p>
        </p:txBody>
      </p:sp>
      <p:sp>
        <p:nvSpPr>
          <p:cNvPr id="23" name="Text 21"/>
          <p:cNvSpPr/>
          <p:nvPr/>
        </p:nvSpPr>
        <p:spPr>
          <a:xfrm>
            <a:off x="621792" y="2615184"/>
            <a:ext cx="3694176" cy="20116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Cross-reference: prefetch execution → event log logon → network log → USB registry. Each source confirms or challenges the others.</a:t>
            </a:r>
            <a:endParaRPr lang="en-US" sz="850" dirty="0"/>
          </a:p>
        </p:txBody>
      </p:sp>
      <p:sp>
        <p:nvSpPr>
          <p:cNvPr id="24" name="Shape 22"/>
          <p:cNvSpPr/>
          <p:nvPr/>
        </p:nvSpPr>
        <p:spPr>
          <a:xfrm>
            <a:off x="182880" y="2926080"/>
            <a:ext cx="4187952" cy="475488"/>
          </a:xfrm>
          <a:prstGeom prst="rect">
            <a:avLst/>
          </a:prstGeom>
          <a:solidFill>
            <a:srgbClr val="EEF6FB"/>
          </a:solidFill>
          <a:ln w="12700">
            <a:solidFill>
              <a:srgbClr val="FFB703"/>
            </a:solidFill>
            <a:prstDash val="solid"/>
          </a:ln>
        </p:spPr>
        <p:txBody>
          <a:bodyPr/>
          <a:lstStyle/>
          <a:p>
            <a:endParaRPr lang="en-SG"/>
          </a:p>
        </p:txBody>
      </p:sp>
      <p:sp>
        <p:nvSpPr>
          <p:cNvPr id="25" name="Shape 23"/>
          <p:cNvSpPr/>
          <p:nvPr/>
        </p:nvSpPr>
        <p:spPr>
          <a:xfrm>
            <a:off x="219456" y="2999232"/>
            <a:ext cx="329184" cy="329184"/>
          </a:xfrm>
          <a:prstGeom prst="ellipse">
            <a:avLst/>
          </a:prstGeom>
          <a:solidFill>
            <a:srgbClr val="FFB703"/>
          </a:solidFill>
          <a:ln w="12700">
            <a:solidFill>
              <a:srgbClr val="FFB703"/>
            </a:solidFill>
            <a:prstDash val="solid"/>
          </a:ln>
        </p:spPr>
        <p:txBody>
          <a:bodyPr/>
          <a:lstStyle/>
          <a:p>
            <a:endParaRPr lang="en-SG"/>
          </a:p>
        </p:txBody>
      </p:sp>
      <p:sp>
        <p:nvSpPr>
          <p:cNvPr id="26" name="Text 24"/>
          <p:cNvSpPr/>
          <p:nvPr/>
        </p:nvSpPr>
        <p:spPr>
          <a:xfrm>
            <a:off x="219456" y="3035808"/>
            <a:ext cx="329184" cy="237744"/>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900" dirty="0"/>
          </a:p>
        </p:txBody>
      </p:sp>
      <p:sp>
        <p:nvSpPr>
          <p:cNvPr id="27" name="Text 25"/>
          <p:cNvSpPr/>
          <p:nvPr/>
        </p:nvSpPr>
        <p:spPr>
          <a:xfrm>
            <a:off x="621792" y="2962656"/>
            <a:ext cx="3694176" cy="201168"/>
          </a:xfrm>
          <a:prstGeom prst="rect">
            <a:avLst/>
          </a:prstGeom>
          <a:noFill/>
        </p:spPr>
        <p:txBody>
          <a:bodyPr wrap="square" lIns="0" tIns="0" rIns="0" bIns="0" rtlCol="0" anchor="ctr"/>
          <a:lstStyle/>
          <a:p>
            <a:pPr marL="0" indent="0">
              <a:buNone/>
            </a:pPr>
            <a:r>
              <a:rPr lang="en-US" sz="10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Answer 5WH Questions</a:t>
            </a:r>
            <a:endParaRPr lang="en-US" sz="1000" dirty="0"/>
          </a:p>
        </p:txBody>
      </p:sp>
      <p:sp>
        <p:nvSpPr>
          <p:cNvPr id="28" name="Text 26"/>
          <p:cNvSpPr/>
          <p:nvPr/>
        </p:nvSpPr>
        <p:spPr>
          <a:xfrm>
            <a:off x="621792" y="3163824"/>
            <a:ext cx="3694176" cy="20116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For each finding, map evidence to WHO, WHAT, WHEN, WHERE, WHY, HOW. Unexplained gaps are as significant as confirmed findings.</a:t>
            </a:r>
            <a:endParaRPr lang="en-US" sz="850" dirty="0"/>
          </a:p>
        </p:txBody>
      </p:sp>
      <p:sp>
        <p:nvSpPr>
          <p:cNvPr id="29" name="Shape 27"/>
          <p:cNvSpPr/>
          <p:nvPr/>
        </p:nvSpPr>
        <p:spPr>
          <a:xfrm>
            <a:off x="182880" y="3474720"/>
            <a:ext cx="4187952" cy="475488"/>
          </a:xfrm>
          <a:prstGeom prst="rect">
            <a:avLst/>
          </a:prstGeom>
          <a:solidFill>
            <a:srgbClr val="EEF6FB"/>
          </a:solidFill>
          <a:ln w="12700">
            <a:solidFill>
              <a:srgbClr val="FFB703"/>
            </a:solidFill>
            <a:prstDash val="solid"/>
          </a:ln>
        </p:spPr>
        <p:txBody>
          <a:bodyPr/>
          <a:lstStyle/>
          <a:p>
            <a:endParaRPr lang="en-SG"/>
          </a:p>
        </p:txBody>
      </p:sp>
      <p:sp>
        <p:nvSpPr>
          <p:cNvPr id="30" name="Shape 28"/>
          <p:cNvSpPr/>
          <p:nvPr/>
        </p:nvSpPr>
        <p:spPr>
          <a:xfrm>
            <a:off x="219456" y="3547872"/>
            <a:ext cx="329184" cy="329184"/>
          </a:xfrm>
          <a:prstGeom prst="ellipse">
            <a:avLst/>
          </a:prstGeom>
          <a:solidFill>
            <a:srgbClr val="FFB703"/>
          </a:solidFill>
          <a:ln w="12700">
            <a:solidFill>
              <a:srgbClr val="FFB703"/>
            </a:solidFill>
            <a:prstDash val="solid"/>
          </a:ln>
        </p:spPr>
        <p:txBody>
          <a:bodyPr/>
          <a:lstStyle/>
          <a:p>
            <a:endParaRPr lang="en-SG"/>
          </a:p>
        </p:txBody>
      </p:sp>
      <p:sp>
        <p:nvSpPr>
          <p:cNvPr id="31" name="Text 29"/>
          <p:cNvSpPr/>
          <p:nvPr/>
        </p:nvSpPr>
        <p:spPr>
          <a:xfrm>
            <a:off x="219456" y="3584448"/>
            <a:ext cx="329184" cy="237744"/>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900" dirty="0"/>
          </a:p>
        </p:txBody>
      </p:sp>
      <p:sp>
        <p:nvSpPr>
          <p:cNvPr id="32" name="Text 30"/>
          <p:cNvSpPr/>
          <p:nvPr/>
        </p:nvSpPr>
        <p:spPr>
          <a:xfrm>
            <a:off x="621792" y="3511296"/>
            <a:ext cx="3694176" cy="201168"/>
          </a:xfrm>
          <a:prstGeom prst="rect">
            <a:avLst/>
          </a:prstGeom>
          <a:noFill/>
        </p:spPr>
        <p:txBody>
          <a:bodyPr wrap="square" lIns="0" tIns="0" rIns="0" bIns="0" rtlCol="0" anchor="ctr"/>
          <a:lstStyle/>
          <a:p>
            <a:pPr marL="0" indent="0">
              <a:buNone/>
            </a:pPr>
            <a:r>
              <a:rPr lang="en-US" sz="10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Exclude Innocent Activity</a:t>
            </a:r>
            <a:endParaRPr lang="en-US" sz="1000" dirty="0"/>
          </a:p>
        </p:txBody>
      </p:sp>
      <p:sp>
        <p:nvSpPr>
          <p:cNvPr id="33" name="Text 31"/>
          <p:cNvSpPr/>
          <p:nvPr/>
        </p:nvSpPr>
        <p:spPr>
          <a:xfrm>
            <a:off x="621792" y="3712464"/>
            <a:ext cx="3694176" cy="20116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Not every anomaly is malicious. Apply alternative hypothesis — could this be legitimate admin activity, scheduled tasks, software updates?</a:t>
            </a:r>
            <a:endParaRPr lang="en-US" sz="850" dirty="0"/>
          </a:p>
        </p:txBody>
      </p:sp>
      <p:sp>
        <p:nvSpPr>
          <p:cNvPr id="34" name="Shape 32"/>
          <p:cNvSpPr/>
          <p:nvPr/>
        </p:nvSpPr>
        <p:spPr>
          <a:xfrm>
            <a:off x="182880" y="4023360"/>
            <a:ext cx="4187952" cy="475488"/>
          </a:xfrm>
          <a:prstGeom prst="rect">
            <a:avLst/>
          </a:prstGeom>
          <a:solidFill>
            <a:srgbClr val="FFB703"/>
          </a:solidFill>
          <a:ln w="12700">
            <a:solidFill>
              <a:srgbClr val="FFB703"/>
            </a:solidFill>
            <a:prstDash val="solid"/>
          </a:ln>
        </p:spPr>
        <p:txBody>
          <a:bodyPr/>
          <a:lstStyle/>
          <a:p>
            <a:endParaRPr lang="en-SG"/>
          </a:p>
        </p:txBody>
      </p:sp>
      <p:sp>
        <p:nvSpPr>
          <p:cNvPr id="35" name="Shape 33"/>
          <p:cNvSpPr/>
          <p:nvPr/>
        </p:nvSpPr>
        <p:spPr>
          <a:xfrm>
            <a:off x="219456" y="4096512"/>
            <a:ext cx="329184" cy="329184"/>
          </a:xfrm>
          <a:prstGeom prst="ellipse">
            <a:avLst/>
          </a:prstGeom>
          <a:solidFill>
            <a:srgbClr val="FFFFFF"/>
          </a:solidFill>
          <a:ln w="12700">
            <a:solidFill>
              <a:srgbClr val="FFFFFF"/>
            </a:solidFill>
            <a:prstDash val="solid"/>
          </a:ln>
        </p:spPr>
        <p:txBody>
          <a:bodyPr/>
          <a:lstStyle/>
          <a:p>
            <a:endParaRPr lang="en-SG"/>
          </a:p>
        </p:txBody>
      </p:sp>
      <p:sp>
        <p:nvSpPr>
          <p:cNvPr id="36" name="Text 34"/>
          <p:cNvSpPr/>
          <p:nvPr/>
        </p:nvSpPr>
        <p:spPr>
          <a:xfrm>
            <a:off x="219456" y="4133088"/>
            <a:ext cx="329184" cy="237744"/>
          </a:xfrm>
          <a:prstGeom prst="rect">
            <a:avLst/>
          </a:prstGeom>
          <a:noFill/>
        </p:spPr>
        <p:txBody>
          <a:bodyPr wrap="square" lIns="0" tIns="0" rIns="0" bIns="0" rtlCol="0" anchor="ctr"/>
          <a:lstStyle/>
          <a:p>
            <a:pPr marL="0" indent="0" algn="ctr">
              <a:buNone/>
            </a:pPr>
            <a:r>
              <a:rPr lang="en-US" sz="900" b="1" dirty="0">
                <a:solidFill>
                  <a:srgbClr val="FFB703"/>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900" dirty="0"/>
          </a:p>
        </p:txBody>
      </p:sp>
      <p:sp>
        <p:nvSpPr>
          <p:cNvPr id="37" name="Text 35"/>
          <p:cNvSpPr/>
          <p:nvPr/>
        </p:nvSpPr>
        <p:spPr>
          <a:xfrm>
            <a:off x="621792" y="4059936"/>
            <a:ext cx="3694176"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Document Methodology</a:t>
            </a:r>
            <a:endParaRPr lang="en-US" sz="1000" dirty="0"/>
          </a:p>
        </p:txBody>
      </p:sp>
      <p:sp>
        <p:nvSpPr>
          <p:cNvPr id="38" name="Text 36"/>
          <p:cNvSpPr/>
          <p:nvPr/>
        </p:nvSpPr>
        <p:spPr>
          <a:xfrm>
            <a:off x="621792" y="4261104"/>
            <a:ext cx="3694176" cy="201168"/>
          </a:xfrm>
          <a:prstGeom prst="rect">
            <a:avLst/>
          </a:prstGeom>
          <a:noFill/>
        </p:spPr>
        <p:txBody>
          <a:bodyPr wrap="square" rtlCol="0" anchor="ctr"/>
          <a:lstStyle/>
          <a:p>
            <a:pPr marL="0" indent="0">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Record every tool, version, command, and decision. Your analysis must be reproducible by another examiner with the same image.</a:t>
            </a:r>
            <a:endParaRPr lang="en-US" sz="850" dirty="0"/>
          </a:p>
        </p:txBody>
      </p:sp>
      <p:sp>
        <p:nvSpPr>
          <p:cNvPr id="39" name="Shape 37"/>
          <p:cNvSpPr/>
          <p:nvPr/>
        </p:nvSpPr>
        <p:spPr>
          <a:xfrm>
            <a:off x="4681728" y="841248"/>
            <a:ext cx="4352544" cy="3913632"/>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40" name="Shape 38"/>
          <p:cNvSpPr/>
          <p:nvPr/>
        </p:nvSpPr>
        <p:spPr>
          <a:xfrm>
            <a:off x="4681728" y="841248"/>
            <a:ext cx="4352544" cy="365760"/>
          </a:xfrm>
          <a:prstGeom prst="rect">
            <a:avLst/>
          </a:prstGeom>
          <a:solidFill>
            <a:srgbClr val="9B5DE5"/>
          </a:solidFill>
          <a:ln w="12700">
            <a:solidFill>
              <a:srgbClr val="9B5DE5"/>
            </a:solidFill>
            <a:prstDash val="solid"/>
          </a:ln>
        </p:spPr>
        <p:txBody>
          <a:bodyPr/>
          <a:lstStyle/>
          <a:p>
            <a:endParaRPr lang="en-SG"/>
          </a:p>
        </p:txBody>
      </p:sp>
      <p:sp>
        <p:nvSpPr>
          <p:cNvPr id="41" name="Text 39"/>
          <p:cNvSpPr/>
          <p:nvPr/>
        </p:nvSpPr>
        <p:spPr>
          <a:xfrm>
            <a:off x="4791456" y="868680"/>
            <a:ext cx="4169664" cy="256032"/>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5WH → EVIDENCE MAPPING</a:t>
            </a:r>
            <a:endParaRPr lang="en-US" sz="1200" dirty="0"/>
          </a:p>
        </p:txBody>
      </p:sp>
      <p:sp>
        <p:nvSpPr>
          <p:cNvPr id="42" name="Shape 40"/>
          <p:cNvSpPr/>
          <p:nvPr/>
        </p:nvSpPr>
        <p:spPr>
          <a:xfrm>
            <a:off x="4754880" y="1280160"/>
            <a:ext cx="4187952" cy="493776"/>
          </a:xfrm>
          <a:prstGeom prst="rect">
            <a:avLst/>
          </a:prstGeom>
          <a:solidFill>
            <a:srgbClr val="EEF6FB"/>
          </a:solidFill>
          <a:ln w="12700">
            <a:solidFill>
              <a:srgbClr val="EF233C"/>
            </a:solidFill>
            <a:prstDash val="solid"/>
          </a:ln>
        </p:spPr>
        <p:txBody>
          <a:bodyPr/>
          <a:lstStyle/>
          <a:p>
            <a:endParaRPr lang="en-SG"/>
          </a:p>
        </p:txBody>
      </p:sp>
      <p:sp>
        <p:nvSpPr>
          <p:cNvPr id="43" name="Shape 41"/>
          <p:cNvSpPr/>
          <p:nvPr/>
        </p:nvSpPr>
        <p:spPr>
          <a:xfrm>
            <a:off x="4791456" y="1353312"/>
            <a:ext cx="566928" cy="274320"/>
          </a:xfrm>
          <a:prstGeom prst="roundRect">
            <a:avLst>
              <a:gd name="adj" fmla="val 16667"/>
            </a:avLst>
          </a:prstGeom>
          <a:solidFill>
            <a:srgbClr val="EF233C"/>
          </a:solidFill>
          <a:ln w="12700">
            <a:solidFill>
              <a:srgbClr val="EF233C"/>
            </a:solidFill>
            <a:prstDash val="solid"/>
          </a:ln>
        </p:spPr>
        <p:txBody>
          <a:bodyPr/>
          <a:lstStyle/>
          <a:p>
            <a:endParaRPr lang="en-SG"/>
          </a:p>
        </p:txBody>
      </p:sp>
      <p:sp>
        <p:nvSpPr>
          <p:cNvPr id="44" name="Text 42"/>
          <p:cNvSpPr/>
          <p:nvPr/>
        </p:nvSpPr>
        <p:spPr>
          <a:xfrm>
            <a:off x="4791456" y="1371600"/>
            <a:ext cx="566928" cy="219456"/>
          </a:xfrm>
          <a:prstGeom prst="rect">
            <a:avLst/>
          </a:prstGeom>
          <a:noFill/>
        </p:spPr>
        <p:txBody>
          <a:bodyPr wrap="square" lIns="0" tIns="0" rIns="0" bIns="0" rtlCol="0" anchor="ctr"/>
          <a:lstStyle/>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WHO?</a:t>
            </a:r>
            <a:endParaRPr lang="en-US" sz="950" dirty="0"/>
          </a:p>
        </p:txBody>
      </p:sp>
      <p:sp>
        <p:nvSpPr>
          <p:cNvPr id="45" name="Text 43"/>
          <p:cNvSpPr/>
          <p:nvPr/>
        </p:nvSpPr>
        <p:spPr>
          <a:xfrm>
            <a:off x="5431536" y="1335024"/>
            <a:ext cx="3438144" cy="38404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Event Log 4624 (logon name), USBSTOR serial linked to registered owner, email sender headers, device IMEI</a:t>
            </a:r>
            <a:endParaRPr lang="en-US" sz="850" dirty="0"/>
          </a:p>
        </p:txBody>
      </p:sp>
      <p:sp>
        <p:nvSpPr>
          <p:cNvPr id="46" name="Shape 44"/>
          <p:cNvSpPr/>
          <p:nvPr/>
        </p:nvSpPr>
        <p:spPr>
          <a:xfrm>
            <a:off x="4754880" y="1847088"/>
            <a:ext cx="4187952" cy="493776"/>
          </a:xfrm>
          <a:prstGeom prst="rect">
            <a:avLst/>
          </a:prstGeom>
          <a:solidFill>
            <a:srgbClr val="EEF6FB"/>
          </a:solidFill>
          <a:ln w="12700">
            <a:solidFill>
              <a:srgbClr val="FB8500"/>
            </a:solidFill>
            <a:prstDash val="solid"/>
          </a:ln>
        </p:spPr>
        <p:txBody>
          <a:bodyPr/>
          <a:lstStyle/>
          <a:p>
            <a:endParaRPr lang="en-SG"/>
          </a:p>
        </p:txBody>
      </p:sp>
      <p:sp>
        <p:nvSpPr>
          <p:cNvPr id="47" name="Shape 45"/>
          <p:cNvSpPr/>
          <p:nvPr/>
        </p:nvSpPr>
        <p:spPr>
          <a:xfrm>
            <a:off x="4791456" y="1920240"/>
            <a:ext cx="566928" cy="274320"/>
          </a:xfrm>
          <a:prstGeom prst="roundRect">
            <a:avLst>
              <a:gd name="adj" fmla="val 16667"/>
            </a:avLst>
          </a:prstGeom>
          <a:solidFill>
            <a:srgbClr val="FB8500"/>
          </a:solidFill>
          <a:ln w="12700">
            <a:solidFill>
              <a:srgbClr val="FB8500"/>
            </a:solidFill>
            <a:prstDash val="solid"/>
          </a:ln>
        </p:spPr>
        <p:txBody>
          <a:bodyPr/>
          <a:lstStyle/>
          <a:p>
            <a:endParaRPr lang="en-SG"/>
          </a:p>
        </p:txBody>
      </p:sp>
      <p:sp>
        <p:nvSpPr>
          <p:cNvPr id="48" name="Text 46"/>
          <p:cNvSpPr/>
          <p:nvPr/>
        </p:nvSpPr>
        <p:spPr>
          <a:xfrm>
            <a:off x="4791456" y="1938528"/>
            <a:ext cx="566928" cy="219456"/>
          </a:xfrm>
          <a:prstGeom prst="rect">
            <a:avLst/>
          </a:prstGeom>
          <a:noFill/>
        </p:spPr>
        <p:txBody>
          <a:bodyPr wrap="square" lIns="0" tIns="0" rIns="0" bIns="0" rtlCol="0" anchor="ctr"/>
          <a:lstStyle/>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WHAT?</a:t>
            </a:r>
            <a:endParaRPr lang="en-US" sz="950" dirty="0"/>
          </a:p>
        </p:txBody>
      </p:sp>
      <p:sp>
        <p:nvSpPr>
          <p:cNvPr id="49" name="Text 47"/>
          <p:cNvSpPr/>
          <p:nvPr/>
        </p:nvSpPr>
        <p:spPr>
          <a:xfrm>
            <a:off x="5431536" y="1901952"/>
            <a:ext cx="3438144" cy="38404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Prefetch files (execution), file access logs, exfiltrated files by hash, malware payload name &amp; hash</a:t>
            </a:r>
            <a:endParaRPr lang="en-US" sz="850" dirty="0"/>
          </a:p>
        </p:txBody>
      </p:sp>
      <p:sp>
        <p:nvSpPr>
          <p:cNvPr id="50" name="Shape 48"/>
          <p:cNvSpPr/>
          <p:nvPr/>
        </p:nvSpPr>
        <p:spPr>
          <a:xfrm>
            <a:off x="4754880" y="2414016"/>
            <a:ext cx="4187952" cy="493776"/>
          </a:xfrm>
          <a:prstGeom prst="rect">
            <a:avLst/>
          </a:prstGeom>
          <a:solidFill>
            <a:srgbClr val="EEF6FB"/>
          </a:solidFill>
          <a:ln w="12700">
            <a:solidFill>
              <a:srgbClr val="00B4D8"/>
            </a:solidFill>
            <a:prstDash val="solid"/>
          </a:ln>
        </p:spPr>
        <p:txBody>
          <a:bodyPr/>
          <a:lstStyle/>
          <a:p>
            <a:endParaRPr lang="en-SG"/>
          </a:p>
        </p:txBody>
      </p:sp>
      <p:sp>
        <p:nvSpPr>
          <p:cNvPr id="51" name="Shape 49"/>
          <p:cNvSpPr/>
          <p:nvPr/>
        </p:nvSpPr>
        <p:spPr>
          <a:xfrm>
            <a:off x="4791456" y="2487168"/>
            <a:ext cx="566928" cy="274320"/>
          </a:xfrm>
          <a:prstGeom prst="roundRect">
            <a:avLst>
              <a:gd name="adj" fmla="val 16667"/>
            </a:avLst>
          </a:prstGeom>
          <a:solidFill>
            <a:srgbClr val="00B4D8"/>
          </a:solidFill>
          <a:ln w="12700">
            <a:solidFill>
              <a:srgbClr val="00B4D8"/>
            </a:solidFill>
            <a:prstDash val="solid"/>
          </a:ln>
        </p:spPr>
        <p:txBody>
          <a:bodyPr/>
          <a:lstStyle/>
          <a:p>
            <a:endParaRPr lang="en-SG"/>
          </a:p>
        </p:txBody>
      </p:sp>
      <p:sp>
        <p:nvSpPr>
          <p:cNvPr id="52" name="Text 50"/>
          <p:cNvSpPr/>
          <p:nvPr/>
        </p:nvSpPr>
        <p:spPr>
          <a:xfrm>
            <a:off x="4791456" y="2505456"/>
            <a:ext cx="566928" cy="219456"/>
          </a:xfrm>
          <a:prstGeom prst="rect">
            <a:avLst/>
          </a:prstGeom>
          <a:noFill/>
        </p:spPr>
        <p:txBody>
          <a:bodyPr wrap="square" lIns="0" tIns="0" rIns="0" bIns="0" rtlCol="0" anchor="ctr"/>
          <a:lstStyle/>
          <a:p>
            <a:pPr marL="0" indent="0" algn="ctr">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WHEN?</a:t>
            </a:r>
            <a:endParaRPr lang="en-US" sz="950" dirty="0"/>
          </a:p>
        </p:txBody>
      </p:sp>
      <p:sp>
        <p:nvSpPr>
          <p:cNvPr id="53" name="Text 51"/>
          <p:cNvSpPr/>
          <p:nvPr/>
        </p:nvSpPr>
        <p:spPr>
          <a:xfrm>
            <a:off x="5431536" y="2468880"/>
            <a:ext cx="3438144" cy="38404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MACB timestamps (M = last modified), Event Log timestamps, browser history timestamps, photo EXIF data</a:t>
            </a:r>
            <a:endParaRPr lang="en-US" sz="850" dirty="0"/>
          </a:p>
        </p:txBody>
      </p:sp>
      <p:sp>
        <p:nvSpPr>
          <p:cNvPr id="54" name="Shape 52"/>
          <p:cNvSpPr/>
          <p:nvPr/>
        </p:nvSpPr>
        <p:spPr>
          <a:xfrm>
            <a:off x="4754880" y="2980944"/>
            <a:ext cx="4187952" cy="493776"/>
          </a:xfrm>
          <a:prstGeom prst="rect">
            <a:avLst/>
          </a:prstGeom>
          <a:solidFill>
            <a:srgbClr val="EEF6FB"/>
          </a:solidFill>
          <a:ln w="12700">
            <a:solidFill>
              <a:srgbClr val="06D6A0"/>
            </a:solidFill>
            <a:prstDash val="solid"/>
          </a:ln>
        </p:spPr>
        <p:txBody>
          <a:bodyPr/>
          <a:lstStyle/>
          <a:p>
            <a:endParaRPr lang="en-SG"/>
          </a:p>
        </p:txBody>
      </p:sp>
      <p:sp>
        <p:nvSpPr>
          <p:cNvPr id="55" name="Shape 53"/>
          <p:cNvSpPr/>
          <p:nvPr/>
        </p:nvSpPr>
        <p:spPr>
          <a:xfrm>
            <a:off x="4791456" y="3054096"/>
            <a:ext cx="566928" cy="274320"/>
          </a:xfrm>
          <a:prstGeom prst="roundRect">
            <a:avLst>
              <a:gd name="adj" fmla="val 16667"/>
            </a:avLst>
          </a:prstGeom>
          <a:solidFill>
            <a:srgbClr val="06D6A0"/>
          </a:solidFill>
          <a:ln w="12700">
            <a:solidFill>
              <a:srgbClr val="06D6A0"/>
            </a:solidFill>
            <a:prstDash val="solid"/>
          </a:ln>
        </p:spPr>
        <p:txBody>
          <a:bodyPr/>
          <a:lstStyle/>
          <a:p>
            <a:endParaRPr lang="en-SG"/>
          </a:p>
        </p:txBody>
      </p:sp>
      <p:sp>
        <p:nvSpPr>
          <p:cNvPr id="56" name="Text 54"/>
          <p:cNvSpPr/>
          <p:nvPr/>
        </p:nvSpPr>
        <p:spPr>
          <a:xfrm>
            <a:off x="4791456" y="3072384"/>
            <a:ext cx="566928" cy="219456"/>
          </a:xfrm>
          <a:prstGeom prst="rect">
            <a:avLst/>
          </a:prstGeom>
          <a:noFill/>
        </p:spPr>
        <p:txBody>
          <a:bodyPr wrap="square" lIns="0" tIns="0" rIns="0" bIns="0" rtlCol="0" anchor="ctr"/>
          <a:lstStyle/>
          <a:p>
            <a:pPr marL="0" indent="0" algn="ctr">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WHERE?</a:t>
            </a:r>
            <a:endParaRPr lang="en-US" sz="950" dirty="0"/>
          </a:p>
        </p:txBody>
      </p:sp>
      <p:sp>
        <p:nvSpPr>
          <p:cNvPr id="57" name="Text 55"/>
          <p:cNvSpPr/>
          <p:nvPr/>
        </p:nvSpPr>
        <p:spPr>
          <a:xfrm>
            <a:off x="5431536" y="3035808"/>
            <a:ext cx="3438144" cy="38404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LNK files (original file path), GPS EXIF coordinates, Wi-Fi SSID history, IP geolocation records</a:t>
            </a:r>
            <a:endParaRPr lang="en-US" sz="850" dirty="0"/>
          </a:p>
        </p:txBody>
      </p:sp>
      <p:sp>
        <p:nvSpPr>
          <p:cNvPr id="58" name="Shape 56"/>
          <p:cNvSpPr/>
          <p:nvPr/>
        </p:nvSpPr>
        <p:spPr>
          <a:xfrm>
            <a:off x="4754880" y="3547872"/>
            <a:ext cx="4187952" cy="493776"/>
          </a:xfrm>
          <a:prstGeom prst="rect">
            <a:avLst/>
          </a:prstGeom>
          <a:solidFill>
            <a:srgbClr val="EEF6FB"/>
          </a:solidFill>
          <a:ln w="12700">
            <a:solidFill>
              <a:srgbClr val="FFB703"/>
            </a:solidFill>
            <a:prstDash val="solid"/>
          </a:ln>
        </p:spPr>
        <p:txBody>
          <a:bodyPr/>
          <a:lstStyle/>
          <a:p>
            <a:endParaRPr lang="en-SG"/>
          </a:p>
        </p:txBody>
      </p:sp>
      <p:sp>
        <p:nvSpPr>
          <p:cNvPr id="59" name="Shape 57"/>
          <p:cNvSpPr/>
          <p:nvPr/>
        </p:nvSpPr>
        <p:spPr>
          <a:xfrm>
            <a:off x="4791456" y="3621024"/>
            <a:ext cx="566928" cy="274320"/>
          </a:xfrm>
          <a:prstGeom prst="roundRect">
            <a:avLst>
              <a:gd name="adj" fmla="val 16667"/>
            </a:avLst>
          </a:prstGeom>
          <a:solidFill>
            <a:srgbClr val="FFB703"/>
          </a:solidFill>
          <a:ln w="12700">
            <a:solidFill>
              <a:srgbClr val="FFB703"/>
            </a:solidFill>
            <a:prstDash val="solid"/>
          </a:ln>
        </p:spPr>
        <p:txBody>
          <a:bodyPr/>
          <a:lstStyle/>
          <a:p>
            <a:endParaRPr lang="en-SG"/>
          </a:p>
        </p:txBody>
      </p:sp>
      <p:sp>
        <p:nvSpPr>
          <p:cNvPr id="60" name="Text 58"/>
          <p:cNvSpPr/>
          <p:nvPr/>
        </p:nvSpPr>
        <p:spPr>
          <a:xfrm>
            <a:off x="4791456" y="3639312"/>
            <a:ext cx="566928" cy="219456"/>
          </a:xfrm>
          <a:prstGeom prst="rect">
            <a:avLst/>
          </a:prstGeom>
          <a:noFill/>
        </p:spPr>
        <p:txBody>
          <a:bodyPr wrap="square" lIns="0" tIns="0" rIns="0" bIns="0" rtlCol="0" anchor="ctr"/>
          <a:lstStyle/>
          <a:p>
            <a:pPr marL="0" indent="0" algn="ctr">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WHY?</a:t>
            </a:r>
            <a:endParaRPr lang="en-US" sz="950" dirty="0"/>
          </a:p>
        </p:txBody>
      </p:sp>
      <p:sp>
        <p:nvSpPr>
          <p:cNvPr id="61" name="Text 59"/>
          <p:cNvSpPr/>
          <p:nvPr/>
        </p:nvSpPr>
        <p:spPr>
          <a:xfrm>
            <a:off x="5431536" y="3602736"/>
            <a:ext cx="3438144" cy="38404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Browser search history, email content (intent), financial records, prior incidents in case history</a:t>
            </a:r>
            <a:endParaRPr lang="en-US" sz="850" dirty="0"/>
          </a:p>
        </p:txBody>
      </p:sp>
      <p:sp>
        <p:nvSpPr>
          <p:cNvPr id="62" name="Shape 60"/>
          <p:cNvSpPr/>
          <p:nvPr/>
        </p:nvSpPr>
        <p:spPr>
          <a:xfrm>
            <a:off x="4754880" y="4114800"/>
            <a:ext cx="4187952" cy="493776"/>
          </a:xfrm>
          <a:prstGeom prst="rect">
            <a:avLst/>
          </a:prstGeom>
          <a:solidFill>
            <a:srgbClr val="EEF6FB"/>
          </a:solidFill>
          <a:ln w="12700">
            <a:solidFill>
              <a:srgbClr val="9B5DE5"/>
            </a:solidFill>
            <a:prstDash val="solid"/>
          </a:ln>
        </p:spPr>
        <p:txBody>
          <a:bodyPr/>
          <a:lstStyle/>
          <a:p>
            <a:endParaRPr lang="en-SG"/>
          </a:p>
        </p:txBody>
      </p:sp>
      <p:sp>
        <p:nvSpPr>
          <p:cNvPr id="63" name="Shape 61"/>
          <p:cNvSpPr/>
          <p:nvPr/>
        </p:nvSpPr>
        <p:spPr>
          <a:xfrm>
            <a:off x="4791456" y="4187952"/>
            <a:ext cx="566928" cy="274320"/>
          </a:xfrm>
          <a:prstGeom prst="roundRect">
            <a:avLst>
              <a:gd name="adj" fmla="val 16667"/>
            </a:avLst>
          </a:prstGeom>
          <a:solidFill>
            <a:srgbClr val="9B5DE5"/>
          </a:solidFill>
          <a:ln w="12700">
            <a:solidFill>
              <a:srgbClr val="9B5DE5"/>
            </a:solidFill>
            <a:prstDash val="solid"/>
          </a:ln>
        </p:spPr>
        <p:txBody>
          <a:bodyPr/>
          <a:lstStyle/>
          <a:p>
            <a:endParaRPr lang="en-SG"/>
          </a:p>
        </p:txBody>
      </p:sp>
      <p:sp>
        <p:nvSpPr>
          <p:cNvPr id="64" name="Text 62"/>
          <p:cNvSpPr/>
          <p:nvPr/>
        </p:nvSpPr>
        <p:spPr>
          <a:xfrm>
            <a:off x="4791456" y="4206240"/>
            <a:ext cx="566928" cy="219456"/>
          </a:xfrm>
          <a:prstGeom prst="rect">
            <a:avLst/>
          </a:prstGeom>
          <a:noFill/>
        </p:spPr>
        <p:txBody>
          <a:bodyPr wrap="square" lIns="0" tIns="0" rIns="0" bIns="0" rtlCol="0" anchor="ctr"/>
          <a:lstStyle/>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HOW?</a:t>
            </a:r>
            <a:endParaRPr lang="en-US" sz="950" dirty="0"/>
          </a:p>
        </p:txBody>
      </p:sp>
      <p:sp>
        <p:nvSpPr>
          <p:cNvPr id="65" name="Text 63"/>
          <p:cNvSpPr/>
          <p:nvPr/>
        </p:nvSpPr>
        <p:spPr>
          <a:xfrm>
            <a:off x="5431536" y="4169664"/>
            <a:ext cx="3438144" cy="38404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Attack vector (phishing email / USB), tools found in prefetch, malware C2 communications in network logs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FB8500"/>
          </a:solidFill>
          <a:ln w="12700">
            <a:solidFill>
              <a:srgbClr val="FB8500"/>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p:spPr>
        <p:txBody>
          <a:bodyPr wrap="square" lIns="0" tIns="0" rIns="0" bIns="0" rtlCol="0" anchor="ctr"/>
          <a:lstStyle/>
          <a:p>
            <a:pPr marL="0" indent="0" algn="ctr">
              <a:buNone/>
            </a:pPr>
            <a:r>
              <a:rPr lang="en-US" sz="96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9600" dirty="0"/>
          </a:p>
        </p:txBody>
      </p:sp>
      <p:sp>
        <p:nvSpPr>
          <p:cNvPr id="6" name="Text 4"/>
          <p:cNvSpPr/>
          <p:nvPr/>
        </p:nvSpPr>
        <p:spPr>
          <a:xfrm>
            <a:off x="201168" y="1938528"/>
            <a:ext cx="3657600" cy="914400"/>
          </a:xfrm>
          <a:prstGeom prst="rect">
            <a:avLst/>
          </a:prstGeom>
          <a:noFill/>
        </p:spPr>
        <p:txBody>
          <a:bodyPr wrap="square" rtlCol="0" anchor="ctr"/>
          <a:lstStyle/>
          <a:p>
            <a:pPr marL="0" indent="0" algn="ctr">
              <a:buNone/>
            </a:pPr>
            <a:r>
              <a:rPr lang="en-US" sz="1300" i="1" dirty="0">
                <a:solidFill>
                  <a:srgbClr val="000000"/>
                </a:solidFill>
                <a:latin typeface="Calibri" panose="020F0502020204030204" pitchFamily="34" charset="0"/>
                <a:ea typeface="Calibri" panose="020F0502020204030204" pitchFamily="34" charset="-122"/>
                <a:cs typeface="Calibri" panose="020F0502020204030204" pitchFamily="34" charset="-120"/>
              </a:rPr>
              <a:t>Examining adversarial techniques and the challenges investigators face</a:t>
            </a:r>
            <a:endParaRPr lang="en-US" sz="1300" dirty="0"/>
          </a:p>
        </p:txBody>
      </p:sp>
      <p:sp>
        <p:nvSpPr>
          <p:cNvPr id="7" name="Text 5"/>
          <p:cNvSpPr/>
          <p:nvPr/>
        </p:nvSpPr>
        <p:spPr>
          <a:xfrm>
            <a:off x="4572000" y="566928"/>
            <a:ext cx="4297680" cy="329184"/>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FB8500"/>
          </a:solidFill>
          <a:ln w="12700">
            <a:solidFill>
              <a:srgbClr val="FB8500"/>
            </a:solidFill>
            <a:prstDash val="solid"/>
          </a:ln>
        </p:spPr>
        <p:txBody>
          <a:bodyPr/>
          <a:lstStyle/>
          <a:p>
            <a:endParaRPr lang="en-SG"/>
          </a:p>
        </p:txBody>
      </p:sp>
      <p:sp>
        <p:nvSpPr>
          <p:cNvPr id="10" name="Text 8"/>
          <p:cNvSpPr/>
          <p:nvPr/>
        </p:nvSpPr>
        <p:spPr>
          <a:xfrm>
            <a:off x="4663440" y="1115568"/>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100" dirty="0"/>
          </a:p>
        </p:txBody>
      </p:sp>
      <p:sp>
        <p:nvSpPr>
          <p:cNvPr id="11" name="Text 9"/>
          <p:cNvSpPr/>
          <p:nvPr/>
        </p:nvSpPr>
        <p:spPr>
          <a:xfrm>
            <a:off x="5166360" y="1097280"/>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Challenges in the Current Threat Landscape</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FB8500"/>
          </a:solidFill>
          <a:ln w="12700">
            <a:solidFill>
              <a:srgbClr val="FB8500"/>
            </a:solidFill>
            <a:prstDash val="solid"/>
          </a:ln>
        </p:spPr>
        <p:txBody>
          <a:bodyPr/>
          <a:lstStyle/>
          <a:p>
            <a:endParaRPr lang="en-SG"/>
          </a:p>
        </p:txBody>
      </p:sp>
      <p:sp>
        <p:nvSpPr>
          <p:cNvPr id="14" name="Text 12"/>
          <p:cNvSpPr/>
          <p:nvPr/>
        </p:nvSpPr>
        <p:spPr>
          <a:xfrm>
            <a:off x="4663440" y="1773936"/>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100" dirty="0"/>
          </a:p>
        </p:txBody>
      </p:sp>
      <p:sp>
        <p:nvSpPr>
          <p:cNvPr id="15" name="Text 13"/>
          <p:cNvSpPr/>
          <p:nvPr/>
        </p:nvSpPr>
        <p:spPr>
          <a:xfrm>
            <a:off x="5166360" y="1755648"/>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Anti-Digital Forensics Methods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B8500"/>
          </a:solidFill>
          <a:ln w="12700">
            <a:solidFill>
              <a:srgbClr val="FB8500"/>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Challenges in the Current Threat Landscape</a:t>
            </a:r>
            <a:endParaRPr lang="en-US" sz="1700" dirty="0"/>
          </a:p>
        </p:txBody>
      </p:sp>
      <p:sp>
        <p:nvSpPr>
          <p:cNvPr id="6" name="Shape 4"/>
          <p:cNvSpPr/>
          <p:nvPr/>
        </p:nvSpPr>
        <p:spPr>
          <a:xfrm>
            <a:off x="164592" y="877824"/>
            <a:ext cx="4279392" cy="1042416"/>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64592" y="877824"/>
            <a:ext cx="182880" cy="1042416"/>
          </a:xfrm>
          <a:prstGeom prst="rect">
            <a:avLst/>
          </a:prstGeom>
          <a:solidFill>
            <a:srgbClr val="EF233C"/>
          </a:solidFill>
          <a:ln w="12700">
            <a:solidFill>
              <a:srgbClr val="EF233C"/>
            </a:solidFill>
            <a:prstDash val="solid"/>
          </a:ln>
        </p:spPr>
        <p:txBody>
          <a:bodyPr/>
          <a:lstStyle/>
          <a:p>
            <a:endParaRPr lang="en-SG"/>
          </a:p>
        </p:txBody>
      </p:sp>
      <p:sp>
        <p:nvSpPr>
          <p:cNvPr id="8" name="Text 6"/>
          <p:cNvSpPr/>
          <p:nvPr/>
        </p:nvSpPr>
        <p:spPr>
          <a:xfrm>
            <a:off x="438912" y="932688"/>
            <a:ext cx="3913632" cy="274320"/>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Encryption &amp; Anti-Forensics</a:t>
            </a:r>
            <a:endParaRPr lang="en-US" sz="1300" dirty="0"/>
          </a:p>
        </p:txBody>
      </p:sp>
      <p:sp>
        <p:nvSpPr>
          <p:cNvPr id="9" name="Text 7"/>
          <p:cNvSpPr/>
          <p:nvPr/>
        </p:nvSpPr>
        <p:spPr>
          <a:xfrm>
            <a:off x="438912" y="1243584"/>
            <a:ext cx="3913632" cy="585216"/>
          </a:xfrm>
          <a:prstGeom prst="rect">
            <a:avLst/>
          </a:prstGeom>
          <a:noFill/>
        </p:spPr>
        <p:txBody>
          <a:bodyPr wrap="square" rtlCol="0" anchor="ctr"/>
          <a:lstStyle/>
          <a:p>
            <a:pPr marL="0" indent="0">
              <a:buNone/>
            </a:pPr>
            <a:r>
              <a:rPr lang="en-US" sz="1050" dirty="0">
                <a:solidFill>
                  <a:srgbClr val="1A1A2E"/>
                </a:solidFill>
                <a:latin typeface="Calibri" panose="020F0502020204030204" pitchFamily="34" charset="0"/>
                <a:ea typeface="Calibri" panose="020F0502020204030204" pitchFamily="34" charset="-122"/>
                <a:cs typeface="Calibri" panose="020F0502020204030204" pitchFamily="34" charset="-120"/>
              </a:rPr>
              <a:t>Full disk encryption, secure delete tools, and deliberate data destruction (timestomping, log wiping) actively obstruct investigations.</a:t>
            </a:r>
            <a:endParaRPr lang="en-US" sz="1050" dirty="0"/>
          </a:p>
        </p:txBody>
      </p:sp>
      <p:sp>
        <p:nvSpPr>
          <p:cNvPr id="10" name="Shape 8"/>
          <p:cNvSpPr/>
          <p:nvPr/>
        </p:nvSpPr>
        <p:spPr>
          <a:xfrm>
            <a:off x="4626864" y="877824"/>
            <a:ext cx="4279392" cy="104241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4626864" y="877824"/>
            <a:ext cx="182880" cy="1042416"/>
          </a:xfrm>
          <a:prstGeom prst="rect">
            <a:avLst/>
          </a:prstGeom>
          <a:solidFill>
            <a:srgbClr val="FFB703"/>
          </a:solidFill>
          <a:ln w="12700">
            <a:solidFill>
              <a:srgbClr val="FFB703"/>
            </a:solidFill>
            <a:prstDash val="solid"/>
          </a:ln>
        </p:spPr>
        <p:txBody>
          <a:bodyPr/>
          <a:lstStyle/>
          <a:p>
            <a:endParaRPr lang="en-SG"/>
          </a:p>
        </p:txBody>
      </p:sp>
      <p:sp>
        <p:nvSpPr>
          <p:cNvPr id="12" name="Text 10"/>
          <p:cNvSpPr/>
          <p:nvPr/>
        </p:nvSpPr>
        <p:spPr>
          <a:xfrm>
            <a:off x="4901184" y="932688"/>
            <a:ext cx="3913632" cy="274320"/>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Volume &amp; Velocity of Data</a:t>
            </a:r>
            <a:endParaRPr lang="en-US" sz="1300" dirty="0"/>
          </a:p>
        </p:txBody>
      </p:sp>
      <p:sp>
        <p:nvSpPr>
          <p:cNvPr id="13" name="Text 11"/>
          <p:cNvSpPr/>
          <p:nvPr/>
        </p:nvSpPr>
        <p:spPr>
          <a:xfrm>
            <a:off x="4901184" y="1243584"/>
            <a:ext cx="3913632" cy="585216"/>
          </a:xfrm>
          <a:prstGeom prst="rect">
            <a:avLst/>
          </a:prstGeom>
          <a:noFill/>
        </p:spPr>
        <p:txBody>
          <a:bodyPr wrap="square" rtlCol="0" anchor="ctr"/>
          <a:lstStyle/>
          <a:p>
            <a:pPr marL="0" indent="0">
              <a:buNone/>
            </a:pPr>
            <a:r>
              <a:rPr lang="en-US" sz="1050" dirty="0">
                <a:solidFill>
                  <a:srgbClr val="1A1A2E"/>
                </a:solidFill>
                <a:latin typeface="Calibri" panose="020F0502020204030204" pitchFamily="34" charset="0"/>
                <a:ea typeface="Calibri" panose="020F0502020204030204" pitchFamily="34" charset="-122"/>
                <a:cs typeface="Calibri" panose="020F0502020204030204" pitchFamily="34" charset="-120"/>
              </a:rPr>
              <a:t>Modern cases involve terabytes across multiple devices and platforms. Processing speed and tool validation are constant pressures.</a:t>
            </a:r>
            <a:endParaRPr lang="en-US" sz="1050" dirty="0"/>
          </a:p>
        </p:txBody>
      </p:sp>
      <p:sp>
        <p:nvSpPr>
          <p:cNvPr id="14" name="Shape 12"/>
          <p:cNvSpPr/>
          <p:nvPr/>
        </p:nvSpPr>
        <p:spPr>
          <a:xfrm>
            <a:off x="164592" y="2084832"/>
            <a:ext cx="4279392" cy="104241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164592" y="2084832"/>
            <a:ext cx="182880" cy="1042416"/>
          </a:xfrm>
          <a:prstGeom prst="rect">
            <a:avLst/>
          </a:prstGeom>
          <a:solidFill>
            <a:srgbClr val="06D6A0"/>
          </a:solidFill>
          <a:ln w="12700">
            <a:solidFill>
              <a:srgbClr val="06D6A0"/>
            </a:solidFill>
            <a:prstDash val="solid"/>
          </a:ln>
        </p:spPr>
        <p:txBody>
          <a:bodyPr/>
          <a:lstStyle/>
          <a:p>
            <a:endParaRPr lang="en-SG"/>
          </a:p>
        </p:txBody>
      </p:sp>
      <p:sp>
        <p:nvSpPr>
          <p:cNvPr id="16" name="Text 14"/>
          <p:cNvSpPr/>
          <p:nvPr/>
        </p:nvSpPr>
        <p:spPr>
          <a:xfrm>
            <a:off x="438912" y="2139696"/>
            <a:ext cx="3913632" cy="274320"/>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Cloud &amp; Jurisdiction</a:t>
            </a:r>
            <a:endParaRPr lang="en-US" sz="1300" dirty="0"/>
          </a:p>
        </p:txBody>
      </p:sp>
      <p:sp>
        <p:nvSpPr>
          <p:cNvPr id="17" name="Text 15"/>
          <p:cNvSpPr/>
          <p:nvPr/>
        </p:nvSpPr>
        <p:spPr>
          <a:xfrm>
            <a:off x="438912" y="2450592"/>
            <a:ext cx="3913632" cy="585216"/>
          </a:xfrm>
          <a:prstGeom prst="rect">
            <a:avLst/>
          </a:prstGeom>
          <a:noFill/>
        </p:spPr>
        <p:txBody>
          <a:bodyPr wrap="square" rtlCol="0" anchor="ctr"/>
          <a:lstStyle/>
          <a:p>
            <a:pPr marL="0" indent="0">
              <a:buNone/>
            </a:pPr>
            <a:r>
              <a:rPr lang="en-US" sz="1050" dirty="0">
                <a:solidFill>
                  <a:srgbClr val="1A1A2E"/>
                </a:solidFill>
                <a:latin typeface="Calibri" panose="020F0502020204030204" pitchFamily="34" charset="0"/>
                <a:ea typeface="Calibri" panose="020F0502020204030204" pitchFamily="34" charset="-122"/>
                <a:cs typeface="Calibri" panose="020F0502020204030204" pitchFamily="34" charset="-120"/>
              </a:rPr>
              <a:t>Data stored across multiple countries under different legal frameworks. Mutual Legal Assistance Treaties (MLATs) are slow and complex.</a:t>
            </a:r>
            <a:endParaRPr lang="en-US" sz="1050" dirty="0"/>
          </a:p>
        </p:txBody>
      </p:sp>
      <p:sp>
        <p:nvSpPr>
          <p:cNvPr id="18" name="Shape 16"/>
          <p:cNvSpPr/>
          <p:nvPr/>
        </p:nvSpPr>
        <p:spPr>
          <a:xfrm>
            <a:off x="4626864" y="2084832"/>
            <a:ext cx="4279392" cy="104241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4626864" y="2084832"/>
            <a:ext cx="182880" cy="1042416"/>
          </a:xfrm>
          <a:prstGeom prst="rect">
            <a:avLst/>
          </a:prstGeom>
          <a:solidFill>
            <a:srgbClr val="00B4D8"/>
          </a:solidFill>
          <a:ln w="12700">
            <a:solidFill>
              <a:srgbClr val="00B4D8"/>
            </a:solidFill>
            <a:prstDash val="solid"/>
          </a:ln>
        </p:spPr>
        <p:txBody>
          <a:bodyPr/>
          <a:lstStyle/>
          <a:p>
            <a:endParaRPr lang="en-SG"/>
          </a:p>
        </p:txBody>
      </p:sp>
      <p:sp>
        <p:nvSpPr>
          <p:cNvPr id="20" name="Text 18"/>
          <p:cNvSpPr/>
          <p:nvPr/>
        </p:nvSpPr>
        <p:spPr>
          <a:xfrm>
            <a:off x="4901184" y="2139696"/>
            <a:ext cx="3913632" cy="274320"/>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Volatile Evidence</a:t>
            </a:r>
            <a:endParaRPr lang="en-US" sz="1300" dirty="0"/>
          </a:p>
        </p:txBody>
      </p:sp>
      <p:sp>
        <p:nvSpPr>
          <p:cNvPr id="21" name="Text 19"/>
          <p:cNvSpPr/>
          <p:nvPr/>
        </p:nvSpPr>
        <p:spPr>
          <a:xfrm>
            <a:off x="4901184" y="2450592"/>
            <a:ext cx="3913632" cy="585216"/>
          </a:xfrm>
          <a:prstGeom prst="rect">
            <a:avLst/>
          </a:prstGeom>
          <a:noFill/>
        </p:spPr>
        <p:txBody>
          <a:bodyPr wrap="square" rtlCol="0" anchor="ctr"/>
          <a:lstStyle/>
          <a:p>
            <a:pPr marL="0" indent="0">
              <a:buNone/>
            </a:pPr>
            <a:r>
              <a:rPr lang="en-US" sz="1050" dirty="0">
                <a:solidFill>
                  <a:srgbClr val="1A1A2E"/>
                </a:solidFill>
                <a:latin typeface="Calibri" panose="020F0502020204030204" pitchFamily="34" charset="0"/>
                <a:ea typeface="Calibri" panose="020F0502020204030204" pitchFamily="34" charset="-122"/>
                <a:cs typeface="Calibri" panose="020F0502020204030204" pitchFamily="34" charset="-120"/>
              </a:rPr>
              <a:t>RAM, running processes, and active network connections vanish on shutdown. Live forensics must be performed before powering down.</a:t>
            </a:r>
            <a:endParaRPr lang="en-US" sz="1050" dirty="0"/>
          </a:p>
        </p:txBody>
      </p:sp>
      <p:sp>
        <p:nvSpPr>
          <p:cNvPr id="22" name="Shape 20"/>
          <p:cNvSpPr/>
          <p:nvPr/>
        </p:nvSpPr>
        <p:spPr>
          <a:xfrm>
            <a:off x="164592" y="3291840"/>
            <a:ext cx="4279392" cy="1042416"/>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3" name="Shape 21"/>
          <p:cNvSpPr/>
          <p:nvPr/>
        </p:nvSpPr>
        <p:spPr>
          <a:xfrm>
            <a:off x="164592" y="3291840"/>
            <a:ext cx="182880" cy="1042416"/>
          </a:xfrm>
          <a:prstGeom prst="rect">
            <a:avLst/>
          </a:prstGeom>
          <a:solidFill>
            <a:srgbClr val="9B5DE5"/>
          </a:solidFill>
          <a:ln w="12700">
            <a:solidFill>
              <a:srgbClr val="9B5DE5"/>
            </a:solidFill>
            <a:prstDash val="solid"/>
          </a:ln>
        </p:spPr>
        <p:txBody>
          <a:bodyPr/>
          <a:lstStyle/>
          <a:p>
            <a:endParaRPr lang="en-SG"/>
          </a:p>
        </p:txBody>
      </p:sp>
      <p:sp>
        <p:nvSpPr>
          <p:cNvPr id="24" name="Text 22"/>
          <p:cNvSpPr/>
          <p:nvPr/>
        </p:nvSpPr>
        <p:spPr>
          <a:xfrm>
            <a:off x="438912" y="3346704"/>
            <a:ext cx="3913632" cy="274320"/>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AI &amp; Deepfakes</a:t>
            </a:r>
            <a:endParaRPr lang="en-US" sz="1300" dirty="0"/>
          </a:p>
        </p:txBody>
      </p:sp>
      <p:sp>
        <p:nvSpPr>
          <p:cNvPr id="25" name="Text 23"/>
          <p:cNvSpPr/>
          <p:nvPr/>
        </p:nvSpPr>
        <p:spPr>
          <a:xfrm>
            <a:off x="438912" y="3657600"/>
            <a:ext cx="3913632" cy="585216"/>
          </a:xfrm>
          <a:prstGeom prst="rect">
            <a:avLst/>
          </a:prstGeom>
          <a:noFill/>
        </p:spPr>
        <p:txBody>
          <a:bodyPr wrap="square" rtlCol="0" anchor="ctr"/>
          <a:lstStyle/>
          <a:p>
            <a:pPr marL="0" indent="0">
              <a:buNone/>
            </a:pPr>
            <a:r>
              <a:rPr lang="en-US" sz="1050" dirty="0">
                <a:solidFill>
                  <a:srgbClr val="1A1A2E"/>
                </a:solidFill>
                <a:latin typeface="Calibri" panose="020F0502020204030204" pitchFamily="34" charset="0"/>
                <a:ea typeface="Calibri" panose="020F0502020204030204" pitchFamily="34" charset="-122"/>
                <a:cs typeface="Calibri" panose="020F0502020204030204" pitchFamily="34" charset="-120"/>
              </a:rPr>
              <a:t>AI-generated synthetic media challenges evidence authenticity. Investigators must now verify whether media itself has been manufactured.</a:t>
            </a:r>
            <a:endParaRPr lang="en-US" sz="1050" dirty="0"/>
          </a:p>
        </p:txBody>
      </p:sp>
      <p:sp>
        <p:nvSpPr>
          <p:cNvPr id="26" name="Shape 24"/>
          <p:cNvSpPr/>
          <p:nvPr/>
        </p:nvSpPr>
        <p:spPr>
          <a:xfrm>
            <a:off x="4626864" y="3291840"/>
            <a:ext cx="4279392" cy="104241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4626864" y="3291840"/>
            <a:ext cx="182880" cy="1042416"/>
          </a:xfrm>
          <a:prstGeom prst="rect">
            <a:avLst/>
          </a:prstGeom>
          <a:solidFill>
            <a:srgbClr val="FB8500"/>
          </a:solidFill>
          <a:ln w="12700">
            <a:solidFill>
              <a:srgbClr val="FB8500"/>
            </a:solidFill>
            <a:prstDash val="solid"/>
          </a:ln>
        </p:spPr>
        <p:txBody>
          <a:bodyPr/>
          <a:lstStyle/>
          <a:p>
            <a:endParaRPr lang="en-SG"/>
          </a:p>
        </p:txBody>
      </p:sp>
      <p:sp>
        <p:nvSpPr>
          <p:cNvPr id="28" name="Text 26"/>
          <p:cNvSpPr/>
          <p:nvPr/>
        </p:nvSpPr>
        <p:spPr>
          <a:xfrm>
            <a:off x="4901184" y="3346704"/>
            <a:ext cx="3913632" cy="274320"/>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Legal &amp; Ethical Constraints</a:t>
            </a:r>
            <a:endParaRPr lang="en-US" sz="1300" dirty="0"/>
          </a:p>
        </p:txBody>
      </p:sp>
      <p:sp>
        <p:nvSpPr>
          <p:cNvPr id="29" name="Text 27"/>
          <p:cNvSpPr/>
          <p:nvPr/>
        </p:nvSpPr>
        <p:spPr>
          <a:xfrm>
            <a:off x="4901184" y="3657600"/>
            <a:ext cx="3913632" cy="585216"/>
          </a:xfrm>
          <a:prstGeom prst="rect">
            <a:avLst/>
          </a:prstGeom>
          <a:noFill/>
        </p:spPr>
        <p:txBody>
          <a:bodyPr wrap="square" rtlCol="0" anchor="ctr"/>
          <a:lstStyle/>
          <a:p>
            <a:pPr marL="0" indent="0">
              <a:buNone/>
            </a:pPr>
            <a:r>
              <a:rPr lang="en-US" sz="1050" dirty="0">
                <a:solidFill>
                  <a:srgbClr val="1A1A2E"/>
                </a:solidFill>
                <a:latin typeface="Calibri" panose="020F0502020204030204" pitchFamily="34" charset="0"/>
                <a:ea typeface="Calibri" panose="020F0502020204030204" pitchFamily="34" charset="-122"/>
                <a:cs typeface="Calibri" panose="020F0502020204030204" pitchFamily="34" charset="-120"/>
              </a:rPr>
              <a:t>Privacy laws (GDPR, PDPA), rights of suspects, and chain of custody rules constrain how evidence may be acquired and used in court.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hape 22"/>
          <p:cNvSpPr/>
          <p:nvPr/>
        </p:nvSpPr>
        <p:spPr>
          <a:xfrm>
            <a:off x="3138209" y="1317381"/>
            <a:ext cx="2816352" cy="1261872"/>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25" name="Shape 23"/>
          <p:cNvSpPr/>
          <p:nvPr/>
        </p:nvSpPr>
        <p:spPr>
          <a:xfrm>
            <a:off x="3145536" y="1302727"/>
            <a:ext cx="2816352" cy="329184"/>
          </a:xfrm>
          <a:prstGeom prst="rect">
            <a:avLst/>
          </a:prstGeom>
          <a:solidFill>
            <a:srgbClr val="FFB703"/>
          </a:solidFill>
          <a:ln w="12700">
            <a:solidFill>
              <a:srgbClr val="FFB703"/>
            </a:solidFill>
            <a:prstDash val="solid"/>
          </a:ln>
        </p:spPr>
        <p:txBody>
          <a:bodyPr/>
          <a:lstStyle/>
          <a:p>
            <a:endParaRPr lang="en-SG"/>
          </a:p>
        </p:txBody>
      </p:sp>
      <p:sp>
        <p:nvSpPr>
          <p:cNvPr id="2" name="Shape 0"/>
          <p:cNvSpPr/>
          <p:nvPr/>
        </p:nvSpPr>
        <p:spPr>
          <a:xfrm>
            <a:off x="0" y="0"/>
            <a:ext cx="9144000" cy="749808"/>
          </a:xfrm>
          <a:prstGeom prst="rect">
            <a:avLst/>
          </a:prstGeom>
          <a:solidFill>
            <a:srgbClr val="FB8500"/>
          </a:solidFill>
          <a:ln w="12700">
            <a:solidFill>
              <a:srgbClr val="FB8500"/>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Anti-Digital Forensics Methods</a:t>
            </a:r>
            <a:endParaRPr lang="en-US" sz="1700" dirty="0"/>
          </a:p>
        </p:txBody>
      </p:sp>
      <p:sp>
        <p:nvSpPr>
          <p:cNvPr id="6" name="Shape 4"/>
          <p:cNvSpPr/>
          <p:nvPr/>
        </p:nvSpPr>
        <p:spPr>
          <a:xfrm>
            <a:off x="164592" y="841248"/>
            <a:ext cx="8814816" cy="402336"/>
          </a:xfrm>
          <a:prstGeom prst="rect">
            <a:avLst/>
          </a:prstGeom>
          <a:solidFill>
            <a:srgbClr val="EEF6FB"/>
          </a:solidFill>
          <a:ln w="12700">
            <a:solidFill>
              <a:srgbClr val="2E4068"/>
            </a:solidFill>
            <a:prstDash val="solid"/>
          </a:ln>
        </p:spPr>
        <p:txBody>
          <a:bodyPr/>
          <a:lstStyle/>
          <a:p>
            <a:endParaRPr lang="en-SG"/>
          </a:p>
        </p:txBody>
      </p:sp>
      <p:sp>
        <p:nvSpPr>
          <p:cNvPr id="7" name="Text 5"/>
          <p:cNvSpPr/>
          <p:nvPr/>
        </p:nvSpPr>
        <p:spPr>
          <a:xfrm>
            <a:off x="274320" y="886968"/>
            <a:ext cx="8595360" cy="310896"/>
          </a:xfrm>
          <a:prstGeom prst="rect">
            <a:avLst/>
          </a:prstGeom>
          <a:noFill/>
        </p:spPr>
        <p:txBody>
          <a:bodyPr wrap="square" rtlCol="0" anchor="ctr"/>
          <a:lstStyle/>
          <a:p>
            <a:pPr marL="0" indent="0">
              <a:buNone/>
            </a:pPr>
            <a:r>
              <a:rPr lang="en-US" sz="1050" i="1" dirty="0">
                <a:solidFill>
                  <a:srgbClr val="1A1A2E"/>
                </a:solidFill>
                <a:latin typeface="Calibri" panose="020F0502020204030204" pitchFamily="34" charset="0"/>
                <a:ea typeface="Calibri" panose="020F0502020204030204" pitchFamily="34" charset="-122"/>
                <a:cs typeface="Calibri" panose="020F0502020204030204" pitchFamily="34" charset="-120"/>
              </a:rPr>
              <a:t>Anti-forensics refers to techniques used to prevent, confuse, or undermine a digital forensic investigation. As practitioners, we must know how adversaries attempt to defeat us.</a:t>
            </a:r>
            <a:endParaRPr lang="en-US" sz="1050" dirty="0"/>
          </a:p>
        </p:txBody>
      </p:sp>
      <p:sp>
        <p:nvSpPr>
          <p:cNvPr id="8" name="Shape 6"/>
          <p:cNvSpPr/>
          <p:nvPr/>
        </p:nvSpPr>
        <p:spPr>
          <a:xfrm>
            <a:off x="164592" y="1316736"/>
            <a:ext cx="2816352" cy="1261872"/>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9" name="Shape 7"/>
          <p:cNvSpPr/>
          <p:nvPr/>
        </p:nvSpPr>
        <p:spPr>
          <a:xfrm>
            <a:off x="164592" y="1316736"/>
            <a:ext cx="2816352" cy="329184"/>
          </a:xfrm>
          <a:prstGeom prst="rect">
            <a:avLst/>
          </a:prstGeom>
          <a:solidFill>
            <a:srgbClr val="EF233C"/>
          </a:solidFill>
          <a:ln w="12700">
            <a:solidFill>
              <a:srgbClr val="EF233C"/>
            </a:solidFill>
            <a:prstDash val="solid"/>
          </a:ln>
        </p:spPr>
        <p:txBody>
          <a:bodyPr/>
          <a:lstStyle/>
          <a:p>
            <a:endParaRPr lang="en-SG"/>
          </a:p>
        </p:txBody>
      </p:sp>
      <p:sp>
        <p:nvSpPr>
          <p:cNvPr id="10" name="Text 8"/>
          <p:cNvSpPr/>
          <p:nvPr/>
        </p:nvSpPr>
        <p:spPr>
          <a:xfrm>
            <a:off x="256032" y="1353312"/>
            <a:ext cx="2633472" cy="237744"/>
          </a:xfrm>
          <a:prstGeom prst="rect">
            <a:avLst/>
          </a:prstGeom>
          <a:noFill/>
        </p:spPr>
        <p:txBody>
          <a:bodyPr wrap="square"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Data Deletion &amp; Wiping</a:t>
            </a:r>
            <a:endParaRPr lang="en-US" sz="1100" dirty="0"/>
          </a:p>
        </p:txBody>
      </p:sp>
      <p:sp>
        <p:nvSpPr>
          <p:cNvPr id="11" name="Text 9"/>
          <p:cNvSpPr/>
          <p:nvPr/>
        </p:nvSpPr>
        <p:spPr>
          <a:xfrm>
            <a:off x="256032" y="1719072"/>
            <a:ext cx="2633472" cy="786384"/>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Tools like DBAN and Eraser overwrite data multiple times — unlike standard deletion, wiped data cannot be recovered from unallocated space.</a:t>
            </a:r>
            <a:endParaRPr lang="en-US" sz="950" dirty="0"/>
          </a:p>
        </p:txBody>
      </p:sp>
      <p:sp>
        <p:nvSpPr>
          <p:cNvPr id="12" name="Shape 10"/>
          <p:cNvSpPr/>
          <p:nvPr/>
        </p:nvSpPr>
        <p:spPr>
          <a:xfrm>
            <a:off x="3145536" y="2752813"/>
            <a:ext cx="2816352" cy="1261872"/>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3" name="Shape 11"/>
          <p:cNvSpPr/>
          <p:nvPr/>
        </p:nvSpPr>
        <p:spPr>
          <a:xfrm>
            <a:off x="3145536" y="2767467"/>
            <a:ext cx="2816352" cy="329184"/>
          </a:xfrm>
          <a:prstGeom prst="rect">
            <a:avLst/>
          </a:prstGeom>
          <a:solidFill>
            <a:srgbClr val="9B5DE5"/>
          </a:solidFill>
          <a:ln w="12700">
            <a:solidFill>
              <a:srgbClr val="9B5DE5"/>
            </a:solidFill>
            <a:prstDash val="solid"/>
          </a:ln>
        </p:spPr>
        <p:txBody>
          <a:bodyPr/>
          <a:lstStyle/>
          <a:p>
            <a:endParaRPr lang="en-SG"/>
          </a:p>
        </p:txBody>
      </p:sp>
      <p:sp>
        <p:nvSpPr>
          <p:cNvPr id="14" name="Text 12"/>
          <p:cNvSpPr/>
          <p:nvPr/>
        </p:nvSpPr>
        <p:spPr>
          <a:xfrm>
            <a:off x="3236976" y="2796716"/>
            <a:ext cx="2633472" cy="237744"/>
          </a:xfrm>
          <a:prstGeom prst="rect">
            <a:avLst/>
          </a:prstGeom>
          <a:noFill/>
        </p:spPr>
        <p:txBody>
          <a:bodyPr wrap="square"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Encryption</a:t>
            </a:r>
            <a:endParaRPr lang="en-US" sz="1100" dirty="0"/>
          </a:p>
        </p:txBody>
      </p:sp>
      <p:sp>
        <p:nvSpPr>
          <p:cNvPr id="15" name="Text 13"/>
          <p:cNvSpPr/>
          <p:nvPr/>
        </p:nvSpPr>
        <p:spPr>
          <a:xfrm>
            <a:off x="3236976" y="3155149"/>
            <a:ext cx="2633472" cy="786384"/>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Full disk encryption (BitLocker, VeraCrypt) prevents access without the key — even with physical possession of the drive.</a:t>
            </a:r>
            <a:endParaRPr lang="en-US" sz="950" dirty="0"/>
          </a:p>
        </p:txBody>
      </p:sp>
      <p:sp>
        <p:nvSpPr>
          <p:cNvPr id="16" name="Shape 14"/>
          <p:cNvSpPr/>
          <p:nvPr/>
        </p:nvSpPr>
        <p:spPr>
          <a:xfrm>
            <a:off x="6126480" y="2743200"/>
            <a:ext cx="2816352" cy="1261872"/>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17" name="Shape 15"/>
          <p:cNvSpPr/>
          <p:nvPr/>
        </p:nvSpPr>
        <p:spPr>
          <a:xfrm>
            <a:off x="6126480" y="2743200"/>
            <a:ext cx="2816352" cy="329184"/>
          </a:xfrm>
          <a:prstGeom prst="rect">
            <a:avLst/>
          </a:prstGeom>
          <a:solidFill>
            <a:srgbClr val="FB8500"/>
          </a:solidFill>
          <a:ln w="12700">
            <a:solidFill>
              <a:srgbClr val="FB8500"/>
            </a:solidFill>
            <a:prstDash val="solid"/>
          </a:ln>
        </p:spPr>
        <p:txBody>
          <a:bodyPr/>
          <a:lstStyle/>
          <a:p>
            <a:endParaRPr lang="en-SG"/>
          </a:p>
        </p:txBody>
      </p:sp>
      <p:sp>
        <p:nvSpPr>
          <p:cNvPr id="18" name="Text 16"/>
          <p:cNvSpPr/>
          <p:nvPr/>
        </p:nvSpPr>
        <p:spPr>
          <a:xfrm>
            <a:off x="6217920" y="2779776"/>
            <a:ext cx="2633472" cy="237744"/>
          </a:xfrm>
          <a:prstGeom prst="rect">
            <a:avLst/>
          </a:prstGeom>
          <a:noFill/>
        </p:spPr>
        <p:txBody>
          <a:bodyPr wrap="square"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Timestomping</a:t>
            </a:r>
            <a:endParaRPr lang="en-US" sz="1100" dirty="0"/>
          </a:p>
        </p:txBody>
      </p:sp>
      <p:sp>
        <p:nvSpPr>
          <p:cNvPr id="19" name="Text 17"/>
          <p:cNvSpPr/>
          <p:nvPr/>
        </p:nvSpPr>
        <p:spPr>
          <a:xfrm>
            <a:off x="6217920" y="3145536"/>
            <a:ext cx="2633472" cy="786384"/>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Deliberately altering file timestamps (created/modified/accessed dates) to mislead investigators about when events occurred.</a:t>
            </a:r>
            <a:endParaRPr lang="en-US" sz="950" dirty="0"/>
          </a:p>
        </p:txBody>
      </p:sp>
      <p:sp>
        <p:nvSpPr>
          <p:cNvPr id="20" name="Shape 18"/>
          <p:cNvSpPr/>
          <p:nvPr/>
        </p:nvSpPr>
        <p:spPr>
          <a:xfrm>
            <a:off x="164592" y="2743200"/>
            <a:ext cx="2816352" cy="126187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21" name="Shape 19"/>
          <p:cNvSpPr/>
          <p:nvPr/>
        </p:nvSpPr>
        <p:spPr>
          <a:xfrm>
            <a:off x="164592" y="2743200"/>
            <a:ext cx="2816352" cy="329184"/>
          </a:xfrm>
          <a:prstGeom prst="rect">
            <a:avLst/>
          </a:prstGeom>
          <a:solidFill>
            <a:srgbClr val="06D6A0"/>
          </a:solidFill>
          <a:ln w="12700">
            <a:solidFill>
              <a:srgbClr val="06D6A0"/>
            </a:solidFill>
            <a:prstDash val="solid"/>
          </a:ln>
        </p:spPr>
        <p:txBody>
          <a:bodyPr/>
          <a:lstStyle/>
          <a:p>
            <a:endParaRPr lang="en-SG"/>
          </a:p>
        </p:txBody>
      </p:sp>
      <p:sp>
        <p:nvSpPr>
          <p:cNvPr id="22" name="Text 20"/>
          <p:cNvSpPr/>
          <p:nvPr/>
        </p:nvSpPr>
        <p:spPr>
          <a:xfrm>
            <a:off x="256032" y="2779776"/>
            <a:ext cx="2633472" cy="237744"/>
          </a:xfrm>
          <a:prstGeom prst="rect">
            <a:avLst/>
          </a:prstGeom>
          <a:noFill/>
        </p:spPr>
        <p:txBody>
          <a:bodyPr wrap="square"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Steganography</a:t>
            </a:r>
            <a:endParaRPr lang="en-US" sz="1100" dirty="0"/>
          </a:p>
        </p:txBody>
      </p:sp>
      <p:sp>
        <p:nvSpPr>
          <p:cNvPr id="23" name="Text 21"/>
          <p:cNvSpPr/>
          <p:nvPr/>
        </p:nvSpPr>
        <p:spPr>
          <a:xfrm>
            <a:off x="256032" y="3145536"/>
            <a:ext cx="2633472" cy="786384"/>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Hiding secret data inside ordinary-looking files like images or audio — undetectable to the naked eye, but found with forensic tools.</a:t>
            </a:r>
            <a:endParaRPr lang="en-US" sz="950" dirty="0"/>
          </a:p>
        </p:txBody>
      </p:sp>
      <p:sp>
        <p:nvSpPr>
          <p:cNvPr id="26" name="Text 24"/>
          <p:cNvSpPr/>
          <p:nvPr/>
        </p:nvSpPr>
        <p:spPr>
          <a:xfrm>
            <a:off x="3141726" y="1355481"/>
            <a:ext cx="2633472" cy="237744"/>
          </a:xfrm>
          <a:prstGeom prst="rect">
            <a:avLst/>
          </a:prstGeom>
          <a:noFill/>
        </p:spPr>
        <p:txBody>
          <a:bodyPr wrap="square"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Log Tampering</a:t>
            </a:r>
            <a:endParaRPr lang="en-US" sz="1100" dirty="0"/>
          </a:p>
        </p:txBody>
      </p:sp>
      <p:sp>
        <p:nvSpPr>
          <p:cNvPr id="27" name="Text 25"/>
          <p:cNvSpPr/>
          <p:nvPr/>
        </p:nvSpPr>
        <p:spPr>
          <a:xfrm>
            <a:off x="3149053" y="1721827"/>
            <a:ext cx="2633472" cy="786384"/>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Deleting or modifying system logs, browser history, or event logs. Investigators look for gaps in log sequences as indicators of tampering.</a:t>
            </a:r>
            <a:endParaRPr lang="en-US" sz="950" dirty="0"/>
          </a:p>
        </p:txBody>
      </p:sp>
      <p:sp>
        <p:nvSpPr>
          <p:cNvPr id="28" name="Shape 26"/>
          <p:cNvSpPr/>
          <p:nvPr/>
        </p:nvSpPr>
        <p:spPr>
          <a:xfrm>
            <a:off x="6170442" y="1317381"/>
            <a:ext cx="2816352" cy="126187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29" name="Shape 27"/>
          <p:cNvSpPr/>
          <p:nvPr/>
        </p:nvSpPr>
        <p:spPr>
          <a:xfrm>
            <a:off x="6170442" y="1317381"/>
            <a:ext cx="2816352" cy="329184"/>
          </a:xfrm>
          <a:prstGeom prst="rect">
            <a:avLst/>
          </a:prstGeom>
          <a:solidFill>
            <a:srgbClr val="00B4D8"/>
          </a:solidFill>
          <a:ln w="12700">
            <a:solidFill>
              <a:srgbClr val="00B4D8"/>
            </a:solidFill>
            <a:prstDash val="solid"/>
          </a:ln>
        </p:spPr>
        <p:txBody>
          <a:bodyPr/>
          <a:lstStyle/>
          <a:p>
            <a:endParaRPr lang="en-SG"/>
          </a:p>
        </p:txBody>
      </p:sp>
      <p:sp>
        <p:nvSpPr>
          <p:cNvPr id="30" name="Text 28"/>
          <p:cNvSpPr/>
          <p:nvPr/>
        </p:nvSpPr>
        <p:spPr>
          <a:xfrm>
            <a:off x="6129997" y="1304192"/>
            <a:ext cx="2633472" cy="237744"/>
          </a:xfrm>
          <a:prstGeom prst="rect">
            <a:avLst/>
          </a:prstGeom>
          <a:noFill/>
        </p:spPr>
        <p:txBody>
          <a:bodyPr wrap="square"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Anonymisation &amp; VPNs</a:t>
            </a:r>
            <a:endParaRPr lang="en-US" sz="1100" dirty="0"/>
          </a:p>
        </p:txBody>
      </p:sp>
      <p:sp>
        <p:nvSpPr>
          <p:cNvPr id="31" name="Text 29"/>
          <p:cNvSpPr/>
          <p:nvPr/>
        </p:nvSpPr>
        <p:spPr>
          <a:xfrm>
            <a:off x="6173958" y="1633904"/>
            <a:ext cx="2633472" cy="786384"/>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Using VPNs, Tor, or anonymous accounts to mask the true IP address. Tracing these requires legal cooperation from ISPs and providers.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9B5DE5"/>
          </a:solidFill>
          <a:ln w="12700">
            <a:solidFill>
              <a:srgbClr val="9B5DE5"/>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p:spPr>
        <p:txBody>
          <a:bodyPr wrap="square" lIns="0" tIns="0" rIns="0" bIns="0" rtlCol="0" anchor="ctr"/>
          <a:lstStyle/>
          <a:p>
            <a:pPr marL="0" indent="0" algn="ctr">
              <a:buNone/>
            </a:pPr>
            <a:r>
              <a:rPr lang="en-US" sz="96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9600" dirty="0"/>
          </a:p>
        </p:txBody>
      </p:sp>
      <p:sp>
        <p:nvSpPr>
          <p:cNvPr id="6" name="Text 4"/>
          <p:cNvSpPr/>
          <p:nvPr/>
        </p:nvSpPr>
        <p:spPr>
          <a:xfrm>
            <a:off x="201168" y="1938528"/>
            <a:ext cx="3657600" cy="914400"/>
          </a:xfrm>
          <a:prstGeom prst="rect">
            <a:avLst/>
          </a:prstGeom>
          <a:noFill/>
        </p:spPr>
        <p:txBody>
          <a:bodyPr wrap="square" rtlCol="0" anchor="ctr"/>
          <a:lstStyle/>
          <a:p>
            <a:pPr marL="0" indent="0" algn="ctr">
              <a:buNone/>
            </a:pPr>
            <a:r>
              <a:rPr lang="en-US" sz="1300" i="1" dirty="0">
                <a:solidFill>
                  <a:srgbClr val="000000"/>
                </a:solidFill>
                <a:latin typeface="Calibri" panose="020F0502020204030204" pitchFamily="34" charset="0"/>
                <a:ea typeface="Calibri" panose="020F0502020204030204" pitchFamily="34" charset="-122"/>
                <a:cs typeface="Calibri" panose="020F0502020204030204" pitchFamily="34" charset="-120"/>
              </a:rPr>
              <a:t>Evaluating reporting standards, evidence presentation, and court conduct</a:t>
            </a:r>
            <a:endParaRPr lang="en-US" sz="1300" dirty="0"/>
          </a:p>
        </p:txBody>
      </p:sp>
      <p:sp>
        <p:nvSpPr>
          <p:cNvPr id="7" name="Text 5"/>
          <p:cNvSpPr/>
          <p:nvPr/>
        </p:nvSpPr>
        <p:spPr>
          <a:xfrm>
            <a:off x="4572000" y="566928"/>
            <a:ext cx="4297680" cy="329184"/>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9B5DE5"/>
          </a:solidFill>
          <a:ln w="12700">
            <a:solidFill>
              <a:srgbClr val="9B5DE5"/>
            </a:solidFill>
            <a:prstDash val="solid"/>
          </a:ln>
        </p:spPr>
        <p:txBody>
          <a:bodyPr/>
          <a:lstStyle/>
          <a:p>
            <a:endParaRPr lang="en-SG"/>
          </a:p>
        </p:txBody>
      </p:sp>
      <p:sp>
        <p:nvSpPr>
          <p:cNvPr id="10" name="Text 8"/>
          <p:cNvSpPr/>
          <p:nvPr/>
        </p:nvSpPr>
        <p:spPr>
          <a:xfrm>
            <a:off x="4663440" y="1115568"/>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100" dirty="0"/>
          </a:p>
        </p:txBody>
      </p:sp>
      <p:sp>
        <p:nvSpPr>
          <p:cNvPr id="11" name="Text 9"/>
          <p:cNvSpPr/>
          <p:nvPr/>
        </p:nvSpPr>
        <p:spPr>
          <a:xfrm>
            <a:off x="5166360" y="1097280"/>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Reporting Phase — Overview, Purpose &amp; Standards</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9B5DE5"/>
          </a:solidFill>
          <a:ln w="12700">
            <a:solidFill>
              <a:srgbClr val="9B5DE5"/>
            </a:solidFill>
            <a:prstDash val="solid"/>
          </a:ln>
        </p:spPr>
        <p:txBody>
          <a:bodyPr/>
          <a:lstStyle/>
          <a:p>
            <a:endParaRPr lang="en-SG"/>
          </a:p>
        </p:txBody>
      </p:sp>
      <p:sp>
        <p:nvSpPr>
          <p:cNvPr id="14" name="Text 12"/>
          <p:cNvSpPr/>
          <p:nvPr/>
        </p:nvSpPr>
        <p:spPr>
          <a:xfrm>
            <a:off x="4663440" y="1773936"/>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100" dirty="0"/>
          </a:p>
        </p:txBody>
      </p:sp>
      <p:sp>
        <p:nvSpPr>
          <p:cNvPr id="15" name="Text 13"/>
          <p:cNvSpPr/>
          <p:nvPr/>
        </p:nvSpPr>
        <p:spPr>
          <a:xfrm>
            <a:off x="5166360" y="1755648"/>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Sections — Executive Summary to Findings (01–04)</a:t>
            </a:r>
            <a:endParaRPr lang="en-US" sz="1200" dirty="0"/>
          </a:p>
        </p:txBody>
      </p:sp>
      <p:sp>
        <p:nvSpPr>
          <p:cNvPr id="16" name="Shape 14"/>
          <p:cNvSpPr/>
          <p:nvPr/>
        </p:nvSpPr>
        <p:spPr>
          <a:xfrm>
            <a:off x="4572000" y="2322576"/>
            <a:ext cx="4297680" cy="566928"/>
          </a:xfrm>
          <a:prstGeom prst="rect">
            <a:avLst/>
          </a:prstGeom>
          <a:noFill/>
          <a:ln w="12700">
            <a:solidFill>
              <a:srgbClr val="FFFFFF">
                <a:alpha val="20000"/>
              </a:srgbClr>
            </a:solidFill>
            <a:prstDash val="solid"/>
          </a:ln>
        </p:spPr>
        <p:txBody>
          <a:bodyPr/>
          <a:lstStyle/>
          <a:p>
            <a:endParaRPr lang="en-SG"/>
          </a:p>
        </p:txBody>
      </p:sp>
      <p:sp>
        <p:nvSpPr>
          <p:cNvPr id="17" name="Shape 15"/>
          <p:cNvSpPr/>
          <p:nvPr/>
        </p:nvSpPr>
        <p:spPr>
          <a:xfrm>
            <a:off x="4663440" y="2386584"/>
            <a:ext cx="402336" cy="402336"/>
          </a:xfrm>
          <a:prstGeom prst="ellipse">
            <a:avLst/>
          </a:prstGeom>
          <a:solidFill>
            <a:srgbClr val="9B5DE5"/>
          </a:solidFill>
          <a:ln w="12700">
            <a:solidFill>
              <a:srgbClr val="9B5DE5"/>
            </a:solidFill>
            <a:prstDash val="solid"/>
          </a:ln>
        </p:spPr>
        <p:txBody>
          <a:bodyPr/>
          <a:lstStyle/>
          <a:p>
            <a:endParaRPr lang="en-SG"/>
          </a:p>
        </p:txBody>
      </p:sp>
      <p:sp>
        <p:nvSpPr>
          <p:cNvPr id="18" name="Text 16"/>
          <p:cNvSpPr/>
          <p:nvPr/>
        </p:nvSpPr>
        <p:spPr>
          <a:xfrm>
            <a:off x="4663440" y="2432304"/>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1100" dirty="0"/>
          </a:p>
        </p:txBody>
      </p:sp>
      <p:sp>
        <p:nvSpPr>
          <p:cNvPr id="19" name="Text 17"/>
          <p:cNvSpPr/>
          <p:nvPr/>
        </p:nvSpPr>
        <p:spPr>
          <a:xfrm>
            <a:off x="5166360" y="2414016"/>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Sections — Conclusions to Appendices (05–07)</a:t>
            </a:r>
            <a:endParaRPr lang="en-US" sz="1200" dirty="0"/>
          </a:p>
        </p:txBody>
      </p:sp>
      <p:sp>
        <p:nvSpPr>
          <p:cNvPr id="20" name="Shape 18"/>
          <p:cNvSpPr/>
          <p:nvPr/>
        </p:nvSpPr>
        <p:spPr>
          <a:xfrm>
            <a:off x="4572000" y="2980944"/>
            <a:ext cx="4297680" cy="566928"/>
          </a:xfrm>
          <a:prstGeom prst="rect">
            <a:avLst/>
          </a:prstGeom>
          <a:noFill/>
          <a:ln w="12700">
            <a:solidFill>
              <a:srgbClr val="FFFFFF">
                <a:alpha val="20000"/>
              </a:srgbClr>
            </a:solidFill>
            <a:prstDash val="solid"/>
          </a:ln>
        </p:spPr>
        <p:txBody>
          <a:bodyPr/>
          <a:lstStyle/>
          <a:p>
            <a:endParaRPr lang="en-SG"/>
          </a:p>
        </p:txBody>
      </p:sp>
      <p:sp>
        <p:nvSpPr>
          <p:cNvPr id="21" name="Shape 19"/>
          <p:cNvSpPr/>
          <p:nvPr/>
        </p:nvSpPr>
        <p:spPr>
          <a:xfrm>
            <a:off x="4663440" y="3044952"/>
            <a:ext cx="402336" cy="402336"/>
          </a:xfrm>
          <a:prstGeom prst="ellipse">
            <a:avLst/>
          </a:prstGeom>
          <a:solidFill>
            <a:srgbClr val="9B5DE5"/>
          </a:solidFill>
          <a:ln w="12700">
            <a:solidFill>
              <a:srgbClr val="9B5DE5"/>
            </a:solidFill>
            <a:prstDash val="solid"/>
          </a:ln>
        </p:spPr>
        <p:txBody>
          <a:bodyPr/>
          <a:lstStyle/>
          <a:p>
            <a:endParaRPr lang="en-SG"/>
          </a:p>
        </p:txBody>
      </p:sp>
      <p:sp>
        <p:nvSpPr>
          <p:cNvPr id="22" name="Text 20"/>
          <p:cNvSpPr/>
          <p:nvPr/>
        </p:nvSpPr>
        <p:spPr>
          <a:xfrm>
            <a:off x="4663440" y="3090672"/>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1100" dirty="0"/>
          </a:p>
        </p:txBody>
      </p:sp>
      <p:sp>
        <p:nvSpPr>
          <p:cNvPr id="23" name="Text 21"/>
          <p:cNvSpPr/>
          <p:nvPr/>
        </p:nvSpPr>
        <p:spPr>
          <a:xfrm>
            <a:off x="5166360" y="3072384"/>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Writing Principles — Objectivity, Precision &amp; Reproducibility</a:t>
            </a:r>
            <a:endParaRPr lang="en-US" sz="1200" dirty="0"/>
          </a:p>
        </p:txBody>
      </p:sp>
      <p:sp>
        <p:nvSpPr>
          <p:cNvPr id="24" name="Shape 22"/>
          <p:cNvSpPr/>
          <p:nvPr/>
        </p:nvSpPr>
        <p:spPr>
          <a:xfrm>
            <a:off x="4572000" y="3639312"/>
            <a:ext cx="4297680" cy="566928"/>
          </a:xfrm>
          <a:prstGeom prst="rect">
            <a:avLst/>
          </a:prstGeom>
          <a:noFill/>
          <a:ln w="12700">
            <a:solidFill>
              <a:srgbClr val="FFFFFF">
                <a:alpha val="20000"/>
              </a:srgbClr>
            </a:solidFill>
            <a:prstDash val="solid"/>
          </a:ln>
        </p:spPr>
        <p:txBody>
          <a:bodyPr/>
          <a:lstStyle/>
          <a:p>
            <a:endParaRPr lang="en-SG"/>
          </a:p>
        </p:txBody>
      </p:sp>
      <p:sp>
        <p:nvSpPr>
          <p:cNvPr id="25" name="Shape 23"/>
          <p:cNvSpPr/>
          <p:nvPr/>
        </p:nvSpPr>
        <p:spPr>
          <a:xfrm>
            <a:off x="4663440" y="3703320"/>
            <a:ext cx="402336" cy="402336"/>
          </a:xfrm>
          <a:prstGeom prst="ellipse">
            <a:avLst/>
          </a:prstGeom>
          <a:solidFill>
            <a:srgbClr val="9B5DE5"/>
          </a:solidFill>
          <a:ln w="12700">
            <a:solidFill>
              <a:srgbClr val="9B5DE5"/>
            </a:solidFill>
            <a:prstDash val="solid"/>
          </a:ln>
        </p:spPr>
        <p:txBody>
          <a:bodyPr/>
          <a:lstStyle/>
          <a:p>
            <a:endParaRPr lang="en-SG"/>
          </a:p>
        </p:txBody>
      </p:sp>
      <p:sp>
        <p:nvSpPr>
          <p:cNvPr id="26" name="Text 24"/>
          <p:cNvSpPr/>
          <p:nvPr/>
        </p:nvSpPr>
        <p:spPr>
          <a:xfrm>
            <a:off x="4663440" y="3749040"/>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5</a:t>
            </a:r>
            <a:endParaRPr lang="en-US" sz="1100" dirty="0"/>
          </a:p>
        </p:txBody>
      </p:sp>
      <p:sp>
        <p:nvSpPr>
          <p:cNvPr id="27" name="Text 25"/>
          <p:cNvSpPr/>
          <p:nvPr/>
        </p:nvSpPr>
        <p:spPr>
          <a:xfrm>
            <a:off x="5166360" y="3730752"/>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Writing Principles — Plain Language, No Speculation &amp; Completeness</a:t>
            </a:r>
            <a:endParaRPr lang="en-US" sz="1200" dirty="0"/>
          </a:p>
        </p:txBody>
      </p:sp>
      <p:sp>
        <p:nvSpPr>
          <p:cNvPr id="28" name="Shape 26"/>
          <p:cNvSpPr/>
          <p:nvPr/>
        </p:nvSpPr>
        <p:spPr>
          <a:xfrm>
            <a:off x="4572000" y="4297680"/>
            <a:ext cx="4297680" cy="566928"/>
          </a:xfrm>
          <a:prstGeom prst="rect">
            <a:avLst/>
          </a:prstGeom>
          <a:noFill/>
          <a:ln w="12700">
            <a:solidFill>
              <a:srgbClr val="FFFFFF">
                <a:alpha val="20000"/>
              </a:srgbClr>
            </a:solidFill>
            <a:prstDash val="solid"/>
          </a:ln>
        </p:spPr>
        <p:txBody>
          <a:bodyPr/>
          <a:lstStyle/>
          <a:p>
            <a:endParaRPr lang="en-SG"/>
          </a:p>
        </p:txBody>
      </p:sp>
      <p:sp>
        <p:nvSpPr>
          <p:cNvPr id="29" name="Shape 27"/>
          <p:cNvSpPr/>
          <p:nvPr/>
        </p:nvSpPr>
        <p:spPr>
          <a:xfrm>
            <a:off x="4663440" y="4361688"/>
            <a:ext cx="402336" cy="402336"/>
          </a:xfrm>
          <a:prstGeom prst="ellipse">
            <a:avLst/>
          </a:prstGeom>
          <a:solidFill>
            <a:srgbClr val="9B5DE5"/>
          </a:solidFill>
          <a:ln w="12700">
            <a:solidFill>
              <a:srgbClr val="9B5DE5"/>
            </a:solidFill>
            <a:prstDash val="solid"/>
          </a:ln>
        </p:spPr>
        <p:txBody>
          <a:bodyPr/>
          <a:lstStyle/>
          <a:p>
            <a:endParaRPr lang="en-SG"/>
          </a:p>
        </p:txBody>
      </p:sp>
      <p:sp>
        <p:nvSpPr>
          <p:cNvPr id="30" name="Text 28"/>
          <p:cNvSpPr/>
          <p:nvPr/>
        </p:nvSpPr>
        <p:spPr>
          <a:xfrm>
            <a:off x="4663440" y="4407408"/>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6</a:t>
            </a:r>
            <a:endParaRPr lang="en-US" sz="1100" dirty="0"/>
          </a:p>
        </p:txBody>
      </p:sp>
      <p:sp>
        <p:nvSpPr>
          <p:cNvPr id="31" name="Text 29"/>
          <p:cNvSpPr/>
          <p:nvPr/>
        </p:nvSpPr>
        <p:spPr>
          <a:xfrm>
            <a:off x="5166360" y="4389120"/>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Expert Witness Testimony &amp; Court Presentation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06 — Reporting: Overview, Purpose &amp; Standards</a:t>
            </a:r>
            <a:endParaRPr lang="en-US" sz="1700" dirty="0"/>
          </a:p>
        </p:txBody>
      </p:sp>
      <p:sp>
        <p:nvSpPr>
          <p:cNvPr id="6" name="Shape 4"/>
          <p:cNvSpPr/>
          <p:nvPr/>
        </p:nvSpPr>
        <p:spPr>
          <a:xfrm>
            <a:off x="109728" y="822960"/>
            <a:ext cx="8924544" cy="475488"/>
          </a:xfrm>
          <a:prstGeom prst="rect">
            <a:avLst/>
          </a:prstGeom>
          <a:solidFill>
            <a:srgbClr val="EEF6FB"/>
          </a:solidFill>
          <a:ln w="12700">
            <a:solidFill>
              <a:srgbClr val="9B5DE5"/>
            </a:solidFill>
            <a:prstDash val="solid"/>
          </a:ln>
        </p:spPr>
        <p:txBody>
          <a:bodyPr/>
          <a:lstStyle/>
          <a:p>
            <a:endParaRPr lang="en-SG"/>
          </a:p>
        </p:txBody>
      </p:sp>
      <p:sp>
        <p:nvSpPr>
          <p:cNvPr id="7" name="Shape 5"/>
          <p:cNvSpPr/>
          <p:nvPr/>
        </p:nvSpPr>
        <p:spPr>
          <a:xfrm>
            <a:off x="109728" y="822960"/>
            <a:ext cx="182880" cy="475488"/>
          </a:xfrm>
          <a:prstGeom prst="rect">
            <a:avLst/>
          </a:prstGeom>
          <a:solidFill>
            <a:srgbClr val="9B5DE5"/>
          </a:solidFill>
          <a:ln w="12700">
            <a:solidFill>
              <a:srgbClr val="9B5DE5"/>
            </a:solidFill>
            <a:prstDash val="solid"/>
          </a:ln>
        </p:spPr>
        <p:txBody>
          <a:bodyPr/>
          <a:lstStyle/>
          <a:p>
            <a:endParaRPr lang="en-SG"/>
          </a:p>
        </p:txBody>
      </p:sp>
      <p:sp>
        <p:nvSpPr>
          <p:cNvPr id="8" name="Text 6"/>
          <p:cNvSpPr/>
          <p:nvPr/>
        </p:nvSpPr>
        <p:spPr>
          <a:xfrm>
            <a:off x="384048" y="896112"/>
            <a:ext cx="658368" cy="237744"/>
          </a:xfrm>
          <a:prstGeom prst="rect">
            <a:avLst/>
          </a:prstGeom>
          <a:noFill/>
        </p:spPr>
        <p:txBody>
          <a:bodyPr wrap="square" lIns="0" tIns="0" rIns="0" bIns="0" rtlCol="0" anchor="ctr"/>
          <a:lstStyle/>
          <a:p>
            <a:pPr marL="0" indent="0">
              <a:buNone/>
            </a:pPr>
            <a:r>
              <a:rPr lang="en-US" sz="11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Goal:</a:t>
            </a:r>
            <a:endParaRPr lang="en-US" sz="1100" dirty="0"/>
          </a:p>
        </p:txBody>
      </p:sp>
      <p:sp>
        <p:nvSpPr>
          <p:cNvPr id="9" name="Text 7"/>
          <p:cNvSpPr/>
          <p:nvPr/>
        </p:nvSpPr>
        <p:spPr>
          <a:xfrm>
            <a:off x="1078992" y="896112"/>
            <a:ext cx="7827264" cy="34747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Document all findings clearly, objectively, and in a form that a court — and any non-technical reader — can understand and rely upon. The report is the culmination of the entire investigation.</a:t>
            </a:r>
            <a:endParaRPr lang="en-US" sz="1000" dirty="0"/>
          </a:p>
        </p:txBody>
      </p:sp>
      <p:sp>
        <p:nvSpPr>
          <p:cNvPr id="10" name="Shape 8"/>
          <p:cNvSpPr/>
          <p:nvPr/>
        </p:nvSpPr>
        <p:spPr>
          <a:xfrm>
            <a:off x="109728" y="1371600"/>
            <a:ext cx="4352544" cy="3364992"/>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109728" y="1371600"/>
            <a:ext cx="4352544" cy="347472"/>
          </a:xfrm>
          <a:prstGeom prst="rect">
            <a:avLst/>
          </a:prstGeom>
          <a:solidFill>
            <a:srgbClr val="9B5DE5"/>
          </a:solidFill>
          <a:ln w="12700">
            <a:solidFill>
              <a:srgbClr val="9B5DE5"/>
            </a:solidFill>
            <a:prstDash val="solid"/>
          </a:ln>
        </p:spPr>
        <p:txBody>
          <a:bodyPr/>
          <a:lstStyle/>
          <a:p>
            <a:endParaRPr lang="en-SG"/>
          </a:p>
        </p:txBody>
      </p:sp>
      <p:sp>
        <p:nvSpPr>
          <p:cNvPr id="12" name="Text 10"/>
          <p:cNvSpPr/>
          <p:nvPr/>
        </p:nvSpPr>
        <p:spPr>
          <a:xfrm>
            <a:off x="219456" y="1399032"/>
            <a:ext cx="4169664"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WHY REPORTING IS THE MOST CRITICAL STAGE</a:t>
            </a:r>
            <a:endParaRPr lang="en-US" sz="1100" dirty="0"/>
          </a:p>
        </p:txBody>
      </p:sp>
      <p:sp>
        <p:nvSpPr>
          <p:cNvPr id="13" name="Shape 11"/>
          <p:cNvSpPr/>
          <p:nvPr/>
        </p:nvSpPr>
        <p:spPr>
          <a:xfrm>
            <a:off x="182880" y="1792224"/>
            <a:ext cx="4187952" cy="621792"/>
          </a:xfrm>
          <a:prstGeom prst="rect">
            <a:avLst/>
          </a:prstGeom>
          <a:solidFill>
            <a:srgbClr val="EEF6FB"/>
          </a:solidFill>
          <a:ln w="12700">
            <a:solidFill>
              <a:srgbClr val="9B5DE5"/>
            </a:solidFill>
            <a:prstDash val="solid"/>
          </a:ln>
        </p:spPr>
        <p:txBody>
          <a:bodyPr/>
          <a:lstStyle/>
          <a:p>
            <a:endParaRPr lang="en-SG"/>
          </a:p>
        </p:txBody>
      </p:sp>
      <p:sp>
        <p:nvSpPr>
          <p:cNvPr id="14" name="Text 12"/>
          <p:cNvSpPr/>
          <p:nvPr/>
        </p:nvSpPr>
        <p:spPr>
          <a:xfrm>
            <a:off x="219456" y="1865376"/>
            <a:ext cx="365760" cy="365760"/>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5" name="Text 13"/>
          <p:cNvSpPr/>
          <p:nvPr/>
        </p:nvSpPr>
        <p:spPr>
          <a:xfrm>
            <a:off x="640080" y="1828800"/>
            <a:ext cx="3657600" cy="201168"/>
          </a:xfrm>
          <a:prstGeom prst="rect">
            <a:avLst/>
          </a:prstGeom>
          <a:noFill/>
        </p:spPr>
        <p:txBody>
          <a:bodyPr wrap="square" lIns="0" tIns="0" rIns="0" bIns="0"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The bridge between technical and legal</a:t>
            </a:r>
            <a:endParaRPr lang="en-US" sz="1000" dirty="0"/>
          </a:p>
        </p:txBody>
      </p:sp>
      <p:sp>
        <p:nvSpPr>
          <p:cNvPr id="16" name="Text 14"/>
          <p:cNvSpPr/>
          <p:nvPr/>
        </p:nvSpPr>
        <p:spPr>
          <a:xfrm>
            <a:off x="640080" y="2029968"/>
            <a:ext cx="3657600" cy="34747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Findings exist only in the examiner's mind until they are written down. A report transforms technical analysis into admissible evidence that the court can act upon.</a:t>
            </a:r>
            <a:endParaRPr lang="en-US" sz="850" dirty="0"/>
          </a:p>
        </p:txBody>
      </p:sp>
      <p:sp>
        <p:nvSpPr>
          <p:cNvPr id="17" name="Shape 15"/>
          <p:cNvSpPr/>
          <p:nvPr/>
        </p:nvSpPr>
        <p:spPr>
          <a:xfrm>
            <a:off x="182880" y="2487168"/>
            <a:ext cx="4187952" cy="621792"/>
          </a:xfrm>
          <a:prstGeom prst="rect">
            <a:avLst/>
          </a:prstGeom>
          <a:solidFill>
            <a:srgbClr val="EEF6FB"/>
          </a:solidFill>
          <a:ln w="12700">
            <a:solidFill>
              <a:srgbClr val="9B5DE5"/>
            </a:solidFill>
            <a:prstDash val="solid"/>
          </a:ln>
        </p:spPr>
        <p:txBody>
          <a:bodyPr/>
          <a:lstStyle/>
          <a:p>
            <a:endParaRPr lang="en-SG"/>
          </a:p>
        </p:txBody>
      </p:sp>
      <p:sp>
        <p:nvSpPr>
          <p:cNvPr id="18" name="Text 16"/>
          <p:cNvSpPr/>
          <p:nvPr/>
        </p:nvSpPr>
        <p:spPr>
          <a:xfrm>
            <a:off x="219456" y="2560320"/>
            <a:ext cx="365760" cy="365760"/>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9" name="Text 17"/>
          <p:cNvSpPr/>
          <p:nvPr/>
        </p:nvSpPr>
        <p:spPr>
          <a:xfrm>
            <a:off x="640080" y="2523744"/>
            <a:ext cx="3657600" cy="201168"/>
          </a:xfrm>
          <a:prstGeom prst="rect">
            <a:avLst/>
          </a:prstGeom>
          <a:noFill/>
        </p:spPr>
        <p:txBody>
          <a:bodyPr wrap="square" lIns="0" tIns="0" rIns="0" bIns="0"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Scrutinised in cross-examination</a:t>
            </a:r>
            <a:endParaRPr lang="en-US" sz="1000" dirty="0"/>
          </a:p>
        </p:txBody>
      </p:sp>
      <p:sp>
        <p:nvSpPr>
          <p:cNvPr id="20" name="Text 18"/>
          <p:cNvSpPr/>
          <p:nvPr/>
        </p:nvSpPr>
        <p:spPr>
          <a:xfrm>
            <a:off x="640080" y="2724912"/>
            <a:ext cx="3657600" cy="34747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Every sentence in a forensic report may be challenged by defence counsel. Vague or unsupported statements can undermine years of investigative work in minutes.</a:t>
            </a:r>
            <a:endParaRPr lang="en-US" sz="850" dirty="0"/>
          </a:p>
        </p:txBody>
      </p:sp>
      <p:sp>
        <p:nvSpPr>
          <p:cNvPr id="21" name="Shape 19"/>
          <p:cNvSpPr/>
          <p:nvPr/>
        </p:nvSpPr>
        <p:spPr>
          <a:xfrm>
            <a:off x="182880" y="3182112"/>
            <a:ext cx="4187952" cy="621792"/>
          </a:xfrm>
          <a:prstGeom prst="rect">
            <a:avLst/>
          </a:prstGeom>
          <a:solidFill>
            <a:srgbClr val="EEF6FB"/>
          </a:solidFill>
          <a:ln w="12700">
            <a:solidFill>
              <a:srgbClr val="9B5DE5"/>
            </a:solidFill>
            <a:prstDash val="solid"/>
          </a:ln>
        </p:spPr>
        <p:txBody>
          <a:bodyPr/>
          <a:lstStyle/>
          <a:p>
            <a:endParaRPr lang="en-SG"/>
          </a:p>
        </p:txBody>
      </p:sp>
      <p:sp>
        <p:nvSpPr>
          <p:cNvPr id="22" name="Text 20"/>
          <p:cNvSpPr/>
          <p:nvPr/>
        </p:nvSpPr>
        <p:spPr>
          <a:xfrm>
            <a:off x="219456" y="3255264"/>
            <a:ext cx="365760" cy="365760"/>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40080" y="3218688"/>
            <a:ext cx="3657600" cy="201168"/>
          </a:xfrm>
          <a:prstGeom prst="rect">
            <a:avLst/>
          </a:prstGeom>
          <a:noFill/>
        </p:spPr>
        <p:txBody>
          <a:bodyPr wrap="square" lIns="0" tIns="0" rIns="0" bIns="0"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Must withstand independent review</a:t>
            </a:r>
            <a:endParaRPr lang="en-US" sz="1000" dirty="0"/>
          </a:p>
        </p:txBody>
      </p:sp>
      <p:sp>
        <p:nvSpPr>
          <p:cNvPr id="24" name="Text 22"/>
          <p:cNvSpPr/>
          <p:nvPr/>
        </p:nvSpPr>
        <p:spPr>
          <a:xfrm>
            <a:off x="640080" y="3419856"/>
            <a:ext cx="3657600" cy="34747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Courts may appoint a second expert to review your findings. If your methodology cannot be reproduced, your conclusions are inadmissible. Documentation is your defence.</a:t>
            </a:r>
            <a:endParaRPr lang="en-US" sz="850" dirty="0"/>
          </a:p>
        </p:txBody>
      </p:sp>
      <p:sp>
        <p:nvSpPr>
          <p:cNvPr id="25" name="Shape 23"/>
          <p:cNvSpPr/>
          <p:nvPr/>
        </p:nvSpPr>
        <p:spPr>
          <a:xfrm>
            <a:off x="182880" y="3877056"/>
            <a:ext cx="4187952" cy="621792"/>
          </a:xfrm>
          <a:prstGeom prst="rect">
            <a:avLst/>
          </a:prstGeom>
          <a:solidFill>
            <a:srgbClr val="EEF6FB"/>
          </a:solidFill>
          <a:ln w="12700">
            <a:solidFill>
              <a:srgbClr val="9B5DE5"/>
            </a:solidFill>
            <a:prstDash val="solid"/>
          </a:ln>
        </p:spPr>
        <p:txBody>
          <a:bodyPr/>
          <a:lstStyle/>
          <a:p>
            <a:endParaRPr lang="en-SG"/>
          </a:p>
        </p:txBody>
      </p:sp>
      <p:sp>
        <p:nvSpPr>
          <p:cNvPr id="26" name="Text 24"/>
          <p:cNvSpPr/>
          <p:nvPr/>
        </p:nvSpPr>
        <p:spPr>
          <a:xfrm>
            <a:off x="219456" y="3950208"/>
            <a:ext cx="365760" cy="365760"/>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640080" y="3913632"/>
            <a:ext cx="3657600" cy="201168"/>
          </a:xfrm>
          <a:prstGeom prst="rect">
            <a:avLst/>
          </a:prstGeom>
          <a:noFill/>
        </p:spPr>
        <p:txBody>
          <a:bodyPr wrap="square" lIns="0" tIns="0" rIns="0" bIns="0"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Permanent record of the investigation</a:t>
            </a:r>
            <a:endParaRPr lang="en-US" sz="1000" dirty="0"/>
          </a:p>
        </p:txBody>
      </p:sp>
      <p:sp>
        <p:nvSpPr>
          <p:cNvPr id="28" name="Text 26"/>
          <p:cNvSpPr/>
          <p:nvPr/>
        </p:nvSpPr>
        <p:spPr>
          <a:xfrm>
            <a:off x="640080" y="4114800"/>
            <a:ext cx="3657600" cy="34747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Years later, appeals and civil cases may reopen matters. A complete, well-structured report is the definitive record of what was done, found, and concluded.</a:t>
            </a:r>
            <a:endParaRPr lang="en-US" sz="850" dirty="0"/>
          </a:p>
        </p:txBody>
      </p:sp>
      <p:sp>
        <p:nvSpPr>
          <p:cNvPr id="29" name="Shape 27"/>
          <p:cNvSpPr/>
          <p:nvPr/>
        </p:nvSpPr>
        <p:spPr>
          <a:xfrm>
            <a:off x="4681728" y="1371600"/>
            <a:ext cx="4352544" cy="336499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30" name="Shape 28"/>
          <p:cNvSpPr/>
          <p:nvPr/>
        </p:nvSpPr>
        <p:spPr>
          <a:xfrm>
            <a:off x="4681728" y="1371600"/>
            <a:ext cx="4352544" cy="347472"/>
          </a:xfrm>
          <a:prstGeom prst="rect">
            <a:avLst/>
          </a:prstGeom>
          <a:solidFill>
            <a:srgbClr val="06D6A0"/>
          </a:solidFill>
          <a:ln w="12700">
            <a:solidFill>
              <a:srgbClr val="06D6A0"/>
            </a:solidFill>
            <a:prstDash val="solid"/>
          </a:ln>
        </p:spPr>
        <p:txBody>
          <a:bodyPr/>
          <a:lstStyle/>
          <a:p>
            <a:endParaRPr lang="en-SG"/>
          </a:p>
        </p:txBody>
      </p:sp>
      <p:sp>
        <p:nvSpPr>
          <p:cNvPr id="31" name="Text 29"/>
          <p:cNvSpPr/>
          <p:nvPr/>
        </p:nvSpPr>
        <p:spPr>
          <a:xfrm>
            <a:off x="4791456" y="1399032"/>
            <a:ext cx="4169664"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WHO READS YOUR REPORT?</a:t>
            </a:r>
            <a:endParaRPr lang="en-US" sz="1100" dirty="0"/>
          </a:p>
        </p:txBody>
      </p:sp>
      <p:sp>
        <p:nvSpPr>
          <p:cNvPr id="32" name="Shape 30"/>
          <p:cNvSpPr/>
          <p:nvPr/>
        </p:nvSpPr>
        <p:spPr>
          <a:xfrm>
            <a:off x="4754880" y="1792224"/>
            <a:ext cx="4187952" cy="493776"/>
          </a:xfrm>
          <a:prstGeom prst="rect">
            <a:avLst/>
          </a:prstGeom>
          <a:solidFill>
            <a:srgbClr val="EEF6FB"/>
          </a:solidFill>
          <a:ln w="12700">
            <a:solidFill>
              <a:srgbClr val="06D6A0"/>
            </a:solidFill>
            <a:prstDash val="solid"/>
          </a:ln>
        </p:spPr>
        <p:txBody>
          <a:bodyPr/>
          <a:lstStyle/>
          <a:p>
            <a:endParaRPr lang="en-SG"/>
          </a:p>
        </p:txBody>
      </p:sp>
      <p:sp>
        <p:nvSpPr>
          <p:cNvPr id="33" name="Text 31"/>
          <p:cNvSpPr/>
          <p:nvPr/>
        </p:nvSpPr>
        <p:spPr>
          <a:xfrm>
            <a:off x="4791456" y="1856232"/>
            <a:ext cx="365760"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4" name="Text 32"/>
          <p:cNvSpPr/>
          <p:nvPr/>
        </p:nvSpPr>
        <p:spPr>
          <a:xfrm>
            <a:off x="5212080" y="1828800"/>
            <a:ext cx="3657600"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Investigating Officers</a:t>
            </a:r>
            <a:endParaRPr lang="en-US" sz="1000" dirty="0"/>
          </a:p>
        </p:txBody>
      </p:sp>
      <p:sp>
        <p:nvSpPr>
          <p:cNvPr id="35" name="Text 33"/>
          <p:cNvSpPr/>
          <p:nvPr/>
        </p:nvSpPr>
        <p:spPr>
          <a:xfrm>
            <a:off x="5212080" y="2011680"/>
            <a:ext cx="3657600" cy="23774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Clear timeline and evidence summary. What happened? Who did it? When?</a:t>
            </a:r>
            <a:endParaRPr lang="en-US" sz="850" dirty="0"/>
          </a:p>
        </p:txBody>
      </p:sp>
      <p:sp>
        <p:nvSpPr>
          <p:cNvPr id="36" name="Shape 34"/>
          <p:cNvSpPr/>
          <p:nvPr/>
        </p:nvSpPr>
        <p:spPr>
          <a:xfrm>
            <a:off x="4754880" y="2359152"/>
            <a:ext cx="4187952" cy="493776"/>
          </a:xfrm>
          <a:prstGeom prst="rect">
            <a:avLst/>
          </a:prstGeom>
          <a:solidFill>
            <a:srgbClr val="EEF6FB"/>
          </a:solidFill>
          <a:ln w="12700">
            <a:solidFill>
              <a:srgbClr val="06D6A0"/>
            </a:solidFill>
            <a:prstDash val="solid"/>
          </a:ln>
        </p:spPr>
        <p:txBody>
          <a:bodyPr/>
          <a:lstStyle/>
          <a:p>
            <a:endParaRPr lang="en-SG"/>
          </a:p>
        </p:txBody>
      </p:sp>
      <p:sp>
        <p:nvSpPr>
          <p:cNvPr id="37" name="Text 35"/>
          <p:cNvSpPr/>
          <p:nvPr/>
        </p:nvSpPr>
        <p:spPr>
          <a:xfrm>
            <a:off x="4791456" y="2423160"/>
            <a:ext cx="365760"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8" name="Text 36"/>
          <p:cNvSpPr/>
          <p:nvPr/>
        </p:nvSpPr>
        <p:spPr>
          <a:xfrm>
            <a:off x="5212080" y="2395728"/>
            <a:ext cx="3657600"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Prosecuting Counsel (DPP)</a:t>
            </a:r>
            <a:endParaRPr lang="en-US" sz="1000" dirty="0"/>
          </a:p>
        </p:txBody>
      </p:sp>
      <p:sp>
        <p:nvSpPr>
          <p:cNvPr id="39" name="Text 37"/>
          <p:cNvSpPr/>
          <p:nvPr/>
        </p:nvSpPr>
        <p:spPr>
          <a:xfrm>
            <a:off x="5212080" y="2578608"/>
            <a:ext cx="3657600" cy="23774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Legally sound facts they can present in court. No speculative language.</a:t>
            </a:r>
            <a:endParaRPr lang="en-US" sz="850" dirty="0"/>
          </a:p>
        </p:txBody>
      </p:sp>
      <p:sp>
        <p:nvSpPr>
          <p:cNvPr id="40" name="Shape 38"/>
          <p:cNvSpPr/>
          <p:nvPr/>
        </p:nvSpPr>
        <p:spPr>
          <a:xfrm>
            <a:off x="4754880" y="2926080"/>
            <a:ext cx="4187952" cy="493776"/>
          </a:xfrm>
          <a:prstGeom prst="rect">
            <a:avLst/>
          </a:prstGeom>
          <a:solidFill>
            <a:srgbClr val="EEF6FB"/>
          </a:solidFill>
          <a:ln w="12700">
            <a:solidFill>
              <a:srgbClr val="06D6A0"/>
            </a:solidFill>
            <a:prstDash val="solid"/>
          </a:ln>
        </p:spPr>
        <p:txBody>
          <a:bodyPr/>
          <a:lstStyle/>
          <a:p>
            <a:endParaRPr lang="en-SG"/>
          </a:p>
        </p:txBody>
      </p:sp>
      <p:sp>
        <p:nvSpPr>
          <p:cNvPr id="41" name="Text 39"/>
          <p:cNvSpPr/>
          <p:nvPr/>
        </p:nvSpPr>
        <p:spPr>
          <a:xfrm>
            <a:off x="4791456" y="2990088"/>
            <a:ext cx="365760"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2" name="Text 40"/>
          <p:cNvSpPr/>
          <p:nvPr/>
        </p:nvSpPr>
        <p:spPr>
          <a:xfrm>
            <a:off x="5212080" y="2962656"/>
            <a:ext cx="3657600"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Defence Counsel</a:t>
            </a:r>
            <a:endParaRPr lang="en-US" sz="1000" dirty="0"/>
          </a:p>
        </p:txBody>
      </p:sp>
      <p:sp>
        <p:nvSpPr>
          <p:cNvPr id="43" name="Text 41"/>
          <p:cNvSpPr/>
          <p:nvPr/>
        </p:nvSpPr>
        <p:spPr>
          <a:xfrm>
            <a:off x="5212080" y="3145536"/>
            <a:ext cx="3657600" cy="23774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Your report is disclosed to them — they will look for every weakness.</a:t>
            </a:r>
            <a:endParaRPr lang="en-US" sz="850" dirty="0"/>
          </a:p>
        </p:txBody>
      </p:sp>
      <p:sp>
        <p:nvSpPr>
          <p:cNvPr id="44" name="Shape 42"/>
          <p:cNvSpPr/>
          <p:nvPr/>
        </p:nvSpPr>
        <p:spPr>
          <a:xfrm>
            <a:off x="4754880" y="3493008"/>
            <a:ext cx="4187952" cy="493776"/>
          </a:xfrm>
          <a:prstGeom prst="rect">
            <a:avLst/>
          </a:prstGeom>
          <a:solidFill>
            <a:srgbClr val="EEF6FB"/>
          </a:solidFill>
          <a:ln w="12700">
            <a:solidFill>
              <a:srgbClr val="06D6A0"/>
            </a:solidFill>
            <a:prstDash val="solid"/>
          </a:ln>
        </p:spPr>
        <p:txBody>
          <a:bodyPr/>
          <a:lstStyle/>
          <a:p>
            <a:endParaRPr lang="en-SG"/>
          </a:p>
        </p:txBody>
      </p:sp>
      <p:sp>
        <p:nvSpPr>
          <p:cNvPr id="45" name="Text 43"/>
          <p:cNvSpPr/>
          <p:nvPr/>
        </p:nvSpPr>
        <p:spPr>
          <a:xfrm>
            <a:off x="4791456" y="3557016"/>
            <a:ext cx="365760"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6" name="Text 44"/>
          <p:cNvSpPr/>
          <p:nvPr/>
        </p:nvSpPr>
        <p:spPr>
          <a:xfrm>
            <a:off x="5212080" y="3529584"/>
            <a:ext cx="3657600"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Judge &amp; Jury</a:t>
            </a:r>
            <a:endParaRPr lang="en-US" sz="1000" dirty="0"/>
          </a:p>
        </p:txBody>
      </p:sp>
      <p:sp>
        <p:nvSpPr>
          <p:cNvPr id="47" name="Text 45"/>
          <p:cNvSpPr/>
          <p:nvPr/>
        </p:nvSpPr>
        <p:spPr>
          <a:xfrm>
            <a:off x="5212080" y="3712464"/>
            <a:ext cx="3657600" cy="23774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Plain language. No jargon. Analogies welcome. Conclusions clearly stated.</a:t>
            </a:r>
            <a:endParaRPr lang="en-US" sz="850" dirty="0"/>
          </a:p>
        </p:txBody>
      </p:sp>
      <p:sp>
        <p:nvSpPr>
          <p:cNvPr id="48" name="Shape 46"/>
          <p:cNvSpPr/>
          <p:nvPr/>
        </p:nvSpPr>
        <p:spPr>
          <a:xfrm>
            <a:off x="4754880" y="4059936"/>
            <a:ext cx="4187952" cy="493776"/>
          </a:xfrm>
          <a:prstGeom prst="rect">
            <a:avLst/>
          </a:prstGeom>
          <a:solidFill>
            <a:srgbClr val="EEF6FB"/>
          </a:solidFill>
          <a:ln w="12700">
            <a:solidFill>
              <a:srgbClr val="06D6A0"/>
            </a:solidFill>
            <a:prstDash val="solid"/>
          </a:ln>
        </p:spPr>
        <p:txBody>
          <a:bodyPr/>
          <a:lstStyle/>
          <a:p>
            <a:endParaRPr lang="en-SG"/>
          </a:p>
        </p:txBody>
      </p:sp>
      <p:sp>
        <p:nvSpPr>
          <p:cNvPr id="49" name="Text 47"/>
          <p:cNvSpPr/>
          <p:nvPr/>
        </p:nvSpPr>
        <p:spPr>
          <a:xfrm>
            <a:off x="4791456" y="4123944"/>
            <a:ext cx="365760" cy="329184"/>
          </a:xfrm>
          <a:prstGeom prst="rect">
            <a:avLst/>
          </a:prstGeom>
          <a:noFill/>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50" name="Text 48"/>
          <p:cNvSpPr/>
          <p:nvPr/>
        </p:nvSpPr>
        <p:spPr>
          <a:xfrm>
            <a:off x="5212080" y="4096512"/>
            <a:ext cx="3657600" cy="182880"/>
          </a:xfrm>
          <a:prstGeom prst="rect">
            <a:avLst/>
          </a:prstGeom>
          <a:noFill/>
        </p:spPr>
        <p:txBody>
          <a:bodyPr wrap="square" lIns="0" tIns="0" rIns="0" bIns="0" rtlCol="0" anchor="ctr"/>
          <a:lstStyle/>
          <a:p>
            <a:pPr marL="0" indent="0">
              <a:buNone/>
            </a:pPr>
            <a:r>
              <a:rPr lang="en-US" sz="10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Instructing Party / CISO</a:t>
            </a:r>
            <a:endParaRPr lang="en-US" sz="1000" dirty="0"/>
          </a:p>
        </p:txBody>
      </p:sp>
      <p:sp>
        <p:nvSpPr>
          <p:cNvPr id="51" name="Text 49"/>
          <p:cNvSpPr/>
          <p:nvPr/>
        </p:nvSpPr>
        <p:spPr>
          <a:xfrm>
            <a:off x="5212080" y="4279392"/>
            <a:ext cx="3657600" cy="23774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Executive summary. Business impact. Recommendations to prevent recurrence.</a:t>
            </a:r>
            <a:endParaRPr lang="en-US" sz="850" dirty="0"/>
          </a:p>
        </p:txBody>
      </p:sp>
      <p:sp>
        <p:nvSpPr>
          <p:cNvPr id="53" name="Text 51"/>
          <p:cNvSpPr/>
          <p:nvPr/>
        </p:nvSpPr>
        <p:spPr>
          <a:xfrm>
            <a:off x="182880" y="4764024"/>
            <a:ext cx="8778240" cy="91440"/>
          </a:xfrm>
          <a:prstGeom prst="rect">
            <a:avLst/>
          </a:prstGeom>
          <a:noFill/>
        </p:spPr>
        <p:txBody>
          <a:bodyPr wrap="square" rtlCol="0" anchor="ctr"/>
          <a:lstStyle/>
          <a:p>
            <a:pPr marL="0" indent="0">
              <a:buNone/>
            </a:pPr>
            <a:r>
              <a:rPr lang="en-US" sz="900" b="1" i="1" dirty="0">
                <a:solidFill>
                  <a:srgbClr val="1A1A2E"/>
                </a:solidFill>
                <a:latin typeface="Calibri" panose="020F0502020204030204" pitchFamily="34" charset="0"/>
                <a:ea typeface="Calibri" panose="020F0502020204030204" pitchFamily="34" charset="-122"/>
                <a:cs typeface="Calibri" panose="020F0502020204030204" pitchFamily="34" charset="-120"/>
              </a:rPr>
              <a:t>Every examiner's reputation, and the integrity of the justice system, rests on the quality of their written report.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5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06 — Reporting: Forensic Report Sections (Part 1 of 2)</a:t>
            </a:r>
            <a:endParaRPr lang="en-US" sz="1500" dirty="0"/>
          </a:p>
        </p:txBody>
      </p:sp>
      <p:sp>
        <p:nvSpPr>
          <p:cNvPr id="6" name="Shape 4"/>
          <p:cNvSpPr/>
          <p:nvPr/>
        </p:nvSpPr>
        <p:spPr>
          <a:xfrm>
            <a:off x="109728" y="822960"/>
            <a:ext cx="8924544" cy="329184"/>
          </a:xfrm>
          <a:prstGeom prst="rect">
            <a:avLst/>
          </a:prstGeom>
          <a:solidFill>
            <a:srgbClr val="EEF6FB"/>
          </a:solidFill>
          <a:ln w="12700">
            <a:solidFill>
              <a:srgbClr val="2E4068"/>
            </a:solidFill>
            <a:prstDash val="solid"/>
          </a:ln>
        </p:spPr>
        <p:txBody>
          <a:bodyPr/>
          <a:lstStyle/>
          <a:p>
            <a:endParaRPr lang="en-SG"/>
          </a:p>
        </p:txBody>
      </p:sp>
      <p:sp>
        <p:nvSpPr>
          <p:cNvPr id="7" name="Text 5"/>
          <p:cNvSpPr/>
          <p:nvPr/>
        </p:nvSpPr>
        <p:spPr>
          <a:xfrm>
            <a:off x="219456" y="868680"/>
            <a:ext cx="8705088" cy="237744"/>
          </a:xfrm>
          <a:prstGeom prst="rect">
            <a:avLst/>
          </a:prstGeom>
          <a:noFill/>
        </p:spPr>
        <p:txBody>
          <a:bodyPr wrap="square" rtlCol="0" anchor="ctr"/>
          <a:lstStyle/>
          <a:p>
            <a:pPr marL="0" indent="0">
              <a:buNone/>
            </a:pPr>
            <a:r>
              <a:rPr lang="en-US" sz="950" i="1" dirty="0">
                <a:solidFill>
                  <a:srgbClr val="1A1A2E"/>
                </a:solidFill>
                <a:latin typeface="Calibri" panose="020F0502020204030204" pitchFamily="34" charset="0"/>
                <a:ea typeface="Calibri" panose="020F0502020204030204" pitchFamily="34" charset="-122"/>
                <a:cs typeface="Calibri" panose="020F0502020204030204" pitchFamily="34" charset="-120"/>
              </a:rPr>
              <a:t>A well-structured forensic report has seven clearly defined sections. This slide covers Sections 01–04. Each section serves a distinct audience and purpose.</a:t>
            </a:r>
            <a:endParaRPr lang="en-US" sz="950" dirty="0"/>
          </a:p>
        </p:txBody>
      </p:sp>
      <p:sp>
        <p:nvSpPr>
          <p:cNvPr id="8" name="Shape 6"/>
          <p:cNvSpPr/>
          <p:nvPr/>
        </p:nvSpPr>
        <p:spPr>
          <a:xfrm>
            <a:off x="109728" y="1207008"/>
            <a:ext cx="1170432" cy="219456"/>
          </a:xfrm>
          <a:prstGeom prst="rect">
            <a:avLst/>
          </a:prstGeom>
          <a:solidFill>
            <a:srgbClr val="9B5DE5"/>
          </a:solidFill>
          <a:ln w="12700">
            <a:solidFill>
              <a:srgbClr val="9B5DE5"/>
            </a:solidFill>
            <a:prstDash val="solid"/>
          </a:ln>
        </p:spPr>
        <p:txBody>
          <a:bodyPr/>
          <a:lstStyle/>
          <a:p>
            <a:endParaRPr lang="en-SG"/>
          </a:p>
        </p:txBody>
      </p:sp>
      <p:sp>
        <p:nvSpPr>
          <p:cNvPr id="9" name="Text 7"/>
          <p:cNvSpPr/>
          <p:nvPr/>
        </p:nvSpPr>
        <p:spPr>
          <a:xfrm>
            <a:off x="109728" y="1225296"/>
            <a:ext cx="1170432" cy="164592"/>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00" dirty="0"/>
          </a:p>
        </p:txBody>
      </p:sp>
      <p:sp>
        <p:nvSpPr>
          <p:cNvPr id="10" name="Shape 8"/>
          <p:cNvSpPr/>
          <p:nvPr/>
        </p:nvSpPr>
        <p:spPr>
          <a:xfrm>
            <a:off x="1380744" y="1207008"/>
            <a:ext cx="1170432" cy="219456"/>
          </a:xfrm>
          <a:prstGeom prst="rect">
            <a:avLst/>
          </a:prstGeom>
          <a:solidFill>
            <a:srgbClr val="9B5DE5"/>
          </a:solidFill>
          <a:ln w="12700">
            <a:solidFill>
              <a:srgbClr val="9B5DE5"/>
            </a:solidFill>
            <a:prstDash val="solid"/>
          </a:ln>
        </p:spPr>
        <p:txBody>
          <a:bodyPr/>
          <a:lstStyle/>
          <a:p>
            <a:endParaRPr lang="en-SG"/>
          </a:p>
        </p:txBody>
      </p:sp>
      <p:sp>
        <p:nvSpPr>
          <p:cNvPr id="11" name="Text 9"/>
          <p:cNvSpPr/>
          <p:nvPr/>
        </p:nvSpPr>
        <p:spPr>
          <a:xfrm>
            <a:off x="1380744" y="1225296"/>
            <a:ext cx="1170432" cy="164592"/>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00" dirty="0"/>
          </a:p>
        </p:txBody>
      </p:sp>
      <p:sp>
        <p:nvSpPr>
          <p:cNvPr id="12" name="Shape 10"/>
          <p:cNvSpPr/>
          <p:nvPr/>
        </p:nvSpPr>
        <p:spPr>
          <a:xfrm>
            <a:off x="2651760" y="1207008"/>
            <a:ext cx="1170432" cy="219456"/>
          </a:xfrm>
          <a:prstGeom prst="rect">
            <a:avLst/>
          </a:prstGeom>
          <a:solidFill>
            <a:srgbClr val="9B5DE5"/>
          </a:solidFill>
          <a:ln w="12700">
            <a:solidFill>
              <a:srgbClr val="9B5DE5"/>
            </a:solidFill>
            <a:prstDash val="solid"/>
          </a:ln>
        </p:spPr>
        <p:txBody>
          <a:bodyPr/>
          <a:lstStyle/>
          <a:p>
            <a:endParaRPr lang="en-SG"/>
          </a:p>
        </p:txBody>
      </p:sp>
      <p:sp>
        <p:nvSpPr>
          <p:cNvPr id="13" name="Text 11"/>
          <p:cNvSpPr/>
          <p:nvPr/>
        </p:nvSpPr>
        <p:spPr>
          <a:xfrm>
            <a:off x="2651760" y="1225296"/>
            <a:ext cx="1170432" cy="164592"/>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00" dirty="0"/>
          </a:p>
        </p:txBody>
      </p:sp>
      <p:sp>
        <p:nvSpPr>
          <p:cNvPr id="14" name="Shape 12"/>
          <p:cNvSpPr/>
          <p:nvPr/>
        </p:nvSpPr>
        <p:spPr>
          <a:xfrm>
            <a:off x="3922776" y="1207008"/>
            <a:ext cx="1170432" cy="219456"/>
          </a:xfrm>
          <a:prstGeom prst="rect">
            <a:avLst/>
          </a:prstGeom>
          <a:solidFill>
            <a:srgbClr val="9B5DE5"/>
          </a:solidFill>
          <a:ln w="12700">
            <a:solidFill>
              <a:srgbClr val="9B5DE5"/>
            </a:solidFill>
            <a:prstDash val="solid"/>
          </a:ln>
        </p:spPr>
        <p:txBody>
          <a:bodyPr/>
          <a:lstStyle/>
          <a:p>
            <a:endParaRPr lang="en-SG"/>
          </a:p>
        </p:txBody>
      </p:sp>
      <p:sp>
        <p:nvSpPr>
          <p:cNvPr id="15" name="Text 13"/>
          <p:cNvSpPr/>
          <p:nvPr/>
        </p:nvSpPr>
        <p:spPr>
          <a:xfrm>
            <a:off x="3922776" y="1225296"/>
            <a:ext cx="1170432" cy="164592"/>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00" dirty="0"/>
          </a:p>
        </p:txBody>
      </p:sp>
      <p:sp>
        <p:nvSpPr>
          <p:cNvPr id="16" name="Shape 14"/>
          <p:cNvSpPr/>
          <p:nvPr/>
        </p:nvSpPr>
        <p:spPr>
          <a:xfrm>
            <a:off x="5193792" y="1207008"/>
            <a:ext cx="1170432" cy="219456"/>
          </a:xfrm>
          <a:prstGeom prst="rect">
            <a:avLst/>
          </a:prstGeom>
          <a:solidFill>
            <a:srgbClr val="EEF6FB"/>
          </a:solidFill>
          <a:ln w="12700">
            <a:solidFill>
              <a:srgbClr val="9B5DE5"/>
            </a:solidFill>
            <a:prstDash val="solid"/>
          </a:ln>
        </p:spPr>
        <p:txBody>
          <a:bodyPr/>
          <a:lstStyle/>
          <a:p>
            <a:endParaRPr lang="en-SG"/>
          </a:p>
        </p:txBody>
      </p:sp>
      <p:sp>
        <p:nvSpPr>
          <p:cNvPr id="17" name="Text 15"/>
          <p:cNvSpPr/>
          <p:nvPr/>
        </p:nvSpPr>
        <p:spPr>
          <a:xfrm>
            <a:off x="5193792" y="1225296"/>
            <a:ext cx="1170432" cy="164592"/>
          </a:xfrm>
          <a:prstGeom prst="rect">
            <a:avLst/>
          </a:prstGeom>
          <a:noFill/>
        </p:spPr>
        <p:txBody>
          <a:bodyPr wrap="square" lIns="0" tIns="0" rIns="0" bIns="0" rtlCol="0" anchor="ctr"/>
          <a:lstStyle/>
          <a:p>
            <a:pPr marL="0" indent="0" algn="ctr">
              <a:buNone/>
            </a:pPr>
            <a:r>
              <a:rPr lang="en-US" sz="8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00" dirty="0"/>
          </a:p>
        </p:txBody>
      </p:sp>
      <p:sp>
        <p:nvSpPr>
          <p:cNvPr id="18" name="Shape 16"/>
          <p:cNvSpPr/>
          <p:nvPr/>
        </p:nvSpPr>
        <p:spPr>
          <a:xfrm>
            <a:off x="6464808" y="1207008"/>
            <a:ext cx="1170432" cy="219456"/>
          </a:xfrm>
          <a:prstGeom prst="rect">
            <a:avLst/>
          </a:prstGeom>
          <a:solidFill>
            <a:srgbClr val="EEF6FB"/>
          </a:solidFill>
          <a:ln w="12700">
            <a:solidFill>
              <a:srgbClr val="9B5DE5"/>
            </a:solidFill>
            <a:prstDash val="solid"/>
          </a:ln>
        </p:spPr>
        <p:txBody>
          <a:bodyPr/>
          <a:lstStyle/>
          <a:p>
            <a:endParaRPr lang="en-SG"/>
          </a:p>
        </p:txBody>
      </p:sp>
      <p:sp>
        <p:nvSpPr>
          <p:cNvPr id="19" name="Text 17"/>
          <p:cNvSpPr/>
          <p:nvPr/>
        </p:nvSpPr>
        <p:spPr>
          <a:xfrm>
            <a:off x="6464808" y="1225296"/>
            <a:ext cx="1170432" cy="164592"/>
          </a:xfrm>
          <a:prstGeom prst="rect">
            <a:avLst/>
          </a:prstGeom>
          <a:noFill/>
        </p:spPr>
        <p:txBody>
          <a:bodyPr wrap="square" lIns="0" tIns="0" rIns="0" bIns="0" rtlCol="0" anchor="ctr"/>
          <a:lstStyle/>
          <a:p>
            <a:pPr marL="0" indent="0" algn="ctr">
              <a:buNone/>
            </a:pPr>
            <a:r>
              <a:rPr lang="en-US" sz="8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00" dirty="0"/>
          </a:p>
        </p:txBody>
      </p:sp>
      <p:sp>
        <p:nvSpPr>
          <p:cNvPr id="20" name="Shape 18"/>
          <p:cNvSpPr/>
          <p:nvPr/>
        </p:nvSpPr>
        <p:spPr>
          <a:xfrm>
            <a:off x="7735824" y="1207008"/>
            <a:ext cx="1170432" cy="219456"/>
          </a:xfrm>
          <a:prstGeom prst="rect">
            <a:avLst/>
          </a:prstGeom>
          <a:solidFill>
            <a:srgbClr val="EEF6FB"/>
          </a:solidFill>
          <a:ln w="12700">
            <a:solidFill>
              <a:srgbClr val="9B5DE5"/>
            </a:solidFill>
            <a:prstDash val="solid"/>
          </a:ln>
        </p:spPr>
        <p:txBody>
          <a:bodyPr/>
          <a:lstStyle/>
          <a:p>
            <a:endParaRPr lang="en-SG"/>
          </a:p>
        </p:txBody>
      </p:sp>
      <p:sp>
        <p:nvSpPr>
          <p:cNvPr id="21" name="Text 19"/>
          <p:cNvSpPr/>
          <p:nvPr/>
        </p:nvSpPr>
        <p:spPr>
          <a:xfrm>
            <a:off x="7735824" y="1225296"/>
            <a:ext cx="1170432" cy="164592"/>
          </a:xfrm>
          <a:prstGeom prst="rect">
            <a:avLst/>
          </a:prstGeom>
          <a:noFill/>
        </p:spPr>
        <p:txBody>
          <a:bodyPr wrap="square" lIns="0" tIns="0" rIns="0" bIns="0" rtlCol="0" anchor="ctr"/>
          <a:lstStyle/>
          <a:p>
            <a:pPr marL="0" indent="0" algn="ctr">
              <a:buNone/>
            </a:pPr>
            <a:r>
              <a:rPr lang="en-US" sz="8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07</a:t>
            </a:r>
            <a:endParaRPr lang="en-US" sz="800" dirty="0"/>
          </a:p>
        </p:txBody>
      </p:sp>
      <p:sp>
        <p:nvSpPr>
          <p:cNvPr id="22" name="Text 20"/>
          <p:cNvSpPr/>
          <p:nvPr/>
        </p:nvSpPr>
        <p:spPr>
          <a:xfrm>
            <a:off x="109728" y="1444752"/>
            <a:ext cx="5084064" cy="164592"/>
          </a:xfrm>
          <a:prstGeom prst="rect">
            <a:avLst/>
          </a:prstGeom>
          <a:noFill/>
        </p:spPr>
        <p:txBody>
          <a:bodyPr wrap="square" rtlCol="0" anchor="ctr"/>
          <a:lstStyle/>
          <a:p>
            <a:pPr marL="0" indent="0">
              <a:buNone/>
            </a:pPr>
            <a:r>
              <a:rPr lang="en-US" sz="800" i="1" dirty="0">
                <a:solidFill>
                  <a:srgbClr val="9B5DE5"/>
                </a:solidFill>
                <a:latin typeface="Calibri" panose="020F0502020204030204" pitchFamily="34" charset="0"/>
                <a:ea typeface="Calibri" panose="020F0502020204030204" pitchFamily="34" charset="-122"/>
                <a:cs typeface="Calibri" panose="020F0502020204030204" pitchFamily="34" charset="-120"/>
              </a:rPr>
              <a:t>← Covered on this slide</a:t>
            </a:r>
            <a:endParaRPr lang="en-US" sz="800" dirty="0"/>
          </a:p>
        </p:txBody>
      </p:sp>
      <p:sp>
        <p:nvSpPr>
          <p:cNvPr id="23" name="Text 21"/>
          <p:cNvSpPr/>
          <p:nvPr/>
        </p:nvSpPr>
        <p:spPr>
          <a:xfrm>
            <a:off x="5687568" y="1444752"/>
            <a:ext cx="3346704" cy="164592"/>
          </a:xfrm>
          <a:prstGeom prst="rect">
            <a:avLst/>
          </a:prstGeom>
          <a:noFill/>
        </p:spPr>
        <p:txBody>
          <a:bodyPr wrap="square" rtlCol="0" anchor="ctr"/>
          <a:lstStyle/>
          <a:p>
            <a:pPr marL="0" indent="0" algn="r">
              <a:buNone/>
            </a:pPr>
            <a:r>
              <a:rPr lang="en-US" sz="800" i="1" dirty="0">
                <a:solidFill>
                  <a:srgbClr val="475569"/>
                </a:solidFill>
                <a:latin typeface="Calibri" panose="020F0502020204030204" pitchFamily="34" charset="0"/>
                <a:ea typeface="Calibri" panose="020F0502020204030204" pitchFamily="34" charset="-122"/>
                <a:cs typeface="Calibri" panose="020F0502020204030204" pitchFamily="34" charset="-120"/>
              </a:rPr>
              <a:t>Continued on next slide →</a:t>
            </a:r>
            <a:endParaRPr lang="en-US" sz="800" dirty="0"/>
          </a:p>
        </p:txBody>
      </p:sp>
      <p:sp>
        <p:nvSpPr>
          <p:cNvPr id="24" name="Shape 22"/>
          <p:cNvSpPr/>
          <p:nvPr/>
        </p:nvSpPr>
        <p:spPr>
          <a:xfrm>
            <a:off x="109728" y="1664208"/>
            <a:ext cx="8924544" cy="475488"/>
          </a:xfrm>
          <a:prstGeom prst="rect">
            <a:avLst/>
          </a:prstGeom>
          <a:solidFill>
            <a:srgbClr val="EEF6FB"/>
          </a:solidFill>
          <a:ln w="12700">
            <a:solidFill>
              <a:srgbClr val="9B5DE5"/>
            </a:solidFill>
            <a:prstDash val="solid"/>
          </a:ln>
        </p:spPr>
        <p:txBody>
          <a:bodyPr/>
          <a:lstStyle/>
          <a:p>
            <a:endParaRPr lang="en-SG"/>
          </a:p>
        </p:txBody>
      </p:sp>
      <p:sp>
        <p:nvSpPr>
          <p:cNvPr id="25" name="Shape 23"/>
          <p:cNvSpPr/>
          <p:nvPr/>
        </p:nvSpPr>
        <p:spPr>
          <a:xfrm>
            <a:off x="182880" y="1755648"/>
            <a:ext cx="310896" cy="310896"/>
          </a:xfrm>
          <a:prstGeom prst="ellipse">
            <a:avLst/>
          </a:prstGeom>
          <a:solidFill>
            <a:srgbClr val="9B5DE5"/>
          </a:solidFill>
          <a:ln w="12700">
            <a:solidFill>
              <a:srgbClr val="9B5DE5"/>
            </a:solidFill>
            <a:prstDash val="solid"/>
          </a:ln>
        </p:spPr>
        <p:txBody>
          <a:bodyPr/>
          <a:lstStyle/>
          <a:p>
            <a:endParaRPr lang="en-SG"/>
          </a:p>
        </p:txBody>
      </p:sp>
      <p:sp>
        <p:nvSpPr>
          <p:cNvPr id="26" name="Text 24"/>
          <p:cNvSpPr/>
          <p:nvPr/>
        </p:nvSpPr>
        <p:spPr>
          <a:xfrm>
            <a:off x="182880" y="1792224"/>
            <a:ext cx="310896" cy="201168"/>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00" dirty="0"/>
          </a:p>
        </p:txBody>
      </p:sp>
      <p:sp>
        <p:nvSpPr>
          <p:cNvPr id="27" name="Text 25"/>
          <p:cNvSpPr/>
          <p:nvPr/>
        </p:nvSpPr>
        <p:spPr>
          <a:xfrm>
            <a:off x="585216" y="1719072"/>
            <a:ext cx="2103120" cy="237744"/>
          </a:xfrm>
          <a:prstGeom prst="rect">
            <a:avLst/>
          </a:prstGeom>
          <a:noFill/>
        </p:spPr>
        <p:txBody>
          <a:bodyPr wrap="square" lIns="0" tIns="0" rIns="0" bIns="0" rtlCol="0" anchor="ctr"/>
          <a:lstStyle/>
          <a:p>
            <a:pPr marL="0" indent="0">
              <a:buNone/>
            </a:pPr>
            <a:r>
              <a:rPr lang="en-US" sz="11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Executive Summary</a:t>
            </a:r>
            <a:endParaRPr lang="en-US" sz="1100" dirty="0"/>
          </a:p>
        </p:txBody>
      </p:sp>
      <p:sp>
        <p:nvSpPr>
          <p:cNvPr id="28" name="Text 26"/>
          <p:cNvSpPr/>
          <p:nvPr/>
        </p:nvSpPr>
        <p:spPr>
          <a:xfrm>
            <a:off x="2816352" y="1709928"/>
            <a:ext cx="6089904" cy="36576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Brief non-technical overview for legal counsel, management, and the court. States the scope of the examination, key findings, and the main conclusion in plain language. Written last — after all findings are complete.</a:t>
            </a:r>
            <a:endParaRPr lang="en-US" sz="900" dirty="0"/>
          </a:p>
        </p:txBody>
      </p:sp>
      <p:sp>
        <p:nvSpPr>
          <p:cNvPr id="29" name="Shape 27"/>
          <p:cNvSpPr/>
          <p:nvPr/>
        </p:nvSpPr>
        <p:spPr>
          <a:xfrm>
            <a:off x="109728" y="2194560"/>
            <a:ext cx="8924544" cy="475488"/>
          </a:xfrm>
          <a:prstGeom prst="rect">
            <a:avLst/>
          </a:prstGeom>
          <a:solidFill>
            <a:srgbClr val="EEF6FB"/>
          </a:solidFill>
          <a:ln w="12700">
            <a:solidFill>
              <a:srgbClr val="9B5DE5"/>
            </a:solidFill>
            <a:prstDash val="solid"/>
          </a:ln>
        </p:spPr>
        <p:txBody>
          <a:bodyPr/>
          <a:lstStyle/>
          <a:p>
            <a:endParaRPr lang="en-SG"/>
          </a:p>
        </p:txBody>
      </p:sp>
      <p:sp>
        <p:nvSpPr>
          <p:cNvPr id="30" name="Shape 28"/>
          <p:cNvSpPr/>
          <p:nvPr/>
        </p:nvSpPr>
        <p:spPr>
          <a:xfrm>
            <a:off x="182880" y="2286000"/>
            <a:ext cx="310896" cy="310896"/>
          </a:xfrm>
          <a:prstGeom prst="ellipse">
            <a:avLst/>
          </a:prstGeom>
          <a:solidFill>
            <a:srgbClr val="9B5DE5"/>
          </a:solidFill>
          <a:ln w="12700">
            <a:solidFill>
              <a:srgbClr val="9B5DE5"/>
            </a:solidFill>
            <a:prstDash val="solid"/>
          </a:ln>
        </p:spPr>
        <p:txBody>
          <a:bodyPr/>
          <a:lstStyle/>
          <a:p>
            <a:endParaRPr lang="en-SG"/>
          </a:p>
        </p:txBody>
      </p:sp>
      <p:sp>
        <p:nvSpPr>
          <p:cNvPr id="31" name="Text 29"/>
          <p:cNvSpPr/>
          <p:nvPr/>
        </p:nvSpPr>
        <p:spPr>
          <a:xfrm>
            <a:off x="182880" y="2322576"/>
            <a:ext cx="310896" cy="201168"/>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00" dirty="0"/>
          </a:p>
        </p:txBody>
      </p:sp>
      <p:sp>
        <p:nvSpPr>
          <p:cNvPr id="32" name="Text 30"/>
          <p:cNvSpPr/>
          <p:nvPr/>
        </p:nvSpPr>
        <p:spPr>
          <a:xfrm>
            <a:off x="585216" y="2249424"/>
            <a:ext cx="2103120" cy="237744"/>
          </a:xfrm>
          <a:prstGeom prst="rect">
            <a:avLst/>
          </a:prstGeom>
          <a:noFill/>
        </p:spPr>
        <p:txBody>
          <a:bodyPr wrap="square" lIns="0" tIns="0" rIns="0" bIns="0" rtlCol="0" anchor="ctr"/>
          <a:lstStyle/>
          <a:p>
            <a:pPr marL="0" indent="0">
              <a:buNone/>
            </a:pPr>
            <a:r>
              <a:rPr lang="en-US" sz="11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Case Background</a:t>
            </a:r>
            <a:endParaRPr lang="en-US" sz="1100" dirty="0"/>
          </a:p>
        </p:txBody>
      </p:sp>
      <p:sp>
        <p:nvSpPr>
          <p:cNvPr id="33" name="Text 31"/>
          <p:cNvSpPr/>
          <p:nvPr/>
        </p:nvSpPr>
        <p:spPr>
          <a:xfrm>
            <a:off x="2816352" y="2240280"/>
            <a:ext cx="6089904" cy="36576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Case reference number, instructing party, date evidence received, and the legal authority (warrant number / court order). Establishes jurisdiction, chain of authority, and the specific questions the examiner was asked to address.</a:t>
            </a:r>
            <a:endParaRPr lang="en-US" sz="900" dirty="0"/>
          </a:p>
        </p:txBody>
      </p:sp>
      <p:sp>
        <p:nvSpPr>
          <p:cNvPr id="34" name="Shape 32"/>
          <p:cNvSpPr/>
          <p:nvPr/>
        </p:nvSpPr>
        <p:spPr>
          <a:xfrm>
            <a:off x="109728" y="2724912"/>
            <a:ext cx="8924544" cy="475488"/>
          </a:xfrm>
          <a:prstGeom prst="rect">
            <a:avLst/>
          </a:prstGeom>
          <a:solidFill>
            <a:srgbClr val="EEF6FB"/>
          </a:solidFill>
          <a:ln w="12700">
            <a:solidFill>
              <a:srgbClr val="9B5DE5"/>
            </a:solidFill>
            <a:prstDash val="solid"/>
          </a:ln>
        </p:spPr>
        <p:txBody>
          <a:bodyPr/>
          <a:lstStyle/>
          <a:p>
            <a:endParaRPr lang="en-SG"/>
          </a:p>
        </p:txBody>
      </p:sp>
      <p:sp>
        <p:nvSpPr>
          <p:cNvPr id="35" name="Shape 33"/>
          <p:cNvSpPr/>
          <p:nvPr/>
        </p:nvSpPr>
        <p:spPr>
          <a:xfrm>
            <a:off x="182880" y="2816352"/>
            <a:ext cx="310896" cy="310896"/>
          </a:xfrm>
          <a:prstGeom prst="ellipse">
            <a:avLst/>
          </a:prstGeom>
          <a:solidFill>
            <a:srgbClr val="9B5DE5"/>
          </a:solidFill>
          <a:ln w="12700">
            <a:solidFill>
              <a:srgbClr val="9B5DE5"/>
            </a:solidFill>
            <a:prstDash val="solid"/>
          </a:ln>
        </p:spPr>
        <p:txBody>
          <a:bodyPr/>
          <a:lstStyle/>
          <a:p>
            <a:endParaRPr lang="en-SG"/>
          </a:p>
        </p:txBody>
      </p:sp>
      <p:sp>
        <p:nvSpPr>
          <p:cNvPr id="36" name="Text 34"/>
          <p:cNvSpPr/>
          <p:nvPr/>
        </p:nvSpPr>
        <p:spPr>
          <a:xfrm>
            <a:off x="182880" y="2852928"/>
            <a:ext cx="310896" cy="201168"/>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00" dirty="0"/>
          </a:p>
        </p:txBody>
      </p:sp>
      <p:sp>
        <p:nvSpPr>
          <p:cNvPr id="37" name="Text 35"/>
          <p:cNvSpPr/>
          <p:nvPr/>
        </p:nvSpPr>
        <p:spPr>
          <a:xfrm>
            <a:off x="585216" y="2779776"/>
            <a:ext cx="2103120" cy="237744"/>
          </a:xfrm>
          <a:prstGeom prst="rect">
            <a:avLst/>
          </a:prstGeom>
          <a:noFill/>
        </p:spPr>
        <p:txBody>
          <a:bodyPr wrap="square" lIns="0" tIns="0" rIns="0" bIns="0" rtlCol="0" anchor="ctr"/>
          <a:lstStyle/>
          <a:p>
            <a:pPr marL="0" indent="0">
              <a:buNone/>
            </a:pPr>
            <a:r>
              <a:rPr lang="en-US" sz="11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Methodology</a:t>
            </a:r>
            <a:endParaRPr lang="en-US" sz="1100" dirty="0"/>
          </a:p>
        </p:txBody>
      </p:sp>
      <p:sp>
        <p:nvSpPr>
          <p:cNvPr id="38" name="Text 36"/>
          <p:cNvSpPr/>
          <p:nvPr/>
        </p:nvSpPr>
        <p:spPr>
          <a:xfrm>
            <a:off x="2816352" y="2770632"/>
            <a:ext cx="6089904" cy="36576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Tools used (name, version, SHA-256 hash of the tool binary), acquisition method, hash verification records, and the examination environment (hardware specs, OS version, tool settings). Must be detailed enough for another examiner to replicate exactly.</a:t>
            </a:r>
            <a:endParaRPr lang="en-US" sz="900" dirty="0"/>
          </a:p>
        </p:txBody>
      </p:sp>
      <p:sp>
        <p:nvSpPr>
          <p:cNvPr id="39" name="Shape 37"/>
          <p:cNvSpPr/>
          <p:nvPr/>
        </p:nvSpPr>
        <p:spPr>
          <a:xfrm>
            <a:off x="109728" y="3255264"/>
            <a:ext cx="8924544" cy="1324238"/>
          </a:xfrm>
          <a:prstGeom prst="rect">
            <a:avLst/>
          </a:prstGeom>
          <a:solidFill>
            <a:srgbClr val="9B5DE5"/>
          </a:solidFill>
          <a:ln w="12700">
            <a:solidFill>
              <a:srgbClr val="9B5DE5"/>
            </a:solidFill>
            <a:prstDash val="solid"/>
          </a:ln>
        </p:spPr>
        <p:txBody>
          <a:bodyPr/>
          <a:lstStyle/>
          <a:p>
            <a:endParaRPr lang="en-SG"/>
          </a:p>
        </p:txBody>
      </p:sp>
      <p:sp>
        <p:nvSpPr>
          <p:cNvPr id="40" name="Shape 38"/>
          <p:cNvSpPr/>
          <p:nvPr/>
        </p:nvSpPr>
        <p:spPr>
          <a:xfrm>
            <a:off x="182880" y="3346704"/>
            <a:ext cx="310896" cy="310896"/>
          </a:xfrm>
          <a:prstGeom prst="ellipse">
            <a:avLst/>
          </a:prstGeom>
          <a:solidFill>
            <a:srgbClr val="FFFFFF"/>
          </a:solidFill>
          <a:ln w="12700">
            <a:solidFill>
              <a:srgbClr val="FFFFFF"/>
            </a:solidFill>
            <a:prstDash val="solid"/>
          </a:ln>
        </p:spPr>
        <p:txBody>
          <a:bodyPr/>
          <a:lstStyle/>
          <a:p>
            <a:endParaRPr lang="en-SG"/>
          </a:p>
        </p:txBody>
      </p:sp>
      <p:sp>
        <p:nvSpPr>
          <p:cNvPr id="41" name="Text 39"/>
          <p:cNvSpPr/>
          <p:nvPr/>
        </p:nvSpPr>
        <p:spPr>
          <a:xfrm>
            <a:off x="182880" y="3383280"/>
            <a:ext cx="310896" cy="201168"/>
          </a:xfrm>
          <a:prstGeom prst="rect">
            <a:avLst/>
          </a:prstGeom>
          <a:noFill/>
        </p:spPr>
        <p:txBody>
          <a:bodyPr wrap="square" lIns="0" tIns="0" rIns="0" bIns="0" rtlCol="0" anchor="ctr"/>
          <a:lstStyle/>
          <a:p>
            <a:pPr marL="0" indent="0" algn="ctr">
              <a:buNone/>
            </a:pPr>
            <a:r>
              <a:rPr lang="en-US" sz="8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00" dirty="0"/>
          </a:p>
        </p:txBody>
      </p:sp>
      <p:sp>
        <p:nvSpPr>
          <p:cNvPr id="42" name="Text 40"/>
          <p:cNvSpPr/>
          <p:nvPr/>
        </p:nvSpPr>
        <p:spPr>
          <a:xfrm>
            <a:off x="585216" y="3310128"/>
            <a:ext cx="8229600" cy="237744"/>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Findings — The Core of the Report</a:t>
            </a:r>
            <a:endParaRPr lang="en-US" sz="1300" dirty="0"/>
          </a:p>
        </p:txBody>
      </p:sp>
      <p:sp>
        <p:nvSpPr>
          <p:cNvPr id="43" name="Text 41"/>
          <p:cNvSpPr/>
          <p:nvPr/>
        </p:nvSpPr>
        <p:spPr>
          <a:xfrm>
            <a:off x="585216" y="3547872"/>
            <a:ext cx="8302752" cy="201168"/>
          </a:xfrm>
          <a:prstGeom prst="rect">
            <a:avLst/>
          </a:prstGeom>
          <a:noFill/>
        </p:spPr>
        <p:txBody>
          <a:bodyPr wrap="square" rtlCol="0" anchor="ctr"/>
          <a:lstStyle/>
          <a:p>
            <a:pPr marL="0" indent="0">
              <a:buNone/>
            </a:pPr>
            <a:r>
              <a:rPr lang="en-US" sz="900" dirty="0">
                <a:solidFill>
                  <a:srgbClr val="000000"/>
                </a:solidFill>
                <a:latin typeface="Calibri" panose="020F0502020204030204" pitchFamily="34" charset="0"/>
                <a:ea typeface="Calibri" panose="020F0502020204030204" pitchFamily="34" charset="-122"/>
                <a:cs typeface="Calibri" panose="020F0502020204030204" pitchFamily="34" charset="-120"/>
              </a:rPr>
              <a:t>Factual, objective description of every artefact discovered. Timestamps, file paths, hash values, registry keys, log entries — facts only. No interpretation here. Must be thorough, unbiased, and systematic.</a:t>
            </a:r>
            <a:endParaRPr lang="en-US" sz="900" dirty="0"/>
          </a:p>
        </p:txBody>
      </p:sp>
      <p:sp>
        <p:nvSpPr>
          <p:cNvPr id="44" name="Shape 42"/>
          <p:cNvSpPr/>
          <p:nvPr/>
        </p:nvSpPr>
        <p:spPr>
          <a:xfrm>
            <a:off x="182880" y="3888193"/>
            <a:ext cx="2901696" cy="603504"/>
          </a:xfrm>
          <a:prstGeom prst="rect">
            <a:avLst/>
          </a:prstGeom>
          <a:solidFill>
            <a:srgbClr val="EEF6FB"/>
          </a:solidFill>
          <a:ln w="12700">
            <a:solidFill>
              <a:srgbClr val="FFFFFF"/>
            </a:solidFill>
            <a:prstDash val="solid"/>
          </a:ln>
        </p:spPr>
        <p:txBody>
          <a:bodyPr/>
          <a:lstStyle/>
          <a:p>
            <a:endParaRPr lang="en-SG"/>
          </a:p>
        </p:txBody>
      </p:sp>
      <p:sp>
        <p:nvSpPr>
          <p:cNvPr id="45" name="Text 43"/>
          <p:cNvSpPr/>
          <p:nvPr/>
        </p:nvSpPr>
        <p:spPr>
          <a:xfrm>
            <a:off x="274320" y="3915625"/>
            <a:ext cx="2737104" cy="201168"/>
          </a:xfrm>
          <a:prstGeom prst="rect">
            <a:avLst/>
          </a:prstGeom>
          <a:noFill/>
        </p:spPr>
        <p:txBody>
          <a:bodyPr wrap="square" lIns="0" tIns="0" rIns="0" bIns="0" rtlCol="0" anchor="ctr"/>
          <a:lstStyle/>
          <a:p>
            <a:pPr marL="0" indent="0">
              <a:buNone/>
            </a:pPr>
            <a:r>
              <a:rPr lang="en-US" sz="95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  THOROUGH</a:t>
            </a:r>
            <a:endParaRPr lang="en-US" sz="950" dirty="0"/>
          </a:p>
        </p:txBody>
      </p:sp>
      <p:sp>
        <p:nvSpPr>
          <p:cNvPr id="46" name="Text 44"/>
          <p:cNvSpPr/>
          <p:nvPr/>
        </p:nvSpPr>
        <p:spPr>
          <a:xfrm>
            <a:off x="274320" y="4107649"/>
            <a:ext cx="2737104" cy="34747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Both inculpatory AND exculpatory findings must be documented — no selective reporting.</a:t>
            </a:r>
            <a:endParaRPr lang="en-US" sz="850" dirty="0"/>
          </a:p>
        </p:txBody>
      </p:sp>
      <p:sp>
        <p:nvSpPr>
          <p:cNvPr id="47" name="Shape 45"/>
          <p:cNvSpPr/>
          <p:nvPr/>
        </p:nvSpPr>
        <p:spPr>
          <a:xfrm>
            <a:off x="3121152" y="3888193"/>
            <a:ext cx="2901696" cy="603504"/>
          </a:xfrm>
          <a:prstGeom prst="rect">
            <a:avLst/>
          </a:prstGeom>
          <a:solidFill>
            <a:srgbClr val="EEF6FB"/>
          </a:solidFill>
          <a:ln w="12700">
            <a:solidFill>
              <a:srgbClr val="FFFFFF"/>
            </a:solidFill>
            <a:prstDash val="solid"/>
          </a:ln>
        </p:spPr>
        <p:txBody>
          <a:bodyPr/>
          <a:lstStyle/>
          <a:p>
            <a:endParaRPr lang="en-SG"/>
          </a:p>
        </p:txBody>
      </p:sp>
      <p:sp>
        <p:nvSpPr>
          <p:cNvPr id="48" name="Text 46"/>
          <p:cNvSpPr/>
          <p:nvPr/>
        </p:nvSpPr>
        <p:spPr>
          <a:xfrm>
            <a:off x="3212592" y="3915625"/>
            <a:ext cx="2737104" cy="201168"/>
          </a:xfrm>
          <a:prstGeom prst="rect">
            <a:avLst/>
          </a:prstGeom>
          <a:noFill/>
        </p:spPr>
        <p:txBody>
          <a:bodyPr wrap="square" lIns="0" tIns="0" rIns="0" bIns="0" rtlCol="0" anchor="ctr"/>
          <a:lstStyle/>
          <a:p>
            <a:pPr marL="0" indent="0">
              <a:buNone/>
            </a:pPr>
            <a:r>
              <a:rPr lang="en-US" sz="95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  UNBIASED</a:t>
            </a:r>
            <a:endParaRPr lang="en-US" sz="950" dirty="0"/>
          </a:p>
        </p:txBody>
      </p:sp>
      <p:sp>
        <p:nvSpPr>
          <p:cNvPr id="49" name="Text 47"/>
          <p:cNvSpPr/>
          <p:nvPr/>
        </p:nvSpPr>
        <p:spPr>
          <a:xfrm>
            <a:off x="3212592" y="4107649"/>
            <a:ext cx="2737104" cy="34747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what the evidence shows, not what the client wants to hear. Confirmation bias is the examiner's most dangerous enemy.</a:t>
            </a:r>
            <a:endParaRPr lang="en-US" sz="850" dirty="0"/>
          </a:p>
        </p:txBody>
      </p:sp>
      <p:sp>
        <p:nvSpPr>
          <p:cNvPr id="50" name="Shape 48"/>
          <p:cNvSpPr/>
          <p:nvPr/>
        </p:nvSpPr>
        <p:spPr>
          <a:xfrm>
            <a:off x="6059424" y="3888193"/>
            <a:ext cx="2901696" cy="603504"/>
          </a:xfrm>
          <a:prstGeom prst="rect">
            <a:avLst/>
          </a:prstGeom>
          <a:solidFill>
            <a:srgbClr val="EEF6FB"/>
          </a:solidFill>
          <a:ln w="12700">
            <a:solidFill>
              <a:srgbClr val="FFFFFF"/>
            </a:solidFill>
            <a:prstDash val="solid"/>
          </a:ln>
        </p:spPr>
        <p:txBody>
          <a:bodyPr/>
          <a:lstStyle/>
          <a:p>
            <a:endParaRPr lang="en-SG"/>
          </a:p>
        </p:txBody>
      </p:sp>
      <p:sp>
        <p:nvSpPr>
          <p:cNvPr id="51" name="Text 49"/>
          <p:cNvSpPr/>
          <p:nvPr/>
        </p:nvSpPr>
        <p:spPr>
          <a:xfrm>
            <a:off x="6150864" y="3915625"/>
            <a:ext cx="2737104" cy="201168"/>
          </a:xfrm>
          <a:prstGeom prst="rect">
            <a:avLst/>
          </a:prstGeom>
          <a:noFill/>
        </p:spPr>
        <p:txBody>
          <a:bodyPr wrap="square" lIns="0" tIns="0" rIns="0" bIns="0" rtlCol="0" anchor="ctr"/>
          <a:lstStyle/>
          <a:p>
            <a:pPr marL="0" indent="0">
              <a:buNone/>
            </a:pPr>
            <a:r>
              <a:rPr lang="en-US" sz="95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  SYSTEMATIC</a:t>
            </a:r>
            <a:endParaRPr lang="en-US" sz="950" dirty="0"/>
          </a:p>
        </p:txBody>
      </p:sp>
      <p:sp>
        <p:nvSpPr>
          <p:cNvPr id="52" name="Text 50"/>
          <p:cNvSpPr/>
          <p:nvPr/>
        </p:nvSpPr>
        <p:spPr>
          <a:xfrm>
            <a:off x="6150864" y="4107649"/>
            <a:ext cx="2737104" cy="347472"/>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Every finding linked to its source: tool name, artefact path, exhibit number. Presented in logical chronological order.</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5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06 — Reporting: Forensic Report Sections (Part 2 of 2)</a:t>
            </a:r>
            <a:endParaRPr lang="en-US" sz="1500" dirty="0"/>
          </a:p>
        </p:txBody>
      </p:sp>
      <p:sp>
        <p:nvSpPr>
          <p:cNvPr id="6" name="Shape 4"/>
          <p:cNvSpPr/>
          <p:nvPr/>
        </p:nvSpPr>
        <p:spPr>
          <a:xfrm>
            <a:off x="109728" y="822960"/>
            <a:ext cx="8924544" cy="329184"/>
          </a:xfrm>
          <a:prstGeom prst="rect">
            <a:avLst/>
          </a:prstGeom>
          <a:solidFill>
            <a:srgbClr val="EEF6FB"/>
          </a:solidFill>
          <a:ln w="12700">
            <a:solidFill>
              <a:srgbClr val="2E4068"/>
            </a:solidFill>
            <a:prstDash val="solid"/>
          </a:ln>
        </p:spPr>
        <p:txBody>
          <a:bodyPr/>
          <a:lstStyle/>
          <a:p>
            <a:endParaRPr lang="en-SG"/>
          </a:p>
        </p:txBody>
      </p:sp>
      <p:sp>
        <p:nvSpPr>
          <p:cNvPr id="7" name="Text 5"/>
          <p:cNvSpPr/>
          <p:nvPr/>
        </p:nvSpPr>
        <p:spPr>
          <a:xfrm>
            <a:off x="219456" y="868680"/>
            <a:ext cx="8705088" cy="237744"/>
          </a:xfrm>
          <a:prstGeom prst="rect">
            <a:avLst/>
          </a:prstGeom>
          <a:noFill/>
        </p:spPr>
        <p:txBody>
          <a:bodyPr wrap="square" rtlCol="0" anchor="ctr"/>
          <a:lstStyle/>
          <a:p>
            <a:pPr marL="0" indent="0">
              <a:buNone/>
            </a:pPr>
            <a:r>
              <a:rPr lang="en-US" sz="950" i="1" dirty="0">
                <a:solidFill>
                  <a:srgbClr val="1A1A2E"/>
                </a:solidFill>
                <a:latin typeface="Calibri" panose="020F0502020204030204" pitchFamily="34" charset="0"/>
                <a:ea typeface="Calibri" panose="020F0502020204030204" pitchFamily="34" charset="-122"/>
                <a:cs typeface="Calibri" panose="020F0502020204030204" pitchFamily="34" charset="-120"/>
              </a:rPr>
              <a:t>Continuing from Part 1. Sections 05–07 address the interpretation, limitations, and supporting evidence that make a forensic report legally complete and professionally sound.</a:t>
            </a:r>
            <a:endParaRPr lang="en-US" sz="950" dirty="0"/>
          </a:p>
        </p:txBody>
      </p:sp>
      <p:sp>
        <p:nvSpPr>
          <p:cNvPr id="8" name="Shape 6"/>
          <p:cNvSpPr/>
          <p:nvPr/>
        </p:nvSpPr>
        <p:spPr>
          <a:xfrm>
            <a:off x="109728" y="1207008"/>
            <a:ext cx="1170432" cy="219456"/>
          </a:xfrm>
          <a:prstGeom prst="rect">
            <a:avLst/>
          </a:prstGeom>
          <a:solidFill>
            <a:srgbClr val="EEF6FB"/>
          </a:solidFill>
          <a:ln w="12700">
            <a:solidFill>
              <a:srgbClr val="9B5DE5"/>
            </a:solidFill>
            <a:prstDash val="solid"/>
          </a:ln>
        </p:spPr>
        <p:txBody>
          <a:bodyPr/>
          <a:lstStyle/>
          <a:p>
            <a:endParaRPr lang="en-SG"/>
          </a:p>
        </p:txBody>
      </p:sp>
      <p:sp>
        <p:nvSpPr>
          <p:cNvPr id="9" name="Text 7"/>
          <p:cNvSpPr/>
          <p:nvPr/>
        </p:nvSpPr>
        <p:spPr>
          <a:xfrm>
            <a:off x="109728" y="1225296"/>
            <a:ext cx="1170432" cy="164592"/>
          </a:xfrm>
          <a:prstGeom prst="rect">
            <a:avLst/>
          </a:prstGeom>
          <a:noFill/>
        </p:spPr>
        <p:txBody>
          <a:bodyPr wrap="square" lIns="0" tIns="0" rIns="0" bIns="0" rtlCol="0" anchor="ctr"/>
          <a:lstStyle/>
          <a:p>
            <a:pPr marL="0" indent="0" algn="ctr">
              <a:buNone/>
            </a:pPr>
            <a:r>
              <a:rPr lang="en-US" sz="8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00" dirty="0"/>
          </a:p>
        </p:txBody>
      </p:sp>
      <p:sp>
        <p:nvSpPr>
          <p:cNvPr id="10" name="Shape 8"/>
          <p:cNvSpPr/>
          <p:nvPr/>
        </p:nvSpPr>
        <p:spPr>
          <a:xfrm>
            <a:off x="1380744" y="1207008"/>
            <a:ext cx="1170432" cy="219456"/>
          </a:xfrm>
          <a:prstGeom prst="rect">
            <a:avLst/>
          </a:prstGeom>
          <a:solidFill>
            <a:srgbClr val="EEF6FB"/>
          </a:solidFill>
          <a:ln w="12700">
            <a:solidFill>
              <a:srgbClr val="9B5DE5"/>
            </a:solidFill>
            <a:prstDash val="solid"/>
          </a:ln>
        </p:spPr>
        <p:txBody>
          <a:bodyPr/>
          <a:lstStyle/>
          <a:p>
            <a:endParaRPr lang="en-SG"/>
          </a:p>
        </p:txBody>
      </p:sp>
      <p:sp>
        <p:nvSpPr>
          <p:cNvPr id="11" name="Text 9"/>
          <p:cNvSpPr/>
          <p:nvPr/>
        </p:nvSpPr>
        <p:spPr>
          <a:xfrm>
            <a:off x="1380744" y="1225296"/>
            <a:ext cx="1170432" cy="164592"/>
          </a:xfrm>
          <a:prstGeom prst="rect">
            <a:avLst/>
          </a:prstGeom>
          <a:noFill/>
        </p:spPr>
        <p:txBody>
          <a:bodyPr wrap="square" lIns="0" tIns="0" rIns="0" bIns="0" rtlCol="0" anchor="ctr"/>
          <a:lstStyle/>
          <a:p>
            <a:pPr marL="0" indent="0" algn="ctr">
              <a:buNone/>
            </a:pPr>
            <a:r>
              <a:rPr lang="en-US" sz="8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00" dirty="0"/>
          </a:p>
        </p:txBody>
      </p:sp>
      <p:sp>
        <p:nvSpPr>
          <p:cNvPr id="12" name="Shape 10"/>
          <p:cNvSpPr/>
          <p:nvPr/>
        </p:nvSpPr>
        <p:spPr>
          <a:xfrm>
            <a:off x="2651760" y="1207008"/>
            <a:ext cx="1170432" cy="219456"/>
          </a:xfrm>
          <a:prstGeom prst="rect">
            <a:avLst/>
          </a:prstGeom>
          <a:solidFill>
            <a:srgbClr val="EEF6FB"/>
          </a:solidFill>
          <a:ln w="12700">
            <a:solidFill>
              <a:srgbClr val="9B5DE5"/>
            </a:solidFill>
            <a:prstDash val="solid"/>
          </a:ln>
        </p:spPr>
        <p:txBody>
          <a:bodyPr/>
          <a:lstStyle/>
          <a:p>
            <a:endParaRPr lang="en-SG"/>
          </a:p>
        </p:txBody>
      </p:sp>
      <p:sp>
        <p:nvSpPr>
          <p:cNvPr id="13" name="Text 11"/>
          <p:cNvSpPr/>
          <p:nvPr/>
        </p:nvSpPr>
        <p:spPr>
          <a:xfrm>
            <a:off x="2651760" y="1225296"/>
            <a:ext cx="1170432" cy="164592"/>
          </a:xfrm>
          <a:prstGeom prst="rect">
            <a:avLst/>
          </a:prstGeom>
          <a:noFill/>
        </p:spPr>
        <p:txBody>
          <a:bodyPr wrap="square" lIns="0" tIns="0" rIns="0" bIns="0" rtlCol="0" anchor="ctr"/>
          <a:lstStyle/>
          <a:p>
            <a:pPr marL="0" indent="0" algn="ctr">
              <a:buNone/>
            </a:pPr>
            <a:r>
              <a:rPr lang="en-US" sz="8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00" dirty="0"/>
          </a:p>
        </p:txBody>
      </p:sp>
      <p:sp>
        <p:nvSpPr>
          <p:cNvPr id="14" name="Shape 12"/>
          <p:cNvSpPr/>
          <p:nvPr/>
        </p:nvSpPr>
        <p:spPr>
          <a:xfrm>
            <a:off x="3922776" y="1207008"/>
            <a:ext cx="1170432" cy="219456"/>
          </a:xfrm>
          <a:prstGeom prst="rect">
            <a:avLst/>
          </a:prstGeom>
          <a:solidFill>
            <a:srgbClr val="EEF6FB"/>
          </a:solidFill>
          <a:ln w="12700">
            <a:solidFill>
              <a:srgbClr val="9B5DE5"/>
            </a:solidFill>
            <a:prstDash val="solid"/>
          </a:ln>
        </p:spPr>
        <p:txBody>
          <a:bodyPr/>
          <a:lstStyle/>
          <a:p>
            <a:endParaRPr lang="en-SG"/>
          </a:p>
        </p:txBody>
      </p:sp>
      <p:sp>
        <p:nvSpPr>
          <p:cNvPr id="15" name="Text 13"/>
          <p:cNvSpPr/>
          <p:nvPr/>
        </p:nvSpPr>
        <p:spPr>
          <a:xfrm>
            <a:off x="3922776" y="1225296"/>
            <a:ext cx="1170432" cy="164592"/>
          </a:xfrm>
          <a:prstGeom prst="rect">
            <a:avLst/>
          </a:prstGeom>
          <a:noFill/>
        </p:spPr>
        <p:txBody>
          <a:bodyPr wrap="square" lIns="0" tIns="0" rIns="0" bIns="0" rtlCol="0" anchor="ctr"/>
          <a:lstStyle/>
          <a:p>
            <a:pPr marL="0" indent="0" algn="ctr">
              <a:buNone/>
            </a:pPr>
            <a:r>
              <a:rPr lang="en-US" sz="8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00" dirty="0"/>
          </a:p>
        </p:txBody>
      </p:sp>
      <p:sp>
        <p:nvSpPr>
          <p:cNvPr id="16" name="Shape 14"/>
          <p:cNvSpPr/>
          <p:nvPr/>
        </p:nvSpPr>
        <p:spPr>
          <a:xfrm>
            <a:off x="5193792" y="1207008"/>
            <a:ext cx="1170432" cy="219456"/>
          </a:xfrm>
          <a:prstGeom prst="rect">
            <a:avLst/>
          </a:prstGeom>
          <a:solidFill>
            <a:srgbClr val="9B5DE5"/>
          </a:solidFill>
          <a:ln w="12700">
            <a:solidFill>
              <a:srgbClr val="9B5DE5"/>
            </a:solidFill>
            <a:prstDash val="solid"/>
          </a:ln>
        </p:spPr>
        <p:txBody>
          <a:bodyPr/>
          <a:lstStyle/>
          <a:p>
            <a:endParaRPr lang="en-SG"/>
          </a:p>
        </p:txBody>
      </p:sp>
      <p:sp>
        <p:nvSpPr>
          <p:cNvPr id="17" name="Text 15"/>
          <p:cNvSpPr/>
          <p:nvPr/>
        </p:nvSpPr>
        <p:spPr>
          <a:xfrm>
            <a:off x="5193792" y="1225296"/>
            <a:ext cx="1170432" cy="164592"/>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00" dirty="0"/>
          </a:p>
        </p:txBody>
      </p:sp>
      <p:sp>
        <p:nvSpPr>
          <p:cNvPr id="18" name="Shape 16"/>
          <p:cNvSpPr/>
          <p:nvPr/>
        </p:nvSpPr>
        <p:spPr>
          <a:xfrm>
            <a:off x="6464808" y="1207008"/>
            <a:ext cx="1170432" cy="219456"/>
          </a:xfrm>
          <a:prstGeom prst="rect">
            <a:avLst/>
          </a:prstGeom>
          <a:solidFill>
            <a:srgbClr val="9B5DE5"/>
          </a:solidFill>
          <a:ln w="12700">
            <a:solidFill>
              <a:srgbClr val="9B5DE5"/>
            </a:solidFill>
            <a:prstDash val="solid"/>
          </a:ln>
        </p:spPr>
        <p:txBody>
          <a:bodyPr/>
          <a:lstStyle/>
          <a:p>
            <a:endParaRPr lang="en-SG"/>
          </a:p>
        </p:txBody>
      </p:sp>
      <p:sp>
        <p:nvSpPr>
          <p:cNvPr id="19" name="Text 17"/>
          <p:cNvSpPr/>
          <p:nvPr/>
        </p:nvSpPr>
        <p:spPr>
          <a:xfrm>
            <a:off x="6464808" y="1225296"/>
            <a:ext cx="1170432" cy="164592"/>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00" dirty="0"/>
          </a:p>
        </p:txBody>
      </p:sp>
      <p:sp>
        <p:nvSpPr>
          <p:cNvPr id="20" name="Shape 18"/>
          <p:cNvSpPr/>
          <p:nvPr/>
        </p:nvSpPr>
        <p:spPr>
          <a:xfrm>
            <a:off x="7735824" y="1207008"/>
            <a:ext cx="1170432" cy="219456"/>
          </a:xfrm>
          <a:prstGeom prst="rect">
            <a:avLst/>
          </a:prstGeom>
          <a:solidFill>
            <a:srgbClr val="9B5DE5"/>
          </a:solidFill>
          <a:ln w="12700">
            <a:solidFill>
              <a:srgbClr val="9B5DE5"/>
            </a:solidFill>
            <a:prstDash val="solid"/>
          </a:ln>
        </p:spPr>
        <p:txBody>
          <a:bodyPr/>
          <a:lstStyle/>
          <a:p>
            <a:endParaRPr lang="en-SG"/>
          </a:p>
        </p:txBody>
      </p:sp>
      <p:sp>
        <p:nvSpPr>
          <p:cNvPr id="21" name="Text 19"/>
          <p:cNvSpPr/>
          <p:nvPr/>
        </p:nvSpPr>
        <p:spPr>
          <a:xfrm>
            <a:off x="7735824" y="1225296"/>
            <a:ext cx="1170432" cy="164592"/>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07</a:t>
            </a:r>
            <a:endParaRPr lang="en-US" sz="800" dirty="0"/>
          </a:p>
        </p:txBody>
      </p:sp>
      <p:sp>
        <p:nvSpPr>
          <p:cNvPr id="22" name="Text 20"/>
          <p:cNvSpPr/>
          <p:nvPr/>
        </p:nvSpPr>
        <p:spPr>
          <a:xfrm>
            <a:off x="109728" y="1444752"/>
            <a:ext cx="5084064" cy="164592"/>
          </a:xfrm>
          <a:prstGeom prst="rect">
            <a:avLst/>
          </a:prstGeom>
          <a:noFill/>
        </p:spPr>
        <p:txBody>
          <a:bodyPr wrap="square" rtlCol="0" anchor="ctr"/>
          <a:lstStyle/>
          <a:p>
            <a:pPr marL="0" indent="0">
              <a:buNone/>
            </a:pPr>
            <a:r>
              <a:rPr lang="en-US" sz="800" i="1" dirty="0">
                <a:solidFill>
                  <a:srgbClr val="475569"/>
                </a:solidFill>
                <a:latin typeface="Calibri" panose="020F0502020204030204" pitchFamily="34" charset="0"/>
                <a:ea typeface="Calibri" panose="020F0502020204030204" pitchFamily="34" charset="-122"/>
                <a:cs typeface="Calibri" panose="020F0502020204030204" pitchFamily="34" charset="-120"/>
              </a:rPr>
              <a:t>← Covered on previous slide</a:t>
            </a:r>
            <a:endParaRPr lang="en-US" sz="800" dirty="0"/>
          </a:p>
        </p:txBody>
      </p:sp>
      <p:sp>
        <p:nvSpPr>
          <p:cNvPr id="23" name="Text 21"/>
          <p:cNvSpPr/>
          <p:nvPr/>
        </p:nvSpPr>
        <p:spPr>
          <a:xfrm>
            <a:off x="4901184" y="1444752"/>
            <a:ext cx="4133088" cy="164592"/>
          </a:xfrm>
          <a:prstGeom prst="rect">
            <a:avLst/>
          </a:prstGeom>
          <a:noFill/>
        </p:spPr>
        <p:txBody>
          <a:bodyPr wrap="square" rtlCol="0" anchor="ctr"/>
          <a:lstStyle/>
          <a:p>
            <a:pPr marL="0" indent="0" algn="r">
              <a:buNone/>
            </a:pPr>
            <a:r>
              <a:rPr lang="en-US" sz="800" i="1" dirty="0">
                <a:solidFill>
                  <a:srgbClr val="9B5DE5"/>
                </a:solidFill>
                <a:latin typeface="Calibri" panose="020F0502020204030204" pitchFamily="34" charset="0"/>
                <a:ea typeface="Calibri" panose="020F0502020204030204" pitchFamily="34" charset="-122"/>
                <a:cs typeface="Calibri" panose="020F0502020204030204" pitchFamily="34" charset="-120"/>
              </a:rPr>
              <a:t>← Covered on this slide →</a:t>
            </a:r>
            <a:endParaRPr lang="en-US" sz="800" dirty="0"/>
          </a:p>
        </p:txBody>
      </p:sp>
      <p:sp>
        <p:nvSpPr>
          <p:cNvPr id="24" name="Shape 22"/>
          <p:cNvSpPr/>
          <p:nvPr/>
        </p:nvSpPr>
        <p:spPr>
          <a:xfrm>
            <a:off x="109728" y="1664208"/>
            <a:ext cx="8924544" cy="329184"/>
          </a:xfrm>
          <a:prstGeom prst="rect">
            <a:avLst/>
          </a:prstGeom>
          <a:solidFill>
            <a:srgbClr val="EEF6FB"/>
          </a:solidFill>
          <a:ln w="12700">
            <a:solidFill>
              <a:srgbClr val="9B5DE5"/>
            </a:solidFill>
            <a:prstDash val="solid"/>
          </a:ln>
        </p:spPr>
        <p:txBody>
          <a:bodyPr/>
          <a:lstStyle/>
          <a:p>
            <a:endParaRPr lang="en-SG"/>
          </a:p>
        </p:txBody>
      </p:sp>
      <p:sp>
        <p:nvSpPr>
          <p:cNvPr id="25" name="Text 23"/>
          <p:cNvSpPr/>
          <p:nvPr/>
        </p:nvSpPr>
        <p:spPr>
          <a:xfrm>
            <a:off x="219456" y="1719072"/>
            <a:ext cx="8705088" cy="219456"/>
          </a:xfrm>
          <a:prstGeom prst="rect">
            <a:avLst/>
          </a:prstGeom>
          <a:noFill/>
        </p:spPr>
        <p:txBody>
          <a:bodyPr wrap="square" rtlCol="0" anchor="ctr"/>
          <a:lstStyle/>
          <a:p>
            <a:pPr marL="0" indent="0">
              <a:buNone/>
            </a:pPr>
            <a:r>
              <a:rPr lang="en-US" sz="900" b="1" dirty="0">
                <a:solidFill>
                  <a:srgbClr val="9B5DE5"/>
                </a:solidFill>
                <a:latin typeface="Calibri" panose="020F0502020204030204" pitchFamily="34" charset="0"/>
                <a:ea typeface="Calibri" panose="020F0502020204030204" pitchFamily="34" charset="-122"/>
                <a:cs typeface="Calibri" panose="020F0502020204030204" pitchFamily="34" charset="-120"/>
              </a:rPr>
              <a:t>Remember: A report that presents strong Findings (Section 04) but omits Limitations (Section 06) or buries supporting evidence (Section 07) will not survive cross-examination.</a:t>
            </a:r>
            <a:endParaRPr lang="en-US" sz="900" dirty="0"/>
          </a:p>
        </p:txBody>
      </p:sp>
      <p:sp>
        <p:nvSpPr>
          <p:cNvPr id="26" name="Shape 24"/>
          <p:cNvSpPr/>
          <p:nvPr/>
        </p:nvSpPr>
        <p:spPr>
          <a:xfrm>
            <a:off x="109728" y="2048256"/>
            <a:ext cx="8924544" cy="822960"/>
          </a:xfrm>
          <a:prstGeom prst="rect">
            <a:avLst/>
          </a:prstGeom>
          <a:solidFill>
            <a:srgbClr val="EEF6FB"/>
          </a:solidFill>
          <a:ln w="12700">
            <a:solidFill>
              <a:srgbClr val="06D6A0"/>
            </a:solidFill>
            <a:prstDash val="solid"/>
          </a:ln>
        </p:spPr>
        <p:txBody>
          <a:bodyPr/>
          <a:lstStyle/>
          <a:p>
            <a:endParaRPr lang="en-SG"/>
          </a:p>
        </p:txBody>
      </p:sp>
      <p:sp>
        <p:nvSpPr>
          <p:cNvPr id="27" name="Shape 25"/>
          <p:cNvSpPr/>
          <p:nvPr/>
        </p:nvSpPr>
        <p:spPr>
          <a:xfrm>
            <a:off x="109728" y="2048256"/>
            <a:ext cx="201168" cy="822960"/>
          </a:xfrm>
          <a:prstGeom prst="rect">
            <a:avLst/>
          </a:prstGeom>
          <a:solidFill>
            <a:srgbClr val="06D6A0"/>
          </a:solidFill>
          <a:ln w="12700">
            <a:solidFill>
              <a:srgbClr val="06D6A0"/>
            </a:solidFill>
            <a:prstDash val="solid"/>
          </a:ln>
        </p:spPr>
        <p:txBody>
          <a:bodyPr/>
          <a:lstStyle/>
          <a:p>
            <a:endParaRPr lang="en-SG"/>
          </a:p>
        </p:txBody>
      </p:sp>
      <p:sp>
        <p:nvSpPr>
          <p:cNvPr id="28" name="Shape 26"/>
          <p:cNvSpPr/>
          <p:nvPr/>
        </p:nvSpPr>
        <p:spPr>
          <a:xfrm>
            <a:off x="365760" y="2176272"/>
            <a:ext cx="347472" cy="347472"/>
          </a:xfrm>
          <a:prstGeom prst="ellipse">
            <a:avLst/>
          </a:prstGeom>
          <a:solidFill>
            <a:srgbClr val="06D6A0"/>
          </a:solidFill>
          <a:ln w="12700">
            <a:solidFill>
              <a:srgbClr val="06D6A0"/>
            </a:solidFill>
            <a:prstDash val="solid"/>
          </a:ln>
        </p:spPr>
        <p:txBody>
          <a:bodyPr/>
          <a:lstStyle/>
          <a:p>
            <a:endParaRPr lang="en-SG"/>
          </a:p>
        </p:txBody>
      </p:sp>
      <p:sp>
        <p:nvSpPr>
          <p:cNvPr id="29" name="Text 27"/>
          <p:cNvSpPr/>
          <p:nvPr/>
        </p:nvSpPr>
        <p:spPr>
          <a:xfrm>
            <a:off x="365760" y="2231136"/>
            <a:ext cx="347472" cy="219456"/>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900" dirty="0"/>
          </a:p>
        </p:txBody>
      </p:sp>
      <p:sp>
        <p:nvSpPr>
          <p:cNvPr id="30" name="Text 28"/>
          <p:cNvSpPr/>
          <p:nvPr/>
        </p:nvSpPr>
        <p:spPr>
          <a:xfrm>
            <a:off x="804672" y="2093976"/>
            <a:ext cx="2194560" cy="274320"/>
          </a:xfrm>
          <a:prstGeom prst="rect">
            <a:avLst/>
          </a:prstGeom>
          <a:noFill/>
        </p:spPr>
        <p:txBody>
          <a:bodyPr wrap="square" lIns="0" tIns="0" rIns="0" bIns="0" rtlCol="0" anchor="ctr"/>
          <a:lstStyle/>
          <a:p>
            <a:pPr marL="0" indent="0">
              <a:buNone/>
            </a:pPr>
            <a:r>
              <a:rPr lang="en-US" sz="1200" b="1" dirty="0">
                <a:solidFill>
                  <a:srgbClr val="06D6A0"/>
                </a:solidFill>
                <a:latin typeface="Trebuchet MS" panose="020B0603020202020204" pitchFamily="34" charset="0"/>
                <a:ea typeface="Trebuchet MS" panose="020B0603020202020204" pitchFamily="34" charset="-122"/>
                <a:cs typeface="Trebuchet MS" panose="020B0603020202020204" pitchFamily="34" charset="-120"/>
              </a:rPr>
              <a:t>Analysis &amp; Conclusions</a:t>
            </a:r>
            <a:endParaRPr lang="en-US" sz="1200" dirty="0"/>
          </a:p>
        </p:txBody>
      </p:sp>
      <p:sp>
        <p:nvSpPr>
          <p:cNvPr id="31" name="Text 29"/>
          <p:cNvSpPr/>
          <p:nvPr/>
        </p:nvSpPr>
        <p:spPr>
          <a:xfrm>
            <a:off x="3054096" y="2103120"/>
            <a:ext cx="5852160" cy="7315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Interpretation of the findings. Maps evidence to the 5WH framework. States explicitly what CAN and CANNOT be concluded from the evidence. Distinguishes confirmed facts (e.g. 'The file was accessed') from inferences ('This is consistent with user jsmith being present'). Crucial for court credibility.</a:t>
            </a:r>
            <a:endParaRPr lang="en-US" sz="900" dirty="0"/>
          </a:p>
        </p:txBody>
      </p:sp>
      <p:sp>
        <p:nvSpPr>
          <p:cNvPr id="32" name="Shape 30"/>
          <p:cNvSpPr/>
          <p:nvPr/>
        </p:nvSpPr>
        <p:spPr>
          <a:xfrm>
            <a:off x="109728" y="2944368"/>
            <a:ext cx="8924544" cy="822960"/>
          </a:xfrm>
          <a:prstGeom prst="rect">
            <a:avLst/>
          </a:prstGeom>
          <a:solidFill>
            <a:srgbClr val="EEF6FB"/>
          </a:solidFill>
          <a:ln w="12700">
            <a:solidFill>
              <a:srgbClr val="FB8500"/>
            </a:solidFill>
            <a:prstDash val="solid"/>
          </a:ln>
        </p:spPr>
        <p:txBody>
          <a:bodyPr/>
          <a:lstStyle/>
          <a:p>
            <a:endParaRPr lang="en-SG"/>
          </a:p>
        </p:txBody>
      </p:sp>
      <p:sp>
        <p:nvSpPr>
          <p:cNvPr id="33" name="Shape 31"/>
          <p:cNvSpPr/>
          <p:nvPr/>
        </p:nvSpPr>
        <p:spPr>
          <a:xfrm>
            <a:off x="109728" y="2944368"/>
            <a:ext cx="201168" cy="822960"/>
          </a:xfrm>
          <a:prstGeom prst="rect">
            <a:avLst/>
          </a:prstGeom>
          <a:solidFill>
            <a:srgbClr val="FB8500"/>
          </a:solidFill>
          <a:ln w="12700">
            <a:solidFill>
              <a:srgbClr val="FB8500"/>
            </a:solidFill>
            <a:prstDash val="solid"/>
          </a:ln>
        </p:spPr>
        <p:txBody>
          <a:bodyPr/>
          <a:lstStyle/>
          <a:p>
            <a:endParaRPr lang="en-SG"/>
          </a:p>
        </p:txBody>
      </p:sp>
      <p:sp>
        <p:nvSpPr>
          <p:cNvPr id="34" name="Shape 32"/>
          <p:cNvSpPr/>
          <p:nvPr/>
        </p:nvSpPr>
        <p:spPr>
          <a:xfrm>
            <a:off x="365760" y="3072384"/>
            <a:ext cx="347472" cy="347472"/>
          </a:xfrm>
          <a:prstGeom prst="ellipse">
            <a:avLst/>
          </a:prstGeom>
          <a:solidFill>
            <a:srgbClr val="FB8500"/>
          </a:solidFill>
          <a:ln w="12700">
            <a:solidFill>
              <a:srgbClr val="FB8500"/>
            </a:solidFill>
            <a:prstDash val="solid"/>
          </a:ln>
        </p:spPr>
        <p:txBody>
          <a:bodyPr/>
          <a:lstStyle/>
          <a:p>
            <a:endParaRPr lang="en-SG"/>
          </a:p>
        </p:txBody>
      </p:sp>
      <p:sp>
        <p:nvSpPr>
          <p:cNvPr id="35" name="Text 33"/>
          <p:cNvSpPr/>
          <p:nvPr/>
        </p:nvSpPr>
        <p:spPr>
          <a:xfrm>
            <a:off x="365760" y="3127248"/>
            <a:ext cx="347472" cy="219456"/>
          </a:xfrm>
          <a:prstGeom prst="rect">
            <a:avLst/>
          </a:prstGeom>
          <a:noFill/>
        </p:spPr>
        <p:txBody>
          <a:bodyPr wrap="square" lIns="0" tIns="0" rIns="0" bIns="0" rtlCol="0" anchor="ctr"/>
          <a:lstStyle/>
          <a:p>
            <a:pPr marL="0" indent="0" algn="ctr">
              <a:buNone/>
            </a:pPr>
            <a:r>
              <a:rPr lang="en-US" sz="9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900" dirty="0"/>
          </a:p>
        </p:txBody>
      </p:sp>
      <p:sp>
        <p:nvSpPr>
          <p:cNvPr id="36" name="Text 34"/>
          <p:cNvSpPr/>
          <p:nvPr/>
        </p:nvSpPr>
        <p:spPr>
          <a:xfrm>
            <a:off x="804672" y="2990088"/>
            <a:ext cx="2194560" cy="274320"/>
          </a:xfrm>
          <a:prstGeom prst="rect">
            <a:avLst/>
          </a:prstGeom>
          <a:noFill/>
        </p:spPr>
        <p:txBody>
          <a:bodyPr wrap="square" lIns="0" tIns="0" rIns="0" bIns="0" rtlCol="0" anchor="ctr"/>
          <a:lstStyle/>
          <a:p>
            <a:pPr marL="0" indent="0">
              <a:buNone/>
            </a:pPr>
            <a:r>
              <a:rPr lang="en-US" sz="12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Limitations &amp; Caveats</a:t>
            </a:r>
            <a:endParaRPr lang="en-US" sz="1200" dirty="0"/>
          </a:p>
        </p:txBody>
      </p:sp>
      <p:sp>
        <p:nvSpPr>
          <p:cNvPr id="37" name="Text 35"/>
          <p:cNvSpPr/>
          <p:nvPr/>
        </p:nvSpPr>
        <p:spPr>
          <a:xfrm>
            <a:off x="3054096" y="2999232"/>
            <a:ext cx="5852160" cy="7315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Documents what could not be examined — encrypted files, wiped areas, damaged sectors, inaccessible cloud data — and clearly acknowledges the boundaries of the examiner's conclusions. Intellectual honesty here is both a legal requirement and a professional duty. Courts respect honest limitations; they do not respect concealed ones.</a:t>
            </a:r>
            <a:endParaRPr lang="en-US" sz="900" dirty="0"/>
          </a:p>
        </p:txBody>
      </p:sp>
      <p:sp>
        <p:nvSpPr>
          <p:cNvPr id="38" name="Shape 36"/>
          <p:cNvSpPr/>
          <p:nvPr/>
        </p:nvSpPr>
        <p:spPr>
          <a:xfrm>
            <a:off x="109728" y="3840480"/>
            <a:ext cx="8924544" cy="822960"/>
          </a:xfrm>
          <a:prstGeom prst="rect">
            <a:avLst/>
          </a:prstGeom>
          <a:solidFill>
            <a:srgbClr val="EEF6FB"/>
          </a:solidFill>
          <a:ln w="12700">
            <a:solidFill>
              <a:srgbClr val="00B4D8"/>
            </a:solidFill>
            <a:prstDash val="solid"/>
          </a:ln>
        </p:spPr>
        <p:txBody>
          <a:bodyPr/>
          <a:lstStyle/>
          <a:p>
            <a:endParaRPr lang="en-SG"/>
          </a:p>
        </p:txBody>
      </p:sp>
      <p:sp>
        <p:nvSpPr>
          <p:cNvPr id="39" name="Shape 37"/>
          <p:cNvSpPr/>
          <p:nvPr/>
        </p:nvSpPr>
        <p:spPr>
          <a:xfrm>
            <a:off x="109728" y="3840480"/>
            <a:ext cx="201168" cy="822960"/>
          </a:xfrm>
          <a:prstGeom prst="rect">
            <a:avLst/>
          </a:prstGeom>
          <a:solidFill>
            <a:srgbClr val="00B4D8"/>
          </a:solidFill>
          <a:ln w="12700">
            <a:solidFill>
              <a:srgbClr val="00B4D8"/>
            </a:solidFill>
            <a:prstDash val="solid"/>
          </a:ln>
        </p:spPr>
        <p:txBody>
          <a:bodyPr/>
          <a:lstStyle/>
          <a:p>
            <a:endParaRPr lang="en-SG"/>
          </a:p>
        </p:txBody>
      </p:sp>
      <p:sp>
        <p:nvSpPr>
          <p:cNvPr id="40" name="Shape 38"/>
          <p:cNvSpPr/>
          <p:nvPr/>
        </p:nvSpPr>
        <p:spPr>
          <a:xfrm>
            <a:off x="365760" y="3968496"/>
            <a:ext cx="347472" cy="347472"/>
          </a:xfrm>
          <a:prstGeom prst="ellipse">
            <a:avLst/>
          </a:prstGeom>
          <a:solidFill>
            <a:srgbClr val="00B4D8"/>
          </a:solidFill>
          <a:ln w="12700">
            <a:solidFill>
              <a:srgbClr val="00B4D8"/>
            </a:solidFill>
            <a:prstDash val="solid"/>
          </a:ln>
        </p:spPr>
        <p:txBody>
          <a:bodyPr/>
          <a:lstStyle/>
          <a:p>
            <a:endParaRPr lang="en-SG"/>
          </a:p>
        </p:txBody>
      </p:sp>
      <p:sp>
        <p:nvSpPr>
          <p:cNvPr id="41" name="Text 39"/>
          <p:cNvSpPr/>
          <p:nvPr/>
        </p:nvSpPr>
        <p:spPr>
          <a:xfrm>
            <a:off x="365760" y="4023360"/>
            <a:ext cx="347472" cy="219456"/>
          </a:xfrm>
          <a:prstGeom prst="rect">
            <a:avLst/>
          </a:prstGeom>
          <a:noFill/>
        </p:spPr>
        <p:txBody>
          <a:bodyPr wrap="square" lIns="0" tIns="0" rIns="0" bIns="0" rtlCol="0" anchor="ctr"/>
          <a:lstStyle/>
          <a:p>
            <a:pPr marL="0" indent="0" algn="ctr">
              <a:buNone/>
            </a:pPr>
            <a:r>
              <a:rPr lang="en-US" sz="9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07</a:t>
            </a:r>
            <a:endParaRPr lang="en-US" sz="900" dirty="0"/>
          </a:p>
        </p:txBody>
      </p:sp>
      <p:sp>
        <p:nvSpPr>
          <p:cNvPr id="42" name="Text 40"/>
          <p:cNvSpPr/>
          <p:nvPr/>
        </p:nvSpPr>
        <p:spPr>
          <a:xfrm>
            <a:off x="804672" y="3886200"/>
            <a:ext cx="2194560" cy="274320"/>
          </a:xfrm>
          <a:prstGeom prst="rect">
            <a:avLst/>
          </a:prstGeom>
          <a:noFill/>
        </p:spPr>
        <p:txBody>
          <a:bodyPr wrap="square" lIns="0" tIns="0" rIns="0" bIns="0" rtlCol="0" anchor="ctr"/>
          <a:lstStyle/>
          <a:p>
            <a:pPr marL="0" indent="0">
              <a:buNone/>
            </a:pPr>
            <a:r>
              <a:rPr lang="en-US" sz="1200" b="1" dirty="0">
                <a:solidFill>
                  <a:srgbClr val="00B4D8"/>
                </a:solidFill>
                <a:latin typeface="Trebuchet MS" panose="020B0603020202020204" pitchFamily="34" charset="0"/>
                <a:ea typeface="Trebuchet MS" panose="020B0603020202020204" pitchFamily="34" charset="-122"/>
                <a:cs typeface="Trebuchet MS" panose="020B0603020202020204" pitchFamily="34" charset="-120"/>
              </a:rPr>
              <a:t>Exhibits &amp; Appendices</a:t>
            </a:r>
            <a:endParaRPr lang="en-US" sz="1200" dirty="0"/>
          </a:p>
        </p:txBody>
      </p:sp>
      <p:sp>
        <p:nvSpPr>
          <p:cNvPr id="43" name="Text 41"/>
          <p:cNvSpPr/>
          <p:nvPr/>
        </p:nvSpPr>
        <p:spPr>
          <a:xfrm>
            <a:off x="3054096" y="3895344"/>
            <a:ext cx="5852160" cy="7315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Chain of custody form, hash verification logs, tool output screenshots, raw data extracts, and all supporting documentation. Every exhibit must be numbered, indexed, and cross-referenced in the main body of the report. The appendices are what the opposing expert will scrutinise first.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06 — Reporting: Forensic Writing Principles (Part 1 of 2)</a:t>
            </a:r>
            <a:endParaRPr lang="en-US" sz="1400" dirty="0"/>
          </a:p>
        </p:txBody>
      </p:sp>
      <p:sp>
        <p:nvSpPr>
          <p:cNvPr id="6" name="Shape 4"/>
          <p:cNvSpPr/>
          <p:nvPr/>
        </p:nvSpPr>
        <p:spPr>
          <a:xfrm>
            <a:off x="109728" y="822960"/>
            <a:ext cx="8924544" cy="365760"/>
          </a:xfrm>
          <a:prstGeom prst="rect">
            <a:avLst/>
          </a:prstGeom>
          <a:solidFill>
            <a:srgbClr val="EEF6FB"/>
          </a:solidFill>
          <a:ln w="12700">
            <a:solidFill>
              <a:srgbClr val="06D6A0"/>
            </a:solidFill>
            <a:prstDash val="solid"/>
          </a:ln>
        </p:spPr>
        <p:txBody>
          <a:bodyPr/>
          <a:lstStyle/>
          <a:p>
            <a:endParaRPr lang="en-SG"/>
          </a:p>
        </p:txBody>
      </p:sp>
      <p:sp>
        <p:nvSpPr>
          <p:cNvPr id="7" name="Text 5"/>
          <p:cNvSpPr/>
          <p:nvPr/>
        </p:nvSpPr>
        <p:spPr>
          <a:xfrm>
            <a:off x="219456" y="868680"/>
            <a:ext cx="8705088" cy="274320"/>
          </a:xfrm>
          <a:prstGeom prst="rect">
            <a:avLst/>
          </a:prstGeom>
          <a:noFill/>
        </p:spPr>
        <p:txBody>
          <a:bodyPr wrap="square" rtlCol="0" anchor="ctr"/>
          <a:lstStyle/>
          <a:p>
            <a:pPr marL="0" indent="0">
              <a:buNone/>
            </a:pPr>
            <a:r>
              <a:rPr lang="en-US" sz="950" i="1" dirty="0">
                <a:solidFill>
                  <a:srgbClr val="1A1A2E"/>
                </a:solidFill>
                <a:latin typeface="Calibri" panose="020F0502020204030204" pitchFamily="34" charset="0"/>
                <a:ea typeface="Calibri" panose="020F0502020204030204" pitchFamily="34" charset="-122"/>
                <a:cs typeface="Calibri" panose="020F0502020204030204" pitchFamily="34" charset="-120"/>
              </a:rPr>
              <a:t>Six principles govern how forensic reports must be written. These are not stylistic choices — they are professional and legal obligations. Violating them in the report usually means they were violated during the investigation. Part 1: Objectivity, Precision, Reproducibility.</a:t>
            </a:r>
            <a:endParaRPr lang="en-US" sz="950" dirty="0"/>
          </a:p>
        </p:txBody>
      </p:sp>
      <p:sp>
        <p:nvSpPr>
          <p:cNvPr id="8" name="Shape 6"/>
          <p:cNvSpPr/>
          <p:nvPr/>
        </p:nvSpPr>
        <p:spPr>
          <a:xfrm>
            <a:off x="109728" y="1243584"/>
            <a:ext cx="4425696" cy="182880"/>
          </a:xfrm>
          <a:prstGeom prst="rect">
            <a:avLst/>
          </a:prstGeom>
          <a:solidFill>
            <a:srgbClr val="9B5DE5"/>
          </a:solidFill>
          <a:ln w="12700">
            <a:solidFill>
              <a:srgbClr val="9B5DE5"/>
            </a:solidFill>
            <a:prstDash val="solid"/>
          </a:ln>
        </p:spPr>
        <p:txBody>
          <a:bodyPr/>
          <a:lstStyle/>
          <a:p>
            <a:endParaRPr lang="en-SG"/>
          </a:p>
        </p:txBody>
      </p:sp>
      <p:sp>
        <p:nvSpPr>
          <p:cNvPr id="9" name="Shape 7"/>
          <p:cNvSpPr/>
          <p:nvPr/>
        </p:nvSpPr>
        <p:spPr>
          <a:xfrm>
            <a:off x="4608576" y="1243584"/>
            <a:ext cx="4425696" cy="182880"/>
          </a:xfrm>
          <a:prstGeom prst="rect">
            <a:avLst/>
          </a:prstGeom>
          <a:solidFill>
            <a:srgbClr val="EEF6FB"/>
          </a:solidFill>
          <a:ln w="12700">
            <a:solidFill>
              <a:srgbClr val="2E4068"/>
            </a:solidFill>
            <a:prstDash val="solid"/>
          </a:ln>
        </p:spPr>
        <p:txBody>
          <a:bodyPr/>
          <a:lstStyle/>
          <a:p>
            <a:endParaRPr lang="en-SG"/>
          </a:p>
        </p:txBody>
      </p:sp>
      <p:sp>
        <p:nvSpPr>
          <p:cNvPr id="10" name="Text 8"/>
          <p:cNvSpPr/>
          <p:nvPr/>
        </p:nvSpPr>
        <p:spPr>
          <a:xfrm>
            <a:off x="146304" y="1252728"/>
            <a:ext cx="4352544" cy="146304"/>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Part 1 — Principles 1–3</a:t>
            </a:r>
            <a:endParaRPr lang="en-US" sz="800" dirty="0"/>
          </a:p>
        </p:txBody>
      </p:sp>
      <p:sp>
        <p:nvSpPr>
          <p:cNvPr id="11" name="Text 9"/>
          <p:cNvSpPr/>
          <p:nvPr/>
        </p:nvSpPr>
        <p:spPr>
          <a:xfrm>
            <a:off x="4645152" y="1252728"/>
            <a:ext cx="4352544" cy="146304"/>
          </a:xfrm>
          <a:prstGeom prst="rect">
            <a:avLst/>
          </a:prstGeom>
          <a:noFill/>
        </p:spPr>
        <p:txBody>
          <a:bodyPr wrap="square" lIns="0" tIns="0" rIns="0" bIns="0" rtlCol="0" anchor="ctr"/>
          <a:lstStyle/>
          <a:p>
            <a:pPr marL="0" indent="0" algn="ctr">
              <a:buNone/>
            </a:pPr>
            <a:r>
              <a:rPr lang="en-US" sz="800"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Part 2 — Principles 4–6  (next slide →)</a:t>
            </a:r>
            <a:endParaRPr lang="en-US" sz="800" dirty="0"/>
          </a:p>
        </p:txBody>
      </p:sp>
      <p:sp>
        <p:nvSpPr>
          <p:cNvPr id="12" name="Shape 10"/>
          <p:cNvSpPr/>
          <p:nvPr/>
        </p:nvSpPr>
        <p:spPr>
          <a:xfrm>
            <a:off x="109728" y="1481328"/>
            <a:ext cx="8924544" cy="1042416"/>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3" name="Shape 11"/>
          <p:cNvSpPr/>
          <p:nvPr/>
        </p:nvSpPr>
        <p:spPr>
          <a:xfrm>
            <a:off x="109728" y="1481328"/>
            <a:ext cx="8924544" cy="329184"/>
          </a:xfrm>
          <a:prstGeom prst="rect">
            <a:avLst/>
          </a:prstGeom>
          <a:solidFill>
            <a:srgbClr val="9B5DE5"/>
          </a:solidFill>
          <a:ln w="12700">
            <a:solidFill>
              <a:srgbClr val="9B5DE5"/>
            </a:solidFill>
            <a:prstDash val="solid"/>
          </a:ln>
        </p:spPr>
        <p:txBody>
          <a:bodyPr/>
          <a:lstStyle/>
          <a:p>
            <a:endParaRPr lang="en-SG"/>
          </a:p>
        </p:txBody>
      </p:sp>
      <p:sp>
        <p:nvSpPr>
          <p:cNvPr id="14" name="Text 12"/>
          <p:cNvSpPr/>
          <p:nvPr/>
        </p:nvSpPr>
        <p:spPr>
          <a:xfrm>
            <a:off x="219456" y="1527048"/>
            <a:ext cx="8705088" cy="219456"/>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 Principle 1 — Objectivity</a:t>
            </a:r>
            <a:endParaRPr lang="en-US" sz="1200" dirty="0"/>
          </a:p>
        </p:txBody>
      </p:sp>
      <p:sp>
        <p:nvSpPr>
          <p:cNvPr id="15" name="Text 13"/>
          <p:cNvSpPr/>
          <p:nvPr/>
        </p:nvSpPr>
        <p:spPr>
          <a:xfrm>
            <a:off x="219456" y="1865376"/>
            <a:ext cx="4023360" cy="60350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only what the evidence shows — not what you believe happened, and not what the instructing party wants to hear. Present both inculpatory AND exculpatory findings with equal rigour. Confirmation bias — unconsciously seeking evidence that confirms your initial theory — is the most common and most dangerous error an examiner can make.</a:t>
            </a:r>
            <a:endParaRPr lang="en-US" sz="850" dirty="0"/>
          </a:p>
        </p:txBody>
      </p:sp>
      <p:sp>
        <p:nvSpPr>
          <p:cNvPr id="16" name="Shape 14"/>
          <p:cNvSpPr/>
          <p:nvPr/>
        </p:nvSpPr>
        <p:spPr>
          <a:xfrm>
            <a:off x="4370832" y="1847088"/>
            <a:ext cx="4535424" cy="621792"/>
          </a:xfrm>
          <a:prstGeom prst="rect">
            <a:avLst/>
          </a:prstGeom>
          <a:solidFill>
            <a:srgbClr val="EEF6FB"/>
          </a:solidFill>
          <a:ln w="12700">
            <a:solidFill>
              <a:srgbClr val="9B5DE5"/>
            </a:solidFill>
            <a:prstDash val="solid"/>
          </a:ln>
        </p:spPr>
        <p:txBody>
          <a:bodyPr/>
          <a:lstStyle/>
          <a:p>
            <a:endParaRPr lang="en-SG"/>
          </a:p>
        </p:txBody>
      </p:sp>
      <p:sp>
        <p:nvSpPr>
          <p:cNvPr id="17" name="Text 15"/>
          <p:cNvSpPr/>
          <p:nvPr/>
        </p:nvSpPr>
        <p:spPr>
          <a:xfrm>
            <a:off x="4462272" y="1865376"/>
            <a:ext cx="4352544" cy="237744"/>
          </a:xfrm>
          <a:prstGeom prst="rect">
            <a:avLst/>
          </a:prstGeom>
          <a:noFill/>
        </p:spPr>
        <p:txBody>
          <a:bodyPr wrap="square" rtlCol="0" anchor="ctr"/>
          <a:lstStyle/>
          <a:p>
            <a:pPr marL="0" indent="0">
              <a:buNone/>
            </a:pPr>
            <a:r>
              <a:rPr lang="en-US" sz="800" i="1" dirty="0">
                <a:solidFill>
                  <a:srgbClr val="EF233C"/>
                </a:solidFill>
                <a:latin typeface="Calibri" panose="020F0502020204030204" pitchFamily="34" charset="0"/>
                <a:ea typeface="Calibri" panose="020F0502020204030204" pitchFamily="34" charset="-122"/>
                <a:cs typeface="Calibri" panose="020F0502020204030204" pitchFamily="34" charset="-120"/>
              </a:rPr>
              <a:t>✗ 'The suspect clearly accessed the files and attempted to delete them.'</a:t>
            </a:r>
            <a:endParaRPr lang="en-US" sz="800" dirty="0"/>
          </a:p>
        </p:txBody>
      </p:sp>
      <p:sp>
        <p:nvSpPr>
          <p:cNvPr id="18" name="Text 16"/>
          <p:cNvSpPr/>
          <p:nvPr/>
        </p:nvSpPr>
        <p:spPr>
          <a:xfrm>
            <a:off x="4462272" y="2103120"/>
            <a:ext cx="4352544" cy="310896"/>
          </a:xfrm>
          <a:prstGeom prst="rect">
            <a:avLst/>
          </a:prstGeom>
          <a:noFill/>
        </p:spPr>
        <p:txBody>
          <a:bodyPr wrap="square" rtlCol="0" anchor="ctr"/>
          <a:lstStyle/>
          <a:p>
            <a:pPr marL="0" indent="0">
              <a:buNone/>
            </a:pPr>
            <a:r>
              <a:rPr lang="en-US" sz="800" i="1" dirty="0">
                <a:solidFill>
                  <a:srgbClr val="06D6A0"/>
                </a:solidFill>
                <a:latin typeface="Calibri" panose="020F0502020204030204" pitchFamily="34" charset="0"/>
                <a:ea typeface="Calibri" panose="020F0502020204030204" pitchFamily="34" charset="-122"/>
                <a:cs typeface="Calibri" panose="020F0502020204030204" pitchFamily="34" charset="-120"/>
              </a:rPr>
              <a:t>✓ 'The files were last accessed by user account jsmith on 10 Mar 2025 at 14:32 UTC. Three files were moved to the Recycle Bin at 14:38 UTC per $I30 index entries.'</a:t>
            </a:r>
            <a:endParaRPr lang="en-US" sz="800" dirty="0"/>
          </a:p>
        </p:txBody>
      </p:sp>
      <p:sp>
        <p:nvSpPr>
          <p:cNvPr id="19" name="Shape 17"/>
          <p:cNvSpPr/>
          <p:nvPr/>
        </p:nvSpPr>
        <p:spPr>
          <a:xfrm>
            <a:off x="109728" y="2596896"/>
            <a:ext cx="8924544" cy="104241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20" name="Shape 18"/>
          <p:cNvSpPr/>
          <p:nvPr/>
        </p:nvSpPr>
        <p:spPr>
          <a:xfrm>
            <a:off x="109728" y="2596896"/>
            <a:ext cx="8924544" cy="329184"/>
          </a:xfrm>
          <a:prstGeom prst="rect">
            <a:avLst/>
          </a:prstGeom>
          <a:solidFill>
            <a:srgbClr val="06D6A0"/>
          </a:solidFill>
          <a:ln w="12700">
            <a:solidFill>
              <a:srgbClr val="06D6A0"/>
            </a:solidFill>
            <a:prstDash val="solid"/>
          </a:ln>
        </p:spPr>
        <p:txBody>
          <a:bodyPr/>
          <a:lstStyle/>
          <a:p>
            <a:endParaRPr lang="en-SG"/>
          </a:p>
        </p:txBody>
      </p:sp>
      <p:sp>
        <p:nvSpPr>
          <p:cNvPr id="21" name="Text 19"/>
          <p:cNvSpPr/>
          <p:nvPr/>
        </p:nvSpPr>
        <p:spPr>
          <a:xfrm>
            <a:off x="219456" y="2642616"/>
            <a:ext cx="8705088" cy="219456"/>
          </a:xfrm>
          <a:prstGeom prst="rect">
            <a:avLst/>
          </a:prstGeom>
          <a:noFill/>
        </p:spPr>
        <p:txBody>
          <a:bodyPr wrap="square" lIns="0" tIns="0" rIns="0" bIns="0" rtlCol="0" anchor="ctr"/>
          <a:lstStyle/>
          <a:p>
            <a:pPr marL="0" indent="0">
              <a:buNone/>
            </a:pPr>
            <a:r>
              <a:rPr lang="en-US" sz="1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 Principle 2 — Precision</a:t>
            </a:r>
            <a:endParaRPr lang="en-US" sz="1200" dirty="0"/>
          </a:p>
        </p:txBody>
      </p:sp>
      <p:sp>
        <p:nvSpPr>
          <p:cNvPr id="22" name="Text 20"/>
          <p:cNvSpPr/>
          <p:nvPr/>
        </p:nvSpPr>
        <p:spPr>
          <a:xfrm>
            <a:off x="219456" y="2980944"/>
            <a:ext cx="4023360" cy="60350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Every factual statement must be specific, dated, and sourced to a named forensic artefact. Vague language ('recently', 'frequently', 'possibly') creates uncertainty that defence counsel will exploit. If you cannot state something precisely, you should not state it as a finding — state it as a limitation.</a:t>
            </a:r>
            <a:endParaRPr lang="en-US" sz="850" dirty="0"/>
          </a:p>
        </p:txBody>
      </p:sp>
      <p:sp>
        <p:nvSpPr>
          <p:cNvPr id="23" name="Shape 21"/>
          <p:cNvSpPr/>
          <p:nvPr/>
        </p:nvSpPr>
        <p:spPr>
          <a:xfrm>
            <a:off x="4370832" y="2962656"/>
            <a:ext cx="4535424" cy="621792"/>
          </a:xfrm>
          <a:prstGeom prst="rect">
            <a:avLst/>
          </a:prstGeom>
          <a:solidFill>
            <a:srgbClr val="EEF6FB"/>
          </a:solidFill>
          <a:ln w="12700">
            <a:solidFill>
              <a:srgbClr val="06D6A0"/>
            </a:solidFill>
            <a:prstDash val="solid"/>
          </a:ln>
        </p:spPr>
        <p:txBody>
          <a:bodyPr/>
          <a:lstStyle/>
          <a:p>
            <a:endParaRPr lang="en-SG"/>
          </a:p>
        </p:txBody>
      </p:sp>
      <p:sp>
        <p:nvSpPr>
          <p:cNvPr id="24" name="Text 22"/>
          <p:cNvSpPr/>
          <p:nvPr/>
        </p:nvSpPr>
        <p:spPr>
          <a:xfrm>
            <a:off x="4462272" y="2980944"/>
            <a:ext cx="4352544" cy="237744"/>
          </a:xfrm>
          <a:prstGeom prst="rect">
            <a:avLst/>
          </a:prstGeom>
          <a:noFill/>
        </p:spPr>
        <p:txBody>
          <a:bodyPr wrap="square" rtlCol="0" anchor="ctr"/>
          <a:lstStyle/>
          <a:p>
            <a:pPr marL="0" indent="0">
              <a:buNone/>
            </a:pPr>
            <a:r>
              <a:rPr lang="en-US" sz="800" i="1" dirty="0">
                <a:solidFill>
                  <a:srgbClr val="EF233C"/>
                </a:solidFill>
                <a:latin typeface="Calibri" panose="020F0502020204030204" pitchFamily="34" charset="0"/>
                <a:ea typeface="Calibri" panose="020F0502020204030204" pitchFamily="34" charset="-122"/>
                <a:cs typeface="Calibri" panose="020F0502020204030204" pitchFamily="34" charset="-120"/>
              </a:rPr>
              <a:t>✗ 'The file was recently modified and may have been accessed multiple times.'</a:t>
            </a:r>
            <a:endParaRPr lang="en-US" sz="800" dirty="0"/>
          </a:p>
        </p:txBody>
      </p:sp>
      <p:sp>
        <p:nvSpPr>
          <p:cNvPr id="25" name="Text 23"/>
          <p:cNvSpPr/>
          <p:nvPr/>
        </p:nvSpPr>
        <p:spPr>
          <a:xfrm>
            <a:off x="4462272" y="3218688"/>
            <a:ext cx="4352544" cy="310896"/>
          </a:xfrm>
          <a:prstGeom prst="rect">
            <a:avLst/>
          </a:prstGeom>
          <a:noFill/>
        </p:spPr>
        <p:txBody>
          <a:bodyPr wrap="square" rtlCol="0" anchor="ctr"/>
          <a:lstStyle/>
          <a:p>
            <a:pPr marL="0" indent="0">
              <a:buNone/>
            </a:pPr>
            <a:r>
              <a:rPr lang="en-US" sz="800" i="1" dirty="0">
                <a:solidFill>
                  <a:srgbClr val="06D6A0"/>
                </a:solidFill>
                <a:latin typeface="Calibri" panose="020F0502020204030204" pitchFamily="34" charset="0"/>
                <a:ea typeface="Calibri" panose="020F0502020204030204" pitchFamily="34" charset="-122"/>
                <a:cs typeface="Calibri" panose="020F0502020204030204" pitchFamily="34" charset="-120"/>
              </a:rPr>
              <a:t>✓ 'File modified 10 Mar 2025 at 14:32:17 UTC per $STANDARD_INFORMATION attribute. Accessed timestamp: 10 Mar 2025 14:32:21 UTC.'</a:t>
            </a:r>
            <a:endParaRPr lang="en-US" sz="800" dirty="0"/>
          </a:p>
        </p:txBody>
      </p:sp>
      <p:sp>
        <p:nvSpPr>
          <p:cNvPr id="26" name="Shape 24"/>
          <p:cNvSpPr/>
          <p:nvPr/>
        </p:nvSpPr>
        <p:spPr>
          <a:xfrm>
            <a:off x="109728" y="3712464"/>
            <a:ext cx="8924544" cy="104241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109728" y="3712464"/>
            <a:ext cx="8924544" cy="329184"/>
          </a:xfrm>
          <a:prstGeom prst="rect">
            <a:avLst/>
          </a:prstGeom>
          <a:solidFill>
            <a:srgbClr val="FFB703"/>
          </a:solidFill>
          <a:ln w="12700">
            <a:solidFill>
              <a:srgbClr val="FFB703"/>
            </a:solidFill>
            <a:prstDash val="solid"/>
          </a:ln>
        </p:spPr>
        <p:txBody>
          <a:bodyPr/>
          <a:lstStyle/>
          <a:p>
            <a:endParaRPr lang="en-SG"/>
          </a:p>
        </p:txBody>
      </p:sp>
      <p:sp>
        <p:nvSpPr>
          <p:cNvPr id="28" name="Text 26"/>
          <p:cNvSpPr/>
          <p:nvPr/>
        </p:nvSpPr>
        <p:spPr>
          <a:xfrm>
            <a:off x="219456" y="3758184"/>
            <a:ext cx="8705088" cy="219456"/>
          </a:xfrm>
          <a:prstGeom prst="rect">
            <a:avLst/>
          </a:prstGeom>
          <a:noFill/>
        </p:spPr>
        <p:txBody>
          <a:bodyPr wrap="square" lIns="0" tIns="0" rIns="0" bIns="0" rtlCol="0" anchor="ctr"/>
          <a:lstStyle/>
          <a:p>
            <a:pPr marL="0" indent="0">
              <a:buNone/>
            </a:pPr>
            <a:r>
              <a:rPr lang="en-US" sz="1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 Principle 3 — Reproducibility</a:t>
            </a:r>
            <a:endParaRPr lang="en-US" sz="1200" dirty="0"/>
          </a:p>
        </p:txBody>
      </p:sp>
      <p:sp>
        <p:nvSpPr>
          <p:cNvPr id="29" name="Text 27"/>
          <p:cNvSpPr/>
          <p:nvPr/>
        </p:nvSpPr>
        <p:spPr>
          <a:xfrm>
            <a:off x="219456" y="4096512"/>
            <a:ext cx="4023360" cy="60350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 second competent examiner, given the same forensic image and your documented methodology, must be able to independently reach the same findings. If your results cannot be reproduced, they are not findings — they are opinions, and they will not survive a Daubert challenge or cross-examination. Every tool, version, command, and decision must be recorded.</a:t>
            </a:r>
            <a:endParaRPr lang="en-US" sz="850" dirty="0"/>
          </a:p>
        </p:txBody>
      </p:sp>
      <p:sp>
        <p:nvSpPr>
          <p:cNvPr id="30" name="Shape 28"/>
          <p:cNvSpPr/>
          <p:nvPr/>
        </p:nvSpPr>
        <p:spPr>
          <a:xfrm>
            <a:off x="4370832" y="4078224"/>
            <a:ext cx="4535424" cy="621792"/>
          </a:xfrm>
          <a:prstGeom prst="rect">
            <a:avLst/>
          </a:prstGeom>
          <a:solidFill>
            <a:srgbClr val="EEF6FB"/>
          </a:solidFill>
          <a:ln w="12700">
            <a:solidFill>
              <a:srgbClr val="FFB703"/>
            </a:solidFill>
            <a:prstDash val="solid"/>
          </a:ln>
        </p:spPr>
        <p:txBody>
          <a:bodyPr/>
          <a:lstStyle/>
          <a:p>
            <a:endParaRPr lang="en-SG"/>
          </a:p>
        </p:txBody>
      </p:sp>
      <p:sp>
        <p:nvSpPr>
          <p:cNvPr id="31" name="Text 29"/>
          <p:cNvSpPr/>
          <p:nvPr/>
        </p:nvSpPr>
        <p:spPr>
          <a:xfrm>
            <a:off x="4462272" y="4096512"/>
            <a:ext cx="4352544" cy="237744"/>
          </a:xfrm>
          <a:prstGeom prst="rect">
            <a:avLst/>
          </a:prstGeom>
          <a:noFill/>
        </p:spPr>
        <p:txBody>
          <a:bodyPr wrap="square" rtlCol="0" anchor="ctr"/>
          <a:lstStyle/>
          <a:p>
            <a:pPr marL="0" indent="0">
              <a:buNone/>
            </a:pPr>
            <a:r>
              <a:rPr lang="en-US" sz="800" i="1" dirty="0">
                <a:solidFill>
                  <a:srgbClr val="EF233C"/>
                </a:solidFill>
                <a:latin typeface="Calibri" panose="020F0502020204030204" pitchFamily="34" charset="0"/>
                <a:ea typeface="Calibri" panose="020F0502020204030204" pitchFamily="34" charset="-122"/>
                <a:cs typeface="Calibri" panose="020F0502020204030204" pitchFamily="34" charset="-120"/>
              </a:rPr>
              <a:t>✗ 'I ran Autopsy and found evidence of document access.'</a:t>
            </a:r>
            <a:endParaRPr lang="en-US" sz="800" dirty="0"/>
          </a:p>
        </p:txBody>
      </p:sp>
      <p:sp>
        <p:nvSpPr>
          <p:cNvPr id="32" name="Text 30"/>
          <p:cNvSpPr/>
          <p:nvPr/>
        </p:nvSpPr>
        <p:spPr>
          <a:xfrm>
            <a:off x="4462272" y="4334256"/>
            <a:ext cx="4352544" cy="310896"/>
          </a:xfrm>
          <a:prstGeom prst="rect">
            <a:avLst/>
          </a:prstGeom>
          <a:noFill/>
        </p:spPr>
        <p:txBody>
          <a:bodyPr wrap="square" rtlCol="0" anchor="ctr"/>
          <a:lstStyle/>
          <a:p>
            <a:pPr marL="0" indent="0">
              <a:buNone/>
            </a:pPr>
            <a:r>
              <a:rPr lang="en-US" sz="800" i="1" dirty="0">
                <a:solidFill>
                  <a:srgbClr val="06D6A0"/>
                </a:solidFill>
                <a:latin typeface="Calibri" panose="020F0502020204030204" pitchFamily="34" charset="0"/>
                <a:ea typeface="Calibri" panose="020F0502020204030204" pitchFamily="34" charset="-122"/>
                <a:cs typeface="Calibri" panose="020F0502020204030204" pitchFamily="34" charset="-120"/>
              </a:rPr>
              <a:t>✓ 'Autopsy v4.21.0 (SHA-256: 3d8a…) was used to parse the MFT. Command-line flags: [logged]. Results exported to Exhibit 07.'</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Stage 06 — Reporting: Forensic Writing Principles (Part 2 of 2)</a:t>
            </a:r>
            <a:endParaRPr lang="en-US" sz="1400" dirty="0"/>
          </a:p>
        </p:txBody>
      </p:sp>
      <p:sp>
        <p:nvSpPr>
          <p:cNvPr id="6" name="Shape 4"/>
          <p:cNvSpPr/>
          <p:nvPr/>
        </p:nvSpPr>
        <p:spPr>
          <a:xfrm>
            <a:off x="109728" y="822960"/>
            <a:ext cx="8924544" cy="365760"/>
          </a:xfrm>
          <a:prstGeom prst="rect">
            <a:avLst/>
          </a:prstGeom>
          <a:solidFill>
            <a:srgbClr val="EEF6FB"/>
          </a:solidFill>
          <a:ln w="12700">
            <a:solidFill>
              <a:srgbClr val="06D6A0"/>
            </a:solidFill>
            <a:prstDash val="solid"/>
          </a:ln>
        </p:spPr>
        <p:txBody>
          <a:bodyPr/>
          <a:lstStyle/>
          <a:p>
            <a:endParaRPr lang="en-SG"/>
          </a:p>
        </p:txBody>
      </p:sp>
      <p:sp>
        <p:nvSpPr>
          <p:cNvPr id="7" name="Text 5"/>
          <p:cNvSpPr/>
          <p:nvPr/>
        </p:nvSpPr>
        <p:spPr>
          <a:xfrm>
            <a:off x="219456" y="868680"/>
            <a:ext cx="8705088" cy="274320"/>
          </a:xfrm>
          <a:prstGeom prst="rect">
            <a:avLst/>
          </a:prstGeom>
          <a:noFill/>
        </p:spPr>
        <p:txBody>
          <a:bodyPr wrap="square" rtlCol="0" anchor="ctr"/>
          <a:lstStyle/>
          <a:p>
            <a:pPr marL="0" indent="0">
              <a:buNone/>
            </a:pPr>
            <a:r>
              <a:rPr lang="en-US" sz="950" i="1" dirty="0">
                <a:solidFill>
                  <a:srgbClr val="1A1A2E"/>
                </a:solidFill>
                <a:latin typeface="Calibri" panose="020F0502020204030204" pitchFamily="34" charset="0"/>
                <a:ea typeface="Calibri" panose="020F0502020204030204" pitchFamily="34" charset="-122"/>
                <a:cs typeface="Calibri" panose="020F0502020204030204" pitchFamily="34" charset="-120"/>
              </a:rPr>
              <a:t>Continuing from Part 1. Part 2 covers the final three writing principles: Plain Language, No Speculation, and Completeness. Together, all six principles form the professional standard by which forensic reports are evaluated in court.</a:t>
            </a:r>
            <a:endParaRPr lang="en-US" sz="950" dirty="0"/>
          </a:p>
        </p:txBody>
      </p:sp>
      <p:sp>
        <p:nvSpPr>
          <p:cNvPr id="8" name="Shape 6"/>
          <p:cNvSpPr/>
          <p:nvPr/>
        </p:nvSpPr>
        <p:spPr>
          <a:xfrm>
            <a:off x="109728" y="1243584"/>
            <a:ext cx="4425696" cy="182880"/>
          </a:xfrm>
          <a:prstGeom prst="rect">
            <a:avLst/>
          </a:prstGeom>
          <a:solidFill>
            <a:srgbClr val="EEF6FB"/>
          </a:solidFill>
          <a:ln w="12700">
            <a:solidFill>
              <a:srgbClr val="2E4068"/>
            </a:solidFill>
            <a:prstDash val="solid"/>
          </a:ln>
        </p:spPr>
        <p:txBody>
          <a:bodyPr/>
          <a:lstStyle/>
          <a:p>
            <a:endParaRPr lang="en-SG"/>
          </a:p>
        </p:txBody>
      </p:sp>
      <p:sp>
        <p:nvSpPr>
          <p:cNvPr id="9" name="Shape 7"/>
          <p:cNvSpPr/>
          <p:nvPr/>
        </p:nvSpPr>
        <p:spPr>
          <a:xfrm>
            <a:off x="4608576" y="1243584"/>
            <a:ext cx="4425696" cy="182880"/>
          </a:xfrm>
          <a:prstGeom prst="rect">
            <a:avLst/>
          </a:prstGeom>
          <a:solidFill>
            <a:srgbClr val="9B5DE5"/>
          </a:solidFill>
          <a:ln w="12700">
            <a:solidFill>
              <a:srgbClr val="9B5DE5"/>
            </a:solidFill>
            <a:prstDash val="solid"/>
          </a:ln>
        </p:spPr>
        <p:txBody>
          <a:bodyPr/>
          <a:lstStyle/>
          <a:p>
            <a:endParaRPr lang="en-SG"/>
          </a:p>
        </p:txBody>
      </p:sp>
      <p:sp>
        <p:nvSpPr>
          <p:cNvPr id="10" name="Text 8"/>
          <p:cNvSpPr/>
          <p:nvPr/>
        </p:nvSpPr>
        <p:spPr>
          <a:xfrm>
            <a:off x="146304" y="1252728"/>
            <a:ext cx="4352544" cy="146304"/>
          </a:xfrm>
          <a:prstGeom prst="rect">
            <a:avLst/>
          </a:prstGeom>
          <a:noFill/>
        </p:spPr>
        <p:txBody>
          <a:bodyPr wrap="square" lIns="0" tIns="0" rIns="0" bIns="0" rtlCol="0" anchor="ctr"/>
          <a:lstStyle/>
          <a:p>
            <a:pPr marL="0" indent="0" algn="ctr">
              <a:buNone/>
            </a:pPr>
            <a:r>
              <a:rPr lang="en-US" sz="800"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 Part 1 — Principles 1–3 (previous slide)</a:t>
            </a:r>
            <a:endParaRPr lang="en-US" sz="800" dirty="0"/>
          </a:p>
        </p:txBody>
      </p:sp>
      <p:sp>
        <p:nvSpPr>
          <p:cNvPr id="11" name="Text 9"/>
          <p:cNvSpPr/>
          <p:nvPr/>
        </p:nvSpPr>
        <p:spPr>
          <a:xfrm>
            <a:off x="4645152" y="1252728"/>
            <a:ext cx="4352544" cy="146304"/>
          </a:xfrm>
          <a:prstGeom prst="rect">
            <a:avLst/>
          </a:prstGeom>
          <a:noFill/>
        </p:spPr>
        <p:txBody>
          <a:bodyPr wrap="square" lIns="0" tIns="0" rIns="0" bIns="0" rtlCol="0" anchor="ctr"/>
          <a:lstStyle/>
          <a:p>
            <a:pPr marL="0" indent="0" algn="ctr">
              <a:buNone/>
            </a:pPr>
            <a:r>
              <a:rPr lang="en-US" sz="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Part 2 — Principles 4–6</a:t>
            </a:r>
            <a:endParaRPr lang="en-US" sz="800" dirty="0"/>
          </a:p>
        </p:txBody>
      </p:sp>
      <p:sp>
        <p:nvSpPr>
          <p:cNvPr id="12" name="Shape 10"/>
          <p:cNvSpPr/>
          <p:nvPr/>
        </p:nvSpPr>
        <p:spPr>
          <a:xfrm>
            <a:off x="109728" y="1481328"/>
            <a:ext cx="8924544" cy="104241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3" name="Shape 11"/>
          <p:cNvSpPr/>
          <p:nvPr/>
        </p:nvSpPr>
        <p:spPr>
          <a:xfrm>
            <a:off x="109728" y="1481328"/>
            <a:ext cx="8924544" cy="329184"/>
          </a:xfrm>
          <a:prstGeom prst="rect">
            <a:avLst/>
          </a:prstGeom>
          <a:solidFill>
            <a:srgbClr val="00B4D8"/>
          </a:solidFill>
          <a:ln w="12700">
            <a:solidFill>
              <a:srgbClr val="00B4D8"/>
            </a:solidFill>
            <a:prstDash val="solid"/>
          </a:ln>
        </p:spPr>
        <p:txBody>
          <a:bodyPr/>
          <a:lstStyle/>
          <a:p>
            <a:endParaRPr lang="en-SG"/>
          </a:p>
        </p:txBody>
      </p:sp>
      <p:sp>
        <p:nvSpPr>
          <p:cNvPr id="14" name="Text 12"/>
          <p:cNvSpPr/>
          <p:nvPr/>
        </p:nvSpPr>
        <p:spPr>
          <a:xfrm>
            <a:off x="219456" y="1527048"/>
            <a:ext cx="8705088" cy="219456"/>
          </a:xfrm>
          <a:prstGeom prst="rect">
            <a:avLst/>
          </a:prstGeom>
          <a:noFill/>
        </p:spPr>
        <p:txBody>
          <a:bodyPr wrap="square" lIns="0" tIns="0" rIns="0" bIns="0" rtlCol="0" anchor="ctr"/>
          <a:lstStyle/>
          <a:p>
            <a:pPr marL="0" indent="0">
              <a:buNone/>
            </a:pPr>
            <a:r>
              <a:rPr lang="en-US" sz="1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 Principle 4 — Plain Language</a:t>
            </a:r>
            <a:endParaRPr lang="en-US" sz="1200" dirty="0"/>
          </a:p>
        </p:txBody>
      </p:sp>
      <p:sp>
        <p:nvSpPr>
          <p:cNvPr id="15" name="Text 13"/>
          <p:cNvSpPr/>
          <p:nvPr/>
        </p:nvSpPr>
        <p:spPr>
          <a:xfrm>
            <a:off x="219456" y="1865376"/>
            <a:ext cx="4023360" cy="60350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Technical findings must be expressed in terms that judges, juries, and non-technical legal counsel can understand. Forensic jargon without explanation alienates the audience and weakens the persuasive force of your evidence. Always pair technical terms with a plain-English translation. Analogies are acceptable and helpful.</a:t>
            </a:r>
            <a:endParaRPr lang="en-US" sz="850" dirty="0"/>
          </a:p>
        </p:txBody>
      </p:sp>
      <p:sp>
        <p:nvSpPr>
          <p:cNvPr id="16" name="Shape 14"/>
          <p:cNvSpPr/>
          <p:nvPr/>
        </p:nvSpPr>
        <p:spPr>
          <a:xfrm>
            <a:off x="4370832" y="1847088"/>
            <a:ext cx="4535424" cy="621792"/>
          </a:xfrm>
          <a:prstGeom prst="rect">
            <a:avLst/>
          </a:prstGeom>
          <a:solidFill>
            <a:srgbClr val="EEF6FB"/>
          </a:solidFill>
          <a:ln w="12700">
            <a:solidFill>
              <a:srgbClr val="00B4D8"/>
            </a:solidFill>
            <a:prstDash val="solid"/>
          </a:ln>
        </p:spPr>
        <p:txBody>
          <a:bodyPr/>
          <a:lstStyle/>
          <a:p>
            <a:endParaRPr lang="en-SG"/>
          </a:p>
        </p:txBody>
      </p:sp>
      <p:sp>
        <p:nvSpPr>
          <p:cNvPr id="17" name="Text 15"/>
          <p:cNvSpPr/>
          <p:nvPr/>
        </p:nvSpPr>
        <p:spPr>
          <a:xfrm>
            <a:off x="4462272" y="1865376"/>
            <a:ext cx="4352544" cy="237744"/>
          </a:xfrm>
          <a:prstGeom prst="rect">
            <a:avLst/>
          </a:prstGeom>
          <a:noFill/>
        </p:spPr>
        <p:txBody>
          <a:bodyPr wrap="square" rtlCol="0" anchor="ctr"/>
          <a:lstStyle/>
          <a:p>
            <a:pPr marL="0" indent="0">
              <a:buNone/>
            </a:pPr>
            <a:r>
              <a:rPr lang="en-US" sz="800" i="1" dirty="0">
                <a:solidFill>
                  <a:srgbClr val="EF233C"/>
                </a:solidFill>
                <a:latin typeface="Calibri" panose="020F0502020204030204" pitchFamily="34" charset="0"/>
                <a:ea typeface="Calibri" panose="020F0502020204030204" pitchFamily="34" charset="-122"/>
                <a:cs typeface="Calibri" panose="020F0502020204030204" pitchFamily="34" charset="-120"/>
              </a:rPr>
              <a:t>✗ 'The $MFT $SI attribute M timestamp diverges from the $FN attribute M timestamp by 72 hours.'</a:t>
            </a:r>
            <a:endParaRPr lang="en-US" sz="800" dirty="0"/>
          </a:p>
        </p:txBody>
      </p:sp>
      <p:sp>
        <p:nvSpPr>
          <p:cNvPr id="18" name="Text 16"/>
          <p:cNvSpPr/>
          <p:nvPr/>
        </p:nvSpPr>
        <p:spPr>
          <a:xfrm>
            <a:off x="4462272" y="2103120"/>
            <a:ext cx="4352544" cy="310896"/>
          </a:xfrm>
          <a:prstGeom prst="rect">
            <a:avLst/>
          </a:prstGeom>
          <a:noFill/>
        </p:spPr>
        <p:txBody>
          <a:bodyPr wrap="square" rtlCol="0" anchor="ctr"/>
          <a:lstStyle/>
          <a:p>
            <a:pPr marL="0" indent="0">
              <a:buNone/>
            </a:pPr>
            <a:r>
              <a:rPr lang="en-US" sz="800" i="1" dirty="0">
                <a:solidFill>
                  <a:srgbClr val="06D6A0"/>
                </a:solidFill>
                <a:latin typeface="Calibri" panose="020F0502020204030204" pitchFamily="34" charset="0"/>
                <a:ea typeface="Calibri" panose="020F0502020204030204" pitchFamily="34" charset="-122"/>
                <a:cs typeface="Calibri" panose="020F0502020204030204" pitchFamily="34" charset="-120"/>
              </a:rPr>
              <a:t>✓ 'The file's internal timestamp was altered after the file was created — a strong indicator of deliberate timestamp manipulation (timestomping).'</a:t>
            </a:r>
            <a:endParaRPr lang="en-US" sz="800" dirty="0"/>
          </a:p>
        </p:txBody>
      </p:sp>
      <p:sp>
        <p:nvSpPr>
          <p:cNvPr id="19" name="Shape 17"/>
          <p:cNvSpPr/>
          <p:nvPr/>
        </p:nvSpPr>
        <p:spPr>
          <a:xfrm>
            <a:off x="109728" y="2596896"/>
            <a:ext cx="8924544" cy="104241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0" name="Shape 18"/>
          <p:cNvSpPr/>
          <p:nvPr/>
        </p:nvSpPr>
        <p:spPr>
          <a:xfrm>
            <a:off x="109728" y="2596896"/>
            <a:ext cx="8924544" cy="329184"/>
          </a:xfrm>
          <a:prstGeom prst="rect">
            <a:avLst/>
          </a:prstGeom>
          <a:solidFill>
            <a:srgbClr val="FB8500"/>
          </a:solidFill>
          <a:ln w="12700">
            <a:solidFill>
              <a:srgbClr val="FB8500"/>
            </a:solidFill>
            <a:prstDash val="solid"/>
          </a:ln>
        </p:spPr>
        <p:txBody>
          <a:bodyPr/>
          <a:lstStyle/>
          <a:p>
            <a:endParaRPr lang="en-SG"/>
          </a:p>
        </p:txBody>
      </p:sp>
      <p:sp>
        <p:nvSpPr>
          <p:cNvPr id="21" name="Text 19"/>
          <p:cNvSpPr/>
          <p:nvPr/>
        </p:nvSpPr>
        <p:spPr>
          <a:xfrm>
            <a:off x="219456" y="2642616"/>
            <a:ext cx="8705088" cy="219456"/>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 Principle 5 — No Speculation</a:t>
            </a:r>
            <a:endParaRPr lang="en-US" sz="1200" dirty="0"/>
          </a:p>
        </p:txBody>
      </p:sp>
      <p:sp>
        <p:nvSpPr>
          <p:cNvPr id="22" name="Text 20"/>
          <p:cNvSpPr/>
          <p:nvPr/>
        </p:nvSpPr>
        <p:spPr>
          <a:xfrm>
            <a:off x="219456" y="2980944"/>
            <a:ext cx="4023360" cy="60350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Clearly distinguish between confirmed facts, reasonable inferences, and speculation. Use precise language to signal your level of certainty in every statement. An overconfident examiner who overstates findings is far more damaging to a case than an honest one who acknowledges uncertainty. The examiner's role is to educate the court — not to advocate for a party.</a:t>
            </a:r>
            <a:endParaRPr lang="en-US" sz="850" dirty="0"/>
          </a:p>
        </p:txBody>
      </p:sp>
      <p:sp>
        <p:nvSpPr>
          <p:cNvPr id="23" name="Shape 21"/>
          <p:cNvSpPr/>
          <p:nvPr/>
        </p:nvSpPr>
        <p:spPr>
          <a:xfrm>
            <a:off x="4370832" y="2962656"/>
            <a:ext cx="4535424" cy="621792"/>
          </a:xfrm>
          <a:prstGeom prst="rect">
            <a:avLst/>
          </a:prstGeom>
          <a:solidFill>
            <a:srgbClr val="EEF6FB"/>
          </a:solidFill>
          <a:ln w="12700">
            <a:solidFill>
              <a:srgbClr val="FB8500"/>
            </a:solidFill>
            <a:prstDash val="solid"/>
          </a:ln>
        </p:spPr>
        <p:txBody>
          <a:bodyPr/>
          <a:lstStyle/>
          <a:p>
            <a:endParaRPr lang="en-SG"/>
          </a:p>
        </p:txBody>
      </p:sp>
      <p:sp>
        <p:nvSpPr>
          <p:cNvPr id="24" name="Text 22"/>
          <p:cNvSpPr/>
          <p:nvPr/>
        </p:nvSpPr>
        <p:spPr>
          <a:xfrm>
            <a:off x="4462272" y="2980944"/>
            <a:ext cx="4352544" cy="237744"/>
          </a:xfrm>
          <a:prstGeom prst="rect">
            <a:avLst/>
          </a:prstGeom>
          <a:noFill/>
        </p:spPr>
        <p:txBody>
          <a:bodyPr wrap="square" rtlCol="0" anchor="ctr"/>
          <a:lstStyle/>
          <a:p>
            <a:pPr marL="0" indent="0">
              <a:buNone/>
            </a:pPr>
            <a:r>
              <a:rPr lang="en-US" sz="800" i="1" dirty="0">
                <a:solidFill>
                  <a:srgbClr val="EF233C"/>
                </a:solidFill>
                <a:latin typeface="Calibri" panose="020F0502020204030204" pitchFamily="34" charset="0"/>
                <a:ea typeface="Calibri" panose="020F0502020204030204" pitchFamily="34" charset="-122"/>
                <a:cs typeface="Calibri" panose="020F0502020204030204" pitchFamily="34" charset="-120"/>
              </a:rPr>
              <a:t>✗ 'The defendant deliberately deleted the files to conceal the fraud.'</a:t>
            </a:r>
            <a:endParaRPr lang="en-US" sz="800" dirty="0"/>
          </a:p>
        </p:txBody>
      </p:sp>
      <p:sp>
        <p:nvSpPr>
          <p:cNvPr id="25" name="Text 23"/>
          <p:cNvSpPr/>
          <p:nvPr/>
        </p:nvSpPr>
        <p:spPr>
          <a:xfrm>
            <a:off x="4462272" y="3218688"/>
            <a:ext cx="4352544" cy="310896"/>
          </a:xfrm>
          <a:prstGeom prst="rect">
            <a:avLst/>
          </a:prstGeom>
          <a:noFill/>
        </p:spPr>
        <p:txBody>
          <a:bodyPr wrap="square" rtlCol="0" anchor="ctr"/>
          <a:lstStyle/>
          <a:p>
            <a:pPr marL="0" indent="0">
              <a:buNone/>
            </a:pPr>
            <a:r>
              <a:rPr lang="en-US" sz="800" i="1" dirty="0">
                <a:solidFill>
                  <a:srgbClr val="06D6A0"/>
                </a:solidFill>
                <a:latin typeface="Calibri" panose="020F0502020204030204" pitchFamily="34" charset="0"/>
                <a:ea typeface="Calibri" panose="020F0502020204030204" pitchFamily="34" charset="-122"/>
                <a:cs typeface="Calibri" panose="020F0502020204030204" pitchFamily="34" charset="-120"/>
              </a:rPr>
              <a:t>✓ 'The files were moved to the Recycle Bin on 10 Mar 2025 and subsequently deleted. This action is consistent with deliberate removal, though I cannot exclude the possibility of automated cleanup.'</a:t>
            </a:r>
            <a:endParaRPr lang="en-US" sz="800" dirty="0"/>
          </a:p>
        </p:txBody>
      </p:sp>
      <p:sp>
        <p:nvSpPr>
          <p:cNvPr id="26" name="Shape 24"/>
          <p:cNvSpPr/>
          <p:nvPr/>
        </p:nvSpPr>
        <p:spPr>
          <a:xfrm>
            <a:off x="109728" y="3712464"/>
            <a:ext cx="8924544" cy="1042416"/>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109728" y="3712464"/>
            <a:ext cx="8924544" cy="329184"/>
          </a:xfrm>
          <a:prstGeom prst="rect">
            <a:avLst/>
          </a:prstGeom>
          <a:solidFill>
            <a:srgbClr val="EF233C"/>
          </a:solidFill>
          <a:ln w="12700">
            <a:solidFill>
              <a:srgbClr val="EF233C"/>
            </a:solidFill>
            <a:prstDash val="solid"/>
          </a:ln>
        </p:spPr>
        <p:txBody>
          <a:bodyPr/>
          <a:lstStyle/>
          <a:p>
            <a:endParaRPr lang="en-SG"/>
          </a:p>
        </p:txBody>
      </p:sp>
      <p:sp>
        <p:nvSpPr>
          <p:cNvPr id="28" name="Text 26"/>
          <p:cNvSpPr/>
          <p:nvPr/>
        </p:nvSpPr>
        <p:spPr>
          <a:xfrm>
            <a:off x="219456" y="3758184"/>
            <a:ext cx="8705088" cy="219456"/>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 Principle 6 — Completeness</a:t>
            </a:r>
            <a:endParaRPr lang="en-US" sz="1200" dirty="0"/>
          </a:p>
        </p:txBody>
      </p:sp>
      <p:sp>
        <p:nvSpPr>
          <p:cNvPr id="29" name="Text 27"/>
          <p:cNvSpPr/>
          <p:nvPr/>
        </p:nvSpPr>
        <p:spPr>
          <a:xfrm>
            <a:off x="219456" y="4096512"/>
            <a:ext cx="4023360" cy="603504"/>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Document everything — including limitations, failed analysis attempts, and negative findings. Silence on a relevant issue is not neutrality: defence counsel will treat it as concealment. If you could not examine an encrypted volume, say so. If keyword searches returned no hits, say so. A complete report is a credible report.</a:t>
            </a:r>
            <a:endParaRPr lang="en-US" sz="850" dirty="0"/>
          </a:p>
        </p:txBody>
      </p:sp>
      <p:sp>
        <p:nvSpPr>
          <p:cNvPr id="30" name="Shape 28"/>
          <p:cNvSpPr/>
          <p:nvPr/>
        </p:nvSpPr>
        <p:spPr>
          <a:xfrm>
            <a:off x="4370832" y="4078224"/>
            <a:ext cx="4535424" cy="621792"/>
          </a:xfrm>
          <a:prstGeom prst="rect">
            <a:avLst/>
          </a:prstGeom>
          <a:solidFill>
            <a:srgbClr val="EEF6FB"/>
          </a:solidFill>
          <a:ln w="12700">
            <a:solidFill>
              <a:srgbClr val="EF233C"/>
            </a:solidFill>
            <a:prstDash val="solid"/>
          </a:ln>
        </p:spPr>
        <p:txBody>
          <a:bodyPr/>
          <a:lstStyle/>
          <a:p>
            <a:endParaRPr lang="en-SG"/>
          </a:p>
        </p:txBody>
      </p:sp>
      <p:sp>
        <p:nvSpPr>
          <p:cNvPr id="31" name="Text 29"/>
          <p:cNvSpPr/>
          <p:nvPr/>
        </p:nvSpPr>
        <p:spPr>
          <a:xfrm>
            <a:off x="4462272" y="4096512"/>
            <a:ext cx="4352544" cy="237744"/>
          </a:xfrm>
          <a:prstGeom prst="rect">
            <a:avLst/>
          </a:prstGeom>
          <a:noFill/>
        </p:spPr>
        <p:txBody>
          <a:bodyPr wrap="square" rtlCol="0" anchor="ctr"/>
          <a:lstStyle/>
          <a:p>
            <a:pPr marL="0" indent="0">
              <a:buNone/>
            </a:pPr>
            <a:r>
              <a:rPr lang="en-US" sz="800" i="1" dirty="0">
                <a:solidFill>
                  <a:srgbClr val="EF233C"/>
                </a:solidFill>
                <a:latin typeface="Calibri" panose="020F0502020204030204" pitchFamily="34" charset="0"/>
                <a:ea typeface="Calibri" panose="020F0502020204030204" pitchFamily="34" charset="-122"/>
                <a:cs typeface="Calibri" panose="020F0502020204030204" pitchFamily="34" charset="-120"/>
              </a:rPr>
              <a:t>✗ [Report contains no mention of the encrypted VeraCrypt container found on the same device.]</a:t>
            </a:r>
            <a:endParaRPr lang="en-US" sz="800" dirty="0"/>
          </a:p>
        </p:txBody>
      </p:sp>
      <p:sp>
        <p:nvSpPr>
          <p:cNvPr id="32" name="Text 30"/>
          <p:cNvSpPr/>
          <p:nvPr/>
        </p:nvSpPr>
        <p:spPr>
          <a:xfrm>
            <a:off x="4462272" y="4334256"/>
            <a:ext cx="4352544" cy="310896"/>
          </a:xfrm>
          <a:prstGeom prst="rect">
            <a:avLst/>
          </a:prstGeom>
          <a:noFill/>
        </p:spPr>
        <p:txBody>
          <a:bodyPr wrap="square" rtlCol="0" anchor="ctr"/>
          <a:lstStyle/>
          <a:p>
            <a:pPr marL="0" indent="0">
              <a:buNone/>
            </a:pPr>
            <a:r>
              <a:rPr lang="en-US" sz="800" i="1" dirty="0">
                <a:solidFill>
                  <a:srgbClr val="06D6A0"/>
                </a:solidFill>
                <a:latin typeface="Calibri" panose="020F0502020204030204" pitchFamily="34" charset="0"/>
                <a:ea typeface="Calibri" panose="020F0502020204030204" pitchFamily="34" charset="-122"/>
                <a:cs typeface="Calibri" panose="020F0502020204030204" pitchFamily="34" charset="-120"/>
              </a:rPr>
              <a:t>✓ 'A VeraCrypt-encrypted container (volume label: DATA.vc) was identified at D:\. Without the decryption key, the contents could not be examined. This represents a limitation of this investigation.'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Reporting Phase — Expert Witness Testimony &amp; Court Presentation</a:t>
            </a:r>
            <a:endParaRPr lang="en-US" sz="1700" dirty="0"/>
          </a:p>
        </p:txBody>
      </p:sp>
      <p:sp>
        <p:nvSpPr>
          <p:cNvPr id="6" name="Shape 4"/>
          <p:cNvSpPr/>
          <p:nvPr/>
        </p:nvSpPr>
        <p:spPr>
          <a:xfrm>
            <a:off x="164592" y="841248"/>
            <a:ext cx="8814816" cy="475488"/>
          </a:xfrm>
          <a:prstGeom prst="rect">
            <a:avLst/>
          </a:prstGeom>
          <a:solidFill>
            <a:srgbClr val="EEF6FB"/>
          </a:solidFill>
          <a:ln w="12700">
            <a:solidFill>
              <a:srgbClr val="2E4068"/>
            </a:solidFill>
            <a:prstDash val="solid"/>
          </a:ln>
        </p:spPr>
        <p:txBody>
          <a:bodyPr/>
          <a:lstStyle/>
          <a:p>
            <a:endParaRPr lang="en-SG"/>
          </a:p>
        </p:txBody>
      </p:sp>
      <p:sp>
        <p:nvSpPr>
          <p:cNvPr id="7" name="Text 5"/>
          <p:cNvSpPr/>
          <p:nvPr/>
        </p:nvSpPr>
        <p:spPr>
          <a:xfrm>
            <a:off x="274320" y="905256"/>
            <a:ext cx="2011680" cy="237744"/>
          </a:xfrm>
          <a:prstGeom prst="rect">
            <a:avLst/>
          </a:prstGeom>
          <a:noFill/>
        </p:spPr>
        <p:txBody>
          <a:bodyPr wrap="square" lIns="0" tIns="0" rIns="0" bIns="0" rtlCol="0" anchor="ctr"/>
          <a:lstStyle/>
          <a:p>
            <a:pPr marL="0" indent="0">
              <a:buNone/>
            </a:pPr>
            <a:r>
              <a:rPr lang="en-US" sz="115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Role of the Expert Witness:</a:t>
            </a:r>
            <a:endParaRPr lang="en-US" sz="1150" dirty="0"/>
          </a:p>
        </p:txBody>
      </p:sp>
      <p:sp>
        <p:nvSpPr>
          <p:cNvPr id="8" name="Text 6"/>
          <p:cNvSpPr/>
          <p:nvPr/>
        </p:nvSpPr>
        <p:spPr>
          <a:xfrm>
            <a:off x="2322576" y="896112"/>
            <a:ext cx="6565392" cy="384048"/>
          </a:xfrm>
          <a:prstGeom prst="rect">
            <a:avLst/>
          </a:prstGeom>
          <a:noFill/>
        </p:spPr>
        <p:txBody>
          <a:bodyPr wrap="square" rtlCol="0" anchor="ctr"/>
          <a:lstStyle/>
          <a:p>
            <a:pPr marL="0" indent="0">
              <a:buNone/>
            </a:pPr>
            <a:r>
              <a:rPr lang="en-US" sz="1050" dirty="0">
                <a:solidFill>
                  <a:srgbClr val="1A1A2E"/>
                </a:solidFill>
                <a:latin typeface="Calibri" panose="020F0502020204030204" pitchFamily="34" charset="0"/>
                <a:ea typeface="Calibri" panose="020F0502020204030204" pitchFamily="34" charset="-122"/>
                <a:cs typeface="Calibri" panose="020F0502020204030204" pitchFamily="34" charset="-120"/>
              </a:rPr>
              <a:t>An expert witness assists the court in understanding complex technical matters. Unlike a fact witness, an expert may offer opinions — but only within their proven area of expertise and based solely on evidence.</a:t>
            </a:r>
            <a:endParaRPr lang="en-US" sz="1050" dirty="0"/>
          </a:p>
        </p:txBody>
      </p:sp>
      <p:sp>
        <p:nvSpPr>
          <p:cNvPr id="9" name="Shape 7"/>
          <p:cNvSpPr/>
          <p:nvPr/>
        </p:nvSpPr>
        <p:spPr>
          <a:xfrm>
            <a:off x="109728" y="1389888"/>
            <a:ext cx="2871216" cy="3328416"/>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0" name="Shape 8"/>
          <p:cNvSpPr/>
          <p:nvPr/>
        </p:nvSpPr>
        <p:spPr>
          <a:xfrm>
            <a:off x="109728" y="1389888"/>
            <a:ext cx="2871216" cy="329184"/>
          </a:xfrm>
          <a:prstGeom prst="rect">
            <a:avLst/>
          </a:prstGeom>
          <a:solidFill>
            <a:srgbClr val="9B5DE5"/>
          </a:solidFill>
          <a:ln w="12700">
            <a:solidFill>
              <a:srgbClr val="9B5DE5"/>
            </a:solidFill>
            <a:prstDash val="solid"/>
          </a:ln>
        </p:spPr>
        <p:txBody>
          <a:bodyPr/>
          <a:lstStyle/>
          <a:p>
            <a:endParaRPr lang="en-SG"/>
          </a:p>
        </p:txBody>
      </p:sp>
      <p:sp>
        <p:nvSpPr>
          <p:cNvPr id="11" name="Text 9"/>
          <p:cNvSpPr/>
          <p:nvPr/>
        </p:nvSpPr>
        <p:spPr>
          <a:xfrm>
            <a:off x="201168" y="1417320"/>
            <a:ext cx="2688336" cy="237744"/>
          </a:xfrm>
          <a:prstGeom prst="rect">
            <a:avLst/>
          </a:prstGeom>
          <a:noFill/>
        </p:spPr>
        <p:txBody>
          <a:bodyPr wrap="square" rtlCol="0" anchor="ctr"/>
          <a:lstStyle/>
          <a:p>
            <a:pPr marL="0" indent="0">
              <a:buNone/>
            </a:pPr>
            <a:r>
              <a:rPr lang="en-US" sz="1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DUTIES OF THE EXPERT</a:t>
            </a:r>
            <a:endParaRPr lang="en-US" sz="1000" dirty="0"/>
          </a:p>
        </p:txBody>
      </p:sp>
      <p:sp>
        <p:nvSpPr>
          <p:cNvPr id="12" name="Text 10"/>
          <p:cNvSpPr/>
          <p:nvPr/>
        </p:nvSpPr>
        <p:spPr>
          <a:xfrm>
            <a:off x="201168" y="1792224"/>
            <a:ext cx="2688336" cy="201168"/>
          </a:xfrm>
          <a:prstGeom prst="rect">
            <a:avLst/>
          </a:prstGeom>
          <a:noFill/>
        </p:spPr>
        <p:txBody>
          <a:bodyPr wrap="square"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Duty to the Court</a:t>
            </a:r>
            <a:endParaRPr lang="en-US" sz="1000" dirty="0"/>
          </a:p>
        </p:txBody>
      </p:sp>
      <p:sp>
        <p:nvSpPr>
          <p:cNvPr id="13" name="Text 11"/>
          <p:cNvSpPr/>
          <p:nvPr/>
        </p:nvSpPr>
        <p:spPr>
          <a:xfrm>
            <a:off x="201168" y="199339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The expert's primary duty is to the court — not to the party that engaged them. Objectivity is paramount, even if findings undermine the instructing party's case.</a:t>
            </a:r>
            <a:endParaRPr lang="en-US" sz="850" dirty="0"/>
          </a:p>
        </p:txBody>
      </p:sp>
      <p:sp>
        <p:nvSpPr>
          <p:cNvPr id="14" name="Text 12"/>
          <p:cNvSpPr/>
          <p:nvPr/>
        </p:nvSpPr>
        <p:spPr>
          <a:xfrm>
            <a:off x="201168" y="2523744"/>
            <a:ext cx="2688336" cy="201168"/>
          </a:xfrm>
          <a:prstGeom prst="rect">
            <a:avLst/>
          </a:prstGeom>
          <a:noFill/>
        </p:spPr>
        <p:txBody>
          <a:bodyPr wrap="square"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Declaration of Competence</a:t>
            </a:r>
            <a:endParaRPr lang="en-US" sz="1000" dirty="0"/>
          </a:p>
        </p:txBody>
      </p:sp>
      <p:sp>
        <p:nvSpPr>
          <p:cNvPr id="15" name="Text 13"/>
          <p:cNvSpPr/>
          <p:nvPr/>
        </p:nvSpPr>
        <p:spPr>
          <a:xfrm>
            <a:off x="201168" y="272491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Expert must declare their qualifications, experience, and the basis for their opinions. CV and prior testimony history may be scrutinised by opposing counsel.</a:t>
            </a:r>
            <a:endParaRPr lang="en-US" sz="850" dirty="0"/>
          </a:p>
        </p:txBody>
      </p:sp>
      <p:sp>
        <p:nvSpPr>
          <p:cNvPr id="16" name="Text 14"/>
          <p:cNvSpPr/>
          <p:nvPr/>
        </p:nvSpPr>
        <p:spPr>
          <a:xfrm>
            <a:off x="201168" y="3255264"/>
            <a:ext cx="2688336" cy="201168"/>
          </a:xfrm>
          <a:prstGeom prst="rect">
            <a:avLst/>
          </a:prstGeom>
          <a:noFill/>
        </p:spPr>
        <p:txBody>
          <a:bodyPr wrap="square"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Qualified Findings Only</a:t>
            </a:r>
            <a:endParaRPr lang="en-US" sz="1000" dirty="0"/>
          </a:p>
        </p:txBody>
      </p:sp>
      <p:sp>
        <p:nvSpPr>
          <p:cNvPr id="17" name="Text 15"/>
          <p:cNvSpPr/>
          <p:nvPr/>
        </p:nvSpPr>
        <p:spPr>
          <a:xfrm>
            <a:off x="201168" y="345643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Only offer opinions within expertise. A disk forensics examiner should not opine on network intrusion unless also qualified in that area.</a:t>
            </a:r>
            <a:endParaRPr lang="en-US" sz="850" dirty="0"/>
          </a:p>
        </p:txBody>
      </p:sp>
      <p:sp>
        <p:nvSpPr>
          <p:cNvPr id="18" name="Text 16"/>
          <p:cNvSpPr/>
          <p:nvPr/>
        </p:nvSpPr>
        <p:spPr>
          <a:xfrm>
            <a:off x="201168" y="3986784"/>
            <a:ext cx="2688336" cy="201168"/>
          </a:xfrm>
          <a:prstGeom prst="rect">
            <a:avLst/>
          </a:prstGeom>
          <a:noFill/>
        </p:spPr>
        <p:txBody>
          <a:bodyPr wrap="square" rtlCol="0" anchor="ctr"/>
          <a:lstStyle/>
          <a:p>
            <a:pPr marL="0" indent="0">
              <a:buNone/>
            </a:pPr>
            <a:r>
              <a:rPr lang="en-US" sz="1000" b="1" dirty="0">
                <a:solidFill>
                  <a:srgbClr val="9B5DE5"/>
                </a:solidFill>
                <a:latin typeface="Trebuchet MS" panose="020B0603020202020204" pitchFamily="34" charset="0"/>
                <a:ea typeface="Trebuchet MS" panose="020B0603020202020204" pitchFamily="34" charset="-122"/>
                <a:cs typeface="Trebuchet MS" panose="020B0603020202020204" pitchFamily="34" charset="-120"/>
              </a:rPr>
              <a:t>Contemporaneous Notes</a:t>
            </a:r>
            <a:endParaRPr lang="en-US" sz="1000" dirty="0"/>
          </a:p>
        </p:txBody>
      </p:sp>
      <p:sp>
        <p:nvSpPr>
          <p:cNvPr id="19" name="Text 17"/>
          <p:cNvSpPr/>
          <p:nvPr/>
        </p:nvSpPr>
        <p:spPr>
          <a:xfrm>
            <a:off x="201168" y="418795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All notes made during examination are discoverable. Keep them. Do not annotate evidence files with opinions — maintain analytical independence.</a:t>
            </a:r>
            <a:endParaRPr lang="en-US" sz="850" dirty="0"/>
          </a:p>
        </p:txBody>
      </p:sp>
      <p:sp>
        <p:nvSpPr>
          <p:cNvPr id="20" name="Shape 18"/>
          <p:cNvSpPr/>
          <p:nvPr/>
        </p:nvSpPr>
        <p:spPr>
          <a:xfrm>
            <a:off x="3118104" y="1389888"/>
            <a:ext cx="2871216" cy="332841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1" name="Shape 19"/>
          <p:cNvSpPr/>
          <p:nvPr/>
        </p:nvSpPr>
        <p:spPr>
          <a:xfrm>
            <a:off x="3118104" y="1389888"/>
            <a:ext cx="2871216" cy="329184"/>
          </a:xfrm>
          <a:prstGeom prst="rect">
            <a:avLst/>
          </a:prstGeom>
          <a:solidFill>
            <a:srgbClr val="FB8500"/>
          </a:solidFill>
          <a:ln w="12700">
            <a:solidFill>
              <a:srgbClr val="FB8500"/>
            </a:solidFill>
            <a:prstDash val="solid"/>
          </a:ln>
        </p:spPr>
        <p:txBody>
          <a:bodyPr/>
          <a:lstStyle/>
          <a:p>
            <a:endParaRPr lang="en-SG"/>
          </a:p>
        </p:txBody>
      </p:sp>
      <p:sp>
        <p:nvSpPr>
          <p:cNvPr id="22" name="Text 20"/>
          <p:cNvSpPr/>
          <p:nvPr/>
        </p:nvSpPr>
        <p:spPr>
          <a:xfrm>
            <a:off x="3209544" y="1417320"/>
            <a:ext cx="2688336" cy="237744"/>
          </a:xfrm>
          <a:prstGeom prst="rect">
            <a:avLst/>
          </a:prstGeom>
          <a:noFill/>
        </p:spPr>
        <p:txBody>
          <a:bodyPr wrap="square" rtlCol="0" anchor="ctr"/>
          <a:lstStyle/>
          <a:p>
            <a:pPr marL="0" indent="0">
              <a:buNone/>
            </a:pPr>
            <a:r>
              <a:rPr lang="en-US" sz="1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SURVIVING CROSS-EXAM</a:t>
            </a:r>
            <a:endParaRPr lang="en-US" sz="1000" dirty="0"/>
          </a:p>
        </p:txBody>
      </p:sp>
      <p:sp>
        <p:nvSpPr>
          <p:cNvPr id="23" name="Text 21"/>
          <p:cNvSpPr/>
          <p:nvPr/>
        </p:nvSpPr>
        <p:spPr>
          <a:xfrm>
            <a:off x="3209544" y="1792224"/>
            <a:ext cx="2688336" cy="201168"/>
          </a:xfrm>
          <a:prstGeom prst="rect">
            <a:avLst/>
          </a:prstGeom>
          <a:noFill/>
        </p:spPr>
        <p:txBody>
          <a:bodyPr wrap="square" rtlCol="0" anchor="ctr"/>
          <a:lstStyle/>
          <a:p>
            <a:pPr marL="0" indent="0">
              <a:buNone/>
            </a:pPr>
            <a:r>
              <a:rPr lang="en-US" sz="10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Know Your Methodology</a:t>
            </a:r>
            <a:endParaRPr lang="en-US" sz="1000" dirty="0"/>
          </a:p>
        </p:txBody>
      </p:sp>
      <p:sp>
        <p:nvSpPr>
          <p:cNvPr id="24" name="Text 22"/>
          <p:cNvSpPr/>
          <p:nvPr/>
        </p:nvSpPr>
        <p:spPr>
          <a:xfrm>
            <a:off x="3209544" y="199339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Opposing counsel will probe every tool and technique. Be prepared to explain why FTK Imager produces a valid forensic copy in plain terms.</a:t>
            </a:r>
            <a:endParaRPr lang="en-US" sz="850" dirty="0"/>
          </a:p>
        </p:txBody>
      </p:sp>
      <p:sp>
        <p:nvSpPr>
          <p:cNvPr id="25" name="Text 23"/>
          <p:cNvSpPr/>
          <p:nvPr/>
        </p:nvSpPr>
        <p:spPr>
          <a:xfrm>
            <a:off x="3209544" y="2523744"/>
            <a:ext cx="2688336" cy="201168"/>
          </a:xfrm>
          <a:prstGeom prst="rect">
            <a:avLst/>
          </a:prstGeom>
          <a:noFill/>
        </p:spPr>
        <p:txBody>
          <a:bodyPr wrap="square" rtlCol="0" anchor="ctr"/>
          <a:lstStyle/>
          <a:p>
            <a:pPr marL="0" indent="0">
              <a:buNone/>
            </a:pPr>
            <a:r>
              <a:rPr lang="en-US" sz="10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Acknowledge Uncertainty</a:t>
            </a:r>
            <a:endParaRPr lang="en-US" sz="1000" dirty="0"/>
          </a:p>
        </p:txBody>
      </p:sp>
      <p:sp>
        <p:nvSpPr>
          <p:cNvPr id="26" name="Text 24"/>
          <p:cNvSpPr/>
          <p:nvPr/>
        </p:nvSpPr>
        <p:spPr>
          <a:xfrm>
            <a:off x="3209544" y="272491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'I cannot confirm' is a stronger position than speculation. Conceding limitations demonstrates credibility — juries trust honest experts.</a:t>
            </a:r>
            <a:endParaRPr lang="en-US" sz="850" dirty="0"/>
          </a:p>
        </p:txBody>
      </p:sp>
      <p:sp>
        <p:nvSpPr>
          <p:cNvPr id="27" name="Text 25"/>
          <p:cNvSpPr/>
          <p:nvPr/>
        </p:nvSpPr>
        <p:spPr>
          <a:xfrm>
            <a:off x="3209544" y="3255264"/>
            <a:ext cx="2688336" cy="201168"/>
          </a:xfrm>
          <a:prstGeom prst="rect">
            <a:avLst/>
          </a:prstGeom>
          <a:noFill/>
        </p:spPr>
        <p:txBody>
          <a:bodyPr wrap="square" rtlCol="0" anchor="ctr"/>
          <a:lstStyle/>
          <a:p>
            <a:pPr marL="0" indent="0">
              <a:buNone/>
            </a:pPr>
            <a:r>
              <a:rPr lang="en-US" sz="10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Chain of Custody</a:t>
            </a:r>
            <a:endParaRPr lang="en-US" sz="1000" dirty="0"/>
          </a:p>
        </p:txBody>
      </p:sp>
      <p:sp>
        <p:nvSpPr>
          <p:cNvPr id="28" name="Text 26"/>
          <p:cNvSpPr/>
          <p:nvPr/>
        </p:nvSpPr>
        <p:spPr>
          <a:xfrm>
            <a:off x="3209544" y="345643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Any gap in the chain — missing signature, unexplained transfer — will be exploited. Be able to trace every step from seizure to court.</a:t>
            </a:r>
            <a:endParaRPr lang="en-US" sz="850" dirty="0"/>
          </a:p>
        </p:txBody>
      </p:sp>
      <p:sp>
        <p:nvSpPr>
          <p:cNvPr id="29" name="Text 27"/>
          <p:cNvSpPr/>
          <p:nvPr/>
        </p:nvSpPr>
        <p:spPr>
          <a:xfrm>
            <a:off x="3209544" y="3986784"/>
            <a:ext cx="2688336" cy="201168"/>
          </a:xfrm>
          <a:prstGeom prst="rect">
            <a:avLst/>
          </a:prstGeom>
          <a:noFill/>
        </p:spPr>
        <p:txBody>
          <a:bodyPr wrap="square" rtlCol="0" anchor="ctr"/>
          <a:lstStyle/>
          <a:p>
            <a:pPr marL="0" indent="0">
              <a:buNone/>
            </a:pPr>
            <a:r>
              <a:rPr lang="en-US" sz="1000" b="1" dirty="0">
                <a:solidFill>
                  <a:srgbClr val="FB8500"/>
                </a:solidFill>
                <a:latin typeface="Trebuchet MS" panose="020B0603020202020204" pitchFamily="34" charset="0"/>
                <a:ea typeface="Trebuchet MS" panose="020B0603020202020204" pitchFamily="34" charset="-122"/>
                <a:cs typeface="Trebuchet MS" panose="020B0603020202020204" pitchFamily="34" charset="-120"/>
              </a:rPr>
              <a:t>Reasonable Alternatives</a:t>
            </a:r>
            <a:endParaRPr lang="en-US" sz="1000" dirty="0"/>
          </a:p>
        </p:txBody>
      </p:sp>
      <p:sp>
        <p:nvSpPr>
          <p:cNvPr id="30" name="Text 28"/>
          <p:cNvSpPr/>
          <p:nvPr/>
        </p:nvSpPr>
        <p:spPr>
          <a:xfrm>
            <a:off x="3209544" y="418795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Be ready to address defence hypotheses: 'Could this have been planted?' Address it directly: explain what artefacts would differ if so.</a:t>
            </a:r>
            <a:endParaRPr lang="en-US" sz="850" dirty="0"/>
          </a:p>
        </p:txBody>
      </p:sp>
      <p:sp>
        <p:nvSpPr>
          <p:cNvPr id="31" name="Shape 29"/>
          <p:cNvSpPr/>
          <p:nvPr/>
        </p:nvSpPr>
        <p:spPr>
          <a:xfrm>
            <a:off x="6126480" y="1389888"/>
            <a:ext cx="2871216" cy="332841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32" name="Shape 30"/>
          <p:cNvSpPr/>
          <p:nvPr/>
        </p:nvSpPr>
        <p:spPr>
          <a:xfrm>
            <a:off x="6126480" y="1389888"/>
            <a:ext cx="2871216" cy="329184"/>
          </a:xfrm>
          <a:prstGeom prst="rect">
            <a:avLst/>
          </a:prstGeom>
          <a:solidFill>
            <a:srgbClr val="00B4D8"/>
          </a:solidFill>
          <a:ln w="12700">
            <a:solidFill>
              <a:srgbClr val="00B4D8"/>
            </a:solidFill>
            <a:prstDash val="solid"/>
          </a:ln>
        </p:spPr>
        <p:txBody>
          <a:bodyPr/>
          <a:lstStyle/>
          <a:p>
            <a:endParaRPr lang="en-SG"/>
          </a:p>
        </p:txBody>
      </p:sp>
      <p:sp>
        <p:nvSpPr>
          <p:cNvPr id="33" name="Text 31"/>
          <p:cNvSpPr/>
          <p:nvPr/>
        </p:nvSpPr>
        <p:spPr>
          <a:xfrm>
            <a:off x="6217920" y="1417320"/>
            <a:ext cx="2688336" cy="237744"/>
          </a:xfrm>
          <a:prstGeom prst="rect">
            <a:avLst/>
          </a:prstGeom>
          <a:noFill/>
        </p:spPr>
        <p:txBody>
          <a:bodyPr wrap="square"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ADMISSIBILITY CRITERIA</a:t>
            </a:r>
            <a:endParaRPr lang="en-US" sz="1000" dirty="0"/>
          </a:p>
        </p:txBody>
      </p:sp>
      <p:sp>
        <p:nvSpPr>
          <p:cNvPr id="34" name="Text 32"/>
          <p:cNvSpPr/>
          <p:nvPr/>
        </p:nvSpPr>
        <p:spPr>
          <a:xfrm>
            <a:off x="6217920" y="1792224"/>
            <a:ext cx="2688336" cy="201168"/>
          </a:xfrm>
          <a:prstGeom prst="rect">
            <a:avLst/>
          </a:prstGeom>
          <a:noFill/>
        </p:spPr>
        <p:txBody>
          <a:bodyPr wrap="square" rtlCol="0" anchor="ctr"/>
          <a:lstStyle/>
          <a:p>
            <a:pPr marL="0" indent="0">
              <a:buNone/>
            </a:pPr>
            <a:r>
              <a:rPr lang="en-US" sz="1000" b="1" dirty="0">
                <a:solidFill>
                  <a:srgbClr val="00B4D8"/>
                </a:solidFill>
                <a:latin typeface="Trebuchet MS" panose="020B0603020202020204" pitchFamily="34" charset="0"/>
                <a:ea typeface="Trebuchet MS" panose="020B0603020202020204" pitchFamily="34" charset="-122"/>
                <a:cs typeface="Trebuchet MS" panose="020B0603020202020204" pitchFamily="34" charset="-120"/>
              </a:rPr>
              <a:t>Legal Authority</a:t>
            </a:r>
            <a:endParaRPr lang="en-US" sz="1000" dirty="0"/>
          </a:p>
        </p:txBody>
      </p:sp>
      <p:sp>
        <p:nvSpPr>
          <p:cNvPr id="35" name="Text 33"/>
          <p:cNvSpPr/>
          <p:nvPr/>
        </p:nvSpPr>
        <p:spPr>
          <a:xfrm>
            <a:off x="6217920" y="199339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Evidence must have been lawfully obtained. Any breach of the acquisition warrant may render all evidence inadmissible — fruit of the poisonous tree.</a:t>
            </a:r>
            <a:endParaRPr lang="en-US" sz="850" dirty="0"/>
          </a:p>
        </p:txBody>
      </p:sp>
      <p:sp>
        <p:nvSpPr>
          <p:cNvPr id="36" name="Text 34"/>
          <p:cNvSpPr/>
          <p:nvPr/>
        </p:nvSpPr>
        <p:spPr>
          <a:xfrm>
            <a:off x="6217920" y="2523744"/>
            <a:ext cx="2688336" cy="201168"/>
          </a:xfrm>
          <a:prstGeom prst="rect">
            <a:avLst/>
          </a:prstGeom>
          <a:noFill/>
        </p:spPr>
        <p:txBody>
          <a:bodyPr wrap="square" rtlCol="0" anchor="ctr"/>
          <a:lstStyle/>
          <a:p>
            <a:pPr marL="0" indent="0">
              <a:buNone/>
            </a:pPr>
            <a:r>
              <a:rPr lang="en-US" sz="1000" b="1" dirty="0">
                <a:solidFill>
                  <a:srgbClr val="00B4D8"/>
                </a:solidFill>
                <a:latin typeface="Trebuchet MS" panose="020B0603020202020204" pitchFamily="34" charset="0"/>
                <a:ea typeface="Trebuchet MS" panose="020B0603020202020204" pitchFamily="34" charset="-122"/>
                <a:cs typeface="Trebuchet MS" panose="020B0603020202020204" pitchFamily="34" charset="-120"/>
              </a:rPr>
              <a:t>Integrity Verified</a:t>
            </a:r>
            <a:endParaRPr lang="en-US" sz="1000" dirty="0"/>
          </a:p>
        </p:txBody>
      </p:sp>
      <p:sp>
        <p:nvSpPr>
          <p:cNvPr id="37" name="Text 35"/>
          <p:cNvSpPr/>
          <p:nvPr/>
        </p:nvSpPr>
        <p:spPr>
          <a:xfrm>
            <a:off x="6217920" y="272491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Source hash = image hash, signed chain of custody. Courts in Singapore (s.35 ECA), UK, and USA all require demonstrable integrity.</a:t>
            </a:r>
            <a:endParaRPr lang="en-US" sz="850" dirty="0"/>
          </a:p>
        </p:txBody>
      </p:sp>
      <p:sp>
        <p:nvSpPr>
          <p:cNvPr id="38" name="Text 36"/>
          <p:cNvSpPr/>
          <p:nvPr/>
        </p:nvSpPr>
        <p:spPr>
          <a:xfrm>
            <a:off x="6217920" y="3255264"/>
            <a:ext cx="2688336" cy="201168"/>
          </a:xfrm>
          <a:prstGeom prst="rect">
            <a:avLst/>
          </a:prstGeom>
          <a:noFill/>
        </p:spPr>
        <p:txBody>
          <a:bodyPr wrap="square" rtlCol="0" anchor="ctr"/>
          <a:lstStyle/>
          <a:p>
            <a:pPr marL="0" indent="0">
              <a:buNone/>
            </a:pPr>
            <a:r>
              <a:rPr lang="en-US" sz="1000" b="1" dirty="0">
                <a:solidFill>
                  <a:srgbClr val="00B4D8"/>
                </a:solidFill>
                <a:latin typeface="Trebuchet MS" panose="020B0603020202020204" pitchFamily="34" charset="0"/>
                <a:ea typeface="Trebuchet MS" panose="020B0603020202020204" pitchFamily="34" charset="-122"/>
                <a:cs typeface="Trebuchet MS" panose="020B0603020202020204" pitchFamily="34" charset="-120"/>
              </a:rPr>
              <a:t>Validated Tools</a:t>
            </a:r>
            <a:endParaRPr lang="en-US" sz="1000" dirty="0"/>
          </a:p>
        </p:txBody>
      </p:sp>
      <p:sp>
        <p:nvSpPr>
          <p:cNvPr id="39" name="Text 37"/>
          <p:cNvSpPr/>
          <p:nvPr/>
        </p:nvSpPr>
        <p:spPr>
          <a:xfrm>
            <a:off x="6217920" y="345643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Use industry-standard, court-accepted tools (FTK, Autopsy, Cellebrite). Document tool version. Novel tools may face Daubert/Frye challenges.</a:t>
            </a:r>
            <a:endParaRPr lang="en-US" sz="850" dirty="0"/>
          </a:p>
        </p:txBody>
      </p:sp>
      <p:sp>
        <p:nvSpPr>
          <p:cNvPr id="40" name="Text 38"/>
          <p:cNvSpPr/>
          <p:nvPr/>
        </p:nvSpPr>
        <p:spPr>
          <a:xfrm>
            <a:off x="6217920" y="3986784"/>
            <a:ext cx="2688336" cy="201168"/>
          </a:xfrm>
          <a:prstGeom prst="rect">
            <a:avLst/>
          </a:prstGeom>
          <a:noFill/>
        </p:spPr>
        <p:txBody>
          <a:bodyPr wrap="square" rtlCol="0" anchor="ctr"/>
          <a:lstStyle/>
          <a:p>
            <a:pPr marL="0" indent="0">
              <a:buNone/>
            </a:pPr>
            <a:r>
              <a:rPr lang="en-US" sz="1000" b="1" dirty="0">
                <a:solidFill>
                  <a:srgbClr val="00B4D8"/>
                </a:solidFill>
                <a:latin typeface="Trebuchet MS" panose="020B0603020202020204" pitchFamily="34" charset="0"/>
                <a:ea typeface="Trebuchet MS" panose="020B0603020202020204" pitchFamily="34" charset="-122"/>
                <a:cs typeface="Trebuchet MS" panose="020B0603020202020204" pitchFamily="34" charset="-120"/>
              </a:rPr>
              <a:t>Reproducibility</a:t>
            </a:r>
            <a:endParaRPr lang="en-US" sz="1000" dirty="0"/>
          </a:p>
        </p:txBody>
      </p:sp>
      <p:sp>
        <p:nvSpPr>
          <p:cNvPr id="41" name="Text 39"/>
          <p:cNvSpPr/>
          <p:nvPr/>
        </p:nvSpPr>
        <p:spPr>
          <a:xfrm>
            <a:off x="6217920" y="4187952"/>
            <a:ext cx="2688336" cy="475488"/>
          </a:xfrm>
          <a:prstGeom prst="rect">
            <a:avLst/>
          </a:prstGeom>
          <a:noFill/>
        </p:spPr>
        <p:txBody>
          <a:bodyPr wrap="square" rtlCol="0" anchor="ctr"/>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 competent independent examiner must be able to replicate your findings using your documented methodology and the same forensic image.</a:t>
            </a:r>
            <a:endParaRPr lang="en-US" sz="850" dirty="0"/>
          </a:p>
        </p:txBody>
      </p:sp>
      <p:sp>
        <p:nvSpPr>
          <p:cNvPr id="43" name="Text 41"/>
          <p:cNvSpPr/>
          <p:nvPr/>
        </p:nvSpPr>
        <p:spPr>
          <a:xfrm>
            <a:off x="219456" y="4745736"/>
            <a:ext cx="8705088" cy="91440"/>
          </a:xfrm>
          <a:prstGeom prst="rect">
            <a:avLst/>
          </a:prstGeom>
          <a:noFill/>
        </p:spPr>
        <p:txBody>
          <a:bodyPr wrap="square" rtlCol="0" anchor="ctr"/>
          <a:lstStyle/>
          <a:p>
            <a:pPr marL="0" indent="0">
              <a:buNone/>
            </a:pPr>
            <a:r>
              <a:rPr lang="en-US" sz="850" b="1" i="1" dirty="0">
                <a:solidFill>
                  <a:srgbClr val="1A1A2E"/>
                </a:solidFill>
                <a:latin typeface="Calibri" panose="020F0502020204030204" pitchFamily="34" charset="0"/>
                <a:ea typeface="Calibri" panose="020F0502020204030204" pitchFamily="34" charset="-122"/>
                <a:cs typeface="Calibri" panose="020F0502020204030204" pitchFamily="34" charset="-120"/>
              </a:rPr>
              <a:t>⚠  A well-constructed forensic report and confident expert testimony can be the difference between conviction and acquittal. Accuracy is not optional.</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EF233C"/>
          </a:solidFill>
          <a:ln w="12700">
            <a:solidFill>
              <a:srgbClr val="EF233C"/>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p:spPr>
        <p:txBody>
          <a:bodyPr wrap="square" lIns="0" tIns="0" rIns="0" bIns="0" rtlCol="0" anchor="ctr"/>
          <a:lstStyle/>
          <a:p>
            <a:pPr marL="0" indent="0" algn="ctr">
              <a:buNone/>
            </a:pPr>
            <a:r>
              <a:rPr lang="en-US" sz="96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9600" dirty="0"/>
          </a:p>
        </p:txBody>
      </p:sp>
      <p:sp>
        <p:nvSpPr>
          <p:cNvPr id="6" name="Text 4"/>
          <p:cNvSpPr/>
          <p:nvPr/>
        </p:nvSpPr>
        <p:spPr>
          <a:xfrm>
            <a:off x="201168" y="1938528"/>
            <a:ext cx="3657600" cy="914400"/>
          </a:xfrm>
          <a:prstGeom prst="rect">
            <a:avLst/>
          </a:prstGeom>
          <a:noFill/>
        </p:spPr>
        <p:txBody>
          <a:bodyPr wrap="square" rtlCol="0" anchor="ctr"/>
          <a:lstStyle/>
          <a:p>
            <a:pPr marL="0" indent="0" algn="ctr">
              <a:buNone/>
            </a:pPr>
            <a:r>
              <a:rPr lang="en-US" sz="1300" i="1" dirty="0">
                <a:solidFill>
                  <a:srgbClr val="000000"/>
                </a:solidFill>
                <a:latin typeface="Calibri" panose="020F0502020204030204" pitchFamily="34" charset="0"/>
                <a:ea typeface="Calibri" panose="020F0502020204030204" pitchFamily="34" charset="-122"/>
                <a:cs typeface="Calibri" panose="020F0502020204030204" pitchFamily="34" charset="-120"/>
              </a:rPr>
              <a:t>Bringing it all together — the complete Week 2 investigation capability</a:t>
            </a:r>
            <a:endParaRPr lang="en-US" sz="1300" dirty="0"/>
          </a:p>
        </p:txBody>
      </p:sp>
      <p:sp>
        <p:nvSpPr>
          <p:cNvPr id="7" name="Text 5"/>
          <p:cNvSpPr/>
          <p:nvPr/>
        </p:nvSpPr>
        <p:spPr>
          <a:xfrm>
            <a:off x="4572000" y="566928"/>
            <a:ext cx="4297680" cy="329184"/>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EF233C"/>
          </a:solidFill>
          <a:ln w="12700">
            <a:solidFill>
              <a:srgbClr val="EF233C"/>
            </a:solidFill>
            <a:prstDash val="solid"/>
          </a:ln>
        </p:spPr>
        <p:txBody>
          <a:bodyPr/>
          <a:lstStyle/>
          <a:p>
            <a:endParaRPr lang="en-SG"/>
          </a:p>
        </p:txBody>
      </p:sp>
      <p:sp>
        <p:nvSpPr>
          <p:cNvPr id="10" name="Text 8"/>
          <p:cNvSpPr/>
          <p:nvPr/>
        </p:nvSpPr>
        <p:spPr>
          <a:xfrm>
            <a:off x="4663440" y="1115568"/>
            <a:ext cx="402336" cy="274320"/>
          </a:xfrm>
          <a:prstGeom prst="rect">
            <a:avLst/>
          </a:prstGeom>
          <a:noFill/>
        </p:spPr>
        <p:txBody>
          <a:bodyPr wrap="square" lIns="0" tIns="0" rIns="0" bIns="0" rtlCol="0" anchor="ctr"/>
          <a:lstStyle/>
          <a:p>
            <a:pPr marL="0" indent="0" algn="ct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100" dirty="0"/>
          </a:p>
        </p:txBody>
      </p:sp>
      <p:sp>
        <p:nvSpPr>
          <p:cNvPr id="11" name="Text 9"/>
          <p:cNvSpPr/>
          <p:nvPr/>
        </p:nvSpPr>
        <p:spPr>
          <a:xfrm>
            <a:off x="5166360" y="1097280"/>
            <a:ext cx="3611880" cy="347472"/>
          </a:xfrm>
          <a:prstGeom prst="rect">
            <a:avLst/>
          </a:prstGeom>
          <a:noFill/>
        </p:spPr>
        <p:txBody>
          <a:bodyPr wrap="square" rtlCol="0" anchor="ctr"/>
          <a:lstStyle/>
          <a:p>
            <a:pPr marL="0" indent="0">
              <a:buNone/>
            </a:pPr>
            <a:r>
              <a:rPr lang="en-US" sz="1200" dirty="0">
                <a:solidFill>
                  <a:srgbClr val="1A1A2E"/>
                </a:solidFill>
                <a:latin typeface="Calibri" panose="020F0502020204030204" pitchFamily="34" charset="0"/>
                <a:ea typeface="Calibri" panose="020F0502020204030204" pitchFamily="34" charset="-122"/>
                <a:cs typeface="Calibri" panose="020F0502020204030204" pitchFamily="34" charset="-120"/>
              </a:rPr>
              <a:t>Module Summary — Week 2 Full Learning Journey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FFFFF"/>
          </a:solidFill>
          <a:ln w="12700">
            <a:solidFill>
              <a:srgbClr val="FFFFFF"/>
            </a:solidFill>
            <a:prstDash val="solid"/>
          </a:ln>
        </p:spPr>
        <p:txBody>
          <a:bodyPr/>
          <a:lstStyle/>
          <a:p>
            <a:endParaRPr lang="en-SG"/>
          </a:p>
        </p:txBody>
      </p:sp>
      <p:sp>
        <p:nvSpPr>
          <p:cNvPr id="3" name="Text 1"/>
          <p:cNvSpPr/>
          <p:nvPr/>
        </p:nvSpPr>
        <p:spPr>
          <a:xfrm>
            <a:off x="274320" y="155448"/>
            <a:ext cx="8595360" cy="402336"/>
          </a:xfrm>
          <a:prstGeom prst="rect">
            <a:avLst/>
          </a:prstGeom>
          <a:noFill/>
        </p:spPr>
        <p:txBody>
          <a:bodyPr wrap="square" rtlCol="0" anchor="ctr"/>
          <a:lstStyle/>
          <a:p>
            <a:pPr marL="0" indent="0">
              <a:buNone/>
            </a:pPr>
            <a:r>
              <a:rPr lang="en-US" sz="2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Module Summary — Week 2 Learning Journey</a:t>
            </a:r>
            <a:endParaRPr lang="en-US" sz="2000" dirty="0"/>
          </a:p>
        </p:txBody>
      </p:sp>
      <p:sp>
        <p:nvSpPr>
          <p:cNvPr id="4" name="Shape 2"/>
          <p:cNvSpPr/>
          <p:nvPr/>
        </p:nvSpPr>
        <p:spPr>
          <a:xfrm>
            <a:off x="91440" y="786384"/>
            <a:ext cx="2871216" cy="438912"/>
          </a:xfrm>
          <a:prstGeom prst="rect">
            <a:avLst/>
          </a:prstGeom>
          <a:noFill/>
          <a:ln w="12700">
            <a:solidFill>
              <a:srgbClr val="00B4D8"/>
            </a:solidFill>
            <a:prstDash val="solid"/>
          </a:ln>
        </p:spPr>
        <p:txBody>
          <a:bodyPr/>
          <a:lstStyle/>
          <a:p>
            <a:endParaRPr lang="en-SG"/>
          </a:p>
        </p:txBody>
      </p:sp>
      <p:sp>
        <p:nvSpPr>
          <p:cNvPr id="5" name="Shape 3"/>
          <p:cNvSpPr/>
          <p:nvPr/>
        </p:nvSpPr>
        <p:spPr>
          <a:xfrm>
            <a:off x="146304" y="850392"/>
            <a:ext cx="310896" cy="310896"/>
          </a:xfrm>
          <a:prstGeom prst="ellipse">
            <a:avLst/>
          </a:prstGeom>
          <a:solidFill>
            <a:srgbClr val="00B4D8"/>
          </a:solidFill>
          <a:ln w="12700">
            <a:solidFill>
              <a:srgbClr val="00B4D8"/>
            </a:solidFill>
            <a:prstDash val="solid"/>
          </a:ln>
        </p:spPr>
        <p:txBody>
          <a:bodyPr/>
          <a:lstStyle/>
          <a:p>
            <a:endParaRPr lang="en-SG"/>
          </a:p>
        </p:txBody>
      </p:sp>
      <p:sp>
        <p:nvSpPr>
          <p:cNvPr id="6" name="Text 4"/>
          <p:cNvSpPr/>
          <p:nvPr/>
        </p:nvSpPr>
        <p:spPr>
          <a:xfrm>
            <a:off x="146304" y="905256"/>
            <a:ext cx="310896"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50" dirty="0"/>
          </a:p>
        </p:txBody>
      </p:sp>
      <p:sp>
        <p:nvSpPr>
          <p:cNvPr id="7" name="Text 5"/>
          <p:cNvSpPr/>
          <p:nvPr/>
        </p:nvSpPr>
        <p:spPr>
          <a:xfrm>
            <a:off x="548640" y="896112"/>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Forensic Investigation Process — Recap</a:t>
            </a:r>
            <a:endParaRPr lang="en-US" sz="1000" dirty="0"/>
          </a:p>
        </p:txBody>
      </p:sp>
      <p:sp>
        <p:nvSpPr>
          <p:cNvPr id="8" name="Shape 6"/>
          <p:cNvSpPr/>
          <p:nvPr/>
        </p:nvSpPr>
        <p:spPr>
          <a:xfrm>
            <a:off x="3081528" y="786384"/>
            <a:ext cx="2871216" cy="438912"/>
          </a:xfrm>
          <a:prstGeom prst="rect">
            <a:avLst/>
          </a:prstGeom>
          <a:noFill/>
          <a:ln w="12700">
            <a:solidFill>
              <a:srgbClr val="00B4D8"/>
            </a:solidFill>
            <a:prstDash val="solid"/>
          </a:ln>
        </p:spPr>
        <p:txBody>
          <a:bodyPr/>
          <a:lstStyle/>
          <a:p>
            <a:endParaRPr lang="en-SG"/>
          </a:p>
        </p:txBody>
      </p:sp>
      <p:sp>
        <p:nvSpPr>
          <p:cNvPr id="9" name="Shape 7"/>
          <p:cNvSpPr/>
          <p:nvPr/>
        </p:nvSpPr>
        <p:spPr>
          <a:xfrm>
            <a:off x="3136392" y="850392"/>
            <a:ext cx="310896" cy="310896"/>
          </a:xfrm>
          <a:prstGeom prst="ellipse">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3136392" y="905256"/>
            <a:ext cx="310896"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50" dirty="0"/>
          </a:p>
        </p:txBody>
      </p:sp>
      <p:sp>
        <p:nvSpPr>
          <p:cNvPr id="11" name="Text 9"/>
          <p:cNvSpPr/>
          <p:nvPr/>
        </p:nvSpPr>
        <p:spPr>
          <a:xfrm>
            <a:off x="3538728" y="896112"/>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What is Digital Evidence? — Definition &amp; Rules</a:t>
            </a:r>
            <a:endParaRPr lang="en-US" sz="1000" dirty="0"/>
          </a:p>
        </p:txBody>
      </p:sp>
      <p:sp>
        <p:nvSpPr>
          <p:cNvPr id="12" name="Shape 10"/>
          <p:cNvSpPr/>
          <p:nvPr/>
        </p:nvSpPr>
        <p:spPr>
          <a:xfrm>
            <a:off x="6071616" y="786384"/>
            <a:ext cx="2871216" cy="438912"/>
          </a:xfrm>
          <a:prstGeom prst="rect">
            <a:avLst/>
          </a:prstGeom>
          <a:noFill/>
          <a:ln w="12700">
            <a:solidFill>
              <a:srgbClr val="06D6A0"/>
            </a:solidFill>
            <a:prstDash val="solid"/>
          </a:ln>
        </p:spPr>
        <p:txBody>
          <a:bodyPr/>
          <a:lstStyle/>
          <a:p>
            <a:endParaRPr lang="en-SG"/>
          </a:p>
        </p:txBody>
      </p:sp>
      <p:sp>
        <p:nvSpPr>
          <p:cNvPr id="13" name="Shape 11"/>
          <p:cNvSpPr/>
          <p:nvPr/>
        </p:nvSpPr>
        <p:spPr>
          <a:xfrm>
            <a:off x="6126480" y="850392"/>
            <a:ext cx="310896" cy="310896"/>
          </a:xfrm>
          <a:prstGeom prst="ellipse">
            <a:avLst/>
          </a:prstGeom>
          <a:solidFill>
            <a:srgbClr val="06D6A0"/>
          </a:solidFill>
          <a:ln w="12700">
            <a:solidFill>
              <a:srgbClr val="06D6A0"/>
            </a:solidFill>
            <a:prstDash val="solid"/>
          </a:ln>
        </p:spPr>
        <p:txBody>
          <a:bodyPr/>
          <a:lstStyle/>
          <a:p>
            <a:endParaRPr lang="en-SG"/>
          </a:p>
        </p:txBody>
      </p:sp>
      <p:sp>
        <p:nvSpPr>
          <p:cNvPr id="14" name="Text 12"/>
          <p:cNvSpPr/>
          <p:nvPr/>
        </p:nvSpPr>
        <p:spPr>
          <a:xfrm>
            <a:off x="6126480" y="905256"/>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50" dirty="0"/>
          </a:p>
        </p:txBody>
      </p:sp>
      <p:sp>
        <p:nvSpPr>
          <p:cNvPr id="15" name="Text 13"/>
          <p:cNvSpPr/>
          <p:nvPr/>
        </p:nvSpPr>
        <p:spPr>
          <a:xfrm>
            <a:off x="6528816" y="896112"/>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Examination Phase — Artefact Extraction</a:t>
            </a:r>
            <a:endParaRPr lang="en-US" sz="1000" dirty="0"/>
          </a:p>
        </p:txBody>
      </p:sp>
      <p:sp>
        <p:nvSpPr>
          <p:cNvPr id="16" name="Shape 14"/>
          <p:cNvSpPr/>
          <p:nvPr/>
        </p:nvSpPr>
        <p:spPr>
          <a:xfrm>
            <a:off x="91440" y="1252728"/>
            <a:ext cx="2871216" cy="438912"/>
          </a:xfrm>
          <a:prstGeom prst="rect">
            <a:avLst/>
          </a:prstGeom>
          <a:noFill/>
          <a:ln w="12700">
            <a:solidFill>
              <a:srgbClr val="FFB703"/>
            </a:solidFill>
            <a:prstDash val="solid"/>
          </a:ln>
        </p:spPr>
        <p:txBody>
          <a:bodyPr/>
          <a:lstStyle/>
          <a:p>
            <a:endParaRPr lang="en-SG"/>
          </a:p>
        </p:txBody>
      </p:sp>
      <p:sp>
        <p:nvSpPr>
          <p:cNvPr id="17" name="Shape 15"/>
          <p:cNvSpPr/>
          <p:nvPr/>
        </p:nvSpPr>
        <p:spPr>
          <a:xfrm>
            <a:off x="146304" y="1316736"/>
            <a:ext cx="310896" cy="310896"/>
          </a:xfrm>
          <a:prstGeom prst="ellipse">
            <a:avLst/>
          </a:prstGeom>
          <a:solidFill>
            <a:srgbClr val="FFB703"/>
          </a:solidFill>
          <a:ln w="12700">
            <a:solidFill>
              <a:srgbClr val="FFB703"/>
            </a:solidFill>
            <a:prstDash val="solid"/>
          </a:ln>
        </p:spPr>
        <p:txBody>
          <a:bodyPr/>
          <a:lstStyle/>
          <a:p>
            <a:endParaRPr lang="en-SG"/>
          </a:p>
        </p:txBody>
      </p:sp>
      <p:sp>
        <p:nvSpPr>
          <p:cNvPr id="18" name="Text 16"/>
          <p:cNvSpPr/>
          <p:nvPr/>
        </p:nvSpPr>
        <p:spPr>
          <a:xfrm>
            <a:off x="146304" y="1371600"/>
            <a:ext cx="310896"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50" dirty="0"/>
          </a:p>
        </p:txBody>
      </p:sp>
      <p:sp>
        <p:nvSpPr>
          <p:cNvPr id="19" name="Text 17"/>
          <p:cNvSpPr/>
          <p:nvPr/>
        </p:nvSpPr>
        <p:spPr>
          <a:xfrm>
            <a:off x="548640" y="1362456"/>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Analysis Phase — Forensic Images &amp; Techniques</a:t>
            </a:r>
            <a:endParaRPr lang="en-US" sz="1000" dirty="0"/>
          </a:p>
        </p:txBody>
      </p:sp>
      <p:sp>
        <p:nvSpPr>
          <p:cNvPr id="20" name="Shape 18"/>
          <p:cNvSpPr/>
          <p:nvPr/>
        </p:nvSpPr>
        <p:spPr>
          <a:xfrm>
            <a:off x="3081528" y="1252728"/>
            <a:ext cx="2871216" cy="438912"/>
          </a:xfrm>
          <a:prstGeom prst="rect">
            <a:avLst/>
          </a:prstGeom>
          <a:noFill/>
          <a:ln w="12700">
            <a:solidFill>
              <a:srgbClr val="FFB703"/>
            </a:solidFill>
            <a:prstDash val="solid"/>
          </a:ln>
        </p:spPr>
        <p:txBody>
          <a:bodyPr/>
          <a:lstStyle/>
          <a:p>
            <a:endParaRPr lang="en-SG"/>
          </a:p>
        </p:txBody>
      </p:sp>
      <p:sp>
        <p:nvSpPr>
          <p:cNvPr id="21" name="Shape 19"/>
          <p:cNvSpPr/>
          <p:nvPr/>
        </p:nvSpPr>
        <p:spPr>
          <a:xfrm>
            <a:off x="3136392" y="1316736"/>
            <a:ext cx="310896" cy="310896"/>
          </a:xfrm>
          <a:prstGeom prst="ellipse">
            <a:avLst/>
          </a:prstGeom>
          <a:solidFill>
            <a:srgbClr val="FFB703"/>
          </a:solidFill>
          <a:ln w="12700">
            <a:solidFill>
              <a:srgbClr val="FFB703"/>
            </a:solidFill>
            <a:prstDash val="solid"/>
          </a:ln>
        </p:spPr>
        <p:txBody>
          <a:bodyPr/>
          <a:lstStyle/>
          <a:p>
            <a:endParaRPr lang="en-SG"/>
          </a:p>
        </p:txBody>
      </p:sp>
      <p:sp>
        <p:nvSpPr>
          <p:cNvPr id="22" name="Text 20"/>
          <p:cNvSpPr/>
          <p:nvPr/>
        </p:nvSpPr>
        <p:spPr>
          <a:xfrm>
            <a:off x="3136392" y="1371600"/>
            <a:ext cx="310896"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50" dirty="0"/>
          </a:p>
        </p:txBody>
      </p:sp>
      <p:sp>
        <p:nvSpPr>
          <p:cNvPr id="23" name="Text 21"/>
          <p:cNvSpPr/>
          <p:nvPr/>
        </p:nvSpPr>
        <p:spPr>
          <a:xfrm>
            <a:off x="3538728" y="1362456"/>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MACB Timestamps — Definition &amp; Forensic Role</a:t>
            </a:r>
            <a:endParaRPr lang="en-US" sz="1000" dirty="0"/>
          </a:p>
        </p:txBody>
      </p:sp>
      <p:sp>
        <p:nvSpPr>
          <p:cNvPr id="24" name="Shape 22"/>
          <p:cNvSpPr/>
          <p:nvPr/>
        </p:nvSpPr>
        <p:spPr>
          <a:xfrm>
            <a:off x="6071616" y="1252728"/>
            <a:ext cx="2871216" cy="438912"/>
          </a:xfrm>
          <a:prstGeom prst="rect">
            <a:avLst/>
          </a:prstGeom>
          <a:noFill/>
          <a:ln w="12700">
            <a:solidFill>
              <a:srgbClr val="FFB703"/>
            </a:solidFill>
            <a:prstDash val="solid"/>
          </a:ln>
        </p:spPr>
        <p:txBody>
          <a:bodyPr/>
          <a:lstStyle/>
          <a:p>
            <a:endParaRPr lang="en-SG"/>
          </a:p>
        </p:txBody>
      </p:sp>
      <p:sp>
        <p:nvSpPr>
          <p:cNvPr id="25" name="Shape 23"/>
          <p:cNvSpPr/>
          <p:nvPr/>
        </p:nvSpPr>
        <p:spPr>
          <a:xfrm>
            <a:off x="6126480" y="1316736"/>
            <a:ext cx="310896" cy="310896"/>
          </a:xfrm>
          <a:prstGeom prst="ellipse">
            <a:avLst/>
          </a:prstGeom>
          <a:solidFill>
            <a:srgbClr val="FFB703"/>
          </a:solidFill>
          <a:ln w="12700">
            <a:solidFill>
              <a:srgbClr val="FFB703"/>
            </a:solidFill>
            <a:prstDash val="solid"/>
          </a:ln>
        </p:spPr>
        <p:txBody>
          <a:bodyPr/>
          <a:lstStyle/>
          <a:p>
            <a:endParaRPr lang="en-SG"/>
          </a:p>
        </p:txBody>
      </p:sp>
      <p:sp>
        <p:nvSpPr>
          <p:cNvPr id="26" name="Text 24"/>
          <p:cNvSpPr/>
          <p:nvPr/>
        </p:nvSpPr>
        <p:spPr>
          <a:xfrm>
            <a:off x="6126480" y="1371600"/>
            <a:ext cx="310896"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50" dirty="0"/>
          </a:p>
        </p:txBody>
      </p:sp>
      <p:sp>
        <p:nvSpPr>
          <p:cNvPr id="27" name="Text 25"/>
          <p:cNvSpPr/>
          <p:nvPr/>
        </p:nvSpPr>
        <p:spPr>
          <a:xfrm>
            <a:off x="6528816" y="1362456"/>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Analysis Methodology &amp; 5WH Evidence Mapping</a:t>
            </a:r>
            <a:endParaRPr lang="en-US" sz="1000" dirty="0"/>
          </a:p>
        </p:txBody>
      </p:sp>
      <p:sp>
        <p:nvSpPr>
          <p:cNvPr id="28" name="Shape 26"/>
          <p:cNvSpPr/>
          <p:nvPr/>
        </p:nvSpPr>
        <p:spPr>
          <a:xfrm>
            <a:off x="91440" y="1719072"/>
            <a:ext cx="2871216" cy="438912"/>
          </a:xfrm>
          <a:prstGeom prst="rect">
            <a:avLst/>
          </a:prstGeom>
          <a:noFill/>
          <a:ln w="12700">
            <a:solidFill>
              <a:srgbClr val="FB8500"/>
            </a:solidFill>
            <a:prstDash val="solid"/>
          </a:ln>
        </p:spPr>
        <p:txBody>
          <a:bodyPr/>
          <a:lstStyle/>
          <a:p>
            <a:endParaRPr lang="en-SG"/>
          </a:p>
        </p:txBody>
      </p:sp>
      <p:sp>
        <p:nvSpPr>
          <p:cNvPr id="29" name="Shape 27"/>
          <p:cNvSpPr/>
          <p:nvPr/>
        </p:nvSpPr>
        <p:spPr>
          <a:xfrm>
            <a:off x="146304" y="1783080"/>
            <a:ext cx="310896" cy="310896"/>
          </a:xfrm>
          <a:prstGeom prst="ellipse">
            <a:avLst/>
          </a:prstGeom>
          <a:solidFill>
            <a:srgbClr val="FB8500"/>
          </a:solidFill>
          <a:ln w="12700">
            <a:solidFill>
              <a:srgbClr val="FB8500"/>
            </a:solidFill>
            <a:prstDash val="solid"/>
          </a:ln>
        </p:spPr>
        <p:txBody>
          <a:bodyPr/>
          <a:lstStyle/>
          <a:p>
            <a:endParaRPr lang="en-SG"/>
          </a:p>
        </p:txBody>
      </p:sp>
      <p:sp>
        <p:nvSpPr>
          <p:cNvPr id="30" name="Text 28"/>
          <p:cNvSpPr/>
          <p:nvPr/>
        </p:nvSpPr>
        <p:spPr>
          <a:xfrm>
            <a:off x="146304" y="1837944"/>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07</a:t>
            </a:r>
            <a:endParaRPr lang="en-US" sz="850" dirty="0"/>
          </a:p>
        </p:txBody>
      </p:sp>
      <p:sp>
        <p:nvSpPr>
          <p:cNvPr id="31" name="Text 29"/>
          <p:cNvSpPr/>
          <p:nvPr/>
        </p:nvSpPr>
        <p:spPr>
          <a:xfrm>
            <a:off x="548640" y="1828800"/>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Challenges in the Current Threat Landscape</a:t>
            </a:r>
            <a:endParaRPr lang="en-US" sz="1000" dirty="0"/>
          </a:p>
        </p:txBody>
      </p:sp>
      <p:sp>
        <p:nvSpPr>
          <p:cNvPr id="32" name="Shape 30"/>
          <p:cNvSpPr/>
          <p:nvPr/>
        </p:nvSpPr>
        <p:spPr>
          <a:xfrm>
            <a:off x="3081528" y="1719072"/>
            <a:ext cx="2871216" cy="438912"/>
          </a:xfrm>
          <a:prstGeom prst="rect">
            <a:avLst/>
          </a:prstGeom>
          <a:noFill/>
          <a:ln w="12700">
            <a:solidFill>
              <a:srgbClr val="FB8500"/>
            </a:solidFill>
            <a:prstDash val="solid"/>
          </a:ln>
        </p:spPr>
        <p:txBody>
          <a:bodyPr/>
          <a:lstStyle/>
          <a:p>
            <a:endParaRPr lang="en-SG"/>
          </a:p>
        </p:txBody>
      </p:sp>
      <p:sp>
        <p:nvSpPr>
          <p:cNvPr id="33" name="Shape 31"/>
          <p:cNvSpPr/>
          <p:nvPr/>
        </p:nvSpPr>
        <p:spPr>
          <a:xfrm>
            <a:off x="3136392" y="1783080"/>
            <a:ext cx="310896" cy="310896"/>
          </a:xfrm>
          <a:prstGeom prst="ellipse">
            <a:avLst/>
          </a:prstGeom>
          <a:solidFill>
            <a:srgbClr val="FB8500"/>
          </a:solidFill>
          <a:ln w="12700">
            <a:solidFill>
              <a:srgbClr val="FB8500"/>
            </a:solidFill>
            <a:prstDash val="solid"/>
          </a:ln>
        </p:spPr>
        <p:txBody>
          <a:bodyPr/>
          <a:lstStyle/>
          <a:p>
            <a:endParaRPr lang="en-SG"/>
          </a:p>
        </p:txBody>
      </p:sp>
      <p:sp>
        <p:nvSpPr>
          <p:cNvPr id="34" name="Text 32"/>
          <p:cNvSpPr/>
          <p:nvPr/>
        </p:nvSpPr>
        <p:spPr>
          <a:xfrm>
            <a:off x="3136392" y="1837944"/>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08</a:t>
            </a:r>
            <a:endParaRPr lang="en-US" sz="850" dirty="0"/>
          </a:p>
        </p:txBody>
      </p:sp>
      <p:sp>
        <p:nvSpPr>
          <p:cNvPr id="35" name="Text 33"/>
          <p:cNvSpPr/>
          <p:nvPr/>
        </p:nvSpPr>
        <p:spPr>
          <a:xfrm>
            <a:off x="3538728" y="1828800"/>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Anti-Digital Forensics Methods</a:t>
            </a:r>
            <a:endParaRPr lang="en-US" sz="1000" dirty="0"/>
          </a:p>
        </p:txBody>
      </p:sp>
      <p:sp>
        <p:nvSpPr>
          <p:cNvPr id="36" name="Shape 34"/>
          <p:cNvSpPr/>
          <p:nvPr/>
        </p:nvSpPr>
        <p:spPr>
          <a:xfrm>
            <a:off x="6071616" y="1719072"/>
            <a:ext cx="2871216" cy="438912"/>
          </a:xfrm>
          <a:prstGeom prst="rect">
            <a:avLst/>
          </a:prstGeom>
          <a:noFill/>
          <a:ln w="12700">
            <a:solidFill>
              <a:srgbClr val="9B5DE5"/>
            </a:solidFill>
            <a:prstDash val="solid"/>
          </a:ln>
        </p:spPr>
        <p:txBody>
          <a:bodyPr/>
          <a:lstStyle/>
          <a:p>
            <a:endParaRPr lang="en-SG"/>
          </a:p>
        </p:txBody>
      </p:sp>
      <p:sp>
        <p:nvSpPr>
          <p:cNvPr id="37" name="Shape 35"/>
          <p:cNvSpPr/>
          <p:nvPr/>
        </p:nvSpPr>
        <p:spPr>
          <a:xfrm>
            <a:off x="6126480" y="1783080"/>
            <a:ext cx="310896" cy="310896"/>
          </a:xfrm>
          <a:prstGeom prst="ellipse">
            <a:avLst/>
          </a:prstGeom>
          <a:solidFill>
            <a:srgbClr val="9B5DE5"/>
          </a:solidFill>
          <a:ln w="12700">
            <a:solidFill>
              <a:srgbClr val="9B5DE5"/>
            </a:solidFill>
            <a:prstDash val="solid"/>
          </a:ln>
        </p:spPr>
        <p:txBody>
          <a:bodyPr/>
          <a:lstStyle/>
          <a:p>
            <a:endParaRPr lang="en-SG"/>
          </a:p>
        </p:txBody>
      </p:sp>
      <p:sp>
        <p:nvSpPr>
          <p:cNvPr id="38" name="Text 36"/>
          <p:cNvSpPr/>
          <p:nvPr/>
        </p:nvSpPr>
        <p:spPr>
          <a:xfrm>
            <a:off x="6126480" y="1837944"/>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09</a:t>
            </a:r>
            <a:endParaRPr lang="en-US" sz="850" dirty="0"/>
          </a:p>
        </p:txBody>
      </p:sp>
      <p:sp>
        <p:nvSpPr>
          <p:cNvPr id="39" name="Text 37"/>
          <p:cNvSpPr/>
          <p:nvPr/>
        </p:nvSpPr>
        <p:spPr>
          <a:xfrm>
            <a:off x="6528816" y="1828800"/>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Reporting Phase — Overview, Purpose &amp; Standards</a:t>
            </a:r>
            <a:endParaRPr lang="en-US" sz="1000" dirty="0"/>
          </a:p>
        </p:txBody>
      </p:sp>
      <p:sp>
        <p:nvSpPr>
          <p:cNvPr id="40" name="Shape 38"/>
          <p:cNvSpPr/>
          <p:nvPr/>
        </p:nvSpPr>
        <p:spPr>
          <a:xfrm>
            <a:off x="91440" y="2185416"/>
            <a:ext cx="2871216" cy="438912"/>
          </a:xfrm>
          <a:prstGeom prst="rect">
            <a:avLst/>
          </a:prstGeom>
          <a:noFill/>
          <a:ln w="12700">
            <a:solidFill>
              <a:srgbClr val="9B5DE5"/>
            </a:solidFill>
            <a:prstDash val="solid"/>
          </a:ln>
        </p:spPr>
        <p:txBody>
          <a:bodyPr/>
          <a:lstStyle/>
          <a:p>
            <a:endParaRPr lang="en-SG"/>
          </a:p>
        </p:txBody>
      </p:sp>
      <p:sp>
        <p:nvSpPr>
          <p:cNvPr id="41" name="Shape 39"/>
          <p:cNvSpPr/>
          <p:nvPr/>
        </p:nvSpPr>
        <p:spPr>
          <a:xfrm>
            <a:off x="146304" y="2249424"/>
            <a:ext cx="310896" cy="310896"/>
          </a:xfrm>
          <a:prstGeom prst="ellipse">
            <a:avLst/>
          </a:prstGeom>
          <a:solidFill>
            <a:srgbClr val="9B5DE5"/>
          </a:solidFill>
          <a:ln w="12700">
            <a:solidFill>
              <a:srgbClr val="9B5DE5"/>
            </a:solidFill>
            <a:prstDash val="solid"/>
          </a:ln>
        </p:spPr>
        <p:txBody>
          <a:bodyPr/>
          <a:lstStyle/>
          <a:p>
            <a:endParaRPr lang="en-SG"/>
          </a:p>
        </p:txBody>
      </p:sp>
      <p:sp>
        <p:nvSpPr>
          <p:cNvPr id="42" name="Text 40"/>
          <p:cNvSpPr/>
          <p:nvPr/>
        </p:nvSpPr>
        <p:spPr>
          <a:xfrm>
            <a:off x="146304" y="2304288"/>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10</a:t>
            </a:r>
            <a:endParaRPr lang="en-US" sz="850" dirty="0"/>
          </a:p>
        </p:txBody>
      </p:sp>
      <p:sp>
        <p:nvSpPr>
          <p:cNvPr id="43" name="Text 41"/>
          <p:cNvSpPr/>
          <p:nvPr/>
        </p:nvSpPr>
        <p:spPr>
          <a:xfrm>
            <a:off x="548640" y="2295144"/>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Sections Part 1 — Executive Summary to Findings</a:t>
            </a:r>
            <a:endParaRPr lang="en-US" sz="1000" dirty="0"/>
          </a:p>
        </p:txBody>
      </p:sp>
      <p:sp>
        <p:nvSpPr>
          <p:cNvPr id="44" name="Shape 42"/>
          <p:cNvSpPr/>
          <p:nvPr/>
        </p:nvSpPr>
        <p:spPr>
          <a:xfrm>
            <a:off x="3081528" y="2185416"/>
            <a:ext cx="2871216" cy="438912"/>
          </a:xfrm>
          <a:prstGeom prst="rect">
            <a:avLst/>
          </a:prstGeom>
          <a:noFill/>
          <a:ln w="12700">
            <a:solidFill>
              <a:srgbClr val="9B5DE5"/>
            </a:solidFill>
            <a:prstDash val="solid"/>
          </a:ln>
        </p:spPr>
        <p:txBody>
          <a:bodyPr/>
          <a:lstStyle/>
          <a:p>
            <a:endParaRPr lang="en-SG"/>
          </a:p>
        </p:txBody>
      </p:sp>
      <p:sp>
        <p:nvSpPr>
          <p:cNvPr id="45" name="Shape 43"/>
          <p:cNvSpPr/>
          <p:nvPr/>
        </p:nvSpPr>
        <p:spPr>
          <a:xfrm>
            <a:off x="3136392" y="2249424"/>
            <a:ext cx="310896" cy="310896"/>
          </a:xfrm>
          <a:prstGeom prst="ellipse">
            <a:avLst/>
          </a:prstGeom>
          <a:solidFill>
            <a:srgbClr val="9B5DE5"/>
          </a:solidFill>
          <a:ln w="12700">
            <a:solidFill>
              <a:srgbClr val="9B5DE5"/>
            </a:solidFill>
            <a:prstDash val="solid"/>
          </a:ln>
        </p:spPr>
        <p:txBody>
          <a:bodyPr/>
          <a:lstStyle/>
          <a:p>
            <a:endParaRPr lang="en-SG"/>
          </a:p>
        </p:txBody>
      </p:sp>
      <p:sp>
        <p:nvSpPr>
          <p:cNvPr id="46" name="Text 44"/>
          <p:cNvSpPr/>
          <p:nvPr/>
        </p:nvSpPr>
        <p:spPr>
          <a:xfrm>
            <a:off x="3136392" y="2304288"/>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11</a:t>
            </a:r>
            <a:endParaRPr lang="en-US" sz="850" dirty="0"/>
          </a:p>
        </p:txBody>
      </p:sp>
      <p:sp>
        <p:nvSpPr>
          <p:cNvPr id="47" name="Text 45"/>
          <p:cNvSpPr/>
          <p:nvPr/>
        </p:nvSpPr>
        <p:spPr>
          <a:xfrm>
            <a:off x="3538728" y="2295144"/>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Report Sections Part 2 — Conclusions to Appendices</a:t>
            </a:r>
            <a:endParaRPr lang="en-US" sz="1000" dirty="0"/>
          </a:p>
        </p:txBody>
      </p:sp>
      <p:sp>
        <p:nvSpPr>
          <p:cNvPr id="48" name="Shape 46"/>
          <p:cNvSpPr/>
          <p:nvPr/>
        </p:nvSpPr>
        <p:spPr>
          <a:xfrm>
            <a:off x="6071616" y="2185416"/>
            <a:ext cx="2871216" cy="438912"/>
          </a:xfrm>
          <a:prstGeom prst="rect">
            <a:avLst/>
          </a:prstGeom>
          <a:noFill/>
          <a:ln w="12700">
            <a:solidFill>
              <a:srgbClr val="9B5DE5"/>
            </a:solidFill>
            <a:prstDash val="solid"/>
          </a:ln>
        </p:spPr>
        <p:txBody>
          <a:bodyPr/>
          <a:lstStyle/>
          <a:p>
            <a:endParaRPr lang="en-SG"/>
          </a:p>
        </p:txBody>
      </p:sp>
      <p:sp>
        <p:nvSpPr>
          <p:cNvPr id="49" name="Shape 47"/>
          <p:cNvSpPr/>
          <p:nvPr/>
        </p:nvSpPr>
        <p:spPr>
          <a:xfrm>
            <a:off x="6126480" y="2249424"/>
            <a:ext cx="310896" cy="310896"/>
          </a:xfrm>
          <a:prstGeom prst="ellipse">
            <a:avLst/>
          </a:prstGeom>
          <a:solidFill>
            <a:srgbClr val="9B5DE5"/>
          </a:solidFill>
          <a:ln w="12700">
            <a:solidFill>
              <a:srgbClr val="9B5DE5"/>
            </a:solidFill>
            <a:prstDash val="solid"/>
          </a:ln>
        </p:spPr>
        <p:txBody>
          <a:bodyPr/>
          <a:lstStyle/>
          <a:p>
            <a:endParaRPr lang="en-SG"/>
          </a:p>
        </p:txBody>
      </p:sp>
      <p:sp>
        <p:nvSpPr>
          <p:cNvPr id="50" name="Text 48"/>
          <p:cNvSpPr/>
          <p:nvPr/>
        </p:nvSpPr>
        <p:spPr>
          <a:xfrm>
            <a:off x="6126480" y="2304288"/>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12</a:t>
            </a:r>
            <a:endParaRPr lang="en-US" sz="850" dirty="0"/>
          </a:p>
        </p:txBody>
      </p:sp>
      <p:sp>
        <p:nvSpPr>
          <p:cNvPr id="51" name="Text 49"/>
          <p:cNvSpPr/>
          <p:nvPr/>
        </p:nvSpPr>
        <p:spPr>
          <a:xfrm>
            <a:off x="6528816" y="2295144"/>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Writing Principles Part 1 — Objectivity, Precision, Reproducibility</a:t>
            </a:r>
            <a:endParaRPr lang="en-US" sz="1000" dirty="0"/>
          </a:p>
        </p:txBody>
      </p:sp>
      <p:sp>
        <p:nvSpPr>
          <p:cNvPr id="52" name="Shape 50"/>
          <p:cNvSpPr/>
          <p:nvPr/>
        </p:nvSpPr>
        <p:spPr>
          <a:xfrm>
            <a:off x="91440" y="2651760"/>
            <a:ext cx="2871216" cy="438912"/>
          </a:xfrm>
          <a:prstGeom prst="rect">
            <a:avLst/>
          </a:prstGeom>
          <a:noFill/>
          <a:ln w="12700">
            <a:solidFill>
              <a:srgbClr val="9B5DE5"/>
            </a:solidFill>
            <a:prstDash val="solid"/>
          </a:ln>
        </p:spPr>
        <p:txBody>
          <a:bodyPr/>
          <a:lstStyle/>
          <a:p>
            <a:endParaRPr lang="en-SG"/>
          </a:p>
        </p:txBody>
      </p:sp>
      <p:sp>
        <p:nvSpPr>
          <p:cNvPr id="53" name="Shape 51"/>
          <p:cNvSpPr/>
          <p:nvPr/>
        </p:nvSpPr>
        <p:spPr>
          <a:xfrm>
            <a:off x="146304" y="2715768"/>
            <a:ext cx="310896" cy="310896"/>
          </a:xfrm>
          <a:prstGeom prst="ellipse">
            <a:avLst/>
          </a:prstGeom>
          <a:solidFill>
            <a:srgbClr val="9B5DE5"/>
          </a:solidFill>
          <a:ln w="12700">
            <a:solidFill>
              <a:srgbClr val="9B5DE5"/>
            </a:solidFill>
            <a:prstDash val="solid"/>
          </a:ln>
        </p:spPr>
        <p:txBody>
          <a:bodyPr/>
          <a:lstStyle/>
          <a:p>
            <a:endParaRPr lang="en-SG"/>
          </a:p>
        </p:txBody>
      </p:sp>
      <p:sp>
        <p:nvSpPr>
          <p:cNvPr id="54" name="Text 52"/>
          <p:cNvSpPr/>
          <p:nvPr/>
        </p:nvSpPr>
        <p:spPr>
          <a:xfrm>
            <a:off x="146304" y="2770632"/>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13</a:t>
            </a:r>
            <a:endParaRPr lang="en-US" sz="850" dirty="0"/>
          </a:p>
        </p:txBody>
      </p:sp>
      <p:sp>
        <p:nvSpPr>
          <p:cNvPr id="55" name="Text 53"/>
          <p:cNvSpPr/>
          <p:nvPr/>
        </p:nvSpPr>
        <p:spPr>
          <a:xfrm>
            <a:off x="548640" y="2761488"/>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Writing Principles Part 2 — Plain Language, No Speculation, Completeness</a:t>
            </a:r>
            <a:endParaRPr lang="en-US" sz="1000" dirty="0"/>
          </a:p>
        </p:txBody>
      </p:sp>
      <p:sp>
        <p:nvSpPr>
          <p:cNvPr id="56" name="Shape 54"/>
          <p:cNvSpPr/>
          <p:nvPr/>
        </p:nvSpPr>
        <p:spPr>
          <a:xfrm>
            <a:off x="3081528" y="2651760"/>
            <a:ext cx="2871216" cy="438912"/>
          </a:xfrm>
          <a:prstGeom prst="rect">
            <a:avLst/>
          </a:prstGeom>
          <a:noFill/>
          <a:ln w="12700">
            <a:solidFill>
              <a:srgbClr val="9B5DE5"/>
            </a:solidFill>
            <a:prstDash val="solid"/>
          </a:ln>
        </p:spPr>
        <p:txBody>
          <a:bodyPr/>
          <a:lstStyle/>
          <a:p>
            <a:endParaRPr lang="en-SG"/>
          </a:p>
        </p:txBody>
      </p:sp>
      <p:sp>
        <p:nvSpPr>
          <p:cNvPr id="57" name="Shape 55"/>
          <p:cNvSpPr/>
          <p:nvPr/>
        </p:nvSpPr>
        <p:spPr>
          <a:xfrm>
            <a:off x="3136392" y="2715768"/>
            <a:ext cx="310896" cy="310896"/>
          </a:xfrm>
          <a:prstGeom prst="ellipse">
            <a:avLst/>
          </a:prstGeom>
          <a:solidFill>
            <a:srgbClr val="9B5DE5"/>
          </a:solidFill>
          <a:ln w="12700">
            <a:solidFill>
              <a:srgbClr val="9B5DE5"/>
            </a:solidFill>
            <a:prstDash val="solid"/>
          </a:ln>
        </p:spPr>
        <p:txBody>
          <a:bodyPr/>
          <a:lstStyle/>
          <a:p>
            <a:endParaRPr lang="en-SG"/>
          </a:p>
        </p:txBody>
      </p:sp>
      <p:sp>
        <p:nvSpPr>
          <p:cNvPr id="58" name="Text 56"/>
          <p:cNvSpPr/>
          <p:nvPr/>
        </p:nvSpPr>
        <p:spPr>
          <a:xfrm>
            <a:off x="3136392" y="2770632"/>
            <a:ext cx="310896" cy="201168"/>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14</a:t>
            </a:r>
            <a:endParaRPr lang="en-US" sz="850" dirty="0"/>
          </a:p>
        </p:txBody>
      </p:sp>
      <p:sp>
        <p:nvSpPr>
          <p:cNvPr id="59" name="Text 57"/>
          <p:cNvSpPr/>
          <p:nvPr/>
        </p:nvSpPr>
        <p:spPr>
          <a:xfrm>
            <a:off x="3538728" y="2761488"/>
            <a:ext cx="2377440" cy="237744"/>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Expert Witness Testimony &amp; Court Presentation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732436f-90ae-4a0f-88e2-b128265cf4b3">
      <Terms xmlns="http://schemas.microsoft.com/office/infopath/2007/PartnerControls"/>
    </lcf76f155ced4ddcb4097134ff3c332f>
    <TaxCatchAll xmlns="4b318d02-235f-4db9-ad34-20bb5fcc806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B12922E7882248BCC5AA3FA2F67AA5" ma:contentTypeVersion="21" ma:contentTypeDescription="Create a new document." ma:contentTypeScope="" ma:versionID="17eca64fb8526c6500046ce496af3705">
  <xsd:schema xmlns:xsd="http://www.w3.org/2001/XMLSchema" xmlns:xs="http://www.w3.org/2001/XMLSchema" xmlns:p="http://schemas.microsoft.com/office/2006/metadata/properties" xmlns:ns2="4b318d02-235f-4db9-ad34-20bb5fcc8063" xmlns:ns3="2732436f-90ae-4a0f-88e2-b128265cf4b3" targetNamespace="http://schemas.microsoft.com/office/2006/metadata/properties" ma:root="true" ma:fieldsID="0fc14c5fb12fcec4f3021900c42fd578" ns2:_="" ns3:_="">
    <xsd:import namespace="4b318d02-235f-4db9-ad34-20bb5fcc8063"/>
    <xsd:import namespace="2732436f-90ae-4a0f-88e2-b128265cf4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d02-235f-4db9-ad34-20bb5fcc8063"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7e268a5-46d0-4c07-95fc-ea0a071d2bd7}" ma:internalName="TaxCatchAll" ma:showField="CatchAllData" ma:web="4b318d02-235f-4db9-ad34-20bb5fcc806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32436f-90ae-4a0f-88e2-b128265cf4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0FEB92-9899-4A1F-983C-9F00FA4B091A}">
  <ds:schemaRefs/>
</ds:datastoreItem>
</file>

<file path=customXml/itemProps2.xml><?xml version="1.0" encoding="utf-8"?>
<ds:datastoreItem xmlns:ds="http://schemas.openxmlformats.org/officeDocument/2006/customXml" ds:itemID="{030B1A24-9007-4AEC-96C0-E16A57FD8F6F}">
  <ds:schemaRefs/>
</ds:datastoreItem>
</file>

<file path=customXml/itemProps3.xml><?xml version="1.0" encoding="utf-8"?>
<ds:datastoreItem xmlns:ds="http://schemas.openxmlformats.org/officeDocument/2006/customXml" ds:itemID="{1C69F764-F51D-4A98-8CE4-38D1E570DEEF}">
  <ds:schemaRefs/>
</ds:datastoreItem>
</file>

<file path=docProps/app.xml><?xml version="1.0" encoding="utf-8"?>
<Properties xmlns="http://schemas.openxmlformats.org/officeDocument/2006/extended-properties" xmlns:vt="http://schemas.openxmlformats.org/officeDocument/2006/docPropsVTypes">
  <TotalTime>0</TotalTime>
  <Words>27264</Words>
  <Application>WPS Presentation</Application>
  <PresentationFormat>On-screen Show (16:9)</PresentationFormat>
  <Paragraphs>897</Paragraphs>
  <Slides>23</Slides>
  <Notes>23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Arial</vt:lpstr>
      <vt:lpstr>SimSun</vt:lpstr>
      <vt:lpstr>Wingdings</vt:lpstr>
      <vt:lpstr>Trebuchet MS</vt:lpstr>
      <vt:lpstr>Trebuchet MS</vt:lpstr>
      <vt:lpstr>Trebuchet MS</vt:lpstr>
      <vt:lpstr>Calibri</vt:lpstr>
      <vt:lpstr>Calibri</vt:lpstr>
      <vt:lpstr>Calibri</vt:lpstr>
      <vt:lpstr>Microsoft YaHei</vt:lpstr>
      <vt:lpstr>Arial Unicode MS</vt:lpstr>
      <vt:lpstr>Aptos</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PptxGenJS</dc:creator>
  <dc:subject>PptxGenJS Presentation</dc:subject>
  <cp:lastModifiedBy>Yaohan</cp:lastModifiedBy>
  <cp:revision>40</cp:revision>
  <dcterms:created xsi:type="dcterms:W3CDTF">2026-03-11T05:39:00Z</dcterms:created>
  <dcterms:modified xsi:type="dcterms:W3CDTF">2026-05-24T03:14:12Z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0x01010012B12922E7882248BCC5AA3FA2F67AA5</vt:lpwstr>
  </property>
  <property fmtid="{D5CDD505-2E9C-101B-9397-08002B2CF9AE}" pid="3" name="MSIP_Label_d528611d-fe69-484f-b56b-0db8a0d79612_Enabled">
    <vt:lpwstr>true</vt:lpwstr>
  </property>
  <property fmtid="{D5CDD505-2E9C-101B-9397-08002B2CF9AE}" pid="4" name="MSIP_Label_d528611d-fe69-484f-b56b-0db8a0d79612_SetDate">
    <vt:lpwstr>2026-04-12T23:06:55Z</vt:lpwstr>
  </property>
  <property fmtid="{D5CDD505-2E9C-101B-9397-08002B2CF9AE}" pid="5" name="MSIP_Label_d528611d-fe69-484f-b56b-0db8a0d79612_Method">
    <vt:lpwstr>Privileged</vt:lpwstr>
  </property>
  <property fmtid="{D5CDD505-2E9C-101B-9397-08002B2CF9AE}" pid="6" name="MSIP_Label_d528611d-fe69-484f-b56b-0db8a0d79612_Name">
    <vt:lpwstr>Public</vt:lpwstr>
  </property>
  <property fmtid="{D5CDD505-2E9C-101B-9397-08002B2CF9AE}" pid="7" name="MSIP_Label_d528611d-fe69-484f-b56b-0db8a0d79612_SiteId">
    <vt:lpwstr>25a99bf0-8e72-472a-ae50-adfbdf0df6f1</vt:lpwstr>
  </property>
  <property fmtid="{D5CDD505-2E9C-101B-9397-08002B2CF9AE}" pid="8" name="MSIP_Label_d528611d-fe69-484f-b56b-0db8a0d79612_ActionId">
    <vt:lpwstr>180b1375-64fb-4243-8ae8-1a39433bc093</vt:lpwstr>
  </property>
  <property fmtid="{D5CDD505-2E9C-101B-9397-08002B2CF9AE}" pid="9" name="MSIP_Label_d528611d-fe69-484f-b56b-0db8a0d79612_ContentBits">
    <vt:lpwstr>0</vt:lpwstr>
  </property>
  <property fmtid="{D5CDD505-2E9C-101B-9397-08002B2CF9AE}" pid="10" name="MSIP_Label_d528611d-fe69-484f-b56b-0db8a0d79612_Tag">
    <vt:lpwstr>10, 0, 1, 2</vt:lpwstr>
  </property>
  <property fmtid="{D5CDD505-2E9C-101B-9397-08002B2CF9AE}" pid="11" name="Order">
    <vt:r8>160300</vt:r8>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y fmtid="{D5CDD505-2E9C-101B-9397-08002B2CF9AE}" pid="18" name="ICV">
    <vt:lpwstr>01991F553CF54E8CBED4CC2E126AD49E_12</vt:lpwstr>
  </property>
  <property fmtid="{D5CDD505-2E9C-101B-9397-08002B2CF9AE}" pid="19" name="KSOProductBuildVer">
    <vt:lpwstr>1033-12.1.0.25180</vt:lpwstr>
  </property>
</Properties>
</file>