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4" r:id="rId30"/>
    <p:sldId id="285" r:id="rId31"/>
    <p:sldId id="286" r:id="rId32"/>
    <p:sldId id="287" r:id="rId33"/>
    <p:sldId id="288" r:id="rId34"/>
    <p:sldId id="289" r:id="rId35"/>
    <p:sldId id="290" r:id="rId36"/>
    <p:sldId id="281" r:id="rId37"/>
    <p:sldId id="282" r:id="rId38"/>
    <p:sldId id="283"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E08191-6DA1-4F41-995A-ACB97E274A49}" v="1" dt="2026-05-02T12:20:34.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92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Shuhadah BINTE JALIL (TP)" userId="6a975622-816e-4480-9323-6edcbb1b288f" providerId="ADAL" clId="{99A77B70-6630-4305-B260-DF09FCBD32FD}"/>
    <pc:docChg chg="custSel mod modSld">
      <pc:chgData name="Nur Shuhadah BINTE JALIL (TP)" userId="6a975622-816e-4480-9323-6edcbb1b288f" providerId="ADAL" clId="{99A77B70-6630-4305-B260-DF09FCBD32FD}" dt="2026-04-09T02:18:07.067" v="3" actId="167"/>
      <pc:docMkLst>
        <pc:docMk/>
      </pc:docMkLst>
      <pc:sldChg chg="delSp mod">
        <pc:chgData name="Nur Shuhadah BINTE JALIL (TP)" userId="6a975622-816e-4480-9323-6edcbb1b288f" providerId="ADAL" clId="{99A77B70-6630-4305-B260-DF09FCBD32FD}" dt="2026-04-09T02:17:33.651" v="1" actId="478"/>
        <pc:sldMkLst>
          <pc:docMk/>
          <pc:sldMk cId="0" sldId="256"/>
        </pc:sldMkLst>
      </pc:sldChg>
      <pc:sldChg chg="modSp mod">
        <pc:chgData name="Nur Shuhadah BINTE JALIL (TP)" userId="6a975622-816e-4480-9323-6edcbb1b288f" providerId="ADAL" clId="{99A77B70-6630-4305-B260-DF09FCBD32FD}" dt="2026-04-09T02:18:07.067" v="3" actId="167"/>
        <pc:sldMkLst>
          <pc:docMk/>
          <pc:sldMk cId="0" sldId="267"/>
        </pc:sldMkLst>
        <pc:spChg chg="mod">
          <ac:chgData name="Nur Shuhadah BINTE JALIL (TP)" userId="6a975622-816e-4480-9323-6edcbb1b288f" providerId="ADAL" clId="{99A77B70-6630-4305-B260-DF09FCBD32FD}" dt="2026-04-09T02:18:01.226" v="2" actId="14100"/>
          <ac:spMkLst>
            <pc:docMk/>
            <pc:sldMk cId="0" sldId="267"/>
            <ac:spMk id="105" creationId="{00000000-0000-0000-0000-000000000000}"/>
          </ac:spMkLst>
        </pc:spChg>
      </pc:sldChg>
    </pc:docChg>
  </pc:docChgLst>
  <pc:docChgLst>
    <pc:chgData name="Nur Shuhadah BINTE JALIL (TP)" userId="S::nurshuha@tp.edu.sg::6a975622-816e-4480-9323-6edcbb1b288f" providerId="AD" clId="Web-{27C7A20C-0050-4EBF-91CE-19BD072C588E}"/>
    <pc:docChg chg="modSld">
      <pc:chgData name="Nur Shuhadah BINTE JALIL (TP)" userId="S::nurshuha@tp.edu.sg::6a975622-816e-4480-9323-6edcbb1b288f" providerId="AD" clId="Web-{27C7A20C-0050-4EBF-91CE-19BD072C588E}" dt="2026-04-12T23:32:36.229" v="0" actId="1076"/>
      <pc:docMkLst>
        <pc:docMk/>
      </pc:docMkLst>
      <pc:sldChg chg="modSp">
        <pc:chgData name="Nur Shuhadah BINTE JALIL (TP)" userId="S::nurshuha@tp.edu.sg::6a975622-816e-4480-9323-6edcbb1b288f" providerId="AD" clId="Web-{27C7A20C-0050-4EBF-91CE-19BD072C588E}" dt="2026-04-12T23:32:36.229" v="0" actId="1076"/>
        <pc:sldMkLst>
          <pc:docMk/>
          <pc:sldMk cId="0" sldId="271"/>
        </pc:sldMkLst>
        <pc:spChg chg="mod">
          <ac:chgData name="Nur Shuhadah BINTE JALIL (TP)" userId="S::nurshuha@tp.edu.sg::6a975622-816e-4480-9323-6edcbb1b288f" providerId="AD" clId="Web-{27C7A20C-0050-4EBF-91CE-19BD072C588E}" dt="2026-04-12T23:32:36.229" v="0" actId="1076"/>
          <ac:spMkLst>
            <pc:docMk/>
            <pc:sldMk cId="0" sldId="271"/>
            <ac:spMk id="113" creationId="{00000000-0000-0000-0000-000000000000}"/>
          </ac:spMkLst>
        </pc:spChg>
      </pc:sldChg>
    </pc:docChg>
  </pc:docChgLst>
  <pc:docChgLst>
    <pc:chgData name="Shaun TAN (TP)" userId="320b0313-0f94-4025-ae48-3ce799bef0e9" providerId="ADAL" clId="{383F0773-C1D2-4C0B-A778-5DE677E1CF30}"/>
    <pc:docChg chg="addSld modSld">
      <pc:chgData name="Shaun TAN (TP)" userId="320b0313-0f94-4025-ae48-3ce799bef0e9" providerId="ADAL" clId="{383F0773-C1D2-4C0B-A778-5DE677E1CF30}" dt="2026-05-02T12:20:34.235" v="0"/>
      <pc:docMkLst>
        <pc:docMk/>
      </pc:docMkLst>
      <pc:sldChg chg="add">
        <pc:chgData name="Shaun TAN (TP)" userId="320b0313-0f94-4025-ae48-3ce799bef0e9" providerId="ADAL" clId="{383F0773-C1D2-4C0B-A778-5DE677E1CF30}" dt="2026-05-02T12:20:34.235" v="0"/>
        <pc:sldMkLst>
          <pc:docMk/>
          <pc:sldMk cId="0" sldId="284"/>
        </pc:sldMkLst>
      </pc:sldChg>
      <pc:sldChg chg="add">
        <pc:chgData name="Shaun TAN (TP)" userId="320b0313-0f94-4025-ae48-3ce799bef0e9" providerId="ADAL" clId="{383F0773-C1D2-4C0B-A778-5DE677E1CF30}" dt="2026-05-02T12:20:34.235" v="0"/>
        <pc:sldMkLst>
          <pc:docMk/>
          <pc:sldMk cId="0" sldId="285"/>
        </pc:sldMkLst>
      </pc:sldChg>
      <pc:sldChg chg="add">
        <pc:chgData name="Shaun TAN (TP)" userId="320b0313-0f94-4025-ae48-3ce799bef0e9" providerId="ADAL" clId="{383F0773-C1D2-4C0B-A778-5DE677E1CF30}" dt="2026-05-02T12:20:34.235" v="0"/>
        <pc:sldMkLst>
          <pc:docMk/>
          <pc:sldMk cId="0" sldId="286"/>
        </pc:sldMkLst>
      </pc:sldChg>
      <pc:sldChg chg="add">
        <pc:chgData name="Shaun TAN (TP)" userId="320b0313-0f94-4025-ae48-3ce799bef0e9" providerId="ADAL" clId="{383F0773-C1D2-4C0B-A778-5DE677E1CF30}" dt="2026-05-02T12:20:34.235" v="0"/>
        <pc:sldMkLst>
          <pc:docMk/>
          <pc:sldMk cId="0" sldId="287"/>
        </pc:sldMkLst>
      </pc:sldChg>
      <pc:sldChg chg="add">
        <pc:chgData name="Shaun TAN (TP)" userId="320b0313-0f94-4025-ae48-3ce799bef0e9" providerId="ADAL" clId="{383F0773-C1D2-4C0B-A778-5DE677E1CF30}" dt="2026-05-02T12:20:34.235" v="0"/>
        <pc:sldMkLst>
          <pc:docMk/>
          <pc:sldMk cId="0" sldId="288"/>
        </pc:sldMkLst>
      </pc:sldChg>
      <pc:sldChg chg="add">
        <pc:chgData name="Shaun TAN (TP)" userId="320b0313-0f94-4025-ae48-3ce799bef0e9" providerId="ADAL" clId="{383F0773-C1D2-4C0B-A778-5DE677E1CF30}" dt="2026-05-02T12:20:34.235" v="0"/>
        <pc:sldMkLst>
          <pc:docMk/>
          <pc:sldMk cId="0" sldId="289"/>
        </pc:sldMkLst>
      </pc:sldChg>
      <pc:sldChg chg="add">
        <pc:chgData name="Shaun TAN (TP)" userId="320b0313-0f94-4025-ae48-3ce799bef0e9" providerId="ADAL" clId="{383F0773-C1D2-4C0B-A778-5DE677E1CF30}" dt="2026-05-02T12:20:34.235" v="0"/>
        <pc:sldMkLst>
          <pc:docMk/>
          <pc:sldMk cId="0"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621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6492240" y="0"/>
            <a:ext cx="2651760" cy="5148072"/>
          </a:xfrm>
          <a:prstGeom prst="rect">
            <a:avLst/>
          </a:prstGeom>
          <a:solidFill>
            <a:srgbClr val="FFFFFF"/>
          </a:solidFill>
          <a:ln w="12700">
            <a:solidFill>
              <a:srgbClr val="FFFFFF"/>
            </a:solidFill>
            <a:prstDash val="solid"/>
          </a:ln>
        </p:spPr>
        <p:txBody>
          <a:bodyPr/>
          <a:lstStyle/>
          <a:p>
            <a:endParaRPr lang="en-SG"/>
          </a:p>
        </p:txBody>
      </p:sp>
      <p:sp>
        <p:nvSpPr>
          <p:cNvPr id="4" name="Shape 2"/>
          <p:cNvSpPr/>
          <p:nvPr/>
        </p:nvSpPr>
        <p:spPr>
          <a:xfrm>
            <a:off x="6492240" y="0"/>
            <a:ext cx="54864" cy="5148072"/>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6601968" y="54864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IDENTIFY</a:t>
            </a:r>
            <a:endParaRPr lang="en-US" sz="1100" dirty="0"/>
          </a:p>
        </p:txBody>
      </p:sp>
      <p:sp>
        <p:nvSpPr>
          <p:cNvPr id="6" name="Text 4"/>
          <p:cNvSpPr/>
          <p:nvPr/>
        </p:nvSpPr>
        <p:spPr>
          <a:xfrm>
            <a:off x="6601968" y="132588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RECOVER</a:t>
            </a:r>
            <a:endParaRPr lang="en-US" sz="1100" dirty="0"/>
          </a:p>
        </p:txBody>
      </p:sp>
      <p:sp>
        <p:nvSpPr>
          <p:cNvPr id="7" name="Text 5"/>
          <p:cNvSpPr/>
          <p:nvPr/>
        </p:nvSpPr>
        <p:spPr>
          <a:xfrm>
            <a:off x="6601968" y="210312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ANALYSE</a:t>
            </a:r>
            <a:endParaRPr lang="en-US" sz="1100" dirty="0"/>
          </a:p>
        </p:txBody>
      </p:sp>
      <p:sp>
        <p:nvSpPr>
          <p:cNvPr id="8" name="Text 6"/>
          <p:cNvSpPr/>
          <p:nvPr/>
        </p:nvSpPr>
        <p:spPr>
          <a:xfrm>
            <a:off x="6601968" y="288036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INTERPRET</a:t>
            </a:r>
            <a:endParaRPr lang="en-US" sz="1100" dirty="0"/>
          </a:p>
        </p:txBody>
      </p:sp>
      <p:sp>
        <p:nvSpPr>
          <p:cNvPr id="9" name="Text 7"/>
          <p:cNvSpPr/>
          <p:nvPr/>
        </p:nvSpPr>
        <p:spPr>
          <a:xfrm>
            <a:off x="6601968" y="365760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REPORT</a:t>
            </a:r>
            <a:endParaRPr lang="en-US" sz="1100" dirty="0"/>
          </a:p>
        </p:txBody>
      </p:sp>
      <p:sp>
        <p:nvSpPr>
          <p:cNvPr id="10" name="Text 8"/>
          <p:cNvSpPr/>
          <p:nvPr/>
        </p:nvSpPr>
        <p:spPr>
          <a:xfrm>
            <a:off x="347472" y="960120"/>
            <a:ext cx="6035040" cy="347472"/>
          </a:xfrm>
          <a:prstGeom prst="rect">
            <a:avLst/>
          </a:prstGeom>
          <a:noFill/>
          <a:ln/>
        </p:spPr>
        <p:txBody>
          <a:bodyPr wrap="square" lIns="0" tIns="0" rIns="0" bIns="0" rtlCol="0" anchor="ctr"/>
          <a:lstStyle/>
          <a:p>
            <a:pPr marL="0" indent="0">
              <a:buNone/>
            </a:pPr>
            <a:r>
              <a:rPr lang="en-US" sz="1300" b="1" kern="0" spc="800" dirty="0">
                <a:solidFill>
                  <a:srgbClr val="00B4D8"/>
                </a:solidFill>
              </a:rPr>
              <a:t>LESSON 6</a:t>
            </a:r>
            <a:endParaRPr lang="en-US" sz="1300" dirty="0"/>
          </a:p>
        </p:txBody>
      </p:sp>
      <p:sp>
        <p:nvSpPr>
          <p:cNvPr id="11" name="Text 9"/>
          <p:cNvSpPr/>
          <p:nvPr/>
        </p:nvSpPr>
        <p:spPr>
          <a:xfrm>
            <a:off x="347472" y="1353312"/>
            <a:ext cx="5943600" cy="1920240"/>
          </a:xfrm>
          <a:prstGeom prst="rect">
            <a:avLst/>
          </a:prstGeom>
          <a:noFill/>
          <a:ln/>
        </p:spPr>
        <p:txBody>
          <a:bodyPr wrap="square" lIns="0" tIns="0" rIns="0" bIns="0" rtlCol="0" anchor="ctr"/>
          <a:lstStyle/>
          <a:p>
            <a:pPr marL="0" indent="0">
              <a:buNone/>
            </a:pPr>
            <a:r>
              <a:rPr lang="en-US" sz="5200" b="1" dirty="0">
                <a:solidFill>
                  <a:srgbClr val="1A1A2E"/>
                </a:solidFill>
              </a:rPr>
              <a:t>Image</a:t>
            </a:r>
            <a:endParaRPr lang="en-US" sz="5200" dirty="0"/>
          </a:p>
          <a:p>
            <a:pPr marL="0" indent="0">
              <a:buNone/>
            </a:pPr>
            <a:r>
              <a:rPr lang="en-US" sz="5200" b="1" dirty="0">
                <a:solidFill>
                  <a:srgbClr val="1A1A2E"/>
                </a:solidFill>
              </a:rPr>
              <a:t>Forensics</a:t>
            </a:r>
            <a:endParaRPr lang="en-US" sz="5200" dirty="0"/>
          </a:p>
        </p:txBody>
      </p:sp>
      <p:sp>
        <p:nvSpPr>
          <p:cNvPr id="12" name="Shape 10"/>
          <p:cNvSpPr/>
          <p:nvPr/>
        </p:nvSpPr>
        <p:spPr>
          <a:xfrm>
            <a:off x="347472" y="3310128"/>
            <a:ext cx="5029200" cy="45720"/>
          </a:xfrm>
          <a:prstGeom prst="rect">
            <a:avLst/>
          </a:prstGeom>
          <a:solidFill>
            <a:srgbClr val="F4A261"/>
          </a:solidFill>
          <a:ln w="12700">
            <a:solidFill>
              <a:srgbClr val="F4A261"/>
            </a:solidFill>
            <a:prstDash val="solid"/>
          </a:ln>
        </p:spPr>
        <p:txBody>
          <a:bodyPr/>
          <a:lstStyle/>
          <a:p>
            <a:endParaRPr lang="en-SG"/>
          </a:p>
        </p:txBody>
      </p:sp>
      <p:sp>
        <p:nvSpPr>
          <p:cNvPr id="13" name="Text 11"/>
          <p:cNvSpPr/>
          <p:nvPr/>
        </p:nvSpPr>
        <p:spPr>
          <a:xfrm>
            <a:off x="347472" y="3438144"/>
            <a:ext cx="6035040" cy="347472"/>
          </a:xfrm>
          <a:prstGeom prst="rect">
            <a:avLst/>
          </a:prstGeom>
          <a:noFill/>
          <a:ln/>
        </p:spPr>
        <p:txBody>
          <a:bodyPr wrap="square" lIns="0" tIns="0" rIns="0" bIns="0" rtlCol="0" anchor="ctr"/>
          <a:lstStyle/>
          <a:p>
            <a:pPr marL="0" indent="0">
              <a:buNone/>
            </a:pPr>
            <a:r>
              <a:rPr lang="en-US" sz="1050" i="1" dirty="0">
                <a:solidFill>
                  <a:srgbClr val="8899AA"/>
                </a:solidFill>
              </a:rPr>
              <a:t>Image Types · Formats · EXIF Metadata · Compression · Recovery · Steganography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307592"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216152" cy="256032"/>
          </a:xfrm>
          <a:prstGeom prst="rect">
            <a:avLst/>
          </a:prstGeom>
          <a:noFill/>
          <a:ln/>
        </p:spPr>
        <p:txBody>
          <a:bodyPr wrap="square" lIns="0" tIns="0" rIns="0" bIns="0" rtlCol="0" anchor="ctr"/>
          <a:lstStyle/>
          <a:p>
            <a:pPr marL="0" indent="0">
              <a:buNone/>
            </a:pPr>
            <a:r>
              <a:rPr lang="en-US" sz="850" b="1" dirty="0">
                <a:solidFill>
                  <a:srgbClr val="0D1B2A"/>
                </a:solidFill>
              </a:rPr>
              <a:t>LESSON OVERVIEW</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Lesson Objectives</a:t>
            </a:r>
            <a:endParaRPr lang="en-US" sz="2800" dirty="0"/>
          </a:p>
        </p:txBody>
      </p:sp>
      <p:sp>
        <p:nvSpPr>
          <p:cNvPr id="5" name="Shape 3"/>
          <p:cNvSpPr/>
          <p:nvPr/>
        </p:nvSpPr>
        <p:spPr>
          <a:xfrm>
            <a:off x="320040" y="1261872"/>
            <a:ext cx="4206240" cy="1097280"/>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548640" cy="1097280"/>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20040" y="1261872"/>
            <a:ext cx="548640" cy="1097280"/>
          </a:xfrm>
          <a:prstGeom prst="rect">
            <a:avLst/>
          </a:prstGeom>
          <a:noFill/>
          <a:ln/>
        </p:spPr>
        <p:txBody>
          <a:bodyPr wrap="square" lIns="0" tIns="0" rIns="0" bIns="0" rtlCol="0" anchor="ctr"/>
          <a:lstStyle/>
          <a:p>
            <a:pPr marL="0" indent="0" algn="ctr">
              <a:buNone/>
            </a:pPr>
            <a:r>
              <a:rPr lang="en-US" sz="1800" b="1" dirty="0">
                <a:solidFill>
                  <a:srgbClr val="0D1B2A"/>
                </a:solidFill>
              </a:rPr>
              <a:t>01</a:t>
            </a:r>
            <a:endParaRPr lang="en-US" sz="1800" dirty="0"/>
          </a:p>
        </p:txBody>
      </p:sp>
      <p:sp>
        <p:nvSpPr>
          <p:cNvPr id="8" name="Text 6"/>
          <p:cNvSpPr/>
          <p:nvPr/>
        </p:nvSpPr>
        <p:spPr>
          <a:xfrm>
            <a:off x="941832" y="1371600"/>
            <a:ext cx="3493008" cy="877824"/>
          </a:xfrm>
          <a:prstGeom prst="rect">
            <a:avLst/>
          </a:prstGeom>
          <a:noFill/>
          <a:ln/>
        </p:spPr>
        <p:txBody>
          <a:bodyPr wrap="square" lIns="0" tIns="0" rIns="0" bIns="0" rtlCol="0" anchor="ctr"/>
          <a:lstStyle/>
          <a:p>
            <a:pPr marL="0" indent="0">
              <a:buNone/>
            </a:pPr>
            <a:r>
              <a:rPr lang="en-US" sz="900" dirty="0">
                <a:solidFill>
                  <a:srgbClr val="1A1A2E"/>
                </a:solidFill>
              </a:rPr>
              <a:t>Identify and compare the three major image types: bitmap/raster, vector, and metafile — and explain when each is encountered in an investigation.</a:t>
            </a:r>
            <a:endParaRPr lang="en-US" sz="900" dirty="0"/>
          </a:p>
        </p:txBody>
      </p:sp>
      <p:sp>
        <p:nvSpPr>
          <p:cNvPr id="9" name="Shape 7"/>
          <p:cNvSpPr/>
          <p:nvPr/>
        </p:nvSpPr>
        <p:spPr>
          <a:xfrm>
            <a:off x="320040" y="2432304"/>
            <a:ext cx="4206240" cy="1097280"/>
          </a:xfrm>
          <a:prstGeom prst="rect">
            <a:avLst/>
          </a:prstGeom>
          <a:solidFill>
            <a:srgbClr val="FFFFFF"/>
          </a:solidFill>
          <a:ln w="12700">
            <a:solidFill>
              <a:srgbClr val="FFFFFF"/>
            </a:solidFill>
            <a:prstDash val="solid"/>
          </a:ln>
        </p:spPr>
        <p:txBody>
          <a:bodyPr/>
          <a:lstStyle/>
          <a:p>
            <a:endParaRPr lang="en-SG"/>
          </a:p>
        </p:txBody>
      </p:sp>
      <p:sp>
        <p:nvSpPr>
          <p:cNvPr id="10" name="Shape 8"/>
          <p:cNvSpPr/>
          <p:nvPr/>
        </p:nvSpPr>
        <p:spPr>
          <a:xfrm>
            <a:off x="320040" y="2432304"/>
            <a:ext cx="548640" cy="1097280"/>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320040" y="2432304"/>
            <a:ext cx="548640" cy="1097280"/>
          </a:xfrm>
          <a:prstGeom prst="rect">
            <a:avLst/>
          </a:prstGeom>
          <a:noFill/>
          <a:ln/>
        </p:spPr>
        <p:txBody>
          <a:bodyPr wrap="square" lIns="0" tIns="0" rIns="0" bIns="0" rtlCol="0" anchor="ctr"/>
          <a:lstStyle/>
          <a:p>
            <a:pPr marL="0" indent="0" algn="ctr">
              <a:buNone/>
            </a:pPr>
            <a:r>
              <a:rPr lang="en-US" sz="1800" b="1" dirty="0">
                <a:solidFill>
                  <a:srgbClr val="0D1B2A"/>
                </a:solidFill>
              </a:rPr>
              <a:t>02</a:t>
            </a:r>
            <a:endParaRPr lang="en-US" sz="1800" dirty="0"/>
          </a:p>
        </p:txBody>
      </p:sp>
      <p:sp>
        <p:nvSpPr>
          <p:cNvPr id="12" name="Text 10"/>
          <p:cNvSpPr/>
          <p:nvPr/>
        </p:nvSpPr>
        <p:spPr>
          <a:xfrm>
            <a:off x="941832" y="2542032"/>
            <a:ext cx="3493008" cy="877824"/>
          </a:xfrm>
          <a:prstGeom prst="rect">
            <a:avLst/>
          </a:prstGeom>
          <a:noFill/>
          <a:ln/>
        </p:spPr>
        <p:txBody>
          <a:bodyPr wrap="square" lIns="0" tIns="0" rIns="0" bIns="0" rtlCol="0" anchor="ctr"/>
          <a:lstStyle/>
          <a:p>
            <a:pPr marL="0" indent="0">
              <a:buNone/>
            </a:pPr>
            <a:r>
              <a:rPr lang="en-US" sz="900" dirty="0">
                <a:solidFill>
                  <a:srgbClr val="1A1A2E"/>
                </a:solidFill>
              </a:rPr>
              <a:t>Recognise common image file formats by their file signatures and explain how EXIF metadata is embedded within JPEG files.</a:t>
            </a:r>
            <a:endParaRPr lang="en-US" sz="900" dirty="0"/>
          </a:p>
        </p:txBody>
      </p:sp>
      <p:sp>
        <p:nvSpPr>
          <p:cNvPr id="13" name="Shape 11"/>
          <p:cNvSpPr/>
          <p:nvPr/>
        </p:nvSpPr>
        <p:spPr>
          <a:xfrm>
            <a:off x="320040" y="3602736"/>
            <a:ext cx="4206240" cy="1097280"/>
          </a:xfrm>
          <a:prstGeom prst="rect">
            <a:avLst/>
          </a:prstGeom>
          <a:solidFill>
            <a:srgbClr val="FFFFFF"/>
          </a:solidFill>
          <a:ln w="12700">
            <a:solidFill>
              <a:srgbClr val="FFFFFF"/>
            </a:solidFill>
            <a:prstDash val="solid"/>
          </a:ln>
        </p:spPr>
        <p:txBody>
          <a:bodyPr/>
          <a:lstStyle/>
          <a:p>
            <a:endParaRPr lang="en-SG"/>
          </a:p>
        </p:txBody>
      </p:sp>
      <p:sp>
        <p:nvSpPr>
          <p:cNvPr id="14" name="Shape 12"/>
          <p:cNvSpPr/>
          <p:nvPr/>
        </p:nvSpPr>
        <p:spPr>
          <a:xfrm>
            <a:off x="320040" y="3602736"/>
            <a:ext cx="548640" cy="1097280"/>
          </a:xfrm>
          <a:prstGeom prst="rect">
            <a:avLst/>
          </a:prstGeom>
          <a:solidFill>
            <a:srgbClr val="2ECC71"/>
          </a:solidFill>
          <a:ln w="12700">
            <a:solidFill>
              <a:srgbClr val="2ECC71"/>
            </a:solidFill>
            <a:prstDash val="solid"/>
          </a:ln>
        </p:spPr>
        <p:txBody>
          <a:bodyPr/>
          <a:lstStyle/>
          <a:p>
            <a:endParaRPr lang="en-SG"/>
          </a:p>
        </p:txBody>
      </p:sp>
      <p:sp>
        <p:nvSpPr>
          <p:cNvPr id="15" name="Text 13"/>
          <p:cNvSpPr/>
          <p:nvPr/>
        </p:nvSpPr>
        <p:spPr>
          <a:xfrm>
            <a:off x="320040" y="3602736"/>
            <a:ext cx="548640" cy="1097280"/>
          </a:xfrm>
          <a:prstGeom prst="rect">
            <a:avLst/>
          </a:prstGeom>
          <a:noFill/>
          <a:ln/>
        </p:spPr>
        <p:txBody>
          <a:bodyPr wrap="square" lIns="0" tIns="0" rIns="0" bIns="0" rtlCol="0" anchor="ctr"/>
          <a:lstStyle/>
          <a:p>
            <a:pPr marL="0" indent="0" algn="ctr">
              <a:buNone/>
            </a:pPr>
            <a:r>
              <a:rPr lang="en-US" sz="1800" b="1" dirty="0">
                <a:solidFill>
                  <a:srgbClr val="0D1B2A"/>
                </a:solidFill>
              </a:rPr>
              <a:t>03</a:t>
            </a:r>
            <a:endParaRPr lang="en-US" sz="1800" dirty="0"/>
          </a:p>
        </p:txBody>
      </p:sp>
      <p:sp>
        <p:nvSpPr>
          <p:cNvPr id="16" name="Text 14"/>
          <p:cNvSpPr/>
          <p:nvPr/>
        </p:nvSpPr>
        <p:spPr>
          <a:xfrm>
            <a:off x="941832" y="3712464"/>
            <a:ext cx="3493008" cy="877824"/>
          </a:xfrm>
          <a:prstGeom prst="rect">
            <a:avLst/>
          </a:prstGeom>
          <a:noFill/>
          <a:ln/>
        </p:spPr>
        <p:txBody>
          <a:bodyPr wrap="square" lIns="0" tIns="0" rIns="0" bIns="0" rtlCol="0" anchor="ctr"/>
          <a:lstStyle/>
          <a:p>
            <a:pPr marL="0" indent="0">
              <a:buNone/>
            </a:pPr>
            <a:r>
              <a:rPr lang="en-US" sz="900" dirty="0">
                <a:solidFill>
                  <a:srgbClr val="1A1A2E"/>
                </a:solidFill>
              </a:rPr>
              <a:t>Distinguish between lossy and lossless data compression and explain the forensic implications of each.</a:t>
            </a:r>
            <a:endParaRPr lang="en-US" sz="900" dirty="0"/>
          </a:p>
        </p:txBody>
      </p:sp>
      <p:sp>
        <p:nvSpPr>
          <p:cNvPr id="17" name="Shape 15"/>
          <p:cNvSpPr/>
          <p:nvPr/>
        </p:nvSpPr>
        <p:spPr>
          <a:xfrm>
            <a:off x="4663440" y="1261872"/>
            <a:ext cx="4206240" cy="1097280"/>
          </a:xfrm>
          <a:prstGeom prst="rect">
            <a:avLst/>
          </a:prstGeom>
          <a:solidFill>
            <a:srgbClr val="FFFFFF"/>
          </a:solidFill>
          <a:ln w="12700">
            <a:solidFill>
              <a:srgbClr val="FFFFFF"/>
            </a:solidFill>
            <a:prstDash val="solid"/>
          </a:ln>
        </p:spPr>
        <p:txBody>
          <a:bodyPr/>
          <a:lstStyle/>
          <a:p>
            <a:endParaRPr lang="en-SG"/>
          </a:p>
        </p:txBody>
      </p:sp>
      <p:sp>
        <p:nvSpPr>
          <p:cNvPr id="18" name="Shape 16"/>
          <p:cNvSpPr/>
          <p:nvPr/>
        </p:nvSpPr>
        <p:spPr>
          <a:xfrm>
            <a:off x="4663440" y="1261872"/>
            <a:ext cx="548640" cy="1097280"/>
          </a:xfrm>
          <a:prstGeom prst="rect">
            <a:avLst/>
          </a:prstGeom>
          <a:solidFill>
            <a:srgbClr val="A855F7"/>
          </a:solidFill>
          <a:ln w="12700">
            <a:solidFill>
              <a:srgbClr val="A855F7"/>
            </a:solidFill>
            <a:prstDash val="solid"/>
          </a:ln>
        </p:spPr>
        <p:txBody>
          <a:bodyPr/>
          <a:lstStyle/>
          <a:p>
            <a:endParaRPr lang="en-SG"/>
          </a:p>
        </p:txBody>
      </p:sp>
      <p:sp>
        <p:nvSpPr>
          <p:cNvPr id="19" name="Text 17"/>
          <p:cNvSpPr/>
          <p:nvPr/>
        </p:nvSpPr>
        <p:spPr>
          <a:xfrm>
            <a:off x="4663440" y="1261872"/>
            <a:ext cx="548640" cy="1097280"/>
          </a:xfrm>
          <a:prstGeom prst="rect">
            <a:avLst/>
          </a:prstGeom>
          <a:noFill/>
          <a:ln/>
        </p:spPr>
        <p:txBody>
          <a:bodyPr wrap="square" lIns="0" tIns="0" rIns="0" bIns="0" rtlCol="0" anchor="ctr"/>
          <a:lstStyle/>
          <a:p>
            <a:pPr marL="0" indent="0" algn="ctr">
              <a:buNone/>
            </a:pPr>
            <a:r>
              <a:rPr lang="en-US" sz="1800" b="1" dirty="0">
                <a:solidFill>
                  <a:srgbClr val="0D1B2A"/>
                </a:solidFill>
              </a:rPr>
              <a:t>04</a:t>
            </a:r>
            <a:endParaRPr lang="en-US" sz="1800" dirty="0"/>
          </a:p>
        </p:txBody>
      </p:sp>
      <p:sp>
        <p:nvSpPr>
          <p:cNvPr id="20" name="Text 18"/>
          <p:cNvSpPr/>
          <p:nvPr/>
        </p:nvSpPr>
        <p:spPr>
          <a:xfrm>
            <a:off x="5285232" y="1371600"/>
            <a:ext cx="3493008" cy="877824"/>
          </a:xfrm>
          <a:prstGeom prst="rect">
            <a:avLst/>
          </a:prstGeom>
          <a:noFill/>
          <a:ln/>
        </p:spPr>
        <p:txBody>
          <a:bodyPr wrap="square" lIns="0" tIns="0" rIns="0" bIns="0" rtlCol="0" anchor="ctr"/>
          <a:lstStyle/>
          <a:p>
            <a:pPr marL="0" indent="0">
              <a:buNone/>
            </a:pPr>
            <a:r>
              <a:rPr lang="en-US" sz="900" dirty="0">
                <a:solidFill>
                  <a:srgbClr val="1A1A2E"/>
                </a:solidFill>
              </a:rPr>
              <a:t>Apply image recovery and file carving techniques to locate and reconstruct graphics files from raw disk images and unallocated space.</a:t>
            </a:r>
            <a:endParaRPr lang="en-US" sz="900" dirty="0"/>
          </a:p>
        </p:txBody>
      </p:sp>
      <p:sp>
        <p:nvSpPr>
          <p:cNvPr id="21" name="Shape 19"/>
          <p:cNvSpPr/>
          <p:nvPr/>
        </p:nvSpPr>
        <p:spPr>
          <a:xfrm>
            <a:off x="4663440" y="2432304"/>
            <a:ext cx="4206240" cy="1097280"/>
          </a:xfrm>
          <a:prstGeom prst="rect">
            <a:avLst/>
          </a:prstGeom>
          <a:solidFill>
            <a:srgbClr val="FFFFFF"/>
          </a:solidFill>
          <a:ln w="12700">
            <a:solidFill>
              <a:srgbClr val="FFFFFF"/>
            </a:solidFill>
            <a:prstDash val="solid"/>
          </a:ln>
        </p:spPr>
        <p:txBody>
          <a:bodyPr/>
          <a:lstStyle/>
          <a:p>
            <a:endParaRPr lang="en-SG"/>
          </a:p>
        </p:txBody>
      </p:sp>
      <p:sp>
        <p:nvSpPr>
          <p:cNvPr id="22" name="Shape 20"/>
          <p:cNvSpPr/>
          <p:nvPr/>
        </p:nvSpPr>
        <p:spPr>
          <a:xfrm>
            <a:off x="4663440" y="2432304"/>
            <a:ext cx="548640" cy="1097280"/>
          </a:xfrm>
          <a:prstGeom prst="rect">
            <a:avLst/>
          </a:prstGeom>
          <a:solidFill>
            <a:srgbClr val="F1C40F"/>
          </a:solidFill>
          <a:ln w="12700">
            <a:solidFill>
              <a:srgbClr val="F1C40F"/>
            </a:solidFill>
            <a:prstDash val="solid"/>
          </a:ln>
        </p:spPr>
        <p:txBody>
          <a:bodyPr/>
          <a:lstStyle/>
          <a:p>
            <a:endParaRPr lang="en-SG"/>
          </a:p>
        </p:txBody>
      </p:sp>
      <p:sp>
        <p:nvSpPr>
          <p:cNvPr id="23" name="Text 21"/>
          <p:cNvSpPr/>
          <p:nvPr/>
        </p:nvSpPr>
        <p:spPr>
          <a:xfrm>
            <a:off x="4663440" y="2432304"/>
            <a:ext cx="548640" cy="1097280"/>
          </a:xfrm>
          <a:prstGeom prst="rect">
            <a:avLst/>
          </a:prstGeom>
          <a:noFill/>
          <a:ln/>
        </p:spPr>
        <p:txBody>
          <a:bodyPr wrap="square" lIns="0" tIns="0" rIns="0" bIns="0" rtlCol="0" anchor="ctr"/>
          <a:lstStyle/>
          <a:p>
            <a:pPr marL="0" indent="0" algn="ctr">
              <a:buNone/>
            </a:pPr>
            <a:r>
              <a:rPr lang="en-US" sz="1800" b="1" dirty="0">
                <a:solidFill>
                  <a:srgbClr val="0D1B2A"/>
                </a:solidFill>
              </a:rPr>
              <a:t>05</a:t>
            </a:r>
            <a:endParaRPr lang="en-US" sz="1800" dirty="0"/>
          </a:p>
        </p:txBody>
      </p:sp>
      <p:sp>
        <p:nvSpPr>
          <p:cNvPr id="24" name="Text 22"/>
          <p:cNvSpPr/>
          <p:nvPr/>
        </p:nvSpPr>
        <p:spPr>
          <a:xfrm>
            <a:off x="5285232" y="2542032"/>
            <a:ext cx="3493008" cy="877824"/>
          </a:xfrm>
          <a:prstGeom prst="rect">
            <a:avLst/>
          </a:prstGeom>
          <a:noFill/>
          <a:ln/>
        </p:spPr>
        <p:txBody>
          <a:bodyPr wrap="square" lIns="0" tIns="0" rIns="0" bIns="0" rtlCol="0" anchor="ctr"/>
          <a:lstStyle/>
          <a:p>
            <a:pPr marL="0" indent="0">
              <a:buNone/>
            </a:pPr>
            <a:r>
              <a:rPr lang="en-US" sz="900" dirty="0">
                <a:solidFill>
                  <a:srgbClr val="1A1A2E"/>
                </a:solidFill>
              </a:rPr>
              <a:t>Identify unknown file formats using header analysis and apply appropriate forensic tools to view and analyse image content.</a:t>
            </a:r>
            <a:endParaRPr lang="en-US" sz="900" dirty="0"/>
          </a:p>
        </p:txBody>
      </p:sp>
      <p:sp>
        <p:nvSpPr>
          <p:cNvPr id="25" name="Shape 23"/>
          <p:cNvSpPr/>
          <p:nvPr/>
        </p:nvSpPr>
        <p:spPr>
          <a:xfrm>
            <a:off x="4663440" y="3602736"/>
            <a:ext cx="4206240" cy="1097280"/>
          </a:xfrm>
          <a:prstGeom prst="rect">
            <a:avLst/>
          </a:prstGeom>
          <a:solidFill>
            <a:srgbClr val="FFFFFF"/>
          </a:solidFill>
          <a:ln w="12700">
            <a:solidFill>
              <a:srgbClr val="FFFFFF"/>
            </a:solidFill>
            <a:prstDash val="solid"/>
          </a:ln>
        </p:spPr>
        <p:txBody>
          <a:bodyPr/>
          <a:lstStyle/>
          <a:p>
            <a:endParaRPr lang="en-SG"/>
          </a:p>
        </p:txBody>
      </p:sp>
      <p:sp>
        <p:nvSpPr>
          <p:cNvPr id="26" name="Shape 24"/>
          <p:cNvSpPr/>
          <p:nvPr/>
        </p:nvSpPr>
        <p:spPr>
          <a:xfrm>
            <a:off x="4663440" y="3602736"/>
            <a:ext cx="548640" cy="1097280"/>
          </a:xfrm>
          <a:prstGeom prst="rect">
            <a:avLst/>
          </a:prstGeom>
          <a:solidFill>
            <a:srgbClr val="2EC4B6"/>
          </a:solidFill>
          <a:ln w="12700">
            <a:solidFill>
              <a:srgbClr val="2EC4B6"/>
            </a:solidFill>
            <a:prstDash val="solid"/>
          </a:ln>
        </p:spPr>
        <p:txBody>
          <a:bodyPr/>
          <a:lstStyle/>
          <a:p>
            <a:endParaRPr lang="en-SG"/>
          </a:p>
        </p:txBody>
      </p:sp>
      <p:sp>
        <p:nvSpPr>
          <p:cNvPr id="27" name="Text 25"/>
          <p:cNvSpPr/>
          <p:nvPr/>
        </p:nvSpPr>
        <p:spPr>
          <a:xfrm>
            <a:off x="4663440" y="3602736"/>
            <a:ext cx="548640" cy="1097280"/>
          </a:xfrm>
          <a:prstGeom prst="rect">
            <a:avLst/>
          </a:prstGeom>
          <a:noFill/>
          <a:ln/>
        </p:spPr>
        <p:txBody>
          <a:bodyPr wrap="square" lIns="0" tIns="0" rIns="0" bIns="0" rtlCol="0" anchor="ctr"/>
          <a:lstStyle/>
          <a:p>
            <a:pPr marL="0" indent="0" algn="ctr">
              <a:buNone/>
            </a:pPr>
            <a:r>
              <a:rPr lang="en-US" sz="1800" b="1" dirty="0">
                <a:solidFill>
                  <a:srgbClr val="0D1B2A"/>
                </a:solidFill>
              </a:rPr>
              <a:t>06</a:t>
            </a:r>
            <a:endParaRPr lang="en-US" sz="1800" dirty="0"/>
          </a:p>
        </p:txBody>
      </p:sp>
      <p:sp>
        <p:nvSpPr>
          <p:cNvPr id="28" name="Text 26"/>
          <p:cNvSpPr/>
          <p:nvPr/>
        </p:nvSpPr>
        <p:spPr>
          <a:xfrm>
            <a:off x="5285232" y="3712464"/>
            <a:ext cx="3493008" cy="877824"/>
          </a:xfrm>
          <a:prstGeom prst="rect">
            <a:avLst/>
          </a:prstGeom>
          <a:noFill/>
          <a:ln/>
        </p:spPr>
        <p:txBody>
          <a:bodyPr wrap="square" lIns="0" tIns="0" rIns="0" bIns="0" rtlCol="0" anchor="ctr"/>
          <a:lstStyle/>
          <a:p>
            <a:pPr marL="0" indent="0">
              <a:buNone/>
            </a:pPr>
            <a:r>
              <a:rPr lang="en-US" sz="900" dirty="0">
                <a:solidFill>
                  <a:srgbClr val="1A1A2E"/>
                </a:solidFill>
              </a:rPr>
              <a:t>Explain steganography principles, describe detection techniques (steganalysis), and understand copyright and digital watermarking issues.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00B4D8"/>
                </a:solidFill>
              </a:rPr>
              <a:t>SECTION 1</a:t>
            </a:r>
            <a:endParaRPr lang="en-US" sz="1300" dirty="0"/>
          </a:p>
        </p:txBody>
      </p:sp>
      <p:sp>
        <p:nvSpPr>
          <p:cNvPr id="4" name="Text 2"/>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5200" b="1" dirty="0">
                <a:solidFill>
                  <a:srgbClr val="1A1A2E"/>
                </a:solidFill>
              </a:rPr>
              <a:t>Image Types</a:t>
            </a:r>
            <a:endParaRPr lang="en-US" sz="5200" dirty="0"/>
          </a:p>
        </p:txBody>
      </p:sp>
      <p:sp>
        <p:nvSpPr>
          <p:cNvPr id="5" name="Text 3"/>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300" i="1" dirty="0">
                <a:solidFill>
                  <a:srgbClr val="8899AA"/>
                </a:solidFill>
              </a:rPr>
              <a:t>Bitmap · Vector · Metafile — understanding how digital images are structured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07438"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815998" cy="256032"/>
          </a:xfrm>
          <a:prstGeom prst="rect">
            <a:avLst/>
          </a:prstGeom>
          <a:noFill/>
          <a:ln/>
        </p:spPr>
        <p:txBody>
          <a:bodyPr wrap="square" lIns="0" tIns="0" rIns="0" bIns="0" rtlCol="0" anchor="ctr"/>
          <a:lstStyle/>
          <a:p>
            <a:pPr marL="0" indent="0">
              <a:buNone/>
            </a:pPr>
            <a:r>
              <a:rPr lang="en-US" sz="850" b="1" dirty="0">
                <a:solidFill>
                  <a:srgbClr val="0D1B2A"/>
                </a:solidFill>
              </a:rPr>
              <a:t>SECTION 1 · IMAGE TYPES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Bitmap &amp; Raster Images</a:t>
            </a:r>
            <a:endParaRPr lang="en-US" sz="2800" dirty="0"/>
          </a:p>
        </p:txBody>
      </p:sp>
      <p:sp>
        <p:nvSpPr>
          <p:cNvPr id="5" name="Shape 3"/>
          <p:cNvSpPr/>
          <p:nvPr/>
        </p:nvSpPr>
        <p:spPr>
          <a:xfrm>
            <a:off x="320040" y="1170432"/>
            <a:ext cx="8503920" cy="36576"/>
          </a:xfrm>
          <a:prstGeom prst="rect">
            <a:avLst/>
          </a:prstGeom>
          <a:solidFill>
            <a:srgbClr val="00B4D8"/>
          </a:solidFill>
          <a:ln w="12700">
            <a:solidFill>
              <a:srgbClr val="00B4D8"/>
            </a:solidFill>
            <a:prstDash val="solid"/>
          </a:ln>
        </p:spPr>
        <p:txBody>
          <a:bodyPr/>
          <a:lstStyle/>
          <a:p>
            <a:endParaRPr lang="en-SG"/>
          </a:p>
        </p:txBody>
      </p:sp>
      <p:sp>
        <p:nvSpPr>
          <p:cNvPr id="6" name="Shape 4"/>
          <p:cNvSpPr/>
          <p:nvPr/>
        </p:nvSpPr>
        <p:spPr>
          <a:xfrm>
            <a:off x="320040" y="1261872"/>
            <a:ext cx="8503920" cy="530352"/>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530352"/>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493776" y="1316736"/>
            <a:ext cx="8229600" cy="420624"/>
          </a:xfrm>
          <a:prstGeom prst="rect">
            <a:avLst/>
          </a:prstGeom>
          <a:noFill/>
          <a:ln/>
        </p:spPr>
        <p:txBody>
          <a:bodyPr wrap="square" lIns="0" tIns="0" rIns="0" bIns="0" rtlCol="0" anchor="ctr"/>
          <a:lstStyle/>
          <a:p>
            <a:pPr marL="0" indent="0">
              <a:buNone/>
            </a:pPr>
            <a:r>
              <a:rPr lang="en-US" sz="950" dirty="0">
                <a:solidFill>
                  <a:srgbClr val="1A1A2E"/>
                </a:solidFill>
              </a:rPr>
              <a:t>Bitmap (raster) images store visual data as a fixed grid of individual coloured squares called pixels. The quality and detail of the image is determined entirely by the number of pixels (resolution) and the colour depth (bits per pixel).</a:t>
            </a:r>
            <a:endParaRPr lang="en-US" sz="950" dirty="0"/>
          </a:p>
        </p:txBody>
      </p:sp>
      <p:sp>
        <p:nvSpPr>
          <p:cNvPr id="9" name="Shape 7"/>
          <p:cNvSpPr/>
          <p:nvPr/>
        </p:nvSpPr>
        <p:spPr>
          <a:xfrm>
            <a:off x="320040" y="1865376"/>
            <a:ext cx="2029968" cy="2971800"/>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0040" y="1865376"/>
            <a:ext cx="2029968" cy="64008"/>
          </a:xfrm>
          <a:prstGeom prst="rect">
            <a:avLst/>
          </a:prstGeom>
          <a:solidFill>
            <a:srgbClr val="00B4D8"/>
          </a:solidFill>
          <a:ln w="12700">
            <a:solidFill>
              <a:srgbClr val="00B4D8"/>
            </a:solidFill>
            <a:prstDash val="solid"/>
          </a:ln>
        </p:spPr>
        <p:txBody>
          <a:bodyPr/>
          <a:lstStyle/>
          <a:p>
            <a:endParaRPr lang="en-SG"/>
          </a:p>
        </p:txBody>
      </p:sp>
      <p:sp>
        <p:nvSpPr>
          <p:cNvPr id="11" name="Text 9"/>
          <p:cNvSpPr/>
          <p:nvPr/>
        </p:nvSpPr>
        <p:spPr>
          <a:xfrm>
            <a:off x="320040" y="1938528"/>
            <a:ext cx="2029968"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411480" y="2450592"/>
            <a:ext cx="1847088" cy="274320"/>
          </a:xfrm>
          <a:prstGeom prst="rect">
            <a:avLst/>
          </a:prstGeom>
          <a:noFill/>
          <a:ln/>
        </p:spPr>
        <p:txBody>
          <a:bodyPr wrap="square" lIns="0" tIns="0" rIns="0" bIns="0" rtlCol="0" anchor="ctr"/>
          <a:lstStyle/>
          <a:p>
            <a:pPr marL="0" indent="0" algn="ctr">
              <a:buNone/>
            </a:pPr>
            <a:r>
              <a:rPr lang="en-US" sz="1100" b="1" dirty="0">
                <a:solidFill>
                  <a:srgbClr val="00B4D8"/>
                </a:solidFill>
              </a:rPr>
              <a:t>Pixel Grid</a:t>
            </a:r>
            <a:endParaRPr lang="en-US" sz="1100" dirty="0"/>
          </a:p>
        </p:txBody>
      </p:sp>
      <p:sp>
        <p:nvSpPr>
          <p:cNvPr id="13" name="Text 11"/>
          <p:cNvSpPr/>
          <p:nvPr/>
        </p:nvSpPr>
        <p:spPr>
          <a:xfrm>
            <a:off x="411480" y="2761488"/>
            <a:ext cx="1847088" cy="1115568"/>
          </a:xfrm>
          <a:prstGeom prst="rect">
            <a:avLst/>
          </a:prstGeom>
          <a:noFill/>
          <a:ln/>
        </p:spPr>
        <p:txBody>
          <a:bodyPr wrap="square" lIns="0" tIns="0" rIns="0" bIns="0" rtlCol="0" anchor="ctr"/>
          <a:lstStyle/>
          <a:p>
            <a:pPr marL="0" indent="0">
              <a:buNone/>
            </a:pPr>
            <a:r>
              <a:rPr lang="en-US" sz="850" dirty="0">
                <a:solidFill>
                  <a:srgbClr val="1A1A2E"/>
                </a:solidFill>
              </a:rPr>
              <a:t>Each pixel stores one colour value. A 1920×1080 image contains over 2 million individual pixels. More pixels = more detail, more storage.</a:t>
            </a:r>
            <a:endParaRPr lang="en-US" sz="850" dirty="0"/>
          </a:p>
        </p:txBody>
      </p:sp>
      <p:sp>
        <p:nvSpPr>
          <p:cNvPr id="14" name="Shape 12"/>
          <p:cNvSpPr/>
          <p:nvPr/>
        </p:nvSpPr>
        <p:spPr>
          <a:xfrm>
            <a:off x="2478024" y="1865376"/>
            <a:ext cx="2029968" cy="2971800"/>
          </a:xfrm>
          <a:prstGeom prst="rect">
            <a:avLst/>
          </a:prstGeom>
          <a:solidFill>
            <a:srgbClr val="EEF6FB"/>
          </a:solidFill>
          <a:ln w="12700">
            <a:solidFill>
              <a:srgbClr val="EEF6FB"/>
            </a:solidFill>
            <a:prstDash val="solid"/>
          </a:ln>
        </p:spPr>
        <p:txBody>
          <a:bodyPr/>
          <a:lstStyle/>
          <a:p>
            <a:endParaRPr lang="en-SG"/>
          </a:p>
        </p:txBody>
      </p:sp>
      <p:sp>
        <p:nvSpPr>
          <p:cNvPr id="15" name="Shape 13"/>
          <p:cNvSpPr/>
          <p:nvPr/>
        </p:nvSpPr>
        <p:spPr>
          <a:xfrm>
            <a:off x="2478024" y="1865376"/>
            <a:ext cx="2029968" cy="64008"/>
          </a:xfrm>
          <a:prstGeom prst="rect">
            <a:avLst/>
          </a:prstGeom>
          <a:solidFill>
            <a:srgbClr val="F4A261"/>
          </a:solidFill>
          <a:ln w="12700">
            <a:solidFill>
              <a:srgbClr val="F4A261"/>
            </a:solidFill>
            <a:prstDash val="solid"/>
          </a:ln>
        </p:spPr>
        <p:txBody>
          <a:bodyPr/>
          <a:lstStyle/>
          <a:p>
            <a:endParaRPr lang="en-SG"/>
          </a:p>
        </p:txBody>
      </p:sp>
      <p:sp>
        <p:nvSpPr>
          <p:cNvPr id="16" name="Text 14"/>
          <p:cNvSpPr/>
          <p:nvPr/>
        </p:nvSpPr>
        <p:spPr>
          <a:xfrm>
            <a:off x="2478024" y="1938528"/>
            <a:ext cx="2029968"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2569464" y="2450592"/>
            <a:ext cx="1847088" cy="274320"/>
          </a:xfrm>
          <a:prstGeom prst="rect">
            <a:avLst/>
          </a:prstGeom>
          <a:noFill/>
          <a:ln/>
        </p:spPr>
        <p:txBody>
          <a:bodyPr wrap="square" lIns="0" tIns="0" rIns="0" bIns="0" rtlCol="0" anchor="ctr"/>
          <a:lstStyle/>
          <a:p>
            <a:pPr marL="0" indent="0" algn="ctr">
              <a:buNone/>
            </a:pPr>
            <a:r>
              <a:rPr lang="en-US" sz="1100" b="1" dirty="0">
                <a:solidFill>
                  <a:srgbClr val="F4A261"/>
                </a:solidFill>
              </a:rPr>
              <a:t>Colour Depth</a:t>
            </a:r>
            <a:endParaRPr lang="en-US" sz="1100" dirty="0"/>
          </a:p>
        </p:txBody>
      </p:sp>
      <p:sp>
        <p:nvSpPr>
          <p:cNvPr id="18" name="Text 16"/>
          <p:cNvSpPr/>
          <p:nvPr/>
        </p:nvSpPr>
        <p:spPr>
          <a:xfrm>
            <a:off x="2569464" y="2761488"/>
            <a:ext cx="1847088" cy="1115568"/>
          </a:xfrm>
          <a:prstGeom prst="rect">
            <a:avLst/>
          </a:prstGeom>
          <a:noFill/>
          <a:ln/>
        </p:spPr>
        <p:txBody>
          <a:bodyPr wrap="square" lIns="0" tIns="0" rIns="0" bIns="0" rtlCol="0" anchor="ctr"/>
          <a:lstStyle/>
          <a:p>
            <a:pPr marL="0" indent="0">
              <a:buNone/>
            </a:pPr>
            <a:r>
              <a:rPr lang="en-US" sz="850" dirty="0">
                <a:solidFill>
                  <a:srgbClr val="1A1A2E"/>
                </a:solidFill>
              </a:rPr>
              <a:t>Bits per pixel (bpp) determines colour range. 8-bit = 256 colours. 24-bit (RGB) = 16.7 million colours. 32-bit adds an alpha (transparency) channel.</a:t>
            </a:r>
            <a:endParaRPr lang="en-US" sz="850" dirty="0"/>
          </a:p>
        </p:txBody>
      </p:sp>
      <p:sp>
        <p:nvSpPr>
          <p:cNvPr id="19" name="Shape 17"/>
          <p:cNvSpPr/>
          <p:nvPr/>
        </p:nvSpPr>
        <p:spPr>
          <a:xfrm>
            <a:off x="4636008" y="1865376"/>
            <a:ext cx="2029968" cy="2971800"/>
          </a:xfrm>
          <a:prstGeom prst="rect">
            <a:avLst/>
          </a:prstGeom>
          <a:solidFill>
            <a:srgbClr val="EEF6FB"/>
          </a:solidFill>
          <a:ln w="12700">
            <a:solidFill>
              <a:srgbClr val="EEF6FB"/>
            </a:solidFill>
            <a:prstDash val="solid"/>
          </a:ln>
        </p:spPr>
        <p:txBody>
          <a:bodyPr/>
          <a:lstStyle/>
          <a:p>
            <a:endParaRPr lang="en-SG"/>
          </a:p>
        </p:txBody>
      </p:sp>
      <p:sp>
        <p:nvSpPr>
          <p:cNvPr id="20" name="Shape 18"/>
          <p:cNvSpPr/>
          <p:nvPr/>
        </p:nvSpPr>
        <p:spPr>
          <a:xfrm>
            <a:off x="4636008" y="1865376"/>
            <a:ext cx="2029968" cy="64008"/>
          </a:xfrm>
          <a:prstGeom prst="rect">
            <a:avLst/>
          </a:prstGeom>
          <a:solidFill>
            <a:srgbClr val="2ECC71"/>
          </a:solidFill>
          <a:ln w="12700">
            <a:solidFill>
              <a:srgbClr val="2ECC71"/>
            </a:solidFill>
            <a:prstDash val="solid"/>
          </a:ln>
        </p:spPr>
        <p:txBody>
          <a:bodyPr/>
          <a:lstStyle/>
          <a:p>
            <a:endParaRPr lang="en-SG"/>
          </a:p>
        </p:txBody>
      </p:sp>
      <p:sp>
        <p:nvSpPr>
          <p:cNvPr id="21" name="Text 19"/>
          <p:cNvSpPr/>
          <p:nvPr/>
        </p:nvSpPr>
        <p:spPr>
          <a:xfrm>
            <a:off x="4636008" y="1938528"/>
            <a:ext cx="2029968"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4727448" y="2450592"/>
            <a:ext cx="1847088" cy="274320"/>
          </a:xfrm>
          <a:prstGeom prst="rect">
            <a:avLst/>
          </a:prstGeom>
          <a:noFill/>
          <a:ln/>
        </p:spPr>
        <p:txBody>
          <a:bodyPr wrap="square" lIns="0" tIns="0" rIns="0" bIns="0" rtlCol="0" anchor="ctr"/>
          <a:lstStyle/>
          <a:p>
            <a:pPr marL="0" indent="0" algn="ctr">
              <a:buNone/>
            </a:pPr>
            <a:r>
              <a:rPr lang="en-US" sz="1100" b="1" dirty="0">
                <a:solidFill>
                  <a:srgbClr val="2ECC71"/>
                </a:solidFill>
              </a:rPr>
              <a:t>Resolution</a:t>
            </a:r>
            <a:endParaRPr lang="en-US" sz="1100" dirty="0"/>
          </a:p>
        </p:txBody>
      </p:sp>
      <p:sp>
        <p:nvSpPr>
          <p:cNvPr id="23" name="Text 21"/>
          <p:cNvSpPr/>
          <p:nvPr/>
        </p:nvSpPr>
        <p:spPr>
          <a:xfrm>
            <a:off x="4727448" y="2761488"/>
            <a:ext cx="1847088" cy="1115568"/>
          </a:xfrm>
          <a:prstGeom prst="rect">
            <a:avLst/>
          </a:prstGeom>
          <a:noFill/>
          <a:ln/>
        </p:spPr>
        <p:txBody>
          <a:bodyPr wrap="square" lIns="0" tIns="0" rIns="0" bIns="0" rtlCol="0" anchor="ctr"/>
          <a:lstStyle/>
          <a:p>
            <a:pPr marL="0" indent="0">
              <a:buNone/>
            </a:pPr>
            <a:r>
              <a:rPr lang="en-US" sz="850" dirty="0">
                <a:solidFill>
                  <a:srgbClr val="1A1A2E"/>
                </a:solidFill>
              </a:rPr>
              <a:t>Resolution (DPI/PPI) controls print quality. Screen displays typically use 72–96 PPI. Forensic quality scans commonly use 300–1200 DPI.</a:t>
            </a:r>
            <a:endParaRPr lang="en-US" sz="850" dirty="0"/>
          </a:p>
        </p:txBody>
      </p:sp>
      <p:sp>
        <p:nvSpPr>
          <p:cNvPr id="24" name="Shape 22"/>
          <p:cNvSpPr/>
          <p:nvPr/>
        </p:nvSpPr>
        <p:spPr>
          <a:xfrm>
            <a:off x="6793992" y="1865376"/>
            <a:ext cx="2029968" cy="2971800"/>
          </a:xfrm>
          <a:prstGeom prst="rect">
            <a:avLst/>
          </a:prstGeom>
          <a:solidFill>
            <a:srgbClr val="EEF6FB"/>
          </a:solidFill>
          <a:ln w="12700">
            <a:solidFill>
              <a:srgbClr val="EEF6FB"/>
            </a:solidFill>
            <a:prstDash val="solid"/>
          </a:ln>
        </p:spPr>
        <p:txBody>
          <a:bodyPr/>
          <a:lstStyle/>
          <a:p>
            <a:endParaRPr lang="en-SG"/>
          </a:p>
        </p:txBody>
      </p:sp>
      <p:sp>
        <p:nvSpPr>
          <p:cNvPr id="25" name="Shape 23"/>
          <p:cNvSpPr/>
          <p:nvPr/>
        </p:nvSpPr>
        <p:spPr>
          <a:xfrm>
            <a:off x="6793992" y="1865376"/>
            <a:ext cx="2029968" cy="64008"/>
          </a:xfrm>
          <a:prstGeom prst="rect">
            <a:avLst/>
          </a:prstGeom>
          <a:solidFill>
            <a:srgbClr val="A855F7"/>
          </a:solidFill>
          <a:ln w="12700">
            <a:solidFill>
              <a:srgbClr val="A855F7"/>
            </a:solidFill>
            <a:prstDash val="solid"/>
          </a:ln>
        </p:spPr>
        <p:txBody>
          <a:bodyPr/>
          <a:lstStyle/>
          <a:p>
            <a:endParaRPr lang="en-SG"/>
          </a:p>
        </p:txBody>
      </p:sp>
      <p:sp>
        <p:nvSpPr>
          <p:cNvPr id="26" name="Text 24"/>
          <p:cNvSpPr/>
          <p:nvPr/>
        </p:nvSpPr>
        <p:spPr>
          <a:xfrm>
            <a:off x="6793992" y="1938528"/>
            <a:ext cx="2029968"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6885432" y="2450592"/>
            <a:ext cx="1847088" cy="274320"/>
          </a:xfrm>
          <a:prstGeom prst="rect">
            <a:avLst/>
          </a:prstGeom>
          <a:noFill/>
          <a:ln/>
        </p:spPr>
        <p:txBody>
          <a:bodyPr wrap="square" lIns="0" tIns="0" rIns="0" bIns="0" rtlCol="0" anchor="ctr"/>
          <a:lstStyle/>
          <a:p>
            <a:pPr marL="0" indent="0" algn="ctr">
              <a:buNone/>
            </a:pPr>
            <a:r>
              <a:rPr lang="en-US" sz="1100" b="1" dirty="0">
                <a:solidFill>
                  <a:srgbClr val="A855F7"/>
                </a:solidFill>
              </a:rPr>
              <a:t>Forensic Note</a:t>
            </a:r>
            <a:endParaRPr lang="en-US" sz="1100" dirty="0"/>
          </a:p>
        </p:txBody>
      </p:sp>
      <p:sp>
        <p:nvSpPr>
          <p:cNvPr id="28" name="Text 26"/>
          <p:cNvSpPr/>
          <p:nvPr/>
        </p:nvSpPr>
        <p:spPr>
          <a:xfrm>
            <a:off x="6885432" y="2761488"/>
            <a:ext cx="1847088" cy="1115568"/>
          </a:xfrm>
          <a:prstGeom prst="rect">
            <a:avLst/>
          </a:prstGeom>
          <a:noFill/>
          <a:ln/>
        </p:spPr>
        <p:txBody>
          <a:bodyPr wrap="square" lIns="0" tIns="0" rIns="0" bIns="0" rtlCol="0" anchor="ctr"/>
          <a:lstStyle/>
          <a:p>
            <a:pPr marL="0" indent="0">
              <a:buNone/>
            </a:pPr>
            <a:r>
              <a:rPr lang="en-US" sz="850" dirty="0">
                <a:solidFill>
                  <a:srgbClr val="1A1A2E"/>
                </a:solidFill>
              </a:rPr>
              <a:t>Bitmap images are losslessly predictable — given the same dimensions and colour depth, file size is deterministic. Unexpected sizes may indicate embedded data.</a:t>
            </a:r>
            <a:endParaRPr lang="en-US" sz="850" dirty="0"/>
          </a:p>
        </p:txBody>
      </p:sp>
      <p:sp>
        <p:nvSpPr>
          <p:cNvPr id="30" name="Text 28"/>
          <p:cNvSpPr/>
          <p:nvPr/>
        </p:nvSpPr>
        <p:spPr>
          <a:xfrm>
            <a:off x="320040" y="4690872"/>
            <a:ext cx="8503920" cy="201168"/>
          </a:xfrm>
          <a:prstGeom prst="rect">
            <a:avLst/>
          </a:prstGeom>
          <a:noFill/>
          <a:ln/>
        </p:spPr>
        <p:txBody>
          <a:bodyPr wrap="square" lIns="0" tIns="0" rIns="0" bIns="0" rtlCol="0" anchor="ctr"/>
          <a:lstStyle/>
          <a:p>
            <a:pPr marL="0" indent="0" algn="ctr">
              <a:buNone/>
            </a:pPr>
            <a:r>
              <a:rPr lang="en-US" sz="850" i="1" dirty="0">
                <a:solidFill>
                  <a:srgbClr val="8899AA"/>
                </a:solidFill>
              </a:rPr>
              <a:t>Common raster formats:  JPEG · PNG · BMP · TIFF · GIF · WebP · PSD · RAW</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07438"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815998" cy="256032"/>
          </a:xfrm>
          <a:prstGeom prst="rect">
            <a:avLst/>
          </a:prstGeom>
          <a:noFill/>
          <a:ln/>
        </p:spPr>
        <p:txBody>
          <a:bodyPr wrap="square" lIns="0" tIns="0" rIns="0" bIns="0" rtlCol="0" anchor="ctr"/>
          <a:lstStyle/>
          <a:p>
            <a:pPr marL="0" indent="0">
              <a:buNone/>
            </a:pPr>
            <a:r>
              <a:rPr lang="en-US" sz="850" b="1" dirty="0">
                <a:solidFill>
                  <a:srgbClr val="0D1B2A"/>
                </a:solidFill>
              </a:rPr>
              <a:t>SECTION 1 · IMAGE TYPES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Vector &amp; Metafile Images</a:t>
            </a:r>
            <a:endParaRPr lang="en-US" sz="2800" dirty="0"/>
          </a:p>
        </p:txBody>
      </p:sp>
      <p:sp>
        <p:nvSpPr>
          <p:cNvPr id="5" name="Shape 3"/>
          <p:cNvSpPr/>
          <p:nvPr/>
        </p:nvSpPr>
        <p:spPr>
          <a:xfrm>
            <a:off x="320040" y="1170432"/>
            <a:ext cx="8503920" cy="36576"/>
          </a:xfrm>
          <a:prstGeom prst="rect">
            <a:avLst/>
          </a:prstGeom>
          <a:solidFill>
            <a:srgbClr val="F4A261"/>
          </a:solidFill>
          <a:ln w="12700">
            <a:solidFill>
              <a:srgbClr val="F4A261"/>
            </a:solidFill>
            <a:prstDash val="solid"/>
          </a:ln>
        </p:spPr>
        <p:txBody>
          <a:bodyPr/>
          <a:lstStyle/>
          <a:p>
            <a:endParaRPr lang="en-SG"/>
          </a:p>
        </p:txBody>
      </p:sp>
      <p:sp>
        <p:nvSpPr>
          <p:cNvPr id="6" name="Shape 4"/>
          <p:cNvSpPr/>
          <p:nvPr/>
        </p:nvSpPr>
        <p:spPr>
          <a:xfrm>
            <a:off x="320040" y="1261872"/>
            <a:ext cx="4096512" cy="3566160"/>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261872"/>
            <a:ext cx="4096512" cy="64008"/>
          </a:xfrm>
          <a:prstGeom prst="rect">
            <a:avLst/>
          </a:prstGeom>
          <a:solidFill>
            <a:srgbClr val="F4A261"/>
          </a:solidFill>
          <a:ln w="12700">
            <a:solidFill>
              <a:srgbClr val="F4A261"/>
            </a:solidFill>
            <a:prstDash val="solid"/>
          </a:ln>
        </p:spPr>
        <p:txBody>
          <a:bodyPr/>
          <a:lstStyle/>
          <a:p>
            <a:endParaRPr lang="en-SG"/>
          </a:p>
        </p:txBody>
      </p:sp>
      <p:sp>
        <p:nvSpPr>
          <p:cNvPr id="8" name="Text 6"/>
          <p:cNvSpPr/>
          <p:nvPr/>
        </p:nvSpPr>
        <p:spPr>
          <a:xfrm>
            <a:off x="457200" y="1371600"/>
            <a:ext cx="3840480" cy="310896"/>
          </a:xfrm>
          <a:prstGeom prst="rect">
            <a:avLst/>
          </a:prstGeom>
          <a:noFill/>
          <a:ln/>
        </p:spPr>
        <p:txBody>
          <a:bodyPr wrap="square" lIns="0" tIns="0" rIns="0" bIns="0" rtlCol="0" anchor="ctr"/>
          <a:lstStyle/>
          <a:p>
            <a:pPr marL="0" indent="0">
              <a:buNone/>
            </a:pPr>
            <a:r>
              <a:rPr lang="en-US" sz="1300" b="1" dirty="0">
                <a:solidFill>
                  <a:srgbClr val="F4A261"/>
                </a:solidFill>
              </a:rPr>
              <a:t>📐  Vector Images</a:t>
            </a:r>
            <a:endParaRPr lang="en-US" sz="1300" dirty="0"/>
          </a:p>
        </p:txBody>
      </p:sp>
      <p:sp>
        <p:nvSpPr>
          <p:cNvPr id="9" name="Text 7"/>
          <p:cNvSpPr/>
          <p:nvPr/>
        </p:nvSpPr>
        <p:spPr>
          <a:xfrm>
            <a:off x="457200" y="1773936"/>
            <a:ext cx="3840480" cy="438912"/>
          </a:xfrm>
          <a:prstGeom prst="rect">
            <a:avLst/>
          </a:prstGeom>
          <a:noFill/>
          <a:ln/>
        </p:spPr>
        <p:txBody>
          <a:bodyPr wrap="square" lIns="0" tIns="0" rIns="0" bIns="0" rtlCol="0" anchor="ctr"/>
          <a:lstStyle/>
          <a:p>
            <a:pPr marL="0" indent="0">
              <a:buNone/>
            </a:pPr>
            <a:r>
              <a:rPr lang="en-US" sz="900" dirty="0">
                <a:solidFill>
                  <a:srgbClr val="1A1A2E"/>
                </a:solidFill>
              </a:rPr>
              <a:t>›  Defined by mathematical equations — lines, curves, and shapes — rather than pixels</a:t>
            </a:r>
            <a:endParaRPr lang="en-US" sz="900" dirty="0"/>
          </a:p>
        </p:txBody>
      </p:sp>
      <p:sp>
        <p:nvSpPr>
          <p:cNvPr id="10" name="Text 8"/>
          <p:cNvSpPr/>
          <p:nvPr/>
        </p:nvSpPr>
        <p:spPr>
          <a:xfrm>
            <a:off x="457200" y="2258568"/>
            <a:ext cx="3840480" cy="438912"/>
          </a:xfrm>
          <a:prstGeom prst="rect">
            <a:avLst/>
          </a:prstGeom>
          <a:noFill/>
          <a:ln/>
        </p:spPr>
        <p:txBody>
          <a:bodyPr wrap="square" lIns="0" tIns="0" rIns="0" bIns="0" rtlCol="0" anchor="ctr"/>
          <a:lstStyle/>
          <a:p>
            <a:pPr marL="0" indent="0">
              <a:buNone/>
            </a:pPr>
            <a:r>
              <a:rPr lang="en-US" sz="900" dirty="0">
                <a:solidFill>
                  <a:srgbClr val="1A1A2E"/>
                </a:solidFill>
              </a:rPr>
              <a:t>›  Resolution-independent: scales to any size without quality loss</a:t>
            </a:r>
            <a:endParaRPr lang="en-US" sz="900" dirty="0"/>
          </a:p>
        </p:txBody>
      </p:sp>
      <p:sp>
        <p:nvSpPr>
          <p:cNvPr id="11" name="Text 9"/>
          <p:cNvSpPr/>
          <p:nvPr/>
        </p:nvSpPr>
        <p:spPr>
          <a:xfrm>
            <a:off x="457200" y="2743200"/>
            <a:ext cx="3840480" cy="438912"/>
          </a:xfrm>
          <a:prstGeom prst="rect">
            <a:avLst/>
          </a:prstGeom>
          <a:noFill/>
          <a:ln/>
        </p:spPr>
        <p:txBody>
          <a:bodyPr wrap="square" lIns="0" tIns="0" rIns="0" bIns="0" rtlCol="0" anchor="ctr"/>
          <a:lstStyle/>
          <a:p>
            <a:pPr marL="0" indent="0">
              <a:buNone/>
            </a:pPr>
            <a:r>
              <a:rPr lang="en-US" sz="900" dirty="0">
                <a:solidFill>
                  <a:srgbClr val="1A1A2E"/>
                </a:solidFill>
              </a:rPr>
              <a:t>›  Ideal for logos, diagrams, technical drawings, and typography</a:t>
            </a:r>
            <a:endParaRPr lang="en-US" sz="900" dirty="0"/>
          </a:p>
        </p:txBody>
      </p:sp>
      <p:sp>
        <p:nvSpPr>
          <p:cNvPr id="12" name="Text 10"/>
          <p:cNvSpPr/>
          <p:nvPr/>
        </p:nvSpPr>
        <p:spPr>
          <a:xfrm>
            <a:off x="457200" y="3227832"/>
            <a:ext cx="3840480" cy="438912"/>
          </a:xfrm>
          <a:prstGeom prst="rect">
            <a:avLst/>
          </a:prstGeom>
          <a:noFill/>
          <a:ln/>
        </p:spPr>
        <p:txBody>
          <a:bodyPr wrap="square" lIns="0" tIns="0" rIns="0" bIns="0" rtlCol="0" anchor="ctr"/>
          <a:lstStyle/>
          <a:p>
            <a:pPr marL="0" indent="0">
              <a:buNone/>
            </a:pPr>
            <a:r>
              <a:rPr lang="en-US" sz="900" dirty="0">
                <a:solidFill>
                  <a:srgbClr val="1A1A2E"/>
                </a:solidFill>
              </a:rPr>
              <a:t>›  File sizes typically smaller than equivalent raster images</a:t>
            </a:r>
            <a:endParaRPr lang="en-US" sz="900" dirty="0"/>
          </a:p>
        </p:txBody>
      </p:sp>
      <p:sp>
        <p:nvSpPr>
          <p:cNvPr id="13" name="Text 11"/>
          <p:cNvSpPr/>
          <p:nvPr/>
        </p:nvSpPr>
        <p:spPr>
          <a:xfrm>
            <a:off x="457200" y="3712464"/>
            <a:ext cx="3840480" cy="438912"/>
          </a:xfrm>
          <a:prstGeom prst="rect">
            <a:avLst/>
          </a:prstGeom>
          <a:noFill/>
          <a:ln/>
        </p:spPr>
        <p:txBody>
          <a:bodyPr wrap="square" lIns="0" tIns="0" rIns="0" bIns="0" rtlCol="0" anchor="ctr"/>
          <a:lstStyle/>
          <a:p>
            <a:pPr marL="0" indent="0">
              <a:buNone/>
            </a:pPr>
            <a:r>
              <a:rPr lang="en-US" sz="900" dirty="0">
                <a:solidFill>
                  <a:srgbClr val="1A1A2E"/>
                </a:solidFill>
              </a:rPr>
              <a:t>›  Common formats: SVG, AI (Adobe Illustrator), EPS, DXF, HPGL</a:t>
            </a:r>
            <a:endParaRPr lang="en-US" sz="900" dirty="0"/>
          </a:p>
        </p:txBody>
      </p:sp>
      <p:sp>
        <p:nvSpPr>
          <p:cNvPr id="14" name="Text 12"/>
          <p:cNvSpPr/>
          <p:nvPr/>
        </p:nvSpPr>
        <p:spPr>
          <a:xfrm>
            <a:off x="457200" y="4197096"/>
            <a:ext cx="3840480" cy="438912"/>
          </a:xfrm>
          <a:prstGeom prst="rect">
            <a:avLst/>
          </a:prstGeom>
          <a:noFill/>
          <a:ln/>
        </p:spPr>
        <p:txBody>
          <a:bodyPr wrap="square" lIns="0" tIns="0" rIns="0" bIns="0" rtlCol="0" anchor="ctr"/>
          <a:lstStyle/>
          <a:p>
            <a:pPr marL="0" indent="0">
              <a:buNone/>
            </a:pPr>
            <a:r>
              <a:rPr lang="en-US" sz="900" dirty="0">
                <a:solidFill>
                  <a:srgbClr val="1A1A2E"/>
                </a:solidFill>
              </a:rPr>
              <a:t>›  Forensic relevance: found in CAD files, engineering drawings, IP theft cases</a:t>
            </a:r>
            <a:endParaRPr lang="en-US" sz="900" dirty="0"/>
          </a:p>
        </p:txBody>
      </p:sp>
      <p:sp>
        <p:nvSpPr>
          <p:cNvPr id="15" name="Shape 13"/>
          <p:cNvSpPr/>
          <p:nvPr/>
        </p:nvSpPr>
        <p:spPr>
          <a:xfrm>
            <a:off x="4553712" y="1261872"/>
            <a:ext cx="36576" cy="3566160"/>
          </a:xfrm>
          <a:prstGeom prst="rect">
            <a:avLst/>
          </a:prstGeom>
          <a:solidFill>
            <a:srgbClr val="8899AA"/>
          </a:solidFill>
          <a:ln w="12700">
            <a:solidFill>
              <a:srgbClr val="8899AA"/>
            </a:solidFill>
            <a:prstDash val="solid"/>
          </a:ln>
        </p:spPr>
        <p:txBody>
          <a:bodyPr/>
          <a:lstStyle/>
          <a:p>
            <a:endParaRPr lang="en-SG"/>
          </a:p>
        </p:txBody>
      </p:sp>
      <p:sp>
        <p:nvSpPr>
          <p:cNvPr id="16" name="Shape 14"/>
          <p:cNvSpPr/>
          <p:nvPr/>
        </p:nvSpPr>
        <p:spPr>
          <a:xfrm>
            <a:off x="4727448" y="1261872"/>
            <a:ext cx="4096512" cy="3566160"/>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4727448" y="1261872"/>
            <a:ext cx="4096512" cy="64008"/>
          </a:xfrm>
          <a:prstGeom prst="rect">
            <a:avLst/>
          </a:prstGeom>
          <a:solidFill>
            <a:srgbClr val="A855F7"/>
          </a:solidFill>
          <a:ln w="12700">
            <a:solidFill>
              <a:srgbClr val="A855F7"/>
            </a:solidFill>
            <a:prstDash val="solid"/>
          </a:ln>
        </p:spPr>
        <p:txBody>
          <a:bodyPr/>
          <a:lstStyle/>
          <a:p>
            <a:endParaRPr lang="en-SG"/>
          </a:p>
        </p:txBody>
      </p:sp>
      <p:sp>
        <p:nvSpPr>
          <p:cNvPr id="18" name="Text 16"/>
          <p:cNvSpPr/>
          <p:nvPr/>
        </p:nvSpPr>
        <p:spPr>
          <a:xfrm>
            <a:off x="4864608" y="1371600"/>
            <a:ext cx="3840480" cy="310896"/>
          </a:xfrm>
          <a:prstGeom prst="rect">
            <a:avLst/>
          </a:prstGeom>
          <a:noFill/>
          <a:ln/>
        </p:spPr>
        <p:txBody>
          <a:bodyPr wrap="square" lIns="0" tIns="0" rIns="0" bIns="0" rtlCol="0" anchor="ctr"/>
          <a:lstStyle/>
          <a:p>
            <a:pPr marL="0" indent="0">
              <a:buNone/>
            </a:pPr>
            <a:r>
              <a:rPr lang="en-US" sz="1300" b="1" dirty="0">
                <a:solidFill>
                  <a:srgbClr val="A855F7"/>
                </a:solidFill>
              </a:rPr>
              <a:t>🗂️  Metafile Images</a:t>
            </a:r>
            <a:endParaRPr lang="en-US" sz="1300" dirty="0"/>
          </a:p>
        </p:txBody>
      </p:sp>
      <p:sp>
        <p:nvSpPr>
          <p:cNvPr id="19" name="Text 17"/>
          <p:cNvSpPr/>
          <p:nvPr/>
        </p:nvSpPr>
        <p:spPr>
          <a:xfrm>
            <a:off x="4864608" y="1773936"/>
            <a:ext cx="3840480" cy="438912"/>
          </a:xfrm>
          <a:prstGeom prst="rect">
            <a:avLst/>
          </a:prstGeom>
          <a:noFill/>
          <a:ln/>
        </p:spPr>
        <p:txBody>
          <a:bodyPr wrap="square" lIns="0" tIns="0" rIns="0" bIns="0" rtlCol="0" anchor="ctr"/>
          <a:lstStyle/>
          <a:p>
            <a:pPr marL="0" indent="0">
              <a:buNone/>
            </a:pPr>
            <a:r>
              <a:rPr lang="en-US" sz="900" dirty="0">
                <a:solidFill>
                  <a:srgbClr val="1A1A2E"/>
                </a:solidFill>
              </a:rPr>
              <a:t>›  Hybrid format: combines both raster and vector data in a single file</a:t>
            </a:r>
            <a:endParaRPr lang="en-US" sz="900" dirty="0"/>
          </a:p>
        </p:txBody>
      </p:sp>
      <p:sp>
        <p:nvSpPr>
          <p:cNvPr id="20" name="Text 18"/>
          <p:cNvSpPr/>
          <p:nvPr/>
        </p:nvSpPr>
        <p:spPr>
          <a:xfrm>
            <a:off x="4864608" y="2258568"/>
            <a:ext cx="3840480" cy="438912"/>
          </a:xfrm>
          <a:prstGeom prst="rect">
            <a:avLst/>
          </a:prstGeom>
          <a:noFill/>
          <a:ln/>
        </p:spPr>
        <p:txBody>
          <a:bodyPr wrap="square" lIns="0" tIns="0" rIns="0" bIns="0" rtlCol="0" anchor="ctr"/>
          <a:lstStyle/>
          <a:p>
            <a:pPr marL="0" indent="0">
              <a:buNone/>
            </a:pPr>
            <a:r>
              <a:rPr lang="en-US" sz="900" dirty="0">
                <a:solidFill>
                  <a:srgbClr val="1A1A2E"/>
                </a:solidFill>
              </a:rPr>
              <a:t>›  Can contain embedded bitmaps alongside mathematical vector elements</a:t>
            </a:r>
            <a:endParaRPr lang="en-US" sz="900" dirty="0"/>
          </a:p>
        </p:txBody>
      </p:sp>
      <p:sp>
        <p:nvSpPr>
          <p:cNvPr id="21" name="Text 19"/>
          <p:cNvSpPr/>
          <p:nvPr/>
        </p:nvSpPr>
        <p:spPr>
          <a:xfrm>
            <a:off x="4864608" y="2743200"/>
            <a:ext cx="3840480" cy="438912"/>
          </a:xfrm>
          <a:prstGeom prst="rect">
            <a:avLst/>
          </a:prstGeom>
          <a:noFill/>
          <a:ln/>
        </p:spPr>
        <p:txBody>
          <a:bodyPr wrap="square" lIns="0" tIns="0" rIns="0" bIns="0" rtlCol="0" anchor="ctr"/>
          <a:lstStyle/>
          <a:p>
            <a:pPr marL="0" indent="0">
              <a:buNone/>
            </a:pPr>
            <a:r>
              <a:rPr lang="en-US" sz="900" dirty="0">
                <a:solidFill>
                  <a:srgbClr val="1A1A2E"/>
                </a:solidFill>
              </a:rPr>
              <a:t>›  Common formats: WMF (Windows Metafile), EMF (Enhanced Metafile), PDF</a:t>
            </a:r>
            <a:endParaRPr lang="en-US" sz="900" dirty="0"/>
          </a:p>
        </p:txBody>
      </p:sp>
      <p:sp>
        <p:nvSpPr>
          <p:cNvPr id="22" name="Text 20"/>
          <p:cNvSpPr/>
          <p:nvPr/>
        </p:nvSpPr>
        <p:spPr>
          <a:xfrm>
            <a:off x="4864608" y="3227832"/>
            <a:ext cx="3840480" cy="438912"/>
          </a:xfrm>
          <a:prstGeom prst="rect">
            <a:avLst/>
          </a:prstGeom>
          <a:noFill/>
          <a:ln/>
        </p:spPr>
        <p:txBody>
          <a:bodyPr wrap="square" lIns="0" tIns="0" rIns="0" bIns="0" rtlCol="0" anchor="ctr"/>
          <a:lstStyle/>
          <a:p>
            <a:pPr marL="0" indent="0">
              <a:buNone/>
            </a:pPr>
            <a:r>
              <a:rPr lang="en-US" sz="900" dirty="0">
                <a:solidFill>
                  <a:srgbClr val="1A1A2E"/>
                </a:solidFill>
              </a:rPr>
              <a:t>›  PDF is the most forensically significant metafile — frequently contains hidden layers</a:t>
            </a:r>
            <a:endParaRPr lang="en-US" sz="900" dirty="0"/>
          </a:p>
        </p:txBody>
      </p:sp>
      <p:sp>
        <p:nvSpPr>
          <p:cNvPr id="23" name="Text 21"/>
          <p:cNvSpPr/>
          <p:nvPr/>
        </p:nvSpPr>
        <p:spPr>
          <a:xfrm>
            <a:off x="4864608" y="3712464"/>
            <a:ext cx="3840480" cy="438912"/>
          </a:xfrm>
          <a:prstGeom prst="rect">
            <a:avLst/>
          </a:prstGeom>
          <a:noFill/>
          <a:ln/>
        </p:spPr>
        <p:txBody>
          <a:bodyPr wrap="square" lIns="0" tIns="0" rIns="0" bIns="0" rtlCol="0" anchor="ctr"/>
          <a:lstStyle/>
          <a:p>
            <a:pPr marL="0" indent="0">
              <a:buNone/>
            </a:pPr>
            <a:r>
              <a:rPr lang="en-US" sz="900" dirty="0">
                <a:solidFill>
                  <a:srgbClr val="1A1A2E"/>
                </a:solidFill>
              </a:rPr>
              <a:t>›  Used by Windows GDI applications for scalable device-independent graphics</a:t>
            </a:r>
            <a:endParaRPr lang="en-US" sz="900" dirty="0"/>
          </a:p>
        </p:txBody>
      </p:sp>
      <p:sp>
        <p:nvSpPr>
          <p:cNvPr id="24" name="Text 22"/>
          <p:cNvSpPr/>
          <p:nvPr/>
        </p:nvSpPr>
        <p:spPr>
          <a:xfrm>
            <a:off x="4864608" y="4197096"/>
            <a:ext cx="3840480" cy="438912"/>
          </a:xfrm>
          <a:prstGeom prst="rect">
            <a:avLst/>
          </a:prstGeom>
          <a:noFill/>
          <a:ln/>
        </p:spPr>
        <p:txBody>
          <a:bodyPr wrap="square" lIns="0" tIns="0" rIns="0" bIns="0" rtlCol="0" anchor="ctr"/>
          <a:lstStyle/>
          <a:p>
            <a:pPr marL="0" indent="0">
              <a:buNone/>
            </a:pPr>
            <a:r>
              <a:rPr lang="en-US" sz="900" dirty="0">
                <a:solidFill>
                  <a:srgbClr val="1A1A2E"/>
                </a:solidFill>
              </a:rPr>
              <a:t>›  Forensic relevance: hidden content, embedded files, and metadata within containers</a:t>
            </a:r>
            <a:endParaRPr lang="en-US" sz="900" dirty="0"/>
          </a:p>
        </p:txBody>
      </p:sp>
      <p:sp>
        <p:nvSpPr>
          <p:cNvPr id="26" name="Text 24"/>
          <p:cNvSpPr/>
          <p:nvPr/>
        </p:nvSpPr>
        <p:spPr>
          <a:xfrm>
            <a:off x="320040" y="4681728"/>
            <a:ext cx="8503920" cy="201168"/>
          </a:xfrm>
          <a:prstGeom prst="rect">
            <a:avLst/>
          </a:prstGeom>
          <a:noFill/>
          <a:ln/>
        </p:spPr>
        <p:txBody>
          <a:bodyPr wrap="square" lIns="0" tIns="0" rIns="0" bIns="0" rtlCol="0" anchor="ctr"/>
          <a:lstStyle/>
          <a:p>
            <a:pPr marL="0" indent="0" algn="ctr">
              <a:buNone/>
            </a:pPr>
            <a:r>
              <a:rPr lang="en-US" sz="850" i="1" dirty="0">
                <a:solidFill>
                  <a:srgbClr val="F1C40F"/>
                </a:solidFill>
              </a:rPr>
              <a:t>💡  Most forensic investigations involving images deal primarily with raster/bitmap formats, but investigators must recognise all three types.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F4A261"/>
                </a:solidFill>
              </a:rPr>
              <a:t>SECTION 2</a:t>
            </a:r>
            <a:endParaRPr lang="en-US" sz="1300" dirty="0"/>
          </a:p>
        </p:txBody>
      </p:sp>
      <p:sp>
        <p:nvSpPr>
          <p:cNvPr id="4" name="Text 2"/>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5200" b="1" dirty="0">
                <a:solidFill>
                  <a:srgbClr val="1A1A2E"/>
                </a:solidFill>
              </a:rPr>
              <a:t>Image Formats</a:t>
            </a:r>
            <a:endParaRPr lang="en-US" sz="5200" dirty="0"/>
          </a:p>
        </p:txBody>
      </p:sp>
      <p:sp>
        <p:nvSpPr>
          <p:cNvPr id="5" name="Text 3"/>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rPr>
              <a:t>File signatures · EXIF metadata · Camera RAW — identifying images at the byte level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574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965960" cy="256032"/>
          </a:xfrm>
          <a:prstGeom prst="rect">
            <a:avLst/>
          </a:prstGeom>
          <a:noFill/>
          <a:ln/>
        </p:spPr>
        <p:txBody>
          <a:bodyPr wrap="square" lIns="0" tIns="0" rIns="0" bIns="0" rtlCol="0" anchor="ctr"/>
          <a:lstStyle/>
          <a:p>
            <a:pPr marL="0" indent="0">
              <a:buNone/>
            </a:pPr>
            <a:r>
              <a:rPr lang="en-US" sz="850" b="1" dirty="0">
                <a:solidFill>
                  <a:srgbClr val="0D1B2A"/>
                </a:solidFill>
              </a:rPr>
              <a:t>SECTION 2 · IMAGE FORMATS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Common Raster Image Formats</a:t>
            </a:r>
            <a:endParaRPr lang="en-US" sz="2800" dirty="0"/>
          </a:p>
        </p:txBody>
      </p:sp>
      <p:sp>
        <p:nvSpPr>
          <p:cNvPr id="5" name="Shape 3"/>
          <p:cNvSpPr/>
          <p:nvPr/>
        </p:nvSpPr>
        <p:spPr>
          <a:xfrm>
            <a:off x="320040" y="1170432"/>
            <a:ext cx="8503920" cy="36576"/>
          </a:xfrm>
          <a:prstGeom prst="rect">
            <a:avLst/>
          </a:prstGeom>
          <a:solidFill>
            <a:srgbClr val="F4A261"/>
          </a:solidFill>
          <a:ln w="12700">
            <a:solidFill>
              <a:srgbClr val="F4A261"/>
            </a:solidFill>
            <a:prstDash val="solid"/>
          </a:ln>
        </p:spPr>
        <p:txBody>
          <a:bodyPr/>
          <a:lstStyle/>
          <a:p>
            <a:endParaRPr lang="en-SG"/>
          </a:p>
        </p:txBody>
      </p:sp>
      <p:sp>
        <p:nvSpPr>
          <p:cNvPr id="6" name="Shape 4"/>
          <p:cNvSpPr/>
          <p:nvPr/>
        </p:nvSpPr>
        <p:spPr>
          <a:xfrm>
            <a:off x="320040" y="1261872"/>
            <a:ext cx="8503920" cy="384048"/>
          </a:xfrm>
          <a:prstGeom prst="rect">
            <a:avLst/>
          </a:prstGeom>
          <a:solidFill>
            <a:srgbClr val="FFFFFF"/>
          </a:solidFill>
          <a:ln w="12700">
            <a:solidFill>
              <a:srgbClr val="FFFFFF"/>
            </a:solidFill>
            <a:prstDash val="solid"/>
          </a:ln>
        </p:spPr>
        <p:txBody>
          <a:bodyPr/>
          <a:lstStyle/>
          <a:p>
            <a:endParaRPr lang="en-SG"/>
          </a:p>
        </p:txBody>
      </p:sp>
      <p:sp>
        <p:nvSpPr>
          <p:cNvPr id="7" name="Text 5"/>
          <p:cNvSpPr/>
          <p:nvPr/>
        </p:nvSpPr>
        <p:spPr>
          <a:xfrm>
            <a:off x="457200" y="1307592"/>
            <a:ext cx="8229600" cy="292608"/>
          </a:xfrm>
          <a:prstGeom prst="rect">
            <a:avLst/>
          </a:prstGeom>
          <a:noFill/>
          <a:ln/>
        </p:spPr>
        <p:txBody>
          <a:bodyPr wrap="square" lIns="0" tIns="0" rIns="0" bIns="0" rtlCol="0" anchor="ctr"/>
          <a:lstStyle/>
          <a:p>
            <a:pPr marL="0" indent="0">
              <a:buNone/>
            </a:pPr>
            <a:r>
              <a:rPr lang="en-US" sz="900" i="1" dirty="0">
                <a:solidFill>
                  <a:srgbClr val="8899AA"/>
                </a:solidFill>
              </a:rPr>
              <a:t>Each image format encodes pixel data differently. Forensic investigators use file signatures (magic bytes at offset 0) to identify format regardless of file extension — a renamed or misnamed file can still be identified.</a:t>
            </a:r>
            <a:endParaRPr lang="en-US" sz="900" dirty="0"/>
          </a:p>
        </p:txBody>
      </p:sp>
      <p:sp>
        <p:nvSpPr>
          <p:cNvPr id="8" name="Shape 6"/>
          <p:cNvSpPr/>
          <p:nvPr/>
        </p:nvSpPr>
        <p:spPr>
          <a:xfrm>
            <a:off x="320040" y="1682496"/>
            <a:ext cx="8503920" cy="274320"/>
          </a:xfrm>
          <a:prstGeom prst="rect">
            <a:avLst/>
          </a:prstGeom>
          <a:solidFill>
            <a:srgbClr val="00B4D8"/>
          </a:solidFill>
          <a:ln w="12700">
            <a:solidFill>
              <a:srgbClr val="00B4D8"/>
            </a:solidFill>
            <a:prstDash val="solid"/>
          </a:ln>
        </p:spPr>
        <p:txBody>
          <a:bodyPr/>
          <a:lstStyle/>
          <a:p>
            <a:endParaRPr lang="en-SG"/>
          </a:p>
        </p:txBody>
      </p:sp>
      <p:sp>
        <p:nvSpPr>
          <p:cNvPr id="9" name="Text 7"/>
          <p:cNvSpPr/>
          <p:nvPr/>
        </p:nvSpPr>
        <p:spPr>
          <a:xfrm>
            <a:off x="356616" y="1682496"/>
            <a:ext cx="914400" cy="274320"/>
          </a:xfrm>
          <a:prstGeom prst="rect">
            <a:avLst/>
          </a:prstGeom>
          <a:noFill/>
          <a:ln/>
        </p:spPr>
        <p:txBody>
          <a:bodyPr wrap="square" lIns="0" tIns="0" rIns="0" bIns="0" rtlCol="0" anchor="ctr"/>
          <a:lstStyle/>
          <a:p>
            <a:pPr marL="0" indent="0">
              <a:buNone/>
            </a:pPr>
            <a:r>
              <a:rPr lang="en-US" sz="850" b="1" dirty="0">
                <a:solidFill>
                  <a:srgbClr val="0D1B2A"/>
                </a:solidFill>
              </a:rPr>
              <a:t>Format</a:t>
            </a:r>
            <a:endParaRPr lang="en-US" sz="850" dirty="0"/>
          </a:p>
        </p:txBody>
      </p:sp>
      <p:sp>
        <p:nvSpPr>
          <p:cNvPr id="10" name="Text 8"/>
          <p:cNvSpPr/>
          <p:nvPr/>
        </p:nvSpPr>
        <p:spPr>
          <a:xfrm>
            <a:off x="1298448" y="1682496"/>
            <a:ext cx="1097280" cy="274320"/>
          </a:xfrm>
          <a:prstGeom prst="rect">
            <a:avLst/>
          </a:prstGeom>
          <a:noFill/>
          <a:ln/>
        </p:spPr>
        <p:txBody>
          <a:bodyPr wrap="square" lIns="0" tIns="0" rIns="0" bIns="0" rtlCol="0" anchor="ctr"/>
          <a:lstStyle/>
          <a:p>
            <a:pPr marL="0" indent="0">
              <a:buNone/>
            </a:pPr>
            <a:r>
              <a:rPr lang="en-US" sz="850" b="1" dirty="0">
                <a:solidFill>
                  <a:srgbClr val="0D1B2A"/>
                </a:solidFill>
              </a:rPr>
              <a:t>Extension</a:t>
            </a:r>
            <a:endParaRPr lang="en-US" sz="850" dirty="0"/>
          </a:p>
        </p:txBody>
      </p:sp>
      <p:sp>
        <p:nvSpPr>
          <p:cNvPr id="11" name="Text 9"/>
          <p:cNvSpPr/>
          <p:nvPr/>
        </p:nvSpPr>
        <p:spPr>
          <a:xfrm>
            <a:off x="2432304" y="1682496"/>
            <a:ext cx="2103120" cy="274320"/>
          </a:xfrm>
          <a:prstGeom prst="rect">
            <a:avLst/>
          </a:prstGeom>
          <a:noFill/>
          <a:ln/>
        </p:spPr>
        <p:txBody>
          <a:bodyPr wrap="square" lIns="0" tIns="0" rIns="0" bIns="0" rtlCol="0" anchor="ctr"/>
          <a:lstStyle/>
          <a:p>
            <a:pPr marL="0" indent="0">
              <a:buNone/>
            </a:pPr>
            <a:r>
              <a:rPr lang="en-US" sz="850" b="1" dirty="0">
                <a:solidFill>
                  <a:srgbClr val="0D1B2A"/>
                </a:solidFill>
              </a:rPr>
              <a:t>Magic Bytes (Header)</a:t>
            </a:r>
            <a:endParaRPr lang="en-US" sz="850" dirty="0"/>
          </a:p>
        </p:txBody>
      </p:sp>
      <p:sp>
        <p:nvSpPr>
          <p:cNvPr id="12" name="Text 10"/>
          <p:cNvSpPr/>
          <p:nvPr/>
        </p:nvSpPr>
        <p:spPr>
          <a:xfrm>
            <a:off x="4572000" y="1682496"/>
            <a:ext cx="1371600" cy="274320"/>
          </a:xfrm>
          <a:prstGeom prst="rect">
            <a:avLst/>
          </a:prstGeom>
          <a:noFill/>
          <a:ln/>
        </p:spPr>
        <p:txBody>
          <a:bodyPr wrap="square" lIns="0" tIns="0" rIns="0" bIns="0" rtlCol="0" anchor="ctr"/>
          <a:lstStyle/>
          <a:p>
            <a:pPr marL="0" indent="0">
              <a:buNone/>
            </a:pPr>
            <a:r>
              <a:rPr lang="en-US" sz="850" b="1" dirty="0">
                <a:solidFill>
                  <a:srgbClr val="0D1B2A"/>
                </a:solidFill>
              </a:rPr>
              <a:t>Compression</a:t>
            </a:r>
            <a:endParaRPr lang="en-US" sz="850" dirty="0"/>
          </a:p>
        </p:txBody>
      </p:sp>
      <p:sp>
        <p:nvSpPr>
          <p:cNvPr id="13" name="Text 11"/>
          <p:cNvSpPr/>
          <p:nvPr/>
        </p:nvSpPr>
        <p:spPr>
          <a:xfrm>
            <a:off x="5980176" y="1682496"/>
            <a:ext cx="2029968" cy="274320"/>
          </a:xfrm>
          <a:prstGeom prst="rect">
            <a:avLst/>
          </a:prstGeom>
          <a:noFill/>
          <a:ln/>
        </p:spPr>
        <p:txBody>
          <a:bodyPr wrap="square" lIns="0" tIns="0" rIns="0" bIns="0" rtlCol="0" anchor="ctr"/>
          <a:lstStyle/>
          <a:p>
            <a:pPr marL="0" indent="0">
              <a:buNone/>
            </a:pPr>
            <a:r>
              <a:rPr lang="en-US" sz="850" b="1" dirty="0">
                <a:solidFill>
                  <a:srgbClr val="0D1B2A"/>
                </a:solidFill>
              </a:rPr>
              <a:t>Forensic Notes</a:t>
            </a:r>
            <a:endParaRPr lang="en-US" sz="850" dirty="0"/>
          </a:p>
        </p:txBody>
      </p:sp>
      <p:sp>
        <p:nvSpPr>
          <p:cNvPr id="14" name="Text 12"/>
          <p:cNvSpPr/>
          <p:nvPr/>
        </p:nvSpPr>
        <p:spPr>
          <a:xfrm>
            <a:off x="8046720" y="1682496"/>
            <a:ext cx="804672" cy="274320"/>
          </a:xfrm>
          <a:prstGeom prst="rect">
            <a:avLst/>
          </a:prstGeom>
          <a:noFill/>
          <a:ln/>
        </p:spPr>
        <p:txBody>
          <a:bodyPr wrap="square" lIns="0" tIns="0" rIns="0" bIns="0" rtlCol="0" anchor="ctr"/>
          <a:lstStyle/>
          <a:p>
            <a:pPr marL="0" indent="0">
              <a:buNone/>
            </a:pPr>
            <a:r>
              <a:rPr lang="en-US" sz="850" b="1" dirty="0">
                <a:solidFill>
                  <a:srgbClr val="0D1B2A"/>
                </a:solidFill>
              </a:rPr>
              <a:t>Footer</a:t>
            </a:r>
            <a:endParaRPr lang="en-US" sz="850" dirty="0"/>
          </a:p>
        </p:txBody>
      </p:sp>
      <p:sp>
        <p:nvSpPr>
          <p:cNvPr id="15" name="Shape 13"/>
          <p:cNvSpPr/>
          <p:nvPr/>
        </p:nvSpPr>
        <p:spPr>
          <a:xfrm>
            <a:off x="320040" y="1993392"/>
            <a:ext cx="8503920" cy="320040"/>
          </a:xfrm>
          <a:prstGeom prst="rect">
            <a:avLst/>
          </a:prstGeom>
          <a:solidFill>
            <a:srgbClr val="EEF6FB"/>
          </a:solidFill>
          <a:ln w="12700">
            <a:solidFill>
              <a:srgbClr val="EEF6FB"/>
            </a:solidFill>
            <a:prstDash val="solid"/>
          </a:ln>
        </p:spPr>
        <p:txBody>
          <a:bodyPr/>
          <a:lstStyle/>
          <a:p>
            <a:endParaRPr lang="en-SG"/>
          </a:p>
        </p:txBody>
      </p:sp>
      <p:sp>
        <p:nvSpPr>
          <p:cNvPr id="16" name="Text 14"/>
          <p:cNvSpPr/>
          <p:nvPr/>
        </p:nvSpPr>
        <p:spPr>
          <a:xfrm>
            <a:off x="356616" y="1993392"/>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JPEG</a:t>
            </a:r>
            <a:endParaRPr lang="en-US" sz="850" dirty="0"/>
          </a:p>
        </p:txBody>
      </p:sp>
      <p:sp>
        <p:nvSpPr>
          <p:cNvPr id="17" name="Text 15"/>
          <p:cNvSpPr/>
          <p:nvPr/>
        </p:nvSpPr>
        <p:spPr>
          <a:xfrm>
            <a:off x="1298448" y="1993392"/>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.jpg .jpeg</a:t>
            </a:r>
            <a:endParaRPr lang="en-US" sz="800" dirty="0"/>
          </a:p>
        </p:txBody>
      </p:sp>
      <p:sp>
        <p:nvSpPr>
          <p:cNvPr id="18" name="Text 16"/>
          <p:cNvSpPr/>
          <p:nvPr/>
        </p:nvSpPr>
        <p:spPr>
          <a:xfrm>
            <a:off x="2432304" y="1993392"/>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FF D8 FF E0 / E1</a:t>
            </a:r>
            <a:endParaRPr lang="en-US" sz="780" dirty="0"/>
          </a:p>
        </p:txBody>
      </p:sp>
      <p:sp>
        <p:nvSpPr>
          <p:cNvPr id="19" name="Text 17"/>
          <p:cNvSpPr/>
          <p:nvPr/>
        </p:nvSpPr>
        <p:spPr>
          <a:xfrm>
            <a:off x="4572000" y="1993392"/>
            <a:ext cx="1371600" cy="320040"/>
          </a:xfrm>
          <a:prstGeom prst="rect">
            <a:avLst/>
          </a:prstGeom>
          <a:noFill/>
          <a:ln/>
        </p:spPr>
        <p:txBody>
          <a:bodyPr wrap="square" lIns="0" tIns="0" rIns="0" bIns="0" rtlCol="0" anchor="ctr"/>
          <a:lstStyle/>
          <a:p>
            <a:pPr marL="0" indent="0">
              <a:buNone/>
            </a:pPr>
            <a:r>
              <a:rPr lang="en-US" sz="800" dirty="0">
                <a:solidFill>
                  <a:srgbClr val="F1C40F"/>
                </a:solidFill>
              </a:rPr>
              <a:t>Lossy</a:t>
            </a:r>
            <a:endParaRPr lang="en-US" sz="800" dirty="0"/>
          </a:p>
        </p:txBody>
      </p:sp>
      <p:sp>
        <p:nvSpPr>
          <p:cNvPr id="20" name="Text 18"/>
          <p:cNvSpPr/>
          <p:nvPr/>
        </p:nvSpPr>
        <p:spPr>
          <a:xfrm>
            <a:off x="5980176" y="1993392"/>
            <a:ext cx="2029968" cy="320040"/>
          </a:xfrm>
          <a:prstGeom prst="rect">
            <a:avLst/>
          </a:prstGeom>
          <a:noFill/>
          <a:ln/>
        </p:spPr>
        <p:txBody>
          <a:bodyPr wrap="square" lIns="0" tIns="0" rIns="0" bIns="0" rtlCol="0" anchor="ctr"/>
          <a:lstStyle/>
          <a:p>
            <a:pPr marL="0" indent="0">
              <a:buNone/>
            </a:pPr>
            <a:r>
              <a:rPr lang="en-US" sz="780" dirty="0">
                <a:solidFill>
                  <a:srgbClr val="1A1A2E"/>
                </a:solidFill>
              </a:rPr>
              <a:t>Most common photo format; contains EXIF metadata</a:t>
            </a:r>
            <a:endParaRPr lang="en-US" sz="780" dirty="0"/>
          </a:p>
        </p:txBody>
      </p:sp>
      <p:sp>
        <p:nvSpPr>
          <p:cNvPr id="21" name="Text 19"/>
          <p:cNvSpPr/>
          <p:nvPr/>
        </p:nvSpPr>
        <p:spPr>
          <a:xfrm>
            <a:off x="8046720" y="1993392"/>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FF D9</a:t>
            </a:r>
            <a:endParaRPr lang="en-US" sz="780" dirty="0"/>
          </a:p>
        </p:txBody>
      </p:sp>
      <p:sp>
        <p:nvSpPr>
          <p:cNvPr id="22" name="Shape 20"/>
          <p:cNvSpPr/>
          <p:nvPr/>
        </p:nvSpPr>
        <p:spPr>
          <a:xfrm>
            <a:off x="320040" y="2331720"/>
            <a:ext cx="8503920" cy="320040"/>
          </a:xfrm>
          <a:prstGeom prst="rect">
            <a:avLst/>
          </a:prstGeom>
          <a:solidFill>
            <a:srgbClr val="FFFFFF"/>
          </a:solidFill>
          <a:ln w="12700">
            <a:solidFill>
              <a:srgbClr val="FFFFFF"/>
            </a:solidFill>
            <a:prstDash val="solid"/>
          </a:ln>
        </p:spPr>
        <p:txBody>
          <a:bodyPr/>
          <a:lstStyle/>
          <a:p>
            <a:endParaRPr lang="en-SG"/>
          </a:p>
        </p:txBody>
      </p:sp>
      <p:sp>
        <p:nvSpPr>
          <p:cNvPr id="23" name="Text 21"/>
          <p:cNvSpPr/>
          <p:nvPr/>
        </p:nvSpPr>
        <p:spPr>
          <a:xfrm>
            <a:off x="356616" y="2331720"/>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PNG</a:t>
            </a:r>
            <a:endParaRPr lang="en-US" sz="850" dirty="0"/>
          </a:p>
        </p:txBody>
      </p:sp>
      <p:sp>
        <p:nvSpPr>
          <p:cNvPr id="24" name="Text 22"/>
          <p:cNvSpPr/>
          <p:nvPr/>
        </p:nvSpPr>
        <p:spPr>
          <a:xfrm>
            <a:off x="1298448" y="2331720"/>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.png</a:t>
            </a:r>
            <a:endParaRPr lang="en-US" sz="800" dirty="0"/>
          </a:p>
        </p:txBody>
      </p:sp>
      <p:sp>
        <p:nvSpPr>
          <p:cNvPr id="25" name="Text 23"/>
          <p:cNvSpPr/>
          <p:nvPr/>
        </p:nvSpPr>
        <p:spPr>
          <a:xfrm>
            <a:off x="2432304" y="2331720"/>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89 50 4E 47 0D 0A</a:t>
            </a:r>
            <a:endParaRPr lang="en-US" sz="780" dirty="0"/>
          </a:p>
        </p:txBody>
      </p:sp>
      <p:sp>
        <p:nvSpPr>
          <p:cNvPr id="26" name="Text 24"/>
          <p:cNvSpPr/>
          <p:nvPr/>
        </p:nvSpPr>
        <p:spPr>
          <a:xfrm>
            <a:off x="4572000" y="2331720"/>
            <a:ext cx="1371600" cy="320040"/>
          </a:xfrm>
          <a:prstGeom prst="rect">
            <a:avLst/>
          </a:prstGeom>
          <a:noFill/>
          <a:ln/>
        </p:spPr>
        <p:txBody>
          <a:bodyPr wrap="square" lIns="0" tIns="0" rIns="0" bIns="0" rtlCol="0" anchor="ctr"/>
          <a:lstStyle/>
          <a:p>
            <a:pPr marL="0" indent="0">
              <a:buNone/>
            </a:pPr>
            <a:r>
              <a:rPr lang="en-US" sz="800" dirty="0">
                <a:solidFill>
                  <a:srgbClr val="F1C40F"/>
                </a:solidFill>
              </a:rPr>
              <a:t>Lossless</a:t>
            </a:r>
            <a:endParaRPr lang="en-US" sz="800" dirty="0"/>
          </a:p>
        </p:txBody>
      </p:sp>
      <p:sp>
        <p:nvSpPr>
          <p:cNvPr id="27" name="Text 25"/>
          <p:cNvSpPr/>
          <p:nvPr/>
        </p:nvSpPr>
        <p:spPr>
          <a:xfrm>
            <a:off x="5980176" y="2331720"/>
            <a:ext cx="2029968" cy="320040"/>
          </a:xfrm>
          <a:prstGeom prst="rect">
            <a:avLst/>
          </a:prstGeom>
          <a:noFill/>
          <a:ln/>
        </p:spPr>
        <p:txBody>
          <a:bodyPr wrap="square" lIns="0" tIns="0" rIns="0" bIns="0" rtlCol="0" anchor="ctr"/>
          <a:lstStyle/>
          <a:p>
            <a:pPr marL="0" indent="0">
              <a:buNone/>
            </a:pPr>
            <a:r>
              <a:rPr lang="en-US" sz="780" dirty="0">
                <a:solidFill>
                  <a:srgbClr val="1A1A2E"/>
                </a:solidFill>
              </a:rPr>
              <a:t>Transparency support; popular on web</a:t>
            </a:r>
            <a:endParaRPr lang="en-US" sz="780" dirty="0"/>
          </a:p>
        </p:txBody>
      </p:sp>
      <p:sp>
        <p:nvSpPr>
          <p:cNvPr id="28" name="Text 26"/>
          <p:cNvSpPr/>
          <p:nvPr/>
        </p:nvSpPr>
        <p:spPr>
          <a:xfrm>
            <a:off x="8046720" y="2331720"/>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IEND</a:t>
            </a:r>
            <a:endParaRPr lang="en-US" sz="780" dirty="0"/>
          </a:p>
        </p:txBody>
      </p:sp>
      <p:sp>
        <p:nvSpPr>
          <p:cNvPr id="29" name="Shape 27"/>
          <p:cNvSpPr/>
          <p:nvPr/>
        </p:nvSpPr>
        <p:spPr>
          <a:xfrm>
            <a:off x="320040" y="2670048"/>
            <a:ext cx="8503920" cy="320040"/>
          </a:xfrm>
          <a:prstGeom prst="rect">
            <a:avLst/>
          </a:prstGeom>
          <a:solidFill>
            <a:srgbClr val="EEF6FB"/>
          </a:solidFill>
          <a:ln w="12700">
            <a:solidFill>
              <a:srgbClr val="EEF6FB"/>
            </a:solidFill>
            <a:prstDash val="solid"/>
          </a:ln>
        </p:spPr>
        <p:txBody>
          <a:bodyPr/>
          <a:lstStyle/>
          <a:p>
            <a:endParaRPr lang="en-SG"/>
          </a:p>
        </p:txBody>
      </p:sp>
      <p:sp>
        <p:nvSpPr>
          <p:cNvPr id="30" name="Text 28"/>
          <p:cNvSpPr/>
          <p:nvPr/>
        </p:nvSpPr>
        <p:spPr>
          <a:xfrm>
            <a:off x="356616" y="2670048"/>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GIF</a:t>
            </a:r>
            <a:endParaRPr lang="en-US" sz="850" dirty="0"/>
          </a:p>
        </p:txBody>
      </p:sp>
      <p:sp>
        <p:nvSpPr>
          <p:cNvPr id="31" name="Text 29"/>
          <p:cNvSpPr/>
          <p:nvPr/>
        </p:nvSpPr>
        <p:spPr>
          <a:xfrm>
            <a:off x="1298448" y="2670048"/>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.gif</a:t>
            </a:r>
            <a:endParaRPr lang="en-US" sz="800" dirty="0"/>
          </a:p>
        </p:txBody>
      </p:sp>
      <p:sp>
        <p:nvSpPr>
          <p:cNvPr id="32" name="Text 30"/>
          <p:cNvSpPr/>
          <p:nvPr/>
        </p:nvSpPr>
        <p:spPr>
          <a:xfrm>
            <a:off x="2432304" y="2670048"/>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47 49 46 38</a:t>
            </a:r>
            <a:endParaRPr lang="en-US" sz="780" dirty="0"/>
          </a:p>
        </p:txBody>
      </p:sp>
      <p:sp>
        <p:nvSpPr>
          <p:cNvPr id="33" name="Text 31"/>
          <p:cNvSpPr/>
          <p:nvPr/>
        </p:nvSpPr>
        <p:spPr>
          <a:xfrm>
            <a:off x="4572000" y="2670048"/>
            <a:ext cx="1371600" cy="320040"/>
          </a:xfrm>
          <a:prstGeom prst="rect">
            <a:avLst/>
          </a:prstGeom>
          <a:noFill/>
          <a:ln/>
        </p:spPr>
        <p:txBody>
          <a:bodyPr wrap="square" lIns="0" tIns="0" rIns="0" bIns="0" rtlCol="0" anchor="ctr"/>
          <a:lstStyle/>
          <a:p>
            <a:pPr marL="0" indent="0">
              <a:buNone/>
            </a:pPr>
            <a:r>
              <a:rPr lang="en-US" sz="800" dirty="0">
                <a:solidFill>
                  <a:srgbClr val="F1C40F"/>
                </a:solidFill>
              </a:rPr>
              <a:t>Lossless</a:t>
            </a:r>
            <a:endParaRPr lang="en-US" sz="800" dirty="0"/>
          </a:p>
        </p:txBody>
      </p:sp>
      <p:sp>
        <p:nvSpPr>
          <p:cNvPr id="34" name="Text 32"/>
          <p:cNvSpPr/>
          <p:nvPr/>
        </p:nvSpPr>
        <p:spPr>
          <a:xfrm>
            <a:off x="5980176" y="2670048"/>
            <a:ext cx="2029968" cy="320040"/>
          </a:xfrm>
          <a:prstGeom prst="rect">
            <a:avLst/>
          </a:prstGeom>
          <a:noFill/>
          <a:ln/>
        </p:spPr>
        <p:txBody>
          <a:bodyPr wrap="square" lIns="0" tIns="0" rIns="0" bIns="0" rtlCol="0" anchor="ctr"/>
          <a:lstStyle/>
          <a:p>
            <a:pPr marL="0" indent="0">
              <a:buNone/>
            </a:pPr>
            <a:r>
              <a:rPr lang="en-US" sz="780" dirty="0">
                <a:solidFill>
                  <a:srgbClr val="1A1A2E"/>
                </a:solidFill>
              </a:rPr>
              <a:t>Animation support; limited to 256 colours</a:t>
            </a:r>
            <a:endParaRPr lang="en-US" sz="780" dirty="0"/>
          </a:p>
        </p:txBody>
      </p:sp>
      <p:sp>
        <p:nvSpPr>
          <p:cNvPr id="35" name="Text 33"/>
          <p:cNvSpPr/>
          <p:nvPr/>
        </p:nvSpPr>
        <p:spPr>
          <a:xfrm>
            <a:off x="8046720" y="2670048"/>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00 3B</a:t>
            </a:r>
            <a:endParaRPr lang="en-US" sz="780" dirty="0"/>
          </a:p>
        </p:txBody>
      </p:sp>
      <p:sp>
        <p:nvSpPr>
          <p:cNvPr id="36" name="Shape 34"/>
          <p:cNvSpPr/>
          <p:nvPr/>
        </p:nvSpPr>
        <p:spPr>
          <a:xfrm>
            <a:off x="320040" y="3008376"/>
            <a:ext cx="8503920" cy="320040"/>
          </a:xfrm>
          <a:prstGeom prst="rect">
            <a:avLst/>
          </a:prstGeom>
          <a:solidFill>
            <a:srgbClr val="FFFFFF"/>
          </a:solidFill>
          <a:ln w="12700">
            <a:solidFill>
              <a:srgbClr val="FFFFFF"/>
            </a:solidFill>
            <a:prstDash val="solid"/>
          </a:ln>
        </p:spPr>
        <p:txBody>
          <a:bodyPr/>
          <a:lstStyle/>
          <a:p>
            <a:endParaRPr lang="en-SG"/>
          </a:p>
        </p:txBody>
      </p:sp>
      <p:sp>
        <p:nvSpPr>
          <p:cNvPr id="37" name="Text 35"/>
          <p:cNvSpPr/>
          <p:nvPr/>
        </p:nvSpPr>
        <p:spPr>
          <a:xfrm>
            <a:off x="356616" y="3008376"/>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BMP</a:t>
            </a:r>
            <a:endParaRPr lang="en-US" sz="850" dirty="0"/>
          </a:p>
        </p:txBody>
      </p:sp>
      <p:sp>
        <p:nvSpPr>
          <p:cNvPr id="38" name="Text 36"/>
          <p:cNvSpPr/>
          <p:nvPr/>
        </p:nvSpPr>
        <p:spPr>
          <a:xfrm>
            <a:off x="1298448" y="3008376"/>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.bmp</a:t>
            </a:r>
            <a:endParaRPr lang="en-US" sz="800" dirty="0"/>
          </a:p>
        </p:txBody>
      </p:sp>
      <p:sp>
        <p:nvSpPr>
          <p:cNvPr id="39" name="Text 37"/>
          <p:cNvSpPr/>
          <p:nvPr/>
        </p:nvSpPr>
        <p:spPr>
          <a:xfrm>
            <a:off x="2432304" y="3008376"/>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42 4D</a:t>
            </a:r>
            <a:endParaRPr lang="en-US" sz="780" dirty="0"/>
          </a:p>
        </p:txBody>
      </p:sp>
      <p:sp>
        <p:nvSpPr>
          <p:cNvPr id="40" name="Text 38"/>
          <p:cNvSpPr/>
          <p:nvPr/>
        </p:nvSpPr>
        <p:spPr>
          <a:xfrm>
            <a:off x="4572000" y="3008376"/>
            <a:ext cx="1371600" cy="320040"/>
          </a:xfrm>
          <a:prstGeom prst="rect">
            <a:avLst/>
          </a:prstGeom>
          <a:noFill/>
          <a:ln/>
        </p:spPr>
        <p:txBody>
          <a:bodyPr wrap="square" lIns="0" tIns="0" rIns="0" bIns="0" rtlCol="0" anchor="ctr"/>
          <a:lstStyle/>
          <a:p>
            <a:pPr marL="0" indent="0">
              <a:buNone/>
            </a:pPr>
            <a:r>
              <a:rPr lang="en-US" sz="800" dirty="0">
                <a:solidFill>
                  <a:srgbClr val="F1C40F"/>
                </a:solidFill>
              </a:rPr>
              <a:t>None</a:t>
            </a:r>
            <a:endParaRPr lang="en-US" sz="800" dirty="0"/>
          </a:p>
        </p:txBody>
      </p:sp>
      <p:sp>
        <p:nvSpPr>
          <p:cNvPr id="41" name="Text 39"/>
          <p:cNvSpPr/>
          <p:nvPr/>
        </p:nvSpPr>
        <p:spPr>
          <a:xfrm>
            <a:off x="5980176" y="3008376"/>
            <a:ext cx="2029968" cy="320040"/>
          </a:xfrm>
          <a:prstGeom prst="rect">
            <a:avLst/>
          </a:prstGeom>
          <a:noFill/>
          <a:ln/>
        </p:spPr>
        <p:txBody>
          <a:bodyPr wrap="square" lIns="0" tIns="0" rIns="0" bIns="0" rtlCol="0" anchor="ctr"/>
          <a:lstStyle/>
          <a:p>
            <a:pPr marL="0" indent="0">
              <a:buNone/>
            </a:pPr>
            <a:r>
              <a:rPr lang="en-US" sz="780" dirty="0">
                <a:solidFill>
                  <a:srgbClr val="1A1A2E"/>
                </a:solidFill>
              </a:rPr>
              <a:t>Uncompressed; large files; Windows native</a:t>
            </a:r>
            <a:endParaRPr lang="en-US" sz="780" dirty="0"/>
          </a:p>
        </p:txBody>
      </p:sp>
      <p:sp>
        <p:nvSpPr>
          <p:cNvPr id="42" name="Text 40"/>
          <p:cNvSpPr/>
          <p:nvPr/>
        </p:nvSpPr>
        <p:spPr>
          <a:xfrm>
            <a:off x="8046720" y="3008376"/>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a:t>
            </a:r>
            <a:endParaRPr lang="en-US" sz="780" dirty="0"/>
          </a:p>
        </p:txBody>
      </p:sp>
      <p:sp>
        <p:nvSpPr>
          <p:cNvPr id="43" name="Shape 41"/>
          <p:cNvSpPr/>
          <p:nvPr/>
        </p:nvSpPr>
        <p:spPr>
          <a:xfrm>
            <a:off x="320040" y="3346704"/>
            <a:ext cx="8503920" cy="320040"/>
          </a:xfrm>
          <a:prstGeom prst="rect">
            <a:avLst/>
          </a:prstGeom>
          <a:solidFill>
            <a:srgbClr val="EEF6FB"/>
          </a:solidFill>
          <a:ln w="12700">
            <a:solidFill>
              <a:srgbClr val="EEF6FB"/>
            </a:solidFill>
            <a:prstDash val="solid"/>
          </a:ln>
        </p:spPr>
        <p:txBody>
          <a:bodyPr/>
          <a:lstStyle/>
          <a:p>
            <a:endParaRPr lang="en-SG"/>
          </a:p>
        </p:txBody>
      </p:sp>
      <p:sp>
        <p:nvSpPr>
          <p:cNvPr id="44" name="Text 42"/>
          <p:cNvSpPr/>
          <p:nvPr/>
        </p:nvSpPr>
        <p:spPr>
          <a:xfrm>
            <a:off x="356616" y="3346704"/>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TIFF</a:t>
            </a:r>
            <a:endParaRPr lang="en-US" sz="850" dirty="0"/>
          </a:p>
        </p:txBody>
      </p:sp>
      <p:sp>
        <p:nvSpPr>
          <p:cNvPr id="45" name="Text 43"/>
          <p:cNvSpPr/>
          <p:nvPr/>
        </p:nvSpPr>
        <p:spPr>
          <a:xfrm>
            <a:off x="1298448" y="3346704"/>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.tif .tiff</a:t>
            </a:r>
            <a:endParaRPr lang="en-US" sz="800" dirty="0"/>
          </a:p>
        </p:txBody>
      </p:sp>
      <p:sp>
        <p:nvSpPr>
          <p:cNvPr id="46" name="Text 44"/>
          <p:cNvSpPr/>
          <p:nvPr/>
        </p:nvSpPr>
        <p:spPr>
          <a:xfrm>
            <a:off x="2432304" y="3346704"/>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49 49 2A 00 / 4D 4D</a:t>
            </a:r>
            <a:endParaRPr lang="en-US" sz="780" dirty="0"/>
          </a:p>
        </p:txBody>
      </p:sp>
      <p:sp>
        <p:nvSpPr>
          <p:cNvPr id="47" name="Text 45"/>
          <p:cNvSpPr/>
          <p:nvPr/>
        </p:nvSpPr>
        <p:spPr>
          <a:xfrm>
            <a:off x="4572000" y="3346704"/>
            <a:ext cx="1371600" cy="320040"/>
          </a:xfrm>
          <a:prstGeom prst="rect">
            <a:avLst/>
          </a:prstGeom>
          <a:noFill/>
          <a:ln/>
        </p:spPr>
        <p:txBody>
          <a:bodyPr wrap="square" lIns="0" tIns="0" rIns="0" bIns="0" rtlCol="0" anchor="ctr"/>
          <a:lstStyle/>
          <a:p>
            <a:pPr marL="0" indent="0">
              <a:buNone/>
            </a:pPr>
            <a:r>
              <a:rPr lang="en-US" sz="800" dirty="0">
                <a:solidFill>
                  <a:srgbClr val="F1C40F"/>
                </a:solidFill>
              </a:rPr>
              <a:t>Lossless</a:t>
            </a:r>
            <a:endParaRPr lang="en-US" sz="800" dirty="0"/>
          </a:p>
        </p:txBody>
      </p:sp>
      <p:sp>
        <p:nvSpPr>
          <p:cNvPr id="48" name="Text 46"/>
          <p:cNvSpPr/>
          <p:nvPr/>
        </p:nvSpPr>
        <p:spPr>
          <a:xfrm>
            <a:off x="5980176" y="3346704"/>
            <a:ext cx="2029968" cy="320040"/>
          </a:xfrm>
          <a:prstGeom prst="rect">
            <a:avLst/>
          </a:prstGeom>
          <a:noFill/>
          <a:ln/>
        </p:spPr>
        <p:txBody>
          <a:bodyPr wrap="square" lIns="0" tIns="0" rIns="0" bIns="0" rtlCol="0" anchor="ctr"/>
          <a:lstStyle/>
          <a:p>
            <a:pPr marL="0" indent="0">
              <a:buNone/>
            </a:pPr>
            <a:r>
              <a:rPr lang="en-US" sz="780" dirty="0">
                <a:solidFill>
                  <a:srgbClr val="1A1A2E"/>
                </a:solidFill>
              </a:rPr>
              <a:t>High quality; used in scanning and publishing</a:t>
            </a:r>
            <a:endParaRPr lang="en-US" sz="780" dirty="0"/>
          </a:p>
        </p:txBody>
      </p:sp>
      <p:sp>
        <p:nvSpPr>
          <p:cNvPr id="49" name="Text 47"/>
          <p:cNvSpPr/>
          <p:nvPr/>
        </p:nvSpPr>
        <p:spPr>
          <a:xfrm>
            <a:off x="8046720" y="3346704"/>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a:t>
            </a:r>
            <a:endParaRPr lang="en-US" sz="780" dirty="0"/>
          </a:p>
        </p:txBody>
      </p:sp>
      <p:sp>
        <p:nvSpPr>
          <p:cNvPr id="50" name="Shape 48"/>
          <p:cNvSpPr/>
          <p:nvPr/>
        </p:nvSpPr>
        <p:spPr>
          <a:xfrm>
            <a:off x="320040" y="3685032"/>
            <a:ext cx="8503920" cy="320040"/>
          </a:xfrm>
          <a:prstGeom prst="rect">
            <a:avLst/>
          </a:prstGeom>
          <a:solidFill>
            <a:srgbClr val="FFFFFF"/>
          </a:solidFill>
          <a:ln w="12700">
            <a:solidFill>
              <a:srgbClr val="FFFFFF"/>
            </a:solidFill>
            <a:prstDash val="solid"/>
          </a:ln>
        </p:spPr>
        <p:txBody>
          <a:bodyPr/>
          <a:lstStyle/>
          <a:p>
            <a:endParaRPr lang="en-SG"/>
          </a:p>
        </p:txBody>
      </p:sp>
      <p:sp>
        <p:nvSpPr>
          <p:cNvPr id="51" name="Text 49"/>
          <p:cNvSpPr/>
          <p:nvPr/>
        </p:nvSpPr>
        <p:spPr>
          <a:xfrm>
            <a:off x="356616" y="3685032"/>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WebP</a:t>
            </a:r>
            <a:endParaRPr lang="en-US" sz="850" dirty="0"/>
          </a:p>
        </p:txBody>
      </p:sp>
      <p:sp>
        <p:nvSpPr>
          <p:cNvPr id="52" name="Text 50"/>
          <p:cNvSpPr/>
          <p:nvPr/>
        </p:nvSpPr>
        <p:spPr>
          <a:xfrm>
            <a:off x="1298448" y="3685032"/>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.webp</a:t>
            </a:r>
            <a:endParaRPr lang="en-US" sz="800" dirty="0"/>
          </a:p>
        </p:txBody>
      </p:sp>
      <p:sp>
        <p:nvSpPr>
          <p:cNvPr id="53" name="Text 51"/>
          <p:cNvSpPr/>
          <p:nvPr/>
        </p:nvSpPr>
        <p:spPr>
          <a:xfrm>
            <a:off x="2432304" y="3685032"/>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52 49 46 46...57 45</a:t>
            </a:r>
            <a:endParaRPr lang="en-US" sz="780" dirty="0"/>
          </a:p>
        </p:txBody>
      </p:sp>
      <p:sp>
        <p:nvSpPr>
          <p:cNvPr id="54" name="Text 52"/>
          <p:cNvSpPr/>
          <p:nvPr/>
        </p:nvSpPr>
        <p:spPr>
          <a:xfrm>
            <a:off x="4572000" y="3685032"/>
            <a:ext cx="1371600" cy="320040"/>
          </a:xfrm>
          <a:prstGeom prst="rect">
            <a:avLst/>
          </a:prstGeom>
          <a:noFill/>
          <a:ln/>
        </p:spPr>
        <p:txBody>
          <a:bodyPr wrap="square" lIns="0" tIns="0" rIns="0" bIns="0" rtlCol="0" anchor="ctr"/>
          <a:lstStyle/>
          <a:p>
            <a:pPr marL="0" indent="0">
              <a:buNone/>
            </a:pPr>
            <a:r>
              <a:rPr lang="en-US" sz="800" dirty="0">
                <a:solidFill>
                  <a:srgbClr val="F1C40F"/>
                </a:solidFill>
              </a:rPr>
              <a:t>Both</a:t>
            </a:r>
            <a:endParaRPr lang="en-US" sz="800" dirty="0"/>
          </a:p>
        </p:txBody>
      </p:sp>
      <p:sp>
        <p:nvSpPr>
          <p:cNvPr id="55" name="Text 53"/>
          <p:cNvSpPr/>
          <p:nvPr/>
        </p:nvSpPr>
        <p:spPr>
          <a:xfrm>
            <a:off x="5980176" y="3685032"/>
            <a:ext cx="2029968" cy="320040"/>
          </a:xfrm>
          <a:prstGeom prst="rect">
            <a:avLst/>
          </a:prstGeom>
          <a:noFill/>
          <a:ln/>
        </p:spPr>
        <p:txBody>
          <a:bodyPr wrap="square" lIns="0" tIns="0" rIns="0" bIns="0" rtlCol="0" anchor="ctr"/>
          <a:lstStyle/>
          <a:p>
            <a:pPr marL="0" indent="0">
              <a:buNone/>
            </a:pPr>
            <a:r>
              <a:rPr lang="en-US" sz="780" dirty="0">
                <a:solidFill>
                  <a:srgbClr val="1A1A2E"/>
                </a:solidFill>
              </a:rPr>
              <a:t>Modern Google format; ~30% smaller than JPEG</a:t>
            </a:r>
            <a:endParaRPr lang="en-US" sz="780" dirty="0"/>
          </a:p>
        </p:txBody>
      </p:sp>
      <p:sp>
        <p:nvSpPr>
          <p:cNvPr id="56" name="Text 54"/>
          <p:cNvSpPr/>
          <p:nvPr/>
        </p:nvSpPr>
        <p:spPr>
          <a:xfrm>
            <a:off x="8046720" y="3685032"/>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a:t>
            </a:r>
            <a:endParaRPr lang="en-US" sz="780" dirty="0"/>
          </a:p>
        </p:txBody>
      </p:sp>
      <p:sp>
        <p:nvSpPr>
          <p:cNvPr id="57" name="Shape 55"/>
          <p:cNvSpPr/>
          <p:nvPr/>
        </p:nvSpPr>
        <p:spPr>
          <a:xfrm>
            <a:off x="320040" y="4023360"/>
            <a:ext cx="8503920" cy="320040"/>
          </a:xfrm>
          <a:prstGeom prst="rect">
            <a:avLst/>
          </a:prstGeom>
          <a:solidFill>
            <a:srgbClr val="EEF6FB"/>
          </a:solidFill>
          <a:ln w="12700">
            <a:solidFill>
              <a:srgbClr val="EEF6FB"/>
            </a:solidFill>
            <a:prstDash val="solid"/>
          </a:ln>
        </p:spPr>
        <p:txBody>
          <a:bodyPr/>
          <a:lstStyle/>
          <a:p>
            <a:endParaRPr lang="en-SG"/>
          </a:p>
        </p:txBody>
      </p:sp>
      <p:sp>
        <p:nvSpPr>
          <p:cNvPr id="58" name="Text 56"/>
          <p:cNvSpPr/>
          <p:nvPr/>
        </p:nvSpPr>
        <p:spPr>
          <a:xfrm>
            <a:off x="356616" y="4023360"/>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PSD</a:t>
            </a:r>
            <a:endParaRPr lang="en-US" sz="850" dirty="0"/>
          </a:p>
        </p:txBody>
      </p:sp>
      <p:sp>
        <p:nvSpPr>
          <p:cNvPr id="59" name="Text 57"/>
          <p:cNvSpPr/>
          <p:nvPr/>
        </p:nvSpPr>
        <p:spPr>
          <a:xfrm>
            <a:off x="1298448" y="4023360"/>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.psd</a:t>
            </a:r>
            <a:endParaRPr lang="en-US" sz="800" dirty="0"/>
          </a:p>
        </p:txBody>
      </p:sp>
      <p:sp>
        <p:nvSpPr>
          <p:cNvPr id="60" name="Text 58"/>
          <p:cNvSpPr/>
          <p:nvPr/>
        </p:nvSpPr>
        <p:spPr>
          <a:xfrm>
            <a:off x="2432304" y="4023360"/>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38 42 50 53</a:t>
            </a:r>
            <a:endParaRPr lang="en-US" sz="780" dirty="0"/>
          </a:p>
        </p:txBody>
      </p:sp>
      <p:sp>
        <p:nvSpPr>
          <p:cNvPr id="61" name="Text 59"/>
          <p:cNvSpPr/>
          <p:nvPr/>
        </p:nvSpPr>
        <p:spPr>
          <a:xfrm>
            <a:off x="4572000" y="4023360"/>
            <a:ext cx="1371600" cy="320040"/>
          </a:xfrm>
          <a:prstGeom prst="rect">
            <a:avLst/>
          </a:prstGeom>
          <a:noFill/>
          <a:ln/>
        </p:spPr>
        <p:txBody>
          <a:bodyPr wrap="square" lIns="0" tIns="0" rIns="0" bIns="0" rtlCol="0" anchor="ctr"/>
          <a:lstStyle/>
          <a:p>
            <a:pPr marL="0" indent="0">
              <a:buNone/>
            </a:pPr>
            <a:r>
              <a:rPr lang="en-US" sz="800" dirty="0">
                <a:solidFill>
                  <a:srgbClr val="F1C40F"/>
                </a:solidFill>
              </a:rPr>
              <a:t>Lossless</a:t>
            </a:r>
            <a:endParaRPr lang="en-US" sz="800" dirty="0"/>
          </a:p>
        </p:txBody>
      </p:sp>
      <p:sp>
        <p:nvSpPr>
          <p:cNvPr id="62" name="Text 60"/>
          <p:cNvSpPr/>
          <p:nvPr/>
        </p:nvSpPr>
        <p:spPr>
          <a:xfrm>
            <a:off x="5980176" y="4023360"/>
            <a:ext cx="2029968" cy="320040"/>
          </a:xfrm>
          <a:prstGeom prst="rect">
            <a:avLst/>
          </a:prstGeom>
          <a:noFill/>
          <a:ln/>
        </p:spPr>
        <p:txBody>
          <a:bodyPr wrap="square" lIns="0" tIns="0" rIns="0" bIns="0" rtlCol="0" anchor="ctr"/>
          <a:lstStyle/>
          <a:p>
            <a:pPr marL="0" indent="0">
              <a:buNone/>
            </a:pPr>
            <a:r>
              <a:rPr lang="en-US" sz="780" dirty="0">
                <a:solidFill>
                  <a:srgbClr val="1A1A2E"/>
                </a:solidFill>
              </a:rPr>
              <a:t>Adobe Photoshop native; may contain hidden layers</a:t>
            </a:r>
            <a:endParaRPr lang="en-US" sz="780" dirty="0"/>
          </a:p>
        </p:txBody>
      </p:sp>
      <p:sp>
        <p:nvSpPr>
          <p:cNvPr id="63" name="Text 61"/>
          <p:cNvSpPr/>
          <p:nvPr/>
        </p:nvSpPr>
        <p:spPr>
          <a:xfrm>
            <a:off x="8046720" y="4023360"/>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a:t>
            </a:r>
            <a:endParaRPr lang="en-US" sz="780" dirty="0"/>
          </a:p>
        </p:txBody>
      </p:sp>
      <p:sp>
        <p:nvSpPr>
          <p:cNvPr id="64" name="Shape 62"/>
          <p:cNvSpPr/>
          <p:nvPr/>
        </p:nvSpPr>
        <p:spPr>
          <a:xfrm>
            <a:off x="320040" y="4361688"/>
            <a:ext cx="8503920" cy="320040"/>
          </a:xfrm>
          <a:prstGeom prst="rect">
            <a:avLst/>
          </a:prstGeom>
          <a:solidFill>
            <a:srgbClr val="FFFFFF"/>
          </a:solidFill>
          <a:ln w="12700">
            <a:solidFill>
              <a:srgbClr val="FFFFFF"/>
            </a:solidFill>
            <a:prstDash val="solid"/>
          </a:ln>
        </p:spPr>
        <p:txBody>
          <a:bodyPr/>
          <a:lstStyle/>
          <a:p>
            <a:endParaRPr lang="en-SG"/>
          </a:p>
        </p:txBody>
      </p:sp>
      <p:sp>
        <p:nvSpPr>
          <p:cNvPr id="65" name="Text 63"/>
          <p:cNvSpPr/>
          <p:nvPr/>
        </p:nvSpPr>
        <p:spPr>
          <a:xfrm>
            <a:off x="356616" y="4361688"/>
            <a:ext cx="914400" cy="32004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RAW</a:t>
            </a:r>
            <a:endParaRPr lang="en-US" sz="850" dirty="0"/>
          </a:p>
        </p:txBody>
      </p:sp>
      <p:sp>
        <p:nvSpPr>
          <p:cNvPr id="66" name="Text 64"/>
          <p:cNvSpPr/>
          <p:nvPr/>
        </p:nvSpPr>
        <p:spPr>
          <a:xfrm>
            <a:off x="1298448" y="4361688"/>
            <a:ext cx="1097280" cy="320040"/>
          </a:xfrm>
          <a:prstGeom prst="rect">
            <a:avLst/>
          </a:prstGeom>
          <a:noFill/>
          <a:ln/>
        </p:spPr>
        <p:txBody>
          <a:bodyPr wrap="square" lIns="0" tIns="0" rIns="0" bIns="0" rtlCol="0" anchor="ctr"/>
          <a:lstStyle/>
          <a:p>
            <a:pPr marL="0" indent="0">
              <a:buNone/>
            </a:pPr>
            <a:r>
              <a:rPr lang="en-US" sz="800" dirty="0">
                <a:solidFill>
                  <a:srgbClr val="00B4D8"/>
                </a:solidFill>
                <a:latin typeface="Consolas" pitchFamily="34" charset="0"/>
                <a:ea typeface="Consolas" pitchFamily="34" charset="-122"/>
                <a:cs typeface="Consolas" pitchFamily="34" charset="-120"/>
              </a:rPr>
              <a:t>varies</a:t>
            </a:r>
            <a:endParaRPr lang="en-US" sz="800" dirty="0"/>
          </a:p>
        </p:txBody>
      </p:sp>
      <p:sp>
        <p:nvSpPr>
          <p:cNvPr id="67" name="Text 65"/>
          <p:cNvSpPr/>
          <p:nvPr/>
        </p:nvSpPr>
        <p:spPr>
          <a:xfrm>
            <a:off x="2432304" y="4361688"/>
            <a:ext cx="2103120" cy="320040"/>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Vendor-specific</a:t>
            </a:r>
            <a:endParaRPr lang="en-US" sz="780" dirty="0"/>
          </a:p>
        </p:txBody>
      </p:sp>
      <p:sp>
        <p:nvSpPr>
          <p:cNvPr id="68" name="Text 66"/>
          <p:cNvSpPr/>
          <p:nvPr/>
        </p:nvSpPr>
        <p:spPr>
          <a:xfrm>
            <a:off x="4572000" y="4361688"/>
            <a:ext cx="1371600" cy="320040"/>
          </a:xfrm>
          <a:prstGeom prst="rect">
            <a:avLst/>
          </a:prstGeom>
          <a:noFill/>
          <a:ln/>
        </p:spPr>
        <p:txBody>
          <a:bodyPr wrap="square" lIns="0" tIns="0" rIns="0" bIns="0" rtlCol="0" anchor="ctr"/>
          <a:lstStyle/>
          <a:p>
            <a:pPr marL="0" indent="0">
              <a:buNone/>
            </a:pPr>
            <a:r>
              <a:rPr lang="en-US" sz="800" dirty="0">
                <a:solidFill>
                  <a:srgbClr val="F1C40F"/>
                </a:solidFill>
              </a:rPr>
              <a:t>None</a:t>
            </a:r>
            <a:endParaRPr lang="en-US" sz="800" dirty="0"/>
          </a:p>
        </p:txBody>
      </p:sp>
      <p:sp>
        <p:nvSpPr>
          <p:cNvPr id="69" name="Text 67"/>
          <p:cNvSpPr/>
          <p:nvPr/>
        </p:nvSpPr>
        <p:spPr>
          <a:xfrm>
            <a:off x="5980176" y="4361688"/>
            <a:ext cx="2029968" cy="320040"/>
          </a:xfrm>
          <a:prstGeom prst="rect">
            <a:avLst/>
          </a:prstGeom>
          <a:noFill/>
          <a:ln/>
        </p:spPr>
        <p:txBody>
          <a:bodyPr wrap="square" lIns="0" tIns="0" rIns="0" bIns="0" rtlCol="0" anchor="ctr"/>
          <a:lstStyle/>
          <a:p>
            <a:pPr marL="0" indent="0">
              <a:buNone/>
            </a:pPr>
            <a:r>
              <a:rPr lang="en-US" sz="780" dirty="0">
                <a:solidFill>
                  <a:srgbClr val="1A1A2E"/>
                </a:solidFill>
              </a:rPr>
              <a:t>Unprocessed sensor data; multiple sub-formats</a:t>
            </a:r>
            <a:endParaRPr lang="en-US" sz="780" dirty="0"/>
          </a:p>
        </p:txBody>
      </p:sp>
      <p:sp>
        <p:nvSpPr>
          <p:cNvPr id="70" name="Text 68"/>
          <p:cNvSpPr/>
          <p:nvPr/>
        </p:nvSpPr>
        <p:spPr>
          <a:xfrm>
            <a:off x="8046720" y="4361688"/>
            <a:ext cx="804672" cy="320040"/>
          </a:xfrm>
          <a:prstGeom prst="rect">
            <a:avLst/>
          </a:prstGeom>
          <a:noFill/>
          <a:ln/>
        </p:spPr>
        <p:txBody>
          <a:bodyPr wrap="square" lIns="0" tIns="0" rIns="0" bIns="0" rtlCol="0" anchor="ctr"/>
          <a:lstStyle/>
          <a:p>
            <a:pPr marL="0" indent="0">
              <a:buNone/>
            </a:pPr>
            <a:r>
              <a:rPr lang="en-US" sz="780" dirty="0">
                <a:solidFill>
                  <a:srgbClr val="E74C3C"/>
                </a:solidFill>
                <a:latin typeface="Consolas" pitchFamily="34" charset="0"/>
                <a:ea typeface="Consolas" pitchFamily="34" charset="-122"/>
                <a:cs typeface="Consolas" pitchFamily="34" charset="-120"/>
              </a:rPr>
              <a:t>—</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574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965960" cy="256032"/>
          </a:xfrm>
          <a:prstGeom prst="rect">
            <a:avLst/>
          </a:prstGeom>
          <a:noFill/>
          <a:ln/>
        </p:spPr>
        <p:txBody>
          <a:bodyPr wrap="square" lIns="0" tIns="0" rIns="0" bIns="0" rtlCol="0" anchor="ctr"/>
          <a:lstStyle/>
          <a:p>
            <a:pPr marL="0" indent="0">
              <a:buNone/>
            </a:pPr>
            <a:r>
              <a:rPr lang="en-US" sz="850" b="1" dirty="0">
                <a:solidFill>
                  <a:srgbClr val="0D1B2A"/>
                </a:solidFill>
              </a:rPr>
              <a:t>SECTION 2 · IMAGE FORMATS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Digital Camera Formats &amp; RAW Files</a:t>
            </a:r>
            <a:endParaRPr lang="en-US" sz="2800" dirty="0"/>
          </a:p>
        </p:txBody>
      </p:sp>
      <p:sp>
        <p:nvSpPr>
          <p:cNvPr id="5" name="Shape 3"/>
          <p:cNvSpPr/>
          <p:nvPr/>
        </p:nvSpPr>
        <p:spPr>
          <a:xfrm>
            <a:off x="320040" y="1170432"/>
            <a:ext cx="8503920" cy="36576"/>
          </a:xfrm>
          <a:prstGeom prst="rect">
            <a:avLst/>
          </a:prstGeom>
          <a:solidFill>
            <a:srgbClr val="F4A261"/>
          </a:solidFill>
          <a:ln w="12700">
            <a:solidFill>
              <a:srgbClr val="F4A261"/>
            </a:solidFill>
            <a:prstDash val="solid"/>
          </a:ln>
        </p:spPr>
        <p:txBody>
          <a:bodyPr/>
          <a:lstStyle/>
          <a:p>
            <a:endParaRPr lang="en-SG"/>
          </a:p>
        </p:txBody>
      </p:sp>
      <p:sp>
        <p:nvSpPr>
          <p:cNvPr id="6" name="Shape 4"/>
          <p:cNvSpPr/>
          <p:nvPr/>
        </p:nvSpPr>
        <p:spPr>
          <a:xfrm>
            <a:off x="320040" y="1298448"/>
            <a:ext cx="2560320" cy="2011680"/>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298448"/>
            <a:ext cx="2560320" cy="64008"/>
          </a:xfrm>
          <a:prstGeom prst="rect">
            <a:avLst/>
          </a:prstGeom>
          <a:solidFill>
            <a:srgbClr val="F4A261"/>
          </a:solidFill>
          <a:ln w="12700">
            <a:solidFill>
              <a:srgbClr val="F4A261"/>
            </a:solidFill>
            <a:prstDash val="solid"/>
          </a:ln>
        </p:spPr>
        <p:txBody>
          <a:bodyPr/>
          <a:lstStyle/>
          <a:p>
            <a:endParaRPr lang="en-SG"/>
          </a:p>
        </p:txBody>
      </p:sp>
      <p:sp>
        <p:nvSpPr>
          <p:cNvPr id="8" name="Text 6"/>
          <p:cNvSpPr/>
          <p:nvPr/>
        </p:nvSpPr>
        <p:spPr>
          <a:xfrm>
            <a:off x="411480" y="1408176"/>
            <a:ext cx="2377440" cy="256032"/>
          </a:xfrm>
          <a:prstGeom prst="rect">
            <a:avLst/>
          </a:prstGeom>
          <a:noFill/>
          <a:ln/>
        </p:spPr>
        <p:txBody>
          <a:bodyPr wrap="square" lIns="0" tIns="0" rIns="0" bIns="0" rtlCol="0" anchor="ctr"/>
          <a:lstStyle/>
          <a:p>
            <a:pPr marL="0" indent="0">
              <a:buNone/>
            </a:pPr>
            <a:r>
              <a:rPr lang="en-US" sz="1150" b="1" dirty="0">
                <a:solidFill>
                  <a:srgbClr val="F4A261"/>
                </a:solidFill>
              </a:rPr>
              <a:t>📷  RAW Format</a:t>
            </a:r>
            <a:endParaRPr lang="en-US" sz="1150" dirty="0"/>
          </a:p>
        </p:txBody>
      </p:sp>
      <p:sp>
        <p:nvSpPr>
          <p:cNvPr id="9" name="Text 7"/>
          <p:cNvSpPr/>
          <p:nvPr/>
        </p:nvSpPr>
        <p:spPr>
          <a:xfrm>
            <a:off x="411480" y="1737360"/>
            <a:ext cx="2377440" cy="274320"/>
          </a:xfrm>
          <a:prstGeom prst="rect">
            <a:avLst/>
          </a:prstGeom>
          <a:noFill/>
          <a:ln/>
        </p:spPr>
        <p:txBody>
          <a:bodyPr wrap="square" lIns="0" tIns="0" rIns="0" bIns="0" rtlCol="0" anchor="ctr"/>
          <a:lstStyle/>
          <a:p>
            <a:pPr marL="0" indent="0">
              <a:buNone/>
            </a:pPr>
            <a:r>
              <a:rPr lang="en-US" sz="820" dirty="0">
                <a:solidFill>
                  <a:srgbClr val="1A1A2E"/>
                </a:solidFill>
              </a:rPr>
              <a:t>›  Unprocessed sensor data — no in-camera processing applied</a:t>
            </a:r>
            <a:endParaRPr lang="en-US" sz="820" dirty="0"/>
          </a:p>
        </p:txBody>
      </p:sp>
      <p:sp>
        <p:nvSpPr>
          <p:cNvPr id="10" name="Text 8"/>
          <p:cNvSpPr/>
          <p:nvPr/>
        </p:nvSpPr>
        <p:spPr>
          <a:xfrm>
            <a:off x="411480" y="2029968"/>
            <a:ext cx="2377440" cy="274320"/>
          </a:xfrm>
          <a:prstGeom prst="rect">
            <a:avLst/>
          </a:prstGeom>
          <a:noFill/>
          <a:ln/>
        </p:spPr>
        <p:txBody>
          <a:bodyPr wrap="square" lIns="0" tIns="0" rIns="0" bIns="0" rtlCol="0" anchor="ctr"/>
          <a:lstStyle/>
          <a:p>
            <a:pPr marL="0" indent="0">
              <a:buNone/>
            </a:pPr>
            <a:r>
              <a:rPr lang="en-US" sz="820" dirty="0">
                <a:solidFill>
                  <a:srgbClr val="1A1A2E"/>
                </a:solidFill>
              </a:rPr>
              <a:t>›  Vendor-specific: CR2/CR3 (Canon), NEF (Nikon), ARW (Sony), DNG (universal)</a:t>
            </a:r>
            <a:endParaRPr lang="en-US" sz="820" dirty="0"/>
          </a:p>
        </p:txBody>
      </p:sp>
      <p:sp>
        <p:nvSpPr>
          <p:cNvPr id="11" name="Text 9"/>
          <p:cNvSpPr/>
          <p:nvPr/>
        </p:nvSpPr>
        <p:spPr>
          <a:xfrm>
            <a:off x="411480" y="2322576"/>
            <a:ext cx="2377440" cy="274320"/>
          </a:xfrm>
          <a:prstGeom prst="rect">
            <a:avLst/>
          </a:prstGeom>
          <a:noFill/>
          <a:ln/>
        </p:spPr>
        <p:txBody>
          <a:bodyPr wrap="square" lIns="0" tIns="0" rIns="0" bIns="0" rtlCol="0" anchor="ctr"/>
          <a:lstStyle/>
          <a:p>
            <a:pPr marL="0" indent="0">
              <a:buNone/>
            </a:pPr>
            <a:r>
              <a:rPr lang="en-US" sz="820" dirty="0">
                <a:solidFill>
                  <a:srgbClr val="1A1A2E"/>
                </a:solidFill>
              </a:rPr>
              <a:t>›  Contains full dynamic range; 12–14 bits per channel</a:t>
            </a:r>
            <a:endParaRPr lang="en-US" sz="820" dirty="0"/>
          </a:p>
        </p:txBody>
      </p:sp>
      <p:sp>
        <p:nvSpPr>
          <p:cNvPr id="12" name="Text 10"/>
          <p:cNvSpPr/>
          <p:nvPr/>
        </p:nvSpPr>
        <p:spPr>
          <a:xfrm>
            <a:off x="411480" y="2615184"/>
            <a:ext cx="2377440" cy="274320"/>
          </a:xfrm>
          <a:prstGeom prst="rect">
            <a:avLst/>
          </a:prstGeom>
          <a:noFill/>
          <a:ln/>
        </p:spPr>
        <p:txBody>
          <a:bodyPr wrap="square" lIns="0" tIns="0" rIns="0" bIns="0" rtlCol="0" anchor="ctr"/>
          <a:lstStyle/>
          <a:p>
            <a:pPr marL="0" indent="0">
              <a:buNone/>
            </a:pPr>
            <a:r>
              <a:rPr lang="en-US" sz="820" dirty="0">
                <a:solidFill>
                  <a:srgbClr val="1A1A2E"/>
                </a:solidFill>
              </a:rPr>
              <a:t>›  Larger files but maximum image data — forensically richest format</a:t>
            </a:r>
            <a:endParaRPr lang="en-US" sz="820" dirty="0"/>
          </a:p>
        </p:txBody>
      </p:sp>
      <p:sp>
        <p:nvSpPr>
          <p:cNvPr id="13" name="Text 11"/>
          <p:cNvSpPr/>
          <p:nvPr/>
        </p:nvSpPr>
        <p:spPr>
          <a:xfrm>
            <a:off x="411480" y="2907792"/>
            <a:ext cx="2377440" cy="274320"/>
          </a:xfrm>
          <a:prstGeom prst="rect">
            <a:avLst/>
          </a:prstGeom>
          <a:noFill/>
          <a:ln/>
        </p:spPr>
        <p:txBody>
          <a:bodyPr wrap="square" lIns="0" tIns="0" rIns="0" bIns="0" rtlCol="0" anchor="ctr"/>
          <a:lstStyle/>
          <a:p>
            <a:pPr marL="0" indent="0">
              <a:buNone/>
            </a:pPr>
            <a:r>
              <a:rPr lang="en-US" sz="820" dirty="0">
                <a:solidFill>
                  <a:srgbClr val="1A1A2E"/>
                </a:solidFill>
              </a:rPr>
              <a:t>›  Requires conversion software to view (Adobe Camera Raw, dcraw, LibRaw)</a:t>
            </a:r>
            <a:endParaRPr lang="en-US" sz="820" dirty="0"/>
          </a:p>
        </p:txBody>
      </p:sp>
      <p:sp>
        <p:nvSpPr>
          <p:cNvPr id="14" name="Shape 12"/>
          <p:cNvSpPr/>
          <p:nvPr/>
        </p:nvSpPr>
        <p:spPr>
          <a:xfrm>
            <a:off x="2944368" y="2212848"/>
            <a:ext cx="329184" cy="54864"/>
          </a:xfrm>
          <a:prstGeom prst="rect">
            <a:avLst/>
          </a:prstGeom>
          <a:solidFill>
            <a:srgbClr val="8899AA"/>
          </a:solidFill>
          <a:ln w="12700">
            <a:solidFill>
              <a:srgbClr val="8899AA"/>
            </a:solidFill>
            <a:prstDash val="solid"/>
          </a:ln>
        </p:spPr>
        <p:txBody>
          <a:bodyPr/>
          <a:lstStyle/>
          <a:p>
            <a:endParaRPr lang="en-SG"/>
          </a:p>
        </p:txBody>
      </p:sp>
      <p:sp>
        <p:nvSpPr>
          <p:cNvPr id="15" name="Text 13"/>
          <p:cNvSpPr/>
          <p:nvPr/>
        </p:nvSpPr>
        <p:spPr>
          <a:xfrm>
            <a:off x="2889504" y="2066544"/>
            <a:ext cx="402336" cy="329184"/>
          </a:xfrm>
          <a:prstGeom prst="rect">
            <a:avLst/>
          </a:prstGeom>
          <a:noFill/>
          <a:ln/>
        </p:spPr>
        <p:txBody>
          <a:bodyPr wrap="square" lIns="0" tIns="0" rIns="0" bIns="0" rtlCol="0" anchor="ctr"/>
          <a:lstStyle/>
          <a:p>
            <a:pPr marL="0" indent="0" algn="ctr">
              <a:buNone/>
            </a:pPr>
            <a:r>
              <a:rPr lang="en-US" sz="1600" dirty="0">
                <a:solidFill>
                  <a:srgbClr val="8899AA"/>
                </a:solidFill>
              </a:rPr>
              <a:t>▶</a:t>
            </a:r>
            <a:endParaRPr lang="en-US" sz="1600" dirty="0"/>
          </a:p>
        </p:txBody>
      </p:sp>
      <p:sp>
        <p:nvSpPr>
          <p:cNvPr id="16" name="Text 14"/>
          <p:cNvSpPr/>
          <p:nvPr/>
        </p:nvSpPr>
        <p:spPr>
          <a:xfrm>
            <a:off x="2743200" y="2395728"/>
            <a:ext cx="658368" cy="402336"/>
          </a:xfrm>
          <a:prstGeom prst="rect">
            <a:avLst/>
          </a:prstGeom>
          <a:noFill/>
          <a:ln/>
        </p:spPr>
        <p:txBody>
          <a:bodyPr wrap="square" lIns="0" tIns="0" rIns="0" bIns="0" rtlCol="0" anchor="ctr"/>
          <a:lstStyle/>
          <a:p>
            <a:pPr marL="0" indent="0" algn="ctr">
              <a:buNone/>
            </a:pPr>
            <a:r>
              <a:rPr lang="en-US" sz="700" dirty="0">
                <a:solidFill>
                  <a:srgbClr val="8899AA"/>
                </a:solidFill>
              </a:rPr>
              <a:t>In-camera</a:t>
            </a:r>
            <a:endParaRPr lang="en-US" sz="700" dirty="0"/>
          </a:p>
          <a:p>
            <a:pPr marL="0" indent="0" algn="ctr">
              <a:buNone/>
            </a:pPr>
            <a:r>
              <a:rPr lang="en-US" sz="700" dirty="0">
                <a:solidFill>
                  <a:srgbClr val="8899AA"/>
                </a:solidFill>
              </a:rPr>
              <a:t>processing</a:t>
            </a:r>
            <a:endParaRPr lang="en-US" sz="700" dirty="0"/>
          </a:p>
        </p:txBody>
      </p:sp>
      <p:sp>
        <p:nvSpPr>
          <p:cNvPr id="17" name="Shape 15"/>
          <p:cNvSpPr/>
          <p:nvPr/>
        </p:nvSpPr>
        <p:spPr>
          <a:xfrm>
            <a:off x="3383280" y="1298448"/>
            <a:ext cx="2560320" cy="2011680"/>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383280" y="1298448"/>
            <a:ext cx="2560320" cy="64008"/>
          </a:xfrm>
          <a:prstGeom prst="rect">
            <a:avLst/>
          </a:prstGeom>
          <a:solidFill>
            <a:srgbClr val="00B4D8"/>
          </a:solidFill>
          <a:ln w="12700">
            <a:solidFill>
              <a:srgbClr val="00B4D8"/>
            </a:solidFill>
            <a:prstDash val="solid"/>
          </a:ln>
        </p:spPr>
        <p:txBody>
          <a:bodyPr/>
          <a:lstStyle/>
          <a:p>
            <a:endParaRPr lang="en-SG"/>
          </a:p>
        </p:txBody>
      </p:sp>
      <p:sp>
        <p:nvSpPr>
          <p:cNvPr id="19" name="Text 17"/>
          <p:cNvSpPr/>
          <p:nvPr/>
        </p:nvSpPr>
        <p:spPr>
          <a:xfrm>
            <a:off x="3474720" y="1408176"/>
            <a:ext cx="2377440" cy="256032"/>
          </a:xfrm>
          <a:prstGeom prst="rect">
            <a:avLst/>
          </a:prstGeom>
          <a:noFill/>
          <a:ln/>
        </p:spPr>
        <p:txBody>
          <a:bodyPr wrap="square" lIns="0" tIns="0" rIns="0" bIns="0" rtlCol="0" anchor="ctr"/>
          <a:lstStyle/>
          <a:p>
            <a:pPr marL="0" indent="0">
              <a:buNone/>
            </a:pPr>
            <a:r>
              <a:rPr lang="en-US" sz="1150" b="1" dirty="0">
                <a:solidFill>
                  <a:srgbClr val="00B4D8"/>
                </a:solidFill>
              </a:rPr>
              <a:t>📄  EXIF JPEG</a:t>
            </a:r>
            <a:endParaRPr lang="en-US" sz="1150" dirty="0"/>
          </a:p>
        </p:txBody>
      </p:sp>
      <p:sp>
        <p:nvSpPr>
          <p:cNvPr id="20" name="Text 18"/>
          <p:cNvSpPr/>
          <p:nvPr/>
        </p:nvSpPr>
        <p:spPr>
          <a:xfrm>
            <a:off x="3474720" y="1737360"/>
            <a:ext cx="2377440" cy="274320"/>
          </a:xfrm>
          <a:prstGeom prst="rect">
            <a:avLst/>
          </a:prstGeom>
          <a:noFill/>
          <a:ln/>
        </p:spPr>
        <p:txBody>
          <a:bodyPr wrap="square" lIns="0" tIns="0" rIns="0" bIns="0" rtlCol="0" anchor="ctr"/>
          <a:lstStyle/>
          <a:p>
            <a:pPr marL="0" indent="0">
              <a:buNone/>
            </a:pPr>
            <a:r>
              <a:rPr lang="en-US" sz="820" dirty="0">
                <a:solidFill>
                  <a:srgbClr val="1A1A2E"/>
                </a:solidFill>
              </a:rPr>
              <a:t>›  Standard JPEG with an embedded EXIF (Exchangeable Image File) metadata block</a:t>
            </a:r>
            <a:endParaRPr lang="en-US" sz="820" dirty="0"/>
          </a:p>
        </p:txBody>
      </p:sp>
      <p:sp>
        <p:nvSpPr>
          <p:cNvPr id="21" name="Text 19"/>
          <p:cNvSpPr/>
          <p:nvPr/>
        </p:nvSpPr>
        <p:spPr>
          <a:xfrm>
            <a:off x="3474720" y="2029968"/>
            <a:ext cx="2377440" cy="274320"/>
          </a:xfrm>
          <a:prstGeom prst="rect">
            <a:avLst/>
          </a:prstGeom>
          <a:noFill/>
          <a:ln/>
        </p:spPr>
        <p:txBody>
          <a:bodyPr wrap="square" lIns="0" tIns="0" rIns="0" bIns="0" rtlCol="0" anchor="ctr"/>
          <a:lstStyle/>
          <a:p>
            <a:pPr marL="0" indent="0">
              <a:buNone/>
            </a:pPr>
            <a:r>
              <a:rPr lang="en-US" sz="820" dirty="0">
                <a:solidFill>
                  <a:srgbClr val="1A1A2E"/>
                </a:solidFill>
              </a:rPr>
              <a:t>›  Header starts with FF D8 FF E1 (distinguishes EXIF JPEG from standard JPEG FF D8 FF E0)</a:t>
            </a:r>
            <a:endParaRPr lang="en-US" sz="820" dirty="0"/>
          </a:p>
        </p:txBody>
      </p:sp>
      <p:sp>
        <p:nvSpPr>
          <p:cNvPr id="22" name="Text 20"/>
          <p:cNvSpPr/>
          <p:nvPr/>
        </p:nvSpPr>
        <p:spPr>
          <a:xfrm>
            <a:off x="3474720" y="2322576"/>
            <a:ext cx="2377440" cy="274320"/>
          </a:xfrm>
          <a:prstGeom prst="rect">
            <a:avLst/>
          </a:prstGeom>
          <a:noFill/>
          <a:ln/>
        </p:spPr>
        <p:txBody>
          <a:bodyPr wrap="square" lIns="0" tIns="0" rIns="0" bIns="0" rtlCol="0" anchor="ctr"/>
          <a:lstStyle/>
          <a:p>
            <a:pPr marL="0" indent="0">
              <a:buNone/>
            </a:pPr>
            <a:r>
              <a:rPr lang="en-US" sz="820" dirty="0">
                <a:solidFill>
                  <a:srgbClr val="1A1A2E"/>
                </a:solidFill>
              </a:rPr>
              <a:t>›  Metadata stored in IFD (Image File Directory) tags within the APP1 segment</a:t>
            </a:r>
            <a:endParaRPr lang="en-US" sz="820" dirty="0"/>
          </a:p>
        </p:txBody>
      </p:sp>
      <p:sp>
        <p:nvSpPr>
          <p:cNvPr id="23" name="Text 21"/>
          <p:cNvSpPr/>
          <p:nvPr/>
        </p:nvSpPr>
        <p:spPr>
          <a:xfrm>
            <a:off x="3474720" y="2615184"/>
            <a:ext cx="2377440" cy="274320"/>
          </a:xfrm>
          <a:prstGeom prst="rect">
            <a:avLst/>
          </a:prstGeom>
          <a:noFill/>
          <a:ln/>
        </p:spPr>
        <p:txBody>
          <a:bodyPr wrap="square" lIns="0" tIns="0" rIns="0" bIns="0" rtlCol="0" anchor="ctr"/>
          <a:lstStyle/>
          <a:p>
            <a:pPr marL="0" indent="0">
              <a:buNone/>
            </a:pPr>
            <a:r>
              <a:rPr lang="en-US" sz="820" dirty="0">
                <a:solidFill>
                  <a:srgbClr val="1A1A2E"/>
                </a:solidFill>
              </a:rPr>
              <a:t>›  Most camera-produced JPEGs are EXIF JPEGs</a:t>
            </a:r>
            <a:endParaRPr lang="en-US" sz="820" dirty="0"/>
          </a:p>
        </p:txBody>
      </p:sp>
      <p:sp>
        <p:nvSpPr>
          <p:cNvPr id="24" name="Text 22"/>
          <p:cNvSpPr/>
          <p:nvPr/>
        </p:nvSpPr>
        <p:spPr>
          <a:xfrm>
            <a:off x="3474720" y="2907792"/>
            <a:ext cx="2377440" cy="274320"/>
          </a:xfrm>
          <a:prstGeom prst="rect">
            <a:avLst/>
          </a:prstGeom>
          <a:noFill/>
          <a:ln/>
        </p:spPr>
        <p:txBody>
          <a:bodyPr wrap="square" lIns="0" tIns="0" rIns="0" bIns="0" rtlCol="0" anchor="ctr"/>
          <a:lstStyle/>
          <a:p>
            <a:pPr marL="0" indent="0">
              <a:buNone/>
            </a:pPr>
            <a:r>
              <a:rPr lang="en-US" sz="820" dirty="0">
                <a:solidFill>
                  <a:srgbClr val="1A1A2E"/>
                </a:solidFill>
              </a:rPr>
              <a:t>›  Footer (EOI): FF D9 — identical to standard JPEG</a:t>
            </a:r>
            <a:endParaRPr lang="en-US" sz="820" dirty="0"/>
          </a:p>
        </p:txBody>
      </p:sp>
      <p:sp>
        <p:nvSpPr>
          <p:cNvPr id="25" name="Text 23"/>
          <p:cNvSpPr/>
          <p:nvPr/>
        </p:nvSpPr>
        <p:spPr>
          <a:xfrm>
            <a:off x="5943600" y="2066544"/>
            <a:ext cx="402336" cy="329184"/>
          </a:xfrm>
          <a:prstGeom prst="rect">
            <a:avLst/>
          </a:prstGeom>
          <a:noFill/>
          <a:ln/>
        </p:spPr>
        <p:txBody>
          <a:bodyPr wrap="square" lIns="0" tIns="0" rIns="0" bIns="0" rtlCol="0" anchor="ctr"/>
          <a:lstStyle/>
          <a:p>
            <a:pPr marL="0" indent="0" algn="ctr">
              <a:buNone/>
            </a:pPr>
            <a:r>
              <a:rPr lang="en-US" sz="1600" dirty="0">
                <a:solidFill>
                  <a:srgbClr val="8899AA"/>
                </a:solidFill>
              </a:rPr>
              <a:t>▶</a:t>
            </a:r>
            <a:endParaRPr lang="en-US" sz="1600" dirty="0"/>
          </a:p>
        </p:txBody>
      </p:sp>
      <p:sp>
        <p:nvSpPr>
          <p:cNvPr id="26" name="Text 24"/>
          <p:cNvSpPr/>
          <p:nvPr/>
        </p:nvSpPr>
        <p:spPr>
          <a:xfrm>
            <a:off x="5797296" y="2395728"/>
            <a:ext cx="658368" cy="402336"/>
          </a:xfrm>
          <a:prstGeom prst="rect">
            <a:avLst/>
          </a:prstGeom>
          <a:noFill/>
          <a:ln/>
        </p:spPr>
        <p:txBody>
          <a:bodyPr wrap="square" lIns="0" tIns="0" rIns="0" bIns="0" rtlCol="0" anchor="ctr"/>
          <a:lstStyle/>
          <a:p>
            <a:pPr marL="0" indent="0" algn="ctr">
              <a:buNone/>
            </a:pPr>
            <a:r>
              <a:rPr lang="en-US" sz="700" dirty="0">
                <a:solidFill>
                  <a:srgbClr val="8899AA"/>
                </a:solidFill>
              </a:rPr>
              <a:t>Export /</a:t>
            </a:r>
            <a:endParaRPr lang="en-US" sz="700" dirty="0"/>
          </a:p>
          <a:p>
            <a:pPr marL="0" indent="0" algn="ctr">
              <a:buNone/>
            </a:pPr>
            <a:r>
              <a:rPr lang="en-US" sz="700" dirty="0">
                <a:solidFill>
                  <a:srgbClr val="8899AA"/>
                </a:solidFill>
              </a:rPr>
              <a:t>share</a:t>
            </a:r>
            <a:endParaRPr lang="en-US" sz="700" dirty="0"/>
          </a:p>
        </p:txBody>
      </p:sp>
      <p:sp>
        <p:nvSpPr>
          <p:cNvPr id="27" name="Shape 25"/>
          <p:cNvSpPr/>
          <p:nvPr/>
        </p:nvSpPr>
        <p:spPr>
          <a:xfrm>
            <a:off x="6446520" y="1298448"/>
            <a:ext cx="2377440" cy="2011680"/>
          </a:xfrm>
          <a:prstGeom prst="rect">
            <a:avLst/>
          </a:prstGeom>
          <a:solidFill>
            <a:srgbClr val="EEF6FB"/>
          </a:solidFill>
          <a:ln w="12700">
            <a:solidFill>
              <a:srgbClr val="EEF6FB"/>
            </a:solidFill>
            <a:prstDash val="solid"/>
          </a:ln>
        </p:spPr>
        <p:txBody>
          <a:bodyPr/>
          <a:lstStyle/>
          <a:p>
            <a:endParaRPr lang="en-SG"/>
          </a:p>
        </p:txBody>
      </p:sp>
      <p:sp>
        <p:nvSpPr>
          <p:cNvPr id="28" name="Shape 26"/>
          <p:cNvSpPr/>
          <p:nvPr/>
        </p:nvSpPr>
        <p:spPr>
          <a:xfrm>
            <a:off x="6446520" y="1298448"/>
            <a:ext cx="2377440" cy="64008"/>
          </a:xfrm>
          <a:prstGeom prst="rect">
            <a:avLst/>
          </a:prstGeom>
          <a:solidFill>
            <a:srgbClr val="2ECC71"/>
          </a:solidFill>
          <a:ln w="12700">
            <a:solidFill>
              <a:srgbClr val="2ECC71"/>
            </a:solidFill>
            <a:prstDash val="solid"/>
          </a:ln>
        </p:spPr>
        <p:txBody>
          <a:bodyPr/>
          <a:lstStyle/>
          <a:p>
            <a:endParaRPr lang="en-SG"/>
          </a:p>
        </p:txBody>
      </p:sp>
      <p:sp>
        <p:nvSpPr>
          <p:cNvPr id="29" name="Text 27"/>
          <p:cNvSpPr/>
          <p:nvPr/>
        </p:nvSpPr>
        <p:spPr>
          <a:xfrm>
            <a:off x="6537960" y="1408176"/>
            <a:ext cx="2194560" cy="256032"/>
          </a:xfrm>
          <a:prstGeom prst="rect">
            <a:avLst/>
          </a:prstGeom>
          <a:noFill/>
          <a:ln/>
        </p:spPr>
        <p:txBody>
          <a:bodyPr wrap="square" lIns="0" tIns="0" rIns="0" bIns="0" rtlCol="0" anchor="ctr"/>
          <a:lstStyle/>
          <a:p>
            <a:pPr marL="0" indent="0">
              <a:buNone/>
            </a:pPr>
            <a:r>
              <a:rPr lang="en-US" sz="1150" b="1" dirty="0">
                <a:solidFill>
                  <a:srgbClr val="2ECC71"/>
                </a:solidFill>
              </a:rPr>
              <a:t>🖼️  Standard JPEG</a:t>
            </a:r>
            <a:endParaRPr lang="en-US" sz="1150" dirty="0"/>
          </a:p>
        </p:txBody>
      </p:sp>
      <p:sp>
        <p:nvSpPr>
          <p:cNvPr id="30" name="Text 28"/>
          <p:cNvSpPr/>
          <p:nvPr/>
        </p:nvSpPr>
        <p:spPr>
          <a:xfrm>
            <a:off x="6537960" y="1737360"/>
            <a:ext cx="2194560" cy="274320"/>
          </a:xfrm>
          <a:prstGeom prst="rect">
            <a:avLst/>
          </a:prstGeom>
          <a:noFill/>
          <a:ln/>
        </p:spPr>
        <p:txBody>
          <a:bodyPr wrap="square" lIns="0" tIns="0" rIns="0" bIns="0" rtlCol="0" anchor="ctr"/>
          <a:lstStyle/>
          <a:p>
            <a:pPr marL="0" indent="0">
              <a:buNone/>
            </a:pPr>
            <a:r>
              <a:rPr lang="en-US" sz="820" dirty="0">
                <a:solidFill>
                  <a:srgbClr val="1A1A2E"/>
                </a:solidFill>
              </a:rPr>
              <a:t>›  Header: FF D8 FF E0 (APP0 / JFIF)</a:t>
            </a:r>
            <a:endParaRPr lang="en-US" sz="820" dirty="0"/>
          </a:p>
        </p:txBody>
      </p:sp>
      <p:sp>
        <p:nvSpPr>
          <p:cNvPr id="31" name="Text 29"/>
          <p:cNvSpPr/>
          <p:nvPr/>
        </p:nvSpPr>
        <p:spPr>
          <a:xfrm>
            <a:off x="6537960" y="2029968"/>
            <a:ext cx="2194560" cy="274320"/>
          </a:xfrm>
          <a:prstGeom prst="rect">
            <a:avLst/>
          </a:prstGeom>
          <a:noFill/>
          <a:ln/>
        </p:spPr>
        <p:txBody>
          <a:bodyPr wrap="square" lIns="0" tIns="0" rIns="0" bIns="0" rtlCol="0" anchor="ctr"/>
          <a:lstStyle/>
          <a:p>
            <a:pPr marL="0" indent="0">
              <a:buNone/>
            </a:pPr>
            <a:r>
              <a:rPr lang="en-US" sz="820" dirty="0">
                <a:solidFill>
                  <a:srgbClr val="1A1A2E"/>
                </a:solidFill>
              </a:rPr>
              <a:t>›  No camera metadata — created by software such as Photoshop</a:t>
            </a:r>
            <a:endParaRPr lang="en-US" sz="820" dirty="0"/>
          </a:p>
        </p:txBody>
      </p:sp>
      <p:sp>
        <p:nvSpPr>
          <p:cNvPr id="32" name="Text 30"/>
          <p:cNvSpPr/>
          <p:nvPr/>
        </p:nvSpPr>
        <p:spPr>
          <a:xfrm>
            <a:off x="6537960" y="2322576"/>
            <a:ext cx="2194560" cy="274320"/>
          </a:xfrm>
          <a:prstGeom prst="rect">
            <a:avLst/>
          </a:prstGeom>
          <a:noFill/>
          <a:ln/>
        </p:spPr>
        <p:txBody>
          <a:bodyPr wrap="square" lIns="0" tIns="0" rIns="0" bIns="0" rtlCol="0" anchor="ctr"/>
          <a:lstStyle/>
          <a:p>
            <a:pPr marL="0" indent="0">
              <a:buNone/>
            </a:pPr>
            <a:r>
              <a:rPr lang="en-US" sz="820" dirty="0">
                <a:solidFill>
                  <a:srgbClr val="1A1A2E"/>
                </a:solidFill>
              </a:rPr>
              <a:t>›  May have been edited; original metadata stripped</a:t>
            </a:r>
            <a:endParaRPr lang="en-US" sz="820" dirty="0"/>
          </a:p>
        </p:txBody>
      </p:sp>
      <p:sp>
        <p:nvSpPr>
          <p:cNvPr id="33" name="Text 31"/>
          <p:cNvSpPr/>
          <p:nvPr/>
        </p:nvSpPr>
        <p:spPr>
          <a:xfrm>
            <a:off x="6537960" y="2615184"/>
            <a:ext cx="2194560" cy="274320"/>
          </a:xfrm>
          <a:prstGeom prst="rect">
            <a:avLst/>
          </a:prstGeom>
          <a:noFill/>
          <a:ln/>
        </p:spPr>
        <p:txBody>
          <a:bodyPr wrap="square" lIns="0" tIns="0" rIns="0" bIns="0" rtlCol="0" anchor="ctr"/>
          <a:lstStyle/>
          <a:p>
            <a:pPr marL="0" indent="0">
              <a:buNone/>
            </a:pPr>
            <a:r>
              <a:rPr lang="en-US" sz="820" dirty="0">
                <a:solidFill>
                  <a:srgbClr val="1A1A2E"/>
                </a:solidFill>
              </a:rPr>
              <a:t>›  Forensically significant: absence of EXIF may indicate manipulation</a:t>
            </a:r>
            <a:endParaRPr lang="en-US" sz="820" dirty="0"/>
          </a:p>
        </p:txBody>
      </p:sp>
      <p:sp>
        <p:nvSpPr>
          <p:cNvPr id="34" name="Text 32"/>
          <p:cNvSpPr/>
          <p:nvPr/>
        </p:nvSpPr>
        <p:spPr>
          <a:xfrm>
            <a:off x="6537960" y="2907792"/>
            <a:ext cx="2194560" cy="274320"/>
          </a:xfrm>
          <a:prstGeom prst="rect">
            <a:avLst/>
          </a:prstGeom>
          <a:noFill/>
          <a:ln/>
        </p:spPr>
        <p:txBody>
          <a:bodyPr wrap="square" lIns="0" tIns="0" rIns="0" bIns="0" rtlCol="0" anchor="ctr"/>
          <a:lstStyle/>
          <a:p>
            <a:pPr marL="0" indent="0">
              <a:buNone/>
            </a:pPr>
            <a:r>
              <a:rPr lang="en-US" sz="820" dirty="0">
                <a:solidFill>
                  <a:srgbClr val="1A1A2E"/>
                </a:solidFill>
              </a:rPr>
              <a:t>›  Footer: FF D9 (same as EXIF JPEG)</a:t>
            </a:r>
            <a:endParaRPr lang="en-US" sz="820" dirty="0"/>
          </a:p>
        </p:txBody>
      </p:sp>
      <p:sp>
        <p:nvSpPr>
          <p:cNvPr id="35" name="Shape 33"/>
          <p:cNvSpPr/>
          <p:nvPr/>
        </p:nvSpPr>
        <p:spPr>
          <a:xfrm>
            <a:off x="320040" y="3383280"/>
            <a:ext cx="8503920" cy="1298448"/>
          </a:xfrm>
          <a:prstGeom prst="rect">
            <a:avLst/>
          </a:prstGeom>
          <a:solidFill>
            <a:srgbClr val="FFFFFF"/>
          </a:solidFill>
          <a:ln w="12700">
            <a:solidFill>
              <a:srgbClr val="FFFFFF"/>
            </a:solidFill>
            <a:prstDash val="solid"/>
          </a:ln>
        </p:spPr>
        <p:txBody>
          <a:bodyPr/>
          <a:lstStyle/>
          <a:p>
            <a:endParaRPr lang="en-SG"/>
          </a:p>
        </p:txBody>
      </p:sp>
      <p:sp>
        <p:nvSpPr>
          <p:cNvPr id="36" name="Shape 34"/>
          <p:cNvSpPr/>
          <p:nvPr/>
        </p:nvSpPr>
        <p:spPr>
          <a:xfrm>
            <a:off x="320040" y="3383280"/>
            <a:ext cx="91440" cy="1298448"/>
          </a:xfrm>
          <a:prstGeom prst="rect">
            <a:avLst/>
          </a:prstGeom>
          <a:solidFill>
            <a:srgbClr val="F1C40F"/>
          </a:solidFill>
          <a:ln w="12700">
            <a:solidFill>
              <a:srgbClr val="F1C40F"/>
            </a:solidFill>
            <a:prstDash val="solid"/>
          </a:ln>
        </p:spPr>
        <p:txBody>
          <a:bodyPr/>
          <a:lstStyle/>
          <a:p>
            <a:endParaRPr lang="en-SG"/>
          </a:p>
        </p:txBody>
      </p:sp>
      <p:sp>
        <p:nvSpPr>
          <p:cNvPr id="37" name="Text 35"/>
          <p:cNvSpPr/>
          <p:nvPr/>
        </p:nvSpPr>
        <p:spPr>
          <a:xfrm>
            <a:off x="493776" y="3438144"/>
            <a:ext cx="8193024" cy="237744"/>
          </a:xfrm>
          <a:prstGeom prst="rect">
            <a:avLst/>
          </a:prstGeom>
          <a:noFill/>
          <a:ln/>
        </p:spPr>
        <p:txBody>
          <a:bodyPr wrap="square" lIns="0" tIns="0" rIns="0" bIns="0" rtlCol="0" anchor="ctr"/>
          <a:lstStyle/>
          <a:p>
            <a:pPr marL="0" indent="0">
              <a:buNone/>
            </a:pPr>
            <a:r>
              <a:rPr lang="en-US" sz="1050" b="1" dirty="0">
                <a:solidFill>
                  <a:srgbClr val="F1C40F"/>
                </a:solidFill>
              </a:rPr>
              <a:t>Forensic Significance of Camera Formats</a:t>
            </a:r>
            <a:endParaRPr lang="en-US" sz="1050" dirty="0"/>
          </a:p>
        </p:txBody>
      </p:sp>
      <p:sp>
        <p:nvSpPr>
          <p:cNvPr id="38" name="Text 36"/>
          <p:cNvSpPr/>
          <p:nvPr/>
        </p:nvSpPr>
        <p:spPr>
          <a:xfrm>
            <a:off x="493776" y="3712464"/>
            <a:ext cx="8193024" cy="877824"/>
          </a:xfrm>
          <a:prstGeom prst="rect">
            <a:avLst/>
          </a:prstGeom>
          <a:noFill/>
          <a:ln/>
        </p:spPr>
        <p:txBody>
          <a:bodyPr wrap="square" lIns="0" tIns="0" rIns="0" bIns="0" rtlCol="0" anchor="ctr"/>
          <a:lstStyle/>
          <a:p>
            <a:pPr marL="0" indent="0">
              <a:buNone/>
            </a:pPr>
            <a:r>
              <a:rPr lang="en-US" sz="900" dirty="0">
                <a:solidFill>
                  <a:srgbClr val="1A1A2E"/>
                </a:solidFill>
              </a:rPr>
              <a:t>RAW files are the most evidentially valuable — they preserve original sensor data unaltered. EXIF JPEGs carry rich metadata that can corroborate or contradict a suspect's account of where and when an image was taken. Standard JPEGs, lacking EXIF, may indicate deliberate editing or metadata stripping — which is itself a forensic finding worth documenting in your investigation notes.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574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965960" cy="256032"/>
          </a:xfrm>
          <a:prstGeom prst="rect">
            <a:avLst/>
          </a:prstGeom>
          <a:noFill/>
          <a:ln/>
        </p:spPr>
        <p:txBody>
          <a:bodyPr wrap="square" lIns="0" tIns="0" rIns="0" bIns="0" rtlCol="0" anchor="ctr"/>
          <a:lstStyle/>
          <a:p>
            <a:pPr marL="0" indent="0">
              <a:buNone/>
            </a:pPr>
            <a:r>
              <a:rPr lang="en-US" sz="850" b="1" dirty="0">
                <a:solidFill>
                  <a:srgbClr val="0D1B2A"/>
                </a:solidFill>
              </a:rPr>
              <a:t>SECTION 2 · EXIF METADATA</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EXIF Metadata: What Images Remember</a:t>
            </a:r>
            <a:endParaRPr lang="en-US" sz="2800" dirty="0"/>
          </a:p>
        </p:txBody>
      </p:sp>
      <p:sp>
        <p:nvSpPr>
          <p:cNvPr id="5" name="Shape 3"/>
          <p:cNvSpPr/>
          <p:nvPr/>
        </p:nvSpPr>
        <p:spPr>
          <a:xfrm>
            <a:off x="320040" y="1170432"/>
            <a:ext cx="8503920" cy="36576"/>
          </a:xfrm>
          <a:prstGeom prst="rect">
            <a:avLst/>
          </a:prstGeom>
          <a:solidFill>
            <a:srgbClr val="00B4D8"/>
          </a:solidFill>
          <a:ln w="12700">
            <a:solidFill>
              <a:srgbClr val="00B4D8"/>
            </a:solidFill>
            <a:prstDash val="solid"/>
          </a:ln>
        </p:spPr>
        <p:txBody>
          <a:bodyPr/>
          <a:lstStyle/>
          <a:p>
            <a:endParaRPr lang="en-SG"/>
          </a:p>
        </p:txBody>
      </p:sp>
      <p:sp>
        <p:nvSpPr>
          <p:cNvPr id="6" name="Shape 4"/>
          <p:cNvSpPr/>
          <p:nvPr/>
        </p:nvSpPr>
        <p:spPr>
          <a:xfrm>
            <a:off x="320040" y="1261872"/>
            <a:ext cx="8503920" cy="530352"/>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530352"/>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493776" y="1316736"/>
            <a:ext cx="8229600" cy="420624"/>
          </a:xfrm>
          <a:prstGeom prst="rect">
            <a:avLst/>
          </a:prstGeom>
          <a:noFill/>
          <a:ln/>
        </p:spPr>
        <p:txBody>
          <a:bodyPr wrap="square" lIns="0" tIns="0" rIns="0" bIns="0" rtlCol="0" anchor="ctr"/>
          <a:lstStyle/>
          <a:p>
            <a:pPr marL="0" indent="0">
              <a:buNone/>
            </a:pPr>
            <a:r>
              <a:rPr lang="en-US" sz="950" dirty="0">
                <a:solidFill>
                  <a:srgbClr val="1A1A2E"/>
                </a:solidFill>
              </a:rPr>
              <a:t>EXIF (Exchangeable Image File Format) is a metadata standard embedded within JPEG, TIFF, and RAW image files. It records technical and contextual information about how, when, and where a photo was taken — making it one of the most valuable forensic artefacts in image investigations.</a:t>
            </a:r>
            <a:endParaRPr lang="en-US" sz="950" dirty="0"/>
          </a:p>
        </p:txBody>
      </p:sp>
      <p:sp>
        <p:nvSpPr>
          <p:cNvPr id="9" name="Shape 7"/>
          <p:cNvSpPr/>
          <p:nvPr/>
        </p:nvSpPr>
        <p:spPr>
          <a:xfrm>
            <a:off x="320040" y="1883664"/>
            <a:ext cx="2743200" cy="1353312"/>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0040" y="1883664"/>
            <a:ext cx="2743200" cy="54864"/>
          </a:xfrm>
          <a:prstGeom prst="rect">
            <a:avLst/>
          </a:prstGeom>
          <a:solidFill>
            <a:srgbClr val="00B4D8"/>
          </a:solidFill>
          <a:ln w="12700">
            <a:solidFill>
              <a:srgbClr val="00B4D8"/>
            </a:solidFill>
            <a:prstDash val="solid"/>
          </a:ln>
        </p:spPr>
        <p:txBody>
          <a:bodyPr/>
          <a:lstStyle/>
          <a:p>
            <a:endParaRPr lang="en-SG"/>
          </a:p>
        </p:txBody>
      </p:sp>
      <p:sp>
        <p:nvSpPr>
          <p:cNvPr id="11" name="Text 9"/>
          <p:cNvSpPr/>
          <p:nvPr/>
        </p:nvSpPr>
        <p:spPr>
          <a:xfrm>
            <a:off x="411480" y="1975104"/>
            <a:ext cx="2560320" cy="256032"/>
          </a:xfrm>
          <a:prstGeom prst="rect">
            <a:avLst/>
          </a:prstGeom>
          <a:noFill/>
          <a:ln/>
        </p:spPr>
        <p:txBody>
          <a:bodyPr wrap="square" lIns="0" tIns="0" rIns="0" bIns="0" rtlCol="0" anchor="ctr"/>
          <a:lstStyle/>
          <a:p>
            <a:pPr marL="0" indent="0">
              <a:buNone/>
            </a:pPr>
            <a:r>
              <a:rPr lang="en-US" sz="1050" b="1" dirty="0">
                <a:solidFill>
                  <a:srgbClr val="00B4D8"/>
                </a:solidFill>
              </a:rPr>
              <a:t>📅  Timestamps</a:t>
            </a:r>
            <a:endParaRPr lang="en-US" sz="1050" dirty="0"/>
          </a:p>
        </p:txBody>
      </p:sp>
      <p:sp>
        <p:nvSpPr>
          <p:cNvPr id="12" name="Text 10"/>
          <p:cNvSpPr/>
          <p:nvPr/>
        </p:nvSpPr>
        <p:spPr>
          <a:xfrm>
            <a:off x="411480" y="22677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Date/time original (when shutter fired)</a:t>
            </a:r>
            <a:endParaRPr lang="en-US" sz="820" dirty="0"/>
          </a:p>
        </p:txBody>
      </p:sp>
      <p:sp>
        <p:nvSpPr>
          <p:cNvPr id="13" name="Text 11"/>
          <p:cNvSpPr/>
          <p:nvPr/>
        </p:nvSpPr>
        <p:spPr>
          <a:xfrm>
            <a:off x="411480" y="24963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Date/time digitised</a:t>
            </a:r>
            <a:endParaRPr lang="en-US" sz="820" dirty="0"/>
          </a:p>
        </p:txBody>
      </p:sp>
      <p:sp>
        <p:nvSpPr>
          <p:cNvPr id="14" name="Text 12"/>
          <p:cNvSpPr/>
          <p:nvPr/>
        </p:nvSpPr>
        <p:spPr>
          <a:xfrm>
            <a:off x="411480" y="27249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Date/time modified</a:t>
            </a:r>
            <a:endParaRPr lang="en-US" sz="820" dirty="0"/>
          </a:p>
        </p:txBody>
      </p:sp>
      <p:sp>
        <p:nvSpPr>
          <p:cNvPr id="15" name="Text 13"/>
          <p:cNvSpPr/>
          <p:nvPr/>
        </p:nvSpPr>
        <p:spPr>
          <a:xfrm>
            <a:off x="411480" y="29535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Timezone offset (EXIF 2.31+)</a:t>
            </a:r>
            <a:endParaRPr lang="en-US" sz="820" dirty="0"/>
          </a:p>
        </p:txBody>
      </p:sp>
      <p:sp>
        <p:nvSpPr>
          <p:cNvPr id="16" name="Shape 14"/>
          <p:cNvSpPr/>
          <p:nvPr/>
        </p:nvSpPr>
        <p:spPr>
          <a:xfrm>
            <a:off x="3172968" y="1883664"/>
            <a:ext cx="2743200" cy="1353312"/>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3172968" y="1883664"/>
            <a:ext cx="2743200" cy="54864"/>
          </a:xfrm>
          <a:prstGeom prst="rect">
            <a:avLst/>
          </a:prstGeom>
          <a:solidFill>
            <a:srgbClr val="2ECC71"/>
          </a:solidFill>
          <a:ln w="12700">
            <a:solidFill>
              <a:srgbClr val="2ECC71"/>
            </a:solidFill>
            <a:prstDash val="solid"/>
          </a:ln>
        </p:spPr>
        <p:txBody>
          <a:bodyPr/>
          <a:lstStyle/>
          <a:p>
            <a:endParaRPr lang="en-SG"/>
          </a:p>
        </p:txBody>
      </p:sp>
      <p:sp>
        <p:nvSpPr>
          <p:cNvPr id="18" name="Text 16"/>
          <p:cNvSpPr/>
          <p:nvPr/>
        </p:nvSpPr>
        <p:spPr>
          <a:xfrm>
            <a:off x="3264408" y="1975104"/>
            <a:ext cx="2560320" cy="256032"/>
          </a:xfrm>
          <a:prstGeom prst="rect">
            <a:avLst/>
          </a:prstGeom>
          <a:noFill/>
          <a:ln/>
        </p:spPr>
        <p:txBody>
          <a:bodyPr wrap="square" lIns="0" tIns="0" rIns="0" bIns="0" rtlCol="0" anchor="ctr"/>
          <a:lstStyle/>
          <a:p>
            <a:pPr marL="0" indent="0">
              <a:buNone/>
            </a:pPr>
            <a:r>
              <a:rPr lang="en-US" sz="1050" b="1" dirty="0">
                <a:solidFill>
                  <a:srgbClr val="2ECC71"/>
                </a:solidFill>
              </a:rPr>
              <a:t>📍  GPS Location</a:t>
            </a:r>
            <a:endParaRPr lang="en-US" sz="1050" dirty="0"/>
          </a:p>
        </p:txBody>
      </p:sp>
      <p:sp>
        <p:nvSpPr>
          <p:cNvPr id="19" name="Text 17"/>
          <p:cNvSpPr/>
          <p:nvPr/>
        </p:nvSpPr>
        <p:spPr>
          <a:xfrm>
            <a:off x="3264408" y="22677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Latitude &amp; Longitude (decimal degrees)</a:t>
            </a:r>
            <a:endParaRPr lang="en-US" sz="820" dirty="0"/>
          </a:p>
        </p:txBody>
      </p:sp>
      <p:sp>
        <p:nvSpPr>
          <p:cNvPr id="20" name="Text 18"/>
          <p:cNvSpPr/>
          <p:nvPr/>
        </p:nvSpPr>
        <p:spPr>
          <a:xfrm>
            <a:off x="3264408" y="24963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Altitude above sea level</a:t>
            </a:r>
            <a:endParaRPr lang="en-US" sz="820" dirty="0"/>
          </a:p>
        </p:txBody>
      </p:sp>
      <p:sp>
        <p:nvSpPr>
          <p:cNvPr id="21" name="Text 19"/>
          <p:cNvSpPr/>
          <p:nvPr/>
        </p:nvSpPr>
        <p:spPr>
          <a:xfrm>
            <a:off x="3264408" y="27249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GPS timestamp (UTC)</a:t>
            </a:r>
            <a:endParaRPr lang="en-US" sz="820" dirty="0"/>
          </a:p>
        </p:txBody>
      </p:sp>
      <p:sp>
        <p:nvSpPr>
          <p:cNvPr id="22" name="Text 20"/>
          <p:cNvSpPr/>
          <p:nvPr/>
        </p:nvSpPr>
        <p:spPr>
          <a:xfrm>
            <a:off x="3264408" y="29535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Direction of travel / bearing</a:t>
            </a:r>
            <a:endParaRPr lang="en-US" sz="820" dirty="0"/>
          </a:p>
        </p:txBody>
      </p:sp>
      <p:sp>
        <p:nvSpPr>
          <p:cNvPr id="23" name="Shape 21"/>
          <p:cNvSpPr/>
          <p:nvPr/>
        </p:nvSpPr>
        <p:spPr>
          <a:xfrm>
            <a:off x="6025896" y="1883664"/>
            <a:ext cx="2743200" cy="1353312"/>
          </a:xfrm>
          <a:prstGeom prst="rect">
            <a:avLst/>
          </a:prstGeom>
          <a:solidFill>
            <a:srgbClr val="EEF6FB"/>
          </a:solidFill>
          <a:ln w="12700">
            <a:solidFill>
              <a:srgbClr val="EEF6FB"/>
            </a:solidFill>
            <a:prstDash val="solid"/>
          </a:ln>
        </p:spPr>
        <p:txBody>
          <a:bodyPr/>
          <a:lstStyle/>
          <a:p>
            <a:endParaRPr lang="en-SG"/>
          </a:p>
        </p:txBody>
      </p:sp>
      <p:sp>
        <p:nvSpPr>
          <p:cNvPr id="24" name="Shape 22"/>
          <p:cNvSpPr/>
          <p:nvPr/>
        </p:nvSpPr>
        <p:spPr>
          <a:xfrm>
            <a:off x="6025896" y="1883664"/>
            <a:ext cx="2743200" cy="54864"/>
          </a:xfrm>
          <a:prstGeom prst="rect">
            <a:avLst/>
          </a:prstGeom>
          <a:solidFill>
            <a:srgbClr val="F4A261"/>
          </a:solidFill>
          <a:ln w="12700">
            <a:solidFill>
              <a:srgbClr val="F4A261"/>
            </a:solidFill>
            <a:prstDash val="solid"/>
          </a:ln>
        </p:spPr>
        <p:txBody>
          <a:bodyPr/>
          <a:lstStyle/>
          <a:p>
            <a:endParaRPr lang="en-SG"/>
          </a:p>
        </p:txBody>
      </p:sp>
      <p:sp>
        <p:nvSpPr>
          <p:cNvPr id="25" name="Text 23"/>
          <p:cNvSpPr/>
          <p:nvPr/>
        </p:nvSpPr>
        <p:spPr>
          <a:xfrm>
            <a:off x="6117336" y="1975104"/>
            <a:ext cx="2560320" cy="256032"/>
          </a:xfrm>
          <a:prstGeom prst="rect">
            <a:avLst/>
          </a:prstGeom>
          <a:noFill/>
          <a:ln/>
        </p:spPr>
        <p:txBody>
          <a:bodyPr wrap="square" lIns="0" tIns="0" rIns="0" bIns="0" rtlCol="0" anchor="ctr"/>
          <a:lstStyle/>
          <a:p>
            <a:pPr marL="0" indent="0">
              <a:buNone/>
            </a:pPr>
            <a:r>
              <a:rPr lang="en-US" sz="1050" b="1" dirty="0">
                <a:solidFill>
                  <a:srgbClr val="F4A261"/>
                </a:solidFill>
              </a:rPr>
              <a:t>📷  Camera Details</a:t>
            </a:r>
            <a:endParaRPr lang="en-US" sz="1050" dirty="0"/>
          </a:p>
        </p:txBody>
      </p:sp>
      <p:sp>
        <p:nvSpPr>
          <p:cNvPr id="26" name="Text 24"/>
          <p:cNvSpPr/>
          <p:nvPr/>
        </p:nvSpPr>
        <p:spPr>
          <a:xfrm>
            <a:off x="6117336" y="22677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Make &amp; Model (e.g. Apple iPhone 15)</a:t>
            </a:r>
            <a:endParaRPr lang="en-US" sz="820" dirty="0"/>
          </a:p>
        </p:txBody>
      </p:sp>
      <p:sp>
        <p:nvSpPr>
          <p:cNvPr id="27" name="Text 25"/>
          <p:cNvSpPr/>
          <p:nvPr/>
        </p:nvSpPr>
        <p:spPr>
          <a:xfrm>
            <a:off x="6117336" y="24963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Firmware / software version</a:t>
            </a:r>
            <a:endParaRPr lang="en-US" sz="820" dirty="0"/>
          </a:p>
        </p:txBody>
      </p:sp>
      <p:sp>
        <p:nvSpPr>
          <p:cNvPr id="28" name="Text 26"/>
          <p:cNvSpPr/>
          <p:nvPr/>
        </p:nvSpPr>
        <p:spPr>
          <a:xfrm>
            <a:off x="6117336" y="27249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Serial number (some cameras)</a:t>
            </a:r>
            <a:endParaRPr lang="en-US" sz="820" dirty="0"/>
          </a:p>
        </p:txBody>
      </p:sp>
      <p:sp>
        <p:nvSpPr>
          <p:cNvPr id="29" name="Text 27"/>
          <p:cNvSpPr/>
          <p:nvPr/>
        </p:nvSpPr>
        <p:spPr>
          <a:xfrm>
            <a:off x="6117336" y="2953512"/>
            <a:ext cx="2560320" cy="219456"/>
          </a:xfrm>
          <a:prstGeom prst="rect">
            <a:avLst/>
          </a:prstGeom>
          <a:noFill/>
          <a:ln/>
        </p:spPr>
        <p:txBody>
          <a:bodyPr wrap="square" lIns="0" tIns="0" rIns="0" bIns="0" rtlCol="0" anchor="ctr"/>
          <a:lstStyle/>
          <a:p>
            <a:pPr marL="0" indent="0">
              <a:buNone/>
            </a:pPr>
            <a:r>
              <a:rPr lang="en-US" sz="820" dirty="0">
                <a:solidFill>
                  <a:srgbClr val="1A1A2E"/>
                </a:solidFill>
              </a:rPr>
              <a:t>·  Lens information</a:t>
            </a:r>
            <a:endParaRPr lang="en-US" sz="820" dirty="0"/>
          </a:p>
        </p:txBody>
      </p:sp>
      <p:sp>
        <p:nvSpPr>
          <p:cNvPr id="30" name="Shape 28"/>
          <p:cNvSpPr/>
          <p:nvPr/>
        </p:nvSpPr>
        <p:spPr>
          <a:xfrm>
            <a:off x="320040" y="3310128"/>
            <a:ext cx="2743200" cy="1353312"/>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320040" y="3310128"/>
            <a:ext cx="2743200" cy="54864"/>
          </a:xfrm>
          <a:prstGeom prst="rect">
            <a:avLst/>
          </a:prstGeom>
          <a:solidFill>
            <a:srgbClr val="A855F7"/>
          </a:solidFill>
          <a:ln w="12700">
            <a:solidFill>
              <a:srgbClr val="A855F7"/>
            </a:solidFill>
            <a:prstDash val="solid"/>
          </a:ln>
        </p:spPr>
        <p:txBody>
          <a:bodyPr/>
          <a:lstStyle/>
          <a:p>
            <a:endParaRPr lang="en-SG"/>
          </a:p>
        </p:txBody>
      </p:sp>
      <p:sp>
        <p:nvSpPr>
          <p:cNvPr id="32" name="Text 30"/>
          <p:cNvSpPr/>
          <p:nvPr/>
        </p:nvSpPr>
        <p:spPr>
          <a:xfrm>
            <a:off x="411480" y="3401568"/>
            <a:ext cx="2560320" cy="256032"/>
          </a:xfrm>
          <a:prstGeom prst="rect">
            <a:avLst/>
          </a:prstGeom>
          <a:noFill/>
          <a:ln/>
        </p:spPr>
        <p:txBody>
          <a:bodyPr wrap="square" lIns="0" tIns="0" rIns="0" bIns="0" rtlCol="0" anchor="ctr"/>
          <a:lstStyle/>
          <a:p>
            <a:pPr marL="0" indent="0">
              <a:buNone/>
            </a:pPr>
            <a:r>
              <a:rPr lang="en-US" sz="1050" b="1" dirty="0">
                <a:solidFill>
                  <a:srgbClr val="A855F7"/>
                </a:solidFill>
              </a:rPr>
              <a:t>⚙️  Capture Settings</a:t>
            </a:r>
            <a:endParaRPr lang="en-US" sz="1050" dirty="0"/>
          </a:p>
        </p:txBody>
      </p:sp>
      <p:sp>
        <p:nvSpPr>
          <p:cNvPr id="33" name="Text 31"/>
          <p:cNvSpPr/>
          <p:nvPr/>
        </p:nvSpPr>
        <p:spPr>
          <a:xfrm>
            <a:off x="411480" y="36941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Shutter speed (exposure time)</a:t>
            </a:r>
            <a:endParaRPr lang="en-US" sz="820" dirty="0"/>
          </a:p>
        </p:txBody>
      </p:sp>
      <p:sp>
        <p:nvSpPr>
          <p:cNvPr id="34" name="Text 32"/>
          <p:cNvSpPr/>
          <p:nvPr/>
        </p:nvSpPr>
        <p:spPr>
          <a:xfrm>
            <a:off x="411480" y="39227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Aperture (f-number)</a:t>
            </a:r>
            <a:endParaRPr lang="en-US" sz="820" dirty="0"/>
          </a:p>
        </p:txBody>
      </p:sp>
      <p:sp>
        <p:nvSpPr>
          <p:cNvPr id="35" name="Text 33"/>
          <p:cNvSpPr/>
          <p:nvPr/>
        </p:nvSpPr>
        <p:spPr>
          <a:xfrm>
            <a:off x="411480" y="41513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ISO sensitivity</a:t>
            </a:r>
            <a:endParaRPr lang="en-US" sz="820" dirty="0"/>
          </a:p>
        </p:txBody>
      </p:sp>
      <p:sp>
        <p:nvSpPr>
          <p:cNvPr id="36" name="Text 34"/>
          <p:cNvSpPr/>
          <p:nvPr/>
        </p:nvSpPr>
        <p:spPr>
          <a:xfrm>
            <a:off x="411480" y="43799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Flash status &amp; white balance</a:t>
            </a:r>
            <a:endParaRPr lang="en-US" sz="820" dirty="0"/>
          </a:p>
        </p:txBody>
      </p:sp>
      <p:sp>
        <p:nvSpPr>
          <p:cNvPr id="37" name="Shape 35"/>
          <p:cNvSpPr/>
          <p:nvPr/>
        </p:nvSpPr>
        <p:spPr>
          <a:xfrm>
            <a:off x="3172968" y="3310128"/>
            <a:ext cx="2743200" cy="1353312"/>
          </a:xfrm>
          <a:prstGeom prst="rect">
            <a:avLst/>
          </a:prstGeom>
          <a:solidFill>
            <a:srgbClr val="EEF6FB"/>
          </a:solidFill>
          <a:ln w="12700">
            <a:solidFill>
              <a:srgbClr val="EEF6FB"/>
            </a:solidFill>
            <a:prstDash val="solid"/>
          </a:ln>
        </p:spPr>
        <p:txBody>
          <a:bodyPr/>
          <a:lstStyle/>
          <a:p>
            <a:endParaRPr lang="en-SG"/>
          </a:p>
        </p:txBody>
      </p:sp>
      <p:sp>
        <p:nvSpPr>
          <p:cNvPr id="38" name="Shape 36"/>
          <p:cNvSpPr/>
          <p:nvPr/>
        </p:nvSpPr>
        <p:spPr>
          <a:xfrm>
            <a:off x="3172968" y="3310128"/>
            <a:ext cx="2743200" cy="54864"/>
          </a:xfrm>
          <a:prstGeom prst="rect">
            <a:avLst/>
          </a:prstGeom>
          <a:solidFill>
            <a:srgbClr val="F1C40F"/>
          </a:solidFill>
          <a:ln w="12700">
            <a:solidFill>
              <a:srgbClr val="F1C40F"/>
            </a:solidFill>
            <a:prstDash val="solid"/>
          </a:ln>
        </p:spPr>
        <p:txBody>
          <a:bodyPr/>
          <a:lstStyle/>
          <a:p>
            <a:endParaRPr lang="en-SG"/>
          </a:p>
        </p:txBody>
      </p:sp>
      <p:sp>
        <p:nvSpPr>
          <p:cNvPr id="39" name="Text 37"/>
          <p:cNvSpPr/>
          <p:nvPr/>
        </p:nvSpPr>
        <p:spPr>
          <a:xfrm>
            <a:off x="3264408" y="3401568"/>
            <a:ext cx="2560320" cy="256032"/>
          </a:xfrm>
          <a:prstGeom prst="rect">
            <a:avLst/>
          </a:prstGeom>
          <a:noFill/>
          <a:ln/>
        </p:spPr>
        <p:txBody>
          <a:bodyPr wrap="square" lIns="0" tIns="0" rIns="0" bIns="0" rtlCol="0" anchor="ctr"/>
          <a:lstStyle/>
          <a:p>
            <a:pPr marL="0" indent="0">
              <a:buNone/>
            </a:pPr>
            <a:r>
              <a:rPr lang="en-US" sz="1050" b="1" dirty="0">
                <a:solidFill>
                  <a:srgbClr val="F1C40F"/>
                </a:solidFill>
              </a:rPr>
              <a:t>🖼️  Image Properties</a:t>
            </a:r>
            <a:endParaRPr lang="en-US" sz="1050" dirty="0"/>
          </a:p>
        </p:txBody>
      </p:sp>
      <p:sp>
        <p:nvSpPr>
          <p:cNvPr id="40" name="Text 38"/>
          <p:cNvSpPr/>
          <p:nvPr/>
        </p:nvSpPr>
        <p:spPr>
          <a:xfrm>
            <a:off x="3264408" y="36941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Width &amp; Height in pixels</a:t>
            </a:r>
            <a:endParaRPr lang="en-US" sz="820" dirty="0"/>
          </a:p>
        </p:txBody>
      </p:sp>
      <p:sp>
        <p:nvSpPr>
          <p:cNvPr id="41" name="Text 39"/>
          <p:cNvSpPr/>
          <p:nvPr/>
        </p:nvSpPr>
        <p:spPr>
          <a:xfrm>
            <a:off x="3264408" y="39227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Colour space (sRGB / AdobeRGB)</a:t>
            </a:r>
            <a:endParaRPr lang="en-US" sz="820" dirty="0"/>
          </a:p>
        </p:txBody>
      </p:sp>
      <p:sp>
        <p:nvSpPr>
          <p:cNvPr id="42" name="Text 40"/>
          <p:cNvSpPr/>
          <p:nvPr/>
        </p:nvSpPr>
        <p:spPr>
          <a:xfrm>
            <a:off x="3264408" y="41513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Orientation (rotation)</a:t>
            </a:r>
            <a:endParaRPr lang="en-US" sz="820" dirty="0"/>
          </a:p>
        </p:txBody>
      </p:sp>
      <p:sp>
        <p:nvSpPr>
          <p:cNvPr id="43" name="Text 41"/>
          <p:cNvSpPr/>
          <p:nvPr/>
        </p:nvSpPr>
        <p:spPr>
          <a:xfrm>
            <a:off x="3264408" y="43799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X/Y resolution (DPI)</a:t>
            </a:r>
            <a:endParaRPr lang="en-US" sz="820" dirty="0"/>
          </a:p>
        </p:txBody>
      </p:sp>
      <p:sp>
        <p:nvSpPr>
          <p:cNvPr id="44" name="Shape 42"/>
          <p:cNvSpPr/>
          <p:nvPr/>
        </p:nvSpPr>
        <p:spPr>
          <a:xfrm>
            <a:off x="6025896" y="3310128"/>
            <a:ext cx="2743200" cy="1353312"/>
          </a:xfrm>
          <a:prstGeom prst="rect">
            <a:avLst/>
          </a:prstGeom>
          <a:solidFill>
            <a:srgbClr val="EEF6FB"/>
          </a:solidFill>
          <a:ln w="12700">
            <a:solidFill>
              <a:srgbClr val="EEF6FB"/>
            </a:solidFill>
            <a:prstDash val="solid"/>
          </a:ln>
        </p:spPr>
        <p:txBody>
          <a:bodyPr/>
          <a:lstStyle/>
          <a:p>
            <a:endParaRPr lang="en-SG"/>
          </a:p>
        </p:txBody>
      </p:sp>
      <p:sp>
        <p:nvSpPr>
          <p:cNvPr id="45" name="Shape 43"/>
          <p:cNvSpPr/>
          <p:nvPr/>
        </p:nvSpPr>
        <p:spPr>
          <a:xfrm>
            <a:off x="6025896" y="3310128"/>
            <a:ext cx="2743200" cy="54864"/>
          </a:xfrm>
          <a:prstGeom prst="rect">
            <a:avLst/>
          </a:prstGeom>
          <a:solidFill>
            <a:srgbClr val="2EC4B6"/>
          </a:solidFill>
          <a:ln w="12700">
            <a:solidFill>
              <a:srgbClr val="2EC4B6"/>
            </a:solidFill>
            <a:prstDash val="solid"/>
          </a:ln>
        </p:spPr>
        <p:txBody>
          <a:bodyPr/>
          <a:lstStyle/>
          <a:p>
            <a:endParaRPr lang="en-SG"/>
          </a:p>
        </p:txBody>
      </p:sp>
      <p:sp>
        <p:nvSpPr>
          <p:cNvPr id="46" name="Text 44"/>
          <p:cNvSpPr/>
          <p:nvPr/>
        </p:nvSpPr>
        <p:spPr>
          <a:xfrm>
            <a:off x="6117336" y="3401568"/>
            <a:ext cx="2560320" cy="256032"/>
          </a:xfrm>
          <a:prstGeom prst="rect">
            <a:avLst/>
          </a:prstGeom>
          <a:noFill/>
          <a:ln/>
        </p:spPr>
        <p:txBody>
          <a:bodyPr wrap="square" lIns="0" tIns="0" rIns="0" bIns="0" rtlCol="0" anchor="ctr"/>
          <a:lstStyle/>
          <a:p>
            <a:pPr marL="0" indent="0">
              <a:buNone/>
            </a:pPr>
            <a:r>
              <a:rPr lang="en-US" sz="1050" b="1" dirty="0">
                <a:solidFill>
                  <a:srgbClr val="2EC4B6"/>
                </a:solidFill>
              </a:rPr>
              <a:t>🔧  Software Info</a:t>
            </a:r>
            <a:endParaRPr lang="en-US" sz="1050" dirty="0"/>
          </a:p>
        </p:txBody>
      </p:sp>
      <p:sp>
        <p:nvSpPr>
          <p:cNvPr id="47" name="Text 45"/>
          <p:cNvSpPr/>
          <p:nvPr/>
        </p:nvSpPr>
        <p:spPr>
          <a:xfrm>
            <a:off x="6117336" y="36941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Editing software (e.g. Photoshop 2024)</a:t>
            </a:r>
            <a:endParaRPr lang="en-US" sz="820" dirty="0"/>
          </a:p>
        </p:txBody>
      </p:sp>
      <p:sp>
        <p:nvSpPr>
          <p:cNvPr id="48" name="Text 46"/>
          <p:cNvSpPr/>
          <p:nvPr/>
        </p:nvSpPr>
        <p:spPr>
          <a:xfrm>
            <a:off x="6117336" y="39227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Processing software</a:t>
            </a:r>
            <a:endParaRPr lang="en-US" sz="820" dirty="0"/>
          </a:p>
        </p:txBody>
      </p:sp>
      <p:sp>
        <p:nvSpPr>
          <p:cNvPr id="49" name="Text 47"/>
          <p:cNvSpPr/>
          <p:nvPr/>
        </p:nvSpPr>
        <p:spPr>
          <a:xfrm>
            <a:off x="6117336" y="41513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Software version string</a:t>
            </a:r>
            <a:endParaRPr lang="en-US" sz="820" dirty="0"/>
          </a:p>
        </p:txBody>
      </p:sp>
      <p:sp>
        <p:nvSpPr>
          <p:cNvPr id="50" name="Text 48"/>
          <p:cNvSpPr/>
          <p:nvPr/>
        </p:nvSpPr>
        <p:spPr>
          <a:xfrm>
            <a:off x="6117336" y="4379976"/>
            <a:ext cx="2560320" cy="219456"/>
          </a:xfrm>
          <a:prstGeom prst="rect">
            <a:avLst/>
          </a:prstGeom>
          <a:noFill/>
          <a:ln/>
        </p:spPr>
        <p:txBody>
          <a:bodyPr wrap="square" lIns="0" tIns="0" rIns="0" bIns="0" rtlCol="0" anchor="ctr"/>
          <a:lstStyle/>
          <a:p>
            <a:pPr marL="0" indent="0">
              <a:buNone/>
            </a:pPr>
            <a:r>
              <a:rPr lang="en-US" sz="820" dirty="0">
                <a:solidFill>
                  <a:srgbClr val="1A1A2E"/>
                </a:solidFill>
              </a:rPr>
              <a:t>·  Last modification indicator</a:t>
            </a:r>
            <a:endParaRPr lang="en-US" sz="820" dirty="0"/>
          </a:p>
        </p:txBody>
      </p:sp>
      <p:sp>
        <p:nvSpPr>
          <p:cNvPr id="51" name="Text 49"/>
          <p:cNvSpPr/>
          <p:nvPr/>
        </p:nvSpPr>
        <p:spPr>
          <a:xfrm>
            <a:off x="320040" y="4700016"/>
            <a:ext cx="8503920" cy="182880"/>
          </a:xfrm>
          <a:prstGeom prst="rect">
            <a:avLst/>
          </a:prstGeom>
          <a:noFill/>
          <a:ln/>
        </p:spPr>
        <p:txBody>
          <a:bodyPr wrap="square" lIns="0" tIns="0" rIns="0" bIns="0" rtlCol="0" anchor="ctr"/>
          <a:lstStyle/>
          <a:p>
            <a:pPr marL="0" indent="0">
              <a:buNone/>
            </a:pPr>
            <a:r>
              <a:rPr lang="en-US" sz="800" i="1" dirty="0">
                <a:solidFill>
                  <a:srgbClr val="8899AA"/>
                </a:solidFill>
              </a:rPr>
              <a:t>ExifTool (Phil Harvey) is the industry-standard tool for reading, writing, and stripping EXIF metadata. Command: exiftool image.jpg</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574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965960" cy="256032"/>
          </a:xfrm>
          <a:prstGeom prst="rect">
            <a:avLst/>
          </a:prstGeom>
          <a:noFill/>
          <a:ln/>
        </p:spPr>
        <p:txBody>
          <a:bodyPr wrap="square" lIns="0" tIns="0" rIns="0" bIns="0" rtlCol="0" anchor="ctr"/>
          <a:lstStyle/>
          <a:p>
            <a:pPr marL="0" indent="0">
              <a:buNone/>
            </a:pPr>
            <a:r>
              <a:rPr lang="en-US" sz="850" b="1" dirty="0">
                <a:solidFill>
                  <a:srgbClr val="0D1B2A"/>
                </a:solidFill>
              </a:rPr>
              <a:t>SECTION 2 · EXIF METADATA</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EXIF Key Tags — Forensic Reference</a:t>
            </a:r>
            <a:endParaRPr lang="en-US" sz="2800" dirty="0"/>
          </a:p>
        </p:txBody>
      </p:sp>
      <p:sp>
        <p:nvSpPr>
          <p:cNvPr id="5" name="Shape 3"/>
          <p:cNvSpPr/>
          <p:nvPr/>
        </p:nvSpPr>
        <p:spPr>
          <a:xfrm>
            <a:off x="320040" y="1170432"/>
            <a:ext cx="8503920" cy="36576"/>
          </a:xfrm>
          <a:prstGeom prst="rect">
            <a:avLst/>
          </a:prstGeom>
          <a:solidFill>
            <a:srgbClr val="00B4D8"/>
          </a:solidFill>
          <a:ln w="12700">
            <a:solidFill>
              <a:srgbClr val="00B4D8"/>
            </a:solidFill>
            <a:prstDash val="solid"/>
          </a:ln>
        </p:spPr>
        <p:txBody>
          <a:bodyPr/>
          <a:lstStyle/>
          <a:p>
            <a:endParaRPr lang="en-SG"/>
          </a:p>
        </p:txBody>
      </p:sp>
      <p:sp>
        <p:nvSpPr>
          <p:cNvPr id="6" name="Shape 4"/>
          <p:cNvSpPr/>
          <p:nvPr/>
        </p:nvSpPr>
        <p:spPr>
          <a:xfrm>
            <a:off x="320040" y="1261872"/>
            <a:ext cx="8503920" cy="384048"/>
          </a:xfrm>
          <a:prstGeom prst="rect">
            <a:avLst/>
          </a:prstGeom>
          <a:solidFill>
            <a:srgbClr val="FFFFFF"/>
          </a:solidFill>
          <a:ln w="12700">
            <a:solidFill>
              <a:srgbClr val="FFFFFF"/>
            </a:solidFill>
            <a:prstDash val="solid"/>
          </a:ln>
        </p:spPr>
        <p:txBody>
          <a:bodyPr/>
          <a:lstStyle/>
          <a:p>
            <a:endParaRPr lang="en-SG"/>
          </a:p>
        </p:txBody>
      </p:sp>
      <p:sp>
        <p:nvSpPr>
          <p:cNvPr id="7" name="Text 5"/>
          <p:cNvSpPr/>
          <p:nvPr/>
        </p:nvSpPr>
        <p:spPr>
          <a:xfrm>
            <a:off x="457200" y="1307592"/>
            <a:ext cx="8229600" cy="274320"/>
          </a:xfrm>
          <a:prstGeom prst="rect">
            <a:avLst/>
          </a:prstGeom>
          <a:noFill/>
          <a:ln/>
        </p:spPr>
        <p:txBody>
          <a:bodyPr wrap="square" lIns="0" tIns="0" rIns="0" bIns="0" rtlCol="0" anchor="ctr"/>
          <a:lstStyle/>
          <a:p>
            <a:pPr marL="0" indent="0">
              <a:buNone/>
            </a:pPr>
            <a:r>
              <a:rPr lang="en-US" sz="900" i="1" dirty="0">
                <a:solidFill>
                  <a:srgbClr val="8899AA"/>
                </a:solidFill>
              </a:rPr>
              <a:t>EXIF data is stored as IFD (Image File Directory) tag/value pairs. Each tag has a fixed numeric ID defined by the EXIF specification. The table below lists the most forensically significant tags.</a:t>
            </a:r>
            <a:endParaRPr lang="en-US" sz="900" dirty="0"/>
          </a:p>
        </p:txBody>
      </p:sp>
      <p:sp>
        <p:nvSpPr>
          <p:cNvPr id="8" name="Shape 6"/>
          <p:cNvSpPr/>
          <p:nvPr/>
        </p:nvSpPr>
        <p:spPr>
          <a:xfrm>
            <a:off x="320040" y="1682496"/>
            <a:ext cx="8503920" cy="274320"/>
          </a:xfrm>
          <a:prstGeom prst="rect">
            <a:avLst/>
          </a:prstGeom>
          <a:solidFill>
            <a:srgbClr val="00B4D8"/>
          </a:solidFill>
          <a:ln w="12700">
            <a:solidFill>
              <a:srgbClr val="00B4D8"/>
            </a:solidFill>
            <a:prstDash val="solid"/>
          </a:ln>
        </p:spPr>
        <p:txBody>
          <a:bodyPr/>
          <a:lstStyle/>
          <a:p>
            <a:endParaRPr lang="en-SG"/>
          </a:p>
        </p:txBody>
      </p:sp>
      <p:sp>
        <p:nvSpPr>
          <p:cNvPr id="9" name="Text 7"/>
          <p:cNvSpPr/>
          <p:nvPr/>
        </p:nvSpPr>
        <p:spPr>
          <a:xfrm>
            <a:off x="356616" y="1682496"/>
            <a:ext cx="914400" cy="274320"/>
          </a:xfrm>
          <a:prstGeom prst="rect">
            <a:avLst/>
          </a:prstGeom>
          <a:noFill/>
          <a:ln/>
        </p:spPr>
        <p:txBody>
          <a:bodyPr wrap="square" lIns="0" tIns="0" rIns="0" bIns="0" rtlCol="0" anchor="ctr"/>
          <a:lstStyle/>
          <a:p>
            <a:pPr marL="0" indent="0">
              <a:buNone/>
            </a:pPr>
            <a:r>
              <a:rPr lang="en-US" sz="850" b="1" dirty="0">
                <a:solidFill>
                  <a:srgbClr val="0D1B2A"/>
                </a:solidFill>
              </a:rPr>
              <a:t>Tag ID</a:t>
            </a:r>
            <a:endParaRPr lang="en-US" sz="850" dirty="0"/>
          </a:p>
        </p:txBody>
      </p:sp>
      <p:sp>
        <p:nvSpPr>
          <p:cNvPr id="10" name="Text 8"/>
          <p:cNvSpPr/>
          <p:nvPr/>
        </p:nvSpPr>
        <p:spPr>
          <a:xfrm>
            <a:off x="1298448" y="1682496"/>
            <a:ext cx="2377440" cy="274320"/>
          </a:xfrm>
          <a:prstGeom prst="rect">
            <a:avLst/>
          </a:prstGeom>
          <a:noFill/>
          <a:ln/>
        </p:spPr>
        <p:txBody>
          <a:bodyPr wrap="square" lIns="0" tIns="0" rIns="0" bIns="0" rtlCol="0" anchor="ctr"/>
          <a:lstStyle/>
          <a:p>
            <a:pPr marL="0" indent="0">
              <a:buNone/>
            </a:pPr>
            <a:r>
              <a:rPr lang="en-US" sz="850" b="1" dirty="0">
                <a:solidFill>
                  <a:srgbClr val="0D1B2A"/>
                </a:solidFill>
              </a:rPr>
              <a:t>Tag Name</a:t>
            </a:r>
            <a:endParaRPr lang="en-US" sz="850" dirty="0"/>
          </a:p>
        </p:txBody>
      </p:sp>
      <p:sp>
        <p:nvSpPr>
          <p:cNvPr id="11" name="Text 9"/>
          <p:cNvSpPr/>
          <p:nvPr/>
        </p:nvSpPr>
        <p:spPr>
          <a:xfrm>
            <a:off x="3712464" y="1682496"/>
            <a:ext cx="2743200" cy="274320"/>
          </a:xfrm>
          <a:prstGeom prst="rect">
            <a:avLst/>
          </a:prstGeom>
          <a:noFill/>
          <a:ln/>
        </p:spPr>
        <p:txBody>
          <a:bodyPr wrap="square" lIns="0" tIns="0" rIns="0" bIns="0" rtlCol="0" anchor="ctr"/>
          <a:lstStyle/>
          <a:p>
            <a:pPr marL="0" indent="0">
              <a:buNone/>
            </a:pPr>
            <a:r>
              <a:rPr lang="en-US" sz="850" b="1" dirty="0">
                <a:solidFill>
                  <a:srgbClr val="0D1B2A"/>
                </a:solidFill>
              </a:rPr>
              <a:t>Example Value</a:t>
            </a:r>
            <a:endParaRPr lang="en-US" sz="850" dirty="0"/>
          </a:p>
        </p:txBody>
      </p:sp>
      <p:sp>
        <p:nvSpPr>
          <p:cNvPr id="12" name="Text 10"/>
          <p:cNvSpPr/>
          <p:nvPr/>
        </p:nvSpPr>
        <p:spPr>
          <a:xfrm>
            <a:off x="6492240" y="1682496"/>
            <a:ext cx="2340864" cy="274320"/>
          </a:xfrm>
          <a:prstGeom prst="rect">
            <a:avLst/>
          </a:prstGeom>
          <a:noFill/>
          <a:ln/>
        </p:spPr>
        <p:txBody>
          <a:bodyPr wrap="square" lIns="0" tIns="0" rIns="0" bIns="0" rtlCol="0" anchor="ctr"/>
          <a:lstStyle/>
          <a:p>
            <a:pPr marL="0" indent="0">
              <a:buNone/>
            </a:pPr>
            <a:r>
              <a:rPr lang="en-US" sz="850" b="1" dirty="0">
                <a:solidFill>
                  <a:srgbClr val="0D1B2A"/>
                </a:solidFill>
              </a:rPr>
              <a:t>Forensic Significance</a:t>
            </a:r>
            <a:endParaRPr lang="en-US" sz="850" dirty="0"/>
          </a:p>
        </p:txBody>
      </p:sp>
      <p:sp>
        <p:nvSpPr>
          <p:cNvPr id="13" name="Shape 11"/>
          <p:cNvSpPr/>
          <p:nvPr/>
        </p:nvSpPr>
        <p:spPr>
          <a:xfrm>
            <a:off x="320040" y="1993392"/>
            <a:ext cx="8503920" cy="269748"/>
          </a:xfrm>
          <a:prstGeom prst="rect">
            <a:avLst/>
          </a:prstGeom>
          <a:solidFill>
            <a:srgbClr val="EEF6FB"/>
          </a:solidFill>
          <a:ln w="12700">
            <a:solidFill>
              <a:srgbClr val="EEF6FB"/>
            </a:solidFill>
            <a:prstDash val="solid"/>
          </a:ln>
        </p:spPr>
        <p:txBody>
          <a:bodyPr/>
          <a:lstStyle/>
          <a:p>
            <a:endParaRPr lang="en-SG"/>
          </a:p>
        </p:txBody>
      </p:sp>
      <p:sp>
        <p:nvSpPr>
          <p:cNvPr id="14" name="Text 12"/>
          <p:cNvSpPr/>
          <p:nvPr/>
        </p:nvSpPr>
        <p:spPr>
          <a:xfrm>
            <a:off x="356616" y="1993392"/>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0x0132</a:t>
            </a:r>
            <a:endParaRPr lang="en-US" sz="800" dirty="0"/>
          </a:p>
        </p:txBody>
      </p:sp>
      <p:sp>
        <p:nvSpPr>
          <p:cNvPr id="15" name="Text 13"/>
          <p:cNvSpPr/>
          <p:nvPr/>
        </p:nvSpPr>
        <p:spPr>
          <a:xfrm>
            <a:off x="1298448" y="1993392"/>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DateTime</a:t>
            </a:r>
            <a:endParaRPr lang="en-US" sz="850" dirty="0"/>
          </a:p>
        </p:txBody>
      </p:sp>
      <p:sp>
        <p:nvSpPr>
          <p:cNvPr id="16" name="Text 14"/>
          <p:cNvSpPr/>
          <p:nvPr/>
        </p:nvSpPr>
        <p:spPr>
          <a:xfrm>
            <a:off x="3712464" y="1993392"/>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2024:03:14 09:26:53</a:t>
            </a:r>
            <a:endParaRPr lang="en-US" sz="800" dirty="0"/>
          </a:p>
        </p:txBody>
      </p:sp>
      <p:sp>
        <p:nvSpPr>
          <p:cNvPr id="17" name="Text 15"/>
          <p:cNvSpPr/>
          <p:nvPr/>
        </p:nvSpPr>
        <p:spPr>
          <a:xfrm>
            <a:off x="6492240" y="1993392"/>
            <a:ext cx="2340864" cy="269748"/>
          </a:xfrm>
          <a:prstGeom prst="rect">
            <a:avLst/>
          </a:prstGeom>
          <a:noFill/>
          <a:ln/>
        </p:spPr>
        <p:txBody>
          <a:bodyPr wrap="square" lIns="0" tIns="0" rIns="0" bIns="0" rtlCol="0" anchor="ctr"/>
          <a:lstStyle/>
          <a:p>
            <a:pPr marL="0" indent="0">
              <a:buNone/>
            </a:pPr>
            <a:r>
              <a:rPr lang="en-US" sz="820" dirty="0">
                <a:solidFill>
                  <a:srgbClr val="1A1A2E"/>
                </a:solidFill>
              </a:rPr>
              <a:t>File modification time</a:t>
            </a:r>
            <a:endParaRPr lang="en-US" sz="820" dirty="0"/>
          </a:p>
        </p:txBody>
      </p:sp>
      <p:sp>
        <p:nvSpPr>
          <p:cNvPr id="18" name="Shape 16"/>
          <p:cNvSpPr/>
          <p:nvPr/>
        </p:nvSpPr>
        <p:spPr>
          <a:xfrm>
            <a:off x="320040" y="2272284"/>
            <a:ext cx="8503920" cy="269748"/>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356616" y="2272284"/>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0x9003</a:t>
            </a:r>
            <a:endParaRPr lang="en-US" sz="800" dirty="0"/>
          </a:p>
        </p:txBody>
      </p:sp>
      <p:sp>
        <p:nvSpPr>
          <p:cNvPr id="20" name="Text 18"/>
          <p:cNvSpPr/>
          <p:nvPr/>
        </p:nvSpPr>
        <p:spPr>
          <a:xfrm>
            <a:off x="1298448" y="2272284"/>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DateTimeOriginal</a:t>
            </a:r>
            <a:endParaRPr lang="en-US" sz="850" dirty="0"/>
          </a:p>
        </p:txBody>
      </p:sp>
      <p:sp>
        <p:nvSpPr>
          <p:cNvPr id="21" name="Text 19"/>
          <p:cNvSpPr/>
          <p:nvPr/>
        </p:nvSpPr>
        <p:spPr>
          <a:xfrm>
            <a:off x="3712464" y="2272284"/>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2024:03:14 09:26:53</a:t>
            </a:r>
            <a:endParaRPr lang="en-US" sz="800" dirty="0"/>
          </a:p>
        </p:txBody>
      </p:sp>
      <p:sp>
        <p:nvSpPr>
          <p:cNvPr id="22" name="Text 20"/>
          <p:cNvSpPr/>
          <p:nvPr/>
        </p:nvSpPr>
        <p:spPr>
          <a:xfrm>
            <a:off x="6492240" y="2272284"/>
            <a:ext cx="2340864" cy="269748"/>
          </a:xfrm>
          <a:prstGeom prst="rect">
            <a:avLst/>
          </a:prstGeom>
          <a:noFill/>
          <a:ln/>
        </p:spPr>
        <p:txBody>
          <a:bodyPr wrap="square" lIns="0" tIns="0" rIns="0" bIns="0" rtlCol="0" anchor="ctr"/>
          <a:lstStyle/>
          <a:p>
            <a:pPr marL="0" indent="0">
              <a:buNone/>
            </a:pPr>
            <a:r>
              <a:rPr lang="en-US" sz="820" dirty="0">
                <a:solidFill>
                  <a:srgbClr val="F1C40F"/>
                </a:solidFill>
              </a:rPr>
              <a:t>⭐ Shutter-click timestamp</a:t>
            </a:r>
            <a:endParaRPr lang="en-US" sz="820" dirty="0"/>
          </a:p>
        </p:txBody>
      </p:sp>
      <p:sp>
        <p:nvSpPr>
          <p:cNvPr id="23" name="Shape 21"/>
          <p:cNvSpPr/>
          <p:nvPr/>
        </p:nvSpPr>
        <p:spPr>
          <a:xfrm>
            <a:off x="320040" y="2551176"/>
            <a:ext cx="8503920" cy="269748"/>
          </a:xfrm>
          <a:prstGeom prst="rect">
            <a:avLst/>
          </a:prstGeom>
          <a:solidFill>
            <a:srgbClr val="EEF6FB"/>
          </a:solidFill>
          <a:ln w="12700">
            <a:solidFill>
              <a:srgbClr val="EEF6FB"/>
            </a:solidFill>
            <a:prstDash val="solid"/>
          </a:ln>
        </p:spPr>
        <p:txBody>
          <a:bodyPr/>
          <a:lstStyle/>
          <a:p>
            <a:endParaRPr lang="en-SG"/>
          </a:p>
        </p:txBody>
      </p:sp>
      <p:sp>
        <p:nvSpPr>
          <p:cNvPr id="24" name="Text 22"/>
          <p:cNvSpPr/>
          <p:nvPr/>
        </p:nvSpPr>
        <p:spPr>
          <a:xfrm>
            <a:off x="356616" y="2551176"/>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0x9004</a:t>
            </a:r>
            <a:endParaRPr lang="en-US" sz="800" dirty="0"/>
          </a:p>
        </p:txBody>
      </p:sp>
      <p:sp>
        <p:nvSpPr>
          <p:cNvPr id="25" name="Text 23"/>
          <p:cNvSpPr/>
          <p:nvPr/>
        </p:nvSpPr>
        <p:spPr>
          <a:xfrm>
            <a:off x="1298448" y="2551176"/>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DateTimeDigitised</a:t>
            </a:r>
            <a:endParaRPr lang="en-US" sz="850" dirty="0"/>
          </a:p>
        </p:txBody>
      </p:sp>
      <p:sp>
        <p:nvSpPr>
          <p:cNvPr id="26" name="Text 24"/>
          <p:cNvSpPr/>
          <p:nvPr/>
        </p:nvSpPr>
        <p:spPr>
          <a:xfrm>
            <a:off x="3712464" y="2551176"/>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2024:03:14 09:26:53</a:t>
            </a:r>
            <a:endParaRPr lang="en-US" sz="800" dirty="0"/>
          </a:p>
        </p:txBody>
      </p:sp>
      <p:sp>
        <p:nvSpPr>
          <p:cNvPr id="27" name="Text 25"/>
          <p:cNvSpPr/>
          <p:nvPr/>
        </p:nvSpPr>
        <p:spPr>
          <a:xfrm>
            <a:off x="6492240" y="2551176"/>
            <a:ext cx="2340864" cy="269748"/>
          </a:xfrm>
          <a:prstGeom prst="rect">
            <a:avLst/>
          </a:prstGeom>
          <a:noFill/>
          <a:ln/>
        </p:spPr>
        <p:txBody>
          <a:bodyPr wrap="square" lIns="0" tIns="0" rIns="0" bIns="0" rtlCol="0" anchor="ctr"/>
          <a:lstStyle/>
          <a:p>
            <a:pPr marL="0" indent="0">
              <a:buNone/>
            </a:pPr>
            <a:r>
              <a:rPr lang="en-US" sz="820" dirty="0">
                <a:solidFill>
                  <a:srgbClr val="1A1A2E"/>
                </a:solidFill>
              </a:rPr>
              <a:t>When digitally captured</a:t>
            </a:r>
            <a:endParaRPr lang="en-US" sz="820" dirty="0"/>
          </a:p>
        </p:txBody>
      </p:sp>
      <p:sp>
        <p:nvSpPr>
          <p:cNvPr id="28" name="Shape 26"/>
          <p:cNvSpPr/>
          <p:nvPr/>
        </p:nvSpPr>
        <p:spPr>
          <a:xfrm>
            <a:off x="320040" y="2830068"/>
            <a:ext cx="8503920" cy="269748"/>
          </a:xfrm>
          <a:prstGeom prst="rect">
            <a:avLst/>
          </a:prstGeom>
          <a:solidFill>
            <a:srgbClr val="FFFFFF"/>
          </a:solidFill>
          <a:ln w="12700">
            <a:solidFill>
              <a:srgbClr val="FFFFFF"/>
            </a:solidFill>
            <a:prstDash val="solid"/>
          </a:ln>
        </p:spPr>
        <p:txBody>
          <a:bodyPr/>
          <a:lstStyle/>
          <a:p>
            <a:endParaRPr lang="en-SG"/>
          </a:p>
        </p:txBody>
      </p:sp>
      <p:sp>
        <p:nvSpPr>
          <p:cNvPr id="29" name="Text 27"/>
          <p:cNvSpPr/>
          <p:nvPr/>
        </p:nvSpPr>
        <p:spPr>
          <a:xfrm>
            <a:off x="356616" y="2830068"/>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0x013B</a:t>
            </a:r>
            <a:endParaRPr lang="en-US" sz="800" dirty="0"/>
          </a:p>
        </p:txBody>
      </p:sp>
      <p:sp>
        <p:nvSpPr>
          <p:cNvPr id="30" name="Text 28"/>
          <p:cNvSpPr/>
          <p:nvPr/>
        </p:nvSpPr>
        <p:spPr>
          <a:xfrm>
            <a:off x="1298448" y="2830068"/>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Artist</a:t>
            </a:r>
            <a:endParaRPr lang="en-US" sz="850" dirty="0"/>
          </a:p>
        </p:txBody>
      </p:sp>
      <p:sp>
        <p:nvSpPr>
          <p:cNvPr id="31" name="Text 29"/>
          <p:cNvSpPr/>
          <p:nvPr/>
        </p:nvSpPr>
        <p:spPr>
          <a:xfrm>
            <a:off x="3712464" y="2830068"/>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John Smith</a:t>
            </a:r>
            <a:endParaRPr lang="en-US" sz="800" dirty="0"/>
          </a:p>
        </p:txBody>
      </p:sp>
      <p:sp>
        <p:nvSpPr>
          <p:cNvPr id="32" name="Text 30"/>
          <p:cNvSpPr/>
          <p:nvPr/>
        </p:nvSpPr>
        <p:spPr>
          <a:xfrm>
            <a:off x="6492240" y="2830068"/>
            <a:ext cx="2340864" cy="269748"/>
          </a:xfrm>
          <a:prstGeom prst="rect">
            <a:avLst/>
          </a:prstGeom>
          <a:noFill/>
          <a:ln/>
        </p:spPr>
        <p:txBody>
          <a:bodyPr wrap="square" lIns="0" tIns="0" rIns="0" bIns="0" rtlCol="0" anchor="ctr"/>
          <a:lstStyle/>
          <a:p>
            <a:pPr marL="0" indent="0">
              <a:buNone/>
            </a:pPr>
            <a:r>
              <a:rPr lang="en-US" sz="820" dirty="0">
                <a:solidFill>
                  <a:srgbClr val="1A1A2E"/>
                </a:solidFill>
              </a:rPr>
              <a:t>Owner / copyright info</a:t>
            </a:r>
            <a:endParaRPr lang="en-US" sz="820" dirty="0"/>
          </a:p>
        </p:txBody>
      </p:sp>
      <p:sp>
        <p:nvSpPr>
          <p:cNvPr id="33" name="Shape 31"/>
          <p:cNvSpPr/>
          <p:nvPr/>
        </p:nvSpPr>
        <p:spPr>
          <a:xfrm>
            <a:off x="320040" y="3108960"/>
            <a:ext cx="8503920" cy="269748"/>
          </a:xfrm>
          <a:prstGeom prst="rect">
            <a:avLst/>
          </a:prstGeom>
          <a:solidFill>
            <a:srgbClr val="EEF6FB"/>
          </a:solidFill>
          <a:ln w="12700">
            <a:solidFill>
              <a:srgbClr val="EEF6FB"/>
            </a:solidFill>
            <a:prstDash val="solid"/>
          </a:ln>
        </p:spPr>
        <p:txBody>
          <a:bodyPr/>
          <a:lstStyle/>
          <a:p>
            <a:endParaRPr lang="en-SG"/>
          </a:p>
        </p:txBody>
      </p:sp>
      <p:sp>
        <p:nvSpPr>
          <p:cNvPr id="34" name="Text 32"/>
          <p:cNvSpPr/>
          <p:nvPr/>
        </p:nvSpPr>
        <p:spPr>
          <a:xfrm>
            <a:off x="356616" y="3108960"/>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0x0110</a:t>
            </a:r>
            <a:endParaRPr lang="en-US" sz="800" dirty="0"/>
          </a:p>
        </p:txBody>
      </p:sp>
      <p:sp>
        <p:nvSpPr>
          <p:cNvPr id="35" name="Text 33"/>
          <p:cNvSpPr/>
          <p:nvPr/>
        </p:nvSpPr>
        <p:spPr>
          <a:xfrm>
            <a:off x="1298448" y="3108960"/>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Model</a:t>
            </a:r>
            <a:endParaRPr lang="en-US" sz="850" dirty="0"/>
          </a:p>
        </p:txBody>
      </p:sp>
      <p:sp>
        <p:nvSpPr>
          <p:cNvPr id="36" name="Text 34"/>
          <p:cNvSpPr/>
          <p:nvPr/>
        </p:nvSpPr>
        <p:spPr>
          <a:xfrm>
            <a:off x="3712464" y="3108960"/>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iPhone 15 Pro</a:t>
            </a:r>
            <a:endParaRPr lang="en-US" sz="800" dirty="0"/>
          </a:p>
        </p:txBody>
      </p:sp>
      <p:sp>
        <p:nvSpPr>
          <p:cNvPr id="37" name="Text 35"/>
          <p:cNvSpPr/>
          <p:nvPr/>
        </p:nvSpPr>
        <p:spPr>
          <a:xfrm>
            <a:off x="6492240" y="3108960"/>
            <a:ext cx="2340864" cy="269748"/>
          </a:xfrm>
          <a:prstGeom prst="rect">
            <a:avLst/>
          </a:prstGeom>
          <a:noFill/>
          <a:ln/>
        </p:spPr>
        <p:txBody>
          <a:bodyPr wrap="square" lIns="0" tIns="0" rIns="0" bIns="0" rtlCol="0" anchor="ctr"/>
          <a:lstStyle/>
          <a:p>
            <a:pPr marL="0" indent="0">
              <a:buNone/>
            </a:pPr>
            <a:r>
              <a:rPr lang="en-US" sz="820" dirty="0">
                <a:solidFill>
                  <a:srgbClr val="1A1A2E"/>
                </a:solidFill>
              </a:rPr>
              <a:t>Device identification</a:t>
            </a:r>
            <a:endParaRPr lang="en-US" sz="820" dirty="0"/>
          </a:p>
        </p:txBody>
      </p:sp>
      <p:sp>
        <p:nvSpPr>
          <p:cNvPr id="38" name="Shape 36"/>
          <p:cNvSpPr/>
          <p:nvPr/>
        </p:nvSpPr>
        <p:spPr>
          <a:xfrm>
            <a:off x="320040" y="3387852"/>
            <a:ext cx="8503920" cy="269748"/>
          </a:xfrm>
          <a:prstGeom prst="rect">
            <a:avLst/>
          </a:prstGeom>
          <a:solidFill>
            <a:srgbClr val="FFFFFF"/>
          </a:solidFill>
          <a:ln w="12700">
            <a:solidFill>
              <a:srgbClr val="FFFFFF"/>
            </a:solidFill>
            <a:prstDash val="solid"/>
          </a:ln>
        </p:spPr>
        <p:txBody>
          <a:bodyPr/>
          <a:lstStyle/>
          <a:p>
            <a:endParaRPr lang="en-SG"/>
          </a:p>
        </p:txBody>
      </p:sp>
      <p:sp>
        <p:nvSpPr>
          <p:cNvPr id="39" name="Text 37"/>
          <p:cNvSpPr/>
          <p:nvPr/>
        </p:nvSpPr>
        <p:spPr>
          <a:xfrm>
            <a:off x="356616" y="3387852"/>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0x0131</a:t>
            </a:r>
            <a:endParaRPr lang="en-US" sz="800" dirty="0"/>
          </a:p>
        </p:txBody>
      </p:sp>
      <p:sp>
        <p:nvSpPr>
          <p:cNvPr id="40" name="Text 38"/>
          <p:cNvSpPr/>
          <p:nvPr/>
        </p:nvSpPr>
        <p:spPr>
          <a:xfrm>
            <a:off x="1298448" y="3387852"/>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Software</a:t>
            </a:r>
            <a:endParaRPr lang="en-US" sz="850" dirty="0"/>
          </a:p>
        </p:txBody>
      </p:sp>
      <p:sp>
        <p:nvSpPr>
          <p:cNvPr id="41" name="Text 39"/>
          <p:cNvSpPr/>
          <p:nvPr/>
        </p:nvSpPr>
        <p:spPr>
          <a:xfrm>
            <a:off x="3712464" y="3387852"/>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Adobe Photoshop 25.0</a:t>
            </a:r>
            <a:endParaRPr lang="en-US" sz="800" dirty="0"/>
          </a:p>
        </p:txBody>
      </p:sp>
      <p:sp>
        <p:nvSpPr>
          <p:cNvPr id="42" name="Text 40"/>
          <p:cNvSpPr/>
          <p:nvPr/>
        </p:nvSpPr>
        <p:spPr>
          <a:xfrm>
            <a:off x="6492240" y="3387852"/>
            <a:ext cx="2340864" cy="269748"/>
          </a:xfrm>
          <a:prstGeom prst="rect">
            <a:avLst/>
          </a:prstGeom>
          <a:noFill/>
          <a:ln/>
        </p:spPr>
        <p:txBody>
          <a:bodyPr wrap="square" lIns="0" tIns="0" rIns="0" bIns="0" rtlCol="0" anchor="ctr"/>
          <a:lstStyle/>
          <a:p>
            <a:pPr marL="0" indent="0">
              <a:buNone/>
            </a:pPr>
            <a:r>
              <a:rPr lang="en-US" sz="820" dirty="0">
                <a:solidFill>
                  <a:srgbClr val="F1C40F"/>
                </a:solidFill>
              </a:rPr>
              <a:t>⭐ Editing software detected</a:t>
            </a:r>
            <a:endParaRPr lang="en-US" sz="820" dirty="0"/>
          </a:p>
        </p:txBody>
      </p:sp>
      <p:sp>
        <p:nvSpPr>
          <p:cNvPr id="43" name="Shape 41"/>
          <p:cNvSpPr/>
          <p:nvPr/>
        </p:nvSpPr>
        <p:spPr>
          <a:xfrm>
            <a:off x="320040" y="3666744"/>
            <a:ext cx="8503920" cy="269748"/>
          </a:xfrm>
          <a:prstGeom prst="rect">
            <a:avLst/>
          </a:prstGeom>
          <a:solidFill>
            <a:srgbClr val="EEF6FB"/>
          </a:solidFill>
          <a:ln w="12700">
            <a:solidFill>
              <a:srgbClr val="EEF6FB"/>
            </a:solidFill>
            <a:prstDash val="solid"/>
          </a:ln>
        </p:spPr>
        <p:txBody>
          <a:bodyPr/>
          <a:lstStyle/>
          <a:p>
            <a:endParaRPr lang="en-SG"/>
          </a:p>
        </p:txBody>
      </p:sp>
      <p:sp>
        <p:nvSpPr>
          <p:cNvPr id="44" name="Text 42"/>
          <p:cNvSpPr/>
          <p:nvPr/>
        </p:nvSpPr>
        <p:spPr>
          <a:xfrm>
            <a:off x="356616" y="3666744"/>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0x8825</a:t>
            </a:r>
            <a:endParaRPr lang="en-US" sz="800" dirty="0"/>
          </a:p>
        </p:txBody>
      </p:sp>
      <p:sp>
        <p:nvSpPr>
          <p:cNvPr id="45" name="Text 43"/>
          <p:cNvSpPr/>
          <p:nvPr/>
        </p:nvSpPr>
        <p:spPr>
          <a:xfrm>
            <a:off x="1298448" y="3666744"/>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GPSInfo</a:t>
            </a:r>
            <a:endParaRPr lang="en-US" sz="850" dirty="0"/>
          </a:p>
        </p:txBody>
      </p:sp>
      <p:sp>
        <p:nvSpPr>
          <p:cNvPr id="46" name="Text 44"/>
          <p:cNvSpPr/>
          <p:nvPr/>
        </p:nvSpPr>
        <p:spPr>
          <a:xfrm>
            <a:off x="3712464" y="3666744"/>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1.3419° N, 103.8198° E</a:t>
            </a:r>
            <a:endParaRPr lang="en-US" sz="800" dirty="0"/>
          </a:p>
        </p:txBody>
      </p:sp>
      <p:sp>
        <p:nvSpPr>
          <p:cNvPr id="47" name="Text 45"/>
          <p:cNvSpPr/>
          <p:nvPr/>
        </p:nvSpPr>
        <p:spPr>
          <a:xfrm>
            <a:off x="6492240" y="3666744"/>
            <a:ext cx="2340864" cy="269748"/>
          </a:xfrm>
          <a:prstGeom prst="rect">
            <a:avLst/>
          </a:prstGeom>
          <a:noFill/>
          <a:ln/>
        </p:spPr>
        <p:txBody>
          <a:bodyPr wrap="square" lIns="0" tIns="0" rIns="0" bIns="0" rtlCol="0" anchor="ctr"/>
          <a:lstStyle/>
          <a:p>
            <a:pPr marL="0" indent="0">
              <a:buNone/>
            </a:pPr>
            <a:r>
              <a:rPr lang="en-US" sz="820" dirty="0">
                <a:solidFill>
                  <a:srgbClr val="F1C40F"/>
                </a:solidFill>
              </a:rPr>
              <a:t>⭐ Location of capture</a:t>
            </a:r>
            <a:endParaRPr lang="en-US" sz="820" dirty="0"/>
          </a:p>
        </p:txBody>
      </p:sp>
      <p:sp>
        <p:nvSpPr>
          <p:cNvPr id="48" name="Shape 46"/>
          <p:cNvSpPr/>
          <p:nvPr/>
        </p:nvSpPr>
        <p:spPr>
          <a:xfrm>
            <a:off x="320040" y="3945636"/>
            <a:ext cx="8503920" cy="269748"/>
          </a:xfrm>
          <a:prstGeom prst="rect">
            <a:avLst/>
          </a:prstGeom>
          <a:solidFill>
            <a:srgbClr val="FFFFFF"/>
          </a:solidFill>
          <a:ln w="12700">
            <a:solidFill>
              <a:srgbClr val="FFFFFF"/>
            </a:solidFill>
            <a:prstDash val="solid"/>
          </a:ln>
        </p:spPr>
        <p:txBody>
          <a:bodyPr/>
          <a:lstStyle/>
          <a:p>
            <a:endParaRPr lang="en-SG"/>
          </a:p>
        </p:txBody>
      </p:sp>
      <p:sp>
        <p:nvSpPr>
          <p:cNvPr id="49" name="Text 47"/>
          <p:cNvSpPr/>
          <p:nvPr/>
        </p:nvSpPr>
        <p:spPr>
          <a:xfrm>
            <a:off x="356616" y="3945636"/>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0xA420</a:t>
            </a:r>
            <a:endParaRPr lang="en-US" sz="800" dirty="0"/>
          </a:p>
        </p:txBody>
      </p:sp>
      <p:sp>
        <p:nvSpPr>
          <p:cNvPr id="50" name="Text 48"/>
          <p:cNvSpPr/>
          <p:nvPr/>
        </p:nvSpPr>
        <p:spPr>
          <a:xfrm>
            <a:off x="1298448" y="3945636"/>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ImageUniqueID</a:t>
            </a:r>
            <a:endParaRPr lang="en-US" sz="850" dirty="0"/>
          </a:p>
        </p:txBody>
      </p:sp>
      <p:sp>
        <p:nvSpPr>
          <p:cNvPr id="51" name="Text 49"/>
          <p:cNvSpPr/>
          <p:nvPr/>
        </p:nvSpPr>
        <p:spPr>
          <a:xfrm>
            <a:off x="3712464" y="3945636"/>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abc123def456…</a:t>
            </a:r>
            <a:endParaRPr lang="en-US" sz="800" dirty="0"/>
          </a:p>
        </p:txBody>
      </p:sp>
      <p:sp>
        <p:nvSpPr>
          <p:cNvPr id="52" name="Text 50"/>
          <p:cNvSpPr/>
          <p:nvPr/>
        </p:nvSpPr>
        <p:spPr>
          <a:xfrm>
            <a:off x="6492240" y="3945636"/>
            <a:ext cx="2340864" cy="269748"/>
          </a:xfrm>
          <a:prstGeom prst="rect">
            <a:avLst/>
          </a:prstGeom>
          <a:noFill/>
          <a:ln/>
        </p:spPr>
        <p:txBody>
          <a:bodyPr wrap="square" lIns="0" tIns="0" rIns="0" bIns="0" rtlCol="0" anchor="ctr"/>
          <a:lstStyle/>
          <a:p>
            <a:pPr marL="0" indent="0">
              <a:buNone/>
            </a:pPr>
            <a:r>
              <a:rPr lang="en-US" sz="820" dirty="0">
                <a:solidFill>
                  <a:srgbClr val="1A1A2E"/>
                </a:solidFill>
              </a:rPr>
              <a:t>Unique image fingerprint</a:t>
            </a:r>
            <a:endParaRPr lang="en-US" sz="820" dirty="0"/>
          </a:p>
        </p:txBody>
      </p:sp>
      <p:sp>
        <p:nvSpPr>
          <p:cNvPr id="53" name="Shape 51"/>
          <p:cNvSpPr/>
          <p:nvPr/>
        </p:nvSpPr>
        <p:spPr>
          <a:xfrm>
            <a:off x="320040" y="4224528"/>
            <a:ext cx="8503920" cy="269748"/>
          </a:xfrm>
          <a:prstGeom prst="rect">
            <a:avLst/>
          </a:prstGeom>
          <a:solidFill>
            <a:srgbClr val="EEF6FB"/>
          </a:solidFill>
          <a:ln w="12700">
            <a:solidFill>
              <a:srgbClr val="EEF6FB"/>
            </a:solidFill>
            <a:prstDash val="solid"/>
          </a:ln>
        </p:spPr>
        <p:txBody>
          <a:bodyPr/>
          <a:lstStyle/>
          <a:p>
            <a:endParaRPr lang="en-SG"/>
          </a:p>
        </p:txBody>
      </p:sp>
      <p:sp>
        <p:nvSpPr>
          <p:cNvPr id="54" name="Text 52"/>
          <p:cNvSpPr/>
          <p:nvPr/>
        </p:nvSpPr>
        <p:spPr>
          <a:xfrm>
            <a:off x="356616" y="4224528"/>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0xA002</a:t>
            </a:r>
            <a:endParaRPr lang="en-US" sz="800" dirty="0"/>
          </a:p>
        </p:txBody>
      </p:sp>
      <p:sp>
        <p:nvSpPr>
          <p:cNvPr id="55" name="Text 53"/>
          <p:cNvSpPr/>
          <p:nvPr/>
        </p:nvSpPr>
        <p:spPr>
          <a:xfrm>
            <a:off x="1298448" y="4224528"/>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PixelXDimension</a:t>
            </a:r>
            <a:endParaRPr lang="en-US" sz="850" dirty="0"/>
          </a:p>
        </p:txBody>
      </p:sp>
      <p:sp>
        <p:nvSpPr>
          <p:cNvPr id="56" name="Text 54"/>
          <p:cNvSpPr/>
          <p:nvPr/>
        </p:nvSpPr>
        <p:spPr>
          <a:xfrm>
            <a:off x="3712464" y="4224528"/>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4032</a:t>
            </a:r>
            <a:endParaRPr lang="en-US" sz="800" dirty="0"/>
          </a:p>
        </p:txBody>
      </p:sp>
      <p:sp>
        <p:nvSpPr>
          <p:cNvPr id="57" name="Text 55"/>
          <p:cNvSpPr/>
          <p:nvPr/>
        </p:nvSpPr>
        <p:spPr>
          <a:xfrm>
            <a:off x="6492240" y="4224528"/>
            <a:ext cx="2340864" cy="269748"/>
          </a:xfrm>
          <a:prstGeom prst="rect">
            <a:avLst/>
          </a:prstGeom>
          <a:noFill/>
          <a:ln/>
        </p:spPr>
        <p:txBody>
          <a:bodyPr wrap="square" lIns="0" tIns="0" rIns="0" bIns="0" rtlCol="0" anchor="ctr"/>
          <a:lstStyle/>
          <a:p>
            <a:pPr marL="0" indent="0">
              <a:buNone/>
            </a:pPr>
            <a:r>
              <a:rPr lang="en-US" sz="820" dirty="0">
                <a:solidFill>
                  <a:srgbClr val="1A1A2E"/>
                </a:solidFill>
              </a:rPr>
              <a:t>Original image width</a:t>
            </a:r>
            <a:endParaRPr lang="en-US" sz="820" dirty="0"/>
          </a:p>
        </p:txBody>
      </p:sp>
      <p:sp>
        <p:nvSpPr>
          <p:cNvPr id="58" name="Shape 56"/>
          <p:cNvSpPr/>
          <p:nvPr/>
        </p:nvSpPr>
        <p:spPr>
          <a:xfrm>
            <a:off x="320040" y="4503420"/>
            <a:ext cx="8503920" cy="269748"/>
          </a:xfrm>
          <a:prstGeom prst="rect">
            <a:avLst/>
          </a:prstGeom>
          <a:solidFill>
            <a:srgbClr val="FFFFFF"/>
          </a:solidFill>
          <a:ln w="12700">
            <a:solidFill>
              <a:srgbClr val="FFFFFF"/>
            </a:solidFill>
            <a:prstDash val="solid"/>
          </a:ln>
        </p:spPr>
        <p:txBody>
          <a:bodyPr/>
          <a:lstStyle/>
          <a:p>
            <a:endParaRPr lang="en-SG"/>
          </a:p>
        </p:txBody>
      </p:sp>
      <p:sp>
        <p:nvSpPr>
          <p:cNvPr id="59" name="Text 57"/>
          <p:cNvSpPr/>
          <p:nvPr/>
        </p:nvSpPr>
        <p:spPr>
          <a:xfrm>
            <a:off x="356616" y="4503420"/>
            <a:ext cx="914400" cy="269748"/>
          </a:xfrm>
          <a:prstGeom prst="rect">
            <a:avLst/>
          </a:prstGeom>
          <a:noFill/>
          <a:ln/>
        </p:spPr>
        <p:txBody>
          <a:bodyPr wrap="square" lIns="0" tIns="0" rIns="0" bIns="0" rtlCol="0" anchor="ctr"/>
          <a:lstStyle/>
          <a:p>
            <a:pPr marL="0" indent="0">
              <a:buNone/>
            </a:pPr>
            <a:r>
              <a:rPr lang="en-US" sz="800" dirty="0">
                <a:solidFill>
                  <a:srgbClr val="F4A261"/>
                </a:solidFill>
                <a:latin typeface="Consolas" pitchFamily="34" charset="0"/>
                <a:ea typeface="Consolas" pitchFamily="34" charset="-122"/>
                <a:cs typeface="Consolas" pitchFamily="34" charset="-120"/>
              </a:rPr>
              <a:t>0x9201</a:t>
            </a:r>
            <a:endParaRPr lang="en-US" sz="800" dirty="0"/>
          </a:p>
        </p:txBody>
      </p:sp>
      <p:sp>
        <p:nvSpPr>
          <p:cNvPr id="60" name="Text 58"/>
          <p:cNvSpPr/>
          <p:nvPr/>
        </p:nvSpPr>
        <p:spPr>
          <a:xfrm>
            <a:off x="1298448" y="4503420"/>
            <a:ext cx="2377440" cy="26974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ShutterSpeedValue</a:t>
            </a:r>
            <a:endParaRPr lang="en-US" sz="850" dirty="0"/>
          </a:p>
        </p:txBody>
      </p:sp>
      <p:sp>
        <p:nvSpPr>
          <p:cNvPr id="61" name="Text 59"/>
          <p:cNvSpPr/>
          <p:nvPr/>
        </p:nvSpPr>
        <p:spPr>
          <a:xfrm>
            <a:off x="3712464" y="4503420"/>
            <a:ext cx="2743200" cy="269748"/>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1/250 sec</a:t>
            </a:r>
            <a:endParaRPr lang="en-US" sz="800" dirty="0"/>
          </a:p>
        </p:txBody>
      </p:sp>
      <p:sp>
        <p:nvSpPr>
          <p:cNvPr id="62" name="Text 60"/>
          <p:cNvSpPr/>
          <p:nvPr/>
        </p:nvSpPr>
        <p:spPr>
          <a:xfrm>
            <a:off x="6492240" y="4503420"/>
            <a:ext cx="2340864" cy="269748"/>
          </a:xfrm>
          <a:prstGeom prst="rect">
            <a:avLst/>
          </a:prstGeom>
          <a:noFill/>
          <a:ln/>
        </p:spPr>
        <p:txBody>
          <a:bodyPr wrap="square" lIns="0" tIns="0" rIns="0" bIns="0" rtlCol="0" anchor="ctr"/>
          <a:lstStyle/>
          <a:p>
            <a:pPr marL="0" indent="0">
              <a:buNone/>
            </a:pPr>
            <a:r>
              <a:rPr lang="en-US" sz="820" dirty="0">
                <a:solidFill>
                  <a:srgbClr val="1A1A2E"/>
                </a:solidFill>
              </a:rPr>
              <a:t>Technical capture data</a:t>
            </a:r>
            <a:endParaRPr lang="en-US" sz="820" dirty="0"/>
          </a:p>
        </p:txBody>
      </p:sp>
      <p:sp>
        <p:nvSpPr>
          <p:cNvPr id="63" name="Text 61"/>
          <p:cNvSpPr/>
          <p:nvPr/>
        </p:nvSpPr>
        <p:spPr>
          <a:xfrm>
            <a:off x="320040" y="4809744"/>
            <a:ext cx="8503920" cy="91440"/>
          </a:xfrm>
          <a:prstGeom prst="rect">
            <a:avLst/>
          </a:prstGeom>
          <a:noFill/>
          <a:ln/>
        </p:spPr>
        <p:txBody>
          <a:bodyPr wrap="square" lIns="0" tIns="0" rIns="0" bIns="0" rtlCol="0" anchor="ctr"/>
          <a:lstStyle/>
          <a:p>
            <a:pPr marL="0" indent="0">
              <a:buNone/>
            </a:pPr>
            <a:r>
              <a:rPr lang="en-US" sz="750" i="1" dirty="0">
                <a:solidFill>
                  <a:srgbClr val="8899AA"/>
                </a:solidFill>
              </a:rPr>
              <a:t>Tool: exiftool -all image.jpg   ·   ExifTool tag reference: https://exiftool.org/TagNames/EXIF.html</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2ECC71"/>
          </a:solidFill>
          <a:ln w="12700">
            <a:solidFill>
              <a:srgbClr val="2ECC71"/>
            </a:solidFill>
            <a:prstDash val="solid"/>
          </a:ln>
        </p:spPr>
        <p:txBody>
          <a:bodyPr/>
          <a:lstStyle/>
          <a:p>
            <a:endParaRPr lang="en-SG"/>
          </a:p>
        </p:txBody>
      </p:sp>
      <p:sp>
        <p:nvSpPr>
          <p:cNvPr id="3" name="Text 1"/>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2ECC71"/>
                </a:solidFill>
              </a:rPr>
              <a:t>SECTION 3</a:t>
            </a:r>
            <a:endParaRPr lang="en-US" sz="1300" dirty="0"/>
          </a:p>
        </p:txBody>
      </p:sp>
      <p:sp>
        <p:nvSpPr>
          <p:cNvPr id="4" name="Text 2"/>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4800" b="1" dirty="0">
                <a:solidFill>
                  <a:srgbClr val="1A1A2E"/>
                </a:solidFill>
              </a:rPr>
              <a:t>Data Compression</a:t>
            </a:r>
            <a:endParaRPr lang="en-US" sz="4800" dirty="0"/>
          </a:p>
        </p:txBody>
      </p:sp>
      <p:sp>
        <p:nvSpPr>
          <p:cNvPr id="5" name="Text 3"/>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rPr>
              <a:t>Lossy vs Lossless — how image data is reduced and what forensic investigators must consider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07438"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815998" cy="256032"/>
          </a:xfrm>
          <a:prstGeom prst="rect">
            <a:avLst/>
          </a:prstGeom>
          <a:noFill/>
          <a:ln/>
        </p:spPr>
        <p:txBody>
          <a:bodyPr wrap="square" lIns="0" tIns="0" rIns="0" bIns="0" rtlCol="0" anchor="ctr"/>
          <a:lstStyle/>
          <a:p>
            <a:pPr marL="0" indent="0">
              <a:buNone/>
            </a:pPr>
            <a:r>
              <a:rPr lang="en-US" sz="850" b="1" dirty="0">
                <a:solidFill>
                  <a:srgbClr val="0D1B2A"/>
                </a:solidFill>
              </a:rPr>
              <a:t>SECTION 3 · COMPRESSION</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Lossy vs Lossless — A Visual Comparison</a:t>
            </a:r>
            <a:endParaRPr lang="en-US" sz="2800" dirty="0"/>
          </a:p>
        </p:txBody>
      </p:sp>
      <p:sp>
        <p:nvSpPr>
          <p:cNvPr id="5" name="Shape 3"/>
          <p:cNvSpPr/>
          <p:nvPr/>
        </p:nvSpPr>
        <p:spPr>
          <a:xfrm>
            <a:off x="228600" y="1234440"/>
            <a:ext cx="4206240" cy="2944368"/>
          </a:xfrm>
          <a:prstGeom prst="rect">
            <a:avLst/>
          </a:prstGeom>
          <a:solidFill>
            <a:srgbClr val="EEF6FB"/>
          </a:solidFill>
          <a:ln w="12700">
            <a:solidFill>
              <a:srgbClr val="E74C3C"/>
            </a:solidFill>
            <a:prstDash val="solid"/>
          </a:ln>
        </p:spPr>
        <p:txBody>
          <a:bodyPr/>
          <a:lstStyle/>
          <a:p>
            <a:endParaRPr lang="en-SG"/>
          </a:p>
        </p:txBody>
      </p:sp>
      <p:sp>
        <p:nvSpPr>
          <p:cNvPr id="6" name="Shape 4"/>
          <p:cNvSpPr/>
          <p:nvPr/>
        </p:nvSpPr>
        <p:spPr>
          <a:xfrm>
            <a:off x="228600" y="1234440"/>
            <a:ext cx="4206240" cy="292608"/>
          </a:xfrm>
          <a:prstGeom prst="rect">
            <a:avLst/>
          </a:prstGeom>
          <a:solidFill>
            <a:srgbClr val="E74C3C"/>
          </a:solidFill>
          <a:ln w="12700">
            <a:solidFill>
              <a:srgbClr val="E74C3C"/>
            </a:solidFill>
            <a:prstDash val="solid"/>
          </a:ln>
        </p:spPr>
        <p:txBody>
          <a:bodyPr/>
          <a:lstStyle/>
          <a:p>
            <a:endParaRPr lang="en-SG"/>
          </a:p>
        </p:txBody>
      </p:sp>
      <p:sp>
        <p:nvSpPr>
          <p:cNvPr id="7" name="Text 5"/>
          <p:cNvSpPr/>
          <p:nvPr/>
        </p:nvSpPr>
        <p:spPr>
          <a:xfrm>
            <a:off x="320040" y="1234440"/>
            <a:ext cx="4023360" cy="292608"/>
          </a:xfrm>
          <a:prstGeom prst="rect">
            <a:avLst/>
          </a:prstGeom>
          <a:noFill/>
          <a:ln/>
        </p:spPr>
        <p:txBody>
          <a:bodyPr wrap="square" lIns="0" tIns="0" rIns="0" bIns="0" rtlCol="0" anchor="ctr"/>
          <a:lstStyle/>
          <a:p>
            <a:pPr marL="0" indent="0">
              <a:buNone/>
            </a:pPr>
            <a:r>
              <a:rPr lang="en-US" sz="1200" b="1" dirty="0">
                <a:solidFill>
                  <a:srgbClr val="1A1A2E"/>
                </a:solidFill>
              </a:rPr>
              <a:t>🔴  LOSSY  (e.g. JPEG)</a:t>
            </a:r>
            <a:endParaRPr lang="en-US" sz="1200" dirty="0"/>
          </a:p>
        </p:txBody>
      </p:sp>
      <p:sp>
        <p:nvSpPr>
          <p:cNvPr id="8" name="Text 6"/>
          <p:cNvSpPr/>
          <p:nvPr/>
        </p:nvSpPr>
        <p:spPr>
          <a:xfrm>
            <a:off x="320040" y="1581912"/>
            <a:ext cx="1188720" cy="201168"/>
          </a:xfrm>
          <a:prstGeom prst="rect">
            <a:avLst/>
          </a:prstGeom>
          <a:noFill/>
          <a:ln/>
        </p:spPr>
        <p:txBody>
          <a:bodyPr wrap="square" lIns="0" tIns="0" rIns="0" bIns="0" rtlCol="0" anchor="ctr"/>
          <a:lstStyle/>
          <a:p>
            <a:pPr marL="0" indent="0">
              <a:buNone/>
            </a:pPr>
            <a:r>
              <a:rPr lang="en-US" sz="900" i="1" dirty="0">
                <a:solidFill>
                  <a:srgbClr val="8899AA"/>
                </a:solidFill>
              </a:rPr>
              <a:t>Original  →</a:t>
            </a:r>
            <a:endParaRPr lang="en-US" sz="900" dirty="0"/>
          </a:p>
        </p:txBody>
      </p:sp>
      <p:sp>
        <p:nvSpPr>
          <p:cNvPr id="9" name="Shape 7"/>
          <p:cNvSpPr/>
          <p:nvPr/>
        </p:nvSpPr>
        <p:spPr>
          <a:xfrm>
            <a:off x="320040" y="1792224"/>
            <a:ext cx="246888" cy="246888"/>
          </a:xfrm>
          <a:prstGeom prst="rect">
            <a:avLst/>
          </a:prstGeom>
          <a:solidFill>
            <a:srgbClr val="1E90FF"/>
          </a:solidFill>
          <a:ln w="12700">
            <a:solidFill>
              <a:srgbClr val="1E90FF"/>
            </a:solidFill>
            <a:prstDash val="solid"/>
          </a:ln>
        </p:spPr>
        <p:txBody>
          <a:bodyPr/>
          <a:lstStyle/>
          <a:p>
            <a:endParaRPr lang="en-SG"/>
          </a:p>
        </p:txBody>
      </p:sp>
      <p:sp>
        <p:nvSpPr>
          <p:cNvPr id="10" name="Shape 8"/>
          <p:cNvSpPr/>
          <p:nvPr/>
        </p:nvSpPr>
        <p:spPr>
          <a:xfrm>
            <a:off x="576072" y="1792224"/>
            <a:ext cx="246888" cy="246888"/>
          </a:xfrm>
          <a:prstGeom prst="rect">
            <a:avLst/>
          </a:prstGeom>
          <a:solidFill>
            <a:srgbClr val="2196F3"/>
          </a:solidFill>
          <a:ln w="12700">
            <a:solidFill>
              <a:srgbClr val="2196F3"/>
            </a:solidFill>
            <a:prstDash val="solid"/>
          </a:ln>
        </p:spPr>
        <p:txBody>
          <a:bodyPr/>
          <a:lstStyle/>
          <a:p>
            <a:endParaRPr lang="en-SG"/>
          </a:p>
        </p:txBody>
      </p:sp>
      <p:sp>
        <p:nvSpPr>
          <p:cNvPr id="11" name="Shape 9"/>
          <p:cNvSpPr/>
          <p:nvPr/>
        </p:nvSpPr>
        <p:spPr>
          <a:xfrm>
            <a:off x="832104" y="1792224"/>
            <a:ext cx="246888" cy="246888"/>
          </a:xfrm>
          <a:prstGeom prst="rect">
            <a:avLst/>
          </a:prstGeom>
          <a:solidFill>
            <a:srgbClr val="1565C0"/>
          </a:solidFill>
          <a:ln w="12700">
            <a:solidFill>
              <a:srgbClr val="1565C0"/>
            </a:solidFill>
            <a:prstDash val="solid"/>
          </a:ln>
        </p:spPr>
        <p:txBody>
          <a:bodyPr/>
          <a:lstStyle/>
          <a:p>
            <a:endParaRPr lang="en-SG"/>
          </a:p>
        </p:txBody>
      </p:sp>
      <p:sp>
        <p:nvSpPr>
          <p:cNvPr id="12" name="Shape 10"/>
          <p:cNvSpPr/>
          <p:nvPr/>
        </p:nvSpPr>
        <p:spPr>
          <a:xfrm>
            <a:off x="1088136" y="1792224"/>
            <a:ext cx="246888" cy="246888"/>
          </a:xfrm>
          <a:prstGeom prst="rect">
            <a:avLst/>
          </a:prstGeom>
          <a:solidFill>
            <a:srgbClr val="0D47A1"/>
          </a:solidFill>
          <a:ln w="12700">
            <a:solidFill>
              <a:srgbClr val="0D47A1"/>
            </a:solidFill>
            <a:prstDash val="solid"/>
          </a:ln>
        </p:spPr>
        <p:txBody>
          <a:bodyPr/>
          <a:lstStyle/>
          <a:p>
            <a:endParaRPr lang="en-SG"/>
          </a:p>
        </p:txBody>
      </p:sp>
      <p:sp>
        <p:nvSpPr>
          <p:cNvPr id="13" name="Shape 11"/>
          <p:cNvSpPr/>
          <p:nvPr/>
        </p:nvSpPr>
        <p:spPr>
          <a:xfrm>
            <a:off x="320040" y="2048256"/>
            <a:ext cx="246888" cy="246888"/>
          </a:xfrm>
          <a:prstGeom prst="rect">
            <a:avLst/>
          </a:prstGeom>
          <a:solidFill>
            <a:srgbClr val="42A5F5"/>
          </a:solidFill>
          <a:ln w="12700">
            <a:solidFill>
              <a:srgbClr val="42A5F5"/>
            </a:solidFill>
            <a:prstDash val="solid"/>
          </a:ln>
        </p:spPr>
        <p:txBody>
          <a:bodyPr/>
          <a:lstStyle/>
          <a:p>
            <a:endParaRPr lang="en-SG"/>
          </a:p>
        </p:txBody>
      </p:sp>
      <p:sp>
        <p:nvSpPr>
          <p:cNvPr id="14" name="Shape 12"/>
          <p:cNvSpPr/>
          <p:nvPr/>
        </p:nvSpPr>
        <p:spPr>
          <a:xfrm>
            <a:off x="576072" y="2048256"/>
            <a:ext cx="246888" cy="246888"/>
          </a:xfrm>
          <a:prstGeom prst="rect">
            <a:avLst/>
          </a:prstGeom>
          <a:solidFill>
            <a:srgbClr val="1E90FF"/>
          </a:solidFill>
          <a:ln w="12700">
            <a:solidFill>
              <a:srgbClr val="1E90FF"/>
            </a:solidFill>
            <a:prstDash val="solid"/>
          </a:ln>
        </p:spPr>
        <p:txBody>
          <a:bodyPr/>
          <a:lstStyle/>
          <a:p>
            <a:endParaRPr lang="en-SG"/>
          </a:p>
        </p:txBody>
      </p:sp>
      <p:sp>
        <p:nvSpPr>
          <p:cNvPr id="15" name="Shape 13"/>
          <p:cNvSpPr/>
          <p:nvPr/>
        </p:nvSpPr>
        <p:spPr>
          <a:xfrm>
            <a:off x="832104" y="2048256"/>
            <a:ext cx="246888" cy="246888"/>
          </a:xfrm>
          <a:prstGeom prst="rect">
            <a:avLst/>
          </a:prstGeom>
          <a:solidFill>
            <a:srgbClr val="1976D2"/>
          </a:solidFill>
          <a:ln w="12700">
            <a:solidFill>
              <a:srgbClr val="1976D2"/>
            </a:solidFill>
            <a:prstDash val="solid"/>
          </a:ln>
        </p:spPr>
        <p:txBody>
          <a:bodyPr/>
          <a:lstStyle/>
          <a:p>
            <a:endParaRPr lang="en-SG"/>
          </a:p>
        </p:txBody>
      </p:sp>
      <p:sp>
        <p:nvSpPr>
          <p:cNvPr id="16" name="Shape 14"/>
          <p:cNvSpPr/>
          <p:nvPr/>
        </p:nvSpPr>
        <p:spPr>
          <a:xfrm>
            <a:off x="1088136" y="2048256"/>
            <a:ext cx="246888" cy="246888"/>
          </a:xfrm>
          <a:prstGeom prst="rect">
            <a:avLst/>
          </a:prstGeom>
          <a:solidFill>
            <a:srgbClr val="1565C0"/>
          </a:solidFill>
          <a:ln w="12700">
            <a:solidFill>
              <a:srgbClr val="1565C0"/>
            </a:solidFill>
            <a:prstDash val="solid"/>
          </a:ln>
        </p:spPr>
        <p:txBody>
          <a:bodyPr/>
          <a:lstStyle/>
          <a:p>
            <a:endParaRPr lang="en-SG"/>
          </a:p>
        </p:txBody>
      </p:sp>
      <p:sp>
        <p:nvSpPr>
          <p:cNvPr id="17" name="Shape 15"/>
          <p:cNvSpPr/>
          <p:nvPr/>
        </p:nvSpPr>
        <p:spPr>
          <a:xfrm>
            <a:off x="320040" y="2304288"/>
            <a:ext cx="246888" cy="246888"/>
          </a:xfrm>
          <a:prstGeom prst="rect">
            <a:avLst/>
          </a:prstGeom>
          <a:solidFill>
            <a:srgbClr val="64B5F6"/>
          </a:solidFill>
          <a:ln w="12700">
            <a:solidFill>
              <a:srgbClr val="64B5F6"/>
            </a:solidFill>
            <a:prstDash val="solid"/>
          </a:ln>
        </p:spPr>
        <p:txBody>
          <a:bodyPr/>
          <a:lstStyle/>
          <a:p>
            <a:endParaRPr lang="en-SG"/>
          </a:p>
        </p:txBody>
      </p:sp>
      <p:sp>
        <p:nvSpPr>
          <p:cNvPr id="18" name="Shape 16"/>
          <p:cNvSpPr/>
          <p:nvPr/>
        </p:nvSpPr>
        <p:spPr>
          <a:xfrm>
            <a:off x="576072" y="2304288"/>
            <a:ext cx="246888" cy="246888"/>
          </a:xfrm>
          <a:prstGeom prst="rect">
            <a:avLst/>
          </a:prstGeom>
          <a:solidFill>
            <a:srgbClr val="42A5F5"/>
          </a:solidFill>
          <a:ln w="12700">
            <a:solidFill>
              <a:srgbClr val="42A5F5"/>
            </a:solidFill>
            <a:prstDash val="solid"/>
          </a:ln>
        </p:spPr>
        <p:txBody>
          <a:bodyPr/>
          <a:lstStyle/>
          <a:p>
            <a:endParaRPr lang="en-SG"/>
          </a:p>
        </p:txBody>
      </p:sp>
      <p:sp>
        <p:nvSpPr>
          <p:cNvPr id="19" name="Shape 17"/>
          <p:cNvSpPr/>
          <p:nvPr/>
        </p:nvSpPr>
        <p:spPr>
          <a:xfrm>
            <a:off x="832104" y="2304288"/>
            <a:ext cx="246888" cy="246888"/>
          </a:xfrm>
          <a:prstGeom prst="rect">
            <a:avLst/>
          </a:prstGeom>
          <a:solidFill>
            <a:srgbClr val="1E90FF"/>
          </a:solidFill>
          <a:ln w="12700">
            <a:solidFill>
              <a:srgbClr val="1E90FF"/>
            </a:solidFill>
            <a:prstDash val="solid"/>
          </a:ln>
        </p:spPr>
        <p:txBody>
          <a:bodyPr/>
          <a:lstStyle/>
          <a:p>
            <a:endParaRPr lang="en-SG"/>
          </a:p>
        </p:txBody>
      </p:sp>
      <p:sp>
        <p:nvSpPr>
          <p:cNvPr id="20" name="Shape 18"/>
          <p:cNvSpPr/>
          <p:nvPr/>
        </p:nvSpPr>
        <p:spPr>
          <a:xfrm>
            <a:off x="1088136" y="2304288"/>
            <a:ext cx="246888" cy="246888"/>
          </a:xfrm>
          <a:prstGeom prst="rect">
            <a:avLst/>
          </a:prstGeom>
          <a:solidFill>
            <a:srgbClr val="1976D2"/>
          </a:solidFill>
          <a:ln w="12700">
            <a:solidFill>
              <a:srgbClr val="1976D2"/>
            </a:solidFill>
            <a:prstDash val="solid"/>
          </a:ln>
        </p:spPr>
        <p:txBody>
          <a:bodyPr/>
          <a:lstStyle/>
          <a:p>
            <a:endParaRPr lang="en-SG"/>
          </a:p>
        </p:txBody>
      </p:sp>
      <p:sp>
        <p:nvSpPr>
          <p:cNvPr id="21" name="Shape 19"/>
          <p:cNvSpPr/>
          <p:nvPr/>
        </p:nvSpPr>
        <p:spPr>
          <a:xfrm>
            <a:off x="320040" y="2560320"/>
            <a:ext cx="246888" cy="246888"/>
          </a:xfrm>
          <a:prstGeom prst="rect">
            <a:avLst/>
          </a:prstGeom>
          <a:solidFill>
            <a:srgbClr val="90CAF9"/>
          </a:solidFill>
          <a:ln w="12700">
            <a:solidFill>
              <a:srgbClr val="90CAF9"/>
            </a:solidFill>
            <a:prstDash val="solid"/>
          </a:ln>
        </p:spPr>
        <p:txBody>
          <a:bodyPr/>
          <a:lstStyle/>
          <a:p>
            <a:endParaRPr lang="en-SG"/>
          </a:p>
        </p:txBody>
      </p:sp>
      <p:sp>
        <p:nvSpPr>
          <p:cNvPr id="22" name="Shape 20"/>
          <p:cNvSpPr/>
          <p:nvPr/>
        </p:nvSpPr>
        <p:spPr>
          <a:xfrm>
            <a:off x="576072" y="2560320"/>
            <a:ext cx="246888" cy="246888"/>
          </a:xfrm>
          <a:prstGeom prst="rect">
            <a:avLst/>
          </a:prstGeom>
          <a:solidFill>
            <a:srgbClr val="64B5F6"/>
          </a:solidFill>
          <a:ln w="12700">
            <a:solidFill>
              <a:srgbClr val="64B5F6"/>
            </a:solidFill>
            <a:prstDash val="solid"/>
          </a:ln>
        </p:spPr>
        <p:txBody>
          <a:bodyPr/>
          <a:lstStyle/>
          <a:p>
            <a:endParaRPr lang="en-SG"/>
          </a:p>
        </p:txBody>
      </p:sp>
      <p:sp>
        <p:nvSpPr>
          <p:cNvPr id="23" name="Shape 21"/>
          <p:cNvSpPr/>
          <p:nvPr/>
        </p:nvSpPr>
        <p:spPr>
          <a:xfrm>
            <a:off x="832104" y="2560320"/>
            <a:ext cx="246888" cy="246888"/>
          </a:xfrm>
          <a:prstGeom prst="rect">
            <a:avLst/>
          </a:prstGeom>
          <a:solidFill>
            <a:srgbClr val="42A5F5"/>
          </a:solidFill>
          <a:ln w="12700">
            <a:solidFill>
              <a:srgbClr val="42A5F5"/>
            </a:solidFill>
            <a:prstDash val="solid"/>
          </a:ln>
        </p:spPr>
        <p:txBody>
          <a:bodyPr/>
          <a:lstStyle/>
          <a:p>
            <a:endParaRPr lang="en-SG"/>
          </a:p>
        </p:txBody>
      </p:sp>
      <p:sp>
        <p:nvSpPr>
          <p:cNvPr id="24" name="Shape 22"/>
          <p:cNvSpPr/>
          <p:nvPr/>
        </p:nvSpPr>
        <p:spPr>
          <a:xfrm>
            <a:off x="1088136" y="2560320"/>
            <a:ext cx="246888" cy="246888"/>
          </a:xfrm>
          <a:prstGeom prst="rect">
            <a:avLst/>
          </a:prstGeom>
          <a:solidFill>
            <a:srgbClr val="1E90FF"/>
          </a:solidFill>
          <a:ln w="12700">
            <a:solidFill>
              <a:srgbClr val="1E90FF"/>
            </a:solidFill>
            <a:prstDash val="solid"/>
          </a:ln>
        </p:spPr>
        <p:txBody>
          <a:bodyPr/>
          <a:lstStyle/>
          <a:p>
            <a:endParaRPr lang="en-SG"/>
          </a:p>
        </p:txBody>
      </p:sp>
      <p:sp>
        <p:nvSpPr>
          <p:cNvPr id="25" name="Text 23"/>
          <p:cNvSpPr/>
          <p:nvPr/>
        </p:nvSpPr>
        <p:spPr>
          <a:xfrm>
            <a:off x="320040" y="2834640"/>
            <a:ext cx="1051560" cy="329184"/>
          </a:xfrm>
          <a:prstGeom prst="rect">
            <a:avLst/>
          </a:prstGeom>
          <a:noFill/>
          <a:ln/>
        </p:spPr>
        <p:txBody>
          <a:bodyPr wrap="square" lIns="0" tIns="0" rIns="0" bIns="0" rtlCol="0" anchor="ctr"/>
          <a:lstStyle/>
          <a:p>
            <a:pPr marL="0" indent="0">
              <a:buNone/>
            </a:pPr>
            <a:r>
              <a:rPr lang="en-US" sz="750" dirty="0">
                <a:solidFill>
                  <a:srgbClr val="8899AA"/>
                </a:solidFill>
              </a:rPr>
              <a:t>Smooth gradient</a:t>
            </a:r>
            <a:endParaRPr lang="en-US" sz="750" dirty="0"/>
          </a:p>
          <a:p>
            <a:pPr marL="0" indent="0">
              <a:buNone/>
            </a:pPr>
            <a:r>
              <a:rPr lang="en-US" sz="750" dirty="0">
                <a:solidFill>
                  <a:srgbClr val="8899AA"/>
                </a:solidFill>
              </a:rPr>
              <a:t>(original intact)</a:t>
            </a:r>
            <a:endParaRPr lang="en-US" sz="750" dirty="0"/>
          </a:p>
        </p:txBody>
      </p:sp>
      <p:sp>
        <p:nvSpPr>
          <p:cNvPr id="26" name="Shape 24"/>
          <p:cNvSpPr/>
          <p:nvPr/>
        </p:nvSpPr>
        <p:spPr>
          <a:xfrm>
            <a:off x="1536192" y="2286000"/>
            <a:ext cx="201168" cy="64008"/>
          </a:xfrm>
          <a:prstGeom prst="rect">
            <a:avLst/>
          </a:prstGeom>
          <a:solidFill>
            <a:srgbClr val="E74C3C"/>
          </a:solidFill>
          <a:ln w="12700">
            <a:solidFill>
              <a:srgbClr val="E74C3C"/>
            </a:solidFill>
            <a:prstDash val="solid"/>
          </a:ln>
        </p:spPr>
        <p:txBody>
          <a:bodyPr/>
          <a:lstStyle/>
          <a:p>
            <a:endParaRPr lang="en-SG"/>
          </a:p>
        </p:txBody>
      </p:sp>
      <p:sp>
        <p:nvSpPr>
          <p:cNvPr id="27" name="Text 25"/>
          <p:cNvSpPr/>
          <p:nvPr/>
        </p:nvSpPr>
        <p:spPr>
          <a:xfrm>
            <a:off x="1499616" y="2359152"/>
            <a:ext cx="292608" cy="237744"/>
          </a:xfrm>
          <a:prstGeom prst="rect">
            <a:avLst/>
          </a:prstGeom>
          <a:noFill/>
          <a:ln/>
        </p:spPr>
        <p:txBody>
          <a:bodyPr wrap="square" lIns="0" tIns="0" rIns="0" bIns="0" rtlCol="0" anchor="ctr"/>
          <a:lstStyle/>
          <a:p>
            <a:pPr marL="0" indent="0" algn="ctr">
              <a:buNone/>
            </a:pPr>
            <a:r>
              <a:rPr lang="en-US" sz="650" dirty="0">
                <a:solidFill>
                  <a:srgbClr val="E74C3C"/>
                </a:solidFill>
              </a:rPr>
              <a:t>DCT</a:t>
            </a:r>
            <a:endParaRPr lang="en-US" sz="650" dirty="0"/>
          </a:p>
          <a:p>
            <a:pPr marL="0" indent="0" algn="ctr">
              <a:buNone/>
            </a:pPr>
            <a:r>
              <a:rPr lang="en-US" sz="650" dirty="0">
                <a:solidFill>
                  <a:srgbClr val="E74C3C"/>
                </a:solidFill>
              </a:rPr>
              <a:t>compress</a:t>
            </a:r>
            <a:endParaRPr lang="en-US" sz="650" dirty="0"/>
          </a:p>
        </p:txBody>
      </p:sp>
      <p:sp>
        <p:nvSpPr>
          <p:cNvPr id="28" name="Text 26"/>
          <p:cNvSpPr/>
          <p:nvPr/>
        </p:nvSpPr>
        <p:spPr>
          <a:xfrm>
            <a:off x="1920240" y="1581912"/>
            <a:ext cx="1645920" cy="201168"/>
          </a:xfrm>
          <a:prstGeom prst="rect">
            <a:avLst/>
          </a:prstGeom>
          <a:noFill/>
          <a:ln/>
        </p:spPr>
        <p:txBody>
          <a:bodyPr wrap="square" lIns="0" tIns="0" rIns="0" bIns="0" rtlCol="0" anchor="ctr"/>
          <a:lstStyle/>
          <a:p>
            <a:pPr marL="0" indent="0">
              <a:buNone/>
            </a:pPr>
            <a:r>
              <a:rPr lang="en-US" sz="900" i="1" dirty="0">
                <a:solidFill>
                  <a:srgbClr val="8899AA"/>
                </a:solidFill>
              </a:rPr>
              <a:t>→  After JPEG save:</a:t>
            </a:r>
            <a:endParaRPr lang="en-US" sz="900" dirty="0"/>
          </a:p>
        </p:txBody>
      </p:sp>
      <p:sp>
        <p:nvSpPr>
          <p:cNvPr id="29" name="Shape 27"/>
          <p:cNvSpPr/>
          <p:nvPr/>
        </p:nvSpPr>
        <p:spPr>
          <a:xfrm>
            <a:off x="1920240" y="1792224"/>
            <a:ext cx="246888" cy="246888"/>
          </a:xfrm>
          <a:prstGeom prst="rect">
            <a:avLst/>
          </a:prstGeom>
          <a:solidFill>
            <a:srgbClr val="1E6FBF"/>
          </a:solidFill>
          <a:ln w="12700">
            <a:solidFill>
              <a:srgbClr val="1E6FBF"/>
            </a:solidFill>
            <a:prstDash val="solid"/>
          </a:ln>
        </p:spPr>
        <p:txBody>
          <a:bodyPr/>
          <a:lstStyle/>
          <a:p>
            <a:endParaRPr lang="en-SG"/>
          </a:p>
        </p:txBody>
      </p:sp>
      <p:sp>
        <p:nvSpPr>
          <p:cNvPr id="30" name="Shape 28"/>
          <p:cNvSpPr/>
          <p:nvPr/>
        </p:nvSpPr>
        <p:spPr>
          <a:xfrm>
            <a:off x="2176272" y="1792224"/>
            <a:ext cx="246888" cy="246888"/>
          </a:xfrm>
          <a:prstGeom prst="rect">
            <a:avLst/>
          </a:prstGeom>
          <a:solidFill>
            <a:srgbClr val="1E6FBF"/>
          </a:solidFill>
          <a:ln w="12700">
            <a:solidFill>
              <a:srgbClr val="1E6FBF"/>
            </a:solidFill>
            <a:prstDash val="solid"/>
          </a:ln>
        </p:spPr>
        <p:txBody>
          <a:bodyPr/>
          <a:lstStyle/>
          <a:p>
            <a:endParaRPr lang="en-SG"/>
          </a:p>
        </p:txBody>
      </p:sp>
      <p:sp>
        <p:nvSpPr>
          <p:cNvPr id="31" name="Shape 29"/>
          <p:cNvSpPr/>
          <p:nvPr/>
        </p:nvSpPr>
        <p:spPr>
          <a:xfrm>
            <a:off x="2432304" y="1792224"/>
            <a:ext cx="246888" cy="246888"/>
          </a:xfrm>
          <a:prstGeom prst="rect">
            <a:avLst/>
          </a:prstGeom>
          <a:solidFill>
            <a:srgbClr val="1255A0"/>
          </a:solidFill>
          <a:ln w="12700">
            <a:solidFill>
              <a:srgbClr val="1255A0"/>
            </a:solidFill>
            <a:prstDash val="solid"/>
          </a:ln>
        </p:spPr>
        <p:txBody>
          <a:bodyPr/>
          <a:lstStyle/>
          <a:p>
            <a:endParaRPr lang="en-SG"/>
          </a:p>
        </p:txBody>
      </p:sp>
      <p:sp>
        <p:nvSpPr>
          <p:cNvPr id="32" name="Shape 30"/>
          <p:cNvSpPr/>
          <p:nvPr/>
        </p:nvSpPr>
        <p:spPr>
          <a:xfrm>
            <a:off x="2688336" y="1792224"/>
            <a:ext cx="246888" cy="246888"/>
          </a:xfrm>
          <a:prstGeom prst="rect">
            <a:avLst/>
          </a:prstGeom>
          <a:solidFill>
            <a:srgbClr val="1255A0"/>
          </a:solidFill>
          <a:ln w="12700">
            <a:solidFill>
              <a:srgbClr val="1255A0"/>
            </a:solidFill>
            <a:prstDash val="solid"/>
          </a:ln>
        </p:spPr>
        <p:txBody>
          <a:bodyPr/>
          <a:lstStyle/>
          <a:p>
            <a:endParaRPr lang="en-SG"/>
          </a:p>
        </p:txBody>
      </p:sp>
      <p:sp>
        <p:nvSpPr>
          <p:cNvPr id="33" name="Shape 31"/>
          <p:cNvSpPr/>
          <p:nvPr/>
        </p:nvSpPr>
        <p:spPr>
          <a:xfrm>
            <a:off x="1920240" y="2048256"/>
            <a:ext cx="246888" cy="246888"/>
          </a:xfrm>
          <a:prstGeom prst="rect">
            <a:avLst/>
          </a:prstGeom>
          <a:solidFill>
            <a:srgbClr val="1E6FBF"/>
          </a:solidFill>
          <a:ln w="12700">
            <a:solidFill>
              <a:srgbClr val="1E6FBF"/>
            </a:solidFill>
            <a:prstDash val="solid"/>
          </a:ln>
        </p:spPr>
        <p:txBody>
          <a:bodyPr/>
          <a:lstStyle/>
          <a:p>
            <a:endParaRPr lang="en-SG"/>
          </a:p>
        </p:txBody>
      </p:sp>
      <p:sp>
        <p:nvSpPr>
          <p:cNvPr id="34" name="Shape 32"/>
          <p:cNvSpPr/>
          <p:nvPr/>
        </p:nvSpPr>
        <p:spPr>
          <a:xfrm>
            <a:off x="2176272" y="2048256"/>
            <a:ext cx="246888" cy="246888"/>
          </a:xfrm>
          <a:prstGeom prst="rect">
            <a:avLst/>
          </a:prstGeom>
          <a:solidFill>
            <a:srgbClr val="1E6FBF"/>
          </a:solidFill>
          <a:ln w="12700">
            <a:solidFill>
              <a:srgbClr val="1E6FBF"/>
            </a:solidFill>
            <a:prstDash val="solid"/>
          </a:ln>
        </p:spPr>
        <p:txBody>
          <a:bodyPr/>
          <a:lstStyle/>
          <a:p>
            <a:endParaRPr lang="en-SG"/>
          </a:p>
        </p:txBody>
      </p:sp>
      <p:sp>
        <p:nvSpPr>
          <p:cNvPr id="35" name="Shape 33"/>
          <p:cNvSpPr/>
          <p:nvPr/>
        </p:nvSpPr>
        <p:spPr>
          <a:xfrm>
            <a:off x="2432304" y="2048256"/>
            <a:ext cx="246888" cy="246888"/>
          </a:xfrm>
          <a:prstGeom prst="rect">
            <a:avLst/>
          </a:prstGeom>
          <a:solidFill>
            <a:srgbClr val="1255A0"/>
          </a:solidFill>
          <a:ln w="12700">
            <a:solidFill>
              <a:srgbClr val="1255A0"/>
            </a:solidFill>
            <a:prstDash val="solid"/>
          </a:ln>
        </p:spPr>
        <p:txBody>
          <a:bodyPr/>
          <a:lstStyle/>
          <a:p>
            <a:endParaRPr lang="en-SG"/>
          </a:p>
        </p:txBody>
      </p:sp>
      <p:sp>
        <p:nvSpPr>
          <p:cNvPr id="36" name="Shape 34"/>
          <p:cNvSpPr/>
          <p:nvPr/>
        </p:nvSpPr>
        <p:spPr>
          <a:xfrm>
            <a:off x="2688336" y="2048256"/>
            <a:ext cx="246888" cy="246888"/>
          </a:xfrm>
          <a:prstGeom prst="rect">
            <a:avLst/>
          </a:prstGeom>
          <a:solidFill>
            <a:srgbClr val="1255A0"/>
          </a:solidFill>
          <a:ln w="12700">
            <a:solidFill>
              <a:srgbClr val="1255A0"/>
            </a:solidFill>
            <a:prstDash val="solid"/>
          </a:ln>
        </p:spPr>
        <p:txBody>
          <a:bodyPr/>
          <a:lstStyle/>
          <a:p>
            <a:endParaRPr lang="en-SG"/>
          </a:p>
        </p:txBody>
      </p:sp>
      <p:sp>
        <p:nvSpPr>
          <p:cNvPr id="37" name="Shape 35"/>
          <p:cNvSpPr/>
          <p:nvPr/>
        </p:nvSpPr>
        <p:spPr>
          <a:xfrm>
            <a:off x="1920240" y="2304288"/>
            <a:ext cx="246888" cy="246888"/>
          </a:xfrm>
          <a:prstGeom prst="rect">
            <a:avLst/>
          </a:prstGeom>
          <a:solidFill>
            <a:srgbClr val="5BA3E0"/>
          </a:solidFill>
          <a:ln w="12700">
            <a:solidFill>
              <a:srgbClr val="5BA3E0"/>
            </a:solidFill>
            <a:prstDash val="solid"/>
          </a:ln>
        </p:spPr>
        <p:txBody>
          <a:bodyPr/>
          <a:lstStyle/>
          <a:p>
            <a:endParaRPr lang="en-SG"/>
          </a:p>
        </p:txBody>
      </p:sp>
      <p:sp>
        <p:nvSpPr>
          <p:cNvPr id="38" name="Shape 36"/>
          <p:cNvSpPr/>
          <p:nvPr/>
        </p:nvSpPr>
        <p:spPr>
          <a:xfrm>
            <a:off x="2176272" y="2304288"/>
            <a:ext cx="246888" cy="246888"/>
          </a:xfrm>
          <a:prstGeom prst="rect">
            <a:avLst/>
          </a:prstGeom>
          <a:solidFill>
            <a:srgbClr val="5BA3E0"/>
          </a:solidFill>
          <a:ln w="12700">
            <a:solidFill>
              <a:srgbClr val="5BA3E0"/>
            </a:solidFill>
            <a:prstDash val="solid"/>
          </a:ln>
        </p:spPr>
        <p:txBody>
          <a:bodyPr/>
          <a:lstStyle/>
          <a:p>
            <a:endParaRPr lang="en-SG"/>
          </a:p>
        </p:txBody>
      </p:sp>
      <p:sp>
        <p:nvSpPr>
          <p:cNvPr id="39" name="Shape 37"/>
          <p:cNvSpPr/>
          <p:nvPr/>
        </p:nvSpPr>
        <p:spPr>
          <a:xfrm>
            <a:off x="2432304" y="2304288"/>
            <a:ext cx="246888" cy="246888"/>
          </a:xfrm>
          <a:prstGeom prst="rect">
            <a:avLst/>
          </a:prstGeom>
          <a:solidFill>
            <a:srgbClr val="1E6FBF"/>
          </a:solidFill>
          <a:ln w="12700">
            <a:solidFill>
              <a:srgbClr val="1E6FBF"/>
            </a:solidFill>
            <a:prstDash val="solid"/>
          </a:ln>
        </p:spPr>
        <p:txBody>
          <a:bodyPr/>
          <a:lstStyle/>
          <a:p>
            <a:endParaRPr lang="en-SG"/>
          </a:p>
        </p:txBody>
      </p:sp>
      <p:sp>
        <p:nvSpPr>
          <p:cNvPr id="40" name="Shape 38"/>
          <p:cNvSpPr/>
          <p:nvPr/>
        </p:nvSpPr>
        <p:spPr>
          <a:xfrm>
            <a:off x="2688336" y="2304288"/>
            <a:ext cx="246888" cy="246888"/>
          </a:xfrm>
          <a:prstGeom prst="rect">
            <a:avLst/>
          </a:prstGeom>
          <a:solidFill>
            <a:srgbClr val="1E6FBF"/>
          </a:solidFill>
          <a:ln w="12700">
            <a:solidFill>
              <a:srgbClr val="1E6FBF"/>
            </a:solidFill>
            <a:prstDash val="solid"/>
          </a:ln>
        </p:spPr>
        <p:txBody>
          <a:bodyPr/>
          <a:lstStyle/>
          <a:p>
            <a:endParaRPr lang="en-SG"/>
          </a:p>
        </p:txBody>
      </p:sp>
      <p:sp>
        <p:nvSpPr>
          <p:cNvPr id="41" name="Shape 39"/>
          <p:cNvSpPr/>
          <p:nvPr/>
        </p:nvSpPr>
        <p:spPr>
          <a:xfrm>
            <a:off x="1920240" y="2560320"/>
            <a:ext cx="246888" cy="246888"/>
          </a:xfrm>
          <a:prstGeom prst="rect">
            <a:avLst/>
          </a:prstGeom>
          <a:solidFill>
            <a:srgbClr val="5BA3E0"/>
          </a:solidFill>
          <a:ln w="12700">
            <a:solidFill>
              <a:srgbClr val="5BA3E0"/>
            </a:solidFill>
            <a:prstDash val="solid"/>
          </a:ln>
        </p:spPr>
        <p:txBody>
          <a:bodyPr/>
          <a:lstStyle/>
          <a:p>
            <a:endParaRPr lang="en-SG"/>
          </a:p>
        </p:txBody>
      </p:sp>
      <p:sp>
        <p:nvSpPr>
          <p:cNvPr id="42" name="Shape 40"/>
          <p:cNvSpPr/>
          <p:nvPr/>
        </p:nvSpPr>
        <p:spPr>
          <a:xfrm>
            <a:off x="2176272" y="2560320"/>
            <a:ext cx="246888" cy="246888"/>
          </a:xfrm>
          <a:prstGeom prst="rect">
            <a:avLst/>
          </a:prstGeom>
          <a:solidFill>
            <a:srgbClr val="5BA3E0"/>
          </a:solidFill>
          <a:ln w="12700">
            <a:solidFill>
              <a:srgbClr val="5BA3E0"/>
            </a:solidFill>
            <a:prstDash val="solid"/>
          </a:ln>
        </p:spPr>
        <p:txBody>
          <a:bodyPr/>
          <a:lstStyle/>
          <a:p>
            <a:endParaRPr lang="en-SG"/>
          </a:p>
        </p:txBody>
      </p:sp>
      <p:sp>
        <p:nvSpPr>
          <p:cNvPr id="43" name="Shape 41"/>
          <p:cNvSpPr/>
          <p:nvPr/>
        </p:nvSpPr>
        <p:spPr>
          <a:xfrm>
            <a:off x="2432304" y="2560320"/>
            <a:ext cx="246888" cy="246888"/>
          </a:xfrm>
          <a:prstGeom prst="rect">
            <a:avLst/>
          </a:prstGeom>
          <a:solidFill>
            <a:srgbClr val="1E6FBF"/>
          </a:solidFill>
          <a:ln w="12700">
            <a:solidFill>
              <a:srgbClr val="1E6FBF"/>
            </a:solidFill>
            <a:prstDash val="solid"/>
          </a:ln>
        </p:spPr>
        <p:txBody>
          <a:bodyPr/>
          <a:lstStyle/>
          <a:p>
            <a:endParaRPr lang="en-SG"/>
          </a:p>
        </p:txBody>
      </p:sp>
      <p:sp>
        <p:nvSpPr>
          <p:cNvPr id="44" name="Shape 42"/>
          <p:cNvSpPr/>
          <p:nvPr/>
        </p:nvSpPr>
        <p:spPr>
          <a:xfrm>
            <a:off x="2688336" y="2560320"/>
            <a:ext cx="246888" cy="246888"/>
          </a:xfrm>
          <a:prstGeom prst="rect">
            <a:avLst/>
          </a:prstGeom>
          <a:solidFill>
            <a:srgbClr val="1E6FBF"/>
          </a:solidFill>
          <a:ln w="12700">
            <a:solidFill>
              <a:srgbClr val="1E6FBF"/>
            </a:solidFill>
            <a:prstDash val="solid"/>
          </a:ln>
        </p:spPr>
        <p:txBody>
          <a:bodyPr/>
          <a:lstStyle/>
          <a:p>
            <a:endParaRPr lang="en-SG"/>
          </a:p>
        </p:txBody>
      </p:sp>
      <p:sp>
        <p:nvSpPr>
          <p:cNvPr id="45" name="Shape 43"/>
          <p:cNvSpPr/>
          <p:nvPr/>
        </p:nvSpPr>
        <p:spPr>
          <a:xfrm>
            <a:off x="1920240" y="1792224"/>
            <a:ext cx="512064" cy="512064"/>
          </a:xfrm>
          <a:prstGeom prst="rect">
            <a:avLst/>
          </a:prstGeom>
          <a:ln w="12700">
            <a:solidFill>
              <a:srgbClr val="FF4444"/>
            </a:solidFill>
            <a:prstDash val="dot"/>
          </a:ln>
        </p:spPr>
        <p:txBody>
          <a:bodyPr/>
          <a:lstStyle/>
          <a:p>
            <a:endParaRPr lang="en-SG"/>
          </a:p>
        </p:txBody>
      </p:sp>
      <p:sp>
        <p:nvSpPr>
          <p:cNvPr id="46" name="Shape 44"/>
          <p:cNvSpPr/>
          <p:nvPr/>
        </p:nvSpPr>
        <p:spPr>
          <a:xfrm>
            <a:off x="2432304" y="1792224"/>
            <a:ext cx="512064" cy="512064"/>
          </a:xfrm>
          <a:prstGeom prst="rect">
            <a:avLst/>
          </a:prstGeom>
          <a:ln w="12700">
            <a:solidFill>
              <a:srgbClr val="FF4444"/>
            </a:solidFill>
            <a:prstDash val="dot"/>
          </a:ln>
        </p:spPr>
        <p:txBody>
          <a:bodyPr/>
          <a:lstStyle/>
          <a:p>
            <a:endParaRPr lang="en-SG"/>
          </a:p>
        </p:txBody>
      </p:sp>
      <p:sp>
        <p:nvSpPr>
          <p:cNvPr id="47" name="Text 45"/>
          <p:cNvSpPr/>
          <p:nvPr/>
        </p:nvSpPr>
        <p:spPr>
          <a:xfrm>
            <a:off x="1920240" y="2834640"/>
            <a:ext cx="1097280" cy="329184"/>
          </a:xfrm>
          <a:prstGeom prst="rect">
            <a:avLst/>
          </a:prstGeom>
          <a:noFill/>
          <a:ln/>
        </p:spPr>
        <p:txBody>
          <a:bodyPr wrap="square" lIns="0" tIns="0" rIns="0" bIns="0" rtlCol="0" anchor="ctr"/>
          <a:lstStyle/>
          <a:p>
            <a:pPr marL="0" indent="0">
              <a:buNone/>
            </a:pPr>
            <a:r>
              <a:rPr lang="en-US" sz="750" dirty="0">
                <a:solidFill>
                  <a:srgbClr val="FF6666"/>
                </a:solidFill>
              </a:rPr>
              <a:t>8×8 pixel DCT blocks</a:t>
            </a:r>
            <a:endParaRPr lang="en-US" sz="750" dirty="0"/>
          </a:p>
          <a:p>
            <a:pPr marL="0" indent="0">
              <a:buNone/>
            </a:pPr>
            <a:r>
              <a:rPr lang="en-US" sz="750" dirty="0">
                <a:solidFill>
                  <a:srgbClr val="FF6666"/>
                </a:solidFill>
              </a:rPr>
              <a:t>(data discarded)</a:t>
            </a:r>
            <a:endParaRPr lang="en-US" sz="750" dirty="0"/>
          </a:p>
        </p:txBody>
      </p:sp>
      <p:sp>
        <p:nvSpPr>
          <p:cNvPr id="48" name="Text 46"/>
          <p:cNvSpPr/>
          <p:nvPr/>
        </p:nvSpPr>
        <p:spPr>
          <a:xfrm>
            <a:off x="347472" y="3218688"/>
            <a:ext cx="1005840" cy="164592"/>
          </a:xfrm>
          <a:prstGeom prst="rect">
            <a:avLst/>
          </a:prstGeom>
          <a:noFill/>
          <a:ln/>
        </p:spPr>
        <p:txBody>
          <a:bodyPr wrap="square" lIns="0" tIns="0" rIns="0" bIns="0" rtlCol="0" anchor="ctr"/>
          <a:lstStyle/>
          <a:p>
            <a:pPr marL="0" indent="0">
              <a:buNone/>
            </a:pPr>
            <a:r>
              <a:rPr lang="en-US" sz="900" b="1" dirty="0">
                <a:solidFill>
                  <a:srgbClr val="E74C3C"/>
                </a:solidFill>
              </a:rPr>
              <a:t>Mechanism:</a:t>
            </a:r>
            <a:endParaRPr lang="en-US" sz="900" dirty="0"/>
          </a:p>
        </p:txBody>
      </p:sp>
      <p:sp>
        <p:nvSpPr>
          <p:cNvPr id="49" name="Text 47"/>
          <p:cNvSpPr/>
          <p:nvPr/>
        </p:nvSpPr>
        <p:spPr>
          <a:xfrm>
            <a:off x="1371600" y="3218688"/>
            <a:ext cx="2926080" cy="274320"/>
          </a:xfrm>
          <a:prstGeom prst="rect">
            <a:avLst/>
          </a:prstGeom>
          <a:noFill/>
          <a:ln/>
        </p:spPr>
        <p:txBody>
          <a:bodyPr wrap="square" lIns="0" tIns="0" rIns="0" bIns="0" rtlCol="0" anchor="ctr"/>
          <a:lstStyle/>
          <a:p>
            <a:pPr marL="0" indent="0">
              <a:buNone/>
            </a:pPr>
            <a:r>
              <a:rPr lang="en-US" sz="850" dirty="0">
                <a:solidFill>
                  <a:srgbClr val="1A1A2E"/>
                </a:solidFill>
              </a:rPr>
              <a:t>DCT converts blocks to frequencies; high-frequency detail is discarded permanently</a:t>
            </a:r>
            <a:endParaRPr lang="en-US" sz="850" dirty="0"/>
          </a:p>
        </p:txBody>
      </p:sp>
      <p:sp>
        <p:nvSpPr>
          <p:cNvPr id="50" name="Text 48"/>
          <p:cNvSpPr/>
          <p:nvPr/>
        </p:nvSpPr>
        <p:spPr>
          <a:xfrm>
            <a:off x="347472" y="3547872"/>
            <a:ext cx="1005840" cy="164592"/>
          </a:xfrm>
          <a:prstGeom prst="rect">
            <a:avLst/>
          </a:prstGeom>
          <a:noFill/>
          <a:ln/>
        </p:spPr>
        <p:txBody>
          <a:bodyPr wrap="square" lIns="0" tIns="0" rIns="0" bIns="0" rtlCol="0" anchor="ctr"/>
          <a:lstStyle/>
          <a:p>
            <a:pPr marL="0" indent="0">
              <a:buNone/>
            </a:pPr>
            <a:r>
              <a:rPr lang="en-US" sz="900" b="1" dirty="0">
                <a:solidFill>
                  <a:srgbClr val="E74C3C"/>
                </a:solidFill>
              </a:rPr>
              <a:t>Ratio:</a:t>
            </a:r>
            <a:endParaRPr lang="en-US" sz="900" dirty="0"/>
          </a:p>
        </p:txBody>
      </p:sp>
      <p:sp>
        <p:nvSpPr>
          <p:cNvPr id="51" name="Text 49"/>
          <p:cNvSpPr/>
          <p:nvPr/>
        </p:nvSpPr>
        <p:spPr>
          <a:xfrm>
            <a:off x="1371600" y="3547872"/>
            <a:ext cx="2926080" cy="274320"/>
          </a:xfrm>
          <a:prstGeom prst="rect">
            <a:avLst/>
          </a:prstGeom>
          <a:noFill/>
          <a:ln/>
        </p:spPr>
        <p:txBody>
          <a:bodyPr wrap="square" lIns="0" tIns="0" rIns="0" bIns="0" rtlCol="0" anchor="ctr"/>
          <a:lstStyle/>
          <a:p>
            <a:pPr marL="0" indent="0">
              <a:buNone/>
            </a:pPr>
            <a:r>
              <a:rPr lang="en-US" sz="850" dirty="0">
                <a:solidFill>
                  <a:srgbClr val="1A1A2E"/>
                </a:solidFill>
              </a:rPr>
              <a:t>10:1 to 100:1 — quality degrades on each resave (generation loss)</a:t>
            </a:r>
            <a:endParaRPr lang="en-US" sz="850" dirty="0"/>
          </a:p>
        </p:txBody>
      </p:sp>
      <p:sp>
        <p:nvSpPr>
          <p:cNvPr id="52" name="Text 50"/>
          <p:cNvSpPr/>
          <p:nvPr/>
        </p:nvSpPr>
        <p:spPr>
          <a:xfrm>
            <a:off x="347472" y="3877056"/>
            <a:ext cx="1005840" cy="164592"/>
          </a:xfrm>
          <a:prstGeom prst="rect">
            <a:avLst/>
          </a:prstGeom>
          <a:noFill/>
          <a:ln/>
        </p:spPr>
        <p:txBody>
          <a:bodyPr wrap="square" lIns="0" tIns="0" rIns="0" bIns="0" rtlCol="0" anchor="ctr"/>
          <a:lstStyle/>
          <a:p>
            <a:pPr marL="0" indent="0">
              <a:buNone/>
            </a:pPr>
            <a:r>
              <a:rPr lang="en-US" sz="900" b="1" dirty="0">
                <a:solidFill>
                  <a:srgbClr val="E74C3C"/>
                </a:solidFill>
              </a:rPr>
              <a:t>Formats:</a:t>
            </a:r>
            <a:endParaRPr lang="en-US" sz="900" dirty="0"/>
          </a:p>
        </p:txBody>
      </p:sp>
      <p:sp>
        <p:nvSpPr>
          <p:cNvPr id="53" name="Text 51"/>
          <p:cNvSpPr/>
          <p:nvPr/>
        </p:nvSpPr>
        <p:spPr>
          <a:xfrm>
            <a:off x="1371600" y="3877056"/>
            <a:ext cx="2926080" cy="274320"/>
          </a:xfrm>
          <a:prstGeom prst="rect">
            <a:avLst/>
          </a:prstGeom>
          <a:noFill/>
          <a:ln/>
        </p:spPr>
        <p:txBody>
          <a:bodyPr wrap="square" lIns="0" tIns="0" rIns="0" bIns="0" rtlCol="0" anchor="ctr"/>
          <a:lstStyle/>
          <a:p>
            <a:pPr marL="0" indent="0">
              <a:buNone/>
            </a:pPr>
            <a:r>
              <a:rPr lang="en-US" sz="850" dirty="0">
                <a:solidFill>
                  <a:srgbClr val="1A1A2E"/>
                </a:solidFill>
              </a:rPr>
              <a:t>JPEG · WebP (lossy) · HEIC · MP4</a:t>
            </a:r>
            <a:endParaRPr lang="en-US" sz="850" dirty="0"/>
          </a:p>
        </p:txBody>
      </p:sp>
      <p:sp>
        <p:nvSpPr>
          <p:cNvPr id="54" name="Shape 52"/>
          <p:cNvSpPr/>
          <p:nvPr/>
        </p:nvSpPr>
        <p:spPr>
          <a:xfrm>
            <a:off x="4709160" y="1234440"/>
            <a:ext cx="4206240" cy="2944368"/>
          </a:xfrm>
          <a:prstGeom prst="rect">
            <a:avLst/>
          </a:prstGeom>
          <a:solidFill>
            <a:srgbClr val="EEF6FB"/>
          </a:solidFill>
          <a:ln w="12700">
            <a:solidFill>
              <a:srgbClr val="2ECC71"/>
            </a:solidFill>
            <a:prstDash val="solid"/>
          </a:ln>
        </p:spPr>
        <p:txBody>
          <a:bodyPr/>
          <a:lstStyle/>
          <a:p>
            <a:endParaRPr lang="en-SG"/>
          </a:p>
        </p:txBody>
      </p:sp>
      <p:sp>
        <p:nvSpPr>
          <p:cNvPr id="55" name="Shape 53"/>
          <p:cNvSpPr/>
          <p:nvPr/>
        </p:nvSpPr>
        <p:spPr>
          <a:xfrm>
            <a:off x="4709160" y="1234440"/>
            <a:ext cx="4206240" cy="292608"/>
          </a:xfrm>
          <a:prstGeom prst="rect">
            <a:avLst/>
          </a:prstGeom>
          <a:solidFill>
            <a:srgbClr val="2ECC71"/>
          </a:solidFill>
          <a:ln w="12700">
            <a:solidFill>
              <a:srgbClr val="2ECC71"/>
            </a:solidFill>
            <a:prstDash val="solid"/>
          </a:ln>
        </p:spPr>
        <p:txBody>
          <a:bodyPr/>
          <a:lstStyle/>
          <a:p>
            <a:endParaRPr lang="en-SG"/>
          </a:p>
        </p:txBody>
      </p:sp>
      <p:sp>
        <p:nvSpPr>
          <p:cNvPr id="56" name="Text 54"/>
          <p:cNvSpPr/>
          <p:nvPr/>
        </p:nvSpPr>
        <p:spPr>
          <a:xfrm>
            <a:off x="4800600" y="1234440"/>
            <a:ext cx="4023360" cy="292608"/>
          </a:xfrm>
          <a:prstGeom prst="rect">
            <a:avLst/>
          </a:prstGeom>
          <a:noFill/>
          <a:ln/>
        </p:spPr>
        <p:txBody>
          <a:bodyPr wrap="square" lIns="0" tIns="0" rIns="0" bIns="0" rtlCol="0" anchor="ctr"/>
          <a:lstStyle/>
          <a:p>
            <a:pPr marL="0" indent="0">
              <a:buNone/>
            </a:pPr>
            <a:r>
              <a:rPr lang="en-US" sz="1200" b="1" dirty="0">
                <a:solidFill>
                  <a:srgbClr val="0A1628"/>
                </a:solidFill>
              </a:rPr>
              <a:t>🟢  LOSSLESS  (e.g. PNG)</a:t>
            </a:r>
            <a:endParaRPr lang="en-US" sz="1200" dirty="0"/>
          </a:p>
        </p:txBody>
      </p:sp>
      <p:sp>
        <p:nvSpPr>
          <p:cNvPr id="57" name="Text 55"/>
          <p:cNvSpPr/>
          <p:nvPr/>
        </p:nvSpPr>
        <p:spPr>
          <a:xfrm>
            <a:off x="4800600" y="1581912"/>
            <a:ext cx="1188720" cy="201168"/>
          </a:xfrm>
          <a:prstGeom prst="rect">
            <a:avLst/>
          </a:prstGeom>
          <a:noFill/>
          <a:ln/>
        </p:spPr>
        <p:txBody>
          <a:bodyPr wrap="square" lIns="0" tIns="0" rIns="0" bIns="0" rtlCol="0" anchor="ctr"/>
          <a:lstStyle/>
          <a:p>
            <a:pPr marL="0" indent="0">
              <a:buNone/>
            </a:pPr>
            <a:r>
              <a:rPr lang="en-US" sz="900" i="1" dirty="0">
                <a:solidFill>
                  <a:srgbClr val="8899AA"/>
                </a:solidFill>
              </a:rPr>
              <a:t>Original  →</a:t>
            </a:r>
            <a:endParaRPr lang="en-US" sz="900" dirty="0"/>
          </a:p>
        </p:txBody>
      </p:sp>
      <p:sp>
        <p:nvSpPr>
          <p:cNvPr id="58" name="Shape 56"/>
          <p:cNvSpPr/>
          <p:nvPr/>
        </p:nvSpPr>
        <p:spPr>
          <a:xfrm>
            <a:off x="4800600" y="1792224"/>
            <a:ext cx="246888" cy="246888"/>
          </a:xfrm>
          <a:prstGeom prst="rect">
            <a:avLst/>
          </a:prstGeom>
          <a:solidFill>
            <a:srgbClr val="1E90FF"/>
          </a:solidFill>
          <a:ln w="12700">
            <a:solidFill>
              <a:srgbClr val="1E90FF"/>
            </a:solidFill>
            <a:prstDash val="solid"/>
          </a:ln>
        </p:spPr>
        <p:txBody>
          <a:bodyPr/>
          <a:lstStyle/>
          <a:p>
            <a:endParaRPr lang="en-SG"/>
          </a:p>
        </p:txBody>
      </p:sp>
      <p:sp>
        <p:nvSpPr>
          <p:cNvPr id="59" name="Shape 57"/>
          <p:cNvSpPr/>
          <p:nvPr/>
        </p:nvSpPr>
        <p:spPr>
          <a:xfrm>
            <a:off x="5056632" y="1792224"/>
            <a:ext cx="246888" cy="246888"/>
          </a:xfrm>
          <a:prstGeom prst="rect">
            <a:avLst/>
          </a:prstGeom>
          <a:solidFill>
            <a:srgbClr val="2196F3"/>
          </a:solidFill>
          <a:ln w="12700">
            <a:solidFill>
              <a:srgbClr val="2196F3"/>
            </a:solidFill>
            <a:prstDash val="solid"/>
          </a:ln>
        </p:spPr>
        <p:txBody>
          <a:bodyPr/>
          <a:lstStyle/>
          <a:p>
            <a:endParaRPr lang="en-SG"/>
          </a:p>
        </p:txBody>
      </p:sp>
      <p:sp>
        <p:nvSpPr>
          <p:cNvPr id="60" name="Shape 58"/>
          <p:cNvSpPr/>
          <p:nvPr/>
        </p:nvSpPr>
        <p:spPr>
          <a:xfrm>
            <a:off x="5312664" y="1792224"/>
            <a:ext cx="246888" cy="246888"/>
          </a:xfrm>
          <a:prstGeom prst="rect">
            <a:avLst/>
          </a:prstGeom>
          <a:solidFill>
            <a:srgbClr val="1565C0"/>
          </a:solidFill>
          <a:ln w="12700">
            <a:solidFill>
              <a:srgbClr val="1565C0"/>
            </a:solidFill>
            <a:prstDash val="solid"/>
          </a:ln>
        </p:spPr>
        <p:txBody>
          <a:bodyPr/>
          <a:lstStyle/>
          <a:p>
            <a:endParaRPr lang="en-SG"/>
          </a:p>
        </p:txBody>
      </p:sp>
      <p:sp>
        <p:nvSpPr>
          <p:cNvPr id="61" name="Shape 59"/>
          <p:cNvSpPr/>
          <p:nvPr/>
        </p:nvSpPr>
        <p:spPr>
          <a:xfrm>
            <a:off x="5568696" y="1792224"/>
            <a:ext cx="246888" cy="246888"/>
          </a:xfrm>
          <a:prstGeom prst="rect">
            <a:avLst/>
          </a:prstGeom>
          <a:solidFill>
            <a:srgbClr val="0D47A1"/>
          </a:solidFill>
          <a:ln w="12700">
            <a:solidFill>
              <a:srgbClr val="0D47A1"/>
            </a:solidFill>
            <a:prstDash val="solid"/>
          </a:ln>
        </p:spPr>
        <p:txBody>
          <a:bodyPr/>
          <a:lstStyle/>
          <a:p>
            <a:endParaRPr lang="en-SG"/>
          </a:p>
        </p:txBody>
      </p:sp>
      <p:sp>
        <p:nvSpPr>
          <p:cNvPr id="62" name="Shape 60"/>
          <p:cNvSpPr/>
          <p:nvPr/>
        </p:nvSpPr>
        <p:spPr>
          <a:xfrm>
            <a:off x="4800600" y="2048256"/>
            <a:ext cx="246888" cy="246888"/>
          </a:xfrm>
          <a:prstGeom prst="rect">
            <a:avLst/>
          </a:prstGeom>
          <a:solidFill>
            <a:srgbClr val="42A5F5"/>
          </a:solidFill>
          <a:ln w="12700">
            <a:solidFill>
              <a:srgbClr val="42A5F5"/>
            </a:solidFill>
            <a:prstDash val="solid"/>
          </a:ln>
        </p:spPr>
        <p:txBody>
          <a:bodyPr/>
          <a:lstStyle/>
          <a:p>
            <a:endParaRPr lang="en-SG"/>
          </a:p>
        </p:txBody>
      </p:sp>
      <p:sp>
        <p:nvSpPr>
          <p:cNvPr id="63" name="Shape 61"/>
          <p:cNvSpPr/>
          <p:nvPr/>
        </p:nvSpPr>
        <p:spPr>
          <a:xfrm>
            <a:off x="5056632" y="2048256"/>
            <a:ext cx="246888" cy="246888"/>
          </a:xfrm>
          <a:prstGeom prst="rect">
            <a:avLst/>
          </a:prstGeom>
          <a:solidFill>
            <a:srgbClr val="1E90FF"/>
          </a:solidFill>
          <a:ln w="12700">
            <a:solidFill>
              <a:srgbClr val="1E90FF"/>
            </a:solidFill>
            <a:prstDash val="solid"/>
          </a:ln>
        </p:spPr>
        <p:txBody>
          <a:bodyPr/>
          <a:lstStyle/>
          <a:p>
            <a:endParaRPr lang="en-SG"/>
          </a:p>
        </p:txBody>
      </p:sp>
      <p:sp>
        <p:nvSpPr>
          <p:cNvPr id="64" name="Shape 62"/>
          <p:cNvSpPr/>
          <p:nvPr/>
        </p:nvSpPr>
        <p:spPr>
          <a:xfrm>
            <a:off x="5312664" y="2048256"/>
            <a:ext cx="246888" cy="246888"/>
          </a:xfrm>
          <a:prstGeom prst="rect">
            <a:avLst/>
          </a:prstGeom>
          <a:solidFill>
            <a:srgbClr val="1976D2"/>
          </a:solidFill>
          <a:ln w="12700">
            <a:solidFill>
              <a:srgbClr val="1976D2"/>
            </a:solidFill>
            <a:prstDash val="solid"/>
          </a:ln>
        </p:spPr>
        <p:txBody>
          <a:bodyPr/>
          <a:lstStyle/>
          <a:p>
            <a:endParaRPr lang="en-SG"/>
          </a:p>
        </p:txBody>
      </p:sp>
      <p:sp>
        <p:nvSpPr>
          <p:cNvPr id="65" name="Shape 63"/>
          <p:cNvSpPr/>
          <p:nvPr/>
        </p:nvSpPr>
        <p:spPr>
          <a:xfrm>
            <a:off x="5568696" y="2048256"/>
            <a:ext cx="246888" cy="246888"/>
          </a:xfrm>
          <a:prstGeom prst="rect">
            <a:avLst/>
          </a:prstGeom>
          <a:solidFill>
            <a:srgbClr val="1565C0"/>
          </a:solidFill>
          <a:ln w="12700">
            <a:solidFill>
              <a:srgbClr val="1565C0"/>
            </a:solidFill>
            <a:prstDash val="solid"/>
          </a:ln>
        </p:spPr>
        <p:txBody>
          <a:bodyPr/>
          <a:lstStyle/>
          <a:p>
            <a:endParaRPr lang="en-SG"/>
          </a:p>
        </p:txBody>
      </p:sp>
      <p:sp>
        <p:nvSpPr>
          <p:cNvPr id="66" name="Shape 64"/>
          <p:cNvSpPr/>
          <p:nvPr/>
        </p:nvSpPr>
        <p:spPr>
          <a:xfrm>
            <a:off x="4800600" y="2304288"/>
            <a:ext cx="246888" cy="246888"/>
          </a:xfrm>
          <a:prstGeom prst="rect">
            <a:avLst/>
          </a:prstGeom>
          <a:solidFill>
            <a:srgbClr val="64B5F6"/>
          </a:solidFill>
          <a:ln w="12700">
            <a:solidFill>
              <a:srgbClr val="64B5F6"/>
            </a:solidFill>
            <a:prstDash val="solid"/>
          </a:ln>
        </p:spPr>
        <p:txBody>
          <a:bodyPr/>
          <a:lstStyle/>
          <a:p>
            <a:endParaRPr lang="en-SG"/>
          </a:p>
        </p:txBody>
      </p:sp>
      <p:sp>
        <p:nvSpPr>
          <p:cNvPr id="67" name="Shape 65"/>
          <p:cNvSpPr/>
          <p:nvPr/>
        </p:nvSpPr>
        <p:spPr>
          <a:xfrm>
            <a:off x="5056632" y="2304288"/>
            <a:ext cx="246888" cy="246888"/>
          </a:xfrm>
          <a:prstGeom prst="rect">
            <a:avLst/>
          </a:prstGeom>
          <a:solidFill>
            <a:srgbClr val="42A5F5"/>
          </a:solidFill>
          <a:ln w="12700">
            <a:solidFill>
              <a:srgbClr val="42A5F5"/>
            </a:solidFill>
            <a:prstDash val="solid"/>
          </a:ln>
        </p:spPr>
        <p:txBody>
          <a:bodyPr/>
          <a:lstStyle/>
          <a:p>
            <a:endParaRPr lang="en-SG"/>
          </a:p>
        </p:txBody>
      </p:sp>
      <p:sp>
        <p:nvSpPr>
          <p:cNvPr id="68" name="Shape 66"/>
          <p:cNvSpPr/>
          <p:nvPr/>
        </p:nvSpPr>
        <p:spPr>
          <a:xfrm>
            <a:off x="5312664" y="2304288"/>
            <a:ext cx="246888" cy="246888"/>
          </a:xfrm>
          <a:prstGeom prst="rect">
            <a:avLst/>
          </a:prstGeom>
          <a:solidFill>
            <a:srgbClr val="1E90FF"/>
          </a:solidFill>
          <a:ln w="12700">
            <a:solidFill>
              <a:srgbClr val="1E90FF"/>
            </a:solidFill>
            <a:prstDash val="solid"/>
          </a:ln>
        </p:spPr>
        <p:txBody>
          <a:bodyPr/>
          <a:lstStyle/>
          <a:p>
            <a:endParaRPr lang="en-SG"/>
          </a:p>
        </p:txBody>
      </p:sp>
      <p:sp>
        <p:nvSpPr>
          <p:cNvPr id="69" name="Shape 67"/>
          <p:cNvSpPr/>
          <p:nvPr/>
        </p:nvSpPr>
        <p:spPr>
          <a:xfrm>
            <a:off x="5568696" y="2304288"/>
            <a:ext cx="246888" cy="246888"/>
          </a:xfrm>
          <a:prstGeom prst="rect">
            <a:avLst/>
          </a:prstGeom>
          <a:solidFill>
            <a:srgbClr val="1976D2"/>
          </a:solidFill>
          <a:ln w="12700">
            <a:solidFill>
              <a:srgbClr val="1976D2"/>
            </a:solidFill>
            <a:prstDash val="solid"/>
          </a:ln>
        </p:spPr>
        <p:txBody>
          <a:bodyPr/>
          <a:lstStyle/>
          <a:p>
            <a:endParaRPr lang="en-SG"/>
          </a:p>
        </p:txBody>
      </p:sp>
      <p:sp>
        <p:nvSpPr>
          <p:cNvPr id="70" name="Shape 68"/>
          <p:cNvSpPr/>
          <p:nvPr/>
        </p:nvSpPr>
        <p:spPr>
          <a:xfrm>
            <a:off x="4800600" y="2560320"/>
            <a:ext cx="246888" cy="246888"/>
          </a:xfrm>
          <a:prstGeom prst="rect">
            <a:avLst/>
          </a:prstGeom>
          <a:solidFill>
            <a:srgbClr val="90CAF9"/>
          </a:solidFill>
          <a:ln w="12700">
            <a:solidFill>
              <a:srgbClr val="90CAF9"/>
            </a:solidFill>
            <a:prstDash val="solid"/>
          </a:ln>
        </p:spPr>
        <p:txBody>
          <a:bodyPr/>
          <a:lstStyle/>
          <a:p>
            <a:endParaRPr lang="en-SG"/>
          </a:p>
        </p:txBody>
      </p:sp>
      <p:sp>
        <p:nvSpPr>
          <p:cNvPr id="71" name="Shape 69"/>
          <p:cNvSpPr/>
          <p:nvPr/>
        </p:nvSpPr>
        <p:spPr>
          <a:xfrm>
            <a:off x="5056632" y="2560320"/>
            <a:ext cx="246888" cy="246888"/>
          </a:xfrm>
          <a:prstGeom prst="rect">
            <a:avLst/>
          </a:prstGeom>
          <a:solidFill>
            <a:srgbClr val="64B5F6"/>
          </a:solidFill>
          <a:ln w="12700">
            <a:solidFill>
              <a:srgbClr val="64B5F6"/>
            </a:solidFill>
            <a:prstDash val="solid"/>
          </a:ln>
        </p:spPr>
        <p:txBody>
          <a:bodyPr/>
          <a:lstStyle/>
          <a:p>
            <a:endParaRPr lang="en-SG"/>
          </a:p>
        </p:txBody>
      </p:sp>
      <p:sp>
        <p:nvSpPr>
          <p:cNvPr id="72" name="Shape 70"/>
          <p:cNvSpPr/>
          <p:nvPr/>
        </p:nvSpPr>
        <p:spPr>
          <a:xfrm>
            <a:off x="5312664" y="2560320"/>
            <a:ext cx="246888" cy="246888"/>
          </a:xfrm>
          <a:prstGeom prst="rect">
            <a:avLst/>
          </a:prstGeom>
          <a:solidFill>
            <a:srgbClr val="42A5F5"/>
          </a:solidFill>
          <a:ln w="12700">
            <a:solidFill>
              <a:srgbClr val="42A5F5"/>
            </a:solidFill>
            <a:prstDash val="solid"/>
          </a:ln>
        </p:spPr>
        <p:txBody>
          <a:bodyPr/>
          <a:lstStyle/>
          <a:p>
            <a:endParaRPr lang="en-SG"/>
          </a:p>
        </p:txBody>
      </p:sp>
      <p:sp>
        <p:nvSpPr>
          <p:cNvPr id="73" name="Shape 71"/>
          <p:cNvSpPr/>
          <p:nvPr/>
        </p:nvSpPr>
        <p:spPr>
          <a:xfrm>
            <a:off x="5568696" y="2560320"/>
            <a:ext cx="246888" cy="246888"/>
          </a:xfrm>
          <a:prstGeom prst="rect">
            <a:avLst/>
          </a:prstGeom>
          <a:solidFill>
            <a:srgbClr val="1E90FF"/>
          </a:solidFill>
          <a:ln w="12700">
            <a:solidFill>
              <a:srgbClr val="1E90FF"/>
            </a:solidFill>
            <a:prstDash val="solid"/>
          </a:ln>
        </p:spPr>
        <p:txBody>
          <a:bodyPr/>
          <a:lstStyle/>
          <a:p>
            <a:endParaRPr lang="en-SG"/>
          </a:p>
        </p:txBody>
      </p:sp>
      <p:sp>
        <p:nvSpPr>
          <p:cNvPr id="74" name="Text 72"/>
          <p:cNvSpPr/>
          <p:nvPr/>
        </p:nvSpPr>
        <p:spPr>
          <a:xfrm>
            <a:off x="4800600" y="2834640"/>
            <a:ext cx="1051560" cy="329184"/>
          </a:xfrm>
          <a:prstGeom prst="rect">
            <a:avLst/>
          </a:prstGeom>
          <a:noFill/>
          <a:ln/>
        </p:spPr>
        <p:txBody>
          <a:bodyPr wrap="square" lIns="0" tIns="0" rIns="0" bIns="0" rtlCol="0" anchor="ctr"/>
          <a:lstStyle/>
          <a:p>
            <a:pPr marL="0" indent="0">
              <a:buNone/>
            </a:pPr>
            <a:r>
              <a:rPr lang="en-US" sz="750" dirty="0">
                <a:solidFill>
                  <a:srgbClr val="8899AA"/>
                </a:solidFill>
              </a:rPr>
              <a:t>Smooth gradient</a:t>
            </a:r>
            <a:endParaRPr lang="en-US" sz="750" dirty="0"/>
          </a:p>
          <a:p>
            <a:pPr marL="0" indent="0">
              <a:buNone/>
            </a:pPr>
            <a:r>
              <a:rPr lang="en-US" sz="750" dirty="0">
                <a:solidFill>
                  <a:srgbClr val="8899AA"/>
                </a:solidFill>
              </a:rPr>
              <a:t>(original intact)</a:t>
            </a:r>
            <a:endParaRPr lang="en-US" sz="750" dirty="0"/>
          </a:p>
        </p:txBody>
      </p:sp>
      <p:sp>
        <p:nvSpPr>
          <p:cNvPr id="75" name="Shape 73"/>
          <p:cNvSpPr/>
          <p:nvPr/>
        </p:nvSpPr>
        <p:spPr>
          <a:xfrm>
            <a:off x="6016752" y="2286000"/>
            <a:ext cx="201168" cy="64008"/>
          </a:xfrm>
          <a:prstGeom prst="rect">
            <a:avLst/>
          </a:prstGeom>
          <a:solidFill>
            <a:srgbClr val="2ECC71"/>
          </a:solidFill>
          <a:ln w="12700">
            <a:solidFill>
              <a:srgbClr val="2ECC71"/>
            </a:solidFill>
            <a:prstDash val="solid"/>
          </a:ln>
        </p:spPr>
        <p:txBody>
          <a:bodyPr/>
          <a:lstStyle/>
          <a:p>
            <a:endParaRPr lang="en-SG"/>
          </a:p>
        </p:txBody>
      </p:sp>
      <p:sp>
        <p:nvSpPr>
          <p:cNvPr id="76" name="Text 74"/>
          <p:cNvSpPr/>
          <p:nvPr/>
        </p:nvSpPr>
        <p:spPr>
          <a:xfrm>
            <a:off x="5980176" y="2359152"/>
            <a:ext cx="310896" cy="237744"/>
          </a:xfrm>
          <a:prstGeom prst="rect">
            <a:avLst/>
          </a:prstGeom>
          <a:noFill/>
          <a:ln/>
        </p:spPr>
        <p:txBody>
          <a:bodyPr wrap="square" lIns="0" tIns="0" rIns="0" bIns="0" rtlCol="0" anchor="ctr"/>
          <a:lstStyle/>
          <a:p>
            <a:pPr marL="0" indent="0" algn="ctr">
              <a:buNone/>
            </a:pPr>
            <a:r>
              <a:rPr lang="en-US" sz="650" dirty="0">
                <a:solidFill>
                  <a:srgbClr val="2ECC71"/>
                </a:solidFill>
              </a:rPr>
              <a:t>DEFLATE</a:t>
            </a:r>
            <a:endParaRPr lang="en-US" sz="650" dirty="0"/>
          </a:p>
          <a:p>
            <a:pPr marL="0" indent="0" algn="ctr">
              <a:buNone/>
            </a:pPr>
            <a:r>
              <a:rPr lang="en-US" sz="650" dirty="0">
                <a:solidFill>
                  <a:srgbClr val="2ECC71"/>
                </a:solidFill>
              </a:rPr>
              <a:t>encode</a:t>
            </a:r>
            <a:endParaRPr lang="en-US" sz="650" dirty="0"/>
          </a:p>
        </p:txBody>
      </p:sp>
      <p:sp>
        <p:nvSpPr>
          <p:cNvPr id="77" name="Text 75"/>
          <p:cNvSpPr/>
          <p:nvPr/>
        </p:nvSpPr>
        <p:spPr>
          <a:xfrm>
            <a:off x="6400800" y="1581912"/>
            <a:ext cx="1645920" cy="201168"/>
          </a:xfrm>
          <a:prstGeom prst="rect">
            <a:avLst/>
          </a:prstGeom>
          <a:noFill/>
          <a:ln/>
        </p:spPr>
        <p:txBody>
          <a:bodyPr wrap="square" lIns="0" tIns="0" rIns="0" bIns="0" rtlCol="0" anchor="ctr"/>
          <a:lstStyle/>
          <a:p>
            <a:pPr marL="0" indent="0">
              <a:buNone/>
            </a:pPr>
            <a:r>
              <a:rPr lang="en-US" sz="900" i="1" dirty="0">
                <a:solidFill>
                  <a:srgbClr val="8899AA"/>
                </a:solidFill>
              </a:rPr>
              <a:t>→  After PNG save:</a:t>
            </a:r>
            <a:endParaRPr lang="en-US" sz="900" dirty="0"/>
          </a:p>
        </p:txBody>
      </p:sp>
      <p:sp>
        <p:nvSpPr>
          <p:cNvPr id="78" name="Shape 76"/>
          <p:cNvSpPr/>
          <p:nvPr/>
        </p:nvSpPr>
        <p:spPr>
          <a:xfrm>
            <a:off x="6400800" y="1792224"/>
            <a:ext cx="246888" cy="246888"/>
          </a:xfrm>
          <a:prstGeom prst="rect">
            <a:avLst/>
          </a:prstGeom>
          <a:solidFill>
            <a:srgbClr val="1E90FF"/>
          </a:solidFill>
          <a:ln w="12700">
            <a:solidFill>
              <a:srgbClr val="1E90FF"/>
            </a:solidFill>
            <a:prstDash val="solid"/>
          </a:ln>
        </p:spPr>
        <p:txBody>
          <a:bodyPr/>
          <a:lstStyle/>
          <a:p>
            <a:endParaRPr lang="en-SG"/>
          </a:p>
        </p:txBody>
      </p:sp>
      <p:sp>
        <p:nvSpPr>
          <p:cNvPr id="79" name="Shape 77"/>
          <p:cNvSpPr/>
          <p:nvPr/>
        </p:nvSpPr>
        <p:spPr>
          <a:xfrm>
            <a:off x="6656832" y="1792224"/>
            <a:ext cx="246888" cy="246888"/>
          </a:xfrm>
          <a:prstGeom prst="rect">
            <a:avLst/>
          </a:prstGeom>
          <a:solidFill>
            <a:srgbClr val="2196F3"/>
          </a:solidFill>
          <a:ln w="12700">
            <a:solidFill>
              <a:srgbClr val="2196F3"/>
            </a:solidFill>
            <a:prstDash val="solid"/>
          </a:ln>
        </p:spPr>
        <p:txBody>
          <a:bodyPr/>
          <a:lstStyle/>
          <a:p>
            <a:endParaRPr lang="en-SG"/>
          </a:p>
        </p:txBody>
      </p:sp>
      <p:sp>
        <p:nvSpPr>
          <p:cNvPr id="80" name="Shape 78"/>
          <p:cNvSpPr/>
          <p:nvPr/>
        </p:nvSpPr>
        <p:spPr>
          <a:xfrm>
            <a:off x="6912864" y="1792224"/>
            <a:ext cx="246888" cy="246888"/>
          </a:xfrm>
          <a:prstGeom prst="rect">
            <a:avLst/>
          </a:prstGeom>
          <a:solidFill>
            <a:srgbClr val="1565C0"/>
          </a:solidFill>
          <a:ln w="12700">
            <a:solidFill>
              <a:srgbClr val="1565C0"/>
            </a:solidFill>
            <a:prstDash val="solid"/>
          </a:ln>
        </p:spPr>
        <p:txBody>
          <a:bodyPr/>
          <a:lstStyle/>
          <a:p>
            <a:endParaRPr lang="en-SG"/>
          </a:p>
        </p:txBody>
      </p:sp>
      <p:sp>
        <p:nvSpPr>
          <p:cNvPr id="81" name="Shape 79"/>
          <p:cNvSpPr/>
          <p:nvPr/>
        </p:nvSpPr>
        <p:spPr>
          <a:xfrm>
            <a:off x="7168896" y="1792224"/>
            <a:ext cx="246888" cy="246888"/>
          </a:xfrm>
          <a:prstGeom prst="rect">
            <a:avLst/>
          </a:prstGeom>
          <a:solidFill>
            <a:srgbClr val="0D47A1"/>
          </a:solidFill>
          <a:ln w="12700">
            <a:solidFill>
              <a:srgbClr val="0D47A1"/>
            </a:solidFill>
            <a:prstDash val="solid"/>
          </a:ln>
        </p:spPr>
        <p:txBody>
          <a:bodyPr/>
          <a:lstStyle/>
          <a:p>
            <a:endParaRPr lang="en-SG"/>
          </a:p>
        </p:txBody>
      </p:sp>
      <p:sp>
        <p:nvSpPr>
          <p:cNvPr id="82" name="Shape 80"/>
          <p:cNvSpPr/>
          <p:nvPr/>
        </p:nvSpPr>
        <p:spPr>
          <a:xfrm>
            <a:off x="6400800" y="2048256"/>
            <a:ext cx="246888" cy="246888"/>
          </a:xfrm>
          <a:prstGeom prst="rect">
            <a:avLst/>
          </a:prstGeom>
          <a:solidFill>
            <a:srgbClr val="42A5F5"/>
          </a:solidFill>
          <a:ln w="12700">
            <a:solidFill>
              <a:srgbClr val="42A5F5"/>
            </a:solidFill>
            <a:prstDash val="solid"/>
          </a:ln>
        </p:spPr>
        <p:txBody>
          <a:bodyPr/>
          <a:lstStyle/>
          <a:p>
            <a:endParaRPr lang="en-SG"/>
          </a:p>
        </p:txBody>
      </p:sp>
      <p:sp>
        <p:nvSpPr>
          <p:cNvPr id="83" name="Shape 81"/>
          <p:cNvSpPr/>
          <p:nvPr/>
        </p:nvSpPr>
        <p:spPr>
          <a:xfrm>
            <a:off x="6656832" y="2048256"/>
            <a:ext cx="246888" cy="246888"/>
          </a:xfrm>
          <a:prstGeom prst="rect">
            <a:avLst/>
          </a:prstGeom>
          <a:solidFill>
            <a:srgbClr val="1E90FF"/>
          </a:solidFill>
          <a:ln w="12700">
            <a:solidFill>
              <a:srgbClr val="1E90FF"/>
            </a:solidFill>
            <a:prstDash val="solid"/>
          </a:ln>
        </p:spPr>
        <p:txBody>
          <a:bodyPr/>
          <a:lstStyle/>
          <a:p>
            <a:endParaRPr lang="en-SG"/>
          </a:p>
        </p:txBody>
      </p:sp>
      <p:sp>
        <p:nvSpPr>
          <p:cNvPr id="84" name="Shape 82"/>
          <p:cNvSpPr/>
          <p:nvPr/>
        </p:nvSpPr>
        <p:spPr>
          <a:xfrm>
            <a:off x="6912864" y="2048256"/>
            <a:ext cx="246888" cy="246888"/>
          </a:xfrm>
          <a:prstGeom prst="rect">
            <a:avLst/>
          </a:prstGeom>
          <a:solidFill>
            <a:srgbClr val="1976D2"/>
          </a:solidFill>
          <a:ln w="12700">
            <a:solidFill>
              <a:srgbClr val="1976D2"/>
            </a:solidFill>
            <a:prstDash val="solid"/>
          </a:ln>
        </p:spPr>
        <p:txBody>
          <a:bodyPr/>
          <a:lstStyle/>
          <a:p>
            <a:endParaRPr lang="en-SG"/>
          </a:p>
        </p:txBody>
      </p:sp>
      <p:sp>
        <p:nvSpPr>
          <p:cNvPr id="85" name="Shape 83"/>
          <p:cNvSpPr/>
          <p:nvPr/>
        </p:nvSpPr>
        <p:spPr>
          <a:xfrm>
            <a:off x="7168896" y="2048256"/>
            <a:ext cx="246888" cy="246888"/>
          </a:xfrm>
          <a:prstGeom prst="rect">
            <a:avLst/>
          </a:prstGeom>
          <a:solidFill>
            <a:srgbClr val="1565C0"/>
          </a:solidFill>
          <a:ln w="12700">
            <a:solidFill>
              <a:srgbClr val="1565C0"/>
            </a:solidFill>
            <a:prstDash val="solid"/>
          </a:ln>
        </p:spPr>
        <p:txBody>
          <a:bodyPr/>
          <a:lstStyle/>
          <a:p>
            <a:endParaRPr lang="en-SG"/>
          </a:p>
        </p:txBody>
      </p:sp>
      <p:sp>
        <p:nvSpPr>
          <p:cNvPr id="86" name="Shape 84"/>
          <p:cNvSpPr/>
          <p:nvPr/>
        </p:nvSpPr>
        <p:spPr>
          <a:xfrm>
            <a:off x="6400800" y="2304288"/>
            <a:ext cx="246888" cy="246888"/>
          </a:xfrm>
          <a:prstGeom prst="rect">
            <a:avLst/>
          </a:prstGeom>
          <a:solidFill>
            <a:srgbClr val="64B5F6"/>
          </a:solidFill>
          <a:ln w="12700">
            <a:solidFill>
              <a:srgbClr val="64B5F6"/>
            </a:solidFill>
            <a:prstDash val="solid"/>
          </a:ln>
        </p:spPr>
        <p:txBody>
          <a:bodyPr/>
          <a:lstStyle/>
          <a:p>
            <a:endParaRPr lang="en-SG"/>
          </a:p>
        </p:txBody>
      </p:sp>
      <p:sp>
        <p:nvSpPr>
          <p:cNvPr id="87" name="Shape 85"/>
          <p:cNvSpPr/>
          <p:nvPr/>
        </p:nvSpPr>
        <p:spPr>
          <a:xfrm>
            <a:off x="6656832" y="2304288"/>
            <a:ext cx="246888" cy="246888"/>
          </a:xfrm>
          <a:prstGeom prst="rect">
            <a:avLst/>
          </a:prstGeom>
          <a:solidFill>
            <a:srgbClr val="42A5F5"/>
          </a:solidFill>
          <a:ln w="12700">
            <a:solidFill>
              <a:srgbClr val="42A5F5"/>
            </a:solidFill>
            <a:prstDash val="solid"/>
          </a:ln>
        </p:spPr>
        <p:txBody>
          <a:bodyPr/>
          <a:lstStyle/>
          <a:p>
            <a:endParaRPr lang="en-SG"/>
          </a:p>
        </p:txBody>
      </p:sp>
      <p:sp>
        <p:nvSpPr>
          <p:cNvPr id="88" name="Shape 86"/>
          <p:cNvSpPr/>
          <p:nvPr/>
        </p:nvSpPr>
        <p:spPr>
          <a:xfrm>
            <a:off x="6912864" y="2304288"/>
            <a:ext cx="246888" cy="246888"/>
          </a:xfrm>
          <a:prstGeom prst="rect">
            <a:avLst/>
          </a:prstGeom>
          <a:solidFill>
            <a:srgbClr val="1E90FF"/>
          </a:solidFill>
          <a:ln w="12700">
            <a:solidFill>
              <a:srgbClr val="1E90FF"/>
            </a:solidFill>
            <a:prstDash val="solid"/>
          </a:ln>
        </p:spPr>
        <p:txBody>
          <a:bodyPr/>
          <a:lstStyle/>
          <a:p>
            <a:endParaRPr lang="en-SG"/>
          </a:p>
        </p:txBody>
      </p:sp>
      <p:sp>
        <p:nvSpPr>
          <p:cNvPr id="89" name="Shape 87"/>
          <p:cNvSpPr/>
          <p:nvPr/>
        </p:nvSpPr>
        <p:spPr>
          <a:xfrm>
            <a:off x="7168896" y="2304288"/>
            <a:ext cx="246888" cy="246888"/>
          </a:xfrm>
          <a:prstGeom prst="rect">
            <a:avLst/>
          </a:prstGeom>
          <a:solidFill>
            <a:srgbClr val="1976D2"/>
          </a:solidFill>
          <a:ln w="12700">
            <a:solidFill>
              <a:srgbClr val="1976D2"/>
            </a:solidFill>
            <a:prstDash val="solid"/>
          </a:ln>
        </p:spPr>
        <p:txBody>
          <a:bodyPr/>
          <a:lstStyle/>
          <a:p>
            <a:endParaRPr lang="en-SG"/>
          </a:p>
        </p:txBody>
      </p:sp>
      <p:sp>
        <p:nvSpPr>
          <p:cNvPr id="90" name="Shape 88"/>
          <p:cNvSpPr/>
          <p:nvPr/>
        </p:nvSpPr>
        <p:spPr>
          <a:xfrm>
            <a:off x="6400800" y="2560320"/>
            <a:ext cx="246888" cy="246888"/>
          </a:xfrm>
          <a:prstGeom prst="rect">
            <a:avLst/>
          </a:prstGeom>
          <a:solidFill>
            <a:srgbClr val="90CAF9"/>
          </a:solidFill>
          <a:ln w="12700">
            <a:solidFill>
              <a:srgbClr val="90CAF9"/>
            </a:solidFill>
            <a:prstDash val="solid"/>
          </a:ln>
        </p:spPr>
        <p:txBody>
          <a:bodyPr/>
          <a:lstStyle/>
          <a:p>
            <a:endParaRPr lang="en-SG"/>
          </a:p>
        </p:txBody>
      </p:sp>
      <p:sp>
        <p:nvSpPr>
          <p:cNvPr id="91" name="Shape 89"/>
          <p:cNvSpPr/>
          <p:nvPr/>
        </p:nvSpPr>
        <p:spPr>
          <a:xfrm>
            <a:off x="6656832" y="2560320"/>
            <a:ext cx="246888" cy="246888"/>
          </a:xfrm>
          <a:prstGeom prst="rect">
            <a:avLst/>
          </a:prstGeom>
          <a:solidFill>
            <a:srgbClr val="64B5F6"/>
          </a:solidFill>
          <a:ln w="12700">
            <a:solidFill>
              <a:srgbClr val="64B5F6"/>
            </a:solidFill>
            <a:prstDash val="solid"/>
          </a:ln>
        </p:spPr>
        <p:txBody>
          <a:bodyPr/>
          <a:lstStyle/>
          <a:p>
            <a:endParaRPr lang="en-SG"/>
          </a:p>
        </p:txBody>
      </p:sp>
      <p:sp>
        <p:nvSpPr>
          <p:cNvPr id="92" name="Shape 90"/>
          <p:cNvSpPr/>
          <p:nvPr/>
        </p:nvSpPr>
        <p:spPr>
          <a:xfrm>
            <a:off x="6912864" y="2560320"/>
            <a:ext cx="246888" cy="246888"/>
          </a:xfrm>
          <a:prstGeom prst="rect">
            <a:avLst/>
          </a:prstGeom>
          <a:solidFill>
            <a:srgbClr val="42A5F5"/>
          </a:solidFill>
          <a:ln w="12700">
            <a:solidFill>
              <a:srgbClr val="42A5F5"/>
            </a:solidFill>
            <a:prstDash val="solid"/>
          </a:ln>
        </p:spPr>
        <p:txBody>
          <a:bodyPr/>
          <a:lstStyle/>
          <a:p>
            <a:endParaRPr lang="en-SG"/>
          </a:p>
        </p:txBody>
      </p:sp>
      <p:sp>
        <p:nvSpPr>
          <p:cNvPr id="93" name="Shape 91"/>
          <p:cNvSpPr/>
          <p:nvPr/>
        </p:nvSpPr>
        <p:spPr>
          <a:xfrm>
            <a:off x="7168896" y="2560320"/>
            <a:ext cx="246888" cy="246888"/>
          </a:xfrm>
          <a:prstGeom prst="rect">
            <a:avLst/>
          </a:prstGeom>
          <a:solidFill>
            <a:srgbClr val="1E90FF"/>
          </a:solidFill>
          <a:ln w="12700">
            <a:solidFill>
              <a:srgbClr val="1E90FF"/>
            </a:solidFill>
            <a:prstDash val="solid"/>
          </a:ln>
        </p:spPr>
        <p:txBody>
          <a:bodyPr/>
          <a:lstStyle/>
          <a:p>
            <a:endParaRPr lang="en-SG"/>
          </a:p>
        </p:txBody>
      </p:sp>
      <p:sp>
        <p:nvSpPr>
          <p:cNvPr id="94" name="Shape 92"/>
          <p:cNvSpPr/>
          <p:nvPr/>
        </p:nvSpPr>
        <p:spPr>
          <a:xfrm>
            <a:off x="6400800" y="1792224"/>
            <a:ext cx="1024128" cy="1024128"/>
          </a:xfrm>
          <a:prstGeom prst="rect">
            <a:avLst/>
          </a:prstGeom>
          <a:ln w="12700">
            <a:solidFill>
              <a:srgbClr val="00FF88"/>
            </a:solidFill>
            <a:prstDash val="solid"/>
          </a:ln>
        </p:spPr>
        <p:txBody>
          <a:bodyPr/>
          <a:lstStyle/>
          <a:p>
            <a:endParaRPr lang="en-SG"/>
          </a:p>
        </p:txBody>
      </p:sp>
      <p:sp>
        <p:nvSpPr>
          <p:cNvPr id="95" name="Text 93"/>
          <p:cNvSpPr/>
          <p:nvPr/>
        </p:nvSpPr>
        <p:spPr>
          <a:xfrm>
            <a:off x="6803136" y="2084832"/>
            <a:ext cx="292608" cy="292608"/>
          </a:xfrm>
          <a:prstGeom prst="rect">
            <a:avLst/>
          </a:prstGeom>
          <a:noFill/>
          <a:ln/>
        </p:spPr>
        <p:txBody>
          <a:bodyPr wrap="square" lIns="0" tIns="0" rIns="0" bIns="0" rtlCol="0" anchor="ctr"/>
          <a:lstStyle/>
          <a:p>
            <a:pPr marL="0" indent="0" algn="ctr">
              <a:buNone/>
            </a:pPr>
            <a:r>
              <a:rPr lang="en-US" sz="1600" b="1" dirty="0">
                <a:solidFill>
                  <a:srgbClr val="00FF88"/>
                </a:solidFill>
              </a:rPr>
              <a:t>✓</a:t>
            </a:r>
            <a:endParaRPr lang="en-US" sz="1600" dirty="0"/>
          </a:p>
        </p:txBody>
      </p:sp>
      <p:sp>
        <p:nvSpPr>
          <p:cNvPr id="96" name="Text 94"/>
          <p:cNvSpPr/>
          <p:nvPr/>
        </p:nvSpPr>
        <p:spPr>
          <a:xfrm>
            <a:off x="6400800" y="2834640"/>
            <a:ext cx="1051560" cy="329184"/>
          </a:xfrm>
          <a:prstGeom prst="rect">
            <a:avLst/>
          </a:prstGeom>
          <a:noFill/>
          <a:ln/>
        </p:spPr>
        <p:txBody>
          <a:bodyPr wrap="square" lIns="0" tIns="0" rIns="0" bIns="0" rtlCol="0" anchor="ctr"/>
          <a:lstStyle/>
          <a:p>
            <a:pPr marL="0" indent="0">
              <a:buNone/>
            </a:pPr>
            <a:r>
              <a:rPr lang="en-US" sz="750" dirty="0">
                <a:solidFill>
                  <a:srgbClr val="00FF88"/>
                </a:solidFill>
              </a:rPr>
              <a:t>Pixel-perfect</a:t>
            </a:r>
            <a:endParaRPr lang="en-US" sz="750" dirty="0"/>
          </a:p>
          <a:p>
            <a:pPr marL="0" indent="0">
              <a:buNone/>
            </a:pPr>
            <a:r>
              <a:rPr lang="en-US" sz="750" dirty="0">
                <a:solidFill>
                  <a:srgbClr val="00FF88"/>
                </a:solidFill>
              </a:rPr>
              <a:t>copy (no loss)</a:t>
            </a:r>
            <a:endParaRPr lang="en-US" sz="750" dirty="0"/>
          </a:p>
        </p:txBody>
      </p:sp>
      <p:sp>
        <p:nvSpPr>
          <p:cNvPr id="97" name="Text 95"/>
          <p:cNvSpPr/>
          <p:nvPr/>
        </p:nvSpPr>
        <p:spPr>
          <a:xfrm>
            <a:off x="4828032" y="3218688"/>
            <a:ext cx="1005840" cy="164592"/>
          </a:xfrm>
          <a:prstGeom prst="rect">
            <a:avLst/>
          </a:prstGeom>
          <a:noFill/>
          <a:ln/>
        </p:spPr>
        <p:txBody>
          <a:bodyPr wrap="square" lIns="0" tIns="0" rIns="0" bIns="0" rtlCol="0" anchor="ctr"/>
          <a:lstStyle/>
          <a:p>
            <a:pPr marL="0" indent="0">
              <a:buNone/>
            </a:pPr>
            <a:r>
              <a:rPr lang="en-US" sz="900" b="1" dirty="0">
                <a:solidFill>
                  <a:srgbClr val="2ECC71"/>
                </a:solidFill>
              </a:rPr>
              <a:t>Mechanism:</a:t>
            </a:r>
            <a:endParaRPr lang="en-US" sz="900" dirty="0"/>
          </a:p>
        </p:txBody>
      </p:sp>
      <p:sp>
        <p:nvSpPr>
          <p:cNvPr id="98" name="Text 96"/>
          <p:cNvSpPr/>
          <p:nvPr/>
        </p:nvSpPr>
        <p:spPr>
          <a:xfrm>
            <a:off x="5852160" y="3218688"/>
            <a:ext cx="2926080" cy="274320"/>
          </a:xfrm>
          <a:prstGeom prst="rect">
            <a:avLst/>
          </a:prstGeom>
          <a:noFill/>
          <a:ln/>
        </p:spPr>
        <p:txBody>
          <a:bodyPr wrap="square" lIns="0" tIns="0" rIns="0" bIns="0" rtlCol="0" anchor="ctr"/>
          <a:lstStyle/>
          <a:p>
            <a:pPr marL="0" indent="0">
              <a:buNone/>
            </a:pPr>
            <a:r>
              <a:rPr lang="en-US" sz="850" dirty="0">
                <a:solidFill>
                  <a:srgbClr val="1A1A2E"/>
                </a:solidFill>
              </a:rPr>
              <a:t>Repeating byte sequences encoded as shorter codes (DEFLATE/LZW) — fully reversible</a:t>
            </a:r>
            <a:endParaRPr lang="en-US" sz="850" dirty="0"/>
          </a:p>
        </p:txBody>
      </p:sp>
      <p:sp>
        <p:nvSpPr>
          <p:cNvPr id="99" name="Text 97"/>
          <p:cNvSpPr/>
          <p:nvPr/>
        </p:nvSpPr>
        <p:spPr>
          <a:xfrm>
            <a:off x="4828032" y="3547872"/>
            <a:ext cx="1005840" cy="164592"/>
          </a:xfrm>
          <a:prstGeom prst="rect">
            <a:avLst/>
          </a:prstGeom>
          <a:noFill/>
          <a:ln/>
        </p:spPr>
        <p:txBody>
          <a:bodyPr wrap="square" lIns="0" tIns="0" rIns="0" bIns="0" rtlCol="0" anchor="ctr"/>
          <a:lstStyle/>
          <a:p>
            <a:pPr marL="0" indent="0">
              <a:buNone/>
            </a:pPr>
            <a:r>
              <a:rPr lang="en-US" sz="900" b="1" dirty="0">
                <a:solidFill>
                  <a:srgbClr val="2ECC71"/>
                </a:solidFill>
              </a:rPr>
              <a:t>Ratio:</a:t>
            </a:r>
            <a:endParaRPr lang="en-US" sz="900" dirty="0"/>
          </a:p>
        </p:txBody>
      </p:sp>
      <p:sp>
        <p:nvSpPr>
          <p:cNvPr id="100" name="Text 98"/>
          <p:cNvSpPr/>
          <p:nvPr/>
        </p:nvSpPr>
        <p:spPr>
          <a:xfrm>
            <a:off x="5852160" y="3547872"/>
            <a:ext cx="2926080" cy="274320"/>
          </a:xfrm>
          <a:prstGeom prst="rect">
            <a:avLst/>
          </a:prstGeom>
          <a:noFill/>
          <a:ln/>
        </p:spPr>
        <p:txBody>
          <a:bodyPr wrap="square" lIns="0" tIns="0" rIns="0" bIns="0" rtlCol="0" anchor="ctr"/>
          <a:lstStyle/>
          <a:p>
            <a:pPr marL="0" indent="0">
              <a:buNone/>
            </a:pPr>
            <a:r>
              <a:rPr lang="en-US" sz="850" dirty="0">
                <a:solidFill>
                  <a:srgbClr val="1A1A2E"/>
                </a:solidFill>
              </a:rPr>
              <a:t>2:1 to 5:1 — larger than lossy, but every pixel is preserved exactly</a:t>
            </a:r>
            <a:endParaRPr lang="en-US" sz="850" dirty="0"/>
          </a:p>
        </p:txBody>
      </p:sp>
      <p:sp>
        <p:nvSpPr>
          <p:cNvPr id="101" name="Text 99"/>
          <p:cNvSpPr/>
          <p:nvPr/>
        </p:nvSpPr>
        <p:spPr>
          <a:xfrm>
            <a:off x="4828032" y="3877056"/>
            <a:ext cx="1005840" cy="164592"/>
          </a:xfrm>
          <a:prstGeom prst="rect">
            <a:avLst/>
          </a:prstGeom>
          <a:noFill/>
          <a:ln/>
        </p:spPr>
        <p:txBody>
          <a:bodyPr wrap="square" lIns="0" tIns="0" rIns="0" bIns="0" rtlCol="0" anchor="ctr"/>
          <a:lstStyle/>
          <a:p>
            <a:pPr marL="0" indent="0">
              <a:buNone/>
            </a:pPr>
            <a:r>
              <a:rPr lang="en-US" sz="900" b="1" dirty="0">
                <a:solidFill>
                  <a:srgbClr val="2ECC71"/>
                </a:solidFill>
              </a:rPr>
              <a:t>Formats:</a:t>
            </a:r>
            <a:endParaRPr lang="en-US" sz="900" dirty="0"/>
          </a:p>
        </p:txBody>
      </p:sp>
      <p:sp>
        <p:nvSpPr>
          <p:cNvPr id="102" name="Text 100"/>
          <p:cNvSpPr/>
          <p:nvPr/>
        </p:nvSpPr>
        <p:spPr>
          <a:xfrm>
            <a:off x="5852160" y="3877056"/>
            <a:ext cx="2926080" cy="274320"/>
          </a:xfrm>
          <a:prstGeom prst="rect">
            <a:avLst/>
          </a:prstGeom>
          <a:noFill/>
          <a:ln/>
        </p:spPr>
        <p:txBody>
          <a:bodyPr wrap="square" lIns="0" tIns="0" rIns="0" bIns="0" rtlCol="0" anchor="ctr"/>
          <a:lstStyle/>
          <a:p>
            <a:pPr marL="0" indent="0">
              <a:buNone/>
            </a:pPr>
            <a:r>
              <a:rPr lang="en-US" sz="850" dirty="0">
                <a:solidFill>
                  <a:srgbClr val="1A1A2E"/>
                </a:solidFill>
              </a:rPr>
              <a:t>PNG · GIF · BMP · TIFF (LZW) · RAW</a:t>
            </a:r>
            <a:endParaRPr lang="en-US" sz="850" dirty="0"/>
          </a:p>
        </p:txBody>
      </p:sp>
      <p:sp>
        <p:nvSpPr>
          <p:cNvPr id="103" name="Shape 101"/>
          <p:cNvSpPr/>
          <p:nvPr/>
        </p:nvSpPr>
        <p:spPr>
          <a:xfrm>
            <a:off x="4480560" y="1234440"/>
            <a:ext cx="182880" cy="2944368"/>
          </a:xfrm>
          <a:prstGeom prst="rect">
            <a:avLst/>
          </a:prstGeom>
          <a:solidFill>
            <a:srgbClr val="FFFFFF"/>
          </a:solidFill>
          <a:ln w="12700">
            <a:solidFill>
              <a:srgbClr val="FFFFFF"/>
            </a:solidFill>
            <a:prstDash val="solid"/>
          </a:ln>
        </p:spPr>
        <p:txBody>
          <a:bodyPr/>
          <a:lstStyle/>
          <a:p>
            <a:endParaRPr lang="en-SG"/>
          </a:p>
        </p:txBody>
      </p:sp>
      <p:sp>
        <p:nvSpPr>
          <p:cNvPr id="104" name="Text 102"/>
          <p:cNvSpPr/>
          <p:nvPr/>
        </p:nvSpPr>
        <p:spPr>
          <a:xfrm>
            <a:off x="4471416" y="2615184"/>
            <a:ext cx="201168" cy="329184"/>
          </a:xfrm>
          <a:prstGeom prst="rect">
            <a:avLst/>
          </a:prstGeom>
          <a:noFill/>
          <a:ln/>
        </p:spPr>
        <p:txBody>
          <a:bodyPr wrap="square" lIns="0" tIns="0" rIns="0" bIns="0" rtlCol="0" anchor="ctr"/>
          <a:lstStyle/>
          <a:p>
            <a:pPr marL="0" indent="0" algn="ctr">
              <a:buNone/>
            </a:pPr>
            <a:r>
              <a:rPr lang="en-US" sz="1000" b="1" dirty="0">
                <a:solidFill>
                  <a:srgbClr val="8899AA"/>
                </a:solidFill>
              </a:rPr>
              <a:t>VS</a:t>
            </a:r>
            <a:endParaRPr lang="en-US" sz="1000" dirty="0"/>
          </a:p>
        </p:txBody>
      </p:sp>
      <p:sp>
        <p:nvSpPr>
          <p:cNvPr id="105" name="Shape 103"/>
          <p:cNvSpPr/>
          <p:nvPr/>
        </p:nvSpPr>
        <p:spPr>
          <a:xfrm>
            <a:off x="228600" y="4279392"/>
            <a:ext cx="8686800" cy="694944"/>
          </a:xfrm>
          <a:prstGeom prst="rect">
            <a:avLst/>
          </a:prstGeom>
          <a:solidFill>
            <a:srgbClr val="FFFFFF"/>
          </a:solidFill>
          <a:ln w="12700">
            <a:solidFill>
              <a:srgbClr val="F4A261"/>
            </a:solidFill>
            <a:prstDash val="solid"/>
          </a:ln>
        </p:spPr>
        <p:txBody>
          <a:bodyPr/>
          <a:lstStyle/>
          <a:p>
            <a:endParaRPr lang="en-SG"/>
          </a:p>
        </p:txBody>
      </p:sp>
      <p:sp>
        <p:nvSpPr>
          <p:cNvPr id="106" name="Text 104"/>
          <p:cNvSpPr/>
          <p:nvPr/>
        </p:nvSpPr>
        <p:spPr>
          <a:xfrm>
            <a:off x="384048" y="4315968"/>
            <a:ext cx="1828800" cy="201168"/>
          </a:xfrm>
          <a:prstGeom prst="rect">
            <a:avLst/>
          </a:prstGeom>
          <a:noFill/>
          <a:ln/>
        </p:spPr>
        <p:txBody>
          <a:bodyPr wrap="square" lIns="0" tIns="0" rIns="0" bIns="0" rtlCol="0" anchor="ctr"/>
          <a:lstStyle/>
          <a:p>
            <a:pPr marL="0" indent="0">
              <a:buNone/>
            </a:pPr>
            <a:r>
              <a:rPr lang="en-US" sz="950" b="1" dirty="0">
                <a:solidFill>
                  <a:srgbClr val="F4A261"/>
                </a:solidFill>
              </a:rPr>
              <a:t>⚑  FORENSIC VALUE</a:t>
            </a:r>
            <a:endParaRPr lang="en-US" sz="950" dirty="0"/>
          </a:p>
        </p:txBody>
      </p:sp>
      <p:sp>
        <p:nvSpPr>
          <p:cNvPr id="107" name="Text 105"/>
          <p:cNvSpPr/>
          <p:nvPr/>
        </p:nvSpPr>
        <p:spPr>
          <a:xfrm>
            <a:off x="347472" y="4535424"/>
            <a:ext cx="2743200" cy="182880"/>
          </a:xfrm>
          <a:prstGeom prst="rect">
            <a:avLst/>
          </a:prstGeom>
          <a:noFill/>
          <a:ln/>
        </p:spPr>
        <p:txBody>
          <a:bodyPr wrap="square" lIns="0" tIns="0" rIns="0" bIns="0" rtlCol="0" anchor="ctr"/>
          <a:lstStyle/>
          <a:p>
            <a:pPr marL="0" indent="0">
              <a:buNone/>
            </a:pPr>
            <a:r>
              <a:rPr lang="en-US" sz="850" b="1" dirty="0">
                <a:solidFill>
                  <a:srgbClr val="F4A261"/>
                </a:solidFill>
              </a:rPr>
              <a:t>🔒  Evidence Integrity</a:t>
            </a:r>
            <a:endParaRPr lang="en-US" sz="850" dirty="0"/>
          </a:p>
        </p:txBody>
      </p:sp>
      <p:sp>
        <p:nvSpPr>
          <p:cNvPr id="108" name="Text 106"/>
          <p:cNvSpPr/>
          <p:nvPr/>
        </p:nvSpPr>
        <p:spPr>
          <a:xfrm>
            <a:off x="347472" y="4718304"/>
            <a:ext cx="2743200" cy="182880"/>
          </a:xfrm>
          <a:prstGeom prst="rect">
            <a:avLst/>
          </a:prstGeom>
          <a:noFill/>
          <a:ln/>
        </p:spPr>
        <p:txBody>
          <a:bodyPr wrap="square" lIns="0" tIns="0" rIns="0" bIns="0" rtlCol="0" anchor="ctr"/>
          <a:lstStyle/>
          <a:p>
            <a:pPr marL="0" indent="0">
              <a:buNone/>
            </a:pPr>
            <a:r>
              <a:rPr lang="en-US" sz="800" dirty="0">
                <a:solidFill>
                  <a:srgbClr val="1A1A2E"/>
                </a:solidFill>
              </a:rPr>
              <a:t>Lossless formats produce consistent hashes. Any tampering — even 1 pixel — changes the hash and is detectable.</a:t>
            </a:r>
            <a:endParaRPr lang="en-US" sz="800" dirty="0"/>
          </a:p>
        </p:txBody>
      </p:sp>
      <p:sp>
        <p:nvSpPr>
          <p:cNvPr id="109" name="Text 107"/>
          <p:cNvSpPr/>
          <p:nvPr/>
        </p:nvSpPr>
        <p:spPr>
          <a:xfrm>
            <a:off x="3227832" y="4535424"/>
            <a:ext cx="2743200" cy="182880"/>
          </a:xfrm>
          <a:prstGeom prst="rect">
            <a:avLst/>
          </a:prstGeom>
          <a:noFill/>
          <a:ln/>
        </p:spPr>
        <p:txBody>
          <a:bodyPr wrap="square" lIns="0" tIns="0" rIns="0" bIns="0" rtlCol="0" anchor="ctr"/>
          <a:lstStyle/>
          <a:p>
            <a:pPr marL="0" indent="0">
              <a:buNone/>
            </a:pPr>
            <a:r>
              <a:rPr lang="en-US" sz="850" b="1" dirty="0">
                <a:solidFill>
                  <a:srgbClr val="F4A261"/>
                </a:solidFill>
              </a:rPr>
              <a:t>⚠  Lossy Destroys Evidence</a:t>
            </a:r>
            <a:endParaRPr lang="en-US" sz="850" dirty="0"/>
          </a:p>
        </p:txBody>
      </p:sp>
      <p:sp>
        <p:nvSpPr>
          <p:cNvPr id="110" name="Text 108"/>
          <p:cNvSpPr/>
          <p:nvPr/>
        </p:nvSpPr>
        <p:spPr>
          <a:xfrm>
            <a:off x="3227832" y="4718304"/>
            <a:ext cx="2743200" cy="182880"/>
          </a:xfrm>
          <a:prstGeom prst="rect">
            <a:avLst/>
          </a:prstGeom>
          <a:noFill/>
          <a:ln/>
        </p:spPr>
        <p:txBody>
          <a:bodyPr wrap="square" lIns="0" tIns="0" rIns="0" bIns="0" rtlCol="0" anchor="ctr"/>
          <a:lstStyle/>
          <a:p>
            <a:pPr marL="0" indent="0">
              <a:buNone/>
            </a:pPr>
            <a:r>
              <a:rPr lang="en-US" sz="800" dirty="0">
                <a:solidFill>
                  <a:srgbClr val="1A1A2E"/>
                </a:solidFill>
              </a:rPr>
              <a:t>Re-saving a JPEG permanently discards data. Embedded LSB payloads and file signatures can be irreversibly lost.</a:t>
            </a:r>
            <a:endParaRPr lang="en-US" sz="800" dirty="0"/>
          </a:p>
        </p:txBody>
      </p:sp>
      <p:sp>
        <p:nvSpPr>
          <p:cNvPr id="111" name="Text 109"/>
          <p:cNvSpPr/>
          <p:nvPr/>
        </p:nvSpPr>
        <p:spPr>
          <a:xfrm>
            <a:off x="6108192" y="4535424"/>
            <a:ext cx="2743200" cy="182880"/>
          </a:xfrm>
          <a:prstGeom prst="rect">
            <a:avLst/>
          </a:prstGeom>
          <a:noFill/>
          <a:ln/>
        </p:spPr>
        <p:txBody>
          <a:bodyPr wrap="square" lIns="0" tIns="0" rIns="0" bIns="0" rtlCol="0" anchor="ctr"/>
          <a:lstStyle/>
          <a:p>
            <a:pPr marL="0" indent="0">
              <a:buNone/>
            </a:pPr>
            <a:r>
              <a:rPr lang="en-US" sz="850" b="1" dirty="0">
                <a:solidFill>
                  <a:srgbClr val="F4A261"/>
                </a:solidFill>
              </a:rPr>
              <a:t>🔬  Artefact Analysis</a:t>
            </a:r>
            <a:endParaRPr lang="en-US" sz="850" dirty="0"/>
          </a:p>
        </p:txBody>
      </p:sp>
      <p:sp>
        <p:nvSpPr>
          <p:cNvPr id="112" name="Text 110"/>
          <p:cNvSpPr/>
          <p:nvPr/>
        </p:nvSpPr>
        <p:spPr>
          <a:xfrm>
            <a:off x="6108192" y="4718304"/>
            <a:ext cx="2743200" cy="182880"/>
          </a:xfrm>
          <a:prstGeom prst="rect">
            <a:avLst/>
          </a:prstGeom>
          <a:noFill/>
          <a:ln/>
        </p:spPr>
        <p:txBody>
          <a:bodyPr wrap="square" lIns="0" tIns="0" rIns="0" bIns="0" rtlCol="0" anchor="ctr"/>
          <a:lstStyle/>
          <a:p>
            <a:pPr marL="0" indent="0">
              <a:buNone/>
            </a:pPr>
            <a:r>
              <a:rPr lang="en-US" sz="800" dirty="0">
                <a:solidFill>
                  <a:srgbClr val="1A1A2E"/>
                </a:solidFill>
              </a:rPr>
              <a:t>JPEG blocking artefacts (8×8 grid patterns) reveal compression history and can indicate image manipulation or forgery.</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A855F7"/>
          </a:solidFill>
          <a:ln w="12700">
            <a:solidFill>
              <a:srgbClr val="A855F7"/>
            </a:solidFill>
            <a:prstDash val="solid"/>
          </a:ln>
        </p:spPr>
        <p:txBody>
          <a:bodyPr/>
          <a:lstStyle/>
          <a:p>
            <a:endParaRPr lang="en-SG"/>
          </a:p>
        </p:txBody>
      </p:sp>
      <p:sp>
        <p:nvSpPr>
          <p:cNvPr id="3" name="Text 1"/>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A855F7"/>
                </a:solidFill>
              </a:rPr>
              <a:t>SECTION 4</a:t>
            </a:r>
            <a:endParaRPr lang="en-US" sz="1300" dirty="0"/>
          </a:p>
        </p:txBody>
      </p:sp>
      <p:sp>
        <p:nvSpPr>
          <p:cNvPr id="4" name="Text 2"/>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5200" b="1" dirty="0">
                <a:solidFill>
                  <a:srgbClr val="1A1A2E"/>
                </a:solidFill>
              </a:rPr>
              <a:t>Image Recovery</a:t>
            </a:r>
            <a:endParaRPr lang="en-US" sz="5200" dirty="0"/>
          </a:p>
        </p:txBody>
      </p:sp>
      <p:sp>
        <p:nvSpPr>
          <p:cNvPr id="5" name="Text 3"/>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rPr>
              <a:t>Locating, carving, and reconstructing image files from disk images and unallocated space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132381"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40941" cy="256032"/>
          </a:xfrm>
          <a:prstGeom prst="rect">
            <a:avLst/>
          </a:prstGeom>
          <a:noFill/>
          <a:ln/>
        </p:spPr>
        <p:txBody>
          <a:bodyPr wrap="square" lIns="0" tIns="0" rIns="0" bIns="0" rtlCol="0" anchor="ctr"/>
          <a:lstStyle/>
          <a:p>
            <a:pPr marL="0" indent="0">
              <a:buNone/>
            </a:pPr>
            <a:r>
              <a:rPr lang="en-US" sz="850" b="1" dirty="0">
                <a:solidFill>
                  <a:srgbClr val="0D1B2A"/>
                </a:solidFill>
              </a:rPr>
              <a:t>SECTION 4 · IMAGE RECOVERY</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Image Recovery Methodology</a:t>
            </a:r>
            <a:endParaRPr lang="en-US" sz="2800" dirty="0"/>
          </a:p>
        </p:txBody>
      </p:sp>
      <p:sp>
        <p:nvSpPr>
          <p:cNvPr id="5" name="Shape 3"/>
          <p:cNvSpPr/>
          <p:nvPr/>
        </p:nvSpPr>
        <p:spPr>
          <a:xfrm>
            <a:off x="320040" y="1170432"/>
            <a:ext cx="8503920" cy="36576"/>
          </a:xfrm>
          <a:prstGeom prst="rect">
            <a:avLst/>
          </a:prstGeom>
          <a:solidFill>
            <a:srgbClr val="A855F7"/>
          </a:solidFill>
          <a:ln w="12700">
            <a:solidFill>
              <a:srgbClr val="A855F7"/>
            </a:solidFill>
            <a:prstDash val="solid"/>
          </a:ln>
        </p:spPr>
        <p:txBody>
          <a:bodyPr/>
          <a:lstStyle/>
          <a:p>
            <a:endParaRPr lang="en-SG"/>
          </a:p>
        </p:txBody>
      </p:sp>
      <p:sp>
        <p:nvSpPr>
          <p:cNvPr id="6" name="Shape 4"/>
          <p:cNvSpPr/>
          <p:nvPr/>
        </p:nvSpPr>
        <p:spPr>
          <a:xfrm>
            <a:off x="320040" y="1316736"/>
            <a:ext cx="8503920" cy="621792"/>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316736"/>
            <a:ext cx="502920" cy="621792"/>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320040" y="1316736"/>
            <a:ext cx="502920" cy="621792"/>
          </a:xfrm>
          <a:prstGeom prst="rect">
            <a:avLst/>
          </a:prstGeom>
          <a:noFill/>
          <a:ln/>
        </p:spPr>
        <p:txBody>
          <a:bodyPr wrap="square" lIns="0" tIns="0" rIns="0" bIns="0" rtlCol="0" anchor="ctr"/>
          <a:lstStyle/>
          <a:p>
            <a:pPr marL="0" indent="0" algn="ctr">
              <a:buNone/>
            </a:pPr>
            <a:r>
              <a:rPr lang="en-US" sz="2000" b="1" dirty="0">
                <a:solidFill>
                  <a:srgbClr val="0D1B2A"/>
                </a:solidFill>
              </a:rPr>
              <a:t>1</a:t>
            </a:r>
            <a:endParaRPr lang="en-US" sz="2000" dirty="0"/>
          </a:p>
        </p:txBody>
      </p:sp>
      <p:sp>
        <p:nvSpPr>
          <p:cNvPr id="9" name="Text 7"/>
          <p:cNvSpPr/>
          <p:nvPr/>
        </p:nvSpPr>
        <p:spPr>
          <a:xfrm>
            <a:off x="914400" y="1353312"/>
            <a:ext cx="2377440" cy="256032"/>
          </a:xfrm>
          <a:prstGeom prst="rect">
            <a:avLst/>
          </a:prstGeom>
          <a:noFill/>
          <a:ln/>
        </p:spPr>
        <p:txBody>
          <a:bodyPr wrap="square" lIns="0" tIns="0" rIns="0" bIns="0" rtlCol="0" anchor="ctr"/>
          <a:lstStyle/>
          <a:p>
            <a:pPr marL="0" indent="0">
              <a:buNone/>
            </a:pPr>
            <a:r>
              <a:rPr lang="en-US" sz="1100" b="1" dirty="0">
                <a:solidFill>
                  <a:srgbClr val="00B4D8"/>
                </a:solidFill>
              </a:rPr>
              <a:t>🖴  Acquire Image</a:t>
            </a:r>
            <a:endParaRPr lang="en-US" sz="1100" dirty="0"/>
          </a:p>
        </p:txBody>
      </p:sp>
      <p:sp>
        <p:nvSpPr>
          <p:cNvPr id="10" name="Text 8"/>
          <p:cNvSpPr/>
          <p:nvPr/>
        </p:nvSpPr>
        <p:spPr>
          <a:xfrm>
            <a:off x="3383280" y="1353312"/>
            <a:ext cx="5321808" cy="530352"/>
          </a:xfrm>
          <a:prstGeom prst="rect">
            <a:avLst/>
          </a:prstGeom>
          <a:noFill/>
          <a:ln/>
        </p:spPr>
        <p:txBody>
          <a:bodyPr wrap="square" lIns="0" tIns="0" rIns="0" bIns="0" rtlCol="0" anchor="ctr"/>
          <a:lstStyle/>
          <a:p>
            <a:pPr marL="0" indent="0">
              <a:buNone/>
            </a:pPr>
            <a:r>
              <a:rPr lang="en-US" sz="900" dirty="0">
                <a:solidFill>
                  <a:srgbClr val="1A1A2E"/>
                </a:solidFill>
              </a:rPr>
              <a:t>Create a verified forensic bit-for-bit copy of the storage media. Hash the source and image to confirm integrity (MD5, SHA-256).</a:t>
            </a:r>
            <a:endParaRPr lang="en-US" sz="900" dirty="0"/>
          </a:p>
        </p:txBody>
      </p:sp>
      <p:sp>
        <p:nvSpPr>
          <p:cNvPr id="11" name="Text 9"/>
          <p:cNvSpPr/>
          <p:nvPr/>
        </p:nvSpPr>
        <p:spPr>
          <a:xfrm>
            <a:off x="438912" y="1938528"/>
            <a:ext cx="274320" cy="73152"/>
          </a:xfrm>
          <a:prstGeom prst="rect">
            <a:avLst/>
          </a:prstGeom>
          <a:noFill/>
          <a:ln/>
        </p:spPr>
        <p:txBody>
          <a:bodyPr wrap="square" lIns="0" tIns="0" rIns="0" bIns="0" rtlCol="0" anchor="ctr"/>
          <a:lstStyle/>
          <a:p>
            <a:pPr marL="0" indent="0" algn="ctr">
              <a:buNone/>
            </a:pPr>
            <a:r>
              <a:rPr lang="en-US" sz="800" dirty="0">
                <a:solidFill>
                  <a:srgbClr val="00B4D8"/>
                </a:solidFill>
              </a:rPr>
              <a:t>↓</a:t>
            </a:r>
            <a:endParaRPr lang="en-US" sz="800" dirty="0"/>
          </a:p>
        </p:txBody>
      </p:sp>
      <p:sp>
        <p:nvSpPr>
          <p:cNvPr id="12" name="Shape 10"/>
          <p:cNvSpPr/>
          <p:nvPr/>
        </p:nvSpPr>
        <p:spPr>
          <a:xfrm>
            <a:off x="320040" y="2002536"/>
            <a:ext cx="8503920" cy="621792"/>
          </a:xfrm>
          <a:prstGeom prst="rect">
            <a:avLst/>
          </a:prstGeom>
          <a:solidFill>
            <a:srgbClr val="EEF6FB"/>
          </a:solidFill>
          <a:ln w="12700">
            <a:solidFill>
              <a:srgbClr val="EEF6FB"/>
            </a:solidFill>
            <a:prstDash val="solid"/>
          </a:ln>
        </p:spPr>
        <p:txBody>
          <a:bodyPr/>
          <a:lstStyle/>
          <a:p>
            <a:endParaRPr lang="en-SG"/>
          </a:p>
        </p:txBody>
      </p:sp>
      <p:sp>
        <p:nvSpPr>
          <p:cNvPr id="13" name="Shape 11"/>
          <p:cNvSpPr/>
          <p:nvPr/>
        </p:nvSpPr>
        <p:spPr>
          <a:xfrm>
            <a:off x="320040" y="2002536"/>
            <a:ext cx="502920" cy="621792"/>
          </a:xfrm>
          <a:prstGeom prst="rect">
            <a:avLst/>
          </a:prstGeom>
          <a:solidFill>
            <a:srgbClr val="F4A261"/>
          </a:solidFill>
          <a:ln w="12700">
            <a:solidFill>
              <a:srgbClr val="F4A261"/>
            </a:solidFill>
            <a:prstDash val="solid"/>
          </a:ln>
        </p:spPr>
        <p:txBody>
          <a:bodyPr/>
          <a:lstStyle/>
          <a:p>
            <a:endParaRPr lang="en-SG"/>
          </a:p>
        </p:txBody>
      </p:sp>
      <p:sp>
        <p:nvSpPr>
          <p:cNvPr id="14" name="Text 12"/>
          <p:cNvSpPr/>
          <p:nvPr/>
        </p:nvSpPr>
        <p:spPr>
          <a:xfrm>
            <a:off x="320040" y="2002536"/>
            <a:ext cx="502920" cy="621792"/>
          </a:xfrm>
          <a:prstGeom prst="rect">
            <a:avLst/>
          </a:prstGeom>
          <a:noFill/>
          <a:ln/>
        </p:spPr>
        <p:txBody>
          <a:bodyPr wrap="square" lIns="0" tIns="0" rIns="0" bIns="0" rtlCol="0" anchor="ctr"/>
          <a:lstStyle/>
          <a:p>
            <a:pPr marL="0" indent="0" algn="ctr">
              <a:buNone/>
            </a:pPr>
            <a:r>
              <a:rPr lang="en-US" sz="2000" b="1" dirty="0">
                <a:solidFill>
                  <a:srgbClr val="0D1B2A"/>
                </a:solidFill>
              </a:rPr>
              <a:t>2</a:t>
            </a:r>
            <a:endParaRPr lang="en-US" sz="2000" dirty="0"/>
          </a:p>
        </p:txBody>
      </p:sp>
      <p:sp>
        <p:nvSpPr>
          <p:cNvPr id="15" name="Text 13"/>
          <p:cNvSpPr/>
          <p:nvPr/>
        </p:nvSpPr>
        <p:spPr>
          <a:xfrm>
            <a:off x="914400" y="2039112"/>
            <a:ext cx="2377440" cy="256032"/>
          </a:xfrm>
          <a:prstGeom prst="rect">
            <a:avLst/>
          </a:prstGeom>
          <a:noFill/>
          <a:ln/>
        </p:spPr>
        <p:txBody>
          <a:bodyPr wrap="square" lIns="0" tIns="0" rIns="0" bIns="0" rtlCol="0" anchor="ctr"/>
          <a:lstStyle/>
          <a:p>
            <a:pPr marL="0" indent="0">
              <a:buNone/>
            </a:pPr>
            <a:r>
              <a:rPr lang="en-US" sz="1100" b="1" dirty="0">
                <a:solidFill>
                  <a:srgbClr val="F4A261"/>
                </a:solidFill>
              </a:rPr>
              <a:t>🔍  Search Allocated Space</a:t>
            </a:r>
            <a:endParaRPr lang="en-US" sz="1100" dirty="0"/>
          </a:p>
        </p:txBody>
      </p:sp>
      <p:sp>
        <p:nvSpPr>
          <p:cNvPr id="16" name="Text 14"/>
          <p:cNvSpPr/>
          <p:nvPr/>
        </p:nvSpPr>
        <p:spPr>
          <a:xfrm>
            <a:off x="3383280" y="2039112"/>
            <a:ext cx="5321808" cy="530352"/>
          </a:xfrm>
          <a:prstGeom prst="rect">
            <a:avLst/>
          </a:prstGeom>
          <a:noFill/>
          <a:ln/>
        </p:spPr>
        <p:txBody>
          <a:bodyPr wrap="square" lIns="0" tIns="0" rIns="0" bIns="0" rtlCol="0" anchor="ctr"/>
          <a:lstStyle/>
          <a:p>
            <a:pPr marL="0" indent="0">
              <a:buNone/>
            </a:pPr>
            <a:r>
              <a:rPr lang="en-US" sz="900" dirty="0">
                <a:solidFill>
                  <a:srgbClr val="1A1A2E"/>
                </a:solidFill>
              </a:rPr>
              <a:t>Search active file system entries using forensic tools (Autopsy, FTK, X-Ways). List all image files by extension, MIME type, and hash.</a:t>
            </a:r>
            <a:endParaRPr lang="en-US" sz="900" dirty="0"/>
          </a:p>
        </p:txBody>
      </p:sp>
      <p:sp>
        <p:nvSpPr>
          <p:cNvPr id="17" name="Text 15"/>
          <p:cNvSpPr/>
          <p:nvPr/>
        </p:nvSpPr>
        <p:spPr>
          <a:xfrm>
            <a:off x="438912" y="2624328"/>
            <a:ext cx="274320" cy="73152"/>
          </a:xfrm>
          <a:prstGeom prst="rect">
            <a:avLst/>
          </a:prstGeom>
          <a:noFill/>
          <a:ln/>
        </p:spPr>
        <p:txBody>
          <a:bodyPr wrap="square" lIns="0" tIns="0" rIns="0" bIns="0" rtlCol="0" anchor="ctr"/>
          <a:lstStyle/>
          <a:p>
            <a:pPr marL="0" indent="0" algn="ctr">
              <a:buNone/>
            </a:pPr>
            <a:r>
              <a:rPr lang="en-US" sz="800" dirty="0">
                <a:solidFill>
                  <a:srgbClr val="F4A261"/>
                </a:solidFill>
              </a:rPr>
              <a:t>↓</a:t>
            </a:r>
            <a:endParaRPr lang="en-US" sz="800" dirty="0"/>
          </a:p>
        </p:txBody>
      </p:sp>
      <p:sp>
        <p:nvSpPr>
          <p:cNvPr id="18" name="Shape 16"/>
          <p:cNvSpPr/>
          <p:nvPr/>
        </p:nvSpPr>
        <p:spPr>
          <a:xfrm>
            <a:off x="320040" y="2688336"/>
            <a:ext cx="8503920" cy="621792"/>
          </a:xfrm>
          <a:prstGeom prst="rect">
            <a:avLst/>
          </a:prstGeom>
          <a:solidFill>
            <a:srgbClr val="EEF6FB"/>
          </a:solidFill>
          <a:ln w="12700">
            <a:solidFill>
              <a:srgbClr val="EEF6FB"/>
            </a:solidFill>
            <a:prstDash val="solid"/>
          </a:ln>
        </p:spPr>
        <p:txBody>
          <a:bodyPr/>
          <a:lstStyle/>
          <a:p>
            <a:endParaRPr lang="en-SG"/>
          </a:p>
        </p:txBody>
      </p:sp>
      <p:sp>
        <p:nvSpPr>
          <p:cNvPr id="19" name="Shape 17"/>
          <p:cNvSpPr/>
          <p:nvPr/>
        </p:nvSpPr>
        <p:spPr>
          <a:xfrm>
            <a:off x="320040" y="2688336"/>
            <a:ext cx="502920" cy="621792"/>
          </a:xfrm>
          <a:prstGeom prst="rect">
            <a:avLst/>
          </a:prstGeom>
          <a:solidFill>
            <a:srgbClr val="A855F7"/>
          </a:solidFill>
          <a:ln w="12700">
            <a:solidFill>
              <a:srgbClr val="A855F7"/>
            </a:solidFill>
            <a:prstDash val="solid"/>
          </a:ln>
        </p:spPr>
        <p:txBody>
          <a:bodyPr/>
          <a:lstStyle/>
          <a:p>
            <a:endParaRPr lang="en-SG"/>
          </a:p>
        </p:txBody>
      </p:sp>
      <p:sp>
        <p:nvSpPr>
          <p:cNvPr id="20" name="Text 18"/>
          <p:cNvSpPr/>
          <p:nvPr/>
        </p:nvSpPr>
        <p:spPr>
          <a:xfrm>
            <a:off x="320040" y="2688336"/>
            <a:ext cx="502920" cy="621792"/>
          </a:xfrm>
          <a:prstGeom prst="rect">
            <a:avLst/>
          </a:prstGeom>
          <a:noFill/>
          <a:ln/>
        </p:spPr>
        <p:txBody>
          <a:bodyPr wrap="square" lIns="0" tIns="0" rIns="0" bIns="0" rtlCol="0" anchor="ctr"/>
          <a:lstStyle/>
          <a:p>
            <a:pPr marL="0" indent="0" algn="ctr">
              <a:buNone/>
            </a:pPr>
            <a:r>
              <a:rPr lang="en-US" sz="2000" b="1" dirty="0">
                <a:solidFill>
                  <a:srgbClr val="0D1B2A"/>
                </a:solidFill>
              </a:rPr>
              <a:t>3</a:t>
            </a:r>
            <a:endParaRPr lang="en-US" sz="2000" dirty="0"/>
          </a:p>
        </p:txBody>
      </p:sp>
      <p:sp>
        <p:nvSpPr>
          <p:cNvPr id="21" name="Text 19"/>
          <p:cNvSpPr/>
          <p:nvPr/>
        </p:nvSpPr>
        <p:spPr>
          <a:xfrm>
            <a:off x="914400" y="2724912"/>
            <a:ext cx="2377440" cy="256032"/>
          </a:xfrm>
          <a:prstGeom prst="rect">
            <a:avLst/>
          </a:prstGeom>
          <a:noFill/>
          <a:ln/>
        </p:spPr>
        <p:txBody>
          <a:bodyPr wrap="square" lIns="0" tIns="0" rIns="0" bIns="0" rtlCol="0" anchor="ctr"/>
          <a:lstStyle/>
          <a:p>
            <a:pPr marL="0" indent="0">
              <a:buNone/>
            </a:pPr>
            <a:r>
              <a:rPr lang="en-US" sz="1100" b="1" dirty="0">
                <a:solidFill>
                  <a:srgbClr val="A855F7"/>
                </a:solidFill>
              </a:rPr>
              <a:t>🗑️  Search Unallocated Space</a:t>
            </a:r>
            <a:endParaRPr lang="en-US" sz="1100" dirty="0"/>
          </a:p>
        </p:txBody>
      </p:sp>
      <p:sp>
        <p:nvSpPr>
          <p:cNvPr id="22" name="Text 20"/>
          <p:cNvSpPr/>
          <p:nvPr/>
        </p:nvSpPr>
        <p:spPr>
          <a:xfrm>
            <a:off x="3383280" y="2724912"/>
            <a:ext cx="5321808" cy="530352"/>
          </a:xfrm>
          <a:prstGeom prst="rect">
            <a:avLst/>
          </a:prstGeom>
          <a:noFill/>
          <a:ln/>
        </p:spPr>
        <p:txBody>
          <a:bodyPr wrap="square" lIns="0" tIns="0" rIns="0" bIns="0" rtlCol="0" anchor="ctr"/>
          <a:lstStyle/>
          <a:p>
            <a:pPr marL="0" indent="0">
              <a:buNone/>
            </a:pPr>
            <a:r>
              <a:rPr lang="en-US" sz="900" dirty="0">
                <a:solidFill>
                  <a:srgbClr val="1A1A2E"/>
                </a:solidFill>
              </a:rPr>
              <a:t>Deleted files leave data in unallocated clusters. Scan unallocated space for image file signatures (magic bytes) — this is data carving.</a:t>
            </a:r>
            <a:endParaRPr lang="en-US" sz="900" dirty="0"/>
          </a:p>
        </p:txBody>
      </p:sp>
      <p:sp>
        <p:nvSpPr>
          <p:cNvPr id="23" name="Text 21"/>
          <p:cNvSpPr/>
          <p:nvPr/>
        </p:nvSpPr>
        <p:spPr>
          <a:xfrm>
            <a:off x="438912" y="3310128"/>
            <a:ext cx="274320" cy="73152"/>
          </a:xfrm>
          <a:prstGeom prst="rect">
            <a:avLst/>
          </a:prstGeom>
          <a:noFill/>
          <a:ln/>
        </p:spPr>
        <p:txBody>
          <a:bodyPr wrap="square" lIns="0" tIns="0" rIns="0" bIns="0" rtlCol="0" anchor="ctr"/>
          <a:lstStyle/>
          <a:p>
            <a:pPr marL="0" indent="0" algn="ctr">
              <a:buNone/>
            </a:pPr>
            <a:r>
              <a:rPr lang="en-US" sz="800" dirty="0">
                <a:solidFill>
                  <a:srgbClr val="A855F7"/>
                </a:solidFill>
              </a:rPr>
              <a:t>↓</a:t>
            </a:r>
            <a:endParaRPr lang="en-US" sz="800" dirty="0"/>
          </a:p>
        </p:txBody>
      </p:sp>
      <p:sp>
        <p:nvSpPr>
          <p:cNvPr id="24" name="Shape 22"/>
          <p:cNvSpPr/>
          <p:nvPr/>
        </p:nvSpPr>
        <p:spPr>
          <a:xfrm>
            <a:off x="320040" y="3374136"/>
            <a:ext cx="8503920" cy="621792"/>
          </a:xfrm>
          <a:prstGeom prst="rect">
            <a:avLst/>
          </a:prstGeom>
          <a:solidFill>
            <a:srgbClr val="EEF6FB"/>
          </a:solidFill>
          <a:ln w="12700">
            <a:solidFill>
              <a:srgbClr val="EEF6FB"/>
            </a:solidFill>
            <a:prstDash val="solid"/>
          </a:ln>
        </p:spPr>
        <p:txBody>
          <a:bodyPr/>
          <a:lstStyle/>
          <a:p>
            <a:endParaRPr lang="en-SG"/>
          </a:p>
        </p:txBody>
      </p:sp>
      <p:sp>
        <p:nvSpPr>
          <p:cNvPr id="25" name="Shape 23"/>
          <p:cNvSpPr/>
          <p:nvPr/>
        </p:nvSpPr>
        <p:spPr>
          <a:xfrm>
            <a:off x="320040" y="3374136"/>
            <a:ext cx="502920" cy="621792"/>
          </a:xfrm>
          <a:prstGeom prst="rect">
            <a:avLst/>
          </a:prstGeom>
          <a:solidFill>
            <a:srgbClr val="2ECC71"/>
          </a:solidFill>
          <a:ln w="12700">
            <a:solidFill>
              <a:srgbClr val="2ECC71"/>
            </a:solidFill>
            <a:prstDash val="solid"/>
          </a:ln>
        </p:spPr>
        <p:txBody>
          <a:bodyPr/>
          <a:lstStyle/>
          <a:p>
            <a:endParaRPr lang="en-SG"/>
          </a:p>
        </p:txBody>
      </p:sp>
      <p:sp>
        <p:nvSpPr>
          <p:cNvPr id="26" name="Text 24"/>
          <p:cNvSpPr/>
          <p:nvPr/>
        </p:nvSpPr>
        <p:spPr>
          <a:xfrm>
            <a:off x="320040" y="3374136"/>
            <a:ext cx="502920" cy="621792"/>
          </a:xfrm>
          <a:prstGeom prst="rect">
            <a:avLst/>
          </a:prstGeom>
          <a:noFill/>
          <a:ln/>
        </p:spPr>
        <p:txBody>
          <a:bodyPr wrap="square" lIns="0" tIns="0" rIns="0" bIns="0" rtlCol="0" anchor="ctr"/>
          <a:lstStyle/>
          <a:p>
            <a:pPr marL="0" indent="0" algn="ctr">
              <a:buNone/>
            </a:pPr>
            <a:r>
              <a:rPr lang="en-US" sz="2000" b="1" dirty="0">
                <a:solidFill>
                  <a:srgbClr val="0D1B2A"/>
                </a:solidFill>
              </a:rPr>
              <a:t>4</a:t>
            </a:r>
            <a:endParaRPr lang="en-US" sz="2000" dirty="0"/>
          </a:p>
        </p:txBody>
      </p:sp>
      <p:sp>
        <p:nvSpPr>
          <p:cNvPr id="27" name="Text 25"/>
          <p:cNvSpPr/>
          <p:nvPr/>
        </p:nvSpPr>
        <p:spPr>
          <a:xfrm>
            <a:off x="914400" y="3410712"/>
            <a:ext cx="2377440" cy="256032"/>
          </a:xfrm>
          <a:prstGeom prst="rect">
            <a:avLst/>
          </a:prstGeom>
          <a:noFill/>
          <a:ln/>
        </p:spPr>
        <p:txBody>
          <a:bodyPr wrap="square" lIns="0" tIns="0" rIns="0" bIns="0" rtlCol="0" anchor="ctr"/>
          <a:lstStyle/>
          <a:p>
            <a:pPr marL="0" indent="0">
              <a:buNone/>
            </a:pPr>
            <a:r>
              <a:rPr lang="en-US" sz="1100" b="1" dirty="0">
                <a:solidFill>
                  <a:srgbClr val="2ECC71"/>
                </a:solidFill>
              </a:rPr>
              <a:t>🧩  Reconstruct Fragments</a:t>
            </a:r>
            <a:endParaRPr lang="en-US" sz="1100" dirty="0"/>
          </a:p>
        </p:txBody>
      </p:sp>
      <p:sp>
        <p:nvSpPr>
          <p:cNvPr id="28" name="Text 26"/>
          <p:cNvSpPr/>
          <p:nvPr/>
        </p:nvSpPr>
        <p:spPr>
          <a:xfrm>
            <a:off x="3383280" y="3410712"/>
            <a:ext cx="5321808" cy="530352"/>
          </a:xfrm>
          <a:prstGeom prst="rect">
            <a:avLst/>
          </a:prstGeom>
          <a:noFill/>
          <a:ln/>
        </p:spPr>
        <p:txBody>
          <a:bodyPr wrap="square" lIns="0" tIns="0" rIns="0" bIns="0" rtlCol="0" anchor="ctr"/>
          <a:lstStyle/>
          <a:p>
            <a:pPr marL="0" indent="0">
              <a:buNone/>
            </a:pPr>
            <a:r>
              <a:rPr lang="en-US" sz="900" dirty="0">
                <a:solidFill>
                  <a:srgbClr val="1A1A2E"/>
                </a:solidFill>
              </a:rPr>
              <a:t>Fragmented files may span non-contiguous clusters. Identify all clusters belonging to a file and reassemble, repairing headers if corrupted.</a:t>
            </a:r>
            <a:endParaRPr lang="en-US" sz="900" dirty="0"/>
          </a:p>
        </p:txBody>
      </p:sp>
      <p:sp>
        <p:nvSpPr>
          <p:cNvPr id="29" name="Text 27"/>
          <p:cNvSpPr/>
          <p:nvPr/>
        </p:nvSpPr>
        <p:spPr>
          <a:xfrm>
            <a:off x="438912" y="3995928"/>
            <a:ext cx="274320" cy="73152"/>
          </a:xfrm>
          <a:prstGeom prst="rect">
            <a:avLst/>
          </a:prstGeom>
          <a:noFill/>
          <a:ln/>
        </p:spPr>
        <p:txBody>
          <a:bodyPr wrap="square" lIns="0" tIns="0" rIns="0" bIns="0" rtlCol="0" anchor="ctr"/>
          <a:lstStyle/>
          <a:p>
            <a:pPr marL="0" indent="0" algn="ctr">
              <a:buNone/>
            </a:pPr>
            <a:r>
              <a:rPr lang="en-US" sz="800" dirty="0">
                <a:solidFill>
                  <a:srgbClr val="2ECC71"/>
                </a:solidFill>
              </a:rPr>
              <a:t>↓</a:t>
            </a:r>
            <a:endParaRPr lang="en-US" sz="800" dirty="0"/>
          </a:p>
        </p:txBody>
      </p:sp>
      <p:sp>
        <p:nvSpPr>
          <p:cNvPr id="30" name="Shape 28"/>
          <p:cNvSpPr/>
          <p:nvPr/>
        </p:nvSpPr>
        <p:spPr>
          <a:xfrm>
            <a:off x="320040" y="4059936"/>
            <a:ext cx="8503920" cy="621792"/>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320040" y="4059936"/>
            <a:ext cx="502920" cy="621792"/>
          </a:xfrm>
          <a:prstGeom prst="rect">
            <a:avLst/>
          </a:prstGeom>
          <a:solidFill>
            <a:srgbClr val="F1C40F"/>
          </a:solidFill>
          <a:ln w="12700">
            <a:solidFill>
              <a:srgbClr val="F1C40F"/>
            </a:solidFill>
            <a:prstDash val="solid"/>
          </a:ln>
        </p:spPr>
        <p:txBody>
          <a:bodyPr/>
          <a:lstStyle/>
          <a:p>
            <a:endParaRPr lang="en-SG"/>
          </a:p>
        </p:txBody>
      </p:sp>
      <p:sp>
        <p:nvSpPr>
          <p:cNvPr id="32" name="Text 30"/>
          <p:cNvSpPr/>
          <p:nvPr/>
        </p:nvSpPr>
        <p:spPr>
          <a:xfrm>
            <a:off x="320040" y="4059936"/>
            <a:ext cx="502920" cy="621792"/>
          </a:xfrm>
          <a:prstGeom prst="rect">
            <a:avLst/>
          </a:prstGeom>
          <a:noFill/>
          <a:ln/>
        </p:spPr>
        <p:txBody>
          <a:bodyPr wrap="square" lIns="0" tIns="0" rIns="0" bIns="0" rtlCol="0" anchor="ctr"/>
          <a:lstStyle/>
          <a:p>
            <a:pPr marL="0" indent="0" algn="ctr">
              <a:buNone/>
            </a:pPr>
            <a:r>
              <a:rPr lang="en-US" sz="2000" b="1" dirty="0">
                <a:solidFill>
                  <a:srgbClr val="0D1B2A"/>
                </a:solidFill>
              </a:rPr>
              <a:t>5</a:t>
            </a:r>
            <a:endParaRPr lang="en-US" sz="2000" dirty="0"/>
          </a:p>
        </p:txBody>
      </p:sp>
      <p:sp>
        <p:nvSpPr>
          <p:cNvPr id="33" name="Text 31"/>
          <p:cNvSpPr/>
          <p:nvPr/>
        </p:nvSpPr>
        <p:spPr>
          <a:xfrm>
            <a:off x="914400" y="4096512"/>
            <a:ext cx="2377440" cy="256032"/>
          </a:xfrm>
          <a:prstGeom prst="rect">
            <a:avLst/>
          </a:prstGeom>
          <a:noFill/>
          <a:ln/>
        </p:spPr>
        <p:txBody>
          <a:bodyPr wrap="square" lIns="0" tIns="0" rIns="0" bIns="0" rtlCol="0" anchor="ctr"/>
          <a:lstStyle/>
          <a:p>
            <a:pPr marL="0" indent="0">
              <a:buNone/>
            </a:pPr>
            <a:r>
              <a:rPr lang="en-US" sz="1100" b="1" dirty="0">
                <a:solidFill>
                  <a:srgbClr val="F1C40F"/>
                </a:solidFill>
              </a:rPr>
              <a:t>📋  Verify &amp; Document</a:t>
            </a:r>
            <a:endParaRPr lang="en-US" sz="1100" dirty="0"/>
          </a:p>
        </p:txBody>
      </p:sp>
      <p:sp>
        <p:nvSpPr>
          <p:cNvPr id="34" name="Text 32"/>
          <p:cNvSpPr/>
          <p:nvPr/>
        </p:nvSpPr>
        <p:spPr>
          <a:xfrm>
            <a:off x="3383280" y="4096512"/>
            <a:ext cx="5321808" cy="530352"/>
          </a:xfrm>
          <a:prstGeom prst="rect">
            <a:avLst/>
          </a:prstGeom>
          <a:noFill/>
          <a:ln/>
        </p:spPr>
        <p:txBody>
          <a:bodyPr wrap="square" lIns="0" tIns="0" rIns="0" bIns="0" rtlCol="0" anchor="ctr"/>
          <a:lstStyle/>
          <a:p>
            <a:pPr marL="0" indent="0">
              <a:buNone/>
            </a:pPr>
            <a:r>
              <a:rPr lang="en-US" sz="900" dirty="0">
                <a:solidFill>
                  <a:srgbClr val="1A1A2E"/>
                </a:solidFill>
              </a:rPr>
              <a:t>Verify recovered files open correctly. Record the original location, cluster addresses, file size, and any artefacts found. Hash recovered files.</a:t>
            </a:r>
            <a:endParaRPr lang="en-US" sz="900" dirty="0"/>
          </a:p>
        </p:txBody>
      </p:sp>
      <p:sp>
        <p:nvSpPr>
          <p:cNvPr id="35" name="Text 33"/>
          <p:cNvSpPr/>
          <p:nvPr/>
        </p:nvSpPr>
        <p:spPr>
          <a:xfrm>
            <a:off x="320040" y="4773168"/>
            <a:ext cx="8503920" cy="109728"/>
          </a:xfrm>
          <a:prstGeom prst="rect">
            <a:avLst/>
          </a:prstGeom>
          <a:noFill/>
          <a:ln/>
        </p:spPr>
        <p:txBody>
          <a:bodyPr wrap="square" lIns="0" tIns="0" rIns="0" bIns="0" rtlCol="0" anchor="ctr"/>
          <a:lstStyle/>
          <a:p>
            <a:pPr marL="0" indent="0">
              <a:buNone/>
            </a:pPr>
            <a:r>
              <a:rPr lang="en-US" sz="800" i="1" dirty="0">
                <a:solidFill>
                  <a:srgbClr val="8899AA"/>
                </a:solidFill>
              </a:rPr>
              <a:t>Tools: Autopsy · FTK · X-Ways · Photorec · Foremost · Scalpel · ExifTool · Hex editors (HxD, WinHex)</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132381"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40941" cy="256032"/>
          </a:xfrm>
          <a:prstGeom prst="rect">
            <a:avLst/>
          </a:prstGeom>
          <a:noFill/>
          <a:ln/>
        </p:spPr>
        <p:txBody>
          <a:bodyPr wrap="square" lIns="0" tIns="0" rIns="0" bIns="0" rtlCol="0" anchor="ctr"/>
          <a:lstStyle/>
          <a:p>
            <a:pPr marL="0" indent="0">
              <a:buNone/>
            </a:pPr>
            <a:r>
              <a:rPr lang="en-US" sz="850" b="1" dirty="0">
                <a:solidFill>
                  <a:srgbClr val="0D1B2A"/>
                </a:solidFill>
              </a:rPr>
              <a:t>SECTION 4 · IMAGE RECOVERY</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Carving Images by File Signature</a:t>
            </a:r>
            <a:endParaRPr lang="en-US" sz="2800" dirty="0"/>
          </a:p>
        </p:txBody>
      </p:sp>
      <p:sp>
        <p:nvSpPr>
          <p:cNvPr id="5" name="Shape 3"/>
          <p:cNvSpPr/>
          <p:nvPr/>
        </p:nvSpPr>
        <p:spPr>
          <a:xfrm>
            <a:off x="320040" y="1170432"/>
            <a:ext cx="8503920" cy="36576"/>
          </a:xfrm>
          <a:prstGeom prst="rect">
            <a:avLst/>
          </a:prstGeom>
          <a:solidFill>
            <a:srgbClr val="A855F7"/>
          </a:solidFill>
          <a:ln w="12700">
            <a:solidFill>
              <a:srgbClr val="A855F7"/>
            </a:solidFill>
            <a:prstDash val="solid"/>
          </a:ln>
        </p:spPr>
        <p:txBody>
          <a:bodyPr/>
          <a:lstStyle/>
          <a:p>
            <a:endParaRPr lang="en-SG"/>
          </a:p>
        </p:txBody>
      </p:sp>
      <p:sp>
        <p:nvSpPr>
          <p:cNvPr id="6" name="Shape 4"/>
          <p:cNvSpPr/>
          <p:nvPr/>
        </p:nvSpPr>
        <p:spPr>
          <a:xfrm>
            <a:off x="320040" y="1261872"/>
            <a:ext cx="8503920" cy="475488"/>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475488"/>
          </a:xfrm>
          <a:prstGeom prst="rect">
            <a:avLst/>
          </a:prstGeom>
          <a:solidFill>
            <a:srgbClr val="A855F7"/>
          </a:solidFill>
          <a:ln w="12700">
            <a:solidFill>
              <a:srgbClr val="A855F7"/>
            </a:solidFill>
            <a:prstDash val="solid"/>
          </a:ln>
        </p:spPr>
        <p:txBody>
          <a:bodyPr/>
          <a:lstStyle/>
          <a:p>
            <a:endParaRPr lang="en-SG"/>
          </a:p>
        </p:txBody>
      </p:sp>
      <p:sp>
        <p:nvSpPr>
          <p:cNvPr id="8" name="Text 6"/>
          <p:cNvSpPr/>
          <p:nvPr/>
        </p:nvSpPr>
        <p:spPr>
          <a:xfrm>
            <a:off x="493776" y="1316736"/>
            <a:ext cx="8229600" cy="365760"/>
          </a:xfrm>
          <a:prstGeom prst="rect">
            <a:avLst/>
          </a:prstGeom>
          <a:noFill/>
          <a:ln/>
        </p:spPr>
        <p:txBody>
          <a:bodyPr wrap="square" lIns="0" tIns="0" rIns="0" bIns="0" rtlCol="0" anchor="ctr"/>
          <a:lstStyle/>
          <a:p>
            <a:pPr marL="0" indent="0">
              <a:buNone/>
            </a:pPr>
            <a:r>
              <a:rPr lang="en-US" sz="950" dirty="0">
                <a:solidFill>
                  <a:srgbClr val="1A1A2E"/>
                </a:solidFill>
              </a:rPr>
              <a:t>Image carving identifies and extracts image files from raw disk data using known header and footer byte patterns — without needing a functioning file system. The technique works even on formatted drives where directory entries have been destroyed.</a:t>
            </a:r>
            <a:endParaRPr lang="en-US" sz="950" dirty="0"/>
          </a:p>
        </p:txBody>
      </p:sp>
      <p:sp>
        <p:nvSpPr>
          <p:cNvPr id="9" name="Text 7"/>
          <p:cNvSpPr/>
          <p:nvPr/>
        </p:nvSpPr>
        <p:spPr>
          <a:xfrm>
            <a:off x="320040" y="1828800"/>
            <a:ext cx="8503920" cy="274320"/>
          </a:xfrm>
          <a:prstGeom prst="rect">
            <a:avLst/>
          </a:prstGeom>
          <a:noFill/>
          <a:ln/>
        </p:spPr>
        <p:txBody>
          <a:bodyPr wrap="square" lIns="0" tIns="0" rIns="0" bIns="0" rtlCol="0" anchor="ctr"/>
          <a:lstStyle/>
          <a:p>
            <a:pPr marL="0" indent="0">
              <a:buNone/>
            </a:pPr>
            <a:r>
              <a:rPr lang="en-US" sz="1300" b="1" dirty="0">
                <a:solidFill>
                  <a:srgbClr val="1A1A2E"/>
                </a:solidFill>
              </a:rPr>
              <a:t>JPEG Carving Walkthrough</a:t>
            </a:r>
            <a:endParaRPr lang="en-US" sz="1300" dirty="0"/>
          </a:p>
        </p:txBody>
      </p:sp>
      <p:sp>
        <p:nvSpPr>
          <p:cNvPr id="10" name="Shape 8"/>
          <p:cNvSpPr/>
          <p:nvPr/>
        </p:nvSpPr>
        <p:spPr>
          <a:xfrm>
            <a:off x="320040" y="2176272"/>
            <a:ext cx="2048256" cy="2633472"/>
          </a:xfrm>
          <a:prstGeom prst="rect">
            <a:avLst/>
          </a:prstGeom>
          <a:solidFill>
            <a:srgbClr val="EEF6FB"/>
          </a:solidFill>
          <a:ln w="12700">
            <a:solidFill>
              <a:srgbClr val="EEF6FB"/>
            </a:solidFill>
            <a:prstDash val="solid"/>
          </a:ln>
        </p:spPr>
        <p:txBody>
          <a:bodyPr/>
          <a:lstStyle/>
          <a:p>
            <a:endParaRPr lang="en-SG"/>
          </a:p>
        </p:txBody>
      </p:sp>
      <p:sp>
        <p:nvSpPr>
          <p:cNvPr id="11" name="Shape 9"/>
          <p:cNvSpPr/>
          <p:nvPr/>
        </p:nvSpPr>
        <p:spPr>
          <a:xfrm>
            <a:off x="320040" y="2176272"/>
            <a:ext cx="2048256" cy="64008"/>
          </a:xfrm>
          <a:prstGeom prst="rect">
            <a:avLst/>
          </a:prstGeom>
          <a:solidFill>
            <a:srgbClr val="00B4D8"/>
          </a:solidFill>
          <a:ln w="12700">
            <a:solidFill>
              <a:srgbClr val="00B4D8"/>
            </a:solidFill>
            <a:prstDash val="solid"/>
          </a:ln>
        </p:spPr>
        <p:txBody>
          <a:bodyPr/>
          <a:lstStyle/>
          <a:p>
            <a:endParaRPr lang="en-SG"/>
          </a:p>
        </p:txBody>
      </p:sp>
      <p:sp>
        <p:nvSpPr>
          <p:cNvPr id="12" name="Shape 10"/>
          <p:cNvSpPr/>
          <p:nvPr/>
        </p:nvSpPr>
        <p:spPr>
          <a:xfrm>
            <a:off x="1024128" y="2267712"/>
            <a:ext cx="640080" cy="640080"/>
          </a:xfrm>
          <a:prstGeom prst="rect">
            <a:avLst/>
          </a:prstGeom>
          <a:solidFill>
            <a:srgbClr val="00B4D8"/>
          </a:solidFill>
          <a:ln w="12700">
            <a:solidFill>
              <a:srgbClr val="00B4D8"/>
            </a:solidFill>
            <a:prstDash val="solid"/>
          </a:ln>
        </p:spPr>
        <p:txBody>
          <a:bodyPr/>
          <a:lstStyle/>
          <a:p>
            <a:endParaRPr lang="en-SG"/>
          </a:p>
        </p:txBody>
      </p:sp>
      <p:sp>
        <p:nvSpPr>
          <p:cNvPr id="13" name="Text 11"/>
          <p:cNvSpPr/>
          <p:nvPr/>
        </p:nvSpPr>
        <p:spPr>
          <a:xfrm>
            <a:off x="1024128" y="2267712"/>
            <a:ext cx="640080" cy="640080"/>
          </a:xfrm>
          <a:prstGeom prst="rect">
            <a:avLst/>
          </a:prstGeom>
          <a:noFill/>
          <a:ln/>
        </p:spPr>
        <p:txBody>
          <a:bodyPr wrap="square" lIns="0" tIns="0" rIns="0" bIns="0" rtlCol="0" anchor="ctr"/>
          <a:lstStyle/>
          <a:p>
            <a:pPr marL="0" indent="0" algn="ctr">
              <a:buNone/>
            </a:pPr>
            <a:r>
              <a:rPr lang="en-US" sz="2000" b="1" dirty="0">
                <a:solidFill>
                  <a:srgbClr val="0D1B2A"/>
                </a:solidFill>
              </a:rPr>
              <a:t>1</a:t>
            </a:r>
            <a:endParaRPr lang="en-US" sz="2000" dirty="0"/>
          </a:p>
        </p:txBody>
      </p:sp>
      <p:sp>
        <p:nvSpPr>
          <p:cNvPr id="14" name="Text 12"/>
          <p:cNvSpPr/>
          <p:nvPr/>
        </p:nvSpPr>
        <p:spPr>
          <a:xfrm>
            <a:off x="411480" y="2962656"/>
            <a:ext cx="1865376" cy="256032"/>
          </a:xfrm>
          <a:prstGeom prst="rect">
            <a:avLst/>
          </a:prstGeom>
          <a:noFill/>
          <a:ln/>
        </p:spPr>
        <p:txBody>
          <a:bodyPr wrap="square" lIns="0" tIns="0" rIns="0" bIns="0" rtlCol="0" anchor="ctr"/>
          <a:lstStyle/>
          <a:p>
            <a:pPr marL="0" indent="0" algn="ctr">
              <a:buNone/>
            </a:pPr>
            <a:r>
              <a:rPr lang="en-US" sz="1050" b="1" dirty="0">
                <a:solidFill>
                  <a:srgbClr val="00B4D8"/>
                </a:solidFill>
              </a:rPr>
              <a:t>Locate Header</a:t>
            </a:r>
            <a:endParaRPr lang="en-US" sz="1050" dirty="0"/>
          </a:p>
        </p:txBody>
      </p:sp>
      <p:sp>
        <p:nvSpPr>
          <p:cNvPr id="15" name="Shape 13"/>
          <p:cNvSpPr/>
          <p:nvPr/>
        </p:nvSpPr>
        <p:spPr>
          <a:xfrm>
            <a:off x="393192" y="3255264"/>
            <a:ext cx="1901952" cy="475488"/>
          </a:xfrm>
          <a:prstGeom prst="rect">
            <a:avLst/>
          </a:prstGeom>
          <a:solidFill>
            <a:srgbClr val="FFFFFF"/>
          </a:solidFill>
          <a:ln w="6350">
            <a:solidFill>
              <a:srgbClr val="00B4D8"/>
            </a:solidFill>
            <a:prstDash val="solid"/>
          </a:ln>
        </p:spPr>
        <p:txBody>
          <a:bodyPr/>
          <a:lstStyle/>
          <a:p>
            <a:endParaRPr lang="en-SG"/>
          </a:p>
        </p:txBody>
      </p:sp>
      <p:sp>
        <p:nvSpPr>
          <p:cNvPr id="16" name="Text 14"/>
          <p:cNvSpPr/>
          <p:nvPr/>
        </p:nvSpPr>
        <p:spPr>
          <a:xfrm>
            <a:off x="429768" y="3310128"/>
            <a:ext cx="1828800" cy="365760"/>
          </a:xfrm>
          <a:prstGeom prst="rect">
            <a:avLst/>
          </a:prstGeom>
          <a:noFill/>
          <a:ln/>
        </p:spPr>
        <p:txBody>
          <a:bodyPr wrap="square" lIns="0" tIns="0" rIns="0" bIns="0" rtlCol="0" anchor="ctr"/>
          <a:lstStyle/>
          <a:p>
            <a:pPr marL="0" indent="0">
              <a:buNone/>
            </a:pPr>
            <a:r>
              <a:rPr lang="en-US" sz="680" dirty="0">
                <a:solidFill>
                  <a:srgbClr val="F4A261"/>
                </a:solidFill>
                <a:latin typeface="Consolas" pitchFamily="34" charset="0"/>
                <a:ea typeface="Consolas" pitchFamily="34" charset="-122"/>
                <a:cs typeface="Consolas" pitchFamily="34" charset="-120"/>
              </a:rPr>
              <a:t>xxd evidence.img | grep 'ff d8 ff'</a:t>
            </a:r>
            <a:endParaRPr lang="en-US" sz="680" dirty="0"/>
          </a:p>
        </p:txBody>
      </p:sp>
      <p:sp>
        <p:nvSpPr>
          <p:cNvPr id="17" name="Text 15"/>
          <p:cNvSpPr/>
          <p:nvPr/>
        </p:nvSpPr>
        <p:spPr>
          <a:xfrm>
            <a:off x="411480" y="3767328"/>
            <a:ext cx="1865376" cy="914400"/>
          </a:xfrm>
          <a:prstGeom prst="rect">
            <a:avLst/>
          </a:prstGeom>
          <a:noFill/>
          <a:ln/>
        </p:spPr>
        <p:txBody>
          <a:bodyPr wrap="square" lIns="0" tIns="0" rIns="0" bIns="0" rtlCol="0" anchor="ctr"/>
          <a:lstStyle/>
          <a:p>
            <a:pPr marL="0" indent="0">
              <a:buNone/>
            </a:pPr>
            <a:r>
              <a:rPr lang="en-US" sz="800" dirty="0">
                <a:solidFill>
                  <a:srgbClr val="1A1A2E"/>
                </a:solidFill>
              </a:rPr>
              <a:t>Scan the raw image for JPEG SOI markers (FF D8 FF E0 or FF D8 FF E1). Note the byte offset of each match.</a:t>
            </a:r>
            <a:endParaRPr lang="en-US" sz="800" dirty="0"/>
          </a:p>
        </p:txBody>
      </p:sp>
      <p:sp>
        <p:nvSpPr>
          <p:cNvPr id="18" name="Shape 16"/>
          <p:cNvSpPr/>
          <p:nvPr/>
        </p:nvSpPr>
        <p:spPr>
          <a:xfrm>
            <a:off x="2496312" y="2176272"/>
            <a:ext cx="2048256" cy="2633472"/>
          </a:xfrm>
          <a:prstGeom prst="rect">
            <a:avLst/>
          </a:prstGeom>
          <a:solidFill>
            <a:srgbClr val="EEF6FB"/>
          </a:solidFill>
          <a:ln w="12700">
            <a:solidFill>
              <a:srgbClr val="EEF6FB"/>
            </a:solidFill>
            <a:prstDash val="solid"/>
          </a:ln>
        </p:spPr>
        <p:txBody>
          <a:bodyPr/>
          <a:lstStyle/>
          <a:p>
            <a:endParaRPr lang="en-SG"/>
          </a:p>
        </p:txBody>
      </p:sp>
      <p:sp>
        <p:nvSpPr>
          <p:cNvPr id="19" name="Shape 17"/>
          <p:cNvSpPr/>
          <p:nvPr/>
        </p:nvSpPr>
        <p:spPr>
          <a:xfrm>
            <a:off x="2496312" y="2176272"/>
            <a:ext cx="2048256" cy="64008"/>
          </a:xfrm>
          <a:prstGeom prst="rect">
            <a:avLst/>
          </a:prstGeom>
          <a:solidFill>
            <a:srgbClr val="F4A261"/>
          </a:solidFill>
          <a:ln w="12700">
            <a:solidFill>
              <a:srgbClr val="F4A261"/>
            </a:solidFill>
            <a:prstDash val="solid"/>
          </a:ln>
        </p:spPr>
        <p:txBody>
          <a:bodyPr/>
          <a:lstStyle/>
          <a:p>
            <a:endParaRPr lang="en-SG"/>
          </a:p>
        </p:txBody>
      </p:sp>
      <p:sp>
        <p:nvSpPr>
          <p:cNvPr id="20" name="Shape 18"/>
          <p:cNvSpPr/>
          <p:nvPr/>
        </p:nvSpPr>
        <p:spPr>
          <a:xfrm>
            <a:off x="3200400" y="2267712"/>
            <a:ext cx="640080" cy="640080"/>
          </a:xfrm>
          <a:prstGeom prst="rect">
            <a:avLst/>
          </a:prstGeom>
          <a:solidFill>
            <a:srgbClr val="F4A261"/>
          </a:solidFill>
          <a:ln w="12700">
            <a:solidFill>
              <a:srgbClr val="F4A261"/>
            </a:solidFill>
            <a:prstDash val="solid"/>
          </a:ln>
        </p:spPr>
        <p:txBody>
          <a:bodyPr/>
          <a:lstStyle/>
          <a:p>
            <a:endParaRPr lang="en-SG"/>
          </a:p>
        </p:txBody>
      </p:sp>
      <p:sp>
        <p:nvSpPr>
          <p:cNvPr id="21" name="Text 19"/>
          <p:cNvSpPr/>
          <p:nvPr/>
        </p:nvSpPr>
        <p:spPr>
          <a:xfrm>
            <a:off x="3200400" y="2267712"/>
            <a:ext cx="640080" cy="640080"/>
          </a:xfrm>
          <a:prstGeom prst="rect">
            <a:avLst/>
          </a:prstGeom>
          <a:noFill/>
          <a:ln/>
        </p:spPr>
        <p:txBody>
          <a:bodyPr wrap="square" lIns="0" tIns="0" rIns="0" bIns="0" rtlCol="0" anchor="ctr"/>
          <a:lstStyle/>
          <a:p>
            <a:pPr marL="0" indent="0" algn="ctr">
              <a:buNone/>
            </a:pPr>
            <a:r>
              <a:rPr lang="en-US" sz="2000" b="1" dirty="0">
                <a:solidFill>
                  <a:srgbClr val="0D1B2A"/>
                </a:solidFill>
              </a:rPr>
              <a:t>2</a:t>
            </a:r>
            <a:endParaRPr lang="en-US" sz="2000" dirty="0"/>
          </a:p>
        </p:txBody>
      </p:sp>
      <p:sp>
        <p:nvSpPr>
          <p:cNvPr id="22" name="Text 20"/>
          <p:cNvSpPr/>
          <p:nvPr/>
        </p:nvSpPr>
        <p:spPr>
          <a:xfrm>
            <a:off x="2587752" y="2962656"/>
            <a:ext cx="1865376" cy="256032"/>
          </a:xfrm>
          <a:prstGeom prst="rect">
            <a:avLst/>
          </a:prstGeom>
          <a:noFill/>
          <a:ln/>
        </p:spPr>
        <p:txBody>
          <a:bodyPr wrap="square" lIns="0" tIns="0" rIns="0" bIns="0" rtlCol="0" anchor="ctr"/>
          <a:lstStyle/>
          <a:p>
            <a:pPr marL="0" indent="0" algn="ctr">
              <a:buNone/>
            </a:pPr>
            <a:r>
              <a:rPr lang="en-US" sz="1050" b="1" dirty="0">
                <a:solidFill>
                  <a:srgbClr val="F4A261"/>
                </a:solidFill>
              </a:rPr>
              <a:t>Locate Footer</a:t>
            </a:r>
            <a:endParaRPr lang="en-US" sz="1050" dirty="0"/>
          </a:p>
        </p:txBody>
      </p:sp>
      <p:sp>
        <p:nvSpPr>
          <p:cNvPr id="23" name="Shape 21"/>
          <p:cNvSpPr/>
          <p:nvPr/>
        </p:nvSpPr>
        <p:spPr>
          <a:xfrm>
            <a:off x="2569464" y="3255264"/>
            <a:ext cx="1901952" cy="475488"/>
          </a:xfrm>
          <a:prstGeom prst="rect">
            <a:avLst/>
          </a:prstGeom>
          <a:solidFill>
            <a:srgbClr val="FFFFFF"/>
          </a:solidFill>
          <a:ln w="6350">
            <a:solidFill>
              <a:srgbClr val="F4A261"/>
            </a:solidFill>
            <a:prstDash val="solid"/>
          </a:ln>
        </p:spPr>
        <p:txBody>
          <a:bodyPr/>
          <a:lstStyle/>
          <a:p>
            <a:endParaRPr lang="en-SG"/>
          </a:p>
        </p:txBody>
      </p:sp>
      <p:sp>
        <p:nvSpPr>
          <p:cNvPr id="24" name="Text 22"/>
          <p:cNvSpPr/>
          <p:nvPr/>
        </p:nvSpPr>
        <p:spPr>
          <a:xfrm>
            <a:off x="2606040" y="3310128"/>
            <a:ext cx="1828800" cy="365760"/>
          </a:xfrm>
          <a:prstGeom prst="rect">
            <a:avLst/>
          </a:prstGeom>
          <a:noFill/>
          <a:ln/>
        </p:spPr>
        <p:txBody>
          <a:bodyPr wrap="square" lIns="0" tIns="0" rIns="0" bIns="0" rtlCol="0" anchor="ctr"/>
          <a:lstStyle/>
          <a:p>
            <a:pPr marL="0" indent="0">
              <a:buNone/>
            </a:pPr>
            <a:r>
              <a:rPr lang="en-US" sz="680" dirty="0">
                <a:solidFill>
                  <a:srgbClr val="F4A261"/>
                </a:solidFill>
                <a:latin typeface="Consolas" pitchFamily="34" charset="0"/>
                <a:ea typeface="Consolas" pitchFamily="34" charset="-122"/>
                <a:cs typeface="Consolas" pitchFamily="34" charset="-120"/>
              </a:rPr>
              <a:t>xxd -s 0x06946000 evidence.img | grep 'ff d9'</a:t>
            </a:r>
            <a:endParaRPr lang="en-US" sz="680" dirty="0"/>
          </a:p>
        </p:txBody>
      </p:sp>
      <p:sp>
        <p:nvSpPr>
          <p:cNvPr id="25" name="Text 23"/>
          <p:cNvSpPr/>
          <p:nvPr/>
        </p:nvSpPr>
        <p:spPr>
          <a:xfrm>
            <a:off x="2587752" y="3767328"/>
            <a:ext cx="1865376" cy="914400"/>
          </a:xfrm>
          <a:prstGeom prst="rect">
            <a:avLst/>
          </a:prstGeom>
          <a:noFill/>
          <a:ln/>
        </p:spPr>
        <p:txBody>
          <a:bodyPr wrap="square" lIns="0" tIns="0" rIns="0" bIns="0" rtlCol="0" anchor="ctr"/>
          <a:lstStyle/>
          <a:p>
            <a:pPr marL="0" indent="0">
              <a:buNone/>
            </a:pPr>
            <a:r>
              <a:rPr lang="en-US" sz="800" dirty="0">
                <a:solidFill>
                  <a:srgbClr val="1A1A2E"/>
                </a:solidFill>
              </a:rPr>
              <a:t>Starting from the header offset, scan forward for the JPEG EOI marker (FF D9). This marks the last byte of the image.</a:t>
            </a:r>
            <a:endParaRPr lang="en-US" sz="800" dirty="0"/>
          </a:p>
        </p:txBody>
      </p:sp>
      <p:sp>
        <p:nvSpPr>
          <p:cNvPr id="26" name="Shape 24"/>
          <p:cNvSpPr/>
          <p:nvPr/>
        </p:nvSpPr>
        <p:spPr>
          <a:xfrm>
            <a:off x="4672584" y="2176272"/>
            <a:ext cx="2048256" cy="2633472"/>
          </a:xfrm>
          <a:prstGeom prst="rect">
            <a:avLst/>
          </a:prstGeom>
          <a:solidFill>
            <a:srgbClr val="EEF6FB"/>
          </a:solidFill>
          <a:ln w="12700">
            <a:solidFill>
              <a:srgbClr val="EEF6FB"/>
            </a:solidFill>
            <a:prstDash val="solid"/>
          </a:ln>
        </p:spPr>
        <p:txBody>
          <a:bodyPr/>
          <a:lstStyle/>
          <a:p>
            <a:endParaRPr lang="en-SG"/>
          </a:p>
        </p:txBody>
      </p:sp>
      <p:sp>
        <p:nvSpPr>
          <p:cNvPr id="27" name="Shape 25"/>
          <p:cNvSpPr/>
          <p:nvPr/>
        </p:nvSpPr>
        <p:spPr>
          <a:xfrm>
            <a:off x="4672584" y="2176272"/>
            <a:ext cx="2048256" cy="64008"/>
          </a:xfrm>
          <a:prstGeom prst="rect">
            <a:avLst/>
          </a:prstGeom>
          <a:solidFill>
            <a:srgbClr val="2ECC71"/>
          </a:solidFill>
          <a:ln w="12700">
            <a:solidFill>
              <a:srgbClr val="2ECC71"/>
            </a:solidFill>
            <a:prstDash val="solid"/>
          </a:ln>
        </p:spPr>
        <p:txBody>
          <a:bodyPr/>
          <a:lstStyle/>
          <a:p>
            <a:endParaRPr lang="en-SG"/>
          </a:p>
        </p:txBody>
      </p:sp>
      <p:sp>
        <p:nvSpPr>
          <p:cNvPr id="28" name="Shape 26"/>
          <p:cNvSpPr/>
          <p:nvPr/>
        </p:nvSpPr>
        <p:spPr>
          <a:xfrm>
            <a:off x="5376672" y="2267712"/>
            <a:ext cx="640080" cy="640080"/>
          </a:xfrm>
          <a:prstGeom prst="rect">
            <a:avLst/>
          </a:prstGeom>
          <a:solidFill>
            <a:srgbClr val="2ECC71"/>
          </a:solidFill>
          <a:ln w="12700">
            <a:solidFill>
              <a:srgbClr val="2ECC71"/>
            </a:solidFill>
            <a:prstDash val="solid"/>
          </a:ln>
        </p:spPr>
        <p:txBody>
          <a:bodyPr/>
          <a:lstStyle/>
          <a:p>
            <a:endParaRPr lang="en-SG"/>
          </a:p>
        </p:txBody>
      </p:sp>
      <p:sp>
        <p:nvSpPr>
          <p:cNvPr id="29" name="Text 27"/>
          <p:cNvSpPr/>
          <p:nvPr/>
        </p:nvSpPr>
        <p:spPr>
          <a:xfrm>
            <a:off x="5376672" y="2267712"/>
            <a:ext cx="640080" cy="640080"/>
          </a:xfrm>
          <a:prstGeom prst="rect">
            <a:avLst/>
          </a:prstGeom>
          <a:noFill/>
          <a:ln/>
        </p:spPr>
        <p:txBody>
          <a:bodyPr wrap="square" lIns="0" tIns="0" rIns="0" bIns="0" rtlCol="0" anchor="ctr"/>
          <a:lstStyle/>
          <a:p>
            <a:pPr marL="0" indent="0" algn="ctr">
              <a:buNone/>
            </a:pPr>
            <a:r>
              <a:rPr lang="en-US" sz="2000" b="1" dirty="0">
                <a:solidFill>
                  <a:srgbClr val="0D1B2A"/>
                </a:solidFill>
              </a:rPr>
              <a:t>3</a:t>
            </a:r>
            <a:endParaRPr lang="en-US" sz="2000" dirty="0"/>
          </a:p>
        </p:txBody>
      </p:sp>
      <p:sp>
        <p:nvSpPr>
          <p:cNvPr id="30" name="Text 28"/>
          <p:cNvSpPr/>
          <p:nvPr/>
        </p:nvSpPr>
        <p:spPr>
          <a:xfrm>
            <a:off x="4764024" y="2962656"/>
            <a:ext cx="1865376" cy="256032"/>
          </a:xfrm>
          <a:prstGeom prst="rect">
            <a:avLst/>
          </a:prstGeom>
          <a:noFill/>
          <a:ln/>
        </p:spPr>
        <p:txBody>
          <a:bodyPr wrap="square" lIns="0" tIns="0" rIns="0" bIns="0" rtlCol="0" anchor="ctr"/>
          <a:lstStyle/>
          <a:p>
            <a:pPr marL="0" indent="0" algn="ctr">
              <a:buNone/>
            </a:pPr>
            <a:r>
              <a:rPr lang="en-US" sz="1050" b="1" dirty="0">
                <a:solidFill>
                  <a:srgbClr val="2ECC71"/>
                </a:solidFill>
              </a:rPr>
              <a:t>Calculate Size</a:t>
            </a:r>
            <a:endParaRPr lang="en-US" sz="1050" dirty="0"/>
          </a:p>
        </p:txBody>
      </p:sp>
      <p:sp>
        <p:nvSpPr>
          <p:cNvPr id="31" name="Shape 29"/>
          <p:cNvSpPr/>
          <p:nvPr/>
        </p:nvSpPr>
        <p:spPr>
          <a:xfrm>
            <a:off x="4745736" y="3255264"/>
            <a:ext cx="1901952" cy="475488"/>
          </a:xfrm>
          <a:prstGeom prst="rect">
            <a:avLst/>
          </a:prstGeom>
          <a:solidFill>
            <a:srgbClr val="FFFFFF"/>
          </a:solidFill>
          <a:ln w="6350">
            <a:solidFill>
              <a:srgbClr val="2ECC71"/>
            </a:solidFill>
            <a:prstDash val="solid"/>
          </a:ln>
        </p:spPr>
        <p:txBody>
          <a:bodyPr/>
          <a:lstStyle/>
          <a:p>
            <a:endParaRPr lang="en-SG"/>
          </a:p>
        </p:txBody>
      </p:sp>
      <p:sp>
        <p:nvSpPr>
          <p:cNvPr id="32" name="Text 30"/>
          <p:cNvSpPr/>
          <p:nvPr/>
        </p:nvSpPr>
        <p:spPr>
          <a:xfrm>
            <a:off x="4782312" y="3310128"/>
            <a:ext cx="1828800" cy="365760"/>
          </a:xfrm>
          <a:prstGeom prst="rect">
            <a:avLst/>
          </a:prstGeom>
          <a:noFill/>
          <a:ln/>
        </p:spPr>
        <p:txBody>
          <a:bodyPr wrap="square" lIns="0" tIns="0" rIns="0" bIns="0" rtlCol="0" anchor="ctr"/>
          <a:lstStyle/>
          <a:p>
            <a:pPr marL="0" indent="0">
              <a:buNone/>
            </a:pPr>
            <a:r>
              <a:rPr lang="en-US" sz="680" dirty="0">
                <a:solidFill>
                  <a:srgbClr val="F4A261"/>
                </a:solidFill>
                <a:latin typeface="Consolas" pitchFamily="34" charset="0"/>
                <a:ea typeface="Consolas" pitchFamily="34" charset="-122"/>
                <a:cs typeface="Consolas" pitchFamily="34" charset="-120"/>
              </a:rPr>
              <a:t>count = footer_offset - header_offset + 2</a:t>
            </a:r>
            <a:endParaRPr lang="en-US" sz="680" dirty="0"/>
          </a:p>
        </p:txBody>
      </p:sp>
      <p:sp>
        <p:nvSpPr>
          <p:cNvPr id="33" name="Text 31"/>
          <p:cNvSpPr/>
          <p:nvPr/>
        </p:nvSpPr>
        <p:spPr>
          <a:xfrm>
            <a:off x="4764024" y="3767328"/>
            <a:ext cx="1865376" cy="914400"/>
          </a:xfrm>
          <a:prstGeom prst="rect">
            <a:avLst/>
          </a:prstGeom>
          <a:noFill/>
          <a:ln/>
        </p:spPr>
        <p:txBody>
          <a:bodyPr wrap="square" lIns="0" tIns="0" rIns="0" bIns="0" rtlCol="0" anchor="ctr"/>
          <a:lstStyle/>
          <a:p>
            <a:pPr marL="0" indent="0">
              <a:buNone/>
            </a:pPr>
            <a:r>
              <a:rPr lang="en-US" sz="800" dirty="0">
                <a:solidFill>
                  <a:srgbClr val="1A1A2E"/>
                </a:solidFill>
              </a:rPr>
              <a:t>Size = (footer offset - header offset) + 2 bytes (to include FF D9 itself). Convert hex offsets to decimal for dd.</a:t>
            </a:r>
            <a:endParaRPr lang="en-US" sz="800" dirty="0"/>
          </a:p>
        </p:txBody>
      </p:sp>
      <p:sp>
        <p:nvSpPr>
          <p:cNvPr id="34" name="Shape 32"/>
          <p:cNvSpPr/>
          <p:nvPr/>
        </p:nvSpPr>
        <p:spPr>
          <a:xfrm>
            <a:off x="6848856" y="2176272"/>
            <a:ext cx="2048256" cy="2633472"/>
          </a:xfrm>
          <a:prstGeom prst="rect">
            <a:avLst/>
          </a:prstGeom>
          <a:solidFill>
            <a:srgbClr val="EEF6FB"/>
          </a:solidFill>
          <a:ln w="12700">
            <a:solidFill>
              <a:srgbClr val="EEF6FB"/>
            </a:solidFill>
            <a:prstDash val="solid"/>
          </a:ln>
        </p:spPr>
        <p:txBody>
          <a:bodyPr/>
          <a:lstStyle/>
          <a:p>
            <a:endParaRPr lang="en-SG"/>
          </a:p>
        </p:txBody>
      </p:sp>
      <p:sp>
        <p:nvSpPr>
          <p:cNvPr id="35" name="Shape 33"/>
          <p:cNvSpPr/>
          <p:nvPr/>
        </p:nvSpPr>
        <p:spPr>
          <a:xfrm>
            <a:off x="6848856" y="2176272"/>
            <a:ext cx="2048256" cy="64008"/>
          </a:xfrm>
          <a:prstGeom prst="rect">
            <a:avLst/>
          </a:prstGeom>
          <a:solidFill>
            <a:srgbClr val="A855F7"/>
          </a:solidFill>
          <a:ln w="12700">
            <a:solidFill>
              <a:srgbClr val="A855F7"/>
            </a:solidFill>
            <a:prstDash val="solid"/>
          </a:ln>
        </p:spPr>
        <p:txBody>
          <a:bodyPr/>
          <a:lstStyle/>
          <a:p>
            <a:endParaRPr lang="en-SG"/>
          </a:p>
        </p:txBody>
      </p:sp>
      <p:sp>
        <p:nvSpPr>
          <p:cNvPr id="36" name="Shape 34"/>
          <p:cNvSpPr/>
          <p:nvPr/>
        </p:nvSpPr>
        <p:spPr>
          <a:xfrm>
            <a:off x="7552944" y="2267712"/>
            <a:ext cx="640080" cy="640080"/>
          </a:xfrm>
          <a:prstGeom prst="rect">
            <a:avLst/>
          </a:prstGeom>
          <a:solidFill>
            <a:srgbClr val="A855F7"/>
          </a:solidFill>
          <a:ln w="12700">
            <a:solidFill>
              <a:srgbClr val="A855F7"/>
            </a:solidFill>
            <a:prstDash val="solid"/>
          </a:ln>
        </p:spPr>
        <p:txBody>
          <a:bodyPr/>
          <a:lstStyle/>
          <a:p>
            <a:endParaRPr lang="en-SG"/>
          </a:p>
        </p:txBody>
      </p:sp>
      <p:sp>
        <p:nvSpPr>
          <p:cNvPr id="37" name="Text 35"/>
          <p:cNvSpPr/>
          <p:nvPr/>
        </p:nvSpPr>
        <p:spPr>
          <a:xfrm>
            <a:off x="7552944" y="2267712"/>
            <a:ext cx="640080" cy="640080"/>
          </a:xfrm>
          <a:prstGeom prst="rect">
            <a:avLst/>
          </a:prstGeom>
          <a:noFill/>
          <a:ln/>
        </p:spPr>
        <p:txBody>
          <a:bodyPr wrap="square" lIns="0" tIns="0" rIns="0" bIns="0" rtlCol="0" anchor="ctr"/>
          <a:lstStyle/>
          <a:p>
            <a:pPr marL="0" indent="0" algn="ctr">
              <a:buNone/>
            </a:pPr>
            <a:r>
              <a:rPr lang="en-US" sz="2000" b="1" dirty="0">
                <a:solidFill>
                  <a:srgbClr val="0D1B2A"/>
                </a:solidFill>
              </a:rPr>
              <a:t>4</a:t>
            </a:r>
            <a:endParaRPr lang="en-US" sz="2000" dirty="0"/>
          </a:p>
        </p:txBody>
      </p:sp>
      <p:sp>
        <p:nvSpPr>
          <p:cNvPr id="38" name="Text 36"/>
          <p:cNvSpPr/>
          <p:nvPr/>
        </p:nvSpPr>
        <p:spPr>
          <a:xfrm>
            <a:off x="6940296" y="2962656"/>
            <a:ext cx="1865376" cy="256032"/>
          </a:xfrm>
          <a:prstGeom prst="rect">
            <a:avLst/>
          </a:prstGeom>
          <a:noFill/>
          <a:ln/>
        </p:spPr>
        <p:txBody>
          <a:bodyPr wrap="square" lIns="0" tIns="0" rIns="0" bIns="0" rtlCol="0" anchor="ctr"/>
          <a:lstStyle/>
          <a:p>
            <a:pPr marL="0" indent="0" algn="ctr">
              <a:buNone/>
            </a:pPr>
            <a:r>
              <a:rPr lang="en-US" sz="1050" b="1" dirty="0">
                <a:solidFill>
                  <a:srgbClr val="A855F7"/>
                </a:solidFill>
              </a:rPr>
              <a:t>Extract with dd</a:t>
            </a:r>
            <a:endParaRPr lang="en-US" sz="1050" dirty="0"/>
          </a:p>
        </p:txBody>
      </p:sp>
      <p:sp>
        <p:nvSpPr>
          <p:cNvPr id="39" name="Shape 37"/>
          <p:cNvSpPr/>
          <p:nvPr/>
        </p:nvSpPr>
        <p:spPr>
          <a:xfrm>
            <a:off x="6922008" y="3255264"/>
            <a:ext cx="1901952" cy="475488"/>
          </a:xfrm>
          <a:prstGeom prst="rect">
            <a:avLst/>
          </a:prstGeom>
          <a:solidFill>
            <a:srgbClr val="FFFFFF"/>
          </a:solidFill>
          <a:ln w="6350">
            <a:solidFill>
              <a:srgbClr val="A855F7"/>
            </a:solidFill>
            <a:prstDash val="solid"/>
          </a:ln>
        </p:spPr>
        <p:txBody>
          <a:bodyPr/>
          <a:lstStyle/>
          <a:p>
            <a:endParaRPr lang="en-SG"/>
          </a:p>
        </p:txBody>
      </p:sp>
      <p:sp>
        <p:nvSpPr>
          <p:cNvPr id="40" name="Text 38"/>
          <p:cNvSpPr/>
          <p:nvPr/>
        </p:nvSpPr>
        <p:spPr>
          <a:xfrm>
            <a:off x="6958584" y="3310128"/>
            <a:ext cx="1828800" cy="365760"/>
          </a:xfrm>
          <a:prstGeom prst="rect">
            <a:avLst/>
          </a:prstGeom>
          <a:noFill/>
          <a:ln/>
        </p:spPr>
        <p:txBody>
          <a:bodyPr wrap="square" lIns="0" tIns="0" rIns="0" bIns="0" rtlCol="0" anchor="ctr"/>
          <a:lstStyle/>
          <a:p>
            <a:pPr marL="0" indent="0">
              <a:buNone/>
            </a:pPr>
            <a:r>
              <a:rPr lang="en-US" sz="680" dirty="0">
                <a:solidFill>
                  <a:srgbClr val="F4A261"/>
                </a:solidFill>
                <a:latin typeface="Consolas" pitchFamily="34" charset="0"/>
                <a:ea typeface="Consolas" pitchFamily="34" charset="-122"/>
                <a:cs typeface="Consolas" pitchFamily="34" charset="-120"/>
              </a:rPr>
              <a:t>dd if=evidence.img of=carved.jpg bs=1 skip=110264320 count=8320</a:t>
            </a:r>
            <a:endParaRPr lang="en-US" sz="680" dirty="0"/>
          </a:p>
        </p:txBody>
      </p:sp>
      <p:sp>
        <p:nvSpPr>
          <p:cNvPr id="41" name="Text 39"/>
          <p:cNvSpPr/>
          <p:nvPr/>
        </p:nvSpPr>
        <p:spPr>
          <a:xfrm>
            <a:off x="6940296" y="3767328"/>
            <a:ext cx="1865376" cy="914400"/>
          </a:xfrm>
          <a:prstGeom prst="rect">
            <a:avLst/>
          </a:prstGeom>
          <a:noFill/>
          <a:ln/>
        </p:spPr>
        <p:txBody>
          <a:bodyPr wrap="square" lIns="0" tIns="0" rIns="0" bIns="0" rtlCol="0" anchor="ctr"/>
          <a:lstStyle/>
          <a:p>
            <a:pPr marL="0" indent="0">
              <a:buNone/>
            </a:pPr>
            <a:r>
              <a:rPr lang="en-US" sz="800" dirty="0">
                <a:solidFill>
                  <a:srgbClr val="1A1A2E"/>
                </a:solidFill>
              </a:rPr>
              <a:t>Extract exactly count bytes starting at the header offset. Verify the recovered file opens correctly.</a:t>
            </a:r>
            <a:endParaRPr lang="en-US" sz="800" dirty="0"/>
          </a:p>
        </p:txBody>
      </p:sp>
      <p:sp>
        <p:nvSpPr>
          <p:cNvPr id="42" name="Text 40"/>
          <p:cNvSpPr/>
          <p:nvPr/>
        </p:nvSpPr>
        <p:spPr>
          <a:xfrm>
            <a:off x="320040" y="4809744"/>
            <a:ext cx="8503920" cy="91440"/>
          </a:xfrm>
          <a:prstGeom prst="rect">
            <a:avLst/>
          </a:prstGeom>
          <a:noFill/>
          <a:ln/>
        </p:spPr>
        <p:txBody>
          <a:bodyPr wrap="square" lIns="0" tIns="0" rIns="0" bIns="0" rtlCol="0" anchor="ctr"/>
          <a:lstStyle/>
          <a:p>
            <a:pPr marL="0" indent="0">
              <a:buNone/>
            </a:pPr>
            <a:r>
              <a:rPr lang="en-US" sz="780" i="1" dirty="0">
                <a:solidFill>
                  <a:srgbClr val="8899AA"/>
                </a:solidFill>
              </a:rPr>
              <a:t>Automated tools: Foremost  foremost -t jpg,png evidence.img -o carved/   ·   Scalpel   ·   PhotoRec   ·   Autopsy (built-in carver)</a:t>
            </a:r>
            <a:endParaRPr lang="en-US" sz="7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132381"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40941" cy="256032"/>
          </a:xfrm>
          <a:prstGeom prst="rect">
            <a:avLst/>
          </a:prstGeom>
          <a:noFill/>
          <a:ln/>
        </p:spPr>
        <p:txBody>
          <a:bodyPr wrap="square" lIns="0" tIns="0" rIns="0" bIns="0" rtlCol="0" anchor="ctr"/>
          <a:lstStyle/>
          <a:p>
            <a:pPr marL="0" indent="0">
              <a:buNone/>
            </a:pPr>
            <a:r>
              <a:rPr lang="en-US" sz="850" b="1" dirty="0">
                <a:solidFill>
                  <a:srgbClr val="0D1B2A"/>
                </a:solidFill>
              </a:rPr>
              <a:t>SECTION 4 · IMAGE RECOVERY</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Reconstructing Fragmented Image Files</a:t>
            </a:r>
            <a:endParaRPr lang="en-US" sz="2800" dirty="0"/>
          </a:p>
        </p:txBody>
      </p:sp>
      <p:sp>
        <p:nvSpPr>
          <p:cNvPr id="5" name="Shape 3"/>
          <p:cNvSpPr/>
          <p:nvPr/>
        </p:nvSpPr>
        <p:spPr>
          <a:xfrm>
            <a:off x="320040" y="1170432"/>
            <a:ext cx="8503920" cy="36576"/>
          </a:xfrm>
          <a:prstGeom prst="rect">
            <a:avLst/>
          </a:prstGeom>
          <a:solidFill>
            <a:srgbClr val="A855F7"/>
          </a:solidFill>
          <a:ln w="12700">
            <a:solidFill>
              <a:srgbClr val="A855F7"/>
            </a:solidFill>
            <a:prstDash val="solid"/>
          </a:ln>
        </p:spPr>
        <p:txBody>
          <a:bodyPr/>
          <a:lstStyle/>
          <a:p>
            <a:endParaRPr lang="en-SG"/>
          </a:p>
        </p:txBody>
      </p:sp>
      <p:sp>
        <p:nvSpPr>
          <p:cNvPr id="6" name="Shape 4"/>
          <p:cNvSpPr/>
          <p:nvPr/>
        </p:nvSpPr>
        <p:spPr>
          <a:xfrm>
            <a:off x="320040" y="1261872"/>
            <a:ext cx="4133088" cy="3529584"/>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3529584"/>
          </a:xfrm>
          <a:prstGeom prst="rect">
            <a:avLst/>
          </a:prstGeom>
          <a:solidFill>
            <a:srgbClr val="A855F7"/>
          </a:solidFill>
          <a:ln w="12700">
            <a:solidFill>
              <a:srgbClr val="A855F7"/>
            </a:solidFill>
            <a:prstDash val="solid"/>
          </a:ln>
        </p:spPr>
        <p:txBody>
          <a:bodyPr/>
          <a:lstStyle/>
          <a:p>
            <a:endParaRPr lang="en-SG"/>
          </a:p>
        </p:txBody>
      </p:sp>
      <p:sp>
        <p:nvSpPr>
          <p:cNvPr id="8" name="Text 6"/>
          <p:cNvSpPr/>
          <p:nvPr/>
        </p:nvSpPr>
        <p:spPr>
          <a:xfrm>
            <a:off x="493776" y="1316736"/>
            <a:ext cx="3877056" cy="274320"/>
          </a:xfrm>
          <a:prstGeom prst="rect">
            <a:avLst/>
          </a:prstGeom>
          <a:noFill/>
          <a:ln/>
        </p:spPr>
        <p:txBody>
          <a:bodyPr wrap="square" lIns="0" tIns="0" rIns="0" bIns="0" rtlCol="0" anchor="ctr"/>
          <a:lstStyle/>
          <a:p>
            <a:pPr marL="0" indent="0">
              <a:buNone/>
            </a:pPr>
            <a:r>
              <a:rPr lang="en-US" sz="1200" b="1" dirty="0">
                <a:solidFill>
                  <a:srgbClr val="A855F7"/>
                </a:solidFill>
              </a:rPr>
              <a:t>Why Files Fragment</a:t>
            </a:r>
            <a:endParaRPr lang="en-US" sz="1200" dirty="0"/>
          </a:p>
        </p:txBody>
      </p:sp>
      <p:sp>
        <p:nvSpPr>
          <p:cNvPr id="9" name="Text 7"/>
          <p:cNvSpPr/>
          <p:nvPr/>
        </p:nvSpPr>
        <p:spPr>
          <a:xfrm>
            <a:off x="493776" y="1627632"/>
            <a:ext cx="3877056" cy="658368"/>
          </a:xfrm>
          <a:prstGeom prst="rect">
            <a:avLst/>
          </a:prstGeom>
          <a:noFill/>
          <a:ln/>
        </p:spPr>
        <p:txBody>
          <a:bodyPr wrap="square" lIns="0" tIns="0" rIns="0" bIns="0" rtlCol="0" anchor="ctr"/>
          <a:lstStyle/>
          <a:p>
            <a:pPr marL="0" indent="0">
              <a:buNone/>
            </a:pPr>
            <a:r>
              <a:rPr lang="en-US" sz="900" dirty="0">
                <a:solidFill>
                  <a:srgbClr val="1A1A2E"/>
                </a:solidFill>
              </a:rPr>
              <a:t>When a file is stored on disk, the OS allocates available clusters sequentially if possible. On a heavily used drive, free clusters may be scattered — causing the OS to split the file across non-contiguous clusters.</a:t>
            </a:r>
            <a:endParaRPr lang="en-US" sz="900" dirty="0"/>
          </a:p>
        </p:txBody>
      </p:sp>
      <p:sp>
        <p:nvSpPr>
          <p:cNvPr id="10" name="Text 8"/>
          <p:cNvSpPr/>
          <p:nvPr/>
        </p:nvSpPr>
        <p:spPr>
          <a:xfrm>
            <a:off x="493776" y="2359152"/>
            <a:ext cx="3877056" cy="274320"/>
          </a:xfrm>
          <a:prstGeom prst="rect">
            <a:avLst/>
          </a:prstGeom>
          <a:noFill/>
          <a:ln/>
        </p:spPr>
        <p:txBody>
          <a:bodyPr wrap="square" lIns="0" tIns="0" rIns="0" bIns="0" rtlCol="0" anchor="ctr"/>
          <a:lstStyle/>
          <a:p>
            <a:pPr marL="0" indent="0">
              <a:buNone/>
            </a:pPr>
            <a:r>
              <a:rPr lang="en-US" sz="1200" b="1" dirty="0">
                <a:solidFill>
                  <a:srgbClr val="A855F7"/>
                </a:solidFill>
              </a:rPr>
              <a:t>Reconstruction Process</a:t>
            </a:r>
            <a:endParaRPr lang="en-US" sz="1200" dirty="0"/>
          </a:p>
        </p:txBody>
      </p:sp>
      <p:sp>
        <p:nvSpPr>
          <p:cNvPr id="11" name="Shape 9"/>
          <p:cNvSpPr/>
          <p:nvPr/>
        </p:nvSpPr>
        <p:spPr>
          <a:xfrm>
            <a:off x="493776" y="2688336"/>
            <a:ext cx="201168" cy="201168"/>
          </a:xfrm>
          <a:prstGeom prst="rect">
            <a:avLst/>
          </a:prstGeom>
          <a:solidFill>
            <a:srgbClr val="A855F7"/>
          </a:solidFill>
          <a:ln w="12700">
            <a:solidFill>
              <a:srgbClr val="A855F7"/>
            </a:solidFill>
            <a:prstDash val="solid"/>
          </a:ln>
        </p:spPr>
        <p:txBody>
          <a:bodyPr/>
          <a:lstStyle/>
          <a:p>
            <a:endParaRPr lang="en-SG"/>
          </a:p>
        </p:txBody>
      </p:sp>
      <p:sp>
        <p:nvSpPr>
          <p:cNvPr id="12" name="Text 10"/>
          <p:cNvSpPr/>
          <p:nvPr/>
        </p:nvSpPr>
        <p:spPr>
          <a:xfrm>
            <a:off x="493776" y="2688336"/>
            <a:ext cx="201168" cy="201168"/>
          </a:xfrm>
          <a:prstGeom prst="rect">
            <a:avLst/>
          </a:prstGeom>
          <a:noFill/>
          <a:ln/>
        </p:spPr>
        <p:txBody>
          <a:bodyPr wrap="square" lIns="0" tIns="0" rIns="0" bIns="0" rtlCol="0" anchor="ctr"/>
          <a:lstStyle/>
          <a:p>
            <a:pPr marL="0" indent="0" algn="ctr">
              <a:buNone/>
            </a:pPr>
            <a:r>
              <a:rPr lang="en-US" sz="700" b="1" dirty="0">
                <a:solidFill>
                  <a:srgbClr val="0D1B2A"/>
                </a:solidFill>
              </a:rPr>
              <a:t>1</a:t>
            </a:r>
            <a:endParaRPr lang="en-US" sz="700" dirty="0"/>
          </a:p>
        </p:txBody>
      </p:sp>
      <p:sp>
        <p:nvSpPr>
          <p:cNvPr id="13" name="Text 11"/>
          <p:cNvSpPr/>
          <p:nvPr/>
        </p:nvSpPr>
        <p:spPr>
          <a:xfrm>
            <a:off x="749808" y="2688336"/>
            <a:ext cx="3621024" cy="274320"/>
          </a:xfrm>
          <a:prstGeom prst="rect">
            <a:avLst/>
          </a:prstGeom>
          <a:noFill/>
          <a:ln/>
        </p:spPr>
        <p:txBody>
          <a:bodyPr wrap="square" lIns="0" tIns="0" rIns="0" bIns="0" rtlCol="0" anchor="ctr"/>
          <a:lstStyle/>
          <a:p>
            <a:pPr marL="0" indent="0">
              <a:buNone/>
            </a:pPr>
            <a:r>
              <a:rPr lang="en-US" sz="820" dirty="0">
                <a:solidFill>
                  <a:srgbClr val="1A1A2E"/>
                </a:solidFill>
              </a:rPr>
              <a:t>Identify a cluster containing recognisable file content (e.g. JPEG header FF D8)</a:t>
            </a:r>
            <a:endParaRPr lang="en-US" sz="820" dirty="0"/>
          </a:p>
        </p:txBody>
      </p:sp>
      <p:sp>
        <p:nvSpPr>
          <p:cNvPr id="14" name="Shape 12"/>
          <p:cNvSpPr/>
          <p:nvPr/>
        </p:nvSpPr>
        <p:spPr>
          <a:xfrm>
            <a:off x="493776" y="2990088"/>
            <a:ext cx="201168" cy="201168"/>
          </a:xfrm>
          <a:prstGeom prst="rect">
            <a:avLst/>
          </a:prstGeom>
          <a:solidFill>
            <a:srgbClr val="A855F7"/>
          </a:solidFill>
          <a:ln w="12700">
            <a:solidFill>
              <a:srgbClr val="A855F7"/>
            </a:solidFill>
            <a:prstDash val="solid"/>
          </a:ln>
        </p:spPr>
        <p:txBody>
          <a:bodyPr/>
          <a:lstStyle/>
          <a:p>
            <a:endParaRPr lang="en-SG"/>
          </a:p>
        </p:txBody>
      </p:sp>
      <p:sp>
        <p:nvSpPr>
          <p:cNvPr id="15" name="Text 13"/>
          <p:cNvSpPr/>
          <p:nvPr/>
        </p:nvSpPr>
        <p:spPr>
          <a:xfrm>
            <a:off x="493776" y="2990088"/>
            <a:ext cx="201168" cy="201168"/>
          </a:xfrm>
          <a:prstGeom prst="rect">
            <a:avLst/>
          </a:prstGeom>
          <a:noFill/>
          <a:ln/>
        </p:spPr>
        <p:txBody>
          <a:bodyPr wrap="square" lIns="0" tIns="0" rIns="0" bIns="0" rtlCol="0" anchor="ctr"/>
          <a:lstStyle/>
          <a:p>
            <a:pPr marL="0" indent="0" algn="ctr">
              <a:buNone/>
            </a:pPr>
            <a:r>
              <a:rPr lang="en-US" sz="700" b="1" dirty="0">
                <a:solidFill>
                  <a:srgbClr val="0D1B2A"/>
                </a:solidFill>
              </a:rPr>
              <a:t>2</a:t>
            </a:r>
            <a:endParaRPr lang="en-US" sz="700" dirty="0"/>
          </a:p>
        </p:txBody>
      </p:sp>
      <p:sp>
        <p:nvSpPr>
          <p:cNvPr id="16" name="Text 14"/>
          <p:cNvSpPr/>
          <p:nvPr/>
        </p:nvSpPr>
        <p:spPr>
          <a:xfrm>
            <a:off x="749808" y="2990088"/>
            <a:ext cx="3621024" cy="274320"/>
          </a:xfrm>
          <a:prstGeom prst="rect">
            <a:avLst/>
          </a:prstGeom>
          <a:noFill/>
          <a:ln/>
        </p:spPr>
        <p:txBody>
          <a:bodyPr wrap="square" lIns="0" tIns="0" rIns="0" bIns="0" rtlCol="0" anchor="ctr"/>
          <a:lstStyle/>
          <a:p>
            <a:pPr marL="0" indent="0">
              <a:buNone/>
            </a:pPr>
            <a:r>
              <a:rPr lang="en-US" sz="820" dirty="0">
                <a:solidFill>
                  <a:srgbClr val="1A1A2E"/>
                </a:solidFill>
              </a:rPr>
              <a:t>Examine the FAT/MFT entry (if intact) to retrieve the cluster chain</a:t>
            </a:r>
            <a:endParaRPr lang="en-US" sz="820" dirty="0"/>
          </a:p>
        </p:txBody>
      </p:sp>
      <p:sp>
        <p:nvSpPr>
          <p:cNvPr id="17" name="Shape 15"/>
          <p:cNvSpPr/>
          <p:nvPr/>
        </p:nvSpPr>
        <p:spPr>
          <a:xfrm>
            <a:off x="493776" y="3291840"/>
            <a:ext cx="201168" cy="201168"/>
          </a:xfrm>
          <a:prstGeom prst="rect">
            <a:avLst/>
          </a:prstGeom>
          <a:solidFill>
            <a:srgbClr val="A855F7"/>
          </a:solidFill>
          <a:ln w="12700">
            <a:solidFill>
              <a:srgbClr val="A855F7"/>
            </a:solidFill>
            <a:prstDash val="solid"/>
          </a:ln>
        </p:spPr>
        <p:txBody>
          <a:bodyPr/>
          <a:lstStyle/>
          <a:p>
            <a:endParaRPr lang="en-SG"/>
          </a:p>
        </p:txBody>
      </p:sp>
      <p:sp>
        <p:nvSpPr>
          <p:cNvPr id="18" name="Text 16"/>
          <p:cNvSpPr/>
          <p:nvPr/>
        </p:nvSpPr>
        <p:spPr>
          <a:xfrm>
            <a:off x="493776" y="3291840"/>
            <a:ext cx="201168" cy="201168"/>
          </a:xfrm>
          <a:prstGeom prst="rect">
            <a:avLst/>
          </a:prstGeom>
          <a:noFill/>
          <a:ln/>
        </p:spPr>
        <p:txBody>
          <a:bodyPr wrap="square" lIns="0" tIns="0" rIns="0" bIns="0" rtlCol="0" anchor="ctr"/>
          <a:lstStyle/>
          <a:p>
            <a:pPr marL="0" indent="0" algn="ctr">
              <a:buNone/>
            </a:pPr>
            <a:r>
              <a:rPr lang="en-US" sz="700" b="1" dirty="0">
                <a:solidFill>
                  <a:srgbClr val="0D1B2A"/>
                </a:solidFill>
              </a:rPr>
              <a:t>3</a:t>
            </a:r>
            <a:endParaRPr lang="en-US" sz="700" dirty="0"/>
          </a:p>
        </p:txBody>
      </p:sp>
      <p:sp>
        <p:nvSpPr>
          <p:cNvPr id="19" name="Text 17"/>
          <p:cNvSpPr/>
          <p:nvPr/>
        </p:nvSpPr>
        <p:spPr>
          <a:xfrm>
            <a:off x="749808" y="3291840"/>
            <a:ext cx="3621024" cy="274320"/>
          </a:xfrm>
          <a:prstGeom prst="rect">
            <a:avLst/>
          </a:prstGeom>
          <a:noFill/>
          <a:ln/>
        </p:spPr>
        <p:txBody>
          <a:bodyPr wrap="square" lIns="0" tIns="0" rIns="0" bIns="0" rtlCol="0" anchor="ctr"/>
          <a:lstStyle/>
          <a:p>
            <a:pPr marL="0" indent="0">
              <a:buNone/>
            </a:pPr>
            <a:r>
              <a:rPr lang="en-US" sz="820" dirty="0">
                <a:solidFill>
                  <a:srgbClr val="1A1A2E"/>
                </a:solidFill>
              </a:rPr>
              <a:t>If directory entry is deleted, use cluster adjacency analysis or heuristics</a:t>
            </a:r>
            <a:endParaRPr lang="en-US" sz="820" dirty="0"/>
          </a:p>
        </p:txBody>
      </p:sp>
      <p:sp>
        <p:nvSpPr>
          <p:cNvPr id="20" name="Shape 18"/>
          <p:cNvSpPr/>
          <p:nvPr/>
        </p:nvSpPr>
        <p:spPr>
          <a:xfrm>
            <a:off x="493776" y="3593592"/>
            <a:ext cx="201168" cy="201168"/>
          </a:xfrm>
          <a:prstGeom prst="rect">
            <a:avLst/>
          </a:prstGeom>
          <a:solidFill>
            <a:srgbClr val="A855F7"/>
          </a:solidFill>
          <a:ln w="12700">
            <a:solidFill>
              <a:srgbClr val="A855F7"/>
            </a:solidFill>
            <a:prstDash val="solid"/>
          </a:ln>
        </p:spPr>
        <p:txBody>
          <a:bodyPr/>
          <a:lstStyle/>
          <a:p>
            <a:endParaRPr lang="en-SG"/>
          </a:p>
        </p:txBody>
      </p:sp>
      <p:sp>
        <p:nvSpPr>
          <p:cNvPr id="21" name="Text 19"/>
          <p:cNvSpPr/>
          <p:nvPr/>
        </p:nvSpPr>
        <p:spPr>
          <a:xfrm>
            <a:off x="493776" y="3593592"/>
            <a:ext cx="201168" cy="201168"/>
          </a:xfrm>
          <a:prstGeom prst="rect">
            <a:avLst/>
          </a:prstGeom>
          <a:noFill/>
          <a:ln/>
        </p:spPr>
        <p:txBody>
          <a:bodyPr wrap="square" lIns="0" tIns="0" rIns="0" bIns="0" rtlCol="0" anchor="ctr"/>
          <a:lstStyle/>
          <a:p>
            <a:pPr marL="0" indent="0" algn="ctr">
              <a:buNone/>
            </a:pPr>
            <a:r>
              <a:rPr lang="en-US" sz="700" b="1" dirty="0">
                <a:solidFill>
                  <a:srgbClr val="0D1B2A"/>
                </a:solidFill>
              </a:rPr>
              <a:t>4</a:t>
            </a:r>
            <a:endParaRPr lang="en-US" sz="700" dirty="0"/>
          </a:p>
        </p:txBody>
      </p:sp>
      <p:sp>
        <p:nvSpPr>
          <p:cNvPr id="22" name="Text 20"/>
          <p:cNvSpPr/>
          <p:nvPr/>
        </p:nvSpPr>
        <p:spPr>
          <a:xfrm>
            <a:off x="749808" y="3593592"/>
            <a:ext cx="3621024" cy="274320"/>
          </a:xfrm>
          <a:prstGeom prst="rect">
            <a:avLst/>
          </a:prstGeom>
          <a:noFill/>
          <a:ln/>
        </p:spPr>
        <p:txBody>
          <a:bodyPr wrap="square" lIns="0" tIns="0" rIns="0" bIns="0" rtlCol="0" anchor="ctr"/>
          <a:lstStyle/>
          <a:p>
            <a:pPr marL="0" indent="0">
              <a:buNone/>
            </a:pPr>
            <a:r>
              <a:rPr lang="en-US" sz="820" dirty="0">
                <a:solidFill>
                  <a:srgbClr val="1A1A2E"/>
                </a:solidFill>
              </a:rPr>
              <a:t>Collect all clusters belonging to the file in the correct order</a:t>
            </a:r>
            <a:endParaRPr lang="en-US" sz="820" dirty="0"/>
          </a:p>
        </p:txBody>
      </p:sp>
      <p:sp>
        <p:nvSpPr>
          <p:cNvPr id="23" name="Shape 21"/>
          <p:cNvSpPr/>
          <p:nvPr/>
        </p:nvSpPr>
        <p:spPr>
          <a:xfrm>
            <a:off x="493776" y="3895344"/>
            <a:ext cx="201168" cy="201168"/>
          </a:xfrm>
          <a:prstGeom prst="rect">
            <a:avLst/>
          </a:prstGeom>
          <a:solidFill>
            <a:srgbClr val="A855F7"/>
          </a:solidFill>
          <a:ln w="12700">
            <a:solidFill>
              <a:srgbClr val="A855F7"/>
            </a:solidFill>
            <a:prstDash val="solid"/>
          </a:ln>
        </p:spPr>
        <p:txBody>
          <a:bodyPr/>
          <a:lstStyle/>
          <a:p>
            <a:endParaRPr lang="en-SG"/>
          </a:p>
        </p:txBody>
      </p:sp>
      <p:sp>
        <p:nvSpPr>
          <p:cNvPr id="24" name="Text 22"/>
          <p:cNvSpPr/>
          <p:nvPr/>
        </p:nvSpPr>
        <p:spPr>
          <a:xfrm>
            <a:off x="493776" y="3895344"/>
            <a:ext cx="201168" cy="201168"/>
          </a:xfrm>
          <a:prstGeom prst="rect">
            <a:avLst/>
          </a:prstGeom>
          <a:noFill/>
          <a:ln/>
        </p:spPr>
        <p:txBody>
          <a:bodyPr wrap="square" lIns="0" tIns="0" rIns="0" bIns="0" rtlCol="0" anchor="ctr"/>
          <a:lstStyle/>
          <a:p>
            <a:pPr marL="0" indent="0" algn="ctr">
              <a:buNone/>
            </a:pPr>
            <a:r>
              <a:rPr lang="en-US" sz="700" b="1" dirty="0">
                <a:solidFill>
                  <a:srgbClr val="0D1B2A"/>
                </a:solidFill>
              </a:rPr>
              <a:t>5</a:t>
            </a:r>
            <a:endParaRPr lang="en-US" sz="700" dirty="0"/>
          </a:p>
        </p:txBody>
      </p:sp>
      <p:sp>
        <p:nvSpPr>
          <p:cNvPr id="25" name="Text 23"/>
          <p:cNvSpPr/>
          <p:nvPr/>
        </p:nvSpPr>
        <p:spPr>
          <a:xfrm>
            <a:off x="749808" y="3895344"/>
            <a:ext cx="3621024" cy="274320"/>
          </a:xfrm>
          <a:prstGeom prst="rect">
            <a:avLst/>
          </a:prstGeom>
          <a:noFill/>
          <a:ln/>
        </p:spPr>
        <p:txBody>
          <a:bodyPr wrap="square" lIns="0" tIns="0" rIns="0" bIns="0" rtlCol="0" anchor="ctr"/>
          <a:lstStyle/>
          <a:p>
            <a:pPr marL="0" indent="0">
              <a:buNone/>
            </a:pPr>
            <a:r>
              <a:rPr lang="en-US" sz="820" dirty="0">
                <a:solidFill>
                  <a:srgbClr val="1A1A2E"/>
                </a:solidFill>
              </a:rPr>
              <a:t>Combine cluster data into a single output file</a:t>
            </a:r>
            <a:endParaRPr lang="en-US" sz="820" dirty="0"/>
          </a:p>
        </p:txBody>
      </p:sp>
      <p:sp>
        <p:nvSpPr>
          <p:cNvPr id="26" name="Shape 24"/>
          <p:cNvSpPr/>
          <p:nvPr/>
        </p:nvSpPr>
        <p:spPr>
          <a:xfrm>
            <a:off x="493776" y="4197096"/>
            <a:ext cx="201168" cy="201168"/>
          </a:xfrm>
          <a:prstGeom prst="rect">
            <a:avLst/>
          </a:prstGeom>
          <a:solidFill>
            <a:srgbClr val="A855F7"/>
          </a:solidFill>
          <a:ln w="12700">
            <a:solidFill>
              <a:srgbClr val="A855F7"/>
            </a:solidFill>
            <a:prstDash val="solid"/>
          </a:ln>
        </p:spPr>
        <p:txBody>
          <a:bodyPr/>
          <a:lstStyle/>
          <a:p>
            <a:endParaRPr lang="en-SG"/>
          </a:p>
        </p:txBody>
      </p:sp>
      <p:sp>
        <p:nvSpPr>
          <p:cNvPr id="27" name="Text 25"/>
          <p:cNvSpPr/>
          <p:nvPr/>
        </p:nvSpPr>
        <p:spPr>
          <a:xfrm>
            <a:off x="493776" y="4197096"/>
            <a:ext cx="201168" cy="201168"/>
          </a:xfrm>
          <a:prstGeom prst="rect">
            <a:avLst/>
          </a:prstGeom>
          <a:noFill/>
          <a:ln/>
        </p:spPr>
        <p:txBody>
          <a:bodyPr wrap="square" lIns="0" tIns="0" rIns="0" bIns="0" rtlCol="0" anchor="ctr"/>
          <a:lstStyle/>
          <a:p>
            <a:pPr marL="0" indent="0" algn="ctr">
              <a:buNone/>
            </a:pPr>
            <a:r>
              <a:rPr lang="en-US" sz="700" b="1" dirty="0">
                <a:solidFill>
                  <a:srgbClr val="0D1B2A"/>
                </a:solidFill>
              </a:rPr>
              <a:t>6</a:t>
            </a:r>
            <a:endParaRPr lang="en-US" sz="700" dirty="0"/>
          </a:p>
        </p:txBody>
      </p:sp>
      <p:sp>
        <p:nvSpPr>
          <p:cNvPr id="28" name="Text 26"/>
          <p:cNvSpPr/>
          <p:nvPr/>
        </p:nvSpPr>
        <p:spPr>
          <a:xfrm>
            <a:off x="749808" y="4197096"/>
            <a:ext cx="3621024" cy="274320"/>
          </a:xfrm>
          <a:prstGeom prst="rect">
            <a:avLst/>
          </a:prstGeom>
          <a:noFill/>
          <a:ln/>
        </p:spPr>
        <p:txBody>
          <a:bodyPr wrap="square" lIns="0" tIns="0" rIns="0" bIns="0" rtlCol="0" anchor="ctr"/>
          <a:lstStyle/>
          <a:p>
            <a:pPr marL="0" indent="0">
              <a:buNone/>
            </a:pPr>
            <a:r>
              <a:rPr lang="en-US" sz="820" dirty="0">
                <a:solidFill>
                  <a:srgbClr val="1A1A2E"/>
                </a:solidFill>
              </a:rPr>
              <a:t>Repair any corrupted or missing header bytes using a hex editor</a:t>
            </a:r>
            <a:endParaRPr lang="en-US" sz="820" dirty="0"/>
          </a:p>
        </p:txBody>
      </p:sp>
      <p:sp>
        <p:nvSpPr>
          <p:cNvPr id="29" name="Shape 27"/>
          <p:cNvSpPr/>
          <p:nvPr/>
        </p:nvSpPr>
        <p:spPr>
          <a:xfrm>
            <a:off x="493776" y="4498848"/>
            <a:ext cx="201168" cy="201168"/>
          </a:xfrm>
          <a:prstGeom prst="rect">
            <a:avLst/>
          </a:prstGeom>
          <a:solidFill>
            <a:srgbClr val="A855F7"/>
          </a:solidFill>
          <a:ln w="12700">
            <a:solidFill>
              <a:srgbClr val="A855F7"/>
            </a:solidFill>
            <a:prstDash val="solid"/>
          </a:ln>
        </p:spPr>
        <p:txBody>
          <a:bodyPr/>
          <a:lstStyle/>
          <a:p>
            <a:endParaRPr lang="en-SG"/>
          </a:p>
        </p:txBody>
      </p:sp>
      <p:sp>
        <p:nvSpPr>
          <p:cNvPr id="30" name="Text 28"/>
          <p:cNvSpPr/>
          <p:nvPr/>
        </p:nvSpPr>
        <p:spPr>
          <a:xfrm>
            <a:off x="493776" y="4498848"/>
            <a:ext cx="201168" cy="201168"/>
          </a:xfrm>
          <a:prstGeom prst="rect">
            <a:avLst/>
          </a:prstGeom>
          <a:noFill/>
          <a:ln/>
        </p:spPr>
        <p:txBody>
          <a:bodyPr wrap="square" lIns="0" tIns="0" rIns="0" bIns="0" rtlCol="0" anchor="ctr"/>
          <a:lstStyle/>
          <a:p>
            <a:pPr marL="0" indent="0" algn="ctr">
              <a:buNone/>
            </a:pPr>
            <a:r>
              <a:rPr lang="en-US" sz="700" b="1" dirty="0">
                <a:solidFill>
                  <a:srgbClr val="0D1B2A"/>
                </a:solidFill>
              </a:rPr>
              <a:t>7</a:t>
            </a:r>
            <a:endParaRPr lang="en-US" sz="700" dirty="0"/>
          </a:p>
        </p:txBody>
      </p:sp>
      <p:sp>
        <p:nvSpPr>
          <p:cNvPr id="31" name="Text 29"/>
          <p:cNvSpPr/>
          <p:nvPr/>
        </p:nvSpPr>
        <p:spPr>
          <a:xfrm>
            <a:off x="749808" y="4498848"/>
            <a:ext cx="3621024" cy="274320"/>
          </a:xfrm>
          <a:prstGeom prst="rect">
            <a:avLst/>
          </a:prstGeom>
          <a:noFill/>
          <a:ln/>
        </p:spPr>
        <p:txBody>
          <a:bodyPr wrap="square" lIns="0" tIns="0" rIns="0" bIns="0" rtlCol="0" anchor="ctr"/>
          <a:lstStyle/>
          <a:p>
            <a:pPr marL="0" indent="0">
              <a:buNone/>
            </a:pPr>
            <a:r>
              <a:rPr lang="en-US" sz="820" dirty="0">
                <a:solidFill>
                  <a:srgbClr val="1A1A2E"/>
                </a:solidFill>
              </a:rPr>
              <a:t>Verify the reconstructed file opens correctly and document cluster addresses</a:t>
            </a:r>
            <a:endParaRPr lang="en-US" sz="820" dirty="0"/>
          </a:p>
        </p:txBody>
      </p:sp>
      <p:sp>
        <p:nvSpPr>
          <p:cNvPr id="32" name="Shape 30"/>
          <p:cNvSpPr/>
          <p:nvPr/>
        </p:nvSpPr>
        <p:spPr>
          <a:xfrm>
            <a:off x="4590288" y="1261872"/>
            <a:ext cx="4233672" cy="3529584"/>
          </a:xfrm>
          <a:prstGeom prst="rect">
            <a:avLst/>
          </a:prstGeom>
          <a:solidFill>
            <a:srgbClr val="EEF6FB"/>
          </a:solidFill>
          <a:ln w="12700">
            <a:solidFill>
              <a:srgbClr val="EEF6FB"/>
            </a:solidFill>
            <a:prstDash val="solid"/>
          </a:ln>
        </p:spPr>
        <p:txBody>
          <a:bodyPr/>
          <a:lstStyle/>
          <a:p>
            <a:endParaRPr lang="en-SG"/>
          </a:p>
        </p:txBody>
      </p:sp>
      <p:sp>
        <p:nvSpPr>
          <p:cNvPr id="33" name="Shape 31"/>
          <p:cNvSpPr/>
          <p:nvPr/>
        </p:nvSpPr>
        <p:spPr>
          <a:xfrm>
            <a:off x="4590288" y="1261872"/>
            <a:ext cx="4233672" cy="64008"/>
          </a:xfrm>
          <a:prstGeom prst="rect">
            <a:avLst/>
          </a:prstGeom>
          <a:solidFill>
            <a:srgbClr val="A855F7"/>
          </a:solidFill>
          <a:ln w="12700">
            <a:solidFill>
              <a:srgbClr val="A855F7"/>
            </a:solidFill>
            <a:prstDash val="solid"/>
          </a:ln>
        </p:spPr>
        <p:txBody>
          <a:bodyPr/>
          <a:lstStyle/>
          <a:p>
            <a:endParaRPr lang="en-SG"/>
          </a:p>
        </p:txBody>
      </p:sp>
      <p:sp>
        <p:nvSpPr>
          <p:cNvPr id="34" name="Text 32"/>
          <p:cNvSpPr/>
          <p:nvPr/>
        </p:nvSpPr>
        <p:spPr>
          <a:xfrm>
            <a:off x="4681728" y="1371600"/>
            <a:ext cx="4023360" cy="256032"/>
          </a:xfrm>
          <a:prstGeom prst="rect">
            <a:avLst/>
          </a:prstGeom>
          <a:noFill/>
          <a:ln/>
        </p:spPr>
        <p:txBody>
          <a:bodyPr wrap="square" lIns="0" tIns="0" rIns="0" bIns="0" rtlCol="0" anchor="ctr"/>
          <a:lstStyle/>
          <a:p>
            <a:pPr marL="0" indent="0">
              <a:buNone/>
            </a:pPr>
            <a:r>
              <a:rPr lang="en-US" sz="1100" b="1" dirty="0">
                <a:solidFill>
                  <a:srgbClr val="A855F7"/>
                </a:solidFill>
              </a:rPr>
              <a:t>Cluster Map — Fragmented JPEG</a:t>
            </a:r>
            <a:endParaRPr lang="en-US" sz="1100" dirty="0"/>
          </a:p>
        </p:txBody>
      </p:sp>
      <p:sp>
        <p:nvSpPr>
          <p:cNvPr id="35" name="Shape 33"/>
          <p:cNvSpPr/>
          <p:nvPr/>
        </p:nvSpPr>
        <p:spPr>
          <a:xfrm>
            <a:off x="4681728" y="1737360"/>
            <a:ext cx="603504" cy="566928"/>
          </a:xfrm>
          <a:prstGeom prst="rect">
            <a:avLst/>
          </a:prstGeom>
          <a:solidFill>
            <a:srgbClr val="A855F7"/>
          </a:solidFill>
          <a:ln w="6350">
            <a:solidFill>
              <a:srgbClr val="A855F7"/>
            </a:solidFill>
            <a:prstDash val="solid"/>
          </a:ln>
        </p:spPr>
        <p:txBody>
          <a:bodyPr/>
          <a:lstStyle/>
          <a:p>
            <a:endParaRPr lang="en-SG"/>
          </a:p>
        </p:txBody>
      </p:sp>
      <p:sp>
        <p:nvSpPr>
          <p:cNvPr id="36" name="Text 34"/>
          <p:cNvSpPr/>
          <p:nvPr/>
        </p:nvSpPr>
        <p:spPr>
          <a:xfrm>
            <a:off x="4681728" y="1773936"/>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0x4C0</a:t>
            </a:r>
            <a:endParaRPr lang="en-US" sz="650" dirty="0"/>
          </a:p>
        </p:txBody>
      </p:sp>
      <p:sp>
        <p:nvSpPr>
          <p:cNvPr id="37" name="Text 35"/>
          <p:cNvSpPr/>
          <p:nvPr/>
        </p:nvSpPr>
        <p:spPr>
          <a:xfrm>
            <a:off x="4681728" y="2029968"/>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38" name="Shape 36"/>
          <p:cNvSpPr/>
          <p:nvPr/>
        </p:nvSpPr>
        <p:spPr>
          <a:xfrm>
            <a:off x="5340096" y="1737360"/>
            <a:ext cx="603504" cy="566928"/>
          </a:xfrm>
          <a:prstGeom prst="rect">
            <a:avLst/>
          </a:prstGeom>
          <a:solidFill>
            <a:srgbClr val="A855F7"/>
          </a:solidFill>
          <a:ln w="6350">
            <a:solidFill>
              <a:srgbClr val="A855F7"/>
            </a:solidFill>
            <a:prstDash val="solid"/>
          </a:ln>
        </p:spPr>
        <p:txBody>
          <a:bodyPr/>
          <a:lstStyle/>
          <a:p>
            <a:endParaRPr lang="en-SG"/>
          </a:p>
        </p:txBody>
      </p:sp>
      <p:sp>
        <p:nvSpPr>
          <p:cNvPr id="39" name="Text 37"/>
          <p:cNvSpPr/>
          <p:nvPr/>
        </p:nvSpPr>
        <p:spPr>
          <a:xfrm>
            <a:off x="5340096" y="1773936"/>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0x4C1</a:t>
            </a:r>
            <a:endParaRPr lang="en-US" sz="650" dirty="0"/>
          </a:p>
        </p:txBody>
      </p:sp>
      <p:sp>
        <p:nvSpPr>
          <p:cNvPr id="40" name="Text 38"/>
          <p:cNvSpPr/>
          <p:nvPr/>
        </p:nvSpPr>
        <p:spPr>
          <a:xfrm>
            <a:off x="5340096" y="2029968"/>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41" name="Shape 39"/>
          <p:cNvSpPr/>
          <p:nvPr/>
        </p:nvSpPr>
        <p:spPr>
          <a:xfrm>
            <a:off x="5998464" y="1737360"/>
            <a:ext cx="603504" cy="566928"/>
          </a:xfrm>
          <a:prstGeom prst="rect">
            <a:avLst/>
          </a:prstGeom>
          <a:solidFill>
            <a:srgbClr val="A855F7"/>
          </a:solidFill>
          <a:ln w="6350">
            <a:solidFill>
              <a:srgbClr val="A855F7"/>
            </a:solidFill>
            <a:prstDash val="solid"/>
          </a:ln>
        </p:spPr>
        <p:txBody>
          <a:bodyPr/>
          <a:lstStyle/>
          <a:p>
            <a:endParaRPr lang="en-SG"/>
          </a:p>
        </p:txBody>
      </p:sp>
      <p:sp>
        <p:nvSpPr>
          <p:cNvPr id="42" name="Text 40"/>
          <p:cNvSpPr/>
          <p:nvPr/>
        </p:nvSpPr>
        <p:spPr>
          <a:xfrm>
            <a:off x="5998464" y="1773936"/>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0x4C2</a:t>
            </a:r>
            <a:endParaRPr lang="en-US" sz="650" dirty="0"/>
          </a:p>
        </p:txBody>
      </p:sp>
      <p:sp>
        <p:nvSpPr>
          <p:cNvPr id="43" name="Text 41"/>
          <p:cNvSpPr/>
          <p:nvPr/>
        </p:nvSpPr>
        <p:spPr>
          <a:xfrm>
            <a:off x="5998464" y="2029968"/>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44" name="Shape 42"/>
          <p:cNvSpPr/>
          <p:nvPr/>
        </p:nvSpPr>
        <p:spPr>
          <a:xfrm>
            <a:off x="6656832" y="1737360"/>
            <a:ext cx="603504" cy="566928"/>
          </a:xfrm>
          <a:prstGeom prst="rect">
            <a:avLst/>
          </a:prstGeom>
          <a:solidFill>
            <a:srgbClr val="FFFFFF"/>
          </a:solidFill>
          <a:ln w="6350">
            <a:solidFill>
              <a:srgbClr val="E2E8F0"/>
            </a:solidFill>
            <a:prstDash val="solid"/>
          </a:ln>
        </p:spPr>
        <p:txBody>
          <a:bodyPr/>
          <a:lstStyle/>
          <a:p>
            <a:endParaRPr lang="en-SG"/>
          </a:p>
        </p:txBody>
      </p:sp>
      <p:sp>
        <p:nvSpPr>
          <p:cNvPr id="45" name="Text 43"/>
          <p:cNvSpPr/>
          <p:nvPr/>
        </p:nvSpPr>
        <p:spPr>
          <a:xfrm>
            <a:off x="6656832" y="1773936"/>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0x4C3</a:t>
            </a:r>
            <a:endParaRPr lang="en-US" sz="650" dirty="0"/>
          </a:p>
        </p:txBody>
      </p:sp>
      <p:sp>
        <p:nvSpPr>
          <p:cNvPr id="46" name="Text 44"/>
          <p:cNvSpPr/>
          <p:nvPr/>
        </p:nvSpPr>
        <p:spPr>
          <a:xfrm>
            <a:off x="6656832" y="2029968"/>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47" name="Shape 45"/>
          <p:cNvSpPr/>
          <p:nvPr/>
        </p:nvSpPr>
        <p:spPr>
          <a:xfrm>
            <a:off x="7315200" y="1737360"/>
            <a:ext cx="603504" cy="566928"/>
          </a:xfrm>
          <a:prstGeom prst="rect">
            <a:avLst/>
          </a:prstGeom>
          <a:solidFill>
            <a:srgbClr val="FFFFFF"/>
          </a:solidFill>
          <a:ln w="6350">
            <a:solidFill>
              <a:srgbClr val="E2E8F0"/>
            </a:solidFill>
            <a:prstDash val="solid"/>
          </a:ln>
        </p:spPr>
        <p:txBody>
          <a:bodyPr/>
          <a:lstStyle/>
          <a:p>
            <a:endParaRPr lang="en-SG"/>
          </a:p>
        </p:txBody>
      </p:sp>
      <p:sp>
        <p:nvSpPr>
          <p:cNvPr id="48" name="Text 46"/>
          <p:cNvSpPr/>
          <p:nvPr/>
        </p:nvSpPr>
        <p:spPr>
          <a:xfrm>
            <a:off x="7315200" y="1773936"/>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0x4C4</a:t>
            </a:r>
            <a:endParaRPr lang="en-US" sz="650" dirty="0"/>
          </a:p>
        </p:txBody>
      </p:sp>
      <p:sp>
        <p:nvSpPr>
          <p:cNvPr id="49" name="Text 47"/>
          <p:cNvSpPr/>
          <p:nvPr/>
        </p:nvSpPr>
        <p:spPr>
          <a:xfrm>
            <a:off x="7315200" y="2029968"/>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50" name="Shape 48"/>
          <p:cNvSpPr/>
          <p:nvPr/>
        </p:nvSpPr>
        <p:spPr>
          <a:xfrm>
            <a:off x="7973568" y="1737360"/>
            <a:ext cx="603504" cy="566928"/>
          </a:xfrm>
          <a:prstGeom prst="rect">
            <a:avLst/>
          </a:prstGeom>
          <a:solidFill>
            <a:srgbClr val="FFFFFF"/>
          </a:solidFill>
          <a:ln w="6350">
            <a:solidFill>
              <a:srgbClr val="E2E8F0"/>
            </a:solidFill>
            <a:prstDash val="solid"/>
          </a:ln>
        </p:spPr>
        <p:txBody>
          <a:bodyPr/>
          <a:lstStyle/>
          <a:p>
            <a:endParaRPr lang="en-SG"/>
          </a:p>
        </p:txBody>
      </p:sp>
      <p:sp>
        <p:nvSpPr>
          <p:cNvPr id="51" name="Text 49"/>
          <p:cNvSpPr/>
          <p:nvPr/>
        </p:nvSpPr>
        <p:spPr>
          <a:xfrm>
            <a:off x="7973568" y="1773936"/>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0x4C5</a:t>
            </a:r>
            <a:endParaRPr lang="en-US" sz="650" dirty="0"/>
          </a:p>
        </p:txBody>
      </p:sp>
      <p:sp>
        <p:nvSpPr>
          <p:cNvPr id="52" name="Text 50"/>
          <p:cNvSpPr/>
          <p:nvPr/>
        </p:nvSpPr>
        <p:spPr>
          <a:xfrm>
            <a:off x="7973568" y="2029968"/>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53" name="Shape 51"/>
          <p:cNvSpPr/>
          <p:nvPr/>
        </p:nvSpPr>
        <p:spPr>
          <a:xfrm>
            <a:off x="4681728" y="2395728"/>
            <a:ext cx="603504" cy="566928"/>
          </a:xfrm>
          <a:prstGeom prst="rect">
            <a:avLst/>
          </a:prstGeom>
          <a:solidFill>
            <a:srgbClr val="FFFFFF"/>
          </a:solidFill>
          <a:ln w="6350">
            <a:solidFill>
              <a:srgbClr val="E2E8F0"/>
            </a:solidFill>
            <a:prstDash val="solid"/>
          </a:ln>
        </p:spPr>
        <p:txBody>
          <a:bodyPr/>
          <a:lstStyle/>
          <a:p>
            <a:endParaRPr lang="en-SG"/>
          </a:p>
        </p:txBody>
      </p:sp>
      <p:sp>
        <p:nvSpPr>
          <p:cNvPr id="54" name="Text 52"/>
          <p:cNvSpPr/>
          <p:nvPr/>
        </p:nvSpPr>
        <p:spPr>
          <a:xfrm>
            <a:off x="4681728" y="2432304"/>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0x4C6</a:t>
            </a:r>
            <a:endParaRPr lang="en-US" sz="650" dirty="0"/>
          </a:p>
        </p:txBody>
      </p:sp>
      <p:sp>
        <p:nvSpPr>
          <p:cNvPr id="55" name="Text 53"/>
          <p:cNvSpPr/>
          <p:nvPr/>
        </p:nvSpPr>
        <p:spPr>
          <a:xfrm>
            <a:off x="4681728" y="2688336"/>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56" name="Shape 54"/>
          <p:cNvSpPr/>
          <p:nvPr/>
        </p:nvSpPr>
        <p:spPr>
          <a:xfrm>
            <a:off x="5340096" y="2395728"/>
            <a:ext cx="603504" cy="566928"/>
          </a:xfrm>
          <a:prstGeom prst="rect">
            <a:avLst/>
          </a:prstGeom>
          <a:solidFill>
            <a:srgbClr val="FFFFFF"/>
          </a:solidFill>
          <a:ln w="6350">
            <a:solidFill>
              <a:srgbClr val="E2E8F0"/>
            </a:solidFill>
            <a:prstDash val="solid"/>
          </a:ln>
        </p:spPr>
        <p:txBody>
          <a:bodyPr/>
          <a:lstStyle/>
          <a:p>
            <a:endParaRPr lang="en-SG"/>
          </a:p>
        </p:txBody>
      </p:sp>
      <p:sp>
        <p:nvSpPr>
          <p:cNvPr id="57" name="Text 55"/>
          <p:cNvSpPr/>
          <p:nvPr/>
        </p:nvSpPr>
        <p:spPr>
          <a:xfrm>
            <a:off x="5340096" y="2432304"/>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0x4C7</a:t>
            </a:r>
            <a:endParaRPr lang="en-US" sz="650" dirty="0"/>
          </a:p>
        </p:txBody>
      </p:sp>
      <p:sp>
        <p:nvSpPr>
          <p:cNvPr id="58" name="Text 56"/>
          <p:cNvSpPr/>
          <p:nvPr/>
        </p:nvSpPr>
        <p:spPr>
          <a:xfrm>
            <a:off x="5340096" y="2688336"/>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59" name="Shape 57"/>
          <p:cNvSpPr/>
          <p:nvPr/>
        </p:nvSpPr>
        <p:spPr>
          <a:xfrm>
            <a:off x="5998464" y="2395728"/>
            <a:ext cx="603504" cy="566928"/>
          </a:xfrm>
          <a:prstGeom prst="rect">
            <a:avLst/>
          </a:prstGeom>
          <a:solidFill>
            <a:srgbClr val="A855F7"/>
          </a:solidFill>
          <a:ln w="6350">
            <a:solidFill>
              <a:srgbClr val="A855F7"/>
            </a:solidFill>
            <a:prstDash val="solid"/>
          </a:ln>
        </p:spPr>
        <p:txBody>
          <a:bodyPr/>
          <a:lstStyle/>
          <a:p>
            <a:endParaRPr lang="en-SG"/>
          </a:p>
        </p:txBody>
      </p:sp>
      <p:sp>
        <p:nvSpPr>
          <p:cNvPr id="60" name="Text 58"/>
          <p:cNvSpPr/>
          <p:nvPr/>
        </p:nvSpPr>
        <p:spPr>
          <a:xfrm>
            <a:off x="5998464" y="2432304"/>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0x4C8</a:t>
            </a:r>
            <a:endParaRPr lang="en-US" sz="650" dirty="0"/>
          </a:p>
        </p:txBody>
      </p:sp>
      <p:sp>
        <p:nvSpPr>
          <p:cNvPr id="61" name="Text 59"/>
          <p:cNvSpPr/>
          <p:nvPr/>
        </p:nvSpPr>
        <p:spPr>
          <a:xfrm>
            <a:off x="5998464" y="2688336"/>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62" name="Shape 60"/>
          <p:cNvSpPr/>
          <p:nvPr/>
        </p:nvSpPr>
        <p:spPr>
          <a:xfrm>
            <a:off x="6656832" y="2395728"/>
            <a:ext cx="603504" cy="566928"/>
          </a:xfrm>
          <a:prstGeom prst="rect">
            <a:avLst/>
          </a:prstGeom>
          <a:solidFill>
            <a:srgbClr val="A855F7"/>
          </a:solidFill>
          <a:ln w="6350">
            <a:solidFill>
              <a:srgbClr val="A855F7"/>
            </a:solidFill>
            <a:prstDash val="solid"/>
          </a:ln>
        </p:spPr>
        <p:txBody>
          <a:bodyPr/>
          <a:lstStyle/>
          <a:p>
            <a:endParaRPr lang="en-SG"/>
          </a:p>
        </p:txBody>
      </p:sp>
      <p:sp>
        <p:nvSpPr>
          <p:cNvPr id="63" name="Text 61"/>
          <p:cNvSpPr/>
          <p:nvPr/>
        </p:nvSpPr>
        <p:spPr>
          <a:xfrm>
            <a:off x="6656832" y="2432304"/>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0x4C9</a:t>
            </a:r>
            <a:endParaRPr lang="en-US" sz="650" dirty="0"/>
          </a:p>
        </p:txBody>
      </p:sp>
      <p:sp>
        <p:nvSpPr>
          <p:cNvPr id="64" name="Text 62"/>
          <p:cNvSpPr/>
          <p:nvPr/>
        </p:nvSpPr>
        <p:spPr>
          <a:xfrm>
            <a:off x="6656832" y="2688336"/>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65" name="Shape 63"/>
          <p:cNvSpPr/>
          <p:nvPr/>
        </p:nvSpPr>
        <p:spPr>
          <a:xfrm>
            <a:off x="7315200" y="2395728"/>
            <a:ext cx="603504" cy="566928"/>
          </a:xfrm>
          <a:prstGeom prst="rect">
            <a:avLst/>
          </a:prstGeom>
          <a:solidFill>
            <a:srgbClr val="A855F7"/>
          </a:solidFill>
          <a:ln w="6350">
            <a:solidFill>
              <a:srgbClr val="A855F7"/>
            </a:solidFill>
            <a:prstDash val="solid"/>
          </a:ln>
        </p:spPr>
        <p:txBody>
          <a:bodyPr/>
          <a:lstStyle/>
          <a:p>
            <a:endParaRPr lang="en-SG"/>
          </a:p>
        </p:txBody>
      </p:sp>
      <p:sp>
        <p:nvSpPr>
          <p:cNvPr id="66" name="Text 64"/>
          <p:cNvSpPr/>
          <p:nvPr/>
        </p:nvSpPr>
        <p:spPr>
          <a:xfrm>
            <a:off x="7315200" y="2432304"/>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0x4CA</a:t>
            </a:r>
            <a:endParaRPr lang="en-US" sz="650" dirty="0"/>
          </a:p>
        </p:txBody>
      </p:sp>
      <p:sp>
        <p:nvSpPr>
          <p:cNvPr id="67" name="Text 65"/>
          <p:cNvSpPr/>
          <p:nvPr/>
        </p:nvSpPr>
        <p:spPr>
          <a:xfrm>
            <a:off x="7315200" y="2688336"/>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68" name="Shape 66"/>
          <p:cNvSpPr/>
          <p:nvPr/>
        </p:nvSpPr>
        <p:spPr>
          <a:xfrm>
            <a:off x="7973568" y="2395728"/>
            <a:ext cx="603504" cy="566928"/>
          </a:xfrm>
          <a:prstGeom prst="rect">
            <a:avLst/>
          </a:prstGeom>
          <a:solidFill>
            <a:srgbClr val="E74C3C"/>
          </a:solidFill>
          <a:ln w="6350">
            <a:solidFill>
              <a:srgbClr val="243650"/>
            </a:solidFill>
            <a:prstDash val="solid"/>
          </a:ln>
        </p:spPr>
        <p:txBody>
          <a:bodyPr/>
          <a:lstStyle/>
          <a:p>
            <a:endParaRPr lang="en-SG"/>
          </a:p>
        </p:txBody>
      </p:sp>
      <p:sp>
        <p:nvSpPr>
          <p:cNvPr id="69" name="Text 67"/>
          <p:cNvSpPr/>
          <p:nvPr/>
        </p:nvSpPr>
        <p:spPr>
          <a:xfrm>
            <a:off x="7973568" y="2432304"/>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0x4CB</a:t>
            </a:r>
            <a:endParaRPr lang="en-US" sz="650" dirty="0"/>
          </a:p>
        </p:txBody>
      </p:sp>
      <p:sp>
        <p:nvSpPr>
          <p:cNvPr id="70" name="Text 68"/>
          <p:cNvSpPr/>
          <p:nvPr/>
        </p:nvSpPr>
        <p:spPr>
          <a:xfrm>
            <a:off x="7973568" y="2688336"/>
            <a:ext cx="603504" cy="201168"/>
          </a:xfrm>
          <a:prstGeom prst="rect">
            <a:avLst/>
          </a:prstGeom>
          <a:noFill/>
          <a:ln/>
        </p:spPr>
        <p:txBody>
          <a:bodyPr wrap="square" lIns="0" tIns="0" rIns="0" bIns="0" rtlCol="0" anchor="ctr"/>
          <a:lstStyle/>
          <a:p>
            <a:pPr marL="0" indent="0" algn="ctr">
              <a:buNone/>
            </a:pPr>
            <a:r>
              <a:rPr lang="en-US" sz="600" dirty="0">
                <a:solidFill>
                  <a:srgbClr val="F1C40F"/>
                </a:solidFill>
              </a:rPr>
              <a:t>BAD</a:t>
            </a:r>
            <a:endParaRPr lang="en-US" sz="600" dirty="0"/>
          </a:p>
        </p:txBody>
      </p:sp>
      <p:sp>
        <p:nvSpPr>
          <p:cNvPr id="71" name="Shape 69"/>
          <p:cNvSpPr/>
          <p:nvPr/>
        </p:nvSpPr>
        <p:spPr>
          <a:xfrm>
            <a:off x="4681728" y="3054096"/>
            <a:ext cx="603504" cy="566928"/>
          </a:xfrm>
          <a:prstGeom prst="rect">
            <a:avLst/>
          </a:prstGeom>
          <a:solidFill>
            <a:srgbClr val="FFFFFF"/>
          </a:solidFill>
          <a:ln w="6350">
            <a:solidFill>
              <a:srgbClr val="E2E8F0"/>
            </a:solidFill>
            <a:prstDash val="solid"/>
          </a:ln>
        </p:spPr>
        <p:txBody>
          <a:bodyPr/>
          <a:lstStyle/>
          <a:p>
            <a:endParaRPr lang="en-SG"/>
          </a:p>
        </p:txBody>
      </p:sp>
      <p:sp>
        <p:nvSpPr>
          <p:cNvPr id="72" name="Text 70"/>
          <p:cNvSpPr/>
          <p:nvPr/>
        </p:nvSpPr>
        <p:spPr>
          <a:xfrm>
            <a:off x="4681728" y="3090672"/>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0x4CC</a:t>
            </a:r>
            <a:endParaRPr lang="en-US" sz="650" dirty="0"/>
          </a:p>
        </p:txBody>
      </p:sp>
      <p:sp>
        <p:nvSpPr>
          <p:cNvPr id="73" name="Text 71"/>
          <p:cNvSpPr/>
          <p:nvPr/>
        </p:nvSpPr>
        <p:spPr>
          <a:xfrm>
            <a:off x="4681728" y="3346704"/>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74" name="Shape 72"/>
          <p:cNvSpPr/>
          <p:nvPr/>
        </p:nvSpPr>
        <p:spPr>
          <a:xfrm>
            <a:off x="5340096" y="3054096"/>
            <a:ext cx="603504" cy="566928"/>
          </a:xfrm>
          <a:prstGeom prst="rect">
            <a:avLst/>
          </a:prstGeom>
          <a:solidFill>
            <a:srgbClr val="FFFFFF"/>
          </a:solidFill>
          <a:ln w="6350">
            <a:solidFill>
              <a:srgbClr val="E2E8F0"/>
            </a:solidFill>
            <a:prstDash val="solid"/>
          </a:ln>
        </p:spPr>
        <p:txBody>
          <a:bodyPr/>
          <a:lstStyle/>
          <a:p>
            <a:endParaRPr lang="en-SG"/>
          </a:p>
        </p:txBody>
      </p:sp>
      <p:sp>
        <p:nvSpPr>
          <p:cNvPr id="75" name="Text 73"/>
          <p:cNvSpPr/>
          <p:nvPr/>
        </p:nvSpPr>
        <p:spPr>
          <a:xfrm>
            <a:off x="5340096" y="3090672"/>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0x4CD</a:t>
            </a:r>
            <a:endParaRPr lang="en-US" sz="650" dirty="0"/>
          </a:p>
        </p:txBody>
      </p:sp>
      <p:sp>
        <p:nvSpPr>
          <p:cNvPr id="76" name="Text 74"/>
          <p:cNvSpPr/>
          <p:nvPr/>
        </p:nvSpPr>
        <p:spPr>
          <a:xfrm>
            <a:off x="5340096" y="3346704"/>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77" name="Shape 75"/>
          <p:cNvSpPr/>
          <p:nvPr/>
        </p:nvSpPr>
        <p:spPr>
          <a:xfrm>
            <a:off x="5998464" y="3054096"/>
            <a:ext cx="603504" cy="566928"/>
          </a:xfrm>
          <a:prstGeom prst="rect">
            <a:avLst/>
          </a:prstGeom>
          <a:solidFill>
            <a:srgbClr val="FFFFFF"/>
          </a:solidFill>
          <a:ln w="6350">
            <a:solidFill>
              <a:srgbClr val="E2E8F0"/>
            </a:solidFill>
            <a:prstDash val="solid"/>
          </a:ln>
        </p:spPr>
        <p:txBody>
          <a:bodyPr/>
          <a:lstStyle/>
          <a:p>
            <a:endParaRPr lang="en-SG"/>
          </a:p>
        </p:txBody>
      </p:sp>
      <p:sp>
        <p:nvSpPr>
          <p:cNvPr id="78" name="Text 76"/>
          <p:cNvSpPr/>
          <p:nvPr/>
        </p:nvSpPr>
        <p:spPr>
          <a:xfrm>
            <a:off x="5998464" y="3090672"/>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0x4CE</a:t>
            </a:r>
            <a:endParaRPr lang="en-US" sz="650" dirty="0"/>
          </a:p>
        </p:txBody>
      </p:sp>
      <p:sp>
        <p:nvSpPr>
          <p:cNvPr id="79" name="Text 77"/>
          <p:cNvSpPr/>
          <p:nvPr/>
        </p:nvSpPr>
        <p:spPr>
          <a:xfrm>
            <a:off x="5998464" y="3346704"/>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80" name="Shape 78"/>
          <p:cNvSpPr/>
          <p:nvPr/>
        </p:nvSpPr>
        <p:spPr>
          <a:xfrm>
            <a:off x="6656832" y="3054096"/>
            <a:ext cx="603504" cy="566928"/>
          </a:xfrm>
          <a:prstGeom prst="rect">
            <a:avLst/>
          </a:prstGeom>
          <a:solidFill>
            <a:srgbClr val="FFFFFF"/>
          </a:solidFill>
          <a:ln w="6350">
            <a:solidFill>
              <a:srgbClr val="E2E8F0"/>
            </a:solidFill>
            <a:prstDash val="solid"/>
          </a:ln>
        </p:spPr>
        <p:txBody>
          <a:bodyPr/>
          <a:lstStyle/>
          <a:p>
            <a:endParaRPr lang="en-SG"/>
          </a:p>
        </p:txBody>
      </p:sp>
      <p:sp>
        <p:nvSpPr>
          <p:cNvPr id="81" name="Text 79"/>
          <p:cNvSpPr/>
          <p:nvPr/>
        </p:nvSpPr>
        <p:spPr>
          <a:xfrm>
            <a:off x="6656832" y="3090672"/>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0x4CF</a:t>
            </a:r>
            <a:endParaRPr lang="en-US" sz="650" dirty="0"/>
          </a:p>
        </p:txBody>
      </p:sp>
      <p:sp>
        <p:nvSpPr>
          <p:cNvPr id="82" name="Text 80"/>
          <p:cNvSpPr/>
          <p:nvPr/>
        </p:nvSpPr>
        <p:spPr>
          <a:xfrm>
            <a:off x="6656832" y="3346704"/>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83" name="Shape 81"/>
          <p:cNvSpPr/>
          <p:nvPr/>
        </p:nvSpPr>
        <p:spPr>
          <a:xfrm>
            <a:off x="7315200" y="3054096"/>
            <a:ext cx="603504" cy="566928"/>
          </a:xfrm>
          <a:prstGeom prst="rect">
            <a:avLst/>
          </a:prstGeom>
          <a:solidFill>
            <a:srgbClr val="FFFFFF"/>
          </a:solidFill>
          <a:ln w="6350">
            <a:solidFill>
              <a:srgbClr val="E2E8F0"/>
            </a:solidFill>
            <a:prstDash val="solid"/>
          </a:ln>
        </p:spPr>
        <p:txBody>
          <a:bodyPr/>
          <a:lstStyle/>
          <a:p>
            <a:endParaRPr lang="en-SG"/>
          </a:p>
        </p:txBody>
      </p:sp>
      <p:sp>
        <p:nvSpPr>
          <p:cNvPr id="84" name="Text 82"/>
          <p:cNvSpPr/>
          <p:nvPr/>
        </p:nvSpPr>
        <p:spPr>
          <a:xfrm>
            <a:off x="7315200" y="3090672"/>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0x4D0</a:t>
            </a:r>
            <a:endParaRPr lang="en-US" sz="650" dirty="0"/>
          </a:p>
        </p:txBody>
      </p:sp>
      <p:sp>
        <p:nvSpPr>
          <p:cNvPr id="85" name="Text 83"/>
          <p:cNvSpPr/>
          <p:nvPr/>
        </p:nvSpPr>
        <p:spPr>
          <a:xfrm>
            <a:off x="7315200" y="3346704"/>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86" name="Shape 84"/>
          <p:cNvSpPr/>
          <p:nvPr/>
        </p:nvSpPr>
        <p:spPr>
          <a:xfrm>
            <a:off x="7973568" y="3054096"/>
            <a:ext cx="603504" cy="566928"/>
          </a:xfrm>
          <a:prstGeom prst="rect">
            <a:avLst/>
          </a:prstGeom>
          <a:solidFill>
            <a:srgbClr val="FFFFFF"/>
          </a:solidFill>
          <a:ln w="6350">
            <a:solidFill>
              <a:srgbClr val="E2E8F0"/>
            </a:solidFill>
            <a:prstDash val="solid"/>
          </a:ln>
        </p:spPr>
        <p:txBody>
          <a:bodyPr/>
          <a:lstStyle/>
          <a:p>
            <a:endParaRPr lang="en-SG"/>
          </a:p>
        </p:txBody>
      </p:sp>
      <p:sp>
        <p:nvSpPr>
          <p:cNvPr id="87" name="Text 85"/>
          <p:cNvSpPr/>
          <p:nvPr/>
        </p:nvSpPr>
        <p:spPr>
          <a:xfrm>
            <a:off x="7973568" y="3090672"/>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0x4D1</a:t>
            </a:r>
            <a:endParaRPr lang="en-US" sz="650" dirty="0"/>
          </a:p>
        </p:txBody>
      </p:sp>
      <p:sp>
        <p:nvSpPr>
          <p:cNvPr id="88" name="Text 86"/>
          <p:cNvSpPr/>
          <p:nvPr/>
        </p:nvSpPr>
        <p:spPr>
          <a:xfrm>
            <a:off x="7973568" y="3346704"/>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89" name="Shape 87"/>
          <p:cNvSpPr/>
          <p:nvPr/>
        </p:nvSpPr>
        <p:spPr>
          <a:xfrm>
            <a:off x="4681728" y="3712464"/>
            <a:ext cx="603504" cy="566928"/>
          </a:xfrm>
          <a:prstGeom prst="rect">
            <a:avLst/>
          </a:prstGeom>
          <a:solidFill>
            <a:srgbClr val="A855F7"/>
          </a:solidFill>
          <a:ln w="6350">
            <a:solidFill>
              <a:srgbClr val="A855F7"/>
            </a:solidFill>
            <a:prstDash val="solid"/>
          </a:ln>
        </p:spPr>
        <p:txBody>
          <a:bodyPr/>
          <a:lstStyle/>
          <a:p>
            <a:endParaRPr lang="en-SG"/>
          </a:p>
        </p:txBody>
      </p:sp>
      <p:sp>
        <p:nvSpPr>
          <p:cNvPr id="90" name="Text 88"/>
          <p:cNvSpPr/>
          <p:nvPr/>
        </p:nvSpPr>
        <p:spPr>
          <a:xfrm>
            <a:off x="4681728" y="3749040"/>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0x4D2</a:t>
            </a:r>
            <a:endParaRPr lang="en-US" sz="650" dirty="0"/>
          </a:p>
        </p:txBody>
      </p:sp>
      <p:sp>
        <p:nvSpPr>
          <p:cNvPr id="91" name="Text 89"/>
          <p:cNvSpPr/>
          <p:nvPr/>
        </p:nvSpPr>
        <p:spPr>
          <a:xfrm>
            <a:off x="4681728" y="4005072"/>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92" name="Shape 90"/>
          <p:cNvSpPr/>
          <p:nvPr/>
        </p:nvSpPr>
        <p:spPr>
          <a:xfrm>
            <a:off x="5340096" y="3712464"/>
            <a:ext cx="603504" cy="566928"/>
          </a:xfrm>
          <a:prstGeom prst="rect">
            <a:avLst/>
          </a:prstGeom>
          <a:solidFill>
            <a:srgbClr val="A855F7"/>
          </a:solidFill>
          <a:ln w="6350">
            <a:solidFill>
              <a:srgbClr val="A855F7"/>
            </a:solidFill>
            <a:prstDash val="solid"/>
          </a:ln>
        </p:spPr>
        <p:txBody>
          <a:bodyPr/>
          <a:lstStyle/>
          <a:p>
            <a:endParaRPr lang="en-SG"/>
          </a:p>
        </p:txBody>
      </p:sp>
      <p:sp>
        <p:nvSpPr>
          <p:cNvPr id="93" name="Text 91"/>
          <p:cNvSpPr/>
          <p:nvPr/>
        </p:nvSpPr>
        <p:spPr>
          <a:xfrm>
            <a:off x="5340096" y="3749040"/>
            <a:ext cx="603504" cy="256032"/>
          </a:xfrm>
          <a:prstGeom prst="rect">
            <a:avLst/>
          </a:prstGeom>
          <a:noFill/>
          <a:ln/>
        </p:spPr>
        <p:txBody>
          <a:bodyPr wrap="square" lIns="0" tIns="0" rIns="0" bIns="0" rtlCol="0" anchor="ctr"/>
          <a:lstStyle/>
          <a:p>
            <a:pPr marL="0" indent="0" algn="ctr">
              <a:buNone/>
            </a:pPr>
            <a:r>
              <a:rPr lang="en-US" sz="650" dirty="0">
                <a:solidFill>
                  <a:srgbClr val="1A1A2E"/>
                </a:solidFill>
                <a:latin typeface="Consolas" pitchFamily="34" charset="0"/>
                <a:ea typeface="Consolas" pitchFamily="34" charset="-122"/>
                <a:cs typeface="Consolas" pitchFamily="34" charset="-120"/>
              </a:rPr>
              <a:t>0x4D3</a:t>
            </a:r>
            <a:endParaRPr lang="en-US" sz="650" dirty="0"/>
          </a:p>
        </p:txBody>
      </p:sp>
      <p:sp>
        <p:nvSpPr>
          <p:cNvPr id="94" name="Text 92"/>
          <p:cNvSpPr/>
          <p:nvPr/>
        </p:nvSpPr>
        <p:spPr>
          <a:xfrm>
            <a:off x="5340096" y="4005072"/>
            <a:ext cx="603504" cy="201168"/>
          </a:xfrm>
          <a:prstGeom prst="rect">
            <a:avLst/>
          </a:prstGeom>
          <a:noFill/>
          <a:ln/>
        </p:spPr>
        <p:txBody>
          <a:bodyPr wrap="square" lIns="0" tIns="0" rIns="0" bIns="0" rtlCol="0" anchor="ctr"/>
          <a:lstStyle/>
          <a:p>
            <a:pPr marL="0" indent="0" algn="ctr">
              <a:buNone/>
            </a:pPr>
            <a:r>
              <a:rPr lang="en-US" sz="600" b="1" dirty="0">
                <a:solidFill>
                  <a:srgbClr val="F1C40F"/>
                </a:solidFill>
              </a:rPr>
              <a:t>FILE</a:t>
            </a:r>
            <a:endParaRPr lang="en-US" sz="600" dirty="0"/>
          </a:p>
        </p:txBody>
      </p:sp>
      <p:sp>
        <p:nvSpPr>
          <p:cNvPr id="95" name="Shape 93"/>
          <p:cNvSpPr/>
          <p:nvPr/>
        </p:nvSpPr>
        <p:spPr>
          <a:xfrm>
            <a:off x="5998464" y="3712464"/>
            <a:ext cx="603504" cy="566928"/>
          </a:xfrm>
          <a:prstGeom prst="rect">
            <a:avLst/>
          </a:prstGeom>
          <a:solidFill>
            <a:srgbClr val="FFFFFF"/>
          </a:solidFill>
          <a:ln w="6350">
            <a:solidFill>
              <a:srgbClr val="E2E8F0"/>
            </a:solidFill>
            <a:prstDash val="solid"/>
          </a:ln>
        </p:spPr>
        <p:txBody>
          <a:bodyPr/>
          <a:lstStyle/>
          <a:p>
            <a:endParaRPr lang="en-SG"/>
          </a:p>
        </p:txBody>
      </p:sp>
      <p:sp>
        <p:nvSpPr>
          <p:cNvPr id="96" name="Text 94"/>
          <p:cNvSpPr/>
          <p:nvPr/>
        </p:nvSpPr>
        <p:spPr>
          <a:xfrm>
            <a:off x="5998464" y="3749040"/>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0x4D4</a:t>
            </a:r>
            <a:endParaRPr lang="en-US" sz="650" dirty="0"/>
          </a:p>
        </p:txBody>
      </p:sp>
      <p:sp>
        <p:nvSpPr>
          <p:cNvPr id="97" name="Text 95"/>
          <p:cNvSpPr/>
          <p:nvPr/>
        </p:nvSpPr>
        <p:spPr>
          <a:xfrm>
            <a:off x="5998464" y="4005072"/>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98" name="Shape 96"/>
          <p:cNvSpPr/>
          <p:nvPr/>
        </p:nvSpPr>
        <p:spPr>
          <a:xfrm>
            <a:off x="6656832" y="3712464"/>
            <a:ext cx="603504" cy="566928"/>
          </a:xfrm>
          <a:prstGeom prst="rect">
            <a:avLst/>
          </a:prstGeom>
          <a:solidFill>
            <a:srgbClr val="FFFFFF"/>
          </a:solidFill>
          <a:ln w="6350">
            <a:solidFill>
              <a:srgbClr val="E2E8F0"/>
            </a:solidFill>
            <a:prstDash val="solid"/>
          </a:ln>
        </p:spPr>
        <p:txBody>
          <a:bodyPr/>
          <a:lstStyle/>
          <a:p>
            <a:endParaRPr lang="en-SG"/>
          </a:p>
        </p:txBody>
      </p:sp>
      <p:sp>
        <p:nvSpPr>
          <p:cNvPr id="99" name="Text 97"/>
          <p:cNvSpPr/>
          <p:nvPr/>
        </p:nvSpPr>
        <p:spPr>
          <a:xfrm>
            <a:off x="6656832" y="3749040"/>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0x4D5</a:t>
            </a:r>
            <a:endParaRPr lang="en-US" sz="650" dirty="0"/>
          </a:p>
        </p:txBody>
      </p:sp>
      <p:sp>
        <p:nvSpPr>
          <p:cNvPr id="100" name="Text 98"/>
          <p:cNvSpPr/>
          <p:nvPr/>
        </p:nvSpPr>
        <p:spPr>
          <a:xfrm>
            <a:off x="6656832" y="4005072"/>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101" name="Shape 99"/>
          <p:cNvSpPr/>
          <p:nvPr/>
        </p:nvSpPr>
        <p:spPr>
          <a:xfrm>
            <a:off x="7315200" y="3712464"/>
            <a:ext cx="603504" cy="566928"/>
          </a:xfrm>
          <a:prstGeom prst="rect">
            <a:avLst/>
          </a:prstGeom>
          <a:solidFill>
            <a:srgbClr val="FFFFFF"/>
          </a:solidFill>
          <a:ln w="6350">
            <a:solidFill>
              <a:srgbClr val="E2E8F0"/>
            </a:solidFill>
            <a:prstDash val="solid"/>
          </a:ln>
        </p:spPr>
        <p:txBody>
          <a:bodyPr/>
          <a:lstStyle/>
          <a:p>
            <a:endParaRPr lang="en-SG"/>
          </a:p>
        </p:txBody>
      </p:sp>
      <p:sp>
        <p:nvSpPr>
          <p:cNvPr id="102" name="Text 100"/>
          <p:cNvSpPr/>
          <p:nvPr/>
        </p:nvSpPr>
        <p:spPr>
          <a:xfrm>
            <a:off x="7315200" y="3749040"/>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0x4D6</a:t>
            </a:r>
            <a:endParaRPr lang="en-US" sz="650" dirty="0"/>
          </a:p>
        </p:txBody>
      </p:sp>
      <p:sp>
        <p:nvSpPr>
          <p:cNvPr id="103" name="Text 101"/>
          <p:cNvSpPr/>
          <p:nvPr/>
        </p:nvSpPr>
        <p:spPr>
          <a:xfrm>
            <a:off x="7315200" y="4005072"/>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104" name="Shape 102"/>
          <p:cNvSpPr/>
          <p:nvPr/>
        </p:nvSpPr>
        <p:spPr>
          <a:xfrm>
            <a:off x="7973568" y="3712464"/>
            <a:ext cx="603504" cy="566928"/>
          </a:xfrm>
          <a:prstGeom prst="rect">
            <a:avLst/>
          </a:prstGeom>
          <a:solidFill>
            <a:srgbClr val="FFFFFF"/>
          </a:solidFill>
          <a:ln w="6350">
            <a:solidFill>
              <a:srgbClr val="E2E8F0"/>
            </a:solidFill>
            <a:prstDash val="solid"/>
          </a:ln>
        </p:spPr>
        <p:txBody>
          <a:bodyPr/>
          <a:lstStyle/>
          <a:p>
            <a:endParaRPr lang="en-SG"/>
          </a:p>
        </p:txBody>
      </p:sp>
      <p:sp>
        <p:nvSpPr>
          <p:cNvPr id="105" name="Text 103"/>
          <p:cNvSpPr/>
          <p:nvPr/>
        </p:nvSpPr>
        <p:spPr>
          <a:xfrm>
            <a:off x="7973568" y="3749040"/>
            <a:ext cx="603504" cy="256032"/>
          </a:xfrm>
          <a:prstGeom prst="rect">
            <a:avLst/>
          </a:prstGeom>
          <a:noFill/>
          <a:ln/>
        </p:spPr>
        <p:txBody>
          <a:bodyPr wrap="square" lIns="0" tIns="0" rIns="0" bIns="0" rtlCol="0" anchor="ctr"/>
          <a:lstStyle/>
          <a:p>
            <a:pPr marL="0" indent="0" algn="ctr">
              <a:buNone/>
            </a:pPr>
            <a:r>
              <a:rPr lang="en-US" sz="650" dirty="0">
                <a:solidFill>
                  <a:srgbClr val="8899AA"/>
                </a:solidFill>
                <a:latin typeface="Consolas" pitchFamily="34" charset="0"/>
                <a:ea typeface="Consolas" pitchFamily="34" charset="-122"/>
                <a:cs typeface="Consolas" pitchFamily="34" charset="-120"/>
              </a:rPr>
              <a:t>0x4D7</a:t>
            </a:r>
            <a:endParaRPr lang="en-US" sz="650" dirty="0"/>
          </a:p>
        </p:txBody>
      </p:sp>
      <p:sp>
        <p:nvSpPr>
          <p:cNvPr id="106" name="Text 104"/>
          <p:cNvSpPr/>
          <p:nvPr/>
        </p:nvSpPr>
        <p:spPr>
          <a:xfrm>
            <a:off x="7973568" y="4005072"/>
            <a:ext cx="603504" cy="201168"/>
          </a:xfrm>
          <a:prstGeom prst="rect">
            <a:avLst/>
          </a:prstGeom>
          <a:noFill/>
          <a:ln/>
        </p:spPr>
        <p:txBody>
          <a:bodyPr wrap="square" lIns="0" tIns="0" rIns="0" bIns="0" rtlCol="0" anchor="ctr"/>
          <a:lstStyle/>
          <a:p>
            <a:pPr marL="0" indent="0" algn="ctr">
              <a:buNone/>
            </a:pPr>
            <a:r>
              <a:rPr lang="en-US" sz="600" dirty="0">
                <a:solidFill>
                  <a:srgbClr val="8899AA"/>
                </a:solidFill>
              </a:rPr>
              <a:t>OTHER</a:t>
            </a:r>
            <a:endParaRPr lang="en-US" sz="600" dirty="0"/>
          </a:p>
        </p:txBody>
      </p:sp>
      <p:sp>
        <p:nvSpPr>
          <p:cNvPr id="107" name="Shape 105"/>
          <p:cNvSpPr/>
          <p:nvPr/>
        </p:nvSpPr>
        <p:spPr>
          <a:xfrm>
            <a:off x="4681728" y="4425696"/>
            <a:ext cx="201168" cy="146304"/>
          </a:xfrm>
          <a:prstGeom prst="rect">
            <a:avLst/>
          </a:prstGeom>
          <a:solidFill>
            <a:srgbClr val="A855F7"/>
          </a:solidFill>
          <a:ln w="12700">
            <a:solidFill>
              <a:srgbClr val="A855F7"/>
            </a:solidFill>
            <a:prstDash val="solid"/>
          </a:ln>
        </p:spPr>
        <p:txBody>
          <a:bodyPr/>
          <a:lstStyle/>
          <a:p>
            <a:endParaRPr lang="en-SG"/>
          </a:p>
        </p:txBody>
      </p:sp>
      <p:sp>
        <p:nvSpPr>
          <p:cNvPr id="108" name="Text 106"/>
          <p:cNvSpPr/>
          <p:nvPr/>
        </p:nvSpPr>
        <p:spPr>
          <a:xfrm>
            <a:off x="4919472" y="4425696"/>
            <a:ext cx="1097280" cy="146304"/>
          </a:xfrm>
          <a:prstGeom prst="rect">
            <a:avLst/>
          </a:prstGeom>
          <a:noFill/>
          <a:ln/>
        </p:spPr>
        <p:txBody>
          <a:bodyPr wrap="square" lIns="0" tIns="0" rIns="0" bIns="0" rtlCol="0" anchor="ctr"/>
          <a:lstStyle/>
          <a:p>
            <a:pPr marL="0" indent="0">
              <a:buNone/>
            </a:pPr>
            <a:r>
              <a:rPr lang="en-US" sz="800" dirty="0">
                <a:solidFill>
                  <a:srgbClr val="1A1A2E"/>
                </a:solidFill>
              </a:rPr>
              <a:t>File clusters</a:t>
            </a:r>
            <a:endParaRPr lang="en-US" sz="800" dirty="0"/>
          </a:p>
        </p:txBody>
      </p:sp>
      <p:sp>
        <p:nvSpPr>
          <p:cNvPr id="109" name="Shape 107"/>
          <p:cNvSpPr/>
          <p:nvPr/>
        </p:nvSpPr>
        <p:spPr>
          <a:xfrm>
            <a:off x="6053328" y="4425696"/>
            <a:ext cx="201168" cy="146304"/>
          </a:xfrm>
          <a:prstGeom prst="rect">
            <a:avLst/>
          </a:prstGeom>
          <a:solidFill>
            <a:srgbClr val="E74C3C"/>
          </a:solidFill>
          <a:ln w="12700">
            <a:solidFill>
              <a:srgbClr val="E74C3C"/>
            </a:solidFill>
            <a:prstDash val="solid"/>
          </a:ln>
        </p:spPr>
        <p:txBody>
          <a:bodyPr/>
          <a:lstStyle/>
          <a:p>
            <a:endParaRPr lang="en-SG"/>
          </a:p>
        </p:txBody>
      </p:sp>
      <p:sp>
        <p:nvSpPr>
          <p:cNvPr id="110" name="Text 108"/>
          <p:cNvSpPr/>
          <p:nvPr/>
        </p:nvSpPr>
        <p:spPr>
          <a:xfrm>
            <a:off x="6291072" y="4425696"/>
            <a:ext cx="1097280" cy="146304"/>
          </a:xfrm>
          <a:prstGeom prst="rect">
            <a:avLst/>
          </a:prstGeom>
          <a:noFill/>
          <a:ln/>
        </p:spPr>
        <p:txBody>
          <a:bodyPr wrap="square" lIns="0" tIns="0" rIns="0" bIns="0" rtlCol="0" anchor="ctr"/>
          <a:lstStyle/>
          <a:p>
            <a:pPr marL="0" indent="0">
              <a:buNone/>
            </a:pPr>
            <a:r>
              <a:rPr lang="en-US" sz="800" dirty="0">
                <a:solidFill>
                  <a:srgbClr val="1A1A2E"/>
                </a:solidFill>
              </a:rPr>
              <a:t>Bad cluster</a:t>
            </a:r>
            <a:endParaRPr lang="en-US" sz="800" dirty="0"/>
          </a:p>
        </p:txBody>
      </p:sp>
      <p:sp>
        <p:nvSpPr>
          <p:cNvPr id="111" name="Shape 109"/>
          <p:cNvSpPr/>
          <p:nvPr/>
        </p:nvSpPr>
        <p:spPr>
          <a:xfrm>
            <a:off x="7424928" y="4425696"/>
            <a:ext cx="201168" cy="146304"/>
          </a:xfrm>
          <a:prstGeom prst="rect">
            <a:avLst/>
          </a:prstGeom>
          <a:solidFill>
            <a:srgbClr val="FFFFFF"/>
          </a:solidFill>
          <a:ln w="12700">
            <a:solidFill>
              <a:srgbClr val="E2E8F0"/>
            </a:solidFill>
            <a:prstDash val="solid"/>
          </a:ln>
        </p:spPr>
        <p:txBody>
          <a:bodyPr/>
          <a:lstStyle/>
          <a:p>
            <a:endParaRPr lang="en-SG"/>
          </a:p>
        </p:txBody>
      </p:sp>
      <p:sp>
        <p:nvSpPr>
          <p:cNvPr id="112" name="Text 110"/>
          <p:cNvSpPr/>
          <p:nvPr/>
        </p:nvSpPr>
        <p:spPr>
          <a:xfrm>
            <a:off x="7662672" y="4425696"/>
            <a:ext cx="1097280" cy="146304"/>
          </a:xfrm>
          <a:prstGeom prst="rect">
            <a:avLst/>
          </a:prstGeom>
          <a:noFill/>
          <a:ln/>
        </p:spPr>
        <p:txBody>
          <a:bodyPr wrap="square" lIns="0" tIns="0" rIns="0" bIns="0" rtlCol="0" anchor="ctr"/>
          <a:lstStyle/>
          <a:p>
            <a:pPr marL="0" indent="0">
              <a:buNone/>
            </a:pPr>
            <a:r>
              <a:rPr lang="en-US" sz="800" dirty="0">
                <a:solidFill>
                  <a:srgbClr val="1A1A2E"/>
                </a:solidFill>
              </a:rPr>
              <a:t>Other data</a:t>
            </a:r>
            <a:endParaRPr lang="en-US" sz="800" dirty="0"/>
          </a:p>
        </p:txBody>
      </p:sp>
      <p:sp>
        <p:nvSpPr>
          <p:cNvPr id="113" name="Text 111"/>
          <p:cNvSpPr/>
          <p:nvPr/>
        </p:nvSpPr>
        <p:spPr>
          <a:xfrm>
            <a:off x="320040" y="4769651"/>
            <a:ext cx="8503920" cy="201168"/>
          </a:xfrm>
          <a:prstGeom prst="rect">
            <a:avLst/>
          </a:prstGeom>
          <a:noFill/>
          <a:ln/>
        </p:spPr>
        <p:txBody>
          <a:bodyPr wrap="square" lIns="0" tIns="0" rIns="0" bIns="0" rtlCol="0" anchor="ctr"/>
          <a:lstStyle/>
          <a:p>
            <a:pPr marL="0" indent="0">
              <a:buNone/>
            </a:pPr>
            <a:r>
              <a:rPr lang="en-US" sz="800" i="1" dirty="0">
                <a:solidFill>
                  <a:srgbClr val="8899AA"/>
                </a:solidFill>
              </a:rPr>
              <a:t>Bad clusters (marked 0xFFFFFFF7 in FAT32) contain unreadable data — the corresponding portion of the file will be corrupt or missing in the recovered output.</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F1C40F"/>
          </a:solidFill>
          <a:ln w="12700">
            <a:solidFill>
              <a:srgbClr val="F1C40F"/>
            </a:solidFill>
            <a:prstDash val="solid"/>
          </a:ln>
        </p:spPr>
        <p:txBody>
          <a:bodyPr/>
          <a:lstStyle/>
          <a:p>
            <a:endParaRPr lang="en-SG"/>
          </a:p>
        </p:txBody>
      </p:sp>
      <p:sp>
        <p:nvSpPr>
          <p:cNvPr id="3" name="Text 1"/>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F1C40F"/>
                </a:solidFill>
              </a:rPr>
              <a:t>SECTION 5</a:t>
            </a:r>
            <a:endParaRPr lang="en-US" sz="1300" dirty="0"/>
          </a:p>
        </p:txBody>
      </p:sp>
      <p:sp>
        <p:nvSpPr>
          <p:cNvPr id="4" name="Text 2"/>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5200" b="1" dirty="0">
                <a:solidFill>
                  <a:srgbClr val="1A1A2E"/>
                </a:solidFill>
              </a:rPr>
              <a:t>Image Analysis</a:t>
            </a:r>
            <a:endParaRPr lang="en-US" sz="5200" dirty="0"/>
          </a:p>
        </p:txBody>
      </p:sp>
      <p:sp>
        <p:nvSpPr>
          <p:cNvPr id="5" name="Text 3"/>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rPr>
              <a:t>Identifying unknown formats · Analysing headers · Forensic image tools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132381"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40941" cy="256032"/>
          </a:xfrm>
          <a:prstGeom prst="rect">
            <a:avLst/>
          </a:prstGeom>
          <a:noFill/>
          <a:ln/>
        </p:spPr>
        <p:txBody>
          <a:bodyPr wrap="square" lIns="0" tIns="0" rIns="0" bIns="0" rtlCol="0" anchor="ctr"/>
          <a:lstStyle/>
          <a:p>
            <a:pPr marL="0" indent="0">
              <a:buNone/>
            </a:pPr>
            <a:r>
              <a:rPr lang="en-US" sz="850" b="1" dirty="0">
                <a:solidFill>
                  <a:srgbClr val="0D1B2A"/>
                </a:solidFill>
              </a:rPr>
              <a:t>SECTION 5 · IMAGE ANALYSIS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Identifying Unknown Image Formats</a:t>
            </a:r>
            <a:endParaRPr lang="en-US" sz="2800" dirty="0"/>
          </a:p>
        </p:txBody>
      </p:sp>
      <p:sp>
        <p:nvSpPr>
          <p:cNvPr id="5" name="Shape 3"/>
          <p:cNvSpPr/>
          <p:nvPr/>
        </p:nvSpPr>
        <p:spPr>
          <a:xfrm>
            <a:off x="320040" y="1170432"/>
            <a:ext cx="8503920" cy="36576"/>
          </a:xfrm>
          <a:prstGeom prst="rect">
            <a:avLst/>
          </a:prstGeom>
          <a:solidFill>
            <a:srgbClr val="F1C40F"/>
          </a:solidFill>
          <a:ln w="12700">
            <a:solidFill>
              <a:srgbClr val="F1C40F"/>
            </a:solidFill>
            <a:prstDash val="solid"/>
          </a:ln>
        </p:spPr>
        <p:txBody>
          <a:bodyPr/>
          <a:lstStyle/>
          <a:p>
            <a:endParaRPr lang="en-SG"/>
          </a:p>
        </p:txBody>
      </p:sp>
      <p:sp>
        <p:nvSpPr>
          <p:cNvPr id="6" name="Shape 4"/>
          <p:cNvSpPr/>
          <p:nvPr/>
        </p:nvSpPr>
        <p:spPr>
          <a:xfrm>
            <a:off x="320040" y="1261872"/>
            <a:ext cx="8503920" cy="475488"/>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475488"/>
          </a:xfrm>
          <a:prstGeom prst="rect">
            <a:avLst/>
          </a:prstGeom>
          <a:solidFill>
            <a:srgbClr val="F1C40F"/>
          </a:solidFill>
          <a:ln w="12700">
            <a:solidFill>
              <a:srgbClr val="F1C40F"/>
            </a:solidFill>
            <a:prstDash val="solid"/>
          </a:ln>
        </p:spPr>
        <p:txBody>
          <a:bodyPr/>
          <a:lstStyle/>
          <a:p>
            <a:endParaRPr lang="en-SG"/>
          </a:p>
        </p:txBody>
      </p:sp>
      <p:sp>
        <p:nvSpPr>
          <p:cNvPr id="8" name="Text 6"/>
          <p:cNvSpPr/>
          <p:nvPr/>
        </p:nvSpPr>
        <p:spPr>
          <a:xfrm>
            <a:off x="493776" y="1316736"/>
            <a:ext cx="8229600" cy="365760"/>
          </a:xfrm>
          <a:prstGeom prst="rect">
            <a:avLst/>
          </a:prstGeom>
          <a:noFill/>
          <a:ln/>
        </p:spPr>
        <p:txBody>
          <a:bodyPr wrap="square" lIns="0" tIns="0" rIns="0" bIns="0" rtlCol="0" anchor="ctr"/>
          <a:lstStyle/>
          <a:p>
            <a:pPr marL="0" indent="0">
              <a:buNone/>
            </a:pPr>
            <a:r>
              <a:rPr lang="en-US" sz="950" dirty="0">
                <a:solidFill>
                  <a:srgbClr val="1A1A2E"/>
                </a:solidFill>
              </a:rPr>
              <a:t>Suspects may rename, re-extension, or deliberately corrupt image files to conceal their true content. An investigator cannot rely on file extension alone — they must inspect the raw bytes to determine a file's true format.</a:t>
            </a:r>
            <a:endParaRPr lang="en-US" sz="950" dirty="0"/>
          </a:p>
        </p:txBody>
      </p:sp>
      <p:sp>
        <p:nvSpPr>
          <p:cNvPr id="9" name="Shape 7"/>
          <p:cNvSpPr/>
          <p:nvPr/>
        </p:nvSpPr>
        <p:spPr>
          <a:xfrm>
            <a:off x="320040" y="1828800"/>
            <a:ext cx="2743200" cy="2980944"/>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0040" y="1828800"/>
            <a:ext cx="2743200" cy="64008"/>
          </a:xfrm>
          <a:prstGeom prst="rect">
            <a:avLst/>
          </a:prstGeom>
          <a:solidFill>
            <a:srgbClr val="00B4D8"/>
          </a:solidFill>
          <a:ln w="12700">
            <a:solidFill>
              <a:srgbClr val="00B4D8"/>
            </a:solidFill>
            <a:prstDash val="solid"/>
          </a:ln>
        </p:spPr>
        <p:txBody>
          <a:bodyPr/>
          <a:lstStyle/>
          <a:p>
            <a:endParaRPr lang="en-SG"/>
          </a:p>
        </p:txBody>
      </p:sp>
      <p:sp>
        <p:nvSpPr>
          <p:cNvPr id="11" name="Text 9"/>
          <p:cNvSpPr/>
          <p:nvPr/>
        </p:nvSpPr>
        <p:spPr>
          <a:xfrm>
            <a:off x="411480" y="1920240"/>
            <a:ext cx="2560320" cy="292608"/>
          </a:xfrm>
          <a:prstGeom prst="rect">
            <a:avLst/>
          </a:prstGeom>
          <a:noFill/>
          <a:ln/>
        </p:spPr>
        <p:txBody>
          <a:bodyPr wrap="square" lIns="0" tIns="0" rIns="0" bIns="0" rtlCol="0" anchor="ctr"/>
          <a:lstStyle/>
          <a:p>
            <a:pPr marL="0" indent="0">
              <a:buNone/>
            </a:pPr>
            <a:r>
              <a:rPr lang="en-US" sz="1000" b="1" dirty="0">
                <a:solidFill>
                  <a:srgbClr val="00B4D8"/>
                </a:solidFill>
              </a:rPr>
              <a:t>1 · Check the Magic Bytes</a:t>
            </a:r>
            <a:endParaRPr lang="en-US" sz="1000" dirty="0"/>
          </a:p>
        </p:txBody>
      </p:sp>
      <p:sp>
        <p:nvSpPr>
          <p:cNvPr id="12" name="Text 10"/>
          <p:cNvSpPr/>
          <p:nvPr/>
        </p:nvSpPr>
        <p:spPr>
          <a:xfrm>
            <a:off x="411480" y="2249424"/>
            <a:ext cx="2560320" cy="475488"/>
          </a:xfrm>
          <a:prstGeom prst="rect">
            <a:avLst/>
          </a:prstGeom>
          <a:noFill/>
          <a:ln/>
        </p:spPr>
        <p:txBody>
          <a:bodyPr wrap="square" lIns="0" tIns="0" rIns="0" bIns="0" rtlCol="0" anchor="ctr"/>
          <a:lstStyle/>
          <a:p>
            <a:pPr marL="0" indent="0">
              <a:buNone/>
            </a:pPr>
            <a:r>
              <a:rPr lang="en-US" sz="850" dirty="0">
                <a:solidFill>
                  <a:srgbClr val="1A1A2E"/>
                </a:solidFill>
              </a:rPr>
              <a:t>›  Open the file in a hex editor (HxD, WinHex, xxd)</a:t>
            </a:r>
            <a:endParaRPr lang="en-US" sz="850" dirty="0"/>
          </a:p>
        </p:txBody>
      </p:sp>
      <p:sp>
        <p:nvSpPr>
          <p:cNvPr id="13" name="Text 11"/>
          <p:cNvSpPr/>
          <p:nvPr/>
        </p:nvSpPr>
        <p:spPr>
          <a:xfrm>
            <a:off x="411480" y="2752344"/>
            <a:ext cx="2560320" cy="475488"/>
          </a:xfrm>
          <a:prstGeom prst="rect">
            <a:avLst/>
          </a:prstGeom>
          <a:noFill/>
          <a:ln/>
        </p:spPr>
        <p:txBody>
          <a:bodyPr wrap="square" lIns="0" tIns="0" rIns="0" bIns="0" rtlCol="0" anchor="ctr"/>
          <a:lstStyle/>
          <a:p>
            <a:pPr marL="0" indent="0">
              <a:buNone/>
            </a:pPr>
            <a:r>
              <a:rPr lang="en-US" sz="850" dirty="0">
                <a:solidFill>
                  <a:srgbClr val="1A1A2E"/>
                </a:solidFill>
              </a:rPr>
              <a:t>›  Read the first 4–16 bytes — these are the magic bytes / file signature</a:t>
            </a:r>
            <a:endParaRPr lang="en-US" sz="850" dirty="0"/>
          </a:p>
        </p:txBody>
      </p:sp>
      <p:sp>
        <p:nvSpPr>
          <p:cNvPr id="14" name="Text 12"/>
          <p:cNvSpPr/>
          <p:nvPr/>
        </p:nvSpPr>
        <p:spPr>
          <a:xfrm>
            <a:off x="411480" y="3255264"/>
            <a:ext cx="2560320" cy="475488"/>
          </a:xfrm>
          <a:prstGeom prst="rect">
            <a:avLst/>
          </a:prstGeom>
          <a:noFill/>
          <a:ln/>
        </p:spPr>
        <p:txBody>
          <a:bodyPr wrap="square" lIns="0" tIns="0" rIns="0" bIns="0" rtlCol="0" anchor="ctr"/>
          <a:lstStyle/>
          <a:p>
            <a:pPr marL="0" indent="0">
              <a:buNone/>
            </a:pPr>
            <a:r>
              <a:rPr lang="en-US" sz="850" dirty="0">
                <a:solidFill>
                  <a:srgbClr val="1A1A2E"/>
                </a:solidFill>
              </a:rPr>
              <a:t>›  Compare against a file signature database (e.g. Gary Kessler's FileSignatures.net)</a:t>
            </a:r>
            <a:endParaRPr lang="en-US" sz="850" dirty="0"/>
          </a:p>
        </p:txBody>
      </p:sp>
      <p:sp>
        <p:nvSpPr>
          <p:cNvPr id="15" name="Text 13"/>
          <p:cNvSpPr/>
          <p:nvPr/>
        </p:nvSpPr>
        <p:spPr>
          <a:xfrm>
            <a:off x="411480" y="3758184"/>
            <a:ext cx="2560320" cy="475488"/>
          </a:xfrm>
          <a:prstGeom prst="rect">
            <a:avLst/>
          </a:prstGeom>
          <a:noFill/>
          <a:ln/>
        </p:spPr>
        <p:txBody>
          <a:bodyPr wrap="square" lIns="0" tIns="0" rIns="0" bIns="0" rtlCol="0" anchor="ctr"/>
          <a:lstStyle/>
          <a:p>
            <a:pPr marL="0" indent="0">
              <a:buNone/>
            </a:pPr>
            <a:r>
              <a:rPr lang="en-US" sz="850" dirty="0">
                <a:solidFill>
                  <a:srgbClr val="1A1A2E"/>
                </a:solidFill>
              </a:rPr>
              <a:t>›  Even if extension says .txt — the bytes reveal the truth</a:t>
            </a:r>
            <a:endParaRPr lang="en-US" sz="850" dirty="0"/>
          </a:p>
        </p:txBody>
      </p:sp>
      <p:sp>
        <p:nvSpPr>
          <p:cNvPr id="16" name="Text 14"/>
          <p:cNvSpPr/>
          <p:nvPr/>
        </p:nvSpPr>
        <p:spPr>
          <a:xfrm>
            <a:off x="411480" y="4261104"/>
            <a:ext cx="2560320" cy="475488"/>
          </a:xfrm>
          <a:prstGeom prst="rect">
            <a:avLst/>
          </a:prstGeom>
          <a:noFill/>
          <a:ln/>
        </p:spPr>
        <p:txBody>
          <a:bodyPr wrap="square" lIns="0" tIns="0" rIns="0" bIns="0" rtlCol="0" anchor="ctr"/>
          <a:lstStyle/>
          <a:p>
            <a:pPr marL="0" indent="0">
              <a:buNone/>
            </a:pPr>
            <a:r>
              <a:rPr lang="en-US" sz="850" dirty="0">
                <a:solidFill>
                  <a:srgbClr val="1A1A2E"/>
                </a:solidFill>
              </a:rPr>
              <a:t>›  Example: a file named 'report.txt' starting FF D8 FF E0 is actually a JPEG</a:t>
            </a:r>
            <a:endParaRPr lang="en-US" sz="850" dirty="0"/>
          </a:p>
        </p:txBody>
      </p:sp>
      <p:sp>
        <p:nvSpPr>
          <p:cNvPr id="17" name="Shape 15"/>
          <p:cNvSpPr/>
          <p:nvPr/>
        </p:nvSpPr>
        <p:spPr>
          <a:xfrm>
            <a:off x="3172968" y="1828800"/>
            <a:ext cx="2743200" cy="2980944"/>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172968" y="1828800"/>
            <a:ext cx="2743200" cy="64008"/>
          </a:xfrm>
          <a:prstGeom prst="rect">
            <a:avLst/>
          </a:prstGeom>
          <a:solidFill>
            <a:srgbClr val="F4A261"/>
          </a:solidFill>
          <a:ln w="12700">
            <a:solidFill>
              <a:srgbClr val="F4A261"/>
            </a:solidFill>
            <a:prstDash val="solid"/>
          </a:ln>
        </p:spPr>
        <p:txBody>
          <a:bodyPr/>
          <a:lstStyle/>
          <a:p>
            <a:endParaRPr lang="en-SG"/>
          </a:p>
        </p:txBody>
      </p:sp>
      <p:sp>
        <p:nvSpPr>
          <p:cNvPr id="19" name="Text 17"/>
          <p:cNvSpPr/>
          <p:nvPr/>
        </p:nvSpPr>
        <p:spPr>
          <a:xfrm>
            <a:off x="3264408" y="1920240"/>
            <a:ext cx="2560320" cy="292608"/>
          </a:xfrm>
          <a:prstGeom prst="rect">
            <a:avLst/>
          </a:prstGeom>
          <a:noFill/>
          <a:ln/>
        </p:spPr>
        <p:txBody>
          <a:bodyPr wrap="square" lIns="0" tIns="0" rIns="0" bIns="0" rtlCol="0" anchor="ctr"/>
          <a:lstStyle/>
          <a:p>
            <a:pPr marL="0" indent="0">
              <a:buNone/>
            </a:pPr>
            <a:r>
              <a:rPr lang="en-US" sz="1000" b="1" dirty="0">
                <a:solidFill>
                  <a:srgbClr val="F4A261"/>
                </a:solidFill>
              </a:rPr>
              <a:t>2 · Use Identification Tools</a:t>
            </a:r>
            <a:endParaRPr lang="en-US" sz="1000" dirty="0"/>
          </a:p>
        </p:txBody>
      </p:sp>
      <p:sp>
        <p:nvSpPr>
          <p:cNvPr id="20" name="Text 18"/>
          <p:cNvSpPr/>
          <p:nvPr/>
        </p:nvSpPr>
        <p:spPr>
          <a:xfrm>
            <a:off x="3264408" y="2249424"/>
            <a:ext cx="2560320" cy="475488"/>
          </a:xfrm>
          <a:prstGeom prst="rect">
            <a:avLst/>
          </a:prstGeom>
          <a:noFill/>
          <a:ln/>
        </p:spPr>
        <p:txBody>
          <a:bodyPr wrap="square" lIns="0" tIns="0" rIns="0" bIns="0" rtlCol="0" anchor="ctr"/>
          <a:lstStyle/>
          <a:p>
            <a:pPr marL="0" indent="0">
              <a:buNone/>
            </a:pPr>
            <a:r>
              <a:rPr lang="en-US" sz="850" dirty="0">
                <a:solidFill>
                  <a:srgbClr val="1A1A2E"/>
                </a:solidFill>
              </a:rPr>
              <a:t>›  file command (Linux/macOS): file unknown_file   — uses libmagic</a:t>
            </a:r>
            <a:endParaRPr lang="en-US" sz="850" dirty="0"/>
          </a:p>
        </p:txBody>
      </p:sp>
      <p:sp>
        <p:nvSpPr>
          <p:cNvPr id="21" name="Text 19"/>
          <p:cNvSpPr/>
          <p:nvPr/>
        </p:nvSpPr>
        <p:spPr>
          <a:xfrm>
            <a:off x="3264408" y="2752344"/>
            <a:ext cx="2560320" cy="475488"/>
          </a:xfrm>
          <a:prstGeom prst="rect">
            <a:avLst/>
          </a:prstGeom>
          <a:noFill/>
          <a:ln/>
        </p:spPr>
        <p:txBody>
          <a:bodyPr wrap="square" lIns="0" tIns="0" rIns="0" bIns="0" rtlCol="0" anchor="ctr"/>
          <a:lstStyle/>
          <a:p>
            <a:pPr marL="0" indent="0">
              <a:buNone/>
            </a:pPr>
            <a:r>
              <a:rPr lang="en-US" sz="850" dirty="0">
                <a:solidFill>
                  <a:srgbClr val="1A1A2E"/>
                </a:solidFill>
              </a:rPr>
              <a:t>›  TrID (Windows): trid unknown_file — probabilistic format identification</a:t>
            </a:r>
            <a:endParaRPr lang="en-US" sz="850" dirty="0"/>
          </a:p>
        </p:txBody>
      </p:sp>
      <p:sp>
        <p:nvSpPr>
          <p:cNvPr id="22" name="Text 20"/>
          <p:cNvSpPr/>
          <p:nvPr/>
        </p:nvSpPr>
        <p:spPr>
          <a:xfrm>
            <a:off x="3264408" y="3255264"/>
            <a:ext cx="2560320" cy="475488"/>
          </a:xfrm>
          <a:prstGeom prst="rect">
            <a:avLst/>
          </a:prstGeom>
          <a:noFill/>
          <a:ln/>
        </p:spPr>
        <p:txBody>
          <a:bodyPr wrap="square" lIns="0" tIns="0" rIns="0" bIns="0" rtlCol="0" anchor="ctr"/>
          <a:lstStyle/>
          <a:p>
            <a:pPr marL="0" indent="0">
              <a:buNone/>
            </a:pPr>
            <a:r>
              <a:rPr lang="en-US" sz="850" dirty="0">
                <a:solidFill>
                  <a:srgbClr val="1A1A2E"/>
                </a:solidFill>
              </a:rPr>
              <a:t>›  ExifTool: exiftool unknown_file — rich format and metadata info</a:t>
            </a:r>
            <a:endParaRPr lang="en-US" sz="850" dirty="0"/>
          </a:p>
        </p:txBody>
      </p:sp>
      <p:sp>
        <p:nvSpPr>
          <p:cNvPr id="23" name="Text 21"/>
          <p:cNvSpPr/>
          <p:nvPr/>
        </p:nvSpPr>
        <p:spPr>
          <a:xfrm>
            <a:off x="3264408" y="3758184"/>
            <a:ext cx="2560320" cy="475488"/>
          </a:xfrm>
          <a:prstGeom prst="rect">
            <a:avLst/>
          </a:prstGeom>
          <a:noFill/>
          <a:ln/>
        </p:spPr>
        <p:txBody>
          <a:bodyPr wrap="square" lIns="0" tIns="0" rIns="0" bIns="0" rtlCol="0" anchor="ctr"/>
          <a:lstStyle/>
          <a:p>
            <a:pPr marL="0" indent="0">
              <a:buNone/>
            </a:pPr>
            <a:r>
              <a:rPr lang="en-US" sz="850" dirty="0">
                <a:solidFill>
                  <a:srgbClr val="1A1A2E"/>
                </a:solidFill>
              </a:rPr>
              <a:t>›  Autopsy / FTK automatically identify file types by signature, not extension</a:t>
            </a:r>
            <a:endParaRPr lang="en-US" sz="850" dirty="0"/>
          </a:p>
        </p:txBody>
      </p:sp>
      <p:sp>
        <p:nvSpPr>
          <p:cNvPr id="24" name="Text 22"/>
          <p:cNvSpPr/>
          <p:nvPr/>
        </p:nvSpPr>
        <p:spPr>
          <a:xfrm>
            <a:off x="3264408" y="4261104"/>
            <a:ext cx="2560320" cy="475488"/>
          </a:xfrm>
          <a:prstGeom prst="rect">
            <a:avLst/>
          </a:prstGeom>
          <a:noFill/>
          <a:ln/>
        </p:spPr>
        <p:txBody>
          <a:bodyPr wrap="square" lIns="0" tIns="0" rIns="0" bIns="0" rtlCol="0" anchor="ctr"/>
          <a:lstStyle/>
          <a:p>
            <a:pPr marL="0" indent="0">
              <a:buNone/>
            </a:pPr>
            <a:r>
              <a:rPr lang="en-US" sz="850" dirty="0">
                <a:solidFill>
                  <a:srgbClr val="1A1A2E"/>
                </a:solidFill>
              </a:rPr>
              <a:t>›  DROID (PRONOM): open-source tool using the National Archives format registry</a:t>
            </a:r>
            <a:endParaRPr lang="en-US" sz="850" dirty="0"/>
          </a:p>
        </p:txBody>
      </p:sp>
      <p:sp>
        <p:nvSpPr>
          <p:cNvPr id="25" name="Shape 23"/>
          <p:cNvSpPr/>
          <p:nvPr/>
        </p:nvSpPr>
        <p:spPr>
          <a:xfrm>
            <a:off x="6025896" y="1828800"/>
            <a:ext cx="2743200" cy="2980944"/>
          </a:xfrm>
          <a:prstGeom prst="rect">
            <a:avLst/>
          </a:prstGeom>
          <a:solidFill>
            <a:srgbClr val="EEF6FB"/>
          </a:solidFill>
          <a:ln w="12700">
            <a:solidFill>
              <a:srgbClr val="EEF6FB"/>
            </a:solidFill>
            <a:prstDash val="solid"/>
          </a:ln>
        </p:spPr>
        <p:txBody>
          <a:bodyPr/>
          <a:lstStyle/>
          <a:p>
            <a:endParaRPr lang="en-SG"/>
          </a:p>
        </p:txBody>
      </p:sp>
      <p:sp>
        <p:nvSpPr>
          <p:cNvPr id="26" name="Shape 24"/>
          <p:cNvSpPr/>
          <p:nvPr/>
        </p:nvSpPr>
        <p:spPr>
          <a:xfrm>
            <a:off x="6025896" y="1828800"/>
            <a:ext cx="2743200" cy="64008"/>
          </a:xfrm>
          <a:prstGeom prst="rect">
            <a:avLst/>
          </a:prstGeom>
          <a:solidFill>
            <a:srgbClr val="A855F7"/>
          </a:solidFill>
          <a:ln w="12700">
            <a:solidFill>
              <a:srgbClr val="A855F7"/>
            </a:solidFill>
            <a:prstDash val="solid"/>
          </a:ln>
        </p:spPr>
        <p:txBody>
          <a:bodyPr/>
          <a:lstStyle/>
          <a:p>
            <a:endParaRPr lang="en-SG"/>
          </a:p>
        </p:txBody>
      </p:sp>
      <p:sp>
        <p:nvSpPr>
          <p:cNvPr id="27" name="Text 25"/>
          <p:cNvSpPr/>
          <p:nvPr/>
        </p:nvSpPr>
        <p:spPr>
          <a:xfrm>
            <a:off x="6117336" y="1920240"/>
            <a:ext cx="2560320" cy="292608"/>
          </a:xfrm>
          <a:prstGeom prst="rect">
            <a:avLst/>
          </a:prstGeom>
          <a:noFill/>
          <a:ln/>
        </p:spPr>
        <p:txBody>
          <a:bodyPr wrap="square" lIns="0" tIns="0" rIns="0" bIns="0" rtlCol="0" anchor="ctr"/>
          <a:lstStyle/>
          <a:p>
            <a:pPr marL="0" indent="0">
              <a:buNone/>
            </a:pPr>
            <a:r>
              <a:rPr lang="en-US" sz="1000" b="1" dirty="0">
                <a:solidFill>
                  <a:srgbClr val="A855F7"/>
                </a:solidFill>
              </a:rPr>
              <a:t>3 · Analyse the Structure</a:t>
            </a:r>
            <a:endParaRPr lang="en-US" sz="1000" dirty="0"/>
          </a:p>
        </p:txBody>
      </p:sp>
      <p:sp>
        <p:nvSpPr>
          <p:cNvPr id="28" name="Text 26"/>
          <p:cNvSpPr/>
          <p:nvPr/>
        </p:nvSpPr>
        <p:spPr>
          <a:xfrm>
            <a:off x="6117336" y="2249424"/>
            <a:ext cx="2560320" cy="475488"/>
          </a:xfrm>
          <a:prstGeom prst="rect">
            <a:avLst/>
          </a:prstGeom>
          <a:noFill/>
          <a:ln/>
        </p:spPr>
        <p:txBody>
          <a:bodyPr wrap="square" lIns="0" tIns="0" rIns="0" bIns="0" rtlCol="0" anchor="ctr"/>
          <a:lstStyle/>
          <a:p>
            <a:pPr marL="0" indent="0">
              <a:buNone/>
            </a:pPr>
            <a:r>
              <a:rPr lang="en-US" sz="850" dirty="0">
                <a:solidFill>
                  <a:srgbClr val="1A1A2E"/>
                </a:solidFill>
              </a:rPr>
              <a:t>›  If magic bytes match but file won't open — the header may be partially corrupt</a:t>
            </a:r>
            <a:endParaRPr lang="en-US" sz="850" dirty="0"/>
          </a:p>
        </p:txBody>
      </p:sp>
      <p:sp>
        <p:nvSpPr>
          <p:cNvPr id="29" name="Text 27"/>
          <p:cNvSpPr/>
          <p:nvPr/>
        </p:nvSpPr>
        <p:spPr>
          <a:xfrm>
            <a:off x="6117336" y="2752344"/>
            <a:ext cx="2560320" cy="475488"/>
          </a:xfrm>
          <a:prstGeom prst="rect">
            <a:avLst/>
          </a:prstGeom>
          <a:noFill/>
          <a:ln/>
        </p:spPr>
        <p:txBody>
          <a:bodyPr wrap="square" lIns="0" tIns="0" rIns="0" bIns="0" rtlCol="0" anchor="ctr"/>
          <a:lstStyle/>
          <a:p>
            <a:pPr marL="0" indent="0">
              <a:buNone/>
            </a:pPr>
            <a:r>
              <a:rPr lang="en-US" sz="850" dirty="0">
                <a:solidFill>
                  <a:srgbClr val="1A1A2E"/>
                </a:solidFill>
              </a:rPr>
              <a:t>›  Compare byte-by-byte against a known good file of the same format</a:t>
            </a:r>
            <a:endParaRPr lang="en-US" sz="850" dirty="0"/>
          </a:p>
        </p:txBody>
      </p:sp>
      <p:sp>
        <p:nvSpPr>
          <p:cNvPr id="30" name="Text 28"/>
          <p:cNvSpPr/>
          <p:nvPr/>
        </p:nvSpPr>
        <p:spPr>
          <a:xfrm>
            <a:off x="6117336" y="3255264"/>
            <a:ext cx="2560320" cy="475488"/>
          </a:xfrm>
          <a:prstGeom prst="rect">
            <a:avLst/>
          </a:prstGeom>
          <a:noFill/>
          <a:ln/>
        </p:spPr>
        <p:txBody>
          <a:bodyPr wrap="square" lIns="0" tIns="0" rIns="0" bIns="0" rtlCol="0" anchor="ctr"/>
          <a:lstStyle/>
          <a:p>
            <a:pPr marL="0" indent="0">
              <a:buNone/>
            </a:pPr>
            <a:r>
              <a:rPr lang="en-US" sz="850" dirty="0">
                <a:solidFill>
                  <a:srgbClr val="1A1A2E"/>
                </a:solidFill>
              </a:rPr>
              <a:t>›  Identify which header fields are incorrect and manually repair using a hex editor</a:t>
            </a:r>
            <a:endParaRPr lang="en-US" sz="850" dirty="0"/>
          </a:p>
        </p:txBody>
      </p:sp>
      <p:sp>
        <p:nvSpPr>
          <p:cNvPr id="31" name="Text 29"/>
          <p:cNvSpPr/>
          <p:nvPr/>
        </p:nvSpPr>
        <p:spPr>
          <a:xfrm>
            <a:off x="6117336" y="3758184"/>
            <a:ext cx="2560320" cy="475488"/>
          </a:xfrm>
          <a:prstGeom prst="rect">
            <a:avLst/>
          </a:prstGeom>
          <a:noFill/>
          <a:ln/>
        </p:spPr>
        <p:txBody>
          <a:bodyPr wrap="square" lIns="0" tIns="0" rIns="0" bIns="0" rtlCol="0" anchor="ctr"/>
          <a:lstStyle/>
          <a:p>
            <a:pPr marL="0" indent="0">
              <a:buNone/>
            </a:pPr>
            <a:r>
              <a:rPr lang="en-US" sz="850" dirty="0">
                <a:solidFill>
                  <a:srgbClr val="1A1A2E"/>
                </a:solidFill>
              </a:rPr>
              <a:t>›  Document all changes made to the file — any modifications affect evidential value</a:t>
            </a:r>
            <a:endParaRPr lang="en-US" sz="850" dirty="0"/>
          </a:p>
        </p:txBody>
      </p:sp>
      <p:sp>
        <p:nvSpPr>
          <p:cNvPr id="32" name="Text 30"/>
          <p:cNvSpPr/>
          <p:nvPr/>
        </p:nvSpPr>
        <p:spPr>
          <a:xfrm>
            <a:off x="6117336" y="4261104"/>
            <a:ext cx="2560320" cy="475488"/>
          </a:xfrm>
          <a:prstGeom prst="rect">
            <a:avLst/>
          </a:prstGeom>
          <a:noFill/>
          <a:ln/>
        </p:spPr>
        <p:txBody>
          <a:bodyPr wrap="square" lIns="0" tIns="0" rIns="0" bIns="0" rtlCol="0" anchor="ctr"/>
          <a:lstStyle/>
          <a:p>
            <a:pPr marL="0" indent="0">
              <a:buNone/>
            </a:pPr>
            <a:r>
              <a:rPr lang="en-US" sz="850" dirty="0">
                <a:solidFill>
                  <a:srgbClr val="1A1A2E"/>
                </a:solidFill>
              </a:rPr>
              <a:t>›  Consider whether corruption was accidental or deliberate (anti-forensics)</a:t>
            </a:r>
            <a:endParaRPr lang="en-US" sz="850" dirty="0"/>
          </a:p>
        </p:txBody>
      </p:sp>
      <p:sp>
        <p:nvSpPr>
          <p:cNvPr id="33" name="Text 31"/>
          <p:cNvSpPr/>
          <p:nvPr/>
        </p:nvSpPr>
        <p:spPr>
          <a:xfrm>
            <a:off x="320040" y="4809744"/>
            <a:ext cx="8503920" cy="91440"/>
          </a:xfrm>
          <a:prstGeom prst="rect">
            <a:avLst/>
          </a:prstGeom>
          <a:noFill/>
          <a:ln/>
        </p:spPr>
        <p:txBody>
          <a:bodyPr wrap="square" lIns="0" tIns="0" rIns="0" bIns="0" rtlCol="0" anchor="ctr"/>
          <a:lstStyle/>
          <a:p>
            <a:pPr marL="0" indent="0">
              <a:buNone/>
            </a:pPr>
            <a:r>
              <a:rPr lang="en-US" sz="750" i="1" dirty="0">
                <a:solidFill>
                  <a:srgbClr val="8899AA"/>
                </a:solidFill>
              </a:rPr>
              <a:t>Gary Kessler's File Signatures Table: www.garykessler.net/library/file_sigs.html  ·  TrID: mark0.net/soft-trid-e.html</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132381"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40941" cy="256032"/>
          </a:xfrm>
          <a:prstGeom prst="rect">
            <a:avLst/>
          </a:prstGeom>
          <a:noFill/>
          <a:ln/>
        </p:spPr>
        <p:txBody>
          <a:bodyPr wrap="square" lIns="0" tIns="0" rIns="0" bIns="0" rtlCol="0" anchor="ctr"/>
          <a:lstStyle/>
          <a:p>
            <a:pPr marL="0" indent="0">
              <a:buNone/>
            </a:pPr>
            <a:r>
              <a:rPr lang="en-US" sz="850" b="1" dirty="0">
                <a:solidFill>
                  <a:srgbClr val="0D1B2A"/>
                </a:solidFill>
              </a:rPr>
              <a:t>SECTION 5 · IMAGE ANALYSIS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Image Viewing &amp; Forensic Analysis Tools</a:t>
            </a:r>
            <a:endParaRPr lang="en-US" sz="2800" dirty="0"/>
          </a:p>
        </p:txBody>
      </p:sp>
      <p:sp>
        <p:nvSpPr>
          <p:cNvPr id="5" name="Shape 3"/>
          <p:cNvSpPr/>
          <p:nvPr/>
        </p:nvSpPr>
        <p:spPr>
          <a:xfrm>
            <a:off x="320040" y="1170432"/>
            <a:ext cx="8503920" cy="36576"/>
          </a:xfrm>
          <a:prstGeom prst="rect">
            <a:avLst/>
          </a:prstGeom>
          <a:solidFill>
            <a:srgbClr val="F1C40F"/>
          </a:solidFill>
          <a:ln w="12700">
            <a:solidFill>
              <a:srgbClr val="F1C40F"/>
            </a:solidFill>
            <a:prstDash val="solid"/>
          </a:ln>
        </p:spPr>
        <p:txBody>
          <a:bodyPr/>
          <a:lstStyle/>
          <a:p>
            <a:endParaRPr lang="en-SG"/>
          </a:p>
        </p:txBody>
      </p:sp>
      <p:sp>
        <p:nvSpPr>
          <p:cNvPr id="6" name="Shape 4"/>
          <p:cNvSpPr/>
          <p:nvPr/>
        </p:nvSpPr>
        <p:spPr>
          <a:xfrm>
            <a:off x="320040" y="1316736"/>
            <a:ext cx="4224528" cy="1115568"/>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316736"/>
            <a:ext cx="4224528" cy="54864"/>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429768" y="1408176"/>
            <a:ext cx="2011680" cy="256032"/>
          </a:xfrm>
          <a:prstGeom prst="rect">
            <a:avLst/>
          </a:prstGeom>
          <a:noFill/>
          <a:ln/>
        </p:spPr>
        <p:txBody>
          <a:bodyPr wrap="square" lIns="0" tIns="0" rIns="0" bIns="0" rtlCol="0" anchor="ctr"/>
          <a:lstStyle/>
          <a:p>
            <a:pPr marL="0" indent="0">
              <a:buNone/>
            </a:pPr>
            <a:r>
              <a:rPr lang="en-US" sz="1300" b="1" dirty="0">
                <a:solidFill>
                  <a:srgbClr val="00B4D8"/>
                </a:solidFill>
              </a:rPr>
              <a:t>ExifTool</a:t>
            </a:r>
            <a:endParaRPr lang="en-US" sz="1300" dirty="0"/>
          </a:p>
        </p:txBody>
      </p:sp>
      <p:sp>
        <p:nvSpPr>
          <p:cNvPr id="9" name="Shape 7"/>
          <p:cNvSpPr/>
          <p:nvPr/>
        </p:nvSpPr>
        <p:spPr>
          <a:xfrm>
            <a:off x="3429000" y="1426464"/>
            <a:ext cx="1024128" cy="182880"/>
          </a:xfrm>
          <a:prstGeom prst="rect">
            <a:avLst/>
          </a:prstGeom>
          <a:solidFill>
            <a:srgbClr val="00B4D8">
              <a:alpha val="25000"/>
            </a:srgbClr>
          </a:solidFill>
          <a:ln w="6350">
            <a:solidFill>
              <a:srgbClr val="00B4D8"/>
            </a:solidFill>
            <a:prstDash val="solid"/>
          </a:ln>
        </p:spPr>
        <p:txBody>
          <a:bodyPr/>
          <a:lstStyle/>
          <a:p>
            <a:endParaRPr lang="en-SG"/>
          </a:p>
        </p:txBody>
      </p:sp>
      <p:sp>
        <p:nvSpPr>
          <p:cNvPr id="10" name="Text 8"/>
          <p:cNvSpPr/>
          <p:nvPr/>
        </p:nvSpPr>
        <p:spPr>
          <a:xfrm>
            <a:off x="3429000" y="1426464"/>
            <a:ext cx="1024128" cy="182880"/>
          </a:xfrm>
          <a:prstGeom prst="rect">
            <a:avLst/>
          </a:prstGeom>
          <a:noFill/>
          <a:ln/>
        </p:spPr>
        <p:txBody>
          <a:bodyPr wrap="square" lIns="0" tIns="0" rIns="0" bIns="0" rtlCol="0" anchor="ctr"/>
          <a:lstStyle/>
          <a:p>
            <a:pPr marL="0" indent="0" algn="ctr">
              <a:buNone/>
            </a:pPr>
            <a:r>
              <a:rPr lang="en-US" sz="650" dirty="0">
                <a:solidFill>
                  <a:srgbClr val="00B4D8"/>
                </a:solidFill>
              </a:rPr>
              <a:t>CLI · Metadata</a:t>
            </a:r>
            <a:endParaRPr lang="en-US" sz="650" dirty="0"/>
          </a:p>
        </p:txBody>
      </p:sp>
      <p:sp>
        <p:nvSpPr>
          <p:cNvPr id="11" name="Shape 9"/>
          <p:cNvSpPr/>
          <p:nvPr/>
        </p:nvSpPr>
        <p:spPr>
          <a:xfrm>
            <a:off x="429768" y="1700784"/>
            <a:ext cx="4005072" cy="164592"/>
          </a:xfrm>
          <a:prstGeom prst="rect">
            <a:avLst/>
          </a:prstGeom>
          <a:solidFill>
            <a:srgbClr val="FFFFFF"/>
          </a:solidFill>
          <a:ln w="12700">
            <a:solidFill>
              <a:srgbClr val="E2E8F0"/>
            </a:solidFill>
            <a:prstDash val="solid"/>
          </a:ln>
        </p:spPr>
        <p:txBody>
          <a:bodyPr/>
          <a:lstStyle/>
          <a:p>
            <a:endParaRPr lang="en-SG"/>
          </a:p>
        </p:txBody>
      </p:sp>
      <p:sp>
        <p:nvSpPr>
          <p:cNvPr id="12" name="Text 10"/>
          <p:cNvSpPr/>
          <p:nvPr/>
        </p:nvSpPr>
        <p:spPr>
          <a:xfrm>
            <a:off x="466344" y="1709928"/>
            <a:ext cx="3931920" cy="146304"/>
          </a:xfrm>
          <a:prstGeom prst="rect">
            <a:avLst/>
          </a:prstGeom>
          <a:noFill/>
          <a:ln/>
        </p:spPr>
        <p:txBody>
          <a:bodyPr wrap="square" lIns="0" tIns="0" rIns="0" bIns="0" rtlCol="0" anchor="ctr"/>
          <a:lstStyle/>
          <a:p>
            <a:pPr marL="0" indent="0">
              <a:buNone/>
            </a:pPr>
            <a:r>
              <a:rPr lang="en-US" sz="750" dirty="0">
                <a:solidFill>
                  <a:srgbClr val="F4A261"/>
                </a:solidFill>
                <a:latin typeface="Consolas" pitchFamily="34" charset="0"/>
                <a:ea typeface="Consolas" pitchFamily="34" charset="-122"/>
                <a:cs typeface="Consolas" pitchFamily="34" charset="-120"/>
              </a:rPr>
              <a:t>exiftool -all image.jpg</a:t>
            </a:r>
            <a:endParaRPr lang="en-US" sz="750" dirty="0"/>
          </a:p>
        </p:txBody>
      </p:sp>
      <p:sp>
        <p:nvSpPr>
          <p:cNvPr id="13" name="Text 11"/>
          <p:cNvSpPr/>
          <p:nvPr/>
        </p:nvSpPr>
        <p:spPr>
          <a:xfrm>
            <a:off x="429768" y="1901952"/>
            <a:ext cx="4005072" cy="475488"/>
          </a:xfrm>
          <a:prstGeom prst="rect">
            <a:avLst/>
          </a:prstGeom>
          <a:noFill/>
          <a:ln/>
        </p:spPr>
        <p:txBody>
          <a:bodyPr wrap="square" lIns="0" tIns="0" rIns="0" bIns="0" rtlCol="0" anchor="ctr"/>
          <a:lstStyle/>
          <a:p>
            <a:pPr marL="0" indent="0">
              <a:buNone/>
            </a:pPr>
            <a:r>
              <a:rPr lang="en-US" sz="800" dirty="0">
                <a:solidFill>
                  <a:srgbClr val="1A1A2E"/>
                </a:solidFill>
              </a:rPr>
              <a:t>The definitive metadata reader and writer. Reads 100+ format types. Extracts, edits, copies, and strips EXIF, IPTC, XMP, and GPS data. Cross-platform, free, open-source.</a:t>
            </a:r>
            <a:endParaRPr lang="en-US" sz="800" dirty="0"/>
          </a:p>
        </p:txBody>
      </p:sp>
      <p:sp>
        <p:nvSpPr>
          <p:cNvPr id="14" name="Shape 12"/>
          <p:cNvSpPr/>
          <p:nvPr/>
        </p:nvSpPr>
        <p:spPr>
          <a:xfrm>
            <a:off x="4690872" y="1316736"/>
            <a:ext cx="4224528" cy="1115568"/>
          </a:xfrm>
          <a:prstGeom prst="rect">
            <a:avLst/>
          </a:prstGeom>
          <a:solidFill>
            <a:srgbClr val="EEF6FB"/>
          </a:solidFill>
          <a:ln w="12700">
            <a:solidFill>
              <a:srgbClr val="EEF6FB"/>
            </a:solidFill>
            <a:prstDash val="solid"/>
          </a:ln>
        </p:spPr>
        <p:txBody>
          <a:bodyPr/>
          <a:lstStyle/>
          <a:p>
            <a:endParaRPr lang="en-SG"/>
          </a:p>
        </p:txBody>
      </p:sp>
      <p:sp>
        <p:nvSpPr>
          <p:cNvPr id="15" name="Shape 13"/>
          <p:cNvSpPr/>
          <p:nvPr/>
        </p:nvSpPr>
        <p:spPr>
          <a:xfrm>
            <a:off x="4690872" y="1316736"/>
            <a:ext cx="4224528" cy="54864"/>
          </a:xfrm>
          <a:prstGeom prst="rect">
            <a:avLst/>
          </a:prstGeom>
          <a:solidFill>
            <a:srgbClr val="F4A261"/>
          </a:solidFill>
          <a:ln w="12700">
            <a:solidFill>
              <a:srgbClr val="F4A261"/>
            </a:solidFill>
            <a:prstDash val="solid"/>
          </a:ln>
        </p:spPr>
        <p:txBody>
          <a:bodyPr/>
          <a:lstStyle/>
          <a:p>
            <a:endParaRPr lang="en-SG"/>
          </a:p>
        </p:txBody>
      </p:sp>
      <p:sp>
        <p:nvSpPr>
          <p:cNvPr id="16" name="Text 14"/>
          <p:cNvSpPr/>
          <p:nvPr/>
        </p:nvSpPr>
        <p:spPr>
          <a:xfrm>
            <a:off x="4800600" y="1408176"/>
            <a:ext cx="2011680" cy="256032"/>
          </a:xfrm>
          <a:prstGeom prst="rect">
            <a:avLst/>
          </a:prstGeom>
          <a:noFill/>
          <a:ln/>
        </p:spPr>
        <p:txBody>
          <a:bodyPr wrap="square" lIns="0" tIns="0" rIns="0" bIns="0" rtlCol="0" anchor="ctr"/>
          <a:lstStyle/>
          <a:p>
            <a:pPr marL="0" indent="0">
              <a:buNone/>
            </a:pPr>
            <a:r>
              <a:rPr lang="en-US" sz="1300" b="1" dirty="0">
                <a:solidFill>
                  <a:srgbClr val="F4A261"/>
                </a:solidFill>
              </a:rPr>
              <a:t>PhotoRec</a:t>
            </a:r>
            <a:endParaRPr lang="en-US" sz="1300" dirty="0"/>
          </a:p>
        </p:txBody>
      </p:sp>
      <p:sp>
        <p:nvSpPr>
          <p:cNvPr id="17" name="Shape 15"/>
          <p:cNvSpPr/>
          <p:nvPr/>
        </p:nvSpPr>
        <p:spPr>
          <a:xfrm>
            <a:off x="7799832" y="1426464"/>
            <a:ext cx="1024128" cy="182880"/>
          </a:xfrm>
          <a:prstGeom prst="rect">
            <a:avLst/>
          </a:prstGeom>
          <a:solidFill>
            <a:srgbClr val="F4A261">
              <a:alpha val="25000"/>
            </a:srgbClr>
          </a:solidFill>
          <a:ln w="6350">
            <a:solidFill>
              <a:srgbClr val="F4A261"/>
            </a:solidFill>
            <a:prstDash val="solid"/>
          </a:ln>
        </p:spPr>
        <p:txBody>
          <a:bodyPr/>
          <a:lstStyle/>
          <a:p>
            <a:endParaRPr lang="en-SG"/>
          </a:p>
        </p:txBody>
      </p:sp>
      <p:sp>
        <p:nvSpPr>
          <p:cNvPr id="18" name="Text 16"/>
          <p:cNvSpPr/>
          <p:nvPr/>
        </p:nvSpPr>
        <p:spPr>
          <a:xfrm>
            <a:off x="7799832" y="1426464"/>
            <a:ext cx="1024128" cy="182880"/>
          </a:xfrm>
          <a:prstGeom prst="rect">
            <a:avLst/>
          </a:prstGeom>
          <a:noFill/>
          <a:ln/>
        </p:spPr>
        <p:txBody>
          <a:bodyPr wrap="square" lIns="0" tIns="0" rIns="0" bIns="0" rtlCol="0" anchor="ctr"/>
          <a:lstStyle/>
          <a:p>
            <a:pPr marL="0" indent="0" algn="ctr">
              <a:buNone/>
            </a:pPr>
            <a:r>
              <a:rPr lang="en-US" sz="650" dirty="0">
                <a:solidFill>
                  <a:srgbClr val="F4A261"/>
                </a:solidFill>
              </a:rPr>
              <a:t>CLI · Recovery</a:t>
            </a:r>
            <a:endParaRPr lang="en-US" sz="650" dirty="0"/>
          </a:p>
        </p:txBody>
      </p:sp>
      <p:sp>
        <p:nvSpPr>
          <p:cNvPr id="19" name="Shape 17"/>
          <p:cNvSpPr/>
          <p:nvPr/>
        </p:nvSpPr>
        <p:spPr>
          <a:xfrm>
            <a:off x="4800600" y="1700784"/>
            <a:ext cx="4005072" cy="164592"/>
          </a:xfrm>
          <a:prstGeom prst="rect">
            <a:avLst/>
          </a:prstGeom>
          <a:solidFill>
            <a:srgbClr val="FFFFFF"/>
          </a:solidFill>
          <a:ln w="12700">
            <a:solidFill>
              <a:srgbClr val="E2E8F0"/>
            </a:solidFill>
            <a:prstDash val="solid"/>
          </a:ln>
        </p:spPr>
        <p:txBody>
          <a:bodyPr/>
          <a:lstStyle/>
          <a:p>
            <a:endParaRPr lang="en-SG"/>
          </a:p>
        </p:txBody>
      </p:sp>
      <p:sp>
        <p:nvSpPr>
          <p:cNvPr id="20" name="Text 18"/>
          <p:cNvSpPr/>
          <p:nvPr/>
        </p:nvSpPr>
        <p:spPr>
          <a:xfrm>
            <a:off x="4837176" y="1709928"/>
            <a:ext cx="3931920" cy="146304"/>
          </a:xfrm>
          <a:prstGeom prst="rect">
            <a:avLst/>
          </a:prstGeom>
          <a:noFill/>
          <a:ln/>
        </p:spPr>
        <p:txBody>
          <a:bodyPr wrap="square" lIns="0" tIns="0" rIns="0" bIns="0" rtlCol="0" anchor="ctr"/>
          <a:lstStyle/>
          <a:p>
            <a:pPr marL="0" indent="0">
              <a:buNone/>
            </a:pPr>
            <a:r>
              <a:rPr lang="en-US" sz="750" dirty="0">
                <a:solidFill>
                  <a:srgbClr val="F4A261"/>
                </a:solidFill>
                <a:latin typeface="Consolas" pitchFamily="34" charset="0"/>
                <a:ea typeface="Consolas" pitchFamily="34" charset="-122"/>
                <a:cs typeface="Consolas" pitchFamily="34" charset="-120"/>
              </a:rPr>
              <a:t>photorec /d out/ evidence.img</a:t>
            </a:r>
            <a:endParaRPr lang="en-US" sz="750" dirty="0"/>
          </a:p>
        </p:txBody>
      </p:sp>
      <p:sp>
        <p:nvSpPr>
          <p:cNvPr id="21" name="Text 19"/>
          <p:cNvSpPr/>
          <p:nvPr/>
        </p:nvSpPr>
        <p:spPr>
          <a:xfrm>
            <a:off x="4800600" y="1901952"/>
            <a:ext cx="4005072" cy="475488"/>
          </a:xfrm>
          <a:prstGeom prst="rect">
            <a:avLst/>
          </a:prstGeom>
          <a:noFill/>
          <a:ln/>
        </p:spPr>
        <p:txBody>
          <a:bodyPr wrap="square" lIns="0" tIns="0" rIns="0" bIns="0" rtlCol="0" anchor="ctr"/>
          <a:lstStyle/>
          <a:p>
            <a:pPr marL="0" indent="0">
              <a:buNone/>
            </a:pPr>
            <a:r>
              <a:rPr lang="en-US" sz="800" dirty="0">
                <a:solidFill>
                  <a:srgbClr val="1A1A2E"/>
                </a:solidFill>
              </a:rPr>
              <a:t>File recovery tool bundled with TestDisk. Recovers 400+ file formats from disk images and memory cards by file signature. Ignores file systems — carves raw byte streams.</a:t>
            </a:r>
            <a:endParaRPr lang="en-US" sz="800" dirty="0"/>
          </a:p>
        </p:txBody>
      </p:sp>
      <p:sp>
        <p:nvSpPr>
          <p:cNvPr id="22" name="Shape 20"/>
          <p:cNvSpPr/>
          <p:nvPr/>
        </p:nvSpPr>
        <p:spPr>
          <a:xfrm>
            <a:off x="320040" y="2505456"/>
            <a:ext cx="4224528" cy="1115568"/>
          </a:xfrm>
          <a:prstGeom prst="rect">
            <a:avLst/>
          </a:prstGeom>
          <a:solidFill>
            <a:srgbClr val="EEF6FB"/>
          </a:solidFill>
          <a:ln w="12700">
            <a:solidFill>
              <a:srgbClr val="EEF6FB"/>
            </a:solidFill>
            <a:prstDash val="solid"/>
          </a:ln>
        </p:spPr>
        <p:txBody>
          <a:bodyPr/>
          <a:lstStyle/>
          <a:p>
            <a:endParaRPr lang="en-SG"/>
          </a:p>
        </p:txBody>
      </p:sp>
      <p:sp>
        <p:nvSpPr>
          <p:cNvPr id="23" name="Shape 21"/>
          <p:cNvSpPr/>
          <p:nvPr/>
        </p:nvSpPr>
        <p:spPr>
          <a:xfrm>
            <a:off x="320040" y="2505456"/>
            <a:ext cx="4224528" cy="54864"/>
          </a:xfrm>
          <a:prstGeom prst="rect">
            <a:avLst/>
          </a:prstGeom>
          <a:solidFill>
            <a:srgbClr val="A855F7"/>
          </a:solidFill>
          <a:ln w="12700">
            <a:solidFill>
              <a:srgbClr val="A855F7"/>
            </a:solidFill>
            <a:prstDash val="solid"/>
          </a:ln>
        </p:spPr>
        <p:txBody>
          <a:bodyPr/>
          <a:lstStyle/>
          <a:p>
            <a:endParaRPr lang="en-SG"/>
          </a:p>
        </p:txBody>
      </p:sp>
      <p:sp>
        <p:nvSpPr>
          <p:cNvPr id="24" name="Text 22"/>
          <p:cNvSpPr/>
          <p:nvPr/>
        </p:nvSpPr>
        <p:spPr>
          <a:xfrm>
            <a:off x="429768" y="2596896"/>
            <a:ext cx="2011680" cy="256032"/>
          </a:xfrm>
          <a:prstGeom prst="rect">
            <a:avLst/>
          </a:prstGeom>
          <a:noFill/>
          <a:ln/>
        </p:spPr>
        <p:txBody>
          <a:bodyPr wrap="square" lIns="0" tIns="0" rIns="0" bIns="0" rtlCol="0" anchor="ctr"/>
          <a:lstStyle/>
          <a:p>
            <a:pPr marL="0" indent="0">
              <a:buNone/>
            </a:pPr>
            <a:r>
              <a:rPr lang="en-US" sz="1300" b="1" dirty="0">
                <a:solidFill>
                  <a:srgbClr val="A855F7"/>
                </a:solidFill>
              </a:rPr>
              <a:t>Autopsy / TSK</a:t>
            </a:r>
            <a:endParaRPr lang="en-US" sz="1300" dirty="0"/>
          </a:p>
        </p:txBody>
      </p:sp>
      <p:sp>
        <p:nvSpPr>
          <p:cNvPr id="25" name="Shape 23"/>
          <p:cNvSpPr/>
          <p:nvPr/>
        </p:nvSpPr>
        <p:spPr>
          <a:xfrm>
            <a:off x="3429000" y="2615184"/>
            <a:ext cx="1024128" cy="182880"/>
          </a:xfrm>
          <a:prstGeom prst="rect">
            <a:avLst/>
          </a:prstGeom>
          <a:solidFill>
            <a:srgbClr val="A855F7">
              <a:alpha val="25000"/>
            </a:srgbClr>
          </a:solidFill>
          <a:ln w="6350">
            <a:solidFill>
              <a:srgbClr val="A855F7"/>
            </a:solidFill>
            <a:prstDash val="solid"/>
          </a:ln>
        </p:spPr>
        <p:txBody>
          <a:bodyPr/>
          <a:lstStyle/>
          <a:p>
            <a:endParaRPr lang="en-SG"/>
          </a:p>
        </p:txBody>
      </p:sp>
      <p:sp>
        <p:nvSpPr>
          <p:cNvPr id="26" name="Text 24"/>
          <p:cNvSpPr/>
          <p:nvPr/>
        </p:nvSpPr>
        <p:spPr>
          <a:xfrm>
            <a:off x="3429000" y="2615184"/>
            <a:ext cx="1024128" cy="182880"/>
          </a:xfrm>
          <a:prstGeom prst="rect">
            <a:avLst/>
          </a:prstGeom>
          <a:noFill/>
          <a:ln/>
        </p:spPr>
        <p:txBody>
          <a:bodyPr wrap="square" lIns="0" tIns="0" rIns="0" bIns="0" rtlCol="0" anchor="ctr"/>
          <a:lstStyle/>
          <a:p>
            <a:pPr marL="0" indent="0" algn="ctr">
              <a:buNone/>
            </a:pPr>
            <a:r>
              <a:rPr lang="en-US" sz="650" dirty="0">
                <a:solidFill>
                  <a:srgbClr val="A855F7"/>
                </a:solidFill>
              </a:rPr>
              <a:t>GUI + CLI</a:t>
            </a:r>
            <a:endParaRPr lang="en-US" sz="650" dirty="0"/>
          </a:p>
        </p:txBody>
      </p:sp>
      <p:sp>
        <p:nvSpPr>
          <p:cNvPr id="27" name="Shape 25"/>
          <p:cNvSpPr/>
          <p:nvPr/>
        </p:nvSpPr>
        <p:spPr>
          <a:xfrm>
            <a:off x="429768" y="2889504"/>
            <a:ext cx="4005072" cy="164592"/>
          </a:xfrm>
          <a:prstGeom prst="rect">
            <a:avLst/>
          </a:prstGeom>
          <a:solidFill>
            <a:srgbClr val="FFFFFF"/>
          </a:solidFill>
          <a:ln w="12700">
            <a:solidFill>
              <a:srgbClr val="E2E8F0"/>
            </a:solidFill>
            <a:prstDash val="solid"/>
          </a:ln>
        </p:spPr>
        <p:txBody>
          <a:bodyPr/>
          <a:lstStyle/>
          <a:p>
            <a:endParaRPr lang="en-SG"/>
          </a:p>
        </p:txBody>
      </p:sp>
      <p:sp>
        <p:nvSpPr>
          <p:cNvPr id="28" name="Text 26"/>
          <p:cNvSpPr/>
          <p:nvPr/>
        </p:nvSpPr>
        <p:spPr>
          <a:xfrm>
            <a:off x="466344" y="2898648"/>
            <a:ext cx="3931920" cy="146304"/>
          </a:xfrm>
          <a:prstGeom prst="rect">
            <a:avLst/>
          </a:prstGeom>
          <a:noFill/>
          <a:ln/>
        </p:spPr>
        <p:txBody>
          <a:bodyPr wrap="square" lIns="0" tIns="0" rIns="0" bIns="0" rtlCol="0" anchor="ctr"/>
          <a:lstStyle/>
          <a:p>
            <a:pPr marL="0" indent="0">
              <a:buNone/>
            </a:pPr>
            <a:r>
              <a:rPr lang="en-US" sz="750" dirty="0">
                <a:solidFill>
                  <a:srgbClr val="F4A261"/>
                </a:solidFill>
                <a:latin typeface="Consolas" pitchFamily="34" charset="0"/>
                <a:ea typeface="Consolas" pitchFamily="34" charset="-122"/>
                <a:cs typeface="Consolas" pitchFamily="34" charset="-120"/>
              </a:rPr>
              <a:t>autopsy</a:t>
            </a:r>
            <a:endParaRPr lang="en-US" sz="750" dirty="0"/>
          </a:p>
        </p:txBody>
      </p:sp>
      <p:sp>
        <p:nvSpPr>
          <p:cNvPr id="29" name="Text 27"/>
          <p:cNvSpPr/>
          <p:nvPr/>
        </p:nvSpPr>
        <p:spPr>
          <a:xfrm>
            <a:off x="429768" y="3090672"/>
            <a:ext cx="4005072" cy="475488"/>
          </a:xfrm>
          <a:prstGeom prst="rect">
            <a:avLst/>
          </a:prstGeom>
          <a:noFill/>
          <a:ln/>
        </p:spPr>
        <p:txBody>
          <a:bodyPr wrap="square" lIns="0" tIns="0" rIns="0" bIns="0" rtlCol="0" anchor="ctr"/>
          <a:lstStyle/>
          <a:p>
            <a:pPr marL="0" indent="0">
              <a:buNone/>
            </a:pPr>
            <a:r>
              <a:rPr lang="en-US" sz="800" dirty="0">
                <a:solidFill>
                  <a:srgbClr val="1A1A2E"/>
                </a:solidFill>
              </a:rPr>
              <a:t>Full-featured DFIR platform. Automatically extracts images, metadata, EXIF data, and hash-matches files against NSRL. Timeline, keyword search, and reporting built in.</a:t>
            </a:r>
            <a:endParaRPr lang="en-US" sz="800" dirty="0"/>
          </a:p>
        </p:txBody>
      </p:sp>
      <p:sp>
        <p:nvSpPr>
          <p:cNvPr id="30" name="Shape 28"/>
          <p:cNvSpPr/>
          <p:nvPr/>
        </p:nvSpPr>
        <p:spPr>
          <a:xfrm>
            <a:off x="4690872" y="2505456"/>
            <a:ext cx="4224528" cy="1115568"/>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4690872" y="2505456"/>
            <a:ext cx="4224528" cy="54864"/>
          </a:xfrm>
          <a:prstGeom prst="rect">
            <a:avLst/>
          </a:prstGeom>
          <a:solidFill>
            <a:srgbClr val="F1C40F"/>
          </a:solidFill>
          <a:ln w="12700">
            <a:solidFill>
              <a:srgbClr val="F1C40F"/>
            </a:solidFill>
            <a:prstDash val="solid"/>
          </a:ln>
        </p:spPr>
        <p:txBody>
          <a:bodyPr/>
          <a:lstStyle/>
          <a:p>
            <a:endParaRPr lang="en-SG"/>
          </a:p>
        </p:txBody>
      </p:sp>
      <p:sp>
        <p:nvSpPr>
          <p:cNvPr id="32" name="Text 30"/>
          <p:cNvSpPr/>
          <p:nvPr/>
        </p:nvSpPr>
        <p:spPr>
          <a:xfrm>
            <a:off x="4800600" y="2596896"/>
            <a:ext cx="2011680" cy="256032"/>
          </a:xfrm>
          <a:prstGeom prst="rect">
            <a:avLst/>
          </a:prstGeom>
          <a:noFill/>
          <a:ln/>
        </p:spPr>
        <p:txBody>
          <a:bodyPr wrap="square" lIns="0" tIns="0" rIns="0" bIns="0" rtlCol="0" anchor="ctr"/>
          <a:lstStyle/>
          <a:p>
            <a:pPr marL="0" indent="0">
              <a:buNone/>
            </a:pPr>
            <a:r>
              <a:rPr lang="en-US" sz="1300" b="1" dirty="0">
                <a:solidFill>
                  <a:srgbClr val="F1C40F"/>
                </a:solidFill>
              </a:rPr>
              <a:t>HxD / WinHex</a:t>
            </a:r>
            <a:endParaRPr lang="en-US" sz="1300" dirty="0"/>
          </a:p>
        </p:txBody>
      </p:sp>
      <p:sp>
        <p:nvSpPr>
          <p:cNvPr id="33" name="Shape 31"/>
          <p:cNvSpPr/>
          <p:nvPr/>
        </p:nvSpPr>
        <p:spPr>
          <a:xfrm>
            <a:off x="7799832" y="2615184"/>
            <a:ext cx="1024128" cy="182880"/>
          </a:xfrm>
          <a:prstGeom prst="rect">
            <a:avLst/>
          </a:prstGeom>
          <a:solidFill>
            <a:srgbClr val="F1C40F">
              <a:alpha val="25000"/>
            </a:srgbClr>
          </a:solidFill>
          <a:ln w="6350">
            <a:solidFill>
              <a:srgbClr val="F1C40F"/>
            </a:solidFill>
            <a:prstDash val="solid"/>
          </a:ln>
        </p:spPr>
        <p:txBody>
          <a:bodyPr/>
          <a:lstStyle/>
          <a:p>
            <a:endParaRPr lang="en-SG"/>
          </a:p>
        </p:txBody>
      </p:sp>
      <p:sp>
        <p:nvSpPr>
          <p:cNvPr id="34" name="Text 32"/>
          <p:cNvSpPr/>
          <p:nvPr/>
        </p:nvSpPr>
        <p:spPr>
          <a:xfrm>
            <a:off x="7799832" y="2615184"/>
            <a:ext cx="1024128" cy="182880"/>
          </a:xfrm>
          <a:prstGeom prst="rect">
            <a:avLst/>
          </a:prstGeom>
          <a:noFill/>
          <a:ln/>
        </p:spPr>
        <p:txBody>
          <a:bodyPr wrap="square" lIns="0" tIns="0" rIns="0" bIns="0" rtlCol="0" anchor="ctr"/>
          <a:lstStyle/>
          <a:p>
            <a:pPr marL="0" indent="0" algn="ctr">
              <a:buNone/>
            </a:pPr>
            <a:r>
              <a:rPr lang="en-US" sz="650" dirty="0">
                <a:solidFill>
                  <a:srgbClr val="F1C40F"/>
                </a:solidFill>
              </a:rPr>
              <a:t>GUI · Hex Editor</a:t>
            </a:r>
            <a:endParaRPr lang="en-US" sz="650" dirty="0"/>
          </a:p>
        </p:txBody>
      </p:sp>
      <p:sp>
        <p:nvSpPr>
          <p:cNvPr id="35" name="Shape 33"/>
          <p:cNvSpPr/>
          <p:nvPr/>
        </p:nvSpPr>
        <p:spPr>
          <a:xfrm>
            <a:off x="4800600" y="2889504"/>
            <a:ext cx="4005072" cy="164592"/>
          </a:xfrm>
          <a:prstGeom prst="rect">
            <a:avLst/>
          </a:prstGeom>
          <a:solidFill>
            <a:srgbClr val="FFFFFF"/>
          </a:solidFill>
          <a:ln w="12700">
            <a:solidFill>
              <a:srgbClr val="E2E8F0"/>
            </a:solidFill>
            <a:prstDash val="solid"/>
          </a:ln>
        </p:spPr>
        <p:txBody>
          <a:bodyPr/>
          <a:lstStyle/>
          <a:p>
            <a:endParaRPr lang="en-SG"/>
          </a:p>
        </p:txBody>
      </p:sp>
      <p:sp>
        <p:nvSpPr>
          <p:cNvPr id="36" name="Text 34"/>
          <p:cNvSpPr/>
          <p:nvPr/>
        </p:nvSpPr>
        <p:spPr>
          <a:xfrm>
            <a:off x="4837176" y="2898648"/>
            <a:ext cx="3931920" cy="146304"/>
          </a:xfrm>
          <a:prstGeom prst="rect">
            <a:avLst/>
          </a:prstGeom>
          <a:noFill/>
          <a:ln/>
        </p:spPr>
        <p:txBody>
          <a:bodyPr wrap="square" lIns="0" tIns="0" rIns="0" bIns="0" rtlCol="0" anchor="ctr"/>
          <a:lstStyle/>
          <a:p>
            <a:pPr marL="0" indent="0">
              <a:buNone/>
            </a:pPr>
            <a:r>
              <a:rPr lang="en-US" sz="750" dirty="0">
                <a:solidFill>
                  <a:srgbClr val="F4A261"/>
                </a:solidFill>
                <a:latin typeface="Consolas" pitchFamily="34" charset="0"/>
                <a:ea typeface="Consolas" pitchFamily="34" charset="-122"/>
                <a:cs typeface="Consolas" pitchFamily="34" charset="-120"/>
              </a:rPr>
              <a:t>hxd.exe / winhex.exe</a:t>
            </a:r>
            <a:endParaRPr lang="en-US" sz="750" dirty="0"/>
          </a:p>
        </p:txBody>
      </p:sp>
      <p:sp>
        <p:nvSpPr>
          <p:cNvPr id="37" name="Text 35"/>
          <p:cNvSpPr/>
          <p:nvPr/>
        </p:nvSpPr>
        <p:spPr>
          <a:xfrm>
            <a:off x="4800600" y="3090672"/>
            <a:ext cx="4005072" cy="475488"/>
          </a:xfrm>
          <a:prstGeom prst="rect">
            <a:avLst/>
          </a:prstGeom>
          <a:noFill/>
          <a:ln/>
        </p:spPr>
        <p:txBody>
          <a:bodyPr wrap="square" lIns="0" tIns="0" rIns="0" bIns="0" rtlCol="0" anchor="ctr"/>
          <a:lstStyle/>
          <a:p>
            <a:pPr marL="0" indent="0">
              <a:buNone/>
            </a:pPr>
            <a:r>
              <a:rPr lang="en-US" sz="800" dirty="0">
                <a:solidFill>
                  <a:srgbClr val="1A1A2E"/>
                </a:solidFill>
              </a:rPr>
              <a:t>Professional hex editors for manual file analysis. Inspect and repair file headers, compare files byte-by-byte, search for signatures, and manually patch corrupt headers.</a:t>
            </a:r>
            <a:endParaRPr lang="en-US" sz="800" dirty="0"/>
          </a:p>
        </p:txBody>
      </p:sp>
      <p:sp>
        <p:nvSpPr>
          <p:cNvPr id="38" name="Shape 36"/>
          <p:cNvSpPr/>
          <p:nvPr/>
        </p:nvSpPr>
        <p:spPr>
          <a:xfrm>
            <a:off x="320040" y="3694176"/>
            <a:ext cx="4224528" cy="1115568"/>
          </a:xfrm>
          <a:prstGeom prst="rect">
            <a:avLst/>
          </a:prstGeom>
          <a:solidFill>
            <a:srgbClr val="EEF6FB"/>
          </a:solidFill>
          <a:ln w="12700">
            <a:solidFill>
              <a:srgbClr val="EEF6FB"/>
            </a:solidFill>
            <a:prstDash val="solid"/>
          </a:ln>
        </p:spPr>
        <p:txBody>
          <a:bodyPr/>
          <a:lstStyle/>
          <a:p>
            <a:endParaRPr lang="en-SG"/>
          </a:p>
        </p:txBody>
      </p:sp>
      <p:sp>
        <p:nvSpPr>
          <p:cNvPr id="39" name="Shape 37"/>
          <p:cNvSpPr/>
          <p:nvPr/>
        </p:nvSpPr>
        <p:spPr>
          <a:xfrm>
            <a:off x="320040" y="3694176"/>
            <a:ext cx="4224528" cy="54864"/>
          </a:xfrm>
          <a:prstGeom prst="rect">
            <a:avLst/>
          </a:prstGeom>
          <a:solidFill>
            <a:srgbClr val="2ECC71"/>
          </a:solidFill>
          <a:ln w="12700">
            <a:solidFill>
              <a:srgbClr val="2ECC71"/>
            </a:solidFill>
            <a:prstDash val="solid"/>
          </a:ln>
        </p:spPr>
        <p:txBody>
          <a:bodyPr/>
          <a:lstStyle/>
          <a:p>
            <a:endParaRPr lang="en-SG"/>
          </a:p>
        </p:txBody>
      </p:sp>
      <p:sp>
        <p:nvSpPr>
          <p:cNvPr id="40" name="Text 38"/>
          <p:cNvSpPr/>
          <p:nvPr/>
        </p:nvSpPr>
        <p:spPr>
          <a:xfrm>
            <a:off x="429768" y="3785616"/>
            <a:ext cx="2011680" cy="256032"/>
          </a:xfrm>
          <a:prstGeom prst="rect">
            <a:avLst/>
          </a:prstGeom>
          <a:noFill/>
          <a:ln/>
        </p:spPr>
        <p:txBody>
          <a:bodyPr wrap="square" lIns="0" tIns="0" rIns="0" bIns="0" rtlCol="0" anchor="ctr"/>
          <a:lstStyle/>
          <a:p>
            <a:pPr marL="0" indent="0">
              <a:buNone/>
            </a:pPr>
            <a:r>
              <a:rPr lang="en-US" sz="1300" b="1" dirty="0">
                <a:solidFill>
                  <a:srgbClr val="2ECC71"/>
                </a:solidFill>
              </a:rPr>
              <a:t>IrfanView</a:t>
            </a:r>
            <a:endParaRPr lang="en-US" sz="1300" dirty="0"/>
          </a:p>
        </p:txBody>
      </p:sp>
      <p:sp>
        <p:nvSpPr>
          <p:cNvPr id="41" name="Shape 39"/>
          <p:cNvSpPr/>
          <p:nvPr/>
        </p:nvSpPr>
        <p:spPr>
          <a:xfrm>
            <a:off x="3429000" y="3803904"/>
            <a:ext cx="1024128" cy="182880"/>
          </a:xfrm>
          <a:prstGeom prst="rect">
            <a:avLst/>
          </a:prstGeom>
          <a:solidFill>
            <a:srgbClr val="2ECC71">
              <a:alpha val="25000"/>
            </a:srgbClr>
          </a:solidFill>
          <a:ln w="6350">
            <a:solidFill>
              <a:srgbClr val="2ECC71"/>
            </a:solidFill>
            <a:prstDash val="solid"/>
          </a:ln>
        </p:spPr>
        <p:txBody>
          <a:bodyPr/>
          <a:lstStyle/>
          <a:p>
            <a:endParaRPr lang="en-SG"/>
          </a:p>
        </p:txBody>
      </p:sp>
      <p:sp>
        <p:nvSpPr>
          <p:cNvPr id="42" name="Text 40"/>
          <p:cNvSpPr/>
          <p:nvPr/>
        </p:nvSpPr>
        <p:spPr>
          <a:xfrm>
            <a:off x="3429000" y="3803904"/>
            <a:ext cx="1024128" cy="182880"/>
          </a:xfrm>
          <a:prstGeom prst="rect">
            <a:avLst/>
          </a:prstGeom>
          <a:noFill/>
          <a:ln/>
        </p:spPr>
        <p:txBody>
          <a:bodyPr wrap="square" lIns="0" tIns="0" rIns="0" bIns="0" rtlCol="0" anchor="ctr"/>
          <a:lstStyle/>
          <a:p>
            <a:pPr marL="0" indent="0" algn="ctr">
              <a:buNone/>
            </a:pPr>
            <a:r>
              <a:rPr lang="en-US" sz="650" dirty="0">
                <a:solidFill>
                  <a:srgbClr val="2ECC71"/>
                </a:solidFill>
              </a:rPr>
              <a:t>GUI · Viewer</a:t>
            </a:r>
            <a:endParaRPr lang="en-US" sz="650" dirty="0"/>
          </a:p>
        </p:txBody>
      </p:sp>
      <p:sp>
        <p:nvSpPr>
          <p:cNvPr id="43" name="Shape 41"/>
          <p:cNvSpPr/>
          <p:nvPr/>
        </p:nvSpPr>
        <p:spPr>
          <a:xfrm>
            <a:off x="429768" y="4078224"/>
            <a:ext cx="4005072" cy="164592"/>
          </a:xfrm>
          <a:prstGeom prst="rect">
            <a:avLst/>
          </a:prstGeom>
          <a:solidFill>
            <a:srgbClr val="FFFFFF"/>
          </a:solidFill>
          <a:ln w="12700">
            <a:solidFill>
              <a:srgbClr val="E2E8F0"/>
            </a:solidFill>
            <a:prstDash val="solid"/>
          </a:ln>
        </p:spPr>
        <p:txBody>
          <a:bodyPr/>
          <a:lstStyle/>
          <a:p>
            <a:endParaRPr lang="en-SG"/>
          </a:p>
        </p:txBody>
      </p:sp>
      <p:sp>
        <p:nvSpPr>
          <p:cNvPr id="44" name="Text 42"/>
          <p:cNvSpPr/>
          <p:nvPr/>
        </p:nvSpPr>
        <p:spPr>
          <a:xfrm>
            <a:off x="466344" y="4087368"/>
            <a:ext cx="3931920" cy="146304"/>
          </a:xfrm>
          <a:prstGeom prst="rect">
            <a:avLst/>
          </a:prstGeom>
          <a:noFill/>
          <a:ln/>
        </p:spPr>
        <p:txBody>
          <a:bodyPr wrap="square" lIns="0" tIns="0" rIns="0" bIns="0" rtlCol="0" anchor="ctr"/>
          <a:lstStyle/>
          <a:p>
            <a:pPr marL="0" indent="0">
              <a:buNone/>
            </a:pPr>
            <a:r>
              <a:rPr lang="en-US" sz="750" dirty="0">
                <a:solidFill>
                  <a:srgbClr val="F4A261"/>
                </a:solidFill>
                <a:latin typeface="Consolas" pitchFamily="34" charset="0"/>
                <a:ea typeface="Consolas" pitchFamily="34" charset="-122"/>
                <a:cs typeface="Consolas" pitchFamily="34" charset="-120"/>
              </a:rPr>
              <a:t>i_view64.exe image.jpg</a:t>
            </a:r>
            <a:endParaRPr lang="en-US" sz="750" dirty="0"/>
          </a:p>
        </p:txBody>
      </p:sp>
      <p:sp>
        <p:nvSpPr>
          <p:cNvPr id="45" name="Text 43"/>
          <p:cNvSpPr/>
          <p:nvPr/>
        </p:nvSpPr>
        <p:spPr>
          <a:xfrm>
            <a:off x="429768" y="4279392"/>
            <a:ext cx="4005072" cy="475488"/>
          </a:xfrm>
          <a:prstGeom prst="rect">
            <a:avLst/>
          </a:prstGeom>
          <a:noFill/>
          <a:ln/>
        </p:spPr>
        <p:txBody>
          <a:bodyPr wrap="square" lIns="0" tIns="0" rIns="0" bIns="0" rtlCol="0" anchor="ctr"/>
          <a:lstStyle/>
          <a:p>
            <a:pPr marL="0" indent="0">
              <a:buNone/>
            </a:pPr>
            <a:r>
              <a:rPr lang="en-US" sz="800" dirty="0">
                <a:solidFill>
                  <a:srgbClr val="1A1A2E"/>
                </a:solidFill>
              </a:rPr>
              <a:t>Fast, lightweight image viewer supporting 100+ formats including RAW camera files. Can display EXIF metadata in-app. Widely used in forensic labs for rapid image triage.</a:t>
            </a:r>
            <a:endParaRPr lang="en-US" sz="800" dirty="0"/>
          </a:p>
        </p:txBody>
      </p:sp>
      <p:sp>
        <p:nvSpPr>
          <p:cNvPr id="46" name="Shape 44"/>
          <p:cNvSpPr/>
          <p:nvPr/>
        </p:nvSpPr>
        <p:spPr>
          <a:xfrm>
            <a:off x="4690872" y="3694176"/>
            <a:ext cx="4224528" cy="1115568"/>
          </a:xfrm>
          <a:prstGeom prst="rect">
            <a:avLst/>
          </a:prstGeom>
          <a:solidFill>
            <a:srgbClr val="EEF6FB"/>
          </a:solidFill>
          <a:ln w="12700">
            <a:solidFill>
              <a:srgbClr val="EEF6FB"/>
            </a:solidFill>
            <a:prstDash val="solid"/>
          </a:ln>
        </p:spPr>
        <p:txBody>
          <a:bodyPr/>
          <a:lstStyle/>
          <a:p>
            <a:endParaRPr lang="en-SG"/>
          </a:p>
        </p:txBody>
      </p:sp>
      <p:sp>
        <p:nvSpPr>
          <p:cNvPr id="47" name="Shape 45"/>
          <p:cNvSpPr/>
          <p:nvPr/>
        </p:nvSpPr>
        <p:spPr>
          <a:xfrm>
            <a:off x="4690872" y="3694176"/>
            <a:ext cx="4224528" cy="54864"/>
          </a:xfrm>
          <a:prstGeom prst="rect">
            <a:avLst/>
          </a:prstGeom>
          <a:solidFill>
            <a:srgbClr val="2EC4B6"/>
          </a:solidFill>
          <a:ln w="12700">
            <a:solidFill>
              <a:srgbClr val="2EC4B6"/>
            </a:solidFill>
            <a:prstDash val="solid"/>
          </a:ln>
        </p:spPr>
        <p:txBody>
          <a:bodyPr/>
          <a:lstStyle/>
          <a:p>
            <a:endParaRPr lang="en-SG"/>
          </a:p>
        </p:txBody>
      </p:sp>
      <p:sp>
        <p:nvSpPr>
          <p:cNvPr id="48" name="Text 46"/>
          <p:cNvSpPr/>
          <p:nvPr/>
        </p:nvSpPr>
        <p:spPr>
          <a:xfrm>
            <a:off x="4800600" y="3785616"/>
            <a:ext cx="2011680" cy="256032"/>
          </a:xfrm>
          <a:prstGeom prst="rect">
            <a:avLst/>
          </a:prstGeom>
          <a:noFill/>
          <a:ln/>
        </p:spPr>
        <p:txBody>
          <a:bodyPr wrap="square" lIns="0" tIns="0" rIns="0" bIns="0" rtlCol="0" anchor="ctr"/>
          <a:lstStyle/>
          <a:p>
            <a:pPr marL="0" indent="0">
              <a:buNone/>
            </a:pPr>
            <a:r>
              <a:rPr lang="en-US" sz="1300" b="1" dirty="0">
                <a:solidFill>
                  <a:srgbClr val="2EC4B6"/>
                </a:solidFill>
              </a:rPr>
              <a:t>Ghiro</a:t>
            </a:r>
            <a:endParaRPr lang="en-US" sz="1300" dirty="0"/>
          </a:p>
        </p:txBody>
      </p:sp>
      <p:sp>
        <p:nvSpPr>
          <p:cNvPr id="49" name="Shape 47"/>
          <p:cNvSpPr/>
          <p:nvPr/>
        </p:nvSpPr>
        <p:spPr>
          <a:xfrm>
            <a:off x="7799832" y="3803904"/>
            <a:ext cx="1024128" cy="182880"/>
          </a:xfrm>
          <a:prstGeom prst="rect">
            <a:avLst/>
          </a:prstGeom>
          <a:solidFill>
            <a:srgbClr val="2EC4B6">
              <a:alpha val="25000"/>
            </a:srgbClr>
          </a:solidFill>
          <a:ln w="6350">
            <a:solidFill>
              <a:srgbClr val="2EC4B6"/>
            </a:solidFill>
            <a:prstDash val="solid"/>
          </a:ln>
        </p:spPr>
        <p:txBody>
          <a:bodyPr/>
          <a:lstStyle/>
          <a:p>
            <a:endParaRPr lang="en-SG"/>
          </a:p>
        </p:txBody>
      </p:sp>
      <p:sp>
        <p:nvSpPr>
          <p:cNvPr id="50" name="Text 48"/>
          <p:cNvSpPr/>
          <p:nvPr/>
        </p:nvSpPr>
        <p:spPr>
          <a:xfrm>
            <a:off x="7799832" y="3803904"/>
            <a:ext cx="1024128" cy="182880"/>
          </a:xfrm>
          <a:prstGeom prst="rect">
            <a:avLst/>
          </a:prstGeom>
          <a:noFill/>
          <a:ln/>
        </p:spPr>
        <p:txBody>
          <a:bodyPr wrap="square" lIns="0" tIns="0" rIns="0" bIns="0" rtlCol="0" anchor="ctr"/>
          <a:lstStyle/>
          <a:p>
            <a:pPr marL="0" indent="0" algn="ctr">
              <a:buNone/>
            </a:pPr>
            <a:r>
              <a:rPr lang="en-US" sz="650" dirty="0">
                <a:solidFill>
                  <a:srgbClr val="2EC4B6"/>
                </a:solidFill>
              </a:rPr>
              <a:t>Web · Automated</a:t>
            </a:r>
            <a:endParaRPr lang="en-US" sz="650" dirty="0"/>
          </a:p>
        </p:txBody>
      </p:sp>
      <p:sp>
        <p:nvSpPr>
          <p:cNvPr id="51" name="Shape 49"/>
          <p:cNvSpPr/>
          <p:nvPr/>
        </p:nvSpPr>
        <p:spPr>
          <a:xfrm>
            <a:off x="4800600" y="4078224"/>
            <a:ext cx="4005072" cy="164592"/>
          </a:xfrm>
          <a:prstGeom prst="rect">
            <a:avLst/>
          </a:prstGeom>
          <a:solidFill>
            <a:srgbClr val="FFFFFF"/>
          </a:solidFill>
          <a:ln w="12700">
            <a:solidFill>
              <a:srgbClr val="E2E8F0"/>
            </a:solidFill>
            <a:prstDash val="solid"/>
          </a:ln>
        </p:spPr>
        <p:txBody>
          <a:bodyPr/>
          <a:lstStyle/>
          <a:p>
            <a:endParaRPr lang="en-SG"/>
          </a:p>
        </p:txBody>
      </p:sp>
      <p:sp>
        <p:nvSpPr>
          <p:cNvPr id="52" name="Text 50"/>
          <p:cNvSpPr/>
          <p:nvPr/>
        </p:nvSpPr>
        <p:spPr>
          <a:xfrm>
            <a:off x="4837176" y="4087368"/>
            <a:ext cx="3931920" cy="146304"/>
          </a:xfrm>
          <a:prstGeom prst="rect">
            <a:avLst/>
          </a:prstGeom>
          <a:noFill/>
          <a:ln/>
        </p:spPr>
        <p:txBody>
          <a:bodyPr wrap="square" lIns="0" tIns="0" rIns="0" bIns="0" rtlCol="0" anchor="ctr"/>
          <a:lstStyle/>
          <a:p>
            <a:pPr marL="0" indent="0">
              <a:buNone/>
            </a:pPr>
            <a:r>
              <a:rPr lang="en-US" sz="750" dirty="0">
                <a:solidFill>
                  <a:srgbClr val="F4A261"/>
                </a:solidFill>
                <a:latin typeface="Consolas" pitchFamily="34" charset="0"/>
                <a:ea typeface="Consolas" pitchFamily="34" charset="-122"/>
                <a:cs typeface="Consolas" pitchFamily="34" charset="-120"/>
              </a:rPr>
              <a:t>ghiro-api-client</a:t>
            </a:r>
            <a:endParaRPr lang="en-US" sz="750" dirty="0"/>
          </a:p>
        </p:txBody>
      </p:sp>
      <p:sp>
        <p:nvSpPr>
          <p:cNvPr id="53" name="Text 51"/>
          <p:cNvSpPr/>
          <p:nvPr/>
        </p:nvSpPr>
        <p:spPr>
          <a:xfrm>
            <a:off x="4800600" y="4279392"/>
            <a:ext cx="4005072" cy="475488"/>
          </a:xfrm>
          <a:prstGeom prst="rect">
            <a:avLst/>
          </a:prstGeom>
          <a:noFill/>
          <a:ln/>
        </p:spPr>
        <p:txBody>
          <a:bodyPr wrap="square" lIns="0" tIns="0" rIns="0" bIns="0" rtlCol="0" anchor="ctr"/>
          <a:lstStyle/>
          <a:p>
            <a:pPr marL="0" indent="0">
              <a:buNone/>
            </a:pPr>
            <a:r>
              <a:rPr lang="en-US" sz="800" dirty="0">
                <a:solidFill>
                  <a:srgbClr val="1A1A2E"/>
                </a:solidFill>
              </a:rPr>
              <a:t>Open-source image forensics platform. Automated analysis pipeline: extracts metadata, runs hash lookups, detects steganography, and produces structured forensic reports.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31136"/>
            <a:ext cx="9144000" cy="64008"/>
          </a:xfrm>
          <a:prstGeom prst="rect">
            <a:avLst/>
          </a:prstGeom>
          <a:solidFill>
            <a:srgbClr val="2EC4B6"/>
          </a:solidFill>
          <a:ln w="12700">
            <a:solidFill>
              <a:srgbClr val="2EC4B6"/>
            </a:solidFill>
            <a:prstDash val="solid"/>
          </a:ln>
        </p:spPr>
        <p:txBody>
          <a:bodyPr/>
          <a:lstStyle/>
          <a:p>
            <a:endParaRPr lang="en-SG"/>
          </a:p>
        </p:txBody>
      </p:sp>
      <p:sp>
        <p:nvSpPr>
          <p:cNvPr id="3" name="Text 1"/>
          <p:cNvSpPr/>
          <p:nvPr/>
        </p:nvSpPr>
        <p:spPr>
          <a:xfrm>
            <a:off x="457200" y="1261872"/>
            <a:ext cx="8229600" cy="402336"/>
          </a:xfrm>
          <a:prstGeom prst="rect">
            <a:avLst/>
          </a:prstGeom>
          <a:noFill/>
          <a:ln/>
        </p:spPr>
        <p:txBody>
          <a:bodyPr wrap="square" lIns="0" tIns="0" rIns="0" bIns="0" rtlCol="0" anchor="ctr"/>
          <a:lstStyle/>
          <a:p>
            <a:pPr marL="0" indent="0" algn="ctr">
              <a:buNone/>
            </a:pPr>
            <a:r>
              <a:rPr lang="en-US" sz="1300" b="1" kern="0" spc="800" dirty="0">
                <a:solidFill>
                  <a:srgbClr val="2EC4B6"/>
                </a:solidFill>
              </a:rPr>
              <a:t>SECTION 6</a:t>
            </a:r>
            <a:endParaRPr lang="en-US" sz="1300" dirty="0"/>
          </a:p>
        </p:txBody>
      </p:sp>
      <p:sp>
        <p:nvSpPr>
          <p:cNvPr id="4" name="Text 2"/>
          <p:cNvSpPr/>
          <p:nvPr/>
        </p:nvSpPr>
        <p:spPr>
          <a:xfrm>
            <a:off x="457200" y="1664208"/>
            <a:ext cx="8229600" cy="786384"/>
          </a:xfrm>
          <a:prstGeom prst="rect">
            <a:avLst/>
          </a:prstGeom>
          <a:noFill/>
          <a:ln/>
        </p:spPr>
        <p:txBody>
          <a:bodyPr wrap="square" lIns="0" tIns="0" rIns="0" bIns="0" rtlCol="0" anchor="ctr"/>
          <a:lstStyle/>
          <a:p>
            <a:pPr marL="0" indent="0" algn="ctr">
              <a:buNone/>
            </a:pPr>
            <a:r>
              <a:rPr lang="en-US" sz="5000" b="1" dirty="0">
                <a:solidFill>
                  <a:srgbClr val="1A1A2E"/>
                </a:solidFill>
              </a:rPr>
              <a:t>Steganography</a:t>
            </a:r>
            <a:endParaRPr lang="en-US" sz="5000" dirty="0"/>
          </a:p>
        </p:txBody>
      </p:sp>
      <p:sp>
        <p:nvSpPr>
          <p:cNvPr id="5" name="Text 3"/>
          <p:cNvSpPr/>
          <p:nvPr/>
        </p:nvSpPr>
        <p:spPr>
          <a:xfrm>
            <a:off x="457200" y="3145536"/>
            <a:ext cx="8229600" cy="402336"/>
          </a:xfrm>
          <a:prstGeom prst="rect">
            <a:avLst/>
          </a:prstGeom>
          <a:noFill/>
          <a:ln/>
        </p:spPr>
        <p:txBody>
          <a:bodyPr wrap="square" lIns="0" tIns="0" rIns="0" bIns="0" rtlCol="0" anchor="ctr"/>
          <a:lstStyle/>
          <a:p>
            <a:pPr marL="0" indent="0" algn="ctr">
              <a:buNone/>
            </a:pPr>
            <a:r>
              <a:rPr lang="en-US" sz="1200" i="1" dirty="0">
                <a:solidFill>
                  <a:srgbClr val="8899AA"/>
                </a:solidFill>
              </a:rPr>
              <a:t>Concealing data within data — detection, analysis, and forensic countermeasures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574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965960" cy="256032"/>
          </a:xfrm>
          <a:prstGeom prst="rect">
            <a:avLst/>
          </a:prstGeom>
          <a:noFill/>
          <a:ln/>
        </p:spPr>
        <p:txBody>
          <a:bodyPr wrap="square" lIns="0" tIns="0" rIns="0" bIns="0" rtlCol="0" anchor="ctr"/>
          <a:lstStyle/>
          <a:p>
            <a:pPr marL="0" indent="0">
              <a:buNone/>
            </a:pPr>
            <a:r>
              <a:rPr lang="en-US" sz="850" b="1" dirty="0">
                <a:solidFill>
                  <a:srgbClr val="0D1B2A"/>
                </a:solidFill>
              </a:rPr>
              <a:t>SECTION 6 · STEGANOGRAPHY</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What is Steganography?</a:t>
            </a:r>
            <a:endParaRPr lang="en-US" sz="2800" dirty="0"/>
          </a:p>
        </p:txBody>
      </p:sp>
      <p:sp>
        <p:nvSpPr>
          <p:cNvPr id="5" name="Shape 3"/>
          <p:cNvSpPr/>
          <p:nvPr/>
        </p:nvSpPr>
        <p:spPr>
          <a:xfrm>
            <a:off x="320040" y="1170432"/>
            <a:ext cx="8503920" cy="36576"/>
          </a:xfrm>
          <a:prstGeom prst="rect">
            <a:avLst/>
          </a:prstGeom>
          <a:solidFill>
            <a:srgbClr val="2EC4B6"/>
          </a:solidFill>
          <a:ln w="12700">
            <a:solidFill>
              <a:srgbClr val="2EC4B6"/>
            </a:solidFill>
            <a:prstDash val="solid"/>
          </a:ln>
        </p:spPr>
        <p:txBody>
          <a:bodyPr/>
          <a:lstStyle/>
          <a:p>
            <a:endParaRPr lang="en-SG"/>
          </a:p>
        </p:txBody>
      </p:sp>
      <p:sp>
        <p:nvSpPr>
          <p:cNvPr id="6" name="Shape 4"/>
          <p:cNvSpPr/>
          <p:nvPr/>
        </p:nvSpPr>
        <p:spPr>
          <a:xfrm>
            <a:off x="320040" y="1261872"/>
            <a:ext cx="8503920" cy="621792"/>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621792"/>
          </a:xfrm>
          <a:prstGeom prst="rect">
            <a:avLst/>
          </a:prstGeom>
          <a:solidFill>
            <a:srgbClr val="2EC4B6"/>
          </a:solidFill>
          <a:ln w="12700">
            <a:solidFill>
              <a:srgbClr val="2EC4B6"/>
            </a:solidFill>
            <a:prstDash val="solid"/>
          </a:ln>
        </p:spPr>
        <p:txBody>
          <a:bodyPr/>
          <a:lstStyle/>
          <a:p>
            <a:endParaRPr lang="en-SG"/>
          </a:p>
        </p:txBody>
      </p:sp>
      <p:sp>
        <p:nvSpPr>
          <p:cNvPr id="8" name="Text 6"/>
          <p:cNvSpPr/>
          <p:nvPr/>
        </p:nvSpPr>
        <p:spPr>
          <a:xfrm>
            <a:off x="493776" y="1298448"/>
            <a:ext cx="8229600" cy="237744"/>
          </a:xfrm>
          <a:prstGeom prst="rect">
            <a:avLst/>
          </a:prstGeom>
          <a:noFill/>
          <a:ln/>
        </p:spPr>
        <p:txBody>
          <a:bodyPr wrap="square" lIns="0" tIns="0" rIns="0" bIns="0" rtlCol="0" anchor="ctr"/>
          <a:lstStyle/>
          <a:p>
            <a:pPr marL="0" indent="0">
              <a:buNone/>
            </a:pPr>
            <a:r>
              <a:rPr lang="en-US" sz="1100" b="1" dirty="0">
                <a:solidFill>
                  <a:srgbClr val="2EC4B6"/>
                </a:solidFill>
              </a:rPr>
              <a:t>Steganography vs Cryptography</a:t>
            </a:r>
            <a:endParaRPr lang="en-US" sz="1100" dirty="0"/>
          </a:p>
        </p:txBody>
      </p:sp>
      <p:sp>
        <p:nvSpPr>
          <p:cNvPr id="9" name="Text 7"/>
          <p:cNvSpPr/>
          <p:nvPr/>
        </p:nvSpPr>
        <p:spPr>
          <a:xfrm>
            <a:off x="493776" y="1536192"/>
            <a:ext cx="8229600" cy="292608"/>
          </a:xfrm>
          <a:prstGeom prst="rect">
            <a:avLst/>
          </a:prstGeom>
          <a:noFill/>
          <a:ln/>
        </p:spPr>
        <p:txBody>
          <a:bodyPr wrap="square" lIns="0" tIns="0" rIns="0" bIns="0" rtlCol="0" anchor="ctr"/>
          <a:lstStyle/>
          <a:p>
            <a:pPr marL="0" indent="0">
              <a:buNone/>
            </a:pPr>
            <a:r>
              <a:rPr lang="en-US" sz="900" dirty="0">
                <a:solidFill>
                  <a:srgbClr val="1A1A2E"/>
                </a:solidFill>
              </a:rPr>
              <a:t>Cryptography hides the meaning of a message (the contents are visible but unreadable). Steganography hides the existence of a message entirely — the carrier file (image, audio, video) appears completely normal to an observer. The two are often combined: a secret message is first encrypted, then hidden inside an innocent-looking image.</a:t>
            </a:r>
            <a:endParaRPr lang="en-US" sz="900" dirty="0"/>
          </a:p>
        </p:txBody>
      </p:sp>
      <p:sp>
        <p:nvSpPr>
          <p:cNvPr id="10" name="Shape 8"/>
          <p:cNvSpPr/>
          <p:nvPr/>
        </p:nvSpPr>
        <p:spPr>
          <a:xfrm>
            <a:off x="320040" y="1975104"/>
            <a:ext cx="4133088" cy="2816352"/>
          </a:xfrm>
          <a:prstGeom prst="rect">
            <a:avLst/>
          </a:prstGeom>
          <a:solidFill>
            <a:srgbClr val="EEF6FB"/>
          </a:solidFill>
          <a:ln w="12700">
            <a:solidFill>
              <a:srgbClr val="EEF6FB"/>
            </a:solidFill>
            <a:prstDash val="solid"/>
          </a:ln>
        </p:spPr>
        <p:txBody>
          <a:bodyPr/>
          <a:lstStyle/>
          <a:p>
            <a:endParaRPr lang="en-SG"/>
          </a:p>
        </p:txBody>
      </p:sp>
      <p:sp>
        <p:nvSpPr>
          <p:cNvPr id="11" name="Shape 9"/>
          <p:cNvSpPr/>
          <p:nvPr/>
        </p:nvSpPr>
        <p:spPr>
          <a:xfrm>
            <a:off x="320040" y="1975104"/>
            <a:ext cx="4133088" cy="64008"/>
          </a:xfrm>
          <a:prstGeom prst="rect">
            <a:avLst/>
          </a:prstGeom>
          <a:solidFill>
            <a:srgbClr val="2EC4B6"/>
          </a:solidFill>
          <a:ln w="12700">
            <a:solidFill>
              <a:srgbClr val="2EC4B6"/>
            </a:solidFill>
            <a:prstDash val="solid"/>
          </a:ln>
        </p:spPr>
        <p:txBody>
          <a:bodyPr/>
          <a:lstStyle/>
          <a:p>
            <a:endParaRPr lang="en-SG"/>
          </a:p>
        </p:txBody>
      </p:sp>
      <p:sp>
        <p:nvSpPr>
          <p:cNvPr id="12" name="Text 10"/>
          <p:cNvSpPr/>
          <p:nvPr/>
        </p:nvSpPr>
        <p:spPr>
          <a:xfrm>
            <a:off x="457200" y="2075688"/>
            <a:ext cx="3840480" cy="256032"/>
          </a:xfrm>
          <a:prstGeom prst="rect">
            <a:avLst/>
          </a:prstGeom>
          <a:noFill/>
          <a:ln/>
        </p:spPr>
        <p:txBody>
          <a:bodyPr wrap="square" lIns="0" tIns="0" rIns="0" bIns="0" rtlCol="0" anchor="ctr"/>
          <a:lstStyle/>
          <a:p>
            <a:pPr marL="0" indent="0">
              <a:buNone/>
            </a:pPr>
            <a:r>
              <a:rPr lang="en-US" sz="1200" b="1" dirty="0">
                <a:solidFill>
                  <a:srgbClr val="2EC4B6"/>
                </a:solidFill>
              </a:rPr>
              <a:t>📜  Historical Origins</a:t>
            </a:r>
            <a:endParaRPr lang="en-US" sz="1200" dirty="0"/>
          </a:p>
        </p:txBody>
      </p:sp>
      <p:sp>
        <p:nvSpPr>
          <p:cNvPr id="13" name="Text 11"/>
          <p:cNvSpPr/>
          <p:nvPr/>
        </p:nvSpPr>
        <p:spPr>
          <a:xfrm>
            <a:off x="457200" y="2377440"/>
            <a:ext cx="3840480" cy="438912"/>
          </a:xfrm>
          <a:prstGeom prst="rect">
            <a:avLst/>
          </a:prstGeom>
          <a:noFill/>
          <a:ln/>
        </p:spPr>
        <p:txBody>
          <a:bodyPr wrap="square" lIns="0" tIns="0" rIns="0" bIns="0" rtlCol="0" anchor="ctr"/>
          <a:lstStyle/>
          <a:p>
            <a:pPr marL="0" indent="0">
              <a:buNone/>
            </a:pPr>
            <a:r>
              <a:rPr lang="en-US" sz="900" dirty="0">
                <a:solidFill>
                  <a:srgbClr val="1A1A2E"/>
                </a:solidFill>
              </a:rPr>
              <a:t>›  Ancient Greece: messages tattooed on shaved slaves' heads — hair regrown to conceal</a:t>
            </a:r>
            <a:endParaRPr lang="en-US" sz="900" dirty="0"/>
          </a:p>
        </p:txBody>
      </p:sp>
      <p:sp>
        <p:nvSpPr>
          <p:cNvPr id="14" name="Text 12"/>
          <p:cNvSpPr/>
          <p:nvPr/>
        </p:nvSpPr>
        <p:spPr>
          <a:xfrm>
            <a:off x="457200" y="2852928"/>
            <a:ext cx="3840480" cy="438912"/>
          </a:xfrm>
          <a:prstGeom prst="rect">
            <a:avLst/>
          </a:prstGeom>
          <a:noFill/>
          <a:ln/>
        </p:spPr>
        <p:txBody>
          <a:bodyPr wrap="square" lIns="0" tIns="0" rIns="0" bIns="0" rtlCol="0" anchor="ctr"/>
          <a:lstStyle/>
          <a:p>
            <a:pPr marL="0" indent="0">
              <a:buNone/>
            </a:pPr>
            <a:r>
              <a:rPr lang="en-US" sz="900" dirty="0">
                <a:solidFill>
                  <a:srgbClr val="1A1A2E"/>
                </a:solidFill>
              </a:rPr>
              <a:t>›  WWII: invisible ink, microdot photography (text shrunk to full-stop size)</a:t>
            </a:r>
            <a:endParaRPr lang="en-US" sz="900" dirty="0"/>
          </a:p>
        </p:txBody>
      </p:sp>
      <p:sp>
        <p:nvSpPr>
          <p:cNvPr id="15" name="Text 13"/>
          <p:cNvSpPr/>
          <p:nvPr/>
        </p:nvSpPr>
        <p:spPr>
          <a:xfrm>
            <a:off x="457200" y="3328416"/>
            <a:ext cx="3840480" cy="438912"/>
          </a:xfrm>
          <a:prstGeom prst="rect">
            <a:avLst/>
          </a:prstGeom>
          <a:noFill/>
          <a:ln/>
        </p:spPr>
        <p:txBody>
          <a:bodyPr wrap="square" lIns="0" tIns="0" rIns="0" bIns="0" rtlCol="0" anchor="ctr"/>
          <a:lstStyle/>
          <a:p>
            <a:pPr marL="0" indent="0">
              <a:buNone/>
            </a:pPr>
            <a:r>
              <a:rPr lang="en-US" sz="900" dirty="0">
                <a:solidFill>
                  <a:srgbClr val="1A1A2E"/>
                </a:solidFill>
              </a:rPr>
              <a:t>›  1990s digital era: LSB steganography tools such as Steghide and S-Tools emerged</a:t>
            </a:r>
            <a:endParaRPr lang="en-US" sz="900" dirty="0"/>
          </a:p>
        </p:txBody>
      </p:sp>
      <p:sp>
        <p:nvSpPr>
          <p:cNvPr id="16" name="Text 14"/>
          <p:cNvSpPr/>
          <p:nvPr/>
        </p:nvSpPr>
        <p:spPr>
          <a:xfrm>
            <a:off x="457200" y="3803904"/>
            <a:ext cx="3840480" cy="438912"/>
          </a:xfrm>
          <a:prstGeom prst="rect">
            <a:avLst/>
          </a:prstGeom>
          <a:noFill/>
          <a:ln/>
        </p:spPr>
        <p:txBody>
          <a:bodyPr wrap="square" lIns="0" tIns="0" rIns="0" bIns="0" rtlCol="0" anchor="ctr"/>
          <a:lstStyle/>
          <a:p>
            <a:pPr marL="0" indent="0">
              <a:buNone/>
            </a:pPr>
            <a:r>
              <a:rPr lang="en-US" sz="900" dirty="0">
                <a:solidFill>
                  <a:srgbClr val="1A1A2E"/>
                </a:solidFill>
              </a:rPr>
              <a:t>›  2001: Al-Qaeda operatives reportedly used steganography to pass communications via images posted to public websites</a:t>
            </a:r>
            <a:endParaRPr lang="en-US" sz="900" dirty="0"/>
          </a:p>
        </p:txBody>
      </p:sp>
      <p:sp>
        <p:nvSpPr>
          <p:cNvPr id="17" name="Text 15"/>
          <p:cNvSpPr/>
          <p:nvPr/>
        </p:nvSpPr>
        <p:spPr>
          <a:xfrm>
            <a:off x="457200" y="4279392"/>
            <a:ext cx="3840480" cy="438912"/>
          </a:xfrm>
          <a:prstGeom prst="rect">
            <a:avLst/>
          </a:prstGeom>
          <a:noFill/>
          <a:ln/>
        </p:spPr>
        <p:txBody>
          <a:bodyPr wrap="square" lIns="0" tIns="0" rIns="0" bIns="0" rtlCol="0" anchor="ctr"/>
          <a:lstStyle/>
          <a:p>
            <a:pPr marL="0" indent="0">
              <a:buNone/>
            </a:pPr>
            <a:r>
              <a:rPr lang="en-US" sz="900" dirty="0">
                <a:solidFill>
                  <a:srgbClr val="1A1A2E"/>
                </a:solidFill>
              </a:rPr>
              <a:t>›  Today: used in digital watermarking, covert communication, and malware C2 channels</a:t>
            </a:r>
            <a:endParaRPr lang="en-US" sz="900" dirty="0"/>
          </a:p>
        </p:txBody>
      </p:sp>
      <p:sp>
        <p:nvSpPr>
          <p:cNvPr id="18" name="Shape 16"/>
          <p:cNvSpPr/>
          <p:nvPr/>
        </p:nvSpPr>
        <p:spPr>
          <a:xfrm>
            <a:off x="4590288" y="1975104"/>
            <a:ext cx="4233672" cy="2816352"/>
          </a:xfrm>
          <a:prstGeom prst="rect">
            <a:avLst/>
          </a:prstGeom>
          <a:solidFill>
            <a:srgbClr val="EEF6FB"/>
          </a:solidFill>
          <a:ln w="12700">
            <a:solidFill>
              <a:srgbClr val="EEF6FB"/>
            </a:solidFill>
            <a:prstDash val="solid"/>
          </a:ln>
        </p:spPr>
        <p:txBody>
          <a:bodyPr/>
          <a:lstStyle/>
          <a:p>
            <a:endParaRPr lang="en-SG"/>
          </a:p>
        </p:txBody>
      </p:sp>
      <p:sp>
        <p:nvSpPr>
          <p:cNvPr id="19" name="Shape 17"/>
          <p:cNvSpPr/>
          <p:nvPr/>
        </p:nvSpPr>
        <p:spPr>
          <a:xfrm>
            <a:off x="4590288" y="1975104"/>
            <a:ext cx="4233672" cy="64008"/>
          </a:xfrm>
          <a:prstGeom prst="rect">
            <a:avLst/>
          </a:prstGeom>
          <a:solidFill>
            <a:srgbClr val="FF6B9D"/>
          </a:solidFill>
          <a:ln w="12700">
            <a:solidFill>
              <a:srgbClr val="FF6B9D"/>
            </a:solidFill>
            <a:prstDash val="solid"/>
          </a:ln>
        </p:spPr>
        <p:txBody>
          <a:bodyPr/>
          <a:lstStyle/>
          <a:p>
            <a:endParaRPr lang="en-SG"/>
          </a:p>
        </p:txBody>
      </p:sp>
      <p:sp>
        <p:nvSpPr>
          <p:cNvPr id="20" name="Text 18"/>
          <p:cNvSpPr/>
          <p:nvPr/>
        </p:nvSpPr>
        <p:spPr>
          <a:xfrm>
            <a:off x="4727448" y="2075688"/>
            <a:ext cx="3931920" cy="256032"/>
          </a:xfrm>
          <a:prstGeom prst="rect">
            <a:avLst/>
          </a:prstGeom>
          <a:noFill/>
          <a:ln/>
        </p:spPr>
        <p:txBody>
          <a:bodyPr wrap="square" lIns="0" tIns="0" rIns="0" bIns="0" rtlCol="0" anchor="ctr"/>
          <a:lstStyle/>
          <a:p>
            <a:pPr marL="0" indent="0">
              <a:buNone/>
            </a:pPr>
            <a:r>
              <a:rPr lang="en-US" sz="1200" b="1" dirty="0">
                <a:solidFill>
                  <a:srgbClr val="FF6B9D"/>
                </a:solidFill>
              </a:rPr>
              <a:t>⚠️  Modern Forensic Relevance</a:t>
            </a:r>
            <a:endParaRPr lang="en-US" sz="1200" dirty="0"/>
          </a:p>
        </p:txBody>
      </p:sp>
      <p:sp>
        <p:nvSpPr>
          <p:cNvPr id="21" name="Text 19"/>
          <p:cNvSpPr/>
          <p:nvPr/>
        </p:nvSpPr>
        <p:spPr>
          <a:xfrm>
            <a:off x="4727448" y="2377440"/>
            <a:ext cx="3931920" cy="438912"/>
          </a:xfrm>
          <a:prstGeom prst="rect">
            <a:avLst/>
          </a:prstGeom>
          <a:noFill/>
          <a:ln/>
        </p:spPr>
        <p:txBody>
          <a:bodyPr wrap="square" lIns="0" tIns="0" rIns="0" bIns="0" rtlCol="0" anchor="ctr"/>
          <a:lstStyle/>
          <a:p>
            <a:pPr marL="0" indent="0">
              <a:buNone/>
            </a:pPr>
            <a:r>
              <a:rPr lang="en-US" sz="900" dirty="0">
                <a:solidFill>
                  <a:srgbClr val="1A1A2E"/>
                </a:solidFill>
              </a:rPr>
              <a:t>›  Child exploitation cases: CSAM hidden inside innocent-looking image libraries</a:t>
            </a:r>
            <a:endParaRPr lang="en-US" sz="900" dirty="0"/>
          </a:p>
        </p:txBody>
      </p:sp>
      <p:sp>
        <p:nvSpPr>
          <p:cNvPr id="22" name="Text 20"/>
          <p:cNvSpPr/>
          <p:nvPr/>
        </p:nvSpPr>
        <p:spPr>
          <a:xfrm>
            <a:off x="4727448" y="2852928"/>
            <a:ext cx="3931920" cy="438912"/>
          </a:xfrm>
          <a:prstGeom prst="rect">
            <a:avLst/>
          </a:prstGeom>
          <a:noFill/>
          <a:ln/>
        </p:spPr>
        <p:txBody>
          <a:bodyPr wrap="square" lIns="0" tIns="0" rIns="0" bIns="0" rtlCol="0" anchor="ctr"/>
          <a:lstStyle/>
          <a:p>
            <a:pPr marL="0" indent="0">
              <a:buNone/>
            </a:pPr>
            <a:r>
              <a:rPr lang="en-US" sz="900" dirty="0">
                <a:solidFill>
                  <a:srgbClr val="1A1A2E"/>
                </a:solidFill>
              </a:rPr>
              <a:t>›  Intellectual property theft: proprietary files concealed in shared images</a:t>
            </a:r>
            <a:endParaRPr lang="en-US" sz="900" dirty="0"/>
          </a:p>
        </p:txBody>
      </p:sp>
      <p:sp>
        <p:nvSpPr>
          <p:cNvPr id="23" name="Text 21"/>
          <p:cNvSpPr/>
          <p:nvPr/>
        </p:nvSpPr>
        <p:spPr>
          <a:xfrm>
            <a:off x="4727448" y="3328416"/>
            <a:ext cx="3931920" cy="438912"/>
          </a:xfrm>
          <a:prstGeom prst="rect">
            <a:avLst/>
          </a:prstGeom>
          <a:noFill/>
          <a:ln/>
        </p:spPr>
        <p:txBody>
          <a:bodyPr wrap="square" lIns="0" tIns="0" rIns="0" bIns="0" rtlCol="0" anchor="ctr"/>
          <a:lstStyle/>
          <a:p>
            <a:pPr marL="0" indent="0">
              <a:buNone/>
            </a:pPr>
            <a:r>
              <a:rPr lang="en-US" sz="900" dirty="0">
                <a:solidFill>
                  <a:srgbClr val="1A1A2E"/>
                </a:solidFill>
              </a:rPr>
              <a:t>›  Insider threats: sensitive data exfiltrated by hiding it in social media uploads</a:t>
            </a:r>
            <a:endParaRPr lang="en-US" sz="900" dirty="0"/>
          </a:p>
        </p:txBody>
      </p:sp>
      <p:sp>
        <p:nvSpPr>
          <p:cNvPr id="24" name="Text 22"/>
          <p:cNvSpPr/>
          <p:nvPr/>
        </p:nvSpPr>
        <p:spPr>
          <a:xfrm>
            <a:off x="4727448" y="3803904"/>
            <a:ext cx="3931920" cy="438912"/>
          </a:xfrm>
          <a:prstGeom prst="rect">
            <a:avLst/>
          </a:prstGeom>
          <a:noFill/>
          <a:ln/>
        </p:spPr>
        <p:txBody>
          <a:bodyPr wrap="square" lIns="0" tIns="0" rIns="0" bIns="0" rtlCol="0" anchor="ctr"/>
          <a:lstStyle/>
          <a:p>
            <a:pPr marL="0" indent="0">
              <a:buNone/>
            </a:pPr>
            <a:r>
              <a:rPr lang="en-US" sz="900" dirty="0">
                <a:solidFill>
                  <a:srgbClr val="1A1A2E"/>
                </a:solidFill>
              </a:rPr>
              <a:t>›  Malware: command-and-control instructions encoded in image pixels (e.g. Sunburst)</a:t>
            </a:r>
            <a:endParaRPr lang="en-US" sz="900" dirty="0"/>
          </a:p>
        </p:txBody>
      </p:sp>
      <p:sp>
        <p:nvSpPr>
          <p:cNvPr id="25" name="Text 23"/>
          <p:cNvSpPr/>
          <p:nvPr/>
        </p:nvSpPr>
        <p:spPr>
          <a:xfrm>
            <a:off x="4727448" y="4279392"/>
            <a:ext cx="3931920" cy="438912"/>
          </a:xfrm>
          <a:prstGeom prst="rect">
            <a:avLst/>
          </a:prstGeom>
          <a:noFill/>
          <a:ln/>
        </p:spPr>
        <p:txBody>
          <a:bodyPr wrap="square" lIns="0" tIns="0" rIns="0" bIns="0" rtlCol="0" anchor="ctr"/>
          <a:lstStyle/>
          <a:p>
            <a:pPr marL="0" indent="0">
              <a:buNone/>
            </a:pPr>
            <a:r>
              <a:rPr lang="en-US" sz="900" dirty="0">
                <a:solidFill>
                  <a:srgbClr val="1A1A2E"/>
                </a:solidFill>
              </a:rPr>
              <a:t>›  Anti-forensics: suspects use steg to bypass keyword searches and hash databases</a:t>
            </a:r>
            <a:endParaRPr lang="en-US" sz="900" dirty="0"/>
          </a:p>
        </p:txBody>
      </p:sp>
      <p:sp>
        <p:nvSpPr>
          <p:cNvPr id="26" name="Text 24"/>
          <p:cNvSpPr/>
          <p:nvPr/>
        </p:nvSpPr>
        <p:spPr>
          <a:xfrm>
            <a:off x="320040" y="4818888"/>
            <a:ext cx="8503920" cy="82296"/>
          </a:xfrm>
          <a:prstGeom prst="rect">
            <a:avLst/>
          </a:prstGeom>
          <a:noFill/>
          <a:ln/>
        </p:spPr>
        <p:txBody>
          <a:bodyPr wrap="square" lIns="0" tIns="0" rIns="0" bIns="0" rtlCol="0" anchor="ctr"/>
          <a:lstStyle/>
          <a:p>
            <a:pPr marL="0" indent="0">
              <a:buNone/>
            </a:pPr>
            <a:r>
              <a:rPr lang="en-US" sz="820" i="1" dirty="0">
                <a:solidFill>
                  <a:srgbClr val="F1C40F"/>
                </a:solidFill>
              </a:rPr>
              <a:t>💡  Key point: steganography is not illegal in itself — the criminal offence lies in what is being concealed, not the concealment method.</a:t>
            </a:r>
            <a:endParaRPr lang="en-US" sz="8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574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965960" cy="256032"/>
          </a:xfrm>
          <a:prstGeom prst="rect">
            <a:avLst/>
          </a:prstGeom>
          <a:noFill/>
          <a:ln/>
        </p:spPr>
        <p:txBody>
          <a:bodyPr wrap="square" lIns="0" tIns="0" rIns="0" bIns="0" rtlCol="0" anchor="ctr"/>
          <a:lstStyle/>
          <a:p>
            <a:pPr marL="0" indent="0">
              <a:buNone/>
            </a:pPr>
            <a:r>
              <a:rPr lang="en-US" sz="850" b="1" dirty="0">
                <a:solidFill>
                  <a:srgbClr val="0D1B2A"/>
                </a:solidFill>
              </a:rPr>
              <a:t>SECTION 6 · STEGANOGRAPHY</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Steganography Techniques</a:t>
            </a:r>
            <a:endParaRPr lang="en-US" sz="2800" dirty="0"/>
          </a:p>
        </p:txBody>
      </p:sp>
      <p:sp>
        <p:nvSpPr>
          <p:cNvPr id="5" name="Shape 3"/>
          <p:cNvSpPr/>
          <p:nvPr/>
        </p:nvSpPr>
        <p:spPr>
          <a:xfrm>
            <a:off x="320040" y="1170432"/>
            <a:ext cx="8503920" cy="36576"/>
          </a:xfrm>
          <a:prstGeom prst="rect">
            <a:avLst/>
          </a:prstGeom>
          <a:solidFill>
            <a:srgbClr val="2EC4B6"/>
          </a:solidFill>
          <a:ln w="12700">
            <a:solidFill>
              <a:srgbClr val="2EC4B6"/>
            </a:solidFill>
            <a:prstDash val="solid"/>
          </a:ln>
        </p:spPr>
        <p:txBody>
          <a:bodyPr/>
          <a:lstStyle/>
          <a:p>
            <a:endParaRPr lang="en-SG"/>
          </a:p>
        </p:txBody>
      </p:sp>
      <p:sp>
        <p:nvSpPr>
          <p:cNvPr id="6" name="Shape 4"/>
          <p:cNvSpPr/>
          <p:nvPr/>
        </p:nvSpPr>
        <p:spPr>
          <a:xfrm>
            <a:off x="320040" y="1316736"/>
            <a:ext cx="8503920" cy="804672"/>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316736"/>
            <a:ext cx="91440" cy="804672"/>
          </a:xfrm>
          <a:prstGeom prst="rect">
            <a:avLst/>
          </a:prstGeom>
          <a:solidFill>
            <a:srgbClr val="2EC4B6"/>
          </a:solidFill>
          <a:ln w="12700">
            <a:solidFill>
              <a:srgbClr val="2EC4B6"/>
            </a:solidFill>
            <a:prstDash val="solid"/>
          </a:ln>
        </p:spPr>
        <p:txBody>
          <a:bodyPr/>
          <a:lstStyle/>
          <a:p>
            <a:endParaRPr lang="en-SG"/>
          </a:p>
        </p:txBody>
      </p:sp>
      <p:sp>
        <p:nvSpPr>
          <p:cNvPr id="8" name="Text 6"/>
          <p:cNvSpPr/>
          <p:nvPr/>
        </p:nvSpPr>
        <p:spPr>
          <a:xfrm>
            <a:off x="493776" y="1389888"/>
            <a:ext cx="2743200" cy="256032"/>
          </a:xfrm>
          <a:prstGeom prst="rect">
            <a:avLst/>
          </a:prstGeom>
          <a:noFill/>
          <a:ln/>
        </p:spPr>
        <p:txBody>
          <a:bodyPr wrap="square" lIns="0" tIns="0" rIns="0" bIns="0" rtlCol="0" anchor="ctr"/>
          <a:lstStyle/>
          <a:p>
            <a:pPr marL="0" indent="0">
              <a:buNone/>
            </a:pPr>
            <a:r>
              <a:rPr lang="en-US" sz="1150" b="1" dirty="0">
                <a:solidFill>
                  <a:srgbClr val="2EC4B6"/>
                </a:solidFill>
              </a:rPr>
              <a:t>🔲  LSB (Least Significant Bit)</a:t>
            </a:r>
            <a:endParaRPr lang="en-US" sz="1150" dirty="0"/>
          </a:p>
        </p:txBody>
      </p:sp>
      <p:sp>
        <p:nvSpPr>
          <p:cNvPr id="9" name="Text 7"/>
          <p:cNvSpPr/>
          <p:nvPr/>
        </p:nvSpPr>
        <p:spPr>
          <a:xfrm>
            <a:off x="493776" y="1682496"/>
            <a:ext cx="5486400" cy="402336"/>
          </a:xfrm>
          <a:prstGeom prst="rect">
            <a:avLst/>
          </a:prstGeom>
          <a:noFill/>
          <a:ln/>
        </p:spPr>
        <p:txBody>
          <a:bodyPr wrap="square" lIns="0" tIns="0" rIns="0" bIns="0" rtlCol="0" anchor="ctr"/>
          <a:lstStyle/>
          <a:p>
            <a:pPr marL="0" indent="0">
              <a:buNone/>
            </a:pPr>
            <a:r>
              <a:rPr lang="en-US" sz="820" dirty="0">
                <a:solidFill>
                  <a:srgbClr val="1A1A2E"/>
                </a:solidFill>
              </a:rPr>
              <a:t>The most common image steganography method. Replaces the least significant bit of each pixel's colour channel. A 24-bit RGB image has 3 bytes per pixel — by modifying 1 LSB per channel, 3 bits of secret data can be hidden in every pixel with a colour change of only 1/255 (~0.4%), invisible to the human eye.</a:t>
            </a:r>
            <a:endParaRPr lang="en-US" sz="820" dirty="0"/>
          </a:p>
        </p:txBody>
      </p:sp>
      <p:sp>
        <p:nvSpPr>
          <p:cNvPr id="10" name="Shape 8"/>
          <p:cNvSpPr/>
          <p:nvPr/>
        </p:nvSpPr>
        <p:spPr>
          <a:xfrm>
            <a:off x="6144768" y="1408176"/>
            <a:ext cx="2596896" cy="548640"/>
          </a:xfrm>
          <a:prstGeom prst="rect">
            <a:avLst/>
          </a:prstGeom>
          <a:solidFill>
            <a:srgbClr val="FFFFFF"/>
          </a:solidFill>
          <a:ln w="6350">
            <a:solidFill>
              <a:srgbClr val="2EC4B6"/>
            </a:solidFill>
            <a:prstDash val="solid"/>
          </a:ln>
        </p:spPr>
        <p:txBody>
          <a:bodyPr/>
          <a:lstStyle/>
          <a:p>
            <a:endParaRPr lang="en-SG"/>
          </a:p>
        </p:txBody>
      </p:sp>
      <p:sp>
        <p:nvSpPr>
          <p:cNvPr id="11" name="Text 9"/>
          <p:cNvSpPr/>
          <p:nvPr/>
        </p:nvSpPr>
        <p:spPr>
          <a:xfrm>
            <a:off x="6236208" y="1426464"/>
            <a:ext cx="2414016" cy="182880"/>
          </a:xfrm>
          <a:prstGeom prst="rect">
            <a:avLst/>
          </a:prstGeom>
          <a:noFill/>
          <a:ln/>
        </p:spPr>
        <p:txBody>
          <a:bodyPr wrap="square" lIns="0" tIns="0" rIns="0" bIns="0" rtlCol="0" anchor="ctr"/>
          <a:lstStyle/>
          <a:p>
            <a:pPr marL="0" indent="0">
              <a:buNone/>
            </a:pPr>
            <a:r>
              <a:rPr lang="en-US" sz="750" b="1" dirty="0">
                <a:solidFill>
                  <a:srgbClr val="2EC4B6"/>
                </a:solidFill>
              </a:rPr>
              <a:t>Detection:</a:t>
            </a:r>
            <a:endParaRPr lang="en-US" sz="750" dirty="0"/>
          </a:p>
        </p:txBody>
      </p:sp>
      <p:sp>
        <p:nvSpPr>
          <p:cNvPr id="12" name="Text 10"/>
          <p:cNvSpPr/>
          <p:nvPr/>
        </p:nvSpPr>
        <p:spPr>
          <a:xfrm>
            <a:off x="6236208" y="1609344"/>
            <a:ext cx="2414016" cy="310896"/>
          </a:xfrm>
          <a:prstGeom prst="rect">
            <a:avLst/>
          </a:prstGeom>
          <a:noFill/>
          <a:ln/>
        </p:spPr>
        <p:txBody>
          <a:bodyPr wrap="square" lIns="0" tIns="0" rIns="0" bIns="0" rtlCol="0" anchor="ctr"/>
          <a:lstStyle/>
          <a:p>
            <a:pPr marL="0" indent="0">
              <a:buNone/>
            </a:pPr>
            <a:r>
              <a:rPr lang="en-US" sz="750" dirty="0">
                <a:solidFill>
                  <a:srgbClr val="8899AA"/>
                </a:solidFill>
              </a:rPr>
              <a:t>Statistical analysis of pixel LSB distribution; chi-squared test</a:t>
            </a:r>
            <a:endParaRPr lang="en-US" sz="750" dirty="0"/>
          </a:p>
        </p:txBody>
      </p:sp>
      <p:sp>
        <p:nvSpPr>
          <p:cNvPr id="13" name="Shape 11"/>
          <p:cNvSpPr/>
          <p:nvPr/>
        </p:nvSpPr>
        <p:spPr>
          <a:xfrm>
            <a:off x="320040" y="2194560"/>
            <a:ext cx="8503920" cy="804672"/>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320040" y="2194560"/>
            <a:ext cx="91440" cy="804672"/>
          </a:xfrm>
          <a:prstGeom prst="rect">
            <a:avLst/>
          </a:prstGeom>
          <a:solidFill>
            <a:srgbClr val="F4A261"/>
          </a:solidFill>
          <a:ln w="12700">
            <a:solidFill>
              <a:srgbClr val="F4A261"/>
            </a:solidFill>
            <a:prstDash val="solid"/>
          </a:ln>
        </p:spPr>
        <p:txBody>
          <a:bodyPr/>
          <a:lstStyle/>
          <a:p>
            <a:endParaRPr lang="en-SG"/>
          </a:p>
        </p:txBody>
      </p:sp>
      <p:sp>
        <p:nvSpPr>
          <p:cNvPr id="15" name="Text 13"/>
          <p:cNvSpPr/>
          <p:nvPr/>
        </p:nvSpPr>
        <p:spPr>
          <a:xfrm>
            <a:off x="493776" y="2267712"/>
            <a:ext cx="2743200" cy="256032"/>
          </a:xfrm>
          <a:prstGeom prst="rect">
            <a:avLst/>
          </a:prstGeom>
          <a:noFill/>
          <a:ln/>
        </p:spPr>
        <p:txBody>
          <a:bodyPr wrap="square" lIns="0" tIns="0" rIns="0" bIns="0" rtlCol="0" anchor="ctr"/>
          <a:lstStyle/>
          <a:p>
            <a:pPr marL="0" indent="0">
              <a:buNone/>
            </a:pPr>
            <a:r>
              <a:rPr lang="en-US" sz="1150" b="1" dirty="0">
                <a:solidFill>
                  <a:srgbClr val="F4A261"/>
                </a:solidFill>
              </a:rPr>
              <a:t>🗂️  Appended Data / EOF Injection</a:t>
            </a:r>
            <a:endParaRPr lang="en-US" sz="1150" dirty="0"/>
          </a:p>
        </p:txBody>
      </p:sp>
      <p:sp>
        <p:nvSpPr>
          <p:cNvPr id="16" name="Text 14"/>
          <p:cNvSpPr/>
          <p:nvPr/>
        </p:nvSpPr>
        <p:spPr>
          <a:xfrm>
            <a:off x="493776" y="2560320"/>
            <a:ext cx="5486400" cy="402336"/>
          </a:xfrm>
          <a:prstGeom prst="rect">
            <a:avLst/>
          </a:prstGeom>
          <a:noFill/>
          <a:ln/>
        </p:spPr>
        <p:txBody>
          <a:bodyPr wrap="square" lIns="0" tIns="0" rIns="0" bIns="0" rtlCol="0" anchor="ctr"/>
          <a:lstStyle/>
          <a:p>
            <a:pPr marL="0" indent="0">
              <a:buNone/>
            </a:pPr>
            <a:r>
              <a:rPr lang="en-US" sz="820" dirty="0">
                <a:solidFill>
                  <a:srgbClr val="1A1A2E"/>
                </a:solidFill>
              </a:rPr>
              <a:t>Secret data is appended after the image's EOF (End of Image) marker. A JPEG ends at FF D9 — any bytes after this are ignored by image viewers but present on disk. Simple to detect with a hex editor: examine bytes after the footer marker. Some tools embed entire zip archives this way.</a:t>
            </a:r>
            <a:endParaRPr lang="en-US" sz="820" dirty="0"/>
          </a:p>
        </p:txBody>
      </p:sp>
      <p:sp>
        <p:nvSpPr>
          <p:cNvPr id="17" name="Shape 15"/>
          <p:cNvSpPr/>
          <p:nvPr/>
        </p:nvSpPr>
        <p:spPr>
          <a:xfrm>
            <a:off x="6144768" y="2286000"/>
            <a:ext cx="2596896" cy="548640"/>
          </a:xfrm>
          <a:prstGeom prst="rect">
            <a:avLst/>
          </a:prstGeom>
          <a:solidFill>
            <a:srgbClr val="FFFFFF"/>
          </a:solidFill>
          <a:ln w="6350">
            <a:solidFill>
              <a:srgbClr val="F4A261"/>
            </a:solidFill>
            <a:prstDash val="solid"/>
          </a:ln>
        </p:spPr>
        <p:txBody>
          <a:bodyPr/>
          <a:lstStyle/>
          <a:p>
            <a:endParaRPr lang="en-SG"/>
          </a:p>
        </p:txBody>
      </p:sp>
      <p:sp>
        <p:nvSpPr>
          <p:cNvPr id="18" name="Text 16"/>
          <p:cNvSpPr/>
          <p:nvPr/>
        </p:nvSpPr>
        <p:spPr>
          <a:xfrm>
            <a:off x="6236208" y="2304288"/>
            <a:ext cx="2414016" cy="182880"/>
          </a:xfrm>
          <a:prstGeom prst="rect">
            <a:avLst/>
          </a:prstGeom>
          <a:noFill/>
          <a:ln/>
        </p:spPr>
        <p:txBody>
          <a:bodyPr wrap="square" lIns="0" tIns="0" rIns="0" bIns="0" rtlCol="0" anchor="ctr"/>
          <a:lstStyle/>
          <a:p>
            <a:pPr marL="0" indent="0">
              <a:buNone/>
            </a:pPr>
            <a:r>
              <a:rPr lang="en-US" sz="750" b="1" dirty="0">
                <a:solidFill>
                  <a:srgbClr val="F4A261"/>
                </a:solidFill>
              </a:rPr>
              <a:t>Detection:</a:t>
            </a:r>
            <a:endParaRPr lang="en-US" sz="750" dirty="0"/>
          </a:p>
        </p:txBody>
      </p:sp>
      <p:sp>
        <p:nvSpPr>
          <p:cNvPr id="19" name="Text 17"/>
          <p:cNvSpPr/>
          <p:nvPr/>
        </p:nvSpPr>
        <p:spPr>
          <a:xfrm>
            <a:off x="6236208" y="2487168"/>
            <a:ext cx="2414016" cy="310896"/>
          </a:xfrm>
          <a:prstGeom prst="rect">
            <a:avLst/>
          </a:prstGeom>
          <a:noFill/>
          <a:ln/>
        </p:spPr>
        <p:txBody>
          <a:bodyPr wrap="square" lIns="0" tIns="0" rIns="0" bIns="0" rtlCol="0" anchor="ctr"/>
          <a:lstStyle/>
          <a:p>
            <a:pPr marL="0" indent="0">
              <a:buNone/>
            </a:pPr>
            <a:r>
              <a:rPr lang="en-US" sz="750" dirty="0">
                <a:solidFill>
                  <a:srgbClr val="8899AA"/>
                </a:solidFill>
              </a:rPr>
              <a:t>Hex editor — inspect bytes after FF D9 (JPEG) or IEND (PNG)</a:t>
            </a:r>
            <a:endParaRPr lang="en-US" sz="750" dirty="0"/>
          </a:p>
        </p:txBody>
      </p:sp>
      <p:sp>
        <p:nvSpPr>
          <p:cNvPr id="20" name="Shape 18"/>
          <p:cNvSpPr/>
          <p:nvPr/>
        </p:nvSpPr>
        <p:spPr>
          <a:xfrm>
            <a:off x="320040" y="3072384"/>
            <a:ext cx="8503920" cy="804672"/>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320040" y="3072384"/>
            <a:ext cx="91440" cy="804672"/>
          </a:xfrm>
          <a:prstGeom prst="rect">
            <a:avLst/>
          </a:prstGeom>
          <a:solidFill>
            <a:srgbClr val="A855F7"/>
          </a:solidFill>
          <a:ln w="12700">
            <a:solidFill>
              <a:srgbClr val="A855F7"/>
            </a:solidFill>
            <a:prstDash val="solid"/>
          </a:ln>
        </p:spPr>
        <p:txBody>
          <a:bodyPr/>
          <a:lstStyle/>
          <a:p>
            <a:endParaRPr lang="en-SG"/>
          </a:p>
        </p:txBody>
      </p:sp>
      <p:sp>
        <p:nvSpPr>
          <p:cNvPr id="22" name="Text 20"/>
          <p:cNvSpPr/>
          <p:nvPr/>
        </p:nvSpPr>
        <p:spPr>
          <a:xfrm>
            <a:off x="493776" y="3145536"/>
            <a:ext cx="2743200" cy="256032"/>
          </a:xfrm>
          <a:prstGeom prst="rect">
            <a:avLst/>
          </a:prstGeom>
          <a:noFill/>
          <a:ln/>
        </p:spPr>
        <p:txBody>
          <a:bodyPr wrap="square" lIns="0" tIns="0" rIns="0" bIns="0" rtlCol="0" anchor="ctr"/>
          <a:lstStyle/>
          <a:p>
            <a:pPr marL="0" indent="0">
              <a:buNone/>
            </a:pPr>
            <a:r>
              <a:rPr lang="en-US" sz="1150" b="1" dirty="0">
                <a:solidFill>
                  <a:srgbClr val="A855F7"/>
                </a:solidFill>
              </a:rPr>
              <a:t>📄  Metadata Embedding</a:t>
            </a:r>
            <a:endParaRPr lang="en-US" sz="1150" dirty="0"/>
          </a:p>
        </p:txBody>
      </p:sp>
      <p:sp>
        <p:nvSpPr>
          <p:cNvPr id="23" name="Text 21"/>
          <p:cNvSpPr/>
          <p:nvPr/>
        </p:nvSpPr>
        <p:spPr>
          <a:xfrm>
            <a:off x="493776" y="3438144"/>
            <a:ext cx="5486400" cy="402336"/>
          </a:xfrm>
          <a:prstGeom prst="rect">
            <a:avLst/>
          </a:prstGeom>
          <a:noFill/>
          <a:ln/>
        </p:spPr>
        <p:txBody>
          <a:bodyPr wrap="square" lIns="0" tIns="0" rIns="0" bIns="0" rtlCol="0" anchor="ctr"/>
          <a:lstStyle/>
          <a:p>
            <a:pPr marL="0" indent="0">
              <a:buNone/>
            </a:pPr>
            <a:r>
              <a:rPr lang="en-US" sz="820" dirty="0">
                <a:solidFill>
                  <a:srgbClr val="1A1A2E"/>
                </a:solidFill>
              </a:rPr>
              <a:t>Secret messages hidden in EXIF comment fields, IPTC description, XMP custom tags, or as fake/extended metadata. The image displays and behaves normally — the data sits in tag fields that most viewers don't show. Example: a 500KB payload in the 'UserComment' EXIF tag.</a:t>
            </a:r>
            <a:endParaRPr lang="en-US" sz="820" dirty="0"/>
          </a:p>
        </p:txBody>
      </p:sp>
      <p:sp>
        <p:nvSpPr>
          <p:cNvPr id="24" name="Shape 22"/>
          <p:cNvSpPr/>
          <p:nvPr/>
        </p:nvSpPr>
        <p:spPr>
          <a:xfrm>
            <a:off x="6144768" y="3163824"/>
            <a:ext cx="2596896" cy="548640"/>
          </a:xfrm>
          <a:prstGeom prst="rect">
            <a:avLst/>
          </a:prstGeom>
          <a:solidFill>
            <a:srgbClr val="FFFFFF"/>
          </a:solidFill>
          <a:ln w="6350">
            <a:solidFill>
              <a:srgbClr val="A855F7"/>
            </a:solidFill>
            <a:prstDash val="solid"/>
          </a:ln>
        </p:spPr>
        <p:txBody>
          <a:bodyPr/>
          <a:lstStyle/>
          <a:p>
            <a:endParaRPr lang="en-SG"/>
          </a:p>
        </p:txBody>
      </p:sp>
      <p:sp>
        <p:nvSpPr>
          <p:cNvPr id="25" name="Text 23"/>
          <p:cNvSpPr/>
          <p:nvPr/>
        </p:nvSpPr>
        <p:spPr>
          <a:xfrm>
            <a:off x="6236208" y="3182112"/>
            <a:ext cx="2414016" cy="182880"/>
          </a:xfrm>
          <a:prstGeom prst="rect">
            <a:avLst/>
          </a:prstGeom>
          <a:noFill/>
          <a:ln/>
        </p:spPr>
        <p:txBody>
          <a:bodyPr wrap="square" lIns="0" tIns="0" rIns="0" bIns="0" rtlCol="0" anchor="ctr"/>
          <a:lstStyle/>
          <a:p>
            <a:pPr marL="0" indent="0">
              <a:buNone/>
            </a:pPr>
            <a:r>
              <a:rPr lang="en-US" sz="750" b="1" dirty="0">
                <a:solidFill>
                  <a:srgbClr val="A855F7"/>
                </a:solidFill>
              </a:rPr>
              <a:t>Detection:</a:t>
            </a:r>
            <a:endParaRPr lang="en-US" sz="750" dirty="0"/>
          </a:p>
        </p:txBody>
      </p:sp>
      <p:sp>
        <p:nvSpPr>
          <p:cNvPr id="26" name="Text 24"/>
          <p:cNvSpPr/>
          <p:nvPr/>
        </p:nvSpPr>
        <p:spPr>
          <a:xfrm>
            <a:off x="6236208" y="3364992"/>
            <a:ext cx="2414016" cy="310896"/>
          </a:xfrm>
          <a:prstGeom prst="rect">
            <a:avLst/>
          </a:prstGeom>
          <a:noFill/>
          <a:ln/>
        </p:spPr>
        <p:txBody>
          <a:bodyPr wrap="square" lIns="0" tIns="0" rIns="0" bIns="0" rtlCol="0" anchor="ctr"/>
          <a:lstStyle/>
          <a:p>
            <a:pPr marL="0" indent="0">
              <a:buNone/>
            </a:pPr>
            <a:r>
              <a:rPr lang="en-US" sz="750" dirty="0">
                <a:solidFill>
                  <a:srgbClr val="8899AA"/>
                </a:solidFill>
              </a:rPr>
              <a:t>ExifTool — extract all metadata fields including raw comment tags</a:t>
            </a:r>
            <a:endParaRPr lang="en-US" sz="750" dirty="0"/>
          </a:p>
        </p:txBody>
      </p:sp>
      <p:sp>
        <p:nvSpPr>
          <p:cNvPr id="27" name="Shape 25"/>
          <p:cNvSpPr/>
          <p:nvPr/>
        </p:nvSpPr>
        <p:spPr>
          <a:xfrm>
            <a:off x="320040" y="3950208"/>
            <a:ext cx="8503920" cy="804672"/>
          </a:xfrm>
          <a:prstGeom prst="rect">
            <a:avLst/>
          </a:prstGeom>
          <a:solidFill>
            <a:srgbClr val="EEF6FB"/>
          </a:solidFill>
          <a:ln w="12700">
            <a:solidFill>
              <a:srgbClr val="EEF6FB"/>
            </a:solidFill>
            <a:prstDash val="solid"/>
          </a:ln>
        </p:spPr>
        <p:txBody>
          <a:bodyPr/>
          <a:lstStyle/>
          <a:p>
            <a:endParaRPr lang="en-SG"/>
          </a:p>
        </p:txBody>
      </p:sp>
      <p:sp>
        <p:nvSpPr>
          <p:cNvPr id="28" name="Shape 26"/>
          <p:cNvSpPr/>
          <p:nvPr/>
        </p:nvSpPr>
        <p:spPr>
          <a:xfrm>
            <a:off x="320040" y="3950208"/>
            <a:ext cx="91440" cy="804672"/>
          </a:xfrm>
          <a:prstGeom prst="rect">
            <a:avLst/>
          </a:prstGeom>
          <a:solidFill>
            <a:srgbClr val="2ECC71"/>
          </a:solidFill>
          <a:ln w="12700">
            <a:solidFill>
              <a:srgbClr val="2ECC71"/>
            </a:solidFill>
            <a:prstDash val="solid"/>
          </a:ln>
        </p:spPr>
        <p:txBody>
          <a:bodyPr/>
          <a:lstStyle/>
          <a:p>
            <a:endParaRPr lang="en-SG"/>
          </a:p>
        </p:txBody>
      </p:sp>
      <p:sp>
        <p:nvSpPr>
          <p:cNvPr id="29" name="Text 27"/>
          <p:cNvSpPr/>
          <p:nvPr/>
        </p:nvSpPr>
        <p:spPr>
          <a:xfrm>
            <a:off x="493776" y="4023360"/>
            <a:ext cx="2743200" cy="256032"/>
          </a:xfrm>
          <a:prstGeom prst="rect">
            <a:avLst/>
          </a:prstGeom>
          <a:noFill/>
          <a:ln/>
        </p:spPr>
        <p:txBody>
          <a:bodyPr wrap="square" lIns="0" tIns="0" rIns="0" bIns="0" rtlCol="0" anchor="ctr"/>
          <a:lstStyle/>
          <a:p>
            <a:pPr marL="0" indent="0">
              <a:buNone/>
            </a:pPr>
            <a:r>
              <a:rPr lang="en-US" sz="1150" b="1" dirty="0">
                <a:solidFill>
                  <a:srgbClr val="2ECC71"/>
                </a:solidFill>
              </a:rPr>
              <a:t>🎨  Palette / Colour Table Manipulation</a:t>
            </a:r>
            <a:endParaRPr lang="en-US" sz="1150" dirty="0"/>
          </a:p>
        </p:txBody>
      </p:sp>
      <p:sp>
        <p:nvSpPr>
          <p:cNvPr id="30" name="Text 28"/>
          <p:cNvSpPr/>
          <p:nvPr/>
        </p:nvSpPr>
        <p:spPr>
          <a:xfrm>
            <a:off x="493776" y="4315968"/>
            <a:ext cx="5486400" cy="402336"/>
          </a:xfrm>
          <a:prstGeom prst="rect">
            <a:avLst/>
          </a:prstGeom>
          <a:noFill/>
          <a:ln/>
        </p:spPr>
        <p:txBody>
          <a:bodyPr wrap="square" lIns="0" tIns="0" rIns="0" bIns="0" rtlCol="0" anchor="ctr"/>
          <a:lstStyle/>
          <a:p>
            <a:pPr marL="0" indent="0">
              <a:buNone/>
            </a:pPr>
            <a:r>
              <a:rPr lang="en-US" sz="820" dirty="0">
                <a:solidFill>
                  <a:srgbClr val="1A1A2E"/>
                </a:solidFill>
              </a:rPr>
              <a:t>In indexed colour images (GIF, 8-bit PNG), colours are defined in a palette table. Reordering palette entries that produce visually identical images (same display colours, different entry order) can encode data in the order of the palette entries — invisible to viewers.</a:t>
            </a:r>
            <a:endParaRPr lang="en-US" sz="820" dirty="0"/>
          </a:p>
        </p:txBody>
      </p:sp>
      <p:sp>
        <p:nvSpPr>
          <p:cNvPr id="31" name="Shape 29"/>
          <p:cNvSpPr/>
          <p:nvPr/>
        </p:nvSpPr>
        <p:spPr>
          <a:xfrm>
            <a:off x="6144768" y="4041648"/>
            <a:ext cx="2596896" cy="548640"/>
          </a:xfrm>
          <a:prstGeom prst="rect">
            <a:avLst/>
          </a:prstGeom>
          <a:solidFill>
            <a:srgbClr val="FFFFFF"/>
          </a:solidFill>
          <a:ln w="6350">
            <a:solidFill>
              <a:srgbClr val="2ECC71"/>
            </a:solidFill>
            <a:prstDash val="solid"/>
          </a:ln>
        </p:spPr>
        <p:txBody>
          <a:bodyPr/>
          <a:lstStyle/>
          <a:p>
            <a:endParaRPr lang="en-SG"/>
          </a:p>
        </p:txBody>
      </p:sp>
      <p:sp>
        <p:nvSpPr>
          <p:cNvPr id="32" name="Text 30"/>
          <p:cNvSpPr/>
          <p:nvPr/>
        </p:nvSpPr>
        <p:spPr>
          <a:xfrm>
            <a:off x="6236208" y="4059936"/>
            <a:ext cx="2414016" cy="182880"/>
          </a:xfrm>
          <a:prstGeom prst="rect">
            <a:avLst/>
          </a:prstGeom>
          <a:noFill/>
          <a:ln/>
        </p:spPr>
        <p:txBody>
          <a:bodyPr wrap="square" lIns="0" tIns="0" rIns="0" bIns="0" rtlCol="0" anchor="ctr"/>
          <a:lstStyle/>
          <a:p>
            <a:pPr marL="0" indent="0">
              <a:buNone/>
            </a:pPr>
            <a:r>
              <a:rPr lang="en-US" sz="750" b="1" dirty="0">
                <a:solidFill>
                  <a:srgbClr val="2ECC71"/>
                </a:solidFill>
              </a:rPr>
              <a:t>Detection:</a:t>
            </a:r>
            <a:endParaRPr lang="en-US" sz="750" dirty="0"/>
          </a:p>
        </p:txBody>
      </p:sp>
      <p:sp>
        <p:nvSpPr>
          <p:cNvPr id="33" name="Text 31"/>
          <p:cNvSpPr/>
          <p:nvPr/>
        </p:nvSpPr>
        <p:spPr>
          <a:xfrm>
            <a:off x="6236208" y="4242816"/>
            <a:ext cx="2414016" cy="310896"/>
          </a:xfrm>
          <a:prstGeom prst="rect">
            <a:avLst/>
          </a:prstGeom>
          <a:noFill/>
          <a:ln/>
        </p:spPr>
        <p:txBody>
          <a:bodyPr wrap="square" lIns="0" tIns="0" rIns="0" bIns="0" rtlCol="0" anchor="ctr"/>
          <a:lstStyle/>
          <a:p>
            <a:pPr marL="0" indent="0">
              <a:buNone/>
            </a:pPr>
            <a:r>
              <a:rPr lang="en-US" sz="750" dirty="0">
                <a:solidFill>
                  <a:srgbClr val="8899AA"/>
                </a:solidFill>
              </a:rPr>
              <a:t>Palette analysis; compare palette entry order between suspect and reference</a:t>
            </a:r>
            <a:endParaRPr lang="en-US" sz="750" dirty="0"/>
          </a:p>
        </p:txBody>
      </p:sp>
      <p:sp>
        <p:nvSpPr>
          <p:cNvPr id="34" name="Text 32"/>
          <p:cNvSpPr/>
          <p:nvPr/>
        </p:nvSpPr>
        <p:spPr>
          <a:xfrm>
            <a:off x="320040" y="4809744"/>
            <a:ext cx="8503920" cy="91440"/>
          </a:xfrm>
          <a:prstGeom prst="rect">
            <a:avLst/>
          </a:prstGeom>
          <a:noFill/>
          <a:ln/>
        </p:spPr>
        <p:txBody>
          <a:bodyPr wrap="square" lIns="0" tIns="0" rIns="0" bIns="0" rtlCol="0" anchor="ctr"/>
          <a:lstStyle/>
          <a:p>
            <a:pPr marL="0" indent="0">
              <a:buNone/>
            </a:pPr>
            <a:r>
              <a:rPr lang="en-US" sz="800" i="1" dirty="0">
                <a:solidFill>
                  <a:srgbClr val="8899AA"/>
                </a:solidFill>
              </a:rPr>
              <a:t>HTML steganography: content hidden in whitespace, HTML comments, or invisible zero-width characters — also relevant when investigating web-based communications.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0574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965960" cy="256032"/>
          </a:xfrm>
          <a:prstGeom prst="rect">
            <a:avLst/>
          </a:prstGeom>
          <a:noFill/>
          <a:ln/>
        </p:spPr>
        <p:txBody>
          <a:bodyPr wrap="square" lIns="0" tIns="0" rIns="0" bIns="0" rtlCol="0" anchor="ctr"/>
          <a:lstStyle/>
          <a:p>
            <a:pPr marL="0" indent="0">
              <a:buNone/>
            </a:pPr>
            <a:r>
              <a:rPr lang="en-US" sz="850" b="1" dirty="0">
                <a:solidFill>
                  <a:srgbClr val="0D1B2A"/>
                </a:solidFill>
              </a:rPr>
              <a:t>SECTION 6 · STEGANOGRAPHY</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LSB Steganography: Bit-Level Walkthrough</a:t>
            </a:r>
            <a:endParaRPr lang="en-US" sz="2800" dirty="0"/>
          </a:p>
        </p:txBody>
      </p:sp>
      <p:sp>
        <p:nvSpPr>
          <p:cNvPr id="5" name="Shape 3"/>
          <p:cNvSpPr/>
          <p:nvPr/>
        </p:nvSpPr>
        <p:spPr>
          <a:xfrm>
            <a:off x="320040" y="1170432"/>
            <a:ext cx="8503920" cy="36576"/>
          </a:xfrm>
          <a:prstGeom prst="rect">
            <a:avLst/>
          </a:prstGeom>
          <a:solidFill>
            <a:srgbClr val="2EC4B6"/>
          </a:solidFill>
          <a:ln w="12700">
            <a:solidFill>
              <a:srgbClr val="2EC4B6"/>
            </a:solidFill>
            <a:prstDash val="solid"/>
          </a:ln>
        </p:spPr>
        <p:txBody>
          <a:bodyPr/>
          <a:lstStyle/>
          <a:p>
            <a:endParaRPr lang="en-SG"/>
          </a:p>
        </p:txBody>
      </p:sp>
      <p:sp>
        <p:nvSpPr>
          <p:cNvPr id="6" name="Shape 4"/>
          <p:cNvSpPr/>
          <p:nvPr/>
        </p:nvSpPr>
        <p:spPr>
          <a:xfrm>
            <a:off x="320040" y="1261872"/>
            <a:ext cx="8503920" cy="402336"/>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402336"/>
          </a:xfrm>
          <a:prstGeom prst="rect">
            <a:avLst/>
          </a:prstGeom>
          <a:solidFill>
            <a:srgbClr val="2EC4B6"/>
          </a:solidFill>
          <a:ln w="12700">
            <a:solidFill>
              <a:srgbClr val="2EC4B6"/>
            </a:solidFill>
            <a:prstDash val="solid"/>
          </a:ln>
        </p:spPr>
        <p:txBody>
          <a:bodyPr/>
          <a:lstStyle/>
          <a:p>
            <a:endParaRPr lang="en-SG"/>
          </a:p>
        </p:txBody>
      </p:sp>
      <p:sp>
        <p:nvSpPr>
          <p:cNvPr id="8" name="Text 6"/>
          <p:cNvSpPr/>
          <p:nvPr/>
        </p:nvSpPr>
        <p:spPr>
          <a:xfrm>
            <a:off x="493776" y="1298448"/>
            <a:ext cx="8229600" cy="329184"/>
          </a:xfrm>
          <a:prstGeom prst="rect">
            <a:avLst/>
          </a:prstGeom>
          <a:noFill/>
          <a:ln/>
        </p:spPr>
        <p:txBody>
          <a:bodyPr wrap="square" lIns="0" tIns="0" rIns="0" bIns="0" rtlCol="0" anchor="ctr"/>
          <a:lstStyle/>
          <a:p>
            <a:pPr marL="0" indent="0">
              <a:buNone/>
            </a:pPr>
            <a:r>
              <a:rPr lang="en-US" sz="900" dirty="0">
                <a:solidFill>
                  <a:srgbClr val="1A1A2E"/>
                </a:solidFill>
              </a:rPr>
              <a:t>Each pixel in a 24-bit image has three 8-bit colour channels: Red, Green, Blue. If we change only the last (least significant) bit of each channel, the colour changes by at most 1 unit out of 255 — an imperceptible difference. By doing this for every pixel, we can hide 3 bits of secret data per pixel.</a:t>
            </a:r>
            <a:endParaRPr lang="en-US" sz="900" dirty="0"/>
          </a:p>
        </p:txBody>
      </p:sp>
      <p:sp>
        <p:nvSpPr>
          <p:cNvPr id="9" name="Text 7"/>
          <p:cNvSpPr/>
          <p:nvPr/>
        </p:nvSpPr>
        <p:spPr>
          <a:xfrm>
            <a:off x="320040" y="1755648"/>
            <a:ext cx="8503920" cy="256032"/>
          </a:xfrm>
          <a:prstGeom prst="rect">
            <a:avLst/>
          </a:prstGeom>
          <a:noFill/>
          <a:ln/>
        </p:spPr>
        <p:txBody>
          <a:bodyPr wrap="square" lIns="0" tIns="0" rIns="0" bIns="0" rtlCol="0" anchor="ctr"/>
          <a:lstStyle/>
          <a:p>
            <a:pPr marL="0" indent="0">
              <a:buNone/>
            </a:pPr>
            <a:r>
              <a:rPr lang="en-US" sz="1100" b="1" dirty="0">
                <a:solidFill>
                  <a:srgbClr val="1A1A2E"/>
                </a:solidFill>
              </a:rPr>
              <a:t>Worked Example — Embedding the letter 'A' (ASCII 65 = binary 01000001)</a:t>
            </a:r>
            <a:endParaRPr lang="en-US" sz="1100" dirty="0"/>
          </a:p>
        </p:txBody>
      </p:sp>
      <p:sp>
        <p:nvSpPr>
          <p:cNvPr id="10" name="Shape 8"/>
          <p:cNvSpPr/>
          <p:nvPr/>
        </p:nvSpPr>
        <p:spPr>
          <a:xfrm>
            <a:off x="320040" y="2048256"/>
            <a:ext cx="8503920" cy="256032"/>
          </a:xfrm>
          <a:prstGeom prst="rect">
            <a:avLst/>
          </a:prstGeom>
          <a:solidFill>
            <a:srgbClr val="00B4D8"/>
          </a:solidFill>
          <a:ln w="12700">
            <a:solidFill>
              <a:srgbClr val="00B4D8"/>
            </a:solidFill>
            <a:prstDash val="solid"/>
          </a:ln>
        </p:spPr>
        <p:txBody>
          <a:bodyPr/>
          <a:lstStyle/>
          <a:p>
            <a:endParaRPr lang="en-SG"/>
          </a:p>
        </p:txBody>
      </p:sp>
      <p:sp>
        <p:nvSpPr>
          <p:cNvPr id="11" name="Text 9"/>
          <p:cNvSpPr/>
          <p:nvPr/>
        </p:nvSpPr>
        <p:spPr>
          <a:xfrm>
            <a:off x="356616" y="2048256"/>
            <a:ext cx="1426464" cy="256032"/>
          </a:xfrm>
          <a:prstGeom prst="rect">
            <a:avLst/>
          </a:prstGeom>
          <a:noFill/>
          <a:ln/>
        </p:spPr>
        <p:txBody>
          <a:bodyPr wrap="square" lIns="0" tIns="0" rIns="0" bIns="0" rtlCol="0" anchor="ctr"/>
          <a:lstStyle/>
          <a:p>
            <a:pPr marL="0" indent="0">
              <a:buNone/>
            </a:pPr>
            <a:r>
              <a:rPr lang="en-US" sz="850" b="1" dirty="0">
                <a:solidFill>
                  <a:srgbClr val="0D1B2A"/>
                </a:solidFill>
              </a:rPr>
              <a:t>Channel</a:t>
            </a:r>
            <a:endParaRPr lang="en-US" sz="850" dirty="0"/>
          </a:p>
        </p:txBody>
      </p:sp>
      <p:sp>
        <p:nvSpPr>
          <p:cNvPr id="12" name="Text 10"/>
          <p:cNvSpPr/>
          <p:nvPr/>
        </p:nvSpPr>
        <p:spPr>
          <a:xfrm>
            <a:off x="1819656" y="2048256"/>
            <a:ext cx="1426464" cy="256032"/>
          </a:xfrm>
          <a:prstGeom prst="rect">
            <a:avLst/>
          </a:prstGeom>
          <a:noFill/>
          <a:ln/>
        </p:spPr>
        <p:txBody>
          <a:bodyPr wrap="square" lIns="0" tIns="0" rIns="0" bIns="0" rtlCol="0" anchor="ctr"/>
          <a:lstStyle/>
          <a:p>
            <a:pPr marL="0" indent="0">
              <a:buNone/>
            </a:pPr>
            <a:r>
              <a:rPr lang="en-US" sz="850" b="1" dirty="0">
                <a:solidFill>
                  <a:srgbClr val="0D1B2A"/>
                </a:solidFill>
              </a:rPr>
              <a:t>Original byte</a:t>
            </a:r>
            <a:endParaRPr lang="en-US" sz="850" dirty="0"/>
          </a:p>
        </p:txBody>
      </p:sp>
      <p:sp>
        <p:nvSpPr>
          <p:cNvPr id="13" name="Text 11"/>
          <p:cNvSpPr/>
          <p:nvPr/>
        </p:nvSpPr>
        <p:spPr>
          <a:xfrm>
            <a:off x="3282696" y="2048256"/>
            <a:ext cx="512064" cy="256032"/>
          </a:xfrm>
          <a:prstGeom prst="rect">
            <a:avLst/>
          </a:prstGeom>
          <a:noFill/>
          <a:ln/>
        </p:spPr>
        <p:txBody>
          <a:bodyPr wrap="square" lIns="0" tIns="0" rIns="0" bIns="0" rtlCol="0" anchor="ctr"/>
          <a:lstStyle/>
          <a:p>
            <a:pPr marL="0" indent="0">
              <a:buNone/>
            </a:pPr>
            <a:r>
              <a:rPr lang="en-US" sz="850" b="1" dirty="0">
                <a:solidFill>
                  <a:srgbClr val="0D1B2A"/>
                </a:solidFill>
              </a:rPr>
              <a:t>Secret bit</a:t>
            </a:r>
            <a:endParaRPr lang="en-US" sz="850" dirty="0"/>
          </a:p>
        </p:txBody>
      </p:sp>
      <p:sp>
        <p:nvSpPr>
          <p:cNvPr id="14" name="Text 12"/>
          <p:cNvSpPr/>
          <p:nvPr/>
        </p:nvSpPr>
        <p:spPr>
          <a:xfrm>
            <a:off x="3831336" y="2048256"/>
            <a:ext cx="1426464" cy="256032"/>
          </a:xfrm>
          <a:prstGeom prst="rect">
            <a:avLst/>
          </a:prstGeom>
          <a:noFill/>
          <a:ln/>
        </p:spPr>
        <p:txBody>
          <a:bodyPr wrap="square" lIns="0" tIns="0" rIns="0" bIns="0" rtlCol="0" anchor="ctr"/>
          <a:lstStyle/>
          <a:p>
            <a:pPr marL="0" indent="0">
              <a:buNone/>
            </a:pPr>
            <a:r>
              <a:rPr lang="en-US" sz="850" b="1" dirty="0">
                <a:solidFill>
                  <a:srgbClr val="0D1B2A"/>
                </a:solidFill>
              </a:rPr>
              <a:t>Modified byte</a:t>
            </a:r>
            <a:endParaRPr lang="en-US" sz="850" dirty="0"/>
          </a:p>
        </p:txBody>
      </p:sp>
      <p:sp>
        <p:nvSpPr>
          <p:cNvPr id="15" name="Text 13"/>
          <p:cNvSpPr/>
          <p:nvPr/>
        </p:nvSpPr>
        <p:spPr>
          <a:xfrm>
            <a:off x="5294376" y="2048256"/>
            <a:ext cx="658368" cy="256032"/>
          </a:xfrm>
          <a:prstGeom prst="rect">
            <a:avLst/>
          </a:prstGeom>
          <a:noFill/>
          <a:ln/>
        </p:spPr>
        <p:txBody>
          <a:bodyPr wrap="square" lIns="0" tIns="0" rIns="0" bIns="0" rtlCol="0" anchor="ctr"/>
          <a:lstStyle/>
          <a:p>
            <a:pPr marL="0" indent="0">
              <a:buNone/>
            </a:pPr>
            <a:r>
              <a:rPr lang="en-US" sz="850" b="1" dirty="0">
                <a:solidFill>
                  <a:srgbClr val="0D1B2A"/>
                </a:solidFill>
              </a:rPr>
              <a:t>Changed?</a:t>
            </a:r>
            <a:endParaRPr lang="en-US" sz="850" dirty="0"/>
          </a:p>
        </p:txBody>
      </p:sp>
      <p:sp>
        <p:nvSpPr>
          <p:cNvPr id="16" name="Text 14"/>
          <p:cNvSpPr/>
          <p:nvPr/>
        </p:nvSpPr>
        <p:spPr>
          <a:xfrm>
            <a:off x="5989320" y="2048256"/>
            <a:ext cx="2852928" cy="256032"/>
          </a:xfrm>
          <a:prstGeom prst="rect">
            <a:avLst/>
          </a:prstGeom>
          <a:noFill/>
          <a:ln/>
        </p:spPr>
        <p:txBody>
          <a:bodyPr wrap="square" lIns="0" tIns="0" rIns="0" bIns="0" rtlCol="0" anchor="ctr"/>
          <a:lstStyle/>
          <a:p>
            <a:pPr marL="0" indent="0">
              <a:buNone/>
            </a:pPr>
            <a:r>
              <a:rPr lang="en-US" sz="850" b="1" dirty="0">
                <a:solidFill>
                  <a:srgbClr val="0D1B2A"/>
                </a:solidFill>
              </a:rPr>
              <a:t>Notes</a:t>
            </a:r>
            <a:endParaRPr lang="en-US" sz="850" dirty="0"/>
          </a:p>
        </p:txBody>
      </p:sp>
      <p:sp>
        <p:nvSpPr>
          <p:cNvPr id="17" name="Shape 15"/>
          <p:cNvSpPr/>
          <p:nvPr/>
        </p:nvSpPr>
        <p:spPr>
          <a:xfrm>
            <a:off x="320040" y="2340864"/>
            <a:ext cx="8503920" cy="283464"/>
          </a:xfrm>
          <a:prstGeom prst="rect">
            <a:avLst/>
          </a:prstGeom>
          <a:solidFill>
            <a:srgbClr val="EEF6FB"/>
          </a:solidFill>
          <a:ln w="12700">
            <a:solidFill>
              <a:srgbClr val="EEF6FB"/>
            </a:solidFill>
            <a:prstDash val="solid"/>
          </a:ln>
        </p:spPr>
        <p:txBody>
          <a:bodyPr/>
          <a:lstStyle/>
          <a:p>
            <a:endParaRPr lang="en-SG"/>
          </a:p>
        </p:txBody>
      </p:sp>
      <p:sp>
        <p:nvSpPr>
          <p:cNvPr id="18" name="Text 16"/>
          <p:cNvSpPr/>
          <p:nvPr/>
        </p:nvSpPr>
        <p:spPr>
          <a:xfrm>
            <a:off x="356616" y="2340864"/>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1 — Red</a:t>
            </a:r>
            <a:endParaRPr lang="en-US" sz="800" dirty="0"/>
          </a:p>
        </p:txBody>
      </p:sp>
      <p:sp>
        <p:nvSpPr>
          <p:cNvPr id="19" name="Text 17"/>
          <p:cNvSpPr/>
          <p:nvPr/>
        </p:nvSpPr>
        <p:spPr>
          <a:xfrm>
            <a:off x="1819656" y="2340864"/>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11001010</a:t>
            </a:r>
            <a:endParaRPr lang="en-US" sz="900" dirty="0"/>
          </a:p>
        </p:txBody>
      </p:sp>
      <p:sp>
        <p:nvSpPr>
          <p:cNvPr id="20" name="Text 18"/>
          <p:cNvSpPr/>
          <p:nvPr/>
        </p:nvSpPr>
        <p:spPr>
          <a:xfrm>
            <a:off x="3282696" y="2340864"/>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0</a:t>
            </a:r>
            <a:endParaRPr lang="en-US" sz="900" dirty="0"/>
          </a:p>
        </p:txBody>
      </p:sp>
      <p:sp>
        <p:nvSpPr>
          <p:cNvPr id="21" name="Text 19"/>
          <p:cNvSpPr/>
          <p:nvPr/>
        </p:nvSpPr>
        <p:spPr>
          <a:xfrm>
            <a:off x="3831336" y="2340864"/>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1100101</a:t>
            </a:r>
            <a:endParaRPr lang="en-US" sz="900" dirty="0"/>
          </a:p>
        </p:txBody>
      </p:sp>
      <p:sp>
        <p:nvSpPr>
          <p:cNvPr id="22" name="Text 20"/>
          <p:cNvSpPr/>
          <p:nvPr/>
        </p:nvSpPr>
        <p:spPr>
          <a:xfrm>
            <a:off x="4983480" y="2340864"/>
            <a:ext cx="201168" cy="283464"/>
          </a:xfrm>
          <a:prstGeom prst="rect">
            <a:avLst/>
          </a:prstGeom>
          <a:noFill/>
          <a:ln/>
        </p:spPr>
        <p:txBody>
          <a:bodyPr wrap="square" lIns="0" tIns="0" rIns="0" bIns="0" rtlCol="0" anchor="ctr"/>
          <a:lstStyle/>
          <a:p>
            <a:pPr marL="0" indent="0">
              <a:buNone/>
            </a:pPr>
            <a:r>
              <a:rPr lang="en-US" sz="900" b="1" dirty="0">
                <a:solidFill>
                  <a:srgbClr val="2ECC71"/>
                </a:solidFill>
                <a:latin typeface="Consolas" pitchFamily="34" charset="0"/>
                <a:ea typeface="Consolas" pitchFamily="34" charset="-122"/>
                <a:cs typeface="Consolas" pitchFamily="34" charset="-120"/>
              </a:rPr>
              <a:t>0</a:t>
            </a:r>
            <a:endParaRPr lang="en-US" sz="900" dirty="0"/>
          </a:p>
        </p:txBody>
      </p:sp>
      <p:sp>
        <p:nvSpPr>
          <p:cNvPr id="23" name="Text 21"/>
          <p:cNvSpPr/>
          <p:nvPr/>
        </p:nvSpPr>
        <p:spPr>
          <a:xfrm>
            <a:off x="5294376" y="2340864"/>
            <a:ext cx="658368" cy="283464"/>
          </a:xfrm>
          <a:prstGeom prst="rect">
            <a:avLst/>
          </a:prstGeom>
          <a:noFill/>
          <a:ln/>
        </p:spPr>
        <p:txBody>
          <a:bodyPr wrap="square" lIns="0" tIns="0" rIns="0" bIns="0" rtlCol="0" anchor="ctr"/>
          <a:lstStyle/>
          <a:p>
            <a:pPr marL="0" indent="0">
              <a:buNone/>
            </a:pPr>
            <a:r>
              <a:rPr lang="en-US" sz="850" dirty="0">
                <a:solidFill>
                  <a:srgbClr val="2ECC71"/>
                </a:solidFill>
              </a:rPr>
              <a:t>no</a:t>
            </a:r>
            <a:endParaRPr lang="en-US" sz="850" dirty="0"/>
          </a:p>
        </p:txBody>
      </p:sp>
      <p:sp>
        <p:nvSpPr>
          <p:cNvPr id="24" name="Text 22"/>
          <p:cNvSpPr/>
          <p:nvPr/>
        </p:nvSpPr>
        <p:spPr>
          <a:xfrm>
            <a:off x="5989320" y="2340864"/>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already matched — no change needed</a:t>
            </a:r>
            <a:endParaRPr lang="en-US" sz="800" dirty="0"/>
          </a:p>
        </p:txBody>
      </p:sp>
      <p:sp>
        <p:nvSpPr>
          <p:cNvPr id="25" name="Shape 23"/>
          <p:cNvSpPr/>
          <p:nvPr/>
        </p:nvSpPr>
        <p:spPr>
          <a:xfrm>
            <a:off x="320040" y="2642616"/>
            <a:ext cx="8503920" cy="283464"/>
          </a:xfrm>
          <a:prstGeom prst="rect">
            <a:avLst/>
          </a:prstGeom>
          <a:solidFill>
            <a:srgbClr val="FFFFFF"/>
          </a:solidFill>
          <a:ln w="12700">
            <a:solidFill>
              <a:srgbClr val="FFFFFF"/>
            </a:solidFill>
            <a:prstDash val="solid"/>
          </a:ln>
        </p:spPr>
        <p:txBody>
          <a:bodyPr/>
          <a:lstStyle/>
          <a:p>
            <a:endParaRPr lang="en-SG"/>
          </a:p>
        </p:txBody>
      </p:sp>
      <p:sp>
        <p:nvSpPr>
          <p:cNvPr id="26" name="Text 24"/>
          <p:cNvSpPr/>
          <p:nvPr/>
        </p:nvSpPr>
        <p:spPr>
          <a:xfrm>
            <a:off x="356616" y="2642616"/>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1 — Green</a:t>
            </a:r>
            <a:endParaRPr lang="en-US" sz="800" dirty="0"/>
          </a:p>
        </p:txBody>
      </p:sp>
      <p:sp>
        <p:nvSpPr>
          <p:cNvPr id="27" name="Text 25"/>
          <p:cNvSpPr/>
          <p:nvPr/>
        </p:nvSpPr>
        <p:spPr>
          <a:xfrm>
            <a:off x="1819656" y="2642616"/>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01110011</a:t>
            </a:r>
            <a:endParaRPr lang="en-US" sz="900" dirty="0"/>
          </a:p>
        </p:txBody>
      </p:sp>
      <p:sp>
        <p:nvSpPr>
          <p:cNvPr id="28" name="Text 26"/>
          <p:cNvSpPr/>
          <p:nvPr/>
        </p:nvSpPr>
        <p:spPr>
          <a:xfrm>
            <a:off x="3282696" y="2642616"/>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1</a:t>
            </a:r>
            <a:endParaRPr lang="en-US" sz="900" dirty="0"/>
          </a:p>
        </p:txBody>
      </p:sp>
      <p:sp>
        <p:nvSpPr>
          <p:cNvPr id="29" name="Text 27"/>
          <p:cNvSpPr/>
          <p:nvPr/>
        </p:nvSpPr>
        <p:spPr>
          <a:xfrm>
            <a:off x="3831336" y="2642616"/>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0111001</a:t>
            </a:r>
            <a:endParaRPr lang="en-US" sz="900" dirty="0"/>
          </a:p>
        </p:txBody>
      </p:sp>
      <p:sp>
        <p:nvSpPr>
          <p:cNvPr id="30" name="Text 28"/>
          <p:cNvSpPr/>
          <p:nvPr/>
        </p:nvSpPr>
        <p:spPr>
          <a:xfrm>
            <a:off x="4983480" y="2642616"/>
            <a:ext cx="201168" cy="283464"/>
          </a:xfrm>
          <a:prstGeom prst="rect">
            <a:avLst/>
          </a:prstGeom>
          <a:noFill/>
          <a:ln/>
        </p:spPr>
        <p:txBody>
          <a:bodyPr wrap="square" lIns="0" tIns="0" rIns="0" bIns="0" rtlCol="0" anchor="ctr"/>
          <a:lstStyle/>
          <a:p>
            <a:pPr marL="0" indent="0">
              <a:buNone/>
            </a:pPr>
            <a:r>
              <a:rPr lang="en-US" sz="900" b="1" dirty="0">
                <a:solidFill>
                  <a:srgbClr val="2ECC71"/>
                </a:solidFill>
                <a:latin typeface="Consolas" pitchFamily="34" charset="0"/>
                <a:ea typeface="Consolas" pitchFamily="34" charset="-122"/>
                <a:cs typeface="Consolas" pitchFamily="34" charset="-120"/>
              </a:rPr>
              <a:t>1</a:t>
            </a:r>
            <a:endParaRPr lang="en-US" sz="900" dirty="0"/>
          </a:p>
        </p:txBody>
      </p:sp>
      <p:sp>
        <p:nvSpPr>
          <p:cNvPr id="31" name="Text 29"/>
          <p:cNvSpPr/>
          <p:nvPr/>
        </p:nvSpPr>
        <p:spPr>
          <a:xfrm>
            <a:off x="5294376" y="2642616"/>
            <a:ext cx="658368" cy="283464"/>
          </a:xfrm>
          <a:prstGeom prst="rect">
            <a:avLst/>
          </a:prstGeom>
          <a:noFill/>
          <a:ln/>
        </p:spPr>
        <p:txBody>
          <a:bodyPr wrap="square" lIns="0" tIns="0" rIns="0" bIns="0" rtlCol="0" anchor="ctr"/>
          <a:lstStyle/>
          <a:p>
            <a:pPr marL="0" indent="0">
              <a:buNone/>
            </a:pPr>
            <a:r>
              <a:rPr lang="en-US" sz="850" dirty="0">
                <a:solidFill>
                  <a:srgbClr val="2ECC71"/>
                </a:solidFill>
              </a:rPr>
              <a:t>no</a:t>
            </a:r>
            <a:endParaRPr lang="en-US" sz="850" dirty="0"/>
          </a:p>
        </p:txBody>
      </p:sp>
      <p:sp>
        <p:nvSpPr>
          <p:cNvPr id="32" name="Text 30"/>
          <p:cNvSpPr/>
          <p:nvPr/>
        </p:nvSpPr>
        <p:spPr>
          <a:xfrm>
            <a:off x="5989320" y="2642616"/>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already matched — no change needed</a:t>
            </a:r>
            <a:endParaRPr lang="en-US" sz="800" dirty="0"/>
          </a:p>
        </p:txBody>
      </p:sp>
      <p:sp>
        <p:nvSpPr>
          <p:cNvPr id="33" name="Shape 31"/>
          <p:cNvSpPr/>
          <p:nvPr/>
        </p:nvSpPr>
        <p:spPr>
          <a:xfrm>
            <a:off x="320040" y="2944368"/>
            <a:ext cx="8503920" cy="283464"/>
          </a:xfrm>
          <a:prstGeom prst="rect">
            <a:avLst/>
          </a:prstGeom>
          <a:solidFill>
            <a:srgbClr val="EEF6FB"/>
          </a:solidFill>
          <a:ln w="12700">
            <a:solidFill>
              <a:srgbClr val="EEF6FB"/>
            </a:solidFill>
            <a:prstDash val="solid"/>
          </a:ln>
        </p:spPr>
        <p:txBody>
          <a:bodyPr/>
          <a:lstStyle/>
          <a:p>
            <a:endParaRPr lang="en-SG"/>
          </a:p>
        </p:txBody>
      </p:sp>
      <p:sp>
        <p:nvSpPr>
          <p:cNvPr id="34" name="Text 32"/>
          <p:cNvSpPr/>
          <p:nvPr/>
        </p:nvSpPr>
        <p:spPr>
          <a:xfrm>
            <a:off x="356616" y="2944368"/>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1 — Blue</a:t>
            </a:r>
            <a:endParaRPr lang="en-US" sz="800" dirty="0"/>
          </a:p>
        </p:txBody>
      </p:sp>
      <p:sp>
        <p:nvSpPr>
          <p:cNvPr id="35" name="Text 33"/>
          <p:cNvSpPr/>
          <p:nvPr/>
        </p:nvSpPr>
        <p:spPr>
          <a:xfrm>
            <a:off x="1819656" y="2944368"/>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10000110</a:t>
            </a:r>
            <a:endParaRPr lang="en-US" sz="900" dirty="0"/>
          </a:p>
        </p:txBody>
      </p:sp>
      <p:sp>
        <p:nvSpPr>
          <p:cNvPr id="36" name="Text 34"/>
          <p:cNvSpPr/>
          <p:nvPr/>
        </p:nvSpPr>
        <p:spPr>
          <a:xfrm>
            <a:off x="3282696" y="2944368"/>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0</a:t>
            </a:r>
            <a:endParaRPr lang="en-US" sz="900" dirty="0"/>
          </a:p>
        </p:txBody>
      </p:sp>
      <p:sp>
        <p:nvSpPr>
          <p:cNvPr id="37" name="Text 35"/>
          <p:cNvSpPr/>
          <p:nvPr/>
        </p:nvSpPr>
        <p:spPr>
          <a:xfrm>
            <a:off x="3831336" y="2944368"/>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1000011</a:t>
            </a:r>
            <a:endParaRPr lang="en-US" sz="900" dirty="0"/>
          </a:p>
        </p:txBody>
      </p:sp>
      <p:sp>
        <p:nvSpPr>
          <p:cNvPr id="38" name="Text 36"/>
          <p:cNvSpPr/>
          <p:nvPr/>
        </p:nvSpPr>
        <p:spPr>
          <a:xfrm>
            <a:off x="4983480" y="2944368"/>
            <a:ext cx="201168" cy="283464"/>
          </a:xfrm>
          <a:prstGeom prst="rect">
            <a:avLst/>
          </a:prstGeom>
          <a:noFill/>
          <a:ln/>
        </p:spPr>
        <p:txBody>
          <a:bodyPr wrap="square" lIns="0" tIns="0" rIns="0" bIns="0" rtlCol="0" anchor="ctr"/>
          <a:lstStyle/>
          <a:p>
            <a:pPr marL="0" indent="0">
              <a:buNone/>
            </a:pPr>
            <a:r>
              <a:rPr lang="en-US" sz="900" b="1" dirty="0">
                <a:solidFill>
                  <a:srgbClr val="2ECC71"/>
                </a:solidFill>
                <a:latin typeface="Consolas" pitchFamily="34" charset="0"/>
                <a:ea typeface="Consolas" pitchFamily="34" charset="-122"/>
                <a:cs typeface="Consolas" pitchFamily="34" charset="-120"/>
              </a:rPr>
              <a:t>0</a:t>
            </a:r>
            <a:endParaRPr lang="en-US" sz="900" dirty="0"/>
          </a:p>
        </p:txBody>
      </p:sp>
      <p:sp>
        <p:nvSpPr>
          <p:cNvPr id="39" name="Text 37"/>
          <p:cNvSpPr/>
          <p:nvPr/>
        </p:nvSpPr>
        <p:spPr>
          <a:xfrm>
            <a:off x="5294376" y="2944368"/>
            <a:ext cx="658368" cy="283464"/>
          </a:xfrm>
          <a:prstGeom prst="rect">
            <a:avLst/>
          </a:prstGeom>
          <a:noFill/>
          <a:ln/>
        </p:spPr>
        <p:txBody>
          <a:bodyPr wrap="square" lIns="0" tIns="0" rIns="0" bIns="0" rtlCol="0" anchor="ctr"/>
          <a:lstStyle/>
          <a:p>
            <a:pPr marL="0" indent="0">
              <a:buNone/>
            </a:pPr>
            <a:r>
              <a:rPr lang="en-US" sz="850" dirty="0">
                <a:solidFill>
                  <a:srgbClr val="2ECC71"/>
                </a:solidFill>
              </a:rPr>
              <a:t>no</a:t>
            </a:r>
            <a:endParaRPr lang="en-US" sz="850" dirty="0"/>
          </a:p>
        </p:txBody>
      </p:sp>
      <p:sp>
        <p:nvSpPr>
          <p:cNvPr id="40" name="Text 38"/>
          <p:cNvSpPr/>
          <p:nvPr/>
        </p:nvSpPr>
        <p:spPr>
          <a:xfrm>
            <a:off x="5989320" y="2944368"/>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already matched — no change needed</a:t>
            </a:r>
            <a:endParaRPr lang="en-US" sz="800" dirty="0"/>
          </a:p>
        </p:txBody>
      </p:sp>
      <p:sp>
        <p:nvSpPr>
          <p:cNvPr id="41" name="Shape 39"/>
          <p:cNvSpPr/>
          <p:nvPr/>
        </p:nvSpPr>
        <p:spPr>
          <a:xfrm>
            <a:off x="320040" y="3246120"/>
            <a:ext cx="8503920" cy="283464"/>
          </a:xfrm>
          <a:prstGeom prst="rect">
            <a:avLst/>
          </a:prstGeom>
          <a:solidFill>
            <a:srgbClr val="FFFFFF"/>
          </a:solidFill>
          <a:ln w="12700">
            <a:solidFill>
              <a:srgbClr val="FFFFFF"/>
            </a:solidFill>
            <a:prstDash val="solid"/>
          </a:ln>
        </p:spPr>
        <p:txBody>
          <a:bodyPr/>
          <a:lstStyle/>
          <a:p>
            <a:endParaRPr lang="en-SG"/>
          </a:p>
        </p:txBody>
      </p:sp>
      <p:sp>
        <p:nvSpPr>
          <p:cNvPr id="42" name="Text 40"/>
          <p:cNvSpPr/>
          <p:nvPr/>
        </p:nvSpPr>
        <p:spPr>
          <a:xfrm>
            <a:off x="356616" y="3246120"/>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2 — Red</a:t>
            </a:r>
            <a:endParaRPr lang="en-US" sz="800" dirty="0"/>
          </a:p>
        </p:txBody>
      </p:sp>
      <p:sp>
        <p:nvSpPr>
          <p:cNvPr id="43" name="Text 41"/>
          <p:cNvSpPr/>
          <p:nvPr/>
        </p:nvSpPr>
        <p:spPr>
          <a:xfrm>
            <a:off x="1819656" y="3246120"/>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11101101</a:t>
            </a:r>
            <a:endParaRPr lang="en-US" sz="900" dirty="0"/>
          </a:p>
        </p:txBody>
      </p:sp>
      <p:sp>
        <p:nvSpPr>
          <p:cNvPr id="44" name="Text 42"/>
          <p:cNvSpPr/>
          <p:nvPr/>
        </p:nvSpPr>
        <p:spPr>
          <a:xfrm>
            <a:off x="3282696" y="3246120"/>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0</a:t>
            </a:r>
            <a:endParaRPr lang="en-US" sz="900" dirty="0"/>
          </a:p>
        </p:txBody>
      </p:sp>
      <p:sp>
        <p:nvSpPr>
          <p:cNvPr id="45" name="Text 43"/>
          <p:cNvSpPr/>
          <p:nvPr/>
        </p:nvSpPr>
        <p:spPr>
          <a:xfrm>
            <a:off x="3831336" y="3246120"/>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1110110</a:t>
            </a:r>
            <a:endParaRPr lang="en-US" sz="900" dirty="0"/>
          </a:p>
        </p:txBody>
      </p:sp>
      <p:sp>
        <p:nvSpPr>
          <p:cNvPr id="46" name="Text 44"/>
          <p:cNvSpPr/>
          <p:nvPr/>
        </p:nvSpPr>
        <p:spPr>
          <a:xfrm>
            <a:off x="4983480" y="3246120"/>
            <a:ext cx="201168" cy="283464"/>
          </a:xfrm>
          <a:prstGeom prst="rect">
            <a:avLst/>
          </a:prstGeom>
          <a:noFill/>
          <a:ln/>
        </p:spPr>
        <p:txBody>
          <a:bodyPr wrap="square" lIns="0" tIns="0" rIns="0" bIns="0" rtlCol="0" anchor="ctr"/>
          <a:lstStyle/>
          <a:p>
            <a:pPr marL="0" indent="0">
              <a:buNone/>
            </a:pPr>
            <a:r>
              <a:rPr lang="en-US" sz="900" b="1" dirty="0">
                <a:solidFill>
                  <a:srgbClr val="E74C3C"/>
                </a:solidFill>
                <a:latin typeface="Consolas" pitchFamily="34" charset="0"/>
                <a:ea typeface="Consolas" pitchFamily="34" charset="-122"/>
                <a:cs typeface="Consolas" pitchFamily="34" charset="-120"/>
              </a:rPr>
              <a:t>0</a:t>
            </a:r>
            <a:endParaRPr lang="en-US" sz="900" dirty="0"/>
          </a:p>
        </p:txBody>
      </p:sp>
      <p:sp>
        <p:nvSpPr>
          <p:cNvPr id="47" name="Text 45"/>
          <p:cNvSpPr/>
          <p:nvPr/>
        </p:nvSpPr>
        <p:spPr>
          <a:xfrm>
            <a:off x="5294376" y="3246120"/>
            <a:ext cx="658368" cy="283464"/>
          </a:xfrm>
          <a:prstGeom prst="rect">
            <a:avLst/>
          </a:prstGeom>
          <a:noFill/>
          <a:ln/>
        </p:spPr>
        <p:txBody>
          <a:bodyPr wrap="square" lIns="0" tIns="0" rIns="0" bIns="0" rtlCol="0" anchor="ctr"/>
          <a:lstStyle/>
          <a:p>
            <a:pPr marL="0" indent="0">
              <a:buNone/>
            </a:pPr>
            <a:r>
              <a:rPr lang="en-US" sz="850" b="1" dirty="0">
                <a:solidFill>
                  <a:srgbClr val="E74C3C"/>
                </a:solidFill>
              </a:rPr>
              <a:t>YES ▲</a:t>
            </a:r>
            <a:endParaRPr lang="en-US" sz="850" dirty="0"/>
          </a:p>
        </p:txBody>
      </p:sp>
      <p:sp>
        <p:nvSpPr>
          <p:cNvPr id="48" name="Text 46"/>
          <p:cNvSpPr/>
          <p:nvPr/>
        </p:nvSpPr>
        <p:spPr>
          <a:xfrm>
            <a:off x="5989320" y="3246120"/>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flipped: colour value ±1 — imperceptible to eye</a:t>
            </a:r>
            <a:endParaRPr lang="en-US" sz="800" dirty="0"/>
          </a:p>
        </p:txBody>
      </p:sp>
      <p:sp>
        <p:nvSpPr>
          <p:cNvPr id="49" name="Shape 47"/>
          <p:cNvSpPr/>
          <p:nvPr/>
        </p:nvSpPr>
        <p:spPr>
          <a:xfrm>
            <a:off x="320040" y="3547872"/>
            <a:ext cx="8503920" cy="283464"/>
          </a:xfrm>
          <a:prstGeom prst="rect">
            <a:avLst/>
          </a:prstGeom>
          <a:solidFill>
            <a:srgbClr val="EEF6FB"/>
          </a:solidFill>
          <a:ln w="12700">
            <a:solidFill>
              <a:srgbClr val="EEF6FB"/>
            </a:solidFill>
            <a:prstDash val="solid"/>
          </a:ln>
        </p:spPr>
        <p:txBody>
          <a:bodyPr/>
          <a:lstStyle/>
          <a:p>
            <a:endParaRPr lang="en-SG"/>
          </a:p>
        </p:txBody>
      </p:sp>
      <p:sp>
        <p:nvSpPr>
          <p:cNvPr id="50" name="Text 48"/>
          <p:cNvSpPr/>
          <p:nvPr/>
        </p:nvSpPr>
        <p:spPr>
          <a:xfrm>
            <a:off x="356616" y="3547872"/>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2 — Green</a:t>
            </a:r>
            <a:endParaRPr lang="en-US" sz="800" dirty="0"/>
          </a:p>
        </p:txBody>
      </p:sp>
      <p:sp>
        <p:nvSpPr>
          <p:cNvPr id="51" name="Text 49"/>
          <p:cNvSpPr/>
          <p:nvPr/>
        </p:nvSpPr>
        <p:spPr>
          <a:xfrm>
            <a:off x="1819656" y="3547872"/>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00110100</a:t>
            </a:r>
            <a:endParaRPr lang="en-US" sz="900" dirty="0"/>
          </a:p>
        </p:txBody>
      </p:sp>
      <p:sp>
        <p:nvSpPr>
          <p:cNvPr id="52" name="Text 50"/>
          <p:cNvSpPr/>
          <p:nvPr/>
        </p:nvSpPr>
        <p:spPr>
          <a:xfrm>
            <a:off x="3282696" y="3547872"/>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0</a:t>
            </a:r>
            <a:endParaRPr lang="en-US" sz="900" dirty="0"/>
          </a:p>
        </p:txBody>
      </p:sp>
      <p:sp>
        <p:nvSpPr>
          <p:cNvPr id="53" name="Text 51"/>
          <p:cNvSpPr/>
          <p:nvPr/>
        </p:nvSpPr>
        <p:spPr>
          <a:xfrm>
            <a:off x="3831336" y="3547872"/>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0011010</a:t>
            </a:r>
            <a:endParaRPr lang="en-US" sz="900" dirty="0"/>
          </a:p>
        </p:txBody>
      </p:sp>
      <p:sp>
        <p:nvSpPr>
          <p:cNvPr id="54" name="Text 52"/>
          <p:cNvSpPr/>
          <p:nvPr/>
        </p:nvSpPr>
        <p:spPr>
          <a:xfrm>
            <a:off x="4983480" y="3547872"/>
            <a:ext cx="201168" cy="283464"/>
          </a:xfrm>
          <a:prstGeom prst="rect">
            <a:avLst/>
          </a:prstGeom>
          <a:noFill/>
          <a:ln/>
        </p:spPr>
        <p:txBody>
          <a:bodyPr wrap="square" lIns="0" tIns="0" rIns="0" bIns="0" rtlCol="0" anchor="ctr"/>
          <a:lstStyle/>
          <a:p>
            <a:pPr marL="0" indent="0">
              <a:buNone/>
            </a:pPr>
            <a:r>
              <a:rPr lang="en-US" sz="900" b="1" dirty="0">
                <a:solidFill>
                  <a:srgbClr val="2ECC71"/>
                </a:solidFill>
                <a:latin typeface="Consolas" pitchFamily="34" charset="0"/>
                <a:ea typeface="Consolas" pitchFamily="34" charset="-122"/>
                <a:cs typeface="Consolas" pitchFamily="34" charset="-120"/>
              </a:rPr>
              <a:t>0</a:t>
            </a:r>
            <a:endParaRPr lang="en-US" sz="900" dirty="0"/>
          </a:p>
        </p:txBody>
      </p:sp>
      <p:sp>
        <p:nvSpPr>
          <p:cNvPr id="55" name="Text 53"/>
          <p:cNvSpPr/>
          <p:nvPr/>
        </p:nvSpPr>
        <p:spPr>
          <a:xfrm>
            <a:off x="5294376" y="3547872"/>
            <a:ext cx="658368" cy="283464"/>
          </a:xfrm>
          <a:prstGeom prst="rect">
            <a:avLst/>
          </a:prstGeom>
          <a:noFill/>
          <a:ln/>
        </p:spPr>
        <p:txBody>
          <a:bodyPr wrap="square" lIns="0" tIns="0" rIns="0" bIns="0" rtlCol="0" anchor="ctr"/>
          <a:lstStyle/>
          <a:p>
            <a:pPr marL="0" indent="0">
              <a:buNone/>
            </a:pPr>
            <a:r>
              <a:rPr lang="en-US" sz="850" dirty="0">
                <a:solidFill>
                  <a:srgbClr val="2ECC71"/>
                </a:solidFill>
              </a:rPr>
              <a:t>no</a:t>
            </a:r>
            <a:endParaRPr lang="en-US" sz="850" dirty="0"/>
          </a:p>
        </p:txBody>
      </p:sp>
      <p:sp>
        <p:nvSpPr>
          <p:cNvPr id="56" name="Text 54"/>
          <p:cNvSpPr/>
          <p:nvPr/>
        </p:nvSpPr>
        <p:spPr>
          <a:xfrm>
            <a:off x="5989320" y="3547872"/>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already matched — no change needed</a:t>
            </a:r>
            <a:endParaRPr lang="en-US" sz="800" dirty="0"/>
          </a:p>
        </p:txBody>
      </p:sp>
      <p:sp>
        <p:nvSpPr>
          <p:cNvPr id="57" name="Shape 55"/>
          <p:cNvSpPr/>
          <p:nvPr/>
        </p:nvSpPr>
        <p:spPr>
          <a:xfrm>
            <a:off x="320040" y="3849624"/>
            <a:ext cx="8503920" cy="283464"/>
          </a:xfrm>
          <a:prstGeom prst="rect">
            <a:avLst/>
          </a:prstGeom>
          <a:solidFill>
            <a:srgbClr val="FFFFFF"/>
          </a:solidFill>
          <a:ln w="12700">
            <a:solidFill>
              <a:srgbClr val="FFFFFF"/>
            </a:solidFill>
            <a:prstDash val="solid"/>
          </a:ln>
        </p:spPr>
        <p:txBody>
          <a:bodyPr/>
          <a:lstStyle/>
          <a:p>
            <a:endParaRPr lang="en-SG"/>
          </a:p>
        </p:txBody>
      </p:sp>
      <p:sp>
        <p:nvSpPr>
          <p:cNvPr id="58" name="Text 56"/>
          <p:cNvSpPr/>
          <p:nvPr/>
        </p:nvSpPr>
        <p:spPr>
          <a:xfrm>
            <a:off x="356616" y="3849624"/>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2 — Blue</a:t>
            </a:r>
            <a:endParaRPr lang="en-US" sz="800" dirty="0"/>
          </a:p>
        </p:txBody>
      </p:sp>
      <p:sp>
        <p:nvSpPr>
          <p:cNvPr id="59" name="Text 57"/>
          <p:cNvSpPr/>
          <p:nvPr/>
        </p:nvSpPr>
        <p:spPr>
          <a:xfrm>
            <a:off x="1819656" y="3849624"/>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10010111</a:t>
            </a:r>
            <a:endParaRPr lang="en-US" sz="900" dirty="0"/>
          </a:p>
        </p:txBody>
      </p:sp>
      <p:sp>
        <p:nvSpPr>
          <p:cNvPr id="60" name="Text 58"/>
          <p:cNvSpPr/>
          <p:nvPr/>
        </p:nvSpPr>
        <p:spPr>
          <a:xfrm>
            <a:off x="3282696" y="3849624"/>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0</a:t>
            </a:r>
            <a:endParaRPr lang="en-US" sz="900" dirty="0"/>
          </a:p>
        </p:txBody>
      </p:sp>
      <p:sp>
        <p:nvSpPr>
          <p:cNvPr id="61" name="Text 59"/>
          <p:cNvSpPr/>
          <p:nvPr/>
        </p:nvSpPr>
        <p:spPr>
          <a:xfrm>
            <a:off x="3831336" y="3849624"/>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1001011</a:t>
            </a:r>
            <a:endParaRPr lang="en-US" sz="900" dirty="0"/>
          </a:p>
        </p:txBody>
      </p:sp>
      <p:sp>
        <p:nvSpPr>
          <p:cNvPr id="62" name="Text 60"/>
          <p:cNvSpPr/>
          <p:nvPr/>
        </p:nvSpPr>
        <p:spPr>
          <a:xfrm>
            <a:off x="4983480" y="3849624"/>
            <a:ext cx="201168" cy="283464"/>
          </a:xfrm>
          <a:prstGeom prst="rect">
            <a:avLst/>
          </a:prstGeom>
          <a:noFill/>
          <a:ln/>
        </p:spPr>
        <p:txBody>
          <a:bodyPr wrap="square" lIns="0" tIns="0" rIns="0" bIns="0" rtlCol="0" anchor="ctr"/>
          <a:lstStyle/>
          <a:p>
            <a:pPr marL="0" indent="0">
              <a:buNone/>
            </a:pPr>
            <a:r>
              <a:rPr lang="en-US" sz="900" b="1" dirty="0">
                <a:solidFill>
                  <a:srgbClr val="E74C3C"/>
                </a:solidFill>
                <a:latin typeface="Consolas" pitchFamily="34" charset="0"/>
                <a:ea typeface="Consolas" pitchFamily="34" charset="-122"/>
                <a:cs typeface="Consolas" pitchFamily="34" charset="-120"/>
              </a:rPr>
              <a:t>0</a:t>
            </a:r>
            <a:endParaRPr lang="en-US" sz="900" dirty="0"/>
          </a:p>
        </p:txBody>
      </p:sp>
      <p:sp>
        <p:nvSpPr>
          <p:cNvPr id="63" name="Text 61"/>
          <p:cNvSpPr/>
          <p:nvPr/>
        </p:nvSpPr>
        <p:spPr>
          <a:xfrm>
            <a:off x="5294376" y="3849624"/>
            <a:ext cx="658368" cy="283464"/>
          </a:xfrm>
          <a:prstGeom prst="rect">
            <a:avLst/>
          </a:prstGeom>
          <a:noFill/>
          <a:ln/>
        </p:spPr>
        <p:txBody>
          <a:bodyPr wrap="square" lIns="0" tIns="0" rIns="0" bIns="0" rtlCol="0" anchor="ctr"/>
          <a:lstStyle/>
          <a:p>
            <a:pPr marL="0" indent="0">
              <a:buNone/>
            </a:pPr>
            <a:r>
              <a:rPr lang="en-US" sz="850" b="1" dirty="0">
                <a:solidFill>
                  <a:srgbClr val="E74C3C"/>
                </a:solidFill>
              </a:rPr>
              <a:t>YES ▲</a:t>
            </a:r>
            <a:endParaRPr lang="en-US" sz="850" dirty="0"/>
          </a:p>
        </p:txBody>
      </p:sp>
      <p:sp>
        <p:nvSpPr>
          <p:cNvPr id="64" name="Text 62"/>
          <p:cNvSpPr/>
          <p:nvPr/>
        </p:nvSpPr>
        <p:spPr>
          <a:xfrm>
            <a:off x="5989320" y="3849624"/>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flipped: colour value ±1 — imperceptible to eye</a:t>
            </a:r>
            <a:endParaRPr lang="en-US" sz="800" dirty="0"/>
          </a:p>
        </p:txBody>
      </p:sp>
      <p:sp>
        <p:nvSpPr>
          <p:cNvPr id="65" name="Shape 63"/>
          <p:cNvSpPr/>
          <p:nvPr/>
        </p:nvSpPr>
        <p:spPr>
          <a:xfrm>
            <a:off x="320040" y="4151376"/>
            <a:ext cx="8503920" cy="283464"/>
          </a:xfrm>
          <a:prstGeom prst="rect">
            <a:avLst/>
          </a:prstGeom>
          <a:solidFill>
            <a:srgbClr val="EEF6FB"/>
          </a:solidFill>
          <a:ln w="12700">
            <a:solidFill>
              <a:srgbClr val="EEF6FB"/>
            </a:solidFill>
            <a:prstDash val="solid"/>
          </a:ln>
        </p:spPr>
        <p:txBody>
          <a:bodyPr/>
          <a:lstStyle/>
          <a:p>
            <a:endParaRPr lang="en-SG"/>
          </a:p>
        </p:txBody>
      </p:sp>
      <p:sp>
        <p:nvSpPr>
          <p:cNvPr id="66" name="Text 64"/>
          <p:cNvSpPr/>
          <p:nvPr/>
        </p:nvSpPr>
        <p:spPr>
          <a:xfrm>
            <a:off x="356616" y="4151376"/>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3 — Red</a:t>
            </a:r>
            <a:endParaRPr lang="en-US" sz="800" dirty="0"/>
          </a:p>
        </p:txBody>
      </p:sp>
      <p:sp>
        <p:nvSpPr>
          <p:cNvPr id="67" name="Text 65"/>
          <p:cNvSpPr/>
          <p:nvPr/>
        </p:nvSpPr>
        <p:spPr>
          <a:xfrm>
            <a:off x="1819656" y="4151376"/>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01001110</a:t>
            </a:r>
            <a:endParaRPr lang="en-US" sz="900" dirty="0"/>
          </a:p>
        </p:txBody>
      </p:sp>
      <p:sp>
        <p:nvSpPr>
          <p:cNvPr id="68" name="Text 66"/>
          <p:cNvSpPr/>
          <p:nvPr/>
        </p:nvSpPr>
        <p:spPr>
          <a:xfrm>
            <a:off x="3282696" y="4151376"/>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0</a:t>
            </a:r>
            <a:endParaRPr lang="en-US" sz="900" dirty="0"/>
          </a:p>
        </p:txBody>
      </p:sp>
      <p:sp>
        <p:nvSpPr>
          <p:cNvPr id="69" name="Text 67"/>
          <p:cNvSpPr/>
          <p:nvPr/>
        </p:nvSpPr>
        <p:spPr>
          <a:xfrm>
            <a:off x="3831336" y="4151376"/>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0100111</a:t>
            </a:r>
            <a:endParaRPr lang="en-US" sz="900" dirty="0"/>
          </a:p>
        </p:txBody>
      </p:sp>
      <p:sp>
        <p:nvSpPr>
          <p:cNvPr id="70" name="Text 68"/>
          <p:cNvSpPr/>
          <p:nvPr/>
        </p:nvSpPr>
        <p:spPr>
          <a:xfrm>
            <a:off x="4983480" y="4151376"/>
            <a:ext cx="201168" cy="283464"/>
          </a:xfrm>
          <a:prstGeom prst="rect">
            <a:avLst/>
          </a:prstGeom>
          <a:noFill/>
          <a:ln/>
        </p:spPr>
        <p:txBody>
          <a:bodyPr wrap="square" lIns="0" tIns="0" rIns="0" bIns="0" rtlCol="0" anchor="ctr"/>
          <a:lstStyle/>
          <a:p>
            <a:pPr marL="0" indent="0">
              <a:buNone/>
            </a:pPr>
            <a:r>
              <a:rPr lang="en-US" sz="900" b="1" dirty="0">
                <a:solidFill>
                  <a:srgbClr val="2ECC71"/>
                </a:solidFill>
                <a:latin typeface="Consolas" pitchFamily="34" charset="0"/>
                <a:ea typeface="Consolas" pitchFamily="34" charset="-122"/>
                <a:cs typeface="Consolas" pitchFamily="34" charset="-120"/>
              </a:rPr>
              <a:t>0</a:t>
            </a:r>
            <a:endParaRPr lang="en-US" sz="900" dirty="0"/>
          </a:p>
        </p:txBody>
      </p:sp>
      <p:sp>
        <p:nvSpPr>
          <p:cNvPr id="71" name="Text 69"/>
          <p:cNvSpPr/>
          <p:nvPr/>
        </p:nvSpPr>
        <p:spPr>
          <a:xfrm>
            <a:off x="5294376" y="4151376"/>
            <a:ext cx="658368" cy="283464"/>
          </a:xfrm>
          <a:prstGeom prst="rect">
            <a:avLst/>
          </a:prstGeom>
          <a:noFill/>
          <a:ln/>
        </p:spPr>
        <p:txBody>
          <a:bodyPr wrap="square" lIns="0" tIns="0" rIns="0" bIns="0" rtlCol="0" anchor="ctr"/>
          <a:lstStyle/>
          <a:p>
            <a:pPr marL="0" indent="0">
              <a:buNone/>
            </a:pPr>
            <a:r>
              <a:rPr lang="en-US" sz="850" dirty="0">
                <a:solidFill>
                  <a:srgbClr val="2ECC71"/>
                </a:solidFill>
              </a:rPr>
              <a:t>no</a:t>
            </a:r>
            <a:endParaRPr lang="en-US" sz="850" dirty="0"/>
          </a:p>
        </p:txBody>
      </p:sp>
      <p:sp>
        <p:nvSpPr>
          <p:cNvPr id="72" name="Text 70"/>
          <p:cNvSpPr/>
          <p:nvPr/>
        </p:nvSpPr>
        <p:spPr>
          <a:xfrm>
            <a:off x="5989320" y="4151376"/>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already matched — no change needed</a:t>
            </a:r>
            <a:endParaRPr lang="en-US" sz="800" dirty="0"/>
          </a:p>
        </p:txBody>
      </p:sp>
      <p:sp>
        <p:nvSpPr>
          <p:cNvPr id="73" name="Shape 71"/>
          <p:cNvSpPr/>
          <p:nvPr/>
        </p:nvSpPr>
        <p:spPr>
          <a:xfrm>
            <a:off x="320040" y="4453128"/>
            <a:ext cx="8503920" cy="283464"/>
          </a:xfrm>
          <a:prstGeom prst="rect">
            <a:avLst/>
          </a:prstGeom>
          <a:solidFill>
            <a:srgbClr val="FFFFFF"/>
          </a:solidFill>
          <a:ln w="12700">
            <a:solidFill>
              <a:srgbClr val="FFFFFF"/>
            </a:solidFill>
            <a:prstDash val="solid"/>
          </a:ln>
        </p:spPr>
        <p:txBody>
          <a:bodyPr/>
          <a:lstStyle/>
          <a:p>
            <a:endParaRPr lang="en-SG"/>
          </a:p>
        </p:txBody>
      </p:sp>
      <p:sp>
        <p:nvSpPr>
          <p:cNvPr id="74" name="Text 72"/>
          <p:cNvSpPr/>
          <p:nvPr/>
        </p:nvSpPr>
        <p:spPr>
          <a:xfrm>
            <a:off x="356616" y="4453128"/>
            <a:ext cx="1426464" cy="283464"/>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Pixel 3 — Green</a:t>
            </a:r>
            <a:endParaRPr lang="en-US" sz="800" dirty="0"/>
          </a:p>
        </p:txBody>
      </p:sp>
      <p:sp>
        <p:nvSpPr>
          <p:cNvPr id="75" name="Text 73"/>
          <p:cNvSpPr/>
          <p:nvPr/>
        </p:nvSpPr>
        <p:spPr>
          <a:xfrm>
            <a:off x="1819656" y="4453128"/>
            <a:ext cx="1426464"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11000001</a:t>
            </a:r>
            <a:endParaRPr lang="en-US" sz="900" dirty="0"/>
          </a:p>
        </p:txBody>
      </p:sp>
      <p:sp>
        <p:nvSpPr>
          <p:cNvPr id="76" name="Text 74"/>
          <p:cNvSpPr/>
          <p:nvPr/>
        </p:nvSpPr>
        <p:spPr>
          <a:xfrm>
            <a:off x="3282696" y="4453128"/>
            <a:ext cx="512064" cy="283464"/>
          </a:xfrm>
          <a:prstGeom prst="rect">
            <a:avLst/>
          </a:prstGeom>
          <a:noFill/>
          <a:ln/>
        </p:spPr>
        <p:txBody>
          <a:bodyPr wrap="square" lIns="0" tIns="0" rIns="0" bIns="0" rtlCol="0" anchor="ctr"/>
          <a:lstStyle/>
          <a:p>
            <a:pPr marL="0" indent="0" algn="ctr">
              <a:buNone/>
            </a:pPr>
            <a:r>
              <a:rPr lang="en-US" sz="900" dirty="0">
                <a:solidFill>
                  <a:srgbClr val="F1C40F"/>
                </a:solidFill>
                <a:latin typeface="Consolas" pitchFamily="34" charset="0"/>
                <a:ea typeface="Consolas" pitchFamily="34" charset="-122"/>
                <a:cs typeface="Consolas" pitchFamily="34" charset="-120"/>
              </a:rPr>
              <a:t>1</a:t>
            </a:r>
            <a:endParaRPr lang="en-US" sz="900" dirty="0"/>
          </a:p>
        </p:txBody>
      </p:sp>
      <p:sp>
        <p:nvSpPr>
          <p:cNvPr id="77" name="Text 75"/>
          <p:cNvSpPr/>
          <p:nvPr/>
        </p:nvSpPr>
        <p:spPr>
          <a:xfrm>
            <a:off x="3831336" y="4453128"/>
            <a:ext cx="1188720" cy="283464"/>
          </a:xfrm>
          <a:prstGeom prst="rect">
            <a:avLst/>
          </a:prstGeom>
          <a:noFill/>
          <a:ln/>
        </p:spPr>
        <p:txBody>
          <a:bodyPr wrap="square" lIns="0" tIns="0" rIns="0" bIns="0"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1100000</a:t>
            </a:r>
            <a:endParaRPr lang="en-US" sz="900" dirty="0"/>
          </a:p>
        </p:txBody>
      </p:sp>
      <p:sp>
        <p:nvSpPr>
          <p:cNvPr id="78" name="Text 76"/>
          <p:cNvSpPr/>
          <p:nvPr/>
        </p:nvSpPr>
        <p:spPr>
          <a:xfrm>
            <a:off x="4983480" y="4453128"/>
            <a:ext cx="201168" cy="283464"/>
          </a:xfrm>
          <a:prstGeom prst="rect">
            <a:avLst/>
          </a:prstGeom>
          <a:noFill/>
          <a:ln/>
        </p:spPr>
        <p:txBody>
          <a:bodyPr wrap="square" lIns="0" tIns="0" rIns="0" bIns="0" rtlCol="0" anchor="ctr"/>
          <a:lstStyle/>
          <a:p>
            <a:pPr marL="0" indent="0">
              <a:buNone/>
            </a:pPr>
            <a:r>
              <a:rPr lang="en-US" sz="900" b="1" dirty="0">
                <a:solidFill>
                  <a:srgbClr val="2ECC71"/>
                </a:solidFill>
                <a:latin typeface="Consolas" pitchFamily="34" charset="0"/>
                <a:ea typeface="Consolas" pitchFamily="34" charset="-122"/>
                <a:cs typeface="Consolas" pitchFamily="34" charset="-120"/>
              </a:rPr>
              <a:t>1</a:t>
            </a:r>
            <a:endParaRPr lang="en-US" sz="900" dirty="0"/>
          </a:p>
        </p:txBody>
      </p:sp>
      <p:sp>
        <p:nvSpPr>
          <p:cNvPr id="79" name="Text 77"/>
          <p:cNvSpPr/>
          <p:nvPr/>
        </p:nvSpPr>
        <p:spPr>
          <a:xfrm>
            <a:off x="5294376" y="4453128"/>
            <a:ext cx="658368" cy="283464"/>
          </a:xfrm>
          <a:prstGeom prst="rect">
            <a:avLst/>
          </a:prstGeom>
          <a:noFill/>
          <a:ln/>
        </p:spPr>
        <p:txBody>
          <a:bodyPr wrap="square" lIns="0" tIns="0" rIns="0" bIns="0" rtlCol="0" anchor="ctr"/>
          <a:lstStyle/>
          <a:p>
            <a:pPr marL="0" indent="0">
              <a:buNone/>
            </a:pPr>
            <a:r>
              <a:rPr lang="en-US" sz="850" dirty="0">
                <a:solidFill>
                  <a:srgbClr val="2ECC71"/>
                </a:solidFill>
              </a:rPr>
              <a:t>no</a:t>
            </a:r>
            <a:endParaRPr lang="en-US" sz="850" dirty="0"/>
          </a:p>
        </p:txBody>
      </p:sp>
      <p:sp>
        <p:nvSpPr>
          <p:cNvPr id="80" name="Text 78"/>
          <p:cNvSpPr/>
          <p:nvPr/>
        </p:nvSpPr>
        <p:spPr>
          <a:xfrm>
            <a:off x="5989320" y="4453128"/>
            <a:ext cx="2852928" cy="283464"/>
          </a:xfrm>
          <a:prstGeom prst="rect">
            <a:avLst/>
          </a:prstGeom>
          <a:noFill/>
          <a:ln/>
        </p:spPr>
        <p:txBody>
          <a:bodyPr wrap="square" lIns="0" tIns="0" rIns="0" bIns="0" rtlCol="0" anchor="ctr"/>
          <a:lstStyle/>
          <a:p>
            <a:pPr marL="0" indent="0">
              <a:buNone/>
            </a:pPr>
            <a:r>
              <a:rPr lang="en-US" sz="800" dirty="0">
                <a:solidFill>
                  <a:srgbClr val="8899AA"/>
                </a:solidFill>
              </a:rPr>
              <a:t>LSB already matched — no change needed</a:t>
            </a:r>
            <a:endParaRPr lang="en-US" sz="800" dirty="0"/>
          </a:p>
        </p:txBody>
      </p:sp>
      <p:sp>
        <p:nvSpPr>
          <p:cNvPr id="81" name="Text 79"/>
          <p:cNvSpPr/>
          <p:nvPr/>
        </p:nvSpPr>
        <p:spPr>
          <a:xfrm>
            <a:off x="320040" y="4809744"/>
            <a:ext cx="8503920" cy="91440"/>
          </a:xfrm>
          <a:prstGeom prst="rect">
            <a:avLst/>
          </a:prstGeom>
          <a:noFill/>
          <a:ln/>
        </p:spPr>
        <p:txBody>
          <a:bodyPr wrap="square" lIns="0" tIns="0" rIns="0" bIns="0" rtlCol="0" anchor="ctr"/>
          <a:lstStyle/>
          <a:p>
            <a:pPr marL="0" indent="0">
              <a:buNone/>
            </a:pPr>
            <a:r>
              <a:rPr lang="en-US" sz="780" i="1" dirty="0">
                <a:solidFill>
                  <a:srgbClr val="8899AA"/>
                </a:solidFill>
              </a:rPr>
              <a:t>Result: 8 bits hidden across 3 pixels = letter 'A'. A 1MP image can hold ~375KB of hidden data. Tool: Steghide steghide embed -cf photo.jpg -sf secret.txt -p password</a:t>
            </a:r>
            <a:endParaRPr lang="en-US" sz="7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8241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890979" cy="256032"/>
          </a:xfrm>
          <a:prstGeom prst="rect">
            <a:avLst/>
          </a:prstGeom>
          <a:noFill/>
          <a:ln/>
        </p:spPr>
        <p:txBody>
          <a:bodyPr wrap="square" lIns="0" tIns="0" rIns="0" bIns="0" rtlCol="0" anchor="ctr"/>
          <a:lstStyle/>
          <a:p>
            <a:pPr marL="0" indent="0">
              <a:buNone/>
            </a:pPr>
            <a:r>
              <a:rPr lang="en-US" sz="850" b="1" dirty="0">
                <a:solidFill>
                  <a:srgbClr val="0D1B2A"/>
                </a:solidFill>
              </a:rPr>
              <a:t>SECTION 6 · STEGANALYSIS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Steganalysis: Detecting Hidden Data</a:t>
            </a:r>
            <a:endParaRPr lang="en-US" sz="2800" dirty="0"/>
          </a:p>
        </p:txBody>
      </p:sp>
      <p:sp>
        <p:nvSpPr>
          <p:cNvPr id="5" name="Shape 3"/>
          <p:cNvSpPr/>
          <p:nvPr/>
        </p:nvSpPr>
        <p:spPr>
          <a:xfrm>
            <a:off x="320040" y="1170432"/>
            <a:ext cx="8503920" cy="36576"/>
          </a:xfrm>
          <a:prstGeom prst="rect">
            <a:avLst/>
          </a:prstGeom>
          <a:solidFill>
            <a:srgbClr val="FF6B9D"/>
          </a:solidFill>
          <a:ln w="12700">
            <a:solidFill>
              <a:srgbClr val="FF6B9D"/>
            </a:solidFill>
            <a:prstDash val="solid"/>
          </a:ln>
        </p:spPr>
        <p:txBody>
          <a:bodyPr/>
          <a:lstStyle/>
          <a:p>
            <a:endParaRPr lang="en-SG"/>
          </a:p>
        </p:txBody>
      </p:sp>
      <p:sp>
        <p:nvSpPr>
          <p:cNvPr id="6" name="Shape 4"/>
          <p:cNvSpPr/>
          <p:nvPr/>
        </p:nvSpPr>
        <p:spPr>
          <a:xfrm>
            <a:off x="320040" y="1261872"/>
            <a:ext cx="8503920" cy="457200"/>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61872"/>
            <a:ext cx="91440" cy="457200"/>
          </a:xfrm>
          <a:prstGeom prst="rect">
            <a:avLst/>
          </a:prstGeom>
          <a:solidFill>
            <a:srgbClr val="FF6B9D"/>
          </a:solidFill>
          <a:ln w="12700">
            <a:solidFill>
              <a:srgbClr val="FF6B9D"/>
            </a:solidFill>
            <a:prstDash val="solid"/>
          </a:ln>
        </p:spPr>
        <p:txBody>
          <a:bodyPr/>
          <a:lstStyle/>
          <a:p>
            <a:endParaRPr lang="en-SG"/>
          </a:p>
        </p:txBody>
      </p:sp>
      <p:sp>
        <p:nvSpPr>
          <p:cNvPr id="8" name="Text 6"/>
          <p:cNvSpPr/>
          <p:nvPr/>
        </p:nvSpPr>
        <p:spPr>
          <a:xfrm>
            <a:off x="493776" y="1316736"/>
            <a:ext cx="8229600" cy="347472"/>
          </a:xfrm>
          <a:prstGeom prst="rect">
            <a:avLst/>
          </a:prstGeom>
          <a:noFill/>
          <a:ln/>
        </p:spPr>
        <p:txBody>
          <a:bodyPr wrap="square" lIns="0" tIns="0" rIns="0" bIns="0" rtlCol="0" anchor="ctr"/>
          <a:lstStyle/>
          <a:p>
            <a:pPr marL="0" indent="0">
              <a:buNone/>
            </a:pPr>
            <a:r>
              <a:rPr lang="en-US" sz="950" dirty="0">
                <a:solidFill>
                  <a:srgbClr val="1A1A2E"/>
                </a:solidFill>
              </a:rPr>
              <a:t>Steganalysis is the forensic discipline of detecting the presence of steganography in a file. It does not necessarily recover the hidden content — the goal is first to detect that something has been concealed, then to determine whether recovery is possible.</a:t>
            </a:r>
            <a:endParaRPr lang="en-US" sz="950" dirty="0"/>
          </a:p>
        </p:txBody>
      </p:sp>
      <p:sp>
        <p:nvSpPr>
          <p:cNvPr id="9" name="Text 7"/>
          <p:cNvSpPr/>
          <p:nvPr/>
        </p:nvSpPr>
        <p:spPr>
          <a:xfrm>
            <a:off x="320040" y="1810512"/>
            <a:ext cx="8503920" cy="256032"/>
          </a:xfrm>
          <a:prstGeom prst="rect">
            <a:avLst/>
          </a:prstGeom>
          <a:noFill/>
          <a:ln/>
        </p:spPr>
        <p:txBody>
          <a:bodyPr wrap="square" lIns="0" tIns="0" rIns="0" bIns="0" rtlCol="0" anchor="ctr"/>
          <a:lstStyle/>
          <a:p>
            <a:pPr marL="0" indent="0">
              <a:buNone/>
            </a:pPr>
            <a:r>
              <a:rPr lang="en-US" sz="1300" b="1" dirty="0">
                <a:solidFill>
                  <a:srgbClr val="1A1A2E"/>
                </a:solidFill>
              </a:rPr>
              <a:t>Detection Approaches</a:t>
            </a:r>
            <a:endParaRPr lang="en-US" sz="1300" dirty="0"/>
          </a:p>
        </p:txBody>
      </p:sp>
      <p:sp>
        <p:nvSpPr>
          <p:cNvPr id="10" name="Shape 8"/>
          <p:cNvSpPr/>
          <p:nvPr/>
        </p:nvSpPr>
        <p:spPr>
          <a:xfrm>
            <a:off x="320040" y="2139696"/>
            <a:ext cx="2743200" cy="2651760"/>
          </a:xfrm>
          <a:prstGeom prst="rect">
            <a:avLst/>
          </a:prstGeom>
          <a:solidFill>
            <a:srgbClr val="EEF6FB"/>
          </a:solidFill>
          <a:ln w="12700">
            <a:solidFill>
              <a:srgbClr val="EEF6FB"/>
            </a:solidFill>
            <a:prstDash val="solid"/>
          </a:ln>
        </p:spPr>
        <p:txBody>
          <a:bodyPr/>
          <a:lstStyle/>
          <a:p>
            <a:endParaRPr lang="en-SG"/>
          </a:p>
        </p:txBody>
      </p:sp>
      <p:sp>
        <p:nvSpPr>
          <p:cNvPr id="11" name="Shape 9"/>
          <p:cNvSpPr/>
          <p:nvPr/>
        </p:nvSpPr>
        <p:spPr>
          <a:xfrm>
            <a:off x="320040" y="2139696"/>
            <a:ext cx="2743200" cy="64008"/>
          </a:xfrm>
          <a:prstGeom prst="rect">
            <a:avLst/>
          </a:prstGeom>
          <a:solidFill>
            <a:srgbClr val="FF6B9D"/>
          </a:solidFill>
          <a:ln w="12700">
            <a:solidFill>
              <a:srgbClr val="FF6B9D"/>
            </a:solidFill>
            <a:prstDash val="solid"/>
          </a:ln>
        </p:spPr>
        <p:txBody>
          <a:bodyPr/>
          <a:lstStyle/>
          <a:p>
            <a:endParaRPr lang="en-SG"/>
          </a:p>
        </p:txBody>
      </p:sp>
      <p:sp>
        <p:nvSpPr>
          <p:cNvPr id="12" name="Text 10"/>
          <p:cNvSpPr/>
          <p:nvPr/>
        </p:nvSpPr>
        <p:spPr>
          <a:xfrm>
            <a:off x="411480" y="2231136"/>
            <a:ext cx="2560320" cy="256032"/>
          </a:xfrm>
          <a:prstGeom prst="rect">
            <a:avLst/>
          </a:prstGeom>
          <a:noFill/>
          <a:ln/>
        </p:spPr>
        <p:txBody>
          <a:bodyPr wrap="square" lIns="0" tIns="0" rIns="0" bIns="0" rtlCol="0" anchor="ctr"/>
          <a:lstStyle/>
          <a:p>
            <a:pPr marL="0" indent="0">
              <a:buNone/>
            </a:pPr>
            <a:r>
              <a:rPr lang="en-US" sz="1050" b="1" dirty="0">
                <a:solidFill>
                  <a:srgbClr val="FF6B9D"/>
                </a:solidFill>
              </a:rPr>
              <a:t>📊  Statistical Analysis</a:t>
            </a:r>
            <a:endParaRPr lang="en-US" sz="1050" dirty="0"/>
          </a:p>
        </p:txBody>
      </p:sp>
      <p:sp>
        <p:nvSpPr>
          <p:cNvPr id="13" name="Text 11"/>
          <p:cNvSpPr/>
          <p:nvPr/>
        </p:nvSpPr>
        <p:spPr>
          <a:xfrm>
            <a:off x="411480" y="2523744"/>
            <a:ext cx="2560320" cy="512064"/>
          </a:xfrm>
          <a:prstGeom prst="rect">
            <a:avLst/>
          </a:prstGeom>
          <a:noFill/>
          <a:ln/>
        </p:spPr>
        <p:txBody>
          <a:bodyPr wrap="square" lIns="0" tIns="0" rIns="0" bIns="0" rtlCol="0" anchor="ctr"/>
          <a:lstStyle/>
          <a:p>
            <a:pPr marL="0" indent="0">
              <a:buNone/>
            </a:pPr>
            <a:r>
              <a:rPr lang="en-US" sz="820" dirty="0">
                <a:solidFill>
                  <a:srgbClr val="1A1A2E"/>
                </a:solidFill>
              </a:rPr>
              <a:t>›  Chi-squared test: LSB steganography alters the statistical distribution of pixel values. Chi-squared test measures whether the LSB of pixel values is too evenly distributed (more than natural)</a:t>
            </a:r>
            <a:endParaRPr lang="en-US" sz="820" dirty="0"/>
          </a:p>
        </p:txBody>
      </p:sp>
      <p:sp>
        <p:nvSpPr>
          <p:cNvPr id="14" name="Text 12"/>
          <p:cNvSpPr/>
          <p:nvPr/>
        </p:nvSpPr>
        <p:spPr>
          <a:xfrm>
            <a:off x="411480" y="3072384"/>
            <a:ext cx="2560320" cy="512064"/>
          </a:xfrm>
          <a:prstGeom prst="rect">
            <a:avLst/>
          </a:prstGeom>
          <a:noFill/>
          <a:ln/>
        </p:spPr>
        <p:txBody>
          <a:bodyPr wrap="square" lIns="0" tIns="0" rIns="0" bIns="0" rtlCol="0" anchor="ctr"/>
          <a:lstStyle/>
          <a:p>
            <a:pPr marL="0" indent="0">
              <a:buNone/>
            </a:pPr>
            <a:r>
              <a:rPr lang="en-US" sz="820" dirty="0">
                <a:solidFill>
                  <a:srgbClr val="1A1A2E"/>
                </a:solidFill>
              </a:rPr>
              <a:t>›  RS (Regular/Singular) analysis: statistical method that detects LSB flipping even in complex images</a:t>
            </a:r>
            <a:endParaRPr lang="en-US" sz="820" dirty="0"/>
          </a:p>
        </p:txBody>
      </p:sp>
      <p:sp>
        <p:nvSpPr>
          <p:cNvPr id="15" name="Text 13"/>
          <p:cNvSpPr/>
          <p:nvPr/>
        </p:nvSpPr>
        <p:spPr>
          <a:xfrm>
            <a:off x="411480" y="3621024"/>
            <a:ext cx="2560320" cy="512064"/>
          </a:xfrm>
          <a:prstGeom prst="rect">
            <a:avLst/>
          </a:prstGeom>
          <a:noFill/>
          <a:ln/>
        </p:spPr>
        <p:txBody>
          <a:bodyPr wrap="square" lIns="0" tIns="0" rIns="0" bIns="0" rtlCol="0" anchor="ctr"/>
          <a:lstStyle/>
          <a:p>
            <a:pPr marL="0" indent="0">
              <a:buNone/>
            </a:pPr>
            <a:r>
              <a:rPr lang="en-US" sz="820" dirty="0">
                <a:solidFill>
                  <a:srgbClr val="1A1A2E"/>
                </a:solidFill>
              </a:rPr>
              <a:t>›  Sample Pair Analysis (SPA): estimates embedding rate by analysing spatial correlations</a:t>
            </a:r>
            <a:endParaRPr lang="en-US" sz="820" dirty="0"/>
          </a:p>
        </p:txBody>
      </p:sp>
      <p:sp>
        <p:nvSpPr>
          <p:cNvPr id="16" name="Text 14"/>
          <p:cNvSpPr/>
          <p:nvPr/>
        </p:nvSpPr>
        <p:spPr>
          <a:xfrm>
            <a:off x="411480" y="4169664"/>
            <a:ext cx="2560320" cy="512064"/>
          </a:xfrm>
          <a:prstGeom prst="rect">
            <a:avLst/>
          </a:prstGeom>
          <a:noFill/>
          <a:ln/>
        </p:spPr>
        <p:txBody>
          <a:bodyPr wrap="square" lIns="0" tIns="0" rIns="0" bIns="0" rtlCol="0" anchor="ctr"/>
          <a:lstStyle/>
          <a:p>
            <a:pPr marL="0" indent="0">
              <a:buNone/>
            </a:pPr>
            <a:r>
              <a:rPr lang="en-US" sz="820" dirty="0">
                <a:solidFill>
                  <a:srgbClr val="1A1A2E"/>
                </a:solidFill>
              </a:rPr>
              <a:t>›  Histogram analysis: compares colour value frequency histograms against a reference</a:t>
            </a:r>
            <a:endParaRPr lang="en-US" sz="820" dirty="0"/>
          </a:p>
        </p:txBody>
      </p:sp>
      <p:sp>
        <p:nvSpPr>
          <p:cNvPr id="17" name="Shape 15"/>
          <p:cNvSpPr/>
          <p:nvPr/>
        </p:nvSpPr>
        <p:spPr>
          <a:xfrm>
            <a:off x="3172968" y="2139696"/>
            <a:ext cx="2743200" cy="2651760"/>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172968" y="2139696"/>
            <a:ext cx="2743200" cy="64008"/>
          </a:xfrm>
          <a:prstGeom prst="rect">
            <a:avLst/>
          </a:prstGeom>
          <a:solidFill>
            <a:srgbClr val="2EC4B6"/>
          </a:solidFill>
          <a:ln w="12700">
            <a:solidFill>
              <a:srgbClr val="2EC4B6"/>
            </a:solidFill>
            <a:prstDash val="solid"/>
          </a:ln>
        </p:spPr>
        <p:txBody>
          <a:bodyPr/>
          <a:lstStyle/>
          <a:p>
            <a:endParaRPr lang="en-SG"/>
          </a:p>
        </p:txBody>
      </p:sp>
      <p:sp>
        <p:nvSpPr>
          <p:cNvPr id="19" name="Text 17"/>
          <p:cNvSpPr/>
          <p:nvPr/>
        </p:nvSpPr>
        <p:spPr>
          <a:xfrm>
            <a:off x="3264408" y="2231136"/>
            <a:ext cx="2560320" cy="256032"/>
          </a:xfrm>
          <a:prstGeom prst="rect">
            <a:avLst/>
          </a:prstGeom>
          <a:noFill/>
          <a:ln/>
        </p:spPr>
        <p:txBody>
          <a:bodyPr wrap="square" lIns="0" tIns="0" rIns="0" bIns="0" rtlCol="0" anchor="ctr"/>
          <a:lstStyle/>
          <a:p>
            <a:pPr marL="0" indent="0">
              <a:buNone/>
            </a:pPr>
            <a:r>
              <a:rPr lang="en-US" sz="1050" b="1" dirty="0">
                <a:solidFill>
                  <a:srgbClr val="2EC4B6"/>
                </a:solidFill>
              </a:rPr>
              <a:t>👁️  Visual Inspection</a:t>
            </a:r>
            <a:endParaRPr lang="en-US" sz="1050" dirty="0"/>
          </a:p>
        </p:txBody>
      </p:sp>
      <p:sp>
        <p:nvSpPr>
          <p:cNvPr id="20" name="Text 18"/>
          <p:cNvSpPr/>
          <p:nvPr/>
        </p:nvSpPr>
        <p:spPr>
          <a:xfrm>
            <a:off x="3264408" y="2523744"/>
            <a:ext cx="2560320" cy="512064"/>
          </a:xfrm>
          <a:prstGeom prst="rect">
            <a:avLst/>
          </a:prstGeom>
          <a:noFill/>
          <a:ln/>
        </p:spPr>
        <p:txBody>
          <a:bodyPr wrap="square" lIns="0" tIns="0" rIns="0" bIns="0" rtlCol="0" anchor="ctr"/>
          <a:lstStyle/>
          <a:p>
            <a:pPr marL="0" indent="0">
              <a:buNone/>
            </a:pPr>
            <a:r>
              <a:rPr lang="en-US" sz="820" dirty="0">
                <a:solidFill>
                  <a:srgbClr val="1A1A2E"/>
                </a:solidFill>
              </a:rPr>
              <a:t>›  Enhanced LSB view: extract and amplify the least significant bits of each channel — hidden data often shows as visible noise patterns in otherwise smooth areas</a:t>
            </a:r>
            <a:endParaRPr lang="en-US" sz="820" dirty="0"/>
          </a:p>
        </p:txBody>
      </p:sp>
      <p:sp>
        <p:nvSpPr>
          <p:cNvPr id="21" name="Text 19"/>
          <p:cNvSpPr/>
          <p:nvPr/>
        </p:nvSpPr>
        <p:spPr>
          <a:xfrm>
            <a:off x="3264408" y="3072384"/>
            <a:ext cx="2560320" cy="512064"/>
          </a:xfrm>
          <a:prstGeom prst="rect">
            <a:avLst/>
          </a:prstGeom>
          <a:noFill/>
          <a:ln/>
        </p:spPr>
        <p:txBody>
          <a:bodyPr wrap="square" lIns="0" tIns="0" rIns="0" bIns="0" rtlCol="0" anchor="ctr"/>
          <a:lstStyle/>
          <a:p>
            <a:pPr marL="0" indent="0">
              <a:buNone/>
            </a:pPr>
            <a:r>
              <a:rPr lang="en-US" sz="820" dirty="0">
                <a:solidFill>
                  <a:srgbClr val="1A1A2E"/>
                </a:solidFill>
              </a:rPr>
              <a:t>›  StegSolve (Java tool): applies colour plane filters, bit plane extraction, and LSB visualisation</a:t>
            </a:r>
            <a:endParaRPr lang="en-US" sz="820" dirty="0"/>
          </a:p>
        </p:txBody>
      </p:sp>
      <p:sp>
        <p:nvSpPr>
          <p:cNvPr id="22" name="Text 20"/>
          <p:cNvSpPr/>
          <p:nvPr/>
        </p:nvSpPr>
        <p:spPr>
          <a:xfrm>
            <a:off x="3264408" y="3621024"/>
            <a:ext cx="2560320" cy="512064"/>
          </a:xfrm>
          <a:prstGeom prst="rect">
            <a:avLst/>
          </a:prstGeom>
          <a:noFill/>
          <a:ln/>
        </p:spPr>
        <p:txBody>
          <a:bodyPr wrap="square" lIns="0" tIns="0" rIns="0" bIns="0" rtlCol="0" anchor="ctr"/>
          <a:lstStyle/>
          <a:p>
            <a:pPr marL="0" indent="0">
              <a:buNone/>
            </a:pPr>
            <a:r>
              <a:rPr lang="en-US" sz="820" dirty="0">
                <a:solidFill>
                  <a:srgbClr val="1A1A2E"/>
                </a:solidFill>
              </a:rPr>
              <a:t>›  Look for: noise patterns in smooth backgrounds, unusual artefacting, unexpected file size vs dimensions</a:t>
            </a:r>
            <a:endParaRPr lang="en-US" sz="820" dirty="0"/>
          </a:p>
        </p:txBody>
      </p:sp>
      <p:sp>
        <p:nvSpPr>
          <p:cNvPr id="23" name="Text 21"/>
          <p:cNvSpPr/>
          <p:nvPr/>
        </p:nvSpPr>
        <p:spPr>
          <a:xfrm>
            <a:off x="3264408" y="4169664"/>
            <a:ext cx="2560320" cy="512064"/>
          </a:xfrm>
          <a:prstGeom prst="rect">
            <a:avLst/>
          </a:prstGeom>
          <a:noFill/>
          <a:ln/>
        </p:spPr>
        <p:txBody>
          <a:bodyPr wrap="square" lIns="0" tIns="0" rIns="0" bIns="0" rtlCol="0" anchor="ctr"/>
          <a:lstStyle/>
          <a:p>
            <a:pPr marL="0" indent="0">
              <a:buNone/>
            </a:pPr>
            <a:r>
              <a:rPr lang="en-US" sz="820" dirty="0">
                <a:solidFill>
                  <a:srgbClr val="1A1A2E"/>
                </a:solidFill>
              </a:rPr>
              <a:t>›  Compare side-by-side with an original unmodified version of the image if available</a:t>
            </a:r>
            <a:endParaRPr lang="en-US" sz="820" dirty="0"/>
          </a:p>
        </p:txBody>
      </p:sp>
      <p:sp>
        <p:nvSpPr>
          <p:cNvPr id="24" name="Shape 22"/>
          <p:cNvSpPr/>
          <p:nvPr/>
        </p:nvSpPr>
        <p:spPr>
          <a:xfrm>
            <a:off x="6025896" y="2139696"/>
            <a:ext cx="2743200" cy="2651760"/>
          </a:xfrm>
          <a:prstGeom prst="rect">
            <a:avLst/>
          </a:prstGeom>
          <a:solidFill>
            <a:srgbClr val="EEF6FB"/>
          </a:solidFill>
          <a:ln w="12700">
            <a:solidFill>
              <a:srgbClr val="EEF6FB"/>
            </a:solidFill>
            <a:prstDash val="solid"/>
          </a:ln>
        </p:spPr>
        <p:txBody>
          <a:bodyPr/>
          <a:lstStyle/>
          <a:p>
            <a:endParaRPr lang="en-SG"/>
          </a:p>
        </p:txBody>
      </p:sp>
      <p:sp>
        <p:nvSpPr>
          <p:cNvPr id="25" name="Shape 23"/>
          <p:cNvSpPr/>
          <p:nvPr/>
        </p:nvSpPr>
        <p:spPr>
          <a:xfrm>
            <a:off x="6025896" y="2139696"/>
            <a:ext cx="2743200" cy="64008"/>
          </a:xfrm>
          <a:prstGeom prst="rect">
            <a:avLst/>
          </a:prstGeom>
          <a:solidFill>
            <a:srgbClr val="F4A261"/>
          </a:solidFill>
          <a:ln w="12700">
            <a:solidFill>
              <a:srgbClr val="F4A261"/>
            </a:solidFill>
            <a:prstDash val="solid"/>
          </a:ln>
        </p:spPr>
        <p:txBody>
          <a:bodyPr/>
          <a:lstStyle/>
          <a:p>
            <a:endParaRPr lang="en-SG"/>
          </a:p>
        </p:txBody>
      </p:sp>
      <p:sp>
        <p:nvSpPr>
          <p:cNvPr id="26" name="Text 24"/>
          <p:cNvSpPr/>
          <p:nvPr/>
        </p:nvSpPr>
        <p:spPr>
          <a:xfrm>
            <a:off x="6117336" y="2231136"/>
            <a:ext cx="2560320" cy="256032"/>
          </a:xfrm>
          <a:prstGeom prst="rect">
            <a:avLst/>
          </a:prstGeom>
          <a:noFill/>
          <a:ln/>
        </p:spPr>
        <p:txBody>
          <a:bodyPr wrap="square" lIns="0" tIns="0" rIns="0" bIns="0" rtlCol="0" anchor="ctr"/>
          <a:lstStyle/>
          <a:p>
            <a:pPr marL="0" indent="0">
              <a:buNone/>
            </a:pPr>
            <a:r>
              <a:rPr lang="en-US" sz="1050" b="1" dirty="0">
                <a:solidFill>
                  <a:srgbClr val="F4A261"/>
                </a:solidFill>
              </a:rPr>
              <a:t>🔎  Signature &amp; Tool Detection</a:t>
            </a:r>
            <a:endParaRPr lang="en-US" sz="1050" dirty="0"/>
          </a:p>
        </p:txBody>
      </p:sp>
      <p:sp>
        <p:nvSpPr>
          <p:cNvPr id="27" name="Text 25"/>
          <p:cNvSpPr/>
          <p:nvPr/>
        </p:nvSpPr>
        <p:spPr>
          <a:xfrm>
            <a:off x="6117336" y="2523744"/>
            <a:ext cx="2560320" cy="512064"/>
          </a:xfrm>
          <a:prstGeom prst="rect">
            <a:avLst/>
          </a:prstGeom>
          <a:noFill/>
          <a:ln/>
        </p:spPr>
        <p:txBody>
          <a:bodyPr wrap="square" lIns="0" tIns="0" rIns="0" bIns="0" rtlCol="0" anchor="ctr"/>
          <a:lstStyle/>
          <a:p>
            <a:pPr marL="0" indent="0">
              <a:buNone/>
            </a:pPr>
            <a:r>
              <a:rPr lang="en-US" sz="820" dirty="0">
                <a:solidFill>
                  <a:srgbClr val="1A1A2E"/>
                </a:solidFill>
              </a:rPr>
              <a:t>›  Many steg tools leave detectable signatures (header structures, characteristic byte patterns)</a:t>
            </a:r>
            <a:endParaRPr lang="en-US" sz="820" dirty="0"/>
          </a:p>
        </p:txBody>
      </p:sp>
      <p:sp>
        <p:nvSpPr>
          <p:cNvPr id="28" name="Text 26"/>
          <p:cNvSpPr/>
          <p:nvPr/>
        </p:nvSpPr>
        <p:spPr>
          <a:xfrm>
            <a:off x="6117336" y="3072384"/>
            <a:ext cx="2560320" cy="512064"/>
          </a:xfrm>
          <a:prstGeom prst="rect">
            <a:avLst/>
          </a:prstGeom>
          <a:noFill/>
          <a:ln/>
        </p:spPr>
        <p:txBody>
          <a:bodyPr wrap="square" lIns="0" tIns="0" rIns="0" bIns="0" rtlCol="0" anchor="ctr"/>
          <a:lstStyle/>
          <a:p>
            <a:pPr marL="0" indent="0">
              <a:buNone/>
            </a:pPr>
            <a:r>
              <a:rPr lang="en-US" sz="820" dirty="0">
                <a:solidFill>
                  <a:srgbClr val="1A1A2E"/>
                </a:solidFill>
              </a:rPr>
              <a:t>›  StegDetect: identifies images processed by JSteg, JPHide, OutGuess, InvisibleSecrets</a:t>
            </a:r>
            <a:endParaRPr lang="en-US" sz="820" dirty="0"/>
          </a:p>
        </p:txBody>
      </p:sp>
      <p:sp>
        <p:nvSpPr>
          <p:cNvPr id="29" name="Text 27"/>
          <p:cNvSpPr/>
          <p:nvPr/>
        </p:nvSpPr>
        <p:spPr>
          <a:xfrm>
            <a:off x="6117336" y="3621024"/>
            <a:ext cx="2560320" cy="512064"/>
          </a:xfrm>
          <a:prstGeom prst="rect">
            <a:avLst/>
          </a:prstGeom>
          <a:noFill/>
          <a:ln/>
        </p:spPr>
        <p:txBody>
          <a:bodyPr wrap="square" lIns="0" tIns="0" rIns="0" bIns="0" rtlCol="0" anchor="ctr"/>
          <a:lstStyle/>
          <a:p>
            <a:pPr marL="0" indent="0">
              <a:buNone/>
            </a:pPr>
            <a:r>
              <a:rPr lang="en-US" sz="820" dirty="0">
                <a:solidFill>
                  <a:srgbClr val="1A1A2E"/>
                </a:solidFill>
              </a:rPr>
              <a:t>›  Binwalk: scans for embedded file signatures and entropy anomalies within binary files</a:t>
            </a:r>
            <a:endParaRPr lang="en-US" sz="820" dirty="0"/>
          </a:p>
        </p:txBody>
      </p:sp>
      <p:sp>
        <p:nvSpPr>
          <p:cNvPr id="30" name="Text 28"/>
          <p:cNvSpPr/>
          <p:nvPr/>
        </p:nvSpPr>
        <p:spPr>
          <a:xfrm>
            <a:off x="6117336" y="4169664"/>
            <a:ext cx="2560320" cy="512064"/>
          </a:xfrm>
          <a:prstGeom prst="rect">
            <a:avLst/>
          </a:prstGeom>
          <a:noFill/>
          <a:ln/>
        </p:spPr>
        <p:txBody>
          <a:bodyPr wrap="square" lIns="0" tIns="0" rIns="0" bIns="0" rtlCol="0" anchor="ctr"/>
          <a:lstStyle/>
          <a:p>
            <a:pPr marL="0" indent="0">
              <a:buNone/>
            </a:pPr>
            <a:r>
              <a:rPr lang="en-US" sz="820" dirty="0">
                <a:solidFill>
                  <a:srgbClr val="1A1A2E"/>
                </a:solidFill>
              </a:rPr>
              <a:t>›  Zsteg: detects LSB steganography in PNG and BMP files by checking multiple bit planes</a:t>
            </a:r>
            <a:endParaRPr lang="en-US" sz="820" dirty="0"/>
          </a:p>
        </p:txBody>
      </p:sp>
      <p:sp>
        <p:nvSpPr>
          <p:cNvPr id="31" name="Text 29"/>
          <p:cNvSpPr/>
          <p:nvPr/>
        </p:nvSpPr>
        <p:spPr>
          <a:xfrm>
            <a:off x="320040" y="4809744"/>
            <a:ext cx="8503920" cy="91440"/>
          </a:xfrm>
          <a:prstGeom prst="rect">
            <a:avLst/>
          </a:prstGeom>
          <a:noFill/>
          <a:ln/>
        </p:spPr>
        <p:txBody>
          <a:bodyPr wrap="square" lIns="0" tIns="0" rIns="0" bIns="0" rtlCol="0" anchor="ctr"/>
          <a:lstStyle/>
          <a:p>
            <a:pPr marL="0" indent="0">
              <a:buNone/>
            </a:pPr>
            <a:r>
              <a:rPr lang="en-US" sz="780" i="1" dirty="0">
                <a:solidFill>
                  <a:srgbClr val="8899AA"/>
                </a:solidFill>
              </a:rPr>
              <a:t>Tools: StegDetect · Zsteg · StegSolve · Binwalk · StegExpose · OpenStego · Ghiro (automated pipeline)  ·  stegoveritas (Python)</a:t>
            </a:r>
            <a:endParaRPr lang="en-US" sz="7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8241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890979" cy="256032"/>
          </a:xfrm>
          <a:prstGeom prst="rect">
            <a:avLst/>
          </a:prstGeom>
          <a:noFill/>
          <a:ln/>
        </p:spPr>
        <p:txBody>
          <a:bodyPr wrap="square" lIns="0" tIns="0" rIns="0" bIns="0" rtlCol="0" anchor="ctr"/>
          <a:lstStyle/>
          <a:p>
            <a:pPr marL="0" indent="0">
              <a:buNone/>
            </a:pPr>
            <a:r>
              <a:rPr lang="en-US" sz="850" b="1" dirty="0">
                <a:solidFill>
                  <a:srgbClr val="0D1B2A"/>
                </a:solidFill>
              </a:rPr>
              <a:t>SECTION 6 · STEGANALYSIS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Steg Detection: Tools &amp; Commands</a:t>
            </a:r>
            <a:endParaRPr lang="en-US" sz="2800" dirty="0"/>
          </a:p>
        </p:txBody>
      </p:sp>
      <p:sp>
        <p:nvSpPr>
          <p:cNvPr id="5" name="Shape 3"/>
          <p:cNvSpPr/>
          <p:nvPr/>
        </p:nvSpPr>
        <p:spPr>
          <a:xfrm>
            <a:off x="320040" y="1170432"/>
            <a:ext cx="8503920" cy="36576"/>
          </a:xfrm>
          <a:prstGeom prst="rect">
            <a:avLst/>
          </a:prstGeom>
          <a:solidFill>
            <a:srgbClr val="FF6B9D"/>
          </a:solidFill>
          <a:ln w="12700">
            <a:solidFill>
              <a:srgbClr val="FF6B9D"/>
            </a:solidFill>
            <a:prstDash val="solid"/>
          </a:ln>
        </p:spPr>
        <p:txBody>
          <a:bodyPr/>
          <a:lstStyle/>
          <a:p>
            <a:endParaRPr lang="en-SG"/>
          </a:p>
        </p:txBody>
      </p:sp>
      <p:sp>
        <p:nvSpPr>
          <p:cNvPr id="6" name="Shape 4"/>
          <p:cNvSpPr/>
          <p:nvPr/>
        </p:nvSpPr>
        <p:spPr>
          <a:xfrm>
            <a:off x="320040" y="1316736"/>
            <a:ext cx="4224528" cy="1115568"/>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316736"/>
            <a:ext cx="4224528" cy="54864"/>
          </a:xfrm>
          <a:prstGeom prst="rect">
            <a:avLst/>
          </a:prstGeom>
          <a:solidFill>
            <a:srgbClr val="2EC4B6"/>
          </a:solidFill>
          <a:ln w="12700">
            <a:solidFill>
              <a:srgbClr val="2EC4B6"/>
            </a:solidFill>
            <a:prstDash val="solid"/>
          </a:ln>
        </p:spPr>
        <p:txBody>
          <a:bodyPr/>
          <a:lstStyle/>
          <a:p>
            <a:endParaRPr lang="en-SG"/>
          </a:p>
        </p:txBody>
      </p:sp>
      <p:sp>
        <p:nvSpPr>
          <p:cNvPr id="8" name="Text 6"/>
          <p:cNvSpPr/>
          <p:nvPr/>
        </p:nvSpPr>
        <p:spPr>
          <a:xfrm>
            <a:off x="429768" y="1408176"/>
            <a:ext cx="2286000" cy="219456"/>
          </a:xfrm>
          <a:prstGeom prst="rect">
            <a:avLst/>
          </a:prstGeom>
          <a:noFill/>
          <a:ln/>
        </p:spPr>
        <p:txBody>
          <a:bodyPr wrap="square" lIns="0" tIns="0" rIns="0" bIns="0" rtlCol="0" anchor="ctr"/>
          <a:lstStyle/>
          <a:p>
            <a:pPr marL="0" indent="0">
              <a:buNone/>
            </a:pPr>
            <a:r>
              <a:rPr lang="en-US" sz="1200" b="1" dirty="0">
                <a:solidFill>
                  <a:srgbClr val="2EC4B6"/>
                </a:solidFill>
              </a:rPr>
              <a:t>Steghide</a:t>
            </a:r>
            <a:endParaRPr lang="en-US" sz="1200" dirty="0"/>
          </a:p>
        </p:txBody>
      </p:sp>
      <p:sp>
        <p:nvSpPr>
          <p:cNvPr id="9" name="Shape 7"/>
          <p:cNvSpPr/>
          <p:nvPr/>
        </p:nvSpPr>
        <p:spPr>
          <a:xfrm>
            <a:off x="429768" y="1664208"/>
            <a:ext cx="4005072" cy="146304"/>
          </a:xfrm>
          <a:prstGeom prst="rect">
            <a:avLst/>
          </a:prstGeom>
          <a:solidFill>
            <a:srgbClr val="FFFFFF"/>
          </a:solidFill>
          <a:ln w="12700">
            <a:solidFill>
              <a:srgbClr val="E2E8F0"/>
            </a:solidFill>
            <a:prstDash val="solid"/>
          </a:ln>
        </p:spPr>
        <p:txBody>
          <a:bodyPr/>
          <a:lstStyle/>
          <a:p>
            <a:endParaRPr lang="en-SG"/>
          </a:p>
        </p:txBody>
      </p:sp>
      <p:sp>
        <p:nvSpPr>
          <p:cNvPr id="10" name="Text 8"/>
          <p:cNvSpPr/>
          <p:nvPr/>
        </p:nvSpPr>
        <p:spPr>
          <a:xfrm>
            <a:off x="466344" y="1673352"/>
            <a:ext cx="3931920" cy="128016"/>
          </a:xfrm>
          <a:prstGeom prst="rect">
            <a:avLst/>
          </a:prstGeom>
          <a:noFill/>
          <a:ln/>
        </p:spPr>
        <p:txBody>
          <a:bodyPr wrap="square" lIns="0" tIns="0" rIns="0" bIns="0" rtlCol="0" anchor="ctr"/>
          <a:lstStyle/>
          <a:p>
            <a:pPr marL="0" indent="0">
              <a:buNone/>
            </a:pPr>
            <a:r>
              <a:rPr lang="en-US" sz="700" dirty="0">
                <a:solidFill>
                  <a:srgbClr val="F4A261"/>
                </a:solidFill>
                <a:latin typeface="Consolas" pitchFamily="34" charset="0"/>
                <a:ea typeface="Consolas" pitchFamily="34" charset="-122"/>
                <a:cs typeface="Consolas" pitchFamily="34" charset="-120"/>
              </a:rPr>
              <a:t>detect: steghide info photo.jpg</a:t>
            </a:r>
            <a:endParaRPr lang="en-US" sz="700" dirty="0"/>
          </a:p>
        </p:txBody>
      </p:sp>
      <p:sp>
        <p:nvSpPr>
          <p:cNvPr id="11" name="Shape 9"/>
          <p:cNvSpPr/>
          <p:nvPr/>
        </p:nvSpPr>
        <p:spPr>
          <a:xfrm>
            <a:off x="429768" y="1828800"/>
            <a:ext cx="4005072" cy="128016"/>
          </a:xfrm>
          <a:prstGeom prst="rect">
            <a:avLst/>
          </a:prstGeom>
          <a:solidFill>
            <a:srgbClr val="FFFFFF"/>
          </a:solidFill>
          <a:ln w="12700">
            <a:solidFill>
              <a:srgbClr val="E2E8F0"/>
            </a:solidFill>
            <a:prstDash val="solid"/>
          </a:ln>
        </p:spPr>
        <p:txBody>
          <a:bodyPr/>
          <a:lstStyle/>
          <a:p>
            <a:endParaRPr lang="en-SG"/>
          </a:p>
        </p:txBody>
      </p:sp>
      <p:sp>
        <p:nvSpPr>
          <p:cNvPr id="12" name="Text 10"/>
          <p:cNvSpPr/>
          <p:nvPr/>
        </p:nvSpPr>
        <p:spPr>
          <a:xfrm>
            <a:off x="466344" y="1837944"/>
            <a:ext cx="3931920" cy="109728"/>
          </a:xfrm>
          <a:prstGeom prst="rect">
            <a:avLst/>
          </a:prstGeom>
          <a:noFill/>
          <a:ln/>
        </p:spPr>
        <p:txBody>
          <a:bodyPr wrap="square" lIns="0" tIns="0" rIns="0" bIns="0" rtlCol="0" anchor="ctr"/>
          <a:lstStyle/>
          <a:p>
            <a:pPr marL="0" indent="0">
              <a:buNone/>
            </a:pPr>
            <a:r>
              <a:rPr lang="en-US" sz="680" dirty="0">
                <a:solidFill>
                  <a:srgbClr val="2ECC71"/>
                </a:solidFill>
                <a:latin typeface="Consolas" pitchFamily="34" charset="0"/>
                <a:ea typeface="Consolas" pitchFamily="34" charset="-122"/>
                <a:cs typeface="Consolas" pitchFamily="34" charset="-120"/>
              </a:rPr>
              <a:t>extract: steghide extract -sf photo.jpg -p s3cr3t</a:t>
            </a:r>
            <a:endParaRPr lang="en-US" sz="680" dirty="0"/>
          </a:p>
        </p:txBody>
      </p:sp>
      <p:sp>
        <p:nvSpPr>
          <p:cNvPr id="13" name="Text 11"/>
          <p:cNvSpPr/>
          <p:nvPr/>
        </p:nvSpPr>
        <p:spPr>
          <a:xfrm>
            <a:off x="429768" y="1993392"/>
            <a:ext cx="4005072" cy="402336"/>
          </a:xfrm>
          <a:prstGeom prst="rect">
            <a:avLst/>
          </a:prstGeom>
          <a:noFill/>
          <a:ln/>
        </p:spPr>
        <p:txBody>
          <a:bodyPr wrap="square" lIns="0" tIns="0" rIns="0" bIns="0" rtlCol="0" anchor="ctr"/>
          <a:lstStyle/>
          <a:p>
            <a:pPr marL="0" indent="0">
              <a:buNone/>
            </a:pPr>
            <a:r>
              <a:rPr lang="en-US" sz="800" dirty="0">
                <a:solidFill>
                  <a:srgbClr val="1A1A2E"/>
                </a:solidFill>
              </a:rPr>
              <a:t>Embeds in JPEG/BMP/WAV. Passphrase protected. Extract command reveals hidden file if password known.</a:t>
            </a:r>
            <a:endParaRPr lang="en-US" sz="800" dirty="0"/>
          </a:p>
        </p:txBody>
      </p:sp>
      <p:sp>
        <p:nvSpPr>
          <p:cNvPr id="14" name="Shape 12"/>
          <p:cNvSpPr/>
          <p:nvPr/>
        </p:nvSpPr>
        <p:spPr>
          <a:xfrm>
            <a:off x="4690872" y="1316736"/>
            <a:ext cx="4224528" cy="1115568"/>
          </a:xfrm>
          <a:prstGeom prst="rect">
            <a:avLst/>
          </a:prstGeom>
          <a:solidFill>
            <a:srgbClr val="EEF6FB"/>
          </a:solidFill>
          <a:ln w="12700">
            <a:solidFill>
              <a:srgbClr val="EEF6FB"/>
            </a:solidFill>
            <a:prstDash val="solid"/>
          </a:ln>
        </p:spPr>
        <p:txBody>
          <a:bodyPr/>
          <a:lstStyle/>
          <a:p>
            <a:endParaRPr lang="en-SG"/>
          </a:p>
        </p:txBody>
      </p:sp>
      <p:sp>
        <p:nvSpPr>
          <p:cNvPr id="15" name="Shape 13"/>
          <p:cNvSpPr/>
          <p:nvPr/>
        </p:nvSpPr>
        <p:spPr>
          <a:xfrm>
            <a:off x="4690872" y="1316736"/>
            <a:ext cx="4224528" cy="54864"/>
          </a:xfrm>
          <a:prstGeom prst="rect">
            <a:avLst/>
          </a:prstGeom>
          <a:solidFill>
            <a:srgbClr val="F4A261"/>
          </a:solidFill>
          <a:ln w="12700">
            <a:solidFill>
              <a:srgbClr val="F4A261"/>
            </a:solidFill>
            <a:prstDash val="solid"/>
          </a:ln>
        </p:spPr>
        <p:txBody>
          <a:bodyPr/>
          <a:lstStyle/>
          <a:p>
            <a:endParaRPr lang="en-SG"/>
          </a:p>
        </p:txBody>
      </p:sp>
      <p:sp>
        <p:nvSpPr>
          <p:cNvPr id="16" name="Text 14"/>
          <p:cNvSpPr/>
          <p:nvPr/>
        </p:nvSpPr>
        <p:spPr>
          <a:xfrm>
            <a:off x="4800600" y="1408176"/>
            <a:ext cx="2286000" cy="219456"/>
          </a:xfrm>
          <a:prstGeom prst="rect">
            <a:avLst/>
          </a:prstGeom>
          <a:noFill/>
          <a:ln/>
        </p:spPr>
        <p:txBody>
          <a:bodyPr wrap="square" lIns="0" tIns="0" rIns="0" bIns="0" rtlCol="0" anchor="ctr"/>
          <a:lstStyle/>
          <a:p>
            <a:pPr marL="0" indent="0">
              <a:buNone/>
            </a:pPr>
            <a:r>
              <a:rPr lang="en-US" sz="1200" b="1" dirty="0">
                <a:solidFill>
                  <a:srgbClr val="F4A261"/>
                </a:solidFill>
              </a:rPr>
              <a:t>Binwalk</a:t>
            </a:r>
            <a:endParaRPr lang="en-US" sz="1200" dirty="0"/>
          </a:p>
        </p:txBody>
      </p:sp>
      <p:sp>
        <p:nvSpPr>
          <p:cNvPr id="17" name="Shape 15"/>
          <p:cNvSpPr/>
          <p:nvPr/>
        </p:nvSpPr>
        <p:spPr>
          <a:xfrm>
            <a:off x="4800600" y="1664208"/>
            <a:ext cx="4005072" cy="146304"/>
          </a:xfrm>
          <a:prstGeom prst="rect">
            <a:avLst/>
          </a:prstGeom>
          <a:solidFill>
            <a:srgbClr val="FFFFFF"/>
          </a:solidFill>
          <a:ln w="12700">
            <a:solidFill>
              <a:srgbClr val="E2E8F0"/>
            </a:solidFill>
            <a:prstDash val="solid"/>
          </a:ln>
        </p:spPr>
        <p:txBody>
          <a:bodyPr/>
          <a:lstStyle/>
          <a:p>
            <a:endParaRPr lang="en-SG"/>
          </a:p>
        </p:txBody>
      </p:sp>
      <p:sp>
        <p:nvSpPr>
          <p:cNvPr id="18" name="Text 16"/>
          <p:cNvSpPr/>
          <p:nvPr/>
        </p:nvSpPr>
        <p:spPr>
          <a:xfrm>
            <a:off x="4837176" y="1673352"/>
            <a:ext cx="3931920" cy="128016"/>
          </a:xfrm>
          <a:prstGeom prst="rect">
            <a:avLst/>
          </a:prstGeom>
          <a:noFill/>
          <a:ln/>
        </p:spPr>
        <p:txBody>
          <a:bodyPr wrap="square" lIns="0" tIns="0" rIns="0" bIns="0" rtlCol="0" anchor="ctr"/>
          <a:lstStyle/>
          <a:p>
            <a:pPr marL="0" indent="0">
              <a:buNone/>
            </a:pPr>
            <a:r>
              <a:rPr lang="en-US" sz="700" dirty="0">
                <a:solidFill>
                  <a:srgbClr val="F4A261"/>
                </a:solidFill>
                <a:latin typeface="Consolas" pitchFamily="34" charset="0"/>
                <a:ea typeface="Consolas" pitchFamily="34" charset="-122"/>
                <a:cs typeface="Consolas" pitchFamily="34" charset="-120"/>
              </a:rPr>
              <a:t>detect: binwalk photo.jpg</a:t>
            </a:r>
            <a:endParaRPr lang="en-US" sz="700" dirty="0"/>
          </a:p>
        </p:txBody>
      </p:sp>
      <p:sp>
        <p:nvSpPr>
          <p:cNvPr id="19" name="Shape 17"/>
          <p:cNvSpPr/>
          <p:nvPr/>
        </p:nvSpPr>
        <p:spPr>
          <a:xfrm>
            <a:off x="4800600" y="1828800"/>
            <a:ext cx="4005072" cy="128016"/>
          </a:xfrm>
          <a:prstGeom prst="rect">
            <a:avLst/>
          </a:prstGeom>
          <a:solidFill>
            <a:srgbClr val="FFFFFF"/>
          </a:solidFill>
          <a:ln w="12700">
            <a:solidFill>
              <a:srgbClr val="E2E8F0"/>
            </a:solidFill>
            <a:prstDash val="solid"/>
          </a:ln>
        </p:spPr>
        <p:txBody>
          <a:bodyPr/>
          <a:lstStyle/>
          <a:p>
            <a:endParaRPr lang="en-SG"/>
          </a:p>
        </p:txBody>
      </p:sp>
      <p:sp>
        <p:nvSpPr>
          <p:cNvPr id="20" name="Text 18"/>
          <p:cNvSpPr/>
          <p:nvPr/>
        </p:nvSpPr>
        <p:spPr>
          <a:xfrm>
            <a:off x="4837176" y="1837944"/>
            <a:ext cx="3931920" cy="109728"/>
          </a:xfrm>
          <a:prstGeom prst="rect">
            <a:avLst/>
          </a:prstGeom>
          <a:noFill/>
          <a:ln/>
        </p:spPr>
        <p:txBody>
          <a:bodyPr wrap="square" lIns="0" tIns="0" rIns="0" bIns="0" rtlCol="0" anchor="ctr"/>
          <a:lstStyle/>
          <a:p>
            <a:pPr marL="0" indent="0">
              <a:buNone/>
            </a:pPr>
            <a:r>
              <a:rPr lang="en-US" sz="680" dirty="0">
                <a:solidFill>
                  <a:srgbClr val="2ECC71"/>
                </a:solidFill>
                <a:latin typeface="Consolas" pitchFamily="34" charset="0"/>
                <a:ea typeface="Consolas" pitchFamily="34" charset="-122"/>
                <a:cs typeface="Consolas" pitchFamily="34" charset="-120"/>
              </a:rPr>
              <a:t>extract: binwalk --extract photo.jpg</a:t>
            </a:r>
            <a:endParaRPr lang="en-US" sz="680" dirty="0"/>
          </a:p>
        </p:txBody>
      </p:sp>
      <p:sp>
        <p:nvSpPr>
          <p:cNvPr id="21" name="Text 19"/>
          <p:cNvSpPr/>
          <p:nvPr/>
        </p:nvSpPr>
        <p:spPr>
          <a:xfrm>
            <a:off x="4800600" y="1993392"/>
            <a:ext cx="4005072" cy="402336"/>
          </a:xfrm>
          <a:prstGeom prst="rect">
            <a:avLst/>
          </a:prstGeom>
          <a:noFill/>
          <a:ln/>
        </p:spPr>
        <p:txBody>
          <a:bodyPr wrap="square" lIns="0" tIns="0" rIns="0" bIns="0" rtlCol="0" anchor="ctr"/>
          <a:lstStyle/>
          <a:p>
            <a:pPr marL="0" indent="0">
              <a:buNone/>
            </a:pPr>
            <a:r>
              <a:rPr lang="en-US" sz="800" dirty="0">
                <a:solidFill>
                  <a:srgbClr val="1A1A2E"/>
                </a:solidFill>
              </a:rPr>
              <a:t>Scans for embedded file signatures and compressed data streams. Excellent for appended-data detection.</a:t>
            </a:r>
            <a:endParaRPr lang="en-US" sz="800" dirty="0"/>
          </a:p>
        </p:txBody>
      </p:sp>
      <p:sp>
        <p:nvSpPr>
          <p:cNvPr id="22" name="Shape 20"/>
          <p:cNvSpPr/>
          <p:nvPr/>
        </p:nvSpPr>
        <p:spPr>
          <a:xfrm>
            <a:off x="320040" y="2505456"/>
            <a:ext cx="4224528" cy="1115568"/>
          </a:xfrm>
          <a:prstGeom prst="rect">
            <a:avLst/>
          </a:prstGeom>
          <a:solidFill>
            <a:srgbClr val="EEF6FB"/>
          </a:solidFill>
          <a:ln w="12700">
            <a:solidFill>
              <a:srgbClr val="EEF6FB"/>
            </a:solidFill>
            <a:prstDash val="solid"/>
          </a:ln>
        </p:spPr>
        <p:txBody>
          <a:bodyPr/>
          <a:lstStyle/>
          <a:p>
            <a:endParaRPr lang="en-SG"/>
          </a:p>
        </p:txBody>
      </p:sp>
      <p:sp>
        <p:nvSpPr>
          <p:cNvPr id="23" name="Shape 21"/>
          <p:cNvSpPr/>
          <p:nvPr/>
        </p:nvSpPr>
        <p:spPr>
          <a:xfrm>
            <a:off x="320040" y="2505456"/>
            <a:ext cx="4224528" cy="54864"/>
          </a:xfrm>
          <a:prstGeom prst="rect">
            <a:avLst/>
          </a:prstGeom>
          <a:solidFill>
            <a:srgbClr val="2ECC71"/>
          </a:solidFill>
          <a:ln w="12700">
            <a:solidFill>
              <a:srgbClr val="2ECC71"/>
            </a:solidFill>
            <a:prstDash val="solid"/>
          </a:ln>
        </p:spPr>
        <p:txBody>
          <a:bodyPr/>
          <a:lstStyle/>
          <a:p>
            <a:endParaRPr lang="en-SG"/>
          </a:p>
        </p:txBody>
      </p:sp>
      <p:sp>
        <p:nvSpPr>
          <p:cNvPr id="24" name="Text 22"/>
          <p:cNvSpPr/>
          <p:nvPr/>
        </p:nvSpPr>
        <p:spPr>
          <a:xfrm>
            <a:off x="429768" y="2596896"/>
            <a:ext cx="2286000" cy="219456"/>
          </a:xfrm>
          <a:prstGeom prst="rect">
            <a:avLst/>
          </a:prstGeom>
          <a:noFill/>
          <a:ln/>
        </p:spPr>
        <p:txBody>
          <a:bodyPr wrap="square" lIns="0" tIns="0" rIns="0" bIns="0" rtlCol="0" anchor="ctr"/>
          <a:lstStyle/>
          <a:p>
            <a:pPr marL="0" indent="0">
              <a:buNone/>
            </a:pPr>
            <a:r>
              <a:rPr lang="en-US" sz="1200" b="1" dirty="0">
                <a:solidFill>
                  <a:srgbClr val="2ECC71"/>
                </a:solidFill>
              </a:rPr>
              <a:t>Zsteg</a:t>
            </a:r>
            <a:endParaRPr lang="en-US" sz="1200" dirty="0"/>
          </a:p>
        </p:txBody>
      </p:sp>
      <p:sp>
        <p:nvSpPr>
          <p:cNvPr id="25" name="Shape 23"/>
          <p:cNvSpPr/>
          <p:nvPr/>
        </p:nvSpPr>
        <p:spPr>
          <a:xfrm>
            <a:off x="429768" y="2852928"/>
            <a:ext cx="4005072" cy="146304"/>
          </a:xfrm>
          <a:prstGeom prst="rect">
            <a:avLst/>
          </a:prstGeom>
          <a:solidFill>
            <a:srgbClr val="FFFFFF"/>
          </a:solidFill>
          <a:ln w="12700">
            <a:solidFill>
              <a:srgbClr val="E2E8F0"/>
            </a:solidFill>
            <a:prstDash val="solid"/>
          </a:ln>
        </p:spPr>
        <p:txBody>
          <a:bodyPr/>
          <a:lstStyle/>
          <a:p>
            <a:endParaRPr lang="en-SG"/>
          </a:p>
        </p:txBody>
      </p:sp>
      <p:sp>
        <p:nvSpPr>
          <p:cNvPr id="26" name="Text 24"/>
          <p:cNvSpPr/>
          <p:nvPr/>
        </p:nvSpPr>
        <p:spPr>
          <a:xfrm>
            <a:off x="466344" y="2862072"/>
            <a:ext cx="3931920" cy="128016"/>
          </a:xfrm>
          <a:prstGeom prst="rect">
            <a:avLst/>
          </a:prstGeom>
          <a:noFill/>
          <a:ln/>
        </p:spPr>
        <p:txBody>
          <a:bodyPr wrap="square" lIns="0" tIns="0" rIns="0" bIns="0" rtlCol="0" anchor="ctr"/>
          <a:lstStyle/>
          <a:p>
            <a:pPr marL="0" indent="0">
              <a:buNone/>
            </a:pPr>
            <a:r>
              <a:rPr lang="en-US" sz="700" dirty="0">
                <a:solidFill>
                  <a:srgbClr val="F4A261"/>
                </a:solidFill>
                <a:latin typeface="Consolas" pitchFamily="34" charset="0"/>
                <a:ea typeface="Consolas" pitchFamily="34" charset="-122"/>
                <a:cs typeface="Consolas" pitchFamily="34" charset="-120"/>
              </a:rPr>
              <a:t>detect: zsteg photo.png</a:t>
            </a:r>
            <a:endParaRPr lang="en-US" sz="700" dirty="0"/>
          </a:p>
        </p:txBody>
      </p:sp>
      <p:sp>
        <p:nvSpPr>
          <p:cNvPr id="27" name="Shape 25"/>
          <p:cNvSpPr/>
          <p:nvPr/>
        </p:nvSpPr>
        <p:spPr>
          <a:xfrm>
            <a:off x="429768" y="3017520"/>
            <a:ext cx="4005072" cy="128016"/>
          </a:xfrm>
          <a:prstGeom prst="rect">
            <a:avLst/>
          </a:prstGeom>
          <a:solidFill>
            <a:srgbClr val="FFFFFF"/>
          </a:solidFill>
          <a:ln w="12700">
            <a:solidFill>
              <a:srgbClr val="E2E8F0"/>
            </a:solidFill>
            <a:prstDash val="solid"/>
          </a:ln>
        </p:spPr>
        <p:txBody>
          <a:bodyPr/>
          <a:lstStyle/>
          <a:p>
            <a:endParaRPr lang="en-SG"/>
          </a:p>
        </p:txBody>
      </p:sp>
      <p:sp>
        <p:nvSpPr>
          <p:cNvPr id="28" name="Text 26"/>
          <p:cNvSpPr/>
          <p:nvPr/>
        </p:nvSpPr>
        <p:spPr>
          <a:xfrm>
            <a:off x="466344" y="3026664"/>
            <a:ext cx="3931920" cy="109728"/>
          </a:xfrm>
          <a:prstGeom prst="rect">
            <a:avLst/>
          </a:prstGeom>
          <a:noFill/>
          <a:ln/>
        </p:spPr>
        <p:txBody>
          <a:bodyPr wrap="square" lIns="0" tIns="0" rIns="0" bIns="0" rtlCol="0" anchor="ctr"/>
          <a:lstStyle/>
          <a:p>
            <a:pPr marL="0" indent="0">
              <a:buNone/>
            </a:pPr>
            <a:r>
              <a:rPr lang="en-US" sz="680" dirty="0">
                <a:solidFill>
                  <a:srgbClr val="2ECC71"/>
                </a:solidFill>
                <a:latin typeface="Consolas" pitchFamily="34" charset="0"/>
                <a:ea typeface="Consolas" pitchFamily="34" charset="-122"/>
                <a:cs typeface="Consolas" pitchFamily="34" charset="-120"/>
              </a:rPr>
              <a:t>extract: zsteg -a photo.png</a:t>
            </a:r>
            <a:endParaRPr lang="en-US" sz="680" dirty="0"/>
          </a:p>
        </p:txBody>
      </p:sp>
      <p:sp>
        <p:nvSpPr>
          <p:cNvPr id="29" name="Text 27"/>
          <p:cNvSpPr/>
          <p:nvPr/>
        </p:nvSpPr>
        <p:spPr>
          <a:xfrm>
            <a:off x="429768" y="3182112"/>
            <a:ext cx="4005072" cy="402336"/>
          </a:xfrm>
          <a:prstGeom prst="rect">
            <a:avLst/>
          </a:prstGeom>
          <a:noFill/>
          <a:ln/>
        </p:spPr>
        <p:txBody>
          <a:bodyPr wrap="square" lIns="0" tIns="0" rIns="0" bIns="0" rtlCol="0" anchor="ctr"/>
          <a:lstStyle/>
          <a:p>
            <a:pPr marL="0" indent="0">
              <a:buNone/>
            </a:pPr>
            <a:r>
              <a:rPr lang="en-US" sz="800" dirty="0">
                <a:solidFill>
                  <a:srgbClr val="1A1A2E"/>
                </a:solidFill>
              </a:rPr>
              <a:t>Detects LSB steganography in PNG and BMP. The -a flag runs all detection modules.</a:t>
            </a:r>
            <a:endParaRPr lang="en-US" sz="800" dirty="0"/>
          </a:p>
        </p:txBody>
      </p:sp>
      <p:sp>
        <p:nvSpPr>
          <p:cNvPr id="30" name="Shape 28"/>
          <p:cNvSpPr/>
          <p:nvPr/>
        </p:nvSpPr>
        <p:spPr>
          <a:xfrm>
            <a:off x="4690872" y="2505456"/>
            <a:ext cx="4224528" cy="1115568"/>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4690872" y="2505456"/>
            <a:ext cx="4224528" cy="54864"/>
          </a:xfrm>
          <a:prstGeom prst="rect">
            <a:avLst/>
          </a:prstGeom>
          <a:solidFill>
            <a:srgbClr val="00B4D8"/>
          </a:solidFill>
          <a:ln w="12700">
            <a:solidFill>
              <a:srgbClr val="00B4D8"/>
            </a:solidFill>
            <a:prstDash val="solid"/>
          </a:ln>
        </p:spPr>
        <p:txBody>
          <a:bodyPr/>
          <a:lstStyle/>
          <a:p>
            <a:endParaRPr lang="en-SG"/>
          </a:p>
        </p:txBody>
      </p:sp>
      <p:sp>
        <p:nvSpPr>
          <p:cNvPr id="32" name="Text 30"/>
          <p:cNvSpPr/>
          <p:nvPr/>
        </p:nvSpPr>
        <p:spPr>
          <a:xfrm>
            <a:off x="4800600" y="2596896"/>
            <a:ext cx="2286000" cy="219456"/>
          </a:xfrm>
          <a:prstGeom prst="rect">
            <a:avLst/>
          </a:prstGeom>
          <a:noFill/>
          <a:ln/>
        </p:spPr>
        <p:txBody>
          <a:bodyPr wrap="square" lIns="0" tIns="0" rIns="0" bIns="0" rtlCol="0" anchor="ctr"/>
          <a:lstStyle/>
          <a:p>
            <a:pPr marL="0" indent="0">
              <a:buNone/>
            </a:pPr>
            <a:r>
              <a:rPr lang="en-US" sz="1200" b="1" dirty="0">
                <a:solidFill>
                  <a:srgbClr val="00B4D8"/>
                </a:solidFill>
              </a:rPr>
              <a:t>ExifTool</a:t>
            </a:r>
            <a:endParaRPr lang="en-US" sz="1200" dirty="0"/>
          </a:p>
        </p:txBody>
      </p:sp>
      <p:sp>
        <p:nvSpPr>
          <p:cNvPr id="33" name="Shape 31"/>
          <p:cNvSpPr/>
          <p:nvPr/>
        </p:nvSpPr>
        <p:spPr>
          <a:xfrm>
            <a:off x="4800600" y="2852928"/>
            <a:ext cx="4005072" cy="146304"/>
          </a:xfrm>
          <a:prstGeom prst="rect">
            <a:avLst/>
          </a:prstGeom>
          <a:solidFill>
            <a:srgbClr val="FFFFFF"/>
          </a:solidFill>
          <a:ln w="12700">
            <a:solidFill>
              <a:srgbClr val="E2E8F0"/>
            </a:solidFill>
            <a:prstDash val="solid"/>
          </a:ln>
        </p:spPr>
        <p:txBody>
          <a:bodyPr/>
          <a:lstStyle/>
          <a:p>
            <a:endParaRPr lang="en-SG"/>
          </a:p>
        </p:txBody>
      </p:sp>
      <p:sp>
        <p:nvSpPr>
          <p:cNvPr id="34" name="Text 32"/>
          <p:cNvSpPr/>
          <p:nvPr/>
        </p:nvSpPr>
        <p:spPr>
          <a:xfrm>
            <a:off x="4837176" y="2862072"/>
            <a:ext cx="3931920" cy="128016"/>
          </a:xfrm>
          <a:prstGeom prst="rect">
            <a:avLst/>
          </a:prstGeom>
          <a:noFill/>
          <a:ln/>
        </p:spPr>
        <p:txBody>
          <a:bodyPr wrap="square" lIns="0" tIns="0" rIns="0" bIns="0" rtlCol="0" anchor="ctr"/>
          <a:lstStyle/>
          <a:p>
            <a:pPr marL="0" indent="0">
              <a:buNone/>
            </a:pPr>
            <a:r>
              <a:rPr lang="en-US" sz="700" dirty="0">
                <a:solidFill>
                  <a:srgbClr val="F4A261"/>
                </a:solidFill>
                <a:latin typeface="Consolas" pitchFamily="34" charset="0"/>
                <a:ea typeface="Consolas" pitchFamily="34" charset="-122"/>
                <a:cs typeface="Consolas" pitchFamily="34" charset="-120"/>
              </a:rPr>
              <a:t>detect: exiftool -all photo.jpg | grep -i comment</a:t>
            </a:r>
            <a:endParaRPr lang="en-US" sz="700" dirty="0"/>
          </a:p>
        </p:txBody>
      </p:sp>
      <p:sp>
        <p:nvSpPr>
          <p:cNvPr id="35" name="Shape 33"/>
          <p:cNvSpPr/>
          <p:nvPr/>
        </p:nvSpPr>
        <p:spPr>
          <a:xfrm>
            <a:off x="4800600" y="3017520"/>
            <a:ext cx="4005072" cy="128016"/>
          </a:xfrm>
          <a:prstGeom prst="rect">
            <a:avLst/>
          </a:prstGeom>
          <a:solidFill>
            <a:srgbClr val="FFFFFF"/>
          </a:solidFill>
          <a:ln w="12700">
            <a:solidFill>
              <a:srgbClr val="E2E8F0"/>
            </a:solidFill>
            <a:prstDash val="solid"/>
          </a:ln>
        </p:spPr>
        <p:txBody>
          <a:bodyPr/>
          <a:lstStyle/>
          <a:p>
            <a:endParaRPr lang="en-SG"/>
          </a:p>
        </p:txBody>
      </p:sp>
      <p:sp>
        <p:nvSpPr>
          <p:cNvPr id="36" name="Text 34"/>
          <p:cNvSpPr/>
          <p:nvPr/>
        </p:nvSpPr>
        <p:spPr>
          <a:xfrm>
            <a:off x="4837176" y="3026664"/>
            <a:ext cx="3931920" cy="109728"/>
          </a:xfrm>
          <a:prstGeom prst="rect">
            <a:avLst/>
          </a:prstGeom>
          <a:noFill/>
          <a:ln/>
        </p:spPr>
        <p:txBody>
          <a:bodyPr wrap="square" lIns="0" tIns="0" rIns="0" bIns="0" rtlCol="0" anchor="ctr"/>
          <a:lstStyle/>
          <a:p>
            <a:pPr marL="0" indent="0">
              <a:buNone/>
            </a:pPr>
            <a:r>
              <a:rPr lang="en-US" sz="680" dirty="0">
                <a:solidFill>
                  <a:srgbClr val="2ECC71"/>
                </a:solidFill>
                <a:latin typeface="Consolas" pitchFamily="34" charset="0"/>
                <a:ea typeface="Consolas" pitchFamily="34" charset="-122"/>
                <a:cs typeface="Consolas" pitchFamily="34" charset="-120"/>
              </a:rPr>
              <a:t>extract: exiftool -Comment photo.jpg</a:t>
            </a:r>
            <a:endParaRPr lang="en-US" sz="680" dirty="0"/>
          </a:p>
        </p:txBody>
      </p:sp>
      <p:sp>
        <p:nvSpPr>
          <p:cNvPr id="37" name="Text 35"/>
          <p:cNvSpPr/>
          <p:nvPr/>
        </p:nvSpPr>
        <p:spPr>
          <a:xfrm>
            <a:off x="4800600" y="3182112"/>
            <a:ext cx="4005072" cy="402336"/>
          </a:xfrm>
          <a:prstGeom prst="rect">
            <a:avLst/>
          </a:prstGeom>
          <a:noFill/>
          <a:ln/>
        </p:spPr>
        <p:txBody>
          <a:bodyPr wrap="square" lIns="0" tIns="0" rIns="0" bIns="0" rtlCol="0" anchor="ctr"/>
          <a:lstStyle/>
          <a:p>
            <a:pPr marL="0" indent="0">
              <a:buNone/>
            </a:pPr>
            <a:r>
              <a:rPr lang="en-US" sz="800" dirty="0">
                <a:solidFill>
                  <a:srgbClr val="1A1A2E"/>
                </a:solidFill>
              </a:rPr>
              <a:t>Metadata steganography. Hidden data sits in EXIF comment, IPTC, or custom XMP tags.</a:t>
            </a:r>
            <a:endParaRPr lang="en-US" sz="800" dirty="0"/>
          </a:p>
        </p:txBody>
      </p:sp>
      <p:sp>
        <p:nvSpPr>
          <p:cNvPr id="38" name="Shape 36"/>
          <p:cNvSpPr/>
          <p:nvPr/>
        </p:nvSpPr>
        <p:spPr>
          <a:xfrm>
            <a:off x="320040" y="3694176"/>
            <a:ext cx="4224528" cy="1115568"/>
          </a:xfrm>
          <a:prstGeom prst="rect">
            <a:avLst/>
          </a:prstGeom>
          <a:solidFill>
            <a:srgbClr val="EEF6FB"/>
          </a:solidFill>
          <a:ln w="12700">
            <a:solidFill>
              <a:srgbClr val="EEF6FB"/>
            </a:solidFill>
            <a:prstDash val="solid"/>
          </a:ln>
        </p:spPr>
        <p:txBody>
          <a:bodyPr/>
          <a:lstStyle/>
          <a:p>
            <a:endParaRPr lang="en-SG"/>
          </a:p>
        </p:txBody>
      </p:sp>
      <p:sp>
        <p:nvSpPr>
          <p:cNvPr id="39" name="Shape 37"/>
          <p:cNvSpPr/>
          <p:nvPr/>
        </p:nvSpPr>
        <p:spPr>
          <a:xfrm>
            <a:off x="320040" y="3694176"/>
            <a:ext cx="4224528" cy="54864"/>
          </a:xfrm>
          <a:prstGeom prst="rect">
            <a:avLst/>
          </a:prstGeom>
          <a:solidFill>
            <a:srgbClr val="A855F7"/>
          </a:solidFill>
          <a:ln w="12700">
            <a:solidFill>
              <a:srgbClr val="A855F7"/>
            </a:solidFill>
            <a:prstDash val="solid"/>
          </a:ln>
        </p:spPr>
        <p:txBody>
          <a:bodyPr/>
          <a:lstStyle/>
          <a:p>
            <a:endParaRPr lang="en-SG"/>
          </a:p>
        </p:txBody>
      </p:sp>
      <p:sp>
        <p:nvSpPr>
          <p:cNvPr id="40" name="Text 38"/>
          <p:cNvSpPr/>
          <p:nvPr/>
        </p:nvSpPr>
        <p:spPr>
          <a:xfrm>
            <a:off x="429768" y="3785616"/>
            <a:ext cx="2286000" cy="219456"/>
          </a:xfrm>
          <a:prstGeom prst="rect">
            <a:avLst/>
          </a:prstGeom>
          <a:noFill/>
          <a:ln/>
        </p:spPr>
        <p:txBody>
          <a:bodyPr wrap="square" lIns="0" tIns="0" rIns="0" bIns="0" rtlCol="0" anchor="ctr"/>
          <a:lstStyle/>
          <a:p>
            <a:pPr marL="0" indent="0">
              <a:buNone/>
            </a:pPr>
            <a:r>
              <a:rPr lang="en-US" sz="1200" b="1" dirty="0">
                <a:solidFill>
                  <a:srgbClr val="A855F7"/>
                </a:solidFill>
              </a:rPr>
              <a:t>StegSolve</a:t>
            </a:r>
            <a:endParaRPr lang="en-US" sz="1200" dirty="0"/>
          </a:p>
        </p:txBody>
      </p:sp>
      <p:sp>
        <p:nvSpPr>
          <p:cNvPr id="41" name="Shape 39"/>
          <p:cNvSpPr/>
          <p:nvPr/>
        </p:nvSpPr>
        <p:spPr>
          <a:xfrm>
            <a:off x="429768" y="4041648"/>
            <a:ext cx="4005072" cy="146304"/>
          </a:xfrm>
          <a:prstGeom prst="rect">
            <a:avLst/>
          </a:prstGeom>
          <a:solidFill>
            <a:srgbClr val="FFFFFF"/>
          </a:solidFill>
          <a:ln w="12700">
            <a:solidFill>
              <a:srgbClr val="E2E8F0"/>
            </a:solidFill>
            <a:prstDash val="solid"/>
          </a:ln>
        </p:spPr>
        <p:txBody>
          <a:bodyPr/>
          <a:lstStyle/>
          <a:p>
            <a:endParaRPr lang="en-SG"/>
          </a:p>
        </p:txBody>
      </p:sp>
      <p:sp>
        <p:nvSpPr>
          <p:cNvPr id="42" name="Text 40"/>
          <p:cNvSpPr/>
          <p:nvPr/>
        </p:nvSpPr>
        <p:spPr>
          <a:xfrm>
            <a:off x="466344" y="4050792"/>
            <a:ext cx="3931920" cy="128016"/>
          </a:xfrm>
          <a:prstGeom prst="rect">
            <a:avLst/>
          </a:prstGeom>
          <a:noFill/>
          <a:ln/>
        </p:spPr>
        <p:txBody>
          <a:bodyPr wrap="square" lIns="0" tIns="0" rIns="0" bIns="0" rtlCol="0" anchor="ctr"/>
          <a:lstStyle/>
          <a:p>
            <a:pPr marL="0" indent="0">
              <a:buNone/>
            </a:pPr>
            <a:r>
              <a:rPr lang="en-US" sz="700" dirty="0">
                <a:solidFill>
                  <a:srgbClr val="F4A261"/>
                </a:solidFill>
                <a:latin typeface="Consolas" pitchFamily="34" charset="0"/>
                <a:ea typeface="Consolas" pitchFamily="34" charset="-122"/>
                <a:cs typeface="Consolas" pitchFamily="34" charset="-120"/>
              </a:rPr>
              <a:t>detect: GUI — Analyse &gt; Data Extract / Bit Planes</a:t>
            </a:r>
            <a:endParaRPr lang="en-US" sz="700" dirty="0"/>
          </a:p>
        </p:txBody>
      </p:sp>
      <p:sp>
        <p:nvSpPr>
          <p:cNvPr id="43" name="Shape 41"/>
          <p:cNvSpPr/>
          <p:nvPr/>
        </p:nvSpPr>
        <p:spPr>
          <a:xfrm>
            <a:off x="429768" y="4206240"/>
            <a:ext cx="4005072" cy="128016"/>
          </a:xfrm>
          <a:prstGeom prst="rect">
            <a:avLst/>
          </a:prstGeom>
          <a:solidFill>
            <a:srgbClr val="FFFFFF"/>
          </a:solidFill>
          <a:ln w="12700">
            <a:solidFill>
              <a:srgbClr val="E2E8F0"/>
            </a:solidFill>
            <a:prstDash val="solid"/>
          </a:ln>
        </p:spPr>
        <p:txBody>
          <a:bodyPr/>
          <a:lstStyle/>
          <a:p>
            <a:endParaRPr lang="en-SG"/>
          </a:p>
        </p:txBody>
      </p:sp>
      <p:sp>
        <p:nvSpPr>
          <p:cNvPr id="44" name="Text 42"/>
          <p:cNvSpPr/>
          <p:nvPr/>
        </p:nvSpPr>
        <p:spPr>
          <a:xfrm>
            <a:off x="466344" y="4215384"/>
            <a:ext cx="3931920" cy="109728"/>
          </a:xfrm>
          <a:prstGeom prst="rect">
            <a:avLst/>
          </a:prstGeom>
          <a:noFill/>
          <a:ln/>
        </p:spPr>
        <p:txBody>
          <a:bodyPr wrap="square" lIns="0" tIns="0" rIns="0" bIns="0" rtlCol="0" anchor="ctr"/>
          <a:lstStyle/>
          <a:p>
            <a:pPr marL="0" indent="0">
              <a:buNone/>
            </a:pPr>
            <a:r>
              <a:rPr lang="en-US" sz="680" dirty="0">
                <a:solidFill>
                  <a:srgbClr val="2ECC71"/>
                </a:solidFill>
                <a:latin typeface="Consolas" pitchFamily="34" charset="0"/>
                <a:ea typeface="Consolas" pitchFamily="34" charset="-122"/>
                <a:cs typeface="Consolas" pitchFamily="34" charset="-120"/>
              </a:rPr>
              <a:t>extract: GUI — File &gt; Save As after applying filter</a:t>
            </a:r>
            <a:endParaRPr lang="en-US" sz="680" dirty="0"/>
          </a:p>
        </p:txBody>
      </p:sp>
      <p:sp>
        <p:nvSpPr>
          <p:cNvPr id="45" name="Text 43"/>
          <p:cNvSpPr/>
          <p:nvPr/>
        </p:nvSpPr>
        <p:spPr>
          <a:xfrm>
            <a:off x="429768" y="4370832"/>
            <a:ext cx="4005072" cy="402336"/>
          </a:xfrm>
          <a:prstGeom prst="rect">
            <a:avLst/>
          </a:prstGeom>
          <a:noFill/>
          <a:ln/>
        </p:spPr>
        <p:txBody>
          <a:bodyPr wrap="square" lIns="0" tIns="0" rIns="0" bIns="0" rtlCol="0" anchor="ctr"/>
          <a:lstStyle/>
          <a:p>
            <a:pPr marL="0" indent="0">
              <a:buNone/>
            </a:pPr>
            <a:r>
              <a:rPr lang="en-US" sz="800" dirty="0">
                <a:solidFill>
                  <a:srgbClr val="1A1A2E"/>
                </a:solidFill>
              </a:rPr>
              <a:t>Java tool. Visualises individual bit planes, applies colour filters — ideal for manual LSB inspection.</a:t>
            </a:r>
            <a:endParaRPr lang="en-US" sz="800" dirty="0"/>
          </a:p>
        </p:txBody>
      </p:sp>
      <p:sp>
        <p:nvSpPr>
          <p:cNvPr id="46" name="Shape 44"/>
          <p:cNvSpPr/>
          <p:nvPr/>
        </p:nvSpPr>
        <p:spPr>
          <a:xfrm>
            <a:off x="4690872" y="3694176"/>
            <a:ext cx="4224528" cy="1115568"/>
          </a:xfrm>
          <a:prstGeom prst="rect">
            <a:avLst/>
          </a:prstGeom>
          <a:solidFill>
            <a:srgbClr val="EEF6FB"/>
          </a:solidFill>
          <a:ln w="12700">
            <a:solidFill>
              <a:srgbClr val="EEF6FB"/>
            </a:solidFill>
            <a:prstDash val="solid"/>
          </a:ln>
        </p:spPr>
        <p:txBody>
          <a:bodyPr/>
          <a:lstStyle/>
          <a:p>
            <a:endParaRPr lang="en-SG"/>
          </a:p>
        </p:txBody>
      </p:sp>
      <p:sp>
        <p:nvSpPr>
          <p:cNvPr id="47" name="Shape 45"/>
          <p:cNvSpPr/>
          <p:nvPr/>
        </p:nvSpPr>
        <p:spPr>
          <a:xfrm>
            <a:off x="4690872" y="3694176"/>
            <a:ext cx="4224528" cy="54864"/>
          </a:xfrm>
          <a:prstGeom prst="rect">
            <a:avLst/>
          </a:prstGeom>
          <a:solidFill>
            <a:srgbClr val="FF6B9D"/>
          </a:solidFill>
          <a:ln w="12700">
            <a:solidFill>
              <a:srgbClr val="FF6B9D"/>
            </a:solidFill>
            <a:prstDash val="solid"/>
          </a:ln>
        </p:spPr>
        <p:txBody>
          <a:bodyPr/>
          <a:lstStyle/>
          <a:p>
            <a:endParaRPr lang="en-SG"/>
          </a:p>
        </p:txBody>
      </p:sp>
      <p:sp>
        <p:nvSpPr>
          <p:cNvPr id="48" name="Text 46"/>
          <p:cNvSpPr/>
          <p:nvPr/>
        </p:nvSpPr>
        <p:spPr>
          <a:xfrm>
            <a:off x="4800600" y="3785616"/>
            <a:ext cx="2286000" cy="219456"/>
          </a:xfrm>
          <a:prstGeom prst="rect">
            <a:avLst/>
          </a:prstGeom>
          <a:noFill/>
          <a:ln/>
        </p:spPr>
        <p:txBody>
          <a:bodyPr wrap="square" lIns="0" tIns="0" rIns="0" bIns="0" rtlCol="0" anchor="ctr"/>
          <a:lstStyle/>
          <a:p>
            <a:pPr marL="0" indent="0">
              <a:buNone/>
            </a:pPr>
            <a:r>
              <a:rPr lang="en-US" sz="1200" b="1" dirty="0">
                <a:solidFill>
                  <a:srgbClr val="FF6B9D"/>
                </a:solidFill>
              </a:rPr>
              <a:t>StegDetect</a:t>
            </a:r>
            <a:endParaRPr lang="en-US" sz="1200" dirty="0"/>
          </a:p>
        </p:txBody>
      </p:sp>
      <p:sp>
        <p:nvSpPr>
          <p:cNvPr id="49" name="Shape 47"/>
          <p:cNvSpPr/>
          <p:nvPr/>
        </p:nvSpPr>
        <p:spPr>
          <a:xfrm>
            <a:off x="4800600" y="4041648"/>
            <a:ext cx="4005072" cy="146304"/>
          </a:xfrm>
          <a:prstGeom prst="rect">
            <a:avLst/>
          </a:prstGeom>
          <a:solidFill>
            <a:srgbClr val="FFFFFF"/>
          </a:solidFill>
          <a:ln w="12700">
            <a:solidFill>
              <a:srgbClr val="E2E8F0"/>
            </a:solidFill>
            <a:prstDash val="solid"/>
          </a:ln>
        </p:spPr>
        <p:txBody>
          <a:bodyPr/>
          <a:lstStyle/>
          <a:p>
            <a:endParaRPr lang="en-SG"/>
          </a:p>
        </p:txBody>
      </p:sp>
      <p:sp>
        <p:nvSpPr>
          <p:cNvPr id="50" name="Text 48"/>
          <p:cNvSpPr/>
          <p:nvPr/>
        </p:nvSpPr>
        <p:spPr>
          <a:xfrm>
            <a:off x="4837176" y="4050792"/>
            <a:ext cx="3931920" cy="128016"/>
          </a:xfrm>
          <a:prstGeom prst="rect">
            <a:avLst/>
          </a:prstGeom>
          <a:noFill/>
          <a:ln/>
        </p:spPr>
        <p:txBody>
          <a:bodyPr wrap="square" lIns="0" tIns="0" rIns="0" bIns="0" rtlCol="0" anchor="ctr"/>
          <a:lstStyle/>
          <a:p>
            <a:pPr marL="0" indent="0">
              <a:buNone/>
            </a:pPr>
            <a:r>
              <a:rPr lang="en-US" sz="700" dirty="0">
                <a:solidFill>
                  <a:srgbClr val="F4A261"/>
                </a:solidFill>
                <a:latin typeface="Consolas" pitchFamily="34" charset="0"/>
                <a:ea typeface="Consolas" pitchFamily="34" charset="-122"/>
                <a:cs typeface="Consolas" pitchFamily="34" charset="-120"/>
              </a:rPr>
              <a:t>detect: stegdetect photo.jpg</a:t>
            </a:r>
            <a:endParaRPr lang="en-US" sz="700" dirty="0"/>
          </a:p>
        </p:txBody>
      </p:sp>
      <p:sp>
        <p:nvSpPr>
          <p:cNvPr id="51" name="Shape 49"/>
          <p:cNvSpPr/>
          <p:nvPr/>
        </p:nvSpPr>
        <p:spPr>
          <a:xfrm>
            <a:off x="4800600" y="4206240"/>
            <a:ext cx="4005072" cy="128016"/>
          </a:xfrm>
          <a:prstGeom prst="rect">
            <a:avLst/>
          </a:prstGeom>
          <a:solidFill>
            <a:srgbClr val="FFFFFF"/>
          </a:solidFill>
          <a:ln w="12700">
            <a:solidFill>
              <a:srgbClr val="E2E8F0"/>
            </a:solidFill>
            <a:prstDash val="solid"/>
          </a:ln>
        </p:spPr>
        <p:txBody>
          <a:bodyPr/>
          <a:lstStyle/>
          <a:p>
            <a:endParaRPr lang="en-SG"/>
          </a:p>
        </p:txBody>
      </p:sp>
      <p:sp>
        <p:nvSpPr>
          <p:cNvPr id="52" name="Text 50"/>
          <p:cNvSpPr/>
          <p:nvPr/>
        </p:nvSpPr>
        <p:spPr>
          <a:xfrm>
            <a:off x="4837176" y="4215384"/>
            <a:ext cx="3931920" cy="109728"/>
          </a:xfrm>
          <a:prstGeom prst="rect">
            <a:avLst/>
          </a:prstGeom>
          <a:noFill/>
          <a:ln/>
        </p:spPr>
        <p:txBody>
          <a:bodyPr wrap="square" lIns="0" tIns="0" rIns="0" bIns="0" rtlCol="0" anchor="ctr"/>
          <a:lstStyle/>
          <a:p>
            <a:pPr marL="0" indent="0">
              <a:buNone/>
            </a:pPr>
            <a:r>
              <a:rPr lang="en-US" sz="680" dirty="0">
                <a:solidFill>
                  <a:srgbClr val="2ECC71"/>
                </a:solidFill>
                <a:latin typeface="Consolas" pitchFamily="34" charset="0"/>
                <a:ea typeface="Consolas" pitchFamily="34" charset="-122"/>
                <a:cs typeface="Consolas" pitchFamily="34" charset="-120"/>
              </a:rPr>
              <a:t>extract: stegdetect -t jopi photo.jpg</a:t>
            </a:r>
            <a:endParaRPr lang="en-US" sz="680" dirty="0"/>
          </a:p>
        </p:txBody>
      </p:sp>
      <p:sp>
        <p:nvSpPr>
          <p:cNvPr id="53" name="Text 51"/>
          <p:cNvSpPr/>
          <p:nvPr/>
        </p:nvSpPr>
        <p:spPr>
          <a:xfrm>
            <a:off x="4800600" y="4370832"/>
            <a:ext cx="4005072" cy="402336"/>
          </a:xfrm>
          <a:prstGeom prst="rect">
            <a:avLst/>
          </a:prstGeom>
          <a:noFill/>
          <a:ln/>
        </p:spPr>
        <p:txBody>
          <a:bodyPr wrap="square" lIns="0" tIns="0" rIns="0" bIns="0" rtlCol="0" anchor="ctr"/>
          <a:lstStyle/>
          <a:p>
            <a:pPr marL="0" indent="0">
              <a:buNone/>
            </a:pPr>
            <a:r>
              <a:rPr lang="en-US" sz="800" dirty="0">
                <a:solidFill>
                  <a:srgbClr val="1A1A2E"/>
                </a:solidFill>
              </a:rPr>
              <a:t>Detects JSteg, JPHide, OutGuess, InvisibleSecrets signatures in JPEG files. Classic DFIR tool.</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320040" y="182880"/>
            <a:ext cx="2011680" cy="228600"/>
          </a:xfrm>
          <a:prstGeom prst="rect">
            <a:avLst/>
          </a:prstGeom>
          <a:solidFill>
            <a:srgbClr val="A855F7"/>
          </a:solidFill>
          <a:ln w="12700">
            <a:solidFill>
              <a:srgbClr val="A855F7"/>
            </a:solidFill>
            <a:prstDash val="solid"/>
          </a:ln>
        </p:spPr>
        <p:txBody>
          <a:bodyPr/>
          <a:lstStyle/>
          <a:p>
            <a:endParaRPr lang="en-SG"/>
          </a:p>
        </p:txBody>
      </p:sp>
      <p:sp>
        <p:nvSpPr>
          <p:cNvPr id="4" name="Text 2"/>
          <p:cNvSpPr/>
          <p:nvPr/>
        </p:nvSpPr>
        <p:spPr>
          <a:xfrm>
            <a:off x="320040" y="182880"/>
            <a:ext cx="2011680" cy="228600"/>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STEGANOGRAPHY LAB</a:t>
            </a:r>
            <a:endParaRPr lang="en-US" sz="850" dirty="0"/>
          </a:p>
        </p:txBody>
      </p:sp>
      <p:sp>
        <p:nvSpPr>
          <p:cNvPr id="5" name="Text 3"/>
          <p:cNvSpPr/>
          <p:nvPr/>
        </p:nvSpPr>
        <p:spPr>
          <a:xfrm>
            <a:off x="320040" y="502920"/>
            <a:ext cx="8503920" cy="50292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Detecting &amp; Extracting Hidden Data</a:t>
            </a:r>
            <a:endParaRPr lang="en-US" sz="2800" dirty="0"/>
          </a:p>
        </p:txBody>
      </p:sp>
      <p:sp>
        <p:nvSpPr>
          <p:cNvPr id="6" name="Text 4"/>
          <p:cNvSpPr/>
          <p:nvPr/>
        </p:nvSpPr>
        <p:spPr>
          <a:xfrm>
            <a:off x="320040" y="1033272"/>
            <a:ext cx="8503920" cy="292608"/>
          </a:xfrm>
          <a:prstGeom prst="rect">
            <a:avLst/>
          </a:prstGeom>
          <a:noFill/>
          <a:ln/>
        </p:spPr>
        <p:txBody>
          <a:bodyPr wrap="square" rtlCol="0" anchor="ctr"/>
          <a:lstStyle/>
          <a:p>
            <a:pPr marL="0" indent="0">
              <a:buNone/>
            </a:pPr>
            <a:r>
              <a:rPr lang="en-US" sz="1250" i="1" dirty="0">
                <a:solidFill>
                  <a:srgbClr val="00B4D8"/>
                </a:solidFill>
                <a:latin typeface="Calibri" pitchFamily="34" charset="0"/>
                <a:ea typeface="Calibri" pitchFamily="34" charset="-122"/>
                <a:cs typeface="Calibri" pitchFamily="34" charset="-120"/>
              </a:rPr>
              <a:t>Hands-on Tutorial: StegDetect + Steghide with forensics_example.jpg</a:t>
            </a:r>
            <a:endParaRPr lang="en-US" sz="1250" dirty="0"/>
          </a:p>
        </p:txBody>
      </p:sp>
      <p:sp>
        <p:nvSpPr>
          <p:cNvPr id="7" name="Shape 5"/>
          <p:cNvSpPr/>
          <p:nvPr/>
        </p:nvSpPr>
        <p:spPr>
          <a:xfrm>
            <a:off x="320040" y="1463040"/>
            <a:ext cx="1892808" cy="1508760"/>
          </a:xfrm>
          <a:prstGeom prst="rect">
            <a:avLst/>
          </a:prstGeom>
          <a:solidFill>
            <a:srgbClr val="FFFFFF"/>
          </a:solidFill>
          <a:ln w="12700">
            <a:solidFill>
              <a:srgbClr val="00B4D8"/>
            </a:solidFill>
            <a:prstDash val="solid"/>
          </a:ln>
        </p:spPr>
        <p:txBody>
          <a:bodyPr/>
          <a:lstStyle/>
          <a:p>
            <a:endParaRPr lang="en-SG"/>
          </a:p>
        </p:txBody>
      </p:sp>
      <p:sp>
        <p:nvSpPr>
          <p:cNvPr id="8" name="Shape 6"/>
          <p:cNvSpPr/>
          <p:nvPr/>
        </p:nvSpPr>
        <p:spPr>
          <a:xfrm>
            <a:off x="1097280" y="1280160"/>
            <a:ext cx="347472" cy="347472"/>
          </a:xfrm>
          <a:prstGeom prst="ellipse">
            <a:avLst/>
          </a:prstGeom>
          <a:solidFill>
            <a:srgbClr val="00B4D8"/>
          </a:solidFill>
          <a:ln w="12700">
            <a:solidFill>
              <a:srgbClr val="00B4D8"/>
            </a:solidFill>
            <a:prstDash val="solid"/>
          </a:ln>
        </p:spPr>
        <p:txBody>
          <a:bodyPr/>
          <a:lstStyle/>
          <a:p>
            <a:endParaRPr lang="en-SG"/>
          </a:p>
        </p:txBody>
      </p:sp>
      <p:sp>
        <p:nvSpPr>
          <p:cNvPr id="9" name="Text 7"/>
          <p:cNvSpPr/>
          <p:nvPr/>
        </p:nvSpPr>
        <p:spPr>
          <a:xfrm>
            <a:off x="1097280" y="1280160"/>
            <a:ext cx="347472" cy="347472"/>
          </a:xfrm>
          <a:prstGeom prst="rect">
            <a:avLst/>
          </a:prstGeom>
          <a:noFill/>
          <a:ln/>
        </p:spPr>
        <p:txBody>
          <a:bodyPr wrap="square"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320040" y="1691640"/>
            <a:ext cx="1892808" cy="320040"/>
          </a:xfrm>
          <a:prstGeom prst="rect">
            <a:avLst/>
          </a:prstGeom>
          <a:noFill/>
          <a:ln/>
        </p:spPr>
        <p:txBody>
          <a:bodyPr wrap="square" rtlCol="0" anchor="ctr"/>
          <a:lstStyle/>
          <a:p>
            <a:pPr marL="0" indent="0" algn="ctr">
              <a:buNone/>
            </a:pPr>
            <a:r>
              <a:rPr lang="en-US" sz="1500" b="1" dirty="0">
                <a:solidFill>
                  <a:srgbClr val="00B4D8"/>
                </a:solidFill>
                <a:latin typeface="Calibri" pitchFamily="34" charset="0"/>
                <a:ea typeface="Calibri" pitchFamily="34" charset="-122"/>
                <a:cs typeface="Calibri" pitchFamily="34" charset="-120"/>
              </a:rPr>
              <a:t>Acquire</a:t>
            </a:r>
            <a:endParaRPr lang="en-US" sz="1500" dirty="0"/>
          </a:p>
        </p:txBody>
      </p:sp>
      <p:sp>
        <p:nvSpPr>
          <p:cNvPr id="11" name="Text 9"/>
          <p:cNvSpPr/>
          <p:nvPr/>
        </p:nvSpPr>
        <p:spPr>
          <a:xfrm>
            <a:off x="411480" y="2084832"/>
            <a:ext cx="1709928" cy="640080"/>
          </a:xfrm>
          <a:prstGeom prst="rect">
            <a:avLst/>
          </a:prstGeom>
          <a:noFill/>
          <a:ln/>
        </p:spPr>
        <p:txBody>
          <a:bodyPr wrap="square" rtlCol="0" anchor="ctr"/>
          <a:lstStyle/>
          <a:p>
            <a:pPr marL="0" indent="0" algn="ctr">
              <a:buNone/>
            </a:pPr>
            <a:r>
              <a:rPr lang="en-US" sz="1050" dirty="0">
                <a:solidFill>
                  <a:srgbClr val="1A1A2E"/>
                </a:solidFill>
                <a:latin typeface="Calibri" pitchFamily="34" charset="0"/>
                <a:ea typeface="Calibri" pitchFamily="34" charset="-122"/>
                <a:cs typeface="Calibri" pitchFamily="34" charset="-120"/>
              </a:rPr>
              <a:t>Seize &amp; hash</a:t>
            </a:r>
            <a:endParaRPr lang="en-US" sz="1050" dirty="0"/>
          </a:p>
          <a:p>
            <a:pPr marL="0" indent="0" algn="ctr">
              <a:buNone/>
            </a:pPr>
            <a:r>
              <a:rPr lang="en-US" sz="1050" dirty="0">
                <a:solidFill>
                  <a:srgbClr val="1A1A2E"/>
                </a:solidFill>
                <a:latin typeface="Calibri" pitchFamily="34" charset="0"/>
                <a:ea typeface="Calibri" pitchFamily="34" charset="-122"/>
                <a:cs typeface="Calibri" pitchFamily="34" charset="-120"/>
              </a:rPr>
              <a:t>the suspect image</a:t>
            </a:r>
            <a:endParaRPr lang="en-US" sz="1050" dirty="0"/>
          </a:p>
        </p:txBody>
      </p:sp>
      <p:sp>
        <p:nvSpPr>
          <p:cNvPr id="12" name="Shape 10"/>
          <p:cNvSpPr/>
          <p:nvPr/>
        </p:nvSpPr>
        <p:spPr>
          <a:xfrm>
            <a:off x="2221992" y="2180844"/>
            <a:ext cx="137160" cy="73152"/>
          </a:xfrm>
          <a:prstGeom prst="rect">
            <a:avLst/>
          </a:prstGeom>
          <a:solidFill>
            <a:srgbClr val="8899AA"/>
          </a:solidFill>
          <a:ln w="12700">
            <a:solidFill>
              <a:srgbClr val="8899AA"/>
            </a:solidFill>
            <a:prstDash val="solid"/>
          </a:ln>
        </p:spPr>
        <p:txBody>
          <a:bodyPr/>
          <a:lstStyle/>
          <a:p>
            <a:endParaRPr lang="en-SG"/>
          </a:p>
        </p:txBody>
      </p:sp>
      <p:sp>
        <p:nvSpPr>
          <p:cNvPr id="13" name="Shape 11"/>
          <p:cNvSpPr/>
          <p:nvPr/>
        </p:nvSpPr>
        <p:spPr>
          <a:xfrm>
            <a:off x="2359152" y="1463040"/>
            <a:ext cx="1892808" cy="1508760"/>
          </a:xfrm>
          <a:prstGeom prst="rect">
            <a:avLst/>
          </a:prstGeom>
          <a:solidFill>
            <a:srgbClr val="FFFFFF"/>
          </a:solidFill>
          <a:ln w="12700">
            <a:solidFill>
              <a:srgbClr val="F4A261"/>
            </a:solidFill>
            <a:prstDash val="solid"/>
          </a:ln>
        </p:spPr>
        <p:txBody>
          <a:bodyPr/>
          <a:lstStyle/>
          <a:p>
            <a:endParaRPr lang="en-SG"/>
          </a:p>
        </p:txBody>
      </p:sp>
      <p:sp>
        <p:nvSpPr>
          <p:cNvPr id="14" name="Shape 12"/>
          <p:cNvSpPr/>
          <p:nvPr/>
        </p:nvSpPr>
        <p:spPr>
          <a:xfrm>
            <a:off x="3136392" y="1280160"/>
            <a:ext cx="347472" cy="347472"/>
          </a:xfrm>
          <a:prstGeom prst="ellipse">
            <a:avLst/>
          </a:prstGeom>
          <a:solidFill>
            <a:srgbClr val="F4A261"/>
          </a:solidFill>
          <a:ln w="12700">
            <a:solidFill>
              <a:srgbClr val="F4A261"/>
            </a:solidFill>
            <a:prstDash val="solid"/>
          </a:ln>
        </p:spPr>
        <p:txBody>
          <a:bodyPr/>
          <a:lstStyle/>
          <a:p>
            <a:endParaRPr lang="en-SG"/>
          </a:p>
        </p:txBody>
      </p:sp>
      <p:sp>
        <p:nvSpPr>
          <p:cNvPr id="15" name="Text 13"/>
          <p:cNvSpPr/>
          <p:nvPr/>
        </p:nvSpPr>
        <p:spPr>
          <a:xfrm>
            <a:off x="3136392" y="1280160"/>
            <a:ext cx="347472" cy="347472"/>
          </a:xfrm>
          <a:prstGeom prst="rect">
            <a:avLst/>
          </a:prstGeom>
          <a:noFill/>
          <a:ln/>
        </p:spPr>
        <p:txBody>
          <a:bodyPr wrap="square"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2359152" y="1691640"/>
            <a:ext cx="1892808" cy="320040"/>
          </a:xfrm>
          <a:prstGeom prst="rect">
            <a:avLst/>
          </a:prstGeom>
          <a:noFill/>
          <a:ln/>
        </p:spPr>
        <p:txBody>
          <a:bodyPr wrap="square" rtlCol="0" anchor="ctr"/>
          <a:lstStyle/>
          <a:p>
            <a:pPr marL="0" indent="0" algn="ctr">
              <a:buNone/>
            </a:pPr>
            <a:r>
              <a:rPr lang="en-US" sz="1500" b="1" dirty="0">
                <a:solidFill>
                  <a:srgbClr val="F4A261"/>
                </a:solidFill>
                <a:latin typeface="Calibri" pitchFamily="34" charset="0"/>
                <a:ea typeface="Calibri" pitchFamily="34" charset="-122"/>
                <a:cs typeface="Calibri" pitchFamily="34" charset="-120"/>
              </a:rPr>
              <a:t>Detect</a:t>
            </a:r>
            <a:endParaRPr lang="en-US" sz="1500" dirty="0"/>
          </a:p>
        </p:txBody>
      </p:sp>
      <p:sp>
        <p:nvSpPr>
          <p:cNvPr id="17" name="Text 15"/>
          <p:cNvSpPr/>
          <p:nvPr/>
        </p:nvSpPr>
        <p:spPr>
          <a:xfrm>
            <a:off x="2450592" y="2084832"/>
            <a:ext cx="1709928" cy="640080"/>
          </a:xfrm>
          <a:prstGeom prst="rect">
            <a:avLst/>
          </a:prstGeom>
          <a:noFill/>
          <a:ln/>
        </p:spPr>
        <p:txBody>
          <a:bodyPr wrap="square" rtlCol="0" anchor="ctr"/>
          <a:lstStyle/>
          <a:p>
            <a:pPr marL="0" indent="0" algn="ctr">
              <a:buNone/>
            </a:pPr>
            <a:r>
              <a:rPr lang="en-US" sz="1050" dirty="0">
                <a:solidFill>
                  <a:srgbClr val="1A1A2E"/>
                </a:solidFill>
                <a:latin typeface="Calibri" pitchFamily="34" charset="0"/>
                <a:ea typeface="Calibri" pitchFamily="34" charset="-122"/>
                <a:cs typeface="Calibri" pitchFamily="34" charset="-120"/>
              </a:rPr>
              <a:t>Run StegDetect</a:t>
            </a:r>
            <a:endParaRPr lang="en-US" sz="1050" dirty="0"/>
          </a:p>
          <a:p>
            <a:pPr marL="0" indent="0" algn="ctr">
              <a:buNone/>
            </a:pPr>
            <a:r>
              <a:rPr lang="en-US" sz="1050" dirty="0">
                <a:solidFill>
                  <a:srgbClr val="1A1A2E"/>
                </a:solidFill>
                <a:latin typeface="Calibri" pitchFamily="34" charset="0"/>
                <a:ea typeface="Calibri" pitchFamily="34" charset="-122"/>
                <a:cs typeface="Calibri" pitchFamily="34" charset="-120"/>
              </a:rPr>
              <a:t>to flag anomalies</a:t>
            </a:r>
            <a:endParaRPr lang="en-US" sz="1050" dirty="0"/>
          </a:p>
        </p:txBody>
      </p:sp>
      <p:sp>
        <p:nvSpPr>
          <p:cNvPr id="18" name="Shape 16"/>
          <p:cNvSpPr/>
          <p:nvPr/>
        </p:nvSpPr>
        <p:spPr>
          <a:xfrm>
            <a:off x="4261104" y="2180844"/>
            <a:ext cx="137160" cy="73152"/>
          </a:xfrm>
          <a:prstGeom prst="rect">
            <a:avLst/>
          </a:prstGeom>
          <a:solidFill>
            <a:srgbClr val="8899AA"/>
          </a:solidFill>
          <a:ln w="12700">
            <a:solidFill>
              <a:srgbClr val="8899AA"/>
            </a:solidFill>
            <a:prstDash val="solid"/>
          </a:ln>
        </p:spPr>
        <p:txBody>
          <a:bodyPr/>
          <a:lstStyle/>
          <a:p>
            <a:endParaRPr lang="en-SG"/>
          </a:p>
        </p:txBody>
      </p:sp>
      <p:sp>
        <p:nvSpPr>
          <p:cNvPr id="19" name="Shape 17"/>
          <p:cNvSpPr/>
          <p:nvPr/>
        </p:nvSpPr>
        <p:spPr>
          <a:xfrm>
            <a:off x="4398264" y="1463040"/>
            <a:ext cx="1892808" cy="1508760"/>
          </a:xfrm>
          <a:prstGeom prst="rect">
            <a:avLst/>
          </a:prstGeom>
          <a:solidFill>
            <a:srgbClr val="FFFFFF"/>
          </a:solidFill>
          <a:ln w="12700">
            <a:solidFill>
              <a:srgbClr val="A855F7"/>
            </a:solidFill>
            <a:prstDash val="solid"/>
          </a:ln>
        </p:spPr>
        <p:txBody>
          <a:bodyPr/>
          <a:lstStyle/>
          <a:p>
            <a:endParaRPr lang="en-SG"/>
          </a:p>
        </p:txBody>
      </p:sp>
      <p:sp>
        <p:nvSpPr>
          <p:cNvPr id="20" name="Shape 18"/>
          <p:cNvSpPr/>
          <p:nvPr/>
        </p:nvSpPr>
        <p:spPr>
          <a:xfrm>
            <a:off x="5175504" y="1280160"/>
            <a:ext cx="347472" cy="347472"/>
          </a:xfrm>
          <a:prstGeom prst="ellipse">
            <a:avLst/>
          </a:prstGeom>
          <a:solidFill>
            <a:srgbClr val="A855F7"/>
          </a:solidFill>
          <a:ln w="12700">
            <a:solidFill>
              <a:srgbClr val="A855F7"/>
            </a:solidFill>
            <a:prstDash val="solid"/>
          </a:ln>
        </p:spPr>
        <p:txBody>
          <a:bodyPr/>
          <a:lstStyle/>
          <a:p>
            <a:endParaRPr lang="en-SG"/>
          </a:p>
        </p:txBody>
      </p:sp>
      <p:sp>
        <p:nvSpPr>
          <p:cNvPr id="21" name="Text 19"/>
          <p:cNvSpPr/>
          <p:nvPr/>
        </p:nvSpPr>
        <p:spPr>
          <a:xfrm>
            <a:off x="5175504" y="1280160"/>
            <a:ext cx="347472" cy="347472"/>
          </a:xfrm>
          <a:prstGeom prst="rect">
            <a:avLst/>
          </a:prstGeom>
          <a:noFill/>
          <a:ln/>
        </p:spPr>
        <p:txBody>
          <a:bodyPr wrap="square"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4398264" y="1691640"/>
            <a:ext cx="1892808" cy="320040"/>
          </a:xfrm>
          <a:prstGeom prst="rect">
            <a:avLst/>
          </a:prstGeom>
          <a:noFill/>
          <a:ln/>
        </p:spPr>
        <p:txBody>
          <a:bodyPr wrap="square" rtlCol="0" anchor="ctr"/>
          <a:lstStyle/>
          <a:p>
            <a:pPr marL="0" indent="0" algn="ctr">
              <a:buNone/>
            </a:pPr>
            <a:r>
              <a:rPr lang="en-US" sz="1500" b="1" dirty="0">
                <a:solidFill>
                  <a:srgbClr val="A855F7"/>
                </a:solidFill>
                <a:latin typeface="Calibri" pitchFamily="34" charset="0"/>
                <a:ea typeface="Calibri" pitchFamily="34" charset="-122"/>
                <a:cs typeface="Calibri" pitchFamily="34" charset="-120"/>
              </a:rPr>
              <a:t>Extract</a:t>
            </a:r>
            <a:endParaRPr lang="en-US" sz="1500" dirty="0"/>
          </a:p>
        </p:txBody>
      </p:sp>
      <p:sp>
        <p:nvSpPr>
          <p:cNvPr id="23" name="Text 21"/>
          <p:cNvSpPr/>
          <p:nvPr/>
        </p:nvSpPr>
        <p:spPr>
          <a:xfrm>
            <a:off x="4489704" y="2084832"/>
            <a:ext cx="1709928" cy="640080"/>
          </a:xfrm>
          <a:prstGeom prst="rect">
            <a:avLst/>
          </a:prstGeom>
          <a:noFill/>
          <a:ln/>
        </p:spPr>
        <p:txBody>
          <a:bodyPr wrap="square" rtlCol="0" anchor="ctr"/>
          <a:lstStyle/>
          <a:p>
            <a:pPr marL="0" indent="0" algn="ctr">
              <a:buNone/>
            </a:pPr>
            <a:r>
              <a:rPr lang="en-US" sz="1050" dirty="0">
                <a:solidFill>
                  <a:srgbClr val="1A1A2E"/>
                </a:solidFill>
                <a:latin typeface="Calibri" pitchFamily="34" charset="0"/>
                <a:ea typeface="Calibri" pitchFamily="34" charset="-122"/>
                <a:cs typeface="Calibri" pitchFamily="34" charset="-120"/>
              </a:rPr>
              <a:t>Use Steghide</a:t>
            </a:r>
            <a:endParaRPr lang="en-US" sz="1050" dirty="0"/>
          </a:p>
          <a:p>
            <a:pPr marL="0" indent="0" algn="ctr">
              <a:buNone/>
            </a:pPr>
            <a:r>
              <a:rPr lang="en-US" sz="1050" dirty="0">
                <a:solidFill>
                  <a:srgbClr val="1A1A2E"/>
                </a:solidFill>
                <a:latin typeface="Calibri" pitchFamily="34" charset="0"/>
                <a:ea typeface="Calibri" pitchFamily="34" charset="-122"/>
                <a:cs typeface="Calibri" pitchFamily="34" charset="-120"/>
              </a:rPr>
              <a:t>to recover payload</a:t>
            </a:r>
            <a:endParaRPr lang="en-US" sz="1050" dirty="0"/>
          </a:p>
        </p:txBody>
      </p:sp>
      <p:sp>
        <p:nvSpPr>
          <p:cNvPr id="24" name="Shape 22"/>
          <p:cNvSpPr/>
          <p:nvPr/>
        </p:nvSpPr>
        <p:spPr>
          <a:xfrm>
            <a:off x="6300216" y="2180844"/>
            <a:ext cx="137160" cy="73152"/>
          </a:xfrm>
          <a:prstGeom prst="rect">
            <a:avLst/>
          </a:prstGeom>
          <a:solidFill>
            <a:srgbClr val="8899AA"/>
          </a:solidFill>
          <a:ln w="12700">
            <a:solidFill>
              <a:srgbClr val="8899AA"/>
            </a:solidFill>
            <a:prstDash val="solid"/>
          </a:ln>
        </p:spPr>
        <p:txBody>
          <a:bodyPr/>
          <a:lstStyle/>
          <a:p>
            <a:endParaRPr lang="en-SG"/>
          </a:p>
        </p:txBody>
      </p:sp>
      <p:sp>
        <p:nvSpPr>
          <p:cNvPr id="25" name="Shape 23"/>
          <p:cNvSpPr/>
          <p:nvPr/>
        </p:nvSpPr>
        <p:spPr>
          <a:xfrm>
            <a:off x="6437376" y="1463040"/>
            <a:ext cx="1892808" cy="1508760"/>
          </a:xfrm>
          <a:prstGeom prst="rect">
            <a:avLst/>
          </a:prstGeom>
          <a:solidFill>
            <a:srgbClr val="FFFFFF"/>
          </a:solidFill>
          <a:ln w="12700">
            <a:solidFill>
              <a:srgbClr val="2EC4B6"/>
            </a:solidFill>
            <a:prstDash val="solid"/>
          </a:ln>
        </p:spPr>
        <p:txBody>
          <a:bodyPr/>
          <a:lstStyle/>
          <a:p>
            <a:endParaRPr lang="en-SG"/>
          </a:p>
        </p:txBody>
      </p:sp>
      <p:sp>
        <p:nvSpPr>
          <p:cNvPr id="26" name="Shape 24"/>
          <p:cNvSpPr/>
          <p:nvPr/>
        </p:nvSpPr>
        <p:spPr>
          <a:xfrm>
            <a:off x="7214616" y="1280160"/>
            <a:ext cx="347472" cy="347472"/>
          </a:xfrm>
          <a:prstGeom prst="ellipse">
            <a:avLst/>
          </a:prstGeom>
          <a:solidFill>
            <a:srgbClr val="2EC4B6"/>
          </a:solidFill>
          <a:ln w="12700">
            <a:solidFill>
              <a:srgbClr val="2EC4B6"/>
            </a:solidFill>
            <a:prstDash val="solid"/>
          </a:ln>
        </p:spPr>
        <p:txBody>
          <a:bodyPr/>
          <a:lstStyle/>
          <a:p>
            <a:endParaRPr lang="en-SG"/>
          </a:p>
        </p:txBody>
      </p:sp>
      <p:sp>
        <p:nvSpPr>
          <p:cNvPr id="27" name="Text 25"/>
          <p:cNvSpPr/>
          <p:nvPr/>
        </p:nvSpPr>
        <p:spPr>
          <a:xfrm>
            <a:off x="7214616" y="1280160"/>
            <a:ext cx="347472" cy="347472"/>
          </a:xfrm>
          <a:prstGeom prst="rect">
            <a:avLst/>
          </a:prstGeom>
          <a:noFill/>
          <a:ln/>
        </p:spPr>
        <p:txBody>
          <a:bodyPr wrap="square" rtlCol="0" anchor="ctr"/>
          <a:lstStyle/>
          <a:p>
            <a:pPr marL="0" indent="0" algn="ctr">
              <a:buNone/>
            </a:pPr>
            <a:r>
              <a:rPr lang="en-US" sz="1200" b="1" dirty="0">
                <a:solidFill>
                  <a:srgbClr val="060E17"/>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437376" y="1691640"/>
            <a:ext cx="1892808" cy="320040"/>
          </a:xfrm>
          <a:prstGeom prst="rect">
            <a:avLst/>
          </a:prstGeom>
          <a:noFill/>
          <a:ln/>
        </p:spPr>
        <p:txBody>
          <a:bodyPr wrap="square" rtlCol="0" anchor="ctr"/>
          <a:lstStyle/>
          <a:p>
            <a:pPr marL="0" indent="0" algn="ctr">
              <a:buNone/>
            </a:pPr>
            <a:r>
              <a:rPr lang="en-US" sz="1500" b="1" dirty="0">
                <a:solidFill>
                  <a:srgbClr val="2EC4B6"/>
                </a:solidFill>
                <a:latin typeface="Calibri" pitchFamily="34" charset="0"/>
                <a:ea typeface="Calibri" pitchFamily="34" charset="-122"/>
                <a:cs typeface="Calibri" pitchFamily="34" charset="-120"/>
              </a:rPr>
              <a:t>Document</a:t>
            </a:r>
            <a:endParaRPr lang="en-US" sz="1500" dirty="0"/>
          </a:p>
        </p:txBody>
      </p:sp>
      <p:sp>
        <p:nvSpPr>
          <p:cNvPr id="29" name="Text 27"/>
          <p:cNvSpPr/>
          <p:nvPr/>
        </p:nvSpPr>
        <p:spPr>
          <a:xfrm>
            <a:off x="6528816" y="2084832"/>
            <a:ext cx="1709928" cy="640080"/>
          </a:xfrm>
          <a:prstGeom prst="rect">
            <a:avLst/>
          </a:prstGeom>
          <a:noFill/>
          <a:ln/>
        </p:spPr>
        <p:txBody>
          <a:bodyPr wrap="square" rtlCol="0" anchor="ctr"/>
          <a:lstStyle/>
          <a:p>
            <a:pPr marL="0" indent="0" algn="ctr">
              <a:buNone/>
            </a:pPr>
            <a:r>
              <a:rPr lang="en-US" sz="1050" dirty="0">
                <a:solidFill>
                  <a:srgbClr val="1A1A2E"/>
                </a:solidFill>
                <a:latin typeface="Calibri" pitchFamily="34" charset="0"/>
                <a:ea typeface="Calibri" pitchFamily="34" charset="-122"/>
                <a:cs typeface="Calibri" pitchFamily="34" charset="-120"/>
              </a:rPr>
              <a:t>Record findings</a:t>
            </a:r>
            <a:endParaRPr lang="en-US" sz="1050" dirty="0"/>
          </a:p>
          <a:p>
            <a:pPr marL="0" indent="0" algn="ctr">
              <a:buNone/>
            </a:pPr>
            <a:r>
              <a:rPr lang="en-US" sz="1050" dirty="0">
                <a:solidFill>
                  <a:srgbClr val="1A1A2E"/>
                </a:solidFill>
                <a:latin typeface="Calibri" pitchFamily="34" charset="0"/>
                <a:ea typeface="Calibri" pitchFamily="34" charset="-122"/>
                <a:cs typeface="Calibri" pitchFamily="34" charset="-120"/>
              </a:rPr>
              <a:t>in evidence chain</a:t>
            </a:r>
            <a:endParaRPr lang="en-US" sz="1050" dirty="0"/>
          </a:p>
        </p:txBody>
      </p:sp>
      <p:sp>
        <p:nvSpPr>
          <p:cNvPr id="30" name="Shape 28"/>
          <p:cNvSpPr/>
          <p:nvPr/>
        </p:nvSpPr>
        <p:spPr>
          <a:xfrm>
            <a:off x="320040" y="3127248"/>
            <a:ext cx="8503920" cy="585216"/>
          </a:xfrm>
          <a:prstGeom prst="rect">
            <a:avLst/>
          </a:prstGeom>
          <a:solidFill>
            <a:srgbClr val="FFFFFF"/>
          </a:solidFill>
          <a:ln w="12700">
            <a:solidFill>
              <a:srgbClr val="00B4D8"/>
            </a:solidFill>
            <a:prstDash val="solid"/>
          </a:ln>
        </p:spPr>
        <p:txBody>
          <a:bodyPr/>
          <a:lstStyle/>
          <a:p>
            <a:endParaRPr lang="en-SG"/>
          </a:p>
        </p:txBody>
      </p:sp>
      <p:sp>
        <p:nvSpPr>
          <p:cNvPr id="31" name="Text 29"/>
          <p:cNvSpPr/>
          <p:nvPr/>
        </p:nvSpPr>
        <p:spPr>
          <a:xfrm>
            <a:off x="457200" y="3191256"/>
            <a:ext cx="8229600" cy="457200"/>
          </a:xfrm>
          <a:prstGeom prst="rect">
            <a:avLst/>
          </a:prstGeom>
          <a:noFill/>
          <a:ln/>
        </p:spPr>
        <p:txBody>
          <a:bodyPr wrap="square" rtlCol="0" anchor="ctr"/>
          <a:lstStyle/>
          <a:p>
            <a:pPr marL="0" indent="0">
              <a:buNone/>
            </a:pPr>
            <a:r>
              <a:rPr lang="en-US" sz="1050" dirty="0">
                <a:solidFill>
                  <a:srgbClr val="00B4D8"/>
                </a:solidFill>
                <a:latin typeface="Consolas" pitchFamily="34" charset="0"/>
                <a:ea typeface="Consolas" pitchFamily="34" charset="-122"/>
                <a:cs typeface="Consolas" pitchFamily="34" charset="-120"/>
              </a:rPr>
              <a:t>Evidence File:  forensics_example.jpg  |  SHA-256: 3a4f...d91c  |  Size: 5,704 bytes  |  Format: JPEG / JFIF  |  Resolution: 320×240</a:t>
            </a:r>
            <a:endParaRPr lang="en-US" sz="1050" dirty="0"/>
          </a:p>
        </p:txBody>
      </p:sp>
      <p:sp>
        <p:nvSpPr>
          <p:cNvPr id="32" name="Shape 30"/>
          <p:cNvSpPr/>
          <p:nvPr/>
        </p:nvSpPr>
        <p:spPr>
          <a:xfrm>
            <a:off x="320040" y="3813048"/>
            <a:ext cx="8503920" cy="1280160"/>
          </a:xfrm>
          <a:prstGeom prst="rect">
            <a:avLst/>
          </a:prstGeom>
          <a:solidFill>
            <a:srgbClr val="FFFFFF"/>
          </a:solidFill>
          <a:ln w="12700">
            <a:solidFill>
              <a:srgbClr val="F4A261"/>
            </a:solidFill>
            <a:prstDash val="solid"/>
          </a:ln>
        </p:spPr>
        <p:txBody>
          <a:bodyPr/>
          <a:lstStyle/>
          <a:p>
            <a:endParaRPr lang="en-SG"/>
          </a:p>
        </p:txBody>
      </p:sp>
      <p:sp>
        <p:nvSpPr>
          <p:cNvPr id="33" name="Text 31"/>
          <p:cNvSpPr/>
          <p:nvPr/>
        </p:nvSpPr>
        <p:spPr>
          <a:xfrm>
            <a:off x="502920" y="3904488"/>
            <a:ext cx="1280160" cy="219456"/>
          </a:xfrm>
          <a:prstGeom prst="rect">
            <a:avLst/>
          </a:prstGeom>
          <a:noFill/>
          <a:ln/>
        </p:spPr>
        <p:txBody>
          <a:bodyPr wrap="square"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SCENARIO</a:t>
            </a:r>
            <a:endParaRPr lang="en-US" sz="900" dirty="0"/>
          </a:p>
        </p:txBody>
      </p:sp>
      <p:sp>
        <p:nvSpPr>
          <p:cNvPr id="34" name="Text 32"/>
          <p:cNvSpPr/>
          <p:nvPr/>
        </p:nvSpPr>
        <p:spPr>
          <a:xfrm>
            <a:off x="502920" y="4151376"/>
            <a:ext cx="8229600" cy="822960"/>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A suspect's workstation was seized during an IP-theft investigation. Among files recovered was forensics_example.jpg — an apparently ordinary gradient image. Analysts must determine whether it conceals a covert payload and, if so, recover the hidden message as admissible evidence.</a:t>
            </a:r>
            <a:endParaRPr lang="en-US" sz="1150" dirty="0"/>
          </a:p>
        </p:txBody>
      </p:sp>
      <p:sp>
        <p:nvSpPr>
          <p:cNvPr id="37" name="Text 35"/>
          <p:cNvSpPr/>
          <p:nvPr/>
        </p:nvSpPr>
        <p:spPr>
          <a:xfrm>
            <a:off x="6858000" y="6601968"/>
            <a:ext cx="2103120" cy="228600"/>
          </a:xfrm>
          <a:prstGeom prst="rect">
            <a:avLst/>
          </a:prstGeom>
          <a:noFill/>
          <a:ln/>
        </p:spPr>
        <p:txBody>
          <a:bodyPr wrap="square" rtlCol="0" anchor="ctr"/>
          <a:lstStyle/>
          <a:p>
            <a:pPr marL="0" indent="0" algn="r">
              <a:buNone/>
            </a:pPr>
            <a:r>
              <a:rPr lang="en-US" sz="800" dirty="0">
                <a:solidFill>
                  <a:srgbClr val="00B4D8"/>
                </a:solidFill>
                <a:latin typeface="Calibri" pitchFamily="34" charset="0"/>
                <a:ea typeface="Calibri" pitchFamily="34" charset="-122"/>
                <a:cs typeface="Calibri" pitchFamily="34" charset="-120"/>
              </a:rPr>
              <a:t>Practical Lab</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320040" y="182880"/>
            <a:ext cx="2926080" cy="228600"/>
          </a:xfrm>
          <a:prstGeom prst="rect">
            <a:avLst/>
          </a:prstGeom>
          <a:solidFill>
            <a:srgbClr val="F4A261"/>
          </a:solidFill>
          <a:ln w="12700">
            <a:solidFill>
              <a:srgbClr val="F4A261"/>
            </a:solidFill>
            <a:prstDash val="solid"/>
          </a:ln>
        </p:spPr>
        <p:txBody>
          <a:bodyPr/>
          <a:lstStyle/>
          <a:p>
            <a:endParaRPr lang="en-SG"/>
          </a:p>
        </p:txBody>
      </p:sp>
      <p:sp>
        <p:nvSpPr>
          <p:cNvPr id="4" name="Text 2"/>
          <p:cNvSpPr/>
          <p:nvPr/>
        </p:nvSpPr>
        <p:spPr>
          <a:xfrm>
            <a:off x="320040" y="182880"/>
            <a:ext cx="2926080" cy="228600"/>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PHASE 1 — DETECT  ·  Steps 1–2</a:t>
            </a:r>
            <a:endParaRPr lang="en-US" sz="850" dirty="0"/>
          </a:p>
        </p:txBody>
      </p:sp>
      <p:sp>
        <p:nvSpPr>
          <p:cNvPr id="5" name="Text 3"/>
          <p:cNvSpPr/>
          <p:nvPr/>
        </p:nvSpPr>
        <p:spPr>
          <a:xfrm>
            <a:off x="320040" y="493776"/>
            <a:ext cx="8503920" cy="475488"/>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StegDetect — Preparing the Evidence File</a:t>
            </a:r>
            <a:endParaRPr lang="en-US" sz="2400" dirty="0"/>
          </a:p>
        </p:txBody>
      </p:sp>
      <p:sp>
        <p:nvSpPr>
          <p:cNvPr id="6" name="Text 4"/>
          <p:cNvSpPr/>
          <p:nvPr/>
        </p:nvSpPr>
        <p:spPr>
          <a:xfrm>
            <a:off x="320040" y="996696"/>
            <a:ext cx="8503920" cy="256032"/>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Before scanning, always verify file integrity and establish a cryptographic baseline for chain-of-custody</a:t>
            </a:r>
            <a:endParaRPr lang="en-US" sz="1100" dirty="0"/>
          </a:p>
        </p:txBody>
      </p:sp>
      <p:sp>
        <p:nvSpPr>
          <p:cNvPr id="7" name="Shape 5"/>
          <p:cNvSpPr/>
          <p:nvPr/>
        </p:nvSpPr>
        <p:spPr>
          <a:xfrm>
            <a:off x="320040" y="1353312"/>
            <a:ext cx="8503920" cy="1664208"/>
          </a:xfrm>
          <a:prstGeom prst="rect">
            <a:avLst/>
          </a:prstGeom>
          <a:solidFill>
            <a:srgbClr val="FFFFFF"/>
          </a:solidFill>
          <a:ln w="12700">
            <a:solidFill>
              <a:srgbClr val="F4A261"/>
            </a:solidFill>
            <a:prstDash val="solid"/>
          </a:ln>
        </p:spPr>
        <p:txBody>
          <a:bodyPr/>
          <a:lstStyle/>
          <a:p>
            <a:endParaRPr lang="en-SG"/>
          </a:p>
        </p:txBody>
      </p:sp>
      <p:sp>
        <p:nvSpPr>
          <p:cNvPr id="8" name="Shape 6"/>
          <p:cNvSpPr/>
          <p:nvPr/>
        </p:nvSpPr>
        <p:spPr>
          <a:xfrm>
            <a:off x="320040" y="1353312"/>
            <a:ext cx="347472" cy="1664208"/>
          </a:xfrm>
          <a:prstGeom prst="rect">
            <a:avLst/>
          </a:prstGeom>
          <a:solidFill>
            <a:srgbClr val="F4A261"/>
          </a:solidFill>
          <a:ln w="12700">
            <a:solidFill>
              <a:srgbClr val="F4A261"/>
            </a:solidFill>
            <a:prstDash val="solid"/>
          </a:ln>
        </p:spPr>
        <p:txBody>
          <a:bodyPr/>
          <a:lstStyle/>
          <a:p>
            <a:endParaRPr lang="en-SG"/>
          </a:p>
        </p:txBody>
      </p:sp>
      <p:sp>
        <p:nvSpPr>
          <p:cNvPr id="9" name="Text 7"/>
          <p:cNvSpPr/>
          <p:nvPr/>
        </p:nvSpPr>
        <p:spPr>
          <a:xfrm>
            <a:off x="320040" y="2011680"/>
            <a:ext cx="347472" cy="329184"/>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01</a:t>
            </a:r>
            <a:endParaRPr lang="en-US" sz="1000" dirty="0"/>
          </a:p>
        </p:txBody>
      </p:sp>
      <p:sp>
        <p:nvSpPr>
          <p:cNvPr id="10" name="Text 8"/>
          <p:cNvSpPr/>
          <p:nvPr/>
        </p:nvSpPr>
        <p:spPr>
          <a:xfrm>
            <a:off x="749808" y="1417320"/>
            <a:ext cx="7955280" cy="256032"/>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Verify the file is a valid JPEG</a:t>
            </a:r>
            <a:endParaRPr lang="en-US" sz="1300" dirty="0"/>
          </a:p>
        </p:txBody>
      </p:sp>
      <p:sp>
        <p:nvSpPr>
          <p:cNvPr id="11" name="Text 9"/>
          <p:cNvSpPr/>
          <p:nvPr/>
        </p:nvSpPr>
        <p:spPr>
          <a:xfrm>
            <a:off x="749808" y="1691640"/>
            <a:ext cx="786384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Why: Corrupted headers, wrong extensions, or appended data may indicate manual embedding or tampering. Always confirm before scanning.</a:t>
            </a:r>
            <a:endParaRPr lang="en-US" sz="1000" dirty="0"/>
          </a:p>
        </p:txBody>
      </p:sp>
      <p:sp>
        <p:nvSpPr>
          <p:cNvPr id="12" name="Shape 10"/>
          <p:cNvSpPr/>
          <p:nvPr/>
        </p:nvSpPr>
        <p:spPr>
          <a:xfrm>
            <a:off x="749808" y="1984248"/>
            <a:ext cx="3566160" cy="640080"/>
          </a:xfrm>
          <a:prstGeom prst="rect">
            <a:avLst/>
          </a:prstGeom>
          <a:solidFill>
            <a:srgbClr val="FFFFFF"/>
          </a:solidFill>
          <a:ln w="12700">
            <a:solidFill>
              <a:srgbClr val="DBEAFE"/>
            </a:solidFill>
            <a:prstDash val="solid"/>
          </a:ln>
        </p:spPr>
        <p:txBody>
          <a:bodyPr/>
          <a:lstStyle/>
          <a:p>
            <a:endParaRPr lang="en-SG"/>
          </a:p>
        </p:txBody>
      </p:sp>
      <p:sp>
        <p:nvSpPr>
          <p:cNvPr id="13" name="Text 11"/>
          <p:cNvSpPr/>
          <p:nvPr/>
        </p:nvSpPr>
        <p:spPr>
          <a:xfrm>
            <a:off x="841248" y="2020824"/>
            <a:ext cx="3383280" cy="566928"/>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file forensics_example.jpg</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exiftool forensics_example.jpg |</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grep -E "File Type|MIME|Image Size"</a:t>
            </a:r>
            <a:endParaRPr lang="en-US" sz="850" dirty="0"/>
          </a:p>
        </p:txBody>
      </p:sp>
      <p:sp>
        <p:nvSpPr>
          <p:cNvPr id="14" name="Shape 12"/>
          <p:cNvSpPr/>
          <p:nvPr/>
        </p:nvSpPr>
        <p:spPr>
          <a:xfrm>
            <a:off x="4407408" y="1984248"/>
            <a:ext cx="4297680" cy="640080"/>
          </a:xfrm>
          <a:prstGeom prst="rect">
            <a:avLst/>
          </a:prstGeom>
          <a:solidFill>
            <a:srgbClr val="FFFFFF"/>
          </a:solidFill>
          <a:ln w="12700">
            <a:solidFill>
              <a:srgbClr val="00B4D8"/>
            </a:solidFill>
            <a:prstDash val="solid"/>
          </a:ln>
        </p:spPr>
        <p:txBody>
          <a:bodyPr/>
          <a:lstStyle/>
          <a:p>
            <a:endParaRPr lang="en-SG"/>
          </a:p>
        </p:txBody>
      </p:sp>
      <p:sp>
        <p:nvSpPr>
          <p:cNvPr id="15" name="Text 13"/>
          <p:cNvSpPr/>
          <p:nvPr/>
        </p:nvSpPr>
        <p:spPr>
          <a:xfrm>
            <a:off x="4498848" y="2011680"/>
            <a:ext cx="1097280" cy="16459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OUTPUT:</a:t>
            </a:r>
            <a:endParaRPr lang="en-US" sz="750" dirty="0"/>
          </a:p>
        </p:txBody>
      </p:sp>
      <p:sp>
        <p:nvSpPr>
          <p:cNvPr id="16" name="Text 14"/>
          <p:cNvSpPr/>
          <p:nvPr/>
        </p:nvSpPr>
        <p:spPr>
          <a:xfrm>
            <a:off x="4498848" y="2185416"/>
            <a:ext cx="4114800" cy="384048"/>
          </a:xfrm>
          <a:prstGeom prst="rect">
            <a:avLst/>
          </a:prstGeom>
          <a:noFill/>
          <a:ln/>
        </p:spPr>
        <p:txBody>
          <a:bodyPr wrap="square" rtlCol="0" anchor="ctr"/>
          <a:lstStyle/>
          <a:p>
            <a:pPr marL="0" indent="0">
              <a:buNone/>
            </a:pPr>
            <a:r>
              <a:rPr lang="en-US" sz="850" dirty="0">
                <a:solidFill>
                  <a:srgbClr val="FFD166"/>
                </a:solidFill>
                <a:latin typeface="Consolas" pitchFamily="34" charset="0"/>
                <a:ea typeface="Consolas" pitchFamily="34" charset="-122"/>
                <a:cs typeface="Consolas" pitchFamily="34" charset="-120"/>
              </a:rPr>
              <a:t>forensics_example.jpg: JPEG image data, JFIF standard 1.01</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File Type: JPEG  |  MIME: image/jpeg  |  Image Size: 320x240</a:t>
            </a:r>
            <a:endParaRPr lang="en-US" sz="850" dirty="0"/>
          </a:p>
        </p:txBody>
      </p:sp>
      <p:sp>
        <p:nvSpPr>
          <p:cNvPr id="17" name="Shape 15"/>
          <p:cNvSpPr/>
          <p:nvPr/>
        </p:nvSpPr>
        <p:spPr>
          <a:xfrm>
            <a:off x="320040" y="3127248"/>
            <a:ext cx="8503920" cy="1664208"/>
          </a:xfrm>
          <a:prstGeom prst="rect">
            <a:avLst/>
          </a:prstGeom>
          <a:solidFill>
            <a:srgbClr val="FFFFFF"/>
          </a:solidFill>
          <a:ln w="12700">
            <a:solidFill>
              <a:srgbClr val="F4A261"/>
            </a:solidFill>
            <a:prstDash val="solid"/>
          </a:ln>
        </p:spPr>
        <p:txBody>
          <a:bodyPr/>
          <a:lstStyle/>
          <a:p>
            <a:endParaRPr lang="en-SG"/>
          </a:p>
        </p:txBody>
      </p:sp>
      <p:sp>
        <p:nvSpPr>
          <p:cNvPr id="18" name="Shape 16"/>
          <p:cNvSpPr/>
          <p:nvPr/>
        </p:nvSpPr>
        <p:spPr>
          <a:xfrm>
            <a:off x="320040" y="3127248"/>
            <a:ext cx="347472" cy="1664208"/>
          </a:xfrm>
          <a:prstGeom prst="rect">
            <a:avLst/>
          </a:prstGeom>
          <a:solidFill>
            <a:srgbClr val="F4A261"/>
          </a:solidFill>
          <a:ln w="12700">
            <a:solidFill>
              <a:srgbClr val="F4A261"/>
            </a:solidFill>
            <a:prstDash val="solid"/>
          </a:ln>
        </p:spPr>
        <p:txBody>
          <a:bodyPr/>
          <a:lstStyle/>
          <a:p>
            <a:endParaRPr lang="en-SG"/>
          </a:p>
        </p:txBody>
      </p:sp>
      <p:sp>
        <p:nvSpPr>
          <p:cNvPr id="19" name="Text 17"/>
          <p:cNvSpPr/>
          <p:nvPr/>
        </p:nvSpPr>
        <p:spPr>
          <a:xfrm>
            <a:off x="320040" y="3785616"/>
            <a:ext cx="347472" cy="329184"/>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02</a:t>
            </a:r>
            <a:endParaRPr lang="en-US" sz="1000" dirty="0"/>
          </a:p>
        </p:txBody>
      </p:sp>
      <p:sp>
        <p:nvSpPr>
          <p:cNvPr id="20" name="Text 18"/>
          <p:cNvSpPr/>
          <p:nvPr/>
        </p:nvSpPr>
        <p:spPr>
          <a:xfrm>
            <a:off x="749808" y="3191256"/>
            <a:ext cx="7955280" cy="256032"/>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Hash the file — Establish Integrity</a:t>
            </a:r>
            <a:endParaRPr lang="en-US" sz="1300" dirty="0"/>
          </a:p>
        </p:txBody>
      </p:sp>
      <p:sp>
        <p:nvSpPr>
          <p:cNvPr id="21" name="Text 19"/>
          <p:cNvSpPr/>
          <p:nvPr/>
        </p:nvSpPr>
        <p:spPr>
          <a:xfrm>
            <a:off x="749808" y="3465576"/>
            <a:ext cx="786384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Why: Hashing creates a cryptographic fingerprint. Any modification — even a single byte — changes the hash. This proves the file was not altered during analysis.</a:t>
            </a:r>
            <a:endParaRPr lang="en-US" sz="1000" dirty="0"/>
          </a:p>
        </p:txBody>
      </p:sp>
      <p:sp>
        <p:nvSpPr>
          <p:cNvPr id="22" name="Shape 20"/>
          <p:cNvSpPr/>
          <p:nvPr/>
        </p:nvSpPr>
        <p:spPr>
          <a:xfrm>
            <a:off x="749808" y="3758184"/>
            <a:ext cx="3566160" cy="640080"/>
          </a:xfrm>
          <a:prstGeom prst="rect">
            <a:avLst/>
          </a:prstGeom>
          <a:solidFill>
            <a:srgbClr val="FFFFFF"/>
          </a:solidFill>
          <a:ln w="12700">
            <a:solidFill>
              <a:srgbClr val="DBEAFE"/>
            </a:solidFill>
            <a:prstDash val="solid"/>
          </a:ln>
        </p:spPr>
        <p:txBody>
          <a:bodyPr/>
          <a:lstStyle/>
          <a:p>
            <a:endParaRPr lang="en-SG"/>
          </a:p>
        </p:txBody>
      </p:sp>
      <p:sp>
        <p:nvSpPr>
          <p:cNvPr id="23" name="Text 21"/>
          <p:cNvSpPr/>
          <p:nvPr/>
        </p:nvSpPr>
        <p:spPr>
          <a:xfrm>
            <a:off x="841248" y="3794760"/>
            <a:ext cx="3383280" cy="566928"/>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sha256sum forensics_example.jpg | tee evidence.hash</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md5sum  forensics_example.jpg &gt;&gt; evidence.hash</a:t>
            </a:r>
            <a:endParaRPr lang="en-US" sz="850" dirty="0"/>
          </a:p>
        </p:txBody>
      </p:sp>
      <p:sp>
        <p:nvSpPr>
          <p:cNvPr id="24" name="Shape 22"/>
          <p:cNvSpPr/>
          <p:nvPr/>
        </p:nvSpPr>
        <p:spPr>
          <a:xfrm>
            <a:off x="4407408" y="3758184"/>
            <a:ext cx="4297680" cy="640080"/>
          </a:xfrm>
          <a:prstGeom prst="rect">
            <a:avLst/>
          </a:prstGeom>
          <a:solidFill>
            <a:srgbClr val="FFFFFF"/>
          </a:solidFill>
          <a:ln w="12700">
            <a:solidFill>
              <a:srgbClr val="00B4D8"/>
            </a:solidFill>
            <a:prstDash val="solid"/>
          </a:ln>
        </p:spPr>
        <p:txBody>
          <a:bodyPr/>
          <a:lstStyle/>
          <a:p>
            <a:endParaRPr lang="en-SG"/>
          </a:p>
        </p:txBody>
      </p:sp>
      <p:sp>
        <p:nvSpPr>
          <p:cNvPr id="25" name="Text 23"/>
          <p:cNvSpPr/>
          <p:nvPr/>
        </p:nvSpPr>
        <p:spPr>
          <a:xfrm>
            <a:off x="4498848" y="3785616"/>
            <a:ext cx="1097280" cy="16459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OUTPUT:</a:t>
            </a:r>
            <a:endParaRPr lang="en-US" sz="750" dirty="0"/>
          </a:p>
        </p:txBody>
      </p:sp>
      <p:sp>
        <p:nvSpPr>
          <p:cNvPr id="26" name="Text 24"/>
          <p:cNvSpPr/>
          <p:nvPr/>
        </p:nvSpPr>
        <p:spPr>
          <a:xfrm>
            <a:off x="4498848" y="3959352"/>
            <a:ext cx="4114800" cy="384048"/>
          </a:xfrm>
          <a:prstGeom prst="rect">
            <a:avLst/>
          </a:prstGeom>
          <a:noFill/>
          <a:ln/>
        </p:spPr>
        <p:txBody>
          <a:bodyPr wrap="square" rtlCol="0" anchor="ctr"/>
          <a:lstStyle/>
          <a:p>
            <a:pPr marL="0" indent="0">
              <a:buNone/>
            </a:pPr>
            <a:r>
              <a:rPr lang="en-US" sz="850" dirty="0">
                <a:solidFill>
                  <a:srgbClr val="FFD166"/>
                </a:solidFill>
                <a:latin typeface="Consolas" pitchFamily="34" charset="0"/>
                <a:ea typeface="Consolas" pitchFamily="34" charset="-122"/>
                <a:cs typeface="Consolas" pitchFamily="34" charset="-120"/>
              </a:rPr>
              <a:t>3a4fd8c1e2...  forensics_example.jpg  [SHA-256]</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b91c23a07f...  forensics_example.jpg  [MD5]</a:t>
            </a:r>
            <a:endParaRPr lang="en-US" sz="850" dirty="0"/>
          </a:p>
        </p:txBody>
      </p:sp>
      <p:sp>
        <p:nvSpPr>
          <p:cNvPr id="28" name="Text 26"/>
          <p:cNvSpPr/>
          <p:nvPr/>
        </p:nvSpPr>
        <p:spPr>
          <a:xfrm>
            <a:off x="502920" y="4956048"/>
            <a:ext cx="2011680" cy="182880"/>
          </a:xfrm>
          <a:prstGeom prst="rect">
            <a:avLst/>
          </a:prstGeom>
          <a:noFill/>
          <a:ln/>
        </p:spPr>
        <p:txBody>
          <a:bodyPr wrap="square" rtlCol="0" anchor="ctr"/>
          <a:lstStyle/>
          <a:p>
            <a:pPr marL="0" indent="0">
              <a:buNone/>
            </a:pPr>
            <a:r>
              <a:rPr lang="en-US" sz="900" b="1" dirty="0">
                <a:solidFill>
                  <a:srgbClr val="2EC4B6"/>
                </a:solidFill>
                <a:latin typeface="Calibri" pitchFamily="34" charset="0"/>
                <a:ea typeface="Calibri" pitchFamily="34" charset="-122"/>
                <a:cs typeface="Calibri" pitchFamily="34" charset="-120"/>
              </a:rPr>
              <a:t>⚑  FORENSIC PRACTICE: </a:t>
            </a:r>
            <a:endParaRPr lang="en-US" sz="900" dirty="0"/>
          </a:p>
        </p:txBody>
      </p:sp>
      <p:sp>
        <p:nvSpPr>
          <p:cNvPr id="29" name="Text 27"/>
          <p:cNvSpPr/>
          <p:nvPr/>
        </p:nvSpPr>
        <p:spPr>
          <a:xfrm>
            <a:off x="2468880" y="4956048"/>
            <a:ext cx="6217920" cy="38404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Always hash before and after analysis, and store both sets in your case log. A mismatched post-analysis hash is inadmissible evidence of examination integrity.</a:t>
            </a:r>
            <a:endParaRPr lang="en-US" sz="950" dirty="0"/>
          </a:p>
        </p:txBody>
      </p:sp>
      <p:sp>
        <p:nvSpPr>
          <p:cNvPr id="32" name="Text 30"/>
          <p:cNvSpPr/>
          <p:nvPr/>
        </p:nvSpPr>
        <p:spPr>
          <a:xfrm>
            <a:off x="6858000" y="6601968"/>
            <a:ext cx="2103120" cy="228600"/>
          </a:xfrm>
          <a:prstGeom prst="rect">
            <a:avLst/>
          </a:prstGeom>
          <a:noFill/>
          <a:ln/>
        </p:spPr>
        <p:txBody>
          <a:bodyPr wrap="square" rtlCol="0" anchor="ctr"/>
          <a:lstStyle/>
          <a:p>
            <a:pPr marL="0" indent="0" algn="r">
              <a:buNone/>
            </a:pPr>
            <a:r>
              <a:rPr lang="en-US" sz="800" dirty="0">
                <a:solidFill>
                  <a:srgbClr val="00B4D8"/>
                </a:solidFill>
                <a:latin typeface="Calibri" pitchFamily="34" charset="0"/>
                <a:ea typeface="Calibri" pitchFamily="34" charset="-122"/>
                <a:cs typeface="Calibri" pitchFamily="34" charset="-120"/>
              </a:rPr>
              <a:t>Phase 1 — Detect</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320040" y="182880"/>
            <a:ext cx="2743200" cy="228600"/>
          </a:xfrm>
          <a:prstGeom prst="rect">
            <a:avLst/>
          </a:prstGeom>
          <a:solidFill>
            <a:srgbClr val="F4A261"/>
          </a:solidFill>
          <a:ln w="12700">
            <a:solidFill>
              <a:srgbClr val="F4A261"/>
            </a:solidFill>
            <a:prstDash val="solid"/>
          </a:ln>
        </p:spPr>
        <p:txBody>
          <a:bodyPr/>
          <a:lstStyle/>
          <a:p>
            <a:endParaRPr lang="en-SG"/>
          </a:p>
        </p:txBody>
      </p:sp>
      <p:sp>
        <p:nvSpPr>
          <p:cNvPr id="4" name="Text 2"/>
          <p:cNvSpPr/>
          <p:nvPr/>
        </p:nvSpPr>
        <p:spPr>
          <a:xfrm>
            <a:off x="320040" y="182880"/>
            <a:ext cx="2743200" cy="228600"/>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PHASE 1 — DETECT  ·  Step 3</a:t>
            </a:r>
            <a:endParaRPr lang="en-US" sz="850" dirty="0"/>
          </a:p>
        </p:txBody>
      </p:sp>
      <p:sp>
        <p:nvSpPr>
          <p:cNvPr id="5" name="Text 3"/>
          <p:cNvSpPr/>
          <p:nvPr/>
        </p:nvSpPr>
        <p:spPr>
          <a:xfrm>
            <a:off x="320040" y="493776"/>
            <a:ext cx="8503920" cy="475488"/>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Running StegDetect — Reading the Output</a:t>
            </a:r>
            <a:endParaRPr lang="en-US" sz="2400" dirty="0"/>
          </a:p>
        </p:txBody>
      </p:sp>
      <p:sp>
        <p:nvSpPr>
          <p:cNvPr id="6" name="Text 4"/>
          <p:cNvSpPr/>
          <p:nvPr/>
        </p:nvSpPr>
        <p:spPr>
          <a:xfrm>
            <a:off x="320040" y="996696"/>
            <a:ext cx="8503920" cy="256032"/>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Step 3: Execute the default scan and understand exactly what the output means</a:t>
            </a:r>
            <a:endParaRPr lang="en-US" sz="1100" dirty="0"/>
          </a:p>
        </p:txBody>
      </p:sp>
      <p:sp>
        <p:nvSpPr>
          <p:cNvPr id="7" name="Shape 5"/>
          <p:cNvSpPr/>
          <p:nvPr/>
        </p:nvSpPr>
        <p:spPr>
          <a:xfrm>
            <a:off x="320040" y="1335024"/>
            <a:ext cx="8503920" cy="585216"/>
          </a:xfrm>
          <a:prstGeom prst="rect">
            <a:avLst/>
          </a:prstGeom>
          <a:solidFill>
            <a:srgbClr val="FFFFFF"/>
          </a:solidFill>
          <a:ln w="12700">
            <a:solidFill>
              <a:srgbClr val="F4A261"/>
            </a:solidFill>
            <a:prstDash val="solid"/>
          </a:ln>
        </p:spPr>
        <p:txBody>
          <a:bodyPr/>
          <a:lstStyle/>
          <a:p>
            <a:endParaRPr lang="en-SG"/>
          </a:p>
        </p:txBody>
      </p:sp>
      <p:sp>
        <p:nvSpPr>
          <p:cNvPr id="8" name="Text 6"/>
          <p:cNvSpPr/>
          <p:nvPr/>
        </p:nvSpPr>
        <p:spPr>
          <a:xfrm>
            <a:off x="502920" y="1426464"/>
            <a:ext cx="8229600" cy="365760"/>
          </a:xfrm>
          <a:prstGeom prst="rect">
            <a:avLst/>
          </a:prstGeom>
          <a:noFill/>
          <a:ln/>
        </p:spPr>
        <p:txBody>
          <a:bodyPr wrap="square" rtlCol="0" anchor="ctr"/>
          <a:lstStyle/>
          <a:p>
            <a:pPr marL="0" indent="0">
              <a:buNone/>
            </a:pPr>
            <a:r>
              <a:rPr lang="en-US" sz="1400" b="1" dirty="0">
                <a:solidFill>
                  <a:srgbClr val="2EC4B6"/>
                </a:solidFill>
                <a:latin typeface="Consolas" pitchFamily="34" charset="0"/>
                <a:ea typeface="Consolas" pitchFamily="34" charset="-122"/>
                <a:cs typeface="Consolas" pitchFamily="34" charset="-120"/>
              </a:rPr>
              <a:t>$ stegdetect forensics_example.jpg</a:t>
            </a:r>
            <a:endParaRPr lang="en-US" sz="1400" dirty="0"/>
          </a:p>
        </p:txBody>
      </p:sp>
      <p:sp>
        <p:nvSpPr>
          <p:cNvPr id="9" name="Shape 7"/>
          <p:cNvSpPr/>
          <p:nvPr/>
        </p:nvSpPr>
        <p:spPr>
          <a:xfrm>
            <a:off x="320040" y="2029968"/>
            <a:ext cx="8503920" cy="585216"/>
          </a:xfrm>
          <a:prstGeom prst="rect">
            <a:avLst/>
          </a:prstGeom>
          <a:solidFill>
            <a:srgbClr val="FFFFFF"/>
          </a:solidFill>
          <a:ln w="12700">
            <a:solidFill>
              <a:srgbClr val="FFD166"/>
            </a:solidFill>
            <a:prstDash val="solid"/>
          </a:ln>
        </p:spPr>
        <p:txBody>
          <a:bodyPr/>
          <a:lstStyle/>
          <a:p>
            <a:endParaRPr lang="en-SG"/>
          </a:p>
        </p:txBody>
      </p:sp>
      <p:sp>
        <p:nvSpPr>
          <p:cNvPr id="10" name="Text 8"/>
          <p:cNvSpPr/>
          <p:nvPr/>
        </p:nvSpPr>
        <p:spPr>
          <a:xfrm>
            <a:off x="502920" y="2121408"/>
            <a:ext cx="8229600" cy="365760"/>
          </a:xfrm>
          <a:prstGeom prst="rect">
            <a:avLst/>
          </a:prstGeom>
          <a:noFill/>
          <a:ln/>
        </p:spPr>
        <p:txBody>
          <a:bodyPr wrap="square" rtlCol="0" anchor="ctr"/>
          <a:lstStyle/>
          <a:p>
            <a:pPr marL="0" indent="0">
              <a:buNone/>
            </a:pPr>
            <a:r>
              <a:rPr lang="en-US" sz="1500" b="1" dirty="0">
                <a:solidFill>
                  <a:srgbClr val="FFD166"/>
                </a:solidFill>
                <a:latin typeface="Consolas" pitchFamily="34" charset="0"/>
                <a:ea typeface="Consolas" pitchFamily="34" charset="-122"/>
                <a:cs typeface="Consolas" pitchFamily="34" charset="-120"/>
              </a:rPr>
              <a:t>forensics_example.jpg  :  jsteg(***)</a:t>
            </a:r>
            <a:endParaRPr lang="en-US" sz="1500" dirty="0"/>
          </a:p>
        </p:txBody>
      </p:sp>
      <p:sp>
        <p:nvSpPr>
          <p:cNvPr id="11" name="Shape 9"/>
          <p:cNvSpPr/>
          <p:nvPr/>
        </p:nvSpPr>
        <p:spPr>
          <a:xfrm>
            <a:off x="320040" y="2761488"/>
            <a:ext cx="2423160" cy="1371600"/>
          </a:xfrm>
          <a:prstGeom prst="rect">
            <a:avLst/>
          </a:prstGeom>
          <a:solidFill>
            <a:srgbClr val="FFFFFF"/>
          </a:solidFill>
          <a:ln w="12700">
            <a:solidFill>
              <a:srgbClr val="00B4D8"/>
            </a:solidFill>
            <a:prstDash val="solid"/>
          </a:ln>
        </p:spPr>
        <p:txBody>
          <a:bodyPr/>
          <a:lstStyle/>
          <a:p>
            <a:endParaRPr lang="en-SG"/>
          </a:p>
        </p:txBody>
      </p:sp>
      <p:sp>
        <p:nvSpPr>
          <p:cNvPr id="12" name="Shape 10"/>
          <p:cNvSpPr/>
          <p:nvPr/>
        </p:nvSpPr>
        <p:spPr>
          <a:xfrm>
            <a:off x="320040" y="2761488"/>
            <a:ext cx="2423160" cy="274320"/>
          </a:xfrm>
          <a:prstGeom prst="rect">
            <a:avLst/>
          </a:prstGeom>
          <a:solidFill>
            <a:srgbClr val="00B4D8"/>
          </a:solidFill>
          <a:ln w="12700">
            <a:solidFill>
              <a:srgbClr val="00B4D8"/>
            </a:solidFill>
            <a:prstDash val="solid"/>
          </a:ln>
        </p:spPr>
        <p:txBody>
          <a:bodyPr/>
          <a:lstStyle/>
          <a:p>
            <a:endParaRPr lang="en-SG"/>
          </a:p>
        </p:txBody>
      </p:sp>
      <p:sp>
        <p:nvSpPr>
          <p:cNvPr id="13" name="Text 11"/>
          <p:cNvSpPr/>
          <p:nvPr/>
        </p:nvSpPr>
        <p:spPr>
          <a:xfrm>
            <a:off x="320040" y="2761488"/>
            <a:ext cx="2423160" cy="274320"/>
          </a:xfrm>
          <a:prstGeom prst="rect">
            <a:avLst/>
          </a:prstGeom>
          <a:noFill/>
          <a:ln/>
        </p:spPr>
        <p:txBody>
          <a:bodyPr wrap="square" rtlCol="0" anchor="ctr"/>
          <a:lstStyle/>
          <a:p>
            <a:pPr marL="0" indent="0" algn="ctr">
              <a:buNone/>
            </a:pPr>
            <a:r>
              <a:rPr lang="en-US" sz="900" b="1" dirty="0">
                <a:solidFill>
                  <a:srgbClr val="060E17"/>
                </a:solidFill>
                <a:latin typeface="Calibri" pitchFamily="34" charset="0"/>
                <a:ea typeface="Calibri" pitchFamily="34" charset="-122"/>
                <a:cs typeface="Calibri" pitchFamily="34" charset="-120"/>
              </a:rPr>
              <a:t>FILENAME</a:t>
            </a:r>
            <a:endParaRPr lang="en-US" sz="900" dirty="0"/>
          </a:p>
        </p:txBody>
      </p:sp>
      <p:sp>
        <p:nvSpPr>
          <p:cNvPr id="14" name="Text 12"/>
          <p:cNvSpPr/>
          <p:nvPr/>
        </p:nvSpPr>
        <p:spPr>
          <a:xfrm>
            <a:off x="411480" y="3063240"/>
            <a:ext cx="2240280" cy="237744"/>
          </a:xfrm>
          <a:prstGeom prst="rect">
            <a:avLst/>
          </a:prstGeom>
          <a:noFill/>
          <a:ln/>
        </p:spPr>
        <p:txBody>
          <a:bodyPr wrap="square" rtlCol="0" anchor="ctr"/>
          <a:lstStyle/>
          <a:p>
            <a:pPr marL="0" indent="0">
              <a:buNone/>
            </a:pPr>
            <a:r>
              <a:rPr lang="en-US" sz="1000" b="1" dirty="0">
                <a:solidFill>
                  <a:srgbClr val="FFD166"/>
                </a:solidFill>
                <a:latin typeface="Consolas" pitchFamily="34" charset="0"/>
                <a:ea typeface="Consolas" pitchFamily="34" charset="-122"/>
                <a:cs typeface="Consolas" pitchFamily="34" charset="-120"/>
              </a:rPr>
              <a:t>forensics_example.jpg</a:t>
            </a:r>
            <a:endParaRPr lang="en-US" sz="1000" dirty="0"/>
          </a:p>
        </p:txBody>
      </p:sp>
      <p:sp>
        <p:nvSpPr>
          <p:cNvPr id="15" name="Text 13"/>
          <p:cNvSpPr/>
          <p:nvPr/>
        </p:nvSpPr>
        <p:spPr>
          <a:xfrm>
            <a:off x="411480" y="3310128"/>
            <a:ext cx="2240280" cy="768096"/>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The file that was scanned. In batch mode this shows each file path. Always confirm the correct file was targeted.</a:t>
            </a:r>
            <a:endParaRPr lang="en-US" sz="900" dirty="0"/>
          </a:p>
        </p:txBody>
      </p:sp>
      <p:sp>
        <p:nvSpPr>
          <p:cNvPr id="16" name="Shape 14"/>
          <p:cNvSpPr/>
          <p:nvPr/>
        </p:nvSpPr>
        <p:spPr>
          <a:xfrm>
            <a:off x="3063240" y="2761488"/>
            <a:ext cx="3246120" cy="1371600"/>
          </a:xfrm>
          <a:prstGeom prst="rect">
            <a:avLst/>
          </a:prstGeom>
          <a:solidFill>
            <a:srgbClr val="FFFFFF"/>
          </a:solidFill>
          <a:ln w="12700">
            <a:solidFill>
              <a:srgbClr val="F4A261"/>
            </a:solidFill>
            <a:prstDash val="solid"/>
          </a:ln>
        </p:spPr>
        <p:txBody>
          <a:bodyPr/>
          <a:lstStyle/>
          <a:p>
            <a:endParaRPr lang="en-SG"/>
          </a:p>
        </p:txBody>
      </p:sp>
      <p:sp>
        <p:nvSpPr>
          <p:cNvPr id="17" name="Shape 15"/>
          <p:cNvSpPr/>
          <p:nvPr/>
        </p:nvSpPr>
        <p:spPr>
          <a:xfrm>
            <a:off x="3063240" y="2761488"/>
            <a:ext cx="3246120" cy="274320"/>
          </a:xfrm>
          <a:prstGeom prst="rect">
            <a:avLst/>
          </a:prstGeom>
          <a:solidFill>
            <a:srgbClr val="F4A261"/>
          </a:solidFill>
          <a:ln w="12700">
            <a:solidFill>
              <a:srgbClr val="F4A261"/>
            </a:solidFill>
            <a:prstDash val="solid"/>
          </a:ln>
        </p:spPr>
        <p:txBody>
          <a:bodyPr/>
          <a:lstStyle/>
          <a:p>
            <a:endParaRPr lang="en-SG"/>
          </a:p>
        </p:txBody>
      </p:sp>
      <p:sp>
        <p:nvSpPr>
          <p:cNvPr id="18" name="Text 16"/>
          <p:cNvSpPr/>
          <p:nvPr/>
        </p:nvSpPr>
        <p:spPr>
          <a:xfrm>
            <a:off x="3063240" y="2761488"/>
            <a:ext cx="3246120" cy="274320"/>
          </a:xfrm>
          <a:prstGeom prst="rect">
            <a:avLst/>
          </a:prstGeom>
          <a:noFill/>
          <a:ln/>
        </p:spPr>
        <p:txBody>
          <a:bodyPr wrap="square" rtlCol="0" anchor="ctr"/>
          <a:lstStyle/>
          <a:p>
            <a:pPr marL="0" indent="0" algn="ctr">
              <a:buNone/>
            </a:pPr>
            <a:r>
              <a:rPr lang="en-US" sz="900" b="1" dirty="0">
                <a:solidFill>
                  <a:srgbClr val="060E17"/>
                </a:solidFill>
                <a:latin typeface="Calibri" pitchFamily="34" charset="0"/>
                <a:ea typeface="Calibri" pitchFamily="34" charset="-122"/>
                <a:cs typeface="Calibri" pitchFamily="34" charset="-120"/>
              </a:rPr>
              <a:t>ALGORITHM: jsteg</a:t>
            </a:r>
            <a:endParaRPr lang="en-US" sz="900" dirty="0"/>
          </a:p>
        </p:txBody>
      </p:sp>
      <p:sp>
        <p:nvSpPr>
          <p:cNvPr id="19" name="Text 17"/>
          <p:cNvSpPr/>
          <p:nvPr/>
        </p:nvSpPr>
        <p:spPr>
          <a:xfrm>
            <a:off x="3182112" y="3081528"/>
            <a:ext cx="3017520" cy="201168"/>
          </a:xfrm>
          <a:prstGeom prst="rect">
            <a:avLst/>
          </a:prstGeom>
          <a:noFill/>
          <a:ln/>
        </p:spPr>
        <p:txBody>
          <a:bodyPr wrap="square"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What is jsteg?</a:t>
            </a:r>
            <a:endParaRPr lang="en-US" sz="1000" dirty="0"/>
          </a:p>
        </p:txBody>
      </p:sp>
      <p:sp>
        <p:nvSpPr>
          <p:cNvPr id="20" name="Text 18"/>
          <p:cNvSpPr/>
          <p:nvPr/>
        </p:nvSpPr>
        <p:spPr>
          <a:xfrm>
            <a:off x="3182112" y="3300984"/>
            <a:ext cx="3017520" cy="786384"/>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jsteg is a classic steganography tool that hides data in the least significant bits (LSB) of JPEG DCT (Discrete Cosine Transform) coefficients — the frequency values produced when JPEG compresses image blocks.</a:t>
            </a:r>
            <a:endParaRPr lang="en-US" sz="850" dirty="0"/>
          </a:p>
          <a:p>
            <a:pPr marL="0" indent="0">
              <a:buNone/>
            </a:pPr>
            <a:endParaRPr lang="en-US" sz="850" dirty="0"/>
          </a:p>
          <a:p>
            <a:pPr marL="0" indent="0">
              <a:buNone/>
            </a:pPr>
            <a:r>
              <a:rPr lang="en-US" sz="850" dirty="0">
                <a:solidFill>
                  <a:srgbClr val="1A1A2E"/>
                </a:solidFill>
                <a:latin typeface="Calibri" pitchFamily="34" charset="0"/>
                <a:ea typeface="Calibri" pitchFamily="34" charset="-122"/>
                <a:cs typeface="Calibri" pitchFamily="34" charset="-120"/>
              </a:rPr>
              <a:t>StegDetect detects jsteg by measuring statistical irregularities in DCT coefficient distributions that LSB modification creates.</a:t>
            </a:r>
            <a:endParaRPr lang="en-US" sz="850" dirty="0"/>
          </a:p>
        </p:txBody>
      </p:sp>
      <p:sp>
        <p:nvSpPr>
          <p:cNvPr id="21" name="Shape 19"/>
          <p:cNvSpPr/>
          <p:nvPr/>
        </p:nvSpPr>
        <p:spPr>
          <a:xfrm>
            <a:off x="6583680" y="2761488"/>
            <a:ext cx="2240280" cy="1371600"/>
          </a:xfrm>
          <a:prstGeom prst="rect">
            <a:avLst/>
          </a:prstGeom>
          <a:solidFill>
            <a:srgbClr val="FFFFFF"/>
          </a:solidFill>
          <a:ln w="12700">
            <a:solidFill>
              <a:srgbClr val="A855F7"/>
            </a:solidFill>
            <a:prstDash val="solid"/>
          </a:ln>
        </p:spPr>
        <p:txBody>
          <a:bodyPr/>
          <a:lstStyle/>
          <a:p>
            <a:endParaRPr lang="en-SG"/>
          </a:p>
        </p:txBody>
      </p:sp>
      <p:sp>
        <p:nvSpPr>
          <p:cNvPr id="22" name="Shape 20"/>
          <p:cNvSpPr/>
          <p:nvPr/>
        </p:nvSpPr>
        <p:spPr>
          <a:xfrm>
            <a:off x="6583680" y="2761488"/>
            <a:ext cx="2240280" cy="274320"/>
          </a:xfrm>
          <a:prstGeom prst="rect">
            <a:avLst/>
          </a:prstGeom>
          <a:solidFill>
            <a:srgbClr val="A855F7"/>
          </a:solidFill>
          <a:ln w="12700">
            <a:solidFill>
              <a:srgbClr val="A855F7"/>
            </a:solidFill>
            <a:prstDash val="solid"/>
          </a:ln>
        </p:spPr>
        <p:txBody>
          <a:bodyPr/>
          <a:lstStyle/>
          <a:p>
            <a:endParaRPr lang="en-SG"/>
          </a:p>
        </p:txBody>
      </p:sp>
      <p:sp>
        <p:nvSpPr>
          <p:cNvPr id="23" name="Text 21"/>
          <p:cNvSpPr/>
          <p:nvPr/>
        </p:nvSpPr>
        <p:spPr>
          <a:xfrm>
            <a:off x="6583680" y="2761488"/>
            <a:ext cx="2240280" cy="27432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CONFIDENCE: (***)</a:t>
            </a:r>
            <a:endParaRPr lang="en-US" sz="900" dirty="0"/>
          </a:p>
        </p:txBody>
      </p:sp>
      <p:sp>
        <p:nvSpPr>
          <p:cNvPr id="24" name="Text 22"/>
          <p:cNvSpPr/>
          <p:nvPr/>
        </p:nvSpPr>
        <p:spPr>
          <a:xfrm>
            <a:off x="6656832" y="3072384"/>
            <a:ext cx="658368" cy="219456"/>
          </a:xfrm>
          <a:prstGeom prst="rect">
            <a:avLst/>
          </a:prstGeom>
          <a:noFill/>
          <a:ln/>
        </p:spPr>
        <p:txBody>
          <a:bodyPr wrap="square"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a:t>
            </a:r>
            <a:endParaRPr lang="en-US" sz="900" dirty="0"/>
          </a:p>
        </p:txBody>
      </p:sp>
      <p:sp>
        <p:nvSpPr>
          <p:cNvPr id="25" name="Text 23"/>
          <p:cNvSpPr/>
          <p:nvPr/>
        </p:nvSpPr>
        <p:spPr>
          <a:xfrm>
            <a:off x="7333488" y="3072384"/>
            <a:ext cx="640080" cy="219456"/>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Low</a:t>
            </a:r>
            <a:endParaRPr lang="en-US" sz="900" dirty="0"/>
          </a:p>
        </p:txBody>
      </p:sp>
      <p:sp>
        <p:nvSpPr>
          <p:cNvPr id="26" name="Text 24"/>
          <p:cNvSpPr/>
          <p:nvPr/>
        </p:nvSpPr>
        <p:spPr>
          <a:xfrm>
            <a:off x="6656832" y="3209544"/>
            <a:ext cx="1325880" cy="128016"/>
          </a:xfrm>
          <a:prstGeom prst="rect">
            <a:avLst/>
          </a:prstGeom>
          <a:noFill/>
          <a:ln/>
        </p:spPr>
        <p:txBody>
          <a:bodyPr wrap="square" rtlCol="0" anchor="ctr"/>
          <a:lstStyle/>
          <a:p>
            <a:pPr marL="0" indent="0">
              <a:buNone/>
            </a:pPr>
            <a:r>
              <a:rPr lang="en-US" sz="700" dirty="0">
                <a:solidFill>
                  <a:srgbClr val="8899AA"/>
                </a:solidFill>
                <a:latin typeface="Calibri" pitchFamily="34" charset="0"/>
                <a:ea typeface="Calibri" pitchFamily="34" charset="-122"/>
                <a:cs typeface="Calibri" pitchFamily="34" charset="-120"/>
              </a:rPr>
              <a:t>Possible false positive</a:t>
            </a:r>
            <a:endParaRPr lang="en-US" sz="700" dirty="0"/>
          </a:p>
        </p:txBody>
      </p:sp>
      <p:sp>
        <p:nvSpPr>
          <p:cNvPr id="27" name="Text 25"/>
          <p:cNvSpPr/>
          <p:nvPr/>
        </p:nvSpPr>
        <p:spPr>
          <a:xfrm>
            <a:off x="6656832" y="3332988"/>
            <a:ext cx="658368" cy="219456"/>
          </a:xfrm>
          <a:prstGeom prst="rect">
            <a:avLst/>
          </a:prstGeom>
          <a:noFill/>
          <a:ln/>
        </p:spPr>
        <p:txBody>
          <a:bodyPr wrap="square"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a:t>
            </a:r>
            <a:endParaRPr lang="en-US" sz="900" dirty="0"/>
          </a:p>
        </p:txBody>
      </p:sp>
      <p:sp>
        <p:nvSpPr>
          <p:cNvPr id="28" name="Text 26"/>
          <p:cNvSpPr/>
          <p:nvPr/>
        </p:nvSpPr>
        <p:spPr>
          <a:xfrm>
            <a:off x="7333488" y="3332988"/>
            <a:ext cx="640080" cy="219456"/>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Moderate</a:t>
            </a:r>
            <a:endParaRPr lang="en-US" sz="900" dirty="0"/>
          </a:p>
        </p:txBody>
      </p:sp>
      <p:sp>
        <p:nvSpPr>
          <p:cNvPr id="29" name="Text 27"/>
          <p:cNvSpPr/>
          <p:nvPr/>
        </p:nvSpPr>
        <p:spPr>
          <a:xfrm>
            <a:off x="6656832" y="3470148"/>
            <a:ext cx="1325880" cy="128016"/>
          </a:xfrm>
          <a:prstGeom prst="rect">
            <a:avLst/>
          </a:prstGeom>
          <a:noFill/>
          <a:ln/>
        </p:spPr>
        <p:txBody>
          <a:bodyPr wrap="square" rtlCol="0" anchor="ctr"/>
          <a:lstStyle/>
          <a:p>
            <a:pPr marL="0" indent="0">
              <a:buNone/>
            </a:pPr>
            <a:r>
              <a:rPr lang="en-US" sz="700" dirty="0">
                <a:solidFill>
                  <a:srgbClr val="8899AA"/>
                </a:solidFill>
                <a:latin typeface="Calibri" pitchFamily="34" charset="0"/>
                <a:ea typeface="Calibri" pitchFamily="34" charset="-122"/>
                <a:cs typeface="Calibri" pitchFamily="34" charset="-120"/>
              </a:rPr>
              <a:t>Warrants investigation</a:t>
            </a:r>
            <a:endParaRPr lang="en-US" sz="700" dirty="0"/>
          </a:p>
        </p:txBody>
      </p:sp>
      <p:sp>
        <p:nvSpPr>
          <p:cNvPr id="30" name="Text 28"/>
          <p:cNvSpPr/>
          <p:nvPr/>
        </p:nvSpPr>
        <p:spPr>
          <a:xfrm>
            <a:off x="6656832" y="3593592"/>
            <a:ext cx="658368" cy="219456"/>
          </a:xfrm>
          <a:prstGeom prst="rect">
            <a:avLst/>
          </a:prstGeom>
          <a:noFill/>
          <a:ln/>
        </p:spPr>
        <p:txBody>
          <a:bodyPr wrap="square" rtlCol="0" anchor="ctr"/>
          <a:lstStyle/>
          <a:p>
            <a:pPr marL="0" indent="0">
              <a:buNone/>
            </a:pPr>
            <a:r>
              <a:rPr lang="en-US" sz="900" b="1" dirty="0">
                <a:solidFill>
                  <a:srgbClr val="FFD166"/>
                </a:solidFill>
                <a:latin typeface="Consolas" pitchFamily="34" charset="0"/>
                <a:ea typeface="Consolas" pitchFamily="34" charset="-122"/>
                <a:cs typeface="Consolas" pitchFamily="34" charset="-120"/>
              </a:rPr>
              <a:t>(***)</a:t>
            </a:r>
            <a:endParaRPr lang="en-US" sz="900" dirty="0"/>
          </a:p>
        </p:txBody>
      </p:sp>
      <p:sp>
        <p:nvSpPr>
          <p:cNvPr id="31" name="Text 29"/>
          <p:cNvSpPr/>
          <p:nvPr/>
        </p:nvSpPr>
        <p:spPr>
          <a:xfrm>
            <a:off x="7333488" y="3593592"/>
            <a:ext cx="640080" cy="219456"/>
          </a:xfrm>
          <a:prstGeom prst="rect">
            <a:avLst/>
          </a:prstGeom>
          <a:noFill/>
          <a:ln/>
        </p:spPr>
        <p:txBody>
          <a:bodyPr wrap="square"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High</a:t>
            </a:r>
            <a:endParaRPr lang="en-US" sz="900" dirty="0"/>
          </a:p>
        </p:txBody>
      </p:sp>
      <p:sp>
        <p:nvSpPr>
          <p:cNvPr id="32" name="Text 30"/>
          <p:cNvSpPr/>
          <p:nvPr/>
        </p:nvSpPr>
        <p:spPr>
          <a:xfrm>
            <a:off x="6656832" y="3730752"/>
            <a:ext cx="1325880" cy="128016"/>
          </a:xfrm>
          <a:prstGeom prst="rect">
            <a:avLst/>
          </a:prstGeom>
          <a:noFill/>
          <a:ln/>
        </p:spPr>
        <p:txBody>
          <a:bodyPr wrap="square" rtlCol="0" anchor="ctr"/>
          <a:lstStyle/>
          <a:p>
            <a:pPr marL="0" indent="0">
              <a:buNone/>
            </a:pPr>
            <a:r>
              <a:rPr lang="en-US" sz="700" dirty="0">
                <a:solidFill>
                  <a:srgbClr val="00B4D8"/>
                </a:solidFill>
                <a:latin typeface="Calibri" pitchFamily="34" charset="0"/>
                <a:ea typeface="Calibri" pitchFamily="34" charset="-122"/>
                <a:cs typeface="Calibri" pitchFamily="34" charset="-120"/>
              </a:rPr>
              <a:t>Strong indicator ← our result</a:t>
            </a:r>
            <a:endParaRPr lang="en-US" sz="700" dirty="0"/>
          </a:p>
        </p:txBody>
      </p:sp>
      <p:sp>
        <p:nvSpPr>
          <p:cNvPr id="33" name="Text 31"/>
          <p:cNvSpPr/>
          <p:nvPr/>
        </p:nvSpPr>
        <p:spPr>
          <a:xfrm>
            <a:off x="6656832" y="3854196"/>
            <a:ext cx="658368" cy="219456"/>
          </a:xfrm>
          <a:prstGeom prst="rect">
            <a:avLst/>
          </a:prstGeom>
          <a:noFill/>
          <a:ln/>
        </p:spPr>
        <p:txBody>
          <a:bodyPr wrap="square" rtlCol="0" anchor="ctr"/>
          <a:lstStyle/>
          <a:p>
            <a:pPr marL="0" indent="0">
              <a:buNone/>
            </a:pPr>
            <a:r>
              <a:rPr lang="en-US" sz="900" dirty="0">
                <a:solidFill>
                  <a:srgbClr val="8899AA"/>
                </a:solidFill>
                <a:latin typeface="Consolas" pitchFamily="34" charset="0"/>
                <a:ea typeface="Consolas" pitchFamily="34" charset="-122"/>
                <a:cs typeface="Consolas" pitchFamily="34" charset="-120"/>
              </a:rPr>
              <a:t>(****)</a:t>
            </a:r>
            <a:endParaRPr lang="en-US" sz="900" dirty="0"/>
          </a:p>
        </p:txBody>
      </p:sp>
      <p:sp>
        <p:nvSpPr>
          <p:cNvPr id="34" name="Text 32"/>
          <p:cNvSpPr/>
          <p:nvPr/>
        </p:nvSpPr>
        <p:spPr>
          <a:xfrm>
            <a:off x="7333488" y="3854196"/>
            <a:ext cx="640080" cy="219456"/>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Very High</a:t>
            </a:r>
            <a:endParaRPr lang="en-US" sz="900" dirty="0"/>
          </a:p>
        </p:txBody>
      </p:sp>
      <p:sp>
        <p:nvSpPr>
          <p:cNvPr id="35" name="Text 33"/>
          <p:cNvSpPr/>
          <p:nvPr/>
        </p:nvSpPr>
        <p:spPr>
          <a:xfrm>
            <a:off x="6656832" y="3991356"/>
            <a:ext cx="1325880" cy="128016"/>
          </a:xfrm>
          <a:prstGeom prst="rect">
            <a:avLst/>
          </a:prstGeom>
          <a:noFill/>
          <a:ln/>
        </p:spPr>
        <p:txBody>
          <a:bodyPr wrap="square" rtlCol="0" anchor="ctr"/>
          <a:lstStyle/>
          <a:p>
            <a:pPr marL="0" indent="0">
              <a:buNone/>
            </a:pPr>
            <a:r>
              <a:rPr lang="en-US" sz="700" dirty="0">
                <a:solidFill>
                  <a:srgbClr val="8899AA"/>
                </a:solidFill>
                <a:latin typeface="Calibri" pitchFamily="34" charset="0"/>
                <a:ea typeface="Calibri" pitchFamily="34" charset="-122"/>
                <a:cs typeface="Calibri" pitchFamily="34" charset="-120"/>
              </a:rPr>
              <a:t>Near certain detection</a:t>
            </a:r>
            <a:endParaRPr lang="en-US" sz="700" dirty="0"/>
          </a:p>
        </p:txBody>
      </p:sp>
      <p:sp>
        <p:nvSpPr>
          <p:cNvPr id="36" name="Shape 34"/>
          <p:cNvSpPr/>
          <p:nvPr/>
        </p:nvSpPr>
        <p:spPr>
          <a:xfrm>
            <a:off x="320040" y="4251960"/>
            <a:ext cx="8503920" cy="868680"/>
          </a:xfrm>
          <a:prstGeom prst="rect">
            <a:avLst/>
          </a:prstGeom>
          <a:solidFill>
            <a:srgbClr val="FFFFFF"/>
          </a:solidFill>
          <a:ln w="12700">
            <a:solidFill>
              <a:srgbClr val="8899AA"/>
            </a:solidFill>
            <a:prstDash val="solid"/>
          </a:ln>
        </p:spPr>
        <p:txBody>
          <a:bodyPr/>
          <a:lstStyle/>
          <a:p>
            <a:endParaRPr lang="en-SG"/>
          </a:p>
        </p:txBody>
      </p:sp>
      <p:sp>
        <p:nvSpPr>
          <p:cNvPr id="37" name="Text 35"/>
          <p:cNvSpPr/>
          <p:nvPr/>
        </p:nvSpPr>
        <p:spPr>
          <a:xfrm>
            <a:off x="502920" y="4315968"/>
            <a:ext cx="3200400" cy="201168"/>
          </a:xfrm>
          <a:prstGeom prst="rect">
            <a:avLst/>
          </a:prstGeom>
          <a:noFill/>
          <a:ln/>
        </p:spPr>
        <p:txBody>
          <a:bodyPr wrap="square" rtlCol="0" anchor="ctr"/>
          <a:lstStyle/>
          <a:p>
            <a:pPr marL="0" indent="0">
              <a:buNone/>
            </a:pPr>
            <a:r>
              <a:rPr lang="en-US" sz="900" b="1" dirty="0">
                <a:solidFill>
                  <a:srgbClr val="8899AA"/>
                </a:solidFill>
                <a:latin typeface="Calibri" pitchFamily="34" charset="0"/>
                <a:ea typeface="Calibri" pitchFamily="34" charset="-122"/>
                <a:cs typeface="Calibri" pitchFamily="34" charset="-120"/>
              </a:rPr>
              <a:t>OTHER ALGORITHM CODES  (-t flag)</a:t>
            </a:r>
            <a:endParaRPr lang="en-US" sz="900" dirty="0"/>
          </a:p>
        </p:txBody>
      </p:sp>
      <p:sp>
        <p:nvSpPr>
          <p:cNvPr id="38" name="Text 36"/>
          <p:cNvSpPr/>
          <p:nvPr/>
        </p:nvSpPr>
        <p:spPr>
          <a:xfrm>
            <a:off x="502920" y="4544568"/>
            <a:ext cx="2011680" cy="182880"/>
          </a:xfrm>
          <a:prstGeom prst="rect">
            <a:avLst/>
          </a:prstGeom>
          <a:noFill/>
          <a:ln/>
        </p:spPr>
        <p:txBody>
          <a:bodyPr wrap="square"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-t j  →  jsteg</a:t>
            </a:r>
            <a:endParaRPr lang="en-US" sz="850" dirty="0"/>
          </a:p>
        </p:txBody>
      </p:sp>
      <p:sp>
        <p:nvSpPr>
          <p:cNvPr id="39" name="Text 37"/>
          <p:cNvSpPr/>
          <p:nvPr/>
        </p:nvSpPr>
        <p:spPr>
          <a:xfrm>
            <a:off x="502920" y="4709160"/>
            <a:ext cx="2011680" cy="274320"/>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LSB in JPEG DCT coefficients</a:t>
            </a:r>
            <a:endParaRPr lang="en-US" sz="800" dirty="0"/>
          </a:p>
        </p:txBody>
      </p:sp>
      <p:sp>
        <p:nvSpPr>
          <p:cNvPr id="40" name="Text 38"/>
          <p:cNvSpPr/>
          <p:nvPr/>
        </p:nvSpPr>
        <p:spPr>
          <a:xfrm>
            <a:off x="2624328" y="4544568"/>
            <a:ext cx="2011680" cy="182880"/>
          </a:xfrm>
          <a:prstGeom prst="rect">
            <a:avLst/>
          </a:prstGeom>
          <a:noFill/>
          <a:ln/>
        </p:spPr>
        <p:txBody>
          <a:bodyPr wrap="square"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-t o  →  outguess</a:t>
            </a:r>
            <a:endParaRPr lang="en-US" sz="850" dirty="0"/>
          </a:p>
        </p:txBody>
      </p:sp>
      <p:sp>
        <p:nvSpPr>
          <p:cNvPr id="41" name="Text 39"/>
          <p:cNvSpPr/>
          <p:nvPr/>
        </p:nvSpPr>
        <p:spPr>
          <a:xfrm>
            <a:off x="2624328" y="4709160"/>
            <a:ext cx="2011680" cy="274320"/>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Pseudo-random DCT coefficient selection</a:t>
            </a:r>
            <a:endParaRPr lang="en-US" sz="800" dirty="0"/>
          </a:p>
        </p:txBody>
      </p:sp>
      <p:sp>
        <p:nvSpPr>
          <p:cNvPr id="42" name="Text 40"/>
          <p:cNvSpPr/>
          <p:nvPr/>
        </p:nvSpPr>
        <p:spPr>
          <a:xfrm>
            <a:off x="4745736" y="4544568"/>
            <a:ext cx="2011680" cy="182880"/>
          </a:xfrm>
          <a:prstGeom prst="rect">
            <a:avLst/>
          </a:prstGeom>
          <a:noFill/>
          <a:ln/>
        </p:spPr>
        <p:txBody>
          <a:bodyPr wrap="square"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-t p  →  jphide</a:t>
            </a:r>
            <a:endParaRPr lang="en-US" sz="850" dirty="0"/>
          </a:p>
        </p:txBody>
      </p:sp>
      <p:sp>
        <p:nvSpPr>
          <p:cNvPr id="43" name="Text 41"/>
          <p:cNvSpPr/>
          <p:nvPr/>
        </p:nvSpPr>
        <p:spPr>
          <a:xfrm>
            <a:off x="4745736" y="4709160"/>
            <a:ext cx="2011680" cy="274320"/>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Hides data in lower-order DCT bits, encrypted</a:t>
            </a:r>
            <a:endParaRPr lang="en-US" sz="800" dirty="0"/>
          </a:p>
        </p:txBody>
      </p:sp>
      <p:sp>
        <p:nvSpPr>
          <p:cNvPr id="44" name="Text 42"/>
          <p:cNvSpPr/>
          <p:nvPr/>
        </p:nvSpPr>
        <p:spPr>
          <a:xfrm>
            <a:off x="6867144" y="4544568"/>
            <a:ext cx="2011680" cy="182880"/>
          </a:xfrm>
          <a:prstGeom prst="rect">
            <a:avLst/>
          </a:prstGeom>
          <a:noFill/>
          <a:ln/>
        </p:spPr>
        <p:txBody>
          <a:bodyPr wrap="square"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-t i  →  invisible secrets</a:t>
            </a:r>
            <a:endParaRPr lang="en-US" sz="850" dirty="0"/>
          </a:p>
        </p:txBody>
      </p:sp>
      <p:sp>
        <p:nvSpPr>
          <p:cNvPr id="45" name="Text 43"/>
          <p:cNvSpPr/>
          <p:nvPr/>
        </p:nvSpPr>
        <p:spPr>
          <a:xfrm>
            <a:off x="6867144" y="4709160"/>
            <a:ext cx="2011680" cy="274320"/>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Commercial tool; DCT and spatial domain</a:t>
            </a:r>
            <a:endParaRPr lang="en-US" sz="800" dirty="0"/>
          </a:p>
        </p:txBody>
      </p:sp>
      <p:sp>
        <p:nvSpPr>
          <p:cNvPr id="48" name="Text 46"/>
          <p:cNvSpPr/>
          <p:nvPr/>
        </p:nvSpPr>
        <p:spPr>
          <a:xfrm>
            <a:off x="6858000" y="6601968"/>
            <a:ext cx="2103120" cy="228600"/>
          </a:xfrm>
          <a:prstGeom prst="rect">
            <a:avLst/>
          </a:prstGeom>
          <a:noFill/>
          <a:ln/>
        </p:spPr>
        <p:txBody>
          <a:bodyPr wrap="square" rtlCol="0" anchor="ctr"/>
          <a:lstStyle/>
          <a:p>
            <a:pPr marL="0" indent="0" algn="r">
              <a:buNone/>
            </a:pPr>
            <a:r>
              <a:rPr lang="en-US" sz="800" dirty="0">
                <a:solidFill>
                  <a:srgbClr val="00B4D8"/>
                </a:solidFill>
                <a:latin typeface="Calibri" pitchFamily="34" charset="0"/>
                <a:ea typeface="Calibri" pitchFamily="34" charset="-122"/>
                <a:cs typeface="Calibri" pitchFamily="34" charset="-120"/>
              </a:rPr>
              <a:t>Phase 1 — Detect</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320040" y="182880"/>
            <a:ext cx="2926080" cy="228600"/>
          </a:xfrm>
          <a:prstGeom prst="rect">
            <a:avLst/>
          </a:prstGeom>
          <a:solidFill>
            <a:srgbClr val="F4A261"/>
          </a:solidFill>
          <a:ln w="12700">
            <a:solidFill>
              <a:srgbClr val="F4A261"/>
            </a:solidFill>
            <a:prstDash val="solid"/>
          </a:ln>
        </p:spPr>
        <p:txBody>
          <a:bodyPr/>
          <a:lstStyle/>
          <a:p>
            <a:endParaRPr lang="en-SG"/>
          </a:p>
        </p:txBody>
      </p:sp>
      <p:sp>
        <p:nvSpPr>
          <p:cNvPr id="4" name="Text 2"/>
          <p:cNvSpPr/>
          <p:nvPr/>
        </p:nvSpPr>
        <p:spPr>
          <a:xfrm>
            <a:off x="320040" y="182880"/>
            <a:ext cx="2926080" cy="228600"/>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PHASE 1 — DETECT  ·  Steps 4–6</a:t>
            </a:r>
            <a:endParaRPr lang="en-US" sz="850" dirty="0"/>
          </a:p>
        </p:txBody>
      </p:sp>
      <p:sp>
        <p:nvSpPr>
          <p:cNvPr id="5" name="Text 3"/>
          <p:cNvSpPr/>
          <p:nvPr/>
        </p:nvSpPr>
        <p:spPr>
          <a:xfrm>
            <a:off x="320040" y="493776"/>
            <a:ext cx="8503920" cy="475488"/>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StegDetect — Refine, Batch-Scan &amp; Document</a:t>
            </a:r>
            <a:endParaRPr lang="en-US" sz="2400" dirty="0"/>
          </a:p>
        </p:txBody>
      </p:sp>
      <p:sp>
        <p:nvSpPr>
          <p:cNvPr id="6" name="Text 4"/>
          <p:cNvSpPr/>
          <p:nvPr/>
        </p:nvSpPr>
        <p:spPr>
          <a:xfrm>
            <a:off x="320040" y="996696"/>
            <a:ext cx="8503920" cy="256032"/>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Once a positive result is found, increase sensitivity, scan the full seizure, then capture your findings</a:t>
            </a:r>
            <a:endParaRPr lang="en-US" sz="1100" dirty="0"/>
          </a:p>
        </p:txBody>
      </p:sp>
      <p:sp>
        <p:nvSpPr>
          <p:cNvPr id="7" name="Shape 5"/>
          <p:cNvSpPr/>
          <p:nvPr/>
        </p:nvSpPr>
        <p:spPr>
          <a:xfrm>
            <a:off x="320040" y="1335024"/>
            <a:ext cx="8503920" cy="1316736"/>
          </a:xfrm>
          <a:prstGeom prst="rect">
            <a:avLst/>
          </a:prstGeom>
          <a:solidFill>
            <a:srgbClr val="FFFFFF"/>
          </a:solidFill>
          <a:ln w="12700">
            <a:solidFill>
              <a:srgbClr val="F4A261"/>
            </a:solidFill>
            <a:prstDash val="solid"/>
          </a:ln>
        </p:spPr>
        <p:txBody>
          <a:bodyPr/>
          <a:lstStyle/>
          <a:p>
            <a:endParaRPr lang="en-SG"/>
          </a:p>
        </p:txBody>
      </p:sp>
      <p:sp>
        <p:nvSpPr>
          <p:cNvPr id="8" name="Shape 6"/>
          <p:cNvSpPr/>
          <p:nvPr/>
        </p:nvSpPr>
        <p:spPr>
          <a:xfrm>
            <a:off x="320040" y="1335024"/>
            <a:ext cx="347472" cy="1316736"/>
          </a:xfrm>
          <a:prstGeom prst="rect">
            <a:avLst/>
          </a:prstGeom>
          <a:solidFill>
            <a:srgbClr val="F4A261"/>
          </a:solidFill>
          <a:ln w="12700">
            <a:solidFill>
              <a:srgbClr val="F4A261"/>
            </a:solidFill>
            <a:prstDash val="solid"/>
          </a:ln>
        </p:spPr>
        <p:txBody>
          <a:bodyPr/>
          <a:lstStyle/>
          <a:p>
            <a:endParaRPr lang="en-SG"/>
          </a:p>
        </p:txBody>
      </p:sp>
      <p:sp>
        <p:nvSpPr>
          <p:cNvPr id="9" name="Text 7"/>
          <p:cNvSpPr/>
          <p:nvPr/>
        </p:nvSpPr>
        <p:spPr>
          <a:xfrm>
            <a:off x="320040" y="1865376"/>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04</a:t>
            </a:r>
            <a:endParaRPr lang="en-US" sz="1000" dirty="0"/>
          </a:p>
        </p:txBody>
      </p:sp>
      <p:sp>
        <p:nvSpPr>
          <p:cNvPr id="10" name="Text 8"/>
          <p:cNvSpPr/>
          <p:nvPr/>
        </p:nvSpPr>
        <p:spPr>
          <a:xfrm>
            <a:off x="749808" y="1399032"/>
            <a:ext cx="4572000" cy="256032"/>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Increase Sensitivity — Confirm the Hit</a:t>
            </a:r>
            <a:endParaRPr lang="en-US" sz="1300" dirty="0"/>
          </a:p>
        </p:txBody>
      </p:sp>
      <p:sp>
        <p:nvSpPr>
          <p:cNvPr id="11" name="Text 9"/>
          <p:cNvSpPr/>
          <p:nvPr/>
        </p:nvSpPr>
        <p:spPr>
          <a:xfrm>
            <a:off x="749808" y="1664208"/>
            <a:ext cx="7863840" cy="256032"/>
          </a:xfrm>
          <a:prstGeom prst="rect">
            <a:avLst/>
          </a:prstGeom>
          <a:noFill/>
          <a:ln/>
        </p:spPr>
        <p:txBody>
          <a:bodyPr wrap="square" rtlCol="0" anchor="ctr"/>
          <a:lstStyle/>
          <a:p>
            <a:pPr marL="0" indent="0">
              <a:buNone/>
            </a:pPr>
            <a:r>
              <a:rPr lang="en-US" sz="950" i="1" dirty="0">
                <a:solidFill>
                  <a:srgbClr val="8899AA"/>
                </a:solidFill>
                <a:latin typeface="Calibri" pitchFamily="34" charset="0"/>
                <a:ea typeface="Calibri" pitchFamily="34" charset="-122"/>
                <a:cs typeface="Calibri" pitchFamily="34" charset="-120"/>
              </a:rPr>
              <a:t>Use -t to select algorithms and -s to raise sensitivity (default 1; range 1–100). Higher values flag weaker signals, increasing true positives but also false positives.</a:t>
            </a:r>
            <a:endParaRPr lang="en-US" sz="950" dirty="0"/>
          </a:p>
        </p:txBody>
      </p:sp>
      <p:sp>
        <p:nvSpPr>
          <p:cNvPr id="12" name="Shape 10"/>
          <p:cNvSpPr/>
          <p:nvPr/>
        </p:nvSpPr>
        <p:spPr>
          <a:xfrm>
            <a:off x="749808" y="1947672"/>
            <a:ext cx="3840480" cy="594360"/>
          </a:xfrm>
          <a:prstGeom prst="rect">
            <a:avLst/>
          </a:prstGeom>
          <a:solidFill>
            <a:srgbClr val="FFFFFF"/>
          </a:solidFill>
          <a:ln w="12700">
            <a:solidFill>
              <a:srgbClr val="DBEAFE"/>
            </a:solidFill>
            <a:prstDash val="solid"/>
          </a:ln>
        </p:spPr>
        <p:txBody>
          <a:bodyPr/>
          <a:lstStyle/>
          <a:p>
            <a:endParaRPr lang="en-SG"/>
          </a:p>
        </p:txBody>
      </p:sp>
      <p:sp>
        <p:nvSpPr>
          <p:cNvPr id="13" name="Text 11"/>
          <p:cNvSpPr/>
          <p:nvPr/>
        </p:nvSpPr>
        <p:spPr>
          <a:xfrm>
            <a:off x="841248" y="1984248"/>
            <a:ext cx="3657600" cy="521208"/>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stegdetect -t jopi -s 10 forensics_example.jpg</a:t>
            </a:r>
            <a:endParaRPr lang="en-US" sz="850" dirty="0"/>
          </a:p>
        </p:txBody>
      </p:sp>
      <p:sp>
        <p:nvSpPr>
          <p:cNvPr id="14" name="Shape 12"/>
          <p:cNvSpPr/>
          <p:nvPr/>
        </p:nvSpPr>
        <p:spPr>
          <a:xfrm>
            <a:off x="4709160" y="1947672"/>
            <a:ext cx="3995928" cy="594360"/>
          </a:xfrm>
          <a:prstGeom prst="rect">
            <a:avLst/>
          </a:prstGeom>
          <a:solidFill>
            <a:srgbClr val="FFFFFF"/>
          </a:solidFill>
          <a:ln w="12700">
            <a:solidFill>
              <a:srgbClr val="FFD166"/>
            </a:solidFill>
            <a:prstDash val="solid"/>
          </a:ln>
        </p:spPr>
        <p:txBody>
          <a:bodyPr/>
          <a:lstStyle/>
          <a:p>
            <a:endParaRPr lang="en-SG"/>
          </a:p>
        </p:txBody>
      </p:sp>
      <p:sp>
        <p:nvSpPr>
          <p:cNvPr id="15" name="Text 13"/>
          <p:cNvSpPr/>
          <p:nvPr/>
        </p:nvSpPr>
        <p:spPr>
          <a:xfrm>
            <a:off x="4828032" y="2011680"/>
            <a:ext cx="3794760" cy="475488"/>
          </a:xfrm>
          <a:prstGeom prst="rect">
            <a:avLst/>
          </a:prstGeom>
          <a:noFill/>
          <a:ln/>
        </p:spPr>
        <p:txBody>
          <a:bodyPr wrap="square" rtlCol="0" anchor="ctr"/>
          <a:lstStyle/>
          <a:p>
            <a:pPr marL="0" indent="0">
              <a:buNone/>
            </a:pPr>
            <a:r>
              <a:rPr lang="en-US" sz="900" dirty="0">
                <a:solidFill>
                  <a:srgbClr val="FFD166"/>
                </a:solidFill>
                <a:latin typeface="Consolas" pitchFamily="34" charset="0"/>
                <a:ea typeface="Consolas" pitchFamily="34" charset="-122"/>
                <a:cs typeface="Consolas" pitchFamily="34" charset="-120"/>
              </a:rPr>
              <a:t>OUTPUT → forensics_example.jpg : jsteg(****)</a:t>
            </a:r>
            <a:endParaRPr lang="en-US" sz="900" dirty="0"/>
          </a:p>
          <a:p>
            <a:pPr marL="0" indent="0">
              <a:buNone/>
            </a:pPr>
            <a:r>
              <a:rPr lang="en-US" sz="900" dirty="0">
                <a:solidFill>
                  <a:srgbClr val="FFD166"/>
                </a:solidFill>
                <a:latin typeface="Consolas" pitchFamily="34" charset="0"/>
                <a:ea typeface="Consolas" pitchFamily="34" charset="-122"/>
                <a:cs typeface="Consolas" pitchFamily="34" charset="-120"/>
              </a:rPr>
              <a:t>Rating upgraded: *** → **** confirms payload is present</a:t>
            </a:r>
            <a:endParaRPr lang="en-US" sz="900" dirty="0"/>
          </a:p>
        </p:txBody>
      </p:sp>
      <p:sp>
        <p:nvSpPr>
          <p:cNvPr id="16" name="Shape 14"/>
          <p:cNvSpPr/>
          <p:nvPr/>
        </p:nvSpPr>
        <p:spPr>
          <a:xfrm>
            <a:off x="320040" y="2743200"/>
            <a:ext cx="8503920" cy="1316736"/>
          </a:xfrm>
          <a:prstGeom prst="rect">
            <a:avLst/>
          </a:prstGeom>
          <a:solidFill>
            <a:srgbClr val="FFFFFF"/>
          </a:solidFill>
          <a:ln w="12700">
            <a:solidFill>
              <a:srgbClr val="F4A261"/>
            </a:solidFill>
            <a:prstDash val="solid"/>
          </a:ln>
        </p:spPr>
        <p:txBody>
          <a:bodyPr/>
          <a:lstStyle/>
          <a:p>
            <a:endParaRPr lang="en-SG"/>
          </a:p>
        </p:txBody>
      </p:sp>
      <p:sp>
        <p:nvSpPr>
          <p:cNvPr id="17" name="Shape 15"/>
          <p:cNvSpPr/>
          <p:nvPr/>
        </p:nvSpPr>
        <p:spPr>
          <a:xfrm>
            <a:off x="320040" y="2743200"/>
            <a:ext cx="347472" cy="1316736"/>
          </a:xfrm>
          <a:prstGeom prst="rect">
            <a:avLst/>
          </a:prstGeom>
          <a:solidFill>
            <a:srgbClr val="F4A261"/>
          </a:solidFill>
          <a:ln w="12700">
            <a:solidFill>
              <a:srgbClr val="F4A261"/>
            </a:solidFill>
            <a:prstDash val="solid"/>
          </a:ln>
        </p:spPr>
        <p:txBody>
          <a:bodyPr/>
          <a:lstStyle/>
          <a:p>
            <a:endParaRPr lang="en-SG"/>
          </a:p>
        </p:txBody>
      </p:sp>
      <p:sp>
        <p:nvSpPr>
          <p:cNvPr id="18" name="Text 16"/>
          <p:cNvSpPr/>
          <p:nvPr/>
        </p:nvSpPr>
        <p:spPr>
          <a:xfrm>
            <a:off x="320040" y="3273552"/>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05</a:t>
            </a:r>
            <a:endParaRPr lang="en-US" sz="1000" dirty="0"/>
          </a:p>
        </p:txBody>
      </p:sp>
      <p:sp>
        <p:nvSpPr>
          <p:cNvPr id="19" name="Text 17"/>
          <p:cNvSpPr/>
          <p:nvPr/>
        </p:nvSpPr>
        <p:spPr>
          <a:xfrm>
            <a:off x="749808" y="2807208"/>
            <a:ext cx="4572000" cy="256032"/>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Batch-Scan the Full Seizure</a:t>
            </a:r>
            <a:endParaRPr lang="en-US" sz="1300" dirty="0"/>
          </a:p>
        </p:txBody>
      </p:sp>
      <p:sp>
        <p:nvSpPr>
          <p:cNvPr id="20" name="Text 18"/>
          <p:cNvSpPr/>
          <p:nvPr/>
        </p:nvSpPr>
        <p:spPr>
          <a:xfrm>
            <a:off x="749808" y="3072384"/>
            <a:ext cx="7863840" cy="237744"/>
          </a:xfrm>
          <a:prstGeom prst="rect">
            <a:avLst/>
          </a:prstGeom>
          <a:noFill/>
          <a:ln/>
        </p:spPr>
        <p:txBody>
          <a:bodyPr wrap="square" rtlCol="0" anchor="ctr"/>
          <a:lstStyle/>
          <a:p>
            <a:pPr marL="0" indent="0">
              <a:buNone/>
            </a:pPr>
            <a:r>
              <a:rPr lang="en-US" sz="950" i="1" dirty="0">
                <a:solidFill>
                  <a:srgbClr val="8899AA"/>
                </a:solidFill>
                <a:latin typeface="Calibri" pitchFamily="34" charset="0"/>
                <a:ea typeface="Calibri" pitchFamily="34" charset="-122"/>
                <a:cs typeface="Calibri" pitchFamily="34" charset="-120"/>
              </a:rPr>
              <a:t>In real investigations, hundreds of images may be recovered. Batch mode processes all files; grep filters the log to show only positive hits.</a:t>
            </a:r>
            <a:endParaRPr lang="en-US" sz="950" dirty="0"/>
          </a:p>
        </p:txBody>
      </p:sp>
      <p:sp>
        <p:nvSpPr>
          <p:cNvPr id="21" name="Shape 19"/>
          <p:cNvSpPr/>
          <p:nvPr/>
        </p:nvSpPr>
        <p:spPr>
          <a:xfrm>
            <a:off x="749808" y="3337560"/>
            <a:ext cx="3840480" cy="594360"/>
          </a:xfrm>
          <a:prstGeom prst="rect">
            <a:avLst/>
          </a:prstGeom>
          <a:solidFill>
            <a:srgbClr val="FFFFFF"/>
          </a:solidFill>
          <a:ln w="12700">
            <a:solidFill>
              <a:srgbClr val="DBEAFE"/>
            </a:solidFill>
            <a:prstDash val="solid"/>
          </a:ln>
        </p:spPr>
        <p:txBody>
          <a:bodyPr/>
          <a:lstStyle/>
          <a:p>
            <a:endParaRPr lang="en-SG"/>
          </a:p>
        </p:txBody>
      </p:sp>
      <p:sp>
        <p:nvSpPr>
          <p:cNvPr id="22" name="Text 20"/>
          <p:cNvSpPr/>
          <p:nvPr/>
        </p:nvSpPr>
        <p:spPr>
          <a:xfrm>
            <a:off x="841248" y="3374136"/>
            <a:ext cx="3657600" cy="521208"/>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stegdetect -t jopi /evidence/images/*.jpg</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2&gt;&amp;1 | tee steg_scan.log</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grep -v "negative" steg_scan.log</a:t>
            </a:r>
            <a:endParaRPr lang="en-US" sz="850" dirty="0"/>
          </a:p>
        </p:txBody>
      </p:sp>
      <p:sp>
        <p:nvSpPr>
          <p:cNvPr id="23" name="Shape 21"/>
          <p:cNvSpPr/>
          <p:nvPr/>
        </p:nvSpPr>
        <p:spPr>
          <a:xfrm>
            <a:off x="4709160" y="3337560"/>
            <a:ext cx="3995928" cy="594360"/>
          </a:xfrm>
          <a:prstGeom prst="rect">
            <a:avLst/>
          </a:prstGeom>
          <a:solidFill>
            <a:srgbClr val="FFFFFF"/>
          </a:solidFill>
          <a:ln w="12700">
            <a:solidFill>
              <a:srgbClr val="FFD166"/>
            </a:solidFill>
            <a:prstDash val="solid"/>
          </a:ln>
        </p:spPr>
        <p:txBody>
          <a:bodyPr/>
          <a:lstStyle/>
          <a:p>
            <a:endParaRPr lang="en-SG"/>
          </a:p>
        </p:txBody>
      </p:sp>
      <p:sp>
        <p:nvSpPr>
          <p:cNvPr id="24" name="Text 22"/>
          <p:cNvSpPr/>
          <p:nvPr/>
        </p:nvSpPr>
        <p:spPr>
          <a:xfrm>
            <a:off x="4828032" y="3401568"/>
            <a:ext cx="3794760" cy="475488"/>
          </a:xfrm>
          <a:prstGeom prst="rect">
            <a:avLst/>
          </a:prstGeom>
          <a:noFill/>
          <a:ln/>
        </p:spPr>
        <p:txBody>
          <a:bodyPr wrap="square" rtlCol="0" anchor="ctr"/>
          <a:lstStyle/>
          <a:p>
            <a:pPr marL="0" indent="0">
              <a:buNone/>
            </a:pPr>
            <a:r>
              <a:rPr lang="en-US" sz="850" dirty="0">
                <a:solidFill>
                  <a:srgbClr val="FFD166"/>
                </a:solidFill>
                <a:latin typeface="Consolas" pitchFamily="34" charset="0"/>
                <a:ea typeface="Consolas" pitchFamily="34" charset="-122"/>
                <a:cs typeface="Consolas" pitchFamily="34" charset="-120"/>
              </a:rPr>
              <a:t>forensics_example.jpg : jsteg(****)</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holiday_photo.jpg     : negative</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receipt_scan.jpg      : negative</a:t>
            </a:r>
            <a:endParaRPr lang="en-US" sz="850" dirty="0"/>
          </a:p>
        </p:txBody>
      </p:sp>
      <p:sp>
        <p:nvSpPr>
          <p:cNvPr id="25" name="Shape 23"/>
          <p:cNvSpPr/>
          <p:nvPr/>
        </p:nvSpPr>
        <p:spPr>
          <a:xfrm>
            <a:off x="320040" y="4160520"/>
            <a:ext cx="8503920" cy="914400"/>
          </a:xfrm>
          <a:prstGeom prst="rect">
            <a:avLst/>
          </a:prstGeom>
          <a:solidFill>
            <a:srgbClr val="FFFFFF"/>
          </a:solidFill>
          <a:ln w="12700">
            <a:solidFill>
              <a:srgbClr val="2EC4B6"/>
            </a:solidFill>
            <a:prstDash val="solid"/>
          </a:ln>
        </p:spPr>
        <p:txBody>
          <a:bodyPr/>
          <a:lstStyle/>
          <a:p>
            <a:endParaRPr lang="en-SG"/>
          </a:p>
        </p:txBody>
      </p:sp>
      <p:sp>
        <p:nvSpPr>
          <p:cNvPr id="26" name="Shape 24"/>
          <p:cNvSpPr/>
          <p:nvPr/>
        </p:nvSpPr>
        <p:spPr>
          <a:xfrm>
            <a:off x="320040" y="4160520"/>
            <a:ext cx="347472" cy="914400"/>
          </a:xfrm>
          <a:prstGeom prst="rect">
            <a:avLst/>
          </a:prstGeom>
          <a:solidFill>
            <a:srgbClr val="2EC4B6"/>
          </a:solidFill>
          <a:ln w="12700">
            <a:solidFill>
              <a:srgbClr val="2EC4B6"/>
            </a:solidFill>
            <a:prstDash val="solid"/>
          </a:ln>
        </p:spPr>
        <p:txBody>
          <a:bodyPr/>
          <a:lstStyle/>
          <a:p>
            <a:endParaRPr lang="en-SG"/>
          </a:p>
        </p:txBody>
      </p:sp>
      <p:sp>
        <p:nvSpPr>
          <p:cNvPr id="27" name="Text 25"/>
          <p:cNvSpPr/>
          <p:nvPr/>
        </p:nvSpPr>
        <p:spPr>
          <a:xfrm>
            <a:off x="320040" y="4480560"/>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06</a:t>
            </a:r>
            <a:endParaRPr lang="en-US" sz="1000" dirty="0"/>
          </a:p>
        </p:txBody>
      </p:sp>
      <p:sp>
        <p:nvSpPr>
          <p:cNvPr id="28" name="Text 26"/>
          <p:cNvSpPr/>
          <p:nvPr/>
        </p:nvSpPr>
        <p:spPr>
          <a:xfrm>
            <a:off x="749808" y="4224528"/>
            <a:ext cx="4572000" cy="256032"/>
          </a:xfrm>
          <a:prstGeom prst="rect">
            <a:avLst/>
          </a:prstGeom>
          <a:noFill/>
          <a:ln/>
        </p:spPr>
        <p:txBody>
          <a:bodyPr wrap="square" rtlCol="0" anchor="ctr"/>
          <a:lstStyle/>
          <a:p>
            <a:pPr marL="0" indent="0">
              <a:buNone/>
            </a:pPr>
            <a:r>
              <a:rPr lang="en-US" sz="1300" b="1" dirty="0">
                <a:solidFill>
                  <a:srgbClr val="2EC4B6"/>
                </a:solidFill>
                <a:latin typeface="Calibri" pitchFamily="34" charset="0"/>
                <a:ea typeface="Calibri" pitchFamily="34" charset="-122"/>
                <a:cs typeface="Calibri" pitchFamily="34" charset="-120"/>
              </a:rPr>
              <a:t>Interpret &amp; Document Findings</a:t>
            </a:r>
            <a:endParaRPr lang="en-US" sz="1300" dirty="0"/>
          </a:p>
        </p:txBody>
      </p:sp>
      <p:sp>
        <p:nvSpPr>
          <p:cNvPr id="29" name="Shape 27"/>
          <p:cNvSpPr/>
          <p:nvPr/>
        </p:nvSpPr>
        <p:spPr>
          <a:xfrm>
            <a:off x="749808" y="4507992"/>
            <a:ext cx="3840480" cy="493776"/>
          </a:xfrm>
          <a:prstGeom prst="rect">
            <a:avLst/>
          </a:prstGeom>
          <a:solidFill>
            <a:srgbClr val="FFFFFF"/>
          </a:solidFill>
          <a:ln w="12700">
            <a:solidFill>
              <a:srgbClr val="DBEAFE"/>
            </a:solidFill>
            <a:prstDash val="solid"/>
          </a:ln>
        </p:spPr>
        <p:txBody>
          <a:bodyPr/>
          <a:lstStyle/>
          <a:p>
            <a:endParaRPr lang="en-SG"/>
          </a:p>
        </p:txBody>
      </p:sp>
      <p:sp>
        <p:nvSpPr>
          <p:cNvPr id="30" name="Text 28"/>
          <p:cNvSpPr/>
          <p:nvPr/>
        </p:nvSpPr>
        <p:spPr>
          <a:xfrm>
            <a:off x="841248" y="4544568"/>
            <a:ext cx="3657600" cy="420624"/>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echo "STEG HIT: forensics_example.jpg jsteg(****)" &gt;&gt; case_notes.txt</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cp forensics_example.jpg /evidence/steg_positive/</a:t>
            </a:r>
            <a:endParaRPr lang="en-US" sz="850" dirty="0"/>
          </a:p>
        </p:txBody>
      </p:sp>
      <p:sp>
        <p:nvSpPr>
          <p:cNvPr id="31" name="Shape 29"/>
          <p:cNvSpPr/>
          <p:nvPr/>
        </p:nvSpPr>
        <p:spPr>
          <a:xfrm>
            <a:off x="4709160" y="4507992"/>
            <a:ext cx="3995928" cy="493776"/>
          </a:xfrm>
          <a:prstGeom prst="rect">
            <a:avLst/>
          </a:prstGeom>
          <a:solidFill>
            <a:srgbClr val="FFFFFF"/>
          </a:solidFill>
          <a:ln w="12700">
            <a:solidFill>
              <a:srgbClr val="2EC4B6"/>
            </a:solidFill>
            <a:prstDash val="solid"/>
          </a:ln>
        </p:spPr>
        <p:txBody>
          <a:bodyPr/>
          <a:lstStyle/>
          <a:p>
            <a:endParaRPr lang="en-SG"/>
          </a:p>
        </p:txBody>
      </p:sp>
      <p:sp>
        <p:nvSpPr>
          <p:cNvPr id="32" name="Text 30"/>
          <p:cNvSpPr/>
          <p:nvPr/>
        </p:nvSpPr>
        <p:spPr>
          <a:xfrm>
            <a:off x="4828032" y="4572000"/>
            <a:ext cx="3749040" cy="36576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Record: filename · algorithm detected · confidence rating · scan timestamp · analyst name. Positive results justify escalation to extraction phase.</a:t>
            </a:r>
            <a:endParaRPr lang="en-US" sz="900" dirty="0"/>
          </a:p>
        </p:txBody>
      </p:sp>
      <p:sp>
        <p:nvSpPr>
          <p:cNvPr id="35" name="Text 33"/>
          <p:cNvSpPr/>
          <p:nvPr/>
        </p:nvSpPr>
        <p:spPr>
          <a:xfrm>
            <a:off x="6858000" y="6601968"/>
            <a:ext cx="2103120" cy="228600"/>
          </a:xfrm>
          <a:prstGeom prst="rect">
            <a:avLst/>
          </a:prstGeom>
          <a:noFill/>
          <a:ln/>
        </p:spPr>
        <p:txBody>
          <a:bodyPr wrap="square" rtlCol="0" anchor="ctr"/>
          <a:lstStyle/>
          <a:p>
            <a:pPr marL="0" indent="0" algn="r">
              <a:buNone/>
            </a:pPr>
            <a:r>
              <a:rPr lang="en-US" sz="800" dirty="0">
                <a:solidFill>
                  <a:srgbClr val="00B4D8"/>
                </a:solidFill>
                <a:latin typeface="Calibri" pitchFamily="34" charset="0"/>
                <a:ea typeface="Calibri" pitchFamily="34" charset="-122"/>
                <a:cs typeface="Calibri" pitchFamily="34" charset="-120"/>
              </a:rPr>
              <a:t>Phase 1 — Detect</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320040" y="182880"/>
            <a:ext cx="2834640" cy="228600"/>
          </a:xfrm>
          <a:prstGeom prst="rect">
            <a:avLst/>
          </a:prstGeom>
          <a:solidFill>
            <a:srgbClr val="A855F7"/>
          </a:solidFill>
          <a:ln w="12700">
            <a:solidFill>
              <a:srgbClr val="A855F7"/>
            </a:solidFill>
            <a:prstDash val="solid"/>
          </a:ln>
        </p:spPr>
        <p:txBody>
          <a:bodyPr/>
          <a:lstStyle/>
          <a:p>
            <a:endParaRPr lang="en-SG"/>
          </a:p>
        </p:txBody>
      </p:sp>
      <p:sp>
        <p:nvSpPr>
          <p:cNvPr id="4" name="Text 2"/>
          <p:cNvSpPr/>
          <p:nvPr/>
        </p:nvSpPr>
        <p:spPr>
          <a:xfrm>
            <a:off x="320040" y="182880"/>
            <a:ext cx="2834640" cy="228600"/>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PHASE 2 — EXTRACT  ·  Step 1</a:t>
            </a:r>
            <a:endParaRPr lang="en-US" sz="850" dirty="0"/>
          </a:p>
        </p:txBody>
      </p:sp>
      <p:sp>
        <p:nvSpPr>
          <p:cNvPr id="5" name="Text 3"/>
          <p:cNvSpPr/>
          <p:nvPr/>
        </p:nvSpPr>
        <p:spPr>
          <a:xfrm>
            <a:off x="320040" y="493776"/>
            <a:ext cx="8503920" cy="475488"/>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Steghide — Understanding the Tool</a:t>
            </a:r>
            <a:endParaRPr lang="en-US" sz="2400" dirty="0"/>
          </a:p>
        </p:txBody>
      </p:sp>
      <p:sp>
        <p:nvSpPr>
          <p:cNvPr id="6" name="Text 4"/>
          <p:cNvSpPr/>
          <p:nvPr/>
        </p:nvSpPr>
        <p:spPr>
          <a:xfrm>
            <a:off x="320040" y="996696"/>
            <a:ext cx="8503920" cy="256032"/>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Step 1: Understand how Steghide works, then inspect the image before attempting extraction</a:t>
            </a:r>
            <a:endParaRPr lang="en-US" sz="1100" dirty="0"/>
          </a:p>
        </p:txBody>
      </p:sp>
      <p:sp>
        <p:nvSpPr>
          <p:cNvPr id="7" name="Shape 5"/>
          <p:cNvSpPr/>
          <p:nvPr/>
        </p:nvSpPr>
        <p:spPr>
          <a:xfrm>
            <a:off x="320040" y="1335024"/>
            <a:ext cx="8503920" cy="1389888"/>
          </a:xfrm>
          <a:prstGeom prst="rect">
            <a:avLst/>
          </a:prstGeom>
          <a:solidFill>
            <a:srgbClr val="FFFFFF"/>
          </a:solidFill>
          <a:ln w="12700">
            <a:solidFill>
              <a:srgbClr val="A855F7"/>
            </a:solidFill>
            <a:prstDash val="solid"/>
          </a:ln>
        </p:spPr>
        <p:txBody>
          <a:bodyPr/>
          <a:lstStyle/>
          <a:p>
            <a:endParaRPr lang="en-SG"/>
          </a:p>
        </p:txBody>
      </p:sp>
      <p:sp>
        <p:nvSpPr>
          <p:cNvPr id="8" name="Text 6"/>
          <p:cNvSpPr/>
          <p:nvPr/>
        </p:nvSpPr>
        <p:spPr>
          <a:xfrm>
            <a:off x="502920" y="1399032"/>
            <a:ext cx="3200400" cy="237744"/>
          </a:xfrm>
          <a:prstGeom prst="rect">
            <a:avLst/>
          </a:prstGeom>
          <a:noFill/>
          <a:ln/>
        </p:spPr>
        <p:txBody>
          <a:bodyPr wrap="square" rtlCol="0" anchor="ctr"/>
          <a:lstStyle/>
          <a:p>
            <a:pPr marL="0" indent="0">
              <a:buNone/>
            </a:pPr>
            <a:r>
              <a:rPr lang="en-US" sz="1000" b="1" dirty="0">
                <a:solidFill>
                  <a:srgbClr val="A855F7"/>
                </a:solidFill>
                <a:latin typeface="Calibri" pitchFamily="34" charset="0"/>
                <a:ea typeface="Calibri" pitchFamily="34" charset="-122"/>
                <a:cs typeface="Calibri" pitchFamily="34" charset="-120"/>
              </a:rPr>
              <a:t>HOW STEGHIDE WORKS</a:t>
            </a:r>
            <a:endParaRPr lang="en-US" sz="1000" dirty="0"/>
          </a:p>
        </p:txBody>
      </p:sp>
      <p:sp>
        <p:nvSpPr>
          <p:cNvPr id="9" name="Text 7"/>
          <p:cNvSpPr/>
          <p:nvPr/>
        </p:nvSpPr>
        <p:spPr>
          <a:xfrm>
            <a:off x="457200" y="1664208"/>
            <a:ext cx="2651760" cy="237744"/>
          </a:xfrm>
          <a:prstGeom prst="rect">
            <a:avLst/>
          </a:prstGeom>
          <a:noFill/>
          <a:ln/>
        </p:spPr>
        <p:txBody>
          <a:bodyPr wrap="square" rtlCol="0" anchor="ctr"/>
          <a:lstStyle/>
          <a:p>
            <a:pPr marL="0" indent="0">
              <a:buNone/>
            </a:pPr>
            <a:r>
              <a:rPr lang="en-US" sz="1100" b="1" dirty="0">
                <a:solidFill>
                  <a:srgbClr val="A855F7"/>
                </a:solidFill>
                <a:latin typeface="Calibri" pitchFamily="34" charset="0"/>
                <a:ea typeface="Calibri" pitchFamily="34" charset="-122"/>
                <a:cs typeface="Calibri" pitchFamily="34" charset="-120"/>
              </a:rPr>
              <a:t>🔑  Passphrase</a:t>
            </a:r>
            <a:endParaRPr lang="en-US" sz="1100" dirty="0"/>
          </a:p>
        </p:txBody>
      </p:sp>
      <p:sp>
        <p:nvSpPr>
          <p:cNvPr id="10" name="Text 8"/>
          <p:cNvSpPr/>
          <p:nvPr/>
        </p:nvSpPr>
        <p:spPr>
          <a:xfrm>
            <a:off x="457200" y="1920240"/>
            <a:ext cx="2651760" cy="74980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 user-supplied password is hashed with a KDF (key-derivation function) to produce an AES-128 encryption key. Without the passphrase, the payload cannot be decrypted.</a:t>
            </a:r>
            <a:endParaRPr lang="en-US" sz="900" dirty="0"/>
          </a:p>
        </p:txBody>
      </p:sp>
      <p:sp>
        <p:nvSpPr>
          <p:cNvPr id="11" name="Text 9"/>
          <p:cNvSpPr/>
          <p:nvPr/>
        </p:nvSpPr>
        <p:spPr>
          <a:xfrm>
            <a:off x="3273552" y="1664208"/>
            <a:ext cx="2651760" cy="237744"/>
          </a:xfrm>
          <a:prstGeom prst="rect">
            <a:avLst/>
          </a:prstGeom>
          <a:noFill/>
          <a:ln/>
        </p:spPr>
        <p:txBody>
          <a:bodyPr wrap="square" rtlCol="0" anchor="ctr"/>
          <a:lstStyle/>
          <a:p>
            <a:pPr marL="0" indent="0">
              <a:buNone/>
            </a:pPr>
            <a:r>
              <a:rPr lang="en-US" sz="1100" b="1" dirty="0">
                <a:solidFill>
                  <a:srgbClr val="A855F7"/>
                </a:solidFill>
                <a:latin typeface="Calibri" pitchFamily="34" charset="0"/>
                <a:ea typeface="Calibri" pitchFamily="34" charset="-122"/>
                <a:cs typeface="Calibri" pitchFamily="34" charset="-120"/>
              </a:rPr>
              <a:t>📦  Embedding</a:t>
            </a:r>
            <a:endParaRPr lang="en-US" sz="1100" dirty="0"/>
          </a:p>
        </p:txBody>
      </p:sp>
      <p:sp>
        <p:nvSpPr>
          <p:cNvPr id="12" name="Text 10"/>
          <p:cNvSpPr/>
          <p:nvPr/>
        </p:nvSpPr>
        <p:spPr>
          <a:xfrm>
            <a:off x="3273552" y="1920240"/>
            <a:ext cx="2651760" cy="74980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The payload (any file type) is compressed with zlib, encrypted with AES-128, then hidden in LSB positions of the image's DCT coefficients (for JPEG) or spatial pixels (BMP/WAV).</a:t>
            </a:r>
            <a:endParaRPr lang="en-US" sz="900" dirty="0"/>
          </a:p>
        </p:txBody>
      </p:sp>
      <p:sp>
        <p:nvSpPr>
          <p:cNvPr id="13" name="Text 11"/>
          <p:cNvSpPr/>
          <p:nvPr/>
        </p:nvSpPr>
        <p:spPr>
          <a:xfrm>
            <a:off x="6089904" y="1664208"/>
            <a:ext cx="2651760" cy="237744"/>
          </a:xfrm>
          <a:prstGeom prst="rect">
            <a:avLst/>
          </a:prstGeom>
          <a:noFill/>
          <a:ln/>
        </p:spPr>
        <p:txBody>
          <a:bodyPr wrap="square" rtlCol="0" anchor="ctr"/>
          <a:lstStyle/>
          <a:p>
            <a:pPr marL="0" indent="0">
              <a:buNone/>
            </a:pPr>
            <a:r>
              <a:rPr lang="en-US" sz="1100" b="1" dirty="0">
                <a:solidFill>
                  <a:srgbClr val="A855F7"/>
                </a:solidFill>
                <a:latin typeface="Calibri" pitchFamily="34" charset="0"/>
                <a:ea typeface="Calibri" pitchFamily="34" charset="-122"/>
                <a:cs typeface="Calibri" pitchFamily="34" charset="-120"/>
              </a:rPr>
              <a:t>🔀  Pseudo-random</a:t>
            </a:r>
            <a:endParaRPr lang="en-US" sz="1100" dirty="0"/>
          </a:p>
        </p:txBody>
      </p:sp>
      <p:sp>
        <p:nvSpPr>
          <p:cNvPr id="14" name="Text 12"/>
          <p:cNvSpPr/>
          <p:nvPr/>
        </p:nvSpPr>
        <p:spPr>
          <a:xfrm>
            <a:off x="6089904" y="1920240"/>
            <a:ext cx="2651760" cy="74980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Embedding positions are selected pseudo-randomly using the key — not sequentially. This makes visual detection (bit-plane inspection) much harder than simple LSB tools.</a:t>
            </a:r>
            <a:endParaRPr lang="en-US" sz="900" dirty="0"/>
          </a:p>
        </p:txBody>
      </p:sp>
      <p:sp>
        <p:nvSpPr>
          <p:cNvPr id="15" name="Shape 13"/>
          <p:cNvSpPr/>
          <p:nvPr/>
        </p:nvSpPr>
        <p:spPr>
          <a:xfrm>
            <a:off x="320040" y="2834640"/>
            <a:ext cx="8503920" cy="1508760"/>
          </a:xfrm>
          <a:prstGeom prst="rect">
            <a:avLst/>
          </a:prstGeom>
          <a:solidFill>
            <a:srgbClr val="FFFFFF"/>
          </a:solidFill>
          <a:ln w="12700">
            <a:solidFill>
              <a:srgbClr val="A855F7"/>
            </a:solidFill>
            <a:prstDash val="solid"/>
          </a:ln>
        </p:spPr>
        <p:txBody>
          <a:bodyPr/>
          <a:lstStyle/>
          <a:p>
            <a:endParaRPr lang="en-SG"/>
          </a:p>
        </p:txBody>
      </p:sp>
      <p:sp>
        <p:nvSpPr>
          <p:cNvPr id="16" name="Shape 14"/>
          <p:cNvSpPr/>
          <p:nvPr/>
        </p:nvSpPr>
        <p:spPr>
          <a:xfrm>
            <a:off x="320040" y="2834640"/>
            <a:ext cx="347472" cy="1508760"/>
          </a:xfrm>
          <a:prstGeom prst="rect">
            <a:avLst/>
          </a:prstGeom>
          <a:solidFill>
            <a:srgbClr val="A855F7"/>
          </a:solidFill>
          <a:ln w="12700">
            <a:solidFill>
              <a:srgbClr val="A855F7"/>
            </a:solidFill>
            <a:prstDash val="solid"/>
          </a:ln>
        </p:spPr>
        <p:txBody>
          <a:bodyPr/>
          <a:lstStyle/>
          <a:p>
            <a:endParaRPr lang="en-SG"/>
          </a:p>
        </p:txBody>
      </p:sp>
      <p:sp>
        <p:nvSpPr>
          <p:cNvPr id="17" name="Text 15"/>
          <p:cNvSpPr/>
          <p:nvPr/>
        </p:nvSpPr>
        <p:spPr>
          <a:xfrm>
            <a:off x="320040" y="3456432"/>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01</a:t>
            </a:r>
            <a:endParaRPr lang="en-US" sz="1000" dirty="0"/>
          </a:p>
        </p:txBody>
      </p:sp>
      <p:sp>
        <p:nvSpPr>
          <p:cNvPr id="18" name="Text 16"/>
          <p:cNvSpPr/>
          <p:nvPr/>
        </p:nvSpPr>
        <p:spPr>
          <a:xfrm>
            <a:off x="749808" y="2898648"/>
            <a:ext cx="7863840" cy="256032"/>
          </a:xfrm>
          <a:prstGeom prst="rect">
            <a:avLst/>
          </a:prstGeom>
          <a:noFill/>
          <a:ln/>
        </p:spPr>
        <p:txBody>
          <a:bodyPr wrap="square" rtlCol="0" anchor="ctr"/>
          <a:lstStyle/>
          <a:p>
            <a:pPr marL="0" indent="0">
              <a:buNone/>
            </a:pPr>
            <a:r>
              <a:rPr lang="en-US" sz="1300" b="1" dirty="0">
                <a:solidFill>
                  <a:srgbClr val="A855F7"/>
                </a:solidFill>
                <a:latin typeface="Calibri" pitchFamily="34" charset="0"/>
                <a:ea typeface="Calibri" pitchFamily="34" charset="-122"/>
                <a:cs typeface="Calibri" pitchFamily="34" charset="-120"/>
              </a:rPr>
              <a:t>Inspect the Image — steghide info (no extraction)</a:t>
            </a:r>
            <a:endParaRPr lang="en-US" sz="1300" dirty="0"/>
          </a:p>
        </p:txBody>
      </p:sp>
      <p:sp>
        <p:nvSpPr>
          <p:cNvPr id="19" name="Text 17"/>
          <p:cNvSpPr/>
          <p:nvPr/>
        </p:nvSpPr>
        <p:spPr>
          <a:xfrm>
            <a:off x="749808" y="3163824"/>
            <a:ext cx="7863840" cy="274320"/>
          </a:xfrm>
          <a:prstGeom prst="rect">
            <a:avLst/>
          </a:prstGeom>
          <a:noFill/>
          <a:ln/>
        </p:spPr>
        <p:txBody>
          <a:bodyPr wrap="square" rtlCol="0" anchor="ctr"/>
          <a:lstStyle/>
          <a:p>
            <a:pPr marL="0" indent="0">
              <a:buNone/>
            </a:pPr>
            <a:r>
              <a:rPr lang="en-US" sz="950" i="1" dirty="0">
                <a:solidFill>
                  <a:srgbClr val="8899AA"/>
                </a:solidFill>
                <a:latin typeface="Calibri" pitchFamily="34" charset="0"/>
                <a:ea typeface="Calibri" pitchFamily="34" charset="-122"/>
                <a:cs typeface="Calibri" pitchFamily="34" charset="-120"/>
              </a:rPr>
              <a:t>The info subcommand reveals whether Steghide can detect a payload header — without extracting it. It will prompt for a passphrase; pressing Enter (blank) shows capacity metadata.</a:t>
            </a:r>
            <a:endParaRPr lang="en-US" sz="950" dirty="0"/>
          </a:p>
        </p:txBody>
      </p:sp>
      <p:sp>
        <p:nvSpPr>
          <p:cNvPr id="20" name="Shape 18"/>
          <p:cNvSpPr/>
          <p:nvPr/>
        </p:nvSpPr>
        <p:spPr>
          <a:xfrm>
            <a:off x="749808" y="3465576"/>
            <a:ext cx="3657600" cy="768096"/>
          </a:xfrm>
          <a:prstGeom prst="rect">
            <a:avLst/>
          </a:prstGeom>
          <a:solidFill>
            <a:srgbClr val="FFFFFF"/>
          </a:solidFill>
          <a:ln w="12700">
            <a:solidFill>
              <a:srgbClr val="DBEAFE"/>
            </a:solidFill>
            <a:prstDash val="solid"/>
          </a:ln>
        </p:spPr>
        <p:txBody>
          <a:bodyPr/>
          <a:lstStyle/>
          <a:p>
            <a:endParaRPr lang="en-SG"/>
          </a:p>
        </p:txBody>
      </p:sp>
      <p:sp>
        <p:nvSpPr>
          <p:cNvPr id="21" name="Text 19"/>
          <p:cNvSpPr/>
          <p:nvPr/>
        </p:nvSpPr>
        <p:spPr>
          <a:xfrm>
            <a:off x="841248" y="3502152"/>
            <a:ext cx="3474720" cy="694944"/>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steghide info forensics_example.jpg</a:t>
            </a:r>
            <a:endParaRPr lang="en-US" sz="850" dirty="0"/>
          </a:p>
          <a:p>
            <a:pPr marL="0" indent="0">
              <a:buNone/>
            </a:pP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Enter passphrase: [press Enter for blank]</a:t>
            </a:r>
            <a:endParaRPr lang="en-US" sz="850" dirty="0"/>
          </a:p>
        </p:txBody>
      </p:sp>
      <p:sp>
        <p:nvSpPr>
          <p:cNvPr id="22" name="Shape 20"/>
          <p:cNvSpPr/>
          <p:nvPr/>
        </p:nvSpPr>
        <p:spPr>
          <a:xfrm>
            <a:off x="4544568" y="3465576"/>
            <a:ext cx="4160520" cy="768096"/>
          </a:xfrm>
          <a:prstGeom prst="rect">
            <a:avLst/>
          </a:prstGeom>
          <a:solidFill>
            <a:srgbClr val="FFFFFF"/>
          </a:solidFill>
          <a:ln w="12700">
            <a:solidFill>
              <a:srgbClr val="FFD166"/>
            </a:solidFill>
            <a:prstDash val="solid"/>
          </a:ln>
        </p:spPr>
        <p:txBody>
          <a:bodyPr/>
          <a:lstStyle/>
          <a:p>
            <a:endParaRPr lang="en-SG"/>
          </a:p>
        </p:txBody>
      </p:sp>
      <p:sp>
        <p:nvSpPr>
          <p:cNvPr id="23" name="Text 21"/>
          <p:cNvSpPr/>
          <p:nvPr/>
        </p:nvSpPr>
        <p:spPr>
          <a:xfrm>
            <a:off x="4636008" y="3511296"/>
            <a:ext cx="1097280" cy="164592"/>
          </a:xfrm>
          <a:prstGeom prst="rect">
            <a:avLst/>
          </a:prstGeom>
          <a:noFill/>
          <a:ln/>
        </p:spPr>
        <p:txBody>
          <a:bodyPr wrap="square" rtlCol="0" anchor="ctr"/>
          <a:lstStyle/>
          <a:p>
            <a:pPr marL="0" indent="0">
              <a:buNone/>
            </a:pPr>
            <a:r>
              <a:rPr lang="en-US" sz="750" b="1" dirty="0">
                <a:solidFill>
                  <a:srgbClr val="00B4D8"/>
                </a:solidFill>
                <a:latin typeface="Calibri" pitchFamily="34" charset="0"/>
                <a:ea typeface="Calibri" pitchFamily="34" charset="-122"/>
                <a:cs typeface="Calibri" pitchFamily="34" charset="-120"/>
              </a:rPr>
              <a:t>OUTPUT:</a:t>
            </a:r>
            <a:endParaRPr lang="en-US" sz="750" dirty="0"/>
          </a:p>
        </p:txBody>
      </p:sp>
      <p:sp>
        <p:nvSpPr>
          <p:cNvPr id="24" name="Text 22"/>
          <p:cNvSpPr/>
          <p:nvPr/>
        </p:nvSpPr>
        <p:spPr>
          <a:xfrm>
            <a:off x="4636008" y="3685032"/>
            <a:ext cx="3931920" cy="502920"/>
          </a:xfrm>
          <a:prstGeom prst="rect">
            <a:avLst/>
          </a:prstGeom>
          <a:noFill/>
          <a:ln/>
        </p:spPr>
        <p:txBody>
          <a:bodyPr wrap="square" rtlCol="0" anchor="ctr"/>
          <a:lstStyle/>
          <a:p>
            <a:pPr marL="0" indent="0">
              <a:buNone/>
            </a:pPr>
            <a:r>
              <a:rPr lang="en-US" sz="850" dirty="0">
                <a:solidFill>
                  <a:srgbClr val="FFD166"/>
                </a:solidFill>
                <a:latin typeface="Consolas" pitchFamily="34" charset="0"/>
                <a:ea typeface="Consolas" pitchFamily="34" charset="-122"/>
                <a:cs typeface="Consolas" pitchFamily="34" charset="-120"/>
              </a:rPr>
              <a:t>"forensics_example.jpg":</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  format: jpeg  |  capacity: 3.5 KB</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  embedded file: YES (requires passphrase to extract)</a:t>
            </a:r>
            <a:endParaRPr lang="en-US" sz="850" dirty="0"/>
          </a:p>
        </p:txBody>
      </p:sp>
      <p:sp>
        <p:nvSpPr>
          <p:cNvPr id="25" name="Shape 23"/>
          <p:cNvSpPr/>
          <p:nvPr/>
        </p:nvSpPr>
        <p:spPr>
          <a:xfrm>
            <a:off x="320040" y="4453128"/>
            <a:ext cx="8503920" cy="658368"/>
          </a:xfrm>
          <a:prstGeom prst="rect">
            <a:avLst/>
          </a:prstGeom>
          <a:solidFill>
            <a:srgbClr val="FFFFFF"/>
          </a:solidFill>
          <a:ln w="12700">
            <a:solidFill>
              <a:srgbClr val="00B4D8"/>
            </a:solidFill>
            <a:prstDash val="solid"/>
          </a:ln>
        </p:spPr>
        <p:txBody>
          <a:bodyPr/>
          <a:lstStyle/>
          <a:p>
            <a:endParaRPr lang="en-SG"/>
          </a:p>
        </p:txBody>
      </p:sp>
      <p:sp>
        <p:nvSpPr>
          <p:cNvPr id="26" name="Text 24"/>
          <p:cNvSpPr/>
          <p:nvPr/>
        </p:nvSpPr>
        <p:spPr>
          <a:xfrm>
            <a:off x="502920" y="4526280"/>
            <a:ext cx="2651760" cy="201168"/>
          </a:xfrm>
          <a:prstGeom prst="rect">
            <a:avLst/>
          </a:prstGeom>
          <a:noFill/>
          <a:ln/>
        </p:spPr>
        <p:txBody>
          <a:bodyPr wrap="square"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  WHAT "CAPACITY" MEANS: </a:t>
            </a:r>
            <a:endParaRPr lang="en-US" sz="900" dirty="0"/>
          </a:p>
        </p:txBody>
      </p:sp>
      <p:sp>
        <p:nvSpPr>
          <p:cNvPr id="27" name="Text 25"/>
          <p:cNvSpPr/>
          <p:nvPr/>
        </p:nvSpPr>
        <p:spPr>
          <a:xfrm>
            <a:off x="3090672" y="4517136"/>
            <a:ext cx="5596128" cy="512064"/>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Steghide reports the maximum bytes that can be embedded in the cover image without visible degradation. This is not the payload size — it is the available hiding space. A 3.5 KB capacity in a 5 KB JPEG is unusually high and strengthens the suspicion of a large hidden payload.</a:t>
            </a:r>
            <a:endParaRPr lang="en-US" sz="950" dirty="0"/>
          </a:p>
        </p:txBody>
      </p:sp>
      <p:sp>
        <p:nvSpPr>
          <p:cNvPr id="30" name="Text 28"/>
          <p:cNvSpPr/>
          <p:nvPr/>
        </p:nvSpPr>
        <p:spPr>
          <a:xfrm>
            <a:off x="6858000" y="6601968"/>
            <a:ext cx="2103120" cy="228600"/>
          </a:xfrm>
          <a:prstGeom prst="rect">
            <a:avLst/>
          </a:prstGeom>
          <a:noFill/>
          <a:ln/>
        </p:spPr>
        <p:txBody>
          <a:bodyPr wrap="square" rtlCol="0" anchor="ctr"/>
          <a:lstStyle/>
          <a:p>
            <a:pPr marL="0" indent="0" algn="r">
              <a:buNone/>
            </a:pPr>
            <a:r>
              <a:rPr lang="en-US" sz="800" dirty="0">
                <a:solidFill>
                  <a:srgbClr val="00B4D8"/>
                </a:solidFill>
                <a:latin typeface="Calibri" pitchFamily="34" charset="0"/>
                <a:ea typeface="Calibri" pitchFamily="34" charset="-122"/>
                <a:cs typeface="Calibri" pitchFamily="34" charset="-120"/>
              </a:rPr>
              <a:t>Phase 2 — Extract</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320040" y="182880"/>
            <a:ext cx="2926080" cy="228600"/>
          </a:xfrm>
          <a:prstGeom prst="rect">
            <a:avLst/>
          </a:prstGeom>
          <a:solidFill>
            <a:srgbClr val="A855F7"/>
          </a:solidFill>
          <a:ln w="12700">
            <a:solidFill>
              <a:srgbClr val="A855F7"/>
            </a:solidFill>
            <a:prstDash val="solid"/>
          </a:ln>
        </p:spPr>
        <p:txBody>
          <a:bodyPr/>
          <a:lstStyle/>
          <a:p>
            <a:endParaRPr lang="en-SG"/>
          </a:p>
        </p:txBody>
      </p:sp>
      <p:sp>
        <p:nvSpPr>
          <p:cNvPr id="4" name="Text 2"/>
          <p:cNvSpPr/>
          <p:nvPr/>
        </p:nvSpPr>
        <p:spPr>
          <a:xfrm>
            <a:off x="320040" y="182880"/>
            <a:ext cx="2926080" cy="228600"/>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PHASE 2 — EXTRACT  ·  Steps 2–3</a:t>
            </a:r>
            <a:endParaRPr lang="en-US" sz="850" dirty="0"/>
          </a:p>
        </p:txBody>
      </p:sp>
      <p:sp>
        <p:nvSpPr>
          <p:cNvPr id="5" name="Text 3"/>
          <p:cNvSpPr/>
          <p:nvPr/>
        </p:nvSpPr>
        <p:spPr>
          <a:xfrm>
            <a:off x="320040" y="493776"/>
            <a:ext cx="8503920" cy="475488"/>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Steghide — Extracting &amp; Reading the Payload</a:t>
            </a:r>
            <a:endParaRPr lang="en-US" sz="2400" dirty="0"/>
          </a:p>
        </p:txBody>
      </p:sp>
      <p:sp>
        <p:nvSpPr>
          <p:cNvPr id="6" name="Text 4"/>
          <p:cNvSpPr/>
          <p:nvPr/>
        </p:nvSpPr>
        <p:spPr>
          <a:xfrm>
            <a:off x="320040" y="996696"/>
            <a:ext cx="8503920" cy="256032"/>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With the passphrase known (or cracked), extract the hidden file and examine its contents</a:t>
            </a:r>
            <a:endParaRPr lang="en-US" sz="1100" dirty="0"/>
          </a:p>
        </p:txBody>
      </p:sp>
      <p:sp>
        <p:nvSpPr>
          <p:cNvPr id="7" name="Shape 5"/>
          <p:cNvSpPr/>
          <p:nvPr/>
        </p:nvSpPr>
        <p:spPr>
          <a:xfrm>
            <a:off x="320040" y="1335024"/>
            <a:ext cx="8503920" cy="1572768"/>
          </a:xfrm>
          <a:prstGeom prst="rect">
            <a:avLst/>
          </a:prstGeom>
          <a:solidFill>
            <a:srgbClr val="FFFFFF"/>
          </a:solidFill>
          <a:ln w="12700">
            <a:solidFill>
              <a:srgbClr val="A855F7"/>
            </a:solidFill>
            <a:prstDash val="solid"/>
          </a:ln>
        </p:spPr>
        <p:txBody>
          <a:bodyPr/>
          <a:lstStyle/>
          <a:p>
            <a:endParaRPr lang="en-SG"/>
          </a:p>
        </p:txBody>
      </p:sp>
      <p:sp>
        <p:nvSpPr>
          <p:cNvPr id="8" name="Shape 6"/>
          <p:cNvSpPr/>
          <p:nvPr/>
        </p:nvSpPr>
        <p:spPr>
          <a:xfrm>
            <a:off x="320040" y="1335024"/>
            <a:ext cx="347472" cy="1572768"/>
          </a:xfrm>
          <a:prstGeom prst="rect">
            <a:avLst/>
          </a:prstGeom>
          <a:solidFill>
            <a:srgbClr val="A855F7"/>
          </a:solidFill>
          <a:ln w="12700">
            <a:solidFill>
              <a:srgbClr val="A855F7"/>
            </a:solidFill>
            <a:prstDash val="solid"/>
          </a:ln>
        </p:spPr>
        <p:txBody>
          <a:bodyPr/>
          <a:lstStyle/>
          <a:p>
            <a:endParaRPr lang="en-SG"/>
          </a:p>
        </p:txBody>
      </p:sp>
      <p:sp>
        <p:nvSpPr>
          <p:cNvPr id="9" name="Text 7"/>
          <p:cNvSpPr/>
          <p:nvPr/>
        </p:nvSpPr>
        <p:spPr>
          <a:xfrm>
            <a:off x="320040" y="2011680"/>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02</a:t>
            </a:r>
            <a:endParaRPr lang="en-US" sz="1000" dirty="0"/>
          </a:p>
        </p:txBody>
      </p:sp>
      <p:sp>
        <p:nvSpPr>
          <p:cNvPr id="10" name="Text 8"/>
          <p:cNvSpPr/>
          <p:nvPr/>
        </p:nvSpPr>
        <p:spPr>
          <a:xfrm>
            <a:off x="749808" y="1399032"/>
            <a:ext cx="7863840" cy="256032"/>
          </a:xfrm>
          <a:prstGeom prst="rect">
            <a:avLst/>
          </a:prstGeom>
          <a:noFill/>
          <a:ln/>
        </p:spPr>
        <p:txBody>
          <a:bodyPr wrap="square" rtlCol="0" anchor="ctr"/>
          <a:lstStyle/>
          <a:p>
            <a:pPr marL="0" indent="0">
              <a:buNone/>
            </a:pPr>
            <a:r>
              <a:rPr lang="en-US" sz="1300" b="1" dirty="0">
                <a:solidFill>
                  <a:srgbClr val="A855F7"/>
                </a:solidFill>
                <a:latin typeface="Calibri" pitchFamily="34" charset="0"/>
                <a:ea typeface="Calibri" pitchFamily="34" charset="-122"/>
                <a:cs typeface="Calibri" pitchFamily="34" charset="-120"/>
              </a:rPr>
              <a:t>Extract with Known Passphrase</a:t>
            </a:r>
            <a:endParaRPr lang="en-US" sz="1300" dirty="0"/>
          </a:p>
        </p:txBody>
      </p:sp>
      <p:sp>
        <p:nvSpPr>
          <p:cNvPr id="11" name="Text 9"/>
          <p:cNvSpPr/>
          <p:nvPr/>
        </p:nvSpPr>
        <p:spPr>
          <a:xfrm>
            <a:off x="749808" y="1664208"/>
            <a:ext cx="7863840" cy="237744"/>
          </a:xfrm>
          <a:prstGeom prst="rect">
            <a:avLst/>
          </a:prstGeom>
          <a:noFill/>
          <a:ln/>
        </p:spPr>
        <p:txBody>
          <a:bodyPr wrap="square" rtlCol="0" anchor="ctr"/>
          <a:lstStyle/>
          <a:p>
            <a:pPr marL="0" indent="0">
              <a:buNone/>
            </a:pPr>
            <a:r>
              <a:rPr lang="en-US" sz="950" i="1" dirty="0">
                <a:solidFill>
                  <a:srgbClr val="8899AA"/>
                </a:solidFill>
                <a:latin typeface="Calibri" pitchFamily="34" charset="0"/>
                <a:ea typeface="Calibri" pitchFamily="34" charset="-122"/>
                <a:cs typeface="Calibri" pitchFamily="34" charset="-120"/>
              </a:rPr>
              <a:t>Flags: -sf = stego file (cover image),  -p = passphrase,  -xf = output filename for extracted payload</a:t>
            </a:r>
            <a:endParaRPr lang="en-US" sz="950" dirty="0"/>
          </a:p>
        </p:txBody>
      </p:sp>
      <p:sp>
        <p:nvSpPr>
          <p:cNvPr id="12" name="Shape 10"/>
          <p:cNvSpPr/>
          <p:nvPr/>
        </p:nvSpPr>
        <p:spPr>
          <a:xfrm>
            <a:off x="749808" y="1929384"/>
            <a:ext cx="4937760" cy="493776"/>
          </a:xfrm>
          <a:prstGeom prst="rect">
            <a:avLst/>
          </a:prstGeom>
          <a:solidFill>
            <a:srgbClr val="FFFFFF"/>
          </a:solidFill>
          <a:ln w="12700">
            <a:solidFill>
              <a:srgbClr val="DBEAFE"/>
            </a:solidFill>
            <a:prstDash val="solid"/>
          </a:ln>
        </p:spPr>
        <p:txBody>
          <a:bodyPr/>
          <a:lstStyle/>
          <a:p>
            <a:endParaRPr lang="en-SG"/>
          </a:p>
        </p:txBody>
      </p:sp>
      <p:sp>
        <p:nvSpPr>
          <p:cNvPr id="13" name="Text 11"/>
          <p:cNvSpPr/>
          <p:nvPr/>
        </p:nvSpPr>
        <p:spPr>
          <a:xfrm>
            <a:off x="841248" y="1965960"/>
            <a:ext cx="4754880" cy="420624"/>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steghide extract -sf forensics_example.jpg -p "forensics2024" -xf recovered.txt</a:t>
            </a:r>
            <a:endParaRPr lang="en-US" sz="850" dirty="0"/>
          </a:p>
        </p:txBody>
      </p:sp>
      <p:sp>
        <p:nvSpPr>
          <p:cNvPr id="14" name="Shape 12"/>
          <p:cNvSpPr/>
          <p:nvPr/>
        </p:nvSpPr>
        <p:spPr>
          <a:xfrm>
            <a:off x="5806440" y="1929384"/>
            <a:ext cx="2898648" cy="493776"/>
          </a:xfrm>
          <a:prstGeom prst="rect">
            <a:avLst/>
          </a:prstGeom>
          <a:solidFill>
            <a:srgbClr val="FFFFFF"/>
          </a:solidFill>
          <a:ln w="12700">
            <a:solidFill>
              <a:srgbClr val="2EC4B6"/>
            </a:solidFill>
            <a:prstDash val="solid"/>
          </a:ln>
        </p:spPr>
        <p:txBody>
          <a:bodyPr/>
          <a:lstStyle/>
          <a:p>
            <a:endParaRPr lang="en-SG"/>
          </a:p>
        </p:txBody>
      </p:sp>
      <p:sp>
        <p:nvSpPr>
          <p:cNvPr id="15" name="Text 13"/>
          <p:cNvSpPr/>
          <p:nvPr/>
        </p:nvSpPr>
        <p:spPr>
          <a:xfrm>
            <a:off x="5897880" y="1993392"/>
            <a:ext cx="2743200" cy="365760"/>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wrote extracted data to "recovered.txt".</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[Exit code: 0 — success]</a:t>
            </a:r>
            <a:endParaRPr lang="en-US" sz="850" dirty="0"/>
          </a:p>
        </p:txBody>
      </p:sp>
      <p:sp>
        <p:nvSpPr>
          <p:cNvPr id="16" name="Text 14"/>
          <p:cNvSpPr/>
          <p:nvPr/>
        </p:nvSpPr>
        <p:spPr>
          <a:xfrm>
            <a:off x="749808" y="2450592"/>
            <a:ext cx="502920" cy="182880"/>
          </a:xfrm>
          <a:prstGeom prst="rect">
            <a:avLst/>
          </a:prstGeom>
          <a:noFill/>
          <a:ln/>
        </p:spPr>
        <p:txBody>
          <a:bodyPr wrap="square"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-sf</a:t>
            </a:r>
            <a:endParaRPr lang="en-US" sz="900" dirty="0"/>
          </a:p>
        </p:txBody>
      </p:sp>
      <p:sp>
        <p:nvSpPr>
          <p:cNvPr id="17" name="Text 15"/>
          <p:cNvSpPr/>
          <p:nvPr/>
        </p:nvSpPr>
        <p:spPr>
          <a:xfrm>
            <a:off x="1271016" y="2450592"/>
            <a:ext cx="1920240" cy="182880"/>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  stego file (cover)</a:t>
            </a:r>
            <a:endParaRPr lang="en-US" sz="900" dirty="0"/>
          </a:p>
        </p:txBody>
      </p:sp>
      <p:sp>
        <p:nvSpPr>
          <p:cNvPr id="18" name="Text 16"/>
          <p:cNvSpPr/>
          <p:nvPr/>
        </p:nvSpPr>
        <p:spPr>
          <a:xfrm>
            <a:off x="3310128" y="2450592"/>
            <a:ext cx="502920" cy="182880"/>
          </a:xfrm>
          <a:prstGeom prst="rect">
            <a:avLst/>
          </a:prstGeom>
          <a:noFill/>
          <a:ln/>
        </p:spPr>
        <p:txBody>
          <a:bodyPr wrap="square"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-p</a:t>
            </a:r>
            <a:endParaRPr lang="en-US" sz="900" dirty="0"/>
          </a:p>
        </p:txBody>
      </p:sp>
      <p:sp>
        <p:nvSpPr>
          <p:cNvPr id="19" name="Text 17"/>
          <p:cNvSpPr/>
          <p:nvPr/>
        </p:nvSpPr>
        <p:spPr>
          <a:xfrm>
            <a:off x="3831336" y="2450592"/>
            <a:ext cx="1920240" cy="182880"/>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  passphrase</a:t>
            </a:r>
            <a:endParaRPr lang="en-US" sz="900" dirty="0"/>
          </a:p>
        </p:txBody>
      </p:sp>
      <p:sp>
        <p:nvSpPr>
          <p:cNvPr id="20" name="Text 18"/>
          <p:cNvSpPr/>
          <p:nvPr/>
        </p:nvSpPr>
        <p:spPr>
          <a:xfrm>
            <a:off x="749808" y="2651760"/>
            <a:ext cx="502920" cy="182880"/>
          </a:xfrm>
          <a:prstGeom prst="rect">
            <a:avLst/>
          </a:prstGeom>
          <a:noFill/>
          <a:ln/>
        </p:spPr>
        <p:txBody>
          <a:bodyPr wrap="square"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-xf</a:t>
            </a:r>
            <a:endParaRPr lang="en-US" sz="900" dirty="0"/>
          </a:p>
        </p:txBody>
      </p:sp>
      <p:sp>
        <p:nvSpPr>
          <p:cNvPr id="21" name="Text 19"/>
          <p:cNvSpPr/>
          <p:nvPr/>
        </p:nvSpPr>
        <p:spPr>
          <a:xfrm>
            <a:off x="1271016" y="2651760"/>
            <a:ext cx="1920240" cy="182880"/>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  output filename</a:t>
            </a:r>
            <a:endParaRPr lang="en-US" sz="900" dirty="0"/>
          </a:p>
        </p:txBody>
      </p:sp>
      <p:sp>
        <p:nvSpPr>
          <p:cNvPr id="22" name="Text 20"/>
          <p:cNvSpPr/>
          <p:nvPr/>
        </p:nvSpPr>
        <p:spPr>
          <a:xfrm>
            <a:off x="3310128" y="2651760"/>
            <a:ext cx="502920" cy="182880"/>
          </a:xfrm>
          <a:prstGeom prst="rect">
            <a:avLst/>
          </a:prstGeom>
          <a:noFill/>
          <a:ln/>
        </p:spPr>
        <p:txBody>
          <a:bodyPr wrap="square" rtlCol="0" anchor="ctr"/>
          <a:lstStyle/>
          <a:p>
            <a:pPr marL="0" indent="0">
              <a:buNone/>
            </a:pPr>
            <a:r>
              <a:rPr lang="en-US" sz="900" b="1" dirty="0">
                <a:solidFill>
                  <a:srgbClr val="00B4D8"/>
                </a:solidFill>
                <a:latin typeface="Consolas" pitchFamily="34" charset="0"/>
                <a:ea typeface="Consolas" pitchFamily="34" charset="-122"/>
                <a:cs typeface="Consolas" pitchFamily="34" charset="-120"/>
              </a:rPr>
              <a:t>-e</a:t>
            </a:r>
            <a:endParaRPr lang="en-US" sz="900" dirty="0"/>
          </a:p>
        </p:txBody>
      </p:sp>
      <p:sp>
        <p:nvSpPr>
          <p:cNvPr id="23" name="Text 21"/>
          <p:cNvSpPr/>
          <p:nvPr/>
        </p:nvSpPr>
        <p:spPr>
          <a:xfrm>
            <a:off x="3831336" y="2651760"/>
            <a:ext cx="1920240" cy="182880"/>
          </a:xfrm>
          <a:prstGeom prst="rect">
            <a:avLst/>
          </a:prstGeom>
          <a:noFill/>
          <a:ln/>
        </p:spPr>
        <p:txBody>
          <a:bodyPr wrap="square" rtlCol="0" anchor="ctr"/>
          <a:lstStyle/>
          <a:p>
            <a:pPr marL="0" indent="0">
              <a:buNone/>
            </a:pPr>
            <a:r>
              <a:rPr lang="en-US" sz="900" dirty="0">
                <a:solidFill>
                  <a:srgbClr val="8899AA"/>
                </a:solidFill>
                <a:latin typeface="Calibri" pitchFamily="34" charset="0"/>
                <a:ea typeface="Calibri" pitchFamily="34" charset="-122"/>
                <a:cs typeface="Calibri" pitchFamily="34" charset="-120"/>
              </a:rPr>
              <a:t>→  encryption algo</a:t>
            </a:r>
            <a:endParaRPr lang="en-US" sz="900" dirty="0"/>
          </a:p>
        </p:txBody>
      </p:sp>
      <p:sp>
        <p:nvSpPr>
          <p:cNvPr id="24" name="Shape 22"/>
          <p:cNvSpPr/>
          <p:nvPr/>
        </p:nvSpPr>
        <p:spPr>
          <a:xfrm>
            <a:off x="320040" y="3017520"/>
            <a:ext cx="8503920" cy="2048256"/>
          </a:xfrm>
          <a:prstGeom prst="rect">
            <a:avLst/>
          </a:prstGeom>
          <a:solidFill>
            <a:srgbClr val="FFFFFF"/>
          </a:solidFill>
          <a:ln w="12700">
            <a:solidFill>
              <a:srgbClr val="2EC4B6"/>
            </a:solidFill>
            <a:prstDash val="solid"/>
          </a:ln>
        </p:spPr>
        <p:txBody>
          <a:bodyPr/>
          <a:lstStyle/>
          <a:p>
            <a:endParaRPr lang="en-SG"/>
          </a:p>
        </p:txBody>
      </p:sp>
      <p:sp>
        <p:nvSpPr>
          <p:cNvPr id="25" name="Shape 23"/>
          <p:cNvSpPr/>
          <p:nvPr/>
        </p:nvSpPr>
        <p:spPr>
          <a:xfrm>
            <a:off x="320040" y="3017520"/>
            <a:ext cx="347472" cy="2048256"/>
          </a:xfrm>
          <a:prstGeom prst="rect">
            <a:avLst/>
          </a:prstGeom>
          <a:solidFill>
            <a:srgbClr val="2EC4B6"/>
          </a:solidFill>
          <a:ln w="12700">
            <a:solidFill>
              <a:srgbClr val="2EC4B6"/>
            </a:solidFill>
            <a:prstDash val="solid"/>
          </a:ln>
        </p:spPr>
        <p:txBody>
          <a:bodyPr/>
          <a:lstStyle/>
          <a:p>
            <a:endParaRPr lang="en-SG"/>
          </a:p>
        </p:txBody>
      </p:sp>
      <p:sp>
        <p:nvSpPr>
          <p:cNvPr id="26" name="Text 24"/>
          <p:cNvSpPr/>
          <p:nvPr/>
        </p:nvSpPr>
        <p:spPr>
          <a:xfrm>
            <a:off x="320040" y="3931920"/>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03</a:t>
            </a:r>
            <a:endParaRPr lang="en-US" sz="1000" dirty="0"/>
          </a:p>
        </p:txBody>
      </p:sp>
      <p:sp>
        <p:nvSpPr>
          <p:cNvPr id="27" name="Text 25"/>
          <p:cNvSpPr/>
          <p:nvPr/>
        </p:nvSpPr>
        <p:spPr>
          <a:xfrm>
            <a:off x="749808" y="3081528"/>
            <a:ext cx="7863840" cy="256032"/>
          </a:xfrm>
          <a:prstGeom prst="rect">
            <a:avLst/>
          </a:prstGeom>
          <a:noFill/>
          <a:ln/>
        </p:spPr>
        <p:txBody>
          <a:bodyPr wrap="square" rtlCol="0" anchor="ctr"/>
          <a:lstStyle/>
          <a:p>
            <a:pPr marL="0" indent="0">
              <a:buNone/>
            </a:pPr>
            <a:r>
              <a:rPr lang="en-US" sz="1300" b="1" dirty="0">
                <a:solidFill>
                  <a:srgbClr val="2EC4B6"/>
                </a:solidFill>
                <a:latin typeface="Calibri" pitchFamily="34" charset="0"/>
                <a:ea typeface="Calibri" pitchFamily="34" charset="-122"/>
                <a:cs typeface="Calibri" pitchFamily="34" charset="-120"/>
              </a:rPr>
              <a:t>Read &amp; Verify the Recovered Payload</a:t>
            </a:r>
            <a:endParaRPr lang="en-US" sz="1300" dirty="0"/>
          </a:p>
        </p:txBody>
      </p:sp>
      <p:sp>
        <p:nvSpPr>
          <p:cNvPr id="28" name="Text 26"/>
          <p:cNvSpPr/>
          <p:nvPr/>
        </p:nvSpPr>
        <p:spPr>
          <a:xfrm>
            <a:off x="749808" y="3346704"/>
            <a:ext cx="7863840" cy="237744"/>
          </a:xfrm>
          <a:prstGeom prst="rect">
            <a:avLst/>
          </a:prstGeom>
          <a:noFill/>
          <a:ln/>
        </p:spPr>
        <p:txBody>
          <a:bodyPr wrap="square" rtlCol="0" anchor="ctr"/>
          <a:lstStyle/>
          <a:p>
            <a:pPr marL="0" indent="0">
              <a:buNone/>
            </a:pPr>
            <a:r>
              <a:rPr lang="en-US" sz="950" i="1" dirty="0">
                <a:solidFill>
                  <a:srgbClr val="8899AA"/>
                </a:solidFill>
                <a:latin typeface="Calibri" pitchFamily="34" charset="0"/>
                <a:ea typeface="Calibri" pitchFamily="34" charset="-122"/>
                <a:cs typeface="Calibri" pitchFamily="34" charset="-120"/>
              </a:rPr>
              <a:t>Always read both as plain text and as a hex dump — hex reveals file types, encoding, and hidden binary content that cat may not display.</a:t>
            </a:r>
            <a:endParaRPr lang="en-US" sz="950" dirty="0"/>
          </a:p>
        </p:txBody>
      </p:sp>
      <p:sp>
        <p:nvSpPr>
          <p:cNvPr id="29" name="Shape 27"/>
          <p:cNvSpPr/>
          <p:nvPr/>
        </p:nvSpPr>
        <p:spPr>
          <a:xfrm>
            <a:off x="749808" y="3611880"/>
            <a:ext cx="3657600" cy="640080"/>
          </a:xfrm>
          <a:prstGeom prst="rect">
            <a:avLst/>
          </a:prstGeom>
          <a:solidFill>
            <a:srgbClr val="FFFFFF"/>
          </a:solidFill>
          <a:ln w="12700">
            <a:solidFill>
              <a:srgbClr val="DBEAFE"/>
            </a:solidFill>
            <a:prstDash val="solid"/>
          </a:ln>
        </p:spPr>
        <p:txBody>
          <a:bodyPr/>
          <a:lstStyle/>
          <a:p>
            <a:endParaRPr lang="en-SG"/>
          </a:p>
        </p:txBody>
      </p:sp>
      <p:sp>
        <p:nvSpPr>
          <p:cNvPr id="30" name="Text 28"/>
          <p:cNvSpPr/>
          <p:nvPr/>
        </p:nvSpPr>
        <p:spPr>
          <a:xfrm>
            <a:off x="841248" y="3648456"/>
            <a:ext cx="3474720" cy="566928"/>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cat recovered.txt</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hexdump -C recovered.txt | head -3</a:t>
            </a:r>
            <a:endParaRPr lang="en-US" sz="850" dirty="0"/>
          </a:p>
        </p:txBody>
      </p:sp>
      <p:sp>
        <p:nvSpPr>
          <p:cNvPr id="31" name="Shape 29"/>
          <p:cNvSpPr/>
          <p:nvPr/>
        </p:nvSpPr>
        <p:spPr>
          <a:xfrm>
            <a:off x="4572000" y="3611880"/>
            <a:ext cx="4133088" cy="640080"/>
          </a:xfrm>
          <a:prstGeom prst="rect">
            <a:avLst/>
          </a:prstGeom>
          <a:solidFill>
            <a:srgbClr val="FFFFFF"/>
          </a:solidFill>
          <a:ln w="12700">
            <a:solidFill>
              <a:srgbClr val="FFD166"/>
            </a:solidFill>
            <a:prstDash val="solid"/>
          </a:ln>
        </p:spPr>
        <p:txBody>
          <a:bodyPr/>
          <a:lstStyle/>
          <a:p>
            <a:endParaRPr lang="en-SG"/>
          </a:p>
        </p:txBody>
      </p:sp>
      <p:sp>
        <p:nvSpPr>
          <p:cNvPr id="32" name="Text 30"/>
          <p:cNvSpPr/>
          <p:nvPr/>
        </p:nvSpPr>
        <p:spPr>
          <a:xfrm>
            <a:off x="4663440" y="3657600"/>
            <a:ext cx="3931920" cy="237744"/>
          </a:xfrm>
          <a:prstGeom prst="rect">
            <a:avLst/>
          </a:prstGeom>
          <a:noFill/>
          <a:ln/>
        </p:spPr>
        <p:txBody>
          <a:bodyPr wrap="square" rtlCol="0" anchor="ctr"/>
          <a:lstStyle/>
          <a:p>
            <a:pPr marL="0" indent="0">
              <a:buNone/>
            </a:pPr>
            <a:r>
              <a:rPr lang="en-US" sz="950" b="1" dirty="0">
                <a:solidFill>
                  <a:srgbClr val="FFD166"/>
                </a:solidFill>
                <a:latin typeface="Consolas" pitchFamily="34" charset="0"/>
                <a:ea typeface="Consolas" pitchFamily="34" charset="-122"/>
                <a:cs typeface="Consolas" pitchFamily="34" charset="-120"/>
              </a:rPr>
              <a:t>FORENSICS_LAB:meeting_at_0300_server_room_B2</a:t>
            </a:r>
            <a:endParaRPr lang="en-US" sz="950" dirty="0"/>
          </a:p>
        </p:txBody>
      </p:sp>
      <p:sp>
        <p:nvSpPr>
          <p:cNvPr id="33" name="Text 31"/>
          <p:cNvSpPr/>
          <p:nvPr/>
        </p:nvSpPr>
        <p:spPr>
          <a:xfrm>
            <a:off x="4663440" y="3904488"/>
            <a:ext cx="3931920" cy="292608"/>
          </a:xfrm>
          <a:prstGeom prst="rect">
            <a:avLst/>
          </a:prstGeom>
          <a:noFill/>
          <a:ln/>
        </p:spPr>
        <p:txBody>
          <a:bodyPr wrap="square" rtlCol="0" anchor="ctr"/>
          <a:lstStyle/>
          <a:p>
            <a:pPr marL="0" indent="0">
              <a:buNone/>
            </a:pPr>
            <a:r>
              <a:rPr lang="en-US" sz="800" dirty="0">
                <a:solidFill>
                  <a:srgbClr val="8899AA"/>
                </a:solidFill>
                <a:latin typeface="Consolas" pitchFamily="34" charset="0"/>
                <a:ea typeface="Consolas" pitchFamily="34" charset="-122"/>
                <a:cs typeface="Consolas" pitchFamily="34" charset="-120"/>
              </a:rPr>
              <a:t>00000000  46 4f 52 45 4e 53 49 43  53 5f 4c 41 42 3a  |FORENSICS_LAB:|</a:t>
            </a:r>
            <a:endParaRPr lang="en-US" sz="800" dirty="0"/>
          </a:p>
        </p:txBody>
      </p:sp>
      <p:sp>
        <p:nvSpPr>
          <p:cNvPr id="34" name="Shape 32"/>
          <p:cNvSpPr/>
          <p:nvPr/>
        </p:nvSpPr>
        <p:spPr>
          <a:xfrm>
            <a:off x="749808" y="4279392"/>
            <a:ext cx="7955280" cy="685800"/>
          </a:xfrm>
          <a:prstGeom prst="rect">
            <a:avLst/>
          </a:prstGeom>
          <a:solidFill>
            <a:srgbClr val="FFFFFF"/>
          </a:solidFill>
          <a:ln w="12700">
            <a:solidFill>
              <a:srgbClr val="2EC4B6"/>
            </a:solidFill>
            <a:prstDash val="solid"/>
          </a:ln>
        </p:spPr>
        <p:txBody>
          <a:bodyPr/>
          <a:lstStyle/>
          <a:p>
            <a:endParaRPr lang="en-SG"/>
          </a:p>
        </p:txBody>
      </p:sp>
      <p:sp>
        <p:nvSpPr>
          <p:cNvPr id="35" name="Text 33"/>
          <p:cNvSpPr/>
          <p:nvPr/>
        </p:nvSpPr>
        <p:spPr>
          <a:xfrm>
            <a:off x="932688" y="4352544"/>
            <a:ext cx="2011680" cy="201168"/>
          </a:xfrm>
          <a:prstGeom prst="rect">
            <a:avLst/>
          </a:prstGeom>
          <a:noFill/>
          <a:ln/>
        </p:spPr>
        <p:txBody>
          <a:bodyPr wrap="square" rtlCol="0" anchor="ctr"/>
          <a:lstStyle/>
          <a:p>
            <a:pPr marL="0" indent="0">
              <a:buNone/>
            </a:pPr>
            <a:r>
              <a:rPr lang="en-US" sz="900" b="1" dirty="0">
                <a:solidFill>
                  <a:srgbClr val="2EC4B6"/>
                </a:solidFill>
                <a:latin typeface="Calibri" pitchFamily="34" charset="0"/>
                <a:ea typeface="Calibri" pitchFamily="34" charset="-122"/>
                <a:cs typeface="Calibri" pitchFamily="34" charset="-120"/>
              </a:rPr>
              <a:t>🔍  INTERPRETATION: </a:t>
            </a:r>
            <a:endParaRPr lang="en-US" sz="900" dirty="0"/>
          </a:p>
        </p:txBody>
      </p:sp>
      <p:sp>
        <p:nvSpPr>
          <p:cNvPr id="36" name="Text 34"/>
          <p:cNvSpPr/>
          <p:nvPr/>
        </p:nvSpPr>
        <p:spPr>
          <a:xfrm>
            <a:off x="2880360" y="4334256"/>
            <a:ext cx="5733288" cy="56692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The decoded string "FORENSICS_LAB:meeting_at_0300_server_room_B2" is a covert operational message. Combined with the jsteg(****) StegDetect result and successful Steghide extraction, this constitutes strong forensic evidence of deliberate covert communication. Record in case notes: payload content, extraction method, passphrase used, and analyst name.</a:t>
            </a:r>
            <a:endParaRPr lang="en-US" sz="900" dirty="0"/>
          </a:p>
        </p:txBody>
      </p:sp>
      <p:sp>
        <p:nvSpPr>
          <p:cNvPr id="39" name="Text 37"/>
          <p:cNvSpPr/>
          <p:nvPr/>
        </p:nvSpPr>
        <p:spPr>
          <a:xfrm>
            <a:off x="6858000" y="6601968"/>
            <a:ext cx="2103120" cy="228600"/>
          </a:xfrm>
          <a:prstGeom prst="rect">
            <a:avLst/>
          </a:prstGeom>
          <a:noFill/>
          <a:ln/>
        </p:spPr>
        <p:txBody>
          <a:bodyPr wrap="square" rtlCol="0" anchor="ctr"/>
          <a:lstStyle/>
          <a:p>
            <a:pPr marL="0" indent="0" algn="r">
              <a:buNone/>
            </a:pPr>
            <a:r>
              <a:rPr lang="en-US" sz="800" dirty="0">
                <a:solidFill>
                  <a:srgbClr val="00B4D8"/>
                </a:solidFill>
                <a:latin typeface="Calibri" pitchFamily="34" charset="0"/>
                <a:ea typeface="Calibri" pitchFamily="34" charset="-122"/>
                <a:cs typeface="Calibri" pitchFamily="34" charset="-120"/>
              </a:rPr>
              <a:t>Phase 2 — Extract</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320040" y="182880"/>
            <a:ext cx="2926080" cy="228600"/>
          </a:xfrm>
          <a:prstGeom prst="rect">
            <a:avLst/>
          </a:prstGeom>
          <a:solidFill>
            <a:srgbClr val="A855F7"/>
          </a:solidFill>
          <a:ln w="12700">
            <a:solidFill>
              <a:srgbClr val="A855F7"/>
            </a:solidFill>
            <a:prstDash val="solid"/>
          </a:ln>
        </p:spPr>
        <p:txBody>
          <a:bodyPr/>
          <a:lstStyle/>
          <a:p>
            <a:endParaRPr lang="en-SG"/>
          </a:p>
        </p:txBody>
      </p:sp>
      <p:sp>
        <p:nvSpPr>
          <p:cNvPr id="4" name="Text 2"/>
          <p:cNvSpPr/>
          <p:nvPr/>
        </p:nvSpPr>
        <p:spPr>
          <a:xfrm>
            <a:off x="320040" y="182880"/>
            <a:ext cx="2926080" cy="228600"/>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PHASE 2 — EXTRACT  ·  Steps 4–5</a:t>
            </a:r>
            <a:endParaRPr lang="en-US" sz="850" dirty="0"/>
          </a:p>
        </p:txBody>
      </p:sp>
      <p:sp>
        <p:nvSpPr>
          <p:cNvPr id="5" name="Text 3"/>
          <p:cNvSpPr/>
          <p:nvPr/>
        </p:nvSpPr>
        <p:spPr>
          <a:xfrm>
            <a:off x="320040" y="493776"/>
            <a:ext cx="8503920" cy="475488"/>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Steghide — Brute-Force &amp; Case Documentation</a:t>
            </a:r>
            <a:endParaRPr lang="en-US" sz="2400" dirty="0"/>
          </a:p>
        </p:txBody>
      </p:sp>
      <p:sp>
        <p:nvSpPr>
          <p:cNvPr id="6" name="Text 4"/>
          <p:cNvSpPr/>
          <p:nvPr/>
        </p:nvSpPr>
        <p:spPr>
          <a:xfrm>
            <a:off x="320040" y="996696"/>
            <a:ext cx="8503920" cy="256032"/>
          </a:xfrm>
          <a:prstGeom prst="rect">
            <a:avLst/>
          </a:prstGeom>
          <a:noFill/>
          <a:ln/>
        </p:spPr>
        <p:txBody>
          <a:bodyPr wrap="square" rtlCol="0" anchor="ctr"/>
          <a:lstStyle/>
          <a:p>
            <a:pPr marL="0" indent="0">
              <a:buNone/>
            </a:pPr>
            <a:r>
              <a:rPr lang="en-US" sz="1100" i="1" dirty="0">
                <a:solidFill>
                  <a:srgbClr val="8899AA"/>
                </a:solidFill>
                <a:latin typeface="Calibri" pitchFamily="34" charset="0"/>
                <a:ea typeface="Calibri" pitchFamily="34" charset="-122"/>
                <a:cs typeface="Calibri" pitchFamily="34" charset="-120"/>
              </a:rPr>
              <a:t>When the passphrase is unknown — and closing the evidence chain with final hashing and documentation</a:t>
            </a:r>
            <a:endParaRPr lang="en-US" sz="1100" dirty="0"/>
          </a:p>
        </p:txBody>
      </p:sp>
      <p:sp>
        <p:nvSpPr>
          <p:cNvPr id="7" name="Shape 5"/>
          <p:cNvSpPr/>
          <p:nvPr/>
        </p:nvSpPr>
        <p:spPr>
          <a:xfrm>
            <a:off x="320040" y="1335024"/>
            <a:ext cx="8503920" cy="2084832"/>
          </a:xfrm>
          <a:prstGeom prst="rect">
            <a:avLst/>
          </a:prstGeom>
          <a:solidFill>
            <a:srgbClr val="FFFFFF"/>
          </a:solidFill>
          <a:ln w="12700">
            <a:solidFill>
              <a:srgbClr val="F4A261"/>
            </a:solidFill>
            <a:prstDash val="solid"/>
          </a:ln>
        </p:spPr>
        <p:txBody>
          <a:bodyPr/>
          <a:lstStyle/>
          <a:p>
            <a:endParaRPr lang="en-SG"/>
          </a:p>
        </p:txBody>
      </p:sp>
      <p:sp>
        <p:nvSpPr>
          <p:cNvPr id="8" name="Shape 6"/>
          <p:cNvSpPr/>
          <p:nvPr/>
        </p:nvSpPr>
        <p:spPr>
          <a:xfrm>
            <a:off x="320040" y="1335024"/>
            <a:ext cx="347472" cy="2084832"/>
          </a:xfrm>
          <a:prstGeom prst="rect">
            <a:avLst/>
          </a:prstGeom>
          <a:solidFill>
            <a:srgbClr val="F4A261"/>
          </a:solidFill>
          <a:ln w="12700">
            <a:solidFill>
              <a:srgbClr val="F4A261"/>
            </a:solidFill>
            <a:prstDash val="solid"/>
          </a:ln>
        </p:spPr>
        <p:txBody>
          <a:bodyPr/>
          <a:lstStyle/>
          <a:p>
            <a:endParaRPr lang="en-SG"/>
          </a:p>
        </p:txBody>
      </p:sp>
      <p:sp>
        <p:nvSpPr>
          <p:cNvPr id="9" name="Text 7"/>
          <p:cNvSpPr/>
          <p:nvPr/>
        </p:nvSpPr>
        <p:spPr>
          <a:xfrm>
            <a:off x="320040" y="2249424"/>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04</a:t>
            </a:r>
            <a:endParaRPr lang="en-US" sz="1000" dirty="0"/>
          </a:p>
        </p:txBody>
      </p:sp>
      <p:sp>
        <p:nvSpPr>
          <p:cNvPr id="10" name="Text 8"/>
          <p:cNvSpPr/>
          <p:nvPr/>
        </p:nvSpPr>
        <p:spPr>
          <a:xfrm>
            <a:off x="749808" y="1399032"/>
            <a:ext cx="7863840" cy="256032"/>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Brute-Force the Passphrase — stegseek</a:t>
            </a:r>
            <a:endParaRPr lang="en-US" sz="1300" dirty="0"/>
          </a:p>
        </p:txBody>
      </p:sp>
      <p:sp>
        <p:nvSpPr>
          <p:cNvPr id="11" name="Text 9"/>
          <p:cNvSpPr/>
          <p:nvPr/>
        </p:nvSpPr>
        <p:spPr>
          <a:xfrm>
            <a:off x="749808" y="1664208"/>
            <a:ext cx="7863840" cy="274320"/>
          </a:xfrm>
          <a:prstGeom prst="rect">
            <a:avLst/>
          </a:prstGeom>
          <a:noFill/>
          <a:ln/>
        </p:spPr>
        <p:txBody>
          <a:bodyPr wrap="square" rtlCol="0" anchor="ctr"/>
          <a:lstStyle/>
          <a:p>
            <a:pPr marL="0" indent="0">
              <a:buNone/>
            </a:pPr>
            <a:r>
              <a:rPr lang="en-US" sz="950" i="1" dirty="0">
                <a:solidFill>
                  <a:srgbClr val="8899AA"/>
                </a:solidFill>
                <a:latin typeface="Calibri" pitchFamily="34" charset="0"/>
                <a:ea typeface="Calibri" pitchFamily="34" charset="-122"/>
                <a:cs typeface="Calibri" pitchFamily="34" charset="-120"/>
              </a:rPr>
              <a:t>steghide itself has no brute-force mode. stegseek is a dedicated tool that attempts every word in a wordlist against a steghide-embedded image. It is orders of magnitude faster than scripted loops.</a:t>
            </a:r>
            <a:endParaRPr lang="en-US" sz="950" dirty="0"/>
          </a:p>
        </p:txBody>
      </p:sp>
      <p:sp>
        <p:nvSpPr>
          <p:cNvPr id="12" name="Shape 10"/>
          <p:cNvSpPr/>
          <p:nvPr/>
        </p:nvSpPr>
        <p:spPr>
          <a:xfrm>
            <a:off x="749808" y="1965960"/>
            <a:ext cx="8229600" cy="438912"/>
          </a:xfrm>
          <a:prstGeom prst="rect">
            <a:avLst/>
          </a:prstGeom>
          <a:solidFill>
            <a:srgbClr val="FFFFFF"/>
          </a:solidFill>
          <a:ln w="12700">
            <a:solidFill>
              <a:srgbClr val="DBEAFE"/>
            </a:solidFill>
            <a:prstDash val="solid"/>
          </a:ln>
        </p:spPr>
        <p:txBody>
          <a:bodyPr/>
          <a:lstStyle/>
          <a:p>
            <a:endParaRPr lang="en-SG"/>
          </a:p>
        </p:txBody>
      </p:sp>
      <p:sp>
        <p:nvSpPr>
          <p:cNvPr id="13" name="Text 11"/>
          <p:cNvSpPr/>
          <p:nvPr/>
        </p:nvSpPr>
        <p:spPr>
          <a:xfrm>
            <a:off x="841248" y="2002536"/>
            <a:ext cx="8046720" cy="365760"/>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stegseek forensics_example.jpg /usr/share/wordlists/rockyou.txt</a:t>
            </a:r>
            <a:endParaRPr lang="en-US" sz="850" dirty="0"/>
          </a:p>
        </p:txBody>
      </p:sp>
      <p:sp>
        <p:nvSpPr>
          <p:cNvPr id="14" name="Shape 12"/>
          <p:cNvSpPr/>
          <p:nvPr/>
        </p:nvSpPr>
        <p:spPr>
          <a:xfrm>
            <a:off x="749808" y="2432304"/>
            <a:ext cx="8229600" cy="859536"/>
          </a:xfrm>
          <a:prstGeom prst="rect">
            <a:avLst/>
          </a:prstGeom>
          <a:solidFill>
            <a:srgbClr val="FFFFFF"/>
          </a:solidFill>
          <a:ln w="12700">
            <a:solidFill>
              <a:srgbClr val="FFD166"/>
            </a:solidFill>
            <a:prstDash val="solid"/>
          </a:ln>
        </p:spPr>
        <p:txBody>
          <a:bodyPr/>
          <a:lstStyle/>
          <a:p>
            <a:endParaRPr lang="en-SG"/>
          </a:p>
        </p:txBody>
      </p:sp>
      <p:sp>
        <p:nvSpPr>
          <p:cNvPr id="15" name="Text 13"/>
          <p:cNvSpPr/>
          <p:nvPr/>
        </p:nvSpPr>
        <p:spPr>
          <a:xfrm>
            <a:off x="868680" y="2468880"/>
            <a:ext cx="914400" cy="182880"/>
          </a:xfrm>
          <a:prstGeom prst="rect">
            <a:avLst/>
          </a:prstGeom>
          <a:noFill/>
          <a:ln/>
        </p:spPr>
        <p:txBody>
          <a:bodyPr wrap="square" rtlCol="0" anchor="ctr"/>
          <a:lstStyle/>
          <a:p>
            <a:pPr marL="0" indent="0">
              <a:buNone/>
            </a:pPr>
            <a:r>
              <a:rPr lang="en-US" sz="800" b="1" dirty="0">
                <a:solidFill>
                  <a:srgbClr val="00B4D8"/>
                </a:solidFill>
                <a:latin typeface="Calibri" pitchFamily="34" charset="0"/>
                <a:ea typeface="Calibri" pitchFamily="34" charset="-122"/>
                <a:cs typeface="Calibri" pitchFamily="34" charset="-120"/>
              </a:rPr>
              <a:t>OUTPUT:</a:t>
            </a:r>
            <a:endParaRPr lang="en-US" sz="800" dirty="0"/>
          </a:p>
        </p:txBody>
      </p:sp>
      <p:sp>
        <p:nvSpPr>
          <p:cNvPr id="16" name="Text 14"/>
          <p:cNvSpPr/>
          <p:nvPr/>
        </p:nvSpPr>
        <p:spPr>
          <a:xfrm>
            <a:off x="868680" y="2651760"/>
            <a:ext cx="7955280" cy="594360"/>
          </a:xfrm>
          <a:prstGeom prst="rect">
            <a:avLst/>
          </a:prstGeom>
          <a:noFill/>
          <a:ln/>
        </p:spPr>
        <p:txBody>
          <a:bodyPr wrap="square" rtlCol="0" anchor="ctr"/>
          <a:lstStyle/>
          <a:p>
            <a:pPr marL="0" indent="0">
              <a:buNone/>
            </a:pPr>
            <a:r>
              <a:rPr lang="en-US" sz="850" dirty="0">
                <a:solidFill>
                  <a:srgbClr val="FFD166"/>
                </a:solidFill>
                <a:latin typeface="Consolas" pitchFamily="34" charset="0"/>
                <a:ea typeface="Consolas" pitchFamily="34" charset="-122"/>
                <a:cs typeface="Consolas" pitchFamily="34" charset="-120"/>
              </a:rPr>
              <a:t>[i] StegSeak version 0.0.6 by RickdeJager</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[i] Testing 14344391 passwords...</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[i] Progress: 0.14% | [i] Found passphrase: "forensics2024"</a:t>
            </a:r>
            <a:endParaRPr lang="en-US" sz="850" dirty="0"/>
          </a:p>
          <a:p>
            <a:pPr marL="0" indent="0">
              <a:buNone/>
            </a:pPr>
            <a:r>
              <a:rPr lang="en-US" sz="850" dirty="0">
                <a:solidFill>
                  <a:srgbClr val="FFD166"/>
                </a:solidFill>
                <a:latin typeface="Consolas" pitchFamily="34" charset="0"/>
                <a:ea typeface="Consolas" pitchFamily="34" charset="-122"/>
                <a:cs typeface="Consolas" pitchFamily="34" charset="-120"/>
              </a:rPr>
              <a:t>[i] Original filename: "secret.txt" | Extracted to: forensics_example.jpg.out</a:t>
            </a:r>
            <a:endParaRPr lang="en-US" sz="850" dirty="0"/>
          </a:p>
        </p:txBody>
      </p:sp>
      <p:sp>
        <p:nvSpPr>
          <p:cNvPr id="17" name="Shape 15"/>
          <p:cNvSpPr/>
          <p:nvPr/>
        </p:nvSpPr>
        <p:spPr>
          <a:xfrm>
            <a:off x="320040" y="3529584"/>
            <a:ext cx="8503920" cy="1613564"/>
          </a:xfrm>
          <a:prstGeom prst="rect">
            <a:avLst/>
          </a:prstGeom>
          <a:solidFill>
            <a:srgbClr val="FFFFFF"/>
          </a:solidFill>
          <a:ln w="12700">
            <a:solidFill>
              <a:srgbClr val="00B4D8"/>
            </a:solidFill>
            <a:prstDash val="solid"/>
          </a:ln>
        </p:spPr>
        <p:txBody>
          <a:bodyPr/>
          <a:lstStyle/>
          <a:p>
            <a:endParaRPr lang="en-SG"/>
          </a:p>
        </p:txBody>
      </p:sp>
      <p:sp>
        <p:nvSpPr>
          <p:cNvPr id="18" name="Shape 16"/>
          <p:cNvSpPr/>
          <p:nvPr/>
        </p:nvSpPr>
        <p:spPr>
          <a:xfrm>
            <a:off x="320040" y="3529584"/>
            <a:ext cx="347472" cy="1613564"/>
          </a:xfrm>
          <a:prstGeom prst="rect">
            <a:avLst/>
          </a:prstGeom>
          <a:solidFill>
            <a:srgbClr val="00B4D8"/>
          </a:solidFill>
          <a:ln w="12700">
            <a:solidFill>
              <a:srgbClr val="00B4D8"/>
            </a:solidFill>
            <a:prstDash val="solid"/>
          </a:ln>
        </p:spPr>
        <p:txBody>
          <a:bodyPr/>
          <a:lstStyle/>
          <a:p>
            <a:endParaRPr lang="en-SG"/>
          </a:p>
        </p:txBody>
      </p:sp>
      <p:sp>
        <p:nvSpPr>
          <p:cNvPr id="19" name="Text 17"/>
          <p:cNvSpPr/>
          <p:nvPr/>
        </p:nvSpPr>
        <p:spPr>
          <a:xfrm>
            <a:off x="320040" y="4023360"/>
            <a:ext cx="347472" cy="274320"/>
          </a:xfrm>
          <a:prstGeom prst="rect">
            <a:avLst/>
          </a:prstGeom>
          <a:noFill/>
          <a:ln/>
        </p:spPr>
        <p:txBody>
          <a:bodyPr wrap="square" rtlCol="0" anchor="ctr"/>
          <a:lstStyle/>
          <a:p>
            <a:pPr marL="0" indent="0" algn="ctr">
              <a:buNone/>
            </a:pPr>
            <a:r>
              <a:rPr lang="en-US" sz="1000" b="1" dirty="0">
                <a:solidFill>
                  <a:srgbClr val="060E17"/>
                </a:solidFill>
                <a:latin typeface="Calibri" pitchFamily="34" charset="0"/>
                <a:ea typeface="Calibri" pitchFamily="34" charset="-122"/>
                <a:cs typeface="Calibri" pitchFamily="34" charset="-120"/>
              </a:rPr>
              <a:t>05</a:t>
            </a:r>
            <a:endParaRPr lang="en-US" sz="1000" dirty="0"/>
          </a:p>
        </p:txBody>
      </p:sp>
      <p:sp>
        <p:nvSpPr>
          <p:cNvPr id="20" name="Text 18"/>
          <p:cNvSpPr/>
          <p:nvPr/>
        </p:nvSpPr>
        <p:spPr>
          <a:xfrm>
            <a:off x="749808" y="3593592"/>
            <a:ext cx="7863840" cy="256032"/>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Re-Hash &amp; Finalise the Evidence Chain</a:t>
            </a:r>
            <a:endParaRPr lang="en-US" sz="1300" dirty="0"/>
          </a:p>
        </p:txBody>
      </p:sp>
      <p:sp>
        <p:nvSpPr>
          <p:cNvPr id="21" name="Shape 19"/>
          <p:cNvSpPr/>
          <p:nvPr/>
        </p:nvSpPr>
        <p:spPr>
          <a:xfrm>
            <a:off x="749808" y="3877056"/>
            <a:ext cx="4114800" cy="804672"/>
          </a:xfrm>
          <a:prstGeom prst="rect">
            <a:avLst/>
          </a:prstGeom>
          <a:solidFill>
            <a:srgbClr val="FFFFFF"/>
          </a:solidFill>
          <a:ln w="12700">
            <a:solidFill>
              <a:srgbClr val="DBEAFE"/>
            </a:solidFill>
            <a:prstDash val="solid"/>
          </a:ln>
        </p:spPr>
        <p:txBody>
          <a:bodyPr/>
          <a:lstStyle/>
          <a:p>
            <a:endParaRPr lang="en-SG"/>
          </a:p>
        </p:txBody>
      </p:sp>
      <p:sp>
        <p:nvSpPr>
          <p:cNvPr id="22" name="Text 20"/>
          <p:cNvSpPr/>
          <p:nvPr/>
        </p:nvSpPr>
        <p:spPr>
          <a:xfrm>
            <a:off x="841248" y="3913632"/>
            <a:ext cx="3931920" cy="731520"/>
          </a:xfrm>
          <a:prstGeom prst="rect">
            <a:avLst/>
          </a:prstGeom>
          <a:noFill/>
          <a:ln/>
        </p:spPr>
        <p:txBody>
          <a:bodyPr wrap="square"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 sha256sum recovered.txt &gt;&gt; evidence.hash</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echo "Payload extracted $(date -u +%Y-%m-%dT%H:%M:%SZ)</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Analyst: J.Smith | Passphrase: forensics2024</a:t>
            </a:r>
            <a:endParaRPr lang="en-US" sz="850" dirty="0"/>
          </a:p>
          <a:p>
            <a:pPr marL="0" indent="0">
              <a:buNone/>
            </a:pPr>
            <a:r>
              <a:rPr lang="en-US" sz="850" dirty="0">
                <a:solidFill>
                  <a:srgbClr val="2EC4B6"/>
                </a:solidFill>
                <a:latin typeface="Consolas" pitchFamily="34" charset="0"/>
                <a:ea typeface="Consolas" pitchFamily="34" charset="-122"/>
                <a:cs typeface="Consolas" pitchFamily="34" charset="-120"/>
              </a:rPr>
              <a:t>  Method: steghide extract" &gt;&gt; case_notes.txt</a:t>
            </a:r>
            <a:endParaRPr lang="en-US" sz="850" dirty="0"/>
          </a:p>
        </p:txBody>
      </p:sp>
      <p:sp>
        <p:nvSpPr>
          <p:cNvPr id="23" name="Text 21"/>
          <p:cNvSpPr/>
          <p:nvPr/>
        </p:nvSpPr>
        <p:spPr>
          <a:xfrm>
            <a:off x="5029200" y="3877056"/>
            <a:ext cx="3566160" cy="201168"/>
          </a:xfrm>
          <a:prstGeom prst="rect">
            <a:avLst/>
          </a:prstGeom>
          <a:noFill/>
          <a:ln/>
        </p:spPr>
        <p:txBody>
          <a:bodyPr wrap="square"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EVIDENCE LOG CHECKLIST</a:t>
            </a:r>
            <a:endParaRPr lang="en-US" sz="900" dirty="0"/>
          </a:p>
        </p:txBody>
      </p:sp>
      <p:sp>
        <p:nvSpPr>
          <p:cNvPr id="24" name="Text 22"/>
          <p:cNvSpPr/>
          <p:nvPr/>
        </p:nvSpPr>
        <p:spPr>
          <a:xfrm>
            <a:off x="5029200" y="4114800"/>
            <a:ext cx="3566160" cy="182880"/>
          </a:xfrm>
          <a:prstGeom prst="rect">
            <a:avLst/>
          </a:prstGeom>
          <a:noFill/>
          <a:ln/>
        </p:spPr>
        <p:txBody>
          <a:bodyPr wrap="square" rtlCol="0" anchor="ctr"/>
          <a:lstStyle/>
          <a:p>
            <a:pPr marL="0" indent="0">
              <a:buNone/>
            </a:pPr>
            <a:r>
              <a:rPr lang="en-US" sz="950" dirty="0">
                <a:solidFill>
                  <a:srgbClr val="2EC4B6"/>
                </a:solidFill>
                <a:latin typeface="Calibri" pitchFamily="34" charset="0"/>
                <a:ea typeface="Calibri" pitchFamily="34" charset="-122"/>
                <a:cs typeface="Calibri" pitchFamily="34" charset="-120"/>
              </a:rPr>
              <a:t>✓  Original image hash</a:t>
            </a:r>
            <a:endParaRPr lang="en-US" sz="950" dirty="0"/>
          </a:p>
        </p:txBody>
      </p:sp>
      <p:sp>
        <p:nvSpPr>
          <p:cNvPr id="25" name="Text 23"/>
          <p:cNvSpPr/>
          <p:nvPr/>
        </p:nvSpPr>
        <p:spPr>
          <a:xfrm>
            <a:off x="5029200" y="4315968"/>
            <a:ext cx="3566160" cy="182880"/>
          </a:xfrm>
          <a:prstGeom prst="rect">
            <a:avLst/>
          </a:prstGeom>
          <a:noFill/>
          <a:ln/>
        </p:spPr>
        <p:txBody>
          <a:bodyPr wrap="square" rtlCol="0" anchor="ctr"/>
          <a:lstStyle/>
          <a:p>
            <a:pPr marL="0" indent="0">
              <a:buNone/>
            </a:pPr>
            <a:r>
              <a:rPr lang="en-US" sz="950" dirty="0">
                <a:solidFill>
                  <a:srgbClr val="2EC4B6"/>
                </a:solidFill>
                <a:latin typeface="Calibri" pitchFamily="34" charset="0"/>
                <a:ea typeface="Calibri" pitchFamily="34" charset="-122"/>
                <a:cs typeface="Calibri" pitchFamily="34" charset="-120"/>
              </a:rPr>
              <a:t>✓  Extracted payload hash</a:t>
            </a:r>
            <a:endParaRPr lang="en-US" sz="950" dirty="0"/>
          </a:p>
        </p:txBody>
      </p:sp>
      <p:sp>
        <p:nvSpPr>
          <p:cNvPr id="26" name="Text 24"/>
          <p:cNvSpPr/>
          <p:nvPr/>
        </p:nvSpPr>
        <p:spPr>
          <a:xfrm>
            <a:off x="5029200" y="4517136"/>
            <a:ext cx="3566160" cy="18288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  Algorithm + confidence</a:t>
            </a:r>
            <a:endParaRPr lang="en-US" sz="950" dirty="0"/>
          </a:p>
        </p:txBody>
      </p:sp>
      <p:sp>
        <p:nvSpPr>
          <p:cNvPr id="27" name="Text 25"/>
          <p:cNvSpPr/>
          <p:nvPr/>
        </p:nvSpPr>
        <p:spPr>
          <a:xfrm>
            <a:off x="5029200" y="4718304"/>
            <a:ext cx="3566160" cy="18288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  Passphrase used</a:t>
            </a:r>
            <a:endParaRPr lang="en-US" sz="950" dirty="0"/>
          </a:p>
        </p:txBody>
      </p:sp>
      <p:sp>
        <p:nvSpPr>
          <p:cNvPr id="28" name="Text 26"/>
          <p:cNvSpPr/>
          <p:nvPr/>
        </p:nvSpPr>
        <p:spPr>
          <a:xfrm>
            <a:off x="5029200" y="4919472"/>
            <a:ext cx="3566160" cy="18288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  Analyst + timestamp</a:t>
            </a:r>
            <a:endParaRPr lang="en-US" sz="950" dirty="0"/>
          </a:p>
        </p:txBody>
      </p:sp>
      <p:sp>
        <p:nvSpPr>
          <p:cNvPr id="30" name="Text 28"/>
          <p:cNvSpPr/>
          <p:nvPr/>
        </p:nvSpPr>
        <p:spPr>
          <a:xfrm>
            <a:off x="502920" y="5153875"/>
            <a:ext cx="1828800" cy="201168"/>
          </a:xfrm>
          <a:prstGeom prst="rect">
            <a:avLst/>
          </a:prstGeom>
          <a:noFill/>
          <a:ln/>
        </p:spPr>
        <p:txBody>
          <a:bodyPr wrap="square" rtlCol="0" anchor="ctr"/>
          <a:lstStyle/>
          <a:p>
            <a:pPr marL="0" indent="0">
              <a:buNone/>
            </a:pPr>
            <a:r>
              <a:rPr lang="en-US" sz="900" b="1" dirty="0">
                <a:solidFill>
                  <a:srgbClr val="A855F7"/>
                </a:solidFill>
                <a:latin typeface="Calibri" pitchFamily="34" charset="0"/>
                <a:ea typeface="Calibri" pitchFamily="34" charset="-122"/>
                <a:cs typeface="Calibri" pitchFamily="34" charset="-120"/>
              </a:rPr>
              <a:t>⚑  CASE SUMMARY: </a:t>
            </a:r>
            <a:endParaRPr lang="en-US" sz="900" dirty="0"/>
          </a:p>
        </p:txBody>
      </p:sp>
      <p:sp>
        <p:nvSpPr>
          <p:cNvPr id="31" name="Text 29"/>
          <p:cNvSpPr/>
          <p:nvPr/>
        </p:nvSpPr>
        <p:spPr>
          <a:xfrm>
            <a:off x="2267712" y="5153875"/>
            <a:ext cx="6419088" cy="45720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StegDetect identified jsteg(****) in forensics_example.jpg. Steghide extraction with passphrase "forensics2024" revealed: "FORENSICS_LAB:meeting_at_0300_server_room_B2". All hashes recorded. Evidence package ready for court submission.</a:t>
            </a:r>
            <a:endParaRPr lang="en-US" sz="950" dirty="0"/>
          </a:p>
        </p:txBody>
      </p:sp>
      <p:sp>
        <p:nvSpPr>
          <p:cNvPr id="34" name="Text 32"/>
          <p:cNvSpPr/>
          <p:nvPr/>
        </p:nvSpPr>
        <p:spPr>
          <a:xfrm>
            <a:off x="6858000" y="6601968"/>
            <a:ext cx="2103120" cy="228600"/>
          </a:xfrm>
          <a:prstGeom prst="rect">
            <a:avLst/>
          </a:prstGeom>
          <a:noFill/>
          <a:ln/>
        </p:spPr>
        <p:txBody>
          <a:bodyPr wrap="square" rtlCol="0" anchor="ctr"/>
          <a:lstStyle/>
          <a:p>
            <a:pPr marL="0" indent="0" algn="r">
              <a:buNone/>
            </a:pPr>
            <a:r>
              <a:rPr lang="en-US" sz="800" dirty="0">
                <a:solidFill>
                  <a:srgbClr val="00B4D8"/>
                </a:solidFill>
                <a:latin typeface="Calibri" pitchFamily="34" charset="0"/>
                <a:ea typeface="Calibri" pitchFamily="34" charset="-122"/>
                <a:cs typeface="Calibri" pitchFamily="34" charset="-120"/>
              </a:rPr>
              <a:t>Phase 2 — Extract</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88218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790749" cy="256032"/>
          </a:xfrm>
          <a:prstGeom prst="rect">
            <a:avLst/>
          </a:prstGeom>
          <a:noFill/>
          <a:ln/>
        </p:spPr>
        <p:txBody>
          <a:bodyPr wrap="square" lIns="0" tIns="0" rIns="0" bIns="0" rtlCol="0" anchor="ctr"/>
          <a:lstStyle/>
          <a:p>
            <a:pPr marL="0" indent="0">
              <a:buNone/>
            </a:pPr>
            <a:r>
              <a:rPr lang="en-US" sz="850" b="1" dirty="0">
                <a:solidFill>
                  <a:srgbClr val="0D1B2A"/>
                </a:solidFill>
              </a:rPr>
              <a:t>SECTION 7 · COPYRIGHT &amp; WATERMARKING</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Copyright, Watermarking &amp; Image Rights</a:t>
            </a:r>
            <a:endParaRPr lang="en-US" sz="2800" dirty="0"/>
          </a:p>
        </p:txBody>
      </p:sp>
      <p:sp>
        <p:nvSpPr>
          <p:cNvPr id="5" name="Shape 3"/>
          <p:cNvSpPr/>
          <p:nvPr/>
        </p:nvSpPr>
        <p:spPr>
          <a:xfrm>
            <a:off x="320040" y="1170432"/>
            <a:ext cx="8503920" cy="36576"/>
          </a:xfrm>
          <a:prstGeom prst="rect">
            <a:avLst/>
          </a:prstGeom>
          <a:solidFill>
            <a:srgbClr val="F4A261"/>
          </a:solidFill>
          <a:ln w="12700">
            <a:solidFill>
              <a:srgbClr val="F4A261"/>
            </a:solidFill>
            <a:prstDash val="solid"/>
          </a:ln>
        </p:spPr>
        <p:txBody>
          <a:bodyPr/>
          <a:lstStyle/>
          <a:p>
            <a:endParaRPr lang="en-SG"/>
          </a:p>
        </p:txBody>
      </p:sp>
      <p:sp>
        <p:nvSpPr>
          <p:cNvPr id="6" name="Shape 4"/>
          <p:cNvSpPr/>
          <p:nvPr/>
        </p:nvSpPr>
        <p:spPr>
          <a:xfrm>
            <a:off x="320040" y="1261872"/>
            <a:ext cx="4133088" cy="3456432"/>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261872"/>
            <a:ext cx="4133088" cy="64008"/>
          </a:xfrm>
          <a:prstGeom prst="rect">
            <a:avLst/>
          </a:prstGeom>
          <a:solidFill>
            <a:srgbClr val="F4A261"/>
          </a:solidFill>
          <a:ln w="12700">
            <a:solidFill>
              <a:srgbClr val="F4A261"/>
            </a:solidFill>
            <a:prstDash val="solid"/>
          </a:ln>
        </p:spPr>
        <p:txBody>
          <a:bodyPr/>
          <a:lstStyle/>
          <a:p>
            <a:endParaRPr lang="en-SG"/>
          </a:p>
        </p:txBody>
      </p:sp>
      <p:sp>
        <p:nvSpPr>
          <p:cNvPr id="8" name="Text 6"/>
          <p:cNvSpPr/>
          <p:nvPr/>
        </p:nvSpPr>
        <p:spPr>
          <a:xfrm>
            <a:off x="457200" y="1371600"/>
            <a:ext cx="3840480" cy="274320"/>
          </a:xfrm>
          <a:prstGeom prst="rect">
            <a:avLst/>
          </a:prstGeom>
          <a:noFill/>
          <a:ln/>
        </p:spPr>
        <p:txBody>
          <a:bodyPr wrap="square" lIns="0" tIns="0" rIns="0" bIns="0" rtlCol="0" anchor="ctr"/>
          <a:lstStyle/>
          <a:p>
            <a:pPr marL="0" indent="0">
              <a:buNone/>
            </a:pPr>
            <a:r>
              <a:rPr lang="en-US" sz="1200" b="1" dirty="0">
                <a:solidFill>
                  <a:srgbClr val="F4A261"/>
                </a:solidFill>
              </a:rPr>
              <a:t>© Copyright in Digital Images</a:t>
            </a:r>
            <a:endParaRPr lang="en-US" sz="1200" dirty="0"/>
          </a:p>
        </p:txBody>
      </p:sp>
      <p:sp>
        <p:nvSpPr>
          <p:cNvPr id="9" name="Text 7"/>
          <p:cNvSpPr/>
          <p:nvPr/>
        </p:nvSpPr>
        <p:spPr>
          <a:xfrm>
            <a:off x="457200" y="1700784"/>
            <a:ext cx="3840480" cy="457200"/>
          </a:xfrm>
          <a:prstGeom prst="rect">
            <a:avLst/>
          </a:prstGeom>
          <a:noFill/>
          <a:ln/>
        </p:spPr>
        <p:txBody>
          <a:bodyPr wrap="square" lIns="0" tIns="0" rIns="0" bIns="0" rtlCol="0" anchor="ctr"/>
          <a:lstStyle/>
          <a:p>
            <a:pPr marL="0" indent="0">
              <a:buNone/>
            </a:pPr>
            <a:r>
              <a:rPr lang="en-US" sz="850" dirty="0">
                <a:solidFill>
                  <a:srgbClr val="1A1A2E"/>
                </a:solidFill>
              </a:rPr>
              <a:t>›  Copyright subsists automatically in original creative works — no registration required in most jurisdictions (including Singapore and the UK under Berne Convention)</a:t>
            </a:r>
            <a:endParaRPr lang="en-US" sz="850" dirty="0"/>
          </a:p>
        </p:txBody>
      </p:sp>
      <p:sp>
        <p:nvSpPr>
          <p:cNvPr id="10" name="Text 8"/>
          <p:cNvSpPr/>
          <p:nvPr/>
        </p:nvSpPr>
        <p:spPr>
          <a:xfrm>
            <a:off x="457200" y="2194560"/>
            <a:ext cx="3840480" cy="457200"/>
          </a:xfrm>
          <a:prstGeom prst="rect">
            <a:avLst/>
          </a:prstGeom>
          <a:noFill/>
          <a:ln/>
        </p:spPr>
        <p:txBody>
          <a:bodyPr wrap="square" lIns="0" tIns="0" rIns="0" bIns="0" rtlCol="0" anchor="ctr"/>
          <a:lstStyle/>
          <a:p>
            <a:pPr marL="0" indent="0">
              <a:buNone/>
            </a:pPr>
            <a:r>
              <a:rPr lang="en-US" sz="850" dirty="0">
                <a:solidFill>
                  <a:srgbClr val="1A1A2E"/>
                </a:solidFill>
              </a:rPr>
              <a:t>›  The copyright owner holds exclusive rights to: reproduce, adapt, distribute, display, and broadcast the work</a:t>
            </a:r>
            <a:endParaRPr lang="en-US" sz="850" dirty="0"/>
          </a:p>
        </p:txBody>
      </p:sp>
      <p:sp>
        <p:nvSpPr>
          <p:cNvPr id="11" name="Text 9"/>
          <p:cNvSpPr/>
          <p:nvPr/>
        </p:nvSpPr>
        <p:spPr>
          <a:xfrm>
            <a:off x="457200" y="2688336"/>
            <a:ext cx="3840480" cy="457200"/>
          </a:xfrm>
          <a:prstGeom prst="rect">
            <a:avLst/>
          </a:prstGeom>
          <a:noFill/>
          <a:ln/>
        </p:spPr>
        <p:txBody>
          <a:bodyPr wrap="square" lIns="0" tIns="0" rIns="0" bIns="0" rtlCol="0" anchor="ctr"/>
          <a:lstStyle/>
          <a:p>
            <a:pPr marL="0" indent="0">
              <a:buNone/>
            </a:pPr>
            <a:r>
              <a:rPr lang="en-US" sz="850" dirty="0">
                <a:solidFill>
                  <a:srgbClr val="1A1A2E"/>
                </a:solidFill>
              </a:rPr>
              <a:t>›  Images found on the internet are NOT in the public domain by default — they are protected unless explicitly licensed</a:t>
            </a:r>
            <a:endParaRPr lang="en-US" sz="850" dirty="0"/>
          </a:p>
        </p:txBody>
      </p:sp>
      <p:sp>
        <p:nvSpPr>
          <p:cNvPr id="12" name="Text 10"/>
          <p:cNvSpPr/>
          <p:nvPr/>
        </p:nvSpPr>
        <p:spPr>
          <a:xfrm>
            <a:off x="457200" y="3182112"/>
            <a:ext cx="3840480" cy="457200"/>
          </a:xfrm>
          <a:prstGeom prst="rect">
            <a:avLst/>
          </a:prstGeom>
          <a:noFill/>
          <a:ln/>
        </p:spPr>
        <p:txBody>
          <a:bodyPr wrap="square" lIns="0" tIns="0" rIns="0" bIns="0" rtlCol="0" anchor="ctr"/>
          <a:lstStyle/>
          <a:p>
            <a:pPr marL="0" indent="0">
              <a:buNone/>
            </a:pPr>
            <a:r>
              <a:rPr lang="en-US" sz="850" dirty="0">
                <a:solidFill>
                  <a:srgbClr val="1A1A2E"/>
                </a:solidFill>
              </a:rPr>
              <a:t>›  Common image licences: All Rights Reserved | Creative Commons (CC-BY, CC0) | Royalty-Free | Stock licences (Getty, Shutterstock)</a:t>
            </a:r>
            <a:endParaRPr lang="en-US" sz="850" dirty="0"/>
          </a:p>
        </p:txBody>
      </p:sp>
      <p:sp>
        <p:nvSpPr>
          <p:cNvPr id="13" name="Text 11"/>
          <p:cNvSpPr/>
          <p:nvPr/>
        </p:nvSpPr>
        <p:spPr>
          <a:xfrm>
            <a:off x="457200" y="3675888"/>
            <a:ext cx="3840480" cy="457200"/>
          </a:xfrm>
          <a:prstGeom prst="rect">
            <a:avLst/>
          </a:prstGeom>
          <a:noFill/>
          <a:ln/>
        </p:spPr>
        <p:txBody>
          <a:bodyPr wrap="square" lIns="0" tIns="0" rIns="0" bIns="0" rtlCol="0" anchor="ctr"/>
          <a:lstStyle/>
          <a:p>
            <a:pPr marL="0" indent="0">
              <a:buNone/>
            </a:pPr>
            <a:r>
              <a:rPr lang="en-US" sz="850" dirty="0">
                <a:solidFill>
                  <a:srgbClr val="1A1A2E"/>
                </a:solidFill>
              </a:rPr>
              <a:t>›  EXIF removal does not remove copyright — ownership persists regardless of whether metadata is stripped</a:t>
            </a:r>
            <a:endParaRPr lang="en-US" sz="850" dirty="0"/>
          </a:p>
        </p:txBody>
      </p:sp>
      <p:sp>
        <p:nvSpPr>
          <p:cNvPr id="14" name="Text 12"/>
          <p:cNvSpPr/>
          <p:nvPr/>
        </p:nvSpPr>
        <p:spPr>
          <a:xfrm>
            <a:off x="457200" y="4169664"/>
            <a:ext cx="3840480" cy="457200"/>
          </a:xfrm>
          <a:prstGeom prst="rect">
            <a:avLst/>
          </a:prstGeom>
          <a:noFill/>
          <a:ln/>
        </p:spPr>
        <p:txBody>
          <a:bodyPr wrap="square" lIns="0" tIns="0" rIns="0" bIns="0" rtlCol="0" anchor="ctr"/>
          <a:lstStyle/>
          <a:p>
            <a:pPr marL="0" indent="0">
              <a:buNone/>
            </a:pPr>
            <a:r>
              <a:rPr lang="en-US" sz="850" dirty="0">
                <a:solidFill>
                  <a:srgbClr val="1A1A2E"/>
                </a:solidFill>
              </a:rPr>
              <a:t>›  Forensic relevance: copyright theft (IP theft), provenance tracing, verifying original vs copy</a:t>
            </a:r>
            <a:endParaRPr lang="en-US" sz="850" dirty="0"/>
          </a:p>
        </p:txBody>
      </p:sp>
      <p:sp>
        <p:nvSpPr>
          <p:cNvPr id="15" name="Shape 13"/>
          <p:cNvSpPr/>
          <p:nvPr/>
        </p:nvSpPr>
        <p:spPr>
          <a:xfrm>
            <a:off x="4590288" y="1261872"/>
            <a:ext cx="4233672" cy="3456432"/>
          </a:xfrm>
          <a:prstGeom prst="rect">
            <a:avLst/>
          </a:prstGeom>
          <a:solidFill>
            <a:srgbClr val="EEF6FB"/>
          </a:solidFill>
          <a:ln w="12700">
            <a:solidFill>
              <a:srgbClr val="EEF6FB"/>
            </a:solidFill>
            <a:prstDash val="solid"/>
          </a:ln>
        </p:spPr>
        <p:txBody>
          <a:bodyPr/>
          <a:lstStyle/>
          <a:p>
            <a:endParaRPr lang="en-SG"/>
          </a:p>
        </p:txBody>
      </p:sp>
      <p:sp>
        <p:nvSpPr>
          <p:cNvPr id="16" name="Shape 14"/>
          <p:cNvSpPr/>
          <p:nvPr/>
        </p:nvSpPr>
        <p:spPr>
          <a:xfrm>
            <a:off x="4590288" y="1261872"/>
            <a:ext cx="4233672" cy="64008"/>
          </a:xfrm>
          <a:prstGeom prst="rect">
            <a:avLst/>
          </a:prstGeom>
          <a:solidFill>
            <a:srgbClr val="00B4D8"/>
          </a:solidFill>
          <a:ln w="12700">
            <a:solidFill>
              <a:srgbClr val="00B4D8"/>
            </a:solidFill>
            <a:prstDash val="solid"/>
          </a:ln>
        </p:spPr>
        <p:txBody>
          <a:bodyPr/>
          <a:lstStyle/>
          <a:p>
            <a:endParaRPr lang="en-SG"/>
          </a:p>
        </p:txBody>
      </p:sp>
      <p:sp>
        <p:nvSpPr>
          <p:cNvPr id="17" name="Text 15"/>
          <p:cNvSpPr/>
          <p:nvPr/>
        </p:nvSpPr>
        <p:spPr>
          <a:xfrm>
            <a:off x="4727448" y="1371600"/>
            <a:ext cx="3931920" cy="274320"/>
          </a:xfrm>
          <a:prstGeom prst="rect">
            <a:avLst/>
          </a:prstGeom>
          <a:noFill/>
          <a:ln/>
        </p:spPr>
        <p:txBody>
          <a:bodyPr wrap="square" lIns="0" tIns="0" rIns="0" bIns="0" rtlCol="0" anchor="ctr"/>
          <a:lstStyle/>
          <a:p>
            <a:pPr marL="0" indent="0">
              <a:buNone/>
            </a:pPr>
            <a:r>
              <a:rPr lang="en-US" sz="1200" b="1" dirty="0">
                <a:solidFill>
                  <a:srgbClr val="00B4D8"/>
                </a:solidFill>
              </a:rPr>
              <a:t>🔏  Digital Watermarking</a:t>
            </a:r>
            <a:endParaRPr lang="en-US" sz="1200" dirty="0"/>
          </a:p>
        </p:txBody>
      </p:sp>
      <p:sp>
        <p:nvSpPr>
          <p:cNvPr id="18" name="Shape 16"/>
          <p:cNvSpPr/>
          <p:nvPr/>
        </p:nvSpPr>
        <p:spPr>
          <a:xfrm>
            <a:off x="4681728" y="1773936"/>
            <a:ext cx="4041648" cy="676656"/>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4773168" y="1810512"/>
            <a:ext cx="3858768" cy="201168"/>
          </a:xfrm>
          <a:prstGeom prst="rect">
            <a:avLst/>
          </a:prstGeom>
          <a:noFill/>
          <a:ln/>
        </p:spPr>
        <p:txBody>
          <a:bodyPr wrap="square" lIns="0" tIns="0" rIns="0" bIns="0" rtlCol="0" anchor="ctr"/>
          <a:lstStyle/>
          <a:p>
            <a:pPr marL="0" indent="0">
              <a:buNone/>
            </a:pPr>
            <a:r>
              <a:rPr lang="en-US" sz="950" b="1" dirty="0">
                <a:solidFill>
                  <a:srgbClr val="00B4D8"/>
                </a:solidFill>
              </a:rPr>
              <a:t>Visible watermarks:</a:t>
            </a:r>
            <a:endParaRPr lang="en-US" sz="950" dirty="0"/>
          </a:p>
        </p:txBody>
      </p:sp>
      <p:sp>
        <p:nvSpPr>
          <p:cNvPr id="20" name="Text 18"/>
          <p:cNvSpPr/>
          <p:nvPr/>
        </p:nvSpPr>
        <p:spPr>
          <a:xfrm>
            <a:off x="4773168" y="2011680"/>
            <a:ext cx="3858768" cy="402336"/>
          </a:xfrm>
          <a:prstGeom prst="rect">
            <a:avLst/>
          </a:prstGeom>
          <a:noFill/>
          <a:ln/>
        </p:spPr>
        <p:txBody>
          <a:bodyPr wrap="square" lIns="0" tIns="0" rIns="0" bIns="0" rtlCol="0" anchor="ctr"/>
          <a:lstStyle/>
          <a:p>
            <a:pPr marL="0" indent="0">
              <a:buNone/>
            </a:pPr>
            <a:r>
              <a:rPr lang="en-US" sz="820" dirty="0">
                <a:solidFill>
                  <a:srgbClr val="1A1A2E"/>
                </a:solidFill>
              </a:rPr>
              <a:t>Text or logo overlaid on an image — deters casual copying but can be cropped or cloned out</a:t>
            </a:r>
            <a:endParaRPr lang="en-US" sz="820" dirty="0"/>
          </a:p>
        </p:txBody>
      </p:sp>
      <p:sp>
        <p:nvSpPr>
          <p:cNvPr id="21" name="Shape 19"/>
          <p:cNvSpPr/>
          <p:nvPr/>
        </p:nvSpPr>
        <p:spPr>
          <a:xfrm>
            <a:off x="4681728" y="2523744"/>
            <a:ext cx="4041648" cy="676656"/>
          </a:xfrm>
          <a:prstGeom prst="rect">
            <a:avLst/>
          </a:prstGeom>
          <a:solidFill>
            <a:srgbClr val="FFFFFF"/>
          </a:solidFill>
          <a:ln w="12700">
            <a:solidFill>
              <a:srgbClr val="FFFFFF"/>
            </a:solidFill>
            <a:prstDash val="solid"/>
          </a:ln>
        </p:spPr>
        <p:txBody>
          <a:bodyPr/>
          <a:lstStyle/>
          <a:p>
            <a:endParaRPr lang="en-SG"/>
          </a:p>
        </p:txBody>
      </p:sp>
      <p:sp>
        <p:nvSpPr>
          <p:cNvPr id="22" name="Text 20"/>
          <p:cNvSpPr/>
          <p:nvPr/>
        </p:nvSpPr>
        <p:spPr>
          <a:xfrm>
            <a:off x="4773168" y="2560320"/>
            <a:ext cx="3858768" cy="201168"/>
          </a:xfrm>
          <a:prstGeom prst="rect">
            <a:avLst/>
          </a:prstGeom>
          <a:noFill/>
          <a:ln/>
        </p:spPr>
        <p:txBody>
          <a:bodyPr wrap="square" lIns="0" tIns="0" rIns="0" bIns="0" rtlCol="0" anchor="ctr"/>
          <a:lstStyle/>
          <a:p>
            <a:pPr marL="0" indent="0">
              <a:buNone/>
            </a:pPr>
            <a:r>
              <a:rPr lang="en-US" sz="950" b="1" dirty="0">
                <a:solidFill>
                  <a:srgbClr val="00B4D8"/>
                </a:solidFill>
              </a:rPr>
              <a:t>Invisible watermarks:</a:t>
            </a:r>
            <a:endParaRPr lang="en-US" sz="950" dirty="0"/>
          </a:p>
        </p:txBody>
      </p:sp>
      <p:sp>
        <p:nvSpPr>
          <p:cNvPr id="23" name="Text 21"/>
          <p:cNvSpPr/>
          <p:nvPr/>
        </p:nvSpPr>
        <p:spPr>
          <a:xfrm>
            <a:off x="4773168" y="2761488"/>
            <a:ext cx="3858768" cy="402336"/>
          </a:xfrm>
          <a:prstGeom prst="rect">
            <a:avLst/>
          </a:prstGeom>
          <a:noFill/>
          <a:ln/>
        </p:spPr>
        <p:txBody>
          <a:bodyPr wrap="square" lIns="0" tIns="0" rIns="0" bIns="0" rtlCol="0" anchor="ctr"/>
          <a:lstStyle/>
          <a:p>
            <a:pPr marL="0" indent="0">
              <a:buNone/>
            </a:pPr>
            <a:r>
              <a:rPr lang="en-US" sz="820" dirty="0">
                <a:solidFill>
                  <a:srgbClr val="1A1A2E"/>
                </a:solidFill>
              </a:rPr>
              <a:t>Data embedded into pixel values using steganographic LSB techniques — not visible but detectable using specific software</a:t>
            </a:r>
            <a:endParaRPr lang="en-US" sz="820" dirty="0"/>
          </a:p>
        </p:txBody>
      </p:sp>
      <p:sp>
        <p:nvSpPr>
          <p:cNvPr id="24" name="Shape 22"/>
          <p:cNvSpPr/>
          <p:nvPr/>
        </p:nvSpPr>
        <p:spPr>
          <a:xfrm>
            <a:off x="4681728" y="3273552"/>
            <a:ext cx="4041648" cy="676656"/>
          </a:xfrm>
          <a:prstGeom prst="rect">
            <a:avLst/>
          </a:prstGeom>
          <a:solidFill>
            <a:srgbClr val="FFFFFF"/>
          </a:solidFill>
          <a:ln w="12700">
            <a:solidFill>
              <a:srgbClr val="FFFFFF"/>
            </a:solidFill>
            <a:prstDash val="solid"/>
          </a:ln>
        </p:spPr>
        <p:txBody>
          <a:bodyPr/>
          <a:lstStyle/>
          <a:p>
            <a:endParaRPr lang="en-SG"/>
          </a:p>
        </p:txBody>
      </p:sp>
      <p:sp>
        <p:nvSpPr>
          <p:cNvPr id="25" name="Text 23"/>
          <p:cNvSpPr/>
          <p:nvPr/>
        </p:nvSpPr>
        <p:spPr>
          <a:xfrm>
            <a:off x="4773168" y="3310128"/>
            <a:ext cx="3858768" cy="201168"/>
          </a:xfrm>
          <a:prstGeom prst="rect">
            <a:avLst/>
          </a:prstGeom>
          <a:noFill/>
          <a:ln/>
        </p:spPr>
        <p:txBody>
          <a:bodyPr wrap="square" lIns="0" tIns="0" rIns="0" bIns="0" rtlCol="0" anchor="ctr"/>
          <a:lstStyle/>
          <a:p>
            <a:pPr marL="0" indent="0">
              <a:buNone/>
            </a:pPr>
            <a:r>
              <a:rPr lang="en-US" sz="950" b="1" dirty="0">
                <a:solidFill>
                  <a:srgbClr val="00B4D8"/>
                </a:solidFill>
              </a:rPr>
              <a:t>Forensic watermarks:</a:t>
            </a:r>
            <a:endParaRPr lang="en-US" sz="950" dirty="0"/>
          </a:p>
        </p:txBody>
      </p:sp>
      <p:sp>
        <p:nvSpPr>
          <p:cNvPr id="26" name="Text 24"/>
          <p:cNvSpPr/>
          <p:nvPr/>
        </p:nvSpPr>
        <p:spPr>
          <a:xfrm>
            <a:off x="4773168" y="3511296"/>
            <a:ext cx="3858768" cy="402336"/>
          </a:xfrm>
          <a:prstGeom prst="rect">
            <a:avLst/>
          </a:prstGeom>
          <a:noFill/>
          <a:ln/>
        </p:spPr>
        <p:txBody>
          <a:bodyPr wrap="square" lIns="0" tIns="0" rIns="0" bIns="0" rtlCol="0" anchor="ctr"/>
          <a:lstStyle/>
          <a:p>
            <a:pPr marL="0" indent="0">
              <a:buNone/>
            </a:pPr>
            <a:r>
              <a:rPr lang="en-US" sz="820" dirty="0">
                <a:solidFill>
                  <a:srgbClr val="1A1A2E"/>
                </a:solidFill>
              </a:rPr>
              <a:t>Unique serial number embedded per copy — allows tracking of which specific licensed copy was leaked ('fingerprinting')</a:t>
            </a:r>
            <a:endParaRPr lang="en-US" sz="820" dirty="0"/>
          </a:p>
        </p:txBody>
      </p:sp>
      <p:sp>
        <p:nvSpPr>
          <p:cNvPr id="27" name="Shape 25"/>
          <p:cNvSpPr/>
          <p:nvPr/>
        </p:nvSpPr>
        <p:spPr>
          <a:xfrm>
            <a:off x="4681728" y="4023360"/>
            <a:ext cx="4041648" cy="676656"/>
          </a:xfrm>
          <a:prstGeom prst="rect">
            <a:avLst/>
          </a:prstGeom>
          <a:solidFill>
            <a:srgbClr val="FFFFFF"/>
          </a:solidFill>
          <a:ln w="12700">
            <a:solidFill>
              <a:srgbClr val="FFFFFF"/>
            </a:solidFill>
            <a:prstDash val="solid"/>
          </a:ln>
        </p:spPr>
        <p:txBody>
          <a:bodyPr/>
          <a:lstStyle/>
          <a:p>
            <a:endParaRPr lang="en-SG"/>
          </a:p>
        </p:txBody>
      </p:sp>
      <p:sp>
        <p:nvSpPr>
          <p:cNvPr id="28" name="Text 26"/>
          <p:cNvSpPr/>
          <p:nvPr/>
        </p:nvSpPr>
        <p:spPr>
          <a:xfrm>
            <a:off x="4773168" y="4059936"/>
            <a:ext cx="3858768" cy="201168"/>
          </a:xfrm>
          <a:prstGeom prst="rect">
            <a:avLst/>
          </a:prstGeom>
          <a:noFill/>
          <a:ln/>
        </p:spPr>
        <p:txBody>
          <a:bodyPr wrap="square" lIns="0" tIns="0" rIns="0" bIns="0" rtlCol="0" anchor="ctr"/>
          <a:lstStyle/>
          <a:p>
            <a:pPr marL="0" indent="0">
              <a:buNone/>
            </a:pPr>
            <a:r>
              <a:rPr lang="en-US" sz="950" b="1" dirty="0">
                <a:solidFill>
                  <a:srgbClr val="00B4D8"/>
                </a:solidFill>
              </a:rPr>
              <a:t>Fragile watermarks:</a:t>
            </a:r>
            <a:endParaRPr lang="en-US" sz="950" dirty="0"/>
          </a:p>
        </p:txBody>
      </p:sp>
      <p:sp>
        <p:nvSpPr>
          <p:cNvPr id="29" name="Text 27"/>
          <p:cNvSpPr/>
          <p:nvPr/>
        </p:nvSpPr>
        <p:spPr>
          <a:xfrm>
            <a:off x="4773168" y="4261104"/>
            <a:ext cx="3858768" cy="402336"/>
          </a:xfrm>
          <a:prstGeom prst="rect">
            <a:avLst/>
          </a:prstGeom>
          <a:noFill/>
          <a:ln/>
        </p:spPr>
        <p:txBody>
          <a:bodyPr wrap="square" lIns="0" tIns="0" rIns="0" bIns="0" rtlCol="0" anchor="ctr"/>
          <a:lstStyle/>
          <a:p>
            <a:pPr marL="0" indent="0">
              <a:buNone/>
            </a:pPr>
            <a:r>
              <a:rPr lang="en-US" sz="820" dirty="0">
                <a:solidFill>
                  <a:srgbClr val="1A1A2E"/>
                </a:solidFill>
              </a:rPr>
              <a:t>Break or become detectable if the image is modified — used to prove image tampering in legal proceedings</a:t>
            </a:r>
            <a:endParaRPr lang="en-US" sz="820" dirty="0"/>
          </a:p>
        </p:txBody>
      </p:sp>
      <p:sp>
        <p:nvSpPr>
          <p:cNvPr id="30" name="Text 28"/>
          <p:cNvSpPr/>
          <p:nvPr/>
        </p:nvSpPr>
        <p:spPr>
          <a:xfrm>
            <a:off x="320040" y="4736592"/>
            <a:ext cx="8503920" cy="182880"/>
          </a:xfrm>
          <a:prstGeom prst="rect">
            <a:avLst/>
          </a:prstGeom>
          <a:noFill/>
          <a:ln/>
        </p:spPr>
        <p:txBody>
          <a:bodyPr wrap="square" lIns="0" tIns="0" rIns="0" bIns="0" rtlCol="0" anchor="ctr"/>
          <a:lstStyle/>
          <a:p>
            <a:pPr marL="0" indent="0">
              <a:buNone/>
            </a:pPr>
            <a:r>
              <a:rPr lang="en-US" sz="820" i="1" dirty="0">
                <a:solidFill>
                  <a:srgbClr val="F1C40F"/>
                </a:solidFill>
              </a:rPr>
              <a:t>💡  Steganography and digital watermarking use the same underlying techniques — the difference is intent: steganography hides data covertly; watermarking embeds ownership claims overtly (or forensically).</a:t>
            </a:r>
            <a:endParaRPr lang="en-US" sz="8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932688"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841248" cy="256032"/>
          </a:xfrm>
          <a:prstGeom prst="rect">
            <a:avLst/>
          </a:prstGeom>
          <a:noFill/>
          <a:ln/>
        </p:spPr>
        <p:txBody>
          <a:bodyPr wrap="square" lIns="0" tIns="0" rIns="0" bIns="0" rtlCol="0" anchor="ctr"/>
          <a:lstStyle/>
          <a:p>
            <a:pPr marL="0" indent="0">
              <a:buNone/>
            </a:pPr>
            <a:r>
              <a:rPr lang="en-US" sz="850" b="1" dirty="0">
                <a:solidFill>
                  <a:srgbClr val="0D1B2A"/>
                </a:solidFill>
              </a:rPr>
              <a:t>CASE STUDY</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Worked Scenario: IP Theft via Covert Image Channel</a:t>
            </a:r>
            <a:endParaRPr lang="en-US" sz="2800" dirty="0"/>
          </a:p>
        </p:txBody>
      </p:sp>
      <p:sp>
        <p:nvSpPr>
          <p:cNvPr id="5" name="Shape 3"/>
          <p:cNvSpPr/>
          <p:nvPr/>
        </p:nvSpPr>
        <p:spPr>
          <a:xfrm>
            <a:off x="320040" y="1170432"/>
            <a:ext cx="8503920" cy="36576"/>
          </a:xfrm>
          <a:prstGeom prst="rect">
            <a:avLst/>
          </a:prstGeom>
          <a:solidFill>
            <a:srgbClr val="E74C3C"/>
          </a:solidFill>
          <a:ln w="12700">
            <a:solidFill>
              <a:srgbClr val="E74C3C"/>
            </a:solidFill>
            <a:prstDash val="solid"/>
          </a:ln>
        </p:spPr>
        <p:txBody>
          <a:bodyPr/>
          <a:lstStyle/>
          <a:p>
            <a:endParaRPr lang="en-SG"/>
          </a:p>
        </p:txBody>
      </p:sp>
      <p:sp>
        <p:nvSpPr>
          <p:cNvPr id="6" name="Shape 4"/>
          <p:cNvSpPr/>
          <p:nvPr/>
        </p:nvSpPr>
        <p:spPr>
          <a:xfrm>
            <a:off x="320040" y="1261872"/>
            <a:ext cx="8503920" cy="566928"/>
          </a:xfrm>
          <a:prstGeom prst="rect">
            <a:avLst/>
          </a:prstGeom>
          <a:solidFill>
            <a:srgbClr val="FFFFFF"/>
          </a:solidFill>
          <a:ln w="12700">
            <a:solidFill>
              <a:srgbClr val="E2E8F0"/>
            </a:solidFill>
            <a:prstDash val="solid"/>
          </a:ln>
        </p:spPr>
        <p:txBody>
          <a:bodyPr/>
          <a:lstStyle/>
          <a:p>
            <a:endParaRPr lang="en-SG"/>
          </a:p>
        </p:txBody>
      </p:sp>
      <p:sp>
        <p:nvSpPr>
          <p:cNvPr id="7" name="Shape 5"/>
          <p:cNvSpPr/>
          <p:nvPr/>
        </p:nvSpPr>
        <p:spPr>
          <a:xfrm>
            <a:off x="320040" y="1261872"/>
            <a:ext cx="91440" cy="566928"/>
          </a:xfrm>
          <a:prstGeom prst="rect">
            <a:avLst/>
          </a:prstGeom>
          <a:solidFill>
            <a:srgbClr val="E74C3C"/>
          </a:solidFill>
          <a:ln w="12700">
            <a:solidFill>
              <a:srgbClr val="E74C3C"/>
            </a:solidFill>
            <a:prstDash val="solid"/>
          </a:ln>
        </p:spPr>
        <p:txBody>
          <a:bodyPr/>
          <a:lstStyle/>
          <a:p>
            <a:endParaRPr lang="en-SG"/>
          </a:p>
        </p:txBody>
      </p:sp>
      <p:sp>
        <p:nvSpPr>
          <p:cNvPr id="8" name="Text 6"/>
          <p:cNvSpPr/>
          <p:nvPr/>
        </p:nvSpPr>
        <p:spPr>
          <a:xfrm>
            <a:off x="493776" y="1316736"/>
            <a:ext cx="8229600" cy="457200"/>
          </a:xfrm>
          <a:prstGeom prst="rect">
            <a:avLst/>
          </a:prstGeom>
          <a:noFill/>
          <a:ln/>
        </p:spPr>
        <p:txBody>
          <a:bodyPr wrap="square" lIns="0" tIns="0" rIns="0" bIns="0" rtlCol="0" anchor="ctr"/>
          <a:lstStyle/>
          <a:p>
            <a:pPr marL="0" indent="0">
              <a:buNone/>
            </a:pPr>
            <a:r>
              <a:rPr lang="en-US" sz="950" dirty="0">
                <a:solidFill>
                  <a:srgbClr val="1A1A2E"/>
                </a:solidFill>
              </a:rPr>
              <a:t>Scenario: A software company suspects a contract developer of exfiltrating proprietary source code. The suspect uploads holiday photos to a public photo-sharing site from the company network. Security monitoring flags an anomaly: photos are significantly larger than their dimensions would suggest.</a:t>
            </a:r>
            <a:endParaRPr lang="en-US" sz="950" dirty="0"/>
          </a:p>
        </p:txBody>
      </p:sp>
      <p:sp>
        <p:nvSpPr>
          <p:cNvPr id="9" name="Shape 7"/>
          <p:cNvSpPr/>
          <p:nvPr/>
        </p:nvSpPr>
        <p:spPr>
          <a:xfrm>
            <a:off x="320040" y="1920240"/>
            <a:ext cx="8503920" cy="640080"/>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0040" y="1920240"/>
            <a:ext cx="457200" cy="640080"/>
          </a:xfrm>
          <a:prstGeom prst="rect">
            <a:avLst/>
          </a:prstGeom>
          <a:solidFill>
            <a:srgbClr val="00B4D8"/>
          </a:solidFill>
          <a:ln w="12700">
            <a:solidFill>
              <a:srgbClr val="00B4D8"/>
            </a:solidFill>
            <a:prstDash val="solid"/>
          </a:ln>
        </p:spPr>
        <p:txBody>
          <a:bodyPr/>
          <a:lstStyle/>
          <a:p>
            <a:endParaRPr lang="en-SG"/>
          </a:p>
        </p:txBody>
      </p:sp>
      <p:sp>
        <p:nvSpPr>
          <p:cNvPr id="11" name="Text 9"/>
          <p:cNvSpPr/>
          <p:nvPr/>
        </p:nvSpPr>
        <p:spPr>
          <a:xfrm>
            <a:off x="320040" y="1920240"/>
            <a:ext cx="457200" cy="640080"/>
          </a:xfrm>
          <a:prstGeom prst="rect">
            <a:avLst/>
          </a:prstGeom>
          <a:noFill/>
          <a:ln/>
        </p:spPr>
        <p:txBody>
          <a:bodyPr wrap="square" lIns="0" tIns="0" rIns="0" bIns="0" rtlCol="0" anchor="ctr"/>
          <a:lstStyle/>
          <a:p>
            <a:pPr marL="0" indent="0" algn="ctr">
              <a:buNone/>
            </a:pPr>
            <a:r>
              <a:rPr lang="en-US" sz="1800" b="1" dirty="0">
                <a:solidFill>
                  <a:srgbClr val="0D1B2A"/>
                </a:solidFill>
              </a:rPr>
              <a:t>1</a:t>
            </a:r>
            <a:endParaRPr lang="en-US" sz="1800" dirty="0"/>
          </a:p>
        </p:txBody>
      </p:sp>
      <p:sp>
        <p:nvSpPr>
          <p:cNvPr id="12" name="Text 10"/>
          <p:cNvSpPr/>
          <p:nvPr/>
        </p:nvSpPr>
        <p:spPr>
          <a:xfrm>
            <a:off x="859536" y="1975104"/>
            <a:ext cx="1463040" cy="219456"/>
          </a:xfrm>
          <a:prstGeom prst="rect">
            <a:avLst/>
          </a:prstGeom>
          <a:noFill/>
          <a:ln/>
        </p:spPr>
        <p:txBody>
          <a:bodyPr wrap="square" lIns="0" tIns="0" rIns="0" bIns="0" rtlCol="0" anchor="ctr"/>
          <a:lstStyle/>
          <a:p>
            <a:pPr marL="0" indent="0">
              <a:buNone/>
            </a:pPr>
            <a:r>
              <a:rPr lang="en-US" sz="1000" b="1" dirty="0">
                <a:solidFill>
                  <a:srgbClr val="00B4D8"/>
                </a:solidFill>
              </a:rPr>
              <a:t>Acquisition</a:t>
            </a:r>
            <a:endParaRPr lang="en-US" sz="1000" dirty="0"/>
          </a:p>
        </p:txBody>
      </p:sp>
      <p:sp>
        <p:nvSpPr>
          <p:cNvPr id="13" name="Text 11"/>
          <p:cNvSpPr/>
          <p:nvPr/>
        </p:nvSpPr>
        <p:spPr>
          <a:xfrm>
            <a:off x="859536" y="2194560"/>
            <a:ext cx="4315968" cy="329184"/>
          </a:xfrm>
          <a:prstGeom prst="rect">
            <a:avLst/>
          </a:prstGeom>
          <a:noFill/>
          <a:ln/>
        </p:spPr>
        <p:txBody>
          <a:bodyPr wrap="square" lIns="0" tIns="0" rIns="0" bIns="0" rtlCol="0" anchor="ctr"/>
          <a:lstStyle/>
          <a:p>
            <a:pPr marL="0" indent="0">
              <a:buNone/>
            </a:pPr>
            <a:r>
              <a:rPr lang="en-US" sz="800" dirty="0">
                <a:solidFill>
                  <a:srgbClr val="1A1A2E"/>
                </a:solidFill>
              </a:rPr>
              <a:t>Action: Capture the suspect device (laptop). Create verified forensic image: dcfldd if=/dev/sdb of=suspect.img hash=sha256 hashlog=hashes.txt</a:t>
            </a:r>
            <a:endParaRPr lang="en-US" sz="800" dirty="0"/>
          </a:p>
        </p:txBody>
      </p:sp>
      <p:sp>
        <p:nvSpPr>
          <p:cNvPr id="14" name="Shape 12"/>
          <p:cNvSpPr/>
          <p:nvPr/>
        </p:nvSpPr>
        <p:spPr>
          <a:xfrm>
            <a:off x="5321808" y="1975104"/>
            <a:ext cx="3438144" cy="530352"/>
          </a:xfrm>
          <a:prstGeom prst="rect">
            <a:avLst/>
          </a:prstGeom>
          <a:solidFill>
            <a:srgbClr val="FFFFFF"/>
          </a:solidFill>
          <a:ln w="5080">
            <a:solidFill>
              <a:srgbClr val="00B4D8"/>
            </a:solidFill>
            <a:prstDash val="solid"/>
          </a:ln>
        </p:spPr>
        <p:txBody>
          <a:bodyPr/>
          <a:lstStyle/>
          <a:p>
            <a:endParaRPr lang="en-SG"/>
          </a:p>
        </p:txBody>
      </p:sp>
      <p:sp>
        <p:nvSpPr>
          <p:cNvPr id="15" name="Text 13"/>
          <p:cNvSpPr/>
          <p:nvPr/>
        </p:nvSpPr>
        <p:spPr>
          <a:xfrm>
            <a:off x="5394960" y="1993392"/>
            <a:ext cx="3291840" cy="493776"/>
          </a:xfrm>
          <a:prstGeom prst="rect">
            <a:avLst/>
          </a:prstGeom>
          <a:noFill/>
          <a:ln/>
        </p:spPr>
        <p:txBody>
          <a:bodyPr wrap="square" lIns="0" tIns="0" rIns="0" bIns="0" rtlCol="0" anchor="ctr"/>
          <a:lstStyle/>
          <a:p>
            <a:pPr marL="0" indent="0">
              <a:buNone/>
            </a:pPr>
            <a:r>
              <a:rPr lang="en-US" sz="780" dirty="0">
                <a:solidFill>
                  <a:srgbClr val="1A1A2E"/>
                </a:solidFill>
              </a:rPr>
              <a:t>Finding: Device image verified; hash logged. Browser cache and upload history located in unallocated space.</a:t>
            </a:r>
            <a:endParaRPr lang="en-US" sz="780" dirty="0"/>
          </a:p>
        </p:txBody>
      </p:sp>
      <p:sp>
        <p:nvSpPr>
          <p:cNvPr id="16" name="Shape 14"/>
          <p:cNvSpPr/>
          <p:nvPr/>
        </p:nvSpPr>
        <p:spPr>
          <a:xfrm>
            <a:off x="320040" y="2624328"/>
            <a:ext cx="8503920" cy="640080"/>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320040" y="2624328"/>
            <a:ext cx="457200" cy="640080"/>
          </a:xfrm>
          <a:prstGeom prst="rect">
            <a:avLst/>
          </a:prstGeom>
          <a:solidFill>
            <a:srgbClr val="F4A261"/>
          </a:solidFill>
          <a:ln w="12700">
            <a:solidFill>
              <a:srgbClr val="F4A261"/>
            </a:solidFill>
            <a:prstDash val="solid"/>
          </a:ln>
        </p:spPr>
        <p:txBody>
          <a:bodyPr/>
          <a:lstStyle/>
          <a:p>
            <a:endParaRPr lang="en-SG"/>
          </a:p>
        </p:txBody>
      </p:sp>
      <p:sp>
        <p:nvSpPr>
          <p:cNvPr id="18" name="Text 16"/>
          <p:cNvSpPr/>
          <p:nvPr/>
        </p:nvSpPr>
        <p:spPr>
          <a:xfrm>
            <a:off x="320040" y="2624328"/>
            <a:ext cx="457200" cy="640080"/>
          </a:xfrm>
          <a:prstGeom prst="rect">
            <a:avLst/>
          </a:prstGeom>
          <a:noFill/>
          <a:ln/>
        </p:spPr>
        <p:txBody>
          <a:bodyPr wrap="square" lIns="0" tIns="0" rIns="0" bIns="0" rtlCol="0" anchor="ctr"/>
          <a:lstStyle/>
          <a:p>
            <a:pPr marL="0" indent="0" algn="ctr">
              <a:buNone/>
            </a:pPr>
            <a:r>
              <a:rPr lang="en-US" sz="1800" b="1" dirty="0">
                <a:solidFill>
                  <a:srgbClr val="0D1B2A"/>
                </a:solidFill>
              </a:rPr>
              <a:t>2</a:t>
            </a:r>
            <a:endParaRPr lang="en-US" sz="1800" dirty="0"/>
          </a:p>
        </p:txBody>
      </p:sp>
      <p:sp>
        <p:nvSpPr>
          <p:cNvPr id="19" name="Text 17"/>
          <p:cNvSpPr/>
          <p:nvPr/>
        </p:nvSpPr>
        <p:spPr>
          <a:xfrm>
            <a:off x="859536" y="2679192"/>
            <a:ext cx="1463040" cy="219456"/>
          </a:xfrm>
          <a:prstGeom prst="rect">
            <a:avLst/>
          </a:prstGeom>
          <a:noFill/>
          <a:ln/>
        </p:spPr>
        <p:txBody>
          <a:bodyPr wrap="square" lIns="0" tIns="0" rIns="0" bIns="0" rtlCol="0" anchor="ctr"/>
          <a:lstStyle/>
          <a:p>
            <a:pPr marL="0" indent="0">
              <a:buNone/>
            </a:pPr>
            <a:r>
              <a:rPr lang="en-US" sz="1000" b="1" dirty="0">
                <a:solidFill>
                  <a:srgbClr val="F4A261"/>
                </a:solidFill>
              </a:rPr>
              <a:t>File Extraction</a:t>
            </a:r>
            <a:endParaRPr lang="en-US" sz="1000" dirty="0"/>
          </a:p>
        </p:txBody>
      </p:sp>
      <p:sp>
        <p:nvSpPr>
          <p:cNvPr id="20" name="Text 18"/>
          <p:cNvSpPr/>
          <p:nvPr/>
        </p:nvSpPr>
        <p:spPr>
          <a:xfrm>
            <a:off x="859536" y="2898648"/>
            <a:ext cx="4315968" cy="329184"/>
          </a:xfrm>
          <a:prstGeom prst="rect">
            <a:avLst/>
          </a:prstGeom>
          <a:noFill/>
          <a:ln/>
        </p:spPr>
        <p:txBody>
          <a:bodyPr wrap="square" lIns="0" tIns="0" rIns="0" bIns="0" rtlCol="0" anchor="ctr"/>
          <a:lstStyle/>
          <a:p>
            <a:pPr marL="0" indent="0">
              <a:buNone/>
            </a:pPr>
            <a:r>
              <a:rPr lang="en-US" sz="800" dirty="0">
                <a:solidFill>
                  <a:srgbClr val="1A1A2E"/>
                </a:solidFill>
              </a:rPr>
              <a:t>Action: Locate uploaded images in browser cache. Recover deleted copies from unallocated space using PhotoRec. Export all JPEG files &gt; 2MB.</a:t>
            </a:r>
            <a:endParaRPr lang="en-US" sz="800" dirty="0"/>
          </a:p>
        </p:txBody>
      </p:sp>
      <p:sp>
        <p:nvSpPr>
          <p:cNvPr id="21" name="Shape 19"/>
          <p:cNvSpPr/>
          <p:nvPr/>
        </p:nvSpPr>
        <p:spPr>
          <a:xfrm>
            <a:off x="5321808" y="2679192"/>
            <a:ext cx="3438144" cy="530352"/>
          </a:xfrm>
          <a:prstGeom prst="rect">
            <a:avLst/>
          </a:prstGeom>
          <a:solidFill>
            <a:srgbClr val="FFFFFF"/>
          </a:solidFill>
          <a:ln w="5080">
            <a:solidFill>
              <a:srgbClr val="F4A261"/>
            </a:solidFill>
            <a:prstDash val="solid"/>
          </a:ln>
        </p:spPr>
        <p:txBody>
          <a:bodyPr/>
          <a:lstStyle/>
          <a:p>
            <a:endParaRPr lang="en-SG"/>
          </a:p>
        </p:txBody>
      </p:sp>
      <p:sp>
        <p:nvSpPr>
          <p:cNvPr id="22" name="Text 20"/>
          <p:cNvSpPr/>
          <p:nvPr/>
        </p:nvSpPr>
        <p:spPr>
          <a:xfrm>
            <a:off x="5394960" y="2697480"/>
            <a:ext cx="3291840" cy="493776"/>
          </a:xfrm>
          <a:prstGeom prst="rect">
            <a:avLst/>
          </a:prstGeom>
          <a:noFill/>
          <a:ln/>
        </p:spPr>
        <p:txBody>
          <a:bodyPr wrap="square" lIns="0" tIns="0" rIns="0" bIns="0" rtlCol="0" anchor="ctr"/>
          <a:lstStyle/>
          <a:p>
            <a:pPr marL="0" indent="0">
              <a:buNone/>
            </a:pPr>
            <a:r>
              <a:rPr lang="en-US" sz="780" dirty="0">
                <a:solidFill>
                  <a:srgbClr val="1A1A2E"/>
                </a:solidFill>
              </a:rPr>
              <a:t>Finding: 14 JPEG files recovered. 6 show file size anomalies — dimensions suggest &lt; 500KB but files are 2–4MB each.</a:t>
            </a:r>
            <a:endParaRPr lang="en-US" sz="780" dirty="0"/>
          </a:p>
        </p:txBody>
      </p:sp>
      <p:sp>
        <p:nvSpPr>
          <p:cNvPr id="23" name="Shape 21"/>
          <p:cNvSpPr/>
          <p:nvPr/>
        </p:nvSpPr>
        <p:spPr>
          <a:xfrm>
            <a:off x="320040" y="3328416"/>
            <a:ext cx="8503920" cy="640080"/>
          </a:xfrm>
          <a:prstGeom prst="rect">
            <a:avLst/>
          </a:prstGeom>
          <a:solidFill>
            <a:srgbClr val="EEF6FB"/>
          </a:solidFill>
          <a:ln w="12700">
            <a:solidFill>
              <a:srgbClr val="EEF6FB"/>
            </a:solidFill>
            <a:prstDash val="solid"/>
          </a:ln>
        </p:spPr>
        <p:txBody>
          <a:bodyPr/>
          <a:lstStyle/>
          <a:p>
            <a:endParaRPr lang="en-SG"/>
          </a:p>
        </p:txBody>
      </p:sp>
      <p:sp>
        <p:nvSpPr>
          <p:cNvPr id="24" name="Shape 22"/>
          <p:cNvSpPr/>
          <p:nvPr/>
        </p:nvSpPr>
        <p:spPr>
          <a:xfrm>
            <a:off x="320040" y="3328416"/>
            <a:ext cx="457200" cy="640080"/>
          </a:xfrm>
          <a:prstGeom prst="rect">
            <a:avLst/>
          </a:prstGeom>
          <a:solidFill>
            <a:srgbClr val="A855F7"/>
          </a:solidFill>
          <a:ln w="12700">
            <a:solidFill>
              <a:srgbClr val="A855F7"/>
            </a:solidFill>
            <a:prstDash val="solid"/>
          </a:ln>
        </p:spPr>
        <p:txBody>
          <a:bodyPr/>
          <a:lstStyle/>
          <a:p>
            <a:endParaRPr lang="en-SG"/>
          </a:p>
        </p:txBody>
      </p:sp>
      <p:sp>
        <p:nvSpPr>
          <p:cNvPr id="25" name="Text 23"/>
          <p:cNvSpPr/>
          <p:nvPr/>
        </p:nvSpPr>
        <p:spPr>
          <a:xfrm>
            <a:off x="320040" y="3328416"/>
            <a:ext cx="457200" cy="640080"/>
          </a:xfrm>
          <a:prstGeom prst="rect">
            <a:avLst/>
          </a:prstGeom>
          <a:noFill/>
          <a:ln/>
        </p:spPr>
        <p:txBody>
          <a:bodyPr wrap="square" lIns="0" tIns="0" rIns="0" bIns="0" rtlCol="0" anchor="ctr"/>
          <a:lstStyle/>
          <a:p>
            <a:pPr marL="0" indent="0" algn="ctr">
              <a:buNone/>
            </a:pPr>
            <a:r>
              <a:rPr lang="en-US" sz="1800" b="1" dirty="0">
                <a:solidFill>
                  <a:srgbClr val="0D1B2A"/>
                </a:solidFill>
              </a:rPr>
              <a:t>3</a:t>
            </a:r>
            <a:endParaRPr lang="en-US" sz="1800" dirty="0"/>
          </a:p>
        </p:txBody>
      </p:sp>
      <p:sp>
        <p:nvSpPr>
          <p:cNvPr id="26" name="Text 24"/>
          <p:cNvSpPr/>
          <p:nvPr/>
        </p:nvSpPr>
        <p:spPr>
          <a:xfrm>
            <a:off x="859536" y="3383280"/>
            <a:ext cx="1463040" cy="219456"/>
          </a:xfrm>
          <a:prstGeom prst="rect">
            <a:avLst/>
          </a:prstGeom>
          <a:noFill/>
          <a:ln/>
        </p:spPr>
        <p:txBody>
          <a:bodyPr wrap="square" lIns="0" tIns="0" rIns="0" bIns="0" rtlCol="0" anchor="ctr"/>
          <a:lstStyle/>
          <a:p>
            <a:pPr marL="0" indent="0">
              <a:buNone/>
            </a:pPr>
            <a:r>
              <a:rPr lang="en-US" sz="1000" b="1" dirty="0">
                <a:solidFill>
                  <a:srgbClr val="A855F7"/>
                </a:solidFill>
              </a:rPr>
              <a:t>Steg Detection</a:t>
            </a:r>
            <a:endParaRPr lang="en-US" sz="1000" dirty="0"/>
          </a:p>
        </p:txBody>
      </p:sp>
      <p:sp>
        <p:nvSpPr>
          <p:cNvPr id="27" name="Text 25"/>
          <p:cNvSpPr/>
          <p:nvPr/>
        </p:nvSpPr>
        <p:spPr>
          <a:xfrm>
            <a:off x="859536" y="3602736"/>
            <a:ext cx="4315968" cy="329184"/>
          </a:xfrm>
          <a:prstGeom prst="rect">
            <a:avLst/>
          </a:prstGeom>
          <a:noFill/>
          <a:ln/>
        </p:spPr>
        <p:txBody>
          <a:bodyPr wrap="square" lIns="0" tIns="0" rIns="0" bIns="0" rtlCol="0" anchor="ctr"/>
          <a:lstStyle/>
          <a:p>
            <a:pPr marL="0" indent="0">
              <a:buNone/>
            </a:pPr>
            <a:r>
              <a:rPr lang="en-US" sz="800" dirty="0">
                <a:solidFill>
                  <a:srgbClr val="1A1A2E"/>
                </a:solidFill>
              </a:rPr>
              <a:t>Action: Run StegDetect on suspect JPEGs: stegdetect *.jpg. Run Binwalk: binwalk --entropy *.jpg. Run Zsteg on PNG files.</a:t>
            </a:r>
            <a:endParaRPr lang="en-US" sz="800" dirty="0"/>
          </a:p>
        </p:txBody>
      </p:sp>
      <p:sp>
        <p:nvSpPr>
          <p:cNvPr id="28" name="Shape 26"/>
          <p:cNvSpPr/>
          <p:nvPr/>
        </p:nvSpPr>
        <p:spPr>
          <a:xfrm>
            <a:off x="5321808" y="3383280"/>
            <a:ext cx="3438144" cy="530352"/>
          </a:xfrm>
          <a:prstGeom prst="rect">
            <a:avLst/>
          </a:prstGeom>
          <a:solidFill>
            <a:srgbClr val="FFFFFF"/>
          </a:solidFill>
          <a:ln w="5080">
            <a:solidFill>
              <a:srgbClr val="A855F7"/>
            </a:solidFill>
            <a:prstDash val="solid"/>
          </a:ln>
        </p:spPr>
        <p:txBody>
          <a:bodyPr/>
          <a:lstStyle/>
          <a:p>
            <a:endParaRPr lang="en-SG"/>
          </a:p>
        </p:txBody>
      </p:sp>
      <p:sp>
        <p:nvSpPr>
          <p:cNvPr id="29" name="Text 27"/>
          <p:cNvSpPr/>
          <p:nvPr/>
        </p:nvSpPr>
        <p:spPr>
          <a:xfrm>
            <a:off x="5394960" y="3401568"/>
            <a:ext cx="3291840" cy="493776"/>
          </a:xfrm>
          <a:prstGeom prst="rect">
            <a:avLst/>
          </a:prstGeom>
          <a:noFill/>
          <a:ln/>
        </p:spPr>
        <p:txBody>
          <a:bodyPr wrap="square" lIns="0" tIns="0" rIns="0" bIns="0" rtlCol="0" anchor="ctr"/>
          <a:lstStyle/>
          <a:p>
            <a:pPr marL="0" indent="0">
              <a:buNone/>
            </a:pPr>
            <a:r>
              <a:rPr lang="en-US" sz="780" dirty="0">
                <a:solidFill>
                  <a:srgbClr val="1A1A2E"/>
                </a:solidFill>
              </a:rPr>
              <a:t>Finding: StegDetect reports 'jphide (confidence: 99%)' on 4 files. Binwalk shows high entropy regions after JPEG EOF marker.</a:t>
            </a:r>
            <a:endParaRPr lang="en-US" sz="780" dirty="0"/>
          </a:p>
        </p:txBody>
      </p:sp>
      <p:sp>
        <p:nvSpPr>
          <p:cNvPr id="30" name="Shape 28"/>
          <p:cNvSpPr/>
          <p:nvPr/>
        </p:nvSpPr>
        <p:spPr>
          <a:xfrm>
            <a:off x="320040" y="4032504"/>
            <a:ext cx="8503920" cy="640080"/>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320040" y="4032504"/>
            <a:ext cx="457200" cy="640080"/>
          </a:xfrm>
          <a:prstGeom prst="rect">
            <a:avLst/>
          </a:prstGeom>
          <a:solidFill>
            <a:srgbClr val="2ECC71"/>
          </a:solidFill>
          <a:ln w="12700">
            <a:solidFill>
              <a:srgbClr val="2ECC71"/>
            </a:solidFill>
            <a:prstDash val="solid"/>
          </a:ln>
        </p:spPr>
        <p:txBody>
          <a:bodyPr/>
          <a:lstStyle/>
          <a:p>
            <a:endParaRPr lang="en-SG"/>
          </a:p>
        </p:txBody>
      </p:sp>
      <p:sp>
        <p:nvSpPr>
          <p:cNvPr id="32" name="Text 30"/>
          <p:cNvSpPr/>
          <p:nvPr/>
        </p:nvSpPr>
        <p:spPr>
          <a:xfrm>
            <a:off x="320040" y="4032504"/>
            <a:ext cx="457200" cy="640080"/>
          </a:xfrm>
          <a:prstGeom prst="rect">
            <a:avLst/>
          </a:prstGeom>
          <a:noFill/>
          <a:ln/>
        </p:spPr>
        <p:txBody>
          <a:bodyPr wrap="square" lIns="0" tIns="0" rIns="0" bIns="0" rtlCol="0" anchor="ctr"/>
          <a:lstStyle/>
          <a:p>
            <a:pPr marL="0" indent="0" algn="ctr">
              <a:buNone/>
            </a:pPr>
            <a:r>
              <a:rPr lang="en-US" sz="1800" b="1" dirty="0">
                <a:solidFill>
                  <a:srgbClr val="0D1B2A"/>
                </a:solidFill>
              </a:rPr>
              <a:t>4</a:t>
            </a:r>
            <a:endParaRPr lang="en-US" sz="1800" dirty="0"/>
          </a:p>
        </p:txBody>
      </p:sp>
      <p:sp>
        <p:nvSpPr>
          <p:cNvPr id="33" name="Text 31"/>
          <p:cNvSpPr/>
          <p:nvPr/>
        </p:nvSpPr>
        <p:spPr>
          <a:xfrm>
            <a:off x="859536" y="4087368"/>
            <a:ext cx="1463040" cy="219456"/>
          </a:xfrm>
          <a:prstGeom prst="rect">
            <a:avLst/>
          </a:prstGeom>
          <a:noFill/>
          <a:ln/>
        </p:spPr>
        <p:txBody>
          <a:bodyPr wrap="square" lIns="0" tIns="0" rIns="0" bIns="0" rtlCol="0" anchor="ctr"/>
          <a:lstStyle/>
          <a:p>
            <a:pPr marL="0" indent="0">
              <a:buNone/>
            </a:pPr>
            <a:r>
              <a:rPr lang="en-US" sz="1000" b="1" dirty="0">
                <a:solidFill>
                  <a:srgbClr val="2ECC71"/>
                </a:solidFill>
              </a:rPr>
              <a:t>Extraction &amp; Evidence</a:t>
            </a:r>
            <a:endParaRPr lang="en-US" sz="1000" dirty="0"/>
          </a:p>
        </p:txBody>
      </p:sp>
      <p:sp>
        <p:nvSpPr>
          <p:cNvPr id="34" name="Text 32"/>
          <p:cNvSpPr/>
          <p:nvPr/>
        </p:nvSpPr>
        <p:spPr>
          <a:xfrm>
            <a:off x="859536" y="4306824"/>
            <a:ext cx="4315968" cy="329184"/>
          </a:xfrm>
          <a:prstGeom prst="rect">
            <a:avLst/>
          </a:prstGeom>
          <a:noFill/>
          <a:ln/>
        </p:spPr>
        <p:txBody>
          <a:bodyPr wrap="square" lIns="0" tIns="0" rIns="0" bIns="0" rtlCol="0" anchor="ctr"/>
          <a:lstStyle/>
          <a:p>
            <a:pPr marL="0" indent="0">
              <a:buNone/>
            </a:pPr>
            <a:r>
              <a:rPr lang="en-US" sz="800" dirty="0">
                <a:solidFill>
                  <a:srgbClr val="1A1A2E"/>
                </a:solidFill>
              </a:rPr>
              <a:t>Action: Steghide extract -sf suspect01.jpg — passphrase discovered via keyword search of suspect's notes file: 'holiday2024'</a:t>
            </a:r>
            <a:endParaRPr lang="en-US" sz="800" dirty="0"/>
          </a:p>
        </p:txBody>
      </p:sp>
      <p:sp>
        <p:nvSpPr>
          <p:cNvPr id="35" name="Shape 33"/>
          <p:cNvSpPr/>
          <p:nvPr/>
        </p:nvSpPr>
        <p:spPr>
          <a:xfrm>
            <a:off x="5321808" y="4087368"/>
            <a:ext cx="3438144" cy="530352"/>
          </a:xfrm>
          <a:prstGeom prst="rect">
            <a:avLst/>
          </a:prstGeom>
          <a:solidFill>
            <a:srgbClr val="FFFFFF"/>
          </a:solidFill>
          <a:ln w="5080">
            <a:solidFill>
              <a:srgbClr val="2ECC71"/>
            </a:solidFill>
            <a:prstDash val="solid"/>
          </a:ln>
        </p:spPr>
        <p:txBody>
          <a:bodyPr/>
          <a:lstStyle/>
          <a:p>
            <a:endParaRPr lang="en-SG"/>
          </a:p>
        </p:txBody>
      </p:sp>
      <p:sp>
        <p:nvSpPr>
          <p:cNvPr id="36" name="Text 34"/>
          <p:cNvSpPr/>
          <p:nvPr/>
        </p:nvSpPr>
        <p:spPr>
          <a:xfrm>
            <a:off x="5394960" y="4105656"/>
            <a:ext cx="3291840" cy="493776"/>
          </a:xfrm>
          <a:prstGeom prst="rect">
            <a:avLst/>
          </a:prstGeom>
          <a:noFill/>
          <a:ln/>
        </p:spPr>
        <p:txBody>
          <a:bodyPr wrap="square" lIns="0" tIns="0" rIns="0" bIns="0" rtlCol="0" anchor="ctr"/>
          <a:lstStyle/>
          <a:p>
            <a:pPr marL="0" indent="0">
              <a:buNone/>
            </a:pPr>
            <a:r>
              <a:rPr lang="en-US" sz="780" dirty="0">
                <a:solidFill>
                  <a:srgbClr val="1A1A2E"/>
                </a:solidFill>
              </a:rPr>
              <a:t>Finding: Extracted 4 ZIP archives containing ~800MB of proprietary source code matching company's private repository.</a:t>
            </a:r>
            <a:endParaRPr lang="en-US" sz="780" dirty="0"/>
          </a:p>
        </p:txBody>
      </p:sp>
      <p:sp>
        <p:nvSpPr>
          <p:cNvPr id="37" name="Text 35"/>
          <p:cNvSpPr/>
          <p:nvPr/>
        </p:nvSpPr>
        <p:spPr>
          <a:xfrm>
            <a:off x="320040" y="4736592"/>
            <a:ext cx="8503920" cy="164592"/>
          </a:xfrm>
          <a:prstGeom prst="rect">
            <a:avLst/>
          </a:prstGeom>
          <a:noFill/>
          <a:ln/>
        </p:spPr>
        <p:txBody>
          <a:bodyPr wrap="square" lIns="0" tIns="0" rIns="0" bIns="0" rtlCol="0" anchor="ctr"/>
          <a:lstStyle/>
          <a:p>
            <a:pPr marL="0" indent="0">
              <a:buNone/>
            </a:pPr>
            <a:r>
              <a:rPr lang="en-US" sz="820" i="1" dirty="0">
                <a:solidFill>
                  <a:srgbClr val="F1C40F"/>
                </a:solidFill>
              </a:rPr>
              <a:t>Key lesson: file size anomaly (metadata vs actual size mismatch) is a rapid first-pass indicator of possible steganographic content.</a:t>
            </a:r>
            <a:endParaRPr lang="en-US" sz="8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 cy="5148072"/>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0" y="4809744"/>
            <a:ext cx="9144000" cy="338328"/>
          </a:xfrm>
          <a:prstGeom prst="rect">
            <a:avLst/>
          </a:prstGeom>
          <a:solidFill>
            <a:srgbClr val="FFFFFF"/>
          </a:solidFill>
          <a:ln w="12700">
            <a:solidFill>
              <a:srgbClr val="FFFFFF"/>
            </a:solidFill>
            <a:prstDash val="solid"/>
          </a:ln>
        </p:spPr>
        <p:txBody>
          <a:bodyPr/>
          <a:lstStyle/>
          <a:p>
            <a:endParaRPr lang="en-SG"/>
          </a:p>
        </p:txBody>
      </p:sp>
      <p:sp>
        <p:nvSpPr>
          <p:cNvPr id="4" name="Text 2"/>
          <p:cNvSpPr/>
          <p:nvPr/>
        </p:nvSpPr>
        <p:spPr>
          <a:xfrm>
            <a:off x="320040" y="182880"/>
            <a:ext cx="8503920" cy="329184"/>
          </a:xfrm>
          <a:prstGeom prst="rect">
            <a:avLst/>
          </a:prstGeom>
          <a:noFill/>
          <a:ln/>
        </p:spPr>
        <p:txBody>
          <a:bodyPr wrap="square" lIns="0" tIns="0" rIns="0" bIns="0" rtlCol="0" anchor="ctr"/>
          <a:lstStyle/>
          <a:p>
            <a:pPr marL="0" indent="0">
              <a:buNone/>
            </a:pPr>
            <a:r>
              <a:rPr lang="en-US" sz="1100" b="1" kern="0" spc="600" dirty="0">
                <a:solidFill>
                  <a:srgbClr val="00B4D8"/>
                </a:solidFill>
              </a:rPr>
              <a:t>KEY LEARNING POINTS</a:t>
            </a:r>
            <a:endParaRPr lang="en-US" sz="1100" dirty="0"/>
          </a:p>
        </p:txBody>
      </p:sp>
      <p:sp>
        <p:nvSpPr>
          <p:cNvPr id="5" name="Text 3"/>
          <p:cNvSpPr/>
          <p:nvPr/>
        </p:nvSpPr>
        <p:spPr>
          <a:xfrm>
            <a:off x="320040" y="493776"/>
            <a:ext cx="8503920" cy="365760"/>
          </a:xfrm>
          <a:prstGeom prst="rect">
            <a:avLst/>
          </a:prstGeom>
          <a:noFill/>
          <a:ln/>
        </p:spPr>
        <p:txBody>
          <a:bodyPr wrap="square" lIns="0" tIns="0" rIns="0" bIns="0" rtlCol="0" anchor="ctr"/>
          <a:lstStyle/>
          <a:p>
            <a:pPr marL="0" indent="0">
              <a:buNone/>
            </a:pPr>
            <a:r>
              <a:rPr lang="en-US" sz="2200" b="1" dirty="0">
                <a:solidFill>
                  <a:srgbClr val="1A1A2E"/>
                </a:solidFill>
              </a:rPr>
              <a:t>Lesson 6 — Image Forensics</a:t>
            </a:r>
            <a:endParaRPr lang="en-US" sz="2200" dirty="0"/>
          </a:p>
        </p:txBody>
      </p:sp>
      <p:sp>
        <p:nvSpPr>
          <p:cNvPr id="6" name="Shape 4"/>
          <p:cNvSpPr/>
          <p:nvPr/>
        </p:nvSpPr>
        <p:spPr>
          <a:xfrm>
            <a:off x="320040" y="969264"/>
            <a:ext cx="420624" cy="310896"/>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20040" y="969264"/>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01</a:t>
            </a:r>
            <a:endParaRPr lang="en-US" sz="900" dirty="0"/>
          </a:p>
        </p:txBody>
      </p:sp>
      <p:sp>
        <p:nvSpPr>
          <p:cNvPr id="8" name="Text 6"/>
          <p:cNvSpPr/>
          <p:nvPr/>
        </p:nvSpPr>
        <p:spPr>
          <a:xfrm>
            <a:off x="804672" y="969264"/>
            <a:ext cx="3749040" cy="841248"/>
          </a:xfrm>
          <a:prstGeom prst="rect">
            <a:avLst/>
          </a:prstGeom>
          <a:noFill/>
          <a:ln/>
        </p:spPr>
        <p:txBody>
          <a:bodyPr wrap="square" lIns="0" tIns="0" rIns="0" bIns="0" rtlCol="0" anchor="ctr"/>
          <a:lstStyle/>
          <a:p>
            <a:pPr marL="0" indent="0">
              <a:buNone/>
            </a:pPr>
            <a:r>
              <a:rPr lang="en-US" sz="900" dirty="0">
                <a:solidFill>
                  <a:srgbClr val="1A1A2E"/>
                </a:solidFill>
              </a:rPr>
              <a:t>Images are classified as Bitmap (pixel-based), Vector (mathematical), or Metafile (hybrid). Most forensic casework involves bitmap/raster formats.</a:t>
            </a:r>
            <a:endParaRPr lang="en-US" sz="900" dirty="0"/>
          </a:p>
        </p:txBody>
      </p:sp>
      <p:sp>
        <p:nvSpPr>
          <p:cNvPr id="9" name="Shape 7"/>
          <p:cNvSpPr/>
          <p:nvPr/>
        </p:nvSpPr>
        <p:spPr>
          <a:xfrm>
            <a:off x="320040" y="1920240"/>
            <a:ext cx="420624" cy="310896"/>
          </a:xfrm>
          <a:prstGeom prst="rect">
            <a:avLst/>
          </a:prstGeom>
          <a:solidFill>
            <a:srgbClr val="F4A261"/>
          </a:solidFill>
          <a:ln w="12700">
            <a:solidFill>
              <a:srgbClr val="F4A261"/>
            </a:solidFill>
            <a:prstDash val="solid"/>
          </a:ln>
        </p:spPr>
        <p:txBody>
          <a:bodyPr/>
          <a:lstStyle/>
          <a:p>
            <a:endParaRPr lang="en-SG"/>
          </a:p>
        </p:txBody>
      </p:sp>
      <p:sp>
        <p:nvSpPr>
          <p:cNvPr id="10" name="Text 8"/>
          <p:cNvSpPr/>
          <p:nvPr/>
        </p:nvSpPr>
        <p:spPr>
          <a:xfrm>
            <a:off x="320040" y="1920240"/>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02</a:t>
            </a:r>
            <a:endParaRPr lang="en-US" sz="900" dirty="0"/>
          </a:p>
        </p:txBody>
      </p:sp>
      <p:sp>
        <p:nvSpPr>
          <p:cNvPr id="11" name="Text 9"/>
          <p:cNvSpPr/>
          <p:nvPr/>
        </p:nvSpPr>
        <p:spPr>
          <a:xfrm>
            <a:off x="804672" y="1920240"/>
            <a:ext cx="3749040" cy="841248"/>
          </a:xfrm>
          <a:prstGeom prst="rect">
            <a:avLst/>
          </a:prstGeom>
          <a:noFill/>
          <a:ln/>
        </p:spPr>
        <p:txBody>
          <a:bodyPr wrap="square" lIns="0" tIns="0" rIns="0" bIns="0" rtlCol="0" anchor="ctr"/>
          <a:lstStyle/>
          <a:p>
            <a:pPr marL="0" indent="0">
              <a:buNone/>
            </a:pPr>
            <a:r>
              <a:rPr lang="en-US" sz="900" dirty="0">
                <a:solidFill>
                  <a:srgbClr val="1A1A2E"/>
                </a:solidFill>
              </a:rPr>
              <a:t>Every image format has a unique file signature (magic bytes) at byte offset 0. File extension is unreliable — always verify format by examining the raw header bytes.</a:t>
            </a:r>
            <a:endParaRPr lang="en-US" sz="900" dirty="0"/>
          </a:p>
        </p:txBody>
      </p:sp>
      <p:sp>
        <p:nvSpPr>
          <p:cNvPr id="12" name="Shape 10"/>
          <p:cNvSpPr/>
          <p:nvPr/>
        </p:nvSpPr>
        <p:spPr>
          <a:xfrm>
            <a:off x="320040" y="2871216"/>
            <a:ext cx="420624" cy="310896"/>
          </a:xfrm>
          <a:prstGeom prst="rect">
            <a:avLst/>
          </a:prstGeom>
          <a:solidFill>
            <a:srgbClr val="2ECC71"/>
          </a:solidFill>
          <a:ln w="12700">
            <a:solidFill>
              <a:srgbClr val="2ECC71"/>
            </a:solidFill>
            <a:prstDash val="solid"/>
          </a:ln>
        </p:spPr>
        <p:txBody>
          <a:bodyPr/>
          <a:lstStyle/>
          <a:p>
            <a:endParaRPr lang="en-SG"/>
          </a:p>
        </p:txBody>
      </p:sp>
      <p:sp>
        <p:nvSpPr>
          <p:cNvPr id="13" name="Text 11"/>
          <p:cNvSpPr/>
          <p:nvPr/>
        </p:nvSpPr>
        <p:spPr>
          <a:xfrm>
            <a:off x="320040" y="2871216"/>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03</a:t>
            </a:r>
            <a:endParaRPr lang="en-US" sz="900" dirty="0"/>
          </a:p>
        </p:txBody>
      </p:sp>
      <p:sp>
        <p:nvSpPr>
          <p:cNvPr id="14" name="Text 12"/>
          <p:cNvSpPr/>
          <p:nvPr/>
        </p:nvSpPr>
        <p:spPr>
          <a:xfrm>
            <a:off x="804672" y="2871216"/>
            <a:ext cx="3749040" cy="841248"/>
          </a:xfrm>
          <a:prstGeom prst="rect">
            <a:avLst/>
          </a:prstGeom>
          <a:noFill/>
          <a:ln/>
        </p:spPr>
        <p:txBody>
          <a:bodyPr wrap="square" lIns="0" tIns="0" rIns="0" bIns="0" rtlCol="0" anchor="ctr"/>
          <a:lstStyle/>
          <a:p>
            <a:pPr marL="0" indent="0">
              <a:buNone/>
            </a:pPr>
            <a:r>
              <a:rPr lang="en-US" sz="900" dirty="0">
                <a:solidFill>
                  <a:srgbClr val="1A1A2E"/>
                </a:solidFill>
              </a:rPr>
              <a:t>EXIF metadata embedded in JPEG and RAW files records timestamps, GPS coordinates, device model, and software — often the most valuable evidence in an image investigation.</a:t>
            </a:r>
            <a:endParaRPr lang="en-US" sz="900" dirty="0"/>
          </a:p>
        </p:txBody>
      </p:sp>
      <p:sp>
        <p:nvSpPr>
          <p:cNvPr id="15" name="Shape 13"/>
          <p:cNvSpPr/>
          <p:nvPr/>
        </p:nvSpPr>
        <p:spPr>
          <a:xfrm>
            <a:off x="320040" y="3822192"/>
            <a:ext cx="420624" cy="310896"/>
          </a:xfrm>
          <a:prstGeom prst="rect">
            <a:avLst/>
          </a:prstGeom>
          <a:solidFill>
            <a:srgbClr val="A855F7"/>
          </a:solidFill>
          <a:ln w="12700">
            <a:solidFill>
              <a:srgbClr val="A855F7"/>
            </a:solidFill>
            <a:prstDash val="solid"/>
          </a:ln>
        </p:spPr>
        <p:txBody>
          <a:bodyPr/>
          <a:lstStyle/>
          <a:p>
            <a:endParaRPr lang="en-SG"/>
          </a:p>
        </p:txBody>
      </p:sp>
      <p:sp>
        <p:nvSpPr>
          <p:cNvPr id="16" name="Text 14"/>
          <p:cNvSpPr/>
          <p:nvPr/>
        </p:nvSpPr>
        <p:spPr>
          <a:xfrm>
            <a:off x="320040" y="3822192"/>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04</a:t>
            </a:r>
            <a:endParaRPr lang="en-US" sz="900" dirty="0"/>
          </a:p>
        </p:txBody>
      </p:sp>
      <p:sp>
        <p:nvSpPr>
          <p:cNvPr id="17" name="Text 15"/>
          <p:cNvSpPr/>
          <p:nvPr/>
        </p:nvSpPr>
        <p:spPr>
          <a:xfrm>
            <a:off x="804672" y="3822192"/>
            <a:ext cx="3749040" cy="841248"/>
          </a:xfrm>
          <a:prstGeom prst="rect">
            <a:avLst/>
          </a:prstGeom>
          <a:noFill/>
          <a:ln/>
        </p:spPr>
        <p:txBody>
          <a:bodyPr wrap="square" lIns="0" tIns="0" rIns="0" bIns="0" rtlCol="0" anchor="ctr"/>
          <a:lstStyle/>
          <a:p>
            <a:pPr marL="0" indent="0">
              <a:buNone/>
            </a:pPr>
            <a:r>
              <a:rPr lang="en-US" sz="900" dirty="0">
                <a:solidFill>
                  <a:srgbClr val="1A1A2E"/>
                </a:solidFill>
              </a:rPr>
              <a:t>Lossy compression (JPEG) permanently destroys data; lossless compression (PNG) preserves it exactly. Forensic copies must always be lossless to ensure hash verifiability.</a:t>
            </a:r>
            <a:endParaRPr lang="en-US" sz="900" dirty="0"/>
          </a:p>
        </p:txBody>
      </p:sp>
      <p:sp>
        <p:nvSpPr>
          <p:cNvPr id="18" name="Shape 16"/>
          <p:cNvSpPr/>
          <p:nvPr/>
        </p:nvSpPr>
        <p:spPr>
          <a:xfrm>
            <a:off x="4700016" y="969264"/>
            <a:ext cx="420624" cy="310896"/>
          </a:xfrm>
          <a:prstGeom prst="rect">
            <a:avLst/>
          </a:prstGeom>
          <a:solidFill>
            <a:srgbClr val="F1C40F"/>
          </a:solidFill>
          <a:ln w="12700">
            <a:solidFill>
              <a:srgbClr val="F1C40F"/>
            </a:solidFill>
            <a:prstDash val="solid"/>
          </a:ln>
        </p:spPr>
        <p:txBody>
          <a:bodyPr/>
          <a:lstStyle/>
          <a:p>
            <a:endParaRPr lang="en-SG"/>
          </a:p>
        </p:txBody>
      </p:sp>
      <p:sp>
        <p:nvSpPr>
          <p:cNvPr id="19" name="Text 17"/>
          <p:cNvSpPr/>
          <p:nvPr/>
        </p:nvSpPr>
        <p:spPr>
          <a:xfrm>
            <a:off x="4700016" y="969264"/>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05</a:t>
            </a:r>
            <a:endParaRPr lang="en-US" sz="900" dirty="0"/>
          </a:p>
        </p:txBody>
      </p:sp>
      <p:sp>
        <p:nvSpPr>
          <p:cNvPr id="20" name="Text 18"/>
          <p:cNvSpPr/>
          <p:nvPr/>
        </p:nvSpPr>
        <p:spPr>
          <a:xfrm>
            <a:off x="5175504" y="969264"/>
            <a:ext cx="3657600" cy="841248"/>
          </a:xfrm>
          <a:prstGeom prst="rect">
            <a:avLst/>
          </a:prstGeom>
          <a:noFill/>
          <a:ln/>
        </p:spPr>
        <p:txBody>
          <a:bodyPr wrap="square" lIns="0" tIns="0" rIns="0" bIns="0" rtlCol="0" anchor="ctr"/>
          <a:lstStyle/>
          <a:p>
            <a:pPr marL="0" indent="0">
              <a:buNone/>
            </a:pPr>
            <a:r>
              <a:rPr lang="en-US" sz="900" dirty="0">
                <a:solidFill>
                  <a:srgbClr val="1A1A2E"/>
                </a:solidFill>
              </a:rPr>
              <a:t>Deleted image files can be recovered by carving raw disk images for file signatures (header/footer). Fragmented files require cluster-by-cluster reconstruction.</a:t>
            </a:r>
            <a:endParaRPr lang="en-US" sz="900" dirty="0"/>
          </a:p>
        </p:txBody>
      </p:sp>
      <p:sp>
        <p:nvSpPr>
          <p:cNvPr id="21" name="Shape 19"/>
          <p:cNvSpPr/>
          <p:nvPr/>
        </p:nvSpPr>
        <p:spPr>
          <a:xfrm>
            <a:off x="4700016" y="1920240"/>
            <a:ext cx="420624" cy="310896"/>
          </a:xfrm>
          <a:prstGeom prst="rect">
            <a:avLst/>
          </a:prstGeom>
          <a:solidFill>
            <a:srgbClr val="2EC4B6"/>
          </a:solidFill>
          <a:ln w="12700">
            <a:solidFill>
              <a:srgbClr val="2EC4B6"/>
            </a:solidFill>
            <a:prstDash val="solid"/>
          </a:ln>
        </p:spPr>
        <p:txBody>
          <a:bodyPr/>
          <a:lstStyle/>
          <a:p>
            <a:endParaRPr lang="en-SG"/>
          </a:p>
        </p:txBody>
      </p:sp>
      <p:sp>
        <p:nvSpPr>
          <p:cNvPr id="22" name="Text 20"/>
          <p:cNvSpPr/>
          <p:nvPr/>
        </p:nvSpPr>
        <p:spPr>
          <a:xfrm>
            <a:off x="4700016" y="1920240"/>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06</a:t>
            </a:r>
            <a:endParaRPr lang="en-US" sz="900" dirty="0"/>
          </a:p>
        </p:txBody>
      </p:sp>
      <p:sp>
        <p:nvSpPr>
          <p:cNvPr id="23" name="Text 21"/>
          <p:cNvSpPr/>
          <p:nvPr/>
        </p:nvSpPr>
        <p:spPr>
          <a:xfrm>
            <a:off x="5175504" y="1920240"/>
            <a:ext cx="3657600" cy="841248"/>
          </a:xfrm>
          <a:prstGeom prst="rect">
            <a:avLst/>
          </a:prstGeom>
          <a:noFill/>
          <a:ln/>
        </p:spPr>
        <p:txBody>
          <a:bodyPr wrap="square" lIns="0" tIns="0" rIns="0" bIns="0" rtlCol="0" anchor="ctr"/>
          <a:lstStyle/>
          <a:p>
            <a:pPr marL="0" indent="0">
              <a:buNone/>
            </a:pPr>
            <a:r>
              <a:rPr lang="en-US" sz="900" dirty="0">
                <a:solidFill>
                  <a:srgbClr val="1A1A2E"/>
                </a:solidFill>
              </a:rPr>
              <a:t>Steganography conceals data within carriers such as images. LSB manipulation, EOF appending, and metadata embedding are the three most common techniques.</a:t>
            </a:r>
            <a:endParaRPr lang="en-US" sz="900" dirty="0"/>
          </a:p>
        </p:txBody>
      </p:sp>
      <p:sp>
        <p:nvSpPr>
          <p:cNvPr id="24" name="Shape 22"/>
          <p:cNvSpPr/>
          <p:nvPr/>
        </p:nvSpPr>
        <p:spPr>
          <a:xfrm>
            <a:off x="4700016" y="2871216"/>
            <a:ext cx="420624" cy="310896"/>
          </a:xfrm>
          <a:prstGeom prst="rect">
            <a:avLst/>
          </a:prstGeom>
          <a:solidFill>
            <a:srgbClr val="FF6B9D"/>
          </a:solidFill>
          <a:ln w="12700">
            <a:solidFill>
              <a:srgbClr val="FF6B9D"/>
            </a:solidFill>
            <a:prstDash val="solid"/>
          </a:ln>
        </p:spPr>
        <p:txBody>
          <a:bodyPr/>
          <a:lstStyle/>
          <a:p>
            <a:endParaRPr lang="en-SG"/>
          </a:p>
        </p:txBody>
      </p:sp>
      <p:sp>
        <p:nvSpPr>
          <p:cNvPr id="25" name="Text 23"/>
          <p:cNvSpPr/>
          <p:nvPr/>
        </p:nvSpPr>
        <p:spPr>
          <a:xfrm>
            <a:off x="4700016" y="2871216"/>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07</a:t>
            </a:r>
            <a:endParaRPr lang="en-US" sz="900" dirty="0"/>
          </a:p>
        </p:txBody>
      </p:sp>
      <p:sp>
        <p:nvSpPr>
          <p:cNvPr id="26" name="Text 24"/>
          <p:cNvSpPr/>
          <p:nvPr/>
        </p:nvSpPr>
        <p:spPr>
          <a:xfrm>
            <a:off x="5175504" y="2871216"/>
            <a:ext cx="3657600" cy="841248"/>
          </a:xfrm>
          <a:prstGeom prst="rect">
            <a:avLst/>
          </a:prstGeom>
          <a:noFill/>
          <a:ln/>
        </p:spPr>
        <p:txBody>
          <a:bodyPr wrap="square" lIns="0" tIns="0" rIns="0" bIns="0" rtlCol="0" anchor="ctr"/>
          <a:lstStyle/>
          <a:p>
            <a:pPr marL="0" indent="0">
              <a:buNone/>
            </a:pPr>
            <a:r>
              <a:rPr lang="en-US" sz="900" dirty="0">
                <a:solidFill>
                  <a:srgbClr val="1A1A2E"/>
                </a:solidFill>
              </a:rPr>
              <a:t>Steganalysis uses statistical tests (chi-squared, RS analysis), visual inspection (bit plane filters), and signature detection to identify hidden content.</a:t>
            </a:r>
            <a:endParaRPr lang="en-US" sz="900" dirty="0"/>
          </a:p>
        </p:txBody>
      </p:sp>
      <p:sp>
        <p:nvSpPr>
          <p:cNvPr id="27" name="Shape 25"/>
          <p:cNvSpPr/>
          <p:nvPr/>
        </p:nvSpPr>
        <p:spPr>
          <a:xfrm>
            <a:off x="4700016" y="3822192"/>
            <a:ext cx="420624" cy="310896"/>
          </a:xfrm>
          <a:prstGeom prst="rect">
            <a:avLst/>
          </a:prstGeom>
          <a:solidFill>
            <a:srgbClr val="E74C3C"/>
          </a:solidFill>
          <a:ln w="12700">
            <a:solidFill>
              <a:srgbClr val="E74C3C"/>
            </a:solidFill>
            <a:prstDash val="solid"/>
          </a:ln>
        </p:spPr>
        <p:txBody>
          <a:bodyPr/>
          <a:lstStyle/>
          <a:p>
            <a:endParaRPr lang="en-SG"/>
          </a:p>
        </p:txBody>
      </p:sp>
      <p:sp>
        <p:nvSpPr>
          <p:cNvPr id="28" name="Text 26"/>
          <p:cNvSpPr/>
          <p:nvPr/>
        </p:nvSpPr>
        <p:spPr>
          <a:xfrm>
            <a:off x="4700016" y="3822192"/>
            <a:ext cx="420624" cy="310896"/>
          </a:xfrm>
          <a:prstGeom prst="rect">
            <a:avLst/>
          </a:prstGeom>
          <a:noFill/>
          <a:ln/>
        </p:spPr>
        <p:txBody>
          <a:bodyPr wrap="square" lIns="0" tIns="0" rIns="0" bIns="0" rtlCol="0" anchor="ctr"/>
          <a:lstStyle/>
          <a:p>
            <a:pPr marL="0" indent="0" algn="ctr">
              <a:buNone/>
            </a:pPr>
            <a:r>
              <a:rPr lang="en-US" sz="900" b="1" dirty="0">
                <a:solidFill>
                  <a:srgbClr val="0D1B2A"/>
                </a:solidFill>
              </a:rPr>
              <a:t>08</a:t>
            </a:r>
            <a:endParaRPr lang="en-US" sz="900" dirty="0"/>
          </a:p>
        </p:txBody>
      </p:sp>
      <p:sp>
        <p:nvSpPr>
          <p:cNvPr id="29" name="Text 27"/>
          <p:cNvSpPr/>
          <p:nvPr/>
        </p:nvSpPr>
        <p:spPr>
          <a:xfrm>
            <a:off x="5175504" y="3822192"/>
            <a:ext cx="3657600" cy="841248"/>
          </a:xfrm>
          <a:prstGeom prst="rect">
            <a:avLst/>
          </a:prstGeom>
          <a:noFill/>
          <a:ln/>
        </p:spPr>
        <p:txBody>
          <a:bodyPr wrap="square" lIns="0" tIns="0" rIns="0" bIns="0" rtlCol="0" anchor="ctr"/>
          <a:lstStyle/>
          <a:p>
            <a:pPr marL="0" indent="0">
              <a:buNone/>
            </a:pPr>
            <a:r>
              <a:rPr lang="en-US" sz="900" dirty="0">
                <a:solidFill>
                  <a:srgbClr val="1A1A2E"/>
                </a:solidFill>
              </a:rPr>
              <a:t>File size anomalies — where actual file size is disproportionate to image dimensions — are a rapid first indicator of steganographic embedding during image triage.</a:t>
            </a:r>
            <a:endParaRPr lang="en-US" sz="900" dirty="0"/>
          </a:p>
        </p:txBody>
      </p:sp>
      <p:sp>
        <p:nvSpPr>
          <p:cNvPr id="30" name="Text 28"/>
          <p:cNvSpPr/>
          <p:nvPr/>
        </p:nvSpPr>
        <p:spPr>
          <a:xfrm>
            <a:off x="320040" y="4828032"/>
            <a:ext cx="8503920" cy="201168"/>
          </a:xfrm>
          <a:prstGeom prst="rect">
            <a:avLst/>
          </a:prstGeom>
          <a:noFill/>
          <a:ln/>
        </p:spPr>
        <p:txBody>
          <a:bodyPr wrap="square" lIns="0" tIns="0" rIns="0" bIns="0" rtlCol="0" anchor="ctr"/>
          <a:lstStyle/>
          <a:p>
            <a:pPr marL="0" indent="0">
              <a:buNone/>
            </a:pPr>
            <a:r>
              <a:rPr lang="en-US" sz="900" i="1" dirty="0">
                <a:solidFill>
                  <a:srgbClr val="8899AA"/>
                </a:solidFill>
              </a:rPr>
              <a:t>Next:  Lesson 7 — Network Forensics &amp; Log Analysis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B12922E7882248BCC5AA3FA2F67AA5" ma:contentTypeVersion="21" ma:contentTypeDescription="Create a new document." ma:contentTypeScope="" ma:versionID="17eca64fb8526c6500046ce496af3705">
  <xsd:schema xmlns:xsd="http://www.w3.org/2001/XMLSchema" xmlns:xs="http://www.w3.org/2001/XMLSchema" xmlns:p="http://schemas.microsoft.com/office/2006/metadata/properties" xmlns:ns2="4b318d02-235f-4db9-ad34-20bb5fcc8063" xmlns:ns3="2732436f-90ae-4a0f-88e2-b128265cf4b3" targetNamespace="http://schemas.microsoft.com/office/2006/metadata/properties" ma:root="true" ma:fieldsID="0fc14c5fb12fcec4f3021900c42fd578" ns2:_="" ns3:_="">
    <xsd:import namespace="4b318d02-235f-4db9-ad34-20bb5fcc8063"/>
    <xsd:import namespace="2732436f-90ae-4a0f-88e2-b128265cf4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d02-235f-4db9-ad34-20bb5fcc8063"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7e268a5-46d0-4c07-95fc-ea0a071d2bd7}" ma:internalName="TaxCatchAll" ma:showField="CatchAllData" ma:web="4b318d02-235f-4db9-ad34-20bb5fcc806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32436f-90ae-4a0f-88e2-b128265cf4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732436f-90ae-4a0f-88e2-b128265cf4b3">
      <Terms xmlns="http://schemas.microsoft.com/office/infopath/2007/PartnerControls"/>
    </lcf76f155ced4ddcb4097134ff3c332f>
    <TaxCatchAll xmlns="4b318d02-235f-4db9-ad34-20bb5fcc806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02D8A3-773D-4A37-9D7B-737BA99AAC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318d02-235f-4db9-ad34-20bb5fcc8063"/>
    <ds:schemaRef ds:uri="2732436f-90ae-4a0f-88e2-b128265cf4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1FBCAA-DF71-40E8-A28B-490672C52000}">
  <ds:schemaRefs>
    <ds:schemaRef ds:uri="http://www.w3.org/XML/1998/namespace"/>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3e3fafd7-318f-4e4d-809b-9691c39d9c6f"/>
    <ds:schemaRef ds:uri="http://schemas.microsoft.com/sharepoint/v3"/>
    <ds:schemaRef ds:uri="http://purl.org/dc/terms/"/>
    <ds:schemaRef ds:uri="2732436f-90ae-4a0f-88e2-b128265cf4b3"/>
    <ds:schemaRef ds:uri="4b318d02-235f-4db9-ad34-20bb5fcc8063"/>
  </ds:schemaRefs>
</ds:datastoreItem>
</file>

<file path=customXml/itemProps3.xml><?xml version="1.0" encoding="utf-8"?>
<ds:datastoreItem xmlns:ds="http://schemas.openxmlformats.org/officeDocument/2006/customXml" ds:itemID="{CF77F7CA-2341-4DF6-B07A-9DD91BB5A7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6867</Words>
  <Application>Microsoft Office PowerPoint</Application>
  <PresentationFormat>On-screen Show (16:9)</PresentationFormat>
  <Paragraphs>870</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Digital Forensics Course</dc:creator>
  <cp:lastModifiedBy>Shaun TAN (TP)</cp:lastModifiedBy>
  <cp:revision>3</cp:revision>
  <dcterms:created xsi:type="dcterms:W3CDTF">2026-03-12T09:04:26Z</dcterms:created>
  <dcterms:modified xsi:type="dcterms:W3CDTF">2026-05-02T12:20:43Z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0x01010012B12922E7882248BCC5AA3FA2F67AA5</vt:lpwstr>
  </property>
  <property fmtid="{D5CDD505-2E9C-101B-9397-08002B2CF9AE}" pid="3" name="MSIP_Label_d528611d-fe69-484f-b56b-0db8a0d79612_Enabled">
    <vt:lpwstr>true</vt:lpwstr>
  </property>
  <property fmtid="{D5CDD505-2E9C-101B-9397-08002B2CF9AE}" pid="4" name="MSIP_Label_d528611d-fe69-484f-b56b-0db8a0d79612_SetDate">
    <vt:lpwstr>2026-04-09T02:17:31Z</vt:lpwstr>
  </property>
  <property fmtid="{D5CDD505-2E9C-101B-9397-08002B2CF9AE}" pid="5" name="MSIP_Label_d528611d-fe69-484f-b56b-0db8a0d79612_Method">
    <vt:lpwstr>Privileged</vt:lpwstr>
  </property>
  <property fmtid="{D5CDD505-2E9C-101B-9397-08002B2CF9AE}" pid="6" name="MSIP_Label_d528611d-fe69-484f-b56b-0db8a0d79612_Name">
    <vt:lpwstr>Public</vt:lpwstr>
  </property>
  <property fmtid="{D5CDD505-2E9C-101B-9397-08002B2CF9AE}" pid="7" name="MSIP_Label_d528611d-fe69-484f-b56b-0db8a0d79612_SiteId">
    <vt:lpwstr>25a99bf0-8e72-472a-ae50-adfbdf0df6f1</vt:lpwstr>
  </property>
  <property fmtid="{D5CDD505-2E9C-101B-9397-08002B2CF9AE}" pid="8" name="MSIP_Label_d528611d-fe69-484f-b56b-0db8a0d79612_ActionId">
    <vt:lpwstr>46c6cea1-bd4a-4676-8105-0f9f2c6c094e</vt:lpwstr>
  </property>
  <property fmtid="{D5CDD505-2E9C-101B-9397-08002B2CF9AE}" pid="9" name="MSIP_Label_d528611d-fe69-484f-b56b-0db8a0d79612_ContentBits">
    <vt:lpwstr>0</vt:lpwstr>
  </property>
  <property fmtid="{D5CDD505-2E9C-101B-9397-08002B2CF9AE}" pid="10" name="MSIP_Label_d528611d-fe69-484f-b56b-0db8a0d79612_Tag">
    <vt:lpwstr>10, 0, 1, 1</vt:lpwstr>
  </property>
  <property fmtid="{D5CDD505-2E9C-101B-9397-08002B2CF9AE}" pid="11" name="Order">
    <vt:r8>160900</vt:r8>
  </property>
  <property fmtid="{D5CDD505-2E9C-101B-9397-08002B2CF9AE}" pid="12" name="ComplianceAssetId">
    <vt:lpwstr/>
  </property>
  <property fmtid="{D5CDD505-2E9C-101B-9397-08002B2CF9AE}" pid="13" name="_ExtendedDescription">
    <vt:lpwstr/>
  </property>
  <property fmtid="{D5CDD505-2E9C-101B-9397-08002B2CF9AE}" pid="14" name="TriggerFlowInfo">
    <vt:lpwstr/>
  </property>
  <property fmtid="{D5CDD505-2E9C-101B-9397-08002B2CF9AE}" pid="15" name="MediaServiceImageTags">
    <vt:lpwstr/>
  </property>
</Properties>
</file>