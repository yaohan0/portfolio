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4"/>
  </p:notesMasterIdLst>
  <p:sldIdLst>
    <p:sldId id="256" r:id="rId5"/>
    <p:sldId id="257" r:id="rId6"/>
    <p:sldId id="258" r:id="rId7"/>
    <p:sldId id="259" r:id="rId8"/>
    <p:sldId id="260" r:id="rId9"/>
    <p:sldId id="261" r:id="rId10"/>
    <p:sldId id="262" r:id="rId11"/>
    <p:sldId id="263" r:id="rId12"/>
    <p:sldId id="264" r:id="rId13"/>
    <p:sldId id="265" r:id="rId14"/>
    <p:sldId id="266" r:id="rId15"/>
    <p:sldId id="274" r:id="rId16"/>
    <p:sldId id="267" r:id="rId17"/>
    <p:sldId id="268" r:id="rId18"/>
    <p:sldId id="269" r:id="rId19"/>
    <p:sldId id="270" r:id="rId20"/>
    <p:sldId id="271" r:id="rId21"/>
    <p:sldId id="272" r:id="rId22"/>
    <p:sldId id="273" r:id="rId2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6FCE1CF-524A-40E6-B172-BE0A2E5BEC67}" v="3" dt="2026-04-09T01:57:19.19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7" d="100"/>
          <a:sy n="87" d="100"/>
        </p:scale>
        <p:origin x="680" y="2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ur Shuhadah BINTE JALIL (TP)" userId="6a975622-816e-4480-9323-6edcbb1b288f" providerId="ADAL" clId="{99A77B70-6630-4305-B260-DF09FCBD32FD}"/>
    <pc:docChg chg="mod modSld">
      <pc:chgData name="Nur Shuhadah BINTE JALIL (TP)" userId="6a975622-816e-4480-9323-6edcbb1b288f" providerId="ADAL" clId="{99A77B70-6630-4305-B260-DF09FCBD32FD}" dt="2026-04-09T01:58:44.310" v="25" actId="14100"/>
      <pc:docMkLst>
        <pc:docMk/>
      </pc:docMkLst>
      <pc:sldChg chg="modSp mod">
        <pc:chgData name="Nur Shuhadah BINTE JALIL (TP)" userId="6a975622-816e-4480-9323-6edcbb1b288f" providerId="ADAL" clId="{99A77B70-6630-4305-B260-DF09FCBD32FD}" dt="2026-04-09T01:58:06.252" v="22" actId="20577"/>
        <pc:sldMkLst>
          <pc:docMk/>
          <pc:sldMk cId="0" sldId="256"/>
        </pc:sldMkLst>
        <pc:spChg chg="mod">
          <ac:chgData name="Nur Shuhadah BINTE JALIL (TP)" userId="6a975622-816e-4480-9323-6edcbb1b288f" providerId="ADAL" clId="{99A77B70-6630-4305-B260-DF09FCBD32FD}" dt="2026-04-09T01:58:06.252" v="22" actId="20577"/>
          <ac:spMkLst>
            <pc:docMk/>
            <pc:sldMk cId="0" sldId="256"/>
            <ac:spMk id="23" creationId="{00000000-0000-0000-0000-000000000000}"/>
          </ac:spMkLst>
        </pc:spChg>
      </pc:sldChg>
      <pc:sldChg chg="modSp mod">
        <pc:chgData name="Nur Shuhadah BINTE JALIL (TP)" userId="6a975622-816e-4480-9323-6edcbb1b288f" providerId="ADAL" clId="{99A77B70-6630-4305-B260-DF09FCBD32FD}" dt="2026-04-09T01:58:44.310" v="25" actId="14100"/>
        <pc:sldMkLst>
          <pc:docMk/>
          <pc:sldMk cId="0" sldId="265"/>
        </pc:sldMkLst>
        <pc:spChg chg="mod">
          <ac:chgData name="Nur Shuhadah BINTE JALIL (TP)" userId="6a975622-816e-4480-9323-6edcbb1b288f" providerId="ADAL" clId="{99A77B70-6630-4305-B260-DF09FCBD32FD}" dt="2026-04-09T01:58:27.951" v="23" actId="255"/>
          <ac:spMkLst>
            <pc:docMk/>
            <pc:sldMk cId="0" sldId="265"/>
            <ac:spMk id="7" creationId="{00000000-0000-0000-0000-000000000000}"/>
          </ac:spMkLst>
        </pc:spChg>
        <pc:spChg chg="mod">
          <ac:chgData name="Nur Shuhadah BINTE JALIL (TP)" userId="6a975622-816e-4480-9323-6edcbb1b288f" providerId="ADAL" clId="{99A77B70-6630-4305-B260-DF09FCBD32FD}" dt="2026-04-09T01:58:44.310" v="25" actId="14100"/>
          <ac:spMkLst>
            <pc:docMk/>
            <pc:sldMk cId="0" sldId="265"/>
            <ac:spMk id="8" creationId="{00000000-0000-0000-0000-000000000000}"/>
          </ac:spMkLst>
        </pc:spChg>
        <pc:spChg chg="mod">
          <ac:chgData name="Nur Shuhadah BINTE JALIL (TP)" userId="6a975622-816e-4480-9323-6edcbb1b288f" providerId="ADAL" clId="{99A77B70-6630-4305-B260-DF09FCBD32FD}" dt="2026-04-09T01:58:32.923" v="24" actId="255"/>
          <ac:spMkLst>
            <pc:docMk/>
            <pc:sldMk cId="0" sldId="265"/>
            <ac:spMk id="10" creationId="{00000000-0000-0000-0000-000000000000}"/>
          </ac:spMkLst>
        </pc:spChg>
      </pc:sldChg>
      <pc:sldChg chg="modSp mod">
        <pc:chgData name="Nur Shuhadah BINTE JALIL (TP)" userId="6a975622-816e-4480-9323-6edcbb1b288f" providerId="ADAL" clId="{99A77B70-6630-4305-B260-DF09FCBD32FD}" dt="2026-04-09T01:57:23.447" v="21" actId="20577"/>
        <pc:sldMkLst>
          <pc:docMk/>
          <pc:sldMk cId="0" sldId="273"/>
        </pc:sldMkLst>
        <pc:spChg chg="mod">
          <ac:chgData name="Nur Shuhadah BINTE JALIL (TP)" userId="6a975622-816e-4480-9323-6edcbb1b288f" providerId="ADAL" clId="{99A77B70-6630-4305-B260-DF09FCBD32FD}" dt="2026-04-09T01:56:13.278" v="1" actId="20577"/>
          <ac:spMkLst>
            <pc:docMk/>
            <pc:sldMk cId="0" sldId="273"/>
            <ac:spMk id="7" creationId="{00000000-0000-0000-0000-000000000000}"/>
          </ac:spMkLst>
        </pc:spChg>
        <pc:spChg chg="mod">
          <ac:chgData name="Nur Shuhadah BINTE JALIL (TP)" userId="6a975622-816e-4480-9323-6edcbb1b288f" providerId="ADAL" clId="{99A77B70-6630-4305-B260-DF09FCBD32FD}" dt="2026-04-09T01:57:23.447" v="21" actId="20577"/>
          <ac:spMkLst>
            <pc:docMk/>
            <pc:sldMk cId="0" sldId="273"/>
            <ac:spMk id="14"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121173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25D543-3D56-53E7-606D-53EE131573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03022D-BD16-5D1F-152F-31399F7927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54ED84-96C9-B8FD-AB03-90FE87E2003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6C77710-016E-80E2-2087-14772843BE6C}"/>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39085946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474720" cy="5143500"/>
          </a:xfrm>
          <a:prstGeom prst="rect">
            <a:avLst/>
          </a:prstGeom>
          <a:solidFill>
            <a:srgbClr val="00A8A8"/>
          </a:solidFill>
          <a:ln w="12700">
            <a:solidFill>
              <a:srgbClr val="00A8A8"/>
            </a:solidFill>
            <a:prstDash val="solid"/>
          </a:ln>
        </p:spPr>
        <p:txBody>
          <a:bodyPr/>
          <a:lstStyle/>
          <a:p>
            <a:endParaRPr lang="en-SG"/>
          </a:p>
        </p:txBody>
      </p:sp>
      <p:pic>
        <p:nvPicPr>
          <p:cNvPr id="3" name="Image 0" descr="preencoded.png"/>
          <p:cNvPicPr>
            <a:picLocks noChangeAspect="1"/>
          </p:cNvPicPr>
          <p:nvPr/>
        </p:nvPicPr>
        <p:blipFill>
          <a:blip r:embed="rId3"/>
          <a:stretch>
            <a:fillRect/>
          </a:stretch>
        </p:blipFill>
        <p:spPr>
          <a:xfrm>
            <a:off x="1234440" y="320040"/>
            <a:ext cx="1005840" cy="1005840"/>
          </a:xfrm>
          <a:prstGeom prst="rect">
            <a:avLst/>
          </a:prstGeom>
        </p:spPr>
      </p:pic>
      <p:sp>
        <p:nvSpPr>
          <p:cNvPr id="4" name="Text 1"/>
          <p:cNvSpPr/>
          <p:nvPr/>
        </p:nvSpPr>
        <p:spPr>
          <a:xfrm>
            <a:off x="91440" y="1417320"/>
            <a:ext cx="3291840" cy="347472"/>
          </a:xfrm>
          <a:prstGeom prst="rect">
            <a:avLst/>
          </a:prstGeom>
          <a:noFill/>
          <a:ln/>
        </p:spPr>
        <p:txBody>
          <a:bodyPr wrap="square" lIns="0" tIns="0" rIns="0" bIns="0" rtlCol="0" anchor="ctr"/>
          <a:lstStyle/>
          <a:p>
            <a:pPr marL="0" indent="0" algn="ctr">
              <a:buNone/>
            </a:pPr>
            <a:r>
              <a:rPr lang="en-US" sz="1100" b="1" kern="0" spc="600" dirty="0">
                <a:solidFill>
                  <a:srgbClr val="0D1B2A"/>
                </a:solidFill>
                <a:latin typeface="Trebuchet MS" pitchFamily="34" charset="0"/>
                <a:ea typeface="Trebuchet MS" pitchFamily="34" charset="-122"/>
                <a:cs typeface="Trebuchet MS" pitchFamily="34" charset="-120"/>
              </a:rPr>
              <a:t>LESSON 08</a:t>
            </a:r>
            <a:endParaRPr lang="en-US" sz="1100" dirty="0"/>
          </a:p>
        </p:txBody>
      </p:sp>
      <p:sp>
        <p:nvSpPr>
          <p:cNvPr id="5" name="Text 2"/>
          <p:cNvSpPr/>
          <p:nvPr/>
        </p:nvSpPr>
        <p:spPr>
          <a:xfrm>
            <a:off x="91440" y="1810512"/>
            <a:ext cx="3291840" cy="960120"/>
          </a:xfrm>
          <a:prstGeom prst="rect">
            <a:avLst/>
          </a:prstGeom>
          <a:noFill/>
          <a:ln/>
        </p:spPr>
        <p:txBody>
          <a:bodyPr wrap="square" lIns="0" tIns="0" rIns="0" bIns="0" rtlCol="0" anchor="ctr"/>
          <a:lstStyle/>
          <a:p>
            <a:pPr marL="0" indent="0" algn="ctr">
              <a:buNone/>
            </a:pPr>
            <a:r>
              <a:rPr lang="en-US" sz="2800" b="1" dirty="0">
                <a:solidFill>
                  <a:srgbClr val="0D1B2A"/>
                </a:solidFill>
                <a:latin typeface="Trebuchet MS" pitchFamily="34" charset="0"/>
                <a:ea typeface="Trebuchet MS" pitchFamily="34" charset="-122"/>
                <a:cs typeface="Trebuchet MS" pitchFamily="34" charset="-120"/>
              </a:rPr>
              <a:t>DIGITAL</a:t>
            </a:r>
            <a:endParaRPr lang="en-US" sz="2800" dirty="0"/>
          </a:p>
          <a:p>
            <a:pPr marL="0" indent="0" algn="ctr">
              <a:buNone/>
            </a:pPr>
            <a:r>
              <a:rPr lang="en-US" sz="2800" b="1" dirty="0">
                <a:solidFill>
                  <a:srgbClr val="0D1B2A"/>
                </a:solidFill>
                <a:latin typeface="Trebuchet MS" pitchFamily="34" charset="0"/>
                <a:ea typeface="Trebuchet MS" pitchFamily="34" charset="-122"/>
                <a:cs typeface="Trebuchet MS" pitchFamily="34" charset="-120"/>
              </a:rPr>
              <a:t>FORENSICS</a:t>
            </a:r>
            <a:endParaRPr lang="en-US" sz="2800" dirty="0"/>
          </a:p>
        </p:txBody>
      </p:sp>
      <p:sp>
        <p:nvSpPr>
          <p:cNvPr id="6" name="Shape 3"/>
          <p:cNvSpPr/>
          <p:nvPr/>
        </p:nvSpPr>
        <p:spPr>
          <a:xfrm>
            <a:off x="365760" y="2880360"/>
            <a:ext cx="2743200" cy="36576"/>
          </a:xfrm>
          <a:prstGeom prst="rect">
            <a:avLst/>
          </a:prstGeom>
          <a:solidFill>
            <a:srgbClr val="FFFFFF"/>
          </a:solidFill>
          <a:ln w="12700">
            <a:solidFill>
              <a:srgbClr val="FFFFFF"/>
            </a:solidFill>
            <a:prstDash val="solid"/>
          </a:ln>
        </p:spPr>
        <p:txBody>
          <a:bodyPr/>
          <a:lstStyle/>
          <a:p>
            <a:endParaRPr lang="en-SG"/>
          </a:p>
        </p:txBody>
      </p:sp>
      <p:sp>
        <p:nvSpPr>
          <p:cNvPr id="7" name="Text 4"/>
          <p:cNvSpPr/>
          <p:nvPr/>
        </p:nvSpPr>
        <p:spPr>
          <a:xfrm>
            <a:off x="91440" y="2971800"/>
            <a:ext cx="3291840" cy="274320"/>
          </a:xfrm>
          <a:prstGeom prst="rect">
            <a:avLst/>
          </a:prstGeom>
          <a:noFill/>
          <a:ln/>
        </p:spPr>
        <p:txBody>
          <a:bodyPr wrap="square" lIns="0" tIns="0" rIns="0" bIns="0" rtlCol="0" anchor="ctr"/>
          <a:lstStyle/>
          <a:p>
            <a:pPr marL="0" indent="0" algn="ctr">
              <a:buNone/>
            </a:pPr>
            <a:r>
              <a:rPr lang="en-US" sz="1100" dirty="0">
                <a:solidFill>
                  <a:srgbClr val="0D1B2A"/>
                </a:solidFill>
                <a:latin typeface="Calibri" pitchFamily="34" charset="0"/>
                <a:ea typeface="Calibri" pitchFamily="34" charset="-122"/>
                <a:cs typeface="Calibri" pitchFamily="34" charset="-120"/>
              </a:rPr>
              <a:t>Forensics in Digital Security</a:t>
            </a:r>
            <a:endParaRPr lang="en-US" sz="1100" dirty="0"/>
          </a:p>
        </p:txBody>
      </p:sp>
      <p:sp>
        <p:nvSpPr>
          <p:cNvPr id="8" name="Text 5"/>
          <p:cNvSpPr/>
          <p:nvPr/>
        </p:nvSpPr>
        <p:spPr>
          <a:xfrm>
            <a:off x="3749040" y="1005840"/>
            <a:ext cx="5212080" cy="1005840"/>
          </a:xfrm>
          <a:prstGeom prst="rect">
            <a:avLst/>
          </a:prstGeom>
          <a:noFill/>
          <a:ln/>
        </p:spPr>
        <p:txBody>
          <a:bodyPr wrap="square" lIns="0" tIns="0" rIns="0" bIns="0" rtlCol="0" anchor="ctr"/>
          <a:lstStyle/>
          <a:p>
            <a:pPr marL="0" indent="0" algn="l">
              <a:buNone/>
            </a:pPr>
            <a:r>
              <a:rPr lang="en-US" sz="5400" b="1" dirty="0">
                <a:solidFill>
                  <a:srgbClr val="1A1A2E"/>
                </a:solidFill>
                <a:latin typeface="Trebuchet MS" pitchFamily="34" charset="0"/>
                <a:ea typeface="Trebuchet MS" pitchFamily="34" charset="-122"/>
                <a:cs typeface="Trebuchet MS" pitchFamily="34" charset="-120"/>
              </a:rPr>
              <a:t>REPORTING</a:t>
            </a:r>
            <a:endParaRPr lang="en-US" sz="5400" dirty="0"/>
          </a:p>
        </p:txBody>
      </p:sp>
      <p:sp>
        <p:nvSpPr>
          <p:cNvPr id="9" name="Text 6"/>
          <p:cNvSpPr/>
          <p:nvPr/>
        </p:nvSpPr>
        <p:spPr>
          <a:xfrm>
            <a:off x="3749040" y="2084832"/>
            <a:ext cx="5212080" cy="365760"/>
          </a:xfrm>
          <a:prstGeom prst="rect">
            <a:avLst/>
          </a:prstGeom>
          <a:noFill/>
          <a:ln/>
        </p:spPr>
        <p:txBody>
          <a:bodyPr wrap="square" lIns="0" tIns="0" rIns="0" bIns="0" rtlCol="0" anchor="ctr"/>
          <a:lstStyle/>
          <a:p>
            <a:pPr marL="0" indent="0" algn="l">
              <a:buNone/>
            </a:pPr>
            <a:r>
              <a:rPr lang="en-US" sz="1700" dirty="0">
                <a:solidFill>
                  <a:srgbClr val="00A8A8"/>
                </a:solidFill>
                <a:latin typeface="Calibri" pitchFamily="34" charset="0"/>
                <a:ea typeface="Calibri" pitchFamily="34" charset="-122"/>
                <a:cs typeface="Calibri" pitchFamily="34" charset="-120"/>
              </a:rPr>
              <a:t>Evidence, Writing &amp; Court Testimony</a:t>
            </a:r>
            <a:endParaRPr lang="en-US" sz="1700" dirty="0"/>
          </a:p>
        </p:txBody>
      </p:sp>
      <p:sp>
        <p:nvSpPr>
          <p:cNvPr id="10" name="Shape 7"/>
          <p:cNvSpPr/>
          <p:nvPr/>
        </p:nvSpPr>
        <p:spPr>
          <a:xfrm>
            <a:off x="3749040" y="2523744"/>
            <a:ext cx="5029200" cy="36576"/>
          </a:xfrm>
          <a:prstGeom prst="rect">
            <a:avLst/>
          </a:prstGeom>
          <a:solidFill>
            <a:srgbClr val="007A7A"/>
          </a:solidFill>
          <a:ln w="12700">
            <a:solidFill>
              <a:srgbClr val="007A7A"/>
            </a:solidFill>
            <a:prstDash val="solid"/>
          </a:ln>
        </p:spPr>
        <p:txBody>
          <a:bodyPr/>
          <a:lstStyle/>
          <a:p>
            <a:endParaRPr lang="en-SG"/>
          </a:p>
        </p:txBody>
      </p:sp>
      <p:sp>
        <p:nvSpPr>
          <p:cNvPr id="11" name="Shape 8"/>
          <p:cNvSpPr/>
          <p:nvPr/>
        </p:nvSpPr>
        <p:spPr>
          <a:xfrm>
            <a:off x="3749040" y="2633472"/>
            <a:ext cx="1051560" cy="347472"/>
          </a:xfrm>
          <a:prstGeom prst="rect">
            <a:avLst/>
          </a:prstGeom>
          <a:solidFill>
            <a:srgbClr val="007A7A"/>
          </a:solidFill>
          <a:ln w="12700">
            <a:solidFill>
              <a:srgbClr val="007A7A"/>
            </a:solidFill>
            <a:prstDash val="solid"/>
          </a:ln>
        </p:spPr>
        <p:txBody>
          <a:bodyPr/>
          <a:lstStyle/>
          <a:p>
            <a:endParaRPr lang="en-SG"/>
          </a:p>
        </p:txBody>
      </p:sp>
      <p:sp>
        <p:nvSpPr>
          <p:cNvPr id="12" name="Text 9"/>
          <p:cNvSpPr/>
          <p:nvPr/>
        </p:nvSpPr>
        <p:spPr>
          <a:xfrm>
            <a:off x="3749040" y="2633472"/>
            <a:ext cx="1051560" cy="347472"/>
          </a:xfrm>
          <a:prstGeom prst="rect">
            <a:avLst/>
          </a:prstGeom>
          <a:noFill/>
          <a:ln/>
        </p:spPr>
        <p:txBody>
          <a:bodyPr wrap="square" lIns="0" tIns="0" rIns="0" bIns="0" rtlCol="0" anchor="ctr"/>
          <a:lstStyle/>
          <a:p>
            <a:pPr marL="0" indent="0" algn="ctr">
              <a:buNone/>
            </a:pPr>
            <a:r>
              <a:rPr lang="en-US" sz="900" b="1" dirty="0">
                <a:solidFill>
                  <a:srgbClr val="1A1A2E"/>
                </a:solidFill>
                <a:latin typeface="Calibri" pitchFamily="34" charset="0"/>
                <a:ea typeface="Calibri" pitchFamily="34" charset="-122"/>
                <a:cs typeface="Calibri" pitchFamily="34" charset="-120"/>
              </a:rPr>
              <a:t>RECAP</a:t>
            </a:r>
            <a:endParaRPr lang="en-US" sz="900" dirty="0"/>
          </a:p>
        </p:txBody>
      </p:sp>
      <p:sp>
        <p:nvSpPr>
          <p:cNvPr id="13" name="Text 10"/>
          <p:cNvSpPr/>
          <p:nvPr/>
        </p:nvSpPr>
        <p:spPr>
          <a:xfrm>
            <a:off x="4892040" y="2670048"/>
            <a:ext cx="4069080" cy="274320"/>
          </a:xfrm>
          <a:prstGeom prst="rect">
            <a:avLst/>
          </a:prstGeom>
          <a:noFill/>
          <a:ln/>
        </p:spPr>
        <p:txBody>
          <a:bodyPr wrap="square" lIns="0" tIns="0" rIns="0" bIns="0" rtlCol="0" anchor="ctr"/>
          <a:lstStyle/>
          <a:p>
            <a:pPr marL="0" indent="0" algn="l">
              <a:buNone/>
            </a:pPr>
            <a:r>
              <a:rPr lang="en-US" sz="1200" dirty="0">
                <a:solidFill>
                  <a:srgbClr val="1A1A2E"/>
                </a:solidFill>
                <a:latin typeface="Calibri" pitchFamily="34" charset="0"/>
                <a:ea typeface="Calibri" pitchFamily="34" charset="-122"/>
                <a:cs typeface="Calibri" pitchFamily="34" charset="-120"/>
              </a:rPr>
              <a:t>Foundations of forensic reporting</a:t>
            </a:r>
            <a:endParaRPr lang="en-US" sz="1200" dirty="0"/>
          </a:p>
        </p:txBody>
      </p:sp>
      <p:sp>
        <p:nvSpPr>
          <p:cNvPr id="14" name="Shape 11"/>
          <p:cNvSpPr/>
          <p:nvPr/>
        </p:nvSpPr>
        <p:spPr>
          <a:xfrm>
            <a:off x="3749040" y="3118104"/>
            <a:ext cx="1051560" cy="347472"/>
          </a:xfrm>
          <a:prstGeom prst="rect">
            <a:avLst/>
          </a:prstGeom>
          <a:solidFill>
            <a:srgbClr val="007A7A"/>
          </a:solidFill>
          <a:ln w="12700">
            <a:solidFill>
              <a:srgbClr val="007A7A"/>
            </a:solidFill>
            <a:prstDash val="solid"/>
          </a:ln>
        </p:spPr>
        <p:txBody>
          <a:bodyPr/>
          <a:lstStyle/>
          <a:p>
            <a:endParaRPr lang="en-SG"/>
          </a:p>
        </p:txBody>
      </p:sp>
      <p:sp>
        <p:nvSpPr>
          <p:cNvPr id="15" name="Text 12"/>
          <p:cNvSpPr/>
          <p:nvPr/>
        </p:nvSpPr>
        <p:spPr>
          <a:xfrm>
            <a:off x="3749040" y="3118104"/>
            <a:ext cx="1051560" cy="347472"/>
          </a:xfrm>
          <a:prstGeom prst="rect">
            <a:avLst/>
          </a:prstGeom>
          <a:noFill/>
          <a:ln/>
        </p:spPr>
        <p:txBody>
          <a:bodyPr wrap="square" lIns="0" tIns="0" rIns="0" bIns="0" rtlCol="0" anchor="ctr"/>
          <a:lstStyle/>
          <a:p>
            <a:pPr marL="0" indent="0" algn="ctr">
              <a:buNone/>
            </a:pPr>
            <a:r>
              <a:rPr lang="en-US" sz="900" b="1" dirty="0">
                <a:solidFill>
                  <a:srgbClr val="1A1A2E"/>
                </a:solidFill>
                <a:latin typeface="Calibri" pitchFamily="34" charset="0"/>
                <a:ea typeface="Calibri" pitchFamily="34" charset="-122"/>
                <a:cs typeface="Calibri" pitchFamily="34" charset="-120"/>
              </a:rPr>
              <a:t>UNDERSTAND</a:t>
            </a:r>
            <a:endParaRPr lang="en-US" sz="900" dirty="0"/>
          </a:p>
        </p:txBody>
      </p:sp>
      <p:sp>
        <p:nvSpPr>
          <p:cNvPr id="16" name="Text 13"/>
          <p:cNvSpPr/>
          <p:nvPr/>
        </p:nvSpPr>
        <p:spPr>
          <a:xfrm>
            <a:off x="4892040" y="3154680"/>
            <a:ext cx="4069080" cy="274320"/>
          </a:xfrm>
          <a:prstGeom prst="rect">
            <a:avLst/>
          </a:prstGeom>
          <a:noFill/>
          <a:ln/>
        </p:spPr>
        <p:txBody>
          <a:bodyPr wrap="square" lIns="0" tIns="0" rIns="0" bIns="0" rtlCol="0" anchor="ctr"/>
          <a:lstStyle/>
          <a:p>
            <a:pPr marL="0" indent="0" algn="l">
              <a:buNone/>
            </a:pPr>
            <a:r>
              <a:rPr lang="en-US" sz="1200" dirty="0">
                <a:solidFill>
                  <a:srgbClr val="1A1A2E"/>
                </a:solidFill>
                <a:latin typeface="Calibri" pitchFamily="34" charset="0"/>
                <a:ea typeface="Calibri" pitchFamily="34" charset="-122"/>
                <a:cs typeface="Calibri" pitchFamily="34" charset="-120"/>
              </a:rPr>
              <a:t>Report structure &amp; writing principles</a:t>
            </a:r>
            <a:endParaRPr lang="en-US" sz="1200" dirty="0"/>
          </a:p>
        </p:txBody>
      </p:sp>
      <p:sp>
        <p:nvSpPr>
          <p:cNvPr id="17" name="Shape 14"/>
          <p:cNvSpPr/>
          <p:nvPr/>
        </p:nvSpPr>
        <p:spPr>
          <a:xfrm>
            <a:off x="3749040" y="3602736"/>
            <a:ext cx="1051560" cy="347472"/>
          </a:xfrm>
          <a:prstGeom prst="rect">
            <a:avLst/>
          </a:prstGeom>
          <a:solidFill>
            <a:srgbClr val="007A7A"/>
          </a:solidFill>
          <a:ln w="12700">
            <a:solidFill>
              <a:srgbClr val="007A7A"/>
            </a:solidFill>
            <a:prstDash val="solid"/>
          </a:ln>
        </p:spPr>
        <p:txBody>
          <a:bodyPr/>
          <a:lstStyle/>
          <a:p>
            <a:endParaRPr lang="en-SG"/>
          </a:p>
        </p:txBody>
      </p:sp>
      <p:sp>
        <p:nvSpPr>
          <p:cNvPr id="18" name="Text 15"/>
          <p:cNvSpPr/>
          <p:nvPr/>
        </p:nvSpPr>
        <p:spPr>
          <a:xfrm>
            <a:off x="3749040" y="3602736"/>
            <a:ext cx="1051560" cy="347472"/>
          </a:xfrm>
          <a:prstGeom prst="rect">
            <a:avLst/>
          </a:prstGeom>
          <a:noFill/>
          <a:ln/>
        </p:spPr>
        <p:txBody>
          <a:bodyPr wrap="square" lIns="0" tIns="0" rIns="0" bIns="0" rtlCol="0" anchor="ctr"/>
          <a:lstStyle/>
          <a:p>
            <a:pPr marL="0" indent="0" algn="ctr">
              <a:buNone/>
            </a:pPr>
            <a:r>
              <a:rPr lang="en-US" sz="900" b="1" dirty="0">
                <a:solidFill>
                  <a:srgbClr val="1A1A2E"/>
                </a:solidFill>
                <a:latin typeface="Calibri" pitchFamily="34" charset="0"/>
                <a:ea typeface="Calibri" pitchFamily="34" charset="-122"/>
                <a:cs typeface="Calibri" pitchFamily="34" charset="-120"/>
              </a:rPr>
              <a:t>APPLY</a:t>
            </a:r>
            <a:endParaRPr lang="en-US" sz="900" dirty="0"/>
          </a:p>
        </p:txBody>
      </p:sp>
      <p:sp>
        <p:nvSpPr>
          <p:cNvPr id="19" name="Text 16"/>
          <p:cNvSpPr/>
          <p:nvPr/>
        </p:nvSpPr>
        <p:spPr>
          <a:xfrm>
            <a:off x="4892040" y="3639312"/>
            <a:ext cx="4069080" cy="274320"/>
          </a:xfrm>
          <a:prstGeom prst="rect">
            <a:avLst/>
          </a:prstGeom>
          <a:noFill/>
          <a:ln/>
        </p:spPr>
        <p:txBody>
          <a:bodyPr wrap="square" lIns="0" tIns="0" rIns="0" bIns="0" rtlCol="0" anchor="ctr"/>
          <a:lstStyle/>
          <a:p>
            <a:pPr marL="0" indent="0" algn="l">
              <a:buNone/>
            </a:pPr>
            <a:r>
              <a:rPr lang="en-US" sz="1200" dirty="0">
                <a:solidFill>
                  <a:srgbClr val="1A1A2E"/>
                </a:solidFill>
                <a:latin typeface="Calibri" pitchFamily="34" charset="0"/>
                <a:ea typeface="Calibri" pitchFamily="34" charset="-122"/>
                <a:cs typeface="Calibri" pitchFamily="34" charset="-120"/>
              </a:rPr>
              <a:t>Good vs poor report examples</a:t>
            </a:r>
            <a:endParaRPr lang="en-US" sz="1200" dirty="0"/>
          </a:p>
        </p:txBody>
      </p:sp>
      <p:sp>
        <p:nvSpPr>
          <p:cNvPr id="20" name="Shape 17"/>
          <p:cNvSpPr/>
          <p:nvPr/>
        </p:nvSpPr>
        <p:spPr>
          <a:xfrm>
            <a:off x="3749040" y="4087368"/>
            <a:ext cx="1051560" cy="347472"/>
          </a:xfrm>
          <a:prstGeom prst="rect">
            <a:avLst/>
          </a:prstGeom>
          <a:solidFill>
            <a:srgbClr val="007A7A"/>
          </a:solidFill>
          <a:ln w="12700">
            <a:solidFill>
              <a:srgbClr val="007A7A"/>
            </a:solidFill>
            <a:prstDash val="solid"/>
          </a:ln>
        </p:spPr>
        <p:txBody>
          <a:bodyPr/>
          <a:lstStyle/>
          <a:p>
            <a:endParaRPr lang="en-SG"/>
          </a:p>
        </p:txBody>
      </p:sp>
      <p:sp>
        <p:nvSpPr>
          <p:cNvPr id="21" name="Text 18"/>
          <p:cNvSpPr/>
          <p:nvPr/>
        </p:nvSpPr>
        <p:spPr>
          <a:xfrm>
            <a:off x="3749040" y="4087368"/>
            <a:ext cx="1051560" cy="347472"/>
          </a:xfrm>
          <a:prstGeom prst="rect">
            <a:avLst/>
          </a:prstGeom>
          <a:noFill/>
          <a:ln/>
        </p:spPr>
        <p:txBody>
          <a:bodyPr wrap="square" lIns="0" tIns="0" rIns="0" bIns="0" rtlCol="0" anchor="ctr"/>
          <a:lstStyle/>
          <a:p>
            <a:pPr marL="0" indent="0" algn="ctr">
              <a:buNone/>
            </a:pPr>
            <a:r>
              <a:rPr lang="en-US" sz="900" b="1" dirty="0">
                <a:solidFill>
                  <a:srgbClr val="1A1A2E"/>
                </a:solidFill>
                <a:latin typeface="Calibri" pitchFamily="34" charset="0"/>
                <a:ea typeface="Calibri" pitchFamily="34" charset="-122"/>
                <a:cs typeface="Calibri" pitchFamily="34" charset="-120"/>
              </a:rPr>
              <a:t>EVALUATE</a:t>
            </a:r>
            <a:endParaRPr lang="en-US" sz="900" dirty="0"/>
          </a:p>
        </p:txBody>
      </p:sp>
      <p:sp>
        <p:nvSpPr>
          <p:cNvPr id="22" name="Text 19"/>
          <p:cNvSpPr/>
          <p:nvPr/>
        </p:nvSpPr>
        <p:spPr>
          <a:xfrm>
            <a:off x="4892040" y="4123944"/>
            <a:ext cx="4069080" cy="274320"/>
          </a:xfrm>
          <a:prstGeom prst="rect">
            <a:avLst/>
          </a:prstGeom>
          <a:noFill/>
          <a:ln/>
        </p:spPr>
        <p:txBody>
          <a:bodyPr wrap="square" lIns="0" tIns="0" rIns="0" bIns="0" rtlCol="0" anchor="ctr"/>
          <a:lstStyle/>
          <a:p>
            <a:pPr marL="0" indent="0" algn="l">
              <a:buNone/>
            </a:pPr>
            <a:r>
              <a:rPr lang="en-US" sz="1200" dirty="0">
                <a:solidFill>
                  <a:srgbClr val="1A1A2E"/>
                </a:solidFill>
                <a:latin typeface="Calibri" pitchFamily="34" charset="0"/>
                <a:ea typeface="Calibri" pitchFamily="34" charset="-122"/>
                <a:cs typeface="Calibri" pitchFamily="34" charset="-120"/>
              </a:rPr>
              <a:t>Expert witness &amp; court conduct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0A8A8"/>
          </a:solidFill>
          <a:ln w="12700">
            <a:solidFill>
              <a:srgbClr val="00A8A8"/>
            </a:solidFill>
            <a:prstDash val="solid"/>
          </a:ln>
        </p:spPr>
        <p:txBody>
          <a:bodyPr/>
          <a:lstStyle/>
          <a:p>
            <a:endParaRPr lang="en-SG"/>
          </a:p>
        </p:txBody>
      </p:sp>
      <p:sp>
        <p:nvSpPr>
          <p:cNvPr id="3" name="Text 1"/>
          <p:cNvSpPr/>
          <p:nvPr/>
        </p:nvSpPr>
        <p:spPr>
          <a:xfrm>
            <a:off x="365760" y="164592"/>
            <a:ext cx="8412480" cy="594360"/>
          </a:xfrm>
          <a:prstGeom prst="rect">
            <a:avLst/>
          </a:prstGeom>
          <a:noFill/>
          <a:ln/>
        </p:spPr>
        <p:txBody>
          <a:bodyPr wrap="square" lIns="0" tIns="0" rIns="0" bIns="0" rtlCol="0" anchor="ctr"/>
          <a:lstStyle/>
          <a:p>
            <a:pPr marL="0" indent="0" algn="l">
              <a:buNone/>
            </a:pPr>
            <a:r>
              <a:rPr lang="en-US" sz="2800" b="1" dirty="0">
                <a:solidFill>
                  <a:srgbClr val="1A1A2E"/>
                </a:solidFill>
                <a:latin typeface="Trebuchet MS" pitchFamily="34" charset="0"/>
                <a:ea typeface="Trebuchet MS" pitchFamily="34" charset="-122"/>
                <a:cs typeface="Trebuchet MS" pitchFamily="34" charset="-120"/>
              </a:rPr>
              <a:t>Learning Objectives</a:t>
            </a:r>
            <a:endParaRPr lang="en-US" sz="2800" dirty="0"/>
          </a:p>
        </p:txBody>
      </p:sp>
      <p:sp>
        <p:nvSpPr>
          <p:cNvPr id="4" name="Text 2"/>
          <p:cNvSpPr/>
          <p:nvPr/>
        </p:nvSpPr>
        <p:spPr>
          <a:xfrm>
            <a:off x="365760" y="786384"/>
            <a:ext cx="8412480" cy="228600"/>
          </a:xfrm>
          <a:prstGeom prst="rect">
            <a:avLst/>
          </a:prstGeom>
          <a:noFill/>
          <a:ln/>
        </p:spPr>
        <p:txBody>
          <a:bodyPr wrap="square" lIns="0" tIns="0" rIns="0" bIns="0" rtlCol="0" anchor="ctr"/>
          <a:lstStyle/>
          <a:p>
            <a:pPr marL="0" indent="0" algn="l">
              <a:buNone/>
            </a:pPr>
            <a:r>
              <a:rPr lang="en-US" sz="1100" i="1" dirty="0">
                <a:solidFill>
                  <a:srgbClr val="00A8A8"/>
                </a:solidFill>
                <a:latin typeface="Calibri" pitchFamily="34" charset="0"/>
                <a:ea typeface="Calibri" pitchFamily="34" charset="-122"/>
                <a:cs typeface="Calibri" pitchFamily="34" charset="-120"/>
              </a:rPr>
              <a:t>By the end of this lesson, you will be able to:</a:t>
            </a:r>
            <a:endParaRPr lang="en-US" sz="1100" dirty="0"/>
          </a:p>
        </p:txBody>
      </p:sp>
      <p:sp>
        <p:nvSpPr>
          <p:cNvPr id="5" name="Shape 3"/>
          <p:cNvSpPr/>
          <p:nvPr/>
        </p:nvSpPr>
        <p:spPr>
          <a:xfrm>
            <a:off x="365760" y="1078992"/>
            <a:ext cx="402336" cy="402336"/>
          </a:xfrm>
          <a:prstGeom prst="rect">
            <a:avLst/>
          </a:prstGeom>
          <a:solidFill>
            <a:srgbClr val="00A8A8"/>
          </a:solidFill>
          <a:ln w="12700">
            <a:solidFill>
              <a:srgbClr val="00A8A8"/>
            </a:solidFill>
            <a:prstDash val="solid"/>
          </a:ln>
        </p:spPr>
        <p:txBody>
          <a:bodyPr/>
          <a:lstStyle/>
          <a:p>
            <a:endParaRPr lang="en-SG"/>
          </a:p>
        </p:txBody>
      </p:sp>
      <p:sp>
        <p:nvSpPr>
          <p:cNvPr id="6" name="Text 4"/>
          <p:cNvSpPr/>
          <p:nvPr/>
        </p:nvSpPr>
        <p:spPr>
          <a:xfrm>
            <a:off x="365760" y="1078992"/>
            <a:ext cx="402336" cy="402336"/>
          </a:xfrm>
          <a:prstGeom prst="rect">
            <a:avLst/>
          </a:prstGeom>
          <a:noFill/>
          <a:ln/>
        </p:spPr>
        <p:txBody>
          <a:bodyPr wrap="square" lIns="0" tIns="0" rIns="0" bIns="0" rtlCol="0" anchor="ctr"/>
          <a:lstStyle/>
          <a:p>
            <a:pPr marL="0" indent="0" algn="ctr">
              <a:buNone/>
            </a:pPr>
            <a:r>
              <a:rPr lang="en-US" sz="1800" b="1" dirty="0">
                <a:solidFill>
                  <a:srgbClr val="0D1B2A"/>
                </a:solidFill>
                <a:latin typeface="Trebuchet MS" pitchFamily="34" charset="0"/>
                <a:ea typeface="Trebuchet MS" pitchFamily="34" charset="-122"/>
                <a:cs typeface="Trebuchet MS" pitchFamily="34" charset="-120"/>
              </a:rPr>
              <a:t>1</a:t>
            </a:r>
            <a:endParaRPr lang="en-US" sz="1800" dirty="0"/>
          </a:p>
        </p:txBody>
      </p:sp>
      <p:sp>
        <p:nvSpPr>
          <p:cNvPr id="7" name="Text 5"/>
          <p:cNvSpPr/>
          <p:nvPr/>
        </p:nvSpPr>
        <p:spPr>
          <a:xfrm>
            <a:off x="896112" y="1115568"/>
            <a:ext cx="7909560" cy="329184"/>
          </a:xfrm>
          <a:prstGeom prst="rect">
            <a:avLst/>
          </a:prstGeom>
          <a:noFill/>
          <a:ln/>
        </p:spPr>
        <p:txBody>
          <a:bodyPr wrap="square" lIns="0" tIns="0" rIns="0" bIns="0" rtlCol="0" anchor="ctr"/>
          <a:lstStyle/>
          <a:p>
            <a:pPr marL="0" indent="0" algn="l">
              <a:buNone/>
            </a:pPr>
            <a:r>
              <a:rPr lang="en-US" sz="1400" dirty="0">
                <a:solidFill>
                  <a:srgbClr val="1A1A2E"/>
                </a:solidFill>
                <a:latin typeface="Calibri" pitchFamily="34" charset="0"/>
                <a:ea typeface="Calibri" pitchFamily="34" charset="-122"/>
                <a:cs typeface="Calibri" pitchFamily="34" charset="-120"/>
              </a:rPr>
              <a:t>Explain why accurate, unbiased, defensible forensic reports are critical in legal proceedings</a:t>
            </a:r>
            <a:endParaRPr lang="en-US" sz="1400" dirty="0"/>
          </a:p>
        </p:txBody>
      </p:sp>
      <p:sp>
        <p:nvSpPr>
          <p:cNvPr id="8" name="Shape 6"/>
          <p:cNvSpPr/>
          <p:nvPr/>
        </p:nvSpPr>
        <p:spPr>
          <a:xfrm>
            <a:off x="365760" y="1719072"/>
            <a:ext cx="402336" cy="402336"/>
          </a:xfrm>
          <a:prstGeom prst="rect">
            <a:avLst/>
          </a:prstGeom>
          <a:solidFill>
            <a:srgbClr val="00A8A8"/>
          </a:solidFill>
          <a:ln w="12700">
            <a:solidFill>
              <a:srgbClr val="00A8A8"/>
            </a:solidFill>
            <a:prstDash val="solid"/>
          </a:ln>
        </p:spPr>
        <p:txBody>
          <a:bodyPr/>
          <a:lstStyle/>
          <a:p>
            <a:endParaRPr lang="en-SG"/>
          </a:p>
        </p:txBody>
      </p:sp>
      <p:sp>
        <p:nvSpPr>
          <p:cNvPr id="9" name="Text 7"/>
          <p:cNvSpPr/>
          <p:nvPr/>
        </p:nvSpPr>
        <p:spPr>
          <a:xfrm>
            <a:off x="365760" y="1719072"/>
            <a:ext cx="402336" cy="402336"/>
          </a:xfrm>
          <a:prstGeom prst="rect">
            <a:avLst/>
          </a:prstGeom>
          <a:noFill/>
          <a:ln/>
        </p:spPr>
        <p:txBody>
          <a:bodyPr wrap="square" lIns="0" tIns="0" rIns="0" bIns="0" rtlCol="0" anchor="ctr"/>
          <a:lstStyle/>
          <a:p>
            <a:pPr marL="0" indent="0" algn="ctr">
              <a:buNone/>
            </a:pPr>
            <a:r>
              <a:rPr lang="en-US" sz="1800" b="1" dirty="0">
                <a:solidFill>
                  <a:srgbClr val="0D1B2A"/>
                </a:solidFill>
                <a:latin typeface="Trebuchet MS" pitchFamily="34" charset="0"/>
                <a:ea typeface="Trebuchet MS" pitchFamily="34" charset="-122"/>
                <a:cs typeface="Trebuchet MS" pitchFamily="34" charset="-120"/>
              </a:rPr>
              <a:t>2</a:t>
            </a:r>
            <a:endParaRPr lang="en-US" sz="1800" dirty="0"/>
          </a:p>
        </p:txBody>
      </p:sp>
      <p:sp>
        <p:nvSpPr>
          <p:cNvPr id="10" name="Text 8"/>
          <p:cNvSpPr/>
          <p:nvPr/>
        </p:nvSpPr>
        <p:spPr>
          <a:xfrm>
            <a:off x="896112" y="1755648"/>
            <a:ext cx="7909560" cy="329184"/>
          </a:xfrm>
          <a:prstGeom prst="rect">
            <a:avLst/>
          </a:prstGeom>
          <a:noFill/>
          <a:ln/>
        </p:spPr>
        <p:txBody>
          <a:bodyPr wrap="square" lIns="0" tIns="0" rIns="0" bIns="0" rtlCol="0" anchor="ctr"/>
          <a:lstStyle/>
          <a:p>
            <a:pPr marL="0" indent="0" algn="l">
              <a:buNone/>
            </a:pPr>
            <a:r>
              <a:rPr lang="en-US" sz="1400" dirty="0">
                <a:solidFill>
                  <a:srgbClr val="1A1A2E"/>
                </a:solidFill>
                <a:latin typeface="Calibri" pitchFamily="34" charset="0"/>
                <a:ea typeface="Calibri" pitchFamily="34" charset="-122"/>
                <a:cs typeface="Calibri" pitchFamily="34" charset="-120"/>
              </a:rPr>
              <a:t>Describe the seven sections of a well-structured forensic report</a:t>
            </a:r>
            <a:endParaRPr lang="en-US" sz="1400" dirty="0"/>
          </a:p>
        </p:txBody>
      </p:sp>
      <p:sp>
        <p:nvSpPr>
          <p:cNvPr id="11" name="Shape 9"/>
          <p:cNvSpPr/>
          <p:nvPr/>
        </p:nvSpPr>
        <p:spPr>
          <a:xfrm>
            <a:off x="365760" y="2359152"/>
            <a:ext cx="402336" cy="402336"/>
          </a:xfrm>
          <a:prstGeom prst="rect">
            <a:avLst/>
          </a:prstGeom>
          <a:solidFill>
            <a:srgbClr val="00A8A8"/>
          </a:solidFill>
          <a:ln w="12700">
            <a:solidFill>
              <a:srgbClr val="00A8A8"/>
            </a:solidFill>
            <a:prstDash val="solid"/>
          </a:ln>
        </p:spPr>
        <p:txBody>
          <a:bodyPr/>
          <a:lstStyle/>
          <a:p>
            <a:endParaRPr lang="en-SG"/>
          </a:p>
        </p:txBody>
      </p:sp>
      <p:sp>
        <p:nvSpPr>
          <p:cNvPr id="12" name="Text 10"/>
          <p:cNvSpPr/>
          <p:nvPr/>
        </p:nvSpPr>
        <p:spPr>
          <a:xfrm>
            <a:off x="365760" y="2359152"/>
            <a:ext cx="402336" cy="402336"/>
          </a:xfrm>
          <a:prstGeom prst="rect">
            <a:avLst/>
          </a:prstGeom>
          <a:noFill/>
          <a:ln/>
        </p:spPr>
        <p:txBody>
          <a:bodyPr wrap="square" lIns="0" tIns="0" rIns="0" bIns="0" rtlCol="0" anchor="ctr"/>
          <a:lstStyle/>
          <a:p>
            <a:pPr marL="0" indent="0" algn="ctr">
              <a:buNone/>
            </a:pPr>
            <a:r>
              <a:rPr lang="en-US" sz="1800" b="1" dirty="0">
                <a:solidFill>
                  <a:srgbClr val="0D1B2A"/>
                </a:solidFill>
                <a:latin typeface="Trebuchet MS" pitchFamily="34" charset="0"/>
                <a:ea typeface="Trebuchet MS" pitchFamily="34" charset="-122"/>
                <a:cs typeface="Trebuchet MS" pitchFamily="34" charset="-120"/>
              </a:rPr>
              <a:t>3</a:t>
            </a:r>
            <a:endParaRPr lang="en-US" sz="1800" dirty="0"/>
          </a:p>
        </p:txBody>
      </p:sp>
      <p:sp>
        <p:nvSpPr>
          <p:cNvPr id="13" name="Text 11"/>
          <p:cNvSpPr/>
          <p:nvPr/>
        </p:nvSpPr>
        <p:spPr>
          <a:xfrm>
            <a:off x="896112" y="2395728"/>
            <a:ext cx="7909560" cy="329184"/>
          </a:xfrm>
          <a:prstGeom prst="rect">
            <a:avLst/>
          </a:prstGeom>
          <a:noFill/>
          <a:ln/>
        </p:spPr>
        <p:txBody>
          <a:bodyPr wrap="square" lIns="0" tIns="0" rIns="0" bIns="0" rtlCol="0" anchor="ctr"/>
          <a:lstStyle/>
          <a:p>
            <a:pPr marL="0" indent="0" algn="l">
              <a:buNone/>
            </a:pPr>
            <a:r>
              <a:rPr lang="en-US" sz="1400" dirty="0">
                <a:solidFill>
                  <a:srgbClr val="1A1A2E"/>
                </a:solidFill>
                <a:latin typeface="Calibri" pitchFamily="34" charset="0"/>
                <a:ea typeface="Calibri" pitchFamily="34" charset="-122"/>
                <a:cs typeface="Calibri" pitchFamily="34" charset="-120"/>
              </a:rPr>
              <a:t>Apply the six forensic writing principles to evaluate real report examples</a:t>
            </a:r>
            <a:endParaRPr lang="en-US" sz="1400" dirty="0"/>
          </a:p>
        </p:txBody>
      </p:sp>
      <p:sp>
        <p:nvSpPr>
          <p:cNvPr id="14" name="Shape 12"/>
          <p:cNvSpPr/>
          <p:nvPr/>
        </p:nvSpPr>
        <p:spPr>
          <a:xfrm>
            <a:off x="365760" y="2999232"/>
            <a:ext cx="402336" cy="402336"/>
          </a:xfrm>
          <a:prstGeom prst="rect">
            <a:avLst/>
          </a:prstGeom>
          <a:solidFill>
            <a:srgbClr val="00A8A8"/>
          </a:solidFill>
          <a:ln w="12700">
            <a:solidFill>
              <a:srgbClr val="00A8A8"/>
            </a:solidFill>
            <a:prstDash val="solid"/>
          </a:ln>
        </p:spPr>
        <p:txBody>
          <a:bodyPr/>
          <a:lstStyle/>
          <a:p>
            <a:endParaRPr lang="en-SG"/>
          </a:p>
        </p:txBody>
      </p:sp>
      <p:sp>
        <p:nvSpPr>
          <p:cNvPr id="15" name="Text 13"/>
          <p:cNvSpPr/>
          <p:nvPr/>
        </p:nvSpPr>
        <p:spPr>
          <a:xfrm>
            <a:off x="365760" y="2999232"/>
            <a:ext cx="402336" cy="402336"/>
          </a:xfrm>
          <a:prstGeom prst="rect">
            <a:avLst/>
          </a:prstGeom>
          <a:noFill/>
          <a:ln/>
        </p:spPr>
        <p:txBody>
          <a:bodyPr wrap="square" lIns="0" tIns="0" rIns="0" bIns="0" rtlCol="0" anchor="ctr"/>
          <a:lstStyle/>
          <a:p>
            <a:pPr marL="0" indent="0" algn="ctr">
              <a:buNone/>
            </a:pPr>
            <a:r>
              <a:rPr lang="en-US" sz="1800" b="1" dirty="0">
                <a:solidFill>
                  <a:srgbClr val="0D1B2A"/>
                </a:solidFill>
                <a:latin typeface="Trebuchet MS" pitchFamily="34" charset="0"/>
                <a:ea typeface="Trebuchet MS" pitchFamily="34" charset="-122"/>
                <a:cs typeface="Trebuchet MS" pitchFamily="34" charset="-120"/>
              </a:rPr>
              <a:t>4</a:t>
            </a:r>
            <a:endParaRPr lang="en-US" sz="1800" dirty="0"/>
          </a:p>
        </p:txBody>
      </p:sp>
      <p:sp>
        <p:nvSpPr>
          <p:cNvPr id="16" name="Text 14"/>
          <p:cNvSpPr/>
          <p:nvPr/>
        </p:nvSpPr>
        <p:spPr>
          <a:xfrm>
            <a:off x="896112" y="3035808"/>
            <a:ext cx="7909560" cy="329184"/>
          </a:xfrm>
          <a:prstGeom prst="rect">
            <a:avLst/>
          </a:prstGeom>
          <a:noFill/>
          <a:ln/>
        </p:spPr>
        <p:txBody>
          <a:bodyPr wrap="square" lIns="0" tIns="0" rIns="0" bIns="0" rtlCol="0" anchor="ctr"/>
          <a:lstStyle/>
          <a:p>
            <a:pPr marL="0" indent="0" algn="l">
              <a:buNone/>
            </a:pPr>
            <a:r>
              <a:rPr lang="en-US" sz="1400" dirty="0">
                <a:solidFill>
                  <a:srgbClr val="1A1A2E"/>
                </a:solidFill>
                <a:latin typeface="Calibri" pitchFamily="34" charset="0"/>
                <a:ea typeface="Calibri" pitchFamily="34" charset="-122"/>
                <a:cs typeface="Calibri" pitchFamily="34" charset="-120"/>
              </a:rPr>
              <a:t>Distinguish between good and poor forensic report writing using concrete examples</a:t>
            </a:r>
            <a:endParaRPr lang="en-US" sz="1400" dirty="0"/>
          </a:p>
        </p:txBody>
      </p:sp>
      <p:sp>
        <p:nvSpPr>
          <p:cNvPr id="17" name="Shape 15"/>
          <p:cNvSpPr/>
          <p:nvPr/>
        </p:nvSpPr>
        <p:spPr>
          <a:xfrm>
            <a:off x="365760" y="3639312"/>
            <a:ext cx="402336" cy="402336"/>
          </a:xfrm>
          <a:prstGeom prst="rect">
            <a:avLst/>
          </a:prstGeom>
          <a:solidFill>
            <a:srgbClr val="00A8A8"/>
          </a:solidFill>
          <a:ln w="12700">
            <a:solidFill>
              <a:srgbClr val="00A8A8"/>
            </a:solidFill>
            <a:prstDash val="solid"/>
          </a:ln>
        </p:spPr>
        <p:txBody>
          <a:bodyPr/>
          <a:lstStyle/>
          <a:p>
            <a:endParaRPr lang="en-SG"/>
          </a:p>
        </p:txBody>
      </p:sp>
      <p:sp>
        <p:nvSpPr>
          <p:cNvPr id="18" name="Text 16"/>
          <p:cNvSpPr/>
          <p:nvPr/>
        </p:nvSpPr>
        <p:spPr>
          <a:xfrm>
            <a:off x="365760" y="3639312"/>
            <a:ext cx="402336" cy="402336"/>
          </a:xfrm>
          <a:prstGeom prst="rect">
            <a:avLst/>
          </a:prstGeom>
          <a:noFill/>
          <a:ln/>
        </p:spPr>
        <p:txBody>
          <a:bodyPr wrap="square" lIns="0" tIns="0" rIns="0" bIns="0" rtlCol="0" anchor="ctr"/>
          <a:lstStyle/>
          <a:p>
            <a:pPr marL="0" indent="0" algn="ctr">
              <a:buNone/>
            </a:pPr>
            <a:r>
              <a:rPr lang="en-US" sz="1800" b="1" dirty="0">
                <a:solidFill>
                  <a:srgbClr val="0D1B2A"/>
                </a:solidFill>
                <a:latin typeface="Trebuchet MS" pitchFamily="34" charset="0"/>
                <a:ea typeface="Trebuchet MS" pitchFamily="34" charset="-122"/>
                <a:cs typeface="Trebuchet MS" pitchFamily="34" charset="-120"/>
              </a:rPr>
              <a:t>5</a:t>
            </a:r>
            <a:endParaRPr lang="en-US" sz="1800" dirty="0"/>
          </a:p>
        </p:txBody>
      </p:sp>
      <p:sp>
        <p:nvSpPr>
          <p:cNvPr id="19" name="Text 17"/>
          <p:cNvSpPr/>
          <p:nvPr/>
        </p:nvSpPr>
        <p:spPr>
          <a:xfrm>
            <a:off x="896112" y="3675888"/>
            <a:ext cx="7909560" cy="329184"/>
          </a:xfrm>
          <a:prstGeom prst="rect">
            <a:avLst/>
          </a:prstGeom>
          <a:noFill/>
          <a:ln/>
        </p:spPr>
        <p:txBody>
          <a:bodyPr wrap="square" lIns="0" tIns="0" rIns="0" bIns="0" rtlCol="0" anchor="ctr"/>
          <a:lstStyle/>
          <a:p>
            <a:pPr marL="0" indent="0" algn="l">
              <a:buNone/>
            </a:pPr>
            <a:r>
              <a:rPr lang="en-US" sz="1400" dirty="0">
                <a:solidFill>
                  <a:srgbClr val="1A1A2E"/>
                </a:solidFill>
                <a:latin typeface="Calibri" pitchFamily="34" charset="0"/>
                <a:ea typeface="Calibri" pitchFamily="34" charset="-122"/>
                <a:cs typeface="Calibri" pitchFamily="34" charset="-120"/>
              </a:rPr>
              <a:t>Describe the role, duties, and conduct of an expert witness in court</a:t>
            </a:r>
            <a:endParaRPr lang="en-US" sz="1400" dirty="0"/>
          </a:p>
        </p:txBody>
      </p:sp>
      <p:sp>
        <p:nvSpPr>
          <p:cNvPr id="20" name="Shape 18"/>
          <p:cNvSpPr/>
          <p:nvPr/>
        </p:nvSpPr>
        <p:spPr>
          <a:xfrm>
            <a:off x="365760" y="4279392"/>
            <a:ext cx="402336" cy="402336"/>
          </a:xfrm>
          <a:prstGeom prst="rect">
            <a:avLst/>
          </a:prstGeom>
          <a:solidFill>
            <a:srgbClr val="00A8A8"/>
          </a:solidFill>
          <a:ln w="12700">
            <a:solidFill>
              <a:srgbClr val="00A8A8"/>
            </a:solidFill>
            <a:prstDash val="solid"/>
          </a:ln>
        </p:spPr>
        <p:txBody>
          <a:bodyPr/>
          <a:lstStyle/>
          <a:p>
            <a:endParaRPr lang="en-SG"/>
          </a:p>
        </p:txBody>
      </p:sp>
      <p:sp>
        <p:nvSpPr>
          <p:cNvPr id="21" name="Text 19"/>
          <p:cNvSpPr/>
          <p:nvPr/>
        </p:nvSpPr>
        <p:spPr>
          <a:xfrm>
            <a:off x="365760" y="4279392"/>
            <a:ext cx="402336" cy="402336"/>
          </a:xfrm>
          <a:prstGeom prst="rect">
            <a:avLst/>
          </a:prstGeom>
          <a:noFill/>
          <a:ln/>
        </p:spPr>
        <p:txBody>
          <a:bodyPr wrap="square" lIns="0" tIns="0" rIns="0" bIns="0" rtlCol="0" anchor="ctr"/>
          <a:lstStyle/>
          <a:p>
            <a:pPr marL="0" indent="0" algn="ctr">
              <a:buNone/>
            </a:pPr>
            <a:r>
              <a:rPr lang="en-US" sz="1800" b="1" dirty="0">
                <a:solidFill>
                  <a:srgbClr val="0D1B2A"/>
                </a:solidFill>
                <a:latin typeface="Trebuchet MS" pitchFamily="34" charset="0"/>
                <a:ea typeface="Trebuchet MS" pitchFamily="34" charset="-122"/>
                <a:cs typeface="Trebuchet MS" pitchFamily="34" charset="-120"/>
              </a:rPr>
              <a:t>6</a:t>
            </a:r>
            <a:endParaRPr lang="en-US" sz="1800" dirty="0"/>
          </a:p>
        </p:txBody>
      </p:sp>
      <p:sp>
        <p:nvSpPr>
          <p:cNvPr id="22" name="Text 20"/>
          <p:cNvSpPr/>
          <p:nvPr/>
        </p:nvSpPr>
        <p:spPr>
          <a:xfrm>
            <a:off x="896112" y="4315968"/>
            <a:ext cx="7909560" cy="329184"/>
          </a:xfrm>
          <a:prstGeom prst="rect">
            <a:avLst/>
          </a:prstGeom>
          <a:noFill/>
          <a:ln/>
        </p:spPr>
        <p:txBody>
          <a:bodyPr wrap="square" lIns="0" tIns="0" rIns="0" bIns="0" rtlCol="0" anchor="ctr"/>
          <a:lstStyle/>
          <a:p>
            <a:pPr marL="0" indent="0" algn="l">
              <a:buNone/>
            </a:pPr>
            <a:r>
              <a:rPr lang="en-US" sz="1400" dirty="0">
                <a:solidFill>
                  <a:srgbClr val="1A1A2E"/>
                </a:solidFill>
                <a:latin typeface="Calibri" pitchFamily="34" charset="0"/>
                <a:ea typeface="Calibri" pitchFamily="34" charset="-122"/>
                <a:cs typeface="Calibri" pitchFamily="34" charset="-120"/>
              </a:rPr>
              <a:t>Evaluate sample report excerpts and identify weaknesses — as practised in this lesson</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F39C12"/>
          </a:solidFill>
          <a:ln w="12700">
            <a:solidFill>
              <a:srgbClr val="F39C12"/>
            </a:solidFill>
            <a:prstDash val="solid"/>
          </a:ln>
        </p:spPr>
        <p:txBody>
          <a:bodyPr/>
          <a:lstStyle/>
          <a:p>
            <a:endParaRPr lang="en-SG"/>
          </a:p>
        </p:txBody>
      </p:sp>
      <p:sp>
        <p:nvSpPr>
          <p:cNvPr id="3" name="Text 1"/>
          <p:cNvSpPr/>
          <p:nvPr/>
        </p:nvSpPr>
        <p:spPr>
          <a:xfrm>
            <a:off x="274320" y="146304"/>
            <a:ext cx="1097280" cy="256032"/>
          </a:xfrm>
          <a:prstGeom prst="rect">
            <a:avLst/>
          </a:prstGeom>
          <a:noFill/>
          <a:ln/>
        </p:spPr>
        <p:txBody>
          <a:bodyPr wrap="square" lIns="0" tIns="0" rIns="0" bIns="0" rtlCol="0" anchor="ctr"/>
          <a:lstStyle/>
          <a:p>
            <a:pPr marL="0" indent="0" algn="l">
              <a:buNone/>
            </a:pPr>
            <a:r>
              <a:rPr lang="en-US" sz="1000" b="1" kern="0" spc="300" dirty="0">
                <a:solidFill>
                  <a:srgbClr val="F39C12"/>
                </a:solidFill>
                <a:latin typeface="Calibri" pitchFamily="34" charset="0"/>
                <a:ea typeface="Calibri" pitchFamily="34" charset="-122"/>
                <a:cs typeface="Calibri" pitchFamily="34" charset="-120"/>
              </a:rPr>
              <a:t>RECAP</a:t>
            </a:r>
            <a:endParaRPr lang="en-US" sz="1000" dirty="0"/>
          </a:p>
        </p:txBody>
      </p:sp>
      <p:sp>
        <p:nvSpPr>
          <p:cNvPr id="4" name="Text 2"/>
          <p:cNvSpPr/>
          <p:nvPr/>
        </p:nvSpPr>
        <p:spPr>
          <a:xfrm>
            <a:off x="365760" y="402336"/>
            <a:ext cx="8412480" cy="457200"/>
          </a:xfrm>
          <a:prstGeom prst="rect">
            <a:avLst/>
          </a:prstGeom>
          <a:noFill/>
          <a:ln/>
        </p:spPr>
        <p:txBody>
          <a:bodyPr wrap="square" lIns="0" tIns="0" rIns="0" bIns="0" rtlCol="0" anchor="ctr"/>
          <a:lstStyle/>
          <a:p>
            <a:pPr marL="0" indent="0" algn="l">
              <a:buNone/>
            </a:pPr>
            <a:r>
              <a:rPr lang="en-US" sz="2000" b="1" dirty="0">
                <a:solidFill>
                  <a:srgbClr val="1A1A2E"/>
                </a:solidFill>
                <a:latin typeface="Trebuchet MS" pitchFamily="34" charset="0"/>
                <a:ea typeface="Trebuchet MS" pitchFamily="34" charset="-122"/>
                <a:cs typeface="Trebuchet MS" pitchFamily="34" charset="-120"/>
              </a:rPr>
              <a:t>The 6-Stage Forensic Process — Stage 06: Reporting</a:t>
            </a:r>
            <a:endParaRPr lang="en-US" sz="2000" dirty="0"/>
          </a:p>
        </p:txBody>
      </p:sp>
      <p:sp>
        <p:nvSpPr>
          <p:cNvPr id="5" name="Shape 3"/>
          <p:cNvSpPr/>
          <p:nvPr/>
        </p:nvSpPr>
        <p:spPr>
          <a:xfrm>
            <a:off x="320040" y="1188720"/>
            <a:ext cx="1234440" cy="749808"/>
          </a:xfrm>
          <a:prstGeom prst="rect">
            <a:avLst/>
          </a:prstGeom>
          <a:solidFill>
            <a:srgbClr val="3A86FF"/>
          </a:solidFill>
          <a:ln w="12700">
            <a:solidFill>
              <a:srgbClr val="3A86FF"/>
            </a:solidFill>
            <a:prstDash val="solid"/>
          </a:ln>
        </p:spPr>
        <p:txBody>
          <a:bodyPr/>
          <a:lstStyle/>
          <a:p>
            <a:endParaRPr lang="en-SG"/>
          </a:p>
        </p:txBody>
      </p:sp>
      <p:sp>
        <p:nvSpPr>
          <p:cNvPr id="6" name="Text 4"/>
          <p:cNvSpPr/>
          <p:nvPr/>
        </p:nvSpPr>
        <p:spPr>
          <a:xfrm>
            <a:off x="320040" y="1188720"/>
            <a:ext cx="1234440" cy="347472"/>
          </a:xfrm>
          <a:prstGeom prst="rect">
            <a:avLst/>
          </a:prstGeom>
          <a:noFill/>
          <a:ln/>
        </p:spPr>
        <p:txBody>
          <a:bodyPr wrap="square" lIns="0" tIns="0" rIns="0" bIns="0" rtlCol="0" anchor="ctr"/>
          <a:lstStyle/>
          <a:p>
            <a:pPr marL="0" indent="0" algn="ctr">
              <a:buNone/>
            </a:pPr>
            <a:r>
              <a:rPr lang="en-US" sz="2000" b="1" dirty="0">
                <a:solidFill>
                  <a:srgbClr val="1A1A2E"/>
                </a:solidFill>
                <a:latin typeface="Trebuchet MS" pitchFamily="34" charset="0"/>
                <a:ea typeface="Trebuchet MS" pitchFamily="34" charset="-122"/>
                <a:cs typeface="Trebuchet MS" pitchFamily="34" charset="-120"/>
              </a:rPr>
              <a:t>01</a:t>
            </a:r>
            <a:endParaRPr lang="en-US" sz="2000" dirty="0"/>
          </a:p>
        </p:txBody>
      </p:sp>
      <p:sp>
        <p:nvSpPr>
          <p:cNvPr id="7" name="Text 5"/>
          <p:cNvSpPr/>
          <p:nvPr/>
        </p:nvSpPr>
        <p:spPr>
          <a:xfrm>
            <a:off x="320040" y="1536192"/>
            <a:ext cx="1234440" cy="402336"/>
          </a:xfrm>
          <a:prstGeom prst="rect">
            <a:avLst/>
          </a:prstGeom>
          <a:noFill/>
          <a:ln/>
        </p:spPr>
        <p:txBody>
          <a:bodyPr wrap="square" lIns="38100" tIns="38100" rIns="38100" bIns="38100" rtlCol="0" anchor="ctr"/>
          <a:lstStyle/>
          <a:p>
            <a:pPr marL="0" indent="0" algn="ctr">
              <a:buNone/>
            </a:pPr>
            <a:r>
              <a:rPr lang="en-US" sz="1000" dirty="0">
                <a:solidFill>
                  <a:srgbClr val="1A1A2E"/>
                </a:solidFill>
                <a:latin typeface="Calibri" pitchFamily="34" charset="0"/>
                <a:ea typeface="Calibri" pitchFamily="34" charset="-122"/>
                <a:cs typeface="Calibri" pitchFamily="34" charset="-120"/>
              </a:rPr>
              <a:t>Identification</a:t>
            </a:r>
            <a:endParaRPr lang="en-US" sz="1000" dirty="0"/>
          </a:p>
        </p:txBody>
      </p:sp>
      <p:sp>
        <p:nvSpPr>
          <p:cNvPr id="8" name="Shape 6"/>
          <p:cNvSpPr/>
          <p:nvPr/>
        </p:nvSpPr>
        <p:spPr>
          <a:xfrm>
            <a:off x="1554480" y="1463040"/>
            <a:ext cx="201168" cy="164592"/>
          </a:xfrm>
          <a:prstGeom prst="rect">
            <a:avLst/>
          </a:prstGeom>
          <a:solidFill>
            <a:srgbClr val="5A6A7A"/>
          </a:solidFill>
          <a:ln w="12700">
            <a:solidFill>
              <a:srgbClr val="5A6A7A"/>
            </a:solidFill>
            <a:prstDash val="solid"/>
          </a:ln>
        </p:spPr>
        <p:txBody>
          <a:bodyPr/>
          <a:lstStyle/>
          <a:p>
            <a:endParaRPr lang="en-SG"/>
          </a:p>
        </p:txBody>
      </p:sp>
      <p:sp>
        <p:nvSpPr>
          <p:cNvPr id="9" name="Shape 7"/>
          <p:cNvSpPr/>
          <p:nvPr/>
        </p:nvSpPr>
        <p:spPr>
          <a:xfrm>
            <a:off x="1755648" y="1188720"/>
            <a:ext cx="1234440" cy="749808"/>
          </a:xfrm>
          <a:prstGeom prst="rect">
            <a:avLst/>
          </a:prstGeom>
          <a:solidFill>
            <a:srgbClr val="3A86FF"/>
          </a:solidFill>
          <a:ln w="12700">
            <a:solidFill>
              <a:srgbClr val="3A86FF"/>
            </a:solidFill>
            <a:prstDash val="solid"/>
          </a:ln>
        </p:spPr>
        <p:txBody>
          <a:bodyPr/>
          <a:lstStyle/>
          <a:p>
            <a:endParaRPr lang="en-SG"/>
          </a:p>
        </p:txBody>
      </p:sp>
      <p:sp>
        <p:nvSpPr>
          <p:cNvPr id="10" name="Text 8"/>
          <p:cNvSpPr/>
          <p:nvPr/>
        </p:nvSpPr>
        <p:spPr>
          <a:xfrm>
            <a:off x="1755648" y="1188720"/>
            <a:ext cx="1234440" cy="347472"/>
          </a:xfrm>
          <a:prstGeom prst="rect">
            <a:avLst/>
          </a:prstGeom>
          <a:noFill/>
          <a:ln/>
        </p:spPr>
        <p:txBody>
          <a:bodyPr wrap="square" lIns="0" tIns="0" rIns="0" bIns="0" rtlCol="0" anchor="ctr"/>
          <a:lstStyle/>
          <a:p>
            <a:pPr marL="0" indent="0" algn="ctr">
              <a:buNone/>
            </a:pPr>
            <a:r>
              <a:rPr lang="en-US" sz="2000" b="1" dirty="0">
                <a:solidFill>
                  <a:srgbClr val="1A1A2E"/>
                </a:solidFill>
                <a:latin typeface="Trebuchet MS" pitchFamily="34" charset="0"/>
                <a:ea typeface="Trebuchet MS" pitchFamily="34" charset="-122"/>
                <a:cs typeface="Trebuchet MS" pitchFamily="34" charset="-120"/>
              </a:rPr>
              <a:t>02</a:t>
            </a:r>
            <a:endParaRPr lang="en-US" sz="2000" dirty="0"/>
          </a:p>
        </p:txBody>
      </p:sp>
      <p:sp>
        <p:nvSpPr>
          <p:cNvPr id="11" name="Text 9"/>
          <p:cNvSpPr/>
          <p:nvPr/>
        </p:nvSpPr>
        <p:spPr>
          <a:xfrm>
            <a:off x="1755648" y="1536192"/>
            <a:ext cx="1234440" cy="402336"/>
          </a:xfrm>
          <a:prstGeom prst="rect">
            <a:avLst/>
          </a:prstGeom>
          <a:noFill/>
          <a:ln/>
        </p:spPr>
        <p:txBody>
          <a:bodyPr wrap="square" lIns="38100" tIns="38100" rIns="38100" bIns="38100" rtlCol="0" anchor="ctr"/>
          <a:lstStyle/>
          <a:p>
            <a:pPr marL="0" indent="0" algn="ctr">
              <a:buNone/>
            </a:pPr>
            <a:r>
              <a:rPr lang="en-US" sz="1000" dirty="0">
                <a:solidFill>
                  <a:srgbClr val="1A1A2E"/>
                </a:solidFill>
                <a:latin typeface="Calibri" pitchFamily="34" charset="0"/>
                <a:ea typeface="Calibri" pitchFamily="34" charset="-122"/>
                <a:cs typeface="Calibri" pitchFamily="34" charset="-120"/>
              </a:rPr>
              <a:t>Preservation</a:t>
            </a:r>
            <a:endParaRPr lang="en-US" sz="1000" dirty="0"/>
          </a:p>
        </p:txBody>
      </p:sp>
      <p:sp>
        <p:nvSpPr>
          <p:cNvPr id="12" name="Shape 10"/>
          <p:cNvSpPr/>
          <p:nvPr/>
        </p:nvSpPr>
        <p:spPr>
          <a:xfrm>
            <a:off x="2990088" y="1463040"/>
            <a:ext cx="201168" cy="164592"/>
          </a:xfrm>
          <a:prstGeom prst="rect">
            <a:avLst/>
          </a:prstGeom>
          <a:solidFill>
            <a:srgbClr val="5A6A7A"/>
          </a:solidFill>
          <a:ln w="12700">
            <a:solidFill>
              <a:srgbClr val="5A6A7A"/>
            </a:solidFill>
            <a:prstDash val="solid"/>
          </a:ln>
        </p:spPr>
        <p:txBody>
          <a:bodyPr/>
          <a:lstStyle/>
          <a:p>
            <a:endParaRPr lang="en-SG"/>
          </a:p>
        </p:txBody>
      </p:sp>
      <p:sp>
        <p:nvSpPr>
          <p:cNvPr id="13" name="Shape 11"/>
          <p:cNvSpPr/>
          <p:nvPr/>
        </p:nvSpPr>
        <p:spPr>
          <a:xfrm>
            <a:off x="3191256" y="1188720"/>
            <a:ext cx="1234440" cy="749808"/>
          </a:xfrm>
          <a:prstGeom prst="rect">
            <a:avLst/>
          </a:prstGeom>
          <a:solidFill>
            <a:srgbClr val="3A86FF"/>
          </a:solidFill>
          <a:ln w="12700">
            <a:solidFill>
              <a:srgbClr val="3A86FF"/>
            </a:solidFill>
            <a:prstDash val="solid"/>
          </a:ln>
        </p:spPr>
        <p:txBody>
          <a:bodyPr/>
          <a:lstStyle/>
          <a:p>
            <a:endParaRPr lang="en-SG"/>
          </a:p>
        </p:txBody>
      </p:sp>
      <p:sp>
        <p:nvSpPr>
          <p:cNvPr id="14" name="Text 12"/>
          <p:cNvSpPr/>
          <p:nvPr/>
        </p:nvSpPr>
        <p:spPr>
          <a:xfrm>
            <a:off x="3191256" y="1188720"/>
            <a:ext cx="1234440" cy="347472"/>
          </a:xfrm>
          <a:prstGeom prst="rect">
            <a:avLst/>
          </a:prstGeom>
          <a:noFill/>
          <a:ln/>
        </p:spPr>
        <p:txBody>
          <a:bodyPr wrap="square" lIns="0" tIns="0" rIns="0" bIns="0" rtlCol="0" anchor="ctr"/>
          <a:lstStyle/>
          <a:p>
            <a:pPr marL="0" indent="0" algn="ctr">
              <a:buNone/>
            </a:pPr>
            <a:r>
              <a:rPr lang="en-US" sz="2000" b="1" dirty="0">
                <a:solidFill>
                  <a:srgbClr val="1A1A2E"/>
                </a:solidFill>
                <a:latin typeface="Trebuchet MS" pitchFamily="34" charset="0"/>
                <a:ea typeface="Trebuchet MS" pitchFamily="34" charset="-122"/>
                <a:cs typeface="Trebuchet MS" pitchFamily="34" charset="-120"/>
              </a:rPr>
              <a:t>03</a:t>
            </a:r>
            <a:endParaRPr lang="en-US" sz="2000" dirty="0"/>
          </a:p>
        </p:txBody>
      </p:sp>
      <p:sp>
        <p:nvSpPr>
          <p:cNvPr id="15" name="Text 13"/>
          <p:cNvSpPr/>
          <p:nvPr/>
        </p:nvSpPr>
        <p:spPr>
          <a:xfrm>
            <a:off x="3191256" y="1536192"/>
            <a:ext cx="1234440" cy="402336"/>
          </a:xfrm>
          <a:prstGeom prst="rect">
            <a:avLst/>
          </a:prstGeom>
          <a:noFill/>
          <a:ln/>
        </p:spPr>
        <p:txBody>
          <a:bodyPr wrap="square" lIns="38100" tIns="38100" rIns="38100" bIns="38100" rtlCol="0" anchor="ctr"/>
          <a:lstStyle/>
          <a:p>
            <a:pPr marL="0" indent="0" algn="ctr">
              <a:buNone/>
            </a:pPr>
            <a:r>
              <a:rPr lang="en-US" sz="1000" dirty="0">
                <a:solidFill>
                  <a:srgbClr val="1A1A2E"/>
                </a:solidFill>
                <a:latin typeface="Calibri" pitchFamily="34" charset="0"/>
                <a:ea typeface="Calibri" pitchFamily="34" charset="-122"/>
                <a:cs typeface="Calibri" pitchFamily="34" charset="-120"/>
              </a:rPr>
              <a:t>Collection</a:t>
            </a:r>
            <a:endParaRPr lang="en-US" sz="1000" dirty="0"/>
          </a:p>
        </p:txBody>
      </p:sp>
      <p:sp>
        <p:nvSpPr>
          <p:cNvPr id="16" name="Shape 14"/>
          <p:cNvSpPr/>
          <p:nvPr/>
        </p:nvSpPr>
        <p:spPr>
          <a:xfrm>
            <a:off x="4425696" y="1463040"/>
            <a:ext cx="201168" cy="164592"/>
          </a:xfrm>
          <a:prstGeom prst="rect">
            <a:avLst/>
          </a:prstGeom>
          <a:solidFill>
            <a:srgbClr val="5A6A7A"/>
          </a:solidFill>
          <a:ln w="12700">
            <a:solidFill>
              <a:srgbClr val="5A6A7A"/>
            </a:solidFill>
            <a:prstDash val="solid"/>
          </a:ln>
        </p:spPr>
        <p:txBody>
          <a:bodyPr/>
          <a:lstStyle/>
          <a:p>
            <a:endParaRPr lang="en-SG"/>
          </a:p>
        </p:txBody>
      </p:sp>
      <p:sp>
        <p:nvSpPr>
          <p:cNvPr id="17" name="Shape 15"/>
          <p:cNvSpPr/>
          <p:nvPr/>
        </p:nvSpPr>
        <p:spPr>
          <a:xfrm>
            <a:off x="4626864" y="1188720"/>
            <a:ext cx="1234440" cy="749808"/>
          </a:xfrm>
          <a:prstGeom prst="rect">
            <a:avLst/>
          </a:prstGeom>
          <a:solidFill>
            <a:srgbClr val="3A86FF"/>
          </a:solidFill>
          <a:ln w="12700">
            <a:solidFill>
              <a:srgbClr val="3A86FF"/>
            </a:solidFill>
            <a:prstDash val="solid"/>
          </a:ln>
        </p:spPr>
        <p:txBody>
          <a:bodyPr/>
          <a:lstStyle/>
          <a:p>
            <a:endParaRPr lang="en-SG"/>
          </a:p>
        </p:txBody>
      </p:sp>
      <p:sp>
        <p:nvSpPr>
          <p:cNvPr id="18" name="Text 16"/>
          <p:cNvSpPr/>
          <p:nvPr/>
        </p:nvSpPr>
        <p:spPr>
          <a:xfrm>
            <a:off x="4626864" y="1188720"/>
            <a:ext cx="1234440" cy="347472"/>
          </a:xfrm>
          <a:prstGeom prst="rect">
            <a:avLst/>
          </a:prstGeom>
          <a:noFill/>
          <a:ln/>
        </p:spPr>
        <p:txBody>
          <a:bodyPr wrap="square" lIns="0" tIns="0" rIns="0" bIns="0" rtlCol="0" anchor="ctr"/>
          <a:lstStyle/>
          <a:p>
            <a:pPr marL="0" indent="0" algn="ctr">
              <a:buNone/>
            </a:pPr>
            <a:r>
              <a:rPr lang="en-US" sz="2000" b="1" dirty="0">
                <a:solidFill>
                  <a:srgbClr val="1A1A2E"/>
                </a:solidFill>
                <a:latin typeface="Trebuchet MS" pitchFamily="34" charset="0"/>
                <a:ea typeface="Trebuchet MS" pitchFamily="34" charset="-122"/>
                <a:cs typeface="Trebuchet MS" pitchFamily="34" charset="-120"/>
              </a:rPr>
              <a:t>04</a:t>
            </a:r>
            <a:endParaRPr lang="en-US" sz="2000" dirty="0"/>
          </a:p>
        </p:txBody>
      </p:sp>
      <p:sp>
        <p:nvSpPr>
          <p:cNvPr id="19" name="Text 17"/>
          <p:cNvSpPr/>
          <p:nvPr/>
        </p:nvSpPr>
        <p:spPr>
          <a:xfrm>
            <a:off x="4626864" y="1536192"/>
            <a:ext cx="1234440" cy="402336"/>
          </a:xfrm>
          <a:prstGeom prst="rect">
            <a:avLst/>
          </a:prstGeom>
          <a:noFill/>
          <a:ln/>
        </p:spPr>
        <p:txBody>
          <a:bodyPr wrap="square" lIns="38100" tIns="38100" rIns="38100" bIns="38100" rtlCol="0" anchor="ctr"/>
          <a:lstStyle/>
          <a:p>
            <a:pPr marL="0" indent="0" algn="ctr">
              <a:buNone/>
            </a:pPr>
            <a:r>
              <a:rPr lang="en-US" sz="1000" dirty="0">
                <a:solidFill>
                  <a:srgbClr val="1A1A2E"/>
                </a:solidFill>
                <a:latin typeface="Calibri" pitchFamily="34" charset="0"/>
                <a:ea typeface="Calibri" pitchFamily="34" charset="-122"/>
                <a:cs typeface="Calibri" pitchFamily="34" charset="-120"/>
              </a:rPr>
              <a:t>Examination</a:t>
            </a:r>
            <a:endParaRPr lang="en-US" sz="1000" dirty="0"/>
          </a:p>
        </p:txBody>
      </p:sp>
      <p:sp>
        <p:nvSpPr>
          <p:cNvPr id="20" name="Shape 18"/>
          <p:cNvSpPr/>
          <p:nvPr/>
        </p:nvSpPr>
        <p:spPr>
          <a:xfrm>
            <a:off x="5861304" y="1463040"/>
            <a:ext cx="201168" cy="164592"/>
          </a:xfrm>
          <a:prstGeom prst="rect">
            <a:avLst/>
          </a:prstGeom>
          <a:solidFill>
            <a:srgbClr val="5A6A7A"/>
          </a:solidFill>
          <a:ln w="12700">
            <a:solidFill>
              <a:srgbClr val="5A6A7A"/>
            </a:solidFill>
            <a:prstDash val="solid"/>
          </a:ln>
        </p:spPr>
        <p:txBody>
          <a:bodyPr/>
          <a:lstStyle/>
          <a:p>
            <a:endParaRPr lang="en-SG"/>
          </a:p>
        </p:txBody>
      </p:sp>
      <p:sp>
        <p:nvSpPr>
          <p:cNvPr id="21" name="Shape 19"/>
          <p:cNvSpPr/>
          <p:nvPr/>
        </p:nvSpPr>
        <p:spPr>
          <a:xfrm>
            <a:off x="6062472" y="1188720"/>
            <a:ext cx="1234440" cy="749808"/>
          </a:xfrm>
          <a:prstGeom prst="rect">
            <a:avLst/>
          </a:prstGeom>
          <a:solidFill>
            <a:srgbClr val="3A86FF"/>
          </a:solidFill>
          <a:ln w="12700">
            <a:solidFill>
              <a:srgbClr val="3A86FF"/>
            </a:solidFill>
            <a:prstDash val="solid"/>
          </a:ln>
        </p:spPr>
        <p:txBody>
          <a:bodyPr/>
          <a:lstStyle/>
          <a:p>
            <a:endParaRPr lang="en-SG"/>
          </a:p>
        </p:txBody>
      </p:sp>
      <p:sp>
        <p:nvSpPr>
          <p:cNvPr id="22" name="Text 20"/>
          <p:cNvSpPr/>
          <p:nvPr/>
        </p:nvSpPr>
        <p:spPr>
          <a:xfrm>
            <a:off x="6062472" y="1188720"/>
            <a:ext cx="1234440" cy="347472"/>
          </a:xfrm>
          <a:prstGeom prst="rect">
            <a:avLst/>
          </a:prstGeom>
          <a:noFill/>
          <a:ln/>
        </p:spPr>
        <p:txBody>
          <a:bodyPr wrap="square" lIns="0" tIns="0" rIns="0" bIns="0" rtlCol="0" anchor="ctr"/>
          <a:lstStyle/>
          <a:p>
            <a:pPr marL="0" indent="0" algn="ctr">
              <a:buNone/>
            </a:pPr>
            <a:r>
              <a:rPr lang="en-US" sz="2000" b="1" dirty="0">
                <a:solidFill>
                  <a:srgbClr val="1A1A2E"/>
                </a:solidFill>
                <a:latin typeface="Trebuchet MS" pitchFamily="34" charset="0"/>
                <a:ea typeface="Trebuchet MS" pitchFamily="34" charset="-122"/>
                <a:cs typeface="Trebuchet MS" pitchFamily="34" charset="-120"/>
              </a:rPr>
              <a:t>05</a:t>
            </a:r>
            <a:endParaRPr lang="en-US" sz="2000" dirty="0"/>
          </a:p>
        </p:txBody>
      </p:sp>
      <p:sp>
        <p:nvSpPr>
          <p:cNvPr id="23" name="Text 21"/>
          <p:cNvSpPr/>
          <p:nvPr/>
        </p:nvSpPr>
        <p:spPr>
          <a:xfrm>
            <a:off x="6062472" y="1536192"/>
            <a:ext cx="1234440" cy="402336"/>
          </a:xfrm>
          <a:prstGeom prst="rect">
            <a:avLst/>
          </a:prstGeom>
          <a:noFill/>
          <a:ln/>
        </p:spPr>
        <p:txBody>
          <a:bodyPr wrap="square" lIns="38100" tIns="38100" rIns="38100" bIns="38100" rtlCol="0" anchor="ctr"/>
          <a:lstStyle/>
          <a:p>
            <a:pPr marL="0" indent="0" algn="ctr">
              <a:buNone/>
            </a:pPr>
            <a:r>
              <a:rPr lang="en-US" sz="1000" dirty="0">
                <a:solidFill>
                  <a:srgbClr val="1A1A2E"/>
                </a:solidFill>
                <a:latin typeface="Calibri" pitchFamily="34" charset="0"/>
                <a:ea typeface="Calibri" pitchFamily="34" charset="-122"/>
                <a:cs typeface="Calibri" pitchFamily="34" charset="-120"/>
              </a:rPr>
              <a:t>Analysis</a:t>
            </a:r>
            <a:endParaRPr lang="en-US" sz="1000" dirty="0"/>
          </a:p>
        </p:txBody>
      </p:sp>
      <p:sp>
        <p:nvSpPr>
          <p:cNvPr id="24" name="Shape 22"/>
          <p:cNvSpPr/>
          <p:nvPr/>
        </p:nvSpPr>
        <p:spPr>
          <a:xfrm>
            <a:off x="7296912" y="1463040"/>
            <a:ext cx="201168" cy="164592"/>
          </a:xfrm>
          <a:prstGeom prst="rect">
            <a:avLst/>
          </a:prstGeom>
          <a:solidFill>
            <a:srgbClr val="5A6A7A"/>
          </a:solidFill>
          <a:ln w="12700">
            <a:solidFill>
              <a:srgbClr val="5A6A7A"/>
            </a:solidFill>
            <a:prstDash val="solid"/>
          </a:ln>
        </p:spPr>
        <p:txBody>
          <a:bodyPr/>
          <a:lstStyle/>
          <a:p>
            <a:endParaRPr lang="en-SG"/>
          </a:p>
        </p:txBody>
      </p:sp>
      <p:sp>
        <p:nvSpPr>
          <p:cNvPr id="25" name="Shape 23"/>
          <p:cNvSpPr/>
          <p:nvPr/>
        </p:nvSpPr>
        <p:spPr>
          <a:xfrm>
            <a:off x="7498080" y="1188720"/>
            <a:ext cx="1234440" cy="960120"/>
          </a:xfrm>
          <a:prstGeom prst="rect">
            <a:avLst/>
          </a:prstGeom>
          <a:solidFill>
            <a:srgbClr val="00A8A8"/>
          </a:solidFill>
          <a:ln w="12700">
            <a:solidFill>
              <a:srgbClr val="00A8A8"/>
            </a:solidFill>
            <a:prstDash val="solid"/>
          </a:ln>
        </p:spPr>
        <p:txBody>
          <a:bodyPr/>
          <a:lstStyle/>
          <a:p>
            <a:endParaRPr lang="en-SG"/>
          </a:p>
        </p:txBody>
      </p:sp>
      <p:sp>
        <p:nvSpPr>
          <p:cNvPr id="26" name="Text 24"/>
          <p:cNvSpPr/>
          <p:nvPr/>
        </p:nvSpPr>
        <p:spPr>
          <a:xfrm>
            <a:off x="7498080" y="1188720"/>
            <a:ext cx="1234440" cy="347472"/>
          </a:xfrm>
          <a:prstGeom prst="rect">
            <a:avLst/>
          </a:prstGeom>
          <a:noFill/>
          <a:ln/>
        </p:spPr>
        <p:txBody>
          <a:bodyPr wrap="square" lIns="0" tIns="0" rIns="0" bIns="0" rtlCol="0" anchor="ctr"/>
          <a:lstStyle/>
          <a:p>
            <a:pPr marL="0" indent="0" algn="ctr">
              <a:buNone/>
            </a:pPr>
            <a:r>
              <a:rPr lang="en-US" sz="2000" b="1" dirty="0">
                <a:solidFill>
                  <a:srgbClr val="0D1B2A"/>
                </a:solidFill>
                <a:latin typeface="Trebuchet MS" pitchFamily="34" charset="0"/>
                <a:ea typeface="Trebuchet MS" pitchFamily="34" charset="-122"/>
                <a:cs typeface="Trebuchet MS" pitchFamily="34" charset="-120"/>
              </a:rPr>
              <a:t>06</a:t>
            </a:r>
            <a:endParaRPr lang="en-US" sz="2000" dirty="0"/>
          </a:p>
        </p:txBody>
      </p:sp>
      <p:sp>
        <p:nvSpPr>
          <p:cNvPr id="27" name="Text 25"/>
          <p:cNvSpPr/>
          <p:nvPr/>
        </p:nvSpPr>
        <p:spPr>
          <a:xfrm>
            <a:off x="7498080" y="1536192"/>
            <a:ext cx="1234440" cy="612648"/>
          </a:xfrm>
          <a:prstGeom prst="rect">
            <a:avLst/>
          </a:prstGeom>
          <a:noFill/>
          <a:ln/>
        </p:spPr>
        <p:txBody>
          <a:bodyPr wrap="square" lIns="38100" tIns="38100" rIns="38100" bIns="38100" rtlCol="0" anchor="ctr"/>
          <a:lstStyle/>
          <a:p>
            <a:pPr marL="0" indent="0" algn="ctr">
              <a:buNone/>
            </a:pPr>
            <a:r>
              <a:rPr lang="en-US" sz="1100" b="1" dirty="0">
                <a:solidFill>
                  <a:srgbClr val="0D1B2A"/>
                </a:solidFill>
                <a:latin typeface="Calibri" pitchFamily="34" charset="0"/>
                <a:ea typeface="Calibri" pitchFamily="34" charset="-122"/>
                <a:cs typeface="Calibri" pitchFamily="34" charset="-120"/>
              </a:rPr>
              <a:t>REPORTING</a:t>
            </a:r>
            <a:endParaRPr lang="en-US" sz="1100" dirty="0"/>
          </a:p>
        </p:txBody>
      </p:sp>
      <p:sp>
        <p:nvSpPr>
          <p:cNvPr id="28" name="Shape 26"/>
          <p:cNvSpPr/>
          <p:nvPr/>
        </p:nvSpPr>
        <p:spPr>
          <a:xfrm>
            <a:off x="274320" y="2331720"/>
            <a:ext cx="8595360" cy="2514600"/>
          </a:xfrm>
          <a:prstGeom prst="rect">
            <a:avLst/>
          </a:prstGeom>
          <a:solidFill>
            <a:srgbClr val="EEF6FB"/>
          </a:solidFill>
          <a:ln w="12700">
            <a:solidFill>
              <a:srgbClr val="EEF6FB"/>
            </a:solidFill>
            <a:prstDash val="solid"/>
          </a:ln>
          <a:effectLst>
            <a:outerShdw blurRad="76200" dist="25400" dir="8100000" algn="bl" rotWithShape="0">
              <a:srgbClr val="000000">
                <a:alpha val="25000"/>
              </a:srgbClr>
            </a:outerShdw>
          </a:effectLst>
        </p:spPr>
        <p:txBody>
          <a:bodyPr/>
          <a:lstStyle/>
          <a:p>
            <a:endParaRPr lang="en-SG"/>
          </a:p>
        </p:txBody>
      </p:sp>
      <p:sp>
        <p:nvSpPr>
          <p:cNvPr id="29" name="Shape 27"/>
          <p:cNvSpPr/>
          <p:nvPr/>
        </p:nvSpPr>
        <p:spPr>
          <a:xfrm>
            <a:off x="274320" y="2331720"/>
            <a:ext cx="64008" cy="2514600"/>
          </a:xfrm>
          <a:prstGeom prst="rect">
            <a:avLst/>
          </a:prstGeom>
          <a:solidFill>
            <a:srgbClr val="00A8A8"/>
          </a:solidFill>
          <a:ln w="12700">
            <a:solidFill>
              <a:srgbClr val="00A8A8"/>
            </a:solidFill>
            <a:prstDash val="solid"/>
          </a:ln>
        </p:spPr>
        <p:txBody>
          <a:bodyPr/>
          <a:lstStyle/>
          <a:p>
            <a:endParaRPr lang="en-SG"/>
          </a:p>
        </p:txBody>
      </p:sp>
      <p:sp>
        <p:nvSpPr>
          <p:cNvPr id="30" name="Text 28"/>
          <p:cNvSpPr/>
          <p:nvPr/>
        </p:nvSpPr>
        <p:spPr>
          <a:xfrm>
            <a:off x="502920" y="2404872"/>
            <a:ext cx="8138160" cy="347472"/>
          </a:xfrm>
          <a:prstGeom prst="rect">
            <a:avLst/>
          </a:prstGeom>
          <a:noFill/>
          <a:ln/>
        </p:spPr>
        <p:txBody>
          <a:bodyPr wrap="square" lIns="0" tIns="0" rIns="0" bIns="0" rtlCol="0" anchor="ctr"/>
          <a:lstStyle/>
          <a:p>
            <a:pPr marL="0" indent="0" algn="l">
              <a:buNone/>
            </a:pPr>
            <a:r>
              <a:rPr lang="en-US" sz="1500" b="1" dirty="0">
                <a:solidFill>
                  <a:srgbClr val="00A8A8"/>
                </a:solidFill>
                <a:latin typeface="Trebuchet MS" pitchFamily="34" charset="0"/>
                <a:ea typeface="Trebuchet MS" pitchFamily="34" charset="-122"/>
                <a:cs typeface="Trebuchet MS" pitchFamily="34" charset="-120"/>
              </a:rPr>
              <a:t>Stage 06 — Reporting: Why It Is the Most Critical Stage</a:t>
            </a:r>
            <a:endParaRPr lang="en-US" sz="1500" dirty="0"/>
          </a:p>
        </p:txBody>
      </p:sp>
      <p:sp>
        <p:nvSpPr>
          <p:cNvPr id="31" name="Text 29"/>
          <p:cNvSpPr/>
          <p:nvPr/>
        </p:nvSpPr>
        <p:spPr>
          <a:xfrm>
            <a:off x="502920" y="2816352"/>
            <a:ext cx="8138160" cy="1920240"/>
          </a:xfrm>
          <a:prstGeom prst="rect">
            <a:avLst/>
          </a:prstGeom>
          <a:noFill/>
          <a:ln/>
        </p:spPr>
        <p:txBody>
          <a:bodyPr wrap="square" rtlCol="0" anchor="ctr"/>
          <a:lstStyle/>
          <a:p>
            <a:pPr marL="0" indent="0" algn="l">
              <a:buNone/>
            </a:pPr>
            <a:r>
              <a:rPr lang="en-US" sz="1350" b="1" dirty="0">
                <a:solidFill>
                  <a:srgbClr val="00A8A8"/>
                </a:solidFill>
                <a:latin typeface="Calibri" pitchFamily="34" charset="0"/>
                <a:ea typeface="Calibri" pitchFamily="34" charset="-122"/>
                <a:cs typeface="Calibri" pitchFamily="34" charset="-120"/>
              </a:rPr>
              <a:t>▸  </a:t>
            </a:r>
            <a:r>
              <a:rPr lang="en-US" sz="1350" dirty="0">
                <a:solidFill>
                  <a:srgbClr val="1A1A2E"/>
                </a:solidFill>
                <a:latin typeface="Calibri" pitchFamily="34" charset="0"/>
                <a:ea typeface="Calibri" pitchFamily="34" charset="-122"/>
                <a:cs typeface="Calibri" pitchFamily="34" charset="-120"/>
              </a:rPr>
              <a:t>Transforms raw technical analysis into admissible evidence the court can understand and act upon</a:t>
            </a:r>
            <a:endParaRPr lang="en-US" sz="1350" dirty="0"/>
          </a:p>
          <a:p>
            <a:pPr marL="0" indent="0" algn="l">
              <a:buNone/>
            </a:pPr>
            <a:r>
              <a:rPr lang="en-US" sz="1350" b="1" dirty="0">
                <a:solidFill>
                  <a:srgbClr val="00A8A8"/>
                </a:solidFill>
                <a:latin typeface="Calibri" pitchFamily="34" charset="0"/>
                <a:ea typeface="Calibri" pitchFamily="34" charset="-122"/>
                <a:cs typeface="Calibri" pitchFamily="34" charset="-120"/>
              </a:rPr>
              <a:t>▸  </a:t>
            </a:r>
            <a:r>
              <a:rPr lang="en-US" sz="1350" dirty="0">
                <a:solidFill>
                  <a:srgbClr val="1A1A2E"/>
                </a:solidFill>
                <a:latin typeface="Calibri" pitchFamily="34" charset="0"/>
                <a:ea typeface="Calibri" pitchFamily="34" charset="-122"/>
                <a:cs typeface="Calibri" pitchFamily="34" charset="-120"/>
              </a:rPr>
              <a:t>A poorly written report can destroy an otherwise solid investigation — cases have been dismissed due to report errors</a:t>
            </a:r>
            <a:endParaRPr lang="en-US" sz="1350" dirty="0"/>
          </a:p>
          <a:p>
            <a:pPr marL="0" indent="0" algn="l">
              <a:buNone/>
            </a:pPr>
            <a:r>
              <a:rPr lang="en-US" sz="1350" b="1" dirty="0">
                <a:solidFill>
                  <a:srgbClr val="00A8A8"/>
                </a:solidFill>
                <a:latin typeface="Calibri" pitchFamily="34" charset="0"/>
                <a:ea typeface="Calibri" pitchFamily="34" charset="-122"/>
                <a:cs typeface="Calibri" pitchFamily="34" charset="-120"/>
              </a:rPr>
              <a:t>▸  </a:t>
            </a:r>
            <a:r>
              <a:rPr lang="en-US" sz="1350" dirty="0">
                <a:solidFill>
                  <a:srgbClr val="1A1A2E"/>
                </a:solidFill>
                <a:latin typeface="Calibri" pitchFamily="34" charset="0"/>
                <a:ea typeface="Calibri" pitchFamily="34" charset="-122"/>
                <a:cs typeface="Calibri" pitchFamily="34" charset="-120"/>
              </a:rPr>
              <a:t>Every sentence may be challenged by defence counsel — vague or unsupported statements can undermine years of work in minutes</a:t>
            </a:r>
            <a:endParaRPr lang="en-US" sz="1350" dirty="0"/>
          </a:p>
          <a:p>
            <a:pPr marL="0" indent="0" algn="l">
              <a:buNone/>
            </a:pPr>
            <a:r>
              <a:rPr lang="en-US" sz="1350" b="1" dirty="0">
                <a:solidFill>
                  <a:srgbClr val="00A8A8"/>
                </a:solidFill>
                <a:latin typeface="Calibri" pitchFamily="34" charset="0"/>
                <a:ea typeface="Calibri" pitchFamily="34" charset="-122"/>
                <a:cs typeface="Calibri" pitchFamily="34" charset="-120"/>
              </a:rPr>
              <a:t>▸  </a:t>
            </a:r>
            <a:r>
              <a:rPr lang="en-US" sz="1350" dirty="0">
                <a:solidFill>
                  <a:srgbClr val="1A1A2E"/>
                </a:solidFill>
                <a:latin typeface="Calibri" pitchFamily="34" charset="0"/>
                <a:ea typeface="Calibri" pitchFamily="34" charset="-122"/>
                <a:cs typeface="Calibri" pitchFamily="34" charset="-120"/>
              </a:rPr>
              <a:t>A permanent legal record: appeals and civil cases may reopen the same report years or decades later</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0A8A8"/>
          </a:solidFill>
          <a:ln w="12700">
            <a:solidFill>
              <a:srgbClr val="00A8A8"/>
            </a:solidFill>
            <a:prstDash val="solid"/>
          </a:ln>
        </p:spPr>
        <p:txBody>
          <a:bodyPr/>
          <a:lstStyle/>
          <a:p>
            <a:endParaRPr lang="en-SG"/>
          </a:p>
        </p:txBody>
      </p:sp>
      <p:sp>
        <p:nvSpPr>
          <p:cNvPr id="3" name="Text 1"/>
          <p:cNvSpPr/>
          <p:nvPr/>
        </p:nvSpPr>
        <p:spPr>
          <a:xfrm>
            <a:off x="365760" y="164592"/>
            <a:ext cx="8412480" cy="594360"/>
          </a:xfrm>
          <a:prstGeom prst="rect">
            <a:avLst/>
          </a:prstGeom>
          <a:noFill/>
          <a:ln/>
        </p:spPr>
        <p:txBody>
          <a:bodyPr wrap="square" lIns="0" tIns="0" rIns="0" bIns="0" rtlCol="0" anchor="ctr"/>
          <a:lstStyle/>
          <a:p>
            <a:pPr marL="0" indent="0" algn="l">
              <a:buNone/>
            </a:pPr>
            <a:r>
              <a:rPr lang="en-US" sz="2800" b="1" dirty="0">
                <a:solidFill>
                  <a:srgbClr val="1A1A2E"/>
                </a:solidFill>
                <a:latin typeface="Trebuchet MS" pitchFamily="34" charset="0"/>
                <a:ea typeface="Trebuchet MS" pitchFamily="34" charset="-122"/>
                <a:cs typeface="Trebuchet MS" pitchFamily="34" charset="-120"/>
              </a:rPr>
              <a:t>Why Forensic Reporting Quality Matters</a:t>
            </a:r>
            <a:endParaRPr lang="en-US" sz="2800" dirty="0"/>
          </a:p>
        </p:txBody>
      </p:sp>
      <p:sp>
        <p:nvSpPr>
          <p:cNvPr id="4" name="Text 2"/>
          <p:cNvSpPr/>
          <p:nvPr/>
        </p:nvSpPr>
        <p:spPr>
          <a:xfrm>
            <a:off x="365760" y="786384"/>
            <a:ext cx="8412480" cy="228600"/>
          </a:xfrm>
          <a:prstGeom prst="rect">
            <a:avLst/>
          </a:prstGeom>
          <a:noFill/>
          <a:ln/>
        </p:spPr>
        <p:txBody>
          <a:bodyPr wrap="square" lIns="0" tIns="0" rIns="0" bIns="0" rtlCol="0" anchor="ctr"/>
          <a:lstStyle/>
          <a:p>
            <a:pPr marL="0" indent="0" algn="l">
              <a:buNone/>
            </a:pPr>
            <a:r>
              <a:rPr lang="en-US" sz="1100" i="1" dirty="0">
                <a:solidFill>
                  <a:srgbClr val="00A8A8"/>
                </a:solidFill>
                <a:latin typeface="Calibri" pitchFamily="34" charset="0"/>
                <a:ea typeface="Calibri" pitchFamily="34" charset="-122"/>
                <a:cs typeface="Calibri" pitchFamily="34" charset="-120"/>
              </a:rPr>
              <a:t>The quality of your report directly reflects your investigation — and your credibility as an examiner</a:t>
            </a:r>
            <a:endParaRPr lang="en-US" sz="1100" dirty="0"/>
          </a:p>
        </p:txBody>
      </p:sp>
      <p:sp>
        <p:nvSpPr>
          <p:cNvPr id="5" name="Shape 3"/>
          <p:cNvSpPr/>
          <p:nvPr/>
        </p:nvSpPr>
        <p:spPr>
          <a:xfrm>
            <a:off x="274320" y="1078992"/>
            <a:ext cx="2743200" cy="3858768"/>
          </a:xfrm>
          <a:prstGeom prst="rect">
            <a:avLst/>
          </a:prstGeom>
          <a:solidFill>
            <a:srgbClr val="EEF6FB"/>
          </a:solidFill>
          <a:ln w="12700">
            <a:solidFill>
              <a:srgbClr val="EEF6FB"/>
            </a:solidFill>
            <a:prstDash val="solid"/>
          </a:ln>
          <a:effectLst>
            <a:outerShdw blurRad="76200" dist="25400" dir="8100000" algn="bl" rotWithShape="0">
              <a:srgbClr val="000000">
                <a:alpha val="25000"/>
              </a:srgbClr>
            </a:outerShdw>
          </a:effectLst>
        </p:spPr>
        <p:txBody>
          <a:bodyPr/>
          <a:lstStyle/>
          <a:p>
            <a:endParaRPr lang="en-SG"/>
          </a:p>
        </p:txBody>
      </p:sp>
      <p:sp>
        <p:nvSpPr>
          <p:cNvPr id="6" name="Shape 4"/>
          <p:cNvSpPr/>
          <p:nvPr/>
        </p:nvSpPr>
        <p:spPr>
          <a:xfrm>
            <a:off x="274320" y="1078992"/>
            <a:ext cx="2743200" cy="109728"/>
          </a:xfrm>
          <a:prstGeom prst="rect">
            <a:avLst/>
          </a:prstGeom>
          <a:solidFill>
            <a:srgbClr val="3A86FF"/>
          </a:solidFill>
          <a:ln w="12700">
            <a:solidFill>
              <a:srgbClr val="3A86FF"/>
            </a:solidFill>
            <a:prstDash val="solid"/>
          </a:ln>
        </p:spPr>
        <p:txBody>
          <a:bodyPr/>
          <a:lstStyle/>
          <a:p>
            <a:endParaRPr lang="en-SG"/>
          </a:p>
        </p:txBody>
      </p:sp>
      <p:pic>
        <p:nvPicPr>
          <p:cNvPr id="7" name="Image 0" descr="preencoded.png"/>
          <p:cNvPicPr>
            <a:picLocks noChangeAspect="1"/>
          </p:cNvPicPr>
          <p:nvPr/>
        </p:nvPicPr>
        <p:blipFill>
          <a:blip r:embed="rId3"/>
          <a:stretch>
            <a:fillRect/>
          </a:stretch>
        </p:blipFill>
        <p:spPr>
          <a:xfrm>
            <a:off x="1298448" y="1216152"/>
            <a:ext cx="685800" cy="685800"/>
          </a:xfrm>
          <a:prstGeom prst="rect">
            <a:avLst/>
          </a:prstGeom>
        </p:spPr>
      </p:pic>
      <p:sp>
        <p:nvSpPr>
          <p:cNvPr id="8" name="Text 5"/>
          <p:cNvSpPr/>
          <p:nvPr/>
        </p:nvSpPr>
        <p:spPr>
          <a:xfrm>
            <a:off x="365760" y="1965960"/>
            <a:ext cx="2560320" cy="411480"/>
          </a:xfrm>
          <a:prstGeom prst="rect">
            <a:avLst/>
          </a:prstGeom>
          <a:noFill/>
          <a:ln/>
        </p:spPr>
        <p:txBody>
          <a:bodyPr wrap="square" lIns="0" tIns="0" rIns="0" bIns="0" rtlCol="0" anchor="ctr"/>
          <a:lstStyle/>
          <a:p>
            <a:pPr marL="0" indent="0" algn="ctr">
              <a:buNone/>
            </a:pPr>
            <a:r>
              <a:rPr lang="en-US" sz="1600" b="1" kern="0" spc="200" dirty="0">
                <a:solidFill>
                  <a:srgbClr val="3A86FF"/>
                </a:solidFill>
                <a:latin typeface="Trebuchet MS" pitchFamily="34" charset="0"/>
                <a:ea typeface="Trebuchet MS" pitchFamily="34" charset="-122"/>
                <a:cs typeface="Trebuchet MS" pitchFamily="34" charset="-120"/>
              </a:rPr>
              <a:t>ACCURATE</a:t>
            </a:r>
            <a:endParaRPr lang="en-US" sz="1600" dirty="0"/>
          </a:p>
        </p:txBody>
      </p:sp>
      <p:sp>
        <p:nvSpPr>
          <p:cNvPr id="9" name="Text 6"/>
          <p:cNvSpPr/>
          <p:nvPr/>
        </p:nvSpPr>
        <p:spPr>
          <a:xfrm>
            <a:off x="402336" y="2423160"/>
            <a:ext cx="2487168" cy="2395728"/>
          </a:xfrm>
          <a:prstGeom prst="rect">
            <a:avLst/>
          </a:prstGeom>
          <a:noFill/>
          <a:ln/>
        </p:spPr>
        <p:txBody>
          <a:bodyPr wrap="square" lIns="0" tIns="0" rIns="0" bIns="0" rtlCol="0" anchor="ctr"/>
          <a:lstStyle/>
          <a:p>
            <a:pPr marL="0" indent="0" algn="l">
              <a:buNone/>
            </a:pPr>
            <a:r>
              <a:rPr lang="en-US" sz="1250" b="1" dirty="0">
                <a:solidFill>
                  <a:srgbClr val="3A86FF"/>
                </a:solidFill>
                <a:latin typeface="Calibri" pitchFamily="34" charset="0"/>
                <a:ea typeface="Calibri" pitchFamily="34" charset="-122"/>
                <a:cs typeface="Calibri" pitchFamily="34" charset="-120"/>
              </a:rPr>
              <a:t>• </a:t>
            </a:r>
            <a:r>
              <a:rPr lang="en-US" sz="1250" dirty="0">
                <a:solidFill>
                  <a:srgbClr val="1A1A2E"/>
                </a:solidFill>
                <a:latin typeface="Calibri" pitchFamily="34" charset="0"/>
                <a:ea typeface="Calibri" pitchFamily="34" charset="-122"/>
                <a:cs typeface="Calibri" pitchFamily="34" charset="-120"/>
              </a:rPr>
              <a:t>Every fact precisely stated with sources</a:t>
            </a:r>
            <a:endParaRPr lang="en-US" sz="1250" dirty="0"/>
          </a:p>
          <a:p>
            <a:pPr marL="0" indent="0" algn="l">
              <a:buNone/>
            </a:pPr>
            <a:r>
              <a:rPr lang="en-US" sz="1250" b="1" dirty="0">
                <a:solidFill>
                  <a:srgbClr val="3A86FF"/>
                </a:solidFill>
                <a:latin typeface="Calibri" pitchFamily="34" charset="0"/>
                <a:ea typeface="Calibri" pitchFamily="34" charset="-122"/>
                <a:cs typeface="Calibri" pitchFamily="34" charset="-120"/>
              </a:rPr>
              <a:t>• </a:t>
            </a:r>
            <a:r>
              <a:rPr lang="en-US" sz="1250" dirty="0">
                <a:solidFill>
                  <a:srgbClr val="1A1A2E"/>
                </a:solidFill>
                <a:latin typeface="Calibri" pitchFamily="34" charset="0"/>
                <a:ea typeface="Calibri" pitchFamily="34" charset="-122"/>
                <a:cs typeface="Calibri" pitchFamily="34" charset="-120"/>
              </a:rPr>
              <a:t>Specific timestamps, hash values, file paths</a:t>
            </a:r>
            <a:endParaRPr lang="en-US" sz="1250" dirty="0"/>
          </a:p>
          <a:p>
            <a:pPr marL="0" indent="0" algn="l">
              <a:buNone/>
            </a:pPr>
            <a:r>
              <a:rPr lang="en-US" sz="1250" b="1" dirty="0">
                <a:solidFill>
                  <a:srgbClr val="3A86FF"/>
                </a:solidFill>
                <a:latin typeface="Calibri" pitchFamily="34" charset="0"/>
                <a:ea typeface="Calibri" pitchFamily="34" charset="-122"/>
                <a:cs typeface="Calibri" pitchFamily="34" charset="-120"/>
              </a:rPr>
              <a:t>• </a:t>
            </a:r>
            <a:r>
              <a:rPr lang="en-US" sz="1250" dirty="0">
                <a:solidFill>
                  <a:srgbClr val="1A1A2E"/>
                </a:solidFill>
                <a:latin typeface="Calibri" pitchFamily="34" charset="0"/>
                <a:ea typeface="Calibri" pitchFamily="34" charset="-122"/>
                <a:cs typeface="Calibri" pitchFamily="34" charset="-120"/>
              </a:rPr>
              <a:t>If you cannot be precise — document it as a limitation</a:t>
            </a:r>
            <a:endParaRPr lang="en-US" sz="1250" dirty="0"/>
          </a:p>
          <a:p>
            <a:pPr marL="0" indent="0" algn="l">
              <a:buNone/>
            </a:pPr>
            <a:r>
              <a:rPr lang="en-US" sz="1250" b="1" dirty="0">
                <a:solidFill>
                  <a:srgbClr val="3A86FF"/>
                </a:solidFill>
                <a:latin typeface="Calibri" pitchFamily="34" charset="0"/>
                <a:ea typeface="Calibri" pitchFamily="34" charset="-122"/>
                <a:cs typeface="Calibri" pitchFamily="34" charset="-120"/>
              </a:rPr>
              <a:t>• </a:t>
            </a:r>
            <a:r>
              <a:rPr lang="en-US" sz="1250" dirty="0">
                <a:solidFill>
                  <a:srgbClr val="1A1A2E"/>
                </a:solidFill>
                <a:latin typeface="Calibri" pitchFamily="34" charset="0"/>
                <a:ea typeface="Calibri" pitchFamily="34" charset="-122"/>
                <a:cs typeface="Calibri" pitchFamily="34" charset="-120"/>
              </a:rPr>
              <a:t>No rounded or estimated values in findings</a:t>
            </a:r>
            <a:endParaRPr lang="en-US" sz="1250" dirty="0"/>
          </a:p>
        </p:txBody>
      </p:sp>
      <p:sp>
        <p:nvSpPr>
          <p:cNvPr id="10" name="Shape 7"/>
          <p:cNvSpPr/>
          <p:nvPr/>
        </p:nvSpPr>
        <p:spPr>
          <a:xfrm>
            <a:off x="3182112" y="1078992"/>
            <a:ext cx="2743200" cy="3858768"/>
          </a:xfrm>
          <a:prstGeom prst="rect">
            <a:avLst/>
          </a:prstGeom>
          <a:solidFill>
            <a:srgbClr val="EEF6FB"/>
          </a:solidFill>
          <a:ln w="12700">
            <a:solidFill>
              <a:srgbClr val="EEF6FB"/>
            </a:solidFill>
            <a:prstDash val="solid"/>
          </a:ln>
          <a:effectLst>
            <a:outerShdw blurRad="76200" dist="25400" dir="8100000" algn="bl" rotWithShape="0">
              <a:srgbClr val="000000">
                <a:alpha val="25000"/>
              </a:srgbClr>
            </a:outerShdw>
          </a:effectLst>
        </p:spPr>
        <p:txBody>
          <a:bodyPr/>
          <a:lstStyle/>
          <a:p>
            <a:endParaRPr lang="en-SG"/>
          </a:p>
        </p:txBody>
      </p:sp>
      <p:sp>
        <p:nvSpPr>
          <p:cNvPr id="11" name="Shape 8"/>
          <p:cNvSpPr/>
          <p:nvPr/>
        </p:nvSpPr>
        <p:spPr>
          <a:xfrm>
            <a:off x="3182112" y="1078992"/>
            <a:ext cx="2743200" cy="109728"/>
          </a:xfrm>
          <a:prstGeom prst="rect">
            <a:avLst/>
          </a:prstGeom>
          <a:solidFill>
            <a:srgbClr val="27AE60"/>
          </a:solidFill>
          <a:ln w="12700">
            <a:solidFill>
              <a:srgbClr val="27AE60"/>
            </a:solidFill>
            <a:prstDash val="solid"/>
          </a:ln>
        </p:spPr>
        <p:txBody>
          <a:bodyPr/>
          <a:lstStyle/>
          <a:p>
            <a:endParaRPr lang="en-SG"/>
          </a:p>
        </p:txBody>
      </p:sp>
      <p:pic>
        <p:nvPicPr>
          <p:cNvPr id="12" name="Image 1" descr="preencoded.png"/>
          <p:cNvPicPr>
            <a:picLocks noChangeAspect="1"/>
          </p:cNvPicPr>
          <p:nvPr/>
        </p:nvPicPr>
        <p:blipFill>
          <a:blip r:embed="rId4"/>
          <a:stretch>
            <a:fillRect/>
          </a:stretch>
        </p:blipFill>
        <p:spPr>
          <a:xfrm>
            <a:off x="4206240" y="1216152"/>
            <a:ext cx="685800" cy="685800"/>
          </a:xfrm>
          <a:prstGeom prst="rect">
            <a:avLst/>
          </a:prstGeom>
        </p:spPr>
      </p:pic>
      <p:sp>
        <p:nvSpPr>
          <p:cNvPr id="13" name="Text 9"/>
          <p:cNvSpPr/>
          <p:nvPr/>
        </p:nvSpPr>
        <p:spPr>
          <a:xfrm>
            <a:off x="3273552" y="1965960"/>
            <a:ext cx="2560320" cy="411480"/>
          </a:xfrm>
          <a:prstGeom prst="rect">
            <a:avLst/>
          </a:prstGeom>
          <a:noFill/>
          <a:ln/>
        </p:spPr>
        <p:txBody>
          <a:bodyPr wrap="square" lIns="0" tIns="0" rIns="0" bIns="0" rtlCol="0" anchor="ctr"/>
          <a:lstStyle/>
          <a:p>
            <a:pPr marL="0" indent="0" algn="ctr">
              <a:buNone/>
            </a:pPr>
            <a:r>
              <a:rPr lang="en-US" sz="1600" b="1" kern="0" spc="200" dirty="0">
                <a:solidFill>
                  <a:srgbClr val="27AE60"/>
                </a:solidFill>
                <a:latin typeface="Trebuchet MS" pitchFamily="34" charset="0"/>
                <a:ea typeface="Trebuchet MS" pitchFamily="34" charset="-122"/>
                <a:cs typeface="Trebuchet MS" pitchFamily="34" charset="-120"/>
              </a:rPr>
              <a:t>UNBIASED</a:t>
            </a:r>
            <a:endParaRPr lang="en-US" sz="1600" dirty="0"/>
          </a:p>
        </p:txBody>
      </p:sp>
      <p:sp>
        <p:nvSpPr>
          <p:cNvPr id="14" name="Text 10"/>
          <p:cNvSpPr/>
          <p:nvPr/>
        </p:nvSpPr>
        <p:spPr>
          <a:xfrm>
            <a:off x="3310128" y="2423160"/>
            <a:ext cx="2487168" cy="2395728"/>
          </a:xfrm>
          <a:prstGeom prst="rect">
            <a:avLst/>
          </a:prstGeom>
          <a:noFill/>
          <a:ln/>
        </p:spPr>
        <p:txBody>
          <a:bodyPr wrap="square" lIns="0" tIns="0" rIns="0" bIns="0" rtlCol="0" anchor="ctr"/>
          <a:lstStyle/>
          <a:p>
            <a:pPr marL="0" indent="0" algn="l">
              <a:buNone/>
            </a:pPr>
            <a:r>
              <a:rPr lang="en-US" sz="1250" b="1" dirty="0">
                <a:solidFill>
                  <a:srgbClr val="27AE60"/>
                </a:solidFill>
                <a:latin typeface="Calibri" pitchFamily="34" charset="0"/>
                <a:ea typeface="Calibri" pitchFamily="34" charset="-122"/>
                <a:cs typeface="Calibri" pitchFamily="34" charset="-120"/>
              </a:rPr>
              <a:t>• </a:t>
            </a:r>
            <a:r>
              <a:rPr lang="en-US" sz="1250" dirty="0">
                <a:solidFill>
                  <a:srgbClr val="1A1A2E"/>
                </a:solidFill>
                <a:latin typeface="Calibri" pitchFamily="34" charset="0"/>
                <a:ea typeface="Calibri" pitchFamily="34" charset="-122"/>
                <a:cs typeface="Calibri" pitchFamily="34" charset="-120"/>
              </a:rPr>
              <a:t>Present ALL evidence — inculpatory &amp; exculpatory</a:t>
            </a:r>
            <a:endParaRPr lang="en-US" sz="1250" dirty="0"/>
          </a:p>
          <a:p>
            <a:pPr marL="0" indent="0" algn="l">
              <a:buNone/>
            </a:pPr>
            <a:r>
              <a:rPr lang="en-US" sz="1250" b="1" dirty="0">
                <a:solidFill>
                  <a:srgbClr val="27AE60"/>
                </a:solidFill>
                <a:latin typeface="Calibri" pitchFamily="34" charset="0"/>
                <a:ea typeface="Calibri" pitchFamily="34" charset="-122"/>
                <a:cs typeface="Calibri" pitchFamily="34" charset="-120"/>
              </a:rPr>
              <a:t>• </a:t>
            </a:r>
            <a:r>
              <a:rPr lang="en-US" sz="1250" dirty="0">
                <a:solidFill>
                  <a:srgbClr val="1A1A2E"/>
                </a:solidFill>
                <a:latin typeface="Calibri" pitchFamily="34" charset="0"/>
                <a:ea typeface="Calibri" pitchFamily="34" charset="-122"/>
                <a:cs typeface="Calibri" pitchFamily="34" charset="-120"/>
              </a:rPr>
              <a:t>No selective reporting to favour one party</a:t>
            </a:r>
            <a:endParaRPr lang="en-US" sz="1250" dirty="0"/>
          </a:p>
          <a:p>
            <a:pPr marL="0" indent="0" algn="l">
              <a:buNone/>
            </a:pPr>
            <a:r>
              <a:rPr lang="en-US" sz="1250" b="1" dirty="0">
                <a:solidFill>
                  <a:srgbClr val="27AE60"/>
                </a:solidFill>
                <a:latin typeface="Calibri" pitchFamily="34" charset="0"/>
                <a:ea typeface="Calibri" pitchFamily="34" charset="-122"/>
                <a:cs typeface="Calibri" pitchFamily="34" charset="-120"/>
              </a:rPr>
              <a:t>• </a:t>
            </a:r>
            <a:r>
              <a:rPr lang="en-US" sz="1250" dirty="0">
                <a:solidFill>
                  <a:srgbClr val="1A1A2E"/>
                </a:solidFill>
                <a:latin typeface="Calibri" pitchFamily="34" charset="0"/>
                <a:ea typeface="Calibri" pitchFamily="34" charset="-122"/>
                <a:cs typeface="Calibri" pitchFamily="34" charset="-120"/>
              </a:rPr>
              <a:t>Confirmation bias is the examiner's #1 enemy</a:t>
            </a:r>
            <a:endParaRPr lang="en-US" sz="1250" dirty="0"/>
          </a:p>
          <a:p>
            <a:pPr marL="0" indent="0" algn="l">
              <a:buNone/>
            </a:pPr>
            <a:r>
              <a:rPr lang="en-US" sz="1250" b="1" dirty="0">
                <a:solidFill>
                  <a:srgbClr val="27AE60"/>
                </a:solidFill>
                <a:latin typeface="Calibri" pitchFamily="34" charset="0"/>
                <a:ea typeface="Calibri" pitchFamily="34" charset="-122"/>
                <a:cs typeface="Calibri" pitchFamily="34" charset="-120"/>
              </a:rPr>
              <a:t>• </a:t>
            </a:r>
            <a:r>
              <a:rPr lang="en-US" sz="1250" dirty="0">
                <a:solidFill>
                  <a:srgbClr val="1A1A2E"/>
                </a:solidFill>
                <a:latin typeface="Calibri" pitchFamily="34" charset="0"/>
                <a:ea typeface="Calibri" pitchFamily="34" charset="-122"/>
                <a:cs typeface="Calibri" pitchFamily="34" charset="-120"/>
              </a:rPr>
              <a:t>Write what the evidence shows — not what you believe</a:t>
            </a:r>
            <a:endParaRPr lang="en-US" sz="1250" dirty="0"/>
          </a:p>
        </p:txBody>
      </p:sp>
      <p:sp>
        <p:nvSpPr>
          <p:cNvPr id="15" name="Shape 11"/>
          <p:cNvSpPr/>
          <p:nvPr/>
        </p:nvSpPr>
        <p:spPr>
          <a:xfrm>
            <a:off x="6089904" y="1078992"/>
            <a:ext cx="2743200" cy="3858768"/>
          </a:xfrm>
          <a:prstGeom prst="rect">
            <a:avLst/>
          </a:prstGeom>
          <a:solidFill>
            <a:srgbClr val="EEF6FB"/>
          </a:solidFill>
          <a:ln w="12700">
            <a:solidFill>
              <a:srgbClr val="EEF6FB"/>
            </a:solidFill>
            <a:prstDash val="solid"/>
          </a:ln>
          <a:effectLst>
            <a:outerShdw blurRad="76200" dist="25400" dir="8100000" algn="bl" rotWithShape="0">
              <a:srgbClr val="000000">
                <a:alpha val="25000"/>
              </a:srgbClr>
            </a:outerShdw>
          </a:effectLst>
        </p:spPr>
        <p:txBody>
          <a:bodyPr/>
          <a:lstStyle/>
          <a:p>
            <a:endParaRPr lang="en-SG"/>
          </a:p>
        </p:txBody>
      </p:sp>
      <p:sp>
        <p:nvSpPr>
          <p:cNvPr id="16" name="Shape 12"/>
          <p:cNvSpPr/>
          <p:nvPr/>
        </p:nvSpPr>
        <p:spPr>
          <a:xfrm>
            <a:off x="6089904" y="1078992"/>
            <a:ext cx="2743200" cy="109728"/>
          </a:xfrm>
          <a:prstGeom prst="rect">
            <a:avLst/>
          </a:prstGeom>
          <a:solidFill>
            <a:srgbClr val="F0B429"/>
          </a:solidFill>
          <a:ln w="12700">
            <a:solidFill>
              <a:srgbClr val="F0B429"/>
            </a:solidFill>
            <a:prstDash val="solid"/>
          </a:ln>
        </p:spPr>
        <p:txBody>
          <a:bodyPr/>
          <a:lstStyle/>
          <a:p>
            <a:endParaRPr lang="en-SG"/>
          </a:p>
        </p:txBody>
      </p:sp>
      <p:pic>
        <p:nvPicPr>
          <p:cNvPr id="17" name="Image 2" descr="preencoded.png"/>
          <p:cNvPicPr>
            <a:picLocks noChangeAspect="1"/>
          </p:cNvPicPr>
          <p:nvPr/>
        </p:nvPicPr>
        <p:blipFill>
          <a:blip r:embed="rId5"/>
          <a:stretch>
            <a:fillRect/>
          </a:stretch>
        </p:blipFill>
        <p:spPr>
          <a:xfrm>
            <a:off x="7114032" y="1216152"/>
            <a:ext cx="685800" cy="685800"/>
          </a:xfrm>
          <a:prstGeom prst="rect">
            <a:avLst/>
          </a:prstGeom>
        </p:spPr>
      </p:pic>
      <p:sp>
        <p:nvSpPr>
          <p:cNvPr id="18" name="Text 13"/>
          <p:cNvSpPr/>
          <p:nvPr/>
        </p:nvSpPr>
        <p:spPr>
          <a:xfrm>
            <a:off x="6181344" y="1965960"/>
            <a:ext cx="2560320" cy="411480"/>
          </a:xfrm>
          <a:prstGeom prst="rect">
            <a:avLst/>
          </a:prstGeom>
          <a:noFill/>
          <a:ln/>
        </p:spPr>
        <p:txBody>
          <a:bodyPr wrap="square" lIns="0" tIns="0" rIns="0" bIns="0" rtlCol="0" anchor="ctr"/>
          <a:lstStyle/>
          <a:p>
            <a:pPr marL="0" indent="0" algn="ctr">
              <a:buNone/>
            </a:pPr>
            <a:r>
              <a:rPr lang="en-US" sz="1600" b="1" kern="0" spc="200" dirty="0">
                <a:solidFill>
                  <a:srgbClr val="F0B429"/>
                </a:solidFill>
                <a:latin typeface="Trebuchet MS" pitchFamily="34" charset="0"/>
                <a:ea typeface="Trebuchet MS" pitchFamily="34" charset="-122"/>
                <a:cs typeface="Trebuchet MS" pitchFamily="34" charset="-120"/>
              </a:rPr>
              <a:t>DEFENSIBLE</a:t>
            </a:r>
            <a:endParaRPr lang="en-US" sz="1600" dirty="0"/>
          </a:p>
        </p:txBody>
      </p:sp>
      <p:sp>
        <p:nvSpPr>
          <p:cNvPr id="19" name="Text 14"/>
          <p:cNvSpPr/>
          <p:nvPr/>
        </p:nvSpPr>
        <p:spPr>
          <a:xfrm>
            <a:off x="6217920" y="2423160"/>
            <a:ext cx="2487168" cy="2395728"/>
          </a:xfrm>
          <a:prstGeom prst="rect">
            <a:avLst/>
          </a:prstGeom>
          <a:noFill/>
          <a:ln/>
        </p:spPr>
        <p:txBody>
          <a:bodyPr wrap="square" lIns="0" tIns="0" rIns="0" bIns="0" rtlCol="0" anchor="ctr"/>
          <a:lstStyle/>
          <a:p>
            <a:pPr marL="0" indent="0" algn="l">
              <a:buNone/>
            </a:pPr>
            <a:r>
              <a:rPr lang="en-US" sz="1250" b="1" dirty="0">
                <a:solidFill>
                  <a:srgbClr val="F0B429"/>
                </a:solidFill>
                <a:latin typeface="Calibri" pitchFamily="34" charset="0"/>
                <a:ea typeface="Calibri" pitchFamily="34" charset="-122"/>
                <a:cs typeface="Calibri" pitchFamily="34" charset="-120"/>
              </a:rPr>
              <a:t>• </a:t>
            </a:r>
            <a:r>
              <a:rPr lang="en-US" sz="1250" dirty="0">
                <a:solidFill>
                  <a:srgbClr val="1A1A2E"/>
                </a:solidFill>
                <a:latin typeface="Calibri" pitchFamily="34" charset="0"/>
                <a:ea typeface="Calibri" pitchFamily="34" charset="-122"/>
                <a:cs typeface="Calibri" pitchFamily="34" charset="-120"/>
              </a:rPr>
              <a:t>Methodology must be fully reproducible</a:t>
            </a:r>
            <a:endParaRPr lang="en-US" sz="1250" dirty="0"/>
          </a:p>
          <a:p>
            <a:pPr marL="0" indent="0" algn="l">
              <a:buNone/>
            </a:pPr>
            <a:r>
              <a:rPr lang="en-US" sz="1250" b="1" dirty="0">
                <a:solidFill>
                  <a:srgbClr val="F0B429"/>
                </a:solidFill>
                <a:latin typeface="Calibri" pitchFamily="34" charset="0"/>
                <a:ea typeface="Calibri" pitchFamily="34" charset="-122"/>
                <a:cs typeface="Calibri" pitchFamily="34" charset="-120"/>
              </a:rPr>
              <a:t>• </a:t>
            </a:r>
            <a:r>
              <a:rPr lang="en-US" sz="1250" dirty="0">
                <a:solidFill>
                  <a:srgbClr val="1A1A2E"/>
                </a:solidFill>
                <a:latin typeface="Calibri" pitchFamily="34" charset="0"/>
                <a:ea typeface="Calibri" pitchFamily="34" charset="-122"/>
                <a:cs typeface="Calibri" pitchFamily="34" charset="-120"/>
              </a:rPr>
              <a:t>All tools, versions, and commands documented</a:t>
            </a:r>
            <a:endParaRPr lang="en-US" sz="1250" dirty="0"/>
          </a:p>
          <a:p>
            <a:pPr marL="0" indent="0" algn="l">
              <a:buNone/>
            </a:pPr>
            <a:r>
              <a:rPr lang="en-US" sz="1250" b="1" dirty="0">
                <a:solidFill>
                  <a:srgbClr val="F0B429"/>
                </a:solidFill>
                <a:latin typeface="Calibri" pitchFamily="34" charset="0"/>
                <a:ea typeface="Calibri" pitchFamily="34" charset="-122"/>
                <a:cs typeface="Calibri" pitchFamily="34" charset="-120"/>
              </a:rPr>
              <a:t>• </a:t>
            </a:r>
            <a:r>
              <a:rPr lang="en-US" sz="1250" dirty="0">
                <a:solidFill>
                  <a:srgbClr val="1A1A2E"/>
                </a:solidFill>
                <a:latin typeface="Calibri" pitchFamily="34" charset="0"/>
                <a:ea typeface="Calibri" pitchFamily="34" charset="-122"/>
                <a:cs typeface="Calibri" pitchFamily="34" charset="-120"/>
              </a:rPr>
              <a:t>Every conclusion supported by specific evidence</a:t>
            </a:r>
            <a:endParaRPr lang="en-US" sz="1250" dirty="0"/>
          </a:p>
          <a:p>
            <a:pPr marL="0" indent="0" algn="l">
              <a:buNone/>
            </a:pPr>
            <a:r>
              <a:rPr lang="en-US" sz="1250" b="1" dirty="0">
                <a:solidFill>
                  <a:srgbClr val="F0B429"/>
                </a:solidFill>
                <a:latin typeface="Calibri" pitchFamily="34" charset="0"/>
                <a:ea typeface="Calibri" pitchFamily="34" charset="-122"/>
                <a:cs typeface="Calibri" pitchFamily="34" charset="-120"/>
              </a:rPr>
              <a:t>• </a:t>
            </a:r>
            <a:r>
              <a:rPr lang="en-US" sz="1250" dirty="0">
                <a:solidFill>
                  <a:srgbClr val="1A1A2E"/>
                </a:solidFill>
                <a:latin typeface="Calibri" pitchFamily="34" charset="0"/>
                <a:ea typeface="Calibri" pitchFamily="34" charset="-122"/>
                <a:cs typeface="Calibri" pitchFamily="34" charset="-120"/>
              </a:rPr>
              <a:t>Courts appoint second experts to verify your work</a:t>
            </a:r>
            <a:endParaRPr lang="en-US" sz="1250" dirty="0"/>
          </a:p>
        </p:txBody>
      </p:sp>
      <p:sp>
        <p:nvSpPr>
          <p:cNvPr id="20" name="Shape 15"/>
          <p:cNvSpPr/>
          <p:nvPr/>
        </p:nvSpPr>
        <p:spPr>
          <a:xfrm>
            <a:off x="274320" y="4681728"/>
            <a:ext cx="8595360" cy="347472"/>
          </a:xfrm>
          <a:prstGeom prst="rect">
            <a:avLst/>
          </a:prstGeom>
          <a:solidFill>
            <a:srgbClr val="FEF2F2"/>
          </a:solidFill>
          <a:ln w="12700">
            <a:solidFill>
              <a:srgbClr val="E74C3C"/>
            </a:solidFill>
            <a:prstDash val="solid"/>
          </a:ln>
        </p:spPr>
        <p:txBody>
          <a:bodyPr/>
          <a:lstStyle/>
          <a:p>
            <a:endParaRPr lang="en-SG"/>
          </a:p>
        </p:txBody>
      </p:sp>
      <p:pic>
        <p:nvPicPr>
          <p:cNvPr id="21" name="Image 3" descr="preencoded.png"/>
          <p:cNvPicPr>
            <a:picLocks noChangeAspect="1"/>
          </p:cNvPicPr>
          <p:nvPr/>
        </p:nvPicPr>
        <p:blipFill>
          <a:blip r:embed="rId6"/>
          <a:stretch>
            <a:fillRect/>
          </a:stretch>
        </p:blipFill>
        <p:spPr>
          <a:xfrm>
            <a:off x="384048" y="4718304"/>
            <a:ext cx="256032" cy="256032"/>
          </a:xfrm>
          <a:prstGeom prst="rect">
            <a:avLst/>
          </a:prstGeom>
        </p:spPr>
      </p:pic>
      <p:sp>
        <p:nvSpPr>
          <p:cNvPr id="22" name="Text 16"/>
          <p:cNvSpPr/>
          <p:nvPr/>
        </p:nvSpPr>
        <p:spPr>
          <a:xfrm>
            <a:off x="749808" y="4700016"/>
            <a:ext cx="8001000" cy="274320"/>
          </a:xfrm>
          <a:prstGeom prst="rect">
            <a:avLst/>
          </a:prstGeom>
          <a:noFill/>
          <a:ln/>
        </p:spPr>
        <p:txBody>
          <a:bodyPr wrap="square" lIns="0" tIns="0" rIns="0" bIns="0" rtlCol="0" anchor="ctr"/>
          <a:lstStyle/>
          <a:p>
            <a:pPr marL="0" indent="0" algn="l">
              <a:buNone/>
            </a:pPr>
            <a:r>
              <a:rPr lang="en-US" sz="1200" b="1" dirty="0">
                <a:solidFill>
                  <a:srgbClr val="E74C3C"/>
                </a:solidFill>
                <a:latin typeface="Calibri" pitchFamily="34" charset="0"/>
                <a:ea typeface="Calibri" pitchFamily="34" charset="-122"/>
                <a:cs typeface="Calibri" pitchFamily="34" charset="-120"/>
              </a:rPr>
              <a:t>Poor reporting consequences: case dismissal  ·  evidence exclusion  ·  examiner discredited  ·  miscarriage of justice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0A8A8"/>
          </a:solidFill>
          <a:ln w="12700">
            <a:solidFill>
              <a:srgbClr val="00A8A8"/>
            </a:solidFill>
            <a:prstDash val="solid"/>
          </a:ln>
        </p:spPr>
        <p:txBody>
          <a:bodyPr/>
          <a:lstStyle/>
          <a:p>
            <a:endParaRPr lang="en-SG"/>
          </a:p>
        </p:txBody>
      </p:sp>
      <p:sp>
        <p:nvSpPr>
          <p:cNvPr id="3" name="Text 1"/>
          <p:cNvSpPr/>
          <p:nvPr/>
        </p:nvSpPr>
        <p:spPr>
          <a:xfrm>
            <a:off x="365760" y="164592"/>
            <a:ext cx="8412480" cy="594360"/>
          </a:xfrm>
          <a:prstGeom prst="rect">
            <a:avLst/>
          </a:prstGeom>
          <a:noFill/>
          <a:ln/>
        </p:spPr>
        <p:txBody>
          <a:bodyPr wrap="square" lIns="0" tIns="0" rIns="0" bIns="0" rtlCol="0" anchor="ctr"/>
          <a:lstStyle/>
          <a:p>
            <a:pPr marL="0" indent="0" algn="l">
              <a:buNone/>
            </a:pPr>
            <a:r>
              <a:rPr lang="en-US" sz="2800" b="1" dirty="0">
                <a:solidFill>
                  <a:srgbClr val="1A1A2E"/>
                </a:solidFill>
                <a:latin typeface="Trebuchet MS" pitchFamily="34" charset="0"/>
                <a:ea typeface="Trebuchet MS" pitchFamily="34" charset="-122"/>
                <a:cs typeface="Trebuchet MS" pitchFamily="34" charset="-120"/>
              </a:rPr>
              <a:t>Who Reads Your Forensic Report?</a:t>
            </a:r>
            <a:endParaRPr lang="en-US" sz="2800" dirty="0"/>
          </a:p>
        </p:txBody>
      </p:sp>
      <p:sp>
        <p:nvSpPr>
          <p:cNvPr id="4" name="Text 2"/>
          <p:cNvSpPr/>
          <p:nvPr/>
        </p:nvSpPr>
        <p:spPr>
          <a:xfrm>
            <a:off x="365760" y="786384"/>
            <a:ext cx="8412480" cy="228600"/>
          </a:xfrm>
          <a:prstGeom prst="rect">
            <a:avLst/>
          </a:prstGeom>
          <a:noFill/>
          <a:ln/>
        </p:spPr>
        <p:txBody>
          <a:bodyPr wrap="square" lIns="0" tIns="0" rIns="0" bIns="0" rtlCol="0" anchor="ctr"/>
          <a:lstStyle/>
          <a:p>
            <a:pPr marL="0" indent="0" algn="l">
              <a:buNone/>
            </a:pPr>
            <a:r>
              <a:rPr lang="en-US" sz="1100" i="1" dirty="0">
                <a:solidFill>
                  <a:srgbClr val="00A8A8"/>
                </a:solidFill>
                <a:latin typeface="Calibri" pitchFamily="34" charset="0"/>
                <a:ea typeface="Calibri" pitchFamily="34" charset="-122"/>
                <a:cs typeface="Calibri" pitchFamily="34" charset="-120"/>
              </a:rPr>
              <a:t>Write for ALL audiences — your language must work for lawyers, officers, and juries alike</a:t>
            </a:r>
            <a:endParaRPr lang="en-US" sz="1100" dirty="0"/>
          </a:p>
        </p:txBody>
      </p:sp>
      <p:sp>
        <p:nvSpPr>
          <p:cNvPr id="5" name="Shape 3"/>
          <p:cNvSpPr/>
          <p:nvPr/>
        </p:nvSpPr>
        <p:spPr>
          <a:xfrm>
            <a:off x="274320" y="1051560"/>
            <a:ext cx="4233672" cy="1170432"/>
          </a:xfrm>
          <a:prstGeom prst="rect">
            <a:avLst/>
          </a:prstGeom>
          <a:solidFill>
            <a:srgbClr val="EEF6FB"/>
          </a:solidFill>
          <a:ln w="12700">
            <a:solidFill>
              <a:srgbClr val="EEF6FB"/>
            </a:solidFill>
            <a:prstDash val="solid"/>
          </a:ln>
          <a:effectLst>
            <a:outerShdw blurRad="76200" dist="25400" dir="8100000" algn="bl" rotWithShape="0">
              <a:srgbClr val="000000">
                <a:alpha val="25000"/>
              </a:srgbClr>
            </a:outerShdw>
          </a:effectLst>
        </p:spPr>
        <p:txBody>
          <a:bodyPr/>
          <a:lstStyle/>
          <a:p>
            <a:endParaRPr lang="en-SG"/>
          </a:p>
        </p:txBody>
      </p:sp>
      <p:sp>
        <p:nvSpPr>
          <p:cNvPr id="6" name="Shape 4"/>
          <p:cNvSpPr/>
          <p:nvPr/>
        </p:nvSpPr>
        <p:spPr>
          <a:xfrm>
            <a:off x="274320" y="1051560"/>
            <a:ext cx="64008" cy="1170432"/>
          </a:xfrm>
          <a:prstGeom prst="rect">
            <a:avLst/>
          </a:prstGeom>
          <a:solidFill>
            <a:srgbClr val="3A86FF"/>
          </a:solidFill>
          <a:ln w="12700">
            <a:solidFill>
              <a:srgbClr val="3A86FF"/>
            </a:solidFill>
            <a:prstDash val="solid"/>
          </a:ln>
        </p:spPr>
        <p:txBody>
          <a:bodyPr/>
          <a:lstStyle/>
          <a:p>
            <a:endParaRPr lang="en-SG"/>
          </a:p>
        </p:txBody>
      </p:sp>
      <p:sp>
        <p:nvSpPr>
          <p:cNvPr id="7" name="Text 5"/>
          <p:cNvSpPr/>
          <p:nvPr/>
        </p:nvSpPr>
        <p:spPr>
          <a:xfrm>
            <a:off x="475488" y="1143000"/>
            <a:ext cx="3931920" cy="320040"/>
          </a:xfrm>
          <a:prstGeom prst="rect">
            <a:avLst/>
          </a:prstGeom>
          <a:noFill/>
          <a:ln/>
        </p:spPr>
        <p:txBody>
          <a:bodyPr wrap="square" lIns="0" tIns="0" rIns="0" bIns="0" rtlCol="0" anchor="ctr"/>
          <a:lstStyle/>
          <a:p>
            <a:pPr marL="0" indent="0" algn="l">
              <a:buNone/>
            </a:pPr>
            <a:r>
              <a:rPr lang="en-US" sz="1300" b="1" dirty="0">
                <a:solidFill>
                  <a:srgbClr val="3A86FF"/>
                </a:solidFill>
                <a:latin typeface="Trebuchet MS" pitchFamily="34" charset="0"/>
                <a:ea typeface="Trebuchet MS" pitchFamily="34" charset="-122"/>
                <a:cs typeface="Trebuchet MS" pitchFamily="34" charset="-120"/>
              </a:rPr>
              <a:t>Investigating Officers</a:t>
            </a:r>
            <a:endParaRPr lang="en-US" sz="1300" dirty="0"/>
          </a:p>
        </p:txBody>
      </p:sp>
      <p:sp>
        <p:nvSpPr>
          <p:cNvPr id="8" name="Text 6"/>
          <p:cNvSpPr/>
          <p:nvPr/>
        </p:nvSpPr>
        <p:spPr>
          <a:xfrm>
            <a:off x="475488" y="1481328"/>
            <a:ext cx="3931920" cy="676656"/>
          </a:xfrm>
          <a:prstGeom prst="rect">
            <a:avLst/>
          </a:prstGeom>
          <a:noFill/>
          <a:ln/>
        </p:spPr>
        <p:txBody>
          <a:bodyPr wrap="square" lIns="0" tIns="0" rIns="0" bIns="0" rtlCol="0" anchor="ctr"/>
          <a:lstStyle/>
          <a:p>
            <a:pPr marL="0" indent="0" algn="l">
              <a:buNone/>
            </a:pPr>
            <a:r>
              <a:rPr lang="en-US" sz="1200" dirty="0">
                <a:solidFill>
                  <a:srgbClr val="1A1A2E"/>
                </a:solidFill>
                <a:latin typeface="Calibri" pitchFamily="34" charset="0"/>
                <a:ea typeface="Calibri" pitchFamily="34" charset="-122"/>
                <a:cs typeface="Calibri" pitchFamily="34" charset="-120"/>
              </a:rPr>
              <a:t>Clear timeline and evidence summary. What happened? Who did it? When? Written to support the prosecution strategy.</a:t>
            </a:r>
            <a:endParaRPr lang="en-US" sz="1200" dirty="0"/>
          </a:p>
        </p:txBody>
      </p:sp>
      <p:sp>
        <p:nvSpPr>
          <p:cNvPr id="9" name="Shape 7"/>
          <p:cNvSpPr/>
          <p:nvPr/>
        </p:nvSpPr>
        <p:spPr>
          <a:xfrm>
            <a:off x="274320" y="2359152"/>
            <a:ext cx="4233672" cy="1170432"/>
          </a:xfrm>
          <a:prstGeom prst="rect">
            <a:avLst/>
          </a:prstGeom>
          <a:solidFill>
            <a:srgbClr val="EEF6FB"/>
          </a:solidFill>
          <a:ln w="12700">
            <a:solidFill>
              <a:srgbClr val="EEF6FB"/>
            </a:solidFill>
            <a:prstDash val="solid"/>
          </a:ln>
          <a:effectLst>
            <a:outerShdw blurRad="76200" dist="25400" dir="8100000" algn="bl" rotWithShape="0">
              <a:srgbClr val="000000">
                <a:alpha val="25000"/>
              </a:srgbClr>
            </a:outerShdw>
          </a:effectLst>
        </p:spPr>
        <p:txBody>
          <a:bodyPr/>
          <a:lstStyle/>
          <a:p>
            <a:endParaRPr lang="en-SG"/>
          </a:p>
        </p:txBody>
      </p:sp>
      <p:sp>
        <p:nvSpPr>
          <p:cNvPr id="10" name="Shape 8"/>
          <p:cNvSpPr/>
          <p:nvPr/>
        </p:nvSpPr>
        <p:spPr>
          <a:xfrm>
            <a:off x="274320" y="2359152"/>
            <a:ext cx="64008" cy="1170432"/>
          </a:xfrm>
          <a:prstGeom prst="rect">
            <a:avLst/>
          </a:prstGeom>
          <a:solidFill>
            <a:srgbClr val="27AE60"/>
          </a:solidFill>
          <a:ln w="12700">
            <a:solidFill>
              <a:srgbClr val="27AE60"/>
            </a:solidFill>
            <a:prstDash val="solid"/>
          </a:ln>
        </p:spPr>
        <p:txBody>
          <a:bodyPr/>
          <a:lstStyle/>
          <a:p>
            <a:endParaRPr lang="en-SG"/>
          </a:p>
        </p:txBody>
      </p:sp>
      <p:sp>
        <p:nvSpPr>
          <p:cNvPr id="11" name="Text 9"/>
          <p:cNvSpPr/>
          <p:nvPr/>
        </p:nvSpPr>
        <p:spPr>
          <a:xfrm>
            <a:off x="475488" y="2450592"/>
            <a:ext cx="3931920" cy="320040"/>
          </a:xfrm>
          <a:prstGeom prst="rect">
            <a:avLst/>
          </a:prstGeom>
          <a:noFill/>
          <a:ln/>
        </p:spPr>
        <p:txBody>
          <a:bodyPr wrap="square" lIns="0" tIns="0" rIns="0" bIns="0" rtlCol="0" anchor="ctr"/>
          <a:lstStyle/>
          <a:p>
            <a:pPr marL="0" indent="0" algn="l">
              <a:buNone/>
            </a:pPr>
            <a:r>
              <a:rPr lang="en-US" sz="1300" b="1" dirty="0">
                <a:solidFill>
                  <a:srgbClr val="27AE60"/>
                </a:solidFill>
                <a:latin typeface="Trebuchet MS" pitchFamily="34" charset="0"/>
                <a:ea typeface="Trebuchet MS" pitchFamily="34" charset="-122"/>
                <a:cs typeface="Trebuchet MS" pitchFamily="34" charset="-120"/>
              </a:rPr>
              <a:t>Prosecuting Counsel (DPP)</a:t>
            </a:r>
            <a:endParaRPr lang="en-US" sz="1300" dirty="0"/>
          </a:p>
        </p:txBody>
      </p:sp>
      <p:sp>
        <p:nvSpPr>
          <p:cNvPr id="12" name="Text 10"/>
          <p:cNvSpPr/>
          <p:nvPr/>
        </p:nvSpPr>
        <p:spPr>
          <a:xfrm>
            <a:off x="475488" y="2788920"/>
            <a:ext cx="3931920" cy="676656"/>
          </a:xfrm>
          <a:prstGeom prst="rect">
            <a:avLst/>
          </a:prstGeom>
          <a:noFill/>
          <a:ln/>
        </p:spPr>
        <p:txBody>
          <a:bodyPr wrap="square" lIns="0" tIns="0" rIns="0" bIns="0" rtlCol="0" anchor="ctr"/>
          <a:lstStyle/>
          <a:p>
            <a:pPr marL="0" indent="0" algn="l">
              <a:buNone/>
            </a:pPr>
            <a:r>
              <a:rPr lang="en-US" sz="1200" dirty="0">
                <a:solidFill>
                  <a:srgbClr val="1A1A2E"/>
                </a:solidFill>
                <a:latin typeface="Calibri" pitchFamily="34" charset="0"/>
                <a:ea typeface="Calibri" pitchFamily="34" charset="-122"/>
                <a:cs typeface="Calibri" pitchFamily="34" charset="-120"/>
              </a:rPr>
              <a:t>Legally sound facts they can present in court. No speculative language. Must hold up under defence challenge.</a:t>
            </a:r>
            <a:endParaRPr lang="en-US" sz="1200" dirty="0"/>
          </a:p>
        </p:txBody>
      </p:sp>
      <p:sp>
        <p:nvSpPr>
          <p:cNvPr id="13" name="Shape 11"/>
          <p:cNvSpPr/>
          <p:nvPr/>
        </p:nvSpPr>
        <p:spPr>
          <a:xfrm>
            <a:off x="274320" y="3666744"/>
            <a:ext cx="4233672" cy="1170432"/>
          </a:xfrm>
          <a:prstGeom prst="rect">
            <a:avLst/>
          </a:prstGeom>
          <a:solidFill>
            <a:srgbClr val="EEF6FB"/>
          </a:solidFill>
          <a:ln w="12700">
            <a:solidFill>
              <a:srgbClr val="EEF6FB"/>
            </a:solidFill>
            <a:prstDash val="solid"/>
          </a:ln>
          <a:effectLst>
            <a:outerShdw blurRad="76200" dist="25400" dir="8100000" algn="bl" rotWithShape="0">
              <a:srgbClr val="000000">
                <a:alpha val="25000"/>
              </a:srgbClr>
            </a:outerShdw>
          </a:effectLst>
        </p:spPr>
        <p:txBody>
          <a:bodyPr/>
          <a:lstStyle/>
          <a:p>
            <a:endParaRPr lang="en-SG"/>
          </a:p>
        </p:txBody>
      </p:sp>
      <p:sp>
        <p:nvSpPr>
          <p:cNvPr id="14" name="Shape 12"/>
          <p:cNvSpPr/>
          <p:nvPr/>
        </p:nvSpPr>
        <p:spPr>
          <a:xfrm>
            <a:off x="274320" y="3666744"/>
            <a:ext cx="64008" cy="1170432"/>
          </a:xfrm>
          <a:prstGeom prst="rect">
            <a:avLst/>
          </a:prstGeom>
          <a:solidFill>
            <a:srgbClr val="F39C12"/>
          </a:solidFill>
          <a:ln w="12700">
            <a:solidFill>
              <a:srgbClr val="F39C12"/>
            </a:solidFill>
            <a:prstDash val="solid"/>
          </a:ln>
        </p:spPr>
        <p:txBody>
          <a:bodyPr/>
          <a:lstStyle/>
          <a:p>
            <a:endParaRPr lang="en-SG"/>
          </a:p>
        </p:txBody>
      </p:sp>
      <p:sp>
        <p:nvSpPr>
          <p:cNvPr id="15" name="Text 13"/>
          <p:cNvSpPr/>
          <p:nvPr/>
        </p:nvSpPr>
        <p:spPr>
          <a:xfrm>
            <a:off x="475488" y="3758184"/>
            <a:ext cx="3931920" cy="320040"/>
          </a:xfrm>
          <a:prstGeom prst="rect">
            <a:avLst/>
          </a:prstGeom>
          <a:noFill/>
          <a:ln/>
        </p:spPr>
        <p:txBody>
          <a:bodyPr wrap="square" lIns="0" tIns="0" rIns="0" bIns="0" rtlCol="0" anchor="ctr"/>
          <a:lstStyle/>
          <a:p>
            <a:pPr marL="0" indent="0" algn="l">
              <a:buNone/>
            </a:pPr>
            <a:r>
              <a:rPr lang="en-US" sz="1300" b="1" dirty="0">
                <a:solidFill>
                  <a:srgbClr val="F39C12"/>
                </a:solidFill>
                <a:latin typeface="Trebuchet MS" pitchFamily="34" charset="0"/>
                <a:ea typeface="Trebuchet MS" pitchFamily="34" charset="-122"/>
                <a:cs typeface="Trebuchet MS" pitchFamily="34" charset="-120"/>
              </a:rPr>
              <a:t>Defence Counsel</a:t>
            </a:r>
            <a:endParaRPr lang="en-US" sz="1300" dirty="0"/>
          </a:p>
        </p:txBody>
      </p:sp>
      <p:sp>
        <p:nvSpPr>
          <p:cNvPr id="16" name="Text 14"/>
          <p:cNvSpPr/>
          <p:nvPr/>
        </p:nvSpPr>
        <p:spPr>
          <a:xfrm>
            <a:off x="475488" y="4096512"/>
            <a:ext cx="3931920" cy="676656"/>
          </a:xfrm>
          <a:prstGeom prst="rect">
            <a:avLst/>
          </a:prstGeom>
          <a:noFill/>
          <a:ln/>
        </p:spPr>
        <p:txBody>
          <a:bodyPr wrap="square" lIns="0" tIns="0" rIns="0" bIns="0" rtlCol="0" anchor="ctr"/>
          <a:lstStyle/>
          <a:p>
            <a:pPr marL="0" indent="0" algn="l">
              <a:buNone/>
            </a:pPr>
            <a:r>
              <a:rPr lang="en-US" sz="1200" dirty="0">
                <a:solidFill>
                  <a:srgbClr val="1A1A2E"/>
                </a:solidFill>
                <a:latin typeface="Calibri" pitchFamily="34" charset="0"/>
                <a:ea typeface="Calibri" pitchFamily="34" charset="-122"/>
                <a:cs typeface="Calibri" pitchFamily="34" charset="-120"/>
              </a:rPr>
              <a:t>Your report is disclosed to them. They will read every sentence looking for weaknesses, vague language, or inconsistencies.</a:t>
            </a:r>
            <a:endParaRPr lang="en-US" sz="1200" dirty="0"/>
          </a:p>
        </p:txBody>
      </p:sp>
      <p:sp>
        <p:nvSpPr>
          <p:cNvPr id="17" name="Shape 15"/>
          <p:cNvSpPr/>
          <p:nvPr/>
        </p:nvSpPr>
        <p:spPr>
          <a:xfrm>
            <a:off x="4736592" y="1051560"/>
            <a:ext cx="4233672" cy="1170432"/>
          </a:xfrm>
          <a:prstGeom prst="rect">
            <a:avLst/>
          </a:prstGeom>
          <a:solidFill>
            <a:srgbClr val="EEF6FB"/>
          </a:solidFill>
          <a:ln w="12700">
            <a:solidFill>
              <a:srgbClr val="EEF6FB"/>
            </a:solidFill>
            <a:prstDash val="solid"/>
          </a:ln>
          <a:effectLst>
            <a:outerShdw blurRad="76200" dist="25400" dir="8100000" algn="bl" rotWithShape="0">
              <a:srgbClr val="000000">
                <a:alpha val="25000"/>
              </a:srgbClr>
            </a:outerShdw>
          </a:effectLst>
        </p:spPr>
        <p:txBody>
          <a:bodyPr/>
          <a:lstStyle/>
          <a:p>
            <a:endParaRPr lang="en-SG"/>
          </a:p>
        </p:txBody>
      </p:sp>
      <p:sp>
        <p:nvSpPr>
          <p:cNvPr id="18" name="Shape 16"/>
          <p:cNvSpPr/>
          <p:nvPr/>
        </p:nvSpPr>
        <p:spPr>
          <a:xfrm>
            <a:off x="4736592" y="1051560"/>
            <a:ext cx="64008" cy="1170432"/>
          </a:xfrm>
          <a:prstGeom prst="rect">
            <a:avLst/>
          </a:prstGeom>
          <a:solidFill>
            <a:srgbClr val="00A8A8"/>
          </a:solidFill>
          <a:ln w="12700">
            <a:solidFill>
              <a:srgbClr val="00A8A8"/>
            </a:solidFill>
            <a:prstDash val="solid"/>
          </a:ln>
        </p:spPr>
        <p:txBody>
          <a:bodyPr/>
          <a:lstStyle/>
          <a:p>
            <a:endParaRPr lang="en-SG"/>
          </a:p>
        </p:txBody>
      </p:sp>
      <p:sp>
        <p:nvSpPr>
          <p:cNvPr id="19" name="Text 17"/>
          <p:cNvSpPr/>
          <p:nvPr/>
        </p:nvSpPr>
        <p:spPr>
          <a:xfrm>
            <a:off x="4937760" y="1143000"/>
            <a:ext cx="3931920" cy="320040"/>
          </a:xfrm>
          <a:prstGeom prst="rect">
            <a:avLst/>
          </a:prstGeom>
          <a:noFill/>
          <a:ln/>
        </p:spPr>
        <p:txBody>
          <a:bodyPr wrap="square" lIns="0" tIns="0" rIns="0" bIns="0" rtlCol="0" anchor="ctr"/>
          <a:lstStyle/>
          <a:p>
            <a:pPr marL="0" indent="0" algn="l">
              <a:buNone/>
            </a:pPr>
            <a:r>
              <a:rPr lang="en-US" sz="1300" b="1" dirty="0">
                <a:solidFill>
                  <a:srgbClr val="00A8A8"/>
                </a:solidFill>
                <a:latin typeface="Trebuchet MS" pitchFamily="34" charset="0"/>
                <a:ea typeface="Trebuchet MS" pitchFamily="34" charset="-122"/>
                <a:cs typeface="Trebuchet MS" pitchFamily="34" charset="-120"/>
              </a:rPr>
              <a:t>Judge &amp; Jury</a:t>
            </a:r>
            <a:endParaRPr lang="en-US" sz="1300" dirty="0"/>
          </a:p>
        </p:txBody>
      </p:sp>
      <p:sp>
        <p:nvSpPr>
          <p:cNvPr id="20" name="Text 18"/>
          <p:cNvSpPr/>
          <p:nvPr/>
        </p:nvSpPr>
        <p:spPr>
          <a:xfrm>
            <a:off x="4937760" y="1481328"/>
            <a:ext cx="3931920" cy="676656"/>
          </a:xfrm>
          <a:prstGeom prst="rect">
            <a:avLst/>
          </a:prstGeom>
          <a:noFill/>
          <a:ln/>
        </p:spPr>
        <p:txBody>
          <a:bodyPr wrap="square" lIns="0" tIns="0" rIns="0" bIns="0" rtlCol="0" anchor="ctr"/>
          <a:lstStyle/>
          <a:p>
            <a:pPr marL="0" indent="0" algn="l">
              <a:buNone/>
            </a:pPr>
            <a:r>
              <a:rPr lang="en-US" sz="1200" dirty="0">
                <a:solidFill>
                  <a:srgbClr val="1A1A2E"/>
                </a:solidFill>
                <a:latin typeface="Calibri" pitchFamily="34" charset="0"/>
                <a:ea typeface="Calibri" pitchFamily="34" charset="-122"/>
                <a:cs typeface="Calibri" pitchFamily="34" charset="-120"/>
              </a:rPr>
              <a:t>Plain language. No unexplained jargon. Conclusions stated clearly. Analogies are acceptable and helpful.</a:t>
            </a:r>
            <a:endParaRPr lang="en-US" sz="1200" dirty="0"/>
          </a:p>
        </p:txBody>
      </p:sp>
      <p:sp>
        <p:nvSpPr>
          <p:cNvPr id="21" name="Shape 19"/>
          <p:cNvSpPr/>
          <p:nvPr/>
        </p:nvSpPr>
        <p:spPr>
          <a:xfrm>
            <a:off x="4736592" y="2359152"/>
            <a:ext cx="4233672" cy="1170432"/>
          </a:xfrm>
          <a:prstGeom prst="rect">
            <a:avLst/>
          </a:prstGeom>
          <a:solidFill>
            <a:srgbClr val="EEF6FB"/>
          </a:solidFill>
          <a:ln w="12700">
            <a:solidFill>
              <a:srgbClr val="EEF6FB"/>
            </a:solidFill>
            <a:prstDash val="solid"/>
          </a:ln>
          <a:effectLst>
            <a:outerShdw blurRad="76200" dist="25400" dir="8100000" algn="bl" rotWithShape="0">
              <a:srgbClr val="000000">
                <a:alpha val="25000"/>
              </a:srgbClr>
            </a:outerShdw>
          </a:effectLst>
        </p:spPr>
        <p:txBody>
          <a:bodyPr/>
          <a:lstStyle/>
          <a:p>
            <a:endParaRPr lang="en-SG"/>
          </a:p>
        </p:txBody>
      </p:sp>
      <p:sp>
        <p:nvSpPr>
          <p:cNvPr id="22" name="Shape 20"/>
          <p:cNvSpPr/>
          <p:nvPr/>
        </p:nvSpPr>
        <p:spPr>
          <a:xfrm>
            <a:off x="4736592" y="2359152"/>
            <a:ext cx="64008" cy="1170432"/>
          </a:xfrm>
          <a:prstGeom prst="rect">
            <a:avLst/>
          </a:prstGeom>
          <a:solidFill>
            <a:srgbClr val="F0B429"/>
          </a:solidFill>
          <a:ln w="12700">
            <a:solidFill>
              <a:srgbClr val="F0B429"/>
            </a:solidFill>
            <a:prstDash val="solid"/>
          </a:ln>
        </p:spPr>
        <p:txBody>
          <a:bodyPr/>
          <a:lstStyle/>
          <a:p>
            <a:endParaRPr lang="en-SG"/>
          </a:p>
        </p:txBody>
      </p:sp>
      <p:sp>
        <p:nvSpPr>
          <p:cNvPr id="23" name="Text 21"/>
          <p:cNvSpPr/>
          <p:nvPr/>
        </p:nvSpPr>
        <p:spPr>
          <a:xfrm>
            <a:off x="4937760" y="2450592"/>
            <a:ext cx="3931920" cy="320040"/>
          </a:xfrm>
          <a:prstGeom prst="rect">
            <a:avLst/>
          </a:prstGeom>
          <a:noFill/>
          <a:ln/>
        </p:spPr>
        <p:txBody>
          <a:bodyPr wrap="square" lIns="0" tIns="0" rIns="0" bIns="0" rtlCol="0" anchor="ctr"/>
          <a:lstStyle/>
          <a:p>
            <a:pPr marL="0" indent="0" algn="l">
              <a:buNone/>
            </a:pPr>
            <a:r>
              <a:rPr lang="en-US" sz="1300" b="1" dirty="0">
                <a:solidFill>
                  <a:srgbClr val="F0B429"/>
                </a:solidFill>
                <a:latin typeface="Trebuchet MS" pitchFamily="34" charset="0"/>
                <a:ea typeface="Trebuchet MS" pitchFamily="34" charset="-122"/>
                <a:cs typeface="Trebuchet MS" pitchFamily="34" charset="-120"/>
              </a:rPr>
              <a:t>Opposing Expert Witness</a:t>
            </a:r>
            <a:endParaRPr lang="en-US" sz="1300" dirty="0"/>
          </a:p>
        </p:txBody>
      </p:sp>
      <p:sp>
        <p:nvSpPr>
          <p:cNvPr id="24" name="Text 22"/>
          <p:cNvSpPr/>
          <p:nvPr/>
        </p:nvSpPr>
        <p:spPr>
          <a:xfrm>
            <a:off x="4937760" y="2788920"/>
            <a:ext cx="3931920" cy="676656"/>
          </a:xfrm>
          <a:prstGeom prst="rect">
            <a:avLst/>
          </a:prstGeom>
          <a:noFill/>
          <a:ln/>
        </p:spPr>
        <p:txBody>
          <a:bodyPr wrap="square" lIns="0" tIns="0" rIns="0" bIns="0" rtlCol="0" anchor="ctr"/>
          <a:lstStyle/>
          <a:p>
            <a:pPr marL="0" indent="0" algn="l">
              <a:buNone/>
            </a:pPr>
            <a:r>
              <a:rPr lang="en-US" sz="1200" dirty="0">
                <a:solidFill>
                  <a:srgbClr val="1A1A2E"/>
                </a:solidFill>
                <a:latin typeface="Calibri" pitchFamily="34" charset="0"/>
                <a:ea typeface="Calibri" pitchFamily="34" charset="-122"/>
                <a:cs typeface="Calibri" pitchFamily="34" charset="-120"/>
              </a:rPr>
              <a:t>Will attempt to reproduce your methodology. Tools, versions, and commands must be fully documented.</a:t>
            </a:r>
            <a:endParaRPr lang="en-US" sz="1200" dirty="0"/>
          </a:p>
        </p:txBody>
      </p:sp>
      <p:sp>
        <p:nvSpPr>
          <p:cNvPr id="25" name="Shape 23"/>
          <p:cNvSpPr/>
          <p:nvPr/>
        </p:nvSpPr>
        <p:spPr>
          <a:xfrm>
            <a:off x="4736592" y="3666744"/>
            <a:ext cx="4233672" cy="1170432"/>
          </a:xfrm>
          <a:prstGeom prst="rect">
            <a:avLst/>
          </a:prstGeom>
          <a:solidFill>
            <a:srgbClr val="EEF6FB"/>
          </a:solidFill>
          <a:ln w="12700">
            <a:solidFill>
              <a:srgbClr val="EEF6FB"/>
            </a:solidFill>
            <a:prstDash val="solid"/>
          </a:ln>
          <a:effectLst>
            <a:outerShdw blurRad="76200" dist="25400" dir="8100000" algn="bl" rotWithShape="0">
              <a:srgbClr val="000000">
                <a:alpha val="25000"/>
              </a:srgbClr>
            </a:outerShdw>
          </a:effectLst>
        </p:spPr>
        <p:txBody>
          <a:bodyPr/>
          <a:lstStyle/>
          <a:p>
            <a:endParaRPr lang="en-SG"/>
          </a:p>
        </p:txBody>
      </p:sp>
      <p:sp>
        <p:nvSpPr>
          <p:cNvPr id="26" name="Shape 24"/>
          <p:cNvSpPr/>
          <p:nvPr/>
        </p:nvSpPr>
        <p:spPr>
          <a:xfrm>
            <a:off x="4736592" y="3666744"/>
            <a:ext cx="64008" cy="1170432"/>
          </a:xfrm>
          <a:prstGeom prst="rect">
            <a:avLst/>
          </a:prstGeom>
          <a:solidFill>
            <a:srgbClr val="8FA8BC"/>
          </a:solidFill>
          <a:ln w="12700">
            <a:solidFill>
              <a:srgbClr val="8FA8BC"/>
            </a:solidFill>
            <a:prstDash val="solid"/>
          </a:ln>
        </p:spPr>
        <p:txBody>
          <a:bodyPr/>
          <a:lstStyle/>
          <a:p>
            <a:endParaRPr lang="en-SG"/>
          </a:p>
        </p:txBody>
      </p:sp>
      <p:sp>
        <p:nvSpPr>
          <p:cNvPr id="27" name="Text 25"/>
          <p:cNvSpPr/>
          <p:nvPr/>
        </p:nvSpPr>
        <p:spPr>
          <a:xfrm>
            <a:off x="4937760" y="3758184"/>
            <a:ext cx="3931920" cy="320040"/>
          </a:xfrm>
          <a:prstGeom prst="rect">
            <a:avLst/>
          </a:prstGeom>
          <a:noFill/>
          <a:ln/>
        </p:spPr>
        <p:txBody>
          <a:bodyPr wrap="square" lIns="0" tIns="0" rIns="0" bIns="0" rtlCol="0" anchor="ctr"/>
          <a:lstStyle/>
          <a:p>
            <a:pPr marL="0" indent="0" algn="l">
              <a:buNone/>
            </a:pPr>
            <a:r>
              <a:rPr lang="en-US" sz="1300" b="1" dirty="0">
                <a:solidFill>
                  <a:srgbClr val="475569"/>
                </a:solidFill>
                <a:latin typeface="Trebuchet MS" pitchFamily="34" charset="0"/>
                <a:ea typeface="Trebuchet MS" pitchFamily="34" charset="-122"/>
                <a:cs typeface="Trebuchet MS" pitchFamily="34" charset="-120"/>
              </a:rPr>
              <a:t>Future Appeals / Civil Cases</a:t>
            </a:r>
            <a:endParaRPr lang="en-US" sz="1300" dirty="0"/>
          </a:p>
        </p:txBody>
      </p:sp>
      <p:sp>
        <p:nvSpPr>
          <p:cNvPr id="28" name="Text 26"/>
          <p:cNvSpPr/>
          <p:nvPr/>
        </p:nvSpPr>
        <p:spPr>
          <a:xfrm>
            <a:off x="4937760" y="4096512"/>
            <a:ext cx="3931920" cy="676656"/>
          </a:xfrm>
          <a:prstGeom prst="rect">
            <a:avLst/>
          </a:prstGeom>
          <a:noFill/>
          <a:ln/>
        </p:spPr>
        <p:txBody>
          <a:bodyPr wrap="square" lIns="0" tIns="0" rIns="0" bIns="0" rtlCol="0" anchor="ctr"/>
          <a:lstStyle/>
          <a:p>
            <a:pPr marL="0" indent="0" algn="l">
              <a:buNone/>
            </a:pPr>
            <a:r>
              <a:rPr lang="en-US" sz="1200" dirty="0">
                <a:solidFill>
                  <a:srgbClr val="1A1A2E"/>
                </a:solidFill>
                <a:latin typeface="Calibri" pitchFamily="34" charset="0"/>
                <a:ea typeface="Calibri" pitchFamily="34" charset="-122"/>
                <a:cs typeface="Calibri" pitchFamily="34" charset="-120"/>
              </a:rPr>
              <a:t>Your report is a permanent legal record. Appeals or civil cases can reopen the same file years later — it must be complete.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0A8A8"/>
          </a:solidFill>
          <a:ln w="12700">
            <a:solidFill>
              <a:srgbClr val="00A8A8"/>
            </a:solidFill>
            <a:prstDash val="solid"/>
          </a:ln>
        </p:spPr>
        <p:txBody>
          <a:bodyPr/>
          <a:lstStyle/>
          <a:p>
            <a:endParaRPr lang="en-SG"/>
          </a:p>
        </p:txBody>
      </p:sp>
      <p:sp>
        <p:nvSpPr>
          <p:cNvPr id="3" name="Text 1"/>
          <p:cNvSpPr/>
          <p:nvPr/>
        </p:nvSpPr>
        <p:spPr>
          <a:xfrm>
            <a:off x="365760" y="164592"/>
            <a:ext cx="8412480" cy="594360"/>
          </a:xfrm>
          <a:prstGeom prst="rect">
            <a:avLst/>
          </a:prstGeom>
          <a:noFill/>
          <a:ln/>
        </p:spPr>
        <p:txBody>
          <a:bodyPr wrap="square" lIns="0" tIns="0" rIns="0" bIns="0" rtlCol="0" anchor="ctr"/>
          <a:lstStyle/>
          <a:p>
            <a:pPr marL="0" indent="0" algn="l">
              <a:buNone/>
            </a:pPr>
            <a:r>
              <a:rPr lang="en-US" sz="2600" b="1" dirty="0">
                <a:solidFill>
                  <a:srgbClr val="1A1A2E"/>
                </a:solidFill>
                <a:latin typeface="Trebuchet MS" pitchFamily="34" charset="0"/>
                <a:ea typeface="Trebuchet MS" pitchFamily="34" charset="-122"/>
                <a:cs typeface="Trebuchet MS" pitchFamily="34" charset="-120"/>
              </a:rPr>
              <a:t>Report Structure — Sections 01 to 04</a:t>
            </a:r>
            <a:endParaRPr lang="en-US" sz="2600" dirty="0"/>
          </a:p>
        </p:txBody>
      </p:sp>
      <p:sp>
        <p:nvSpPr>
          <p:cNvPr id="4" name="Text 2"/>
          <p:cNvSpPr/>
          <p:nvPr/>
        </p:nvSpPr>
        <p:spPr>
          <a:xfrm>
            <a:off x="365760" y="786384"/>
            <a:ext cx="8412480" cy="228600"/>
          </a:xfrm>
          <a:prstGeom prst="rect">
            <a:avLst/>
          </a:prstGeom>
          <a:noFill/>
          <a:ln/>
        </p:spPr>
        <p:txBody>
          <a:bodyPr wrap="square" lIns="0" tIns="0" rIns="0" bIns="0" rtlCol="0" anchor="ctr"/>
          <a:lstStyle/>
          <a:p>
            <a:pPr marL="0" indent="0" algn="l">
              <a:buNone/>
            </a:pPr>
            <a:r>
              <a:rPr lang="en-US" sz="1100" i="1" dirty="0">
                <a:solidFill>
                  <a:srgbClr val="00A8A8"/>
                </a:solidFill>
                <a:latin typeface="Calibri" pitchFamily="34" charset="0"/>
                <a:ea typeface="Calibri" pitchFamily="34" charset="-122"/>
                <a:cs typeface="Calibri" pitchFamily="34" charset="-120"/>
              </a:rPr>
              <a:t>A well-structured report has seven clearly defined sections — each serving a distinct purpose</a:t>
            </a:r>
            <a:endParaRPr lang="en-US" sz="1100" dirty="0"/>
          </a:p>
        </p:txBody>
      </p:sp>
      <p:sp>
        <p:nvSpPr>
          <p:cNvPr id="5" name="Shape 3"/>
          <p:cNvSpPr/>
          <p:nvPr/>
        </p:nvSpPr>
        <p:spPr>
          <a:xfrm>
            <a:off x="274320" y="1078992"/>
            <a:ext cx="1161288" cy="292608"/>
          </a:xfrm>
          <a:prstGeom prst="rect">
            <a:avLst/>
          </a:prstGeom>
          <a:solidFill>
            <a:srgbClr val="00A8A8"/>
          </a:solidFill>
          <a:ln w="12700">
            <a:solidFill>
              <a:srgbClr val="007A7A"/>
            </a:solidFill>
            <a:prstDash val="solid"/>
          </a:ln>
        </p:spPr>
        <p:txBody>
          <a:bodyPr/>
          <a:lstStyle/>
          <a:p>
            <a:endParaRPr lang="en-SG"/>
          </a:p>
        </p:txBody>
      </p:sp>
      <p:sp>
        <p:nvSpPr>
          <p:cNvPr id="6" name="Text 4"/>
          <p:cNvSpPr/>
          <p:nvPr/>
        </p:nvSpPr>
        <p:spPr>
          <a:xfrm>
            <a:off x="274320" y="1078992"/>
            <a:ext cx="1161288" cy="292608"/>
          </a:xfrm>
          <a:prstGeom prst="rect">
            <a:avLst/>
          </a:prstGeom>
          <a:noFill/>
          <a:ln/>
        </p:spPr>
        <p:txBody>
          <a:bodyPr wrap="square" lIns="25400" tIns="25400" rIns="25400" bIns="25400" rtlCol="0" anchor="ctr"/>
          <a:lstStyle/>
          <a:p>
            <a:pPr marL="0" indent="0" algn="ctr">
              <a:buNone/>
            </a:pPr>
            <a:r>
              <a:rPr lang="en-US" sz="800" b="1" dirty="0">
                <a:solidFill>
                  <a:srgbClr val="0D1B2A"/>
                </a:solidFill>
                <a:latin typeface="Calibri" pitchFamily="34" charset="0"/>
                <a:ea typeface="Calibri" pitchFamily="34" charset="-122"/>
                <a:cs typeface="Calibri" pitchFamily="34" charset="-120"/>
              </a:rPr>
              <a:t>01 Exec Summary</a:t>
            </a:r>
            <a:endParaRPr lang="en-US" sz="800" dirty="0"/>
          </a:p>
        </p:txBody>
      </p:sp>
      <p:sp>
        <p:nvSpPr>
          <p:cNvPr id="7" name="Shape 5"/>
          <p:cNvSpPr/>
          <p:nvPr/>
        </p:nvSpPr>
        <p:spPr>
          <a:xfrm>
            <a:off x="1508760" y="1078992"/>
            <a:ext cx="1161288" cy="292608"/>
          </a:xfrm>
          <a:prstGeom prst="rect">
            <a:avLst/>
          </a:prstGeom>
          <a:solidFill>
            <a:srgbClr val="00A8A8"/>
          </a:solidFill>
          <a:ln w="12700">
            <a:solidFill>
              <a:srgbClr val="007A7A"/>
            </a:solidFill>
            <a:prstDash val="solid"/>
          </a:ln>
        </p:spPr>
        <p:txBody>
          <a:bodyPr/>
          <a:lstStyle/>
          <a:p>
            <a:endParaRPr lang="en-SG"/>
          </a:p>
        </p:txBody>
      </p:sp>
      <p:sp>
        <p:nvSpPr>
          <p:cNvPr id="8" name="Text 6"/>
          <p:cNvSpPr/>
          <p:nvPr/>
        </p:nvSpPr>
        <p:spPr>
          <a:xfrm>
            <a:off x="1508760" y="1078992"/>
            <a:ext cx="1161288" cy="292608"/>
          </a:xfrm>
          <a:prstGeom prst="rect">
            <a:avLst/>
          </a:prstGeom>
          <a:noFill/>
          <a:ln/>
        </p:spPr>
        <p:txBody>
          <a:bodyPr wrap="square" lIns="25400" tIns="25400" rIns="25400" bIns="25400" rtlCol="0" anchor="ctr"/>
          <a:lstStyle/>
          <a:p>
            <a:pPr marL="0" indent="0" algn="ctr">
              <a:buNone/>
            </a:pPr>
            <a:r>
              <a:rPr lang="en-US" sz="800" b="1" dirty="0">
                <a:solidFill>
                  <a:srgbClr val="0D1B2A"/>
                </a:solidFill>
                <a:latin typeface="Calibri" pitchFamily="34" charset="0"/>
                <a:ea typeface="Calibri" pitchFamily="34" charset="-122"/>
                <a:cs typeface="Calibri" pitchFamily="34" charset="-120"/>
              </a:rPr>
              <a:t>02 Case Background</a:t>
            </a:r>
            <a:endParaRPr lang="en-US" sz="800" dirty="0"/>
          </a:p>
        </p:txBody>
      </p:sp>
      <p:sp>
        <p:nvSpPr>
          <p:cNvPr id="9" name="Shape 7"/>
          <p:cNvSpPr/>
          <p:nvPr/>
        </p:nvSpPr>
        <p:spPr>
          <a:xfrm>
            <a:off x="2743200" y="1078992"/>
            <a:ext cx="1161288" cy="292608"/>
          </a:xfrm>
          <a:prstGeom prst="rect">
            <a:avLst/>
          </a:prstGeom>
          <a:solidFill>
            <a:srgbClr val="00A8A8"/>
          </a:solidFill>
          <a:ln w="12700">
            <a:solidFill>
              <a:srgbClr val="007A7A"/>
            </a:solidFill>
            <a:prstDash val="solid"/>
          </a:ln>
        </p:spPr>
        <p:txBody>
          <a:bodyPr/>
          <a:lstStyle/>
          <a:p>
            <a:endParaRPr lang="en-SG"/>
          </a:p>
        </p:txBody>
      </p:sp>
      <p:sp>
        <p:nvSpPr>
          <p:cNvPr id="10" name="Text 8"/>
          <p:cNvSpPr/>
          <p:nvPr/>
        </p:nvSpPr>
        <p:spPr>
          <a:xfrm>
            <a:off x="2743200" y="1078992"/>
            <a:ext cx="1161288" cy="292608"/>
          </a:xfrm>
          <a:prstGeom prst="rect">
            <a:avLst/>
          </a:prstGeom>
          <a:noFill/>
          <a:ln/>
        </p:spPr>
        <p:txBody>
          <a:bodyPr wrap="square" lIns="25400" tIns="25400" rIns="25400" bIns="25400" rtlCol="0" anchor="ctr"/>
          <a:lstStyle/>
          <a:p>
            <a:pPr marL="0" indent="0" algn="ctr">
              <a:buNone/>
            </a:pPr>
            <a:r>
              <a:rPr lang="en-US" sz="800" b="1" dirty="0">
                <a:solidFill>
                  <a:srgbClr val="0D1B2A"/>
                </a:solidFill>
                <a:latin typeface="Calibri" pitchFamily="34" charset="0"/>
                <a:ea typeface="Calibri" pitchFamily="34" charset="-122"/>
                <a:cs typeface="Calibri" pitchFamily="34" charset="-120"/>
              </a:rPr>
              <a:t>03 Methodology</a:t>
            </a:r>
            <a:endParaRPr lang="en-US" sz="800" dirty="0"/>
          </a:p>
        </p:txBody>
      </p:sp>
      <p:sp>
        <p:nvSpPr>
          <p:cNvPr id="11" name="Shape 9"/>
          <p:cNvSpPr/>
          <p:nvPr/>
        </p:nvSpPr>
        <p:spPr>
          <a:xfrm>
            <a:off x="3977640" y="1078992"/>
            <a:ext cx="1161288" cy="292608"/>
          </a:xfrm>
          <a:prstGeom prst="rect">
            <a:avLst/>
          </a:prstGeom>
          <a:solidFill>
            <a:srgbClr val="00A8A8"/>
          </a:solidFill>
          <a:ln w="12700">
            <a:solidFill>
              <a:srgbClr val="007A7A"/>
            </a:solidFill>
            <a:prstDash val="solid"/>
          </a:ln>
        </p:spPr>
        <p:txBody>
          <a:bodyPr/>
          <a:lstStyle/>
          <a:p>
            <a:endParaRPr lang="en-SG"/>
          </a:p>
        </p:txBody>
      </p:sp>
      <p:sp>
        <p:nvSpPr>
          <p:cNvPr id="12" name="Text 10"/>
          <p:cNvSpPr/>
          <p:nvPr/>
        </p:nvSpPr>
        <p:spPr>
          <a:xfrm>
            <a:off x="3977640" y="1078992"/>
            <a:ext cx="1161288" cy="292608"/>
          </a:xfrm>
          <a:prstGeom prst="rect">
            <a:avLst/>
          </a:prstGeom>
          <a:noFill/>
          <a:ln/>
        </p:spPr>
        <p:txBody>
          <a:bodyPr wrap="square" lIns="25400" tIns="25400" rIns="25400" bIns="25400" rtlCol="0" anchor="ctr"/>
          <a:lstStyle/>
          <a:p>
            <a:pPr marL="0" indent="0" algn="ctr">
              <a:buNone/>
            </a:pPr>
            <a:r>
              <a:rPr lang="en-US" sz="800" b="1" dirty="0">
                <a:solidFill>
                  <a:srgbClr val="0D1B2A"/>
                </a:solidFill>
                <a:latin typeface="Calibri" pitchFamily="34" charset="0"/>
                <a:ea typeface="Calibri" pitchFamily="34" charset="-122"/>
                <a:cs typeface="Calibri" pitchFamily="34" charset="-120"/>
              </a:rPr>
              <a:t>04 Findings</a:t>
            </a:r>
            <a:endParaRPr lang="en-US" sz="800" dirty="0"/>
          </a:p>
        </p:txBody>
      </p:sp>
      <p:sp>
        <p:nvSpPr>
          <p:cNvPr id="13" name="Shape 11"/>
          <p:cNvSpPr/>
          <p:nvPr/>
        </p:nvSpPr>
        <p:spPr>
          <a:xfrm>
            <a:off x="5212080" y="1078992"/>
            <a:ext cx="1161288" cy="292608"/>
          </a:xfrm>
          <a:prstGeom prst="rect">
            <a:avLst/>
          </a:prstGeom>
          <a:solidFill>
            <a:srgbClr val="F1F5F9"/>
          </a:solidFill>
          <a:ln w="12700">
            <a:solidFill>
              <a:srgbClr val="E2E8F0"/>
            </a:solidFill>
            <a:prstDash val="solid"/>
          </a:ln>
        </p:spPr>
        <p:txBody>
          <a:bodyPr/>
          <a:lstStyle/>
          <a:p>
            <a:endParaRPr lang="en-SG"/>
          </a:p>
        </p:txBody>
      </p:sp>
      <p:sp>
        <p:nvSpPr>
          <p:cNvPr id="14" name="Text 12"/>
          <p:cNvSpPr/>
          <p:nvPr/>
        </p:nvSpPr>
        <p:spPr>
          <a:xfrm>
            <a:off x="5212080" y="1078992"/>
            <a:ext cx="1161288" cy="292608"/>
          </a:xfrm>
          <a:prstGeom prst="rect">
            <a:avLst/>
          </a:prstGeom>
          <a:noFill/>
          <a:ln/>
        </p:spPr>
        <p:txBody>
          <a:bodyPr wrap="square" lIns="25400" tIns="25400" rIns="25400" bIns="25400" rtlCol="0" anchor="ctr"/>
          <a:lstStyle/>
          <a:p>
            <a:pPr marL="0" indent="0" algn="ctr">
              <a:buNone/>
            </a:pPr>
            <a:r>
              <a:rPr lang="en-US" sz="800" dirty="0">
                <a:solidFill>
                  <a:srgbClr val="475569"/>
                </a:solidFill>
                <a:latin typeface="Calibri" pitchFamily="34" charset="0"/>
                <a:ea typeface="Calibri" pitchFamily="34" charset="-122"/>
                <a:cs typeface="Calibri" pitchFamily="34" charset="-120"/>
              </a:rPr>
              <a:t>05 Analysis</a:t>
            </a:r>
            <a:endParaRPr lang="en-US" sz="800" dirty="0"/>
          </a:p>
        </p:txBody>
      </p:sp>
      <p:sp>
        <p:nvSpPr>
          <p:cNvPr id="15" name="Shape 13"/>
          <p:cNvSpPr/>
          <p:nvPr/>
        </p:nvSpPr>
        <p:spPr>
          <a:xfrm>
            <a:off x="6446520" y="1078992"/>
            <a:ext cx="1161288" cy="292608"/>
          </a:xfrm>
          <a:prstGeom prst="rect">
            <a:avLst/>
          </a:prstGeom>
          <a:solidFill>
            <a:srgbClr val="F1F5F9"/>
          </a:solidFill>
          <a:ln w="12700">
            <a:solidFill>
              <a:srgbClr val="E2E8F0"/>
            </a:solidFill>
            <a:prstDash val="solid"/>
          </a:ln>
        </p:spPr>
        <p:txBody>
          <a:bodyPr/>
          <a:lstStyle/>
          <a:p>
            <a:endParaRPr lang="en-SG"/>
          </a:p>
        </p:txBody>
      </p:sp>
      <p:sp>
        <p:nvSpPr>
          <p:cNvPr id="16" name="Text 14"/>
          <p:cNvSpPr/>
          <p:nvPr/>
        </p:nvSpPr>
        <p:spPr>
          <a:xfrm>
            <a:off x="6446520" y="1078992"/>
            <a:ext cx="1161288" cy="292608"/>
          </a:xfrm>
          <a:prstGeom prst="rect">
            <a:avLst/>
          </a:prstGeom>
          <a:noFill/>
          <a:ln/>
        </p:spPr>
        <p:txBody>
          <a:bodyPr wrap="square" lIns="25400" tIns="25400" rIns="25400" bIns="25400" rtlCol="0" anchor="ctr"/>
          <a:lstStyle/>
          <a:p>
            <a:pPr marL="0" indent="0" algn="ctr">
              <a:buNone/>
            </a:pPr>
            <a:r>
              <a:rPr lang="en-US" sz="800" dirty="0">
                <a:solidFill>
                  <a:srgbClr val="475569"/>
                </a:solidFill>
                <a:latin typeface="Calibri" pitchFamily="34" charset="0"/>
                <a:ea typeface="Calibri" pitchFamily="34" charset="-122"/>
                <a:cs typeface="Calibri" pitchFamily="34" charset="-120"/>
              </a:rPr>
              <a:t>06 Limitations</a:t>
            </a:r>
            <a:endParaRPr lang="en-US" sz="800" dirty="0"/>
          </a:p>
        </p:txBody>
      </p:sp>
      <p:sp>
        <p:nvSpPr>
          <p:cNvPr id="17" name="Shape 15"/>
          <p:cNvSpPr/>
          <p:nvPr/>
        </p:nvSpPr>
        <p:spPr>
          <a:xfrm>
            <a:off x="7680960" y="1078992"/>
            <a:ext cx="1161288" cy="292608"/>
          </a:xfrm>
          <a:prstGeom prst="rect">
            <a:avLst/>
          </a:prstGeom>
          <a:solidFill>
            <a:srgbClr val="F1F5F9"/>
          </a:solidFill>
          <a:ln w="12700">
            <a:solidFill>
              <a:srgbClr val="E2E8F0"/>
            </a:solidFill>
            <a:prstDash val="solid"/>
          </a:ln>
        </p:spPr>
        <p:txBody>
          <a:bodyPr/>
          <a:lstStyle/>
          <a:p>
            <a:endParaRPr lang="en-SG"/>
          </a:p>
        </p:txBody>
      </p:sp>
      <p:sp>
        <p:nvSpPr>
          <p:cNvPr id="18" name="Text 16"/>
          <p:cNvSpPr/>
          <p:nvPr/>
        </p:nvSpPr>
        <p:spPr>
          <a:xfrm>
            <a:off x="7680960" y="1078992"/>
            <a:ext cx="1161288" cy="292608"/>
          </a:xfrm>
          <a:prstGeom prst="rect">
            <a:avLst/>
          </a:prstGeom>
          <a:noFill/>
          <a:ln/>
        </p:spPr>
        <p:txBody>
          <a:bodyPr wrap="square" lIns="25400" tIns="25400" rIns="25400" bIns="25400" rtlCol="0" anchor="ctr"/>
          <a:lstStyle/>
          <a:p>
            <a:pPr marL="0" indent="0" algn="ctr">
              <a:buNone/>
            </a:pPr>
            <a:r>
              <a:rPr lang="en-US" sz="800" dirty="0">
                <a:solidFill>
                  <a:srgbClr val="475569"/>
                </a:solidFill>
                <a:latin typeface="Calibri" pitchFamily="34" charset="0"/>
                <a:ea typeface="Calibri" pitchFamily="34" charset="-122"/>
                <a:cs typeface="Calibri" pitchFamily="34" charset="-120"/>
              </a:rPr>
              <a:t>07 Appendices</a:t>
            </a:r>
            <a:endParaRPr lang="en-US" sz="800" dirty="0"/>
          </a:p>
        </p:txBody>
      </p:sp>
      <p:sp>
        <p:nvSpPr>
          <p:cNvPr id="19" name="Text 17"/>
          <p:cNvSpPr/>
          <p:nvPr/>
        </p:nvSpPr>
        <p:spPr>
          <a:xfrm>
            <a:off x="274320" y="1399032"/>
            <a:ext cx="4919472" cy="164592"/>
          </a:xfrm>
          <a:prstGeom prst="rect">
            <a:avLst/>
          </a:prstGeom>
          <a:noFill/>
          <a:ln/>
        </p:spPr>
        <p:txBody>
          <a:bodyPr wrap="square" lIns="0" tIns="0" rIns="0" bIns="0" rtlCol="0" anchor="ctr"/>
          <a:lstStyle/>
          <a:p>
            <a:pPr marL="0" indent="0" algn="ctr">
              <a:buNone/>
            </a:pPr>
            <a:r>
              <a:rPr lang="en-US" sz="750" dirty="0">
                <a:solidFill>
                  <a:srgbClr val="00A8A8"/>
                </a:solidFill>
                <a:latin typeface="Calibri" pitchFamily="34" charset="0"/>
                <a:ea typeface="Calibri" pitchFamily="34" charset="-122"/>
                <a:cs typeface="Calibri" pitchFamily="34" charset="-120"/>
              </a:rPr>
              <a:t>◀ COVERED THIS SLIDE</a:t>
            </a:r>
            <a:endParaRPr lang="en-US" sz="750" dirty="0"/>
          </a:p>
        </p:txBody>
      </p:sp>
      <p:sp>
        <p:nvSpPr>
          <p:cNvPr id="20" name="Shape 18"/>
          <p:cNvSpPr/>
          <p:nvPr/>
        </p:nvSpPr>
        <p:spPr>
          <a:xfrm>
            <a:off x="274320" y="1627632"/>
            <a:ext cx="4233672" cy="1600200"/>
          </a:xfrm>
          <a:prstGeom prst="rect">
            <a:avLst/>
          </a:prstGeom>
          <a:solidFill>
            <a:srgbClr val="EEF6FB"/>
          </a:solidFill>
          <a:ln w="12700">
            <a:solidFill>
              <a:srgbClr val="EEF6FB"/>
            </a:solidFill>
            <a:prstDash val="solid"/>
          </a:ln>
          <a:effectLst>
            <a:outerShdw blurRad="76200" dist="25400" dir="8100000" algn="bl" rotWithShape="0">
              <a:srgbClr val="000000">
                <a:alpha val="25000"/>
              </a:srgbClr>
            </a:outerShdw>
          </a:effectLst>
        </p:spPr>
        <p:txBody>
          <a:bodyPr/>
          <a:lstStyle/>
          <a:p>
            <a:endParaRPr lang="en-SG"/>
          </a:p>
        </p:txBody>
      </p:sp>
      <p:sp>
        <p:nvSpPr>
          <p:cNvPr id="21" name="Shape 19"/>
          <p:cNvSpPr/>
          <p:nvPr/>
        </p:nvSpPr>
        <p:spPr>
          <a:xfrm>
            <a:off x="274320" y="1627632"/>
            <a:ext cx="64008" cy="1600200"/>
          </a:xfrm>
          <a:prstGeom prst="rect">
            <a:avLst/>
          </a:prstGeom>
          <a:solidFill>
            <a:srgbClr val="00A8A8"/>
          </a:solidFill>
          <a:ln w="12700">
            <a:solidFill>
              <a:srgbClr val="00A8A8"/>
            </a:solidFill>
            <a:prstDash val="solid"/>
          </a:ln>
        </p:spPr>
        <p:txBody>
          <a:bodyPr/>
          <a:lstStyle/>
          <a:p>
            <a:endParaRPr lang="en-SG"/>
          </a:p>
        </p:txBody>
      </p:sp>
      <p:sp>
        <p:nvSpPr>
          <p:cNvPr id="22" name="Text 20"/>
          <p:cNvSpPr/>
          <p:nvPr/>
        </p:nvSpPr>
        <p:spPr>
          <a:xfrm>
            <a:off x="475488" y="1719072"/>
            <a:ext cx="3931920" cy="347472"/>
          </a:xfrm>
          <a:prstGeom prst="rect">
            <a:avLst/>
          </a:prstGeom>
          <a:noFill/>
          <a:ln/>
        </p:spPr>
        <p:txBody>
          <a:bodyPr wrap="square" lIns="0" tIns="0" rIns="0" bIns="0" rtlCol="0" anchor="ctr"/>
          <a:lstStyle/>
          <a:p>
            <a:pPr marL="0" indent="0" algn="l">
              <a:buNone/>
            </a:pPr>
            <a:r>
              <a:rPr lang="en-US" sz="1350" b="1" dirty="0">
                <a:solidFill>
                  <a:srgbClr val="00A8A8"/>
                </a:solidFill>
                <a:latin typeface="Trebuchet MS" pitchFamily="34" charset="0"/>
                <a:ea typeface="Trebuchet MS" pitchFamily="34" charset="-122"/>
                <a:cs typeface="Trebuchet MS" pitchFamily="34" charset="-120"/>
              </a:rPr>
              <a:t>01  Executive Summary</a:t>
            </a:r>
            <a:endParaRPr lang="en-US" sz="1350" dirty="0"/>
          </a:p>
        </p:txBody>
      </p:sp>
      <p:sp>
        <p:nvSpPr>
          <p:cNvPr id="23" name="Text 21"/>
          <p:cNvSpPr/>
          <p:nvPr/>
        </p:nvSpPr>
        <p:spPr>
          <a:xfrm>
            <a:off x="475488" y="2103120"/>
            <a:ext cx="3931920" cy="1069848"/>
          </a:xfrm>
          <a:prstGeom prst="rect">
            <a:avLst/>
          </a:prstGeom>
          <a:noFill/>
          <a:ln/>
        </p:spPr>
        <p:txBody>
          <a:bodyPr wrap="square" lIns="0" tIns="0" rIns="0" bIns="0" rtlCol="0" anchor="ctr"/>
          <a:lstStyle/>
          <a:p>
            <a:pPr marL="0" indent="0" algn="l">
              <a:buNone/>
            </a:pPr>
            <a:r>
              <a:rPr lang="en-US" sz="1200" dirty="0">
                <a:solidFill>
                  <a:srgbClr val="1A1A2E"/>
                </a:solidFill>
                <a:latin typeface="Calibri" pitchFamily="34" charset="0"/>
                <a:ea typeface="Calibri" pitchFamily="34" charset="-122"/>
                <a:cs typeface="Calibri" pitchFamily="34" charset="-120"/>
              </a:rPr>
              <a:t>Brief non-technical overview for legal counsel, management, and the court. States scope, key findings, and main conclusion in plain language.</a:t>
            </a:r>
            <a:endParaRPr lang="en-US" sz="1200" dirty="0"/>
          </a:p>
          <a:p>
            <a:pPr marL="0" indent="0" algn="l">
              <a:buNone/>
            </a:pPr>
            <a:r>
              <a:rPr lang="en-US" sz="1200" dirty="0">
                <a:solidFill>
                  <a:srgbClr val="1A1A2E"/>
                </a:solidFill>
                <a:latin typeface="Calibri" pitchFamily="34" charset="0"/>
                <a:ea typeface="Calibri" pitchFamily="34" charset="-122"/>
                <a:cs typeface="Calibri" pitchFamily="34" charset="-120"/>
              </a:rPr>
              <a:t>⚠  Written LAST — after all findings are complete.</a:t>
            </a:r>
            <a:endParaRPr lang="en-US" sz="1200" dirty="0"/>
          </a:p>
        </p:txBody>
      </p:sp>
      <p:sp>
        <p:nvSpPr>
          <p:cNvPr id="24" name="Shape 22"/>
          <p:cNvSpPr/>
          <p:nvPr/>
        </p:nvSpPr>
        <p:spPr>
          <a:xfrm>
            <a:off x="274320" y="3346704"/>
            <a:ext cx="4233672" cy="1600200"/>
          </a:xfrm>
          <a:prstGeom prst="rect">
            <a:avLst/>
          </a:prstGeom>
          <a:solidFill>
            <a:srgbClr val="EEF6FB"/>
          </a:solidFill>
          <a:ln w="12700">
            <a:solidFill>
              <a:srgbClr val="EEF6FB"/>
            </a:solidFill>
            <a:prstDash val="solid"/>
          </a:ln>
          <a:effectLst>
            <a:outerShdw blurRad="76200" dist="25400" dir="8100000" algn="bl" rotWithShape="0">
              <a:srgbClr val="000000">
                <a:alpha val="25000"/>
              </a:srgbClr>
            </a:outerShdw>
          </a:effectLst>
        </p:spPr>
        <p:txBody>
          <a:bodyPr/>
          <a:lstStyle/>
          <a:p>
            <a:endParaRPr lang="en-SG"/>
          </a:p>
        </p:txBody>
      </p:sp>
      <p:sp>
        <p:nvSpPr>
          <p:cNvPr id="25" name="Shape 23"/>
          <p:cNvSpPr/>
          <p:nvPr/>
        </p:nvSpPr>
        <p:spPr>
          <a:xfrm>
            <a:off x="274320" y="3346704"/>
            <a:ext cx="64008" cy="1600200"/>
          </a:xfrm>
          <a:prstGeom prst="rect">
            <a:avLst/>
          </a:prstGeom>
          <a:solidFill>
            <a:srgbClr val="00A8A8"/>
          </a:solidFill>
          <a:ln w="12700">
            <a:solidFill>
              <a:srgbClr val="00A8A8"/>
            </a:solidFill>
            <a:prstDash val="solid"/>
          </a:ln>
        </p:spPr>
        <p:txBody>
          <a:bodyPr/>
          <a:lstStyle/>
          <a:p>
            <a:endParaRPr lang="en-SG"/>
          </a:p>
        </p:txBody>
      </p:sp>
      <p:sp>
        <p:nvSpPr>
          <p:cNvPr id="26" name="Text 24"/>
          <p:cNvSpPr/>
          <p:nvPr/>
        </p:nvSpPr>
        <p:spPr>
          <a:xfrm>
            <a:off x="475488" y="3438144"/>
            <a:ext cx="3931920" cy="347472"/>
          </a:xfrm>
          <a:prstGeom prst="rect">
            <a:avLst/>
          </a:prstGeom>
          <a:noFill/>
          <a:ln/>
        </p:spPr>
        <p:txBody>
          <a:bodyPr wrap="square" lIns="0" tIns="0" rIns="0" bIns="0" rtlCol="0" anchor="ctr"/>
          <a:lstStyle/>
          <a:p>
            <a:pPr marL="0" indent="0" algn="l">
              <a:buNone/>
            </a:pPr>
            <a:r>
              <a:rPr lang="en-US" sz="1350" b="1" dirty="0">
                <a:solidFill>
                  <a:srgbClr val="00A8A8"/>
                </a:solidFill>
                <a:latin typeface="Trebuchet MS" pitchFamily="34" charset="0"/>
                <a:ea typeface="Trebuchet MS" pitchFamily="34" charset="-122"/>
                <a:cs typeface="Trebuchet MS" pitchFamily="34" charset="-120"/>
              </a:rPr>
              <a:t>02  Case Background</a:t>
            </a:r>
            <a:endParaRPr lang="en-US" sz="1350" dirty="0"/>
          </a:p>
        </p:txBody>
      </p:sp>
      <p:sp>
        <p:nvSpPr>
          <p:cNvPr id="27" name="Text 25"/>
          <p:cNvSpPr/>
          <p:nvPr/>
        </p:nvSpPr>
        <p:spPr>
          <a:xfrm>
            <a:off x="475488" y="3822192"/>
            <a:ext cx="3931920" cy="1069848"/>
          </a:xfrm>
          <a:prstGeom prst="rect">
            <a:avLst/>
          </a:prstGeom>
          <a:noFill/>
          <a:ln/>
        </p:spPr>
        <p:txBody>
          <a:bodyPr wrap="square" lIns="0" tIns="0" rIns="0" bIns="0" rtlCol="0" anchor="ctr"/>
          <a:lstStyle/>
          <a:p>
            <a:pPr marL="0" indent="0" algn="l">
              <a:buNone/>
            </a:pPr>
            <a:r>
              <a:rPr lang="en-US" sz="1200" dirty="0">
                <a:solidFill>
                  <a:srgbClr val="1A1A2E"/>
                </a:solidFill>
                <a:latin typeface="Calibri" pitchFamily="34" charset="0"/>
                <a:ea typeface="Calibri" pitchFamily="34" charset="-122"/>
                <a:cs typeface="Calibri" pitchFamily="34" charset="-120"/>
              </a:rPr>
              <a:t>Case reference number, instructing party, date evidence received, and the legal authority (warrant / court order). Establishes jurisdiction, chain of authority, and specific questions the examiner was asked to address.</a:t>
            </a:r>
            <a:endParaRPr lang="en-US" sz="1200" dirty="0"/>
          </a:p>
        </p:txBody>
      </p:sp>
      <p:sp>
        <p:nvSpPr>
          <p:cNvPr id="28" name="Shape 26"/>
          <p:cNvSpPr/>
          <p:nvPr/>
        </p:nvSpPr>
        <p:spPr>
          <a:xfrm>
            <a:off x="4736592" y="1627632"/>
            <a:ext cx="4233672" cy="1600200"/>
          </a:xfrm>
          <a:prstGeom prst="rect">
            <a:avLst/>
          </a:prstGeom>
          <a:solidFill>
            <a:srgbClr val="EEF6FB"/>
          </a:solidFill>
          <a:ln w="12700">
            <a:solidFill>
              <a:srgbClr val="EEF6FB"/>
            </a:solidFill>
            <a:prstDash val="solid"/>
          </a:ln>
          <a:effectLst>
            <a:outerShdw blurRad="76200" dist="25400" dir="8100000" algn="bl" rotWithShape="0">
              <a:srgbClr val="000000">
                <a:alpha val="25000"/>
              </a:srgbClr>
            </a:outerShdw>
          </a:effectLst>
        </p:spPr>
        <p:txBody>
          <a:bodyPr/>
          <a:lstStyle/>
          <a:p>
            <a:endParaRPr lang="en-SG"/>
          </a:p>
        </p:txBody>
      </p:sp>
      <p:sp>
        <p:nvSpPr>
          <p:cNvPr id="29" name="Shape 27"/>
          <p:cNvSpPr/>
          <p:nvPr/>
        </p:nvSpPr>
        <p:spPr>
          <a:xfrm>
            <a:off x="4736592" y="1627632"/>
            <a:ext cx="64008" cy="1600200"/>
          </a:xfrm>
          <a:prstGeom prst="rect">
            <a:avLst/>
          </a:prstGeom>
          <a:solidFill>
            <a:srgbClr val="3A86FF"/>
          </a:solidFill>
          <a:ln w="12700">
            <a:solidFill>
              <a:srgbClr val="3A86FF"/>
            </a:solidFill>
            <a:prstDash val="solid"/>
          </a:ln>
        </p:spPr>
        <p:txBody>
          <a:bodyPr/>
          <a:lstStyle/>
          <a:p>
            <a:endParaRPr lang="en-SG"/>
          </a:p>
        </p:txBody>
      </p:sp>
      <p:sp>
        <p:nvSpPr>
          <p:cNvPr id="30" name="Text 28"/>
          <p:cNvSpPr/>
          <p:nvPr/>
        </p:nvSpPr>
        <p:spPr>
          <a:xfrm>
            <a:off x="4937760" y="1719072"/>
            <a:ext cx="3931920" cy="347472"/>
          </a:xfrm>
          <a:prstGeom prst="rect">
            <a:avLst/>
          </a:prstGeom>
          <a:noFill/>
          <a:ln/>
        </p:spPr>
        <p:txBody>
          <a:bodyPr wrap="square" lIns="0" tIns="0" rIns="0" bIns="0" rtlCol="0" anchor="ctr"/>
          <a:lstStyle/>
          <a:p>
            <a:pPr marL="0" indent="0" algn="l">
              <a:buNone/>
            </a:pPr>
            <a:r>
              <a:rPr lang="en-US" sz="1350" b="1" dirty="0">
                <a:solidFill>
                  <a:srgbClr val="3A86FF"/>
                </a:solidFill>
                <a:latin typeface="Trebuchet MS" pitchFamily="34" charset="0"/>
                <a:ea typeface="Trebuchet MS" pitchFamily="34" charset="-122"/>
                <a:cs typeface="Trebuchet MS" pitchFamily="34" charset="-120"/>
              </a:rPr>
              <a:t>03  Methodology</a:t>
            </a:r>
            <a:endParaRPr lang="en-US" sz="1350" dirty="0"/>
          </a:p>
        </p:txBody>
      </p:sp>
      <p:sp>
        <p:nvSpPr>
          <p:cNvPr id="31" name="Text 29"/>
          <p:cNvSpPr/>
          <p:nvPr/>
        </p:nvSpPr>
        <p:spPr>
          <a:xfrm>
            <a:off x="4937760" y="2103120"/>
            <a:ext cx="3931920" cy="1069848"/>
          </a:xfrm>
          <a:prstGeom prst="rect">
            <a:avLst/>
          </a:prstGeom>
          <a:noFill/>
          <a:ln/>
        </p:spPr>
        <p:txBody>
          <a:bodyPr wrap="square" lIns="0" tIns="0" rIns="0" bIns="0" rtlCol="0" anchor="ctr"/>
          <a:lstStyle/>
          <a:p>
            <a:pPr marL="0" indent="0" algn="l">
              <a:buNone/>
            </a:pPr>
            <a:r>
              <a:rPr lang="en-US" sz="1200" dirty="0">
                <a:solidFill>
                  <a:srgbClr val="1A1A2E"/>
                </a:solidFill>
                <a:latin typeface="Calibri" pitchFamily="34" charset="0"/>
                <a:ea typeface="Calibri" pitchFamily="34" charset="-122"/>
                <a:cs typeface="Calibri" pitchFamily="34" charset="-120"/>
              </a:rPr>
              <a:t>Tools used (name + version + SHA-256 hash of binary), acquisition method, hash verification records, and examination environment.</a:t>
            </a:r>
            <a:endParaRPr lang="en-US" sz="1200" dirty="0"/>
          </a:p>
          <a:p>
            <a:pPr marL="0" indent="0" algn="l">
              <a:buNone/>
            </a:pPr>
            <a:r>
              <a:rPr lang="en-US" sz="1200" dirty="0">
                <a:solidFill>
                  <a:srgbClr val="1A1A2E"/>
                </a:solidFill>
                <a:latin typeface="Calibri" pitchFamily="34" charset="0"/>
                <a:ea typeface="Calibri" pitchFamily="34" charset="-122"/>
                <a:cs typeface="Calibri" pitchFamily="34" charset="-120"/>
              </a:rPr>
              <a:t>Must be detailed enough for another examiner to replicate exactly.</a:t>
            </a:r>
            <a:endParaRPr lang="en-US" sz="1200" dirty="0"/>
          </a:p>
        </p:txBody>
      </p:sp>
      <p:sp>
        <p:nvSpPr>
          <p:cNvPr id="32" name="Shape 30"/>
          <p:cNvSpPr/>
          <p:nvPr/>
        </p:nvSpPr>
        <p:spPr>
          <a:xfrm>
            <a:off x="4736592" y="3346704"/>
            <a:ext cx="4233672" cy="1600200"/>
          </a:xfrm>
          <a:prstGeom prst="rect">
            <a:avLst/>
          </a:prstGeom>
          <a:solidFill>
            <a:srgbClr val="EEF6FB"/>
          </a:solidFill>
          <a:ln w="12700">
            <a:solidFill>
              <a:srgbClr val="EEF6FB"/>
            </a:solidFill>
            <a:prstDash val="solid"/>
          </a:ln>
          <a:effectLst>
            <a:outerShdw blurRad="76200" dist="25400" dir="8100000" algn="bl" rotWithShape="0">
              <a:srgbClr val="000000">
                <a:alpha val="25000"/>
              </a:srgbClr>
            </a:outerShdw>
          </a:effectLst>
        </p:spPr>
        <p:txBody>
          <a:bodyPr/>
          <a:lstStyle/>
          <a:p>
            <a:endParaRPr lang="en-SG"/>
          </a:p>
        </p:txBody>
      </p:sp>
      <p:sp>
        <p:nvSpPr>
          <p:cNvPr id="33" name="Shape 31"/>
          <p:cNvSpPr/>
          <p:nvPr/>
        </p:nvSpPr>
        <p:spPr>
          <a:xfrm>
            <a:off x="4736592" y="3346704"/>
            <a:ext cx="64008" cy="1600200"/>
          </a:xfrm>
          <a:prstGeom prst="rect">
            <a:avLst/>
          </a:prstGeom>
          <a:solidFill>
            <a:srgbClr val="F0B429"/>
          </a:solidFill>
          <a:ln w="12700">
            <a:solidFill>
              <a:srgbClr val="F0B429"/>
            </a:solidFill>
            <a:prstDash val="solid"/>
          </a:ln>
        </p:spPr>
        <p:txBody>
          <a:bodyPr/>
          <a:lstStyle/>
          <a:p>
            <a:endParaRPr lang="en-SG"/>
          </a:p>
        </p:txBody>
      </p:sp>
      <p:sp>
        <p:nvSpPr>
          <p:cNvPr id="34" name="Text 32"/>
          <p:cNvSpPr/>
          <p:nvPr/>
        </p:nvSpPr>
        <p:spPr>
          <a:xfrm>
            <a:off x="4937760" y="3438144"/>
            <a:ext cx="3931920" cy="347472"/>
          </a:xfrm>
          <a:prstGeom prst="rect">
            <a:avLst/>
          </a:prstGeom>
          <a:noFill/>
          <a:ln/>
        </p:spPr>
        <p:txBody>
          <a:bodyPr wrap="square" lIns="0" tIns="0" rIns="0" bIns="0" rtlCol="0" anchor="ctr"/>
          <a:lstStyle/>
          <a:p>
            <a:pPr marL="0" indent="0" algn="l">
              <a:buNone/>
            </a:pPr>
            <a:r>
              <a:rPr lang="en-US" sz="1350" b="1" dirty="0">
                <a:solidFill>
                  <a:srgbClr val="F0B429"/>
                </a:solidFill>
                <a:latin typeface="Trebuchet MS" pitchFamily="34" charset="0"/>
                <a:ea typeface="Trebuchet MS" pitchFamily="34" charset="-122"/>
                <a:cs typeface="Trebuchet MS" pitchFamily="34" charset="-120"/>
              </a:rPr>
              <a:t>04  Findings — Core of the Report</a:t>
            </a:r>
            <a:endParaRPr lang="en-US" sz="1350" dirty="0"/>
          </a:p>
        </p:txBody>
      </p:sp>
      <p:sp>
        <p:nvSpPr>
          <p:cNvPr id="35" name="Text 33"/>
          <p:cNvSpPr/>
          <p:nvPr/>
        </p:nvSpPr>
        <p:spPr>
          <a:xfrm>
            <a:off x="4937760" y="3822192"/>
            <a:ext cx="3931920" cy="1069848"/>
          </a:xfrm>
          <a:prstGeom prst="rect">
            <a:avLst/>
          </a:prstGeom>
          <a:noFill/>
          <a:ln/>
        </p:spPr>
        <p:txBody>
          <a:bodyPr wrap="square" lIns="0" tIns="0" rIns="0" bIns="0" rtlCol="0" anchor="ctr"/>
          <a:lstStyle/>
          <a:p>
            <a:pPr marL="0" indent="0" algn="l">
              <a:buNone/>
            </a:pPr>
            <a:r>
              <a:rPr lang="en-US" sz="1200" dirty="0">
                <a:solidFill>
                  <a:srgbClr val="1A1A2E"/>
                </a:solidFill>
                <a:latin typeface="Calibri" pitchFamily="34" charset="0"/>
                <a:ea typeface="Calibri" pitchFamily="34" charset="-122"/>
                <a:cs typeface="Calibri" pitchFamily="34" charset="-120"/>
              </a:rPr>
              <a:t>Factual, objective description of every artefact discovered. Timestamps, file paths, hash values, registry keys, log entries — facts only. No interpretation.</a:t>
            </a:r>
            <a:endParaRPr lang="en-US" sz="1200" dirty="0"/>
          </a:p>
          <a:p>
            <a:pPr marL="0" indent="0" algn="l">
              <a:buNone/>
            </a:pPr>
            <a:r>
              <a:rPr lang="en-US" sz="1200" dirty="0">
                <a:solidFill>
                  <a:srgbClr val="1A1A2E"/>
                </a:solidFill>
                <a:latin typeface="Calibri" pitchFamily="34" charset="0"/>
                <a:ea typeface="Calibri" pitchFamily="34" charset="-122"/>
                <a:cs typeface="Calibri" pitchFamily="34" charset="-120"/>
              </a:rPr>
              <a:t>Both inculpatory AND exculpatory findings must be documented.</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0A8A8"/>
          </a:solidFill>
          <a:ln w="12700">
            <a:solidFill>
              <a:srgbClr val="00A8A8"/>
            </a:solidFill>
            <a:prstDash val="solid"/>
          </a:ln>
        </p:spPr>
        <p:txBody>
          <a:bodyPr/>
          <a:lstStyle/>
          <a:p>
            <a:endParaRPr lang="en-SG"/>
          </a:p>
        </p:txBody>
      </p:sp>
      <p:sp>
        <p:nvSpPr>
          <p:cNvPr id="3" name="Text 1"/>
          <p:cNvSpPr/>
          <p:nvPr/>
        </p:nvSpPr>
        <p:spPr>
          <a:xfrm>
            <a:off x="365760" y="164592"/>
            <a:ext cx="8412480" cy="594360"/>
          </a:xfrm>
          <a:prstGeom prst="rect">
            <a:avLst/>
          </a:prstGeom>
          <a:noFill/>
          <a:ln/>
        </p:spPr>
        <p:txBody>
          <a:bodyPr wrap="square" lIns="0" tIns="0" rIns="0" bIns="0" rtlCol="0" anchor="ctr"/>
          <a:lstStyle/>
          <a:p>
            <a:pPr marL="0" indent="0" algn="l">
              <a:buNone/>
            </a:pPr>
            <a:r>
              <a:rPr lang="en-US" sz="2600" b="1" dirty="0">
                <a:solidFill>
                  <a:srgbClr val="1A1A2E"/>
                </a:solidFill>
                <a:latin typeface="Trebuchet MS" pitchFamily="34" charset="0"/>
                <a:ea typeface="Trebuchet MS" pitchFamily="34" charset="-122"/>
                <a:cs typeface="Trebuchet MS" pitchFamily="34" charset="-120"/>
              </a:rPr>
              <a:t>Report Structure — Sections 05 to 07</a:t>
            </a:r>
            <a:endParaRPr lang="en-US" sz="2600" dirty="0"/>
          </a:p>
        </p:txBody>
      </p:sp>
      <p:sp>
        <p:nvSpPr>
          <p:cNvPr id="4" name="Text 2"/>
          <p:cNvSpPr/>
          <p:nvPr/>
        </p:nvSpPr>
        <p:spPr>
          <a:xfrm>
            <a:off x="365760" y="786384"/>
            <a:ext cx="8412480" cy="228600"/>
          </a:xfrm>
          <a:prstGeom prst="rect">
            <a:avLst/>
          </a:prstGeom>
          <a:noFill/>
          <a:ln/>
        </p:spPr>
        <p:txBody>
          <a:bodyPr wrap="square" lIns="0" tIns="0" rIns="0" bIns="0" rtlCol="0" anchor="ctr"/>
          <a:lstStyle/>
          <a:p>
            <a:pPr marL="0" indent="0" algn="l">
              <a:buNone/>
            </a:pPr>
            <a:r>
              <a:rPr lang="en-US" sz="1100" i="1" dirty="0">
                <a:solidFill>
                  <a:srgbClr val="00A8A8"/>
                </a:solidFill>
                <a:latin typeface="Calibri" pitchFamily="34" charset="0"/>
                <a:ea typeface="Calibri" pitchFamily="34" charset="-122"/>
                <a:cs typeface="Calibri" pitchFamily="34" charset="-120"/>
              </a:rPr>
              <a:t>Sections 05–07 complete the legal rigour of your report — omitting them will not survive cross-examination</a:t>
            </a:r>
            <a:endParaRPr lang="en-US" sz="1100" dirty="0"/>
          </a:p>
        </p:txBody>
      </p:sp>
      <p:sp>
        <p:nvSpPr>
          <p:cNvPr id="5" name="Shape 3"/>
          <p:cNvSpPr/>
          <p:nvPr/>
        </p:nvSpPr>
        <p:spPr>
          <a:xfrm>
            <a:off x="274320" y="1078992"/>
            <a:ext cx="1161288" cy="292608"/>
          </a:xfrm>
          <a:prstGeom prst="rect">
            <a:avLst/>
          </a:prstGeom>
          <a:solidFill>
            <a:srgbClr val="F1F5F9"/>
          </a:solidFill>
          <a:ln w="12700">
            <a:solidFill>
              <a:srgbClr val="E2E8F0"/>
            </a:solidFill>
            <a:prstDash val="solid"/>
          </a:ln>
        </p:spPr>
        <p:txBody>
          <a:bodyPr/>
          <a:lstStyle/>
          <a:p>
            <a:endParaRPr lang="en-SG"/>
          </a:p>
        </p:txBody>
      </p:sp>
      <p:sp>
        <p:nvSpPr>
          <p:cNvPr id="6" name="Text 4"/>
          <p:cNvSpPr/>
          <p:nvPr/>
        </p:nvSpPr>
        <p:spPr>
          <a:xfrm>
            <a:off x="274320" y="1078992"/>
            <a:ext cx="1161288" cy="292608"/>
          </a:xfrm>
          <a:prstGeom prst="rect">
            <a:avLst/>
          </a:prstGeom>
          <a:noFill/>
          <a:ln/>
        </p:spPr>
        <p:txBody>
          <a:bodyPr wrap="square" lIns="25400" tIns="25400" rIns="25400" bIns="25400" rtlCol="0" anchor="ctr"/>
          <a:lstStyle/>
          <a:p>
            <a:pPr marL="0" indent="0" algn="ctr">
              <a:buNone/>
            </a:pPr>
            <a:r>
              <a:rPr lang="en-US" sz="800" dirty="0">
                <a:solidFill>
                  <a:srgbClr val="475569"/>
                </a:solidFill>
                <a:latin typeface="Calibri" pitchFamily="34" charset="0"/>
                <a:ea typeface="Calibri" pitchFamily="34" charset="-122"/>
                <a:cs typeface="Calibri" pitchFamily="34" charset="-120"/>
              </a:rPr>
              <a:t>01 Exec Summary</a:t>
            </a:r>
            <a:endParaRPr lang="en-US" sz="800" dirty="0"/>
          </a:p>
        </p:txBody>
      </p:sp>
      <p:sp>
        <p:nvSpPr>
          <p:cNvPr id="7" name="Shape 5"/>
          <p:cNvSpPr/>
          <p:nvPr/>
        </p:nvSpPr>
        <p:spPr>
          <a:xfrm>
            <a:off x="1508760" y="1078992"/>
            <a:ext cx="1161288" cy="292608"/>
          </a:xfrm>
          <a:prstGeom prst="rect">
            <a:avLst/>
          </a:prstGeom>
          <a:solidFill>
            <a:srgbClr val="F1F5F9"/>
          </a:solidFill>
          <a:ln w="12700">
            <a:solidFill>
              <a:srgbClr val="E2E8F0"/>
            </a:solidFill>
            <a:prstDash val="solid"/>
          </a:ln>
        </p:spPr>
        <p:txBody>
          <a:bodyPr/>
          <a:lstStyle/>
          <a:p>
            <a:endParaRPr lang="en-SG"/>
          </a:p>
        </p:txBody>
      </p:sp>
      <p:sp>
        <p:nvSpPr>
          <p:cNvPr id="8" name="Text 6"/>
          <p:cNvSpPr/>
          <p:nvPr/>
        </p:nvSpPr>
        <p:spPr>
          <a:xfrm>
            <a:off x="1508760" y="1078992"/>
            <a:ext cx="1161288" cy="292608"/>
          </a:xfrm>
          <a:prstGeom prst="rect">
            <a:avLst/>
          </a:prstGeom>
          <a:noFill/>
          <a:ln/>
        </p:spPr>
        <p:txBody>
          <a:bodyPr wrap="square" lIns="25400" tIns="25400" rIns="25400" bIns="25400" rtlCol="0" anchor="ctr"/>
          <a:lstStyle/>
          <a:p>
            <a:pPr marL="0" indent="0" algn="ctr">
              <a:buNone/>
            </a:pPr>
            <a:r>
              <a:rPr lang="en-US" sz="800" dirty="0">
                <a:solidFill>
                  <a:srgbClr val="475569"/>
                </a:solidFill>
                <a:latin typeface="Calibri" pitchFamily="34" charset="0"/>
                <a:ea typeface="Calibri" pitchFamily="34" charset="-122"/>
                <a:cs typeface="Calibri" pitchFamily="34" charset="-120"/>
              </a:rPr>
              <a:t>02 Case Background</a:t>
            </a:r>
            <a:endParaRPr lang="en-US" sz="800" dirty="0"/>
          </a:p>
        </p:txBody>
      </p:sp>
      <p:sp>
        <p:nvSpPr>
          <p:cNvPr id="9" name="Shape 7"/>
          <p:cNvSpPr/>
          <p:nvPr/>
        </p:nvSpPr>
        <p:spPr>
          <a:xfrm>
            <a:off x="2743200" y="1078992"/>
            <a:ext cx="1161288" cy="292608"/>
          </a:xfrm>
          <a:prstGeom prst="rect">
            <a:avLst/>
          </a:prstGeom>
          <a:solidFill>
            <a:srgbClr val="F1F5F9"/>
          </a:solidFill>
          <a:ln w="12700">
            <a:solidFill>
              <a:srgbClr val="E2E8F0"/>
            </a:solidFill>
            <a:prstDash val="solid"/>
          </a:ln>
        </p:spPr>
        <p:txBody>
          <a:bodyPr/>
          <a:lstStyle/>
          <a:p>
            <a:endParaRPr lang="en-SG"/>
          </a:p>
        </p:txBody>
      </p:sp>
      <p:sp>
        <p:nvSpPr>
          <p:cNvPr id="10" name="Text 8"/>
          <p:cNvSpPr/>
          <p:nvPr/>
        </p:nvSpPr>
        <p:spPr>
          <a:xfrm>
            <a:off x="2743200" y="1078992"/>
            <a:ext cx="1161288" cy="292608"/>
          </a:xfrm>
          <a:prstGeom prst="rect">
            <a:avLst/>
          </a:prstGeom>
          <a:noFill/>
          <a:ln/>
        </p:spPr>
        <p:txBody>
          <a:bodyPr wrap="square" lIns="25400" tIns="25400" rIns="25400" bIns="25400" rtlCol="0" anchor="ctr"/>
          <a:lstStyle/>
          <a:p>
            <a:pPr marL="0" indent="0" algn="ctr">
              <a:buNone/>
            </a:pPr>
            <a:r>
              <a:rPr lang="en-US" sz="800" dirty="0">
                <a:solidFill>
                  <a:srgbClr val="475569"/>
                </a:solidFill>
                <a:latin typeface="Calibri" pitchFamily="34" charset="0"/>
                <a:ea typeface="Calibri" pitchFamily="34" charset="-122"/>
                <a:cs typeface="Calibri" pitchFamily="34" charset="-120"/>
              </a:rPr>
              <a:t>03 Methodology</a:t>
            </a:r>
            <a:endParaRPr lang="en-US" sz="800" dirty="0"/>
          </a:p>
        </p:txBody>
      </p:sp>
      <p:sp>
        <p:nvSpPr>
          <p:cNvPr id="11" name="Shape 9"/>
          <p:cNvSpPr/>
          <p:nvPr/>
        </p:nvSpPr>
        <p:spPr>
          <a:xfrm>
            <a:off x="3977640" y="1078992"/>
            <a:ext cx="1161288" cy="292608"/>
          </a:xfrm>
          <a:prstGeom prst="rect">
            <a:avLst/>
          </a:prstGeom>
          <a:solidFill>
            <a:srgbClr val="F1F5F9"/>
          </a:solidFill>
          <a:ln w="12700">
            <a:solidFill>
              <a:srgbClr val="E2E8F0"/>
            </a:solidFill>
            <a:prstDash val="solid"/>
          </a:ln>
        </p:spPr>
        <p:txBody>
          <a:bodyPr/>
          <a:lstStyle/>
          <a:p>
            <a:endParaRPr lang="en-SG"/>
          </a:p>
        </p:txBody>
      </p:sp>
      <p:sp>
        <p:nvSpPr>
          <p:cNvPr id="12" name="Text 10"/>
          <p:cNvSpPr/>
          <p:nvPr/>
        </p:nvSpPr>
        <p:spPr>
          <a:xfrm>
            <a:off x="3977640" y="1078992"/>
            <a:ext cx="1161288" cy="292608"/>
          </a:xfrm>
          <a:prstGeom prst="rect">
            <a:avLst/>
          </a:prstGeom>
          <a:noFill/>
          <a:ln/>
        </p:spPr>
        <p:txBody>
          <a:bodyPr wrap="square" lIns="25400" tIns="25400" rIns="25400" bIns="25400" rtlCol="0" anchor="ctr"/>
          <a:lstStyle/>
          <a:p>
            <a:pPr marL="0" indent="0" algn="ctr">
              <a:buNone/>
            </a:pPr>
            <a:r>
              <a:rPr lang="en-US" sz="800" dirty="0">
                <a:solidFill>
                  <a:srgbClr val="475569"/>
                </a:solidFill>
                <a:latin typeface="Calibri" pitchFamily="34" charset="0"/>
                <a:ea typeface="Calibri" pitchFamily="34" charset="-122"/>
                <a:cs typeface="Calibri" pitchFamily="34" charset="-120"/>
              </a:rPr>
              <a:t>04 Findings</a:t>
            </a:r>
            <a:endParaRPr lang="en-US" sz="800" dirty="0"/>
          </a:p>
        </p:txBody>
      </p:sp>
      <p:sp>
        <p:nvSpPr>
          <p:cNvPr id="13" name="Shape 11"/>
          <p:cNvSpPr/>
          <p:nvPr/>
        </p:nvSpPr>
        <p:spPr>
          <a:xfrm>
            <a:off x="5212080" y="1078992"/>
            <a:ext cx="1161288" cy="292608"/>
          </a:xfrm>
          <a:prstGeom prst="rect">
            <a:avLst/>
          </a:prstGeom>
          <a:solidFill>
            <a:srgbClr val="00A8A8"/>
          </a:solidFill>
          <a:ln w="12700">
            <a:solidFill>
              <a:srgbClr val="007A7A"/>
            </a:solidFill>
            <a:prstDash val="solid"/>
          </a:ln>
        </p:spPr>
        <p:txBody>
          <a:bodyPr/>
          <a:lstStyle/>
          <a:p>
            <a:endParaRPr lang="en-SG"/>
          </a:p>
        </p:txBody>
      </p:sp>
      <p:sp>
        <p:nvSpPr>
          <p:cNvPr id="14" name="Text 12"/>
          <p:cNvSpPr/>
          <p:nvPr/>
        </p:nvSpPr>
        <p:spPr>
          <a:xfrm>
            <a:off x="5212080" y="1078992"/>
            <a:ext cx="1161288" cy="292608"/>
          </a:xfrm>
          <a:prstGeom prst="rect">
            <a:avLst/>
          </a:prstGeom>
          <a:noFill/>
          <a:ln/>
        </p:spPr>
        <p:txBody>
          <a:bodyPr wrap="square" lIns="25400" tIns="25400" rIns="25400" bIns="25400" rtlCol="0" anchor="ctr"/>
          <a:lstStyle/>
          <a:p>
            <a:pPr marL="0" indent="0" algn="ctr">
              <a:buNone/>
            </a:pPr>
            <a:r>
              <a:rPr lang="en-US" sz="800" b="1" dirty="0">
                <a:solidFill>
                  <a:srgbClr val="0D1B2A"/>
                </a:solidFill>
                <a:latin typeface="Calibri" pitchFamily="34" charset="0"/>
                <a:ea typeface="Calibri" pitchFamily="34" charset="-122"/>
                <a:cs typeface="Calibri" pitchFamily="34" charset="-120"/>
              </a:rPr>
              <a:t>05 Analysis</a:t>
            </a:r>
            <a:endParaRPr lang="en-US" sz="800" dirty="0"/>
          </a:p>
        </p:txBody>
      </p:sp>
      <p:sp>
        <p:nvSpPr>
          <p:cNvPr id="15" name="Shape 13"/>
          <p:cNvSpPr/>
          <p:nvPr/>
        </p:nvSpPr>
        <p:spPr>
          <a:xfrm>
            <a:off x="6446520" y="1078992"/>
            <a:ext cx="1161288" cy="292608"/>
          </a:xfrm>
          <a:prstGeom prst="rect">
            <a:avLst/>
          </a:prstGeom>
          <a:solidFill>
            <a:srgbClr val="00A8A8"/>
          </a:solidFill>
          <a:ln w="12700">
            <a:solidFill>
              <a:srgbClr val="007A7A"/>
            </a:solidFill>
            <a:prstDash val="solid"/>
          </a:ln>
        </p:spPr>
        <p:txBody>
          <a:bodyPr/>
          <a:lstStyle/>
          <a:p>
            <a:endParaRPr lang="en-SG"/>
          </a:p>
        </p:txBody>
      </p:sp>
      <p:sp>
        <p:nvSpPr>
          <p:cNvPr id="16" name="Text 14"/>
          <p:cNvSpPr/>
          <p:nvPr/>
        </p:nvSpPr>
        <p:spPr>
          <a:xfrm>
            <a:off x="6446520" y="1078992"/>
            <a:ext cx="1161288" cy="292608"/>
          </a:xfrm>
          <a:prstGeom prst="rect">
            <a:avLst/>
          </a:prstGeom>
          <a:noFill/>
          <a:ln/>
        </p:spPr>
        <p:txBody>
          <a:bodyPr wrap="square" lIns="25400" tIns="25400" rIns="25400" bIns="25400" rtlCol="0" anchor="ctr"/>
          <a:lstStyle/>
          <a:p>
            <a:pPr marL="0" indent="0" algn="ctr">
              <a:buNone/>
            </a:pPr>
            <a:r>
              <a:rPr lang="en-US" sz="800" b="1" dirty="0">
                <a:solidFill>
                  <a:srgbClr val="0D1B2A"/>
                </a:solidFill>
                <a:latin typeface="Calibri" pitchFamily="34" charset="0"/>
                <a:ea typeface="Calibri" pitchFamily="34" charset="-122"/>
                <a:cs typeface="Calibri" pitchFamily="34" charset="-120"/>
              </a:rPr>
              <a:t>06 Limitations</a:t>
            </a:r>
            <a:endParaRPr lang="en-US" sz="800" dirty="0"/>
          </a:p>
        </p:txBody>
      </p:sp>
      <p:sp>
        <p:nvSpPr>
          <p:cNvPr id="17" name="Shape 15"/>
          <p:cNvSpPr/>
          <p:nvPr/>
        </p:nvSpPr>
        <p:spPr>
          <a:xfrm>
            <a:off x="7680960" y="1078992"/>
            <a:ext cx="1161288" cy="292608"/>
          </a:xfrm>
          <a:prstGeom prst="rect">
            <a:avLst/>
          </a:prstGeom>
          <a:solidFill>
            <a:srgbClr val="00A8A8"/>
          </a:solidFill>
          <a:ln w="12700">
            <a:solidFill>
              <a:srgbClr val="007A7A"/>
            </a:solidFill>
            <a:prstDash val="solid"/>
          </a:ln>
        </p:spPr>
        <p:txBody>
          <a:bodyPr/>
          <a:lstStyle/>
          <a:p>
            <a:endParaRPr lang="en-SG"/>
          </a:p>
        </p:txBody>
      </p:sp>
      <p:sp>
        <p:nvSpPr>
          <p:cNvPr id="18" name="Text 16"/>
          <p:cNvSpPr/>
          <p:nvPr/>
        </p:nvSpPr>
        <p:spPr>
          <a:xfrm>
            <a:off x="7680960" y="1078992"/>
            <a:ext cx="1161288" cy="292608"/>
          </a:xfrm>
          <a:prstGeom prst="rect">
            <a:avLst/>
          </a:prstGeom>
          <a:noFill/>
          <a:ln/>
        </p:spPr>
        <p:txBody>
          <a:bodyPr wrap="square" lIns="25400" tIns="25400" rIns="25400" bIns="25400" rtlCol="0" anchor="ctr"/>
          <a:lstStyle/>
          <a:p>
            <a:pPr marL="0" indent="0" algn="ctr">
              <a:buNone/>
            </a:pPr>
            <a:r>
              <a:rPr lang="en-US" sz="800" b="1" dirty="0">
                <a:solidFill>
                  <a:srgbClr val="0D1B2A"/>
                </a:solidFill>
                <a:latin typeface="Calibri" pitchFamily="34" charset="0"/>
                <a:ea typeface="Calibri" pitchFamily="34" charset="-122"/>
                <a:cs typeface="Calibri" pitchFamily="34" charset="-120"/>
              </a:rPr>
              <a:t>07 Appendices</a:t>
            </a:r>
            <a:endParaRPr lang="en-US" sz="800" dirty="0"/>
          </a:p>
        </p:txBody>
      </p:sp>
      <p:sp>
        <p:nvSpPr>
          <p:cNvPr id="19" name="Text 17"/>
          <p:cNvSpPr/>
          <p:nvPr/>
        </p:nvSpPr>
        <p:spPr>
          <a:xfrm>
            <a:off x="5596128" y="1399032"/>
            <a:ext cx="3611880" cy="164592"/>
          </a:xfrm>
          <a:prstGeom prst="rect">
            <a:avLst/>
          </a:prstGeom>
          <a:noFill/>
          <a:ln/>
        </p:spPr>
        <p:txBody>
          <a:bodyPr wrap="square" lIns="0" tIns="0" rIns="0" bIns="0" rtlCol="0" anchor="ctr"/>
          <a:lstStyle/>
          <a:p>
            <a:pPr marL="0" indent="0" algn="ctr">
              <a:buNone/>
            </a:pPr>
            <a:r>
              <a:rPr lang="en-US" sz="750" dirty="0">
                <a:solidFill>
                  <a:srgbClr val="00A8A8"/>
                </a:solidFill>
                <a:latin typeface="Calibri" pitchFamily="34" charset="0"/>
                <a:ea typeface="Calibri" pitchFamily="34" charset="-122"/>
                <a:cs typeface="Calibri" pitchFamily="34" charset="-120"/>
              </a:rPr>
              <a:t>◀ COVERED THIS SLIDE</a:t>
            </a:r>
            <a:endParaRPr lang="en-US" sz="750" dirty="0"/>
          </a:p>
        </p:txBody>
      </p:sp>
      <p:sp>
        <p:nvSpPr>
          <p:cNvPr id="20" name="Shape 18"/>
          <p:cNvSpPr/>
          <p:nvPr/>
        </p:nvSpPr>
        <p:spPr>
          <a:xfrm>
            <a:off x="274320" y="1664208"/>
            <a:ext cx="8595360" cy="1024128"/>
          </a:xfrm>
          <a:prstGeom prst="rect">
            <a:avLst/>
          </a:prstGeom>
          <a:solidFill>
            <a:srgbClr val="EEF6FB"/>
          </a:solidFill>
          <a:ln w="12700">
            <a:solidFill>
              <a:srgbClr val="EEF6FB"/>
            </a:solidFill>
            <a:prstDash val="solid"/>
          </a:ln>
          <a:effectLst>
            <a:outerShdw blurRad="76200" dist="25400" dir="8100000" algn="bl" rotWithShape="0">
              <a:srgbClr val="000000">
                <a:alpha val="25000"/>
              </a:srgbClr>
            </a:outerShdw>
          </a:effectLst>
        </p:spPr>
        <p:txBody>
          <a:bodyPr/>
          <a:lstStyle/>
          <a:p>
            <a:endParaRPr lang="en-SG"/>
          </a:p>
        </p:txBody>
      </p:sp>
      <p:sp>
        <p:nvSpPr>
          <p:cNvPr id="21" name="Shape 19"/>
          <p:cNvSpPr/>
          <p:nvPr/>
        </p:nvSpPr>
        <p:spPr>
          <a:xfrm>
            <a:off x="274320" y="1664208"/>
            <a:ext cx="64008" cy="1024128"/>
          </a:xfrm>
          <a:prstGeom prst="rect">
            <a:avLst/>
          </a:prstGeom>
          <a:solidFill>
            <a:srgbClr val="00A8A8"/>
          </a:solidFill>
          <a:ln w="12700">
            <a:solidFill>
              <a:srgbClr val="00A8A8"/>
            </a:solidFill>
            <a:prstDash val="solid"/>
          </a:ln>
        </p:spPr>
        <p:txBody>
          <a:bodyPr/>
          <a:lstStyle/>
          <a:p>
            <a:endParaRPr lang="en-SG"/>
          </a:p>
        </p:txBody>
      </p:sp>
      <p:sp>
        <p:nvSpPr>
          <p:cNvPr id="22" name="Text 20"/>
          <p:cNvSpPr/>
          <p:nvPr/>
        </p:nvSpPr>
        <p:spPr>
          <a:xfrm>
            <a:off x="475488" y="1737360"/>
            <a:ext cx="2423160" cy="320040"/>
          </a:xfrm>
          <a:prstGeom prst="rect">
            <a:avLst/>
          </a:prstGeom>
          <a:noFill/>
          <a:ln/>
        </p:spPr>
        <p:txBody>
          <a:bodyPr wrap="square" lIns="0" tIns="0" rIns="0" bIns="0" rtlCol="0" anchor="ctr"/>
          <a:lstStyle/>
          <a:p>
            <a:pPr marL="0" indent="0" algn="l">
              <a:buNone/>
            </a:pPr>
            <a:r>
              <a:rPr lang="en-US" sz="1400" b="1" dirty="0">
                <a:solidFill>
                  <a:srgbClr val="00A8A8"/>
                </a:solidFill>
                <a:latin typeface="Trebuchet MS" pitchFamily="34" charset="0"/>
                <a:ea typeface="Trebuchet MS" pitchFamily="34" charset="-122"/>
                <a:cs typeface="Trebuchet MS" pitchFamily="34" charset="-120"/>
              </a:rPr>
              <a:t>05  Analysis &amp; Conclusions</a:t>
            </a:r>
            <a:endParaRPr lang="en-US" sz="1400" dirty="0"/>
          </a:p>
        </p:txBody>
      </p:sp>
      <p:sp>
        <p:nvSpPr>
          <p:cNvPr id="23" name="Text 21"/>
          <p:cNvSpPr/>
          <p:nvPr/>
        </p:nvSpPr>
        <p:spPr>
          <a:xfrm>
            <a:off x="2971800" y="1728216"/>
            <a:ext cx="5806440" cy="594360"/>
          </a:xfrm>
          <a:prstGeom prst="rect">
            <a:avLst/>
          </a:prstGeom>
          <a:noFill/>
          <a:ln/>
        </p:spPr>
        <p:txBody>
          <a:bodyPr wrap="square" lIns="0" tIns="0" rIns="0" bIns="0" rtlCol="0" anchor="ctr"/>
          <a:lstStyle/>
          <a:p>
            <a:pPr marL="0" indent="0" algn="l">
              <a:buNone/>
            </a:pPr>
            <a:r>
              <a:rPr lang="en-US" sz="1200" dirty="0">
                <a:solidFill>
                  <a:srgbClr val="1A1A2E"/>
                </a:solidFill>
                <a:latin typeface="Calibri" pitchFamily="34" charset="0"/>
                <a:ea typeface="Calibri" pitchFamily="34" charset="-122"/>
                <a:cs typeface="Calibri" pitchFamily="34" charset="-120"/>
              </a:rPr>
              <a:t>Interpretation of findings mapped to the 5WH framework. Explicitly states what CAN and CANNOT be concluded. Distinguishes confirmed facts from inferences — crucial for court credibility.</a:t>
            </a:r>
            <a:endParaRPr lang="en-US" sz="1200" dirty="0"/>
          </a:p>
        </p:txBody>
      </p:sp>
      <p:sp>
        <p:nvSpPr>
          <p:cNvPr id="24" name="Shape 22"/>
          <p:cNvSpPr/>
          <p:nvPr/>
        </p:nvSpPr>
        <p:spPr>
          <a:xfrm>
            <a:off x="2834640" y="1755648"/>
            <a:ext cx="36576" cy="841248"/>
          </a:xfrm>
          <a:prstGeom prst="rect">
            <a:avLst/>
          </a:prstGeom>
          <a:solidFill>
            <a:srgbClr val="FFFFFF"/>
          </a:solidFill>
          <a:ln w="12700">
            <a:solidFill>
              <a:srgbClr val="E2E8F0"/>
            </a:solidFill>
            <a:prstDash val="solid"/>
          </a:ln>
        </p:spPr>
        <p:txBody>
          <a:bodyPr/>
          <a:lstStyle/>
          <a:p>
            <a:endParaRPr lang="en-SG"/>
          </a:p>
        </p:txBody>
      </p:sp>
      <p:sp>
        <p:nvSpPr>
          <p:cNvPr id="25" name="Text 23"/>
          <p:cNvSpPr/>
          <p:nvPr/>
        </p:nvSpPr>
        <p:spPr>
          <a:xfrm>
            <a:off x="2971800" y="2350008"/>
            <a:ext cx="5806440" cy="274320"/>
          </a:xfrm>
          <a:prstGeom prst="rect">
            <a:avLst/>
          </a:prstGeom>
          <a:noFill/>
          <a:ln/>
        </p:spPr>
        <p:txBody>
          <a:bodyPr wrap="square" lIns="0" tIns="0" rIns="0" bIns="0" rtlCol="0" anchor="ctr"/>
          <a:lstStyle/>
          <a:p>
            <a:pPr marL="0" indent="0" algn="l">
              <a:buNone/>
            </a:pPr>
            <a:r>
              <a:rPr lang="en-US" sz="1100" i="1" dirty="0">
                <a:solidFill>
                  <a:srgbClr val="00A8A8"/>
                </a:solidFill>
                <a:latin typeface="Calibri" pitchFamily="34" charset="0"/>
                <a:ea typeface="Calibri" pitchFamily="34" charset="-122"/>
                <a:cs typeface="Calibri" pitchFamily="34" charset="-120"/>
              </a:rPr>
              <a:t>→ 'The file was accessed' (fact) vs 'This is consistent with user jsmith being present' (inference).</a:t>
            </a:r>
            <a:endParaRPr lang="en-US" sz="1100" dirty="0"/>
          </a:p>
        </p:txBody>
      </p:sp>
      <p:sp>
        <p:nvSpPr>
          <p:cNvPr id="26" name="Shape 24"/>
          <p:cNvSpPr/>
          <p:nvPr/>
        </p:nvSpPr>
        <p:spPr>
          <a:xfrm>
            <a:off x="274320" y="2807208"/>
            <a:ext cx="8595360" cy="1024128"/>
          </a:xfrm>
          <a:prstGeom prst="rect">
            <a:avLst/>
          </a:prstGeom>
          <a:solidFill>
            <a:srgbClr val="EEF6FB"/>
          </a:solidFill>
          <a:ln w="12700">
            <a:solidFill>
              <a:srgbClr val="EEF6FB"/>
            </a:solidFill>
            <a:prstDash val="solid"/>
          </a:ln>
          <a:effectLst>
            <a:outerShdw blurRad="76200" dist="25400" dir="8100000" algn="bl" rotWithShape="0">
              <a:srgbClr val="000000">
                <a:alpha val="25000"/>
              </a:srgbClr>
            </a:outerShdw>
          </a:effectLst>
        </p:spPr>
        <p:txBody>
          <a:bodyPr/>
          <a:lstStyle/>
          <a:p>
            <a:endParaRPr lang="en-SG"/>
          </a:p>
        </p:txBody>
      </p:sp>
      <p:sp>
        <p:nvSpPr>
          <p:cNvPr id="27" name="Shape 25"/>
          <p:cNvSpPr/>
          <p:nvPr/>
        </p:nvSpPr>
        <p:spPr>
          <a:xfrm>
            <a:off x="274320" y="2807208"/>
            <a:ext cx="64008" cy="1024128"/>
          </a:xfrm>
          <a:prstGeom prst="rect">
            <a:avLst/>
          </a:prstGeom>
          <a:solidFill>
            <a:srgbClr val="F39C12"/>
          </a:solidFill>
          <a:ln w="12700">
            <a:solidFill>
              <a:srgbClr val="F39C12"/>
            </a:solidFill>
            <a:prstDash val="solid"/>
          </a:ln>
        </p:spPr>
        <p:txBody>
          <a:bodyPr/>
          <a:lstStyle/>
          <a:p>
            <a:endParaRPr lang="en-SG"/>
          </a:p>
        </p:txBody>
      </p:sp>
      <p:sp>
        <p:nvSpPr>
          <p:cNvPr id="28" name="Text 26"/>
          <p:cNvSpPr/>
          <p:nvPr/>
        </p:nvSpPr>
        <p:spPr>
          <a:xfrm>
            <a:off x="475488" y="2880360"/>
            <a:ext cx="2423160" cy="320040"/>
          </a:xfrm>
          <a:prstGeom prst="rect">
            <a:avLst/>
          </a:prstGeom>
          <a:noFill/>
          <a:ln/>
        </p:spPr>
        <p:txBody>
          <a:bodyPr wrap="square" lIns="0" tIns="0" rIns="0" bIns="0" rtlCol="0" anchor="ctr"/>
          <a:lstStyle/>
          <a:p>
            <a:pPr marL="0" indent="0" algn="l">
              <a:buNone/>
            </a:pPr>
            <a:r>
              <a:rPr lang="en-US" sz="1400" b="1" dirty="0">
                <a:solidFill>
                  <a:srgbClr val="F39C12"/>
                </a:solidFill>
                <a:latin typeface="Trebuchet MS" pitchFamily="34" charset="0"/>
                <a:ea typeface="Trebuchet MS" pitchFamily="34" charset="-122"/>
                <a:cs typeface="Trebuchet MS" pitchFamily="34" charset="-120"/>
              </a:rPr>
              <a:t>06  Limitations &amp; Caveats</a:t>
            </a:r>
            <a:endParaRPr lang="en-US" sz="1400" dirty="0"/>
          </a:p>
        </p:txBody>
      </p:sp>
      <p:sp>
        <p:nvSpPr>
          <p:cNvPr id="29" name="Text 27"/>
          <p:cNvSpPr/>
          <p:nvPr/>
        </p:nvSpPr>
        <p:spPr>
          <a:xfrm>
            <a:off x="2971800" y="2871216"/>
            <a:ext cx="5806440" cy="594360"/>
          </a:xfrm>
          <a:prstGeom prst="rect">
            <a:avLst/>
          </a:prstGeom>
          <a:noFill/>
          <a:ln/>
        </p:spPr>
        <p:txBody>
          <a:bodyPr wrap="square" lIns="0" tIns="0" rIns="0" bIns="0" rtlCol="0" anchor="ctr"/>
          <a:lstStyle/>
          <a:p>
            <a:pPr marL="0" indent="0" algn="l">
              <a:buNone/>
            </a:pPr>
            <a:r>
              <a:rPr lang="en-US" sz="1200" dirty="0">
                <a:solidFill>
                  <a:srgbClr val="1A1A2E"/>
                </a:solidFill>
                <a:latin typeface="Calibri" pitchFamily="34" charset="0"/>
                <a:ea typeface="Calibri" pitchFamily="34" charset="-122"/>
                <a:cs typeface="Calibri" pitchFamily="34" charset="-120"/>
              </a:rPr>
              <a:t>Documents what could NOT be examined: encrypted volumes, wiped sectors, inaccessible cloud data. Intellectual honesty is both a legal requirement and professional duty.</a:t>
            </a:r>
            <a:endParaRPr lang="en-US" sz="1200" dirty="0"/>
          </a:p>
        </p:txBody>
      </p:sp>
      <p:sp>
        <p:nvSpPr>
          <p:cNvPr id="30" name="Shape 28"/>
          <p:cNvSpPr/>
          <p:nvPr/>
        </p:nvSpPr>
        <p:spPr>
          <a:xfrm>
            <a:off x="2834640" y="2898648"/>
            <a:ext cx="36576" cy="841248"/>
          </a:xfrm>
          <a:prstGeom prst="rect">
            <a:avLst/>
          </a:prstGeom>
          <a:solidFill>
            <a:srgbClr val="FFFFFF"/>
          </a:solidFill>
          <a:ln w="12700">
            <a:solidFill>
              <a:srgbClr val="E2E8F0"/>
            </a:solidFill>
            <a:prstDash val="solid"/>
          </a:ln>
        </p:spPr>
        <p:txBody>
          <a:bodyPr/>
          <a:lstStyle/>
          <a:p>
            <a:endParaRPr lang="en-SG"/>
          </a:p>
        </p:txBody>
      </p:sp>
      <p:sp>
        <p:nvSpPr>
          <p:cNvPr id="31" name="Text 29"/>
          <p:cNvSpPr/>
          <p:nvPr/>
        </p:nvSpPr>
        <p:spPr>
          <a:xfrm>
            <a:off x="2971800" y="3493008"/>
            <a:ext cx="5806440" cy="274320"/>
          </a:xfrm>
          <a:prstGeom prst="rect">
            <a:avLst/>
          </a:prstGeom>
          <a:noFill/>
          <a:ln/>
        </p:spPr>
        <p:txBody>
          <a:bodyPr wrap="square" lIns="0" tIns="0" rIns="0" bIns="0" rtlCol="0" anchor="ctr"/>
          <a:lstStyle/>
          <a:p>
            <a:pPr marL="0" indent="0" algn="l">
              <a:buNone/>
            </a:pPr>
            <a:r>
              <a:rPr lang="en-US" sz="1100" i="1" dirty="0">
                <a:solidFill>
                  <a:srgbClr val="F39C12"/>
                </a:solidFill>
                <a:latin typeface="Calibri" pitchFamily="34" charset="0"/>
                <a:ea typeface="Calibri" pitchFamily="34" charset="-122"/>
                <a:cs typeface="Calibri" pitchFamily="34" charset="-120"/>
              </a:rPr>
              <a:t>→ Courts respect honest limitations — they do not respect concealed ones.</a:t>
            </a:r>
            <a:endParaRPr lang="en-US" sz="1100" dirty="0"/>
          </a:p>
        </p:txBody>
      </p:sp>
      <p:sp>
        <p:nvSpPr>
          <p:cNvPr id="32" name="Shape 30"/>
          <p:cNvSpPr/>
          <p:nvPr/>
        </p:nvSpPr>
        <p:spPr>
          <a:xfrm>
            <a:off x="274320" y="3950208"/>
            <a:ext cx="8595360" cy="1024128"/>
          </a:xfrm>
          <a:prstGeom prst="rect">
            <a:avLst/>
          </a:prstGeom>
          <a:solidFill>
            <a:srgbClr val="EEF6FB"/>
          </a:solidFill>
          <a:ln w="12700">
            <a:solidFill>
              <a:srgbClr val="EEF6FB"/>
            </a:solidFill>
            <a:prstDash val="solid"/>
          </a:ln>
          <a:effectLst>
            <a:outerShdw blurRad="76200" dist="25400" dir="8100000" algn="bl" rotWithShape="0">
              <a:srgbClr val="000000">
                <a:alpha val="25000"/>
              </a:srgbClr>
            </a:outerShdw>
          </a:effectLst>
        </p:spPr>
        <p:txBody>
          <a:bodyPr/>
          <a:lstStyle/>
          <a:p>
            <a:endParaRPr lang="en-SG"/>
          </a:p>
        </p:txBody>
      </p:sp>
      <p:sp>
        <p:nvSpPr>
          <p:cNvPr id="33" name="Shape 31"/>
          <p:cNvSpPr/>
          <p:nvPr/>
        </p:nvSpPr>
        <p:spPr>
          <a:xfrm>
            <a:off x="274320" y="3950208"/>
            <a:ext cx="64008" cy="1024128"/>
          </a:xfrm>
          <a:prstGeom prst="rect">
            <a:avLst/>
          </a:prstGeom>
          <a:solidFill>
            <a:srgbClr val="27AE60"/>
          </a:solidFill>
          <a:ln w="12700">
            <a:solidFill>
              <a:srgbClr val="27AE60"/>
            </a:solidFill>
            <a:prstDash val="solid"/>
          </a:ln>
        </p:spPr>
        <p:txBody>
          <a:bodyPr/>
          <a:lstStyle/>
          <a:p>
            <a:endParaRPr lang="en-SG"/>
          </a:p>
        </p:txBody>
      </p:sp>
      <p:sp>
        <p:nvSpPr>
          <p:cNvPr id="34" name="Text 32"/>
          <p:cNvSpPr/>
          <p:nvPr/>
        </p:nvSpPr>
        <p:spPr>
          <a:xfrm>
            <a:off x="475488" y="4023360"/>
            <a:ext cx="2423160" cy="320040"/>
          </a:xfrm>
          <a:prstGeom prst="rect">
            <a:avLst/>
          </a:prstGeom>
          <a:noFill/>
          <a:ln/>
        </p:spPr>
        <p:txBody>
          <a:bodyPr wrap="square" lIns="0" tIns="0" rIns="0" bIns="0" rtlCol="0" anchor="ctr"/>
          <a:lstStyle/>
          <a:p>
            <a:pPr marL="0" indent="0" algn="l">
              <a:buNone/>
            </a:pPr>
            <a:r>
              <a:rPr lang="en-US" sz="1400" b="1" dirty="0">
                <a:solidFill>
                  <a:srgbClr val="27AE60"/>
                </a:solidFill>
                <a:latin typeface="Trebuchet MS" pitchFamily="34" charset="0"/>
                <a:ea typeface="Trebuchet MS" pitchFamily="34" charset="-122"/>
                <a:cs typeface="Trebuchet MS" pitchFamily="34" charset="-120"/>
              </a:rPr>
              <a:t>07  Exhibits &amp; Appendices</a:t>
            </a:r>
            <a:endParaRPr lang="en-US" sz="1400" dirty="0"/>
          </a:p>
        </p:txBody>
      </p:sp>
      <p:sp>
        <p:nvSpPr>
          <p:cNvPr id="35" name="Text 33"/>
          <p:cNvSpPr/>
          <p:nvPr/>
        </p:nvSpPr>
        <p:spPr>
          <a:xfrm>
            <a:off x="2971800" y="4014216"/>
            <a:ext cx="5806440" cy="594360"/>
          </a:xfrm>
          <a:prstGeom prst="rect">
            <a:avLst/>
          </a:prstGeom>
          <a:noFill/>
          <a:ln/>
        </p:spPr>
        <p:txBody>
          <a:bodyPr wrap="square" lIns="0" tIns="0" rIns="0" bIns="0" rtlCol="0" anchor="ctr"/>
          <a:lstStyle/>
          <a:p>
            <a:pPr marL="0" indent="0" algn="l">
              <a:buNone/>
            </a:pPr>
            <a:r>
              <a:rPr lang="en-US" sz="1200" dirty="0">
                <a:solidFill>
                  <a:srgbClr val="1A1A2E"/>
                </a:solidFill>
                <a:latin typeface="Calibri" pitchFamily="34" charset="0"/>
                <a:ea typeface="Calibri" pitchFamily="34" charset="-122"/>
                <a:cs typeface="Calibri" pitchFamily="34" charset="-120"/>
              </a:rPr>
              <a:t>Chain of custody forms, hash logs, tool screenshots, raw data extracts, all supporting documentation. Every exhibit numbered, indexed, and cross-referenced in the report body.</a:t>
            </a:r>
            <a:endParaRPr lang="en-US" sz="1200" dirty="0"/>
          </a:p>
        </p:txBody>
      </p:sp>
      <p:sp>
        <p:nvSpPr>
          <p:cNvPr id="36" name="Shape 34"/>
          <p:cNvSpPr/>
          <p:nvPr/>
        </p:nvSpPr>
        <p:spPr>
          <a:xfrm>
            <a:off x="2834640" y="4041648"/>
            <a:ext cx="36576" cy="841248"/>
          </a:xfrm>
          <a:prstGeom prst="rect">
            <a:avLst/>
          </a:prstGeom>
          <a:solidFill>
            <a:srgbClr val="FFFFFF"/>
          </a:solidFill>
          <a:ln w="12700">
            <a:solidFill>
              <a:srgbClr val="E2E8F0"/>
            </a:solidFill>
            <a:prstDash val="solid"/>
          </a:ln>
        </p:spPr>
        <p:txBody>
          <a:bodyPr/>
          <a:lstStyle/>
          <a:p>
            <a:endParaRPr lang="en-SG"/>
          </a:p>
        </p:txBody>
      </p:sp>
      <p:sp>
        <p:nvSpPr>
          <p:cNvPr id="37" name="Text 35"/>
          <p:cNvSpPr/>
          <p:nvPr/>
        </p:nvSpPr>
        <p:spPr>
          <a:xfrm>
            <a:off x="2971800" y="4636008"/>
            <a:ext cx="5806440" cy="274320"/>
          </a:xfrm>
          <a:prstGeom prst="rect">
            <a:avLst/>
          </a:prstGeom>
          <a:noFill/>
          <a:ln/>
        </p:spPr>
        <p:txBody>
          <a:bodyPr wrap="square" lIns="0" tIns="0" rIns="0" bIns="0" rtlCol="0" anchor="ctr"/>
          <a:lstStyle/>
          <a:p>
            <a:pPr marL="0" indent="0" algn="l">
              <a:buNone/>
            </a:pPr>
            <a:r>
              <a:rPr lang="en-US" sz="1100" i="1" dirty="0">
                <a:solidFill>
                  <a:srgbClr val="27AE60"/>
                </a:solidFill>
                <a:latin typeface="Calibri" pitchFamily="34" charset="0"/>
                <a:ea typeface="Calibri" pitchFamily="34" charset="-122"/>
                <a:cs typeface="Calibri" pitchFamily="34" charset="-120"/>
              </a:rPr>
              <a:t>→ The appendices are what the opposing expert will scrutinise first.</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0A8A8"/>
          </a:solidFill>
          <a:ln w="12700">
            <a:solidFill>
              <a:srgbClr val="00A8A8"/>
            </a:solidFill>
            <a:prstDash val="solid"/>
          </a:ln>
        </p:spPr>
        <p:txBody>
          <a:bodyPr/>
          <a:lstStyle/>
          <a:p>
            <a:endParaRPr lang="en-SG"/>
          </a:p>
        </p:txBody>
      </p:sp>
      <p:sp>
        <p:nvSpPr>
          <p:cNvPr id="3" name="Text 1"/>
          <p:cNvSpPr/>
          <p:nvPr/>
        </p:nvSpPr>
        <p:spPr>
          <a:xfrm>
            <a:off x="365760" y="164592"/>
            <a:ext cx="8412480" cy="594360"/>
          </a:xfrm>
          <a:prstGeom prst="rect">
            <a:avLst/>
          </a:prstGeom>
          <a:noFill/>
          <a:ln/>
        </p:spPr>
        <p:txBody>
          <a:bodyPr wrap="square" lIns="0" tIns="0" rIns="0" bIns="0" rtlCol="0" anchor="ctr"/>
          <a:lstStyle/>
          <a:p>
            <a:pPr marL="0" indent="0" algn="l">
              <a:buNone/>
            </a:pPr>
            <a:r>
              <a:rPr lang="en-US" sz="2200" b="1" dirty="0">
                <a:solidFill>
                  <a:srgbClr val="1A1A2E"/>
                </a:solidFill>
                <a:latin typeface="Trebuchet MS" pitchFamily="34" charset="0"/>
                <a:ea typeface="Trebuchet MS" pitchFamily="34" charset="-122"/>
                <a:cs typeface="Trebuchet MS" pitchFamily="34" charset="-120"/>
              </a:rPr>
              <a:t>Writing Principles — Part 1: Objectivity, Precision &amp; Reproducibility</a:t>
            </a:r>
            <a:endParaRPr lang="en-US" sz="2200" dirty="0"/>
          </a:p>
        </p:txBody>
      </p:sp>
      <p:sp>
        <p:nvSpPr>
          <p:cNvPr id="4" name="Text 2"/>
          <p:cNvSpPr/>
          <p:nvPr/>
        </p:nvSpPr>
        <p:spPr>
          <a:xfrm>
            <a:off x="365760" y="786384"/>
            <a:ext cx="8412480" cy="228600"/>
          </a:xfrm>
          <a:prstGeom prst="rect">
            <a:avLst/>
          </a:prstGeom>
          <a:noFill/>
          <a:ln/>
        </p:spPr>
        <p:txBody>
          <a:bodyPr wrap="square" lIns="0" tIns="0" rIns="0" bIns="0" rtlCol="0" anchor="ctr"/>
          <a:lstStyle/>
          <a:p>
            <a:pPr marL="0" indent="0" algn="l">
              <a:buNone/>
            </a:pPr>
            <a:r>
              <a:rPr lang="en-US" sz="1100" i="1" dirty="0">
                <a:solidFill>
                  <a:srgbClr val="00A8A8"/>
                </a:solidFill>
                <a:latin typeface="Calibri" pitchFamily="34" charset="0"/>
                <a:ea typeface="Calibri" pitchFamily="34" charset="-122"/>
                <a:cs typeface="Calibri" pitchFamily="34" charset="-120"/>
              </a:rPr>
              <a:t>These are professional and legal obligations — not stylistic preferences. Violating them in the report means they were violated in the investigation.</a:t>
            </a:r>
            <a:endParaRPr lang="en-US" sz="1100" dirty="0"/>
          </a:p>
        </p:txBody>
      </p:sp>
      <p:sp>
        <p:nvSpPr>
          <p:cNvPr id="5" name="Shape 3"/>
          <p:cNvSpPr/>
          <p:nvPr/>
        </p:nvSpPr>
        <p:spPr>
          <a:xfrm>
            <a:off x="274320" y="1078992"/>
            <a:ext cx="8595360" cy="1216152"/>
          </a:xfrm>
          <a:prstGeom prst="rect">
            <a:avLst/>
          </a:prstGeom>
          <a:solidFill>
            <a:srgbClr val="EEF6FB"/>
          </a:solidFill>
          <a:ln w="12700">
            <a:solidFill>
              <a:srgbClr val="EEF6FB"/>
            </a:solidFill>
            <a:prstDash val="solid"/>
          </a:ln>
          <a:effectLst>
            <a:outerShdw blurRad="76200" dist="25400" dir="8100000" algn="bl" rotWithShape="0">
              <a:srgbClr val="000000">
                <a:alpha val="25000"/>
              </a:srgbClr>
            </a:outerShdw>
          </a:effectLst>
        </p:spPr>
        <p:txBody>
          <a:bodyPr/>
          <a:lstStyle/>
          <a:p>
            <a:endParaRPr lang="en-SG"/>
          </a:p>
        </p:txBody>
      </p:sp>
      <p:sp>
        <p:nvSpPr>
          <p:cNvPr id="6" name="Shape 4"/>
          <p:cNvSpPr/>
          <p:nvPr/>
        </p:nvSpPr>
        <p:spPr>
          <a:xfrm>
            <a:off x="274320" y="1078992"/>
            <a:ext cx="475488" cy="1216152"/>
          </a:xfrm>
          <a:prstGeom prst="rect">
            <a:avLst/>
          </a:prstGeom>
          <a:solidFill>
            <a:srgbClr val="3A86FF"/>
          </a:solidFill>
          <a:ln w="12700">
            <a:solidFill>
              <a:srgbClr val="3A86FF"/>
            </a:solidFill>
            <a:prstDash val="solid"/>
          </a:ln>
        </p:spPr>
        <p:txBody>
          <a:bodyPr/>
          <a:lstStyle/>
          <a:p>
            <a:endParaRPr lang="en-SG"/>
          </a:p>
        </p:txBody>
      </p:sp>
      <p:sp>
        <p:nvSpPr>
          <p:cNvPr id="7" name="Text 5"/>
          <p:cNvSpPr/>
          <p:nvPr/>
        </p:nvSpPr>
        <p:spPr>
          <a:xfrm>
            <a:off x="274320" y="1078992"/>
            <a:ext cx="475488" cy="1216152"/>
          </a:xfrm>
          <a:prstGeom prst="rect">
            <a:avLst/>
          </a:prstGeom>
          <a:noFill/>
          <a:ln/>
        </p:spPr>
        <p:txBody>
          <a:bodyPr wrap="square" lIns="0" tIns="0" rIns="0" bIns="0" rtlCol="0" anchor="ctr"/>
          <a:lstStyle/>
          <a:p>
            <a:pPr marL="0" indent="0" algn="ctr">
              <a:buNone/>
            </a:pPr>
            <a:r>
              <a:rPr lang="en-US" sz="3000" b="1" dirty="0">
                <a:solidFill>
                  <a:srgbClr val="0D1B2A"/>
                </a:solidFill>
                <a:latin typeface="Trebuchet MS" pitchFamily="34" charset="0"/>
                <a:ea typeface="Trebuchet MS" pitchFamily="34" charset="-122"/>
                <a:cs typeface="Trebuchet MS" pitchFamily="34" charset="-120"/>
              </a:rPr>
              <a:t>1</a:t>
            </a:r>
            <a:endParaRPr lang="en-US" sz="3000" dirty="0"/>
          </a:p>
        </p:txBody>
      </p:sp>
      <p:sp>
        <p:nvSpPr>
          <p:cNvPr id="8" name="Text 6"/>
          <p:cNvSpPr/>
          <p:nvPr/>
        </p:nvSpPr>
        <p:spPr>
          <a:xfrm>
            <a:off x="877824" y="1143000"/>
            <a:ext cx="2606040" cy="320040"/>
          </a:xfrm>
          <a:prstGeom prst="rect">
            <a:avLst/>
          </a:prstGeom>
          <a:noFill/>
          <a:ln/>
        </p:spPr>
        <p:txBody>
          <a:bodyPr wrap="square" lIns="0" tIns="0" rIns="0" bIns="0" rtlCol="0" anchor="ctr"/>
          <a:lstStyle/>
          <a:p>
            <a:pPr marL="0" indent="0" algn="l">
              <a:buNone/>
            </a:pPr>
            <a:r>
              <a:rPr lang="en-US" sz="1500" b="1" dirty="0">
                <a:solidFill>
                  <a:srgbClr val="3A86FF"/>
                </a:solidFill>
                <a:latin typeface="Trebuchet MS" pitchFamily="34" charset="0"/>
                <a:ea typeface="Trebuchet MS" pitchFamily="34" charset="-122"/>
                <a:cs typeface="Trebuchet MS" pitchFamily="34" charset="-120"/>
              </a:rPr>
              <a:t>Objectivity</a:t>
            </a:r>
            <a:endParaRPr lang="en-US" sz="1500" dirty="0"/>
          </a:p>
        </p:txBody>
      </p:sp>
      <p:sp>
        <p:nvSpPr>
          <p:cNvPr id="9" name="Text 7"/>
          <p:cNvSpPr/>
          <p:nvPr/>
        </p:nvSpPr>
        <p:spPr>
          <a:xfrm>
            <a:off x="877824" y="1481328"/>
            <a:ext cx="2606040" cy="731520"/>
          </a:xfrm>
          <a:prstGeom prst="rect">
            <a:avLst/>
          </a:prstGeom>
          <a:noFill/>
          <a:ln/>
        </p:spPr>
        <p:txBody>
          <a:bodyPr wrap="square" lIns="0" tIns="0" rIns="0" bIns="0" rtlCol="0" anchor="ctr"/>
          <a:lstStyle/>
          <a:p>
            <a:pPr marL="0" indent="0" algn="l">
              <a:buNone/>
            </a:pPr>
            <a:r>
              <a:rPr lang="en-US" sz="1150" dirty="0">
                <a:solidFill>
                  <a:srgbClr val="1A1A2E"/>
                </a:solidFill>
                <a:latin typeface="Calibri" pitchFamily="34" charset="0"/>
                <a:ea typeface="Calibri" pitchFamily="34" charset="-122"/>
                <a:cs typeface="Calibri" pitchFamily="34" charset="-120"/>
              </a:rPr>
              <a:t>Report only what the evidence shows. Present both inculpatory AND exculpatory findings equally. Confirmation bias is the most common and most dangerous examiner error.</a:t>
            </a:r>
            <a:endParaRPr lang="en-US" sz="1150" dirty="0"/>
          </a:p>
        </p:txBody>
      </p:sp>
      <p:sp>
        <p:nvSpPr>
          <p:cNvPr id="10" name="Shape 8"/>
          <p:cNvSpPr/>
          <p:nvPr/>
        </p:nvSpPr>
        <p:spPr>
          <a:xfrm>
            <a:off x="3547872" y="1188720"/>
            <a:ext cx="36576" cy="996696"/>
          </a:xfrm>
          <a:prstGeom prst="rect">
            <a:avLst/>
          </a:prstGeom>
          <a:solidFill>
            <a:srgbClr val="FFFFFF"/>
          </a:solidFill>
          <a:ln w="12700">
            <a:solidFill>
              <a:srgbClr val="E2E8F0"/>
            </a:solidFill>
            <a:prstDash val="solid"/>
          </a:ln>
        </p:spPr>
        <p:txBody>
          <a:bodyPr/>
          <a:lstStyle/>
          <a:p>
            <a:endParaRPr lang="en-SG"/>
          </a:p>
        </p:txBody>
      </p:sp>
      <p:pic>
        <p:nvPicPr>
          <p:cNvPr id="11" name="Image 0" descr="preencoded.png"/>
          <p:cNvPicPr>
            <a:picLocks noChangeAspect="1"/>
          </p:cNvPicPr>
          <p:nvPr/>
        </p:nvPicPr>
        <p:blipFill>
          <a:blip r:embed="rId3"/>
          <a:stretch>
            <a:fillRect/>
          </a:stretch>
        </p:blipFill>
        <p:spPr>
          <a:xfrm>
            <a:off x="3675888" y="1170432"/>
            <a:ext cx="219456" cy="219456"/>
          </a:xfrm>
          <a:prstGeom prst="rect">
            <a:avLst/>
          </a:prstGeom>
        </p:spPr>
      </p:pic>
      <p:sp>
        <p:nvSpPr>
          <p:cNvPr id="12" name="Text 9"/>
          <p:cNvSpPr/>
          <p:nvPr/>
        </p:nvSpPr>
        <p:spPr>
          <a:xfrm>
            <a:off x="3931920" y="1161288"/>
            <a:ext cx="914400" cy="201168"/>
          </a:xfrm>
          <a:prstGeom prst="rect">
            <a:avLst/>
          </a:prstGeom>
          <a:noFill/>
          <a:ln/>
        </p:spPr>
        <p:txBody>
          <a:bodyPr wrap="square" lIns="0" tIns="0" rIns="0" bIns="0" rtlCol="0" anchor="ctr"/>
          <a:lstStyle/>
          <a:p>
            <a:pPr marL="0" indent="0">
              <a:buNone/>
            </a:pPr>
            <a:r>
              <a:rPr lang="en-US" sz="900" b="1" dirty="0">
                <a:solidFill>
                  <a:srgbClr val="E74C3C"/>
                </a:solidFill>
                <a:latin typeface="Calibri" pitchFamily="34" charset="0"/>
                <a:ea typeface="Calibri" pitchFamily="34" charset="-122"/>
                <a:cs typeface="Calibri" pitchFamily="34" charset="-120"/>
              </a:rPr>
              <a:t>POOR</a:t>
            </a:r>
            <a:endParaRPr lang="en-US" sz="900" dirty="0"/>
          </a:p>
        </p:txBody>
      </p:sp>
      <p:sp>
        <p:nvSpPr>
          <p:cNvPr id="13" name="Text 10"/>
          <p:cNvSpPr/>
          <p:nvPr/>
        </p:nvSpPr>
        <p:spPr>
          <a:xfrm>
            <a:off x="3675888" y="1399032"/>
            <a:ext cx="2377440" cy="768096"/>
          </a:xfrm>
          <a:prstGeom prst="rect">
            <a:avLst/>
          </a:prstGeom>
          <a:noFill/>
          <a:ln/>
        </p:spPr>
        <p:txBody>
          <a:bodyPr wrap="square" lIns="0" tIns="0" rIns="0" bIns="0" rtlCol="0" anchor="ctr"/>
          <a:lstStyle/>
          <a:p>
            <a:pPr marL="0" indent="0" algn="l">
              <a:buNone/>
            </a:pPr>
            <a:r>
              <a:rPr lang="en-US" sz="1000" i="1" dirty="0">
                <a:solidFill>
                  <a:srgbClr val="E74C3C"/>
                </a:solidFill>
                <a:latin typeface="Courier New" pitchFamily="34" charset="0"/>
                <a:ea typeface="Courier New" pitchFamily="34" charset="-122"/>
                <a:cs typeface="Courier New" pitchFamily="34" charset="-120"/>
              </a:rPr>
              <a:t>"The suspect clearly accessed the files and attempted to delete them."</a:t>
            </a:r>
            <a:endParaRPr lang="en-US" sz="1000" dirty="0"/>
          </a:p>
        </p:txBody>
      </p:sp>
      <p:pic>
        <p:nvPicPr>
          <p:cNvPr id="14" name="Image 1" descr="preencoded.png"/>
          <p:cNvPicPr>
            <a:picLocks noChangeAspect="1"/>
          </p:cNvPicPr>
          <p:nvPr/>
        </p:nvPicPr>
        <p:blipFill>
          <a:blip r:embed="rId4"/>
          <a:stretch>
            <a:fillRect/>
          </a:stretch>
        </p:blipFill>
        <p:spPr>
          <a:xfrm>
            <a:off x="6126480" y="1170432"/>
            <a:ext cx="219456" cy="219456"/>
          </a:xfrm>
          <a:prstGeom prst="rect">
            <a:avLst/>
          </a:prstGeom>
        </p:spPr>
      </p:pic>
      <p:sp>
        <p:nvSpPr>
          <p:cNvPr id="15" name="Text 11"/>
          <p:cNvSpPr/>
          <p:nvPr/>
        </p:nvSpPr>
        <p:spPr>
          <a:xfrm>
            <a:off x="6382512" y="1161288"/>
            <a:ext cx="914400" cy="201168"/>
          </a:xfrm>
          <a:prstGeom prst="rect">
            <a:avLst/>
          </a:prstGeom>
          <a:noFill/>
          <a:ln/>
        </p:spPr>
        <p:txBody>
          <a:bodyPr wrap="square" lIns="0" tIns="0" rIns="0" bIns="0" rtlCol="0" anchor="ctr"/>
          <a:lstStyle/>
          <a:p>
            <a:pPr marL="0" indent="0">
              <a:buNone/>
            </a:pPr>
            <a:r>
              <a:rPr lang="en-US" sz="900" b="1" dirty="0">
                <a:solidFill>
                  <a:srgbClr val="27AE60"/>
                </a:solidFill>
                <a:latin typeface="Calibri" pitchFamily="34" charset="0"/>
                <a:ea typeface="Calibri" pitchFamily="34" charset="-122"/>
                <a:cs typeface="Calibri" pitchFamily="34" charset="-120"/>
              </a:rPr>
              <a:t>GOOD</a:t>
            </a:r>
            <a:endParaRPr lang="en-US" sz="900" dirty="0"/>
          </a:p>
        </p:txBody>
      </p:sp>
      <p:sp>
        <p:nvSpPr>
          <p:cNvPr id="16" name="Text 12"/>
          <p:cNvSpPr/>
          <p:nvPr/>
        </p:nvSpPr>
        <p:spPr>
          <a:xfrm>
            <a:off x="6126480" y="1399032"/>
            <a:ext cx="2615184" cy="804672"/>
          </a:xfrm>
          <a:prstGeom prst="rect">
            <a:avLst/>
          </a:prstGeom>
          <a:noFill/>
          <a:ln/>
        </p:spPr>
        <p:txBody>
          <a:bodyPr wrap="square" lIns="0" tIns="0" rIns="0" bIns="0" rtlCol="0" anchor="ctr"/>
          <a:lstStyle/>
          <a:p>
            <a:pPr marL="0" indent="0" algn="l">
              <a:buNone/>
            </a:pPr>
            <a:r>
              <a:rPr lang="en-US" sz="1000" i="1" dirty="0">
                <a:solidFill>
                  <a:srgbClr val="27AE60"/>
                </a:solidFill>
                <a:latin typeface="Courier New" pitchFamily="34" charset="0"/>
                <a:ea typeface="Courier New" pitchFamily="34" charset="-122"/>
                <a:cs typeface="Courier New" pitchFamily="34" charset="-120"/>
              </a:rPr>
              <a:t>"Files last accessed by account jsmith on 10 Mar 2025 at 14:32 UTC. Three files moved to Recycle Bin at 14:38 UTC per $I30 index entries."</a:t>
            </a:r>
            <a:endParaRPr lang="en-US" sz="1000" dirty="0"/>
          </a:p>
        </p:txBody>
      </p:sp>
      <p:sp>
        <p:nvSpPr>
          <p:cNvPr id="17" name="Shape 13"/>
          <p:cNvSpPr/>
          <p:nvPr/>
        </p:nvSpPr>
        <p:spPr>
          <a:xfrm>
            <a:off x="274320" y="2414016"/>
            <a:ext cx="8595360" cy="1216152"/>
          </a:xfrm>
          <a:prstGeom prst="rect">
            <a:avLst/>
          </a:prstGeom>
          <a:solidFill>
            <a:srgbClr val="EEF6FB"/>
          </a:solidFill>
          <a:ln w="12700">
            <a:solidFill>
              <a:srgbClr val="EEF6FB"/>
            </a:solidFill>
            <a:prstDash val="solid"/>
          </a:ln>
          <a:effectLst>
            <a:outerShdw blurRad="76200" dist="25400" dir="8100000" algn="bl" rotWithShape="0">
              <a:srgbClr val="000000">
                <a:alpha val="25000"/>
              </a:srgbClr>
            </a:outerShdw>
          </a:effectLst>
        </p:spPr>
        <p:txBody>
          <a:bodyPr/>
          <a:lstStyle/>
          <a:p>
            <a:endParaRPr lang="en-SG"/>
          </a:p>
        </p:txBody>
      </p:sp>
      <p:sp>
        <p:nvSpPr>
          <p:cNvPr id="18" name="Shape 14"/>
          <p:cNvSpPr/>
          <p:nvPr/>
        </p:nvSpPr>
        <p:spPr>
          <a:xfrm>
            <a:off x="274320" y="2414016"/>
            <a:ext cx="475488" cy="1216152"/>
          </a:xfrm>
          <a:prstGeom prst="rect">
            <a:avLst/>
          </a:prstGeom>
          <a:solidFill>
            <a:srgbClr val="00A8A8"/>
          </a:solidFill>
          <a:ln w="12700">
            <a:solidFill>
              <a:srgbClr val="00A8A8"/>
            </a:solidFill>
            <a:prstDash val="solid"/>
          </a:ln>
        </p:spPr>
        <p:txBody>
          <a:bodyPr/>
          <a:lstStyle/>
          <a:p>
            <a:endParaRPr lang="en-SG"/>
          </a:p>
        </p:txBody>
      </p:sp>
      <p:sp>
        <p:nvSpPr>
          <p:cNvPr id="19" name="Text 15"/>
          <p:cNvSpPr/>
          <p:nvPr/>
        </p:nvSpPr>
        <p:spPr>
          <a:xfrm>
            <a:off x="274320" y="2414016"/>
            <a:ext cx="475488" cy="1216152"/>
          </a:xfrm>
          <a:prstGeom prst="rect">
            <a:avLst/>
          </a:prstGeom>
          <a:noFill/>
          <a:ln/>
        </p:spPr>
        <p:txBody>
          <a:bodyPr wrap="square" lIns="0" tIns="0" rIns="0" bIns="0" rtlCol="0" anchor="ctr"/>
          <a:lstStyle/>
          <a:p>
            <a:pPr marL="0" indent="0" algn="ctr">
              <a:buNone/>
            </a:pPr>
            <a:r>
              <a:rPr lang="en-US" sz="3000" b="1" dirty="0">
                <a:solidFill>
                  <a:srgbClr val="0D1B2A"/>
                </a:solidFill>
                <a:latin typeface="Trebuchet MS" pitchFamily="34" charset="0"/>
                <a:ea typeface="Trebuchet MS" pitchFamily="34" charset="-122"/>
                <a:cs typeface="Trebuchet MS" pitchFamily="34" charset="-120"/>
              </a:rPr>
              <a:t>2</a:t>
            </a:r>
            <a:endParaRPr lang="en-US" sz="3000" dirty="0"/>
          </a:p>
        </p:txBody>
      </p:sp>
      <p:sp>
        <p:nvSpPr>
          <p:cNvPr id="20" name="Text 16"/>
          <p:cNvSpPr/>
          <p:nvPr/>
        </p:nvSpPr>
        <p:spPr>
          <a:xfrm>
            <a:off x="877824" y="2478024"/>
            <a:ext cx="2606040" cy="320040"/>
          </a:xfrm>
          <a:prstGeom prst="rect">
            <a:avLst/>
          </a:prstGeom>
          <a:noFill/>
          <a:ln/>
        </p:spPr>
        <p:txBody>
          <a:bodyPr wrap="square" lIns="0" tIns="0" rIns="0" bIns="0" rtlCol="0" anchor="ctr"/>
          <a:lstStyle/>
          <a:p>
            <a:pPr marL="0" indent="0" algn="l">
              <a:buNone/>
            </a:pPr>
            <a:r>
              <a:rPr lang="en-US" sz="1500" b="1" dirty="0">
                <a:solidFill>
                  <a:srgbClr val="00A8A8"/>
                </a:solidFill>
                <a:latin typeface="Trebuchet MS" pitchFamily="34" charset="0"/>
                <a:ea typeface="Trebuchet MS" pitchFamily="34" charset="-122"/>
                <a:cs typeface="Trebuchet MS" pitchFamily="34" charset="-120"/>
              </a:rPr>
              <a:t>Precision</a:t>
            </a:r>
            <a:endParaRPr lang="en-US" sz="1500" dirty="0"/>
          </a:p>
        </p:txBody>
      </p:sp>
      <p:sp>
        <p:nvSpPr>
          <p:cNvPr id="21" name="Text 17"/>
          <p:cNvSpPr/>
          <p:nvPr/>
        </p:nvSpPr>
        <p:spPr>
          <a:xfrm>
            <a:off x="877824" y="2816352"/>
            <a:ext cx="2606040" cy="731520"/>
          </a:xfrm>
          <a:prstGeom prst="rect">
            <a:avLst/>
          </a:prstGeom>
          <a:noFill/>
          <a:ln/>
        </p:spPr>
        <p:txBody>
          <a:bodyPr wrap="square" lIns="0" tIns="0" rIns="0" bIns="0" rtlCol="0" anchor="ctr"/>
          <a:lstStyle/>
          <a:p>
            <a:pPr marL="0" indent="0" algn="l">
              <a:buNone/>
            </a:pPr>
            <a:r>
              <a:rPr lang="en-US" sz="1150" dirty="0">
                <a:solidFill>
                  <a:srgbClr val="1A1A2E"/>
                </a:solidFill>
                <a:latin typeface="Calibri" pitchFamily="34" charset="0"/>
                <a:ea typeface="Calibri" pitchFamily="34" charset="-122"/>
                <a:cs typeface="Calibri" pitchFamily="34" charset="-120"/>
              </a:rPr>
              <a:t>Every factual statement must be specific, dated, and sourced to a named artefact. Vague terms ('recently', 'frequently', 'possibly') will be exploited by defence counsel.</a:t>
            </a:r>
            <a:endParaRPr lang="en-US" sz="1150" dirty="0"/>
          </a:p>
        </p:txBody>
      </p:sp>
      <p:sp>
        <p:nvSpPr>
          <p:cNvPr id="22" name="Shape 18"/>
          <p:cNvSpPr/>
          <p:nvPr/>
        </p:nvSpPr>
        <p:spPr>
          <a:xfrm>
            <a:off x="3547872" y="2523744"/>
            <a:ext cx="36576" cy="996696"/>
          </a:xfrm>
          <a:prstGeom prst="rect">
            <a:avLst/>
          </a:prstGeom>
          <a:solidFill>
            <a:srgbClr val="FFFFFF"/>
          </a:solidFill>
          <a:ln w="12700">
            <a:solidFill>
              <a:srgbClr val="E2E8F0"/>
            </a:solidFill>
            <a:prstDash val="solid"/>
          </a:ln>
        </p:spPr>
        <p:txBody>
          <a:bodyPr/>
          <a:lstStyle/>
          <a:p>
            <a:endParaRPr lang="en-SG"/>
          </a:p>
        </p:txBody>
      </p:sp>
      <p:pic>
        <p:nvPicPr>
          <p:cNvPr id="23" name="Image 2" descr="preencoded.png"/>
          <p:cNvPicPr>
            <a:picLocks noChangeAspect="1"/>
          </p:cNvPicPr>
          <p:nvPr/>
        </p:nvPicPr>
        <p:blipFill>
          <a:blip r:embed="rId3"/>
          <a:stretch>
            <a:fillRect/>
          </a:stretch>
        </p:blipFill>
        <p:spPr>
          <a:xfrm>
            <a:off x="3675888" y="2505456"/>
            <a:ext cx="219456" cy="219456"/>
          </a:xfrm>
          <a:prstGeom prst="rect">
            <a:avLst/>
          </a:prstGeom>
        </p:spPr>
      </p:pic>
      <p:sp>
        <p:nvSpPr>
          <p:cNvPr id="24" name="Text 19"/>
          <p:cNvSpPr/>
          <p:nvPr/>
        </p:nvSpPr>
        <p:spPr>
          <a:xfrm>
            <a:off x="3931920" y="2496312"/>
            <a:ext cx="914400" cy="201168"/>
          </a:xfrm>
          <a:prstGeom prst="rect">
            <a:avLst/>
          </a:prstGeom>
          <a:noFill/>
          <a:ln/>
        </p:spPr>
        <p:txBody>
          <a:bodyPr wrap="square" lIns="0" tIns="0" rIns="0" bIns="0" rtlCol="0" anchor="ctr"/>
          <a:lstStyle/>
          <a:p>
            <a:pPr marL="0" indent="0">
              <a:buNone/>
            </a:pPr>
            <a:r>
              <a:rPr lang="en-US" sz="900" b="1" dirty="0">
                <a:solidFill>
                  <a:srgbClr val="E74C3C"/>
                </a:solidFill>
                <a:latin typeface="Calibri" pitchFamily="34" charset="0"/>
                <a:ea typeface="Calibri" pitchFamily="34" charset="-122"/>
                <a:cs typeface="Calibri" pitchFamily="34" charset="-120"/>
              </a:rPr>
              <a:t>POOR</a:t>
            </a:r>
            <a:endParaRPr lang="en-US" sz="900" dirty="0"/>
          </a:p>
        </p:txBody>
      </p:sp>
      <p:sp>
        <p:nvSpPr>
          <p:cNvPr id="25" name="Text 20"/>
          <p:cNvSpPr/>
          <p:nvPr/>
        </p:nvSpPr>
        <p:spPr>
          <a:xfrm>
            <a:off x="3675888" y="2734056"/>
            <a:ext cx="2377440" cy="768096"/>
          </a:xfrm>
          <a:prstGeom prst="rect">
            <a:avLst/>
          </a:prstGeom>
          <a:noFill/>
          <a:ln/>
        </p:spPr>
        <p:txBody>
          <a:bodyPr wrap="square" lIns="0" tIns="0" rIns="0" bIns="0" rtlCol="0" anchor="ctr"/>
          <a:lstStyle/>
          <a:p>
            <a:pPr marL="0" indent="0" algn="l">
              <a:buNone/>
            </a:pPr>
            <a:r>
              <a:rPr lang="en-US" sz="1000" i="1" dirty="0">
                <a:solidFill>
                  <a:srgbClr val="E74C3C"/>
                </a:solidFill>
                <a:latin typeface="Courier New" pitchFamily="34" charset="0"/>
                <a:ea typeface="Courier New" pitchFamily="34" charset="-122"/>
                <a:cs typeface="Courier New" pitchFamily="34" charset="-120"/>
              </a:rPr>
              <a:t>"The file was recently modified and may have been accessed multiple times."</a:t>
            </a:r>
            <a:endParaRPr lang="en-US" sz="1000" dirty="0"/>
          </a:p>
        </p:txBody>
      </p:sp>
      <p:pic>
        <p:nvPicPr>
          <p:cNvPr id="26" name="Image 3" descr="preencoded.png"/>
          <p:cNvPicPr>
            <a:picLocks noChangeAspect="1"/>
          </p:cNvPicPr>
          <p:nvPr/>
        </p:nvPicPr>
        <p:blipFill>
          <a:blip r:embed="rId4"/>
          <a:stretch>
            <a:fillRect/>
          </a:stretch>
        </p:blipFill>
        <p:spPr>
          <a:xfrm>
            <a:off x="6126480" y="2505456"/>
            <a:ext cx="219456" cy="219456"/>
          </a:xfrm>
          <a:prstGeom prst="rect">
            <a:avLst/>
          </a:prstGeom>
        </p:spPr>
      </p:pic>
      <p:sp>
        <p:nvSpPr>
          <p:cNvPr id="27" name="Text 21"/>
          <p:cNvSpPr/>
          <p:nvPr/>
        </p:nvSpPr>
        <p:spPr>
          <a:xfrm>
            <a:off x="6382512" y="2496312"/>
            <a:ext cx="914400" cy="201168"/>
          </a:xfrm>
          <a:prstGeom prst="rect">
            <a:avLst/>
          </a:prstGeom>
          <a:noFill/>
          <a:ln/>
        </p:spPr>
        <p:txBody>
          <a:bodyPr wrap="square" lIns="0" tIns="0" rIns="0" bIns="0" rtlCol="0" anchor="ctr"/>
          <a:lstStyle/>
          <a:p>
            <a:pPr marL="0" indent="0">
              <a:buNone/>
            </a:pPr>
            <a:r>
              <a:rPr lang="en-US" sz="900" b="1" dirty="0">
                <a:solidFill>
                  <a:srgbClr val="27AE60"/>
                </a:solidFill>
                <a:latin typeface="Calibri" pitchFamily="34" charset="0"/>
                <a:ea typeface="Calibri" pitchFamily="34" charset="-122"/>
                <a:cs typeface="Calibri" pitchFamily="34" charset="-120"/>
              </a:rPr>
              <a:t>GOOD</a:t>
            </a:r>
            <a:endParaRPr lang="en-US" sz="900" dirty="0"/>
          </a:p>
        </p:txBody>
      </p:sp>
      <p:sp>
        <p:nvSpPr>
          <p:cNvPr id="28" name="Text 22"/>
          <p:cNvSpPr/>
          <p:nvPr/>
        </p:nvSpPr>
        <p:spPr>
          <a:xfrm>
            <a:off x="6126480" y="2734056"/>
            <a:ext cx="2615184" cy="804672"/>
          </a:xfrm>
          <a:prstGeom prst="rect">
            <a:avLst/>
          </a:prstGeom>
          <a:noFill/>
          <a:ln/>
        </p:spPr>
        <p:txBody>
          <a:bodyPr wrap="square" lIns="0" tIns="0" rIns="0" bIns="0" rtlCol="0" anchor="ctr"/>
          <a:lstStyle/>
          <a:p>
            <a:pPr marL="0" indent="0" algn="l">
              <a:buNone/>
            </a:pPr>
            <a:r>
              <a:rPr lang="en-US" sz="1000" i="1" dirty="0">
                <a:solidFill>
                  <a:srgbClr val="27AE60"/>
                </a:solidFill>
                <a:latin typeface="Courier New" pitchFamily="34" charset="0"/>
                <a:ea typeface="Courier New" pitchFamily="34" charset="-122"/>
                <a:cs typeface="Courier New" pitchFamily="34" charset="-120"/>
              </a:rPr>
              <a:t>"File modified 10 Mar 2025 at 14:32:17 UTC per $STANDARD_INFORMATION attribute. Access timestamp: 14:32:21 UTC."</a:t>
            </a:r>
            <a:endParaRPr lang="en-US" sz="1000" dirty="0"/>
          </a:p>
        </p:txBody>
      </p:sp>
      <p:sp>
        <p:nvSpPr>
          <p:cNvPr id="29" name="Shape 23"/>
          <p:cNvSpPr/>
          <p:nvPr/>
        </p:nvSpPr>
        <p:spPr>
          <a:xfrm>
            <a:off x="274320" y="3749040"/>
            <a:ext cx="8595360" cy="1216152"/>
          </a:xfrm>
          <a:prstGeom prst="rect">
            <a:avLst/>
          </a:prstGeom>
          <a:solidFill>
            <a:srgbClr val="EEF6FB"/>
          </a:solidFill>
          <a:ln w="12700">
            <a:solidFill>
              <a:srgbClr val="EEF6FB"/>
            </a:solidFill>
            <a:prstDash val="solid"/>
          </a:ln>
          <a:effectLst>
            <a:outerShdw blurRad="76200" dist="25400" dir="8100000" algn="bl" rotWithShape="0">
              <a:srgbClr val="000000">
                <a:alpha val="25000"/>
              </a:srgbClr>
            </a:outerShdw>
          </a:effectLst>
        </p:spPr>
        <p:txBody>
          <a:bodyPr/>
          <a:lstStyle/>
          <a:p>
            <a:endParaRPr lang="en-SG"/>
          </a:p>
        </p:txBody>
      </p:sp>
      <p:sp>
        <p:nvSpPr>
          <p:cNvPr id="30" name="Shape 24"/>
          <p:cNvSpPr/>
          <p:nvPr/>
        </p:nvSpPr>
        <p:spPr>
          <a:xfrm>
            <a:off x="274320" y="3749040"/>
            <a:ext cx="475488" cy="1216152"/>
          </a:xfrm>
          <a:prstGeom prst="rect">
            <a:avLst/>
          </a:prstGeom>
          <a:solidFill>
            <a:srgbClr val="27AE60"/>
          </a:solidFill>
          <a:ln w="12700">
            <a:solidFill>
              <a:srgbClr val="27AE60"/>
            </a:solidFill>
            <a:prstDash val="solid"/>
          </a:ln>
        </p:spPr>
        <p:txBody>
          <a:bodyPr/>
          <a:lstStyle/>
          <a:p>
            <a:endParaRPr lang="en-SG"/>
          </a:p>
        </p:txBody>
      </p:sp>
      <p:sp>
        <p:nvSpPr>
          <p:cNvPr id="31" name="Text 25"/>
          <p:cNvSpPr/>
          <p:nvPr/>
        </p:nvSpPr>
        <p:spPr>
          <a:xfrm>
            <a:off x="274320" y="3749040"/>
            <a:ext cx="475488" cy="1216152"/>
          </a:xfrm>
          <a:prstGeom prst="rect">
            <a:avLst/>
          </a:prstGeom>
          <a:noFill/>
          <a:ln/>
        </p:spPr>
        <p:txBody>
          <a:bodyPr wrap="square" lIns="0" tIns="0" rIns="0" bIns="0" rtlCol="0" anchor="ctr"/>
          <a:lstStyle/>
          <a:p>
            <a:pPr marL="0" indent="0" algn="ctr">
              <a:buNone/>
            </a:pPr>
            <a:r>
              <a:rPr lang="en-US" sz="3000" b="1" dirty="0">
                <a:solidFill>
                  <a:srgbClr val="0D1B2A"/>
                </a:solidFill>
                <a:latin typeface="Trebuchet MS" pitchFamily="34" charset="0"/>
                <a:ea typeface="Trebuchet MS" pitchFamily="34" charset="-122"/>
                <a:cs typeface="Trebuchet MS" pitchFamily="34" charset="-120"/>
              </a:rPr>
              <a:t>3</a:t>
            </a:r>
            <a:endParaRPr lang="en-US" sz="3000" dirty="0"/>
          </a:p>
        </p:txBody>
      </p:sp>
      <p:sp>
        <p:nvSpPr>
          <p:cNvPr id="32" name="Text 26"/>
          <p:cNvSpPr/>
          <p:nvPr/>
        </p:nvSpPr>
        <p:spPr>
          <a:xfrm>
            <a:off x="877824" y="3813048"/>
            <a:ext cx="2606040" cy="320040"/>
          </a:xfrm>
          <a:prstGeom prst="rect">
            <a:avLst/>
          </a:prstGeom>
          <a:noFill/>
          <a:ln/>
        </p:spPr>
        <p:txBody>
          <a:bodyPr wrap="square" lIns="0" tIns="0" rIns="0" bIns="0" rtlCol="0" anchor="ctr"/>
          <a:lstStyle/>
          <a:p>
            <a:pPr marL="0" indent="0" algn="l">
              <a:buNone/>
            </a:pPr>
            <a:r>
              <a:rPr lang="en-US" sz="1500" b="1" dirty="0">
                <a:solidFill>
                  <a:srgbClr val="27AE60"/>
                </a:solidFill>
                <a:latin typeface="Trebuchet MS" pitchFamily="34" charset="0"/>
                <a:ea typeface="Trebuchet MS" pitchFamily="34" charset="-122"/>
                <a:cs typeface="Trebuchet MS" pitchFamily="34" charset="-120"/>
              </a:rPr>
              <a:t>Reproducibility</a:t>
            </a:r>
            <a:endParaRPr lang="en-US" sz="1500" dirty="0"/>
          </a:p>
        </p:txBody>
      </p:sp>
      <p:sp>
        <p:nvSpPr>
          <p:cNvPr id="33" name="Text 27"/>
          <p:cNvSpPr/>
          <p:nvPr/>
        </p:nvSpPr>
        <p:spPr>
          <a:xfrm>
            <a:off x="877824" y="4151376"/>
            <a:ext cx="2606040" cy="731520"/>
          </a:xfrm>
          <a:prstGeom prst="rect">
            <a:avLst/>
          </a:prstGeom>
          <a:noFill/>
          <a:ln/>
        </p:spPr>
        <p:txBody>
          <a:bodyPr wrap="square" lIns="0" tIns="0" rIns="0" bIns="0" rtlCol="0" anchor="ctr"/>
          <a:lstStyle/>
          <a:p>
            <a:pPr marL="0" indent="0" algn="l">
              <a:buNone/>
            </a:pPr>
            <a:r>
              <a:rPr lang="en-US" sz="1150" dirty="0">
                <a:solidFill>
                  <a:srgbClr val="1A1A2E"/>
                </a:solidFill>
                <a:latin typeface="Calibri" pitchFamily="34" charset="0"/>
                <a:ea typeface="Calibri" pitchFamily="34" charset="-122"/>
                <a:cs typeface="Calibri" pitchFamily="34" charset="-120"/>
              </a:rPr>
              <a:t>A second competent examiner, given the same forensic image and your documented methodology, must independently reach the same findings. Document every tool, version, and decision.</a:t>
            </a:r>
            <a:endParaRPr lang="en-US" sz="1150" dirty="0"/>
          </a:p>
        </p:txBody>
      </p:sp>
      <p:sp>
        <p:nvSpPr>
          <p:cNvPr id="34" name="Shape 28"/>
          <p:cNvSpPr/>
          <p:nvPr/>
        </p:nvSpPr>
        <p:spPr>
          <a:xfrm>
            <a:off x="3547872" y="3858768"/>
            <a:ext cx="36576" cy="996696"/>
          </a:xfrm>
          <a:prstGeom prst="rect">
            <a:avLst/>
          </a:prstGeom>
          <a:solidFill>
            <a:srgbClr val="FFFFFF"/>
          </a:solidFill>
          <a:ln w="12700">
            <a:solidFill>
              <a:srgbClr val="E2E8F0"/>
            </a:solidFill>
            <a:prstDash val="solid"/>
          </a:ln>
        </p:spPr>
        <p:txBody>
          <a:bodyPr/>
          <a:lstStyle/>
          <a:p>
            <a:endParaRPr lang="en-SG"/>
          </a:p>
        </p:txBody>
      </p:sp>
      <p:pic>
        <p:nvPicPr>
          <p:cNvPr id="35" name="Image 4" descr="preencoded.png"/>
          <p:cNvPicPr>
            <a:picLocks noChangeAspect="1"/>
          </p:cNvPicPr>
          <p:nvPr/>
        </p:nvPicPr>
        <p:blipFill>
          <a:blip r:embed="rId3"/>
          <a:stretch>
            <a:fillRect/>
          </a:stretch>
        </p:blipFill>
        <p:spPr>
          <a:xfrm>
            <a:off x="3675888" y="3840480"/>
            <a:ext cx="219456" cy="219456"/>
          </a:xfrm>
          <a:prstGeom prst="rect">
            <a:avLst/>
          </a:prstGeom>
        </p:spPr>
      </p:pic>
      <p:sp>
        <p:nvSpPr>
          <p:cNvPr id="36" name="Text 29"/>
          <p:cNvSpPr/>
          <p:nvPr/>
        </p:nvSpPr>
        <p:spPr>
          <a:xfrm>
            <a:off x="3931920" y="3831336"/>
            <a:ext cx="914400" cy="201168"/>
          </a:xfrm>
          <a:prstGeom prst="rect">
            <a:avLst/>
          </a:prstGeom>
          <a:noFill/>
          <a:ln/>
        </p:spPr>
        <p:txBody>
          <a:bodyPr wrap="square" lIns="0" tIns="0" rIns="0" bIns="0" rtlCol="0" anchor="ctr"/>
          <a:lstStyle/>
          <a:p>
            <a:pPr marL="0" indent="0">
              <a:buNone/>
            </a:pPr>
            <a:r>
              <a:rPr lang="en-US" sz="900" b="1" dirty="0">
                <a:solidFill>
                  <a:srgbClr val="E74C3C"/>
                </a:solidFill>
                <a:latin typeface="Calibri" pitchFamily="34" charset="0"/>
                <a:ea typeface="Calibri" pitchFamily="34" charset="-122"/>
                <a:cs typeface="Calibri" pitchFamily="34" charset="-120"/>
              </a:rPr>
              <a:t>POOR</a:t>
            </a:r>
            <a:endParaRPr lang="en-US" sz="900" dirty="0"/>
          </a:p>
        </p:txBody>
      </p:sp>
      <p:sp>
        <p:nvSpPr>
          <p:cNvPr id="37" name="Text 30"/>
          <p:cNvSpPr/>
          <p:nvPr/>
        </p:nvSpPr>
        <p:spPr>
          <a:xfrm>
            <a:off x="3675888" y="4069080"/>
            <a:ext cx="2377440" cy="768096"/>
          </a:xfrm>
          <a:prstGeom prst="rect">
            <a:avLst/>
          </a:prstGeom>
          <a:noFill/>
          <a:ln/>
        </p:spPr>
        <p:txBody>
          <a:bodyPr wrap="square" lIns="0" tIns="0" rIns="0" bIns="0" rtlCol="0" anchor="ctr"/>
          <a:lstStyle/>
          <a:p>
            <a:pPr marL="0" indent="0" algn="l">
              <a:buNone/>
            </a:pPr>
            <a:r>
              <a:rPr lang="en-US" sz="1000" i="1" dirty="0">
                <a:solidFill>
                  <a:srgbClr val="E74C3C"/>
                </a:solidFill>
                <a:latin typeface="Courier New" pitchFamily="34" charset="0"/>
                <a:ea typeface="Courier New" pitchFamily="34" charset="-122"/>
                <a:cs typeface="Courier New" pitchFamily="34" charset="-120"/>
              </a:rPr>
              <a:t>"I ran Autopsy and found evidence of document access."</a:t>
            </a:r>
            <a:endParaRPr lang="en-US" sz="1000" dirty="0"/>
          </a:p>
        </p:txBody>
      </p:sp>
      <p:pic>
        <p:nvPicPr>
          <p:cNvPr id="38" name="Image 5" descr="preencoded.png"/>
          <p:cNvPicPr>
            <a:picLocks noChangeAspect="1"/>
          </p:cNvPicPr>
          <p:nvPr/>
        </p:nvPicPr>
        <p:blipFill>
          <a:blip r:embed="rId4"/>
          <a:stretch>
            <a:fillRect/>
          </a:stretch>
        </p:blipFill>
        <p:spPr>
          <a:xfrm>
            <a:off x="6126480" y="3840480"/>
            <a:ext cx="219456" cy="219456"/>
          </a:xfrm>
          <a:prstGeom prst="rect">
            <a:avLst/>
          </a:prstGeom>
        </p:spPr>
      </p:pic>
      <p:sp>
        <p:nvSpPr>
          <p:cNvPr id="39" name="Text 31"/>
          <p:cNvSpPr/>
          <p:nvPr/>
        </p:nvSpPr>
        <p:spPr>
          <a:xfrm>
            <a:off x="6382512" y="3831336"/>
            <a:ext cx="914400" cy="201168"/>
          </a:xfrm>
          <a:prstGeom prst="rect">
            <a:avLst/>
          </a:prstGeom>
          <a:noFill/>
          <a:ln/>
        </p:spPr>
        <p:txBody>
          <a:bodyPr wrap="square" lIns="0" tIns="0" rIns="0" bIns="0" rtlCol="0" anchor="ctr"/>
          <a:lstStyle/>
          <a:p>
            <a:pPr marL="0" indent="0">
              <a:buNone/>
            </a:pPr>
            <a:r>
              <a:rPr lang="en-US" sz="900" b="1" dirty="0">
                <a:solidFill>
                  <a:srgbClr val="27AE60"/>
                </a:solidFill>
                <a:latin typeface="Calibri" pitchFamily="34" charset="0"/>
                <a:ea typeface="Calibri" pitchFamily="34" charset="-122"/>
                <a:cs typeface="Calibri" pitchFamily="34" charset="-120"/>
              </a:rPr>
              <a:t>GOOD</a:t>
            </a:r>
            <a:endParaRPr lang="en-US" sz="900" dirty="0"/>
          </a:p>
        </p:txBody>
      </p:sp>
      <p:sp>
        <p:nvSpPr>
          <p:cNvPr id="40" name="Text 32"/>
          <p:cNvSpPr/>
          <p:nvPr/>
        </p:nvSpPr>
        <p:spPr>
          <a:xfrm>
            <a:off x="6126480" y="4069080"/>
            <a:ext cx="2615184" cy="804672"/>
          </a:xfrm>
          <a:prstGeom prst="rect">
            <a:avLst/>
          </a:prstGeom>
          <a:noFill/>
          <a:ln/>
        </p:spPr>
        <p:txBody>
          <a:bodyPr wrap="square" lIns="0" tIns="0" rIns="0" bIns="0" rtlCol="0" anchor="ctr"/>
          <a:lstStyle/>
          <a:p>
            <a:pPr marL="0" indent="0" algn="l">
              <a:buNone/>
            </a:pPr>
            <a:r>
              <a:rPr lang="en-US" sz="1000" i="1" dirty="0">
                <a:solidFill>
                  <a:srgbClr val="27AE60"/>
                </a:solidFill>
                <a:latin typeface="Courier New" pitchFamily="34" charset="0"/>
                <a:ea typeface="Courier New" pitchFamily="34" charset="-122"/>
                <a:cs typeface="Courier New" pitchFamily="34" charset="-120"/>
              </a:rPr>
              <a:t>"Autopsy v4.21.0 (SHA-256: 3d8a…) parsed the MFT. Command flags: [logged]. Results exported to Exhibit 07."</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0A8A8"/>
          </a:solidFill>
          <a:ln w="12700">
            <a:solidFill>
              <a:srgbClr val="00A8A8"/>
            </a:solidFill>
            <a:prstDash val="solid"/>
          </a:ln>
        </p:spPr>
        <p:txBody>
          <a:bodyPr/>
          <a:lstStyle/>
          <a:p>
            <a:endParaRPr lang="en-SG"/>
          </a:p>
        </p:txBody>
      </p:sp>
      <p:sp>
        <p:nvSpPr>
          <p:cNvPr id="3" name="Text 1"/>
          <p:cNvSpPr/>
          <p:nvPr/>
        </p:nvSpPr>
        <p:spPr>
          <a:xfrm>
            <a:off x="365760" y="164592"/>
            <a:ext cx="8412480" cy="594360"/>
          </a:xfrm>
          <a:prstGeom prst="rect">
            <a:avLst/>
          </a:prstGeom>
          <a:noFill/>
          <a:ln/>
        </p:spPr>
        <p:txBody>
          <a:bodyPr wrap="square" lIns="0" tIns="0" rIns="0" bIns="0" rtlCol="0" anchor="ctr"/>
          <a:lstStyle/>
          <a:p>
            <a:pPr marL="0" indent="0" algn="l">
              <a:buNone/>
            </a:pPr>
            <a:r>
              <a:rPr lang="en-US" sz="2200" b="1" dirty="0">
                <a:solidFill>
                  <a:srgbClr val="1A1A2E"/>
                </a:solidFill>
                <a:latin typeface="Trebuchet MS" pitchFamily="34" charset="0"/>
                <a:ea typeface="Trebuchet MS" pitchFamily="34" charset="-122"/>
                <a:cs typeface="Trebuchet MS" pitchFamily="34" charset="-120"/>
              </a:rPr>
              <a:t>Writing Principles — Part 2: Plain Language, No Speculation &amp; Completeness</a:t>
            </a:r>
            <a:endParaRPr lang="en-US" sz="2200" dirty="0"/>
          </a:p>
        </p:txBody>
      </p:sp>
      <p:sp>
        <p:nvSpPr>
          <p:cNvPr id="4" name="Text 2"/>
          <p:cNvSpPr/>
          <p:nvPr/>
        </p:nvSpPr>
        <p:spPr>
          <a:xfrm>
            <a:off x="365760" y="786384"/>
            <a:ext cx="8412480" cy="228600"/>
          </a:xfrm>
          <a:prstGeom prst="rect">
            <a:avLst/>
          </a:prstGeom>
          <a:noFill/>
          <a:ln/>
        </p:spPr>
        <p:txBody>
          <a:bodyPr wrap="square" lIns="0" tIns="0" rIns="0" bIns="0" rtlCol="0" anchor="ctr"/>
          <a:lstStyle/>
          <a:p>
            <a:pPr marL="0" indent="0" algn="l">
              <a:buNone/>
            </a:pPr>
            <a:r>
              <a:rPr lang="en-US" sz="1100" i="1" dirty="0">
                <a:solidFill>
                  <a:srgbClr val="00A8A8"/>
                </a:solidFill>
                <a:latin typeface="Calibri" pitchFamily="34" charset="0"/>
                <a:ea typeface="Calibri" pitchFamily="34" charset="-122"/>
                <a:cs typeface="Calibri" pitchFamily="34" charset="-120"/>
              </a:rPr>
              <a:t>Together, all six principles form the professional standard by which forensic reports are evaluated in court.</a:t>
            </a:r>
            <a:endParaRPr lang="en-US" sz="1100" dirty="0"/>
          </a:p>
        </p:txBody>
      </p:sp>
      <p:sp>
        <p:nvSpPr>
          <p:cNvPr id="5" name="Shape 3"/>
          <p:cNvSpPr/>
          <p:nvPr/>
        </p:nvSpPr>
        <p:spPr>
          <a:xfrm>
            <a:off x="274320" y="1078992"/>
            <a:ext cx="8595360" cy="1216152"/>
          </a:xfrm>
          <a:prstGeom prst="rect">
            <a:avLst/>
          </a:prstGeom>
          <a:solidFill>
            <a:srgbClr val="EEF6FB"/>
          </a:solidFill>
          <a:ln w="12700">
            <a:solidFill>
              <a:srgbClr val="EEF6FB"/>
            </a:solidFill>
            <a:prstDash val="solid"/>
          </a:ln>
          <a:effectLst>
            <a:outerShdw blurRad="76200" dist="25400" dir="8100000" algn="bl" rotWithShape="0">
              <a:srgbClr val="000000">
                <a:alpha val="25000"/>
              </a:srgbClr>
            </a:outerShdw>
          </a:effectLst>
        </p:spPr>
        <p:txBody>
          <a:bodyPr/>
          <a:lstStyle/>
          <a:p>
            <a:endParaRPr lang="en-SG"/>
          </a:p>
        </p:txBody>
      </p:sp>
      <p:sp>
        <p:nvSpPr>
          <p:cNvPr id="6" name="Shape 4"/>
          <p:cNvSpPr/>
          <p:nvPr/>
        </p:nvSpPr>
        <p:spPr>
          <a:xfrm>
            <a:off x="274320" y="1078992"/>
            <a:ext cx="475488" cy="1216152"/>
          </a:xfrm>
          <a:prstGeom prst="rect">
            <a:avLst/>
          </a:prstGeom>
          <a:solidFill>
            <a:srgbClr val="F0B429"/>
          </a:solidFill>
          <a:ln w="12700">
            <a:solidFill>
              <a:srgbClr val="F0B429"/>
            </a:solidFill>
            <a:prstDash val="solid"/>
          </a:ln>
        </p:spPr>
        <p:txBody>
          <a:bodyPr/>
          <a:lstStyle/>
          <a:p>
            <a:endParaRPr lang="en-SG"/>
          </a:p>
        </p:txBody>
      </p:sp>
      <p:sp>
        <p:nvSpPr>
          <p:cNvPr id="7" name="Text 5"/>
          <p:cNvSpPr/>
          <p:nvPr/>
        </p:nvSpPr>
        <p:spPr>
          <a:xfrm>
            <a:off x="274320" y="1078992"/>
            <a:ext cx="475488" cy="1216152"/>
          </a:xfrm>
          <a:prstGeom prst="rect">
            <a:avLst/>
          </a:prstGeom>
          <a:noFill/>
          <a:ln/>
        </p:spPr>
        <p:txBody>
          <a:bodyPr wrap="square" lIns="0" tIns="0" rIns="0" bIns="0" rtlCol="0" anchor="ctr"/>
          <a:lstStyle/>
          <a:p>
            <a:pPr marL="0" indent="0" algn="ctr">
              <a:buNone/>
            </a:pPr>
            <a:r>
              <a:rPr lang="en-US" sz="3000" b="1" dirty="0">
                <a:solidFill>
                  <a:srgbClr val="0D1B2A"/>
                </a:solidFill>
                <a:latin typeface="Trebuchet MS" pitchFamily="34" charset="0"/>
                <a:ea typeface="Trebuchet MS" pitchFamily="34" charset="-122"/>
                <a:cs typeface="Trebuchet MS" pitchFamily="34" charset="-120"/>
              </a:rPr>
              <a:t>4</a:t>
            </a:r>
            <a:endParaRPr lang="en-US" sz="3000" dirty="0"/>
          </a:p>
        </p:txBody>
      </p:sp>
      <p:sp>
        <p:nvSpPr>
          <p:cNvPr id="8" name="Text 6"/>
          <p:cNvSpPr/>
          <p:nvPr/>
        </p:nvSpPr>
        <p:spPr>
          <a:xfrm>
            <a:off x="877824" y="1143000"/>
            <a:ext cx="2606040" cy="320040"/>
          </a:xfrm>
          <a:prstGeom prst="rect">
            <a:avLst/>
          </a:prstGeom>
          <a:noFill/>
          <a:ln/>
        </p:spPr>
        <p:txBody>
          <a:bodyPr wrap="square" lIns="0" tIns="0" rIns="0" bIns="0" rtlCol="0" anchor="ctr"/>
          <a:lstStyle/>
          <a:p>
            <a:pPr marL="0" indent="0" algn="l">
              <a:buNone/>
            </a:pPr>
            <a:r>
              <a:rPr lang="en-US" sz="1500" b="1" dirty="0">
                <a:solidFill>
                  <a:srgbClr val="F0B429"/>
                </a:solidFill>
                <a:latin typeface="Trebuchet MS" pitchFamily="34" charset="0"/>
                <a:ea typeface="Trebuchet MS" pitchFamily="34" charset="-122"/>
                <a:cs typeface="Trebuchet MS" pitchFamily="34" charset="-120"/>
              </a:rPr>
              <a:t>Plain Language</a:t>
            </a:r>
            <a:endParaRPr lang="en-US" sz="1500" dirty="0"/>
          </a:p>
        </p:txBody>
      </p:sp>
      <p:sp>
        <p:nvSpPr>
          <p:cNvPr id="9" name="Text 7"/>
          <p:cNvSpPr/>
          <p:nvPr/>
        </p:nvSpPr>
        <p:spPr>
          <a:xfrm>
            <a:off x="877824" y="1481328"/>
            <a:ext cx="2606040" cy="731520"/>
          </a:xfrm>
          <a:prstGeom prst="rect">
            <a:avLst/>
          </a:prstGeom>
          <a:noFill/>
          <a:ln/>
        </p:spPr>
        <p:txBody>
          <a:bodyPr wrap="square" lIns="0" tIns="0" rIns="0" bIns="0" rtlCol="0" anchor="ctr"/>
          <a:lstStyle/>
          <a:p>
            <a:pPr marL="0" indent="0" algn="l">
              <a:buNone/>
            </a:pPr>
            <a:r>
              <a:rPr lang="en-US" sz="1150" dirty="0">
                <a:solidFill>
                  <a:srgbClr val="1A1A2E"/>
                </a:solidFill>
                <a:latin typeface="Calibri" pitchFamily="34" charset="0"/>
                <a:ea typeface="Calibri" pitchFamily="34" charset="-122"/>
                <a:cs typeface="Calibri" pitchFamily="34" charset="-120"/>
              </a:rPr>
              <a:t>Technical findings must be understandable to judges, juries, and non-technical counsel. Always pair technical terms with a plain-English explanation. Analogies are helpful.</a:t>
            </a:r>
            <a:endParaRPr lang="en-US" sz="1150" dirty="0"/>
          </a:p>
        </p:txBody>
      </p:sp>
      <p:sp>
        <p:nvSpPr>
          <p:cNvPr id="10" name="Shape 8"/>
          <p:cNvSpPr/>
          <p:nvPr/>
        </p:nvSpPr>
        <p:spPr>
          <a:xfrm>
            <a:off x="3547872" y="1188720"/>
            <a:ext cx="36576" cy="996696"/>
          </a:xfrm>
          <a:prstGeom prst="rect">
            <a:avLst/>
          </a:prstGeom>
          <a:solidFill>
            <a:srgbClr val="FFFFFF"/>
          </a:solidFill>
          <a:ln w="12700">
            <a:solidFill>
              <a:srgbClr val="E2E8F0"/>
            </a:solidFill>
            <a:prstDash val="solid"/>
          </a:ln>
        </p:spPr>
        <p:txBody>
          <a:bodyPr/>
          <a:lstStyle/>
          <a:p>
            <a:endParaRPr lang="en-SG"/>
          </a:p>
        </p:txBody>
      </p:sp>
      <p:pic>
        <p:nvPicPr>
          <p:cNvPr id="11" name="Image 0" descr="preencoded.png"/>
          <p:cNvPicPr>
            <a:picLocks noChangeAspect="1"/>
          </p:cNvPicPr>
          <p:nvPr/>
        </p:nvPicPr>
        <p:blipFill>
          <a:blip r:embed="rId3"/>
          <a:stretch>
            <a:fillRect/>
          </a:stretch>
        </p:blipFill>
        <p:spPr>
          <a:xfrm>
            <a:off x="3675888" y="1170432"/>
            <a:ext cx="219456" cy="219456"/>
          </a:xfrm>
          <a:prstGeom prst="rect">
            <a:avLst/>
          </a:prstGeom>
        </p:spPr>
      </p:pic>
      <p:sp>
        <p:nvSpPr>
          <p:cNvPr id="12" name="Text 9"/>
          <p:cNvSpPr/>
          <p:nvPr/>
        </p:nvSpPr>
        <p:spPr>
          <a:xfrm>
            <a:off x="3931920" y="1161288"/>
            <a:ext cx="914400" cy="201168"/>
          </a:xfrm>
          <a:prstGeom prst="rect">
            <a:avLst/>
          </a:prstGeom>
          <a:noFill/>
          <a:ln/>
        </p:spPr>
        <p:txBody>
          <a:bodyPr wrap="square" lIns="0" tIns="0" rIns="0" bIns="0" rtlCol="0" anchor="ctr"/>
          <a:lstStyle/>
          <a:p>
            <a:pPr marL="0" indent="0">
              <a:buNone/>
            </a:pPr>
            <a:r>
              <a:rPr lang="en-US" sz="900" b="1" dirty="0">
                <a:solidFill>
                  <a:srgbClr val="E74C3C"/>
                </a:solidFill>
                <a:latin typeface="Calibri" pitchFamily="34" charset="0"/>
                <a:ea typeface="Calibri" pitchFamily="34" charset="-122"/>
                <a:cs typeface="Calibri" pitchFamily="34" charset="-120"/>
              </a:rPr>
              <a:t>POOR</a:t>
            </a:r>
            <a:endParaRPr lang="en-US" sz="900" dirty="0"/>
          </a:p>
        </p:txBody>
      </p:sp>
      <p:sp>
        <p:nvSpPr>
          <p:cNvPr id="13" name="Text 10"/>
          <p:cNvSpPr/>
          <p:nvPr/>
        </p:nvSpPr>
        <p:spPr>
          <a:xfrm>
            <a:off x="3675888" y="1399032"/>
            <a:ext cx="2377440" cy="768096"/>
          </a:xfrm>
          <a:prstGeom prst="rect">
            <a:avLst/>
          </a:prstGeom>
          <a:noFill/>
          <a:ln/>
        </p:spPr>
        <p:txBody>
          <a:bodyPr wrap="square" lIns="0" tIns="0" rIns="0" bIns="0" rtlCol="0" anchor="ctr"/>
          <a:lstStyle/>
          <a:p>
            <a:pPr marL="0" indent="0" algn="l">
              <a:buNone/>
            </a:pPr>
            <a:r>
              <a:rPr lang="en-US" sz="1000" i="1" dirty="0">
                <a:solidFill>
                  <a:srgbClr val="E74C3C"/>
                </a:solidFill>
                <a:latin typeface="Courier New" pitchFamily="34" charset="0"/>
                <a:ea typeface="Courier New" pitchFamily="34" charset="-122"/>
                <a:cs typeface="Courier New" pitchFamily="34" charset="-120"/>
              </a:rPr>
              <a:t>"The $MFT $SI attribute M timestamp diverges from the $FN attribute M timestamp by 72 hours."</a:t>
            </a:r>
            <a:endParaRPr lang="en-US" sz="1000" dirty="0"/>
          </a:p>
        </p:txBody>
      </p:sp>
      <p:pic>
        <p:nvPicPr>
          <p:cNvPr id="14" name="Image 1" descr="preencoded.png"/>
          <p:cNvPicPr>
            <a:picLocks noChangeAspect="1"/>
          </p:cNvPicPr>
          <p:nvPr/>
        </p:nvPicPr>
        <p:blipFill>
          <a:blip r:embed="rId4"/>
          <a:stretch>
            <a:fillRect/>
          </a:stretch>
        </p:blipFill>
        <p:spPr>
          <a:xfrm>
            <a:off x="6126480" y="1170432"/>
            <a:ext cx="219456" cy="219456"/>
          </a:xfrm>
          <a:prstGeom prst="rect">
            <a:avLst/>
          </a:prstGeom>
        </p:spPr>
      </p:pic>
      <p:sp>
        <p:nvSpPr>
          <p:cNvPr id="15" name="Text 11"/>
          <p:cNvSpPr/>
          <p:nvPr/>
        </p:nvSpPr>
        <p:spPr>
          <a:xfrm>
            <a:off x="6382512" y="1161288"/>
            <a:ext cx="914400" cy="201168"/>
          </a:xfrm>
          <a:prstGeom prst="rect">
            <a:avLst/>
          </a:prstGeom>
          <a:noFill/>
          <a:ln/>
        </p:spPr>
        <p:txBody>
          <a:bodyPr wrap="square" lIns="0" tIns="0" rIns="0" bIns="0" rtlCol="0" anchor="ctr"/>
          <a:lstStyle/>
          <a:p>
            <a:pPr marL="0" indent="0">
              <a:buNone/>
            </a:pPr>
            <a:r>
              <a:rPr lang="en-US" sz="900" b="1" dirty="0">
                <a:solidFill>
                  <a:srgbClr val="27AE60"/>
                </a:solidFill>
                <a:latin typeface="Calibri" pitchFamily="34" charset="0"/>
                <a:ea typeface="Calibri" pitchFamily="34" charset="-122"/>
                <a:cs typeface="Calibri" pitchFamily="34" charset="-120"/>
              </a:rPr>
              <a:t>GOOD</a:t>
            </a:r>
            <a:endParaRPr lang="en-US" sz="900" dirty="0"/>
          </a:p>
        </p:txBody>
      </p:sp>
      <p:sp>
        <p:nvSpPr>
          <p:cNvPr id="16" name="Text 12"/>
          <p:cNvSpPr/>
          <p:nvPr/>
        </p:nvSpPr>
        <p:spPr>
          <a:xfrm>
            <a:off x="6126480" y="1399032"/>
            <a:ext cx="2615184" cy="804672"/>
          </a:xfrm>
          <a:prstGeom prst="rect">
            <a:avLst/>
          </a:prstGeom>
          <a:noFill/>
          <a:ln/>
        </p:spPr>
        <p:txBody>
          <a:bodyPr wrap="square" lIns="0" tIns="0" rIns="0" bIns="0" rtlCol="0" anchor="ctr"/>
          <a:lstStyle/>
          <a:p>
            <a:pPr marL="0" indent="0" algn="l">
              <a:buNone/>
            </a:pPr>
            <a:r>
              <a:rPr lang="en-US" sz="1000" i="1" dirty="0">
                <a:solidFill>
                  <a:srgbClr val="27AE60"/>
                </a:solidFill>
                <a:latin typeface="Courier New" pitchFamily="34" charset="0"/>
                <a:ea typeface="Courier New" pitchFamily="34" charset="-122"/>
                <a:cs typeface="Courier New" pitchFamily="34" charset="-120"/>
              </a:rPr>
              <a:t>"The file's internal timestamp was altered after creation — a strong indicator of deliberate timestamp manipulation (timestomping)."</a:t>
            </a:r>
            <a:endParaRPr lang="en-US" sz="1000" dirty="0"/>
          </a:p>
        </p:txBody>
      </p:sp>
      <p:sp>
        <p:nvSpPr>
          <p:cNvPr id="17" name="Shape 13"/>
          <p:cNvSpPr/>
          <p:nvPr/>
        </p:nvSpPr>
        <p:spPr>
          <a:xfrm>
            <a:off x="274320" y="2414016"/>
            <a:ext cx="8595360" cy="1216152"/>
          </a:xfrm>
          <a:prstGeom prst="rect">
            <a:avLst/>
          </a:prstGeom>
          <a:solidFill>
            <a:srgbClr val="EEF6FB"/>
          </a:solidFill>
          <a:ln w="12700">
            <a:solidFill>
              <a:srgbClr val="EEF6FB"/>
            </a:solidFill>
            <a:prstDash val="solid"/>
          </a:ln>
          <a:effectLst>
            <a:outerShdw blurRad="76200" dist="25400" dir="8100000" algn="bl" rotWithShape="0">
              <a:srgbClr val="000000">
                <a:alpha val="25000"/>
              </a:srgbClr>
            </a:outerShdw>
          </a:effectLst>
        </p:spPr>
        <p:txBody>
          <a:bodyPr/>
          <a:lstStyle/>
          <a:p>
            <a:endParaRPr lang="en-SG"/>
          </a:p>
        </p:txBody>
      </p:sp>
      <p:sp>
        <p:nvSpPr>
          <p:cNvPr id="18" name="Shape 14"/>
          <p:cNvSpPr/>
          <p:nvPr/>
        </p:nvSpPr>
        <p:spPr>
          <a:xfrm>
            <a:off x="274320" y="2414016"/>
            <a:ext cx="475488" cy="1216152"/>
          </a:xfrm>
          <a:prstGeom prst="rect">
            <a:avLst/>
          </a:prstGeom>
          <a:solidFill>
            <a:srgbClr val="E74C3C"/>
          </a:solidFill>
          <a:ln w="12700">
            <a:solidFill>
              <a:srgbClr val="E74C3C"/>
            </a:solidFill>
            <a:prstDash val="solid"/>
          </a:ln>
        </p:spPr>
        <p:txBody>
          <a:bodyPr/>
          <a:lstStyle/>
          <a:p>
            <a:endParaRPr lang="en-SG"/>
          </a:p>
        </p:txBody>
      </p:sp>
      <p:sp>
        <p:nvSpPr>
          <p:cNvPr id="19" name="Text 15"/>
          <p:cNvSpPr/>
          <p:nvPr/>
        </p:nvSpPr>
        <p:spPr>
          <a:xfrm>
            <a:off x="274320" y="2414016"/>
            <a:ext cx="475488" cy="1216152"/>
          </a:xfrm>
          <a:prstGeom prst="rect">
            <a:avLst/>
          </a:prstGeom>
          <a:noFill/>
          <a:ln/>
        </p:spPr>
        <p:txBody>
          <a:bodyPr wrap="square" lIns="0" tIns="0" rIns="0" bIns="0" rtlCol="0" anchor="ctr"/>
          <a:lstStyle/>
          <a:p>
            <a:pPr marL="0" indent="0" algn="ctr">
              <a:buNone/>
            </a:pPr>
            <a:r>
              <a:rPr lang="en-US" sz="3000" b="1" dirty="0">
                <a:solidFill>
                  <a:srgbClr val="0D1B2A"/>
                </a:solidFill>
                <a:latin typeface="Trebuchet MS" pitchFamily="34" charset="0"/>
                <a:ea typeface="Trebuchet MS" pitchFamily="34" charset="-122"/>
                <a:cs typeface="Trebuchet MS" pitchFamily="34" charset="-120"/>
              </a:rPr>
              <a:t>5</a:t>
            </a:r>
            <a:endParaRPr lang="en-US" sz="3000" dirty="0"/>
          </a:p>
        </p:txBody>
      </p:sp>
      <p:sp>
        <p:nvSpPr>
          <p:cNvPr id="20" name="Text 16"/>
          <p:cNvSpPr/>
          <p:nvPr/>
        </p:nvSpPr>
        <p:spPr>
          <a:xfrm>
            <a:off x="877824" y="2478024"/>
            <a:ext cx="2606040" cy="320040"/>
          </a:xfrm>
          <a:prstGeom prst="rect">
            <a:avLst/>
          </a:prstGeom>
          <a:noFill/>
          <a:ln/>
        </p:spPr>
        <p:txBody>
          <a:bodyPr wrap="square" lIns="0" tIns="0" rIns="0" bIns="0" rtlCol="0" anchor="ctr"/>
          <a:lstStyle/>
          <a:p>
            <a:pPr marL="0" indent="0" algn="l">
              <a:buNone/>
            </a:pPr>
            <a:r>
              <a:rPr lang="en-US" sz="1500" b="1" dirty="0">
                <a:solidFill>
                  <a:srgbClr val="E74C3C"/>
                </a:solidFill>
                <a:latin typeface="Trebuchet MS" pitchFamily="34" charset="0"/>
                <a:ea typeface="Trebuchet MS" pitchFamily="34" charset="-122"/>
                <a:cs typeface="Trebuchet MS" pitchFamily="34" charset="-120"/>
              </a:rPr>
              <a:t>No Speculation</a:t>
            </a:r>
            <a:endParaRPr lang="en-US" sz="1500" dirty="0"/>
          </a:p>
        </p:txBody>
      </p:sp>
      <p:sp>
        <p:nvSpPr>
          <p:cNvPr id="21" name="Text 17"/>
          <p:cNvSpPr/>
          <p:nvPr/>
        </p:nvSpPr>
        <p:spPr>
          <a:xfrm>
            <a:off x="877824" y="2816352"/>
            <a:ext cx="2606040" cy="731520"/>
          </a:xfrm>
          <a:prstGeom prst="rect">
            <a:avLst/>
          </a:prstGeom>
          <a:noFill/>
          <a:ln/>
        </p:spPr>
        <p:txBody>
          <a:bodyPr wrap="square" lIns="0" tIns="0" rIns="0" bIns="0" rtlCol="0" anchor="ctr"/>
          <a:lstStyle/>
          <a:p>
            <a:pPr marL="0" indent="0" algn="l">
              <a:buNone/>
            </a:pPr>
            <a:r>
              <a:rPr lang="en-US" sz="1150" dirty="0">
                <a:solidFill>
                  <a:srgbClr val="1A1A2E"/>
                </a:solidFill>
                <a:latin typeface="Calibri" pitchFamily="34" charset="0"/>
                <a:ea typeface="Calibri" pitchFamily="34" charset="-122"/>
                <a:cs typeface="Calibri" pitchFamily="34" charset="-120"/>
              </a:rPr>
              <a:t>Clearly distinguish confirmed facts, reasonable inferences, and speculation. An overconfident examiner who overstates findings is more damaging than an honest one who acknowledges uncertainty.</a:t>
            </a:r>
            <a:endParaRPr lang="en-US" sz="1150" dirty="0"/>
          </a:p>
        </p:txBody>
      </p:sp>
      <p:sp>
        <p:nvSpPr>
          <p:cNvPr id="22" name="Shape 18"/>
          <p:cNvSpPr/>
          <p:nvPr/>
        </p:nvSpPr>
        <p:spPr>
          <a:xfrm>
            <a:off x="3547872" y="2523744"/>
            <a:ext cx="36576" cy="996696"/>
          </a:xfrm>
          <a:prstGeom prst="rect">
            <a:avLst/>
          </a:prstGeom>
          <a:solidFill>
            <a:srgbClr val="FFFFFF"/>
          </a:solidFill>
          <a:ln w="12700">
            <a:solidFill>
              <a:srgbClr val="E2E8F0"/>
            </a:solidFill>
            <a:prstDash val="solid"/>
          </a:ln>
        </p:spPr>
        <p:txBody>
          <a:bodyPr/>
          <a:lstStyle/>
          <a:p>
            <a:endParaRPr lang="en-SG"/>
          </a:p>
        </p:txBody>
      </p:sp>
      <p:pic>
        <p:nvPicPr>
          <p:cNvPr id="23" name="Image 2" descr="preencoded.png"/>
          <p:cNvPicPr>
            <a:picLocks noChangeAspect="1"/>
          </p:cNvPicPr>
          <p:nvPr/>
        </p:nvPicPr>
        <p:blipFill>
          <a:blip r:embed="rId3"/>
          <a:stretch>
            <a:fillRect/>
          </a:stretch>
        </p:blipFill>
        <p:spPr>
          <a:xfrm>
            <a:off x="3675888" y="2505456"/>
            <a:ext cx="219456" cy="219456"/>
          </a:xfrm>
          <a:prstGeom prst="rect">
            <a:avLst/>
          </a:prstGeom>
        </p:spPr>
      </p:pic>
      <p:sp>
        <p:nvSpPr>
          <p:cNvPr id="24" name="Text 19"/>
          <p:cNvSpPr/>
          <p:nvPr/>
        </p:nvSpPr>
        <p:spPr>
          <a:xfrm>
            <a:off x="3931920" y="2496312"/>
            <a:ext cx="914400" cy="201168"/>
          </a:xfrm>
          <a:prstGeom prst="rect">
            <a:avLst/>
          </a:prstGeom>
          <a:noFill/>
          <a:ln/>
        </p:spPr>
        <p:txBody>
          <a:bodyPr wrap="square" lIns="0" tIns="0" rIns="0" bIns="0" rtlCol="0" anchor="ctr"/>
          <a:lstStyle/>
          <a:p>
            <a:pPr marL="0" indent="0">
              <a:buNone/>
            </a:pPr>
            <a:r>
              <a:rPr lang="en-US" sz="900" b="1" dirty="0">
                <a:solidFill>
                  <a:srgbClr val="E74C3C"/>
                </a:solidFill>
                <a:latin typeface="Calibri" pitchFamily="34" charset="0"/>
                <a:ea typeface="Calibri" pitchFamily="34" charset="-122"/>
                <a:cs typeface="Calibri" pitchFamily="34" charset="-120"/>
              </a:rPr>
              <a:t>POOR</a:t>
            </a:r>
            <a:endParaRPr lang="en-US" sz="900" dirty="0"/>
          </a:p>
        </p:txBody>
      </p:sp>
      <p:sp>
        <p:nvSpPr>
          <p:cNvPr id="25" name="Text 20"/>
          <p:cNvSpPr/>
          <p:nvPr/>
        </p:nvSpPr>
        <p:spPr>
          <a:xfrm>
            <a:off x="3675888" y="2734056"/>
            <a:ext cx="2377440" cy="768096"/>
          </a:xfrm>
          <a:prstGeom prst="rect">
            <a:avLst/>
          </a:prstGeom>
          <a:noFill/>
          <a:ln/>
        </p:spPr>
        <p:txBody>
          <a:bodyPr wrap="square" lIns="0" tIns="0" rIns="0" bIns="0" rtlCol="0" anchor="ctr"/>
          <a:lstStyle/>
          <a:p>
            <a:pPr marL="0" indent="0" algn="l">
              <a:buNone/>
            </a:pPr>
            <a:r>
              <a:rPr lang="en-US" sz="1000" i="1" dirty="0">
                <a:solidFill>
                  <a:srgbClr val="E74C3C"/>
                </a:solidFill>
                <a:latin typeface="Courier New" pitchFamily="34" charset="0"/>
                <a:ea typeface="Courier New" pitchFamily="34" charset="-122"/>
                <a:cs typeface="Courier New" pitchFamily="34" charset="-120"/>
              </a:rPr>
              <a:t>"The defendant deliberately deleted the files to conceal the fraud."</a:t>
            </a:r>
            <a:endParaRPr lang="en-US" sz="1000" dirty="0"/>
          </a:p>
        </p:txBody>
      </p:sp>
      <p:pic>
        <p:nvPicPr>
          <p:cNvPr id="26" name="Image 3" descr="preencoded.png"/>
          <p:cNvPicPr>
            <a:picLocks noChangeAspect="1"/>
          </p:cNvPicPr>
          <p:nvPr/>
        </p:nvPicPr>
        <p:blipFill>
          <a:blip r:embed="rId4"/>
          <a:stretch>
            <a:fillRect/>
          </a:stretch>
        </p:blipFill>
        <p:spPr>
          <a:xfrm>
            <a:off x="6126480" y="2505456"/>
            <a:ext cx="219456" cy="219456"/>
          </a:xfrm>
          <a:prstGeom prst="rect">
            <a:avLst/>
          </a:prstGeom>
        </p:spPr>
      </p:pic>
      <p:sp>
        <p:nvSpPr>
          <p:cNvPr id="27" name="Text 21"/>
          <p:cNvSpPr/>
          <p:nvPr/>
        </p:nvSpPr>
        <p:spPr>
          <a:xfrm>
            <a:off x="6382512" y="2496312"/>
            <a:ext cx="914400" cy="201168"/>
          </a:xfrm>
          <a:prstGeom prst="rect">
            <a:avLst/>
          </a:prstGeom>
          <a:noFill/>
          <a:ln/>
        </p:spPr>
        <p:txBody>
          <a:bodyPr wrap="square" lIns="0" tIns="0" rIns="0" bIns="0" rtlCol="0" anchor="ctr"/>
          <a:lstStyle/>
          <a:p>
            <a:pPr marL="0" indent="0">
              <a:buNone/>
            </a:pPr>
            <a:r>
              <a:rPr lang="en-US" sz="900" b="1" dirty="0">
                <a:solidFill>
                  <a:srgbClr val="27AE60"/>
                </a:solidFill>
                <a:latin typeface="Calibri" pitchFamily="34" charset="0"/>
                <a:ea typeface="Calibri" pitchFamily="34" charset="-122"/>
                <a:cs typeface="Calibri" pitchFamily="34" charset="-120"/>
              </a:rPr>
              <a:t>GOOD</a:t>
            </a:r>
            <a:endParaRPr lang="en-US" sz="900" dirty="0"/>
          </a:p>
        </p:txBody>
      </p:sp>
      <p:sp>
        <p:nvSpPr>
          <p:cNvPr id="28" name="Text 22"/>
          <p:cNvSpPr/>
          <p:nvPr/>
        </p:nvSpPr>
        <p:spPr>
          <a:xfrm>
            <a:off x="6126480" y="2734056"/>
            <a:ext cx="2615184" cy="804672"/>
          </a:xfrm>
          <a:prstGeom prst="rect">
            <a:avLst/>
          </a:prstGeom>
          <a:noFill/>
          <a:ln/>
        </p:spPr>
        <p:txBody>
          <a:bodyPr wrap="square" lIns="0" tIns="0" rIns="0" bIns="0" rtlCol="0" anchor="ctr"/>
          <a:lstStyle/>
          <a:p>
            <a:pPr marL="0" indent="0" algn="l">
              <a:buNone/>
            </a:pPr>
            <a:r>
              <a:rPr lang="en-US" sz="1000" i="1" dirty="0">
                <a:solidFill>
                  <a:srgbClr val="27AE60"/>
                </a:solidFill>
                <a:latin typeface="Courier New" pitchFamily="34" charset="0"/>
                <a:ea typeface="Courier New" pitchFamily="34" charset="-122"/>
                <a:cs typeface="Courier New" pitchFamily="34" charset="-120"/>
              </a:rPr>
              <a:t>"Files moved to Recycle Bin on 10 Mar 2025 and deleted. Consistent with deliberate removal — automated cleanup cannot be excluded."</a:t>
            </a:r>
            <a:endParaRPr lang="en-US" sz="1000" dirty="0"/>
          </a:p>
        </p:txBody>
      </p:sp>
      <p:sp>
        <p:nvSpPr>
          <p:cNvPr id="29" name="Shape 23"/>
          <p:cNvSpPr/>
          <p:nvPr/>
        </p:nvSpPr>
        <p:spPr>
          <a:xfrm>
            <a:off x="274320" y="3749040"/>
            <a:ext cx="8595360" cy="1216152"/>
          </a:xfrm>
          <a:prstGeom prst="rect">
            <a:avLst/>
          </a:prstGeom>
          <a:solidFill>
            <a:srgbClr val="EEF6FB"/>
          </a:solidFill>
          <a:ln w="12700">
            <a:solidFill>
              <a:srgbClr val="EEF6FB"/>
            </a:solidFill>
            <a:prstDash val="solid"/>
          </a:ln>
          <a:effectLst>
            <a:outerShdw blurRad="76200" dist="25400" dir="8100000" algn="bl" rotWithShape="0">
              <a:srgbClr val="000000">
                <a:alpha val="25000"/>
              </a:srgbClr>
            </a:outerShdw>
          </a:effectLst>
        </p:spPr>
        <p:txBody>
          <a:bodyPr/>
          <a:lstStyle/>
          <a:p>
            <a:endParaRPr lang="en-SG"/>
          </a:p>
        </p:txBody>
      </p:sp>
      <p:sp>
        <p:nvSpPr>
          <p:cNvPr id="30" name="Shape 24"/>
          <p:cNvSpPr/>
          <p:nvPr/>
        </p:nvSpPr>
        <p:spPr>
          <a:xfrm>
            <a:off x="274320" y="3749040"/>
            <a:ext cx="475488" cy="1216152"/>
          </a:xfrm>
          <a:prstGeom prst="rect">
            <a:avLst/>
          </a:prstGeom>
          <a:solidFill>
            <a:srgbClr val="27AE60"/>
          </a:solidFill>
          <a:ln w="12700">
            <a:solidFill>
              <a:srgbClr val="27AE60"/>
            </a:solidFill>
            <a:prstDash val="solid"/>
          </a:ln>
        </p:spPr>
        <p:txBody>
          <a:bodyPr/>
          <a:lstStyle/>
          <a:p>
            <a:endParaRPr lang="en-SG"/>
          </a:p>
        </p:txBody>
      </p:sp>
      <p:sp>
        <p:nvSpPr>
          <p:cNvPr id="31" name="Text 25"/>
          <p:cNvSpPr/>
          <p:nvPr/>
        </p:nvSpPr>
        <p:spPr>
          <a:xfrm>
            <a:off x="274320" y="3749040"/>
            <a:ext cx="475488" cy="1216152"/>
          </a:xfrm>
          <a:prstGeom prst="rect">
            <a:avLst/>
          </a:prstGeom>
          <a:noFill/>
          <a:ln/>
        </p:spPr>
        <p:txBody>
          <a:bodyPr wrap="square" lIns="0" tIns="0" rIns="0" bIns="0" rtlCol="0" anchor="ctr"/>
          <a:lstStyle/>
          <a:p>
            <a:pPr marL="0" indent="0" algn="ctr">
              <a:buNone/>
            </a:pPr>
            <a:r>
              <a:rPr lang="en-US" sz="3000" b="1" dirty="0">
                <a:solidFill>
                  <a:srgbClr val="0D1B2A"/>
                </a:solidFill>
                <a:latin typeface="Trebuchet MS" pitchFamily="34" charset="0"/>
                <a:ea typeface="Trebuchet MS" pitchFamily="34" charset="-122"/>
                <a:cs typeface="Trebuchet MS" pitchFamily="34" charset="-120"/>
              </a:rPr>
              <a:t>6</a:t>
            </a:r>
            <a:endParaRPr lang="en-US" sz="3000" dirty="0"/>
          </a:p>
        </p:txBody>
      </p:sp>
      <p:sp>
        <p:nvSpPr>
          <p:cNvPr id="32" name="Text 26"/>
          <p:cNvSpPr/>
          <p:nvPr/>
        </p:nvSpPr>
        <p:spPr>
          <a:xfrm>
            <a:off x="877824" y="3813048"/>
            <a:ext cx="2606040" cy="320040"/>
          </a:xfrm>
          <a:prstGeom prst="rect">
            <a:avLst/>
          </a:prstGeom>
          <a:noFill/>
          <a:ln/>
        </p:spPr>
        <p:txBody>
          <a:bodyPr wrap="square" lIns="0" tIns="0" rIns="0" bIns="0" rtlCol="0" anchor="ctr"/>
          <a:lstStyle/>
          <a:p>
            <a:pPr marL="0" indent="0" algn="l">
              <a:buNone/>
            </a:pPr>
            <a:r>
              <a:rPr lang="en-US" sz="1500" b="1" dirty="0">
                <a:solidFill>
                  <a:srgbClr val="27AE60"/>
                </a:solidFill>
                <a:latin typeface="Trebuchet MS" pitchFamily="34" charset="0"/>
                <a:ea typeface="Trebuchet MS" pitchFamily="34" charset="-122"/>
                <a:cs typeface="Trebuchet MS" pitchFamily="34" charset="-120"/>
              </a:rPr>
              <a:t>Completeness</a:t>
            </a:r>
            <a:endParaRPr lang="en-US" sz="1500" dirty="0"/>
          </a:p>
        </p:txBody>
      </p:sp>
      <p:sp>
        <p:nvSpPr>
          <p:cNvPr id="33" name="Text 27"/>
          <p:cNvSpPr/>
          <p:nvPr/>
        </p:nvSpPr>
        <p:spPr>
          <a:xfrm>
            <a:off x="877824" y="4151376"/>
            <a:ext cx="2606040" cy="731520"/>
          </a:xfrm>
          <a:prstGeom prst="rect">
            <a:avLst/>
          </a:prstGeom>
          <a:noFill/>
          <a:ln/>
        </p:spPr>
        <p:txBody>
          <a:bodyPr wrap="square" lIns="0" tIns="0" rIns="0" bIns="0" rtlCol="0" anchor="ctr"/>
          <a:lstStyle/>
          <a:p>
            <a:pPr marL="0" indent="0" algn="l">
              <a:buNone/>
            </a:pPr>
            <a:r>
              <a:rPr lang="en-US" sz="1150" dirty="0">
                <a:solidFill>
                  <a:srgbClr val="1A1A2E"/>
                </a:solidFill>
                <a:latin typeface="Calibri" pitchFamily="34" charset="0"/>
                <a:ea typeface="Calibri" pitchFamily="34" charset="-122"/>
                <a:cs typeface="Calibri" pitchFamily="34" charset="-120"/>
              </a:rPr>
              <a:t>Document everything — limitations, failed attempts, and negative findings. Silence on a relevant issue is not neutrality: defence counsel will treat it as concealment.</a:t>
            </a:r>
            <a:endParaRPr lang="en-US" sz="1150" dirty="0"/>
          </a:p>
        </p:txBody>
      </p:sp>
      <p:sp>
        <p:nvSpPr>
          <p:cNvPr id="34" name="Shape 28"/>
          <p:cNvSpPr/>
          <p:nvPr/>
        </p:nvSpPr>
        <p:spPr>
          <a:xfrm>
            <a:off x="3547872" y="3858768"/>
            <a:ext cx="36576" cy="996696"/>
          </a:xfrm>
          <a:prstGeom prst="rect">
            <a:avLst/>
          </a:prstGeom>
          <a:solidFill>
            <a:srgbClr val="FFFFFF"/>
          </a:solidFill>
          <a:ln w="12700">
            <a:solidFill>
              <a:srgbClr val="E2E8F0"/>
            </a:solidFill>
            <a:prstDash val="solid"/>
          </a:ln>
        </p:spPr>
        <p:txBody>
          <a:bodyPr/>
          <a:lstStyle/>
          <a:p>
            <a:endParaRPr lang="en-SG"/>
          </a:p>
        </p:txBody>
      </p:sp>
      <p:pic>
        <p:nvPicPr>
          <p:cNvPr id="35" name="Image 4" descr="preencoded.png"/>
          <p:cNvPicPr>
            <a:picLocks noChangeAspect="1"/>
          </p:cNvPicPr>
          <p:nvPr/>
        </p:nvPicPr>
        <p:blipFill>
          <a:blip r:embed="rId3"/>
          <a:stretch>
            <a:fillRect/>
          </a:stretch>
        </p:blipFill>
        <p:spPr>
          <a:xfrm>
            <a:off x="3675888" y="3840480"/>
            <a:ext cx="219456" cy="219456"/>
          </a:xfrm>
          <a:prstGeom prst="rect">
            <a:avLst/>
          </a:prstGeom>
        </p:spPr>
      </p:pic>
      <p:sp>
        <p:nvSpPr>
          <p:cNvPr id="36" name="Text 29"/>
          <p:cNvSpPr/>
          <p:nvPr/>
        </p:nvSpPr>
        <p:spPr>
          <a:xfrm>
            <a:off x="3931920" y="3831336"/>
            <a:ext cx="914400" cy="201168"/>
          </a:xfrm>
          <a:prstGeom prst="rect">
            <a:avLst/>
          </a:prstGeom>
          <a:noFill/>
          <a:ln/>
        </p:spPr>
        <p:txBody>
          <a:bodyPr wrap="square" lIns="0" tIns="0" rIns="0" bIns="0" rtlCol="0" anchor="ctr"/>
          <a:lstStyle/>
          <a:p>
            <a:pPr marL="0" indent="0">
              <a:buNone/>
            </a:pPr>
            <a:r>
              <a:rPr lang="en-US" sz="900" b="1" dirty="0">
                <a:solidFill>
                  <a:srgbClr val="E74C3C"/>
                </a:solidFill>
                <a:latin typeface="Calibri" pitchFamily="34" charset="0"/>
                <a:ea typeface="Calibri" pitchFamily="34" charset="-122"/>
                <a:cs typeface="Calibri" pitchFamily="34" charset="-120"/>
              </a:rPr>
              <a:t>POOR</a:t>
            </a:r>
            <a:endParaRPr lang="en-US" sz="900" dirty="0"/>
          </a:p>
        </p:txBody>
      </p:sp>
      <p:sp>
        <p:nvSpPr>
          <p:cNvPr id="37" name="Text 30"/>
          <p:cNvSpPr/>
          <p:nvPr/>
        </p:nvSpPr>
        <p:spPr>
          <a:xfrm>
            <a:off x="3675888" y="4069080"/>
            <a:ext cx="2377440" cy="768096"/>
          </a:xfrm>
          <a:prstGeom prst="rect">
            <a:avLst/>
          </a:prstGeom>
          <a:noFill/>
          <a:ln/>
        </p:spPr>
        <p:txBody>
          <a:bodyPr wrap="square" lIns="0" tIns="0" rIns="0" bIns="0" rtlCol="0" anchor="ctr"/>
          <a:lstStyle/>
          <a:p>
            <a:pPr marL="0" indent="0" algn="l">
              <a:buNone/>
            </a:pPr>
            <a:r>
              <a:rPr lang="en-US" sz="1000" i="1" dirty="0">
                <a:solidFill>
                  <a:srgbClr val="E74C3C"/>
                </a:solidFill>
                <a:latin typeface="Courier New" pitchFamily="34" charset="0"/>
                <a:ea typeface="Courier New" pitchFamily="34" charset="-122"/>
                <a:cs typeface="Courier New" pitchFamily="34" charset="-120"/>
              </a:rPr>
              <a:t>"[Report contains no mention of the encrypted VeraCrypt container found on the same device.]"</a:t>
            </a:r>
            <a:endParaRPr lang="en-US" sz="1000" dirty="0"/>
          </a:p>
        </p:txBody>
      </p:sp>
      <p:pic>
        <p:nvPicPr>
          <p:cNvPr id="38" name="Image 5" descr="preencoded.png"/>
          <p:cNvPicPr>
            <a:picLocks noChangeAspect="1"/>
          </p:cNvPicPr>
          <p:nvPr/>
        </p:nvPicPr>
        <p:blipFill>
          <a:blip r:embed="rId4"/>
          <a:stretch>
            <a:fillRect/>
          </a:stretch>
        </p:blipFill>
        <p:spPr>
          <a:xfrm>
            <a:off x="6126480" y="3840480"/>
            <a:ext cx="219456" cy="219456"/>
          </a:xfrm>
          <a:prstGeom prst="rect">
            <a:avLst/>
          </a:prstGeom>
        </p:spPr>
      </p:pic>
      <p:sp>
        <p:nvSpPr>
          <p:cNvPr id="39" name="Text 31"/>
          <p:cNvSpPr/>
          <p:nvPr/>
        </p:nvSpPr>
        <p:spPr>
          <a:xfrm>
            <a:off x="6382512" y="3831336"/>
            <a:ext cx="914400" cy="201168"/>
          </a:xfrm>
          <a:prstGeom prst="rect">
            <a:avLst/>
          </a:prstGeom>
          <a:noFill/>
          <a:ln/>
        </p:spPr>
        <p:txBody>
          <a:bodyPr wrap="square" lIns="0" tIns="0" rIns="0" bIns="0" rtlCol="0" anchor="ctr"/>
          <a:lstStyle/>
          <a:p>
            <a:pPr marL="0" indent="0">
              <a:buNone/>
            </a:pPr>
            <a:r>
              <a:rPr lang="en-US" sz="900" b="1" dirty="0">
                <a:solidFill>
                  <a:srgbClr val="27AE60"/>
                </a:solidFill>
                <a:latin typeface="Calibri" pitchFamily="34" charset="0"/>
                <a:ea typeface="Calibri" pitchFamily="34" charset="-122"/>
                <a:cs typeface="Calibri" pitchFamily="34" charset="-120"/>
              </a:rPr>
              <a:t>GOOD</a:t>
            </a:r>
            <a:endParaRPr lang="en-US" sz="900" dirty="0"/>
          </a:p>
        </p:txBody>
      </p:sp>
      <p:sp>
        <p:nvSpPr>
          <p:cNvPr id="40" name="Text 32"/>
          <p:cNvSpPr/>
          <p:nvPr/>
        </p:nvSpPr>
        <p:spPr>
          <a:xfrm>
            <a:off x="6126480" y="4069080"/>
            <a:ext cx="2615184" cy="804672"/>
          </a:xfrm>
          <a:prstGeom prst="rect">
            <a:avLst/>
          </a:prstGeom>
          <a:noFill/>
          <a:ln/>
        </p:spPr>
        <p:txBody>
          <a:bodyPr wrap="square" lIns="0" tIns="0" rIns="0" bIns="0" rtlCol="0" anchor="ctr"/>
          <a:lstStyle/>
          <a:p>
            <a:pPr marL="0" indent="0" algn="l">
              <a:buNone/>
            </a:pPr>
            <a:r>
              <a:rPr lang="en-US" sz="1000" i="1" dirty="0">
                <a:solidFill>
                  <a:srgbClr val="27AE60"/>
                </a:solidFill>
                <a:latin typeface="Courier New" pitchFamily="34" charset="0"/>
                <a:ea typeface="Courier New" pitchFamily="34" charset="-122"/>
                <a:cs typeface="Courier New" pitchFamily="34" charset="-120"/>
              </a:rPr>
              <a:t>"VeraCrypt container (DATA.vc) found at D:\. Contents cannot be examined without the decryption key — this is a limitation of this investigation."</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0A8A8"/>
          </a:solidFill>
          <a:ln w="12700">
            <a:solidFill>
              <a:srgbClr val="00A8A8"/>
            </a:solidFill>
            <a:prstDash val="solid"/>
          </a:ln>
        </p:spPr>
        <p:txBody>
          <a:bodyPr/>
          <a:lstStyle/>
          <a:p>
            <a:endParaRPr lang="en-SG"/>
          </a:p>
        </p:txBody>
      </p:sp>
      <p:sp>
        <p:nvSpPr>
          <p:cNvPr id="3" name="Text 1"/>
          <p:cNvSpPr/>
          <p:nvPr/>
        </p:nvSpPr>
        <p:spPr>
          <a:xfrm>
            <a:off x="365760" y="164592"/>
            <a:ext cx="8412480" cy="594360"/>
          </a:xfrm>
          <a:prstGeom prst="rect">
            <a:avLst/>
          </a:prstGeom>
          <a:noFill/>
          <a:ln/>
        </p:spPr>
        <p:txBody>
          <a:bodyPr wrap="square" lIns="0" tIns="0" rIns="0" bIns="0" rtlCol="0" anchor="ctr"/>
          <a:lstStyle/>
          <a:p>
            <a:pPr marL="0" indent="0" algn="l">
              <a:buNone/>
            </a:pPr>
            <a:r>
              <a:rPr lang="en-US" sz="2800" b="1" dirty="0">
                <a:solidFill>
                  <a:srgbClr val="1A1A2E"/>
                </a:solidFill>
                <a:latin typeface="Trebuchet MS" pitchFamily="34" charset="0"/>
                <a:ea typeface="Trebuchet MS" pitchFamily="34" charset="-122"/>
                <a:cs typeface="Trebuchet MS" pitchFamily="34" charset="-120"/>
              </a:rPr>
              <a:t>Good vs Poor Report Writing — Side-by-Side Comparison</a:t>
            </a:r>
            <a:endParaRPr lang="en-US" sz="2800" dirty="0"/>
          </a:p>
        </p:txBody>
      </p:sp>
      <p:sp>
        <p:nvSpPr>
          <p:cNvPr id="4" name="Text 2"/>
          <p:cNvSpPr/>
          <p:nvPr/>
        </p:nvSpPr>
        <p:spPr>
          <a:xfrm>
            <a:off x="365760" y="786384"/>
            <a:ext cx="8412480" cy="228600"/>
          </a:xfrm>
          <a:prstGeom prst="rect">
            <a:avLst/>
          </a:prstGeom>
          <a:noFill/>
          <a:ln/>
        </p:spPr>
        <p:txBody>
          <a:bodyPr wrap="square" lIns="0" tIns="0" rIns="0" bIns="0" rtlCol="0" anchor="ctr"/>
          <a:lstStyle/>
          <a:p>
            <a:pPr marL="0" indent="0" algn="l">
              <a:buNone/>
            </a:pPr>
            <a:r>
              <a:rPr lang="en-US" sz="1100" i="1" dirty="0">
                <a:solidFill>
                  <a:srgbClr val="00A8A8"/>
                </a:solidFill>
                <a:latin typeface="Calibri" pitchFamily="34" charset="0"/>
                <a:ea typeface="Calibri" pitchFamily="34" charset="-122"/>
                <a:cs typeface="Calibri" pitchFamily="34" charset="-120"/>
              </a:rPr>
              <a:t>Real examples — notice how word choice, specificity, and objectivity define credibility in court.</a:t>
            </a:r>
            <a:endParaRPr lang="en-US" sz="1100" dirty="0"/>
          </a:p>
        </p:txBody>
      </p:sp>
      <p:sp>
        <p:nvSpPr>
          <p:cNvPr id="5" name="Shape 3"/>
          <p:cNvSpPr/>
          <p:nvPr/>
        </p:nvSpPr>
        <p:spPr>
          <a:xfrm>
            <a:off x="274320" y="1078992"/>
            <a:ext cx="4224528" cy="347472"/>
          </a:xfrm>
          <a:prstGeom prst="rect">
            <a:avLst/>
          </a:prstGeom>
          <a:solidFill>
            <a:srgbClr val="FEF2F2"/>
          </a:solidFill>
          <a:ln w="12700">
            <a:solidFill>
              <a:srgbClr val="E74C3C"/>
            </a:solidFill>
            <a:prstDash val="solid"/>
          </a:ln>
        </p:spPr>
        <p:txBody>
          <a:bodyPr/>
          <a:lstStyle/>
          <a:p>
            <a:endParaRPr lang="en-SG"/>
          </a:p>
        </p:txBody>
      </p:sp>
      <p:pic>
        <p:nvPicPr>
          <p:cNvPr id="6" name="Image 0" descr="preencoded.png"/>
          <p:cNvPicPr>
            <a:picLocks noChangeAspect="1"/>
          </p:cNvPicPr>
          <p:nvPr/>
        </p:nvPicPr>
        <p:blipFill>
          <a:blip r:embed="rId3"/>
          <a:stretch>
            <a:fillRect/>
          </a:stretch>
        </p:blipFill>
        <p:spPr>
          <a:xfrm>
            <a:off x="384048" y="1143000"/>
            <a:ext cx="201168" cy="201168"/>
          </a:xfrm>
          <a:prstGeom prst="rect">
            <a:avLst/>
          </a:prstGeom>
        </p:spPr>
      </p:pic>
      <p:sp>
        <p:nvSpPr>
          <p:cNvPr id="7" name="Text 4"/>
          <p:cNvSpPr/>
          <p:nvPr/>
        </p:nvSpPr>
        <p:spPr>
          <a:xfrm>
            <a:off x="640080" y="1078992"/>
            <a:ext cx="3749040" cy="347472"/>
          </a:xfrm>
          <a:prstGeom prst="rect">
            <a:avLst/>
          </a:prstGeom>
          <a:noFill/>
          <a:ln/>
        </p:spPr>
        <p:txBody>
          <a:bodyPr wrap="square" lIns="0" tIns="0" rIns="0" bIns="0" rtlCol="0" anchor="ctr"/>
          <a:lstStyle/>
          <a:p>
            <a:pPr marL="0" indent="0" algn="l">
              <a:buNone/>
            </a:pPr>
            <a:r>
              <a:rPr lang="en-US" sz="1200" b="1" dirty="0">
                <a:solidFill>
                  <a:srgbClr val="E74C3C"/>
                </a:solidFill>
                <a:latin typeface="Trebuchet MS" pitchFamily="34" charset="0"/>
                <a:ea typeface="Trebuchet MS" pitchFamily="34" charset="-122"/>
                <a:cs typeface="Trebuchet MS" pitchFamily="34" charset="-120"/>
              </a:rPr>
              <a:t>POOR REPORT — What Not to Write</a:t>
            </a:r>
            <a:endParaRPr lang="en-US" sz="1200" dirty="0"/>
          </a:p>
        </p:txBody>
      </p:sp>
      <p:sp>
        <p:nvSpPr>
          <p:cNvPr id="8" name="Shape 5"/>
          <p:cNvSpPr/>
          <p:nvPr/>
        </p:nvSpPr>
        <p:spPr>
          <a:xfrm>
            <a:off x="4663440" y="1042416"/>
            <a:ext cx="4224528" cy="384048"/>
          </a:xfrm>
          <a:prstGeom prst="rect">
            <a:avLst/>
          </a:prstGeom>
          <a:solidFill>
            <a:srgbClr val="F0FDF4"/>
          </a:solidFill>
          <a:ln w="12700">
            <a:solidFill>
              <a:srgbClr val="27AE60"/>
            </a:solidFill>
            <a:prstDash val="solid"/>
          </a:ln>
        </p:spPr>
        <p:txBody>
          <a:bodyPr/>
          <a:lstStyle/>
          <a:p>
            <a:endParaRPr lang="en-SG"/>
          </a:p>
        </p:txBody>
      </p:sp>
      <p:pic>
        <p:nvPicPr>
          <p:cNvPr id="9" name="Image 1" descr="preencoded.png"/>
          <p:cNvPicPr>
            <a:picLocks noChangeAspect="1"/>
          </p:cNvPicPr>
          <p:nvPr/>
        </p:nvPicPr>
        <p:blipFill>
          <a:blip r:embed="rId4"/>
          <a:stretch>
            <a:fillRect/>
          </a:stretch>
        </p:blipFill>
        <p:spPr>
          <a:xfrm>
            <a:off x="4773168" y="1143000"/>
            <a:ext cx="201168" cy="201168"/>
          </a:xfrm>
          <a:prstGeom prst="rect">
            <a:avLst/>
          </a:prstGeom>
        </p:spPr>
      </p:pic>
      <p:sp>
        <p:nvSpPr>
          <p:cNvPr id="10" name="Text 6"/>
          <p:cNvSpPr/>
          <p:nvPr/>
        </p:nvSpPr>
        <p:spPr>
          <a:xfrm>
            <a:off x="5029200" y="1078992"/>
            <a:ext cx="3749040" cy="347472"/>
          </a:xfrm>
          <a:prstGeom prst="rect">
            <a:avLst/>
          </a:prstGeom>
          <a:noFill/>
          <a:ln/>
        </p:spPr>
        <p:txBody>
          <a:bodyPr wrap="square" lIns="0" tIns="0" rIns="0" bIns="0" rtlCol="0" anchor="ctr"/>
          <a:lstStyle/>
          <a:p>
            <a:pPr marL="0" indent="0" algn="l">
              <a:buNone/>
            </a:pPr>
            <a:r>
              <a:rPr lang="en-US" sz="1200" b="1" dirty="0">
                <a:solidFill>
                  <a:srgbClr val="27AE60"/>
                </a:solidFill>
                <a:latin typeface="Trebuchet MS" pitchFamily="34" charset="0"/>
                <a:ea typeface="Trebuchet MS" pitchFamily="34" charset="-122"/>
                <a:cs typeface="Trebuchet MS" pitchFamily="34" charset="-120"/>
              </a:rPr>
              <a:t>WELL-WRITTEN REPORT — The Professional Standard</a:t>
            </a:r>
            <a:endParaRPr lang="en-US" sz="1200" dirty="0"/>
          </a:p>
        </p:txBody>
      </p:sp>
      <p:sp>
        <p:nvSpPr>
          <p:cNvPr id="11" name="Shape 7"/>
          <p:cNvSpPr/>
          <p:nvPr/>
        </p:nvSpPr>
        <p:spPr>
          <a:xfrm>
            <a:off x="274320" y="1490472"/>
            <a:ext cx="8595360" cy="804672"/>
          </a:xfrm>
          <a:prstGeom prst="rect">
            <a:avLst/>
          </a:prstGeom>
          <a:solidFill>
            <a:srgbClr val="FFFFFF"/>
          </a:solidFill>
          <a:ln w="12700">
            <a:solidFill>
              <a:srgbClr val="E2E8F0"/>
            </a:solidFill>
            <a:prstDash val="solid"/>
          </a:ln>
        </p:spPr>
        <p:txBody>
          <a:bodyPr/>
          <a:lstStyle/>
          <a:p>
            <a:endParaRPr lang="en-SG"/>
          </a:p>
        </p:txBody>
      </p:sp>
      <p:sp>
        <p:nvSpPr>
          <p:cNvPr id="12" name="Shape 8"/>
          <p:cNvSpPr/>
          <p:nvPr/>
        </p:nvSpPr>
        <p:spPr>
          <a:xfrm>
            <a:off x="274320" y="1490472"/>
            <a:ext cx="1143000" cy="246888"/>
          </a:xfrm>
          <a:prstGeom prst="rect">
            <a:avLst/>
          </a:prstGeom>
          <a:solidFill>
            <a:srgbClr val="F39C12"/>
          </a:solidFill>
          <a:ln w="12700">
            <a:solidFill>
              <a:srgbClr val="F39C12"/>
            </a:solidFill>
            <a:prstDash val="solid"/>
          </a:ln>
        </p:spPr>
        <p:txBody>
          <a:bodyPr/>
          <a:lstStyle/>
          <a:p>
            <a:endParaRPr lang="en-SG"/>
          </a:p>
        </p:txBody>
      </p:sp>
      <p:sp>
        <p:nvSpPr>
          <p:cNvPr id="13" name="Text 9"/>
          <p:cNvSpPr/>
          <p:nvPr/>
        </p:nvSpPr>
        <p:spPr>
          <a:xfrm>
            <a:off x="292608" y="1490472"/>
            <a:ext cx="1106424" cy="246888"/>
          </a:xfrm>
          <a:prstGeom prst="rect">
            <a:avLst/>
          </a:prstGeom>
          <a:noFill/>
          <a:ln/>
        </p:spPr>
        <p:txBody>
          <a:bodyPr wrap="square" lIns="0" tIns="0" rIns="0" bIns="0" rtlCol="0" anchor="ctr"/>
          <a:lstStyle/>
          <a:p>
            <a:pPr marL="0" indent="0" algn="ctr">
              <a:buNone/>
            </a:pPr>
            <a:r>
              <a:rPr lang="en-US" sz="850" b="1" dirty="0">
                <a:solidFill>
                  <a:srgbClr val="0D1B2A"/>
                </a:solidFill>
                <a:latin typeface="Calibri" pitchFamily="34" charset="0"/>
                <a:ea typeface="Calibri" pitchFamily="34" charset="-122"/>
                <a:cs typeface="Calibri" pitchFamily="34" charset="-120"/>
              </a:rPr>
              <a:t>ISSUE: Vague Timestamp</a:t>
            </a:r>
            <a:endParaRPr lang="en-US" sz="850" dirty="0"/>
          </a:p>
        </p:txBody>
      </p:sp>
      <p:sp>
        <p:nvSpPr>
          <p:cNvPr id="14" name="Text 10"/>
          <p:cNvSpPr/>
          <p:nvPr/>
        </p:nvSpPr>
        <p:spPr>
          <a:xfrm>
            <a:off x="347472" y="1764792"/>
            <a:ext cx="4114800" cy="475488"/>
          </a:xfrm>
          <a:prstGeom prst="rect">
            <a:avLst/>
          </a:prstGeom>
          <a:noFill/>
          <a:ln/>
        </p:spPr>
        <p:txBody>
          <a:bodyPr wrap="square" lIns="0" tIns="0" rIns="0" bIns="0" rtlCol="0" anchor="ctr"/>
          <a:lstStyle/>
          <a:p>
            <a:pPr marL="0" indent="0" algn="l">
              <a:buNone/>
            </a:pPr>
            <a:r>
              <a:rPr lang="en-US" sz="1050" i="1" dirty="0">
                <a:solidFill>
                  <a:srgbClr val="E74C3C"/>
                </a:solidFill>
                <a:latin typeface="Courier New" pitchFamily="34" charset="0"/>
                <a:ea typeface="Courier New" pitchFamily="34" charset="-122"/>
                <a:cs typeface="Courier New" pitchFamily="34" charset="-120"/>
              </a:rPr>
              <a:t>"The file was recently deleted sometime in early March."</a:t>
            </a:r>
            <a:endParaRPr lang="en-US" sz="1050" dirty="0"/>
          </a:p>
        </p:txBody>
      </p:sp>
      <p:sp>
        <p:nvSpPr>
          <p:cNvPr id="15" name="Shape 11"/>
          <p:cNvSpPr/>
          <p:nvPr/>
        </p:nvSpPr>
        <p:spPr>
          <a:xfrm>
            <a:off x="4544568" y="1545336"/>
            <a:ext cx="36576" cy="694944"/>
          </a:xfrm>
          <a:prstGeom prst="rect">
            <a:avLst/>
          </a:prstGeom>
          <a:solidFill>
            <a:srgbClr val="F1F5F9"/>
          </a:solidFill>
          <a:ln w="12700">
            <a:solidFill>
              <a:srgbClr val="F1F5F9"/>
            </a:solidFill>
            <a:prstDash val="solid"/>
          </a:ln>
        </p:spPr>
        <p:txBody>
          <a:bodyPr/>
          <a:lstStyle/>
          <a:p>
            <a:endParaRPr lang="en-SG"/>
          </a:p>
        </p:txBody>
      </p:sp>
      <p:sp>
        <p:nvSpPr>
          <p:cNvPr id="16" name="Text 12"/>
          <p:cNvSpPr/>
          <p:nvPr/>
        </p:nvSpPr>
        <p:spPr>
          <a:xfrm>
            <a:off x="4663440" y="1563624"/>
            <a:ext cx="4114800" cy="694944"/>
          </a:xfrm>
          <a:prstGeom prst="rect">
            <a:avLst/>
          </a:prstGeom>
          <a:noFill/>
          <a:ln/>
        </p:spPr>
        <p:txBody>
          <a:bodyPr wrap="square" lIns="0" tIns="0" rIns="0" bIns="0" rtlCol="0" anchor="ctr"/>
          <a:lstStyle/>
          <a:p>
            <a:pPr marL="0" indent="0" algn="l">
              <a:buNone/>
            </a:pPr>
            <a:r>
              <a:rPr lang="en-US" sz="1050" i="1" dirty="0">
                <a:solidFill>
                  <a:srgbClr val="27AE60"/>
                </a:solidFill>
                <a:latin typeface="Courier New" pitchFamily="34" charset="0"/>
                <a:ea typeface="Courier New" pitchFamily="34" charset="-122"/>
                <a:cs typeface="Courier New" pitchFamily="34" charset="-120"/>
              </a:rPr>
              <a:t>"node.exe was deleted on 07 Mar 2025 at 09:14:32 UTC per $I30 index entry, Exhibit A-3."</a:t>
            </a:r>
            <a:endParaRPr lang="en-US" sz="1050" dirty="0"/>
          </a:p>
        </p:txBody>
      </p:sp>
      <p:sp>
        <p:nvSpPr>
          <p:cNvPr id="17" name="Shape 13"/>
          <p:cNvSpPr/>
          <p:nvPr/>
        </p:nvSpPr>
        <p:spPr>
          <a:xfrm>
            <a:off x="274320" y="2377440"/>
            <a:ext cx="8595360" cy="804672"/>
          </a:xfrm>
          <a:prstGeom prst="rect">
            <a:avLst/>
          </a:prstGeom>
          <a:solidFill>
            <a:srgbClr val="FFFFFF"/>
          </a:solidFill>
          <a:ln w="12700">
            <a:solidFill>
              <a:srgbClr val="E2E8F0"/>
            </a:solidFill>
            <a:prstDash val="solid"/>
          </a:ln>
        </p:spPr>
        <p:txBody>
          <a:bodyPr/>
          <a:lstStyle/>
          <a:p>
            <a:endParaRPr lang="en-SG"/>
          </a:p>
        </p:txBody>
      </p:sp>
      <p:sp>
        <p:nvSpPr>
          <p:cNvPr id="18" name="Shape 14"/>
          <p:cNvSpPr/>
          <p:nvPr/>
        </p:nvSpPr>
        <p:spPr>
          <a:xfrm>
            <a:off x="274320" y="2377440"/>
            <a:ext cx="1143000" cy="246888"/>
          </a:xfrm>
          <a:prstGeom prst="rect">
            <a:avLst/>
          </a:prstGeom>
          <a:solidFill>
            <a:srgbClr val="F39C12"/>
          </a:solidFill>
          <a:ln w="12700">
            <a:solidFill>
              <a:srgbClr val="F39C12"/>
            </a:solidFill>
            <a:prstDash val="solid"/>
          </a:ln>
        </p:spPr>
        <p:txBody>
          <a:bodyPr/>
          <a:lstStyle/>
          <a:p>
            <a:endParaRPr lang="en-SG"/>
          </a:p>
        </p:txBody>
      </p:sp>
      <p:sp>
        <p:nvSpPr>
          <p:cNvPr id="19" name="Text 15"/>
          <p:cNvSpPr/>
          <p:nvPr/>
        </p:nvSpPr>
        <p:spPr>
          <a:xfrm>
            <a:off x="292608" y="2377440"/>
            <a:ext cx="1106424" cy="246888"/>
          </a:xfrm>
          <a:prstGeom prst="rect">
            <a:avLst/>
          </a:prstGeom>
          <a:noFill/>
          <a:ln/>
        </p:spPr>
        <p:txBody>
          <a:bodyPr wrap="square" lIns="0" tIns="0" rIns="0" bIns="0" rtlCol="0" anchor="ctr"/>
          <a:lstStyle/>
          <a:p>
            <a:pPr marL="0" indent="0" algn="ctr">
              <a:buNone/>
            </a:pPr>
            <a:r>
              <a:rPr lang="en-US" sz="850" b="1" dirty="0">
                <a:solidFill>
                  <a:srgbClr val="0D1B2A"/>
                </a:solidFill>
                <a:latin typeface="Calibri" pitchFamily="34" charset="0"/>
                <a:ea typeface="Calibri" pitchFamily="34" charset="-122"/>
                <a:cs typeface="Calibri" pitchFamily="34" charset="-120"/>
              </a:rPr>
              <a:t>ISSUE: Biased Language</a:t>
            </a:r>
            <a:endParaRPr lang="en-US" sz="850" dirty="0"/>
          </a:p>
        </p:txBody>
      </p:sp>
      <p:sp>
        <p:nvSpPr>
          <p:cNvPr id="20" name="Text 16"/>
          <p:cNvSpPr/>
          <p:nvPr/>
        </p:nvSpPr>
        <p:spPr>
          <a:xfrm>
            <a:off x="347472" y="2651760"/>
            <a:ext cx="4114800" cy="475488"/>
          </a:xfrm>
          <a:prstGeom prst="rect">
            <a:avLst/>
          </a:prstGeom>
          <a:noFill/>
          <a:ln/>
        </p:spPr>
        <p:txBody>
          <a:bodyPr wrap="square" lIns="0" tIns="0" rIns="0" bIns="0" rtlCol="0" anchor="ctr"/>
          <a:lstStyle/>
          <a:p>
            <a:pPr marL="0" indent="0" algn="l">
              <a:buNone/>
            </a:pPr>
            <a:r>
              <a:rPr lang="en-US" sz="1050" i="1" dirty="0">
                <a:solidFill>
                  <a:srgbClr val="E74C3C"/>
                </a:solidFill>
                <a:latin typeface="Courier New" pitchFamily="34" charset="0"/>
                <a:ea typeface="Courier New" pitchFamily="34" charset="-122"/>
                <a:cs typeface="Courier New" pitchFamily="34" charset="-120"/>
              </a:rPr>
              <a:t>"The suspect obviously moved the files to hide evidence before the arrest."</a:t>
            </a:r>
            <a:endParaRPr lang="en-US" sz="1050" dirty="0"/>
          </a:p>
        </p:txBody>
      </p:sp>
      <p:sp>
        <p:nvSpPr>
          <p:cNvPr id="21" name="Shape 17"/>
          <p:cNvSpPr/>
          <p:nvPr/>
        </p:nvSpPr>
        <p:spPr>
          <a:xfrm>
            <a:off x="4544568" y="2432304"/>
            <a:ext cx="36576" cy="694944"/>
          </a:xfrm>
          <a:prstGeom prst="rect">
            <a:avLst/>
          </a:prstGeom>
          <a:solidFill>
            <a:srgbClr val="F1F5F9"/>
          </a:solidFill>
          <a:ln w="12700">
            <a:solidFill>
              <a:srgbClr val="F1F5F9"/>
            </a:solidFill>
            <a:prstDash val="solid"/>
          </a:ln>
        </p:spPr>
        <p:txBody>
          <a:bodyPr/>
          <a:lstStyle/>
          <a:p>
            <a:endParaRPr lang="en-SG"/>
          </a:p>
        </p:txBody>
      </p:sp>
      <p:sp>
        <p:nvSpPr>
          <p:cNvPr id="22" name="Text 18"/>
          <p:cNvSpPr/>
          <p:nvPr/>
        </p:nvSpPr>
        <p:spPr>
          <a:xfrm>
            <a:off x="4663440" y="2450592"/>
            <a:ext cx="4114800" cy="694944"/>
          </a:xfrm>
          <a:prstGeom prst="rect">
            <a:avLst/>
          </a:prstGeom>
          <a:noFill/>
          <a:ln/>
        </p:spPr>
        <p:txBody>
          <a:bodyPr wrap="square" lIns="0" tIns="0" rIns="0" bIns="0" rtlCol="0" anchor="ctr"/>
          <a:lstStyle/>
          <a:p>
            <a:pPr marL="0" indent="0" algn="l">
              <a:buNone/>
            </a:pPr>
            <a:r>
              <a:rPr lang="en-US" sz="1050" i="1" dirty="0">
                <a:solidFill>
                  <a:srgbClr val="27AE60"/>
                </a:solidFill>
                <a:latin typeface="Courier New" pitchFamily="34" charset="0"/>
                <a:ea typeface="Courier New" pitchFamily="34" charset="-122"/>
                <a:cs typeface="Courier New" pitchFamily="34" charset="-120"/>
              </a:rPr>
              <a:t>"47 files were relocated from C:\Users\jsmith to USB (SN: ABC123) on 06 Mar 2025 at 22:48 UTC."</a:t>
            </a:r>
            <a:endParaRPr lang="en-US" sz="1050" dirty="0"/>
          </a:p>
        </p:txBody>
      </p:sp>
      <p:sp>
        <p:nvSpPr>
          <p:cNvPr id="23" name="Shape 19"/>
          <p:cNvSpPr/>
          <p:nvPr/>
        </p:nvSpPr>
        <p:spPr>
          <a:xfrm>
            <a:off x="274320" y="3264408"/>
            <a:ext cx="8595360" cy="804672"/>
          </a:xfrm>
          <a:prstGeom prst="rect">
            <a:avLst/>
          </a:prstGeom>
          <a:solidFill>
            <a:srgbClr val="FFFFFF"/>
          </a:solidFill>
          <a:ln w="12700">
            <a:solidFill>
              <a:srgbClr val="E2E8F0"/>
            </a:solidFill>
            <a:prstDash val="solid"/>
          </a:ln>
        </p:spPr>
        <p:txBody>
          <a:bodyPr/>
          <a:lstStyle/>
          <a:p>
            <a:endParaRPr lang="en-SG"/>
          </a:p>
        </p:txBody>
      </p:sp>
      <p:sp>
        <p:nvSpPr>
          <p:cNvPr id="24" name="Shape 20"/>
          <p:cNvSpPr/>
          <p:nvPr/>
        </p:nvSpPr>
        <p:spPr>
          <a:xfrm>
            <a:off x="274320" y="3264408"/>
            <a:ext cx="1143000" cy="246888"/>
          </a:xfrm>
          <a:prstGeom prst="rect">
            <a:avLst/>
          </a:prstGeom>
          <a:solidFill>
            <a:srgbClr val="F39C12"/>
          </a:solidFill>
          <a:ln w="12700">
            <a:solidFill>
              <a:srgbClr val="F39C12"/>
            </a:solidFill>
            <a:prstDash val="solid"/>
          </a:ln>
        </p:spPr>
        <p:txBody>
          <a:bodyPr/>
          <a:lstStyle/>
          <a:p>
            <a:endParaRPr lang="en-SG"/>
          </a:p>
        </p:txBody>
      </p:sp>
      <p:sp>
        <p:nvSpPr>
          <p:cNvPr id="25" name="Text 21"/>
          <p:cNvSpPr/>
          <p:nvPr/>
        </p:nvSpPr>
        <p:spPr>
          <a:xfrm>
            <a:off x="292608" y="3264408"/>
            <a:ext cx="1106424" cy="246888"/>
          </a:xfrm>
          <a:prstGeom prst="rect">
            <a:avLst/>
          </a:prstGeom>
          <a:noFill/>
          <a:ln/>
        </p:spPr>
        <p:txBody>
          <a:bodyPr wrap="square" lIns="0" tIns="0" rIns="0" bIns="0" rtlCol="0" anchor="ctr"/>
          <a:lstStyle/>
          <a:p>
            <a:pPr marL="0" indent="0" algn="ctr">
              <a:buNone/>
            </a:pPr>
            <a:r>
              <a:rPr lang="en-US" sz="850" b="1" dirty="0">
                <a:solidFill>
                  <a:srgbClr val="0D1B2A"/>
                </a:solidFill>
                <a:latin typeface="Calibri" pitchFamily="34" charset="0"/>
                <a:ea typeface="Calibri" pitchFamily="34" charset="-122"/>
                <a:cs typeface="Calibri" pitchFamily="34" charset="-120"/>
              </a:rPr>
              <a:t>ISSUE: Speculation</a:t>
            </a:r>
            <a:endParaRPr lang="en-US" sz="850" dirty="0"/>
          </a:p>
        </p:txBody>
      </p:sp>
      <p:sp>
        <p:nvSpPr>
          <p:cNvPr id="26" name="Text 22"/>
          <p:cNvSpPr/>
          <p:nvPr/>
        </p:nvSpPr>
        <p:spPr>
          <a:xfrm>
            <a:off x="347472" y="3538728"/>
            <a:ext cx="4114800" cy="475488"/>
          </a:xfrm>
          <a:prstGeom prst="rect">
            <a:avLst/>
          </a:prstGeom>
          <a:noFill/>
          <a:ln/>
        </p:spPr>
        <p:txBody>
          <a:bodyPr wrap="square" lIns="0" tIns="0" rIns="0" bIns="0" rtlCol="0" anchor="ctr"/>
          <a:lstStyle/>
          <a:p>
            <a:pPr marL="0" indent="0" algn="l">
              <a:buNone/>
            </a:pPr>
            <a:r>
              <a:rPr lang="en-US" sz="1050" i="1" dirty="0">
                <a:solidFill>
                  <a:srgbClr val="E74C3C"/>
                </a:solidFill>
                <a:latin typeface="Courier New" pitchFamily="34" charset="0"/>
                <a:ea typeface="Courier New" pitchFamily="34" charset="-122"/>
                <a:cs typeface="Courier New" pitchFamily="34" charset="-120"/>
              </a:rPr>
              <a:t>"The defendant must have known the files were encrypted because he worked in IT."</a:t>
            </a:r>
            <a:endParaRPr lang="en-US" sz="1050" dirty="0"/>
          </a:p>
        </p:txBody>
      </p:sp>
      <p:sp>
        <p:nvSpPr>
          <p:cNvPr id="27" name="Shape 23"/>
          <p:cNvSpPr/>
          <p:nvPr/>
        </p:nvSpPr>
        <p:spPr>
          <a:xfrm>
            <a:off x="4544568" y="3319272"/>
            <a:ext cx="36576" cy="694944"/>
          </a:xfrm>
          <a:prstGeom prst="rect">
            <a:avLst/>
          </a:prstGeom>
          <a:solidFill>
            <a:srgbClr val="F1F5F9"/>
          </a:solidFill>
          <a:ln w="12700">
            <a:solidFill>
              <a:srgbClr val="F1F5F9"/>
            </a:solidFill>
            <a:prstDash val="solid"/>
          </a:ln>
        </p:spPr>
        <p:txBody>
          <a:bodyPr/>
          <a:lstStyle/>
          <a:p>
            <a:endParaRPr lang="en-SG"/>
          </a:p>
        </p:txBody>
      </p:sp>
      <p:sp>
        <p:nvSpPr>
          <p:cNvPr id="28" name="Text 24"/>
          <p:cNvSpPr/>
          <p:nvPr/>
        </p:nvSpPr>
        <p:spPr>
          <a:xfrm>
            <a:off x="4663440" y="3337560"/>
            <a:ext cx="4114800" cy="694944"/>
          </a:xfrm>
          <a:prstGeom prst="rect">
            <a:avLst/>
          </a:prstGeom>
          <a:noFill/>
          <a:ln/>
        </p:spPr>
        <p:txBody>
          <a:bodyPr wrap="square" lIns="0" tIns="0" rIns="0" bIns="0" rtlCol="0" anchor="ctr"/>
          <a:lstStyle/>
          <a:p>
            <a:pPr marL="0" indent="0" algn="l">
              <a:buNone/>
            </a:pPr>
            <a:r>
              <a:rPr lang="en-US" sz="1050" i="1" dirty="0">
                <a:solidFill>
                  <a:srgbClr val="27AE60"/>
                </a:solidFill>
                <a:latin typeface="Courier New" pitchFamily="34" charset="0"/>
                <a:ea typeface="Courier New" pitchFamily="34" charset="-122"/>
                <a:cs typeface="Courier New" pitchFamily="34" charset="-120"/>
              </a:rPr>
              <a:t>"A VeraCrypt container was identified. Whether the account holder had knowledge of encryption cannot be determined from digital evidence alone."</a:t>
            </a:r>
            <a:endParaRPr lang="en-US" sz="1050" dirty="0"/>
          </a:p>
        </p:txBody>
      </p:sp>
      <p:sp>
        <p:nvSpPr>
          <p:cNvPr id="29" name="Shape 25"/>
          <p:cNvSpPr/>
          <p:nvPr/>
        </p:nvSpPr>
        <p:spPr>
          <a:xfrm>
            <a:off x="274320" y="4151376"/>
            <a:ext cx="8595360" cy="804672"/>
          </a:xfrm>
          <a:prstGeom prst="rect">
            <a:avLst/>
          </a:prstGeom>
          <a:solidFill>
            <a:srgbClr val="FFFFFF"/>
          </a:solidFill>
          <a:ln w="12700">
            <a:solidFill>
              <a:srgbClr val="E2E8F0"/>
            </a:solidFill>
            <a:prstDash val="solid"/>
          </a:ln>
        </p:spPr>
        <p:txBody>
          <a:bodyPr/>
          <a:lstStyle/>
          <a:p>
            <a:endParaRPr lang="en-SG"/>
          </a:p>
        </p:txBody>
      </p:sp>
      <p:sp>
        <p:nvSpPr>
          <p:cNvPr id="30" name="Shape 26"/>
          <p:cNvSpPr/>
          <p:nvPr/>
        </p:nvSpPr>
        <p:spPr>
          <a:xfrm>
            <a:off x="274320" y="4151376"/>
            <a:ext cx="1143000" cy="246888"/>
          </a:xfrm>
          <a:prstGeom prst="rect">
            <a:avLst/>
          </a:prstGeom>
          <a:solidFill>
            <a:srgbClr val="F39C12"/>
          </a:solidFill>
          <a:ln w="12700">
            <a:solidFill>
              <a:srgbClr val="F39C12"/>
            </a:solidFill>
            <a:prstDash val="solid"/>
          </a:ln>
        </p:spPr>
        <p:txBody>
          <a:bodyPr/>
          <a:lstStyle/>
          <a:p>
            <a:endParaRPr lang="en-SG"/>
          </a:p>
        </p:txBody>
      </p:sp>
      <p:sp>
        <p:nvSpPr>
          <p:cNvPr id="31" name="Text 27"/>
          <p:cNvSpPr/>
          <p:nvPr/>
        </p:nvSpPr>
        <p:spPr>
          <a:xfrm>
            <a:off x="292608" y="4151376"/>
            <a:ext cx="1106424" cy="246888"/>
          </a:xfrm>
          <a:prstGeom prst="rect">
            <a:avLst/>
          </a:prstGeom>
          <a:noFill/>
          <a:ln/>
        </p:spPr>
        <p:txBody>
          <a:bodyPr wrap="square" lIns="0" tIns="0" rIns="0" bIns="0" rtlCol="0" anchor="ctr"/>
          <a:lstStyle/>
          <a:p>
            <a:pPr marL="0" indent="0" algn="ctr">
              <a:buNone/>
            </a:pPr>
            <a:r>
              <a:rPr lang="en-US" sz="850" b="1" dirty="0">
                <a:solidFill>
                  <a:srgbClr val="0D1B2A"/>
                </a:solidFill>
                <a:latin typeface="Calibri" pitchFamily="34" charset="0"/>
                <a:ea typeface="Calibri" pitchFamily="34" charset="-122"/>
                <a:cs typeface="Calibri" pitchFamily="34" charset="-120"/>
              </a:rPr>
              <a:t>ISSUE: Omitted Evidence</a:t>
            </a:r>
            <a:endParaRPr lang="en-US" sz="850" dirty="0"/>
          </a:p>
        </p:txBody>
      </p:sp>
      <p:sp>
        <p:nvSpPr>
          <p:cNvPr id="32" name="Text 28"/>
          <p:cNvSpPr/>
          <p:nvPr/>
        </p:nvSpPr>
        <p:spPr>
          <a:xfrm>
            <a:off x="347472" y="4425696"/>
            <a:ext cx="4114800" cy="475488"/>
          </a:xfrm>
          <a:prstGeom prst="rect">
            <a:avLst/>
          </a:prstGeom>
          <a:noFill/>
          <a:ln/>
        </p:spPr>
        <p:txBody>
          <a:bodyPr wrap="square" lIns="0" tIns="0" rIns="0" bIns="0" rtlCol="0" anchor="ctr"/>
          <a:lstStyle/>
          <a:p>
            <a:pPr marL="0" indent="0" algn="l">
              <a:buNone/>
            </a:pPr>
            <a:r>
              <a:rPr lang="en-US" sz="1050" i="1" dirty="0">
                <a:solidFill>
                  <a:srgbClr val="E74C3C"/>
                </a:solidFill>
                <a:latin typeface="Courier New" pitchFamily="34" charset="0"/>
                <a:ea typeface="Courier New" pitchFamily="34" charset="-122"/>
                <a:cs typeface="Courier New" pitchFamily="34" charset="-120"/>
              </a:rPr>
              <a:t>"[Report concludes drive had no illegal files — encrypted volume not mentioned]"</a:t>
            </a:r>
            <a:endParaRPr lang="en-US" sz="1050" dirty="0"/>
          </a:p>
        </p:txBody>
      </p:sp>
      <p:sp>
        <p:nvSpPr>
          <p:cNvPr id="33" name="Shape 29"/>
          <p:cNvSpPr/>
          <p:nvPr/>
        </p:nvSpPr>
        <p:spPr>
          <a:xfrm>
            <a:off x="4544568" y="4206240"/>
            <a:ext cx="36576" cy="694944"/>
          </a:xfrm>
          <a:prstGeom prst="rect">
            <a:avLst/>
          </a:prstGeom>
          <a:solidFill>
            <a:srgbClr val="F1F5F9"/>
          </a:solidFill>
          <a:ln w="12700">
            <a:solidFill>
              <a:srgbClr val="F1F5F9"/>
            </a:solidFill>
            <a:prstDash val="solid"/>
          </a:ln>
        </p:spPr>
        <p:txBody>
          <a:bodyPr/>
          <a:lstStyle/>
          <a:p>
            <a:endParaRPr lang="en-SG"/>
          </a:p>
        </p:txBody>
      </p:sp>
      <p:sp>
        <p:nvSpPr>
          <p:cNvPr id="34" name="Text 30"/>
          <p:cNvSpPr/>
          <p:nvPr/>
        </p:nvSpPr>
        <p:spPr>
          <a:xfrm>
            <a:off x="4663440" y="4224528"/>
            <a:ext cx="4114800" cy="694944"/>
          </a:xfrm>
          <a:prstGeom prst="rect">
            <a:avLst/>
          </a:prstGeom>
          <a:noFill/>
          <a:ln/>
        </p:spPr>
        <p:txBody>
          <a:bodyPr wrap="square" lIns="0" tIns="0" rIns="0" bIns="0" rtlCol="0" anchor="ctr"/>
          <a:lstStyle/>
          <a:p>
            <a:pPr marL="0" indent="0" algn="l">
              <a:buNone/>
            </a:pPr>
            <a:r>
              <a:rPr lang="en-US" sz="1050" i="1" dirty="0">
                <a:solidFill>
                  <a:srgbClr val="27AE60"/>
                </a:solidFill>
                <a:latin typeface="Courier New" pitchFamily="34" charset="0"/>
                <a:ea typeface="Courier New" pitchFamily="34" charset="-122"/>
                <a:cs typeface="Courier New" pitchFamily="34" charset="-120"/>
              </a:rPr>
              <a:t>"128GB encrypted volume (VeraCrypt) at E:\. Contents cannot be examined without decryption key — this is a limitation."</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0A8A8"/>
          </a:solidFill>
          <a:ln w="12700">
            <a:solidFill>
              <a:srgbClr val="00A8A8"/>
            </a:solidFill>
            <a:prstDash val="solid"/>
          </a:ln>
        </p:spPr>
        <p:txBody>
          <a:bodyPr/>
          <a:lstStyle/>
          <a:p>
            <a:endParaRPr lang="en-SG"/>
          </a:p>
        </p:txBody>
      </p:sp>
      <p:sp>
        <p:nvSpPr>
          <p:cNvPr id="3" name="Text 1"/>
          <p:cNvSpPr/>
          <p:nvPr/>
        </p:nvSpPr>
        <p:spPr>
          <a:xfrm>
            <a:off x="365760" y="164592"/>
            <a:ext cx="8412480" cy="594360"/>
          </a:xfrm>
          <a:prstGeom prst="rect">
            <a:avLst/>
          </a:prstGeom>
          <a:noFill/>
          <a:ln/>
        </p:spPr>
        <p:txBody>
          <a:bodyPr wrap="square" lIns="0" tIns="0" rIns="0" bIns="0" rtlCol="0" anchor="ctr"/>
          <a:lstStyle/>
          <a:p>
            <a:pPr marL="0" indent="0" algn="l">
              <a:buNone/>
            </a:pPr>
            <a:r>
              <a:rPr lang="en-US" sz="2400" b="1" dirty="0">
                <a:solidFill>
                  <a:srgbClr val="1A1A2E"/>
                </a:solidFill>
                <a:latin typeface="Trebuchet MS" pitchFamily="34" charset="0"/>
                <a:ea typeface="Trebuchet MS" pitchFamily="34" charset="-122"/>
                <a:cs typeface="Trebuchet MS" pitchFamily="34" charset="-120"/>
              </a:rPr>
              <a:t>Role of the Forensic Examiner as Expert Witness</a:t>
            </a:r>
            <a:endParaRPr lang="en-US" sz="2400" dirty="0"/>
          </a:p>
        </p:txBody>
      </p:sp>
      <p:sp>
        <p:nvSpPr>
          <p:cNvPr id="4" name="Text 2"/>
          <p:cNvSpPr/>
          <p:nvPr/>
        </p:nvSpPr>
        <p:spPr>
          <a:xfrm>
            <a:off x="365760" y="786384"/>
            <a:ext cx="8412480" cy="228600"/>
          </a:xfrm>
          <a:prstGeom prst="rect">
            <a:avLst/>
          </a:prstGeom>
          <a:noFill/>
          <a:ln/>
        </p:spPr>
        <p:txBody>
          <a:bodyPr wrap="square" lIns="0" tIns="0" rIns="0" bIns="0" rtlCol="0" anchor="ctr"/>
          <a:lstStyle/>
          <a:p>
            <a:pPr marL="0" indent="0" algn="l">
              <a:buNone/>
            </a:pPr>
            <a:r>
              <a:rPr lang="en-US" sz="1100" i="1" dirty="0">
                <a:solidFill>
                  <a:srgbClr val="00A8A8"/>
                </a:solidFill>
                <a:latin typeface="Calibri" pitchFamily="34" charset="0"/>
                <a:ea typeface="Calibri" pitchFamily="34" charset="-122"/>
                <a:cs typeface="Calibri" pitchFamily="34" charset="-120"/>
              </a:rPr>
              <a:t>An expert witness assists the court in understanding complex technical matters — primary duty is to the COURT, not the client.</a:t>
            </a:r>
            <a:endParaRPr lang="en-US" sz="1100" dirty="0"/>
          </a:p>
        </p:txBody>
      </p:sp>
      <p:sp>
        <p:nvSpPr>
          <p:cNvPr id="5" name="Shape 3"/>
          <p:cNvSpPr/>
          <p:nvPr/>
        </p:nvSpPr>
        <p:spPr>
          <a:xfrm>
            <a:off x="274320" y="1078992"/>
            <a:ext cx="4187952" cy="1216152"/>
          </a:xfrm>
          <a:prstGeom prst="rect">
            <a:avLst/>
          </a:prstGeom>
          <a:solidFill>
            <a:srgbClr val="EEF6FB"/>
          </a:solidFill>
          <a:ln w="12700">
            <a:solidFill>
              <a:srgbClr val="EEF6FB"/>
            </a:solidFill>
            <a:prstDash val="solid"/>
          </a:ln>
          <a:effectLst>
            <a:outerShdw blurRad="76200" dist="25400" dir="8100000" algn="bl" rotWithShape="0">
              <a:srgbClr val="000000">
                <a:alpha val="25000"/>
              </a:srgbClr>
            </a:outerShdw>
          </a:effectLst>
        </p:spPr>
        <p:txBody>
          <a:bodyPr/>
          <a:lstStyle/>
          <a:p>
            <a:endParaRPr lang="en-SG"/>
          </a:p>
        </p:txBody>
      </p:sp>
      <p:sp>
        <p:nvSpPr>
          <p:cNvPr id="6" name="Shape 4"/>
          <p:cNvSpPr/>
          <p:nvPr/>
        </p:nvSpPr>
        <p:spPr>
          <a:xfrm>
            <a:off x="274320" y="1078992"/>
            <a:ext cx="64008" cy="1216152"/>
          </a:xfrm>
          <a:prstGeom prst="rect">
            <a:avLst/>
          </a:prstGeom>
          <a:solidFill>
            <a:srgbClr val="3A86FF"/>
          </a:solidFill>
          <a:ln w="12700">
            <a:solidFill>
              <a:srgbClr val="3A86FF"/>
            </a:solidFill>
            <a:prstDash val="solid"/>
          </a:ln>
        </p:spPr>
        <p:txBody>
          <a:bodyPr/>
          <a:lstStyle/>
          <a:p>
            <a:endParaRPr lang="en-SG"/>
          </a:p>
        </p:txBody>
      </p:sp>
      <p:sp>
        <p:nvSpPr>
          <p:cNvPr id="7" name="Text 5"/>
          <p:cNvSpPr/>
          <p:nvPr/>
        </p:nvSpPr>
        <p:spPr>
          <a:xfrm>
            <a:off x="475488" y="1161288"/>
            <a:ext cx="3886200" cy="329184"/>
          </a:xfrm>
          <a:prstGeom prst="rect">
            <a:avLst/>
          </a:prstGeom>
          <a:noFill/>
          <a:ln/>
        </p:spPr>
        <p:txBody>
          <a:bodyPr wrap="square" lIns="0" tIns="0" rIns="0" bIns="0" rtlCol="0" anchor="ctr"/>
          <a:lstStyle/>
          <a:p>
            <a:pPr marL="0" indent="0" algn="l">
              <a:buNone/>
            </a:pPr>
            <a:r>
              <a:rPr lang="en-US" sz="1250" b="1" dirty="0">
                <a:solidFill>
                  <a:srgbClr val="3A86FF"/>
                </a:solidFill>
                <a:latin typeface="Trebuchet MS" pitchFamily="34" charset="0"/>
                <a:ea typeface="Trebuchet MS" pitchFamily="34" charset="-122"/>
                <a:cs typeface="Trebuchet MS" pitchFamily="34" charset="-120"/>
              </a:rPr>
              <a:t>Duty to the Court — Not the Client</a:t>
            </a:r>
            <a:endParaRPr lang="en-US" sz="1250" dirty="0"/>
          </a:p>
        </p:txBody>
      </p:sp>
      <p:sp>
        <p:nvSpPr>
          <p:cNvPr id="8" name="Text 6"/>
          <p:cNvSpPr/>
          <p:nvPr/>
        </p:nvSpPr>
        <p:spPr>
          <a:xfrm>
            <a:off x="475488" y="1517904"/>
            <a:ext cx="3886200" cy="713232"/>
          </a:xfrm>
          <a:prstGeom prst="rect">
            <a:avLst/>
          </a:prstGeom>
          <a:noFill/>
          <a:ln/>
        </p:spPr>
        <p:txBody>
          <a:bodyPr wrap="square" lIns="0" tIns="0" rIns="0" bIns="0" rtlCol="0" anchor="ctr"/>
          <a:lstStyle/>
          <a:p>
            <a:pPr marL="0" indent="0" algn="l">
              <a:buNone/>
            </a:pPr>
            <a:r>
              <a:rPr lang="en-US" sz="1200" dirty="0">
                <a:solidFill>
                  <a:srgbClr val="1A1A2E"/>
                </a:solidFill>
                <a:latin typeface="Calibri" pitchFamily="34" charset="0"/>
                <a:ea typeface="Calibri" pitchFamily="34" charset="-122"/>
                <a:cs typeface="Calibri" pitchFamily="34" charset="-120"/>
              </a:rPr>
              <a:t>Your primary obligation is to the court. You must present findings objectively even if they undermine the instructing party's case. You are an educator — not an advocate.</a:t>
            </a:r>
            <a:endParaRPr lang="en-US" sz="1200" dirty="0"/>
          </a:p>
        </p:txBody>
      </p:sp>
      <p:sp>
        <p:nvSpPr>
          <p:cNvPr id="9" name="Shape 7"/>
          <p:cNvSpPr/>
          <p:nvPr/>
        </p:nvSpPr>
        <p:spPr>
          <a:xfrm>
            <a:off x="274320" y="2414016"/>
            <a:ext cx="4187952" cy="1216152"/>
          </a:xfrm>
          <a:prstGeom prst="rect">
            <a:avLst/>
          </a:prstGeom>
          <a:solidFill>
            <a:srgbClr val="EEF6FB"/>
          </a:solidFill>
          <a:ln w="12700">
            <a:solidFill>
              <a:srgbClr val="EEF6FB"/>
            </a:solidFill>
            <a:prstDash val="solid"/>
          </a:ln>
          <a:effectLst>
            <a:outerShdw blurRad="76200" dist="25400" dir="8100000" algn="bl" rotWithShape="0">
              <a:srgbClr val="000000">
                <a:alpha val="25000"/>
              </a:srgbClr>
            </a:outerShdw>
          </a:effectLst>
        </p:spPr>
        <p:txBody>
          <a:bodyPr/>
          <a:lstStyle/>
          <a:p>
            <a:endParaRPr lang="en-SG"/>
          </a:p>
        </p:txBody>
      </p:sp>
      <p:sp>
        <p:nvSpPr>
          <p:cNvPr id="10" name="Shape 8"/>
          <p:cNvSpPr/>
          <p:nvPr/>
        </p:nvSpPr>
        <p:spPr>
          <a:xfrm>
            <a:off x="274320" y="2414016"/>
            <a:ext cx="64008" cy="1216152"/>
          </a:xfrm>
          <a:prstGeom prst="rect">
            <a:avLst/>
          </a:prstGeom>
          <a:solidFill>
            <a:srgbClr val="00A8A8"/>
          </a:solidFill>
          <a:ln w="12700">
            <a:solidFill>
              <a:srgbClr val="00A8A8"/>
            </a:solidFill>
            <a:prstDash val="solid"/>
          </a:ln>
        </p:spPr>
        <p:txBody>
          <a:bodyPr/>
          <a:lstStyle/>
          <a:p>
            <a:endParaRPr lang="en-SG"/>
          </a:p>
        </p:txBody>
      </p:sp>
      <p:sp>
        <p:nvSpPr>
          <p:cNvPr id="11" name="Text 9"/>
          <p:cNvSpPr/>
          <p:nvPr/>
        </p:nvSpPr>
        <p:spPr>
          <a:xfrm>
            <a:off x="475488" y="2496312"/>
            <a:ext cx="3886200" cy="329184"/>
          </a:xfrm>
          <a:prstGeom prst="rect">
            <a:avLst/>
          </a:prstGeom>
          <a:noFill/>
          <a:ln/>
        </p:spPr>
        <p:txBody>
          <a:bodyPr wrap="square" lIns="0" tIns="0" rIns="0" bIns="0" rtlCol="0" anchor="ctr"/>
          <a:lstStyle/>
          <a:p>
            <a:pPr marL="0" indent="0" algn="l">
              <a:buNone/>
            </a:pPr>
            <a:r>
              <a:rPr lang="en-US" sz="1250" b="1" dirty="0">
                <a:solidFill>
                  <a:srgbClr val="00A8A8"/>
                </a:solidFill>
                <a:latin typeface="Trebuchet MS" pitchFamily="34" charset="0"/>
                <a:ea typeface="Trebuchet MS" pitchFamily="34" charset="-122"/>
                <a:cs typeface="Trebuchet MS" pitchFamily="34" charset="-120"/>
              </a:rPr>
              <a:t>Declaration of Competence (Voir Dire)</a:t>
            </a:r>
            <a:endParaRPr lang="en-US" sz="1250" dirty="0"/>
          </a:p>
        </p:txBody>
      </p:sp>
      <p:sp>
        <p:nvSpPr>
          <p:cNvPr id="12" name="Text 10"/>
          <p:cNvSpPr/>
          <p:nvPr/>
        </p:nvSpPr>
        <p:spPr>
          <a:xfrm>
            <a:off x="475488" y="2852928"/>
            <a:ext cx="3886200" cy="713232"/>
          </a:xfrm>
          <a:prstGeom prst="rect">
            <a:avLst/>
          </a:prstGeom>
          <a:noFill/>
          <a:ln/>
        </p:spPr>
        <p:txBody>
          <a:bodyPr wrap="square" lIns="0" tIns="0" rIns="0" bIns="0" rtlCol="0" anchor="ctr"/>
          <a:lstStyle/>
          <a:p>
            <a:pPr marL="0" indent="0" algn="l">
              <a:buNone/>
            </a:pPr>
            <a:r>
              <a:rPr lang="en-US" sz="1200" dirty="0">
                <a:solidFill>
                  <a:srgbClr val="1A1A2E"/>
                </a:solidFill>
                <a:latin typeface="Calibri" pitchFamily="34" charset="0"/>
                <a:ea typeface="Calibri" pitchFamily="34" charset="-122"/>
                <a:cs typeface="Calibri" pitchFamily="34" charset="-120"/>
              </a:rPr>
              <a:t>You must demonstrate your qualifications before testifying. Your CV, experience, and prior testimony history will be scrutinised by opposing counsel in a voir dire hearing.</a:t>
            </a:r>
            <a:endParaRPr lang="en-US" sz="1200" dirty="0"/>
          </a:p>
        </p:txBody>
      </p:sp>
      <p:sp>
        <p:nvSpPr>
          <p:cNvPr id="17" name="Shape 15"/>
          <p:cNvSpPr/>
          <p:nvPr/>
        </p:nvSpPr>
        <p:spPr>
          <a:xfrm>
            <a:off x="4681728" y="1078992"/>
            <a:ext cx="4187952" cy="1216152"/>
          </a:xfrm>
          <a:prstGeom prst="rect">
            <a:avLst/>
          </a:prstGeom>
          <a:solidFill>
            <a:srgbClr val="EEF6FB"/>
          </a:solidFill>
          <a:ln w="12700">
            <a:solidFill>
              <a:srgbClr val="EEF6FB"/>
            </a:solidFill>
            <a:prstDash val="solid"/>
          </a:ln>
          <a:effectLst>
            <a:outerShdw blurRad="76200" dist="25400" dir="8100000" algn="bl" rotWithShape="0">
              <a:srgbClr val="000000">
                <a:alpha val="25000"/>
              </a:srgbClr>
            </a:outerShdw>
          </a:effectLst>
        </p:spPr>
        <p:txBody>
          <a:bodyPr/>
          <a:lstStyle/>
          <a:p>
            <a:endParaRPr lang="en-SG"/>
          </a:p>
        </p:txBody>
      </p:sp>
      <p:sp>
        <p:nvSpPr>
          <p:cNvPr id="18" name="Shape 16"/>
          <p:cNvSpPr/>
          <p:nvPr/>
        </p:nvSpPr>
        <p:spPr>
          <a:xfrm>
            <a:off x="4681728" y="1078992"/>
            <a:ext cx="64008" cy="1216152"/>
          </a:xfrm>
          <a:prstGeom prst="rect">
            <a:avLst/>
          </a:prstGeom>
          <a:solidFill>
            <a:srgbClr val="F39C12"/>
          </a:solidFill>
          <a:ln w="12700">
            <a:solidFill>
              <a:srgbClr val="F39C12"/>
            </a:solidFill>
            <a:prstDash val="solid"/>
          </a:ln>
        </p:spPr>
        <p:txBody>
          <a:bodyPr/>
          <a:lstStyle/>
          <a:p>
            <a:endParaRPr lang="en-SG"/>
          </a:p>
        </p:txBody>
      </p:sp>
      <p:sp>
        <p:nvSpPr>
          <p:cNvPr id="19" name="Text 17"/>
          <p:cNvSpPr/>
          <p:nvPr/>
        </p:nvSpPr>
        <p:spPr>
          <a:xfrm>
            <a:off x="4882896" y="1161288"/>
            <a:ext cx="3886200" cy="329184"/>
          </a:xfrm>
          <a:prstGeom prst="rect">
            <a:avLst/>
          </a:prstGeom>
          <a:noFill/>
          <a:ln/>
        </p:spPr>
        <p:txBody>
          <a:bodyPr wrap="square" lIns="0" tIns="0" rIns="0" bIns="0" rtlCol="0" anchor="ctr"/>
          <a:lstStyle/>
          <a:p>
            <a:pPr marL="0" indent="0" algn="l">
              <a:buNone/>
            </a:pPr>
            <a:r>
              <a:rPr lang="en-US" sz="1250" b="1" dirty="0">
                <a:solidFill>
                  <a:srgbClr val="F39C12"/>
                </a:solidFill>
                <a:latin typeface="Trebuchet MS" pitchFamily="34" charset="0"/>
                <a:ea typeface="Trebuchet MS" pitchFamily="34" charset="-122"/>
                <a:cs typeface="Trebuchet MS" pitchFamily="34" charset="-120"/>
              </a:rPr>
              <a:t>Surviving Cross-Examination</a:t>
            </a:r>
            <a:endParaRPr lang="en-US" sz="1250" dirty="0"/>
          </a:p>
        </p:txBody>
      </p:sp>
      <p:sp>
        <p:nvSpPr>
          <p:cNvPr id="20" name="Text 18"/>
          <p:cNvSpPr/>
          <p:nvPr/>
        </p:nvSpPr>
        <p:spPr>
          <a:xfrm>
            <a:off x="4882896" y="1517904"/>
            <a:ext cx="3886200" cy="713232"/>
          </a:xfrm>
          <a:prstGeom prst="rect">
            <a:avLst/>
          </a:prstGeom>
          <a:noFill/>
          <a:ln/>
        </p:spPr>
        <p:txBody>
          <a:bodyPr wrap="square" lIns="0" tIns="0" rIns="0" bIns="0" rtlCol="0" anchor="ctr"/>
          <a:lstStyle/>
          <a:p>
            <a:pPr marL="0" indent="0" algn="l">
              <a:buNone/>
            </a:pPr>
            <a:r>
              <a:rPr lang="en-US" sz="1200" dirty="0">
                <a:solidFill>
                  <a:srgbClr val="1A1A2E"/>
                </a:solidFill>
                <a:latin typeface="Calibri" pitchFamily="34" charset="0"/>
                <a:ea typeface="Calibri" pitchFamily="34" charset="-122"/>
                <a:cs typeface="Calibri" pitchFamily="34" charset="-120"/>
              </a:rPr>
              <a:t>Be ready to explain every tool and technique in plain terms. 'I cannot confirm' is stronger than speculation. Conceding limitations demonstrates credibility — juries trust honest experts.</a:t>
            </a:r>
            <a:endParaRPr lang="en-US" sz="1200" dirty="0"/>
          </a:p>
        </p:txBody>
      </p:sp>
      <p:sp>
        <p:nvSpPr>
          <p:cNvPr id="21" name="Shape 19"/>
          <p:cNvSpPr/>
          <p:nvPr/>
        </p:nvSpPr>
        <p:spPr>
          <a:xfrm>
            <a:off x="4681728" y="2414016"/>
            <a:ext cx="4187952" cy="1216152"/>
          </a:xfrm>
          <a:prstGeom prst="rect">
            <a:avLst/>
          </a:prstGeom>
          <a:solidFill>
            <a:srgbClr val="EEF6FB"/>
          </a:solidFill>
          <a:ln w="12700">
            <a:solidFill>
              <a:srgbClr val="EEF6FB"/>
            </a:solidFill>
            <a:prstDash val="solid"/>
          </a:ln>
          <a:effectLst>
            <a:outerShdw blurRad="76200" dist="25400" dir="8100000" algn="bl" rotWithShape="0">
              <a:srgbClr val="000000">
                <a:alpha val="25000"/>
              </a:srgbClr>
            </a:outerShdw>
          </a:effectLst>
        </p:spPr>
        <p:txBody>
          <a:bodyPr/>
          <a:lstStyle/>
          <a:p>
            <a:endParaRPr lang="en-SG"/>
          </a:p>
        </p:txBody>
      </p:sp>
      <p:sp>
        <p:nvSpPr>
          <p:cNvPr id="22" name="Shape 20"/>
          <p:cNvSpPr/>
          <p:nvPr/>
        </p:nvSpPr>
        <p:spPr>
          <a:xfrm>
            <a:off x="4681728" y="2414016"/>
            <a:ext cx="64008" cy="1216152"/>
          </a:xfrm>
          <a:prstGeom prst="rect">
            <a:avLst/>
          </a:prstGeom>
          <a:solidFill>
            <a:srgbClr val="F0B429"/>
          </a:solidFill>
          <a:ln w="12700">
            <a:solidFill>
              <a:srgbClr val="F0B429"/>
            </a:solidFill>
            <a:prstDash val="solid"/>
          </a:ln>
        </p:spPr>
        <p:txBody>
          <a:bodyPr/>
          <a:lstStyle/>
          <a:p>
            <a:endParaRPr lang="en-SG"/>
          </a:p>
        </p:txBody>
      </p:sp>
      <p:sp>
        <p:nvSpPr>
          <p:cNvPr id="23" name="Text 21"/>
          <p:cNvSpPr/>
          <p:nvPr/>
        </p:nvSpPr>
        <p:spPr>
          <a:xfrm>
            <a:off x="4882896" y="2496312"/>
            <a:ext cx="3886200" cy="329184"/>
          </a:xfrm>
          <a:prstGeom prst="rect">
            <a:avLst/>
          </a:prstGeom>
          <a:noFill/>
          <a:ln/>
        </p:spPr>
        <p:txBody>
          <a:bodyPr wrap="square" lIns="0" tIns="0" rIns="0" bIns="0" rtlCol="0" anchor="ctr"/>
          <a:lstStyle/>
          <a:p>
            <a:pPr marL="0" indent="0" algn="l">
              <a:buNone/>
            </a:pPr>
            <a:r>
              <a:rPr lang="en-US" sz="1250" b="1" dirty="0">
                <a:solidFill>
                  <a:srgbClr val="F0B429"/>
                </a:solidFill>
                <a:latin typeface="Trebuchet MS" pitchFamily="34" charset="0"/>
                <a:ea typeface="Trebuchet MS" pitchFamily="34" charset="-122"/>
                <a:cs typeface="Trebuchet MS" pitchFamily="34" charset="-120"/>
              </a:rPr>
              <a:t>Chain of Custody Integrity</a:t>
            </a:r>
            <a:endParaRPr lang="en-US" sz="1250" dirty="0"/>
          </a:p>
        </p:txBody>
      </p:sp>
      <p:sp>
        <p:nvSpPr>
          <p:cNvPr id="24" name="Text 22"/>
          <p:cNvSpPr/>
          <p:nvPr/>
        </p:nvSpPr>
        <p:spPr>
          <a:xfrm>
            <a:off x="4882896" y="2852928"/>
            <a:ext cx="3886200" cy="713232"/>
          </a:xfrm>
          <a:prstGeom prst="rect">
            <a:avLst/>
          </a:prstGeom>
          <a:noFill/>
          <a:ln/>
        </p:spPr>
        <p:txBody>
          <a:bodyPr wrap="square" lIns="0" tIns="0" rIns="0" bIns="0" rtlCol="0" anchor="ctr"/>
          <a:lstStyle/>
          <a:p>
            <a:pPr marL="0" indent="0" algn="l">
              <a:buNone/>
            </a:pPr>
            <a:r>
              <a:rPr lang="en-US" sz="1200" dirty="0">
                <a:solidFill>
                  <a:srgbClr val="1A1A2E"/>
                </a:solidFill>
                <a:latin typeface="Calibri" pitchFamily="34" charset="0"/>
                <a:ea typeface="Calibri" pitchFamily="34" charset="-122"/>
                <a:cs typeface="Calibri" pitchFamily="34" charset="-120"/>
              </a:rPr>
              <a:t>Source hash must equal image hash, with a fully signed chain of custody. Any gap will be exploited. Trace every step from seizure to the witness stand.</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B78E7D6-E86D-9A46-4B3F-8DC6AD79641F}"/>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F0975941-C603-B79D-9AEA-4B4969208EB2}"/>
              </a:ext>
            </a:extLst>
          </p:cNvPr>
          <p:cNvSpPr/>
          <p:nvPr/>
        </p:nvSpPr>
        <p:spPr>
          <a:xfrm>
            <a:off x="0" y="0"/>
            <a:ext cx="9144000" cy="109728"/>
          </a:xfrm>
          <a:prstGeom prst="rect">
            <a:avLst/>
          </a:prstGeom>
          <a:solidFill>
            <a:srgbClr val="00A8A8"/>
          </a:solidFill>
          <a:ln w="12700">
            <a:solidFill>
              <a:srgbClr val="00A8A8"/>
            </a:solidFill>
            <a:prstDash val="solid"/>
          </a:ln>
        </p:spPr>
        <p:txBody>
          <a:bodyPr/>
          <a:lstStyle/>
          <a:p>
            <a:endParaRPr lang="en-SG"/>
          </a:p>
        </p:txBody>
      </p:sp>
      <p:sp>
        <p:nvSpPr>
          <p:cNvPr id="3" name="Text 1">
            <a:extLst>
              <a:ext uri="{FF2B5EF4-FFF2-40B4-BE49-F238E27FC236}">
                <a16:creationId xmlns:a16="http://schemas.microsoft.com/office/drawing/2014/main" id="{E1912B11-FAFD-63EC-F61E-EC370C148F60}"/>
              </a:ext>
            </a:extLst>
          </p:cNvPr>
          <p:cNvSpPr/>
          <p:nvPr/>
        </p:nvSpPr>
        <p:spPr>
          <a:xfrm>
            <a:off x="365760" y="164592"/>
            <a:ext cx="8412480" cy="594360"/>
          </a:xfrm>
          <a:prstGeom prst="rect">
            <a:avLst/>
          </a:prstGeom>
          <a:noFill/>
          <a:ln/>
        </p:spPr>
        <p:txBody>
          <a:bodyPr wrap="square" lIns="0" tIns="0" rIns="0" bIns="0" rtlCol="0" anchor="ctr"/>
          <a:lstStyle/>
          <a:p>
            <a:pPr marL="0" indent="0" algn="l">
              <a:buNone/>
            </a:pPr>
            <a:r>
              <a:rPr lang="en-US" sz="2400" b="1" dirty="0">
                <a:solidFill>
                  <a:srgbClr val="1A1A2E"/>
                </a:solidFill>
                <a:latin typeface="Trebuchet MS" pitchFamily="34" charset="0"/>
                <a:ea typeface="Trebuchet MS" pitchFamily="34" charset="-122"/>
                <a:cs typeface="Trebuchet MS" pitchFamily="34" charset="-120"/>
              </a:rPr>
              <a:t>Role of the Forensic Examiner as Expert Witness</a:t>
            </a:r>
            <a:endParaRPr lang="en-US" sz="2400" dirty="0"/>
          </a:p>
        </p:txBody>
      </p:sp>
      <p:sp>
        <p:nvSpPr>
          <p:cNvPr id="4" name="Text 2">
            <a:extLst>
              <a:ext uri="{FF2B5EF4-FFF2-40B4-BE49-F238E27FC236}">
                <a16:creationId xmlns:a16="http://schemas.microsoft.com/office/drawing/2014/main" id="{53DC7440-1ECD-8313-B3CD-B9EE4808CEE2}"/>
              </a:ext>
            </a:extLst>
          </p:cNvPr>
          <p:cNvSpPr/>
          <p:nvPr/>
        </p:nvSpPr>
        <p:spPr>
          <a:xfrm>
            <a:off x="365760" y="786384"/>
            <a:ext cx="8412480" cy="228600"/>
          </a:xfrm>
          <a:prstGeom prst="rect">
            <a:avLst/>
          </a:prstGeom>
          <a:noFill/>
          <a:ln/>
        </p:spPr>
        <p:txBody>
          <a:bodyPr wrap="square" lIns="0" tIns="0" rIns="0" bIns="0" rtlCol="0" anchor="ctr"/>
          <a:lstStyle/>
          <a:p>
            <a:pPr marL="0" indent="0" algn="l">
              <a:buNone/>
            </a:pPr>
            <a:r>
              <a:rPr lang="en-US" sz="1100" i="1" dirty="0">
                <a:solidFill>
                  <a:srgbClr val="00A8A8"/>
                </a:solidFill>
                <a:latin typeface="Calibri" pitchFamily="34" charset="0"/>
                <a:ea typeface="Calibri" pitchFamily="34" charset="-122"/>
                <a:cs typeface="Calibri" pitchFamily="34" charset="-120"/>
              </a:rPr>
              <a:t>An expert witness assists the court in understanding complex technical matters — primary duty is to the COURT, not the client.</a:t>
            </a:r>
            <a:endParaRPr lang="en-US" sz="1100" dirty="0"/>
          </a:p>
        </p:txBody>
      </p:sp>
      <p:sp>
        <p:nvSpPr>
          <p:cNvPr id="13" name="Shape 11">
            <a:extLst>
              <a:ext uri="{FF2B5EF4-FFF2-40B4-BE49-F238E27FC236}">
                <a16:creationId xmlns:a16="http://schemas.microsoft.com/office/drawing/2014/main" id="{1ADEF743-6554-C08F-6C23-2474FE4E614D}"/>
              </a:ext>
            </a:extLst>
          </p:cNvPr>
          <p:cNvSpPr/>
          <p:nvPr/>
        </p:nvSpPr>
        <p:spPr>
          <a:xfrm>
            <a:off x="274320" y="1182197"/>
            <a:ext cx="4187952" cy="1216152"/>
          </a:xfrm>
          <a:prstGeom prst="rect">
            <a:avLst/>
          </a:prstGeom>
          <a:solidFill>
            <a:srgbClr val="EEF6FB"/>
          </a:solidFill>
          <a:ln w="12700">
            <a:solidFill>
              <a:srgbClr val="EEF6FB"/>
            </a:solidFill>
            <a:prstDash val="solid"/>
          </a:ln>
          <a:effectLst>
            <a:outerShdw blurRad="76200" dist="25400" dir="8100000" algn="bl" rotWithShape="0">
              <a:srgbClr val="000000">
                <a:alpha val="25000"/>
              </a:srgbClr>
            </a:outerShdw>
          </a:effectLst>
        </p:spPr>
        <p:txBody>
          <a:bodyPr/>
          <a:lstStyle/>
          <a:p>
            <a:endParaRPr lang="en-SG"/>
          </a:p>
        </p:txBody>
      </p:sp>
      <p:sp>
        <p:nvSpPr>
          <p:cNvPr id="14" name="Shape 12">
            <a:extLst>
              <a:ext uri="{FF2B5EF4-FFF2-40B4-BE49-F238E27FC236}">
                <a16:creationId xmlns:a16="http://schemas.microsoft.com/office/drawing/2014/main" id="{DBD134BC-B61C-C826-E3FF-83F30943E9D8}"/>
              </a:ext>
            </a:extLst>
          </p:cNvPr>
          <p:cNvSpPr/>
          <p:nvPr/>
        </p:nvSpPr>
        <p:spPr>
          <a:xfrm>
            <a:off x="274320" y="1182197"/>
            <a:ext cx="64008" cy="1216152"/>
          </a:xfrm>
          <a:prstGeom prst="rect">
            <a:avLst/>
          </a:prstGeom>
          <a:solidFill>
            <a:srgbClr val="27AE60"/>
          </a:solidFill>
          <a:ln w="12700">
            <a:solidFill>
              <a:srgbClr val="27AE60"/>
            </a:solidFill>
            <a:prstDash val="solid"/>
          </a:ln>
        </p:spPr>
        <p:txBody>
          <a:bodyPr/>
          <a:lstStyle/>
          <a:p>
            <a:endParaRPr lang="en-SG"/>
          </a:p>
        </p:txBody>
      </p:sp>
      <p:sp>
        <p:nvSpPr>
          <p:cNvPr id="15" name="Text 13">
            <a:extLst>
              <a:ext uri="{FF2B5EF4-FFF2-40B4-BE49-F238E27FC236}">
                <a16:creationId xmlns:a16="http://schemas.microsoft.com/office/drawing/2014/main" id="{A64156B3-3A1E-19B4-618A-6D2FB109A2B0}"/>
              </a:ext>
            </a:extLst>
          </p:cNvPr>
          <p:cNvSpPr/>
          <p:nvPr/>
        </p:nvSpPr>
        <p:spPr>
          <a:xfrm>
            <a:off x="475488" y="1264493"/>
            <a:ext cx="3886200" cy="329184"/>
          </a:xfrm>
          <a:prstGeom prst="rect">
            <a:avLst/>
          </a:prstGeom>
          <a:noFill/>
          <a:ln/>
        </p:spPr>
        <p:txBody>
          <a:bodyPr wrap="square" lIns="0" tIns="0" rIns="0" bIns="0" rtlCol="0" anchor="ctr"/>
          <a:lstStyle/>
          <a:p>
            <a:pPr marL="0" indent="0" algn="l">
              <a:buNone/>
            </a:pPr>
            <a:r>
              <a:rPr lang="en-US" sz="1250" b="1" dirty="0">
                <a:solidFill>
                  <a:srgbClr val="27AE60"/>
                </a:solidFill>
                <a:latin typeface="Trebuchet MS" pitchFamily="34" charset="0"/>
                <a:ea typeface="Trebuchet MS" pitchFamily="34" charset="-122"/>
                <a:cs typeface="Trebuchet MS" pitchFamily="34" charset="-120"/>
              </a:rPr>
              <a:t>Qualified Findings Only</a:t>
            </a:r>
            <a:endParaRPr lang="en-US" sz="1250" dirty="0"/>
          </a:p>
        </p:txBody>
      </p:sp>
      <p:sp>
        <p:nvSpPr>
          <p:cNvPr id="16" name="Text 14">
            <a:extLst>
              <a:ext uri="{FF2B5EF4-FFF2-40B4-BE49-F238E27FC236}">
                <a16:creationId xmlns:a16="http://schemas.microsoft.com/office/drawing/2014/main" id="{86913FB6-095C-34D4-4089-667C82B3678A}"/>
              </a:ext>
            </a:extLst>
          </p:cNvPr>
          <p:cNvSpPr/>
          <p:nvPr/>
        </p:nvSpPr>
        <p:spPr>
          <a:xfrm>
            <a:off x="475488" y="1621109"/>
            <a:ext cx="3886200" cy="713232"/>
          </a:xfrm>
          <a:prstGeom prst="rect">
            <a:avLst/>
          </a:prstGeom>
          <a:noFill/>
          <a:ln/>
        </p:spPr>
        <p:txBody>
          <a:bodyPr wrap="square" lIns="0" tIns="0" rIns="0" bIns="0" rtlCol="0" anchor="ctr"/>
          <a:lstStyle/>
          <a:p>
            <a:pPr marL="0" indent="0" algn="l">
              <a:buNone/>
            </a:pPr>
            <a:r>
              <a:rPr lang="en-US" sz="1200" dirty="0">
                <a:solidFill>
                  <a:srgbClr val="1A1A2E"/>
                </a:solidFill>
                <a:latin typeface="Calibri" pitchFamily="34" charset="0"/>
                <a:ea typeface="Calibri" pitchFamily="34" charset="-122"/>
                <a:cs typeface="Calibri" pitchFamily="34" charset="-120"/>
              </a:rPr>
              <a:t>Offer opinions only within your proven expertise. A disk forensics examiner should not opine on network intrusion unless also qualified in that area.</a:t>
            </a:r>
            <a:endParaRPr lang="en-US" sz="1200" dirty="0"/>
          </a:p>
        </p:txBody>
      </p:sp>
      <p:sp>
        <p:nvSpPr>
          <p:cNvPr id="25" name="Shape 23">
            <a:extLst>
              <a:ext uri="{FF2B5EF4-FFF2-40B4-BE49-F238E27FC236}">
                <a16:creationId xmlns:a16="http://schemas.microsoft.com/office/drawing/2014/main" id="{19B4B547-C591-92A1-55B5-260FB3CD14FB}"/>
              </a:ext>
            </a:extLst>
          </p:cNvPr>
          <p:cNvSpPr/>
          <p:nvPr/>
        </p:nvSpPr>
        <p:spPr>
          <a:xfrm>
            <a:off x="4681728" y="1182197"/>
            <a:ext cx="4187952" cy="1216152"/>
          </a:xfrm>
          <a:prstGeom prst="rect">
            <a:avLst/>
          </a:prstGeom>
          <a:solidFill>
            <a:srgbClr val="EEF6FB"/>
          </a:solidFill>
          <a:ln w="12700">
            <a:solidFill>
              <a:srgbClr val="EEF6FB"/>
            </a:solidFill>
            <a:prstDash val="solid"/>
          </a:ln>
          <a:effectLst>
            <a:outerShdw blurRad="76200" dist="25400" dir="8100000" algn="bl" rotWithShape="0">
              <a:srgbClr val="000000">
                <a:alpha val="25000"/>
              </a:srgbClr>
            </a:outerShdw>
          </a:effectLst>
        </p:spPr>
        <p:txBody>
          <a:bodyPr/>
          <a:lstStyle/>
          <a:p>
            <a:endParaRPr lang="en-SG"/>
          </a:p>
        </p:txBody>
      </p:sp>
      <p:sp>
        <p:nvSpPr>
          <p:cNvPr id="26" name="Shape 24">
            <a:extLst>
              <a:ext uri="{FF2B5EF4-FFF2-40B4-BE49-F238E27FC236}">
                <a16:creationId xmlns:a16="http://schemas.microsoft.com/office/drawing/2014/main" id="{BC88E3D7-D384-FD58-545A-FCA6338CAC01}"/>
              </a:ext>
            </a:extLst>
          </p:cNvPr>
          <p:cNvSpPr/>
          <p:nvPr/>
        </p:nvSpPr>
        <p:spPr>
          <a:xfrm>
            <a:off x="4681728" y="1182197"/>
            <a:ext cx="64008" cy="1216152"/>
          </a:xfrm>
          <a:prstGeom prst="rect">
            <a:avLst/>
          </a:prstGeom>
          <a:solidFill>
            <a:srgbClr val="00A8A8"/>
          </a:solidFill>
          <a:ln w="12700">
            <a:solidFill>
              <a:srgbClr val="00A8A8"/>
            </a:solidFill>
            <a:prstDash val="solid"/>
          </a:ln>
        </p:spPr>
        <p:txBody>
          <a:bodyPr/>
          <a:lstStyle/>
          <a:p>
            <a:endParaRPr lang="en-SG"/>
          </a:p>
        </p:txBody>
      </p:sp>
      <p:sp>
        <p:nvSpPr>
          <p:cNvPr id="27" name="Text 25">
            <a:extLst>
              <a:ext uri="{FF2B5EF4-FFF2-40B4-BE49-F238E27FC236}">
                <a16:creationId xmlns:a16="http://schemas.microsoft.com/office/drawing/2014/main" id="{AE224119-8F98-74C4-E7D8-C8CAF8A14EEC}"/>
              </a:ext>
            </a:extLst>
          </p:cNvPr>
          <p:cNvSpPr/>
          <p:nvPr/>
        </p:nvSpPr>
        <p:spPr>
          <a:xfrm>
            <a:off x="4882896" y="1264493"/>
            <a:ext cx="3886200" cy="329184"/>
          </a:xfrm>
          <a:prstGeom prst="rect">
            <a:avLst/>
          </a:prstGeom>
          <a:noFill/>
          <a:ln/>
        </p:spPr>
        <p:txBody>
          <a:bodyPr wrap="square" lIns="0" tIns="0" rIns="0" bIns="0" rtlCol="0" anchor="ctr"/>
          <a:lstStyle/>
          <a:p>
            <a:pPr marL="0" indent="0" algn="l">
              <a:buNone/>
            </a:pPr>
            <a:r>
              <a:rPr lang="en-US" sz="1250" b="1" dirty="0">
                <a:solidFill>
                  <a:srgbClr val="00A8A8"/>
                </a:solidFill>
                <a:latin typeface="Trebuchet MS" pitchFamily="34" charset="0"/>
                <a:ea typeface="Trebuchet MS" pitchFamily="34" charset="-122"/>
                <a:cs typeface="Trebuchet MS" pitchFamily="34" charset="-120"/>
              </a:rPr>
              <a:t>Contemporaneous Notes &amp; Reproducibility</a:t>
            </a:r>
            <a:endParaRPr lang="en-US" sz="1250" dirty="0"/>
          </a:p>
        </p:txBody>
      </p:sp>
      <p:sp>
        <p:nvSpPr>
          <p:cNvPr id="28" name="Text 26">
            <a:extLst>
              <a:ext uri="{FF2B5EF4-FFF2-40B4-BE49-F238E27FC236}">
                <a16:creationId xmlns:a16="http://schemas.microsoft.com/office/drawing/2014/main" id="{EC627B8E-322D-AD52-9967-05A8B71C3852}"/>
              </a:ext>
            </a:extLst>
          </p:cNvPr>
          <p:cNvSpPr/>
          <p:nvPr/>
        </p:nvSpPr>
        <p:spPr>
          <a:xfrm>
            <a:off x="4882896" y="1621109"/>
            <a:ext cx="3886200" cy="713232"/>
          </a:xfrm>
          <a:prstGeom prst="rect">
            <a:avLst/>
          </a:prstGeom>
          <a:noFill/>
          <a:ln/>
        </p:spPr>
        <p:txBody>
          <a:bodyPr wrap="square" lIns="0" tIns="0" rIns="0" bIns="0" rtlCol="0" anchor="ctr"/>
          <a:lstStyle/>
          <a:p>
            <a:pPr marL="0" indent="0" algn="l">
              <a:buNone/>
            </a:pPr>
            <a:r>
              <a:rPr lang="en-US" sz="1200" dirty="0">
                <a:solidFill>
                  <a:srgbClr val="1A1A2E"/>
                </a:solidFill>
                <a:latin typeface="Calibri" pitchFamily="34" charset="0"/>
                <a:ea typeface="Calibri" pitchFamily="34" charset="-122"/>
                <a:cs typeface="Calibri" pitchFamily="34" charset="-120"/>
              </a:rPr>
              <a:t>All notes made during examination are discoverable — keep them. A second competent examiner must be able to replicate your findings using your documented methodology.</a:t>
            </a:r>
            <a:endParaRPr lang="en-US" sz="1200" dirty="0"/>
          </a:p>
        </p:txBody>
      </p:sp>
      <p:sp>
        <p:nvSpPr>
          <p:cNvPr id="30" name="Text 28">
            <a:extLst>
              <a:ext uri="{FF2B5EF4-FFF2-40B4-BE49-F238E27FC236}">
                <a16:creationId xmlns:a16="http://schemas.microsoft.com/office/drawing/2014/main" id="{4F4C8A2C-55CC-7CAE-D52A-8E9CA48979E6}"/>
              </a:ext>
            </a:extLst>
          </p:cNvPr>
          <p:cNvSpPr/>
          <p:nvPr/>
        </p:nvSpPr>
        <p:spPr>
          <a:xfrm>
            <a:off x="365760" y="2598208"/>
            <a:ext cx="8412480" cy="128016"/>
          </a:xfrm>
          <a:prstGeom prst="rect">
            <a:avLst/>
          </a:prstGeom>
          <a:noFill/>
          <a:ln/>
        </p:spPr>
        <p:txBody>
          <a:bodyPr wrap="square" lIns="0" tIns="0" rIns="0" bIns="0" rtlCol="0" anchor="ctr"/>
          <a:lstStyle/>
          <a:p>
            <a:pPr marL="0" indent="0" algn="l">
              <a:buNone/>
            </a:pPr>
            <a:r>
              <a:rPr lang="en-US" sz="1200" b="1" i="1" dirty="0">
                <a:solidFill>
                  <a:srgbClr val="27AE60"/>
                </a:solidFill>
                <a:latin typeface="Calibri" pitchFamily="34" charset="0"/>
                <a:ea typeface="Calibri" pitchFamily="34" charset="-122"/>
                <a:cs typeface="Calibri" pitchFamily="34" charset="-120"/>
              </a:rPr>
              <a:t>⚠  A well-constructed forensic report and confident expert testimony can be the difference between conviction and acquittal. Accuracy is not optional.</a:t>
            </a:r>
            <a:endParaRPr lang="en-US" sz="1200" dirty="0"/>
          </a:p>
        </p:txBody>
      </p:sp>
    </p:spTree>
    <p:extLst>
      <p:ext uri="{BB962C8B-B14F-4D97-AF65-F5344CB8AC3E}">
        <p14:creationId xmlns:p14="http://schemas.microsoft.com/office/powerpoint/2010/main" val="18699731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0A8A8"/>
          </a:solidFill>
          <a:ln w="12700">
            <a:solidFill>
              <a:srgbClr val="00A8A8"/>
            </a:solidFill>
            <a:prstDash val="solid"/>
          </a:ln>
        </p:spPr>
        <p:txBody>
          <a:bodyPr/>
          <a:lstStyle/>
          <a:p>
            <a:endParaRPr lang="en-SG"/>
          </a:p>
        </p:txBody>
      </p:sp>
      <p:sp>
        <p:nvSpPr>
          <p:cNvPr id="3" name="Text 1"/>
          <p:cNvSpPr/>
          <p:nvPr/>
        </p:nvSpPr>
        <p:spPr>
          <a:xfrm>
            <a:off x="365760" y="164592"/>
            <a:ext cx="8412480" cy="594360"/>
          </a:xfrm>
          <a:prstGeom prst="rect">
            <a:avLst/>
          </a:prstGeom>
          <a:noFill/>
          <a:ln/>
        </p:spPr>
        <p:txBody>
          <a:bodyPr wrap="square" lIns="0" tIns="0" rIns="0" bIns="0" rtlCol="0" anchor="ctr"/>
          <a:lstStyle/>
          <a:p>
            <a:pPr marL="0" indent="0" algn="l">
              <a:buNone/>
            </a:pPr>
            <a:r>
              <a:rPr lang="en-US" sz="2800" b="1" dirty="0">
                <a:solidFill>
                  <a:srgbClr val="1A1A2E"/>
                </a:solidFill>
                <a:latin typeface="Trebuchet MS" pitchFamily="34" charset="0"/>
                <a:ea typeface="Trebuchet MS" pitchFamily="34" charset="-122"/>
                <a:cs typeface="Trebuchet MS" pitchFamily="34" charset="-120"/>
              </a:rPr>
              <a:t>Testifying in Court — What to Expect</a:t>
            </a:r>
            <a:endParaRPr lang="en-US" sz="2800" dirty="0"/>
          </a:p>
        </p:txBody>
      </p:sp>
      <p:sp>
        <p:nvSpPr>
          <p:cNvPr id="4" name="Text 2"/>
          <p:cNvSpPr/>
          <p:nvPr/>
        </p:nvSpPr>
        <p:spPr>
          <a:xfrm>
            <a:off x="365760" y="786384"/>
            <a:ext cx="8412480" cy="228600"/>
          </a:xfrm>
          <a:prstGeom prst="rect">
            <a:avLst/>
          </a:prstGeom>
          <a:noFill/>
          <a:ln/>
        </p:spPr>
        <p:txBody>
          <a:bodyPr wrap="square" lIns="0" tIns="0" rIns="0" bIns="0" rtlCol="0" anchor="ctr"/>
          <a:lstStyle/>
          <a:p>
            <a:pPr marL="0" indent="0" algn="l">
              <a:buNone/>
            </a:pPr>
            <a:r>
              <a:rPr lang="en-US" sz="1100" i="1" dirty="0">
                <a:solidFill>
                  <a:srgbClr val="00A8A8"/>
                </a:solidFill>
                <a:latin typeface="Calibri" pitchFamily="34" charset="0"/>
                <a:ea typeface="Calibri" pitchFamily="34" charset="-122"/>
                <a:cs typeface="Calibri" pitchFamily="34" charset="-120"/>
              </a:rPr>
              <a:t>Understanding court procedure helps you prepare, present evidence effectively, and avoid common mistakes.</a:t>
            </a:r>
            <a:endParaRPr lang="en-US" sz="1100" dirty="0"/>
          </a:p>
        </p:txBody>
      </p:sp>
      <p:sp>
        <p:nvSpPr>
          <p:cNvPr id="5" name="Text 3"/>
          <p:cNvSpPr/>
          <p:nvPr/>
        </p:nvSpPr>
        <p:spPr>
          <a:xfrm>
            <a:off x="274320" y="1078992"/>
            <a:ext cx="8595360" cy="256032"/>
          </a:xfrm>
          <a:prstGeom prst="rect">
            <a:avLst/>
          </a:prstGeom>
          <a:noFill/>
          <a:ln/>
        </p:spPr>
        <p:txBody>
          <a:bodyPr wrap="square" lIns="0" tIns="0" rIns="0" bIns="0" rtlCol="0" anchor="ctr"/>
          <a:lstStyle/>
          <a:p>
            <a:pPr marL="0" indent="0" algn="l">
              <a:buNone/>
            </a:pPr>
            <a:r>
              <a:rPr lang="en-US" sz="1100" b="1" kern="0" spc="300" dirty="0">
                <a:solidFill>
                  <a:srgbClr val="475569"/>
                </a:solidFill>
                <a:latin typeface="Trebuchet MS" pitchFamily="34" charset="0"/>
                <a:ea typeface="Trebuchet MS" pitchFamily="34" charset="-122"/>
                <a:cs typeface="Trebuchet MS" pitchFamily="34" charset="-120"/>
              </a:rPr>
              <a:t>TYPICAL TRIAL ORDER</a:t>
            </a:r>
            <a:endParaRPr lang="en-US" sz="1100" dirty="0"/>
          </a:p>
        </p:txBody>
      </p:sp>
      <p:sp>
        <p:nvSpPr>
          <p:cNvPr id="6" name="Shape 4"/>
          <p:cNvSpPr/>
          <p:nvPr/>
        </p:nvSpPr>
        <p:spPr>
          <a:xfrm>
            <a:off x="274320" y="1389888"/>
            <a:ext cx="1161288" cy="475488"/>
          </a:xfrm>
          <a:prstGeom prst="rect">
            <a:avLst/>
          </a:prstGeom>
          <a:solidFill>
            <a:srgbClr val="EEF6FB"/>
          </a:solidFill>
          <a:ln w="12700">
            <a:solidFill>
              <a:srgbClr val="F1F5F9"/>
            </a:solidFill>
            <a:prstDash val="solid"/>
          </a:ln>
        </p:spPr>
        <p:txBody>
          <a:bodyPr/>
          <a:lstStyle/>
          <a:p>
            <a:endParaRPr lang="en-SG"/>
          </a:p>
        </p:txBody>
      </p:sp>
      <p:sp>
        <p:nvSpPr>
          <p:cNvPr id="7" name="Text 5"/>
          <p:cNvSpPr/>
          <p:nvPr/>
        </p:nvSpPr>
        <p:spPr>
          <a:xfrm>
            <a:off x="274320" y="1389888"/>
            <a:ext cx="1161288" cy="475488"/>
          </a:xfrm>
          <a:prstGeom prst="rect">
            <a:avLst/>
          </a:prstGeom>
          <a:noFill/>
          <a:ln/>
        </p:spPr>
        <p:txBody>
          <a:bodyPr wrap="square" lIns="38100" tIns="38100" rIns="38100" bIns="38100" rtlCol="0" anchor="ctr"/>
          <a:lstStyle/>
          <a:p>
            <a:pPr marL="0" indent="0" algn="ctr">
              <a:buNone/>
            </a:pPr>
            <a:r>
              <a:rPr lang="en-US" sz="900" dirty="0">
                <a:solidFill>
                  <a:srgbClr val="1A1A2E"/>
                </a:solidFill>
                <a:latin typeface="Calibri" pitchFamily="34" charset="0"/>
                <a:ea typeface="Calibri" pitchFamily="34" charset="-122"/>
                <a:cs typeface="Calibri" pitchFamily="34" charset="-120"/>
              </a:rPr>
              <a:t>Motion in Limine</a:t>
            </a:r>
            <a:endParaRPr lang="en-US" sz="900" dirty="0"/>
          </a:p>
        </p:txBody>
      </p:sp>
      <p:sp>
        <p:nvSpPr>
          <p:cNvPr id="8" name="Shape 6"/>
          <p:cNvSpPr/>
          <p:nvPr/>
        </p:nvSpPr>
        <p:spPr>
          <a:xfrm>
            <a:off x="1435608" y="1572768"/>
            <a:ext cx="73152" cy="128016"/>
          </a:xfrm>
          <a:prstGeom prst="rect">
            <a:avLst/>
          </a:prstGeom>
          <a:solidFill>
            <a:srgbClr val="4A5A6A"/>
          </a:solidFill>
          <a:ln w="12700">
            <a:solidFill>
              <a:srgbClr val="4A5A6A"/>
            </a:solidFill>
            <a:prstDash val="solid"/>
          </a:ln>
        </p:spPr>
        <p:txBody>
          <a:bodyPr/>
          <a:lstStyle/>
          <a:p>
            <a:endParaRPr lang="en-SG"/>
          </a:p>
        </p:txBody>
      </p:sp>
      <p:sp>
        <p:nvSpPr>
          <p:cNvPr id="9" name="Text 7"/>
          <p:cNvSpPr/>
          <p:nvPr/>
        </p:nvSpPr>
        <p:spPr>
          <a:xfrm>
            <a:off x="274320" y="1911096"/>
            <a:ext cx="1161288" cy="530352"/>
          </a:xfrm>
          <a:prstGeom prst="rect">
            <a:avLst/>
          </a:prstGeom>
          <a:noFill/>
          <a:ln/>
        </p:spPr>
        <p:txBody>
          <a:bodyPr wrap="square" lIns="38100" tIns="38100" rIns="38100" bIns="38100" rtlCol="0" anchor="ctr"/>
          <a:lstStyle/>
          <a:p>
            <a:pPr marL="0" indent="0" algn="ctr">
              <a:buNone/>
            </a:pPr>
            <a:r>
              <a:rPr lang="en-US" sz="900" dirty="0">
                <a:solidFill>
                  <a:srgbClr val="475569"/>
                </a:solidFill>
                <a:latin typeface="Calibri" pitchFamily="34" charset="0"/>
                <a:ea typeface="Calibri" pitchFamily="34" charset="-122"/>
                <a:cs typeface="Calibri" pitchFamily="34" charset="-120"/>
              </a:rPr>
              <a:t>Exclude inadmissible evidence</a:t>
            </a:r>
            <a:endParaRPr lang="en-US" sz="900" dirty="0"/>
          </a:p>
        </p:txBody>
      </p:sp>
      <p:sp>
        <p:nvSpPr>
          <p:cNvPr id="10" name="Shape 8"/>
          <p:cNvSpPr/>
          <p:nvPr/>
        </p:nvSpPr>
        <p:spPr>
          <a:xfrm>
            <a:off x="1508760" y="1389888"/>
            <a:ext cx="1161288" cy="475488"/>
          </a:xfrm>
          <a:prstGeom prst="rect">
            <a:avLst/>
          </a:prstGeom>
          <a:solidFill>
            <a:srgbClr val="EEF6FB"/>
          </a:solidFill>
          <a:ln w="12700">
            <a:solidFill>
              <a:srgbClr val="F1F5F9"/>
            </a:solidFill>
            <a:prstDash val="solid"/>
          </a:ln>
        </p:spPr>
        <p:txBody>
          <a:bodyPr/>
          <a:lstStyle/>
          <a:p>
            <a:endParaRPr lang="en-SG"/>
          </a:p>
        </p:txBody>
      </p:sp>
      <p:sp>
        <p:nvSpPr>
          <p:cNvPr id="11" name="Text 9"/>
          <p:cNvSpPr/>
          <p:nvPr/>
        </p:nvSpPr>
        <p:spPr>
          <a:xfrm>
            <a:off x="1508760" y="1389888"/>
            <a:ext cx="1161288" cy="475488"/>
          </a:xfrm>
          <a:prstGeom prst="rect">
            <a:avLst/>
          </a:prstGeom>
          <a:noFill/>
          <a:ln/>
        </p:spPr>
        <p:txBody>
          <a:bodyPr wrap="square" lIns="38100" tIns="38100" rIns="38100" bIns="38100" rtlCol="0" anchor="ctr"/>
          <a:lstStyle/>
          <a:p>
            <a:pPr marL="0" indent="0" algn="ctr">
              <a:buNone/>
            </a:pPr>
            <a:r>
              <a:rPr lang="en-US" sz="900" dirty="0">
                <a:solidFill>
                  <a:srgbClr val="1A1A2E"/>
                </a:solidFill>
                <a:latin typeface="Calibri" pitchFamily="34" charset="0"/>
                <a:ea typeface="Calibri" pitchFamily="34" charset="-122"/>
                <a:cs typeface="Calibri" pitchFamily="34" charset="-120"/>
              </a:rPr>
              <a:t>Jury Selection</a:t>
            </a:r>
            <a:endParaRPr lang="en-US" sz="900" dirty="0"/>
          </a:p>
        </p:txBody>
      </p:sp>
      <p:sp>
        <p:nvSpPr>
          <p:cNvPr id="12" name="Shape 10"/>
          <p:cNvSpPr/>
          <p:nvPr/>
        </p:nvSpPr>
        <p:spPr>
          <a:xfrm>
            <a:off x="2670048" y="1572768"/>
            <a:ext cx="73152" cy="128016"/>
          </a:xfrm>
          <a:prstGeom prst="rect">
            <a:avLst/>
          </a:prstGeom>
          <a:solidFill>
            <a:srgbClr val="4A5A6A"/>
          </a:solidFill>
          <a:ln w="12700">
            <a:solidFill>
              <a:srgbClr val="4A5A6A"/>
            </a:solidFill>
            <a:prstDash val="solid"/>
          </a:ln>
        </p:spPr>
        <p:txBody>
          <a:bodyPr/>
          <a:lstStyle/>
          <a:p>
            <a:endParaRPr lang="en-SG"/>
          </a:p>
        </p:txBody>
      </p:sp>
      <p:sp>
        <p:nvSpPr>
          <p:cNvPr id="13" name="Text 11"/>
          <p:cNvSpPr/>
          <p:nvPr/>
        </p:nvSpPr>
        <p:spPr>
          <a:xfrm>
            <a:off x="1508760" y="1911096"/>
            <a:ext cx="1161288" cy="530352"/>
          </a:xfrm>
          <a:prstGeom prst="rect">
            <a:avLst/>
          </a:prstGeom>
          <a:noFill/>
          <a:ln/>
        </p:spPr>
        <p:txBody>
          <a:bodyPr wrap="square" lIns="38100" tIns="38100" rIns="38100" bIns="38100" rtlCol="0" anchor="ctr"/>
          <a:lstStyle/>
          <a:p>
            <a:pPr marL="0" indent="0" algn="ctr">
              <a:buNone/>
            </a:pPr>
            <a:r>
              <a:rPr lang="en-US" sz="900" dirty="0">
                <a:solidFill>
                  <a:srgbClr val="475569"/>
                </a:solidFill>
                <a:latin typeface="Calibri" pitchFamily="34" charset="0"/>
                <a:ea typeface="Calibri" pitchFamily="34" charset="-122"/>
                <a:cs typeface="Calibri" pitchFamily="34" charset="-120"/>
              </a:rPr>
              <a:t>Empanel the jury</a:t>
            </a:r>
            <a:endParaRPr lang="en-US" sz="900" dirty="0"/>
          </a:p>
        </p:txBody>
      </p:sp>
      <p:sp>
        <p:nvSpPr>
          <p:cNvPr id="14" name="Shape 12"/>
          <p:cNvSpPr/>
          <p:nvPr/>
        </p:nvSpPr>
        <p:spPr>
          <a:xfrm>
            <a:off x="2743200" y="1389888"/>
            <a:ext cx="1161288" cy="475488"/>
          </a:xfrm>
          <a:prstGeom prst="rect">
            <a:avLst/>
          </a:prstGeom>
          <a:solidFill>
            <a:srgbClr val="EEF6FB"/>
          </a:solidFill>
          <a:ln w="12700">
            <a:solidFill>
              <a:srgbClr val="F1F5F9"/>
            </a:solidFill>
            <a:prstDash val="solid"/>
          </a:ln>
        </p:spPr>
        <p:txBody>
          <a:bodyPr/>
          <a:lstStyle/>
          <a:p>
            <a:endParaRPr lang="en-SG"/>
          </a:p>
        </p:txBody>
      </p:sp>
      <p:sp>
        <p:nvSpPr>
          <p:cNvPr id="15" name="Text 13"/>
          <p:cNvSpPr/>
          <p:nvPr/>
        </p:nvSpPr>
        <p:spPr>
          <a:xfrm>
            <a:off x="2743200" y="1389888"/>
            <a:ext cx="1161288" cy="475488"/>
          </a:xfrm>
          <a:prstGeom prst="rect">
            <a:avLst/>
          </a:prstGeom>
          <a:noFill/>
          <a:ln/>
        </p:spPr>
        <p:txBody>
          <a:bodyPr wrap="square" lIns="38100" tIns="38100" rIns="38100" bIns="38100" rtlCol="0" anchor="ctr"/>
          <a:lstStyle/>
          <a:p>
            <a:pPr marL="0" indent="0" algn="ctr">
              <a:buNone/>
            </a:pPr>
            <a:r>
              <a:rPr lang="en-US" sz="900" dirty="0">
                <a:solidFill>
                  <a:srgbClr val="1A1A2E"/>
                </a:solidFill>
                <a:latin typeface="Calibri" pitchFamily="34" charset="0"/>
                <a:ea typeface="Calibri" pitchFamily="34" charset="-122"/>
                <a:cs typeface="Calibri" pitchFamily="34" charset="-120"/>
              </a:rPr>
              <a:t>Opening Statements</a:t>
            </a:r>
            <a:endParaRPr lang="en-US" sz="900" dirty="0"/>
          </a:p>
        </p:txBody>
      </p:sp>
      <p:sp>
        <p:nvSpPr>
          <p:cNvPr id="16" name="Shape 14"/>
          <p:cNvSpPr/>
          <p:nvPr/>
        </p:nvSpPr>
        <p:spPr>
          <a:xfrm>
            <a:off x="3904488" y="1572768"/>
            <a:ext cx="73152" cy="128016"/>
          </a:xfrm>
          <a:prstGeom prst="rect">
            <a:avLst/>
          </a:prstGeom>
          <a:solidFill>
            <a:srgbClr val="4A5A6A"/>
          </a:solidFill>
          <a:ln w="12700">
            <a:solidFill>
              <a:srgbClr val="4A5A6A"/>
            </a:solidFill>
            <a:prstDash val="solid"/>
          </a:ln>
        </p:spPr>
        <p:txBody>
          <a:bodyPr/>
          <a:lstStyle/>
          <a:p>
            <a:endParaRPr lang="en-SG"/>
          </a:p>
        </p:txBody>
      </p:sp>
      <p:sp>
        <p:nvSpPr>
          <p:cNvPr id="17" name="Text 15"/>
          <p:cNvSpPr/>
          <p:nvPr/>
        </p:nvSpPr>
        <p:spPr>
          <a:xfrm>
            <a:off x="2743200" y="1911096"/>
            <a:ext cx="1161288" cy="530352"/>
          </a:xfrm>
          <a:prstGeom prst="rect">
            <a:avLst/>
          </a:prstGeom>
          <a:noFill/>
          <a:ln/>
        </p:spPr>
        <p:txBody>
          <a:bodyPr wrap="square" lIns="38100" tIns="38100" rIns="38100" bIns="38100" rtlCol="0" anchor="ctr"/>
          <a:lstStyle/>
          <a:p>
            <a:pPr marL="0" indent="0" algn="ctr">
              <a:buNone/>
            </a:pPr>
            <a:r>
              <a:rPr lang="en-US" sz="900" dirty="0">
                <a:solidFill>
                  <a:srgbClr val="475569"/>
                </a:solidFill>
                <a:latin typeface="Calibri" pitchFamily="34" charset="0"/>
                <a:ea typeface="Calibri" pitchFamily="34" charset="-122"/>
                <a:cs typeface="Calibri" pitchFamily="34" charset="-120"/>
              </a:rPr>
              <a:t>Both parties outline their case</a:t>
            </a:r>
            <a:endParaRPr lang="en-US" sz="900" dirty="0"/>
          </a:p>
        </p:txBody>
      </p:sp>
      <p:sp>
        <p:nvSpPr>
          <p:cNvPr id="18" name="Shape 16"/>
          <p:cNvSpPr/>
          <p:nvPr/>
        </p:nvSpPr>
        <p:spPr>
          <a:xfrm>
            <a:off x="3977640" y="1389888"/>
            <a:ext cx="1161288" cy="475488"/>
          </a:xfrm>
          <a:prstGeom prst="rect">
            <a:avLst/>
          </a:prstGeom>
          <a:solidFill>
            <a:srgbClr val="00A8A8"/>
          </a:solidFill>
          <a:ln w="12700">
            <a:solidFill>
              <a:srgbClr val="007A7A"/>
            </a:solidFill>
            <a:prstDash val="solid"/>
          </a:ln>
        </p:spPr>
        <p:txBody>
          <a:bodyPr/>
          <a:lstStyle/>
          <a:p>
            <a:endParaRPr lang="en-SG"/>
          </a:p>
        </p:txBody>
      </p:sp>
      <p:sp>
        <p:nvSpPr>
          <p:cNvPr id="19" name="Text 17"/>
          <p:cNvSpPr/>
          <p:nvPr/>
        </p:nvSpPr>
        <p:spPr>
          <a:xfrm>
            <a:off x="3977640" y="1389888"/>
            <a:ext cx="1161288" cy="475488"/>
          </a:xfrm>
          <a:prstGeom prst="rect">
            <a:avLst/>
          </a:prstGeom>
          <a:noFill/>
          <a:ln/>
        </p:spPr>
        <p:txBody>
          <a:bodyPr wrap="square" lIns="38100" tIns="38100" rIns="38100" bIns="38100" rtlCol="0" anchor="ctr"/>
          <a:lstStyle/>
          <a:p>
            <a:pPr marL="0" indent="0" algn="ctr">
              <a:buNone/>
            </a:pPr>
            <a:r>
              <a:rPr lang="en-US" sz="900" b="1" dirty="0">
                <a:solidFill>
                  <a:srgbClr val="0D1B2A"/>
                </a:solidFill>
                <a:latin typeface="Calibri" pitchFamily="34" charset="0"/>
                <a:ea typeface="Calibri" pitchFamily="34" charset="-122"/>
                <a:cs typeface="Calibri" pitchFamily="34" charset="-120"/>
              </a:rPr>
              <a:t>Examination in Chief</a:t>
            </a:r>
            <a:endParaRPr lang="en-US" sz="900" dirty="0"/>
          </a:p>
        </p:txBody>
      </p:sp>
      <p:sp>
        <p:nvSpPr>
          <p:cNvPr id="20" name="Shape 18"/>
          <p:cNvSpPr/>
          <p:nvPr/>
        </p:nvSpPr>
        <p:spPr>
          <a:xfrm>
            <a:off x="5138928" y="1572768"/>
            <a:ext cx="73152" cy="128016"/>
          </a:xfrm>
          <a:prstGeom prst="rect">
            <a:avLst/>
          </a:prstGeom>
          <a:solidFill>
            <a:srgbClr val="4A5A6A"/>
          </a:solidFill>
          <a:ln w="12700">
            <a:solidFill>
              <a:srgbClr val="4A5A6A"/>
            </a:solidFill>
            <a:prstDash val="solid"/>
          </a:ln>
        </p:spPr>
        <p:txBody>
          <a:bodyPr/>
          <a:lstStyle/>
          <a:p>
            <a:endParaRPr lang="en-SG"/>
          </a:p>
        </p:txBody>
      </p:sp>
      <p:sp>
        <p:nvSpPr>
          <p:cNvPr id="21" name="Text 19"/>
          <p:cNvSpPr/>
          <p:nvPr/>
        </p:nvSpPr>
        <p:spPr>
          <a:xfrm>
            <a:off x="3977640" y="1911096"/>
            <a:ext cx="1161288" cy="530352"/>
          </a:xfrm>
          <a:prstGeom prst="rect">
            <a:avLst/>
          </a:prstGeom>
          <a:noFill/>
          <a:ln/>
        </p:spPr>
        <p:txBody>
          <a:bodyPr wrap="square" lIns="38100" tIns="38100" rIns="38100" bIns="38100" rtlCol="0" anchor="ctr"/>
          <a:lstStyle/>
          <a:p>
            <a:pPr marL="0" indent="0" algn="ctr">
              <a:buNone/>
            </a:pPr>
            <a:r>
              <a:rPr lang="en-US" sz="900" dirty="0">
                <a:solidFill>
                  <a:srgbClr val="475569"/>
                </a:solidFill>
                <a:latin typeface="Calibri" pitchFamily="34" charset="0"/>
                <a:ea typeface="Calibri" pitchFamily="34" charset="-122"/>
                <a:cs typeface="Calibri" pitchFamily="34" charset="-120"/>
              </a:rPr>
              <a:t>Attorney leads you through evidence</a:t>
            </a:r>
            <a:endParaRPr lang="en-US" sz="900" dirty="0"/>
          </a:p>
        </p:txBody>
      </p:sp>
      <p:sp>
        <p:nvSpPr>
          <p:cNvPr id="22" name="Shape 20"/>
          <p:cNvSpPr/>
          <p:nvPr/>
        </p:nvSpPr>
        <p:spPr>
          <a:xfrm>
            <a:off x="5212080" y="1389888"/>
            <a:ext cx="1161288" cy="475488"/>
          </a:xfrm>
          <a:prstGeom prst="rect">
            <a:avLst/>
          </a:prstGeom>
          <a:solidFill>
            <a:srgbClr val="00A8A8"/>
          </a:solidFill>
          <a:ln w="12700">
            <a:solidFill>
              <a:srgbClr val="007A7A"/>
            </a:solidFill>
            <a:prstDash val="solid"/>
          </a:ln>
        </p:spPr>
        <p:txBody>
          <a:bodyPr/>
          <a:lstStyle/>
          <a:p>
            <a:endParaRPr lang="en-SG"/>
          </a:p>
        </p:txBody>
      </p:sp>
      <p:sp>
        <p:nvSpPr>
          <p:cNvPr id="23" name="Text 21"/>
          <p:cNvSpPr/>
          <p:nvPr/>
        </p:nvSpPr>
        <p:spPr>
          <a:xfrm>
            <a:off x="5212080" y="1389888"/>
            <a:ext cx="1161288" cy="475488"/>
          </a:xfrm>
          <a:prstGeom prst="rect">
            <a:avLst/>
          </a:prstGeom>
          <a:noFill/>
          <a:ln/>
        </p:spPr>
        <p:txBody>
          <a:bodyPr wrap="square" lIns="38100" tIns="38100" rIns="38100" bIns="38100" rtlCol="0" anchor="ctr"/>
          <a:lstStyle/>
          <a:p>
            <a:pPr marL="0" indent="0" algn="ctr">
              <a:buNone/>
            </a:pPr>
            <a:r>
              <a:rPr lang="en-US" sz="900" b="1" dirty="0">
                <a:solidFill>
                  <a:srgbClr val="0D1B2A"/>
                </a:solidFill>
                <a:latin typeface="Calibri" pitchFamily="34" charset="0"/>
                <a:ea typeface="Calibri" pitchFamily="34" charset="-122"/>
                <a:cs typeface="Calibri" pitchFamily="34" charset="-120"/>
              </a:rPr>
              <a:t>Cross-Examination</a:t>
            </a:r>
            <a:endParaRPr lang="en-US" sz="900" dirty="0"/>
          </a:p>
        </p:txBody>
      </p:sp>
      <p:sp>
        <p:nvSpPr>
          <p:cNvPr id="24" name="Shape 22"/>
          <p:cNvSpPr/>
          <p:nvPr/>
        </p:nvSpPr>
        <p:spPr>
          <a:xfrm>
            <a:off x="6373368" y="1572768"/>
            <a:ext cx="73152" cy="128016"/>
          </a:xfrm>
          <a:prstGeom prst="rect">
            <a:avLst/>
          </a:prstGeom>
          <a:solidFill>
            <a:srgbClr val="4A5A6A"/>
          </a:solidFill>
          <a:ln w="12700">
            <a:solidFill>
              <a:srgbClr val="4A5A6A"/>
            </a:solidFill>
            <a:prstDash val="solid"/>
          </a:ln>
        </p:spPr>
        <p:txBody>
          <a:bodyPr/>
          <a:lstStyle/>
          <a:p>
            <a:endParaRPr lang="en-SG"/>
          </a:p>
        </p:txBody>
      </p:sp>
      <p:sp>
        <p:nvSpPr>
          <p:cNvPr id="25" name="Text 23"/>
          <p:cNvSpPr/>
          <p:nvPr/>
        </p:nvSpPr>
        <p:spPr>
          <a:xfrm>
            <a:off x="5212080" y="1911096"/>
            <a:ext cx="1161288" cy="530352"/>
          </a:xfrm>
          <a:prstGeom prst="rect">
            <a:avLst/>
          </a:prstGeom>
          <a:noFill/>
          <a:ln/>
        </p:spPr>
        <p:txBody>
          <a:bodyPr wrap="square" lIns="38100" tIns="38100" rIns="38100" bIns="38100" rtlCol="0" anchor="ctr"/>
          <a:lstStyle/>
          <a:p>
            <a:pPr marL="0" indent="0" algn="ctr">
              <a:buNone/>
            </a:pPr>
            <a:r>
              <a:rPr lang="en-US" sz="900" dirty="0">
                <a:solidFill>
                  <a:srgbClr val="475569"/>
                </a:solidFill>
                <a:latin typeface="Calibri" pitchFamily="34" charset="0"/>
                <a:ea typeface="Calibri" pitchFamily="34" charset="-122"/>
                <a:cs typeface="Calibri" pitchFamily="34" charset="-120"/>
              </a:rPr>
              <a:t>Opposition challenges your findings</a:t>
            </a:r>
            <a:endParaRPr lang="en-US" sz="900" dirty="0"/>
          </a:p>
        </p:txBody>
      </p:sp>
      <p:sp>
        <p:nvSpPr>
          <p:cNvPr id="26" name="Shape 24"/>
          <p:cNvSpPr/>
          <p:nvPr/>
        </p:nvSpPr>
        <p:spPr>
          <a:xfrm>
            <a:off x="6446520" y="1389888"/>
            <a:ext cx="1161288" cy="475488"/>
          </a:xfrm>
          <a:prstGeom prst="rect">
            <a:avLst/>
          </a:prstGeom>
          <a:solidFill>
            <a:srgbClr val="EEF6FB"/>
          </a:solidFill>
          <a:ln w="12700">
            <a:solidFill>
              <a:srgbClr val="F1F5F9"/>
            </a:solidFill>
            <a:prstDash val="solid"/>
          </a:ln>
        </p:spPr>
        <p:txBody>
          <a:bodyPr/>
          <a:lstStyle/>
          <a:p>
            <a:endParaRPr lang="en-SG"/>
          </a:p>
        </p:txBody>
      </p:sp>
      <p:sp>
        <p:nvSpPr>
          <p:cNvPr id="27" name="Text 25"/>
          <p:cNvSpPr/>
          <p:nvPr/>
        </p:nvSpPr>
        <p:spPr>
          <a:xfrm>
            <a:off x="6446520" y="1389888"/>
            <a:ext cx="1161288" cy="475488"/>
          </a:xfrm>
          <a:prstGeom prst="rect">
            <a:avLst/>
          </a:prstGeom>
          <a:noFill/>
          <a:ln/>
        </p:spPr>
        <p:txBody>
          <a:bodyPr wrap="square" lIns="38100" tIns="38100" rIns="38100" bIns="38100" rtlCol="0" anchor="ctr"/>
          <a:lstStyle/>
          <a:p>
            <a:pPr marL="0" indent="0" algn="ctr">
              <a:buNone/>
            </a:pPr>
            <a:r>
              <a:rPr lang="en-US" sz="900" dirty="0">
                <a:solidFill>
                  <a:srgbClr val="1A1A2E"/>
                </a:solidFill>
                <a:latin typeface="Calibri" pitchFamily="34" charset="0"/>
                <a:ea typeface="Calibri" pitchFamily="34" charset="-122"/>
                <a:cs typeface="Calibri" pitchFamily="34" charset="-120"/>
              </a:rPr>
              <a:t>Closing Arguments</a:t>
            </a:r>
            <a:endParaRPr lang="en-US" sz="900" dirty="0"/>
          </a:p>
        </p:txBody>
      </p:sp>
      <p:sp>
        <p:nvSpPr>
          <p:cNvPr id="28" name="Shape 26"/>
          <p:cNvSpPr/>
          <p:nvPr/>
        </p:nvSpPr>
        <p:spPr>
          <a:xfrm>
            <a:off x="7607808" y="1572768"/>
            <a:ext cx="73152" cy="128016"/>
          </a:xfrm>
          <a:prstGeom prst="rect">
            <a:avLst/>
          </a:prstGeom>
          <a:solidFill>
            <a:srgbClr val="4A5A6A"/>
          </a:solidFill>
          <a:ln w="12700">
            <a:solidFill>
              <a:srgbClr val="4A5A6A"/>
            </a:solidFill>
            <a:prstDash val="solid"/>
          </a:ln>
        </p:spPr>
        <p:txBody>
          <a:bodyPr/>
          <a:lstStyle/>
          <a:p>
            <a:endParaRPr lang="en-SG"/>
          </a:p>
        </p:txBody>
      </p:sp>
      <p:sp>
        <p:nvSpPr>
          <p:cNvPr id="29" name="Text 27"/>
          <p:cNvSpPr/>
          <p:nvPr/>
        </p:nvSpPr>
        <p:spPr>
          <a:xfrm>
            <a:off x="6446520" y="1911096"/>
            <a:ext cx="1161288" cy="530352"/>
          </a:xfrm>
          <a:prstGeom prst="rect">
            <a:avLst/>
          </a:prstGeom>
          <a:noFill/>
          <a:ln/>
        </p:spPr>
        <p:txBody>
          <a:bodyPr wrap="square" lIns="38100" tIns="38100" rIns="38100" bIns="38100" rtlCol="0" anchor="ctr"/>
          <a:lstStyle/>
          <a:p>
            <a:pPr marL="0" indent="0" algn="ctr">
              <a:buNone/>
            </a:pPr>
            <a:r>
              <a:rPr lang="en-US" sz="900" dirty="0">
                <a:solidFill>
                  <a:srgbClr val="475569"/>
                </a:solidFill>
                <a:latin typeface="Calibri" pitchFamily="34" charset="0"/>
                <a:ea typeface="Calibri" pitchFamily="34" charset="-122"/>
                <a:cs typeface="Calibri" pitchFamily="34" charset="-120"/>
              </a:rPr>
              <a:t>Both sides summarise for jury</a:t>
            </a:r>
            <a:endParaRPr lang="en-US" sz="900" dirty="0"/>
          </a:p>
        </p:txBody>
      </p:sp>
      <p:sp>
        <p:nvSpPr>
          <p:cNvPr id="30" name="Shape 28"/>
          <p:cNvSpPr/>
          <p:nvPr/>
        </p:nvSpPr>
        <p:spPr>
          <a:xfrm>
            <a:off x="7680960" y="1389888"/>
            <a:ext cx="1161288" cy="475488"/>
          </a:xfrm>
          <a:prstGeom prst="rect">
            <a:avLst/>
          </a:prstGeom>
          <a:solidFill>
            <a:srgbClr val="EEF6FB"/>
          </a:solidFill>
          <a:ln w="12700">
            <a:solidFill>
              <a:srgbClr val="F1F5F9"/>
            </a:solidFill>
            <a:prstDash val="solid"/>
          </a:ln>
        </p:spPr>
        <p:txBody>
          <a:bodyPr/>
          <a:lstStyle/>
          <a:p>
            <a:endParaRPr lang="en-SG"/>
          </a:p>
        </p:txBody>
      </p:sp>
      <p:sp>
        <p:nvSpPr>
          <p:cNvPr id="31" name="Text 29"/>
          <p:cNvSpPr/>
          <p:nvPr/>
        </p:nvSpPr>
        <p:spPr>
          <a:xfrm>
            <a:off x="7680960" y="1389888"/>
            <a:ext cx="1161288" cy="475488"/>
          </a:xfrm>
          <a:prstGeom prst="rect">
            <a:avLst/>
          </a:prstGeom>
          <a:noFill/>
          <a:ln/>
        </p:spPr>
        <p:txBody>
          <a:bodyPr wrap="square" lIns="38100" tIns="38100" rIns="38100" bIns="38100" rtlCol="0" anchor="ctr"/>
          <a:lstStyle/>
          <a:p>
            <a:pPr marL="0" indent="0" algn="ctr">
              <a:buNone/>
            </a:pPr>
            <a:r>
              <a:rPr lang="en-US" sz="900" dirty="0">
                <a:solidFill>
                  <a:srgbClr val="1A1A2E"/>
                </a:solidFill>
                <a:latin typeface="Calibri" pitchFamily="34" charset="0"/>
                <a:ea typeface="Calibri" pitchFamily="34" charset="-122"/>
                <a:cs typeface="Calibri" pitchFamily="34" charset="-120"/>
              </a:rPr>
              <a:t>Verdict</a:t>
            </a:r>
            <a:endParaRPr lang="en-US" sz="900" dirty="0"/>
          </a:p>
        </p:txBody>
      </p:sp>
      <p:sp>
        <p:nvSpPr>
          <p:cNvPr id="32" name="Text 30"/>
          <p:cNvSpPr/>
          <p:nvPr/>
        </p:nvSpPr>
        <p:spPr>
          <a:xfrm>
            <a:off x="7680960" y="1911096"/>
            <a:ext cx="1161288" cy="530352"/>
          </a:xfrm>
          <a:prstGeom prst="rect">
            <a:avLst/>
          </a:prstGeom>
          <a:noFill/>
          <a:ln/>
        </p:spPr>
        <p:txBody>
          <a:bodyPr wrap="square" lIns="38100" tIns="38100" rIns="38100" bIns="38100" rtlCol="0" anchor="ctr"/>
          <a:lstStyle/>
          <a:p>
            <a:pPr marL="0" indent="0" algn="ctr">
              <a:buNone/>
            </a:pPr>
            <a:r>
              <a:rPr lang="en-US" sz="900" dirty="0">
                <a:solidFill>
                  <a:srgbClr val="475569"/>
                </a:solidFill>
                <a:latin typeface="Calibri" pitchFamily="34" charset="0"/>
                <a:ea typeface="Calibri" pitchFamily="34" charset="-122"/>
                <a:cs typeface="Calibri" pitchFamily="34" charset="-120"/>
              </a:rPr>
              <a:t>Judge instructs; jury deliberates</a:t>
            </a:r>
            <a:endParaRPr lang="en-US" sz="900" dirty="0"/>
          </a:p>
        </p:txBody>
      </p:sp>
      <p:sp>
        <p:nvSpPr>
          <p:cNvPr id="33" name="Text 31"/>
          <p:cNvSpPr/>
          <p:nvPr/>
        </p:nvSpPr>
        <p:spPr>
          <a:xfrm>
            <a:off x="274320" y="2523744"/>
            <a:ext cx="8595360" cy="256032"/>
          </a:xfrm>
          <a:prstGeom prst="rect">
            <a:avLst/>
          </a:prstGeom>
          <a:noFill/>
          <a:ln/>
        </p:spPr>
        <p:txBody>
          <a:bodyPr wrap="square" lIns="0" tIns="0" rIns="0" bIns="0" rtlCol="0" anchor="ctr"/>
          <a:lstStyle/>
          <a:p>
            <a:pPr marL="0" indent="0" algn="l">
              <a:buNone/>
            </a:pPr>
            <a:r>
              <a:rPr lang="en-US" sz="1100" b="1" kern="0" spc="300" dirty="0">
                <a:solidFill>
                  <a:srgbClr val="475569"/>
                </a:solidFill>
                <a:latin typeface="Trebuchet MS" pitchFamily="34" charset="0"/>
                <a:ea typeface="Trebuchet MS" pitchFamily="34" charset="-122"/>
                <a:cs typeface="Trebuchet MS" pitchFamily="34" charset="-120"/>
              </a:rPr>
              <a:t>YOUR CONDUCT DURING TESTIMONY</a:t>
            </a:r>
            <a:endParaRPr lang="en-US" sz="1100" dirty="0"/>
          </a:p>
        </p:txBody>
      </p:sp>
      <p:sp>
        <p:nvSpPr>
          <p:cNvPr id="34" name="Shape 32"/>
          <p:cNvSpPr/>
          <p:nvPr/>
        </p:nvSpPr>
        <p:spPr>
          <a:xfrm>
            <a:off x="274320" y="2834640"/>
            <a:ext cx="2743200" cy="2029968"/>
          </a:xfrm>
          <a:prstGeom prst="rect">
            <a:avLst/>
          </a:prstGeom>
          <a:solidFill>
            <a:srgbClr val="EEF6FB"/>
          </a:solidFill>
          <a:ln w="12700">
            <a:solidFill>
              <a:srgbClr val="EEF6FB"/>
            </a:solidFill>
            <a:prstDash val="solid"/>
          </a:ln>
          <a:effectLst>
            <a:outerShdw blurRad="76200" dist="25400" dir="8100000" algn="bl" rotWithShape="0">
              <a:srgbClr val="000000">
                <a:alpha val="25000"/>
              </a:srgbClr>
            </a:outerShdw>
          </a:effectLst>
        </p:spPr>
        <p:txBody>
          <a:bodyPr/>
          <a:lstStyle/>
          <a:p>
            <a:endParaRPr lang="en-SG"/>
          </a:p>
        </p:txBody>
      </p:sp>
      <p:sp>
        <p:nvSpPr>
          <p:cNvPr id="35" name="Shape 33"/>
          <p:cNvSpPr/>
          <p:nvPr/>
        </p:nvSpPr>
        <p:spPr>
          <a:xfrm>
            <a:off x="274320" y="2834640"/>
            <a:ext cx="2743200" cy="91440"/>
          </a:xfrm>
          <a:prstGeom prst="rect">
            <a:avLst/>
          </a:prstGeom>
          <a:solidFill>
            <a:srgbClr val="3A86FF"/>
          </a:solidFill>
          <a:ln w="12700">
            <a:solidFill>
              <a:srgbClr val="3A86FF"/>
            </a:solidFill>
            <a:prstDash val="solid"/>
          </a:ln>
        </p:spPr>
        <p:txBody>
          <a:bodyPr/>
          <a:lstStyle/>
          <a:p>
            <a:endParaRPr lang="en-SG"/>
          </a:p>
        </p:txBody>
      </p:sp>
      <p:sp>
        <p:nvSpPr>
          <p:cNvPr id="36" name="Text 34"/>
          <p:cNvSpPr/>
          <p:nvPr/>
        </p:nvSpPr>
        <p:spPr>
          <a:xfrm>
            <a:off x="384048" y="2962656"/>
            <a:ext cx="2523744" cy="329184"/>
          </a:xfrm>
          <a:prstGeom prst="rect">
            <a:avLst/>
          </a:prstGeom>
          <a:noFill/>
          <a:ln/>
        </p:spPr>
        <p:txBody>
          <a:bodyPr wrap="square" lIns="0" tIns="0" rIns="0" bIns="0" rtlCol="0" anchor="ctr"/>
          <a:lstStyle/>
          <a:p>
            <a:pPr marL="0" indent="0" algn="l">
              <a:buNone/>
            </a:pPr>
            <a:r>
              <a:rPr lang="en-US" sz="1250" b="1" dirty="0">
                <a:solidFill>
                  <a:srgbClr val="3A86FF"/>
                </a:solidFill>
                <a:latin typeface="Trebuchet MS" pitchFamily="34" charset="0"/>
                <a:ea typeface="Trebuchet MS" pitchFamily="34" charset="-122"/>
                <a:cs typeface="Trebuchet MS" pitchFamily="34" charset="-120"/>
              </a:rPr>
              <a:t>During Direct Examination</a:t>
            </a:r>
            <a:endParaRPr lang="en-US" sz="1250" dirty="0"/>
          </a:p>
        </p:txBody>
      </p:sp>
      <p:sp>
        <p:nvSpPr>
          <p:cNvPr id="37" name="Text 35"/>
          <p:cNvSpPr/>
          <p:nvPr/>
        </p:nvSpPr>
        <p:spPr>
          <a:xfrm>
            <a:off x="384048" y="3346704"/>
            <a:ext cx="2523744" cy="1444752"/>
          </a:xfrm>
          <a:prstGeom prst="rect">
            <a:avLst/>
          </a:prstGeom>
          <a:noFill/>
          <a:ln/>
        </p:spPr>
        <p:txBody>
          <a:bodyPr wrap="square" lIns="0" tIns="0" rIns="0" bIns="0" rtlCol="0" anchor="ctr"/>
          <a:lstStyle/>
          <a:p>
            <a:pPr marL="0" indent="0" algn="l">
              <a:buNone/>
            </a:pPr>
            <a:r>
              <a:rPr lang="en-US" sz="1200" b="1" dirty="0">
                <a:solidFill>
                  <a:srgbClr val="3A86FF"/>
                </a:solidFill>
                <a:latin typeface="Calibri" pitchFamily="34" charset="0"/>
                <a:ea typeface="Calibri" pitchFamily="34" charset="-122"/>
                <a:cs typeface="Calibri" pitchFamily="34" charset="-120"/>
              </a:rPr>
              <a:t>▸  </a:t>
            </a:r>
            <a:r>
              <a:rPr lang="en-US" sz="1200" dirty="0">
                <a:solidFill>
                  <a:srgbClr val="1A1A2E"/>
                </a:solidFill>
                <a:latin typeface="Calibri" pitchFamily="34" charset="0"/>
                <a:ea typeface="Calibri" pitchFamily="34" charset="-122"/>
                <a:cs typeface="Calibri" pitchFamily="34" charset="-120"/>
              </a:rPr>
              <a:t>State background and qualifications clearly</a:t>
            </a:r>
            <a:endParaRPr lang="en-US" sz="1200" dirty="0"/>
          </a:p>
          <a:p>
            <a:pPr marL="0" indent="0" algn="l">
              <a:buNone/>
            </a:pPr>
            <a:r>
              <a:rPr lang="en-US" sz="1200" b="1" dirty="0">
                <a:solidFill>
                  <a:srgbClr val="3A86FF"/>
                </a:solidFill>
                <a:latin typeface="Calibri" pitchFamily="34" charset="0"/>
                <a:ea typeface="Calibri" pitchFamily="34" charset="-122"/>
                <a:cs typeface="Calibri" pitchFamily="34" charset="-120"/>
              </a:rPr>
              <a:t>▸  </a:t>
            </a:r>
            <a:r>
              <a:rPr lang="en-US" sz="1200" dirty="0">
                <a:solidFill>
                  <a:srgbClr val="1A1A2E"/>
                </a:solidFill>
                <a:latin typeface="Calibri" pitchFamily="34" charset="0"/>
                <a:ea typeface="Calibri" pitchFamily="34" charset="-122"/>
                <a:cs typeface="Calibri" pitchFamily="34" charset="-120"/>
              </a:rPr>
              <a:t>Provide systematic overview of your findings</a:t>
            </a:r>
            <a:endParaRPr lang="en-US" sz="1200" dirty="0"/>
          </a:p>
          <a:p>
            <a:pPr marL="0" indent="0" algn="l">
              <a:buNone/>
            </a:pPr>
            <a:r>
              <a:rPr lang="en-US" sz="1200" b="1" dirty="0">
                <a:solidFill>
                  <a:srgbClr val="3A86FF"/>
                </a:solidFill>
                <a:latin typeface="Calibri" pitchFamily="34" charset="0"/>
                <a:ea typeface="Calibri" pitchFamily="34" charset="-122"/>
                <a:cs typeface="Calibri" pitchFamily="34" charset="-120"/>
              </a:rPr>
              <a:t>▸  </a:t>
            </a:r>
            <a:r>
              <a:rPr lang="en-US" sz="1200" dirty="0">
                <a:solidFill>
                  <a:srgbClr val="1A1A2E"/>
                </a:solidFill>
                <a:latin typeface="Calibri" pitchFamily="34" charset="0"/>
                <a:ea typeface="Calibri" pitchFamily="34" charset="-122"/>
                <a:cs typeface="Calibri" pitchFamily="34" charset="-120"/>
              </a:rPr>
              <a:t>Use plain language — no unexplained jargon</a:t>
            </a:r>
            <a:endParaRPr lang="en-US" sz="1200" dirty="0"/>
          </a:p>
          <a:p>
            <a:pPr marL="0" indent="0" algn="l">
              <a:buNone/>
            </a:pPr>
            <a:r>
              <a:rPr lang="en-US" sz="1200" b="1" dirty="0">
                <a:solidFill>
                  <a:srgbClr val="3A86FF"/>
                </a:solidFill>
                <a:latin typeface="Calibri" pitchFamily="34" charset="0"/>
                <a:ea typeface="Calibri" pitchFamily="34" charset="-122"/>
                <a:cs typeface="Calibri" pitchFamily="34" charset="-120"/>
              </a:rPr>
              <a:t>▸  </a:t>
            </a:r>
            <a:r>
              <a:rPr lang="en-US" sz="1200" dirty="0">
                <a:solidFill>
                  <a:srgbClr val="1A1A2E"/>
                </a:solidFill>
                <a:latin typeface="Calibri" pitchFamily="34" charset="0"/>
                <a:ea typeface="Calibri" pitchFamily="34" charset="-122"/>
                <a:cs typeface="Calibri" pitchFamily="34" charset="-120"/>
              </a:rPr>
              <a:t>Balance technical accuracy with understandability</a:t>
            </a:r>
            <a:endParaRPr lang="en-US" sz="1200" dirty="0"/>
          </a:p>
        </p:txBody>
      </p:sp>
      <p:sp>
        <p:nvSpPr>
          <p:cNvPr id="38" name="Shape 36"/>
          <p:cNvSpPr/>
          <p:nvPr/>
        </p:nvSpPr>
        <p:spPr>
          <a:xfrm>
            <a:off x="3182112" y="2834640"/>
            <a:ext cx="2743200" cy="2029968"/>
          </a:xfrm>
          <a:prstGeom prst="rect">
            <a:avLst/>
          </a:prstGeom>
          <a:solidFill>
            <a:srgbClr val="EEF6FB"/>
          </a:solidFill>
          <a:ln w="12700">
            <a:solidFill>
              <a:srgbClr val="EEF6FB"/>
            </a:solidFill>
            <a:prstDash val="solid"/>
          </a:ln>
          <a:effectLst>
            <a:outerShdw blurRad="76200" dist="25400" dir="8100000" algn="bl" rotWithShape="0">
              <a:srgbClr val="000000">
                <a:alpha val="25000"/>
              </a:srgbClr>
            </a:outerShdw>
          </a:effectLst>
        </p:spPr>
        <p:txBody>
          <a:bodyPr/>
          <a:lstStyle/>
          <a:p>
            <a:endParaRPr lang="en-SG"/>
          </a:p>
        </p:txBody>
      </p:sp>
      <p:sp>
        <p:nvSpPr>
          <p:cNvPr id="39" name="Shape 37"/>
          <p:cNvSpPr/>
          <p:nvPr/>
        </p:nvSpPr>
        <p:spPr>
          <a:xfrm>
            <a:off x="3182112" y="2834640"/>
            <a:ext cx="2743200" cy="91440"/>
          </a:xfrm>
          <a:prstGeom prst="rect">
            <a:avLst/>
          </a:prstGeom>
          <a:solidFill>
            <a:srgbClr val="F39C12"/>
          </a:solidFill>
          <a:ln w="12700">
            <a:solidFill>
              <a:srgbClr val="F39C12"/>
            </a:solidFill>
            <a:prstDash val="solid"/>
          </a:ln>
        </p:spPr>
        <p:txBody>
          <a:bodyPr/>
          <a:lstStyle/>
          <a:p>
            <a:endParaRPr lang="en-SG"/>
          </a:p>
        </p:txBody>
      </p:sp>
      <p:sp>
        <p:nvSpPr>
          <p:cNvPr id="40" name="Text 38"/>
          <p:cNvSpPr/>
          <p:nvPr/>
        </p:nvSpPr>
        <p:spPr>
          <a:xfrm>
            <a:off x="3291840" y="2962656"/>
            <a:ext cx="2523744" cy="329184"/>
          </a:xfrm>
          <a:prstGeom prst="rect">
            <a:avLst/>
          </a:prstGeom>
          <a:noFill/>
          <a:ln/>
        </p:spPr>
        <p:txBody>
          <a:bodyPr wrap="square" lIns="0" tIns="0" rIns="0" bIns="0" rtlCol="0" anchor="ctr"/>
          <a:lstStyle/>
          <a:p>
            <a:pPr marL="0" indent="0" algn="l">
              <a:buNone/>
            </a:pPr>
            <a:r>
              <a:rPr lang="en-US" sz="1250" b="1" dirty="0">
                <a:solidFill>
                  <a:srgbClr val="F39C12"/>
                </a:solidFill>
                <a:latin typeface="Trebuchet MS" pitchFamily="34" charset="0"/>
                <a:ea typeface="Trebuchet MS" pitchFamily="34" charset="-122"/>
                <a:cs typeface="Trebuchet MS" pitchFamily="34" charset="-120"/>
              </a:rPr>
              <a:t>During Cross-Examination</a:t>
            </a:r>
            <a:endParaRPr lang="en-US" sz="1250" dirty="0"/>
          </a:p>
        </p:txBody>
      </p:sp>
      <p:sp>
        <p:nvSpPr>
          <p:cNvPr id="41" name="Text 39"/>
          <p:cNvSpPr/>
          <p:nvPr/>
        </p:nvSpPr>
        <p:spPr>
          <a:xfrm>
            <a:off x="3291840" y="3346704"/>
            <a:ext cx="2523744" cy="1444752"/>
          </a:xfrm>
          <a:prstGeom prst="rect">
            <a:avLst/>
          </a:prstGeom>
          <a:noFill/>
          <a:ln/>
        </p:spPr>
        <p:txBody>
          <a:bodyPr wrap="square" lIns="0" tIns="0" rIns="0" bIns="0" rtlCol="0" anchor="ctr"/>
          <a:lstStyle/>
          <a:p>
            <a:pPr marL="0" indent="0" algn="l">
              <a:buNone/>
            </a:pPr>
            <a:r>
              <a:rPr lang="en-US" sz="1200" b="1" dirty="0">
                <a:solidFill>
                  <a:srgbClr val="F39C12"/>
                </a:solidFill>
                <a:latin typeface="Calibri" pitchFamily="34" charset="0"/>
                <a:ea typeface="Calibri" pitchFamily="34" charset="-122"/>
                <a:cs typeface="Calibri" pitchFamily="34" charset="-120"/>
              </a:rPr>
              <a:t>▸  </a:t>
            </a:r>
            <a:r>
              <a:rPr lang="en-US" sz="1200" dirty="0">
                <a:solidFill>
                  <a:srgbClr val="1A1A2E"/>
                </a:solidFill>
                <a:latin typeface="Calibri" pitchFamily="34" charset="0"/>
                <a:ea typeface="Calibri" pitchFamily="34" charset="-122"/>
                <a:cs typeface="Calibri" pitchFamily="34" charset="-120"/>
              </a:rPr>
              <a:t>Never guess if you do not know the answer</a:t>
            </a:r>
            <a:endParaRPr lang="en-US" sz="1200" dirty="0"/>
          </a:p>
          <a:p>
            <a:pPr marL="0" indent="0" algn="l">
              <a:buNone/>
            </a:pPr>
            <a:r>
              <a:rPr lang="en-US" sz="1200" b="1" dirty="0">
                <a:solidFill>
                  <a:srgbClr val="F39C12"/>
                </a:solidFill>
                <a:latin typeface="Calibri" pitchFamily="34" charset="0"/>
                <a:ea typeface="Calibri" pitchFamily="34" charset="-122"/>
                <a:cs typeface="Calibri" pitchFamily="34" charset="-120"/>
              </a:rPr>
              <a:t>▸  </a:t>
            </a:r>
            <a:r>
              <a:rPr lang="en-US" sz="1200" dirty="0">
                <a:solidFill>
                  <a:srgbClr val="1A1A2E"/>
                </a:solidFill>
                <a:latin typeface="Calibri" pitchFamily="34" charset="0"/>
                <a:ea typeface="Calibri" pitchFamily="34" charset="-122"/>
                <a:cs typeface="Calibri" pitchFamily="34" charset="-120"/>
              </a:rPr>
              <a:t>'I was not asked to investigate that' is valid</a:t>
            </a:r>
            <a:endParaRPr lang="en-US" sz="1200" dirty="0"/>
          </a:p>
          <a:p>
            <a:pPr marL="0" indent="0" algn="l">
              <a:buNone/>
            </a:pPr>
            <a:r>
              <a:rPr lang="en-US" sz="1200" b="1" dirty="0">
                <a:solidFill>
                  <a:srgbClr val="F39C12"/>
                </a:solidFill>
                <a:latin typeface="Calibri" pitchFamily="34" charset="0"/>
                <a:ea typeface="Calibri" pitchFamily="34" charset="-122"/>
                <a:cs typeface="Calibri" pitchFamily="34" charset="-120"/>
              </a:rPr>
              <a:t>▸  </a:t>
            </a:r>
            <a:r>
              <a:rPr lang="en-US" sz="1200" dirty="0">
                <a:solidFill>
                  <a:srgbClr val="1A1A2E"/>
                </a:solidFill>
                <a:latin typeface="Calibri" pitchFamily="34" charset="0"/>
                <a:ea typeface="Calibri" pitchFamily="34" charset="-122"/>
                <a:cs typeface="Calibri" pitchFamily="34" charset="-120"/>
              </a:rPr>
              <a:t>Maintain eye contact with the jury when answering</a:t>
            </a:r>
            <a:endParaRPr lang="en-US" sz="1200" dirty="0"/>
          </a:p>
          <a:p>
            <a:pPr marL="0" indent="0" algn="l">
              <a:buNone/>
            </a:pPr>
            <a:r>
              <a:rPr lang="en-US" sz="1200" b="1" dirty="0">
                <a:solidFill>
                  <a:srgbClr val="F39C12"/>
                </a:solidFill>
                <a:latin typeface="Calibri" pitchFamily="34" charset="0"/>
                <a:ea typeface="Calibri" pitchFamily="34" charset="-122"/>
                <a:cs typeface="Calibri" pitchFamily="34" charset="-120"/>
              </a:rPr>
              <a:t>▸  </a:t>
            </a:r>
            <a:r>
              <a:rPr lang="en-US" sz="1200" dirty="0">
                <a:solidFill>
                  <a:srgbClr val="1A1A2E"/>
                </a:solidFill>
                <a:latin typeface="Calibri" pitchFamily="34" charset="0"/>
                <a:ea typeface="Calibri" pitchFamily="34" charset="-122"/>
                <a:cs typeface="Calibri" pitchFamily="34" charset="-120"/>
              </a:rPr>
              <a:t>Stay calm and professional — do not become defensive</a:t>
            </a:r>
            <a:endParaRPr lang="en-US" sz="1200" dirty="0"/>
          </a:p>
        </p:txBody>
      </p:sp>
      <p:sp>
        <p:nvSpPr>
          <p:cNvPr id="42" name="Shape 40"/>
          <p:cNvSpPr/>
          <p:nvPr/>
        </p:nvSpPr>
        <p:spPr>
          <a:xfrm>
            <a:off x="6089904" y="2834640"/>
            <a:ext cx="2743200" cy="2029968"/>
          </a:xfrm>
          <a:prstGeom prst="rect">
            <a:avLst/>
          </a:prstGeom>
          <a:solidFill>
            <a:srgbClr val="EEF6FB"/>
          </a:solidFill>
          <a:ln w="12700">
            <a:solidFill>
              <a:srgbClr val="EEF6FB"/>
            </a:solidFill>
            <a:prstDash val="solid"/>
          </a:ln>
          <a:effectLst>
            <a:outerShdw blurRad="76200" dist="25400" dir="8100000" algn="bl" rotWithShape="0">
              <a:srgbClr val="000000">
                <a:alpha val="25000"/>
              </a:srgbClr>
            </a:outerShdw>
          </a:effectLst>
        </p:spPr>
        <p:txBody>
          <a:bodyPr/>
          <a:lstStyle/>
          <a:p>
            <a:endParaRPr lang="en-SG"/>
          </a:p>
        </p:txBody>
      </p:sp>
      <p:sp>
        <p:nvSpPr>
          <p:cNvPr id="43" name="Shape 41"/>
          <p:cNvSpPr/>
          <p:nvPr/>
        </p:nvSpPr>
        <p:spPr>
          <a:xfrm>
            <a:off x="6089904" y="2834640"/>
            <a:ext cx="2743200" cy="91440"/>
          </a:xfrm>
          <a:prstGeom prst="rect">
            <a:avLst/>
          </a:prstGeom>
          <a:solidFill>
            <a:srgbClr val="00A8A8"/>
          </a:solidFill>
          <a:ln w="12700">
            <a:solidFill>
              <a:srgbClr val="00A8A8"/>
            </a:solidFill>
            <a:prstDash val="solid"/>
          </a:ln>
        </p:spPr>
        <p:txBody>
          <a:bodyPr/>
          <a:lstStyle/>
          <a:p>
            <a:endParaRPr lang="en-SG"/>
          </a:p>
        </p:txBody>
      </p:sp>
      <p:sp>
        <p:nvSpPr>
          <p:cNvPr id="44" name="Text 42"/>
          <p:cNvSpPr/>
          <p:nvPr/>
        </p:nvSpPr>
        <p:spPr>
          <a:xfrm>
            <a:off x="6199632" y="2962656"/>
            <a:ext cx="2523744" cy="329184"/>
          </a:xfrm>
          <a:prstGeom prst="rect">
            <a:avLst/>
          </a:prstGeom>
          <a:noFill/>
          <a:ln/>
        </p:spPr>
        <p:txBody>
          <a:bodyPr wrap="square" lIns="0" tIns="0" rIns="0" bIns="0" rtlCol="0" anchor="ctr"/>
          <a:lstStyle/>
          <a:p>
            <a:pPr marL="0" indent="0" algn="l">
              <a:buNone/>
            </a:pPr>
            <a:r>
              <a:rPr lang="en-US" sz="1250" b="1" dirty="0">
                <a:solidFill>
                  <a:srgbClr val="00A8A8"/>
                </a:solidFill>
                <a:latin typeface="Trebuchet MS" pitchFamily="34" charset="0"/>
                <a:ea typeface="Trebuchet MS" pitchFamily="34" charset="-122"/>
                <a:cs typeface="Trebuchet MS" pitchFamily="34" charset="-120"/>
              </a:rPr>
              <a:t>General Conduct in Court</a:t>
            </a:r>
            <a:endParaRPr lang="en-US" sz="1250" dirty="0"/>
          </a:p>
        </p:txBody>
      </p:sp>
      <p:sp>
        <p:nvSpPr>
          <p:cNvPr id="45" name="Text 43"/>
          <p:cNvSpPr/>
          <p:nvPr/>
        </p:nvSpPr>
        <p:spPr>
          <a:xfrm>
            <a:off x="6199632" y="3346704"/>
            <a:ext cx="2523744" cy="1444752"/>
          </a:xfrm>
          <a:prstGeom prst="rect">
            <a:avLst/>
          </a:prstGeom>
          <a:noFill/>
          <a:ln/>
        </p:spPr>
        <p:txBody>
          <a:bodyPr wrap="square" lIns="0" tIns="0" rIns="0" bIns="0" rtlCol="0" anchor="ctr"/>
          <a:lstStyle/>
          <a:p>
            <a:pPr marL="0" indent="0" algn="l">
              <a:buNone/>
            </a:pPr>
            <a:r>
              <a:rPr lang="en-US" sz="1200" b="1" dirty="0">
                <a:solidFill>
                  <a:srgbClr val="00A8A8"/>
                </a:solidFill>
                <a:latin typeface="Calibri" pitchFamily="34" charset="0"/>
                <a:ea typeface="Calibri" pitchFamily="34" charset="-122"/>
                <a:cs typeface="Calibri" pitchFamily="34" charset="-120"/>
              </a:rPr>
              <a:t>▸  </a:t>
            </a:r>
            <a:r>
              <a:rPr lang="en-US" sz="1200" dirty="0">
                <a:solidFill>
                  <a:srgbClr val="1A1A2E"/>
                </a:solidFill>
                <a:latin typeface="Calibri" pitchFamily="34" charset="0"/>
                <a:ea typeface="Calibri" pitchFamily="34" charset="-122"/>
                <a:cs typeface="Calibri" pitchFamily="34" charset="-120"/>
              </a:rPr>
              <a:t>Be aware of leading and rapid-fire questions</a:t>
            </a:r>
            <a:endParaRPr lang="en-US" sz="1200" dirty="0"/>
          </a:p>
          <a:p>
            <a:pPr marL="0" indent="0" algn="l">
              <a:buNone/>
            </a:pPr>
            <a:r>
              <a:rPr lang="en-US" sz="1200" b="1" dirty="0">
                <a:solidFill>
                  <a:srgbClr val="00A8A8"/>
                </a:solidFill>
                <a:latin typeface="Calibri" pitchFamily="34" charset="0"/>
                <a:ea typeface="Calibri" pitchFamily="34" charset="-122"/>
                <a:cs typeface="Calibri" pitchFamily="34" charset="-120"/>
              </a:rPr>
              <a:t>▸  </a:t>
            </a:r>
            <a:r>
              <a:rPr lang="en-US" sz="1200" dirty="0">
                <a:solidFill>
                  <a:srgbClr val="1A1A2E"/>
                </a:solidFill>
                <a:latin typeface="Calibri" pitchFamily="34" charset="0"/>
                <a:ea typeface="Calibri" pitchFamily="34" charset="-122"/>
                <a:cs typeface="Calibri" pitchFamily="34" charset="-120"/>
              </a:rPr>
              <a:t>Avoid overreaching opinions beyond your expertise</a:t>
            </a:r>
            <a:endParaRPr lang="en-US" sz="1200" dirty="0"/>
          </a:p>
          <a:p>
            <a:pPr marL="0" indent="0" algn="l">
              <a:buNone/>
            </a:pPr>
            <a:r>
              <a:rPr lang="en-US" sz="1200" b="1" dirty="0">
                <a:solidFill>
                  <a:srgbClr val="00A8A8"/>
                </a:solidFill>
                <a:latin typeface="Calibri" pitchFamily="34" charset="0"/>
                <a:ea typeface="Calibri" pitchFamily="34" charset="-122"/>
                <a:cs typeface="Calibri" pitchFamily="34" charset="-120"/>
              </a:rPr>
              <a:t>▸  </a:t>
            </a:r>
            <a:r>
              <a:rPr lang="en-US" sz="1200" dirty="0">
                <a:solidFill>
                  <a:srgbClr val="1A1A2E"/>
                </a:solidFill>
                <a:latin typeface="Calibri" pitchFamily="34" charset="0"/>
                <a:ea typeface="Calibri" pitchFamily="34" charset="-122"/>
                <a:cs typeface="Calibri" pitchFamily="34" charset="-120"/>
              </a:rPr>
              <a:t>Cite the source of every opinion you give</a:t>
            </a:r>
            <a:endParaRPr lang="en-US" sz="1200" dirty="0"/>
          </a:p>
          <a:p>
            <a:pPr marL="0" indent="0" algn="l">
              <a:buNone/>
            </a:pPr>
            <a:r>
              <a:rPr lang="en-US" sz="1200" b="1" dirty="0">
                <a:solidFill>
                  <a:srgbClr val="00A8A8"/>
                </a:solidFill>
                <a:latin typeface="Calibri" pitchFamily="34" charset="0"/>
                <a:ea typeface="Calibri" pitchFamily="34" charset="-122"/>
                <a:cs typeface="Calibri" pitchFamily="34" charset="-120"/>
              </a:rPr>
              <a:t>▸  </a:t>
            </a:r>
            <a:r>
              <a:rPr lang="en-US" sz="1200" dirty="0">
                <a:solidFill>
                  <a:srgbClr val="1A1A2E"/>
                </a:solidFill>
                <a:latin typeface="Calibri" pitchFamily="34" charset="0"/>
                <a:ea typeface="Calibri" pitchFamily="34" charset="-122"/>
                <a:cs typeface="Calibri" pitchFamily="34" charset="-120"/>
              </a:rPr>
              <a:t>Do not speak to anyone during court recess</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F39C12"/>
          </a:solidFill>
          <a:ln w="12700">
            <a:solidFill>
              <a:srgbClr val="F39C12"/>
            </a:solidFill>
            <a:prstDash val="solid"/>
          </a:ln>
        </p:spPr>
        <p:txBody>
          <a:bodyPr/>
          <a:lstStyle/>
          <a:p>
            <a:endParaRPr lang="en-SG"/>
          </a:p>
        </p:txBody>
      </p:sp>
      <p:sp>
        <p:nvSpPr>
          <p:cNvPr id="3" name="Text 1"/>
          <p:cNvSpPr/>
          <p:nvPr/>
        </p:nvSpPr>
        <p:spPr>
          <a:xfrm>
            <a:off x="274320" y="146304"/>
            <a:ext cx="3657600" cy="256032"/>
          </a:xfrm>
          <a:prstGeom prst="rect">
            <a:avLst/>
          </a:prstGeom>
          <a:noFill/>
          <a:ln/>
        </p:spPr>
        <p:txBody>
          <a:bodyPr wrap="square" lIns="0" tIns="0" rIns="0" bIns="0" rtlCol="0" anchor="ctr"/>
          <a:lstStyle/>
          <a:p>
            <a:pPr marL="0" indent="0" algn="l">
              <a:buNone/>
            </a:pPr>
            <a:r>
              <a:rPr lang="en-US" sz="1000" b="1" kern="0" spc="300" dirty="0">
                <a:solidFill>
                  <a:srgbClr val="F39C12"/>
                </a:solidFill>
                <a:latin typeface="Calibri" pitchFamily="34" charset="0"/>
                <a:ea typeface="Calibri" pitchFamily="34" charset="-122"/>
                <a:cs typeface="Calibri" pitchFamily="34" charset="-120"/>
              </a:rPr>
              <a:t>KNOWLEDGE CHECK  ·  ACTIVITY 1</a:t>
            </a:r>
            <a:endParaRPr lang="en-US" sz="1000" dirty="0"/>
          </a:p>
        </p:txBody>
      </p:sp>
      <p:pic>
        <p:nvPicPr>
          <p:cNvPr id="4" name="Image 0" descr="preencoded.png"/>
          <p:cNvPicPr>
            <a:picLocks noChangeAspect="1"/>
          </p:cNvPicPr>
          <p:nvPr/>
        </p:nvPicPr>
        <p:blipFill>
          <a:blip r:embed="rId3"/>
          <a:stretch>
            <a:fillRect/>
          </a:stretch>
        </p:blipFill>
        <p:spPr>
          <a:xfrm>
            <a:off x="274320" y="457200"/>
            <a:ext cx="438912" cy="438912"/>
          </a:xfrm>
          <a:prstGeom prst="rect">
            <a:avLst/>
          </a:prstGeom>
        </p:spPr>
      </p:pic>
      <p:sp>
        <p:nvSpPr>
          <p:cNvPr id="5" name="Text 2"/>
          <p:cNvSpPr/>
          <p:nvPr/>
        </p:nvSpPr>
        <p:spPr>
          <a:xfrm>
            <a:off x="804672" y="457200"/>
            <a:ext cx="8046720" cy="438912"/>
          </a:xfrm>
          <a:prstGeom prst="rect">
            <a:avLst/>
          </a:prstGeom>
          <a:noFill/>
          <a:ln/>
        </p:spPr>
        <p:txBody>
          <a:bodyPr wrap="square" lIns="0" tIns="0" rIns="0" bIns="0" rtlCol="0" anchor="ctr"/>
          <a:lstStyle/>
          <a:p>
            <a:pPr marL="0" indent="0" algn="l">
              <a:buNone/>
            </a:pPr>
            <a:r>
              <a:rPr lang="en-US" sz="2200" b="1" dirty="0">
                <a:solidFill>
                  <a:srgbClr val="1A1A2E"/>
                </a:solidFill>
                <a:latin typeface="Trebuchet MS" pitchFamily="34" charset="0"/>
                <a:ea typeface="Trebuchet MS" pitchFamily="34" charset="-122"/>
                <a:cs typeface="Trebuchet MS" pitchFamily="34" charset="-120"/>
              </a:rPr>
              <a:t>Evaluate This Report Excerpt</a:t>
            </a:r>
            <a:endParaRPr lang="en-US" sz="2200" dirty="0"/>
          </a:p>
        </p:txBody>
      </p:sp>
      <p:sp>
        <p:nvSpPr>
          <p:cNvPr id="6" name="Text 3"/>
          <p:cNvSpPr/>
          <p:nvPr/>
        </p:nvSpPr>
        <p:spPr>
          <a:xfrm>
            <a:off x="274320" y="987552"/>
            <a:ext cx="8595360" cy="274320"/>
          </a:xfrm>
          <a:prstGeom prst="rect">
            <a:avLst/>
          </a:prstGeom>
          <a:noFill/>
          <a:ln/>
        </p:spPr>
        <p:txBody>
          <a:bodyPr wrap="square" lIns="0" tIns="0" rIns="0" bIns="0" rtlCol="0" anchor="ctr"/>
          <a:lstStyle/>
          <a:p>
            <a:pPr marL="0" indent="0" algn="l">
              <a:buNone/>
            </a:pPr>
            <a:r>
              <a:rPr lang="en-US" sz="1300" dirty="0">
                <a:solidFill>
                  <a:srgbClr val="00A8A8"/>
                </a:solidFill>
                <a:latin typeface="Calibri" pitchFamily="34" charset="0"/>
                <a:ea typeface="Calibri" pitchFamily="34" charset="-122"/>
                <a:cs typeface="Calibri" pitchFamily="34" charset="-120"/>
              </a:rPr>
              <a:t>Read the excerpt below. Identify at least THREE problems with this report section before looking at the next slide.</a:t>
            </a:r>
            <a:endParaRPr lang="en-US" sz="1300" dirty="0"/>
          </a:p>
        </p:txBody>
      </p:sp>
      <p:sp>
        <p:nvSpPr>
          <p:cNvPr id="7" name="Shape 4"/>
          <p:cNvSpPr/>
          <p:nvPr/>
        </p:nvSpPr>
        <p:spPr>
          <a:xfrm>
            <a:off x="274320" y="1335024"/>
            <a:ext cx="8595360" cy="2606040"/>
          </a:xfrm>
          <a:prstGeom prst="rect">
            <a:avLst/>
          </a:prstGeom>
          <a:solidFill>
            <a:srgbClr val="FFFFFF"/>
          </a:solidFill>
          <a:ln w="12700">
            <a:solidFill>
              <a:srgbClr val="E2E8F0"/>
            </a:solidFill>
            <a:prstDash val="solid"/>
          </a:ln>
        </p:spPr>
        <p:txBody>
          <a:bodyPr/>
          <a:lstStyle/>
          <a:p>
            <a:endParaRPr lang="en-SG"/>
          </a:p>
        </p:txBody>
      </p:sp>
      <p:sp>
        <p:nvSpPr>
          <p:cNvPr id="8" name="Text 5"/>
          <p:cNvSpPr/>
          <p:nvPr/>
        </p:nvSpPr>
        <p:spPr>
          <a:xfrm>
            <a:off x="420624" y="1426464"/>
            <a:ext cx="8321040" cy="256032"/>
          </a:xfrm>
          <a:prstGeom prst="rect">
            <a:avLst/>
          </a:prstGeom>
          <a:noFill/>
          <a:ln/>
        </p:spPr>
        <p:txBody>
          <a:bodyPr wrap="square" lIns="0" tIns="0" rIns="0" bIns="0" rtlCol="0" anchor="ctr"/>
          <a:lstStyle/>
          <a:p>
            <a:pPr marL="0" indent="0" algn="l">
              <a:buNone/>
            </a:pPr>
            <a:r>
              <a:rPr lang="en-US" sz="1000" b="1" kern="0" spc="200" dirty="0">
                <a:solidFill>
                  <a:srgbClr val="F39C12"/>
                </a:solidFill>
                <a:latin typeface="Calibri" pitchFamily="34" charset="0"/>
                <a:ea typeface="Calibri" pitchFamily="34" charset="-122"/>
                <a:cs typeface="Calibri" pitchFamily="34" charset="-120"/>
              </a:rPr>
              <a:t>EXCERPT — Section 4: Findings</a:t>
            </a:r>
            <a:endParaRPr lang="en-US" sz="1000" dirty="0"/>
          </a:p>
        </p:txBody>
      </p:sp>
      <p:sp>
        <p:nvSpPr>
          <p:cNvPr id="9" name="Text 6"/>
          <p:cNvSpPr/>
          <p:nvPr/>
        </p:nvSpPr>
        <p:spPr>
          <a:xfrm>
            <a:off x="420624" y="1737360"/>
            <a:ext cx="8321040" cy="2103120"/>
          </a:xfrm>
          <a:prstGeom prst="rect">
            <a:avLst/>
          </a:prstGeom>
          <a:noFill/>
          <a:ln/>
        </p:spPr>
        <p:txBody>
          <a:bodyPr wrap="square" lIns="0" tIns="0" rIns="0" bIns="0" rtlCol="0" anchor="ctr"/>
          <a:lstStyle/>
          <a:p>
            <a:pPr marL="0" indent="0" algn="l">
              <a:buNone/>
            </a:pPr>
            <a:r>
              <a:rPr lang="en-US" sz="1250" i="1" dirty="0">
                <a:solidFill>
                  <a:srgbClr val="1A1A2E"/>
                </a:solidFill>
                <a:latin typeface="Courier New" pitchFamily="34" charset="0"/>
                <a:ea typeface="Courier New" pitchFamily="34" charset="-122"/>
                <a:cs typeface="Courier New" pitchFamily="34" charset="-120"/>
              </a:rPr>
              <a:t>"During our investigation, we found that the suspect's computer had clearly been used to access the stolen files. The files were recently moved, probably to hide them before the police arrived. The user account that did this was active for a long time before the deletion occurred. We also noticed some suspicious activity in the logs, but these weren't very important so we didn't include them. Based on our analysis, it is obvious the defendant committed the crime."</a:t>
            </a:r>
            <a:endParaRPr lang="en-US" sz="1250" dirty="0"/>
          </a:p>
        </p:txBody>
      </p:sp>
      <p:sp>
        <p:nvSpPr>
          <p:cNvPr id="10" name="Text 7"/>
          <p:cNvSpPr/>
          <p:nvPr/>
        </p:nvSpPr>
        <p:spPr>
          <a:xfrm>
            <a:off x="274320" y="4023360"/>
            <a:ext cx="8595360" cy="320040"/>
          </a:xfrm>
          <a:prstGeom prst="rect">
            <a:avLst/>
          </a:prstGeom>
          <a:noFill/>
          <a:ln/>
        </p:spPr>
        <p:txBody>
          <a:bodyPr wrap="square" lIns="0" tIns="0" rIns="0" bIns="0" rtlCol="0" anchor="ctr"/>
          <a:lstStyle/>
          <a:p>
            <a:pPr marL="0" indent="0" algn="l">
              <a:buNone/>
            </a:pPr>
            <a:r>
              <a:rPr lang="en-US" sz="1300" dirty="0">
                <a:solidFill>
                  <a:srgbClr val="F39C12"/>
                </a:solidFill>
                <a:latin typeface="Calibri" pitchFamily="34" charset="0"/>
                <a:ea typeface="Calibri" pitchFamily="34" charset="-122"/>
                <a:cs typeface="Calibri" pitchFamily="34" charset="-120"/>
              </a:rPr>
              <a:t>💬  Discuss with a partner or make notes. What problems do you notice? Check the next slide for the answers.</a:t>
            </a:r>
            <a:endParaRPr lang="en-US" sz="1300" dirty="0"/>
          </a:p>
        </p:txBody>
      </p:sp>
      <p:sp>
        <p:nvSpPr>
          <p:cNvPr id="11" name="Shape 8"/>
          <p:cNvSpPr/>
          <p:nvPr/>
        </p:nvSpPr>
        <p:spPr>
          <a:xfrm>
            <a:off x="274320" y="4425696"/>
            <a:ext cx="8595360" cy="566928"/>
          </a:xfrm>
          <a:prstGeom prst="rect">
            <a:avLst/>
          </a:prstGeom>
          <a:solidFill>
            <a:srgbClr val="FFFFFF"/>
          </a:solidFill>
          <a:ln w="12700">
            <a:solidFill>
              <a:srgbClr val="E2E8F0"/>
            </a:solidFill>
            <a:prstDash val="solid"/>
          </a:ln>
        </p:spPr>
        <p:txBody>
          <a:bodyPr/>
          <a:lstStyle/>
          <a:p>
            <a:endParaRPr lang="en-SG"/>
          </a:p>
        </p:txBody>
      </p:sp>
      <p:sp>
        <p:nvSpPr>
          <p:cNvPr id="12" name="Shape 9"/>
          <p:cNvSpPr/>
          <p:nvPr/>
        </p:nvSpPr>
        <p:spPr>
          <a:xfrm>
            <a:off x="457200" y="4498848"/>
            <a:ext cx="2011680" cy="365760"/>
          </a:xfrm>
          <a:prstGeom prst="rect">
            <a:avLst/>
          </a:prstGeom>
          <a:solidFill>
            <a:srgbClr val="EEF6FB"/>
          </a:solidFill>
          <a:ln w="12700">
            <a:solidFill>
              <a:srgbClr val="F39C12"/>
            </a:solidFill>
            <a:prstDash val="solid"/>
          </a:ln>
        </p:spPr>
        <p:txBody>
          <a:bodyPr/>
          <a:lstStyle/>
          <a:p>
            <a:endParaRPr lang="en-SG"/>
          </a:p>
        </p:txBody>
      </p:sp>
      <p:sp>
        <p:nvSpPr>
          <p:cNvPr id="13" name="Text 10"/>
          <p:cNvSpPr/>
          <p:nvPr/>
        </p:nvSpPr>
        <p:spPr>
          <a:xfrm>
            <a:off x="457200" y="4498848"/>
            <a:ext cx="2011680" cy="365760"/>
          </a:xfrm>
          <a:prstGeom prst="rect">
            <a:avLst/>
          </a:prstGeom>
          <a:noFill/>
          <a:ln/>
        </p:spPr>
        <p:txBody>
          <a:bodyPr wrap="square" lIns="38100" tIns="38100" rIns="38100" bIns="38100" rtlCol="0" anchor="ctr"/>
          <a:lstStyle/>
          <a:p>
            <a:pPr marL="0" indent="0" algn="ctr">
              <a:buNone/>
            </a:pPr>
            <a:r>
              <a:rPr lang="en-US" sz="1000" dirty="0">
                <a:solidFill>
                  <a:srgbClr val="F39C12"/>
                </a:solidFill>
                <a:latin typeface="Calibri" pitchFamily="34" charset="0"/>
                <a:ea typeface="Calibri" pitchFamily="34" charset="-122"/>
                <a:cs typeface="Calibri" pitchFamily="34" charset="-120"/>
              </a:rPr>
              <a:t>?  Biased language</a:t>
            </a:r>
            <a:endParaRPr lang="en-US" sz="1000" dirty="0"/>
          </a:p>
        </p:txBody>
      </p:sp>
      <p:sp>
        <p:nvSpPr>
          <p:cNvPr id="14" name="Shape 11"/>
          <p:cNvSpPr/>
          <p:nvPr/>
        </p:nvSpPr>
        <p:spPr>
          <a:xfrm>
            <a:off x="2606040" y="4498848"/>
            <a:ext cx="2011680" cy="365760"/>
          </a:xfrm>
          <a:prstGeom prst="rect">
            <a:avLst/>
          </a:prstGeom>
          <a:solidFill>
            <a:srgbClr val="EEF6FB"/>
          </a:solidFill>
          <a:ln w="12700">
            <a:solidFill>
              <a:srgbClr val="F39C12"/>
            </a:solidFill>
            <a:prstDash val="solid"/>
          </a:ln>
        </p:spPr>
        <p:txBody>
          <a:bodyPr/>
          <a:lstStyle/>
          <a:p>
            <a:endParaRPr lang="en-SG"/>
          </a:p>
        </p:txBody>
      </p:sp>
      <p:sp>
        <p:nvSpPr>
          <p:cNvPr id="15" name="Text 12"/>
          <p:cNvSpPr/>
          <p:nvPr/>
        </p:nvSpPr>
        <p:spPr>
          <a:xfrm>
            <a:off x="2606040" y="4498848"/>
            <a:ext cx="2011680" cy="365760"/>
          </a:xfrm>
          <a:prstGeom prst="rect">
            <a:avLst/>
          </a:prstGeom>
          <a:noFill/>
          <a:ln/>
        </p:spPr>
        <p:txBody>
          <a:bodyPr wrap="square" lIns="38100" tIns="38100" rIns="38100" bIns="38100" rtlCol="0" anchor="ctr"/>
          <a:lstStyle/>
          <a:p>
            <a:pPr marL="0" indent="0" algn="ctr">
              <a:buNone/>
            </a:pPr>
            <a:r>
              <a:rPr lang="en-US" sz="1000" dirty="0">
                <a:solidFill>
                  <a:srgbClr val="F39C12"/>
                </a:solidFill>
                <a:latin typeface="Calibri" pitchFamily="34" charset="0"/>
                <a:ea typeface="Calibri" pitchFamily="34" charset="-122"/>
                <a:cs typeface="Calibri" pitchFamily="34" charset="-120"/>
              </a:rPr>
              <a:t>?  Vague timestamps</a:t>
            </a:r>
            <a:endParaRPr lang="en-US" sz="1000" dirty="0"/>
          </a:p>
        </p:txBody>
      </p:sp>
      <p:sp>
        <p:nvSpPr>
          <p:cNvPr id="16" name="Shape 13"/>
          <p:cNvSpPr/>
          <p:nvPr/>
        </p:nvSpPr>
        <p:spPr>
          <a:xfrm>
            <a:off x="4754880" y="4498848"/>
            <a:ext cx="2011680" cy="365760"/>
          </a:xfrm>
          <a:prstGeom prst="rect">
            <a:avLst/>
          </a:prstGeom>
          <a:solidFill>
            <a:srgbClr val="EEF6FB"/>
          </a:solidFill>
          <a:ln w="12700">
            <a:solidFill>
              <a:srgbClr val="F39C12"/>
            </a:solidFill>
            <a:prstDash val="solid"/>
          </a:ln>
        </p:spPr>
        <p:txBody>
          <a:bodyPr/>
          <a:lstStyle/>
          <a:p>
            <a:endParaRPr lang="en-SG"/>
          </a:p>
        </p:txBody>
      </p:sp>
      <p:sp>
        <p:nvSpPr>
          <p:cNvPr id="17" name="Text 14"/>
          <p:cNvSpPr/>
          <p:nvPr/>
        </p:nvSpPr>
        <p:spPr>
          <a:xfrm>
            <a:off x="4754880" y="4498848"/>
            <a:ext cx="2011680" cy="365760"/>
          </a:xfrm>
          <a:prstGeom prst="rect">
            <a:avLst/>
          </a:prstGeom>
          <a:noFill/>
          <a:ln/>
        </p:spPr>
        <p:txBody>
          <a:bodyPr wrap="square" lIns="38100" tIns="38100" rIns="38100" bIns="38100" rtlCol="0" anchor="ctr"/>
          <a:lstStyle/>
          <a:p>
            <a:pPr marL="0" indent="0" algn="ctr">
              <a:buNone/>
            </a:pPr>
            <a:r>
              <a:rPr lang="en-US" sz="1000" dirty="0">
                <a:solidFill>
                  <a:srgbClr val="F39C12"/>
                </a:solidFill>
                <a:latin typeface="Calibri" pitchFamily="34" charset="0"/>
                <a:ea typeface="Calibri" pitchFamily="34" charset="-122"/>
                <a:cs typeface="Calibri" pitchFamily="34" charset="-120"/>
              </a:rPr>
              <a:t>?  Speculation as fact</a:t>
            </a:r>
            <a:endParaRPr lang="en-US" sz="1000" dirty="0"/>
          </a:p>
        </p:txBody>
      </p:sp>
      <p:sp>
        <p:nvSpPr>
          <p:cNvPr id="18" name="Shape 15"/>
          <p:cNvSpPr/>
          <p:nvPr/>
        </p:nvSpPr>
        <p:spPr>
          <a:xfrm>
            <a:off x="6903720" y="4498848"/>
            <a:ext cx="2011680" cy="365760"/>
          </a:xfrm>
          <a:prstGeom prst="rect">
            <a:avLst/>
          </a:prstGeom>
          <a:solidFill>
            <a:srgbClr val="EEF6FB"/>
          </a:solidFill>
          <a:ln w="12700">
            <a:solidFill>
              <a:srgbClr val="F39C12"/>
            </a:solidFill>
            <a:prstDash val="solid"/>
          </a:ln>
        </p:spPr>
        <p:txBody>
          <a:bodyPr/>
          <a:lstStyle/>
          <a:p>
            <a:endParaRPr lang="en-SG"/>
          </a:p>
        </p:txBody>
      </p:sp>
      <p:sp>
        <p:nvSpPr>
          <p:cNvPr id="19" name="Text 16"/>
          <p:cNvSpPr/>
          <p:nvPr/>
        </p:nvSpPr>
        <p:spPr>
          <a:xfrm>
            <a:off x="6903720" y="4498848"/>
            <a:ext cx="2011680" cy="365760"/>
          </a:xfrm>
          <a:prstGeom prst="rect">
            <a:avLst/>
          </a:prstGeom>
          <a:noFill/>
          <a:ln/>
        </p:spPr>
        <p:txBody>
          <a:bodyPr wrap="square" lIns="38100" tIns="38100" rIns="38100" bIns="38100" rtlCol="0" anchor="ctr"/>
          <a:lstStyle/>
          <a:p>
            <a:pPr marL="0" indent="0" algn="ctr">
              <a:buNone/>
            </a:pPr>
            <a:r>
              <a:rPr lang="en-US" sz="1000" dirty="0">
                <a:solidFill>
                  <a:srgbClr val="F39C12"/>
                </a:solidFill>
                <a:latin typeface="Calibri" pitchFamily="34" charset="0"/>
                <a:ea typeface="Calibri" pitchFamily="34" charset="-122"/>
                <a:cs typeface="Calibri" pitchFamily="34" charset="-120"/>
              </a:rPr>
              <a:t>?  Omitted evidence</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27AE60"/>
          </a:solidFill>
          <a:ln w="12700">
            <a:solidFill>
              <a:srgbClr val="27AE60"/>
            </a:solidFill>
            <a:prstDash val="solid"/>
          </a:ln>
        </p:spPr>
        <p:txBody>
          <a:bodyPr/>
          <a:lstStyle/>
          <a:p>
            <a:endParaRPr lang="en-SG"/>
          </a:p>
        </p:txBody>
      </p:sp>
      <p:sp>
        <p:nvSpPr>
          <p:cNvPr id="3" name="Text 1"/>
          <p:cNvSpPr/>
          <p:nvPr/>
        </p:nvSpPr>
        <p:spPr>
          <a:xfrm>
            <a:off x="274320" y="146304"/>
            <a:ext cx="4572000" cy="256032"/>
          </a:xfrm>
          <a:prstGeom prst="rect">
            <a:avLst/>
          </a:prstGeom>
          <a:noFill/>
          <a:ln/>
        </p:spPr>
        <p:txBody>
          <a:bodyPr wrap="square" lIns="0" tIns="0" rIns="0" bIns="0" rtlCol="0" anchor="ctr"/>
          <a:lstStyle/>
          <a:p>
            <a:pPr marL="0" indent="0" algn="l">
              <a:buNone/>
            </a:pPr>
            <a:r>
              <a:rPr lang="en-US" sz="1000" b="1" kern="0" spc="300" dirty="0">
                <a:solidFill>
                  <a:srgbClr val="27AE60"/>
                </a:solidFill>
                <a:latin typeface="Calibri" pitchFamily="34" charset="0"/>
                <a:ea typeface="Calibri" pitchFamily="34" charset="-122"/>
                <a:cs typeface="Calibri" pitchFamily="34" charset="-120"/>
              </a:rPr>
              <a:t>KNOWLEDGE CHECK  ·  ACTIVITY 1 — ANSWERS</a:t>
            </a:r>
            <a:endParaRPr lang="en-US" sz="1000" dirty="0"/>
          </a:p>
        </p:txBody>
      </p:sp>
      <p:pic>
        <p:nvPicPr>
          <p:cNvPr id="4" name="Image 0" descr="preencoded.png"/>
          <p:cNvPicPr>
            <a:picLocks noChangeAspect="1"/>
          </p:cNvPicPr>
          <p:nvPr/>
        </p:nvPicPr>
        <p:blipFill>
          <a:blip r:embed="rId3"/>
          <a:stretch>
            <a:fillRect/>
          </a:stretch>
        </p:blipFill>
        <p:spPr>
          <a:xfrm>
            <a:off x="274320" y="457200"/>
            <a:ext cx="402336" cy="402336"/>
          </a:xfrm>
          <a:prstGeom prst="rect">
            <a:avLst/>
          </a:prstGeom>
        </p:spPr>
      </p:pic>
      <p:sp>
        <p:nvSpPr>
          <p:cNvPr id="5" name="Text 2"/>
          <p:cNvSpPr/>
          <p:nvPr/>
        </p:nvSpPr>
        <p:spPr>
          <a:xfrm>
            <a:off x="768096" y="457200"/>
            <a:ext cx="8046720" cy="402336"/>
          </a:xfrm>
          <a:prstGeom prst="rect">
            <a:avLst/>
          </a:prstGeom>
          <a:noFill/>
          <a:ln/>
        </p:spPr>
        <p:txBody>
          <a:bodyPr wrap="square" lIns="0" tIns="0" rIns="0" bIns="0" rtlCol="0" anchor="ctr"/>
          <a:lstStyle/>
          <a:p>
            <a:pPr marL="0" indent="0" algn="l">
              <a:buNone/>
            </a:pPr>
            <a:r>
              <a:rPr lang="en-US" sz="2200" b="1" dirty="0">
                <a:solidFill>
                  <a:srgbClr val="1A1A2E"/>
                </a:solidFill>
                <a:latin typeface="Trebuchet MS" pitchFamily="34" charset="0"/>
                <a:ea typeface="Trebuchet MS" pitchFamily="34" charset="-122"/>
                <a:cs typeface="Trebuchet MS" pitchFamily="34" charset="-120"/>
              </a:rPr>
              <a:t>Problems Identified</a:t>
            </a:r>
            <a:endParaRPr lang="en-US" sz="2200" dirty="0"/>
          </a:p>
        </p:txBody>
      </p:sp>
      <p:sp>
        <p:nvSpPr>
          <p:cNvPr id="6" name="Shape 3"/>
          <p:cNvSpPr/>
          <p:nvPr/>
        </p:nvSpPr>
        <p:spPr>
          <a:xfrm>
            <a:off x="274320" y="1024128"/>
            <a:ext cx="4224528" cy="1874520"/>
          </a:xfrm>
          <a:prstGeom prst="rect">
            <a:avLst/>
          </a:prstGeom>
          <a:solidFill>
            <a:srgbClr val="EEF6FB"/>
          </a:solidFill>
          <a:ln w="12700">
            <a:solidFill>
              <a:srgbClr val="EEF6FB"/>
            </a:solidFill>
            <a:prstDash val="solid"/>
          </a:ln>
          <a:effectLst>
            <a:outerShdw blurRad="76200" dist="25400" dir="8100000" algn="bl" rotWithShape="0">
              <a:srgbClr val="000000">
                <a:alpha val="25000"/>
              </a:srgbClr>
            </a:outerShdw>
          </a:effectLst>
        </p:spPr>
        <p:txBody>
          <a:bodyPr/>
          <a:lstStyle/>
          <a:p>
            <a:endParaRPr lang="en-SG"/>
          </a:p>
        </p:txBody>
      </p:sp>
      <p:sp>
        <p:nvSpPr>
          <p:cNvPr id="7" name="Shape 4"/>
          <p:cNvSpPr/>
          <p:nvPr/>
        </p:nvSpPr>
        <p:spPr>
          <a:xfrm>
            <a:off x="274320" y="1024128"/>
            <a:ext cx="384048" cy="1874520"/>
          </a:xfrm>
          <a:prstGeom prst="rect">
            <a:avLst/>
          </a:prstGeom>
          <a:solidFill>
            <a:srgbClr val="E74C3C"/>
          </a:solidFill>
          <a:ln w="12700">
            <a:solidFill>
              <a:srgbClr val="E74C3C"/>
            </a:solidFill>
            <a:prstDash val="solid"/>
          </a:ln>
        </p:spPr>
        <p:txBody>
          <a:bodyPr/>
          <a:lstStyle/>
          <a:p>
            <a:endParaRPr lang="en-SG"/>
          </a:p>
        </p:txBody>
      </p:sp>
      <p:sp>
        <p:nvSpPr>
          <p:cNvPr id="8" name="Text 5"/>
          <p:cNvSpPr/>
          <p:nvPr/>
        </p:nvSpPr>
        <p:spPr>
          <a:xfrm>
            <a:off x="274320" y="1024128"/>
            <a:ext cx="384048" cy="1874520"/>
          </a:xfrm>
          <a:prstGeom prst="rect">
            <a:avLst/>
          </a:prstGeom>
          <a:noFill/>
          <a:ln/>
        </p:spPr>
        <p:txBody>
          <a:bodyPr wrap="square" lIns="0" tIns="0" rIns="0" bIns="0" rtlCol="0" anchor="ctr"/>
          <a:lstStyle/>
          <a:p>
            <a:pPr marL="0" indent="0" algn="ctr">
              <a:buNone/>
            </a:pPr>
            <a:r>
              <a:rPr lang="en-US" sz="2200" b="1" dirty="0">
                <a:solidFill>
                  <a:srgbClr val="0D1B2A"/>
                </a:solidFill>
                <a:latin typeface="Trebuchet MS" pitchFamily="34" charset="0"/>
                <a:ea typeface="Trebuchet MS" pitchFamily="34" charset="-122"/>
                <a:cs typeface="Trebuchet MS" pitchFamily="34" charset="-120"/>
              </a:rPr>
              <a:t>1</a:t>
            </a:r>
            <a:endParaRPr lang="en-US" sz="2200" dirty="0"/>
          </a:p>
        </p:txBody>
      </p:sp>
      <p:sp>
        <p:nvSpPr>
          <p:cNvPr id="9" name="Text 6"/>
          <p:cNvSpPr/>
          <p:nvPr/>
        </p:nvSpPr>
        <p:spPr>
          <a:xfrm>
            <a:off x="786384" y="1088136"/>
            <a:ext cx="3566160" cy="292608"/>
          </a:xfrm>
          <a:prstGeom prst="rect">
            <a:avLst/>
          </a:prstGeom>
          <a:noFill/>
          <a:ln/>
        </p:spPr>
        <p:txBody>
          <a:bodyPr wrap="square" lIns="0" tIns="0" rIns="0" bIns="0" rtlCol="0" anchor="ctr"/>
          <a:lstStyle/>
          <a:p>
            <a:pPr marL="0" indent="0" algn="l">
              <a:buNone/>
            </a:pPr>
            <a:r>
              <a:rPr lang="en-US" sz="1200" b="1" dirty="0">
                <a:solidFill>
                  <a:srgbClr val="E74C3C"/>
                </a:solidFill>
                <a:latin typeface="Trebuchet MS" pitchFamily="34" charset="0"/>
                <a:ea typeface="Trebuchet MS" pitchFamily="34" charset="-122"/>
                <a:cs typeface="Trebuchet MS" pitchFamily="34" charset="-120"/>
              </a:rPr>
              <a:t>Biased &amp; Opinionated Language</a:t>
            </a:r>
            <a:endParaRPr lang="en-US" sz="1200" dirty="0"/>
          </a:p>
        </p:txBody>
      </p:sp>
      <p:sp>
        <p:nvSpPr>
          <p:cNvPr id="10" name="Text 7"/>
          <p:cNvSpPr/>
          <p:nvPr/>
        </p:nvSpPr>
        <p:spPr>
          <a:xfrm>
            <a:off x="786384" y="1088136"/>
            <a:ext cx="3566160" cy="292608"/>
          </a:xfrm>
          <a:prstGeom prst="rect">
            <a:avLst/>
          </a:prstGeom>
          <a:noFill/>
          <a:ln/>
        </p:spPr>
        <p:txBody>
          <a:bodyPr wrap="square" lIns="0" tIns="0" rIns="0" bIns="0" rtlCol="0" anchor="ctr"/>
          <a:lstStyle/>
          <a:p>
            <a:pPr marL="0" indent="0" algn="r">
              <a:buNone/>
            </a:pPr>
            <a:r>
              <a:rPr lang="en-US" sz="950" i="1" dirty="0">
                <a:solidFill>
                  <a:srgbClr val="475569"/>
                </a:solidFill>
                <a:latin typeface="Calibri" pitchFamily="34" charset="0"/>
                <a:ea typeface="Calibri" pitchFamily="34" charset="-122"/>
                <a:cs typeface="Calibri" pitchFamily="34" charset="-120"/>
              </a:rPr>
              <a:t>Principle 1: Objectivity</a:t>
            </a:r>
            <a:endParaRPr lang="en-US" sz="950" dirty="0"/>
          </a:p>
        </p:txBody>
      </p:sp>
      <p:sp>
        <p:nvSpPr>
          <p:cNvPr id="11" name="Shape 8"/>
          <p:cNvSpPr/>
          <p:nvPr/>
        </p:nvSpPr>
        <p:spPr>
          <a:xfrm>
            <a:off x="786384" y="1389888"/>
            <a:ext cx="1005840" cy="182880"/>
          </a:xfrm>
          <a:prstGeom prst="rect">
            <a:avLst/>
          </a:prstGeom>
          <a:solidFill>
            <a:srgbClr val="FEF2F2"/>
          </a:solidFill>
          <a:ln w="12700">
            <a:solidFill>
              <a:srgbClr val="FEF2F2"/>
            </a:solidFill>
            <a:prstDash val="solid"/>
          </a:ln>
        </p:spPr>
        <p:txBody>
          <a:bodyPr/>
          <a:lstStyle/>
          <a:p>
            <a:endParaRPr lang="en-SG"/>
          </a:p>
        </p:txBody>
      </p:sp>
      <p:sp>
        <p:nvSpPr>
          <p:cNvPr id="12" name="Text 9"/>
          <p:cNvSpPr/>
          <p:nvPr/>
        </p:nvSpPr>
        <p:spPr>
          <a:xfrm>
            <a:off x="786384" y="1389888"/>
            <a:ext cx="1005840" cy="182880"/>
          </a:xfrm>
          <a:prstGeom prst="rect">
            <a:avLst/>
          </a:prstGeom>
          <a:noFill/>
          <a:ln/>
        </p:spPr>
        <p:txBody>
          <a:bodyPr wrap="square" lIns="0" tIns="0" rIns="0" bIns="0" rtlCol="0" anchor="ctr"/>
          <a:lstStyle/>
          <a:p>
            <a:pPr marL="0" indent="0" algn="ctr">
              <a:buNone/>
            </a:pPr>
            <a:r>
              <a:rPr lang="en-US" sz="750" b="1" dirty="0">
                <a:solidFill>
                  <a:srgbClr val="E74C3C"/>
                </a:solidFill>
                <a:latin typeface="Calibri" pitchFamily="34" charset="0"/>
                <a:ea typeface="Calibri" pitchFamily="34" charset="-122"/>
                <a:cs typeface="Calibri" pitchFamily="34" charset="-120"/>
              </a:rPr>
              <a:t>PROBLEM:</a:t>
            </a:r>
            <a:endParaRPr lang="en-US" sz="750" dirty="0"/>
          </a:p>
        </p:txBody>
      </p:sp>
      <p:sp>
        <p:nvSpPr>
          <p:cNvPr id="13" name="Text 10"/>
          <p:cNvSpPr/>
          <p:nvPr/>
        </p:nvSpPr>
        <p:spPr>
          <a:xfrm>
            <a:off x="786384" y="1591056"/>
            <a:ext cx="3566160" cy="438912"/>
          </a:xfrm>
          <a:prstGeom prst="rect">
            <a:avLst/>
          </a:prstGeom>
          <a:noFill/>
          <a:ln/>
        </p:spPr>
        <p:txBody>
          <a:bodyPr wrap="square" lIns="0" tIns="0" rIns="0" bIns="0" rtlCol="0" anchor="ctr"/>
          <a:lstStyle/>
          <a:p>
            <a:pPr marL="0" indent="0" algn="l">
              <a:buNone/>
            </a:pPr>
            <a:r>
              <a:rPr lang="en-US" sz="950" i="1" dirty="0">
                <a:solidFill>
                  <a:srgbClr val="E74C3C"/>
                </a:solidFill>
                <a:latin typeface="Courier New" pitchFamily="34" charset="0"/>
                <a:ea typeface="Courier New" pitchFamily="34" charset="-122"/>
                <a:cs typeface="Courier New" pitchFamily="34" charset="-120"/>
              </a:rPr>
              <a:t>"…clearly been used…"  /  "…it is obvious the defendant committed the crime."</a:t>
            </a:r>
            <a:endParaRPr lang="en-US" sz="950" dirty="0"/>
          </a:p>
        </p:txBody>
      </p:sp>
      <p:sp>
        <p:nvSpPr>
          <p:cNvPr id="14" name="Shape 11"/>
          <p:cNvSpPr/>
          <p:nvPr/>
        </p:nvSpPr>
        <p:spPr>
          <a:xfrm>
            <a:off x="786384" y="2048256"/>
            <a:ext cx="1005840" cy="182880"/>
          </a:xfrm>
          <a:prstGeom prst="rect">
            <a:avLst/>
          </a:prstGeom>
          <a:solidFill>
            <a:srgbClr val="F0FDF4"/>
          </a:solidFill>
          <a:ln w="12700">
            <a:solidFill>
              <a:srgbClr val="F0FDF4"/>
            </a:solidFill>
            <a:prstDash val="solid"/>
          </a:ln>
        </p:spPr>
        <p:txBody>
          <a:bodyPr/>
          <a:lstStyle/>
          <a:p>
            <a:endParaRPr lang="en-SG"/>
          </a:p>
        </p:txBody>
      </p:sp>
      <p:sp>
        <p:nvSpPr>
          <p:cNvPr id="15" name="Text 12"/>
          <p:cNvSpPr/>
          <p:nvPr/>
        </p:nvSpPr>
        <p:spPr>
          <a:xfrm>
            <a:off x="786384" y="2048256"/>
            <a:ext cx="1005840" cy="182880"/>
          </a:xfrm>
          <a:prstGeom prst="rect">
            <a:avLst/>
          </a:prstGeom>
          <a:noFill/>
          <a:ln/>
        </p:spPr>
        <p:txBody>
          <a:bodyPr wrap="square" lIns="0" tIns="0" rIns="0" bIns="0" rtlCol="0" anchor="ctr"/>
          <a:lstStyle/>
          <a:p>
            <a:pPr marL="0" indent="0" algn="ctr">
              <a:buNone/>
            </a:pPr>
            <a:r>
              <a:rPr lang="en-US" sz="750" b="1" dirty="0">
                <a:solidFill>
                  <a:srgbClr val="27AE60"/>
                </a:solidFill>
                <a:latin typeface="Calibri" pitchFamily="34" charset="0"/>
                <a:ea typeface="Calibri" pitchFamily="34" charset="-122"/>
                <a:cs typeface="Calibri" pitchFamily="34" charset="-120"/>
              </a:rPr>
              <a:t>CORRECTION:</a:t>
            </a:r>
            <a:endParaRPr lang="en-US" sz="750" dirty="0"/>
          </a:p>
        </p:txBody>
      </p:sp>
      <p:sp>
        <p:nvSpPr>
          <p:cNvPr id="16" name="Text 13"/>
          <p:cNvSpPr/>
          <p:nvPr/>
        </p:nvSpPr>
        <p:spPr>
          <a:xfrm>
            <a:off x="786384" y="2258568"/>
            <a:ext cx="3566160" cy="566928"/>
          </a:xfrm>
          <a:prstGeom prst="rect">
            <a:avLst/>
          </a:prstGeom>
          <a:noFill/>
          <a:ln/>
        </p:spPr>
        <p:txBody>
          <a:bodyPr wrap="square" lIns="0" tIns="0" rIns="0" bIns="0" rtlCol="0" anchor="ctr"/>
          <a:lstStyle/>
          <a:p>
            <a:pPr marL="0" indent="0" algn="l">
              <a:buNone/>
            </a:pPr>
            <a:r>
              <a:rPr lang="en-US" sz="1100" dirty="0">
                <a:solidFill>
                  <a:srgbClr val="27AE60"/>
                </a:solidFill>
                <a:latin typeface="Calibri" pitchFamily="34" charset="0"/>
                <a:ea typeface="Calibri" pitchFamily="34" charset="-122"/>
                <a:cs typeface="Calibri" pitchFamily="34" charset="-120"/>
              </a:rPr>
              <a:t>Never use 'clearly' or 'obviously' — these are opinions, not facts. State only what the evidence shows. The court draws conclusions on guilt — not the examiner.</a:t>
            </a:r>
            <a:endParaRPr lang="en-US" sz="1100" dirty="0"/>
          </a:p>
        </p:txBody>
      </p:sp>
      <p:sp>
        <p:nvSpPr>
          <p:cNvPr id="17" name="Shape 14"/>
          <p:cNvSpPr/>
          <p:nvPr/>
        </p:nvSpPr>
        <p:spPr>
          <a:xfrm>
            <a:off x="274320" y="3035808"/>
            <a:ext cx="4224528" cy="1874520"/>
          </a:xfrm>
          <a:prstGeom prst="rect">
            <a:avLst/>
          </a:prstGeom>
          <a:solidFill>
            <a:srgbClr val="EEF6FB"/>
          </a:solidFill>
          <a:ln w="12700">
            <a:solidFill>
              <a:srgbClr val="EEF6FB"/>
            </a:solidFill>
            <a:prstDash val="solid"/>
          </a:ln>
          <a:effectLst>
            <a:outerShdw blurRad="76200" dist="25400" dir="8100000" algn="bl" rotWithShape="0">
              <a:srgbClr val="000000">
                <a:alpha val="25000"/>
              </a:srgbClr>
            </a:outerShdw>
          </a:effectLst>
        </p:spPr>
        <p:txBody>
          <a:bodyPr/>
          <a:lstStyle/>
          <a:p>
            <a:endParaRPr lang="en-SG"/>
          </a:p>
        </p:txBody>
      </p:sp>
      <p:sp>
        <p:nvSpPr>
          <p:cNvPr id="18" name="Shape 15"/>
          <p:cNvSpPr/>
          <p:nvPr/>
        </p:nvSpPr>
        <p:spPr>
          <a:xfrm>
            <a:off x="274320" y="3035808"/>
            <a:ext cx="384048" cy="1874520"/>
          </a:xfrm>
          <a:prstGeom prst="rect">
            <a:avLst/>
          </a:prstGeom>
          <a:solidFill>
            <a:srgbClr val="F39C12"/>
          </a:solidFill>
          <a:ln w="12700">
            <a:solidFill>
              <a:srgbClr val="F39C12"/>
            </a:solidFill>
            <a:prstDash val="solid"/>
          </a:ln>
        </p:spPr>
        <p:txBody>
          <a:bodyPr/>
          <a:lstStyle/>
          <a:p>
            <a:endParaRPr lang="en-SG"/>
          </a:p>
        </p:txBody>
      </p:sp>
      <p:sp>
        <p:nvSpPr>
          <p:cNvPr id="19" name="Text 16"/>
          <p:cNvSpPr/>
          <p:nvPr/>
        </p:nvSpPr>
        <p:spPr>
          <a:xfrm>
            <a:off x="274320" y="3035808"/>
            <a:ext cx="384048" cy="1874520"/>
          </a:xfrm>
          <a:prstGeom prst="rect">
            <a:avLst/>
          </a:prstGeom>
          <a:noFill/>
          <a:ln/>
        </p:spPr>
        <p:txBody>
          <a:bodyPr wrap="square" lIns="0" tIns="0" rIns="0" bIns="0" rtlCol="0" anchor="ctr"/>
          <a:lstStyle/>
          <a:p>
            <a:pPr marL="0" indent="0" algn="ctr">
              <a:buNone/>
            </a:pPr>
            <a:r>
              <a:rPr lang="en-US" sz="2200" b="1" dirty="0">
                <a:solidFill>
                  <a:srgbClr val="0D1B2A"/>
                </a:solidFill>
                <a:latin typeface="Trebuchet MS" pitchFamily="34" charset="0"/>
                <a:ea typeface="Trebuchet MS" pitchFamily="34" charset="-122"/>
                <a:cs typeface="Trebuchet MS" pitchFamily="34" charset="-120"/>
              </a:rPr>
              <a:t>2</a:t>
            </a:r>
            <a:endParaRPr lang="en-US" sz="2200" dirty="0"/>
          </a:p>
        </p:txBody>
      </p:sp>
      <p:sp>
        <p:nvSpPr>
          <p:cNvPr id="20" name="Text 17"/>
          <p:cNvSpPr/>
          <p:nvPr/>
        </p:nvSpPr>
        <p:spPr>
          <a:xfrm>
            <a:off x="786384" y="3099816"/>
            <a:ext cx="3566160" cy="292608"/>
          </a:xfrm>
          <a:prstGeom prst="rect">
            <a:avLst/>
          </a:prstGeom>
          <a:noFill/>
          <a:ln/>
        </p:spPr>
        <p:txBody>
          <a:bodyPr wrap="square" lIns="0" tIns="0" rIns="0" bIns="0" rtlCol="0" anchor="ctr"/>
          <a:lstStyle/>
          <a:p>
            <a:pPr marL="0" indent="0" algn="l">
              <a:buNone/>
            </a:pPr>
            <a:r>
              <a:rPr lang="en-US" sz="1200" b="1" dirty="0">
                <a:solidFill>
                  <a:srgbClr val="F39C12"/>
                </a:solidFill>
                <a:latin typeface="Trebuchet MS" pitchFamily="34" charset="0"/>
                <a:ea typeface="Trebuchet MS" pitchFamily="34" charset="-122"/>
                <a:cs typeface="Trebuchet MS" pitchFamily="34" charset="-120"/>
              </a:rPr>
              <a:t>Vague Timestamps</a:t>
            </a:r>
            <a:endParaRPr lang="en-US" sz="1200" dirty="0"/>
          </a:p>
        </p:txBody>
      </p:sp>
      <p:sp>
        <p:nvSpPr>
          <p:cNvPr id="21" name="Text 18"/>
          <p:cNvSpPr/>
          <p:nvPr/>
        </p:nvSpPr>
        <p:spPr>
          <a:xfrm>
            <a:off x="786384" y="3099816"/>
            <a:ext cx="3566160" cy="292608"/>
          </a:xfrm>
          <a:prstGeom prst="rect">
            <a:avLst/>
          </a:prstGeom>
          <a:noFill/>
          <a:ln/>
        </p:spPr>
        <p:txBody>
          <a:bodyPr wrap="square" lIns="0" tIns="0" rIns="0" bIns="0" rtlCol="0" anchor="ctr"/>
          <a:lstStyle/>
          <a:p>
            <a:pPr marL="0" indent="0" algn="r">
              <a:buNone/>
            </a:pPr>
            <a:r>
              <a:rPr lang="en-US" sz="950" i="1" dirty="0">
                <a:solidFill>
                  <a:srgbClr val="475569"/>
                </a:solidFill>
                <a:latin typeface="Calibri" pitchFamily="34" charset="0"/>
                <a:ea typeface="Calibri" pitchFamily="34" charset="-122"/>
                <a:cs typeface="Calibri" pitchFamily="34" charset="-120"/>
              </a:rPr>
              <a:t>Principle 2: Precision</a:t>
            </a:r>
            <a:endParaRPr lang="en-US" sz="950" dirty="0"/>
          </a:p>
        </p:txBody>
      </p:sp>
      <p:sp>
        <p:nvSpPr>
          <p:cNvPr id="22" name="Shape 19"/>
          <p:cNvSpPr/>
          <p:nvPr/>
        </p:nvSpPr>
        <p:spPr>
          <a:xfrm>
            <a:off x="786384" y="3401568"/>
            <a:ext cx="1005840" cy="182880"/>
          </a:xfrm>
          <a:prstGeom prst="rect">
            <a:avLst/>
          </a:prstGeom>
          <a:solidFill>
            <a:srgbClr val="FEF2F2"/>
          </a:solidFill>
          <a:ln w="12700">
            <a:solidFill>
              <a:srgbClr val="FEF2F2"/>
            </a:solidFill>
            <a:prstDash val="solid"/>
          </a:ln>
        </p:spPr>
        <p:txBody>
          <a:bodyPr/>
          <a:lstStyle/>
          <a:p>
            <a:endParaRPr lang="en-SG"/>
          </a:p>
        </p:txBody>
      </p:sp>
      <p:sp>
        <p:nvSpPr>
          <p:cNvPr id="23" name="Text 20"/>
          <p:cNvSpPr/>
          <p:nvPr/>
        </p:nvSpPr>
        <p:spPr>
          <a:xfrm>
            <a:off x="786384" y="3401568"/>
            <a:ext cx="1005840" cy="182880"/>
          </a:xfrm>
          <a:prstGeom prst="rect">
            <a:avLst/>
          </a:prstGeom>
          <a:noFill/>
          <a:ln/>
        </p:spPr>
        <p:txBody>
          <a:bodyPr wrap="square" lIns="0" tIns="0" rIns="0" bIns="0" rtlCol="0" anchor="ctr"/>
          <a:lstStyle/>
          <a:p>
            <a:pPr marL="0" indent="0" algn="ctr">
              <a:buNone/>
            </a:pPr>
            <a:r>
              <a:rPr lang="en-US" sz="750" b="1" dirty="0">
                <a:solidFill>
                  <a:srgbClr val="E74C3C"/>
                </a:solidFill>
                <a:latin typeface="Calibri" pitchFamily="34" charset="0"/>
                <a:ea typeface="Calibri" pitchFamily="34" charset="-122"/>
                <a:cs typeface="Calibri" pitchFamily="34" charset="-120"/>
              </a:rPr>
              <a:t>PROBLEM:</a:t>
            </a:r>
            <a:endParaRPr lang="en-US" sz="750" dirty="0"/>
          </a:p>
        </p:txBody>
      </p:sp>
      <p:sp>
        <p:nvSpPr>
          <p:cNvPr id="24" name="Text 21"/>
          <p:cNvSpPr/>
          <p:nvPr/>
        </p:nvSpPr>
        <p:spPr>
          <a:xfrm>
            <a:off x="786384" y="3602736"/>
            <a:ext cx="3566160" cy="438912"/>
          </a:xfrm>
          <a:prstGeom prst="rect">
            <a:avLst/>
          </a:prstGeom>
          <a:noFill/>
          <a:ln/>
        </p:spPr>
        <p:txBody>
          <a:bodyPr wrap="square" lIns="0" tIns="0" rIns="0" bIns="0" rtlCol="0" anchor="ctr"/>
          <a:lstStyle/>
          <a:p>
            <a:pPr marL="0" indent="0" algn="l">
              <a:buNone/>
            </a:pPr>
            <a:r>
              <a:rPr lang="en-US" sz="950" i="1" dirty="0">
                <a:solidFill>
                  <a:srgbClr val="E74C3C"/>
                </a:solidFill>
                <a:latin typeface="Courier New" pitchFamily="34" charset="0"/>
                <a:ea typeface="Courier New" pitchFamily="34" charset="-122"/>
                <a:cs typeface="Courier New" pitchFamily="34" charset="-120"/>
              </a:rPr>
              <a:t>"The files were recently moved…"  /  "…was active for a long time…"</a:t>
            </a:r>
            <a:endParaRPr lang="en-US" sz="950" dirty="0"/>
          </a:p>
        </p:txBody>
      </p:sp>
      <p:sp>
        <p:nvSpPr>
          <p:cNvPr id="25" name="Shape 22"/>
          <p:cNvSpPr/>
          <p:nvPr/>
        </p:nvSpPr>
        <p:spPr>
          <a:xfrm>
            <a:off x="786384" y="4059936"/>
            <a:ext cx="1005840" cy="182880"/>
          </a:xfrm>
          <a:prstGeom prst="rect">
            <a:avLst/>
          </a:prstGeom>
          <a:solidFill>
            <a:srgbClr val="F0FDF4"/>
          </a:solidFill>
          <a:ln w="12700">
            <a:solidFill>
              <a:srgbClr val="F0FDF4"/>
            </a:solidFill>
            <a:prstDash val="solid"/>
          </a:ln>
        </p:spPr>
        <p:txBody>
          <a:bodyPr/>
          <a:lstStyle/>
          <a:p>
            <a:endParaRPr lang="en-SG"/>
          </a:p>
        </p:txBody>
      </p:sp>
      <p:sp>
        <p:nvSpPr>
          <p:cNvPr id="26" name="Text 23"/>
          <p:cNvSpPr/>
          <p:nvPr/>
        </p:nvSpPr>
        <p:spPr>
          <a:xfrm>
            <a:off x="786384" y="4059936"/>
            <a:ext cx="1005840" cy="182880"/>
          </a:xfrm>
          <a:prstGeom prst="rect">
            <a:avLst/>
          </a:prstGeom>
          <a:noFill/>
          <a:ln/>
        </p:spPr>
        <p:txBody>
          <a:bodyPr wrap="square" lIns="0" tIns="0" rIns="0" bIns="0" rtlCol="0" anchor="ctr"/>
          <a:lstStyle/>
          <a:p>
            <a:pPr marL="0" indent="0" algn="ctr">
              <a:buNone/>
            </a:pPr>
            <a:r>
              <a:rPr lang="en-US" sz="750" b="1" dirty="0">
                <a:solidFill>
                  <a:srgbClr val="27AE60"/>
                </a:solidFill>
                <a:latin typeface="Calibri" pitchFamily="34" charset="0"/>
                <a:ea typeface="Calibri" pitchFamily="34" charset="-122"/>
                <a:cs typeface="Calibri" pitchFamily="34" charset="-120"/>
              </a:rPr>
              <a:t>CORRECTION:</a:t>
            </a:r>
            <a:endParaRPr lang="en-US" sz="750" dirty="0"/>
          </a:p>
        </p:txBody>
      </p:sp>
      <p:sp>
        <p:nvSpPr>
          <p:cNvPr id="27" name="Text 24"/>
          <p:cNvSpPr/>
          <p:nvPr/>
        </p:nvSpPr>
        <p:spPr>
          <a:xfrm>
            <a:off x="786384" y="4270248"/>
            <a:ext cx="3566160" cy="566928"/>
          </a:xfrm>
          <a:prstGeom prst="rect">
            <a:avLst/>
          </a:prstGeom>
          <a:noFill/>
          <a:ln/>
        </p:spPr>
        <p:txBody>
          <a:bodyPr wrap="square" lIns="0" tIns="0" rIns="0" bIns="0" rtlCol="0" anchor="ctr"/>
          <a:lstStyle/>
          <a:p>
            <a:pPr marL="0" indent="0" algn="l">
              <a:buNone/>
            </a:pPr>
            <a:r>
              <a:rPr lang="en-US" sz="1100" dirty="0">
                <a:solidFill>
                  <a:srgbClr val="27AE60"/>
                </a:solidFill>
                <a:latin typeface="Calibri" pitchFamily="34" charset="0"/>
                <a:ea typeface="Calibri" pitchFamily="34" charset="-122"/>
                <a:cs typeface="Calibri" pitchFamily="34" charset="-120"/>
              </a:rPr>
              <a:t>All timestamps must be exact: date, time (UTC), and source artefact. E.g. '07 Mar 2025 at 09:14:32 UTC per $I30 index entry, Exhibit A-3.'</a:t>
            </a:r>
            <a:endParaRPr lang="en-US" sz="1100" dirty="0"/>
          </a:p>
        </p:txBody>
      </p:sp>
      <p:sp>
        <p:nvSpPr>
          <p:cNvPr id="28" name="Shape 25"/>
          <p:cNvSpPr/>
          <p:nvPr/>
        </p:nvSpPr>
        <p:spPr>
          <a:xfrm>
            <a:off x="4736592" y="1024128"/>
            <a:ext cx="4224528" cy="1874520"/>
          </a:xfrm>
          <a:prstGeom prst="rect">
            <a:avLst/>
          </a:prstGeom>
          <a:solidFill>
            <a:srgbClr val="EEF6FB"/>
          </a:solidFill>
          <a:ln w="12700">
            <a:solidFill>
              <a:srgbClr val="EEF6FB"/>
            </a:solidFill>
            <a:prstDash val="solid"/>
          </a:ln>
          <a:effectLst>
            <a:outerShdw blurRad="76200" dist="25400" dir="8100000" algn="bl" rotWithShape="0">
              <a:srgbClr val="000000">
                <a:alpha val="25000"/>
              </a:srgbClr>
            </a:outerShdw>
          </a:effectLst>
        </p:spPr>
        <p:txBody>
          <a:bodyPr/>
          <a:lstStyle/>
          <a:p>
            <a:endParaRPr lang="en-SG"/>
          </a:p>
        </p:txBody>
      </p:sp>
      <p:sp>
        <p:nvSpPr>
          <p:cNvPr id="29" name="Shape 26"/>
          <p:cNvSpPr/>
          <p:nvPr/>
        </p:nvSpPr>
        <p:spPr>
          <a:xfrm>
            <a:off x="4736592" y="1024128"/>
            <a:ext cx="384048" cy="1874520"/>
          </a:xfrm>
          <a:prstGeom prst="rect">
            <a:avLst/>
          </a:prstGeom>
          <a:solidFill>
            <a:srgbClr val="F0B429"/>
          </a:solidFill>
          <a:ln w="12700">
            <a:solidFill>
              <a:srgbClr val="F0B429"/>
            </a:solidFill>
            <a:prstDash val="solid"/>
          </a:ln>
        </p:spPr>
        <p:txBody>
          <a:bodyPr/>
          <a:lstStyle/>
          <a:p>
            <a:endParaRPr lang="en-SG"/>
          </a:p>
        </p:txBody>
      </p:sp>
      <p:sp>
        <p:nvSpPr>
          <p:cNvPr id="30" name="Text 27"/>
          <p:cNvSpPr/>
          <p:nvPr/>
        </p:nvSpPr>
        <p:spPr>
          <a:xfrm>
            <a:off x="4736592" y="1024128"/>
            <a:ext cx="384048" cy="1874520"/>
          </a:xfrm>
          <a:prstGeom prst="rect">
            <a:avLst/>
          </a:prstGeom>
          <a:noFill/>
          <a:ln/>
        </p:spPr>
        <p:txBody>
          <a:bodyPr wrap="square" lIns="0" tIns="0" rIns="0" bIns="0" rtlCol="0" anchor="ctr"/>
          <a:lstStyle/>
          <a:p>
            <a:pPr marL="0" indent="0" algn="ctr">
              <a:buNone/>
            </a:pPr>
            <a:r>
              <a:rPr lang="en-US" sz="2200" b="1" dirty="0">
                <a:solidFill>
                  <a:srgbClr val="0D1B2A"/>
                </a:solidFill>
                <a:latin typeface="Trebuchet MS" pitchFamily="34" charset="0"/>
                <a:ea typeface="Trebuchet MS" pitchFamily="34" charset="-122"/>
                <a:cs typeface="Trebuchet MS" pitchFamily="34" charset="-120"/>
              </a:rPr>
              <a:t>3</a:t>
            </a:r>
            <a:endParaRPr lang="en-US" sz="2200" dirty="0"/>
          </a:p>
        </p:txBody>
      </p:sp>
      <p:sp>
        <p:nvSpPr>
          <p:cNvPr id="31" name="Text 28"/>
          <p:cNvSpPr/>
          <p:nvPr/>
        </p:nvSpPr>
        <p:spPr>
          <a:xfrm>
            <a:off x="5248656" y="1088136"/>
            <a:ext cx="3566160" cy="292608"/>
          </a:xfrm>
          <a:prstGeom prst="rect">
            <a:avLst/>
          </a:prstGeom>
          <a:noFill/>
          <a:ln/>
        </p:spPr>
        <p:txBody>
          <a:bodyPr wrap="square" lIns="0" tIns="0" rIns="0" bIns="0" rtlCol="0" anchor="ctr"/>
          <a:lstStyle/>
          <a:p>
            <a:pPr marL="0" indent="0" algn="l">
              <a:buNone/>
            </a:pPr>
            <a:r>
              <a:rPr lang="en-US" sz="1200" b="1" dirty="0">
                <a:solidFill>
                  <a:srgbClr val="F0B429"/>
                </a:solidFill>
                <a:latin typeface="Trebuchet MS" pitchFamily="34" charset="0"/>
                <a:ea typeface="Trebuchet MS" pitchFamily="34" charset="-122"/>
                <a:cs typeface="Trebuchet MS" pitchFamily="34" charset="-120"/>
              </a:rPr>
              <a:t>Speculation Presented as Fact</a:t>
            </a:r>
            <a:endParaRPr lang="en-US" sz="1200" dirty="0"/>
          </a:p>
        </p:txBody>
      </p:sp>
      <p:sp>
        <p:nvSpPr>
          <p:cNvPr id="32" name="Text 29"/>
          <p:cNvSpPr/>
          <p:nvPr/>
        </p:nvSpPr>
        <p:spPr>
          <a:xfrm>
            <a:off x="5248656" y="1088136"/>
            <a:ext cx="3566160" cy="292608"/>
          </a:xfrm>
          <a:prstGeom prst="rect">
            <a:avLst/>
          </a:prstGeom>
          <a:noFill/>
          <a:ln/>
        </p:spPr>
        <p:txBody>
          <a:bodyPr wrap="square" lIns="0" tIns="0" rIns="0" bIns="0" rtlCol="0" anchor="ctr"/>
          <a:lstStyle/>
          <a:p>
            <a:pPr marL="0" indent="0" algn="r">
              <a:buNone/>
            </a:pPr>
            <a:r>
              <a:rPr lang="en-US" sz="950" i="1" dirty="0">
                <a:solidFill>
                  <a:srgbClr val="475569"/>
                </a:solidFill>
                <a:latin typeface="Calibri" pitchFamily="34" charset="0"/>
                <a:ea typeface="Calibri" pitchFamily="34" charset="-122"/>
                <a:cs typeface="Calibri" pitchFamily="34" charset="-120"/>
              </a:rPr>
              <a:t>Principle 5: No Speculation</a:t>
            </a:r>
            <a:endParaRPr lang="en-US" sz="950" dirty="0"/>
          </a:p>
        </p:txBody>
      </p:sp>
      <p:sp>
        <p:nvSpPr>
          <p:cNvPr id="33" name="Shape 30"/>
          <p:cNvSpPr/>
          <p:nvPr/>
        </p:nvSpPr>
        <p:spPr>
          <a:xfrm>
            <a:off x="5248656" y="1389888"/>
            <a:ext cx="1005840" cy="182880"/>
          </a:xfrm>
          <a:prstGeom prst="rect">
            <a:avLst/>
          </a:prstGeom>
          <a:solidFill>
            <a:srgbClr val="FEF2F2"/>
          </a:solidFill>
          <a:ln w="12700">
            <a:solidFill>
              <a:srgbClr val="FEF2F2"/>
            </a:solidFill>
            <a:prstDash val="solid"/>
          </a:ln>
        </p:spPr>
        <p:txBody>
          <a:bodyPr/>
          <a:lstStyle/>
          <a:p>
            <a:endParaRPr lang="en-SG"/>
          </a:p>
        </p:txBody>
      </p:sp>
      <p:sp>
        <p:nvSpPr>
          <p:cNvPr id="34" name="Text 31"/>
          <p:cNvSpPr/>
          <p:nvPr/>
        </p:nvSpPr>
        <p:spPr>
          <a:xfrm>
            <a:off x="5248656" y="1389888"/>
            <a:ext cx="1005840" cy="182880"/>
          </a:xfrm>
          <a:prstGeom prst="rect">
            <a:avLst/>
          </a:prstGeom>
          <a:noFill/>
          <a:ln/>
        </p:spPr>
        <p:txBody>
          <a:bodyPr wrap="square" lIns="0" tIns="0" rIns="0" bIns="0" rtlCol="0" anchor="ctr"/>
          <a:lstStyle/>
          <a:p>
            <a:pPr marL="0" indent="0" algn="ctr">
              <a:buNone/>
            </a:pPr>
            <a:r>
              <a:rPr lang="en-US" sz="750" b="1" dirty="0">
                <a:solidFill>
                  <a:srgbClr val="E74C3C"/>
                </a:solidFill>
                <a:latin typeface="Calibri" pitchFamily="34" charset="0"/>
                <a:ea typeface="Calibri" pitchFamily="34" charset="-122"/>
                <a:cs typeface="Calibri" pitchFamily="34" charset="-120"/>
              </a:rPr>
              <a:t>PROBLEM:</a:t>
            </a:r>
            <a:endParaRPr lang="en-US" sz="750" dirty="0"/>
          </a:p>
        </p:txBody>
      </p:sp>
      <p:sp>
        <p:nvSpPr>
          <p:cNvPr id="35" name="Text 32"/>
          <p:cNvSpPr/>
          <p:nvPr/>
        </p:nvSpPr>
        <p:spPr>
          <a:xfrm>
            <a:off x="5248656" y="1591056"/>
            <a:ext cx="3566160" cy="438912"/>
          </a:xfrm>
          <a:prstGeom prst="rect">
            <a:avLst/>
          </a:prstGeom>
          <a:noFill/>
          <a:ln/>
        </p:spPr>
        <p:txBody>
          <a:bodyPr wrap="square" lIns="0" tIns="0" rIns="0" bIns="0" rtlCol="0" anchor="ctr"/>
          <a:lstStyle/>
          <a:p>
            <a:pPr marL="0" indent="0" algn="l">
              <a:buNone/>
            </a:pPr>
            <a:r>
              <a:rPr lang="en-US" sz="950" i="1" dirty="0">
                <a:solidFill>
                  <a:srgbClr val="E74C3C"/>
                </a:solidFill>
                <a:latin typeface="Courier New" pitchFamily="34" charset="0"/>
                <a:ea typeface="Courier New" pitchFamily="34" charset="-122"/>
                <a:cs typeface="Courier New" pitchFamily="34" charset="-120"/>
              </a:rPr>
              <a:t>"…probably to hide them before the police arrived."</a:t>
            </a:r>
            <a:endParaRPr lang="en-US" sz="950" dirty="0"/>
          </a:p>
        </p:txBody>
      </p:sp>
      <p:sp>
        <p:nvSpPr>
          <p:cNvPr id="36" name="Shape 33"/>
          <p:cNvSpPr/>
          <p:nvPr/>
        </p:nvSpPr>
        <p:spPr>
          <a:xfrm>
            <a:off x="5248656" y="2048256"/>
            <a:ext cx="1005840" cy="182880"/>
          </a:xfrm>
          <a:prstGeom prst="rect">
            <a:avLst/>
          </a:prstGeom>
          <a:solidFill>
            <a:srgbClr val="F0FDF4"/>
          </a:solidFill>
          <a:ln w="12700">
            <a:solidFill>
              <a:srgbClr val="F0FDF4"/>
            </a:solidFill>
            <a:prstDash val="solid"/>
          </a:ln>
        </p:spPr>
        <p:txBody>
          <a:bodyPr/>
          <a:lstStyle/>
          <a:p>
            <a:endParaRPr lang="en-SG"/>
          </a:p>
        </p:txBody>
      </p:sp>
      <p:sp>
        <p:nvSpPr>
          <p:cNvPr id="37" name="Text 34"/>
          <p:cNvSpPr/>
          <p:nvPr/>
        </p:nvSpPr>
        <p:spPr>
          <a:xfrm>
            <a:off x="5248656" y="2048256"/>
            <a:ext cx="1005840" cy="182880"/>
          </a:xfrm>
          <a:prstGeom prst="rect">
            <a:avLst/>
          </a:prstGeom>
          <a:noFill/>
          <a:ln/>
        </p:spPr>
        <p:txBody>
          <a:bodyPr wrap="square" lIns="0" tIns="0" rIns="0" bIns="0" rtlCol="0" anchor="ctr"/>
          <a:lstStyle/>
          <a:p>
            <a:pPr marL="0" indent="0" algn="ctr">
              <a:buNone/>
            </a:pPr>
            <a:r>
              <a:rPr lang="en-US" sz="750" b="1" dirty="0">
                <a:solidFill>
                  <a:srgbClr val="27AE60"/>
                </a:solidFill>
                <a:latin typeface="Calibri" pitchFamily="34" charset="0"/>
                <a:ea typeface="Calibri" pitchFamily="34" charset="-122"/>
                <a:cs typeface="Calibri" pitchFamily="34" charset="-120"/>
              </a:rPr>
              <a:t>CORRECTION:</a:t>
            </a:r>
            <a:endParaRPr lang="en-US" sz="750" dirty="0"/>
          </a:p>
        </p:txBody>
      </p:sp>
      <p:sp>
        <p:nvSpPr>
          <p:cNvPr id="38" name="Text 35"/>
          <p:cNvSpPr/>
          <p:nvPr/>
        </p:nvSpPr>
        <p:spPr>
          <a:xfrm>
            <a:off x="5248656" y="2258568"/>
            <a:ext cx="3566160" cy="566928"/>
          </a:xfrm>
          <a:prstGeom prst="rect">
            <a:avLst/>
          </a:prstGeom>
          <a:noFill/>
          <a:ln/>
        </p:spPr>
        <p:txBody>
          <a:bodyPr wrap="square" lIns="0" tIns="0" rIns="0" bIns="0" rtlCol="0" anchor="ctr"/>
          <a:lstStyle/>
          <a:p>
            <a:pPr marL="0" indent="0" algn="l">
              <a:buNone/>
            </a:pPr>
            <a:r>
              <a:rPr lang="en-US" sz="1100" dirty="0">
                <a:solidFill>
                  <a:srgbClr val="27AE60"/>
                </a:solidFill>
                <a:latin typeface="Calibri" pitchFamily="34" charset="0"/>
                <a:ea typeface="Calibri" pitchFamily="34" charset="-122"/>
                <a:cs typeface="Calibri" pitchFamily="34" charset="-120"/>
              </a:rPr>
              <a:t>Use qualified language: 'This is consistent with deliberate removal prior to police arrival, though automated processes cannot be excluded.'</a:t>
            </a:r>
            <a:endParaRPr lang="en-US" sz="1100" dirty="0"/>
          </a:p>
        </p:txBody>
      </p:sp>
      <p:sp>
        <p:nvSpPr>
          <p:cNvPr id="39" name="Shape 36"/>
          <p:cNvSpPr/>
          <p:nvPr/>
        </p:nvSpPr>
        <p:spPr>
          <a:xfrm>
            <a:off x="4736592" y="3035808"/>
            <a:ext cx="4224528" cy="1874520"/>
          </a:xfrm>
          <a:prstGeom prst="rect">
            <a:avLst/>
          </a:prstGeom>
          <a:solidFill>
            <a:srgbClr val="EEF6FB"/>
          </a:solidFill>
          <a:ln w="12700">
            <a:solidFill>
              <a:srgbClr val="EEF6FB"/>
            </a:solidFill>
            <a:prstDash val="solid"/>
          </a:ln>
          <a:effectLst>
            <a:outerShdw blurRad="76200" dist="25400" dir="8100000" algn="bl" rotWithShape="0">
              <a:srgbClr val="000000">
                <a:alpha val="25000"/>
              </a:srgbClr>
            </a:outerShdw>
          </a:effectLst>
        </p:spPr>
        <p:txBody>
          <a:bodyPr/>
          <a:lstStyle/>
          <a:p>
            <a:endParaRPr lang="en-SG"/>
          </a:p>
        </p:txBody>
      </p:sp>
      <p:sp>
        <p:nvSpPr>
          <p:cNvPr id="40" name="Shape 37"/>
          <p:cNvSpPr/>
          <p:nvPr/>
        </p:nvSpPr>
        <p:spPr>
          <a:xfrm>
            <a:off x="4736592" y="3035808"/>
            <a:ext cx="384048" cy="1874520"/>
          </a:xfrm>
          <a:prstGeom prst="rect">
            <a:avLst/>
          </a:prstGeom>
          <a:solidFill>
            <a:srgbClr val="27AE60"/>
          </a:solidFill>
          <a:ln w="12700">
            <a:solidFill>
              <a:srgbClr val="27AE60"/>
            </a:solidFill>
            <a:prstDash val="solid"/>
          </a:ln>
        </p:spPr>
        <p:txBody>
          <a:bodyPr/>
          <a:lstStyle/>
          <a:p>
            <a:endParaRPr lang="en-SG"/>
          </a:p>
        </p:txBody>
      </p:sp>
      <p:sp>
        <p:nvSpPr>
          <p:cNvPr id="41" name="Text 38"/>
          <p:cNvSpPr/>
          <p:nvPr/>
        </p:nvSpPr>
        <p:spPr>
          <a:xfrm>
            <a:off x="4736592" y="3035808"/>
            <a:ext cx="384048" cy="1874520"/>
          </a:xfrm>
          <a:prstGeom prst="rect">
            <a:avLst/>
          </a:prstGeom>
          <a:noFill/>
          <a:ln/>
        </p:spPr>
        <p:txBody>
          <a:bodyPr wrap="square" lIns="0" tIns="0" rIns="0" bIns="0" rtlCol="0" anchor="ctr"/>
          <a:lstStyle/>
          <a:p>
            <a:pPr marL="0" indent="0" algn="ctr">
              <a:buNone/>
            </a:pPr>
            <a:r>
              <a:rPr lang="en-US" sz="2200" b="1" dirty="0">
                <a:solidFill>
                  <a:srgbClr val="0D1B2A"/>
                </a:solidFill>
                <a:latin typeface="Trebuchet MS" pitchFamily="34" charset="0"/>
                <a:ea typeface="Trebuchet MS" pitchFamily="34" charset="-122"/>
                <a:cs typeface="Trebuchet MS" pitchFamily="34" charset="-120"/>
              </a:rPr>
              <a:t>4</a:t>
            </a:r>
            <a:endParaRPr lang="en-US" sz="2200" dirty="0"/>
          </a:p>
        </p:txBody>
      </p:sp>
      <p:sp>
        <p:nvSpPr>
          <p:cNvPr id="42" name="Text 39"/>
          <p:cNvSpPr/>
          <p:nvPr/>
        </p:nvSpPr>
        <p:spPr>
          <a:xfrm>
            <a:off x="5248656" y="3099816"/>
            <a:ext cx="3566160" cy="292608"/>
          </a:xfrm>
          <a:prstGeom prst="rect">
            <a:avLst/>
          </a:prstGeom>
          <a:noFill/>
          <a:ln/>
        </p:spPr>
        <p:txBody>
          <a:bodyPr wrap="square" lIns="0" tIns="0" rIns="0" bIns="0" rtlCol="0" anchor="ctr"/>
          <a:lstStyle/>
          <a:p>
            <a:pPr marL="0" indent="0" algn="l">
              <a:buNone/>
            </a:pPr>
            <a:r>
              <a:rPr lang="en-US" sz="1200" b="1" dirty="0">
                <a:solidFill>
                  <a:srgbClr val="27AE60"/>
                </a:solidFill>
                <a:latin typeface="Trebuchet MS" pitchFamily="34" charset="0"/>
                <a:ea typeface="Trebuchet MS" pitchFamily="34" charset="-122"/>
                <a:cs typeface="Trebuchet MS" pitchFamily="34" charset="-120"/>
              </a:rPr>
              <a:t>Incomplete — Evidence Omitted</a:t>
            </a:r>
            <a:endParaRPr lang="en-US" sz="1200" dirty="0"/>
          </a:p>
        </p:txBody>
      </p:sp>
      <p:sp>
        <p:nvSpPr>
          <p:cNvPr id="43" name="Text 40"/>
          <p:cNvSpPr/>
          <p:nvPr/>
        </p:nvSpPr>
        <p:spPr>
          <a:xfrm>
            <a:off x="5248656" y="3099816"/>
            <a:ext cx="3566160" cy="292608"/>
          </a:xfrm>
          <a:prstGeom prst="rect">
            <a:avLst/>
          </a:prstGeom>
          <a:noFill/>
          <a:ln/>
        </p:spPr>
        <p:txBody>
          <a:bodyPr wrap="square" lIns="0" tIns="0" rIns="0" bIns="0" rtlCol="0" anchor="ctr"/>
          <a:lstStyle/>
          <a:p>
            <a:pPr marL="0" indent="0" algn="r">
              <a:buNone/>
            </a:pPr>
            <a:r>
              <a:rPr lang="en-US" sz="950" i="1" dirty="0">
                <a:solidFill>
                  <a:srgbClr val="475569"/>
                </a:solidFill>
                <a:latin typeface="Calibri" pitchFamily="34" charset="0"/>
                <a:ea typeface="Calibri" pitchFamily="34" charset="-122"/>
                <a:cs typeface="Calibri" pitchFamily="34" charset="-120"/>
              </a:rPr>
              <a:t>Principle 6: Completeness</a:t>
            </a:r>
            <a:endParaRPr lang="en-US" sz="950" dirty="0"/>
          </a:p>
        </p:txBody>
      </p:sp>
      <p:sp>
        <p:nvSpPr>
          <p:cNvPr id="44" name="Shape 41"/>
          <p:cNvSpPr/>
          <p:nvPr/>
        </p:nvSpPr>
        <p:spPr>
          <a:xfrm>
            <a:off x="5248656" y="3401568"/>
            <a:ext cx="1005840" cy="182880"/>
          </a:xfrm>
          <a:prstGeom prst="rect">
            <a:avLst/>
          </a:prstGeom>
          <a:solidFill>
            <a:srgbClr val="FEF2F2"/>
          </a:solidFill>
          <a:ln w="12700">
            <a:solidFill>
              <a:srgbClr val="FEF2F2"/>
            </a:solidFill>
            <a:prstDash val="solid"/>
          </a:ln>
        </p:spPr>
        <p:txBody>
          <a:bodyPr/>
          <a:lstStyle/>
          <a:p>
            <a:endParaRPr lang="en-SG"/>
          </a:p>
        </p:txBody>
      </p:sp>
      <p:sp>
        <p:nvSpPr>
          <p:cNvPr id="45" name="Text 42"/>
          <p:cNvSpPr/>
          <p:nvPr/>
        </p:nvSpPr>
        <p:spPr>
          <a:xfrm>
            <a:off x="5248656" y="3401568"/>
            <a:ext cx="1005840" cy="182880"/>
          </a:xfrm>
          <a:prstGeom prst="rect">
            <a:avLst/>
          </a:prstGeom>
          <a:noFill/>
          <a:ln/>
        </p:spPr>
        <p:txBody>
          <a:bodyPr wrap="square" lIns="0" tIns="0" rIns="0" bIns="0" rtlCol="0" anchor="ctr"/>
          <a:lstStyle/>
          <a:p>
            <a:pPr marL="0" indent="0" algn="ctr">
              <a:buNone/>
            </a:pPr>
            <a:r>
              <a:rPr lang="en-US" sz="750" b="1" dirty="0">
                <a:solidFill>
                  <a:srgbClr val="E74C3C"/>
                </a:solidFill>
                <a:latin typeface="Calibri" pitchFamily="34" charset="0"/>
                <a:ea typeface="Calibri" pitchFamily="34" charset="-122"/>
                <a:cs typeface="Calibri" pitchFamily="34" charset="-120"/>
              </a:rPr>
              <a:t>PROBLEM:</a:t>
            </a:r>
            <a:endParaRPr lang="en-US" sz="750" dirty="0"/>
          </a:p>
        </p:txBody>
      </p:sp>
      <p:sp>
        <p:nvSpPr>
          <p:cNvPr id="46" name="Text 43"/>
          <p:cNvSpPr/>
          <p:nvPr/>
        </p:nvSpPr>
        <p:spPr>
          <a:xfrm>
            <a:off x="5248656" y="3602736"/>
            <a:ext cx="3566160" cy="438912"/>
          </a:xfrm>
          <a:prstGeom prst="rect">
            <a:avLst/>
          </a:prstGeom>
          <a:noFill/>
          <a:ln/>
        </p:spPr>
        <p:txBody>
          <a:bodyPr wrap="square" lIns="0" tIns="0" rIns="0" bIns="0" rtlCol="0" anchor="ctr"/>
          <a:lstStyle/>
          <a:p>
            <a:pPr marL="0" indent="0" algn="l">
              <a:buNone/>
            </a:pPr>
            <a:r>
              <a:rPr lang="en-US" sz="950" i="1" dirty="0">
                <a:solidFill>
                  <a:srgbClr val="E74C3C"/>
                </a:solidFill>
                <a:latin typeface="Courier New" pitchFamily="34" charset="0"/>
                <a:ea typeface="Courier New" pitchFamily="34" charset="-122"/>
                <a:cs typeface="Courier New" pitchFamily="34" charset="-120"/>
              </a:rPr>
              <a:t>"…some suspicious log activity, but these weren't very important so we didn't include them."</a:t>
            </a:r>
            <a:endParaRPr lang="en-US" sz="950" dirty="0"/>
          </a:p>
        </p:txBody>
      </p:sp>
      <p:sp>
        <p:nvSpPr>
          <p:cNvPr id="47" name="Shape 44"/>
          <p:cNvSpPr/>
          <p:nvPr/>
        </p:nvSpPr>
        <p:spPr>
          <a:xfrm>
            <a:off x="5248656" y="4059936"/>
            <a:ext cx="1005840" cy="182880"/>
          </a:xfrm>
          <a:prstGeom prst="rect">
            <a:avLst/>
          </a:prstGeom>
          <a:solidFill>
            <a:srgbClr val="F0FDF4"/>
          </a:solidFill>
          <a:ln w="12700">
            <a:solidFill>
              <a:srgbClr val="F0FDF4"/>
            </a:solidFill>
            <a:prstDash val="solid"/>
          </a:ln>
        </p:spPr>
        <p:txBody>
          <a:bodyPr/>
          <a:lstStyle/>
          <a:p>
            <a:endParaRPr lang="en-SG"/>
          </a:p>
        </p:txBody>
      </p:sp>
      <p:sp>
        <p:nvSpPr>
          <p:cNvPr id="48" name="Text 45"/>
          <p:cNvSpPr/>
          <p:nvPr/>
        </p:nvSpPr>
        <p:spPr>
          <a:xfrm>
            <a:off x="5248656" y="4059936"/>
            <a:ext cx="1005840" cy="182880"/>
          </a:xfrm>
          <a:prstGeom prst="rect">
            <a:avLst/>
          </a:prstGeom>
          <a:noFill/>
          <a:ln/>
        </p:spPr>
        <p:txBody>
          <a:bodyPr wrap="square" lIns="0" tIns="0" rIns="0" bIns="0" rtlCol="0" anchor="ctr"/>
          <a:lstStyle/>
          <a:p>
            <a:pPr marL="0" indent="0" algn="ctr">
              <a:buNone/>
            </a:pPr>
            <a:r>
              <a:rPr lang="en-US" sz="750" b="1" dirty="0">
                <a:solidFill>
                  <a:srgbClr val="27AE60"/>
                </a:solidFill>
                <a:latin typeface="Calibri" pitchFamily="34" charset="0"/>
                <a:ea typeface="Calibri" pitchFamily="34" charset="-122"/>
                <a:cs typeface="Calibri" pitchFamily="34" charset="-120"/>
              </a:rPr>
              <a:t>CORRECTION:</a:t>
            </a:r>
            <a:endParaRPr lang="en-US" sz="750" dirty="0"/>
          </a:p>
        </p:txBody>
      </p:sp>
      <p:sp>
        <p:nvSpPr>
          <p:cNvPr id="49" name="Text 46"/>
          <p:cNvSpPr/>
          <p:nvPr/>
        </p:nvSpPr>
        <p:spPr>
          <a:xfrm>
            <a:off x="5248656" y="4270248"/>
            <a:ext cx="3566160" cy="566928"/>
          </a:xfrm>
          <a:prstGeom prst="rect">
            <a:avLst/>
          </a:prstGeom>
          <a:noFill/>
          <a:ln/>
        </p:spPr>
        <p:txBody>
          <a:bodyPr wrap="square" lIns="0" tIns="0" rIns="0" bIns="0" rtlCol="0" anchor="ctr"/>
          <a:lstStyle/>
          <a:p>
            <a:pPr marL="0" indent="0" algn="l">
              <a:buNone/>
            </a:pPr>
            <a:r>
              <a:rPr lang="en-US" sz="1100" dirty="0">
                <a:solidFill>
                  <a:srgbClr val="27AE60"/>
                </a:solidFill>
                <a:latin typeface="Calibri" pitchFamily="34" charset="0"/>
                <a:ea typeface="Calibri" pitchFamily="34" charset="-122"/>
                <a:cs typeface="Calibri" pitchFamily="34" charset="-120"/>
              </a:rPr>
              <a:t>You cannot decide what is 'not important'. All relevant artefacts must be documented. Selective reporting is a serious ethical violation.</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F39C12"/>
          </a:solidFill>
          <a:ln w="12700">
            <a:solidFill>
              <a:srgbClr val="F39C12"/>
            </a:solidFill>
            <a:prstDash val="solid"/>
          </a:ln>
        </p:spPr>
        <p:txBody>
          <a:bodyPr/>
          <a:lstStyle/>
          <a:p>
            <a:endParaRPr lang="en-SG"/>
          </a:p>
        </p:txBody>
      </p:sp>
      <p:sp>
        <p:nvSpPr>
          <p:cNvPr id="3" name="Text 1"/>
          <p:cNvSpPr/>
          <p:nvPr/>
        </p:nvSpPr>
        <p:spPr>
          <a:xfrm>
            <a:off x="274320" y="146304"/>
            <a:ext cx="3657600" cy="256032"/>
          </a:xfrm>
          <a:prstGeom prst="rect">
            <a:avLst/>
          </a:prstGeom>
          <a:noFill/>
          <a:ln/>
        </p:spPr>
        <p:txBody>
          <a:bodyPr wrap="square" lIns="0" tIns="0" rIns="0" bIns="0" rtlCol="0" anchor="ctr"/>
          <a:lstStyle/>
          <a:p>
            <a:pPr marL="0" indent="0" algn="l">
              <a:buNone/>
            </a:pPr>
            <a:r>
              <a:rPr lang="en-US" sz="1000" b="1" kern="0" spc="300" dirty="0">
                <a:solidFill>
                  <a:srgbClr val="F39C12"/>
                </a:solidFill>
                <a:latin typeface="Calibri" pitchFamily="34" charset="0"/>
                <a:ea typeface="Calibri" pitchFamily="34" charset="-122"/>
                <a:cs typeface="Calibri" pitchFamily="34" charset="-120"/>
              </a:rPr>
              <a:t>KNOWLEDGE CHECK  ·  ACTIVITY 2</a:t>
            </a:r>
            <a:endParaRPr lang="en-US" sz="1000" dirty="0"/>
          </a:p>
        </p:txBody>
      </p:sp>
      <p:pic>
        <p:nvPicPr>
          <p:cNvPr id="4" name="Image 0" descr="preencoded.png"/>
          <p:cNvPicPr>
            <a:picLocks noChangeAspect="1"/>
          </p:cNvPicPr>
          <p:nvPr/>
        </p:nvPicPr>
        <p:blipFill>
          <a:blip r:embed="rId3"/>
          <a:stretch>
            <a:fillRect/>
          </a:stretch>
        </p:blipFill>
        <p:spPr>
          <a:xfrm>
            <a:off x="274320" y="457200"/>
            <a:ext cx="438912" cy="438912"/>
          </a:xfrm>
          <a:prstGeom prst="rect">
            <a:avLst/>
          </a:prstGeom>
        </p:spPr>
      </p:pic>
      <p:sp>
        <p:nvSpPr>
          <p:cNvPr id="5" name="Text 2"/>
          <p:cNvSpPr/>
          <p:nvPr/>
        </p:nvSpPr>
        <p:spPr>
          <a:xfrm>
            <a:off x="804672" y="457200"/>
            <a:ext cx="8046720" cy="438912"/>
          </a:xfrm>
          <a:prstGeom prst="rect">
            <a:avLst/>
          </a:prstGeom>
          <a:noFill/>
          <a:ln/>
        </p:spPr>
        <p:txBody>
          <a:bodyPr wrap="square" lIns="0" tIns="0" rIns="0" bIns="0" rtlCol="0" anchor="ctr"/>
          <a:lstStyle/>
          <a:p>
            <a:pPr marL="0" indent="0" algn="l">
              <a:buNone/>
            </a:pPr>
            <a:r>
              <a:rPr lang="en-US" sz="2200" b="1" dirty="0">
                <a:solidFill>
                  <a:srgbClr val="1A1A2E"/>
                </a:solidFill>
                <a:latin typeface="Trebuchet MS" pitchFamily="34" charset="0"/>
                <a:ea typeface="Trebuchet MS" pitchFamily="34" charset="-122"/>
                <a:cs typeface="Trebuchet MS" pitchFamily="34" charset="-120"/>
              </a:rPr>
              <a:t>Which Writing Principle Is Being Violated?</a:t>
            </a:r>
            <a:endParaRPr lang="en-US" sz="2200" dirty="0"/>
          </a:p>
        </p:txBody>
      </p:sp>
      <p:sp>
        <p:nvSpPr>
          <p:cNvPr id="6" name="Text 3"/>
          <p:cNvSpPr/>
          <p:nvPr/>
        </p:nvSpPr>
        <p:spPr>
          <a:xfrm>
            <a:off x="274320" y="987552"/>
            <a:ext cx="8595360" cy="274320"/>
          </a:xfrm>
          <a:prstGeom prst="rect">
            <a:avLst/>
          </a:prstGeom>
          <a:noFill/>
          <a:ln/>
        </p:spPr>
        <p:txBody>
          <a:bodyPr wrap="square" lIns="0" tIns="0" rIns="0" bIns="0" rtlCol="0" anchor="ctr"/>
          <a:lstStyle/>
          <a:p>
            <a:pPr marL="0" indent="0" algn="l">
              <a:buNone/>
            </a:pPr>
            <a:r>
              <a:rPr lang="en-US" sz="1300" dirty="0">
                <a:solidFill>
                  <a:srgbClr val="00A8A8"/>
                </a:solidFill>
                <a:latin typeface="Calibri" pitchFamily="34" charset="0"/>
                <a:ea typeface="Calibri" pitchFamily="34" charset="-122"/>
                <a:cs typeface="Calibri" pitchFamily="34" charset="-120"/>
              </a:rPr>
              <a:t>For each statement below, identify which of the six writing principles is violated and explain why. Then check the next slide.</a:t>
            </a:r>
            <a:endParaRPr lang="en-US" sz="1300" dirty="0"/>
          </a:p>
        </p:txBody>
      </p:sp>
      <p:sp>
        <p:nvSpPr>
          <p:cNvPr id="7" name="Shape 4"/>
          <p:cNvSpPr/>
          <p:nvPr/>
        </p:nvSpPr>
        <p:spPr>
          <a:xfrm>
            <a:off x="274320" y="1353312"/>
            <a:ext cx="8595360" cy="804672"/>
          </a:xfrm>
          <a:prstGeom prst="rect">
            <a:avLst/>
          </a:prstGeom>
          <a:solidFill>
            <a:srgbClr val="EEF6FB"/>
          </a:solidFill>
          <a:ln w="12700">
            <a:solidFill>
              <a:srgbClr val="E2E8F0"/>
            </a:solidFill>
            <a:prstDash val="solid"/>
          </a:ln>
          <a:effectLst>
            <a:outerShdw blurRad="76200" dist="25400" dir="8100000" algn="bl" rotWithShape="0">
              <a:srgbClr val="000000">
                <a:alpha val="25000"/>
              </a:srgbClr>
            </a:outerShdw>
          </a:effectLst>
        </p:spPr>
        <p:txBody>
          <a:bodyPr/>
          <a:lstStyle/>
          <a:p>
            <a:endParaRPr lang="en-SG"/>
          </a:p>
        </p:txBody>
      </p:sp>
      <p:sp>
        <p:nvSpPr>
          <p:cNvPr id="8" name="Shape 5"/>
          <p:cNvSpPr/>
          <p:nvPr/>
        </p:nvSpPr>
        <p:spPr>
          <a:xfrm>
            <a:off x="274320" y="1353312"/>
            <a:ext cx="384048" cy="804672"/>
          </a:xfrm>
          <a:prstGeom prst="rect">
            <a:avLst/>
          </a:prstGeom>
          <a:solidFill>
            <a:srgbClr val="F39C12"/>
          </a:solidFill>
          <a:ln w="12700">
            <a:solidFill>
              <a:srgbClr val="F39C12"/>
            </a:solidFill>
            <a:prstDash val="solid"/>
          </a:ln>
        </p:spPr>
        <p:txBody>
          <a:bodyPr/>
          <a:lstStyle/>
          <a:p>
            <a:endParaRPr lang="en-SG"/>
          </a:p>
        </p:txBody>
      </p:sp>
      <p:sp>
        <p:nvSpPr>
          <p:cNvPr id="9" name="Text 6"/>
          <p:cNvSpPr/>
          <p:nvPr/>
        </p:nvSpPr>
        <p:spPr>
          <a:xfrm>
            <a:off x="274320" y="1353312"/>
            <a:ext cx="384048" cy="804672"/>
          </a:xfrm>
          <a:prstGeom prst="rect">
            <a:avLst/>
          </a:prstGeom>
          <a:noFill/>
          <a:ln/>
        </p:spPr>
        <p:txBody>
          <a:bodyPr wrap="square" lIns="0" tIns="0" rIns="0" bIns="0" rtlCol="0" anchor="ctr"/>
          <a:lstStyle/>
          <a:p>
            <a:pPr marL="0" indent="0" algn="ctr">
              <a:buNone/>
            </a:pPr>
            <a:r>
              <a:rPr lang="en-US" sz="2200" b="1" dirty="0">
                <a:solidFill>
                  <a:srgbClr val="0D1B2A"/>
                </a:solidFill>
                <a:latin typeface="Trebuchet MS" pitchFamily="34" charset="0"/>
                <a:ea typeface="Trebuchet MS" pitchFamily="34" charset="-122"/>
                <a:cs typeface="Trebuchet MS" pitchFamily="34" charset="-120"/>
              </a:rPr>
              <a:t>A</a:t>
            </a:r>
            <a:endParaRPr lang="en-US" sz="2200" dirty="0"/>
          </a:p>
        </p:txBody>
      </p:sp>
      <p:sp>
        <p:nvSpPr>
          <p:cNvPr id="10" name="Text 7"/>
          <p:cNvSpPr/>
          <p:nvPr/>
        </p:nvSpPr>
        <p:spPr>
          <a:xfrm>
            <a:off x="786384" y="1417320"/>
            <a:ext cx="6812280" cy="365760"/>
          </a:xfrm>
          <a:prstGeom prst="rect">
            <a:avLst/>
          </a:prstGeom>
          <a:noFill/>
          <a:ln/>
        </p:spPr>
        <p:txBody>
          <a:bodyPr wrap="square" lIns="0" tIns="0" rIns="0" bIns="0" rtlCol="0" anchor="ctr"/>
          <a:lstStyle/>
          <a:p>
            <a:pPr marL="0" indent="0" algn="l">
              <a:buNone/>
            </a:pPr>
            <a:r>
              <a:rPr lang="en-US" sz="1200" i="1" dirty="0">
                <a:solidFill>
                  <a:srgbClr val="1A1A2E"/>
                </a:solidFill>
                <a:latin typeface="Courier New" pitchFamily="34" charset="0"/>
                <a:ea typeface="Courier New" pitchFamily="34" charset="-122"/>
                <a:cs typeface="Courier New" pitchFamily="34" charset="-120"/>
              </a:rPr>
              <a:t>"I ran Autopsy and found evidence of document access."</a:t>
            </a:r>
            <a:endParaRPr lang="en-US" sz="1200" dirty="0"/>
          </a:p>
        </p:txBody>
      </p:sp>
      <p:sp>
        <p:nvSpPr>
          <p:cNvPr id="11" name="Text 8"/>
          <p:cNvSpPr/>
          <p:nvPr/>
        </p:nvSpPr>
        <p:spPr>
          <a:xfrm>
            <a:off x="786384" y="1828800"/>
            <a:ext cx="7223760" cy="256032"/>
          </a:xfrm>
          <a:prstGeom prst="rect">
            <a:avLst/>
          </a:prstGeom>
          <a:noFill/>
          <a:ln/>
        </p:spPr>
        <p:txBody>
          <a:bodyPr wrap="square" lIns="0" tIns="0" rIns="0" bIns="0" rtlCol="0" anchor="ctr"/>
          <a:lstStyle/>
          <a:p>
            <a:pPr marL="0" indent="0" algn="l">
              <a:buNone/>
            </a:pPr>
            <a:r>
              <a:rPr lang="en-US" sz="1100" dirty="0">
                <a:solidFill>
                  <a:srgbClr val="475569"/>
                </a:solidFill>
                <a:latin typeface="Calibri" pitchFamily="34" charset="0"/>
                <a:ea typeface="Calibri" pitchFamily="34" charset="-122"/>
                <a:cs typeface="Calibri" pitchFamily="34" charset="-120"/>
              </a:rPr>
              <a:t>💡  Think: could another examiner replicate this exactly?</a:t>
            </a:r>
            <a:endParaRPr lang="en-US" sz="1100" dirty="0"/>
          </a:p>
        </p:txBody>
      </p:sp>
      <p:sp>
        <p:nvSpPr>
          <p:cNvPr id="12" name="Shape 9"/>
          <p:cNvSpPr/>
          <p:nvPr/>
        </p:nvSpPr>
        <p:spPr>
          <a:xfrm>
            <a:off x="7644384" y="1572768"/>
            <a:ext cx="1133856" cy="347472"/>
          </a:xfrm>
          <a:prstGeom prst="rect">
            <a:avLst/>
          </a:prstGeom>
          <a:solidFill>
            <a:srgbClr val="FFFFFF"/>
          </a:solidFill>
          <a:ln w="12700">
            <a:solidFill>
              <a:srgbClr val="F39C12"/>
            </a:solidFill>
            <a:prstDash val="solid"/>
          </a:ln>
        </p:spPr>
        <p:txBody>
          <a:bodyPr/>
          <a:lstStyle/>
          <a:p>
            <a:endParaRPr lang="en-SG"/>
          </a:p>
        </p:txBody>
      </p:sp>
      <p:sp>
        <p:nvSpPr>
          <p:cNvPr id="13" name="Text 10"/>
          <p:cNvSpPr/>
          <p:nvPr/>
        </p:nvSpPr>
        <p:spPr>
          <a:xfrm>
            <a:off x="7644384" y="1572768"/>
            <a:ext cx="1133856" cy="347472"/>
          </a:xfrm>
          <a:prstGeom prst="rect">
            <a:avLst/>
          </a:prstGeom>
          <a:noFill/>
          <a:ln/>
        </p:spPr>
        <p:txBody>
          <a:bodyPr wrap="square" lIns="0" tIns="0" rIns="0" bIns="0" rtlCol="0" anchor="ctr"/>
          <a:lstStyle/>
          <a:p>
            <a:pPr marL="0" indent="0" algn="ctr">
              <a:buNone/>
            </a:pPr>
            <a:r>
              <a:rPr lang="en-US" sz="1000" b="1" dirty="0">
                <a:solidFill>
                  <a:srgbClr val="F39C12"/>
                </a:solidFill>
                <a:latin typeface="Calibri" pitchFamily="34" charset="0"/>
                <a:ea typeface="Calibri" pitchFamily="34" charset="-122"/>
                <a:cs typeface="Calibri" pitchFamily="34" charset="-120"/>
              </a:rPr>
              <a:t>Principle?</a:t>
            </a:r>
            <a:endParaRPr lang="en-US" sz="1000" dirty="0"/>
          </a:p>
        </p:txBody>
      </p:sp>
      <p:sp>
        <p:nvSpPr>
          <p:cNvPr id="14" name="Shape 11"/>
          <p:cNvSpPr/>
          <p:nvPr/>
        </p:nvSpPr>
        <p:spPr>
          <a:xfrm>
            <a:off x="274320" y="2249424"/>
            <a:ext cx="8595360" cy="804672"/>
          </a:xfrm>
          <a:prstGeom prst="rect">
            <a:avLst/>
          </a:prstGeom>
          <a:solidFill>
            <a:srgbClr val="EEF6FB"/>
          </a:solidFill>
          <a:ln w="12700">
            <a:solidFill>
              <a:srgbClr val="E2E8F0"/>
            </a:solidFill>
            <a:prstDash val="solid"/>
          </a:ln>
          <a:effectLst>
            <a:outerShdw blurRad="76200" dist="25400" dir="8100000" algn="bl" rotWithShape="0">
              <a:srgbClr val="000000">
                <a:alpha val="25000"/>
              </a:srgbClr>
            </a:outerShdw>
          </a:effectLst>
        </p:spPr>
        <p:txBody>
          <a:bodyPr/>
          <a:lstStyle/>
          <a:p>
            <a:endParaRPr lang="en-SG"/>
          </a:p>
        </p:txBody>
      </p:sp>
      <p:sp>
        <p:nvSpPr>
          <p:cNvPr id="15" name="Shape 12"/>
          <p:cNvSpPr/>
          <p:nvPr/>
        </p:nvSpPr>
        <p:spPr>
          <a:xfrm>
            <a:off x="274320" y="2249424"/>
            <a:ext cx="384048" cy="804672"/>
          </a:xfrm>
          <a:prstGeom prst="rect">
            <a:avLst/>
          </a:prstGeom>
          <a:solidFill>
            <a:srgbClr val="F39C12"/>
          </a:solidFill>
          <a:ln w="12700">
            <a:solidFill>
              <a:srgbClr val="F39C12"/>
            </a:solidFill>
            <a:prstDash val="solid"/>
          </a:ln>
        </p:spPr>
        <p:txBody>
          <a:bodyPr/>
          <a:lstStyle/>
          <a:p>
            <a:endParaRPr lang="en-SG"/>
          </a:p>
        </p:txBody>
      </p:sp>
      <p:sp>
        <p:nvSpPr>
          <p:cNvPr id="16" name="Text 13"/>
          <p:cNvSpPr/>
          <p:nvPr/>
        </p:nvSpPr>
        <p:spPr>
          <a:xfrm>
            <a:off x="274320" y="2249424"/>
            <a:ext cx="384048" cy="804672"/>
          </a:xfrm>
          <a:prstGeom prst="rect">
            <a:avLst/>
          </a:prstGeom>
          <a:noFill/>
          <a:ln/>
        </p:spPr>
        <p:txBody>
          <a:bodyPr wrap="square" lIns="0" tIns="0" rIns="0" bIns="0" rtlCol="0" anchor="ctr"/>
          <a:lstStyle/>
          <a:p>
            <a:pPr marL="0" indent="0" algn="ctr">
              <a:buNone/>
            </a:pPr>
            <a:r>
              <a:rPr lang="en-US" sz="2200" b="1" dirty="0">
                <a:solidFill>
                  <a:srgbClr val="0D1B2A"/>
                </a:solidFill>
                <a:latin typeface="Trebuchet MS" pitchFamily="34" charset="0"/>
                <a:ea typeface="Trebuchet MS" pitchFamily="34" charset="-122"/>
                <a:cs typeface="Trebuchet MS" pitchFamily="34" charset="-120"/>
              </a:rPr>
              <a:t>B</a:t>
            </a:r>
            <a:endParaRPr lang="en-US" sz="2200" dirty="0"/>
          </a:p>
        </p:txBody>
      </p:sp>
      <p:sp>
        <p:nvSpPr>
          <p:cNvPr id="17" name="Text 14"/>
          <p:cNvSpPr/>
          <p:nvPr/>
        </p:nvSpPr>
        <p:spPr>
          <a:xfrm>
            <a:off x="786384" y="2313432"/>
            <a:ext cx="6812280" cy="365760"/>
          </a:xfrm>
          <a:prstGeom prst="rect">
            <a:avLst/>
          </a:prstGeom>
          <a:noFill/>
          <a:ln/>
        </p:spPr>
        <p:txBody>
          <a:bodyPr wrap="square" lIns="0" tIns="0" rIns="0" bIns="0" rtlCol="0" anchor="ctr"/>
          <a:lstStyle/>
          <a:p>
            <a:pPr marL="0" indent="0" algn="l">
              <a:buNone/>
            </a:pPr>
            <a:r>
              <a:rPr lang="en-US" sz="1200" i="1" dirty="0">
                <a:solidFill>
                  <a:srgbClr val="1A1A2E"/>
                </a:solidFill>
                <a:latin typeface="Courier New" pitchFamily="34" charset="0"/>
                <a:ea typeface="Courier New" pitchFamily="34" charset="-122"/>
                <a:cs typeface="Courier New" pitchFamily="34" charset="-120"/>
              </a:rPr>
              <a:t>"The $MFT $SI attribute M timestamp diverges from the $FN attribute M timestamp by 72 hours."</a:t>
            </a:r>
            <a:endParaRPr lang="en-US" sz="1200" dirty="0"/>
          </a:p>
        </p:txBody>
      </p:sp>
      <p:sp>
        <p:nvSpPr>
          <p:cNvPr id="18" name="Text 15"/>
          <p:cNvSpPr/>
          <p:nvPr/>
        </p:nvSpPr>
        <p:spPr>
          <a:xfrm>
            <a:off x="786384" y="2724912"/>
            <a:ext cx="7223760" cy="256032"/>
          </a:xfrm>
          <a:prstGeom prst="rect">
            <a:avLst/>
          </a:prstGeom>
          <a:noFill/>
          <a:ln/>
        </p:spPr>
        <p:txBody>
          <a:bodyPr wrap="square" lIns="0" tIns="0" rIns="0" bIns="0" rtlCol="0" anchor="ctr"/>
          <a:lstStyle/>
          <a:p>
            <a:pPr marL="0" indent="0" algn="l">
              <a:buNone/>
            </a:pPr>
            <a:r>
              <a:rPr lang="en-US" sz="1100" dirty="0">
                <a:solidFill>
                  <a:srgbClr val="475569"/>
                </a:solidFill>
                <a:latin typeface="Calibri" pitchFamily="34" charset="0"/>
                <a:ea typeface="Calibri" pitchFamily="34" charset="-122"/>
                <a:cs typeface="Calibri" pitchFamily="34" charset="-120"/>
              </a:rPr>
              <a:t>💡  Think: would a jury or judge understand this statement?</a:t>
            </a:r>
            <a:endParaRPr lang="en-US" sz="1100" dirty="0"/>
          </a:p>
        </p:txBody>
      </p:sp>
      <p:sp>
        <p:nvSpPr>
          <p:cNvPr id="19" name="Shape 16"/>
          <p:cNvSpPr/>
          <p:nvPr/>
        </p:nvSpPr>
        <p:spPr>
          <a:xfrm>
            <a:off x="7644384" y="2468880"/>
            <a:ext cx="1133856" cy="347472"/>
          </a:xfrm>
          <a:prstGeom prst="rect">
            <a:avLst/>
          </a:prstGeom>
          <a:solidFill>
            <a:srgbClr val="FFFFFF"/>
          </a:solidFill>
          <a:ln w="12700">
            <a:solidFill>
              <a:srgbClr val="F39C12"/>
            </a:solidFill>
            <a:prstDash val="solid"/>
          </a:ln>
        </p:spPr>
        <p:txBody>
          <a:bodyPr/>
          <a:lstStyle/>
          <a:p>
            <a:endParaRPr lang="en-SG"/>
          </a:p>
        </p:txBody>
      </p:sp>
      <p:sp>
        <p:nvSpPr>
          <p:cNvPr id="20" name="Text 17"/>
          <p:cNvSpPr/>
          <p:nvPr/>
        </p:nvSpPr>
        <p:spPr>
          <a:xfrm>
            <a:off x="7644384" y="2468880"/>
            <a:ext cx="1133856" cy="347472"/>
          </a:xfrm>
          <a:prstGeom prst="rect">
            <a:avLst/>
          </a:prstGeom>
          <a:noFill/>
          <a:ln/>
        </p:spPr>
        <p:txBody>
          <a:bodyPr wrap="square" lIns="0" tIns="0" rIns="0" bIns="0" rtlCol="0" anchor="ctr"/>
          <a:lstStyle/>
          <a:p>
            <a:pPr marL="0" indent="0" algn="ctr">
              <a:buNone/>
            </a:pPr>
            <a:r>
              <a:rPr lang="en-US" sz="1000" b="1" dirty="0">
                <a:solidFill>
                  <a:srgbClr val="F39C12"/>
                </a:solidFill>
                <a:latin typeface="Calibri" pitchFamily="34" charset="0"/>
                <a:ea typeface="Calibri" pitchFamily="34" charset="-122"/>
                <a:cs typeface="Calibri" pitchFamily="34" charset="-120"/>
              </a:rPr>
              <a:t>Principle?</a:t>
            </a:r>
            <a:endParaRPr lang="en-US" sz="1000" dirty="0"/>
          </a:p>
        </p:txBody>
      </p:sp>
      <p:sp>
        <p:nvSpPr>
          <p:cNvPr id="21" name="Shape 18"/>
          <p:cNvSpPr/>
          <p:nvPr/>
        </p:nvSpPr>
        <p:spPr>
          <a:xfrm>
            <a:off x="274320" y="3145536"/>
            <a:ext cx="8595360" cy="804672"/>
          </a:xfrm>
          <a:prstGeom prst="rect">
            <a:avLst/>
          </a:prstGeom>
          <a:solidFill>
            <a:srgbClr val="EEF6FB"/>
          </a:solidFill>
          <a:ln w="12700">
            <a:solidFill>
              <a:srgbClr val="E2E8F0"/>
            </a:solidFill>
            <a:prstDash val="solid"/>
          </a:ln>
          <a:effectLst>
            <a:outerShdw blurRad="76200" dist="25400" dir="8100000" algn="bl" rotWithShape="0">
              <a:srgbClr val="000000">
                <a:alpha val="25000"/>
              </a:srgbClr>
            </a:outerShdw>
          </a:effectLst>
        </p:spPr>
        <p:txBody>
          <a:bodyPr/>
          <a:lstStyle/>
          <a:p>
            <a:endParaRPr lang="en-SG"/>
          </a:p>
        </p:txBody>
      </p:sp>
      <p:sp>
        <p:nvSpPr>
          <p:cNvPr id="22" name="Shape 19"/>
          <p:cNvSpPr/>
          <p:nvPr/>
        </p:nvSpPr>
        <p:spPr>
          <a:xfrm>
            <a:off x="274320" y="3145536"/>
            <a:ext cx="384048" cy="804672"/>
          </a:xfrm>
          <a:prstGeom prst="rect">
            <a:avLst/>
          </a:prstGeom>
          <a:solidFill>
            <a:srgbClr val="F39C12"/>
          </a:solidFill>
          <a:ln w="12700">
            <a:solidFill>
              <a:srgbClr val="F39C12"/>
            </a:solidFill>
            <a:prstDash val="solid"/>
          </a:ln>
        </p:spPr>
        <p:txBody>
          <a:bodyPr/>
          <a:lstStyle/>
          <a:p>
            <a:endParaRPr lang="en-SG"/>
          </a:p>
        </p:txBody>
      </p:sp>
      <p:sp>
        <p:nvSpPr>
          <p:cNvPr id="23" name="Text 20"/>
          <p:cNvSpPr/>
          <p:nvPr/>
        </p:nvSpPr>
        <p:spPr>
          <a:xfrm>
            <a:off x="274320" y="3145536"/>
            <a:ext cx="384048" cy="804672"/>
          </a:xfrm>
          <a:prstGeom prst="rect">
            <a:avLst/>
          </a:prstGeom>
          <a:noFill/>
          <a:ln/>
        </p:spPr>
        <p:txBody>
          <a:bodyPr wrap="square" lIns="0" tIns="0" rIns="0" bIns="0" rtlCol="0" anchor="ctr"/>
          <a:lstStyle/>
          <a:p>
            <a:pPr marL="0" indent="0" algn="ctr">
              <a:buNone/>
            </a:pPr>
            <a:r>
              <a:rPr lang="en-US" sz="2200" b="1" dirty="0">
                <a:solidFill>
                  <a:srgbClr val="0D1B2A"/>
                </a:solidFill>
                <a:latin typeface="Trebuchet MS" pitchFamily="34" charset="0"/>
                <a:ea typeface="Trebuchet MS" pitchFamily="34" charset="-122"/>
                <a:cs typeface="Trebuchet MS" pitchFamily="34" charset="-120"/>
              </a:rPr>
              <a:t>C</a:t>
            </a:r>
            <a:endParaRPr lang="en-US" sz="2200" dirty="0"/>
          </a:p>
        </p:txBody>
      </p:sp>
      <p:sp>
        <p:nvSpPr>
          <p:cNvPr id="24" name="Text 21"/>
          <p:cNvSpPr/>
          <p:nvPr/>
        </p:nvSpPr>
        <p:spPr>
          <a:xfrm>
            <a:off x="786384" y="3209544"/>
            <a:ext cx="6812280" cy="365760"/>
          </a:xfrm>
          <a:prstGeom prst="rect">
            <a:avLst/>
          </a:prstGeom>
          <a:noFill/>
          <a:ln/>
        </p:spPr>
        <p:txBody>
          <a:bodyPr wrap="square" lIns="0" tIns="0" rIns="0" bIns="0" rtlCol="0" anchor="ctr"/>
          <a:lstStyle/>
          <a:p>
            <a:pPr marL="0" indent="0" algn="l">
              <a:buNone/>
            </a:pPr>
            <a:r>
              <a:rPr lang="en-US" sz="1200" i="1" dirty="0">
                <a:solidFill>
                  <a:srgbClr val="1A1A2E"/>
                </a:solidFill>
                <a:latin typeface="Courier New" pitchFamily="34" charset="0"/>
                <a:ea typeface="Courier New" pitchFamily="34" charset="-122"/>
                <a:cs typeface="Courier New" pitchFamily="34" charset="-120"/>
              </a:rPr>
              <a:t>"The defendant deliberately deleted the files to conceal the fraud."</a:t>
            </a:r>
            <a:endParaRPr lang="en-US" sz="1200" dirty="0"/>
          </a:p>
        </p:txBody>
      </p:sp>
      <p:sp>
        <p:nvSpPr>
          <p:cNvPr id="25" name="Text 22"/>
          <p:cNvSpPr/>
          <p:nvPr/>
        </p:nvSpPr>
        <p:spPr>
          <a:xfrm>
            <a:off x="786384" y="3621024"/>
            <a:ext cx="7223760" cy="256032"/>
          </a:xfrm>
          <a:prstGeom prst="rect">
            <a:avLst/>
          </a:prstGeom>
          <a:noFill/>
          <a:ln/>
        </p:spPr>
        <p:txBody>
          <a:bodyPr wrap="square" lIns="0" tIns="0" rIns="0" bIns="0" rtlCol="0" anchor="ctr"/>
          <a:lstStyle/>
          <a:p>
            <a:pPr marL="0" indent="0" algn="l">
              <a:buNone/>
            </a:pPr>
            <a:r>
              <a:rPr lang="en-US" sz="1100" dirty="0">
                <a:solidFill>
                  <a:srgbClr val="475569"/>
                </a:solidFill>
                <a:latin typeface="Calibri" pitchFamily="34" charset="0"/>
                <a:ea typeface="Calibri" pitchFamily="34" charset="-122"/>
                <a:cs typeface="Calibri" pitchFamily="34" charset="-120"/>
              </a:rPr>
              <a:t>💡  Think: what is the examiner claiming to know about intent?</a:t>
            </a:r>
            <a:endParaRPr lang="en-US" sz="1100" dirty="0"/>
          </a:p>
        </p:txBody>
      </p:sp>
      <p:sp>
        <p:nvSpPr>
          <p:cNvPr id="26" name="Shape 23"/>
          <p:cNvSpPr/>
          <p:nvPr/>
        </p:nvSpPr>
        <p:spPr>
          <a:xfrm>
            <a:off x="7644384" y="3364992"/>
            <a:ext cx="1133856" cy="347472"/>
          </a:xfrm>
          <a:prstGeom prst="rect">
            <a:avLst/>
          </a:prstGeom>
          <a:solidFill>
            <a:srgbClr val="FFFFFF"/>
          </a:solidFill>
          <a:ln w="12700">
            <a:solidFill>
              <a:srgbClr val="F39C12"/>
            </a:solidFill>
            <a:prstDash val="solid"/>
          </a:ln>
        </p:spPr>
        <p:txBody>
          <a:bodyPr/>
          <a:lstStyle/>
          <a:p>
            <a:endParaRPr lang="en-SG"/>
          </a:p>
        </p:txBody>
      </p:sp>
      <p:sp>
        <p:nvSpPr>
          <p:cNvPr id="27" name="Text 24"/>
          <p:cNvSpPr/>
          <p:nvPr/>
        </p:nvSpPr>
        <p:spPr>
          <a:xfrm>
            <a:off x="7644384" y="3364992"/>
            <a:ext cx="1133856" cy="347472"/>
          </a:xfrm>
          <a:prstGeom prst="rect">
            <a:avLst/>
          </a:prstGeom>
          <a:noFill/>
          <a:ln/>
        </p:spPr>
        <p:txBody>
          <a:bodyPr wrap="square" lIns="0" tIns="0" rIns="0" bIns="0" rtlCol="0" anchor="ctr"/>
          <a:lstStyle/>
          <a:p>
            <a:pPr marL="0" indent="0" algn="ctr">
              <a:buNone/>
            </a:pPr>
            <a:r>
              <a:rPr lang="en-US" sz="1000" b="1" dirty="0">
                <a:solidFill>
                  <a:srgbClr val="F39C12"/>
                </a:solidFill>
                <a:latin typeface="Calibri" pitchFamily="34" charset="0"/>
                <a:ea typeface="Calibri" pitchFamily="34" charset="-122"/>
                <a:cs typeface="Calibri" pitchFamily="34" charset="-120"/>
              </a:rPr>
              <a:t>Principle?</a:t>
            </a:r>
            <a:endParaRPr lang="en-US" sz="1000" dirty="0"/>
          </a:p>
        </p:txBody>
      </p:sp>
      <p:sp>
        <p:nvSpPr>
          <p:cNvPr id="28" name="Shape 25"/>
          <p:cNvSpPr/>
          <p:nvPr/>
        </p:nvSpPr>
        <p:spPr>
          <a:xfrm>
            <a:off x="274320" y="4041648"/>
            <a:ext cx="8595360" cy="804672"/>
          </a:xfrm>
          <a:prstGeom prst="rect">
            <a:avLst/>
          </a:prstGeom>
          <a:solidFill>
            <a:srgbClr val="EEF6FB"/>
          </a:solidFill>
          <a:ln w="12700">
            <a:solidFill>
              <a:srgbClr val="E2E8F0"/>
            </a:solidFill>
            <a:prstDash val="solid"/>
          </a:ln>
          <a:effectLst>
            <a:outerShdw blurRad="76200" dist="25400" dir="8100000" algn="bl" rotWithShape="0">
              <a:srgbClr val="000000">
                <a:alpha val="25000"/>
              </a:srgbClr>
            </a:outerShdw>
          </a:effectLst>
        </p:spPr>
        <p:txBody>
          <a:bodyPr/>
          <a:lstStyle/>
          <a:p>
            <a:endParaRPr lang="en-SG"/>
          </a:p>
        </p:txBody>
      </p:sp>
      <p:sp>
        <p:nvSpPr>
          <p:cNvPr id="29" name="Shape 26"/>
          <p:cNvSpPr/>
          <p:nvPr/>
        </p:nvSpPr>
        <p:spPr>
          <a:xfrm>
            <a:off x="274320" y="4041648"/>
            <a:ext cx="384048" cy="804672"/>
          </a:xfrm>
          <a:prstGeom prst="rect">
            <a:avLst/>
          </a:prstGeom>
          <a:solidFill>
            <a:srgbClr val="F39C12"/>
          </a:solidFill>
          <a:ln w="12700">
            <a:solidFill>
              <a:srgbClr val="F39C12"/>
            </a:solidFill>
            <a:prstDash val="solid"/>
          </a:ln>
        </p:spPr>
        <p:txBody>
          <a:bodyPr/>
          <a:lstStyle/>
          <a:p>
            <a:endParaRPr lang="en-SG"/>
          </a:p>
        </p:txBody>
      </p:sp>
      <p:sp>
        <p:nvSpPr>
          <p:cNvPr id="30" name="Text 27"/>
          <p:cNvSpPr/>
          <p:nvPr/>
        </p:nvSpPr>
        <p:spPr>
          <a:xfrm>
            <a:off x="274320" y="4041648"/>
            <a:ext cx="384048" cy="804672"/>
          </a:xfrm>
          <a:prstGeom prst="rect">
            <a:avLst/>
          </a:prstGeom>
          <a:noFill/>
          <a:ln/>
        </p:spPr>
        <p:txBody>
          <a:bodyPr wrap="square" lIns="0" tIns="0" rIns="0" bIns="0" rtlCol="0" anchor="ctr"/>
          <a:lstStyle/>
          <a:p>
            <a:pPr marL="0" indent="0" algn="ctr">
              <a:buNone/>
            </a:pPr>
            <a:r>
              <a:rPr lang="en-US" sz="2200" b="1" dirty="0">
                <a:solidFill>
                  <a:srgbClr val="0D1B2A"/>
                </a:solidFill>
                <a:latin typeface="Trebuchet MS" pitchFamily="34" charset="0"/>
                <a:ea typeface="Trebuchet MS" pitchFamily="34" charset="-122"/>
                <a:cs typeface="Trebuchet MS" pitchFamily="34" charset="-120"/>
              </a:rPr>
              <a:t>D</a:t>
            </a:r>
            <a:endParaRPr lang="en-US" sz="2200" dirty="0"/>
          </a:p>
        </p:txBody>
      </p:sp>
      <p:sp>
        <p:nvSpPr>
          <p:cNvPr id="31" name="Text 28"/>
          <p:cNvSpPr/>
          <p:nvPr/>
        </p:nvSpPr>
        <p:spPr>
          <a:xfrm>
            <a:off x="786384" y="4105656"/>
            <a:ext cx="6812280" cy="365760"/>
          </a:xfrm>
          <a:prstGeom prst="rect">
            <a:avLst/>
          </a:prstGeom>
          <a:noFill/>
          <a:ln/>
        </p:spPr>
        <p:txBody>
          <a:bodyPr wrap="square" lIns="0" tIns="0" rIns="0" bIns="0" rtlCol="0" anchor="ctr"/>
          <a:lstStyle/>
          <a:p>
            <a:pPr marL="0" indent="0" algn="l">
              <a:buNone/>
            </a:pPr>
            <a:r>
              <a:rPr lang="en-US" sz="1200" i="1" dirty="0">
                <a:solidFill>
                  <a:srgbClr val="1A1A2E"/>
                </a:solidFill>
                <a:latin typeface="Courier New" pitchFamily="34" charset="0"/>
                <a:ea typeface="Courier New" pitchFamily="34" charset="-122"/>
                <a:cs typeface="Courier New" pitchFamily="34" charset="-120"/>
              </a:rPr>
              <a:t>"The file was modified recently and may have been accessed multiple times."</a:t>
            </a:r>
            <a:endParaRPr lang="en-US" sz="1200" dirty="0"/>
          </a:p>
        </p:txBody>
      </p:sp>
      <p:sp>
        <p:nvSpPr>
          <p:cNvPr id="32" name="Text 29"/>
          <p:cNvSpPr/>
          <p:nvPr/>
        </p:nvSpPr>
        <p:spPr>
          <a:xfrm>
            <a:off x="786384" y="4517136"/>
            <a:ext cx="7223760" cy="256032"/>
          </a:xfrm>
          <a:prstGeom prst="rect">
            <a:avLst/>
          </a:prstGeom>
          <a:noFill/>
          <a:ln/>
        </p:spPr>
        <p:txBody>
          <a:bodyPr wrap="square" lIns="0" tIns="0" rIns="0" bIns="0" rtlCol="0" anchor="ctr"/>
          <a:lstStyle/>
          <a:p>
            <a:pPr marL="0" indent="0" algn="l">
              <a:buNone/>
            </a:pPr>
            <a:r>
              <a:rPr lang="en-US" sz="1100" dirty="0">
                <a:solidFill>
                  <a:srgbClr val="475569"/>
                </a:solidFill>
                <a:latin typeface="Calibri" pitchFamily="34" charset="0"/>
                <a:ea typeface="Calibri" pitchFamily="34" charset="-122"/>
                <a:cs typeface="Calibri" pitchFamily="34" charset="-120"/>
              </a:rPr>
              <a:t>💡  Think: what specific details are missing here?</a:t>
            </a:r>
            <a:endParaRPr lang="en-US" sz="1100" dirty="0"/>
          </a:p>
        </p:txBody>
      </p:sp>
      <p:sp>
        <p:nvSpPr>
          <p:cNvPr id="33" name="Shape 30"/>
          <p:cNvSpPr/>
          <p:nvPr/>
        </p:nvSpPr>
        <p:spPr>
          <a:xfrm>
            <a:off x="7644384" y="4261104"/>
            <a:ext cx="1133856" cy="347472"/>
          </a:xfrm>
          <a:prstGeom prst="rect">
            <a:avLst/>
          </a:prstGeom>
          <a:solidFill>
            <a:srgbClr val="FFFFFF"/>
          </a:solidFill>
          <a:ln w="12700">
            <a:solidFill>
              <a:srgbClr val="F39C12"/>
            </a:solidFill>
            <a:prstDash val="solid"/>
          </a:ln>
        </p:spPr>
        <p:txBody>
          <a:bodyPr/>
          <a:lstStyle/>
          <a:p>
            <a:endParaRPr lang="en-SG"/>
          </a:p>
        </p:txBody>
      </p:sp>
      <p:sp>
        <p:nvSpPr>
          <p:cNvPr id="34" name="Text 31"/>
          <p:cNvSpPr/>
          <p:nvPr/>
        </p:nvSpPr>
        <p:spPr>
          <a:xfrm>
            <a:off x="7644384" y="4261104"/>
            <a:ext cx="1133856" cy="347472"/>
          </a:xfrm>
          <a:prstGeom prst="rect">
            <a:avLst/>
          </a:prstGeom>
          <a:noFill/>
          <a:ln/>
        </p:spPr>
        <p:txBody>
          <a:bodyPr wrap="square" lIns="0" tIns="0" rIns="0" bIns="0" rtlCol="0" anchor="ctr"/>
          <a:lstStyle/>
          <a:p>
            <a:pPr marL="0" indent="0" algn="ctr">
              <a:buNone/>
            </a:pPr>
            <a:r>
              <a:rPr lang="en-US" sz="1000" b="1" dirty="0">
                <a:solidFill>
                  <a:srgbClr val="F39C12"/>
                </a:solidFill>
                <a:latin typeface="Calibri" pitchFamily="34" charset="0"/>
                <a:ea typeface="Calibri" pitchFamily="34" charset="-122"/>
                <a:cs typeface="Calibri" pitchFamily="34" charset="-120"/>
              </a:rPr>
              <a:t>Principle?</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27AE60"/>
          </a:solidFill>
          <a:ln w="12700">
            <a:solidFill>
              <a:srgbClr val="27AE60"/>
            </a:solidFill>
            <a:prstDash val="solid"/>
          </a:ln>
        </p:spPr>
        <p:txBody>
          <a:bodyPr/>
          <a:lstStyle/>
          <a:p>
            <a:endParaRPr lang="en-SG"/>
          </a:p>
        </p:txBody>
      </p:sp>
      <p:sp>
        <p:nvSpPr>
          <p:cNvPr id="3" name="Text 1"/>
          <p:cNvSpPr/>
          <p:nvPr/>
        </p:nvSpPr>
        <p:spPr>
          <a:xfrm>
            <a:off x="274320" y="146304"/>
            <a:ext cx="4572000" cy="256032"/>
          </a:xfrm>
          <a:prstGeom prst="rect">
            <a:avLst/>
          </a:prstGeom>
          <a:noFill/>
          <a:ln/>
        </p:spPr>
        <p:txBody>
          <a:bodyPr wrap="square" lIns="0" tIns="0" rIns="0" bIns="0" rtlCol="0" anchor="ctr"/>
          <a:lstStyle/>
          <a:p>
            <a:pPr marL="0" indent="0" algn="l">
              <a:buNone/>
            </a:pPr>
            <a:r>
              <a:rPr lang="en-US" sz="1000" b="1" kern="0" spc="300" dirty="0">
                <a:solidFill>
                  <a:srgbClr val="27AE60"/>
                </a:solidFill>
                <a:latin typeface="Calibri" pitchFamily="34" charset="0"/>
                <a:ea typeface="Calibri" pitchFamily="34" charset="-122"/>
                <a:cs typeface="Calibri" pitchFamily="34" charset="-120"/>
              </a:rPr>
              <a:t>KNOWLEDGE CHECK  ·  ACTIVITY 2 — ANSWERS</a:t>
            </a:r>
            <a:endParaRPr lang="en-US" sz="1000" dirty="0"/>
          </a:p>
        </p:txBody>
      </p:sp>
      <p:pic>
        <p:nvPicPr>
          <p:cNvPr id="4" name="Image 0" descr="preencoded.png"/>
          <p:cNvPicPr>
            <a:picLocks noChangeAspect="1"/>
          </p:cNvPicPr>
          <p:nvPr/>
        </p:nvPicPr>
        <p:blipFill>
          <a:blip r:embed="rId3"/>
          <a:stretch>
            <a:fillRect/>
          </a:stretch>
        </p:blipFill>
        <p:spPr>
          <a:xfrm>
            <a:off x="274320" y="457200"/>
            <a:ext cx="402336" cy="402336"/>
          </a:xfrm>
          <a:prstGeom prst="rect">
            <a:avLst/>
          </a:prstGeom>
        </p:spPr>
      </p:pic>
      <p:sp>
        <p:nvSpPr>
          <p:cNvPr id="5" name="Text 2"/>
          <p:cNvSpPr/>
          <p:nvPr/>
        </p:nvSpPr>
        <p:spPr>
          <a:xfrm>
            <a:off x="768096" y="457200"/>
            <a:ext cx="8046720" cy="402336"/>
          </a:xfrm>
          <a:prstGeom prst="rect">
            <a:avLst/>
          </a:prstGeom>
          <a:noFill/>
          <a:ln/>
        </p:spPr>
        <p:txBody>
          <a:bodyPr wrap="square" lIns="0" tIns="0" rIns="0" bIns="0" rtlCol="0" anchor="ctr"/>
          <a:lstStyle/>
          <a:p>
            <a:pPr marL="0" indent="0" algn="l">
              <a:buNone/>
            </a:pPr>
            <a:r>
              <a:rPr lang="en-US" sz="2200" b="1" dirty="0">
                <a:solidFill>
                  <a:srgbClr val="1A1A2E"/>
                </a:solidFill>
                <a:latin typeface="Trebuchet MS" pitchFamily="34" charset="0"/>
                <a:ea typeface="Trebuchet MS" pitchFamily="34" charset="-122"/>
                <a:cs typeface="Trebuchet MS" pitchFamily="34" charset="-120"/>
              </a:rPr>
              <a:t>Principles Identified</a:t>
            </a:r>
            <a:endParaRPr lang="en-US" sz="2200" dirty="0"/>
          </a:p>
        </p:txBody>
      </p:sp>
      <p:sp>
        <p:nvSpPr>
          <p:cNvPr id="6" name="Shape 3"/>
          <p:cNvSpPr/>
          <p:nvPr/>
        </p:nvSpPr>
        <p:spPr>
          <a:xfrm>
            <a:off x="274320" y="1005840"/>
            <a:ext cx="8595360" cy="896112"/>
          </a:xfrm>
          <a:prstGeom prst="rect">
            <a:avLst/>
          </a:prstGeom>
          <a:solidFill>
            <a:srgbClr val="EEF6FB"/>
          </a:solidFill>
          <a:ln w="12700">
            <a:solidFill>
              <a:srgbClr val="EEF6FB"/>
            </a:solidFill>
            <a:prstDash val="solid"/>
          </a:ln>
          <a:effectLst>
            <a:outerShdw blurRad="76200" dist="25400" dir="8100000" algn="bl" rotWithShape="0">
              <a:srgbClr val="000000">
                <a:alpha val="25000"/>
              </a:srgbClr>
            </a:outerShdw>
          </a:effectLst>
        </p:spPr>
        <p:txBody>
          <a:bodyPr/>
          <a:lstStyle/>
          <a:p>
            <a:endParaRPr lang="en-SG"/>
          </a:p>
        </p:txBody>
      </p:sp>
      <p:sp>
        <p:nvSpPr>
          <p:cNvPr id="7" name="Shape 4"/>
          <p:cNvSpPr/>
          <p:nvPr/>
        </p:nvSpPr>
        <p:spPr>
          <a:xfrm>
            <a:off x="274320" y="1005840"/>
            <a:ext cx="384048" cy="896112"/>
          </a:xfrm>
          <a:prstGeom prst="rect">
            <a:avLst/>
          </a:prstGeom>
          <a:solidFill>
            <a:srgbClr val="27AE60"/>
          </a:solidFill>
          <a:ln w="12700">
            <a:solidFill>
              <a:srgbClr val="27AE60"/>
            </a:solidFill>
            <a:prstDash val="solid"/>
          </a:ln>
        </p:spPr>
        <p:txBody>
          <a:bodyPr/>
          <a:lstStyle/>
          <a:p>
            <a:endParaRPr lang="en-SG"/>
          </a:p>
        </p:txBody>
      </p:sp>
      <p:sp>
        <p:nvSpPr>
          <p:cNvPr id="8" name="Text 5"/>
          <p:cNvSpPr/>
          <p:nvPr/>
        </p:nvSpPr>
        <p:spPr>
          <a:xfrm>
            <a:off x="274320" y="1005840"/>
            <a:ext cx="384048" cy="896112"/>
          </a:xfrm>
          <a:prstGeom prst="rect">
            <a:avLst/>
          </a:prstGeom>
          <a:noFill/>
          <a:ln/>
        </p:spPr>
        <p:txBody>
          <a:bodyPr wrap="square" lIns="0" tIns="0" rIns="0" bIns="0" rtlCol="0" anchor="ctr"/>
          <a:lstStyle/>
          <a:p>
            <a:pPr marL="0" indent="0" algn="ctr">
              <a:buNone/>
            </a:pPr>
            <a:r>
              <a:rPr lang="en-US" sz="2200" b="1" dirty="0">
                <a:solidFill>
                  <a:srgbClr val="0D1B2A"/>
                </a:solidFill>
                <a:latin typeface="Trebuchet MS" pitchFamily="34" charset="0"/>
                <a:ea typeface="Trebuchet MS" pitchFamily="34" charset="-122"/>
                <a:cs typeface="Trebuchet MS" pitchFamily="34" charset="-120"/>
              </a:rPr>
              <a:t>A</a:t>
            </a:r>
            <a:endParaRPr lang="en-US" sz="2200" dirty="0"/>
          </a:p>
        </p:txBody>
      </p:sp>
      <p:sp>
        <p:nvSpPr>
          <p:cNvPr id="9" name="Text 6"/>
          <p:cNvSpPr/>
          <p:nvPr/>
        </p:nvSpPr>
        <p:spPr>
          <a:xfrm>
            <a:off x="786384" y="1069848"/>
            <a:ext cx="2743200" cy="256032"/>
          </a:xfrm>
          <a:prstGeom prst="rect">
            <a:avLst/>
          </a:prstGeom>
          <a:noFill/>
          <a:ln/>
        </p:spPr>
        <p:txBody>
          <a:bodyPr wrap="square" lIns="0" tIns="0" rIns="0" bIns="0" rtlCol="0" anchor="ctr"/>
          <a:lstStyle/>
          <a:p>
            <a:pPr marL="0" indent="0" algn="l">
              <a:buNone/>
            </a:pPr>
            <a:r>
              <a:rPr lang="en-US" sz="1300" b="1" dirty="0">
                <a:solidFill>
                  <a:srgbClr val="27AE60"/>
                </a:solidFill>
                <a:latin typeface="Trebuchet MS" pitchFamily="34" charset="0"/>
                <a:ea typeface="Trebuchet MS" pitchFamily="34" charset="-122"/>
                <a:cs typeface="Trebuchet MS" pitchFamily="34" charset="-120"/>
              </a:rPr>
              <a:t>Principle 3 — Reproducibility</a:t>
            </a:r>
            <a:endParaRPr lang="en-US" sz="1300" dirty="0"/>
          </a:p>
        </p:txBody>
      </p:sp>
      <p:sp>
        <p:nvSpPr>
          <p:cNvPr id="10" name="Text 7"/>
          <p:cNvSpPr/>
          <p:nvPr/>
        </p:nvSpPr>
        <p:spPr>
          <a:xfrm>
            <a:off x="786384" y="1344168"/>
            <a:ext cx="3154680" cy="457200"/>
          </a:xfrm>
          <a:prstGeom prst="rect">
            <a:avLst/>
          </a:prstGeom>
          <a:noFill/>
          <a:ln/>
        </p:spPr>
        <p:txBody>
          <a:bodyPr wrap="square" lIns="0" tIns="0" rIns="0" bIns="0" rtlCol="0" anchor="ctr"/>
          <a:lstStyle/>
          <a:p>
            <a:pPr marL="0" indent="0" algn="l">
              <a:buNone/>
            </a:pPr>
            <a:r>
              <a:rPr lang="en-US" sz="950" i="1" dirty="0">
                <a:solidFill>
                  <a:srgbClr val="E74C3C"/>
                </a:solidFill>
                <a:latin typeface="Courier New" pitchFamily="34" charset="0"/>
                <a:ea typeface="Courier New" pitchFamily="34" charset="-122"/>
                <a:cs typeface="Courier New" pitchFamily="34" charset="-120"/>
              </a:rPr>
              <a:t>"I ran Autopsy and found evidence of document access."</a:t>
            </a:r>
            <a:endParaRPr lang="en-US" sz="950" dirty="0"/>
          </a:p>
        </p:txBody>
      </p:sp>
      <p:sp>
        <p:nvSpPr>
          <p:cNvPr id="11" name="Shape 8"/>
          <p:cNvSpPr/>
          <p:nvPr/>
        </p:nvSpPr>
        <p:spPr>
          <a:xfrm>
            <a:off x="4005072" y="1078992"/>
            <a:ext cx="36576" cy="749808"/>
          </a:xfrm>
          <a:prstGeom prst="rect">
            <a:avLst/>
          </a:prstGeom>
          <a:solidFill>
            <a:srgbClr val="F1F5F9"/>
          </a:solidFill>
          <a:ln w="12700">
            <a:solidFill>
              <a:srgbClr val="F1F5F9"/>
            </a:solidFill>
            <a:prstDash val="solid"/>
          </a:ln>
        </p:spPr>
        <p:txBody>
          <a:bodyPr/>
          <a:lstStyle/>
          <a:p>
            <a:endParaRPr lang="en-SG"/>
          </a:p>
        </p:txBody>
      </p:sp>
      <p:sp>
        <p:nvSpPr>
          <p:cNvPr id="12" name="Text 9"/>
          <p:cNvSpPr/>
          <p:nvPr/>
        </p:nvSpPr>
        <p:spPr>
          <a:xfrm>
            <a:off x="4133088" y="1069848"/>
            <a:ext cx="4645152" cy="786384"/>
          </a:xfrm>
          <a:prstGeom prst="rect">
            <a:avLst/>
          </a:prstGeom>
          <a:noFill/>
          <a:ln/>
        </p:spPr>
        <p:txBody>
          <a:bodyPr wrap="square" lIns="0" tIns="0" rIns="0" bIns="0" rtlCol="0" anchor="ctr"/>
          <a:lstStyle/>
          <a:p>
            <a:pPr marL="0" indent="0" algn="l">
              <a:buNone/>
            </a:pPr>
            <a:r>
              <a:rPr lang="en-US" sz="1150" dirty="0">
                <a:solidFill>
                  <a:srgbClr val="1A1A2E"/>
                </a:solidFill>
                <a:latin typeface="Calibri" pitchFamily="34" charset="0"/>
                <a:ea typeface="Calibri" pitchFamily="34" charset="-122"/>
                <a:cs typeface="Calibri" pitchFamily="34" charset="-120"/>
              </a:rPr>
              <a:t>No tool version, no hash of binary, no command flags documented. A second examiner cannot replicate this finding. Correct: 'Autopsy v4.21.0 (SHA-256: 3d8a…). Flags: [logged]. Results: Exhibit 07.'</a:t>
            </a:r>
            <a:endParaRPr lang="en-US" sz="1150" dirty="0"/>
          </a:p>
        </p:txBody>
      </p:sp>
      <p:sp>
        <p:nvSpPr>
          <p:cNvPr id="13" name="Shape 10"/>
          <p:cNvSpPr/>
          <p:nvPr/>
        </p:nvSpPr>
        <p:spPr>
          <a:xfrm>
            <a:off x="274320" y="2011680"/>
            <a:ext cx="8595360" cy="896112"/>
          </a:xfrm>
          <a:prstGeom prst="rect">
            <a:avLst/>
          </a:prstGeom>
          <a:solidFill>
            <a:srgbClr val="EEF6FB"/>
          </a:solidFill>
          <a:ln w="12700">
            <a:solidFill>
              <a:srgbClr val="EEF6FB"/>
            </a:solidFill>
            <a:prstDash val="solid"/>
          </a:ln>
          <a:effectLst>
            <a:outerShdw blurRad="76200" dist="25400" dir="8100000" algn="bl" rotWithShape="0">
              <a:srgbClr val="000000">
                <a:alpha val="25000"/>
              </a:srgbClr>
            </a:outerShdw>
          </a:effectLst>
        </p:spPr>
        <p:txBody>
          <a:bodyPr/>
          <a:lstStyle/>
          <a:p>
            <a:endParaRPr lang="en-SG"/>
          </a:p>
        </p:txBody>
      </p:sp>
      <p:sp>
        <p:nvSpPr>
          <p:cNvPr id="14" name="Shape 11"/>
          <p:cNvSpPr/>
          <p:nvPr/>
        </p:nvSpPr>
        <p:spPr>
          <a:xfrm>
            <a:off x="274320" y="2011680"/>
            <a:ext cx="384048" cy="896112"/>
          </a:xfrm>
          <a:prstGeom prst="rect">
            <a:avLst/>
          </a:prstGeom>
          <a:solidFill>
            <a:srgbClr val="F0B429"/>
          </a:solidFill>
          <a:ln w="12700">
            <a:solidFill>
              <a:srgbClr val="F0B429"/>
            </a:solidFill>
            <a:prstDash val="solid"/>
          </a:ln>
        </p:spPr>
        <p:txBody>
          <a:bodyPr/>
          <a:lstStyle/>
          <a:p>
            <a:endParaRPr lang="en-SG"/>
          </a:p>
        </p:txBody>
      </p:sp>
      <p:sp>
        <p:nvSpPr>
          <p:cNvPr id="15" name="Text 12"/>
          <p:cNvSpPr/>
          <p:nvPr/>
        </p:nvSpPr>
        <p:spPr>
          <a:xfrm>
            <a:off x="274320" y="2011680"/>
            <a:ext cx="384048" cy="896112"/>
          </a:xfrm>
          <a:prstGeom prst="rect">
            <a:avLst/>
          </a:prstGeom>
          <a:noFill/>
          <a:ln/>
        </p:spPr>
        <p:txBody>
          <a:bodyPr wrap="square" lIns="0" tIns="0" rIns="0" bIns="0" rtlCol="0" anchor="ctr"/>
          <a:lstStyle/>
          <a:p>
            <a:pPr marL="0" indent="0" algn="ctr">
              <a:buNone/>
            </a:pPr>
            <a:r>
              <a:rPr lang="en-US" sz="2200" b="1" dirty="0">
                <a:solidFill>
                  <a:srgbClr val="0D1B2A"/>
                </a:solidFill>
                <a:latin typeface="Trebuchet MS" pitchFamily="34" charset="0"/>
                <a:ea typeface="Trebuchet MS" pitchFamily="34" charset="-122"/>
                <a:cs typeface="Trebuchet MS" pitchFamily="34" charset="-120"/>
              </a:rPr>
              <a:t>B</a:t>
            </a:r>
            <a:endParaRPr lang="en-US" sz="2200" dirty="0"/>
          </a:p>
        </p:txBody>
      </p:sp>
      <p:sp>
        <p:nvSpPr>
          <p:cNvPr id="16" name="Text 13"/>
          <p:cNvSpPr/>
          <p:nvPr/>
        </p:nvSpPr>
        <p:spPr>
          <a:xfrm>
            <a:off x="786384" y="2075688"/>
            <a:ext cx="2743200" cy="256032"/>
          </a:xfrm>
          <a:prstGeom prst="rect">
            <a:avLst/>
          </a:prstGeom>
          <a:noFill/>
          <a:ln/>
        </p:spPr>
        <p:txBody>
          <a:bodyPr wrap="square" lIns="0" tIns="0" rIns="0" bIns="0" rtlCol="0" anchor="ctr"/>
          <a:lstStyle/>
          <a:p>
            <a:pPr marL="0" indent="0" algn="l">
              <a:buNone/>
            </a:pPr>
            <a:r>
              <a:rPr lang="en-US" sz="1300" b="1" dirty="0">
                <a:solidFill>
                  <a:srgbClr val="F0B429"/>
                </a:solidFill>
                <a:latin typeface="Trebuchet MS" pitchFamily="34" charset="0"/>
                <a:ea typeface="Trebuchet MS" pitchFamily="34" charset="-122"/>
                <a:cs typeface="Trebuchet MS" pitchFamily="34" charset="-120"/>
              </a:rPr>
              <a:t>Principle 4 — Plain Language</a:t>
            </a:r>
            <a:endParaRPr lang="en-US" sz="1300" dirty="0"/>
          </a:p>
        </p:txBody>
      </p:sp>
      <p:sp>
        <p:nvSpPr>
          <p:cNvPr id="17" name="Text 14"/>
          <p:cNvSpPr/>
          <p:nvPr/>
        </p:nvSpPr>
        <p:spPr>
          <a:xfrm>
            <a:off x="786384" y="2350008"/>
            <a:ext cx="3154680" cy="457200"/>
          </a:xfrm>
          <a:prstGeom prst="rect">
            <a:avLst/>
          </a:prstGeom>
          <a:noFill/>
          <a:ln/>
        </p:spPr>
        <p:txBody>
          <a:bodyPr wrap="square" lIns="0" tIns="0" rIns="0" bIns="0" rtlCol="0" anchor="ctr"/>
          <a:lstStyle/>
          <a:p>
            <a:pPr marL="0" indent="0" algn="l">
              <a:buNone/>
            </a:pPr>
            <a:r>
              <a:rPr lang="en-US" sz="950" i="1" dirty="0">
                <a:solidFill>
                  <a:srgbClr val="E74C3C"/>
                </a:solidFill>
                <a:latin typeface="Courier New" pitchFamily="34" charset="0"/>
                <a:ea typeface="Courier New" pitchFamily="34" charset="-122"/>
                <a:cs typeface="Courier New" pitchFamily="34" charset="-120"/>
              </a:rPr>
              <a:t>"The $MFT $SI attribute M timestamp diverges from the $FN attribute M timestamp by 72 hours."</a:t>
            </a:r>
            <a:endParaRPr lang="en-US" sz="950" dirty="0"/>
          </a:p>
        </p:txBody>
      </p:sp>
      <p:sp>
        <p:nvSpPr>
          <p:cNvPr id="18" name="Shape 15"/>
          <p:cNvSpPr/>
          <p:nvPr/>
        </p:nvSpPr>
        <p:spPr>
          <a:xfrm>
            <a:off x="4005072" y="2084832"/>
            <a:ext cx="36576" cy="749808"/>
          </a:xfrm>
          <a:prstGeom prst="rect">
            <a:avLst/>
          </a:prstGeom>
          <a:solidFill>
            <a:srgbClr val="F1F5F9"/>
          </a:solidFill>
          <a:ln w="12700">
            <a:solidFill>
              <a:srgbClr val="F1F5F9"/>
            </a:solidFill>
            <a:prstDash val="solid"/>
          </a:ln>
        </p:spPr>
        <p:txBody>
          <a:bodyPr/>
          <a:lstStyle/>
          <a:p>
            <a:endParaRPr lang="en-SG"/>
          </a:p>
        </p:txBody>
      </p:sp>
      <p:sp>
        <p:nvSpPr>
          <p:cNvPr id="19" name="Text 16"/>
          <p:cNvSpPr/>
          <p:nvPr/>
        </p:nvSpPr>
        <p:spPr>
          <a:xfrm>
            <a:off x="4133088" y="2075688"/>
            <a:ext cx="4645152" cy="786384"/>
          </a:xfrm>
          <a:prstGeom prst="rect">
            <a:avLst/>
          </a:prstGeom>
          <a:noFill/>
          <a:ln/>
        </p:spPr>
        <p:txBody>
          <a:bodyPr wrap="square" lIns="0" tIns="0" rIns="0" bIns="0" rtlCol="0" anchor="ctr"/>
          <a:lstStyle/>
          <a:p>
            <a:pPr marL="0" indent="0" algn="l">
              <a:buNone/>
            </a:pPr>
            <a:r>
              <a:rPr lang="en-US" sz="1150" dirty="0">
                <a:solidFill>
                  <a:srgbClr val="1A1A2E"/>
                </a:solidFill>
                <a:latin typeface="Calibri" pitchFamily="34" charset="0"/>
                <a:ea typeface="Calibri" pitchFamily="34" charset="-122"/>
                <a:cs typeface="Calibri" pitchFamily="34" charset="-120"/>
              </a:rPr>
              <a:t>A judge or jury cannot understand this. Correct: 'The file's internal timestamp was altered after creation — a strong indicator of deliberate timestamp manipulation (timestomping).'</a:t>
            </a:r>
            <a:endParaRPr lang="en-US" sz="1150" dirty="0"/>
          </a:p>
        </p:txBody>
      </p:sp>
      <p:sp>
        <p:nvSpPr>
          <p:cNvPr id="20" name="Shape 17"/>
          <p:cNvSpPr/>
          <p:nvPr/>
        </p:nvSpPr>
        <p:spPr>
          <a:xfrm>
            <a:off x="274320" y="3017520"/>
            <a:ext cx="8595360" cy="896112"/>
          </a:xfrm>
          <a:prstGeom prst="rect">
            <a:avLst/>
          </a:prstGeom>
          <a:solidFill>
            <a:srgbClr val="EEF6FB"/>
          </a:solidFill>
          <a:ln w="12700">
            <a:solidFill>
              <a:srgbClr val="EEF6FB"/>
            </a:solidFill>
            <a:prstDash val="solid"/>
          </a:ln>
          <a:effectLst>
            <a:outerShdw blurRad="76200" dist="25400" dir="8100000" algn="bl" rotWithShape="0">
              <a:srgbClr val="000000">
                <a:alpha val="25000"/>
              </a:srgbClr>
            </a:outerShdw>
          </a:effectLst>
        </p:spPr>
        <p:txBody>
          <a:bodyPr/>
          <a:lstStyle/>
          <a:p>
            <a:endParaRPr lang="en-SG"/>
          </a:p>
        </p:txBody>
      </p:sp>
      <p:sp>
        <p:nvSpPr>
          <p:cNvPr id="21" name="Shape 18"/>
          <p:cNvSpPr/>
          <p:nvPr/>
        </p:nvSpPr>
        <p:spPr>
          <a:xfrm>
            <a:off x="274320" y="3017520"/>
            <a:ext cx="384048" cy="896112"/>
          </a:xfrm>
          <a:prstGeom prst="rect">
            <a:avLst/>
          </a:prstGeom>
          <a:solidFill>
            <a:srgbClr val="E74C3C"/>
          </a:solidFill>
          <a:ln w="12700">
            <a:solidFill>
              <a:srgbClr val="E74C3C"/>
            </a:solidFill>
            <a:prstDash val="solid"/>
          </a:ln>
        </p:spPr>
        <p:txBody>
          <a:bodyPr/>
          <a:lstStyle/>
          <a:p>
            <a:endParaRPr lang="en-SG"/>
          </a:p>
        </p:txBody>
      </p:sp>
      <p:sp>
        <p:nvSpPr>
          <p:cNvPr id="22" name="Text 19"/>
          <p:cNvSpPr/>
          <p:nvPr/>
        </p:nvSpPr>
        <p:spPr>
          <a:xfrm>
            <a:off x="274320" y="3017520"/>
            <a:ext cx="384048" cy="896112"/>
          </a:xfrm>
          <a:prstGeom prst="rect">
            <a:avLst/>
          </a:prstGeom>
          <a:noFill/>
          <a:ln/>
        </p:spPr>
        <p:txBody>
          <a:bodyPr wrap="square" lIns="0" tIns="0" rIns="0" bIns="0" rtlCol="0" anchor="ctr"/>
          <a:lstStyle/>
          <a:p>
            <a:pPr marL="0" indent="0" algn="ctr">
              <a:buNone/>
            </a:pPr>
            <a:r>
              <a:rPr lang="en-US" sz="2200" b="1" dirty="0">
                <a:solidFill>
                  <a:srgbClr val="0D1B2A"/>
                </a:solidFill>
                <a:latin typeface="Trebuchet MS" pitchFamily="34" charset="0"/>
                <a:ea typeface="Trebuchet MS" pitchFamily="34" charset="-122"/>
                <a:cs typeface="Trebuchet MS" pitchFamily="34" charset="-120"/>
              </a:rPr>
              <a:t>C</a:t>
            </a:r>
            <a:endParaRPr lang="en-US" sz="2200" dirty="0"/>
          </a:p>
        </p:txBody>
      </p:sp>
      <p:sp>
        <p:nvSpPr>
          <p:cNvPr id="23" name="Text 20"/>
          <p:cNvSpPr/>
          <p:nvPr/>
        </p:nvSpPr>
        <p:spPr>
          <a:xfrm>
            <a:off x="786384" y="3081528"/>
            <a:ext cx="2743200" cy="256032"/>
          </a:xfrm>
          <a:prstGeom prst="rect">
            <a:avLst/>
          </a:prstGeom>
          <a:noFill/>
          <a:ln/>
        </p:spPr>
        <p:txBody>
          <a:bodyPr wrap="square" lIns="0" tIns="0" rIns="0" bIns="0" rtlCol="0" anchor="ctr"/>
          <a:lstStyle/>
          <a:p>
            <a:pPr marL="0" indent="0" algn="l">
              <a:buNone/>
            </a:pPr>
            <a:r>
              <a:rPr lang="en-US" sz="1300" b="1" dirty="0">
                <a:solidFill>
                  <a:srgbClr val="E74C3C"/>
                </a:solidFill>
                <a:latin typeface="Trebuchet MS" pitchFamily="34" charset="0"/>
                <a:ea typeface="Trebuchet MS" pitchFamily="34" charset="-122"/>
                <a:cs typeface="Trebuchet MS" pitchFamily="34" charset="-120"/>
              </a:rPr>
              <a:t>Principle 5 — No Speculation</a:t>
            </a:r>
            <a:endParaRPr lang="en-US" sz="1300" dirty="0"/>
          </a:p>
        </p:txBody>
      </p:sp>
      <p:sp>
        <p:nvSpPr>
          <p:cNvPr id="24" name="Text 21"/>
          <p:cNvSpPr/>
          <p:nvPr/>
        </p:nvSpPr>
        <p:spPr>
          <a:xfrm>
            <a:off x="786384" y="3355848"/>
            <a:ext cx="3154680" cy="457200"/>
          </a:xfrm>
          <a:prstGeom prst="rect">
            <a:avLst/>
          </a:prstGeom>
          <a:noFill/>
          <a:ln/>
        </p:spPr>
        <p:txBody>
          <a:bodyPr wrap="square" lIns="0" tIns="0" rIns="0" bIns="0" rtlCol="0" anchor="ctr"/>
          <a:lstStyle/>
          <a:p>
            <a:pPr marL="0" indent="0" algn="l">
              <a:buNone/>
            </a:pPr>
            <a:r>
              <a:rPr lang="en-US" sz="950" i="1" dirty="0">
                <a:solidFill>
                  <a:srgbClr val="E74C3C"/>
                </a:solidFill>
                <a:latin typeface="Courier New" pitchFamily="34" charset="0"/>
                <a:ea typeface="Courier New" pitchFamily="34" charset="-122"/>
                <a:cs typeface="Courier New" pitchFamily="34" charset="-120"/>
              </a:rPr>
              <a:t>"The defendant deliberately deleted the files to conceal the fraud."</a:t>
            </a:r>
            <a:endParaRPr lang="en-US" sz="950" dirty="0"/>
          </a:p>
        </p:txBody>
      </p:sp>
      <p:sp>
        <p:nvSpPr>
          <p:cNvPr id="25" name="Shape 22"/>
          <p:cNvSpPr/>
          <p:nvPr/>
        </p:nvSpPr>
        <p:spPr>
          <a:xfrm>
            <a:off x="4005072" y="3090672"/>
            <a:ext cx="36576" cy="749808"/>
          </a:xfrm>
          <a:prstGeom prst="rect">
            <a:avLst/>
          </a:prstGeom>
          <a:solidFill>
            <a:srgbClr val="F1F5F9"/>
          </a:solidFill>
          <a:ln w="12700">
            <a:solidFill>
              <a:srgbClr val="F1F5F9"/>
            </a:solidFill>
            <a:prstDash val="solid"/>
          </a:ln>
        </p:spPr>
        <p:txBody>
          <a:bodyPr/>
          <a:lstStyle/>
          <a:p>
            <a:endParaRPr lang="en-SG"/>
          </a:p>
        </p:txBody>
      </p:sp>
      <p:sp>
        <p:nvSpPr>
          <p:cNvPr id="26" name="Text 23"/>
          <p:cNvSpPr/>
          <p:nvPr/>
        </p:nvSpPr>
        <p:spPr>
          <a:xfrm>
            <a:off x="4133088" y="3081528"/>
            <a:ext cx="4645152" cy="786384"/>
          </a:xfrm>
          <a:prstGeom prst="rect">
            <a:avLst/>
          </a:prstGeom>
          <a:noFill/>
          <a:ln/>
        </p:spPr>
        <p:txBody>
          <a:bodyPr wrap="square" lIns="0" tIns="0" rIns="0" bIns="0" rtlCol="0" anchor="ctr"/>
          <a:lstStyle/>
          <a:p>
            <a:pPr marL="0" indent="0" algn="l">
              <a:buNone/>
            </a:pPr>
            <a:r>
              <a:rPr lang="en-US" sz="1150" dirty="0">
                <a:solidFill>
                  <a:srgbClr val="1A1A2E"/>
                </a:solidFill>
                <a:latin typeface="Calibri" pitchFamily="34" charset="0"/>
                <a:ea typeface="Calibri" pitchFamily="34" charset="-122"/>
                <a:cs typeface="Calibri" pitchFamily="34" charset="-120"/>
              </a:rPr>
              <a:t>The examiner cannot know intent. Correct: 'The files were deleted on 10 Mar 2025. This is consistent with deliberate removal — I cannot exclude other explanations such as automated cleanup.'</a:t>
            </a:r>
            <a:endParaRPr lang="en-US" sz="1150" dirty="0"/>
          </a:p>
        </p:txBody>
      </p:sp>
      <p:sp>
        <p:nvSpPr>
          <p:cNvPr id="27" name="Shape 24"/>
          <p:cNvSpPr/>
          <p:nvPr/>
        </p:nvSpPr>
        <p:spPr>
          <a:xfrm>
            <a:off x="274320" y="4023360"/>
            <a:ext cx="8595360" cy="896112"/>
          </a:xfrm>
          <a:prstGeom prst="rect">
            <a:avLst/>
          </a:prstGeom>
          <a:solidFill>
            <a:srgbClr val="EEF6FB"/>
          </a:solidFill>
          <a:ln w="12700">
            <a:solidFill>
              <a:srgbClr val="EEF6FB"/>
            </a:solidFill>
            <a:prstDash val="solid"/>
          </a:ln>
          <a:effectLst>
            <a:outerShdw blurRad="76200" dist="25400" dir="8100000" algn="bl" rotWithShape="0">
              <a:srgbClr val="000000">
                <a:alpha val="25000"/>
              </a:srgbClr>
            </a:outerShdw>
          </a:effectLst>
        </p:spPr>
        <p:txBody>
          <a:bodyPr/>
          <a:lstStyle/>
          <a:p>
            <a:endParaRPr lang="en-SG"/>
          </a:p>
        </p:txBody>
      </p:sp>
      <p:sp>
        <p:nvSpPr>
          <p:cNvPr id="28" name="Shape 25"/>
          <p:cNvSpPr/>
          <p:nvPr/>
        </p:nvSpPr>
        <p:spPr>
          <a:xfrm>
            <a:off x="274320" y="4023360"/>
            <a:ext cx="384048" cy="896112"/>
          </a:xfrm>
          <a:prstGeom prst="rect">
            <a:avLst/>
          </a:prstGeom>
          <a:solidFill>
            <a:srgbClr val="00A8A8"/>
          </a:solidFill>
          <a:ln w="12700">
            <a:solidFill>
              <a:srgbClr val="00A8A8"/>
            </a:solidFill>
            <a:prstDash val="solid"/>
          </a:ln>
        </p:spPr>
        <p:txBody>
          <a:bodyPr/>
          <a:lstStyle/>
          <a:p>
            <a:endParaRPr lang="en-SG"/>
          </a:p>
        </p:txBody>
      </p:sp>
      <p:sp>
        <p:nvSpPr>
          <p:cNvPr id="29" name="Text 26"/>
          <p:cNvSpPr/>
          <p:nvPr/>
        </p:nvSpPr>
        <p:spPr>
          <a:xfrm>
            <a:off x="274320" y="4023360"/>
            <a:ext cx="384048" cy="896112"/>
          </a:xfrm>
          <a:prstGeom prst="rect">
            <a:avLst/>
          </a:prstGeom>
          <a:noFill/>
          <a:ln/>
        </p:spPr>
        <p:txBody>
          <a:bodyPr wrap="square" lIns="0" tIns="0" rIns="0" bIns="0" rtlCol="0" anchor="ctr"/>
          <a:lstStyle/>
          <a:p>
            <a:pPr marL="0" indent="0" algn="ctr">
              <a:buNone/>
            </a:pPr>
            <a:r>
              <a:rPr lang="en-US" sz="2200" b="1" dirty="0">
                <a:solidFill>
                  <a:srgbClr val="0D1B2A"/>
                </a:solidFill>
                <a:latin typeface="Trebuchet MS" pitchFamily="34" charset="0"/>
                <a:ea typeface="Trebuchet MS" pitchFamily="34" charset="-122"/>
                <a:cs typeface="Trebuchet MS" pitchFamily="34" charset="-120"/>
              </a:rPr>
              <a:t>D</a:t>
            </a:r>
            <a:endParaRPr lang="en-US" sz="2200" dirty="0"/>
          </a:p>
        </p:txBody>
      </p:sp>
      <p:sp>
        <p:nvSpPr>
          <p:cNvPr id="30" name="Text 27"/>
          <p:cNvSpPr/>
          <p:nvPr/>
        </p:nvSpPr>
        <p:spPr>
          <a:xfrm>
            <a:off x="786384" y="4087368"/>
            <a:ext cx="2743200" cy="256032"/>
          </a:xfrm>
          <a:prstGeom prst="rect">
            <a:avLst/>
          </a:prstGeom>
          <a:noFill/>
          <a:ln/>
        </p:spPr>
        <p:txBody>
          <a:bodyPr wrap="square" lIns="0" tIns="0" rIns="0" bIns="0" rtlCol="0" anchor="ctr"/>
          <a:lstStyle/>
          <a:p>
            <a:pPr marL="0" indent="0" algn="l">
              <a:buNone/>
            </a:pPr>
            <a:r>
              <a:rPr lang="en-US" sz="1300" b="1" dirty="0">
                <a:solidFill>
                  <a:srgbClr val="00A8A8"/>
                </a:solidFill>
                <a:latin typeface="Trebuchet MS" pitchFamily="34" charset="0"/>
                <a:ea typeface="Trebuchet MS" pitchFamily="34" charset="-122"/>
                <a:cs typeface="Trebuchet MS" pitchFamily="34" charset="-120"/>
              </a:rPr>
              <a:t>Principle 2 — Precision</a:t>
            </a:r>
            <a:endParaRPr lang="en-US" sz="1300" dirty="0"/>
          </a:p>
        </p:txBody>
      </p:sp>
      <p:sp>
        <p:nvSpPr>
          <p:cNvPr id="31" name="Text 28"/>
          <p:cNvSpPr/>
          <p:nvPr/>
        </p:nvSpPr>
        <p:spPr>
          <a:xfrm>
            <a:off x="786384" y="4361688"/>
            <a:ext cx="3154680" cy="457200"/>
          </a:xfrm>
          <a:prstGeom prst="rect">
            <a:avLst/>
          </a:prstGeom>
          <a:noFill/>
          <a:ln/>
        </p:spPr>
        <p:txBody>
          <a:bodyPr wrap="square" lIns="0" tIns="0" rIns="0" bIns="0" rtlCol="0" anchor="ctr"/>
          <a:lstStyle/>
          <a:p>
            <a:pPr marL="0" indent="0" algn="l">
              <a:buNone/>
            </a:pPr>
            <a:r>
              <a:rPr lang="en-US" sz="950" i="1" dirty="0">
                <a:solidFill>
                  <a:srgbClr val="E74C3C"/>
                </a:solidFill>
                <a:latin typeface="Courier New" pitchFamily="34" charset="0"/>
                <a:ea typeface="Courier New" pitchFamily="34" charset="-122"/>
                <a:cs typeface="Courier New" pitchFamily="34" charset="-120"/>
              </a:rPr>
              <a:t>"The file was modified recently and may have been accessed multiple times."</a:t>
            </a:r>
            <a:endParaRPr lang="en-US" sz="950" dirty="0"/>
          </a:p>
        </p:txBody>
      </p:sp>
      <p:sp>
        <p:nvSpPr>
          <p:cNvPr id="32" name="Shape 29"/>
          <p:cNvSpPr/>
          <p:nvPr/>
        </p:nvSpPr>
        <p:spPr>
          <a:xfrm>
            <a:off x="4005072" y="4096512"/>
            <a:ext cx="36576" cy="749808"/>
          </a:xfrm>
          <a:prstGeom prst="rect">
            <a:avLst/>
          </a:prstGeom>
          <a:solidFill>
            <a:srgbClr val="F1F5F9"/>
          </a:solidFill>
          <a:ln w="12700">
            <a:solidFill>
              <a:srgbClr val="F1F5F9"/>
            </a:solidFill>
            <a:prstDash val="solid"/>
          </a:ln>
        </p:spPr>
        <p:txBody>
          <a:bodyPr/>
          <a:lstStyle/>
          <a:p>
            <a:endParaRPr lang="en-SG"/>
          </a:p>
        </p:txBody>
      </p:sp>
      <p:sp>
        <p:nvSpPr>
          <p:cNvPr id="33" name="Text 30"/>
          <p:cNvSpPr/>
          <p:nvPr/>
        </p:nvSpPr>
        <p:spPr>
          <a:xfrm>
            <a:off x="4133088" y="4087368"/>
            <a:ext cx="4645152" cy="786384"/>
          </a:xfrm>
          <a:prstGeom prst="rect">
            <a:avLst/>
          </a:prstGeom>
          <a:noFill/>
          <a:ln/>
        </p:spPr>
        <p:txBody>
          <a:bodyPr wrap="square" lIns="0" tIns="0" rIns="0" bIns="0" rtlCol="0" anchor="ctr"/>
          <a:lstStyle/>
          <a:p>
            <a:pPr marL="0" indent="0" algn="l">
              <a:buNone/>
            </a:pPr>
            <a:r>
              <a:rPr lang="en-US" sz="1150" dirty="0">
                <a:solidFill>
                  <a:srgbClr val="1A1A2E"/>
                </a:solidFill>
                <a:latin typeface="Calibri" pitchFamily="34" charset="0"/>
                <a:ea typeface="Calibri" pitchFamily="34" charset="-122"/>
                <a:cs typeface="Calibri" pitchFamily="34" charset="-120"/>
              </a:rPr>
              <a:t>'Recently' and 'multiple times' are vague. Correct: 'File modified 10 Mar 2025 at 14:32:17 UTC per $STANDARD_INFORMATION. Access count: 4 per Prefetch record, Exhibit B-2.'</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0A8A8"/>
          </a:solidFill>
          <a:ln w="12700">
            <a:solidFill>
              <a:srgbClr val="00A8A8"/>
            </a:solidFill>
            <a:prstDash val="solid"/>
          </a:ln>
        </p:spPr>
        <p:txBody>
          <a:bodyPr/>
          <a:lstStyle/>
          <a:p>
            <a:endParaRPr lang="en-SG"/>
          </a:p>
        </p:txBody>
      </p:sp>
      <p:sp>
        <p:nvSpPr>
          <p:cNvPr id="3" name="Text 1"/>
          <p:cNvSpPr/>
          <p:nvPr/>
        </p:nvSpPr>
        <p:spPr>
          <a:xfrm>
            <a:off x="365760" y="164592"/>
            <a:ext cx="8412480" cy="594360"/>
          </a:xfrm>
          <a:prstGeom prst="rect">
            <a:avLst/>
          </a:prstGeom>
          <a:noFill/>
          <a:ln/>
        </p:spPr>
        <p:txBody>
          <a:bodyPr wrap="square" lIns="0" tIns="0" rIns="0" bIns="0" rtlCol="0" anchor="ctr"/>
          <a:lstStyle/>
          <a:p>
            <a:pPr marL="0" indent="0" algn="l">
              <a:buNone/>
            </a:pPr>
            <a:r>
              <a:rPr lang="en-US" sz="2800" b="1" dirty="0">
                <a:solidFill>
                  <a:srgbClr val="1A1A2E"/>
                </a:solidFill>
                <a:latin typeface="Trebuchet MS" pitchFamily="34" charset="0"/>
                <a:ea typeface="Trebuchet MS" pitchFamily="34" charset="-122"/>
                <a:cs typeface="Trebuchet MS" pitchFamily="34" charset="-120"/>
              </a:rPr>
              <a:t>Lesson Summary — Key Takeaways</a:t>
            </a:r>
            <a:endParaRPr lang="en-US" sz="2800" dirty="0"/>
          </a:p>
        </p:txBody>
      </p:sp>
      <p:sp>
        <p:nvSpPr>
          <p:cNvPr id="4" name="Text 2"/>
          <p:cNvSpPr/>
          <p:nvPr/>
        </p:nvSpPr>
        <p:spPr>
          <a:xfrm>
            <a:off x="365760" y="786384"/>
            <a:ext cx="8412480" cy="228600"/>
          </a:xfrm>
          <a:prstGeom prst="rect">
            <a:avLst/>
          </a:prstGeom>
          <a:noFill/>
          <a:ln/>
        </p:spPr>
        <p:txBody>
          <a:bodyPr wrap="square" lIns="0" tIns="0" rIns="0" bIns="0" rtlCol="0" anchor="ctr"/>
          <a:lstStyle/>
          <a:p>
            <a:pPr marL="0" indent="0" algn="l">
              <a:buNone/>
            </a:pPr>
            <a:r>
              <a:rPr lang="en-US" sz="1100" i="1" dirty="0">
                <a:solidFill>
                  <a:srgbClr val="00A8A8"/>
                </a:solidFill>
                <a:latin typeface="Calibri" pitchFamily="34" charset="0"/>
                <a:ea typeface="Calibri" pitchFamily="34" charset="-122"/>
                <a:cs typeface="Calibri" pitchFamily="34" charset="-120"/>
              </a:rPr>
              <a:t>Before you leave: can you explain each of these points without looking at your notes?</a:t>
            </a:r>
            <a:endParaRPr lang="en-US" sz="1100" dirty="0"/>
          </a:p>
        </p:txBody>
      </p:sp>
      <p:sp>
        <p:nvSpPr>
          <p:cNvPr id="5" name="Shape 3"/>
          <p:cNvSpPr/>
          <p:nvPr/>
        </p:nvSpPr>
        <p:spPr>
          <a:xfrm>
            <a:off x="274320" y="1051560"/>
            <a:ext cx="4224528" cy="1188720"/>
          </a:xfrm>
          <a:prstGeom prst="rect">
            <a:avLst/>
          </a:prstGeom>
          <a:solidFill>
            <a:srgbClr val="EEF6FB"/>
          </a:solidFill>
          <a:ln w="12700">
            <a:solidFill>
              <a:srgbClr val="EEF6FB"/>
            </a:solidFill>
            <a:prstDash val="solid"/>
          </a:ln>
          <a:effectLst>
            <a:outerShdw blurRad="76200" dist="25400" dir="8100000" algn="bl" rotWithShape="0">
              <a:srgbClr val="000000">
                <a:alpha val="25000"/>
              </a:srgbClr>
            </a:outerShdw>
          </a:effectLst>
        </p:spPr>
        <p:txBody>
          <a:bodyPr/>
          <a:lstStyle/>
          <a:p>
            <a:endParaRPr lang="en-SG"/>
          </a:p>
        </p:txBody>
      </p:sp>
      <p:sp>
        <p:nvSpPr>
          <p:cNvPr id="6" name="Shape 4"/>
          <p:cNvSpPr/>
          <p:nvPr/>
        </p:nvSpPr>
        <p:spPr>
          <a:xfrm>
            <a:off x="274320" y="1051560"/>
            <a:ext cx="502920" cy="1188720"/>
          </a:xfrm>
          <a:prstGeom prst="rect">
            <a:avLst/>
          </a:prstGeom>
          <a:solidFill>
            <a:srgbClr val="3A86FF"/>
          </a:solidFill>
          <a:ln w="12700">
            <a:solidFill>
              <a:srgbClr val="3A86FF"/>
            </a:solidFill>
            <a:prstDash val="solid"/>
          </a:ln>
        </p:spPr>
        <p:txBody>
          <a:bodyPr/>
          <a:lstStyle/>
          <a:p>
            <a:endParaRPr lang="en-SG"/>
          </a:p>
        </p:txBody>
      </p:sp>
      <p:sp>
        <p:nvSpPr>
          <p:cNvPr id="7" name="Text 5"/>
          <p:cNvSpPr/>
          <p:nvPr/>
        </p:nvSpPr>
        <p:spPr>
          <a:xfrm>
            <a:off x="274320" y="1051560"/>
            <a:ext cx="502920" cy="1188720"/>
          </a:xfrm>
          <a:prstGeom prst="rect">
            <a:avLst/>
          </a:prstGeom>
          <a:noFill/>
          <a:ln/>
        </p:spPr>
        <p:txBody>
          <a:bodyPr wrap="square" lIns="0" tIns="0" rIns="0" bIns="0" rtlCol="0" anchor="ctr"/>
          <a:lstStyle/>
          <a:p>
            <a:pPr marL="0" indent="0" algn="ctr">
              <a:buNone/>
            </a:pPr>
            <a:r>
              <a:rPr lang="en-US" sz="2000" b="1" dirty="0">
                <a:solidFill>
                  <a:srgbClr val="0D1B2A"/>
                </a:solidFill>
                <a:latin typeface="Trebuchet MS" pitchFamily="34" charset="0"/>
                <a:ea typeface="Trebuchet MS" pitchFamily="34" charset="-122"/>
                <a:cs typeface="Trebuchet MS" pitchFamily="34" charset="-120"/>
              </a:rPr>
              <a:t>01</a:t>
            </a:r>
            <a:endParaRPr lang="en-US" sz="2000" dirty="0"/>
          </a:p>
        </p:txBody>
      </p:sp>
      <p:sp>
        <p:nvSpPr>
          <p:cNvPr id="8" name="Text 6"/>
          <p:cNvSpPr/>
          <p:nvPr/>
        </p:nvSpPr>
        <p:spPr>
          <a:xfrm>
            <a:off x="896112" y="1161288"/>
            <a:ext cx="3511296" cy="969264"/>
          </a:xfrm>
          <a:prstGeom prst="rect">
            <a:avLst/>
          </a:prstGeom>
          <a:noFill/>
          <a:ln/>
        </p:spPr>
        <p:txBody>
          <a:bodyPr wrap="square" lIns="0" tIns="0" rIns="0" bIns="0" rtlCol="0" anchor="ctr"/>
          <a:lstStyle/>
          <a:p>
            <a:pPr marL="0" indent="0" algn="l">
              <a:buNone/>
            </a:pPr>
            <a:r>
              <a:rPr lang="en-US" sz="1300" dirty="0">
                <a:solidFill>
                  <a:srgbClr val="1A1A2E"/>
                </a:solidFill>
                <a:latin typeface="Calibri" pitchFamily="34" charset="0"/>
                <a:ea typeface="Calibri" pitchFamily="34" charset="-122"/>
                <a:cs typeface="Calibri" pitchFamily="34" charset="-120"/>
              </a:rPr>
              <a:t>Forensic reports must be accurate, unbiased, and defensible — poor reporting can destroy an otherwise solid investigation</a:t>
            </a:r>
            <a:endParaRPr lang="en-US" sz="1300" dirty="0"/>
          </a:p>
        </p:txBody>
      </p:sp>
      <p:sp>
        <p:nvSpPr>
          <p:cNvPr id="9" name="Shape 7"/>
          <p:cNvSpPr/>
          <p:nvPr/>
        </p:nvSpPr>
        <p:spPr>
          <a:xfrm>
            <a:off x="274320" y="2359152"/>
            <a:ext cx="4224528" cy="1188720"/>
          </a:xfrm>
          <a:prstGeom prst="rect">
            <a:avLst/>
          </a:prstGeom>
          <a:solidFill>
            <a:srgbClr val="EEF6FB"/>
          </a:solidFill>
          <a:ln w="12700">
            <a:solidFill>
              <a:srgbClr val="EEF6FB"/>
            </a:solidFill>
            <a:prstDash val="solid"/>
          </a:ln>
          <a:effectLst>
            <a:outerShdw blurRad="76200" dist="25400" dir="8100000" algn="bl" rotWithShape="0">
              <a:srgbClr val="000000">
                <a:alpha val="25000"/>
              </a:srgbClr>
            </a:outerShdw>
          </a:effectLst>
        </p:spPr>
        <p:txBody>
          <a:bodyPr/>
          <a:lstStyle/>
          <a:p>
            <a:endParaRPr lang="en-SG"/>
          </a:p>
        </p:txBody>
      </p:sp>
      <p:sp>
        <p:nvSpPr>
          <p:cNvPr id="10" name="Shape 8"/>
          <p:cNvSpPr/>
          <p:nvPr/>
        </p:nvSpPr>
        <p:spPr>
          <a:xfrm>
            <a:off x="274320" y="2359152"/>
            <a:ext cx="502920" cy="1188720"/>
          </a:xfrm>
          <a:prstGeom prst="rect">
            <a:avLst/>
          </a:prstGeom>
          <a:solidFill>
            <a:srgbClr val="00A8A8"/>
          </a:solidFill>
          <a:ln w="12700">
            <a:solidFill>
              <a:srgbClr val="00A8A8"/>
            </a:solidFill>
            <a:prstDash val="solid"/>
          </a:ln>
        </p:spPr>
        <p:txBody>
          <a:bodyPr/>
          <a:lstStyle/>
          <a:p>
            <a:endParaRPr lang="en-SG"/>
          </a:p>
        </p:txBody>
      </p:sp>
      <p:sp>
        <p:nvSpPr>
          <p:cNvPr id="11" name="Text 9"/>
          <p:cNvSpPr/>
          <p:nvPr/>
        </p:nvSpPr>
        <p:spPr>
          <a:xfrm>
            <a:off x="274320" y="2359152"/>
            <a:ext cx="502920" cy="1188720"/>
          </a:xfrm>
          <a:prstGeom prst="rect">
            <a:avLst/>
          </a:prstGeom>
          <a:noFill/>
          <a:ln/>
        </p:spPr>
        <p:txBody>
          <a:bodyPr wrap="square" lIns="0" tIns="0" rIns="0" bIns="0" rtlCol="0" anchor="ctr"/>
          <a:lstStyle/>
          <a:p>
            <a:pPr marL="0" indent="0" algn="ctr">
              <a:buNone/>
            </a:pPr>
            <a:r>
              <a:rPr lang="en-US" sz="2000" b="1" dirty="0">
                <a:solidFill>
                  <a:srgbClr val="0D1B2A"/>
                </a:solidFill>
                <a:latin typeface="Trebuchet MS" pitchFamily="34" charset="0"/>
                <a:ea typeface="Trebuchet MS" pitchFamily="34" charset="-122"/>
                <a:cs typeface="Trebuchet MS" pitchFamily="34" charset="-120"/>
              </a:rPr>
              <a:t>02</a:t>
            </a:r>
            <a:endParaRPr lang="en-US" sz="2000" dirty="0"/>
          </a:p>
        </p:txBody>
      </p:sp>
      <p:sp>
        <p:nvSpPr>
          <p:cNvPr id="12" name="Text 10"/>
          <p:cNvSpPr/>
          <p:nvPr/>
        </p:nvSpPr>
        <p:spPr>
          <a:xfrm>
            <a:off x="896112" y="2468880"/>
            <a:ext cx="3511296" cy="969264"/>
          </a:xfrm>
          <a:prstGeom prst="rect">
            <a:avLst/>
          </a:prstGeom>
          <a:noFill/>
          <a:ln/>
        </p:spPr>
        <p:txBody>
          <a:bodyPr wrap="square" lIns="0" tIns="0" rIns="0" bIns="0" rtlCol="0" anchor="ctr"/>
          <a:lstStyle/>
          <a:p>
            <a:pPr marL="0" indent="0" algn="l">
              <a:buNone/>
            </a:pPr>
            <a:r>
              <a:rPr lang="en-US" sz="1300" dirty="0">
                <a:solidFill>
                  <a:srgbClr val="1A1A2E"/>
                </a:solidFill>
                <a:latin typeface="Calibri" pitchFamily="34" charset="0"/>
                <a:ea typeface="Calibri" pitchFamily="34" charset="-122"/>
                <a:cs typeface="Calibri" pitchFamily="34" charset="-120"/>
              </a:rPr>
              <a:t>A well-structured report has 7 sections: Executive Summary → Case Background → Methodology → Findings → Analysis → Limitations → Appendices</a:t>
            </a:r>
            <a:endParaRPr lang="en-US" sz="1300" dirty="0"/>
          </a:p>
        </p:txBody>
      </p:sp>
      <p:sp>
        <p:nvSpPr>
          <p:cNvPr id="13" name="Shape 11"/>
          <p:cNvSpPr/>
          <p:nvPr/>
        </p:nvSpPr>
        <p:spPr>
          <a:xfrm>
            <a:off x="274320" y="3666744"/>
            <a:ext cx="4224528" cy="1188720"/>
          </a:xfrm>
          <a:prstGeom prst="rect">
            <a:avLst/>
          </a:prstGeom>
          <a:solidFill>
            <a:srgbClr val="EEF6FB"/>
          </a:solidFill>
          <a:ln w="12700">
            <a:solidFill>
              <a:srgbClr val="EEF6FB"/>
            </a:solidFill>
            <a:prstDash val="solid"/>
          </a:ln>
          <a:effectLst>
            <a:outerShdw blurRad="76200" dist="25400" dir="8100000" algn="bl" rotWithShape="0">
              <a:srgbClr val="000000">
                <a:alpha val="25000"/>
              </a:srgbClr>
            </a:outerShdw>
          </a:effectLst>
        </p:spPr>
        <p:txBody>
          <a:bodyPr/>
          <a:lstStyle/>
          <a:p>
            <a:endParaRPr lang="en-SG"/>
          </a:p>
        </p:txBody>
      </p:sp>
      <p:sp>
        <p:nvSpPr>
          <p:cNvPr id="14" name="Shape 12"/>
          <p:cNvSpPr/>
          <p:nvPr/>
        </p:nvSpPr>
        <p:spPr>
          <a:xfrm>
            <a:off x="274320" y="3666744"/>
            <a:ext cx="502920" cy="1188720"/>
          </a:xfrm>
          <a:prstGeom prst="rect">
            <a:avLst/>
          </a:prstGeom>
          <a:solidFill>
            <a:srgbClr val="27AE60"/>
          </a:solidFill>
          <a:ln w="12700">
            <a:solidFill>
              <a:srgbClr val="27AE60"/>
            </a:solidFill>
            <a:prstDash val="solid"/>
          </a:ln>
        </p:spPr>
        <p:txBody>
          <a:bodyPr/>
          <a:lstStyle/>
          <a:p>
            <a:endParaRPr lang="en-SG"/>
          </a:p>
        </p:txBody>
      </p:sp>
      <p:sp>
        <p:nvSpPr>
          <p:cNvPr id="15" name="Text 13"/>
          <p:cNvSpPr/>
          <p:nvPr/>
        </p:nvSpPr>
        <p:spPr>
          <a:xfrm>
            <a:off x="274320" y="3666744"/>
            <a:ext cx="502920" cy="1188720"/>
          </a:xfrm>
          <a:prstGeom prst="rect">
            <a:avLst/>
          </a:prstGeom>
          <a:noFill/>
          <a:ln/>
        </p:spPr>
        <p:txBody>
          <a:bodyPr wrap="square" lIns="0" tIns="0" rIns="0" bIns="0" rtlCol="0" anchor="ctr"/>
          <a:lstStyle/>
          <a:p>
            <a:pPr marL="0" indent="0" algn="ctr">
              <a:buNone/>
            </a:pPr>
            <a:r>
              <a:rPr lang="en-US" sz="2000" b="1" dirty="0">
                <a:solidFill>
                  <a:srgbClr val="0D1B2A"/>
                </a:solidFill>
                <a:latin typeface="Trebuchet MS" pitchFamily="34" charset="0"/>
                <a:ea typeface="Trebuchet MS" pitchFamily="34" charset="-122"/>
                <a:cs typeface="Trebuchet MS" pitchFamily="34" charset="-120"/>
              </a:rPr>
              <a:t>03</a:t>
            </a:r>
            <a:endParaRPr lang="en-US" sz="2000" dirty="0"/>
          </a:p>
        </p:txBody>
      </p:sp>
      <p:sp>
        <p:nvSpPr>
          <p:cNvPr id="16" name="Text 14"/>
          <p:cNvSpPr/>
          <p:nvPr/>
        </p:nvSpPr>
        <p:spPr>
          <a:xfrm>
            <a:off x="896112" y="3776472"/>
            <a:ext cx="3511296" cy="969264"/>
          </a:xfrm>
          <a:prstGeom prst="rect">
            <a:avLst/>
          </a:prstGeom>
          <a:noFill/>
          <a:ln/>
        </p:spPr>
        <p:txBody>
          <a:bodyPr wrap="square" lIns="0" tIns="0" rIns="0" bIns="0" rtlCol="0" anchor="ctr"/>
          <a:lstStyle/>
          <a:p>
            <a:pPr marL="0" indent="0" algn="l">
              <a:buNone/>
            </a:pPr>
            <a:r>
              <a:rPr lang="en-US" sz="1300" dirty="0">
                <a:solidFill>
                  <a:srgbClr val="1A1A2E"/>
                </a:solidFill>
                <a:latin typeface="Calibri" pitchFamily="34" charset="0"/>
                <a:ea typeface="Calibri" pitchFamily="34" charset="-122"/>
                <a:cs typeface="Calibri" pitchFamily="34" charset="-120"/>
              </a:rPr>
              <a:t>Six writing principles govern every forensic report: Objectivity · Precision · Reproducibility · Plain Language · No Speculation · Completeness</a:t>
            </a:r>
            <a:endParaRPr lang="en-US" sz="1300" dirty="0"/>
          </a:p>
        </p:txBody>
      </p:sp>
      <p:sp>
        <p:nvSpPr>
          <p:cNvPr id="17" name="Shape 15"/>
          <p:cNvSpPr/>
          <p:nvPr/>
        </p:nvSpPr>
        <p:spPr>
          <a:xfrm>
            <a:off x="4736592" y="1051560"/>
            <a:ext cx="4224528" cy="1188720"/>
          </a:xfrm>
          <a:prstGeom prst="rect">
            <a:avLst/>
          </a:prstGeom>
          <a:solidFill>
            <a:srgbClr val="EEF6FB"/>
          </a:solidFill>
          <a:ln w="12700">
            <a:solidFill>
              <a:srgbClr val="EEF6FB"/>
            </a:solidFill>
            <a:prstDash val="solid"/>
          </a:ln>
          <a:effectLst>
            <a:outerShdw blurRad="76200" dist="25400" dir="8100000" algn="bl" rotWithShape="0">
              <a:srgbClr val="000000">
                <a:alpha val="25000"/>
              </a:srgbClr>
            </a:outerShdw>
          </a:effectLst>
        </p:spPr>
        <p:txBody>
          <a:bodyPr/>
          <a:lstStyle/>
          <a:p>
            <a:endParaRPr lang="en-SG"/>
          </a:p>
        </p:txBody>
      </p:sp>
      <p:sp>
        <p:nvSpPr>
          <p:cNvPr id="18" name="Shape 16"/>
          <p:cNvSpPr/>
          <p:nvPr/>
        </p:nvSpPr>
        <p:spPr>
          <a:xfrm>
            <a:off x="4736592" y="1051560"/>
            <a:ext cx="502920" cy="1188720"/>
          </a:xfrm>
          <a:prstGeom prst="rect">
            <a:avLst/>
          </a:prstGeom>
          <a:solidFill>
            <a:srgbClr val="F39C12"/>
          </a:solidFill>
          <a:ln w="12700">
            <a:solidFill>
              <a:srgbClr val="F39C12"/>
            </a:solidFill>
            <a:prstDash val="solid"/>
          </a:ln>
        </p:spPr>
        <p:txBody>
          <a:bodyPr/>
          <a:lstStyle/>
          <a:p>
            <a:endParaRPr lang="en-SG"/>
          </a:p>
        </p:txBody>
      </p:sp>
      <p:sp>
        <p:nvSpPr>
          <p:cNvPr id="19" name="Text 17"/>
          <p:cNvSpPr/>
          <p:nvPr/>
        </p:nvSpPr>
        <p:spPr>
          <a:xfrm>
            <a:off x="4736592" y="1051560"/>
            <a:ext cx="502920" cy="1188720"/>
          </a:xfrm>
          <a:prstGeom prst="rect">
            <a:avLst/>
          </a:prstGeom>
          <a:noFill/>
          <a:ln/>
        </p:spPr>
        <p:txBody>
          <a:bodyPr wrap="square" lIns="0" tIns="0" rIns="0" bIns="0" rtlCol="0" anchor="ctr"/>
          <a:lstStyle/>
          <a:p>
            <a:pPr marL="0" indent="0" algn="ctr">
              <a:buNone/>
            </a:pPr>
            <a:r>
              <a:rPr lang="en-US" sz="2000" b="1" dirty="0">
                <a:solidFill>
                  <a:srgbClr val="0D1B2A"/>
                </a:solidFill>
                <a:latin typeface="Trebuchet MS" pitchFamily="34" charset="0"/>
                <a:ea typeface="Trebuchet MS" pitchFamily="34" charset="-122"/>
                <a:cs typeface="Trebuchet MS" pitchFamily="34" charset="-120"/>
              </a:rPr>
              <a:t>04</a:t>
            </a:r>
            <a:endParaRPr lang="en-US" sz="2000" dirty="0"/>
          </a:p>
        </p:txBody>
      </p:sp>
      <p:sp>
        <p:nvSpPr>
          <p:cNvPr id="20" name="Text 18"/>
          <p:cNvSpPr/>
          <p:nvPr/>
        </p:nvSpPr>
        <p:spPr>
          <a:xfrm>
            <a:off x="5358384" y="1161288"/>
            <a:ext cx="3511296" cy="969264"/>
          </a:xfrm>
          <a:prstGeom prst="rect">
            <a:avLst/>
          </a:prstGeom>
          <a:noFill/>
          <a:ln/>
        </p:spPr>
        <p:txBody>
          <a:bodyPr wrap="square" lIns="0" tIns="0" rIns="0" bIns="0" rtlCol="0" anchor="ctr"/>
          <a:lstStyle/>
          <a:p>
            <a:pPr marL="0" indent="0" algn="l">
              <a:buNone/>
            </a:pPr>
            <a:r>
              <a:rPr lang="en-US" sz="1300" dirty="0">
                <a:solidFill>
                  <a:srgbClr val="1A1A2E"/>
                </a:solidFill>
                <a:latin typeface="Calibri" pitchFamily="34" charset="0"/>
                <a:ea typeface="Calibri" pitchFamily="34" charset="-122"/>
                <a:cs typeface="Calibri" pitchFamily="34" charset="-120"/>
              </a:rPr>
              <a:t>Good reports are specific, sourced, and objective. Poor reports use vague language, biased terms, and omit inconvenient findings</a:t>
            </a:r>
            <a:endParaRPr lang="en-US" sz="1300" dirty="0"/>
          </a:p>
        </p:txBody>
      </p:sp>
      <p:sp>
        <p:nvSpPr>
          <p:cNvPr id="21" name="Shape 19"/>
          <p:cNvSpPr/>
          <p:nvPr/>
        </p:nvSpPr>
        <p:spPr>
          <a:xfrm>
            <a:off x="4736592" y="2359152"/>
            <a:ext cx="4224528" cy="1188720"/>
          </a:xfrm>
          <a:prstGeom prst="rect">
            <a:avLst/>
          </a:prstGeom>
          <a:solidFill>
            <a:srgbClr val="EEF6FB"/>
          </a:solidFill>
          <a:ln w="12700">
            <a:solidFill>
              <a:srgbClr val="EEF6FB"/>
            </a:solidFill>
            <a:prstDash val="solid"/>
          </a:ln>
          <a:effectLst>
            <a:outerShdw blurRad="76200" dist="25400" dir="8100000" algn="bl" rotWithShape="0">
              <a:srgbClr val="000000">
                <a:alpha val="25000"/>
              </a:srgbClr>
            </a:outerShdw>
          </a:effectLst>
        </p:spPr>
        <p:txBody>
          <a:bodyPr/>
          <a:lstStyle/>
          <a:p>
            <a:endParaRPr lang="en-SG"/>
          </a:p>
        </p:txBody>
      </p:sp>
      <p:sp>
        <p:nvSpPr>
          <p:cNvPr id="22" name="Shape 20"/>
          <p:cNvSpPr/>
          <p:nvPr/>
        </p:nvSpPr>
        <p:spPr>
          <a:xfrm>
            <a:off x="4736592" y="2359152"/>
            <a:ext cx="502920" cy="1188720"/>
          </a:xfrm>
          <a:prstGeom prst="rect">
            <a:avLst/>
          </a:prstGeom>
          <a:solidFill>
            <a:srgbClr val="F0B429"/>
          </a:solidFill>
          <a:ln w="12700">
            <a:solidFill>
              <a:srgbClr val="F0B429"/>
            </a:solidFill>
            <a:prstDash val="solid"/>
          </a:ln>
        </p:spPr>
        <p:txBody>
          <a:bodyPr/>
          <a:lstStyle/>
          <a:p>
            <a:endParaRPr lang="en-SG"/>
          </a:p>
        </p:txBody>
      </p:sp>
      <p:sp>
        <p:nvSpPr>
          <p:cNvPr id="23" name="Text 21"/>
          <p:cNvSpPr/>
          <p:nvPr/>
        </p:nvSpPr>
        <p:spPr>
          <a:xfrm>
            <a:off x="4736592" y="2359152"/>
            <a:ext cx="502920" cy="1188720"/>
          </a:xfrm>
          <a:prstGeom prst="rect">
            <a:avLst/>
          </a:prstGeom>
          <a:noFill/>
          <a:ln/>
        </p:spPr>
        <p:txBody>
          <a:bodyPr wrap="square" lIns="0" tIns="0" rIns="0" bIns="0" rtlCol="0" anchor="ctr"/>
          <a:lstStyle/>
          <a:p>
            <a:pPr marL="0" indent="0" algn="ctr">
              <a:buNone/>
            </a:pPr>
            <a:r>
              <a:rPr lang="en-US" sz="2000" b="1" dirty="0">
                <a:solidFill>
                  <a:srgbClr val="0D1B2A"/>
                </a:solidFill>
                <a:latin typeface="Trebuchet MS" pitchFamily="34" charset="0"/>
                <a:ea typeface="Trebuchet MS" pitchFamily="34" charset="-122"/>
                <a:cs typeface="Trebuchet MS" pitchFamily="34" charset="-120"/>
              </a:rPr>
              <a:t>05</a:t>
            </a:r>
            <a:endParaRPr lang="en-US" sz="2000" dirty="0"/>
          </a:p>
        </p:txBody>
      </p:sp>
      <p:sp>
        <p:nvSpPr>
          <p:cNvPr id="24" name="Text 22"/>
          <p:cNvSpPr/>
          <p:nvPr/>
        </p:nvSpPr>
        <p:spPr>
          <a:xfrm>
            <a:off x="5358384" y="2468880"/>
            <a:ext cx="3511296" cy="969264"/>
          </a:xfrm>
          <a:prstGeom prst="rect">
            <a:avLst/>
          </a:prstGeom>
          <a:noFill/>
          <a:ln/>
        </p:spPr>
        <p:txBody>
          <a:bodyPr wrap="square" lIns="0" tIns="0" rIns="0" bIns="0" rtlCol="0" anchor="ctr"/>
          <a:lstStyle/>
          <a:p>
            <a:pPr marL="0" indent="0" algn="l">
              <a:buNone/>
            </a:pPr>
            <a:r>
              <a:rPr lang="en-US" sz="1300" dirty="0">
                <a:solidFill>
                  <a:srgbClr val="1A1A2E"/>
                </a:solidFill>
                <a:latin typeface="Calibri" pitchFamily="34" charset="0"/>
                <a:ea typeface="Calibri" pitchFamily="34" charset="-122"/>
                <a:cs typeface="Calibri" pitchFamily="34" charset="-120"/>
              </a:rPr>
              <a:t>The expert witness's primary duty is to the COURT — not to the instructing party. Objectivity is non-negotiable, even if findings hurt your client's case</a:t>
            </a:r>
            <a:endParaRPr lang="en-US" sz="1300" dirty="0"/>
          </a:p>
        </p:txBody>
      </p:sp>
      <p:sp>
        <p:nvSpPr>
          <p:cNvPr id="25" name="Shape 23"/>
          <p:cNvSpPr/>
          <p:nvPr/>
        </p:nvSpPr>
        <p:spPr>
          <a:xfrm>
            <a:off x="4736592" y="3666744"/>
            <a:ext cx="4224528" cy="1188720"/>
          </a:xfrm>
          <a:prstGeom prst="rect">
            <a:avLst/>
          </a:prstGeom>
          <a:solidFill>
            <a:srgbClr val="EEF6FB"/>
          </a:solidFill>
          <a:ln w="12700">
            <a:solidFill>
              <a:srgbClr val="EEF6FB"/>
            </a:solidFill>
            <a:prstDash val="solid"/>
          </a:ln>
          <a:effectLst>
            <a:outerShdw blurRad="76200" dist="25400" dir="8100000" algn="bl" rotWithShape="0">
              <a:srgbClr val="000000">
                <a:alpha val="25000"/>
              </a:srgbClr>
            </a:outerShdw>
          </a:effectLst>
        </p:spPr>
        <p:txBody>
          <a:bodyPr/>
          <a:lstStyle/>
          <a:p>
            <a:endParaRPr lang="en-SG"/>
          </a:p>
        </p:txBody>
      </p:sp>
      <p:sp>
        <p:nvSpPr>
          <p:cNvPr id="26" name="Shape 24"/>
          <p:cNvSpPr/>
          <p:nvPr/>
        </p:nvSpPr>
        <p:spPr>
          <a:xfrm>
            <a:off x="4736592" y="3666744"/>
            <a:ext cx="502920" cy="1188720"/>
          </a:xfrm>
          <a:prstGeom prst="rect">
            <a:avLst/>
          </a:prstGeom>
          <a:solidFill>
            <a:srgbClr val="00A8A8"/>
          </a:solidFill>
          <a:ln w="12700">
            <a:solidFill>
              <a:srgbClr val="00A8A8"/>
            </a:solidFill>
            <a:prstDash val="solid"/>
          </a:ln>
        </p:spPr>
        <p:txBody>
          <a:bodyPr/>
          <a:lstStyle/>
          <a:p>
            <a:endParaRPr lang="en-SG"/>
          </a:p>
        </p:txBody>
      </p:sp>
      <p:sp>
        <p:nvSpPr>
          <p:cNvPr id="27" name="Text 25"/>
          <p:cNvSpPr/>
          <p:nvPr/>
        </p:nvSpPr>
        <p:spPr>
          <a:xfrm>
            <a:off x="4736592" y="3666744"/>
            <a:ext cx="502920" cy="1188720"/>
          </a:xfrm>
          <a:prstGeom prst="rect">
            <a:avLst/>
          </a:prstGeom>
          <a:noFill/>
          <a:ln/>
        </p:spPr>
        <p:txBody>
          <a:bodyPr wrap="square" lIns="0" tIns="0" rIns="0" bIns="0" rtlCol="0" anchor="ctr"/>
          <a:lstStyle/>
          <a:p>
            <a:pPr marL="0" indent="0" algn="ctr">
              <a:buNone/>
            </a:pPr>
            <a:r>
              <a:rPr lang="en-US" sz="2000" b="1" dirty="0">
                <a:solidFill>
                  <a:srgbClr val="0D1B2A"/>
                </a:solidFill>
                <a:latin typeface="Trebuchet MS" pitchFamily="34" charset="0"/>
                <a:ea typeface="Trebuchet MS" pitchFamily="34" charset="-122"/>
                <a:cs typeface="Trebuchet MS" pitchFamily="34" charset="-120"/>
              </a:rPr>
              <a:t>06</a:t>
            </a:r>
            <a:endParaRPr lang="en-US" sz="2000" dirty="0"/>
          </a:p>
        </p:txBody>
      </p:sp>
      <p:sp>
        <p:nvSpPr>
          <p:cNvPr id="28" name="Text 26"/>
          <p:cNvSpPr/>
          <p:nvPr/>
        </p:nvSpPr>
        <p:spPr>
          <a:xfrm>
            <a:off x="5358384" y="3776472"/>
            <a:ext cx="3511296" cy="969264"/>
          </a:xfrm>
          <a:prstGeom prst="rect">
            <a:avLst/>
          </a:prstGeom>
          <a:noFill/>
          <a:ln/>
        </p:spPr>
        <p:txBody>
          <a:bodyPr wrap="square" lIns="0" tIns="0" rIns="0" bIns="0" rtlCol="0" anchor="ctr"/>
          <a:lstStyle/>
          <a:p>
            <a:pPr marL="0" indent="0" algn="l">
              <a:buNone/>
            </a:pPr>
            <a:r>
              <a:rPr lang="en-US" sz="1300" dirty="0">
                <a:solidFill>
                  <a:srgbClr val="1A1A2E"/>
                </a:solidFill>
                <a:latin typeface="Calibri" pitchFamily="34" charset="0"/>
                <a:ea typeface="Calibri" pitchFamily="34" charset="-122"/>
                <a:cs typeface="Calibri" pitchFamily="34" charset="-120"/>
              </a:rPr>
              <a:t>Every claim you make in court must trace to your documented methodology and a specific forensic artefact — accuracy is not optional</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474720" cy="5143500"/>
          </a:xfrm>
          <a:prstGeom prst="rect">
            <a:avLst/>
          </a:prstGeom>
          <a:solidFill>
            <a:srgbClr val="00A8A8"/>
          </a:solidFill>
          <a:ln w="12700">
            <a:solidFill>
              <a:srgbClr val="00A8A8"/>
            </a:solidFill>
            <a:prstDash val="solid"/>
          </a:ln>
        </p:spPr>
        <p:txBody>
          <a:bodyPr/>
          <a:lstStyle/>
          <a:p>
            <a:endParaRPr lang="en-SG"/>
          </a:p>
        </p:txBody>
      </p:sp>
      <p:pic>
        <p:nvPicPr>
          <p:cNvPr id="3" name="Image 0" descr="preencoded.png"/>
          <p:cNvPicPr>
            <a:picLocks noChangeAspect="1"/>
          </p:cNvPicPr>
          <p:nvPr/>
        </p:nvPicPr>
        <p:blipFill>
          <a:blip r:embed="rId3"/>
          <a:stretch>
            <a:fillRect/>
          </a:stretch>
        </p:blipFill>
        <p:spPr>
          <a:xfrm>
            <a:off x="1097280" y="640080"/>
            <a:ext cx="1280160" cy="1280160"/>
          </a:xfrm>
          <a:prstGeom prst="rect">
            <a:avLst/>
          </a:prstGeom>
        </p:spPr>
      </p:pic>
      <p:sp>
        <p:nvSpPr>
          <p:cNvPr id="4" name="Text 1"/>
          <p:cNvSpPr/>
          <p:nvPr/>
        </p:nvSpPr>
        <p:spPr>
          <a:xfrm>
            <a:off x="91440" y="2057400"/>
            <a:ext cx="3291840" cy="1005840"/>
          </a:xfrm>
          <a:prstGeom prst="rect">
            <a:avLst/>
          </a:prstGeom>
          <a:noFill/>
          <a:ln/>
        </p:spPr>
        <p:txBody>
          <a:bodyPr wrap="square" lIns="0" tIns="0" rIns="0" bIns="0" rtlCol="0" anchor="ctr"/>
          <a:lstStyle/>
          <a:p>
            <a:pPr marL="0" indent="0" algn="ctr">
              <a:buNone/>
            </a:pPr>
            <a:r>
              <a:rPr lang="en-US" sz="2800" b="1" dirty="0">
                <a:solidFill>
                  <a:srgbClr val="0D1B2A"/>
                </a:solidFill>
                <a:latin typeface="Trebuchet MS" pitchFamily="34" charset="0"/>
                <a:ea typeface="Trebuchet MS" pitchFamily="34" charset="-122"/>
                <a:cs typeface="Trebuchet MS" pitchFamily="34" charset="-120"/>
              </a:rPr>
              <a:t>END OF</a:t>
            </a:r>
            <a:endParaRPr lang="en-US" sz="2800" dirty="0"/>
          </a:p>
          <a:p>
            <a:pPr marL="0" indent="0" algn="ctr">
              <a:buNone/>
            </a:pPr>
            <a:r>
              <a:rPr lang="en-US" sz="2800" b="1" dirty="0">
                <a:solidFill>
                  <a:srgbClr val="0D1B2A"/>
                </a:solidFill>
                <a:latin typeface="Trebuchet MS" pitchFamily="34" charset="0"/>
                <a:ea typeface="Trebuchet MS" pitchFamily="34" charset="-122"/>
                <a:cs typeface="Trebuchet MS" pitchFamily="34" charset="-120"/>
              </a:rPr>
              <a:t>LESSON 08</a:t>
            </a:r>
            <a:endParaRPr lang="en-US" sz="2800" dirty="0"/>
          </a:p>
        </p:txBody>
      </p:sp>
      <p:sp>
        <p:nvSpPr>
          <p:cNvPr id="5" name="Text 2"/>
          <p:cNvSpPr/>
          <p:nvPr/>
        </p:nvSpPr>
        <p:spPr>
          <a:xfrm>
            <a:off x="91440" y="3127248"/>
            <a:ext cx="3291840" cy="347472"/>
          </a:xfrm>
          <a:prstGeom prst="rect">
            <a:avLst/>
          </a:prstGeom>
          <a:noFill/>
          <a:ln/>
        </p:spPr>
        <p:txBody>
          <a:bodyPr wrap="square" lIns="0" tIns="0" rIns="0" bIns="0" rtlCol="0" anchor="ctr"/>
          <a:lstStyle/>
          <a:p>
            <a:pPr marL="0" indent="0" algn="ctr">
              <a:buNone/>
            </a:pPr>
            <a:r>
              <a:rPr lang="en-US" sz="1500" dirty="0">
                <a:solidFill>
                  <a:srgbClr val="0D1B2A"/>
                </a:solidFill>
                <a:latin typeface="Calibri" pitchFamily="34" charset="0"/>
                <a:ea typeface="Calibri" pitchFamily="34" charset="-122"/>
                <a:cs typeface="Calibri" pitchFamily="34" charset="-120"/>
              </a:rPr>
              <a:t>Reporting</a:t>
            </a:r>
            <a:endParaRPr lang="en-US" sz="1500" dirty="0"/>
          </a:p>
        </p:txBody>
      </p:sp>
      <p:sp>
        <p:nvSpPr>
          <p:cNvPr id="6" name="Shape 3"/>
          <p:cNvSpPr/>
          <p:nvPr/>
        </p:nvSpPr>
        <p:spPr>
          <a:xfrm>
            <a:off x="365760" y="3547872"/>
            <a:ext cx="2743200" cy="36576"/>
          </a:xfrm>
          <a:prstGeom prst="rect">
            <a:avLst/>
          </a:prstGeom>
          <a:solidFill>
            <a:srgbClr val="FFFFFF"/>
          </a:solidFill>
          <a:ln w="12700">
            <a:solidFill>
              <a:srgbClr val="FFFFFF"/>
            </a:solidFill>
            <a:prstDash val="solid"/>
          </a:ln>
        </p:spPr>
        <p:txBody>
          <a:bodyPr/>
          <a:lstStyle/>
          <a:p>
            <a:endParaRPr lang="en-SG"/>
          </a:p>
        </p:txBody>
      </p:sp>
      <p:sp>
        <p:nvSpPr>
          <p:cNvPr id="7" name="Text 4"/>
          <p:cNvSpPr/>
          <p:nvPr/>
        </p:nvSpPr>
        <p:spPr>
          <a:xfrm>
            <a:off x="91440" y="3639312"/>
            <a:ext cx="3291840" cy="256032"/>
          </a:xfrm>
          <a:prstGeom prst="rect">
            <a:avLst/>
          </a:prstGeom>
          <a:noFill/>
          <a:ln/>
        </p:spPr>
        <p:txBody>
          <a:bodyPr wrap="square" lIns="0" tIns="0" rIns="0" bIns="0" rtlCol="0" anchor="ctr"/>
          <a:lstStyle/>
          <a:p>
            <a:pPr marL="0" indent="0" algn="ctr">
              <a:buNone/>
            </a:pPr>
            <a:r>
              <a:rPr lang="en-US" sz="950" dirty="0">
                <a:solidFill>
                  <a:srgbClr val="0D1B2A"/>
                </a:solidFill>
                <a:latin typeface="Calibri" pitchFamily="34" charset="0"/>
                <a:ea typeface="Calibri" pitchFamily="34" charset="-122"/>
                <a:cs typeface="Calibri" pitchFamily="34" charset="-120"/>
              </a:rPr>
              <a:t>Forensics in Digital Security</a:t>
            </a:r>
            <a:endParaRPr lang="en-US" sz="950" dirty="0"/>
          </a:p>
        </p:txBody>
      </p:sp>
      <p:sp>
        <p:nvSpPr>
          <p:cNvPr id="8" name="Text 5"/>
          <p:cNvSpPr/>
          <p:nvPr/>
        </p:nvSpPr>
        <p:spPr>
          <a:xfrm>
            <a:off x="3749040" y="365760"/>
            <a:ext cx="5212080" cy="411480"/>
          </a:xfrm>
          <a:prstGeom prst="rect">
            <a:avLst/>
          </a:prstGeom>
          <a:noFill/>
          <a:ln/>
        </p:spPr>
        <p:txBody>
          <a:bodyPr wrap="square" lIns="0" tIns="0" rIns="0" bIns="0" rtlCol="0" anchor="ctr"/>
          <a:lstStyle/>
          <a:p>
            <a:pPr marL="0" indent="0" algn="l">
              <a:buNone/>
            </a:pPr>
            <a:r>
              <a:rPr lang="en-US" sz="2000" b="1" dirty="0">
                <a:solidFill>
                  <a:srgbClr val="00A8A8"/>
                </a:solidFill>
                <a:latin typeface="Trebuchet MS" pitchFamily="34" charset="0"/>
                <a:ea typeface="Trebuchet MS" pitchFamily="34" charset="-122"/>
                <a:cs typeface="Trebuchet MS" pitchFamily="34" charset="-120"/>
              </a:rPr>
              <a:t>References</a:t>
            </a:r>
            <a:endParaRPr lang="en-US" sz="2000" dirty="0"/>
          </a:p>
        </p:txBody>
      </p:sp>
      <p:sp>
        <p:nvSpPr>
          <p:cNvPr id="9" name="Text 6"/>
          <p:cNvSpPr/>
          <p:nvPr/>
        </p:nvSpPr>
        <p:spPr>
          <a:xfrm>
            <a:off x="3749040" y="914400"/>
            <a:ext cx="5212080" cy="594360"/>
          </a:xfrm>
          <a:prstGeom prst="rect">
            <a:avLst/>
          </a:prstGeom>
          <a:noFill/>
          <a:ln/>
        </p:spPr>
        <p:txBody>
          <a:bodyPr wrap="square" lIns="0" tIns="0" rIns="0" bIns="0" rtlCol="0" anchor="ctr"/>
          <a:lstStyle/>
          <a:p>
            <a:pPr marL="0" indent="0" algn="l">
              <a:buNone/>
            </a:pPr>
            <a:r>
              <a:rPr lang="en-US" sz="1100" dirty="0">
                <a:solidFill>
                  <a:srgbClr val="1A1A2E"/>
                </a:solidFill>
                <a:latin typeface="Calibri" pitchFamily="34" charset="0"/>
                <a:ea typeface="Calibri" pitchFamily="34" charset="-122"/>
                <a:cs typeface="Calibri" pitchFamily="34" charset="-120"/>
              </a:rPr>
              <a:t>[1]  Nelson, B., Phillips, A., &amp; Christopher, S. (2010). Guide to Computer Forensics and Investigations, 4th Ed. Cengage Learning.</a:t>
            </a:r>
            <a:endParaRPr lang="en-US" sz="1100" dirty="0"/>
          </a:p>
        </p:txBody>
      </p:sp>
      <p:sp>
        <p:nvSpPr>
          <p:cNvPr id="10" name="Text 7"/>
          <p:cNvSpPr/>
          <p:nvPr/>
        </p:nvSpPr>
        <p:spPr>
          <a:xfrm>
            <a:off x="3749040" y="1572768"/>
            <a:ext cx="5212080" cy="594360"/>
          </a:xfrm>
          <a:prstGeom prst="rect">
            <a:avLst/>
          </a:prstGeom>
          <a:noFill/>
          <a:ln/>
        </p:spPr>
        <p:txBody>
          <a:bodyPr wrap="square" lIns="0" tIns="0" rIns="0" bIns="0" rtlCol="0" anchor="ctr"/>
          <a:lstStyle/>
          <a:p>
            <a:pPr marL="0" indent="0" algn="l">
              <a:buNone/>
            </a:pPr>
            <a:r>
              <a:rPr lang="en-US" sz="1100" dirty="0">
                <a:solidFill>
                  <a:srgbClr val="1A1A2E"/>
                </a:solidFill>
                <a:latin typeface="Calibri" pitchFamily="34" charset="0"/>
                <a:ea typeface="Calibri" pitchFamily="34" charset="-122"/>
                <a:cs typeface="Calibri" pitchFamily="34" charset="-120"/>
              </a:rPr>
              <a:t>[2]  Brooks, C. L. (2014). CHFI Computer Hacking Forensic Investigator Certification All-in-One Exam Guide. McGraw-Hill.</a:t>
            </a:r>
            <a:endParaRPr lang="en-US" sz="1100" dirty="0"/>
          </a:p>
        </p:txBody>
      </p:sp>
      <p:sp>
        <p:nvSpPr>
          <p:cNvPr id="11" name="Text 8"/>
          <p:cNvSpPr/>
          <p:nvPr/>
        </p:nvSpPr>
        <p:spPr>
          <a:xfrm>
            <a:off x="3749040" y="2231136"/>
            <a:ext cx="5212080" cy="594360"/>
          </a:xfrm>
          <a:prstGeom prst="rect">
            <a:avLst/>
          </a:prstGeom>
          <a:noFill/>
          <a:ln/>
        </p:spPr>
        <p:txBody>
          <a:bodyPr wrap="square" lIns="0" tIns="0" rIns="0" bIns="0" rtlCol="0" anchor="ctr"/>
          <a:lstStyle/>
          <a:p>
            <a:pPr marL="0" indent="0" algn="l">
              <a:buNone/>
            </a:pPr>
            <a:r>
              <a:rPr lang="en-US" sz="1100" dirty="0">
                <a:solidFill>
                  <a:srgbClr val="1A1A2E"/>
                </a:solidFill>
                <a:latin typeface="Calibri" pitchFamily="34" charset="0"/>
                <a:ea typeface="Calibri" pitchFamily="34" charset="-122"/>
                <a:cs typeface="Calibri" pitchFamily="34" charset="-120"/>
              </a:rPr>
              <a:t>[3]  Kleiman, D. (2011). The Official CHFI Study Guide (Exam 312-49). Syngress.</a:t>
            </a:r>
            <a:endParaRPr lang="en-US" sz="1100" dirty="0"/>
          </a:p>
        </p:txBody>
      </p:sp>
      <p:sp>
        <p:nvSpPr>
          <p:cNvPr id="12" name="Text 9"/>
          <p:cNvSpPr/>
          <p:nvPr/>
        </p:nvSpPr>
        <p:spPr>
          <a:xfrm>
            <a:off x="3749040" y="2889504"/>
            <a:ext cx="5212080" cy="594360"/>
          </a:xfrm>
          <a:prstGeom prst="rect">
            <a:avLst/>
          </a:prstGeom>
          <a:noFill/>
          <a:ln/>
        </p:spPr>
        <p:txBody>
          <a:bodyPr wrap="square" lIns="0" tIns="0" rIns="0" bIns="0" rtlCol="0" anchor="ctr"/>
          <a:lstStyle/>
          <a:p>
            <a:pPr marL="0" indent="0" algn="l">
              <a:buNone/>
            </a:pPr>
            <a:r>
              <a:rPr lang="en-US" sz="1100" dirty="0">
                <a:solidFill>
                  <a:srgbClr val="1A1A2E"/>
                </a:solidFill>
                <a:latin typeface="Calibri" pitchFamily="34" charset="0"/>
                <a:ea typeface="Calibri" pitchFamily="34" charset="-122"/>
                <a:cs typeface="Calibri" pitchFamily="34" charset="-120"/>
              </a:rPr>
              <a:t>[4]  Singapore Evidence Act (Cap. 97) — https://sso.agc.gov.sg/Act/EA1893</a:t>
            </a:r>
            <a:endParaRPr lang="en-US" sz="1100" dirty="0"/>
          </a:p>
        </p:txBody>
      </p:sp>
      <p:sp>
        <p:nvSpPr>
          <p:cNvPr id="13" name="Text 10"/>
          <p:cNvSpPr/>
          <p:nvPr/>
        </p:nvSpPr>
        <p:spPr>
          <a:xfrm>
            <a:off x="3749040" y="3547872"/>
            <a:ext cx="5212080" cy="594360"/>
          </a:xfrm>
          <a:prstGeom prst="rect">
            <a:avLst/>
          </a:prstGeom>
          <a:noFill/>
          <a:ln/>
        </p:spPr>
        <p:txBody>
          <a:bodyPr wrap="square" lIns="0" tIns="0" rIns="0" bIns="0" rtlCol="0" anchor="ctr"/>
          <a:lstStyle/>
          <a:p>
            <a:pPr marL="0" indent="0" algn="l">
              <a:buNone/>
            </a:pPr>
            <a:r>
              <a:rPr lang="en-US" sz="1100" dirty="0">
                <a:solidFill>
                  <a:srgbClr val="1A1A2E"/>
                </a:solidFill>
                <a:latin typeface="Calibri" pitchFamily="34" charset="0"/>
                <a:ea typeface="Calibri" pitchFamily="34" charset="-122"/>
                <a:cs typeface="Calibri" pitchFamily="34" charset="-120"/>
              </a:rPr>
              <a:t>[5]  Rules of Court 1997, Singapore.</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12B12922E7882248BCC5AA3FA2F67AA5" ma:contentTypeVersion="21" ma:contentTypeDescription="Create a new document." ma:contentTypeScope="" ma:versionID="17eca64fb8526c6500046ce496af3705">
  <xsd:schema xmlns:xsd="http://www.w3.org/2001/XMLSchema" xmlns:xs="http://www.w3.org/2001/XMLSchema" xmlns:p="http://schemas.microsoft.com/office/2006/metadata/properties" xmlns:ns2="4b318d02-235f-4db9-ad34-20bb5fcc8063" xmlns:ns3="2732436f-90ae-4a0f-88e2-b128265cf4b3" targetNamespace="http://schemas.microsoft.com/office/2006/metadata/properties" ma:root="true" ma:fieldsID="0fc14c5fb12fcec4f3021900c42fd578" ns2:_="" ns3:_="">
    <xsd:import namespace="4b318d02-235f-4db9-ad34-20bb5fcc8063"/>
    <xsd:import namespace="2732436f-90ae-4a0f-88e2-b128265cf4b3"/>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DateTaken" minOccurs="0"/>
                <xsd:element ref="ns3:MediaServiceObjectDetectorVersions" minOccurs="0"/>
                <xsd:element ref="ns3:MediaServiceGenerationTime" minOccurs="0"/>
                <xsd:element ref="ns3:MediaServiceEventHashCode" minOccurs="0"/>
                <xsd:element ref="ns3:MediaLengthInSeconds" minOccurs="0"/>
                <xsd:element ref="ns3:MediaServiceSearchProperties" minOccurs="0"/>
                <xsd:element ref="ns3:lcf76f155ced4ddcb4097134ff3c332f" minOccurs="0"/>
                <xsd:element ref="ns2:TaxCatchAll" minOccurs="0"/>
                <xsd:element ref="ns3:MediaServiceOCR"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b318d02-235f-4db9-ad34-20bb5fcc8063" elementFormDefault="qualified">
    <xsd:import namespace="http://schemas.microsoft.com/office/2006/documentManagement/types"/>
    <xsd:import namespace="http://schemas.microsoft.com/office/infopath/2007/PartnerControls"/>
    <xsd:element name="SharedWithUsers" ma:index="4" nillable="true" ma:displayName="Shared With" ma:SearchPeopleOnly="false" ma:SharePointGroup="0" ma:internalName="SharedWithUsers" ma:readOnly="true" ma:showField="ImnNam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b7e268a5-46d0-4c07-95fc-ea0a071d2bd7}" ma:internalName="TaxCatchAll" ma:showField="CatchAllData" ma:web="4b318d02-235f-4db9-ad34-20bb5fcc8063">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2732436f-90ae-4a0f-88e2-b128265cf4b3"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description="" ma:hidden="true" ma:internalName="MediaServiceDateTaken" ma:readOnly="true">
      <xsd:simpleType>
        <xsd:restriction base="dms:Text"/>
      </xsd:simpleType>
    </xsd:element>
    <xsd:element name="MediaServiceObjectDetectorVersions" ma:index="13" nillable="true" ma:displayName="MediaServiceObjectDetectorVersions" ma:description="" ma:hidden="true" ma:internalName="MediaServiceObjectDetectorVersion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MediaServiceSearchProperties" ma:index="17" nillable="true" ma:displayName="MediaServiceSearchProperties" ma:hidden="true" ma:internalName="MediaServiceSearchProperties" ma:readOnly="true">
      <xsd:simpleType>
        <xsd:restriction base="dms:Note"/>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a45bf55a-4f35-4525-96d9-1748649c08ec"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element name="MediaServiceBillingMetadata" ma:index="22"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5" ma:displayName="Content Type"/>
        <xsd:element ref="dc:title" minOccurs="0" maxOccurs="1" ma:index="3"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2732436f-90ae-4a0f-88e2-b128265cf4b3">
      <Terms xmlns="http://schemas.microsoft.com/office/infopath/2007/PartnerControls"/>
    </lcf76f155ced4ddcb4097134ff3c332f>
    <TaxCatchAll xmlns="4b318d02-235f-4db9-ad34-20bb5fcc8063" xsi:nil="true"/>
  </documentManagement>
</p:properties>
</file>

<file path=customXml/itemProps1.xml><?xml version="1.0" encoding="utf-8"?>
<ds:datastoreItem xmlns:ds="http://schemas.openxmlformats.org/officeDocument/2006/customXml" ds:itemID="{8024E12D-9696-4215-8B86-A4B237325860}">
  <ds:schemaRefs>
    <ds:schemaRef ds:uri="http://schemas.microsoft.com/sharepoint/v3/contenttype/forms"/>
  </ds:schemaRefs>
</ds:datastoreItem>
</file>

<file path=customXml/itemProps2.xml><?xml version="1.0" encoding="utf-8"?>
<ds:datastoreItem xmlns:ds="http://schemas.openxmlformats.org/officeDocument/2006/customXml" ds:itemID="{419439D3-586E-4AE0-AE58-9388AFD13285}"/>
</file>

<file path=customXml/itemProps3.xml><?xml version="1.0" encoding="utf-8"?>
<ds:datastoreItem xmlns:ds="http://schemas.openxmlformats.org/officeDocument/2006/customXml" ds:itemID="{AE542A6D-FDD2-446A-948C-30757F3B122C}">
  <ds:schemaRefs>
    <ds:schemaRef ds:uri="http://schemas.openxmlformats.org/package/2006/metadata/core-properties"/>
    <ds:schemaRef ds:uri="http://schemas.microsoft.com/office/infopath/2007/PartnerControls"/>
    <ds:schemaRef ds:uri="http://purl.org/dc/dcmitype/"/>
    <ds:schemaRef ds:uri="http://schemas.microsoft.com/office/2006/documentManagement/types"/>
    <ds:schemaRef ds:uri="http://schemas.microsoft.com/office/2006/metadata/properties"/>
    <ds:schemaRef ds:uri="http://schemas.microsoft.com/sharepoint/v3"/>
    <ds:schemaRef ds:uri="http://purl.org/dc/terms/"/>
    <ds:schemaRef ds:uri="http://purl.org/dc/elements/1.1/"/>
    <ds:schemaRef ds:uri="3e3fafd7-318f-4e4d-809b-9691c39d9c6f"/>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6</TotalTime>
  <Words>3406</Words>
  <Application>Microsoft Office PowerPoint</Application>
  <PresentationFormat>On-screen Show (16:9)</PresentationFormat>
  <Paragraphs>369</Paragraphs>
  <Slides>19</Slides>
  <Notes>19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Calibri</vt:lpstr>
      <vt:lpstr>Courier New</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PptxGenJS Presentation</dc:subject>
  <dc:creator>PptxGenJS</dc:creator>
  <cp:lastModifiedBy>Nur Shuhadah BINTE JALIL (TP)</cp:lastModifiedBy>
  <cp:revision>4</cp:revision>
  <dcterms:created xsi:type="dcterms:W3CDTF">2026-04-08T14:08:52Z</dcterms:created>
  <dcterms:modified xsi:type="dcterms:W3CDTF">2026-04-09T01:58:45Z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0x01010012B12922E7882248BCC5AA3FA2F67AA5</vt:lpwstr>
  </property>
  <property fmtid="{D5CDD505-2E9C-101B-9397-08002B2CF9AE}" pid="3" name="MSIP_Label_f69d7fc4-da81-42e5-b309-526f71322d86_Enabled">
    <vt:lpwstr>true</vt:lpwstr>
  </property>
  <property fmtid="{D5CDD505-2E9C-101B-9397-08002B2CF9AE}" pid="4" name="MSIP_Label_f69d7fc4-da81-42e5-b309-526f71322d86_SetDate">
    <vt:lpwstr>2026-04-09T01:56:10Z</vt:lpwstr>
  </property>
  <property fmtid="{D5CDD505-2E9C-101B-9397-08002B2CF9AE}" pid="5" name="MSIP_Label_f69d7fc4-da81-42e5-b309-526f71322d86_Method">
    <vt:lpwstr>Privileged</vt:lpwstr>
  </property>
  <property fmtid="{D5CDD505-2E9C-101B-9397-08002B2CF9AE}" pid="6" name="MSIP_Label_f69d7fc4-da81-42e5-b309-526f71322d86_Name">
    <vt:lpwstr>Non Sensitive</vt:lpwstr>
  </property>
  <property fmtid="{D5CDD505-2E9C-101B-9397-08002B2CF9AE}" pid="7" name="MSIP_Label_f69d7fc4-da81-42e5-b309-526f71322d86_SiteId">
    <vt:lpwstr>25a99bf0-8e72-472a-ae50-adfbdf0df6f1</vt:lpwstr>
  </property>
  <property fmtid="{D5CDD505-2E9C-101B-9397-08002B2CF9AE}" pid="8" name="MSIP_Label_f69d7fc4-da81-42e5-b309-526f71322d86_ActionId">
    <vt:lpwstr>9fa0028d-8c89-4db8-b4a5-086fac33d89a</vt:lpwstr>
  </property>
  <property fmtid="{D5CDD505-2E9C-101B-9397-08002B2CF9AE}" pid="9" name="MSIP_Label_f69d7fc4-da81-42e5-b309-526f71322d86_ContentBits">
    <vt:lpwstr>0</vt:lpwstr>
  </property>
  <property fmtid="{D5CDD505-2E9C-101B-9397-08002B2CF9AE}" pid="10" name="MSIP_Label_f69d7fc4-da81-42e5-b309-526f71322d86_Tag">
    <vt:lpwstr>10, 0, 1, 1</vt:lpwstr>
  </property>
  <property fmtid="{D5CDD505-2E9C-101B-9397-08002B2CF9AE}" pid="11" name="Order">
    <vt:r8>161100</vt:r8>
  </property>
  <property fmtid="{D5CDD505-2E9C-101B-9397-08002B2CF9AE}" pid="12" name="_SourceUrl">
    <vt:lpwstr/>
  </property>
  <property fmtid="{D5CDD505-2E9C-101B-9397-08002B2CF9AE}" pid="13" name="_SharedFileIndex">
    <vt:lpwstr/>
  </property>
  <property fmtid="{D5CDD505-2E9C-101B-9397-08002B2CF9AE}" pid="14" name="ComplianceAssetId">
    <vt:lpwstr/>
  </property>
  <property fmtid="{D5CDD505-2E9C-101B-9397-08002B2CF9AE}" pid="15" name="_ExtendedDescription">
    <vt:lpwstr/>
  </property>
  <property fmtid="{D5CDD505-2E9C-101B-9397-08002B2CF9AE}" pid="16" name="TriggerFlowInfo">
    <vt:lpwstr/>
  </property>
  <property fmtid="{D5CDD505-2E9C-101B-9397-08002B2CF9AE}" pid="17" name="MediaServiceImageTags">
    <vt:lpwstr/>
  </property>
</Properties>
</file>