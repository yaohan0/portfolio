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8" r:id="rId2"/>
    <p:sldId id="27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FAA7F-7612-402C-A561-BD8623CF34D9}" v="110" dt="2026-04-20T03:04:51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24853-FF7F-479A-B091-8D3B9EA4499F}" type="datetimeFigureOut">
              <a:rPr lang="en-SG" smtClean="0"/>
              <a:t>20 Apr 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A95C9-D0D6-49F7-B4C5-7338556B95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025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768C-039E-0526-B984-C6E65E7C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470D0-E449-A3F1-79C5-23992584D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6CB45-30A9-52E7-F78E-E726A323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Linux systems are bundled into distributions (kernel + tools + applications).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Distributions include storage setup, kernel installation, and software management.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Full-featured distributions provide system management tools and package managers.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Distributions serve different purposes: servers, desktops, industry-specific tools.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Major families: Red Hat, </a:t>
            </a:r>
            <a:r>
              <a:rPr lang="en-SG" sz="1200" dirty="0">
                <a:highlight>
                  <a:srgbClr val="FFFF00"/>
                </a:highlight>
              </a:rPr>
              <a:t>Debian</a:t>
            </a:r>
            <a:r>
              <a:rPr lang="en-SG" sz="1200" dirty="0"/>
              <a:t>, Slackware - </a:t>
            </a:r>
            <a:r>
              <a:rPr lang="en-US" dirty="0"/>
              <a:t>three names represent the </a:t>
            </a:r>
            <a:r>
              <a:rPr lang="en-US" b="1" dirty="0"/>
              <a:t>"founding fathers"</a:t>
            </a:r>
            <a:r>
              <a:rPr lang="en-US" dirty="0"/>
              <a:t> of Linux distributions. Each one took the Linux kernel and the GNU tools and organized them into a complete, installable package</a:t>
            </a:r>
            <a:endParaRPr lang="en-SG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Key differences include package managers, file locations, and philosophies.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1961F-CB25-4542-0151-49CF273A3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9529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38C0-AA35-ED49-8596-77553D2DC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580CC-2900-56C4-13BD-187B64FE7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60945-8523-0138-5F4B-69703ADE5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Linux systems are bundled into distributions (kernel + tools + applications).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Distributions include storage setup, kernel installation, and software management.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Full-featured distributions provide system management tools and package managers.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Distributions serve different purposes: servers, desktops, industry-specific tools.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Major families: Red Hat, </a:t>
            </a:r>
            <a:r>
              <a:rPr lang="en-SG" sz="1200" dirty="0">
                <a:highlight>
                  <a:srgbClr val="FFFF00"/>
                </a:highlight>
              </a:rPr>
              <a:t>Debian</a:t>
            </a:r>
            <a:r>
              <a:rPr lang="en-SG" sz="1200" dirty="0"/>
              <a:t>, Slackware - </a:t>
            </a:r>
            <a:r>
              <a:rPr lang="en-US" dirty="0"/>
              <a:t>three names represent the </a:t>
            </a:r>
            <a:r>
              <a:rPr lang="en-US" b="1" dirty="0"/>
              <a:t>"founding fathers"</a:t>
            </a:r>
            <a:r>
              <a:rPr lang="en-US" dirty="0"/>
              <a:t> of Linux distributions. Each one took the Linux kernel and the GNU tools and organized them into a complete, installable package</a:t>
            </a:r>
            <a:endParaRPr lang="en-SG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Key differences include package managers, file locations, and philosophies.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CBC05-3CB8-9BA6-FF2A-02EE5175A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082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HQCxQ_MC4E&amp;list=PLG49S3nxzAnlCJiCrOYuRYb6cne864a7G&amp;index=16" TargetMode="External"/><Relationship Id="rId7" Type="http://schemas.openxmlformats.org/officeDocument/2006/relationships/hyperlink" Target="https://www.youtube.com/watch?v=LNGOkJPd5pM&amp;list=PLG49S3nxzAnlCJiCrOYuRYb6cne864a7G&amp;index=3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fgC8hk4IfDk&amp;list=PLG49S3nxzAnlCJiCrOYuRYb6cne864a7G&amp;index=28" TargetMode="External"/><Relationship Id="rId5" Type="http://schemas.openxmlformats.org/officeDocument/2006/relationships/hyperlink" Target="https://www.youtube.com/watch?v=owDh6FNJUog&amp;list=PLG49S3nxzAnlCJiCrOYuRYb6cne864a7G&amp;index=2" TargetMode="External"/><Relationship Id="rId4" Type="http://schemas.openxmlformats.org/officeDocument/2006/relationships/hyperlink" Target="https://www.youtube.com/watch?v=7AGp1glJm8M&amp;list=PLG49S3nxzAnlCJiCrOYuRYb6cne864a7G&amp;index=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283C-06B1-D398-BDF3-849125D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2465-5716-4433-F2A9-01D7CFDC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Networking for Security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8F278-2657-54AD-C507-01EBE5F531ED}"/>
              </a:ext>
            </a:extLst>
          </p:cNvPr>
          <p:cNvSpPr txBox="1"/>
          <p:nvPr/>
        </p:nvSpPr>
        <p:spPr>
          <a:xfrm>
            <a:off x="275303" y="1441310"/>
            <a:ext cx="1174954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	</a:t>
            </a:r>
            <a:r>
              <a:rPr lang="en-SG" sz="2000" b="1" dirty="0"/>
              <a:t>IP Address (IPv4 format 192.168.1.1)	</a:t>
            </a:r>
            <a:r>
              <a:rPr lang="en-SG" dirty="0"/>
              <a:t> (</a:t>
            </a:r>
            <a:r>
              <a:rPr lang="en-SG" sz="2000" b="1" dirty="0"/>
              <a:t>IPv6 : 2001:aaaa:bbbb:cccc::/64) </a:t>
            </a:r>
          </a:p>
          <a:p>
            <a:endParaRPr lang="en-SG" sz="2000" dirty="0"/>
          </a:p>
          <a:p>
            <a:r>
              <a:rPr lang="en-SG" sz="2000" b="1" dirty="0"/>
              <a:t>	Subnet mask 255.0.0.0 /8		255.255.0.0 /16		255.255.255.0  /24 (how many IPs in each network)</a:t>
            </a:r>
          </a:p>
          <a:p>
            <a:endParaRPr lang="en-SG" sz="2000" b="1" dirty="0"/>
          </a:p>
          <a:p>
            <a:r>
              <a:rPr lang="en-SG" sz="2000" b="1" dirty="0"/>
              <a:t>	IP Range of Class A B C for Public &amp; Private</a:t>
            </a:r>
          </a:p>
          <a:p>
            <a:endParaRPr lang="en-SG" sz="2000" b="1" dirty="0"/>
          </a:p>
          <a:p>
            <a:r>
              <a:rPr lang="en-SG" sz="2000" b="1" dirty="0"/>
              <a:t>	OSI Layer map TCP/IP</a:t>
            </a:r>
          </a:p>
          <a:p>
            <a:endParaRPr lang="en-SG" sz="2000" dirty="0"/>
          </a:p>
          <a:p>
            <a:r>
              <a:rPr lang="en-SG" sz="2000" b="1" dirty="0"/>
              <a:t>	TCP (Email, Web, etc) vs UDP (Streaming &amp; Gaming) - Attackers use both</a:t>
            </a:r>
          </a:p>
          <a:p>
            <a:endParaRPr lang="en-SG" sz="2000" b="1" dirty="0"/>
          </a:p>
          <a:p>
            <a:r>
              <a:rPr lang="en-SG" sz="2000" b="1" dirty="0"/>
              <a:t>	Ports 65000 (Well known 1023) – </a:t>
            </a:r>
          </a:p>
          <a:p>
            <a:r>
              <a:rPr lang="en-SG" sz="2000" b="1" dirty="0"/>
              <a:t>	Common port: - 80(http) 443(https) 22(ssh) 23(telnet) 53(DNS) FTP(20/21) 25(SMTP) DHCP(67/68) </a:t>
            </a:r>
          </a:p>
          <a:p>
            <a:endParaRPr lang="en-SG" sz="2000" dirty="0"/>
          </a:p>
          <a:p>
            <a:r>
              <a:rPr lang="en-SG" sz="2000" b="1" dirty="0"/>
              <a:t>	DNS functionality</a:t>
            </a:r>
          </a:p>
          <a:p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63132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86742-E6D2-FE2B-266D-4B438E1D3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91A2-C69F-5126-A1F9-0CBA2F9F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832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Networking for Security</a:t>
            </a:r>
            <a:br>
              <a:rPr lang="en-US" dirty="0"/>
            </a:br>
            <a:r>
              <a:rPr lang="en-US" sz="3600" dirty="0">
                <a:solidFill>
                  <a:srgbClr val="0000FF"/>
                </a:solidFill>
              </a:rPr>
              <a:t>Professor Messer Network+</a:t>
            </a:r>
            <a:endParaRPr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C2D09-B074-7169-5C9A-16DA304DF30C}"/>
              </a:ext>
            </a:extLst>
          </p:cNvPr>
          <p:cNvSpPr txBox="1"/>
          <p:nvPr/>
        </p:nvSpPr>
        <p:spPr>
          <a:xfrm>
            <a:off x="609600" y="1429539"/>
            <a:ext cx="1175938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	</a:t>
            </a:r>
            <a:r>
              <a:rPr lang="en-SG" b="1" dirty="0"/>
              <a:t>IP Address (IPv4 format 192,168.1.1)</a:t>
            </a:r>
          </a:p>
          <a:p>
            <a:r>
              <a:rPr lang="en-SG" dirty="0">
                <a:hlinkClick r:id="rId3"/>
              </a:rPr>
              <a:t>https://www.youtube.com/watch?v=cHQCxQ_MC4E&amp;list=PLG49S3nxzAnlCJiCrOYuRYb6cne864a7G&amp;index=16</a:t>
            </a:r>
            <a:endParaRPr lang="en-SG" dirty="0"/>
          </a:p>
          <a:p>
            <a:endParaRPr lang="en-SG" dirty="0"/>
          </a:p>
          <a:p>
            <a:r>
              <a:rPr lang="en-SG" b="1" dirty="0"/>
              <a:t>	Subnet mask	255.0.0.0 /8		255.255.0.0 /16		255.255.255.0  /24 (how many IPs in each network)</a:t>
            </a:r>
          </a:p>
          <a:p>
            <a:r>
              <a:rPr lang="en-SG" dirty="0">
                <a:hlinkClick r:id="rId4"/>
              </a:rPr>
              <a:t>https://www.youtube.com/watch?v=7AGp1glJm8M&amp;list=PLG49S3nxzAnlCJiCrOYuRYb6cne864a7G&amp;index=20</a:t>
            </a:r>
            <a:endParaRPr lang="en-SG" dirty="0"/>
          </a:p>
          <a:p>
            <a:endParaRPr lang="en-SG" dirty="0"/>
          </a:p>
          <a:p>
            <a:r>
              <a:rPr lang="en-SG" b="1" dirty="0"/>
              <a:t>	IP Range of Class A B C for Public &amp; Private</a:t>
            </a:r>
          </a:p>
          <a:p>
            <a:r>
              <a:rPr lang="en-SG" b="1" dirty="0"/>
              <a:t>	OSI Layer map TCP/IP</a:t>
            </a:r>
          </a:p>
          <a:p>
            <a:r>
              <a:rPr lang="en-SG" dirty="0">
                <a:hlinkClick r:id="rId5"/>
              </a:rPr>
              <a:t>https://www.youtube.com/watch?v=owDh6FNJUog&amp;list=PLG49S3nxzAnlCJiCrOYuRYb6cne864a7G&amp;index=2</a:t>
            </a:r>
            <a:endParaRPr lang="en-SG" dirty="0"/>
          </a:p>
          <a:p>
            <a:endParaRPr lang="en-SG" dirty="0"/>
          </a:p>
          <a:p>
            <a:r>
              <a:rPr lang="en-SG" b="1" dirty="0"/>
              <a:t>	TCP (Email, Web, etc) vs UDP (Streaming &amp; Gaming) - Attackers use both</a:t>
            </a:r>
          </a:p>
          <a:p>
            <a:r>
              <a:rPr lang="en-SG" b="1" dirty="0"/>
              <a:t>	Ports 65000 (Well known 1023) – </a:t>
            </a:r>
          </a:p>
          <a:p>
            <a:r>
              <a:rPr lang="en-SG" b="1" dirty="0"/>
              <a:t>	Common port: - 80(http) 443(https) 22(ssh) 23(telnet) 53(DNS) FTP(20/21) 25(SMTP) DHCP(67/68) </a:t>
            </a:r>
            <a:r>
              <a:rPr lang="en-SG" dirty="0">
                <a:hlinkClick r:id="rId6"/>
              </a:rPr>
              <a:t>https://www.youtube.com/watch?v=fgC8hk4IfDk&amp;list=PLG49S3nxzAnlCJiCrOYuRYb6cne864a7G&amp;index=28</a:t>
            </a:r>
            <a:endParaRPr lang="en-SG" dirty="0"/>
          </a:p>
          <a:p>
            <a:endParaRPr lang="en-SG" dirty="0"/>
          </a:p>
          <a:p>
            <a:r>
              <a:rPr lang="en-SG" b="1" dirty="0"/>
              <a:t>	DNS functionality</a:t>
            </a:r>
          </a:p>
          <a:p>
            <a:r>
              <a:rPr lang="en-SG" dirty="0">
                <a:hlinkClick r:id="rId7"/>
              </a:rPr>
              <a:t>https://www.youtube.com/watch?v=LNGOkJPd5pM&amp;list=PLG49S3nxzAnlCJiCrOYuRYb6cne864a7G&amp;index=32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2759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53A14166A49D4CB3396C0E8042B07B" ma:contentTypeVersion="7" ma:contentTypeDescription="Create a new document." ma:contentTypeScope="" ma:versionID="2f75d335fe72e3ac8cc97ccf49899921">
  <xsd:schema xmlns:xsd="http://www.w3.org/2001/XMLSchema" xmlns:xs="http://www.w3.org/2001/XMLSchema" xmlns:p="http://schemas.microsoft.com/office/2006/metadata/properties" xmlns:ns2="e87f8e2f-eef8-445e-8e18-4d4c58edfa4f" targetNamespace="http://schemas.microsoft.com/office/2006/metadata/properties" ma:root="true" ma:fieldsID="6df954926bbdd3aa731af5ec1b2f07c3" ns2:_="">
    <xsd:import namespace="e87f8e2f-eef8-445e-8e18-4d4c58edfa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f8e2f-eef8-445e-8e18-4d4c58edfa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E6C3F9-2D15-4B55-AAAA-6FF3225D1CD6}"/>
</file>

<file path=customXml/itemProps2.xml><?xml version="1.0" encoding="utf-8"?>
<ds:datastoreItem xmlns:ds="http://schemas.openxmlformats.org/officeDocument/2006/customXml" ds:itemID="{4CD27799-F09E-43D9-9984-74CCCB25CA32}"/>
</file>

<file path=customXml/itemProps3.xml><?xml version="1.0" encoding="utf-8"?>
<ds:datastoreItem xmlns:ds="http://schemas.openxmlformats.org/officeDocument/2006/customXml" ds:itemID="{C6395F5C-6804-4E6F-8121-F0779BABDF9E}"/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578</Words>
  <Application>Microsoft Office PowerPoint</Application>
  <PresentationFormat>Widescreen</PresentationFormat>
  <Paragraphs>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Basic Networking for Security</vt:lpstr>
      <vt:lpstr>Basic Networking for Security Professor Messer Network+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</dc:creator>
  <cp:keywords/>
  <dc:description>generated using python-pptx</dc:description>
  <cp:lastModifiedBy>Jason KL Lee</cp:lastModifiedBy>
  <cp:revision>10</cp:revision>
  <dcterms:created xsi:type="dcterms:W3CDTF">2013-01-27T09:14:16Z</dcterms:created>
  <dcterms:modified xsi:type="dcterms:W3CDTF">2026-04-20T07:22:21Z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b68b73-d603-4e7f-85b0-08f331d65276_Enabled">
    <vt:lpwstr>true</vt:lpwstr>
  </property>
  <property fmtid="{D5CDD505-2E9C-101B-9397-08002B2CF9AE}" pid="3" name="MSIP_Label_23b68b73-d603-4e7f-85b0-08f331d65276_SetDate">
    <vt:lpwstr>2026-04-16T07:45:23Z</vt:lpwstr>
  </property>
  <property fmtid="{D5CDD505-2E9C-101B-9397-08002B2CF9AE}" pid="4" name="MSIP_Label_23b68b73-d603-4e7f-85b0-08f331d65276_Method">
    <vt:lpwstr>Privileged</vt:lpwstr>
  </property>
  <property fmtid="{D5CDD505-2E9C-101B-9397-08002B2CF9AE}" pid="5" name="MSIP_Label_23b68b73-d603-4e7f-85b0-08f331d65276_Name">
    <vt:lpwstr>Sensitive Normal</vt:lpwstr>
  </property>
  <property fmtid="{D5CDD505-2E9C-101B-9397-08002B2CF9AE}" pid="6" name="MSIP_Label_23b68b73-d603-4e7f-85b0-08f331d65276_SiteId">
    <vt:lpwstr>25a99bf0-8e72-472a-ae50-adfbdf0df6f1</vt:lpwstr>
  </property>
  <property fmtid="{D5CDD505-2E9C-101B-9397-08002B2CF9AE}" pid="7" name="MSIP_Label_23b68b73-d603-4e7f-85b0-08f331d65276_ActionId">
    <vt:lpwstr>a502b788-9413-4dab-a49a-93214dfd02c5</vt:lpwstr>
  </property>
  <property fmtid="{D5CDD505-2E9C-101B-9397-08002B2CF9AE}" pid="8" name="MSIP_Label_23b68b73-d603-4e7f-85b0-08f331d65276_ContentBits">
    <vt:lpwstr>0</vt:lpwstr>
  </property>
  <property fmtid="{D5CDD505-2E9C-101B-9397-08002B2CF9AE}" pid="9" name="MSIP_Label_23b68b73-d603-4e7f-85b0-08f331d65276_Tag">
    <vt:lpwstr>10, 0, 1, 1</vt:lpwstr>
  </property>
  <property fmtid="{D5CDD505-2E9C-101B-9397-08002B2CF9AE}" pid="10" name="ContentTypeId">
    <vt:lpwstr>0x010100B353A14166A49D4CB3396C0E8042B07B</vt:lpwstr>
  </property>
</Properties>
</file>