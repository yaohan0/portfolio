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9" r:id="rId5"/>
    <p:sldId id="272" r:id="rId6"/>
    <p:sldId id="273" r:id="rId7"/>
    <p:sldId id="274" r:id="rId8"/>
    <p:sldId id="276" r:id="rId9"/>
    <p:sldId id="277" r:id="rId10"/>
    <p:sldId id="278" r:id="rId11"/>
    <p:sldId id="279" r:id="rId12"/>
    <p:sldId id="280" r:id="rId13"/>
    <p:sldId id="260" r:id="rId14"/>
    <p:sldId id="261" r:id="rId15"/>
    <p:sldId id="262" r:id="rId16"/>
    <p:sldId id="267" r:id="rId17"/>
    <p:sldId id="268" r:id="rId18"/>
    <p:sldId id="269" r:id="rId19"/>
    <p:sldId id="271" r:id="rId20"/>
    <p:sldId id="270" r:id="rId21"/>
    <p:sldId id="263" r:id="rId22"/>
    <p:sldId id="264" r:id="rId23"/>
    <p:sldId id="328" r:id="rId24"/>
    <p:sldId id="329" r:id="rId25"/>
    <p:sldId id="330" r:id="rId26"/>
    <p:sldId id="331" r:id="rId27"/>
    <p:sldId id="332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s Tan Chun Chieh" initials="JTCC" lastIdx="1" clrIdx="0"/>
  <p:cmAuthor id="2" name="James Tan" initials="J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90C"/>
    <a:srgbClr val="CC0000"/>
    <a:srgbClr val="44A5C8"/>
    <a:srgbClr val="0099CC"/>
    <a:srgbClr val="003399"/>
    <a:srgbClr val="009999"/>
    <a:srgbClr val="0066FF"/>
    <a:srgbClr val="0000CC"/>
    <a:srgbClr val="339933"/>
    <a:srgbClr val="F2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4" autoAdjust="0"/>
    <p:restoredTop sz="75088" autoAdjust="0"/>
  </p:normalViewPr>
  <p:slideViewPr>
    <p:cSldViewPr showGuides="1">
      <p:cViewPr varScale="1">
        <p:scale>
          <a:sx n="71" d="100"/>
          <a:sy n="71" d="100"/>
        </p:scale>
        <p:origin x="1253" y="67"/>
      </p:cViewPr>
      <p:guideLst>
        <p:guide orient="horz" pos="2160"/>
        <p:guide pos="3840"/>
      </p:guideLst>
    </p:cSldViewPr>
  </p:slid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5DA28-A67B-4FB8-B597-F989A3D14BED}" type="datetimeFigureOut">
              <a:rPr lang="en-SG" smtClean="0"/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ED940-0628-4EA9-8ACE-60DD38D614F8}" type="slidenum">
              <a:rPr lang="en-SG" smtClean="0"/>
            </a:fld>
            <a:endParaRPr lang="en-S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3FE1B39-EF3E-4D49-9779-1439543499AA}" type="slidenum">
              <a:rPr lang="en-US" sz="1200">
                <a:solidFill>
                  <a:schemeClr val="tx1"/>
                </a:solidFill>
              </a:rPr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308A1C0-7C58-4804-AFA6-F00F738E1C53}" type="slidenum">
              <a:rPr lang="en-US" sz="1200">
                <a:solidFill>
                  <a:schemeClr val="tx1"/>
                </a:solidFill>
              </a:rPr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https://blog.g0tmi1k.com/2011/08/basic-linux-privilege-escalation/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ED940-0628-4EA9-8ACE-60DD38D614F8}" type="slidenum">
              <a:rPr lang="en-SG" smtClean="0"/>
            </a:fld>
            <a:endParaRPr lang="en-S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5334000" y="-4572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5334000" y="-304800"/>
            <a:ext cx="1524000" cy="12192000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4953000"/>
            <a:ext cx="10668000" cy="990600"/>
          </a:xfrm>
        </p:spPr>
        <p:txBody>
          <a:bodyPr>
            <a:normAutofit/>
          </a:bodyPr>
          <a:lstStyle>
            <a:lvl1pPr algn="r">
              <a:defRPr sz="34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5791200"/>
            <a:ext cx="10668000" cy="45720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04801"/>
            <a:ext cx="6741003" cy="58433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 rot="16200000">
            <a:off x="8851901" y="1460501"/>
            <a:ext cx="76201" cy="6603997"/>
          </a:xfrm>
          <a:prstGeom prst="rect">
            <a:avLst/>
          </a:prstGeom>
          <a:gradFill>
            <a:gsLst>
              <a:gs pos="0">
                <a:srgbClr val="92D050"/>
              </a:gs>
              <a:gs pos="50000">
                <a:srgbClr val="92D050">
                  <a:alpha val="24000"/>
                </a:srgbClr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16200000">
            <a:off x="6057900" y="342898"/>
            <a:ext cx="76200" cy="12192003"/>
          </a:xfrm>
          <a:prstGeom prst="rect">
            <a:avLst/>
          </a:prstGeom>
          <a:gradFill flip="none" rotWithShape="1">
            <a:gsLst>
              <a:gs pos="0">
                <a:srgbClr val="92D050"/>
              </a:gs>
              <a:gs pos="100000">
                <a:schemeClr val="bg1">
                  <a:shade val="100000"/>
                  <a:satMod val="115000"/>
                  <a:alpha val="0"/>
                </a:scheme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76200"/>
            <a:ext cx="9753600" cy="1143000"/>
          </a:xfrm>
        </p:spPr>
        <p:txBody>
          <a:bodyPr>
            <a:normAutofit/>
          </a:bodyPr>
          <a:lstStyle>
            <a:lvl1pPr algn="l">
              <a:defRPr sz="34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1" y="1219200"/>
            <a:ext cx="9690705" cy="5029200"/>
          </a:xfrm>
          <a:noFill/>
        </p:spPr>
        <p:txBody>
          <a:bodyPr/>
          <a:lstStyle>
            <a:lvl1pPr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26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 rot="5400000">
            <a:off x="5935349" y="541651"/>
            <a:ext cx="321304" cy="12192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Box 6"/>
          <p:cNvSpPr txBox="1"/>
          <p:nvPr userDrawn="1"/>
        </p:nvSpPr>
        <p:spPr>
          <a:xfrm>
            <a:off x="5689600" y="6477000"/>
            <a:ext cx="6299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spc="80" baseline="0" dirty="0">
                <a:solidFill>
                  <a:schemeClr val="bg1"/>
                </a:solidFill>
              </a:rPr>
              <a:t>TEMASEK POLYTECHNIC  •  </a:t>
            </a:r>
            <a:r>
              <a:rPr lang="en-US" sz="1100" b="1" spc="80" baseline="0" dirty="0">
                <a:solidFill>
                  <a:schemeClr val="bg1"/>
                </a:solidFill>
              </a:rPr>
              <a:t>SCHOOL OF INFORMATICS &amp; IT</a:t>
            </a:r>
            <a:endParaRPr lang="en-US" sz="1100" spc="80" baseline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81E41C5-8C4D-4065-BE94-7EDA8E9A723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1800"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A81E41C5-8C4D-4065-BE94-7EDA8E9A723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D29BD61-FAF8-4671-BECD-E3B71160F98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5200" y="228600"/>
            <a:ext cx="965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5200" y="1371600"/>
            <a:ext cx="9652000" cy="48006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tfobins.github.io/" TargetMode="Externa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hyperlink" Target="https://gtfobins.github.io/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24001"/>
            <a:ext cx="7848600" cy="1927225"/>
          </a:xfrm>
        </p:spPr>
        <p:txBody>
          <a:bodyPr wrap="square" numCol="1" anchorCtr="0" compatLnSpc="1"/>
          <a:lstStyle/>
          <a:p>
            <a:pPr eaLnBrk="1" hangingPunct="1">
              <a:defRPr/>
            </a:pPr>
            <a:endParaRPr lang="en-US" sz="2500" dirty="0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1524000" y="6064250"/>
            <a:ext cx="9144000" cy="800100"/>
          </a:xfrm>
          <a:prstGeom prst="rect">
            <a:avLst/>
          </a:prstGeom>
          <a:solidFill>
            <a:srgbClr val="333399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200">
                <a:solidFill>
                  <a:schemeClr val="tx1"/>
                </a:solidFill>
              </a:rPr>
              <a:t>			</a:t>
            </a:r>
            <a:endParaRPr lang="en-US" sz="1200">
              <a:solidFill>
                <a:schemeClr val="tx1"/>
              </a:solidFill>
            </a:endParaRPr>
          </a:p>
          <a:p>
            <a:pPr algn="r"/>
            <a:endParaRPr lang="en-US" sz="1800" i="1">
              <a:solidFill>
                <a:schemeClr val="tx1"/>
              </a:solidFill>
              <a:latin typeface="Arial Unicode MS" panose="020B0604020202020204" pitchFamily="34" charset="-128"/>
            </a:endParaRPr>
          </a:p>
          <a:p>
            <a:pPr algn="r"/>
            <a:r>
              <a:rPr lang="en-US" sz="1800" i="1">
                <a:solidFill>
                  <a:schemeClr val="tx1"/>
                </a:solidFill>
                <a:latin typeface="Arial Unicode MS" panose="020B0604020202020204" pitchFamily="34" charset="-128"/>
              </a:rPr>
              <a:t>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2057400" y="4953000"/>
            <a:ext cx="80010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4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System Hacking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>
              <a:defRPr/>
            </a:pPr>
            <a:r>
              <a:rPr lang="en-US" dirty="0"/>
              <a:t>Objectives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43100" y="1676400"/>
            <a:ext cx="8305800" cy="4114800"/>
          </a:xfrm>
        </p:spPr>
        <p:txBody>
          <a:bodyPr>
            <a:normAutofit/>
          </a:bodyPr>
          <a:lstStyle/>
          <a:p>
            <a:r>
              <a:rPr lang="en-US" dirty="0"/>
              <a:t>Vulnerability Exploitation</a:t>
            </a:r>
            <a:endParaRPr lang="en-US" dirty="0"/>
          </a:p>
          <a:p>
            <a:r>
              <a:rPr lang="en-US" dirty="0"/>
              <a:t>Password Cracking</a:t>
            </a:r>
            <a:endParaRPr lang="en-US" dirty="0"/>
          </a:p>
          <a:p>
            <a:r>
              <a:rPr lang="en-US" dirty="0"/>
              <a:t>Privilege Escalation</a:t>
            </a:r>
            <a:endParaRPr lang="en-US" dirty="0"/>
          </a:p>
          <a:p>
            <a:pPr lvl="1"/>
            <a:r>
              <a:rPr lang="en-US" dirty="0"/>
              <a:t>SUID</a:t>
            </a:r>
            <a:endParaRPr lang="en-US" dirty="0"/>
          </a:p>
          <a:p>
            <a:pPr lvl="1"/>
            <a:r>
              <a:rPr lang="en-US" dirty="0"/>
              <a:t>Sudo</a:t>
            </a:r>
            <a:endParaRPr lang="en-US" dirty="0"/>
          </a:p>
          <a:p>
            <a:pPr lvl="1"/>
            <a:r>
              <a:rPr lang="en-US" dirty="0"/>
              <a:t>Cron</a:t>
            </a:r>
            <a:endParaRPr lang="en-US" dirty="0"/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4953000" y="19051"/>
            <a:ext cx="4114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sz="1200" dirty="0"/>
              <a:t>Ethical Hacking and Network Defense</a:t>
            </a:r>
            <a:endParaRPr lang="en-US" sz="1200" dirty="0"/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144000" y="19051"/>
            <a:ext cx="1066800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5FF8A09-5E13-47FD-94CB-8659100E7968}" type="slidenum">
              <a:rPr lang="en-US" sz="1400"/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Vulnerability Exploitation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439"/>
            <a:ext cx="12192000" cy="67571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460"/>
            <a:ext cx="12192000" cy="671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589"/>
            <a:ext cx="12192000" cy="66868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9046"/>
            <a:ext cx="12192000" cy="66799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839"/>
            <a:ext cx="12192000" cy="66143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426"/>
            <a:ext cx="12192000" cy="68271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063"/>
            <a:ext cx="12192000" cy="67458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Password Cracking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7649"/>
            <a:ext cx="12192000" cy="66227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8538"/>
            <a:ext cx="12192000" cy="66809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112"/>
            <a:ext cx="12192000" cy="67157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9399"/>
            <a:ext cx="12192000" cy="669920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1548"/>
            <a:ext cx="12192000" cy="66149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0246"/>
            <a:ext cx="12192000" cy="65175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7739"/>
            <a:ext cx="12192000" cy="67225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330701"/>
            <a:ext cx="10363200" cy="1362075"/>
          </a:xfrm>
        </p:spPr>
        <p:txBody>
          <a:bodyPr/>
          <a:lstStyle/>
          <a:p>
            <a:r>
              <a:rPr lang="en-US" dirty="0"/>
              <a:t>Privilege Escalation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534"/>
            <a:ext cx="12192000" cy="67169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Based on previous labs and lessons,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Exploitation of target = Root / Admin Privileges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SG" b="1" dirty="0">
                <a:solidFill>
                  <a:srgbClr val="FF0000"/>
                </a:solidFill>
              </a:rPr>
              <a:t>In reality</a:t>
            </a:r>
            <a:r>
              <a:rPr lang="en-SG" dirty="0"/>
              <a:t>, this is NEVER the case.</a:t>
            </a:r>
            <a:endParaRPr lang="en-SG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1" y="1219200"/>
            <a:ext cx="7268029" cy="25146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b="1" u="sng" dirty="0"/>
              <a:t>Inheritance of Privileges</a:t>
            </a:r>
            <a:endParaRPr lang="en-US" sz="4000" b="1" u="sng" dirty="0"/>
          </a:p>
          <a:p>
            <a:pPr marL="0" indent="0">
              <a:buNone/>
            </a:pPr>
            <a:r>
              <a:rPr lang="en-US" sz="3500" dirty="0"/>
              <a:t>Each application/service is owned by a specific user when it is running.</a:t>
            </a:r>
            <a:endParaRPr lang="en-US" sz="3500" dirty="0"/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dirty="0"/>
              <a:t>Type the following command in Linux to see the list of processes and process owners (Linux user accounts):</a:t>
            </a:r>
            <a:endParaRPr lang="en-US" sz="3500" dirty="0"/>
          </a:p>
          <a:p>
            <a:pPr marL="0" indent="0">
              <a:buNone/>
            </a:pPr>
            <a:endParaRPr lang="en-US" sz="3500" dirty="0"/>
          </a:p>
          <a:p>
            <a:pPr marL="0" indent="0">
              <a:buNone/>
            </a:pPr>
            <a:r>
              <a:rPr lang="en-US" sz="3500" dirty="0" err="1">
                <a:latin typeface="Consolas" panose="020B0609020204030204" pitchFamily="49" charset="0"/>
              </a:rPr>
              <a:t>ps</a:t>
            </a:r>
            <a:r>
              <a:rPr lang="en-US" sz="3500" dirty="0">
                <a:latin typeface="Consolas" panose="020B0609020204030204" pitchFamily="49" charset="0"/>
              </a:rPr>
              <a:t> aux</a:t>
            </a:r>
            <a:endParaRPr lang="en-US" sz="35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SG" sz="3500" dirty="0"/>
              <a:t> </a:t>
            </a:r>
            <a:endParaRPr lang="en-SG" sz="3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1" y="3429000"/>
            <a:ext cx="8174143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When a service is exploited, the shell privileges will be based on the ownership of the service: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TCP Reverse Shell (via webapp exploit):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SG" dirty="0"/>
              <a:t> </a:t>
            </a:r>
            <a:endParaRPr lang="en-S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58333" b="30556"/>
          <a:stretch>
            <a:fillRect/>
          </a:stretch>
        </p:blipFill>
        <p:spPr>
          <a:xfrm>
            <a:off x="1637376" y="2628900"/>
            <a:ext cx="8917249" cy="304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778" y="4343401"/>
            <a:ext cx="8562622" cy="17680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637376" y="2654417"/>
            <a:ext cx="801025" cy="2681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/>
          <p:cNvSpPr/>
          <p:nvPr/>
        </p:nvSpPr>
        <p:spPr>
          <a:xfrm>
            <a:off x="1876778" y="5638800"/>
            <a:ext cx="5209822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876778" y="3429000"/>
            <a:ext cx="1704622" cy="2209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600200"/>
            <a:ext cx="5691415" cy="50292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Based on g0tm1lk’s Basic Linux Privilege Escalation Cheat Sheet, privilege escalation is all about: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Collect - Enumeration</a:t>
            </a:r>
            <a:endParaRPr lang="en-US" dirty="0"/>
          </a:p>
          <a:p>
            <a:r>
              <a:rPr lang="en-US" dirty="0"/>
              <a:t>Process – Sort through data, </a:t>
            </a:r>
            <a:r>
              <a:rPr lang="en-US" dirty="0" err="1"/>
              <a:t>analyse</a:t>
            </a:r>
            <a:r>
              <a:rPr lang="en-US" dirty="0"/>
              <a:t> and prioritization.</a:t>
            </a:r>
            <a:endParaRPr lang="en-US" dirty="0"/>
          </a:p>
          <a:p>
            <a:r>
              <a:rPr lang="en-US" dirty="0"/>
              <a:t>Search – Know what to search and find exploit code</a:t>
            </a:r>
            <a:endParaRPr lang="en-US" dirty="0"/>
          </a:p>
          <a:p>
            <a:r>
              <a:rPr lang="en-US" dirty="0"/>
              <a:t>Adapt – </a:t>
            </a:r>
            <a:r>
              <a:rPr lang="en-US" dirty="0" err="1"/>
              <a:t>Customise</a:t>
            </a:r>
            <a:r>
              <a:rPr lang="en-US" dirty="0"/>
              <a:t> the exploit accordingly to the target environment</a:t>
            </a:r>
            <a:endParaRPr lang="en-US" dirty="0"/>
          </a:p>
          <a:p>
            <a:r>
              <a:rPr lang="en-US" dirty="0"/>
              <a:t>Try – Get ready for lots of trial and error.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SG" dirty="0"/>
              <a:t>Link here: https://blog.g0tmi1k.com/2011/08/basic-linux-privilege-escalation/</a:t>
            </a:r>
            <a:endParaRPr lang="en-SG" dirty="0"/>
          </a:p>
        </p:txBody>
      </p:sp>
      <p:pic>
        <p:nvPicPr>
          <p:cNvPr id="1026" name="Picture 2" descr="g0tmi1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44" y="2710745"/>
            <a:ext cx="2555756" cy="1436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1" y="1219200"/>
            <a:ext cx="7572829" cy="5029200"/>
          </a:xfrm>
        </p:spPr>
        <p:txBody>
          <a:bodyPr>
            <a:normAutofit/>
          </a:bodyPr>
          <a:lstStyle/>
          <a:p>
            <a:pPr algn="just"/>
            <a:r>
              <a:rPr lang="en-US" b="1" u="sng" dirty="0"/>
              <a:t>Will not </a:t>
            </a:r>
            <a:r>
              <a:rPr lang="en-US" dirty="0"/>
              <a:t>be covering all privilege escalation techniques in the slides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(expected to explore more in this course, especially for case study).</a:t>
            </a:r>
            <a:br>
              <a:rPr lang="en-US" dirty="0"/>
            </a:br>
            <a:endParaRPr lang="en-US" dirty="0"/>
          </a:p>
          <a:p>
            <a:pPr algn="just"/>
            <a:r>
              <a:rPr lang="en-US" dirty="0"/>
              <a:t>Some examples of privilege escalation covered:</a:t>
            </a:r>
            <a:endParaRPr lang="en-US" dirty="0"/>
          </a:p>
          <a:p>
            <a:pPr lvl="1" algn="just"/>
            <a:r>
              <a:rPr lang="en-US" dirty="0"/>
              <a:t>SUID Binary configuration</a:t>
            </a:r>
            <a:endParaRPr lang="en-US" dirty="0"/>
          </a:p>
          <a:p>
            <a:pPr lvl="1" algn="just"/>
            <a:r>
              <a:rPr lang="en-US" dirty="0"/>
              <a:t>Misuse of </a:t>
            </a:r>
            <a:r>
              <a:rPr lang="en-US" dirty="0" err="1"/>
              <a:t>sudo</a:t>
            </a:r>
            <a:r>
              <a:rPr lang="en-US" dirty="0"/>
              <a:t> privileges</a:t>
            </a:r>
            <a:endParaRPr lang="en-US" dirty="0"/>
          </a:p>
          <a:p>
            <a:pPr lvl="1" algn="just"/>
            <a:r>
              <a:rPr lang="en-US" dirty="0"/>
              <a:t>Scheduled Cron Jobs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Information Gathering Process</a:t>
            </a:r>
            <a:endParaRPr lang="en-US" b="1" u="sng" dirty="0"/>
          </a:p>
          <a:p>
            <a:pPr marL="0" indent="0">
              <a:buNone/>
            </a:pPr>
            <a:r>
              <a:rPr lang="en-US" dirty="0"/>
              <a:t>Two ways of doing this:</a:t>
            </a:r>
            <a:endParaRPr lang="en-US" dirty="0"/>
          </a:p>
          <a:p>
            <a:pPr lvl="1"/>
            <a:r>
              <a:rPr lang="en-US" dirty="0"/>
              <a:t>Take down notes using a text editor or something.</a:t>
            </a:r>
            <a:endParaRPr lang="en-US" dirty="0"/>
          </a:p>
          <a:p>
            <a:pPr lvl="1"/>
            <a:r>
              <a:rPr lang="en-US" dirty="0" err="1"/>
              <a:t>Utilisation</a:t>
            </a:r>
            <a:r>
              <a:rPr lang="en-US" dirty="0"/>
              <a:t> of a Linux Local Privilege Escalation (LPE) scripts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One such example of a Linux LPE script: Linux Privilege Escalation Awesome Script (</a:t>
            </a:r>
            <a:r>
              <a:rPr lang="en-US" dirty="0" err="1"/>
              <a:t>LinPEAS</a:t>
            </a:r>
            <a:r>
              <a:rPr lang="en-US" dirty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endParaRPr lang="en-S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1981201"/>
            <a:ext cx="8286618" cy="314928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endParaRPr lang="en-SG" dirty="0"/>
          </a:p>
        </p:txBody>
      </p:sp>
      <p:sp>
        <p:nvSpPr>
          <p:cNvPr id="5" name="TextBox 4"/>
          <p:cNvSpPr txBox="1"/>
          <p:nvPr/>
        </p:nvSpPr>
        <p:spPr>
          <a:xfrm>
            <a:off x="7924800" y="1981201"/>
            <a:ext cx="2438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Script also gives some suggestions of possible privilege escalation techniques that you can do.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Whatever you do, </a:t>
            </a:r>
            <a:r>
              <a:rPr lang="en-US" b="1" u="sng" dirty="0">
                <a:solidFill>
                  <a:srgbClr val="FF0000"/>
                </a:solidFill>
              </a:rPr>
              <a:t>take your time</a:t>
            </a:r>
            <a:r>
              <a:rPr lang="en-US" dirty="0"/>
              <a:t> in reading the output.</a:t>
            </a:r>
            <a:endParaRPr lang="en-S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b="22597"/>
          <a:stretch>
            <a:fillRect/>
          </a:stretch>
        </p:blipFill>
        <p:spPr>
          <a:xfrm>
            <a:off x="1676401" y="1984023"/>
            <a:ext cx="5974173" cy="395080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br>
              <a:rPr lang="en-US" dirty="0"/>
            </a:br>
            <a:r>
              <a:rPr lang="en-US" dirty="0"/>
              <a:t>(SUID Bit Configuration)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4023" y="1752600"/>
            <a:ext cx="4191000" cy="44958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What is SUID bit?</a:t>
            </a:r>
            <a:endParaRPr lang="en-US" b="1" u="sng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Special permission bit that allows a user to run a binary </a:t>
            </a:r>
            <a:r>
              <a:rPr lang="en-US" b="1" dirty="0">
                <a:solidFill>
                  <a:srgbClr val="FF0000"/>
                </a:solidFill>
              </a:rPr>
              <a:t>in the context of the file owner.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/>
              <a:t>Example: if user </a:t>
            </a:r>
            <a:r>
              <a:rPr lang="en-US" dirty="0" err="1"/>
              <a:t>dave</a:t>
            </a:r>
            <a:r>
              <a:rPr lang="en-US" dirty="0"/>
              <a:t> uses the ‘ping’ binary, he is executing the binary as if he was ‘root’.</a:t>
            </a:r>
            <a:endParaRPr lang="en-US" dirty="0"/>
          </a:p>
        </p:txBody>
      </p:sp>
      <p:pic>
        <p:nvPicPr>
          <p:cNvPr id="2050" name="Picture 2" descr="How to Use SUID, SGID, and Sticky Bits on Linux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56" b="25505"/>
          <a:stretch>
            <a:fillRect/>
          </a:stretch>
        </p:blipFill>
        <p:spPr bwMode="auto">
          <a:xfrm>
            <a:off x="6172202" y="2681265"/>
            <a:ext cx="4381143" cy="149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br>
              <a:rPr lang="en-US" dirty="0"/>
            </a:br>
            <a:r>
              <a:rPr lang="en-US" dirty="0"/>
              <a:t>(SUID Bit Configuration)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752600"/>
            <a:ext cx="8229599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Why is it useful?</a:t>
            </a:r>
            <a:endParaRPr lang="en-US" b="1" u="sng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Certain binaries, if owned by the root user and set with the SUID bit, can result in escalation of privileges.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You can refer to this resource for more information: </a:t>
            </a:r>
            <a:r>
              <a:rPr lang="en-US" dirty="0">
                <a:hlinkClick r:id="rId1"/>
              </a:rPr>
              <a:t>https://gtfobins.github.io/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br>
              <a:rPr lang="en-US" dirty="0"/>
            </a:br>
            <a:r>
              <a:rPr lang="en-US" dirty="0"/>
              <a:t>(SUID Bit Configuration)</a:t>
            </a:r>
            <a:endParaRPr lang="en-SG" dirty="0"/>
          </a:p>
        </p:txBody>
      </p:sp>
      <p:pic>
        <p:nvPicPr>
          <p:cNvPr id="3074" name="Picture 2" descr="Linux Privilege Escalation - Three Easy Ways to Get a Root Shell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475" y="3578578"/>
            <a:ext cx="7068698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29" y="1831622"/>
            <a:ext cx="8707783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Sudo</a:t>
            </a:r>
            <a:r>
              <a:rPr lang="en-US" dirty="0"/>
              <a:t> Privilege Misconfiguration)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sudo</a:t>
            </a:r>
            <a:r>
              <a:rPr lang="en-US" dirty="0"/>
              <a:t> – ability for a low-privileged user to run high-level binaries/commands.</a:t>
            </a:r>
            <a:endParaRPr lang="en-US" dirty="0"/>
          </a:p>
          <a:p>
            <a:pPr lvl="1"/>
            <a:r>
              <a:rPr lang="en-US" dirty="0"/>
              <a:t>If running </a:t>
            </a:r>
            <a:r>
              <a:rPr lang="en-US" dirty="0" err="1"/>
              <a:t>sudo</a:t>
            </a:r>
            <a:r>
              <a:rPr lang="en-US" dirty="0"/>
              <a:t> for first time, user needs to key in the current user’s password.</a:t>
            </a:r>
            <a:endParaRPr lang="en-US" dirty="0"/>
          </a:p>
          <a:p>
            <a:pPr lvl="1"/>
            <a:r>
              <a:rPr lang="en-US" dirty="0" err="1"/>
              <a:t>Subequent</a:t>
            </a:r>
            <a:r>
              <a:rPr lang="en-US" dirty="0"/>
              <a:t> </a:t>
            </a:r>
            <a:r>
              <a:rPr lang="en-US" dirty="0" err="1"/>
              <a:t>sudo</a:t>
            </a:r>
            <a:r>
              <a:rPr lang="en-US" dirty="0"/>
              <a:t> commands no longer need the password (same session)</a:t>
            </a:r>
            <a:br>
              <a:rPr lang="en-US" dirty="0"/>
            </a:br>
            <a:endParaRPr lang="en-US" dirty="0"/>
          </a:p>
          <a:p>
            <a:r>
              <a:rPr lang="en-US" dirty="0"/>
              <a:t>Only applicable to Debian/Ubuntu distributions (not sure for RedHat/CentOS)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Sudo</a:t>
            </a:r>
            <a:r>
              <a:rPr lang="en-US" dirty="0"/>
              <a:t> Privilege Misconfiguration)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114" y="1905000"/>
            <a:ext cx="8277772" cy="1219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However </a:t>
            </a:r>
            <a:r>
              <a:rPr lang="en-US" dirty="0" err="1"/>
              <a:t>sudo</a:t>
            </a:r>
            <a:r>
              <a:rPr lang="en-US" dirty="0"/>
              <a:t> privileges can be misconfigured (take example from screenshot below):</a:t>
            </a:r>
            <a:endParaRPr lang="en-US" dirty="0"/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114" y="3200400"/>
            <a:ext cx="8277772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/>
          <p:cNvSpPr txBox="1"/>
          <p:nvPr/>
        </p:nvSpPr>
        <p:spPr>
          <a:xfrm>
            <a:off x="1828800" y="5232400"/>
            <a:ext cx="8277772" cy="12192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i="1" dirty="0"/>
              <a:t>This means that the user ‘</a:t>
            </a:r>
            <a:r>
              <a:rPr lang="en-US" sz="1800" i="1" dirty="0" err="1"/>
              <a:t>haris</a:t>
            </a:r>
            <a:r>
              <a:rPr lang="en-US" sz="1800" i="1" dirty="0"/>
              <a:t>’ can run the /home/haris/test.sh script </a:t>
            </a:r>
            <a:r>
              <a:rPr lang="en-US" sz="1800" b="1" i="1" dirty="0"/>
              <a:t>WITHOUT</a:t>
            </a:r>
            <a:r>
              <a:rPr lang="en-US" sz="1800" i="1" dirty="0"/>
              <a:t> the use of a password </a:t>
            </a:r>
            <a:r>
              <a:rPr lang="en-US" sz="1800" i="1" dirty="0">
                <a:sym typeface="Wingdings" panose="05000000000000000000" pitchFamily="2" charset="2"/>
              </a:rPr>
              <a:t></a:t>
            </a:r>
            <a:endParaRPr lang="en-US" sz="1800" i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Sudo</a:t>
            </a:r>
            <a:r>
              <a:rPr lang="en-US" dirty="0"/>
              <a:t> Privilege Misconfiguration)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1" y="1447800"/>
            <a:ext cx="8106229" cy="4800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to exploit?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You can refer to this resource for more information: </a:t>
            </a:r>
            <a:r>
              <a:rPr lang="en-US" dirty="0">
                <a:hlinkClick r:id="rId1"/>
              </a:rPr>
              <a:t>https://gtfobins.github.io/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667000"/>
            <a:ext cx="821198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br>
              <a:rPr lang="en-US" dirty="0"/>
            </a:br>
            <a:r>
              <a:rPr lang="en-US" dirty="0"/>
              <a:t>(Scheduled Cron Jobs)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371600"/>
            <a:ext cx="8411029" cy="2590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Cron </a:t>
            </a:r>
            <a:r>
              <a:rPr lang="en-US" dirty="0">
                <a:sym typeface="Wingdings" panose="05000000000000000000" pitchFamily="2" charset="2"/>
              </a:rPr>
              <a:t>Jobs - Scheduled Tasks (should be part of your SADS content)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Used for automating certain tasks to be done within a specific time period (</a:t>
            </a:r>
            <a:r>
              <a:rPr lang="en-US" dirty="0" err="1">
                <a:sym typeface="Wingdings" panose="05000000000000000000" pitchFamily="2" charset="2"/>
              </a:rPr>
              <a:t>e.g</a:t>
            </a:r>
            <a:r>
              <a:rPr lang="en-US" dirty="0">
                <a:sym typeface="Wingdings" panose="05000000000000000000" pitchFamily="2" charset="2"/>
              </a:rPr>
              <a:t> every Monday at 8am).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Main locations to look at: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/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/</a:t>
            </a:r>
            <a:r>
              <a:rPr lang="en-US" dirty="0" err="1">
                <a:sym typeface="Wingdings" panose="05000000000000000000" pitchFamily="2" charset="2"/>
              </a:rPr>
              <a:t>cron.d</a:t>
            </a:r>
            <a:r>
              <a:rPr lang="en-US" dirty="0">
                <a:sym typeface="Wingdings" panose="05000000000000000000" pitchFamily="2" charset="2"/>
              </a:rPr>
              <a:t>/ (system-wide)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/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/crontab (user-wide)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How to list, display and view all cron jobs in Linux - nixCraf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263" y="4013201"/>
            <a:ext cx="5705475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br>
              <a:rPr lang="en-US" dirty="0"/>
            </a:br>
            <a:r>
              <a:rPr lang="en-US" dirty="0"/>
              <a:t>(Scheduled Cron Jobs)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371600"/>
            <a:ext cx="8411029" cy="259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The beauty of Cron Jobs is that you can specify which user executes the </a:t>
            </a:r>
            <a:r>
              <a:rPr lang="en-US" dirty="0" err="1">
                <a:sym typeface="Wingdings" panose="05000000000000000000" pitchFamily="2" charset="2"/>
              </a:rPr>
              <a:t>cron</a:t>
            </a:r>
            <a:r>
              <a:rPr lang="en-US" dirty="0">
                <a:sym typeface="Wingdings" panose="05000000000000000000" pitchFamily="2" charset="2"/>
              </a:rPr>
              <a:t> job: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Cron Job Scheduling by Examples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00"/>
          <a:stretch>
            <a:fillRect/>
          </a:stretch>
        </p:blipFill>
        <p:spPr bwMode="auto">
          <a:xfrm>
            <a:off x="2040644" y="2514600"/>
            <a:ext cx="8215313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81400" y="2590800"/>
            <a:ext cx="685800" cy="106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Content Placeholder 2"/>
          <p:cNvSpPr txBox="1"/>
          <p:nvPr/>
        </p:nvSpPr>
        <p:spPr>
          <a:xfrm>
            <a:off x="1524001" y="3962400"/>
            <a:ext cx="9143999" cy="2286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Of course, this can only be done if the </a:t>
            </a:r>
            <a:r>
              <a:rPr lang="en-US" dirty="0" err="1">
                <a:sym typeface="Wingdings" panose="05000000000000000000" pitchFamily="2" charset="2"/>
              </a:rPr>
              <a:t>cron</a:t>
            </a:r>
            <a:r>
              <a:rPr lang="en-US" dirty="0">
                <a:sym typeface="Wingdings" panose="05000000000000000000" pitchFamily="2" charset="2"/>
              </a:rPr>
              <a:t> job file is created by a user that is of at least the same privileges as the user running the script, or higher.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For example, given that there are two users, ‘root’ and ‘student’: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b="1" u="sng" dirty="0">
                <a:sym typeface="Wingdings" panose="05000000000000000000" pitchFamily="2" charset="2"/>
              </a:rPr>
              <a:t>Root user </a:t>
            </a:r>
            <a:r>
              <a:rPr lang="en-US" dirty="0">
                <a:sym typeface="Wingdings" panose="05000000000000000000" pitchFamily="2" charset="2"/>
              </a:rPr>
              <a:t>creates a </a:t>
            </a:r>
            <a:r>
              <a:rPr lang="en-US" dirty="0" err="1">
                <a:sym typeface="Wingdings" panose="05000000000000000000" pitchFamily="2" charset="2"/>
              </a:rPr>
              <a:t>cron</a:t>
            </a:r>
            <a:r>
              <a:rPr lang="en-US" dirty="0">
                <a:sym typeface="Wingdings" panose="05000000000000000000" pitchFamily="2" charset="2"/>
              </a:rPr>
              <a:t> job and specifies the </a:t>
            </a:r>
            <a:r>
              <a:rPr lang="en-US" b="1" u="sng" dirty="0">
                <a:sym typeface="Wingdings" panose="05000000000000000000" pitchFamily="2" charset="2"/>
              </a:rPr>
              <a:t>‘student’ user </a:t>
            </a:r>
            <a:r>
              <a:rPr lang="en-US" dirty="0">
                <a:sym typeface="Wingdings" panose="05000000000000000000" pitchFamily="2" charset="2"/>
              </a:rPr>
              <a:t>to do it </a:t>
            </a:r>
            <a:r>
              <a:rPr lang="en-US" b="1" dirty="0">
                <a:solidFill>
                  <a:srgbClr val="00B050"/>
                </a:solidFill>
                <a:sym typeface="Wingdings" panose="05000000000000000000" pitchFamily="2" charset="2"/>
              </a:rPr>
              <a:t>(OK CAN)</a:t>
            </a:r>
            <a:endParaRPr lang="en-US" b="1" dirty="0">
              <a:solidFill>
                <a:srgbClr val="00B050"/>
              </a:solidFill>
              <a:sym typeface="Wingdings" panose="05000000000000000000" pitchFamily="2" charset="2"/>
            </a:endParaRPr>
          </a:p>
          <a:p>
            <a:r>
              <a:rPr lang="en-US" b="1" u="sng" dirty="0">
                <a:sym typeface="Wingdings" panose="05000000000000000000" pitchFamily="2" charset="2"/>
              </a:rPr>
              <a:t>Student user </a:t>
            </a:r>
            <a:r>
              <a:rPr lang="en-US" dirty="0">
                <a:sym typeface="Wingdings" panose="05000000000000000000" pitchFamily="2" charset="2"/>
              </a:rPr>
              <a:t>creates a </a:t>
            </a:r>
            <a:r>
              <a:rPr lang="en-US" dirty="0" err="1">
                <a:sym typeface="Wingdings" panose="05000000000000000000" pitchFamily="2" charset="2"/>
              </a:rPr>
              <a:t>cron</a:t>
            </a:r>
            <a:r>
              <a:rPr lang="en-US" dirty="0">
                <a:sym typeface="Wingdings" panose="05000000000000000000" pitchFamily="2" charset="2"/>
              </a:rPr>
              <a:t> job and specifies the </a:t>
            </a:r>
            <a:r>
              <a:rPr lang="en-US" b="1" u="sng" dirty="0">
                <a:sym typeface="Wingdings" panose="05000000000000000000" pitchFamily="2" charset="2"/>
              </a:rPr>
              <a:t>‘root’ user </a:t>
            </a:r>
            <a:r>
              <a:rPr lang="en-US" dirty="0">
                <a:sym typeface="Wingdings" panose="05000000000000000000" pitchFamily="2" charset="2"/>
              </a:rPr>
              <a:t>to do it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(NOPE)</a:t>
            </a:r>
            <a:endParaRPr lang="en-US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Linux Privilege Escalation</a:t>
            </a:r>
            <a:br>
              <a:rPr lang="en-US" dirty="0"/>
            </a:b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371600"/>
            <a:ext cx="8411029" cy="48768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sym typeface="Wingdings" panose="05000000000000000000" pitchFamily="2" charset="2"/>
              </a:rPr>
              <a:t>Of course, all other privilege escalation derivatives might require more research, but ask yourself these questions when performing the privilege escalation: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When you gain access into the system,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what current privileges</a:t>
            </a:r>
            <a:r>
              <a:rPr lang="en-US" dirty="0">
                <a:sym typeface="Wingdings" panose="05000000000000000000" pitchFamily="2" charset="2"/>
              </a:rPr>
              <a:t> do you have?</a:t>
            </a:r>
            <a:endParaRPr lang="en-US" dirty="0">
              <a:sym typeface="Wingdings" panose="05000000000000000000" pitchFamily="2" charset="2"/>
            </a:endParaRPr>
          </a:p>
          <a:p>
            <a:pPr lvl="1" algn="just"/>
            <a:endParaRPr lang="en-US" dirty="0">
              <a:sym typeface="Wingdings" panose="05000000000000000000" pitchFamily="2" charset="2"/>
            </a:endParaRP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Can you do any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file read/write operations </a:t>
            </a:r>
            <a:r>
              <a:rPr lang="en-US" dirty="0">
                <a:sym typeface="Wingdings" panose="05000000000000000000" pitchFamily="2" charset="2"/>
              </a:rPr>
              <a:t>through an application powered by ‘root’?</a:t>
            </a:r>
            <a:endParaRPr lang="en-US" dirty="0">
              <a:sym typeface="Wingdings" panose="05000000000000000000" pitchFamily="2" charset="2"/>
            </a:endParaRPr>
          </a:p>
          <a:p>
            <a:pPr lvl="1" algn="just"/>
            <a:endParaRPr lang="en-US" dirty="0">
              <a:sym typeface="Wingdings" panose="05000000000000000000" pitchFamily="2" charset="2"/>
            </a:endParaRPr>
          </a:p>
          <a:p>
            <a:pPr lvl="1" algn="just"/>
            <a:r>
              <a:rPr lang="en-US" dirty="0">
                <a:sym typeface="Wingdings" panose="05000000000000000000" pitchFamily="2" charset="2"/>
              </a:rPr>
              <a:t>Are there any commands/applications that I can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run commands as root </a:t>
            </a:r>
            <a:r>
              <a:rPr lang="en-US" dirty="0">
                <a:sym typeface="Wingdings" panose="05000000000000000000" pitchFamily="2" charset="2"/>
              </a:rPr>
              <a:t>WITHOUT keying in the password?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4512</Words>
  <Application>WPS Presentation</Application>
  <PresentationFormat>Widescreen</PresentationFormat>
  <Paragraphs>171</Paragraphs>
  <Slides>37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Arial</vt:lpstr>
      <vt:lpstr>SimSun</vt:lpstr>
      <vt:lpstr>Wingdings</vt:lpstr>
      <vt:lpstr>Times New Roman</vt:lpstr>
      <vt:lpstr>Arial Unicode MS</vt:lpstr>
      <vt:lpstr>Calibri</vt:lpstr>
      <vt:lpstr>Microsoft YaHei</vt:lpstr>
      <vt:lpstr>Arial Unicode MS</vt:lpstr>
      <vt:lpstr>Consolas</vt:lpstr>
      <vt:lpstr>Office Theme</vt:lpstr>
      <vt:lpstr>PowerPoint 演示文稿</vt:lpstr>
      <vt:lpstr>Objectives</vt:lpstr>
      <vt:lpstr>Vulnerability Exploitation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Password Cracking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Privilege Escalation</vt:lpstr>
      <vt:lpstr>PowerPoint 演示文稿</vt:lpstr>
      <vt:lpstr>Linux Privilege Escalation</vt:lpstr>
      <vt:lpstr>Linux Privilege Escalation</vt:lpstr>
      <vt:lpstr>Linux Privilege Escalation</vt:lpstr>
      <vt:lpstr>Linux Privilege Escalation</vt:lpstr>
      <vt:lpstr>Linux Privilege Escalation</vt:lpstr>
      <vt:lpstr>Linux Privilege Escalation</vt:lpstr>
      <vt:lpstr>Linux Privilege Escalation</vt:lpstr>
      <vt:lpstr>Linux Privilege Escalation</vt:lpstr>
      <vt:lpstr>Linux Privilege Escalation (SUID Bit Configuration)</vt:lpstr>
      <vt:lpstr>Linux Privilege Escalation (SUID Bit Configuration)</vt:lpstr>
      <vt:lpstr>Linux Privilege Escalation (SUID Bit Configuration)</vt:lpstr>
      <vt:lpstr>Linux Privilege Escalation (Sudo Privilege Misconfiguration)</vt:lpstr>
      <vt:lpstr>Linux Privilege Escalation (Sudo Privilege Misconfiguration)</vt:lpstr>
      <vt:lpstr>Linux Privilege Escalation (Sudo Privilege Misconfiguration)</vt:lpstr>
      <vt:lpstr>Linux Privilege Escalation (Scheduled Cron Jobs)</vt:lpstr>
      <vt:lpstr>Linux Privilege Escalation (Scheduled Cron Jobs)</vt:lpstr>
      <vt:lpstr>Linux Privilege Escalation </vt:lpstr>
    </vt:vector>
  </TitlesOfParts>
  <Company>Temasek Polytechnic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yulin</dc:creator>
  <cp:lastModifiedBy>Yaohan</cp:lastModifiedBy>
  <cp:revision>814</cp:revision>
  <dcterms:created xsi:type="dcterms:W3CDTF">2012-02-09T05:42:00Z</dcterms:created>
  <dcterms:modified xsi:type="dcterms:W3CDTF">2026-05-18T03:26:14Z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cb20ed-001a-45f4-b2e7-234c5fc91178_Enabled">
    <vt:lpwstr>True</vt:lpwstr>
  </property>
  <property fmtid="{D5CDD505-2E9C-101B-9397-08002B2CF9AE}" pid="3" name="MSIP_Label_4bcb20ed-001a-45f4-b2e7-234c5fc91178_SiteId">
    <vt:lpwstr>25a99bf0-8e72-472a-ae50-adfbdf0df6f1</vt:lpwstr>
  </property>
  <property fmtid="{D5CDD505-2E9C-101B-9397-08002B2CF9AE}" pid="4" name="MSIP_Label_4bcb20ed-001a-45f4-b2e7-234c5fc91178_Owner">
    <vt:lpwstr>shamzah@TP.EDU.SG</vt:lpwstr>
  </property>
  <property fmtid="{D5CDD505-2E9C-101B-9397-08002B2CF9AE}" pid="5" name="MSIP_Label_4bcb20ed-001a-45f4-b2e7-234c5fc91178_SetDate">
    <vt:lpwstr>2019-12-12T16:11:24.3844753Z</vt:lpwstr>
  </property>
  <property fmtid="{D5CDD505-2E9C-101B-9397-08002B2CF9AE}" pid="6" name="MSIP_Label_4bcb20ed-001a-45f4-b2e7-234c5fc91178_Name">
    <vt:lpwstr>Official (Closed)</vt:lpwstr>
  </property>
  <property fmtid="{D5CDD505-2E9C-101B-9397-08002B2CF9AE}" pid="7" name="MSIP_Label_4bcb20ed-001a-45f4-b2e7-234c5fc91178_Application">
    <vt:lpwstr>Microsoft Azure Information Protection</vt:lpwstr>
  </property>
  <property fmtid="{D5CDD505-2E9C-101B-9397-08002B2CF9AE}" pid="8" name="MSIP_Label_4bcb20ed-001a-45f4-b2e7-234c5fc91178_ActionId">
    <vt:lpwstr>e9e0e61a-f8c5-420c-b625-1f10b52177be</vt:lpwstr>
  </property>
  <property fmtid="{D5CDD505-2E9C-101B-9397-08002B2CF9AE}" pid="9" name="MSIP_Label_4bcb20ed-001a-45f4-b2e7-234c5fc91178_Extended_MSFT_Method">
    <vt:lpwstr>Automatic</vt:lpwstr>
  </property>
  <property fmtid="{D5CDD505-2E9C-101B-9397-08002B2CF9AE}" pid="10" name="MSIP_Label_f69d7fc4-da81-42e5-b309-526f71322d86_Enabled">
    <vt:lpwstr>True</vt:lpwstr>
  </property>
  <property fmtid="{D5CDD505-2E9C-101B-9397-08002B2CF9AE}" pid="11" name="MSIP_Label_f69d7fc4-da81-42e5-b309-526f71322d86_SiteId">
    <vt:lpwstr>25a99bf0-8e72-472a-ae50-adfbdf0df6f1</vt:lpwstr>
  </property>
  <property fmtid="{D5CDD505-2E9C-101B-9397-08002B2CF9AE}" pid="12" name="MSIP_Label_f69d7fc4-da81-42e5-b309-526f71322d86_Owner">
    <vt:lpwstr>shamzah@TP.EDU.SG</vt:lpwstr>
  </property>
  <property fmtid="{D5CDD505-2E9C-101B-9397-08002B2CF9AE}" pid="13" name="MSIP_Label_f69d7fc4-da81-42e5-b309-526f71322d86_SetDate">
    <vt:lpwstr>2019-12-12T16:11:24.3844753Z</vt:lpwstr>
  </property>
  <property fmtid="{D5CDD505-2E9C-101B-9397-08002B2CF9AE}" pid="14" name="MSIP_Label_f69d7fc4-da81-42e5-b309-526f71322d86_Name">
    <vt:lpwstr>Non-Sensitive</vt:lpwstr>
  </property>
  <property fmtid="{D5CDD505-2E9C-101B-9397-08002B2CF9AE}" pid="15" name="MSIP_Label_f69d7fc4-da81-42e5-b309-526f71322d86_Application">
    <vt:lpwstr>Microsoft Azure Information Protection</vt:lpwstr>
  </property>
  <property fmtid="{D5CDD505-2E9C-101B-9397-08002B2CF9AE}" pid="16" name="MSIP_Label_f69d7fc4-da81-42e5-b309-526f71322d86_ActionId">
    <vt:lpwstr>e9e0e61a-f8c5-420c-b625-1f10b52177be</vt:lpwstr>
  </property>
  <property fmtid="{D5CDD505-2E9C-101B-9397-08002B2CF9AE}" pid="17" name="MSIP_Label_f69d7fc4-da81-42e5-b309-526f71322d86_Parent">
    <vt:lpwstr>4bcb20ed-001a-45f4-b2e7-234c5fc91178</vt:lpwstr>
  </property>
  <property fmtid="{D5CDD505-2E9C-101B-9397-08002B2CF9AE}" pid="18" name="MSIP_Label_f69d7fc4-da81-42e5-b309-526f71322d86_Extended_MSFT_Method">
    <vt:lpwstr>Automatic</vt:lpwstr>
  </property>
  <property fmtid="{D5CDD505-2E9C-101B-9397-08002B2CF9AE}" pid="19" name="Sensitivity">
    <vt:lpwstr>Official (Closed) Non-Sensitive</vt:lpwstr>
  </property>
  <property fmtid="{D5CDD505-2E9C-101B-9397-08002B2CF9AE}" pid="20" name="ICV">
    <vt:lpwstr>F2F10E2F6A554942A141BAB8DFFE1712_12</vt:lpwstr>
  </property>
  <property fmtid="{D5CDD505-2E9C-101B-9397-08002B2CF9AE}" pid="21" name="KSOProductBuildVer">
    <vt:lpwstr>1033-12.1.0.25180</vt:lpwstr>
  </property>
</Properties>
</file>